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87"/>
  </p:notesMasterIdLst>
  <p:sldIdLst>
    <p:sldId id="355" r:id="rId4"/>
    <p:sldId id="4338" r:id="rId5"/>
    <p:sldId id="3282" r:id="rId6"/>
    <p:sldId id="3284" r:id="rId7"/>
    <p:sldId id="3283" r:id="rId8"/>
    <p:sldId id="3285" r:id="rId9"/>
    <p:sldId id="3877" r:id="rId10"/>
    <p:sldId id="3878" r:id="rId11"/>
    <p:sldId id="3286" r:id="rId12"/>
    <p:sldId id="3879" r:id="rId13"/>
    <p:sldId id="356" r:id="rId14"/>
    <p:sldId id="3649" r:id="rId15"/>
    <p:sldId id="4001" r:id="rId16"/>
    <p:sldId id="4000" r:id="rId17"/>
    <p:sldId id="4002" r:id="rId18"/>
    <p:sldId id="3880" r:id="rId19"/>
    <p:sldId id="4004" r:id="rId20"/>
    <p:sldId id="4005" r:id="rId21"/>
    <p:sldId id="4003" r:id="rId22"/>
    <p:sldId id="4007" r:id="rId23"/>
    <p:sldId id="4008" r:id="rId24"/>
    <p:sldId id="3881" r:id="rId25"/>
    <p:sldId id="4010" r:id="rId26"/>
    <p:sldId id="4009" r:id="rId27"/>
    <p:sldId id="4011" r:id="rId28"/>
    <p:sldId id="3882" r:id="rId29"/>
    <p:sldId id="3999" r:id="rId30"/>
    <p:sldId id="4129" r:id="rId31"/>
    <p:sldId id="4130" r:id="rId32"/>
    <p:sldId id="4131" r:id="rId33"/>
    <p:sldId id="4132" r:id="rId34"/>
    <p:sldId id="4134" r:id="rId35"/>
    <p:sldId id="4133" r:id="rId36"/>
    <p:sldId id="359" r:id="rId37"/>
    <p:sldId id="2952" r:id="rId38"/>
    <p:sldId id="4135" r:id="rId39"/>
    <p:sldId id="4136" r:id="rId40"/>
    <p:sldId id="4137" r:id="rId41"/>
    <p:sldId id="4293" r:id="rId42"/>
    <p:sldId id="3287" r:id="rId43"/>
    <p:sldId id="4252" r:id="rId44"/>
    <p:sldId id="3376" r:id="rId45"/>
    <p:sldId id="4251" r:id="rId46"/>
    <p:sldId id="3373" r:id="rId47"/>
    <p:sldId id="4254" r:id="rId48"/>
    <p:sldId id="4253" r:id="rId49"/>
    <p:sldId id="4256" r:id="rId50"/>
    <p:sldId id="4257" r:id="rId51"/>
    <p:sldId id="4258" r:id="rId52"/>
    <p:sldId id="4259" r:id="rId53"/>
    <p:sldId id="4260" r:id="rId54"/>
    <p:sldId id="4261" r:id="rId55"/>
    <p:sldId id="4262" r:id="rId56"/>
    <p:sldId id="4263" r:id="rId57"/>
    <p:sldId id="4264" r:id="rId58"/>
    <p:sldId id="4265" r:id="rId59"/>
    <p:sldId id="4266" r:id="rId60"/>
    <p:sldId id="4267" r:id="rId61"/>
    <p:sldId id="4268" r:id="rId62"/>
    <p:sldId id="4269" r:id="rId63"/>
    <p:sldId id="4270" r:id="rId64"/>
    <p:sldId id="4271" r:id="rId65"/>
    <p:sldId id="4272" r:id="rId66"/>
    <p:sldId id="4273" r:id="rId67"/>
    <p:sldId id="4274" r:id="rId68"/>
    <p:sldId id="4275" r:id="rId69"/>
    <p:sldId id="4276" r:id="rId70"/>
    <p:sldId id="4278" r:id="rId71"/>
    <p:sldId id="4277" r:id="rId72"/>
    <p:sldId id="4279" r:id="rId73"/>
    <p:sldId id="4280" r:id="rId74"/>
    <p:sldId id="4281" r:id="rId75"/>
    <p:sldId id="4282" r:id="rId76"/>
    <p:sldId id="4283" r:id="rId77"/>
    <p:sldId id="4284" r:id="rId78"/>
    <p:sldId id="4286" r:id="rId79"/>
    <p:sldId id="4287" r:id="rId80"/>
    <p:sldId id="4288" r:id="rId81"/>
    <p:sldId id="4289" r:id="rId82"/>
    <p:sldId id="4291" r:id="rId83"/>
    <p:sldId id="4292" r:id="rId84"/>
    <p:sldId id="4290" r:id="rId85"/>
    <p:sldId id="4285" r:id="rId86"/>
  </p:sldIdLst>
  <p:sldSz cx="12192000" cy="6858000"/>
  <p:notesSz cx="6858000" cy="9144000"/>
  <p:custDataLst>
    <p:tags r:id="rId9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Kathy" initials="LK" lastIdx="1" clrIdx="0"/>
  <p:cmAuthor id="2" name="dell" initials="d" lastIdx="0" clrIdx="1"/>
  <p:cmAuthor id="3" name="yxChen" initials="y"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gs" Target="tags/tag306.xml"/><Relationship Id="rId91" Type="http://schemas.openxmlformats.org/officeDocument/2006/relationships/commentAuthors" Target="commentAuthors.xml"/><Relationship Id="rId90" Type="http://schemas.openxmlformats.org/officeDocument/2006/relationships/tableStyles" Target="tableStyles.xml"/><Relationship Id="rId9" Type="http://schemas.openxmlformats.org/officeDocument/2006/relationships/slide" Target="slides/slide6.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notesMaster" Target="notesMasters/notesMaster1.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1.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1.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1.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1.w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wmf"/></Relationships>
</file>

<file path=ppt/drawings/_rels/vmlDrawing6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wmf"/></Relationships>
</file>

<file path=ppt/drawings/_rels/vmlDrawing6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w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0.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7.wmf"/><Relationship Id="rId1" Type="http://schemas.openxmlformats.org/officeDocument/2006/relationships/image" Target="../media/image1.w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8.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wmf"/></Relationships>
</file>

<file path=ppt/drawings/_rels/vmlDrawing79.vml.rels><?xml version="1.0" encoding="UTF-8" standalone="yes"?>
<Relationships xmlns="http://schemas.openxmlformats.org/package/2006/relationships"><Relationship Id="rId4" Type="http://schemas.openxmlformats.org/officeDocument/2006/relationships/image" Target="../media/image22.wmf"/><Relationship Id="rId3" Type="http://schemas.openxmlformats.org/officeDocument/2006/relationships/image" Target="../media/image13.wmf"/><Relationship Id="rId2" Type="http://schemas.openxmlformats.org/officeDocument/2006/relationships/image" Target="../media/image21.wmf"/><Relationship Id="rId1" Type="http://schemas.openxmlformats.org/officeDocument/2006/relationships/image" Target="../media/image1.w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tags" Target="../tags/tag127.xml"/><Relationship Id="rId4" Type="http://schemas.openxmlformats.org/officeDocument/2006/relationships/image" Target="../media/image1.wmf"/><Relationship Id="rId3" Type="http://schemas.openxmlformats.org/officeDocument/2006/relationships/oleObject" Target="../embeddings/oleObject1.bin"/><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7" Type="http://schemas.openxmlformats.org/officeDocument/2006/relationships/vmlDrawing" Target="../drawings/vmlDrawing2.vml"/><Relationship Id="rId16" Type="http://schemas.openxmlformats.org/officeDocument/2006/relationships/slideLayout" Target="../slideLayouts/slideLayout4.xml"/><Relationship Id="rId15" Type="http://schemas.openxmlformats.org/officeDocument/2006/relationships/tags" Target="../tags/tag140.xml"/><Relationship Id="rId14" Type="http://schemas.openxmlformats.org/officeDocument/2006/relationships/tags" Target="../tags/tag139.xml"/><Relationship Id="rId13" Type="http://schemas.openxmlformats.org/officeDocument/2006/relationships/tags" Target="../tags/tag138.xml"/><Relationship Id="rId12" Type="http://schemas.openxmlformats.org/officeDocument/2006/relationships/image" Target="../media/image1.wmf"/><Relationship Id="rId11" Type="http://schemas.openxmlformats.org/officeDocument/2006/relationships/oleObject" Target="../embeddings/oleObject2.bin"/><Relationship Id="rId10" Type="http://schemas.openxmlformats.org/officeDocument/2006/relationships/tags" Target="../tags/tag137.xml"/><Relationship Id="rId1" Type="http://schemas.openxmlformats.org/officeDocument/2006/relationships/tags" Target="../tags/tag12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3.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image" Target="../media/image1.wmf"/><Relationship Id="rId1"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13.xml"/><Relationship Id="rId4" Type="http://schemas.openxmlformats.org/officeDocument/2006/relationships/tags" Target="../tags/tag144.xml"/><Relationship Id="rId3" Type="http://schemas.openxmlformats.org/officeDocument/2006/relationships/image" Target="../media/image3.png"/><Relationship Id="rId2" Type="http://schemas.openxmlformats.org/officeDocument/2006/relationships/image" Target="../media/image1.wmf"/><Relationship Id="rId1"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13.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image" Target="../media/image1.wmf"/><Relationship Id="rId1"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4.xml"/><Relationship Id="rId4" Type="http://schemas.openxmlformats.org/officeDocument/2006/relationships/tags" Target="../tags/tag148.xml"/><Relationship Id="rId3" Type="http://schemas.openxmlformats.org/officeDocument/2006/relationships/image" Target="../media/image1.wmf"/><Relationship Id="rId2" Type="http://schemas.openxmlformats.org/officeDocument/2006/relationships/oleObject" Target="../embeddings/oleObject6.bin"/><Relationship Id="rId1" Type="http://schemas.openxmlformats.org/officeDocument/2006/relationships/tags" Target="../tags/tag147.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4.xml"/><Relationship Id="rId4" Type="http://schemas.openxmlformats.org/officeDocument/2006/relationships/image" Target="../media/image4.png"/><Relationship Id="rId3" Type="http://schemas.openxmlformats.org/officeDocument/2006/relationships/image" Target="../media/image1.wmf"/><Relationship Id="rId2" Type="http://schemas.openxmlformats.org/officeDocument/2006/relationships/oleObject" Target="../embeddings/oleObject7.bin"/><Relationship Id="rId1" Type="http://schemas.openxmlformats.org/officeDocument/2006/relationships/tags" Target="../tags/tag149.xml"/></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13.xml"/><Relationship Id="rId3" Type="http://schemas.openxmlformats.org/officeDocument/2006/relationships/tags" Target="../tags/tag150.xml"/><Relationship Id="rId2" Type="http://schemas.openxmlformats.org/officeDocument/2006/relationships/image" Target="../media/image1.wmf"/><Relationship Id="rId1"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13.xml"/><Relationship Id="rId5" Type="http://schemas.openxmlformats.org/officeDocument/2006/relationships/tags" Target="../tags/tag151.xml"/><Relationship Id="rId4" Type="http://schemas.openxmlformats.org/officeDocument/2006/relationships/image" Target="../media/image5.wmf"/><Relationship Id="rId3" Type="http://schemas.openxmlformats.org/officeDocument/2006/relationships/oleObject" Target="../embeddings/oleObject10.bin"/><Relationship Id="rId2" Type="http://schemas.openxmlformats.org/officeDocument/2006/relationships/image" Target="../media/image1.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7" Type="http://schemas.openxmlformats.org/officeDocument/2006/relationships/vmlDrawing" Target="../drawings/vmlDrawing10.vml"/><Relationship Id="rId16" Type="http://schemas.openxmlformats.org/officeDocument/2006/relationships/slideLayout" Target="../slideLayouts/slideLayout4.xml"/><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image" Target="../media/image1.wmf"/><Relationship Id="rId11" Type="http://schemas.openxmlformats.org/officeDocument/2006/relationships/oleObject" Target="../embeddings/oleObject11.bin"/><Relationship Id="rId10" Type="http://schemas.openxmlformats.org/officeDocument/2006/relationships/tags" Target="../tags/tag161.xml"/><Relationship Id="rId1" Type="http://schemas.openxmlformats.org/officeDocument/2006/relationships/tags" Target="../tags/tag152.xml"/></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13.xml"/><Relationship Id="rId3" Type="http://schemas.openxmlformats.org/officeDocument/2006/relationships/tags" Target="../tags/tag165.xml"/><Relationship Id="rId2" Type="http://schemas.openxmlformats.org/officeDocument/2006/relationships/image" Target="../media/image1.wmf"/><Relationship Id="rId1"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13.xml"/><Relationship Id="rId3" Type="http://schemas.openxmlformats.org/officeDocument/2006/relationships/tags" Target="../tags/tag166.xml"/><Relationship Id="rId2" Type="http://schemas.openxmlformats.org/officeDocument/2006/relationships/image" Target="../media/image1.wmf"/><Relationship Id="rId1" Type="http://schemas.openxmlformats.org/officeDocument/2006/relationships/oleObject" Target="../embeddings/oleObject13.bin"/></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13.xml"/><Relationship Id="rId3" Type="http://schemas.openxmlformats.org/officeDocument/2006/relationships/tags" Target="../tags/tag167.xml"/><Relationship Id="rId2" Type="http://schemas.openxmlformats.org/officeDocument/2006/relationships/image" Target="../media/image1.wmf"/><Relationship Id="rId1" Type="http://schemas.openxmlformats.org/officeDocument/2006/relationships/oleObject" Target="../embeddings/oleObject14.bin"/></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13.xml"/><Relationship Id="rId3" Type="http://schemas.openxmlformats.org/officeDocument/2006/relationships/tags" Target="../tags/tag168.xml"/><Relationship Id="rId2" Type="http://schemas.openxmlformats.org/officeDocument/2006/relationships/image" Target="../media/image1.wmf"/><Relationship Id="rId1"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13.xml"/><Relationship Id="rId3" Type="http://schemas.openxmlformats.org/officeDocument/2006/relationships/tags" Target="../tags/tag169.xml"/><Relationship Id="rId2" Type="http://schemas.openxmlformats.org/officeDocument/2006/relationships/image" Target="../media/image1.wmf"/><Relationship Id="rId1" Type="http://schemas.openxmlformats.org/officeDocument/2006/relationships/oleObject" Target="../embeddings/oleObject16.bin"/></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13.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image" Target="../media/image1.wmf"/><Relationship Id="rId1" Type="http://schemas.openxmlformats.org/officeDocument/2006/relationships/oleObject" Target="../embeddings/oleObject17.bin"/></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13.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image" Target="../media/image1.wmf"/><Relationship Id="rId1" Type="http://schemas.openxmlformats.org/officeDocument/2006/relationships/oleObject" Target="../embeddings/oleObject18.bin"/></Relationships>
</file>

<file path=ppt/slides/_rels/slide19.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13.xml"/><Relationship Id="rId3" Type="http://schemas.openxmlformats.org/officeDocument/2006/relationships/tags" Target="../tags/tag174.xml"/><Relationship Id="rId2" Type="http://schemas.openxmlformats.org/officeDocument/2006/relationships/image" Target="../media/image1.wmf"/><Relationship Id="rId1" Type="http://schemas.openxmlformats.org/officeDocument/2006/relationships/oleObject" Target="../embeddings/oleObject19.bin"/></Relationships>
</file>

<file path=ppt/slides/_rels/slide20.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slideLayout" Target="../slideLayouts/slideLayout13.xml"/><Relationship Id="rId3" Type="http://schemas.openxmlformats.org/officeDocument/2006/relationships/tags" Target="../tags/tag175.xml"/><Relationship Id="rId2" Type="http://schemas.openxmlformats.org/officeDocument/2006/relationships/image" Target="../media/image1.wmf"/><Relationship Id="rId1" Type="http://schemas.openxmlformats.org/officeDocument/2006/relationships/oleObject" Target="../embeddings/oleObject20.bin"/></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13.xml"/><Relationship Id="rId3" Type="http://schemas.openxmlformats.org/officeDocument/2006/relationships/tags" Target="../tags/tag176.xml"/><Relationship Id="rId2" Type="http://schemas.openxmlformats.org/officeDocument/2006/relationships/image" Target="../media/image1.wmf"/><Relationship Id="rId1" Type="http://schemas.openxmlformats.org/officeDocument/2006/relationships/oleObject" Target="../embeddings/oleObject21.bin"/></Relationships>
</file>

<file path=ppt/slides/_rels/slide22.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13.xml"/><Relationship Id="rId3" Type="http://schemas.openxmlformats.org/officeDocument/2006/relationships/tags" Target="../tags/tag177.xml"/><Relationship Id="rId2" Type="http://schemas.openxmlformats.org/officeDocument/2006/relationships/image" Target="../media/image1.wmf"/><Relationship Id="rId1"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13.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image" Target="../media/image1.wmf"/><Relationship Id="rId1" Type="http://schemas.openxmlformats.org/officeDocument/2006/relationships/oleObject" Target="../embeddings/oleObject23.bin"/></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23.vml"/><Relationship Id="rId4" Type="http://schemas.openxmlformats.org/officeDocument/2006/relationships/slideLayout" Target="../slideLayouts/slideLayout13.xml"/><Relationship Id="rId3" Type="http://schemas.openxmlformats.org/officeDocument/2006/relationships/tags" Target="../tags/tag180.xml"/><Relationship Id="rId2" Type="http://schemas.openxmlformats.org/officeDocument/2006/relationships/image" Target="../media/image1.wmf"/><Relationship Id="rId1" Type="http://schemas.openxmlformats.org/officeDocument/2006/relationships/oleObject" Target="../embeddings/oleObject24.bin"/></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1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image" Target="../media/image1.wmf"/><Relationship Id="rId1" Type="http://schemas.openxmlformats.org/officeDocument/2006/relationships/oleObject" Target="../embeddings/oleObject25.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13.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image" Target="../media/image1.wmf"/><Relationship Id="rId1" Type="http://schemas.openxmlformats.org/officeDocument/2006/relationships/oleObject" Target="../embeddings/oleObject26.bin"/></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13.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image" Target="../media/image1.wmf"/><Relationship Id="rId1" Type="http://schemas.openxmlformats.org/officeDocument/2006/relationships/oleObject" Target="../embeddings/oleObject27.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13.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image" Target="../media/image1.wmf"/><Relationship Id="rId1" Type="http://schemas.openxmlformats.org/officeDocument/2006/relationships/oleObject" Target="../embeddings/oleObject28.bin"/></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13.xml"/><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image" Target="../media/image1.wmf"/><Relationship Id="rId1" Type="http://schemas.openxmlformats.org/officeDocument/2006/relationships/oleObject" Target="../embeddings/oleObject29.bin"/></Relationships>
</file>

<file path=ppt/slides/_rels/slide30.xml.rels><?xml version="1.0" encoding="UTF-8" standalone="yes"?>
<Relationships xmlns="http://schemas.openxmlformats.org/package/2006/relationships"><Relationship Id="rId7" Type="http://schemas.openxmlformats.org/officeDocument/2006/relationships/vmlDrawing" Target="../drawings/vmlDrawing29.vml"/><Relationship Id="rId6" Type="http://schemas.openxmlformats.org/officeDocument/2006/relationships/slideLayout" Target="../slideLayouts/slideLayout13.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image" Target="../media/image1.wmf"/><Relationship Id="rId1" Type="http://schemas.openxmlformats.org/officeDocument/2006/relationships/oleObject" Target="../embeddings/oleObject30.bin"/></Relationships>
</file>

<file path=ppt/slides/_rels/slide31.xml.rels><?xml version="1.0" encoding="UTF-8" standalone="yes"?>
<Relationships xmlns="http://schemas.openxmlformats.org/package/2006/relationships"><Relationship Id="rId7" Type="http://schemas.openxmlformats.org/officeDocument/2006/relationships/vmlDrawing" Target="../drawings/vmlDrawing30.vml"/><Relationship Id="rId6" Type="http://schemas.openxmlformats.org/officeDocument/2006/relationships/slideLayout" Target="../slideLayouts/slideLayout13.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image" Target="../media/image1.wmf"/><Relationship Id="rId1" Type="http://schemas.openxmlformats.org/officeDocument/2006/relationships/oleObject" Target="../embeddings/oleObject31.bin"/></Relationships>
</file>

<file path=ppt/slides/_rels/slide32.xml.rels><?xml version="1.0" encoding="UTF-8" standalone="yes"?>
<Relationships xmlns="http://schemas.openxmlformats.org/package/2006/relationships"><Relationship Id="rId7" Type="http://schemas.openxmlformats.org/officeDocument/2006/relationships/vmlDrawing" Target="../drawings/vmlDrawing31.vml"/><Relationship Id="rId6" Type="http://schemas.openxmlformats.org/officeDocument/2006/relationships/slideLayout" Target="../slideLayouts/slideLayout13.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image" Target="../media/image1.wmf"/><Relationship Id="rId1" Type="http://schemas.openxmlformats.org/officeDocument/2006/relationships/oleObject" Target="../embeddings/oleObject32.bin"/></Relationships>
</file>

<file path=ppt/slides/_rels/slide33.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7" Type="http://schemas.openxmlformats.org/officeDocument/2006/relationships/vmlDrawing" Target="../drawings/vmlDrawing32.vml"/><Relationship Id="rId16" Type="http://schemas.openxmlformats.org/officeDocument/2006/relationships/slideLayout" Target="../slideLayouts/slideLayout4.xml"/><Relationship Id="rId15" Type="http://schemas.openxmlformats.org/officeDocument/2006/relationships/tags" Target="../tags/tag212.xml"/><Relationship Id="rId14" Type="http://schemas.openxmlformats.org/officeDocument/2006/relationships/tags" Target="../tags/tag211.xml"/><Relationship Id="rId13" Type="http://schemas.openxmlformats.org/officeDocument/2006/relationships/tags" Target="../tags/tag210.xml"/><Relationship Id="rId12" Type="http://schemas.openxmlformats.org/officeDocument/2006/relationships/image" Target="../media/image1.wmf"/><Relationship Id="rId11" Type="http://schemas.openxmlformats.org/officeDocument/2006/relationships/oleObject" Target="../embeddings/oleObject33.bin"/><Relationship Id="rId10" Type="http://schemas.openxmlformats.org/officeDocument/2006/relationships/tags" Target="../tags/tag209.xml"/><Relationship Id="rId1" Type="http://schemas.openxmlformats.org/officeDocument/2006/relationships/tags" Target="../tags/tag20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5" Type="http://schemas.openxmlformats.org/officeDocument/2006/relationships/vmlDrawing" Target="../drawings/vmlDrawing33.vml"/><Relationship Id="rId4" Type="http://schemas.openxmlformats.org/officeDocument/2006/relationships/slideLayout" Target="../slideLayouts/slideLayout4.xml"/><Relationship Id="rId3" Type="http://schemas.openxmlformats.org/officeDocument/2006/relationships/image" Target="../media/image1.wmf"/><Relationship Id="rId2" Type="http://schemas.openxmlformats.org/officeDocument/2006/relationships/oleObject" Target="../embeddings/oleObject34.bin"/><Relationship Id="rId1" Type="http://schemas.openxmlformats.org/officeDocument/2006/relationships/tags" Target="../tags/tag213.xml"/></Relationships>
</file>

<file path=ppt/slides/_rels/slide36.xml.rels><?xml version="1.0" encoding="UTF-8" standalone="yes"?>
<Relationships xmlns="http://schemas.openxmlformats.org/package/2006/relationships"><Relationship Id="rId7" Type="http://schemas.openxmlformats.org/officeDocument/2006/relationships/vmlDrawing" Target="../drawings/vmlDrawing34.vml"/><Relationship Id="rId6" Type="http://schemas.openxmlformats.org/officeDocument/2006/relationships/slideLayout" Target="../slideLayouts/slideLayout4.xml"/><Relationship Id="rId5" Type="http://schemas.openxmlformats.org/officeDocument/2006/relationships/image" Target="../media/image7.wmf"/><Relationship Id="rId4" Type="http://schemas.openxmlformats.org/officeDocument/2006/relationships/oleObject" Target="../embeddings/oleObject36.bin"/><Relationship Id="rId3" Type="http://schemas.openxmlformats.org/officeDocument/2006/relationships/image" Target="../media/image1.wmf"/><Relationship Id="rId2" Type="http://schemas.openxmlformats.org/officeDocument/2006/relationships/oleObject" Target="../embeddings/oleObject35.bin"/><Relationship Id="rId1" Type="http://schemas.openxmlformats.org/officeDocument/2006/relationships/tags" Target="../tags/tag214.xml"/></Relationships>
</file>

<file path=ppt/slides/_rels/slide37.xml.rels><?xml version="1.0" encoding="UTF-8" standalone="yes"?>
<Relationships xmlns="http://schemas.openxmlformats.org/package/2006/relationships"><Relationship Id="rId7" Type="http://schemas.openxmlformats.org/officeDocument/2006/relationships/vmlDrawing" Target="../drawings/vmlDrawing35.vml"/><Relationship Id="rId6" Type="http://schemas.openxmlformats.org/officeDocument/2006/relationships/slideLayout" Target="../slideLayouts/slideLayout4.xml"/><Relationship Id="rId5" Type="http://schemas.openxmlformats.org/officeDocument/2006/relationships/image" Target="../media/image8.wmf"/><Relationship Id="rId4" Type="http://schemas.openxmlformats.org/officeDocument/2006/relationships/oleObject" Target="../embeddings/oleObject38.bin"/><Relationship Id="rId3" Type="http://schemas.openxmlformats.org/officeDocument/2006/relationships/image" Target="../media/image1.wmf"/><Relationship Id="rId2" Type="http://schemas.openxmlformats.org/officeDocument/2006/relationships/oleObject" Target="../embeddings/oleObject37.bin"/><Relationship Id="rId1" Type="http://schemas.openxmlformats.org/officeDocument/2006/relationships/tags" Target="../tags/tag215.xml"/></Relationships>
</file>

<file path=ppt/slides/_rels/slide38.xml.rels><?xml version="1.0" encoding="UTF-8" standalone="yes"?>
<Relationships xmlns="http://schemas.openxmlformats.org/package/2006/relationships"><Relationship Id="rId7" Type="http://schemas.openxmlformats.org/officeDocument/2006/relationships/vmlDrawing" Target="../drawings/vmlDrawing36.vml"/><Relationship Id="rId6" Type="http://schemas.openxmlformats.org/officeDocument/2006/relationships/slideLayout" Target="../slideLayouts/slideLayout4.xml"/><Relationship Id="rId5" Type="http://schemas.openxmlformats.org/officeDocument/2006/relationships/image" Target="../media/image9.wmf"/><Relationship Id="rId4" Type="http://schemas.openxmlformats.org/officeDocument/2006/relationships/oleObject" Target="../embeddings/oleObject40.bin"/><Relationship Id="rId3" Type="http://schemas.openxmlformats.org/officeDocument/2006/relationships/image" Target="../media/image1.wmf"/><Relationship Id="rId2" Type="http://schemas.openxmlformats.org/officeDocument/2006/relationships/oleObject" Target="../embeddings/oleObject39.bin"/><Relationship Id="rId1" Type="http://schemas.openxmlformats.org/officeDocument/2006/relationships/tags" Target="../tags/tag216.xml"/></Relationships>
</file>

<file path=ppt/slides/_rels/slide39.xml.rels><?xml version="1.0" encoding="UTF-8" standalone="yes"?>
<Relationships xmlns="http://schemas.openxmlformats.org/package/2006/relationships"><Relationship Id="rId9" Type="http://schemas.openxmlformats.org/officeDocument/2006/relationships/tags" Target="../tags/tag225.xml"/><Relationship Id="rId8" Type="http://schemas.openxmlformats.org/officeDocument/2006/relationships/tags" Target="../tags/tag224.xml"/><Relationship Id="rId7" Type="http://schemas.openxmlformats.org/officeDocument/2006/relationships/tags" Target="../tags/tag223.xml"/><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7" Type="http://schemas.openxmlformats.org/officeDocument/2006/relationships/vmlDrawing" Target="../drawings/vmlDrawing37.vml"/><Relationship Id="rId16" Type="http://schemas.openxmlformats.org/officeDocument/2006/relationships/slideLayout" Target="../slideLayouts/slideLayout4.xml"/><Relationship Id="rId15" Type="http://schemas.openxmlformats.org/officeDocument/2006/relationships/tags" Target="../tags/tag229.xml"/><Relationship Id="rId14" Type="http://schemas.openxmlformats.org/officeDocument/2006/relationships/tags" Target="../tags/tag228.xml"/><Relationship Id="rId13" Type="http://schemas.openxmlformats.org/officeDocument/2006/relationships/tags" Target="../tags/tag227.xml"/><Relationship Id="rId12" Type="http://schemas.openxmlformats.org/officeDocument/2006/relationships/image" Target="../media/image1.wmf"/><Relationship Id="rId11" Type="http://schemas.openxmlformats.org/officeDocument/2006/relationships/oleObject" Target="../embeddings/oleObject41.bin"/><Relationship Id="rId10" Type="http://schemas.openxmlformats.org/officeDocument/2006/relationships/tags" Target="../tags/tag226.xml"/><Relationship Id="rId1" Type="http://schemas.openxmlformats.org/officeDocument/2006/relationships/tags" Target="../tags/tag217.xml"/></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38.vml"/><Relationship Id="rId4" Type="http://schemas.openxmlformats.org/officeDocument/2006/relationships/slideLayout" Target="../slideLayouts/slideLayout4.xml"/><Relationship Id="rId3" Type="http://schemas.openxmlformats.org/officeDocument/2006/relationships/image" Target="../media/image1.wmf"/><Relationship Id="rId2" Type="http://schemas.openxmlformats.org/officeDocument/2006/relationships/oleObject" Target="../embeddings/oleObject42.bin"/><Relationship Id="rId1" Type="http://schemas.openxmlformats.org/officeDocument/2006/relationships/tags" Target="../tags/tag230.xml"/></Relationships>
</file>

<file path=ppt/slides/_rels/slide41.xml.rels><?xml version="1.0" encoding="UTF-8" standalone="yes"?>
<Relationships xmlns="http://schemas.openxmlformats.org/package/2006/relationships"><Relationship Id="rId5" Type="http://schemas.openxmlformats.org/officeDocument/2006/relationships/vmlDrawing" Target="../drawings/vmlDrawing39.vml"/><Relationship Id="rId4" Type="http://schemas.openxmlformats.org/officeDocument/2006/relationships/slideLayout" Target="../slideLayouts/slideLayout4.xml"/><Relationship Id="rId3" Type="http://schemas.openxmlformats.org/officeDocument/2006/relationships/image" Target="../media/image1.wmf"/><Relationship Id="rId2" Type="http://schemas.openxmlformats.org/officeDocument/2006/relationships/oleObject" Target="../embeddings/oleObject43.bin"/><Relationship Id="rId1" Type="http://schemas.openxmlformats.org/officeDocument/2006/relationships/tags" Target="../tags/tag231.xml"/></Relationships>
</file>

<file path=ppt/slides/_rels/slide42.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4.xml"/><Relationship Id="rId4" Type="http://schemas.openxmlformats.org/officeDocument/2006/relationships/tags" Target="../tags/tag233.xml"/><Relationship Id="rId3" Type="http://schemas.openxmlformats.org/officeDocument/2006/relationships/image" Target="../media/image1.wmf"/><Relationship Id="rId2" Type="http://schemas.openxmlformats.org/officeDocument/2006/relationships/oleObject" Target="../embeddings/oleObject44.bin"/><Relationship Id="rId1" Type="http://schemas.openxmlformats.org/officeDocument/2006/relationships/tags" Target="../tags/tag232.xml"/></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41.vml"/><Relationship Id="rId5" Type="http://schemas.openxmlformats.org/officeDocument/2006/relationships/slideLayout" Target="../slideLayouts/slideLayout4.xml"/><Relationship Id="rId4" Type="http://schemas.openxmlformats.org/officeDocument/2006/relationships/tags" Target="../tags/tag235.xml"/><Relationship Id="rId3" Type="http://schemas.openxmlformats.org/officeDocument/2006/relationships/image" Target="../media/image1.wmf"/><Relationship Id="rId2" Type="http://schemas.openxmlformats.org/officeDocument/2006/relationships/oleObject" Target="../embeddings/oleObject45.bin"/><Relationship Id="rId1" Type="http://schemas.openxmlformats.org/officeDocument/2006/relationships/tags" Target="../tags/tag234.xml"/></Relationships>
</file>

<file path=ppt/slides/_rels/slide44.xml.rels><?xml version="1.0" encoding="UTF-8" standalone="yes"?>
<Relationships xmlns="http://schemas.openxmlformats.org/package/2006/relationships"><Relationship Id="rId5" Type="http://schemas.openxmlformats.org/officeDocument/2006/relationships/vmlDrawing" Target="../drawings/vmlDrawing42.vml"/><Relationship Id="rId4" Type="http://schemas.openxmlformats.org/officeDocument/2006/relationships/slideLayout" Target="../slideLayouts/slideLayout4.xml"/><Relationship Id="rId3" Type="http://schemas.openxmlformats.org/officeDocument/2006/relationships/image" Target="../media/image1.wmf"/><Relationship Id="rId2" Type="http://schemas.openxmlformats.org/officeDocument/2006/relationships/oleObject" Target="../embeddings/oleObject46.bin"/><Relationship Id="rId1" Type="http://schemas.openxmlformats.org/officeDocument/2006/relationships/tags" Target="../tags/tag236.xml"/></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4.xml"/><Relationship Id="rId4" Type="http://schemas.openxmlformats.org/officeDocument/2006/relationships/tags" Target="../tags/tag238.xml"/><Relationship Id="rId3" Type="http://schemas.openxmlformats.org/officeDocument/2006/relationships/image" Target="../media/image1.wmf"/><Relationship Id="rId2" Type="http://schemas.openxmlformats.org/officeDocument/2006/relationships/oleObject" Target="../embeddings/oleObject47.bin"/><Relationship Id="rId1" Type="http://schemas.openxmlformats.org/officeDocument/2006/relationships/tags" Target="../tags/tag237.xml"/></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4.xml"/><Relationship Id="rId4" Type="http://schemas.openxmlformats.org/officeDocument/2006/relationships/tags" Target="../tags/tag240.xml"/><Relationship Id="rId3" Type="http://schemas.openxmlformats.org/officeDocument/2006/relationships/image" Target="../media/image1.wmf"/><Relationship Id="rId2" Type="http://schemas.openxmlformats.org/officeDocument/2006/relationships/oleObject" Target="../embeddings/oleObject48.bin"/><Relationship Id="rId1" Type="http://schemas.openxmlformats.org/officeDocument/2006/relationships/tags" Target="../tags/tag239.xml"/></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4.xml"/><Relationship Id="rId4" Type="http://schemas.openxmlformats.org/officeDocument/2006/relationships/tags" Target="../tags/tag242.xml"/><Relationship Id="rId3" Type="http://schemas.openxmlformats.org/officeDocument/2006/relationships/image" Target="../media/image1.wmf"/><Relationship Id="rId2" Type="http://schemas.openxmlformats.org/officeDocument/2006/relationships/oleObject" Target="../embeddings/oleObject49.bin"/><Relationship Id="rId1" Type="http://schemas.openxmlformats.org/officeDocument/2006/relationships/tags" Target="../tags/tag241.xml"/></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4.xml"/><Relationship Id="rId4" Type="http://schemas.openxmlformats.org/officeDocument/2006/relationships/tags" Target="../tags/tag244.xml"/><Relationship Id="rId3" Type="http://schemas.openxmlformats.org/officeDocument/2006/relationships/image" Target="../media/image1.wmf"/><Relationship Id="rId2" Type="http://schemas.openxmlformats.org/officeDocument/2006/relationships/oleObject" Target="../embeddings/oleObject50.bin"/><Relationship Id="rId1" Type="http://schemas.openxmlformats.org/officeDocument/2006/relationships/tags" Target="../tags/tag243.xml"/></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4.xml"/><Relationship Id="rId4" Type="http://schemas.openxmlformats.org/officeDocument/2006/relationships/tags" Target="../tags/tag246.xml"/><Relationship Id="rId3" Type="http://schemas.openxmlformats.org/officeDocument/2006/relationships/image" Target="../media/image1.wmf"/><Relationship Id="rId2" Type="http://schemas.openxmlformats.org/officeDocument/2006/relationships/oleObject" Target="../embeddings/oleObject51.bin"/><Relationship Id="rId1" Type="http://schemas.openxmlformats.org/officeDocument/2006/relationships/tags" Target="../tags/tag245.xml"/></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4.xml"/><Relationship Id="rId4" Type="http://schemas.openxmlformats.org/officeDocument/2006/relationships/tags" Target="../tags/tag248.xml"/><Relationship Id="rId3" Type="http://schemas.openxmlformats.org/officeDocument/2006/relationships/image" Target="../media/image1.wmf"/><Relationship Id="rId2" Type="http://schemas.openxmlformats.org/officeDocument/2006/relationships/oleObject" Target="../embeddings/oleObject52.bin"/><Relationship Id="rId1" Type="http://schemas.openxmlformats.org/officeDocument/2006/relationships/tags" Target="../tags/tag247.xml"/></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49.vml"/><Relationship Id="rId5" Type="http://schemas.openxmlformats.org/officeDocument/2006/relationships/slideLayout" Target="../slideLayouts/slideLayout4.xml"/><Relationship Id="rId4" Type="http://schemas.openxmlformats.org/officeDocument/2006/relationships/tags" Target="../tags/tag250.xml"/><Relationship Id="rId3" Type="http://schemas.openxmlformats.org/officeDocument/2006/relationships/image" Target="../media/image1.wmf"/><Relationship Id="rId2" Type="http://schemas.openxmlformats.org/officeDocument/2006/relationships/oleObject" Target="../embeddings/oleObject53.bin"/><Relationship Id="rId1" Type="http://schemas.openxmlformats.org/officeDocument/2006/relationships/tags" Target="../tags/tag249.xml"/></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50.vml"/><Relationship Id="rId5" Type="http://schemas.openxmlformats.org/officeDocument/2006/relationships/slideLayout" Target="../slideLayouts/slideLayout4.xml"/><Relationship Id="rId4" Type="http://schemas.openxmlformats.org/officeDocument/2006/relationships/tags" Target="../tags/tag252.xml"/><Relationship Id="rId3" Type="http://schemas.openxmlformats.org/officeDocument/2006/relationships/image" Target="../media/image1.wmf"/><Relationship Id="rId2" Type="http://schemas.openxmlformats.org/officeDocument/2006/relationships/oleObject" Target="../embeddings/oleObject54.bin"/><Relationship Id="rId1" Type="http://schemas.openxmlformats.org/officeDocument/2006/relationships/tags" Target="../tags/tag251.xml"/></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51.vml"/><Relationship Id="rId5" Type="http://schemas.openxmlformats.org/officeDocument/2006/relationships/slideLayout" Target="../slideLayouts/slideLayout4.xml"/><Relationship Id="rId4" Type="http://schemas.openxmlformats.org/officeDocument/2006/relationships/tags" Target="../tags/tag254.xml"/><Relationship Id="rId3" Type="http://schemas.openxmlformats.org/officeDocument/2006/relationships/image" Target="../media/image1.wmf"/><Relationship Id="rId2" Type="http://schemas.openxmlformats.org/officeDocument/2006/relationships/oleObject" Target="../embeddings/oleObject55.bin"/><Relationship Id="rId1" Type="http://schemas.openxmlformats.org/officeDocument/2006/relationships/tags" Target="../tags/tag253.xml"/></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52.vml"/><Relationship Id="rId5" Type="http://schemas.openxmlformats.org/officeDocument/2006/relationships/slideLayout" Target="../slideLayouts/slideLayout4.xml"/><Relationship Id="rId4" Type="http://schemas.openxmlformats.org/officeDocument/2006/relationships/tags" Target="../tags/tag256.xml"/><Relationship Id="rId3" Type="http://schemas.openxmlformats.org/officeDocument/2006/relationships/image" Target="../media/image1.wmf"/><Relationship Id="rId2" Type="http://schemas.openxmlformats.org/officeDocument/2006/relationships/oleObject" Target="../embeddings/oleObject56.bin"/><Relationship Id="rId1" Type="http://schemas.openxmlformats.org/officeDocument/2006/relationships/tags" Target="../tags/tag255.xml"/></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53.vml"/><Relationship Id="rId5" Type="http://schemas.openxmlformats.org/officeDocument/2006/relationships/slideLayout" Target="../slideLayouts/slideLayout4.xml"/><Relationship Id="rId4" Type="http://schemas.openxmlformats.org/officeDocument/2006/relationships/tags" Target="../tags/tag258.xml"/><Relationship Id="rId3" Type="http://schemas.openxmlformats.org/officeDocument/2006/relationships/image" Target="../media/image1.wmf"/><Relationship Id="rId2" Type="http://schemas.openxmlformats.org/officeDocument/2006/relationships/oleObject" Target="../embeddings/oleObject57.bin"/><Relationship Id="rId1" Type="http://schemas.openxmlformats.org/officeDocument/2006/relationships/tags" Target="../tags/tag257.xml"/></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54.vml"/><Relationship Id="rId5" Type="http://schemas.openxmlformats.org/officeDocument/2006/relationships/slideLayout" Target="../slideLayouts/slideLayout4.xml"/><Relationship Id="rId4" Type="http://schemas.openxmlformats.org/officeDocument/2006/relationships/tags" Target="../tags/tag260.xml"/><Relationship Id="rId3" Type="http://schemas.openxmlformats.org/officeDocument/2006/relationships/image" Target="../media/image1.wmf"/><Relationship Id="rId2" Type="http://schemas.openxmlformats.org/officeDocument/2006/relationships/oleObject" Target="../embeddings/oleObject58.bin"/><Relationship Id="rId1" Type="http://schemas.openxmlformats.org/officeDocument/2006/relationships/tags" Target="../tags/tag259.xml"/></Relationships>
</file>

<file path=ppt/slides/_rels/slide57.xml.rels><?xml version="1.0" encoding="UTF-8" standalone="yes"?>
<Relationships xmlns="http://schemas.openxmlformats.org/package/2006/relationships"><Relationship Id="rId6" Type="http://schemas.openxmlformats.org/officeDocument/2006/relationships/vmlDrawing" Target="../drawings/vmlDrawing55.vml"/><Relationship Id="rId5" Type="http://schemas.openxmlformats.org/officeDocument/2006/relationships/slideLayout" Target="../slideLayouts/slideLayout4.xml"/><Relationship Id="rId4" Type="http://schemas.openxmlformats.org/officeDocument/2006/relationships/tags" Target="../tags/tag262.xml"/><Relationship Id="rId3" Type="http://schemas.openxmlformats.org/officeDocument/2006/relationships/image" Target="../media/image1.wmf"/><Relationship Id="rId2" Type="http://schemas.openxmlformats.org/officeDocument/2006/relationships/oleObject" Target="../embeddings/oleObject59.bin"/><Relationship Id="rId1" Type="http://schemas.openxmlformats.org/officeDocument/2006/relationships/tags" Target="../tags/tag261.xml"/></Relationships>
</file>

<file path=ppt/slides/_rels/slide58.xml.rels><?xml version="1.0" encoding="UTF-8" standalone="yes"?>
<Relationships xmlns="http://schemas.openxmlformats.org/package/2006/relationships"><Relationship Id="rId6" Type="http://schemas.openxmlformats.org/officeDocument/2006/relationships/vmlDrawing" Target="../drawings/vmlDrawing56.vml"/><Relationship Id="rId5" Type="http://schemas.openxmlformats.org/officeDocument/2006/relationships/slideLayout" Target="../slideLayouts/slideLayout4.xml"/><Relationship Id="rId4" Type="http://schemas.openxmlformats.org/officeDocument/2006/relationships/tags" Target="../tags/tag264.xml"/><Relationship Id="rId3" Type="http://schemas.openxmlformats.org/officeDocument/2006/relationships/image" Target="../media/image1.wmf"/><Relationship Id="rId2" Type="http://schemas.openxmlformats.org/officeDocument/2006/relationships/oleObject" Target="../embeddings/oleObject60.bin"/><Relationship Id="rId1" Type="http://schemas.openxmlformats.org/officeDocument/2006/relationships/tags" Target="../tags/tag263.xml"/></Relationships>
</file>

<file path=ppt/slides/_rels/slide59.xml.rels><?xml version="1.0" encoding="UTF-8" standalone="yes"?>
<Relationships xmlns="http://schemas.openxmlformats.org/package/2006/relationships"><Relationship Id="rId6" Type="http://schemas.openxmlformats.org/officeDocument/2006/relationships/vmlDrawing" Target="../drawings/vmlDrawing57.vml"/><Relationship Id="rId5" Type="http://schemas.openxmlformats.org/officeDocument/2006/relationships/slideLayout" Target="../slideLayouts/slideLayout4.xml"/><Relationship Id="rId4" Type="http://schemas.openxmlformats.org/officeDocument/2006/relationships/tags" Target="../tags/tag266.xml"/><Relationship Id="rId3" Type="http://schemas.openxmlformats.org/officeDocument/2006/relationships/image" Target="../media/image1.wmf"/><Relationship Id="rId2" Type="http://schemas.openxmlformats.org/officeDocument/2006/relationships/oleObject" Target="../embeddings/oleObject61.bin"/><Relationship Id="rId1" Type="http://schemas.openxmlformats.org/officeDocument/2006/relationships/tags" Target="../tags/tag265.xml"/></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58.vml"/><Relationship Id="rId5" Type="http://schemas.openxmlformats.org/officeDocument/2006/relationships/slideLayout" Target="../slideLayouts/slideLayout4.xml"/><Relationship Id="rId4" Type="http://schemas.openxmlformats.org/officeDocument/2006/relationships/tags" Target="../tags/tag268.xml"/><Relationship Id="rId3" Type="http://schemas.openxmlformats.org/officeDocument/2006/relationships/image" Target="../media/image1.wmf"/><Relationship Id="rId2" Type="http://schemas.openxmlformats.org/officeDocument/2006/relationships/oleObject" Target="../embeddings/oleObject62.bin"/><Relationship Id="rId1" Type="http://schemas.openxmlformats.org/officeDocument/2006/relationships/tags" Target="../tags/tag267.xml"/></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59.vml"/><Relationship Id="rId5" Type="http://schemas.openxmlformats.org/officeDocument/2006/relationships/slideLayout" Target="../slideLayouts/slideLayout4.xml"/><Relationship Id="rId4" Type="http://schemas.openxmlformats.org/officeDocument/2006/relationships/tags" Target="../tags/tag270.xml"/><Relationship Id="rId3" Type="http://schemas.openxmlformats.org/officeDocument/2006/relationships/image" Target="../media/image1.wmf"/><Relationship Id="rId2" Type="http://schemas.openxmlformats.org/officeDocument/2006/relationships/oleObject" Target="../embeddings/oleObject63.bin"/><Relationship Id="rId1" Type="http://schemas.openxmlformats.org/officeDocument/2006/relationships/tags" Target="../tags/tag269.xml"/></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60.vml"/><Relationship Id="rId5" Type="http://schemas.openxmlformats.org/officeDocument/2006/relationships/slideLayout" Target="../slideLayouts/slideLayout4.xml"/><Relationship Id="rId4" Type="http://schemas.openxmlformats.org/officeDocument/2006/relationships/tags" Target="../tags/tag272.xml"/><Relationship Id="rId3" Type="http://schemas.openxmlformats.org/officeDocument/2006/relationships/image" Target="../media/image1.wmf"/><Relationship Id="rId2" Type="http://schemas.openxmlformats.org/officeDocument/2006/relationships/oleObject" Target="../embeddings/oleObject64.bin"/><Relationship Id="rId1" Type="http://schemas.openxmlformats.org/officeDocument/2006/relationships/tags" Target="../tags/tag271.xml"/></Relationships>
</file>

<file path=ppt/slides/_rels/slide63.xml.rels><?xml version="1.0" encoding="UTF-8" standalone="yes"?>
<Relationships xmlns="http://schemas.openxmlformats.org/package/2006/relationships"><Relationship Id="rId8" Type="http://schemas.openxmlformats.org/officeDocument/2006/relationships/vmlDrawing" Target="../drawings/vmlDrawing61.vml"/><Relationship Id="rId7" Type="http://schemas.openxmlformats.org/officeDocument/2006/relationships/slideLayout" Target="../slideLayouts/slideLayout4.xml"/><Relationship Id="rId6" Type="http://schemas.openxmlformats.org/officeDocument/2006/relationships/image" Target="../media/image10.wmf"/><Relationship Id="rId5" Type="http://schemas.openxmlformats.org/officeDocument/2006/relationships/oleObject" Target="../embeddings/oleObject66.bin"/><Relationship Id="rId4" Type="http://schemas.openxmlformats.org/officeDocument/2006/relationships/tags" Target="../tags/tag274.xml"/><Relationship Id="rId3" Type="http://schemas.openxmlformats.org/officeDocument/2006/relationships/image" Target="../media/image1.wmf"/><Relationship Id="rId2" Type="http://schemas.openxmlformats.org/officeDocument/2006/relationships/oleObject" Target="../embeddings/oleObject65.bin"/><Relationship Id="rId1" Type="http://schemas.openxmlformats.org/officeDocument/2006/relationships/tags" Target="../tags/tag273.xml"/></Relationships>
</file>

<file path=ppt/slides/_rels/slide64.xml.rels><?xml version="1.0" encoding="UTF-8" standalone="yes"?>
<Relationships xmlns="http://schemas.openxmlformats.org/package/2006/relationships"><Relationship Id="rId8" Type="http://schemas.openxmlformats.org/officeDocument/2006/relationships/vmlDrawing" Target="../drawings/vmlDrawing62.vml"/><Relationship Id="rId7" Type="http://schemas.openxmlformats.org/officeDocument/2006/relationships/slideLayout" Target="../slideLayouts/slideLayout4.xml"/><Relationship Id="rId6" Type="http://schemas.openxmlformats.org/officeDocument/2006/relationships/image" Target="../media/image11.wmf"/><Relationship Id="rId5" Type="http://schemas.openxmlformats.org/officeDocument/2006/relationships/oleObject" Target="../embeddings/oleObject68.bin"/><Relationship Id="rId4" Type="http://schemas.openxmlformats.org/officeDocument/2006/relationships/tags" Target="../tags/tag276.xml"/><Relationship Id="rId3" Type="http://schemas.openxmlformats.org/officeDocument/2006/relationships/image" Target="../media/image1.wmf"/><Relationship Id="rId2" Type="http://schemas.openxmlformats.org/officeDocument/2006/relationships/oleObject" Target="../embeddings/oleObject67.bin"/><Relationship Id="rId1" Type="http://schemas.openxmlformats.org/officeDocument/2006/relationships/tags" Target="../tags/tag275.xml"/></Relationships>
</file>

<file path=ppt/slides/_rels/slide65.xml.rels><?xml version="1.0" encoding="UTF-8" standalone="yes"?>
<Relationships xmlns="http://schemas.openxmlformats.org/package/2006/relationships"><Relationship Id="rId8" Type="http://schemas.openxmlformats.org/officeDocument/2006/relationships/vmlDrawing" Target="../drawings/vmlDrawing63.vml"/><Relationship Id="rId7" Type="http://schemas.openxmlformats.org/officeDocument/2006/relationships/slideLayout" Target="../slideLayouts/slideLayout4.xml"/><Relationship Id="rId6" Type="http://schemas.openxmlformats.org/officeDocument/2006/relationships/image" Target="../media/image12.wmf"/><Relationship Id="rId5" Type="http://schemas.openxmlformats.org/officeDocument/2006/relationships/oleObject" Target="../embeddings/oleObject70.bin"/><Relationship Id="rId4" Type="http://schemas.openxmlformats.org/officeDocument/2006/relationships/tags" Target="../tags/tag278.xml"/><Relationship Id="rId3" Type="http://schemas.openxmlformats.org/officeDocument/2006/relationships/image" Target="../media/image1.wmf"/><Relationship Id="rId2" Type="http://schemas.openxmlformats.org/officeDocument/2006/relationships/oleObject" Target="../embeddings/oleObject69.bin"/><Relationship Id="rId1" Type="http://schemas.openxmlformats.org/officeDocument/2006/relationships/tags" Target="../tags/tag277.xml"/></Relationships>
</file>

<file path=ppt/slides/_rels/slide66.xml.rels><?xml version="1.0" encoding="UTF-8" standalone="yes"?>
<Relationships xmlns="http://schemas.openxmlformats.org/package/2006/relationships"><Relationship Id="rId7" Type="http://schemas.openxmlformats.org/officeDocument/2006/relationships/vmlDrawing" Target="../drawings/vmlDrawing64.vml"/><Relationship Id="rId6" Type="http://schemas.openxmlformats.org/officeDocument/2006/relationships/slideLayout" Target="../slideLayouts/slideLayout4.xml"/><Relationship Id="rId5" Type="http://schemas.openxmlformats.org/officeDocument/2006/relationships/image" Target="../media/image13.wmf"/><Relationship Id="rId4" Type="http://schemas.openxmlformats.org/officeDocument/2006/relationships/oleObject" Target="../embeddings/oleObject72.bin"/><Relationship Id="rId3" Type="http://schemas.openxmlformats.org/officeDocument/2006/relationships/image" Target="../media/image1.wmf"/><Relationship Id="rId2" Type="http://schemas.openxmlformats.org/officeDocument/2006/relationships/oleObject" Target="../embeddings/oleObject71.bin"/><Relationship Id="rId1" Type="http://schemas.openxmlformats.org/officeDocument/2006/relationships/tags" Target="../tags/tag279.xml"/></Relationships>
</file>

<file path=ppt/slides/_rels/slide67.xml.rels><?xml version="1.0" encoding="UTF-8" standalone="yes"?>
<Relationships xmlns="http://schemas.openxmlformats.org/package/2006/relationships"><Relationship Id="rId5" Type="http://schemas.openxmlformats.org/officeDocument/2006/relationships/vmlDrawing" Target="../drawings/vmlDrawing65.vml"/><Relationship Id="rId4" Type="http://schemas.openxmlformats.org/officeDocument/2006/relationships/slideLayout" Target="../slideLayouts/slideLayout4.xml"/><Relationship Id="rId3" Type="http://schemas.openxmlformats.org/officeDocument/2006/relationships/image" Target="../media/image1.wmf"/><Relationship Id="rId2" Type="http://schemas.openxmlformats.org/officeDocument/2006/relationships/oleObject" Target="../embeddings/oleObject73.bin"/><Relationship Id="rId1" Type="http://schemas.openxmlformats.org/officeDocument/2006/relationships/tags" Target="../tags/tag280.xml"/></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66.vml"/><Relationship Id="rId5" Type="http://schemas.openxmlformats.org/officeDocument/2006/relationships/slideLayout" Target="../slideLayouts/slideLayout4.xml"/><Relationship Id="rId4" Type="http://schemas.openxmlformats.org/officeDocument/2006/relationships/tags" Target="../tags/tag282.xml"/><Relationship Id="rId3" Type="http://schemas.openxmlformats.org/officeDocument/2006/relationships/image" Target="../media/image1.wmf"/><Relationship Id="rId2" Type="http://schemas.openxmlformats.org/officeDocument/2006/relationships/oleObject" Target="../embeddings/oleObject74.bin"/><Relationship Id="rId1" Type="http://schemas.openxmlformats.org/officeDocument/2006/relationships/tags" Target="../tags/tag281.xml"/></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67.vml"/><Relationship Id="rId5" Type="http://schemas.openxmlformats.org/officeDocument/2006/relationships/slideLayout" Target="../slideLayouts/slideLayout4.xml"/><Relationship Id="rId4" Type="http://schemas.openxmlformats.org/officeDocument/2006/relationships/tags" Target="../tags/tag284.xml"/><Relationship Id="rId3" Type="http://schemas.openxmlformats.org/officeDocument/2006/relationships/image" Target="../media/image1.wmf"/><Relationship Id="rId2" Type="http://schemas.openxmlformats.org/officeDocument/2006/relationships/oleObject" Target="../embeddings/oleObject75.bin"/><Relationship Id="rId1" Type="http://schemas.openxmlformats.org/officeDocument/2006/relationships/tags" Target="../tags/tag283.xml"/></Relationships>
</file>

<file path=ppt/slides/_rels/slide70.xml.rels><?xml version="1.0" encoding="UTF-8" standalone="yes"?>
<Relationships xmlns="http://schemas.openxmlformats.org/package/2006/relationships"><Relationship Id="rId6" Type="http://schemas.openxmlformats.org/officeDocument/2006/relationships/vmlDrawing" Target="../drawings/vmlDrawing68.vml"/><Relationship Id="rId5" Type="http://schemas.openxmlformats.org/officeDocument/2006/relationships/slideLayout" Target="../slideLayouts/slideLayout4.xml"/><Relationship Id="rId4" Type="http://schemas.openxmlformats.org/officeDocument/2006/relationships/tags" Target="../tags/tag286.xml"/><Relationship Id="rId3" Type="http://schemas.openxmlformats.org/officeDocument/2006/relationships/image" Target="../media/image1.wmf"/><Relationship Id="rId2" Type="http://schemas.openxmlformats.org/officeDocument/2006/relationships/oleObject" Target="../embeddings/oleObject76.bin"/><Relationship Id="rId1" Type="http://schemas.openxmlformats.org/officeDocument/2006/relationships/tags" Target="../tags/tag285.xml"/></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69.vml"/><Relationship Id="rId5" Type="http://schemas.openxmlformats.org/officeDocument/2006/relationships/slideLayout" Target="../slideLayouts/slideLayout4.xml"/><Relationship Id="rId4" Type="http://schemas.openxmlformats.org/officeDocument/2006/relationships/tags" Target="../tags/tag288.xml"/><Relationship Id="rId3" Type="http://schemas.openxmlformats.org/officeDocument/2006/relationships/image" Target="../media/image1.wmf"/><Relationship Id="rId2" Type="http://schemas.openxmlformats.org/officeDocument/2006/relationships/oleObject" Target="../embeddings/oleObject77.bin"/><Relationship Id="rId1" Type="http://schemas.openxmlformats.org/officeDocument/2006/relationships/tags" Target="../tags/tag287.xml"/></Relationships>
</file>

<file path=ppt/slides/_rels/slide72.x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oleObject" Target="../embeddings/oleObject81.bin"/><Relationship Id="rId7" Type="http://schemas.openxmlformats.org/officeDocument/2006/relationships/image" Target="../media/image15.wmf"/><Relationship Id="rId6" Type="http://schemas.openxmlformats.org/officeDocument/2006/relationships/oleObject" Target="../embeddings/oleObject80.bin"/><Relationship Id="rId5" Type="http://schemas.openxmlformats.org/officeDocument/2006/relationships/image" Target="../media/image14.wmf"/><Relationship Id="rId4" Type="http://schemas.openxmlformats.org/officeDocument/2006/relationships/oleObject" Target="../embeddings/oleObject79.bin"/><Relationship Id="rId3" Type="http://schemas.openxmlformats.org/officeDocument/2006/relationships/image" Target="../media/image1.wmf"/><Relationship Id="rId2" Type="http://schemas.openxmlformats.org/officeDocument/2006/relationships/oleObject" Target="../embeddings/oleObject78.bin"/><Relationship Id="rId11" Type="http://schemas.openxmlformats.org/officeDocument/2006/relationships/vmlDrawing" Target="../drawings/vmlDrawing70.vml"/><Relationship Id="rId10" Type="http://schemas.openxmlformats.org/officeDocument/2006/relationships/slideLayout" Target="../slideLayouts/slideLayout4.xml"/><Relationship Id="rId1" Type="http://schemas.openxmlformats.org/officeDocument/2006/relationships/tags" Target="../tags/tag289.xml"/></Relationships>
</file>

<file path=ppt/slides/_rels/slide73.xml.rels><?xml version="1.0" encoding="UTF-8" standalone="yes"?>
<Relationships xmlns="http://schemas.openxmlformats.org/package/2006/relationships"><Relationship Id="rId9" Type="http://schemas.openxmlformats.org/officeDocument/2006/relationships/vmlDrawing" Target="../drawings/vmlDrawing71.vml"/><Relationship Id="rId8" Type="http://schemas.openxmlformats.org/officeDocument/2006/relationships/slideLayout" Target="../slideLayouts/slideLayout4.xml"/><Relationship Id="rId7" Type="http://schemas.openxmlformats.org/officeDocument/2006/relationships/image" Target="../media/image13.wmf"/><Relationship Id="rId6" Type="http://schemas.openxmlformats.org/officeDocument/2006/relationships/oleObject" Target="../embeddings/oleObject84.bin"/><Relationship Id="rId5" Type="http://schemas.openxmlformats.org/officeDocument/2006/relationships/image" Target="../media/image17.wmf"/><Relationship Id="rId4" Type="http://schemas.openxmlformats.org/officeDocument/2006/relationships/oleObject" Target="../embeddings/oleObject83.bin"/><Relationship Id="rId3" Type="http://schemas.openxmlformats.org/officeDocument/2006/relationships/image" Target="../media/image1.wmf"/><Relationship Id="rId2" Type="http://schemas.openxmlformats.org/officeDocument/2006/relationships/oleObject" Target="../embeddings/oleObject82.bin"/><Relationship Id="rId1" Type="http://schemas.openxmlformats.org/officeDocument/2006/relationships/tags" Target="../tags/tag290.xml"/></Relationships>
</file>

<file path=ppt/slides/_rels/slide74.xml.rels><?xml version="1.0" encoding="UTF-8" standalone="yes"?>
<Relationships xmlns="http://schemas.openxmlformats.org/package/2006/relationships"><Relationship Id="rId5" Type="http://schemas.openxmlformats.org/officeDocument/2006/relationships/vmlDrawing" Target="../drawings/vmlDrawing72.vml"/><Relationship Id="rId4" Type="http://schemas.openxmlformats.org/officeDocument/2006/relationships/slideLayout" Target="../slideLayouts/slideLayout4.xml"/><Relationship Id="rId3" Type="http://schemas.openxmlformats.org/officeDocument/2006/relationships/image" Target="../media/image1.wmf"/><Relationship Id="rId2" Type="http://schemas.openxmlformats.org/officeDocument/2006/relationships/oleObject" Target="../embeddings/oleObject85.bin"/><Relationship Id="rId1" Type="http://schemas.openxmlformats.org/officeDocument/2006/relationships/tags" Target="../tags/tag291.xml"/></Relationships>
</file>

<file path=ppt/slides/_rels/slide75.xml.rels><?xml version="1.0" encoding="UTF-8" standalone="yes"?>
<Relationships xmlns="http://schemas.openxmlformats.org/package/2006/relationships"><Relationship Id="rId6" Type="http://schemas.openxmlformats.org/officeDocument/2006/relationships/vmlDrawing" Target="../drawings/vmlDrawing73.vml"/><Relationship Id="rId5" Type="http://schemas.openxmlformats.org/officeDocument/2006/relationships/slideLayout" Target="../slideLayouts/slideLayout4.xml"/><Relationship Id="rId4" Type="http://schemas.openxmlformats.org/officeDocument/2006/relationships/tags" Target="../tags/tag293.xml"/><Relationship Id="rId3" Type="http://schemas.openxmlformats.org/officeDocument/2006/relationships/image" Target="../media/image1.wmf"/><Relationship Id="rId2" Type="http://schemas.openxmlformats.org/officeDocument/2006/relationships/oleObject" Target="../embeddings/oleObject86.bin"/><Relationship Id="rId1" Type="http://schemas.openxmlformats.org/officeDocument/2006/relationships/tags" Target="../tags/tag292.xml"/></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74.vml"/><Relationship Id="rId5" Type="http://schemas.openxmlformats.org/officeDocument/2006/relationships/slideLayout" Target="../slideLayouts/slideLayout4.xml"/><Relationship Id="rId4" Type="http://schemas.openxmlformats.org/officeDocument/2006/relationships/tags" Target="../tags/tag295.xml"/><Relationship Id="rId3" Type="http://schemas.openxmlformats.org/officeDocument/2006/relationships/image" Target="../media/image1.wmf"/><Relationship Id="rId2" Type="http://schemas.openxmlformats.org/officeDocument/2006/relationships/oleObject" Target="../embeddings/oleObject87.bin"/><Relationship Id="rId1" Type="http://schemas.openxmlformats.org/officeDocument/2006/relationships/tags" Target="../tags/tag294.xml"/></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75.vml"/><Relationship Id="rId5" Type="http://schemas.openxmlformats.org/officeDocument/2006/relationships/slideLayout" Target="../slideLayouts/slideLayout4.xml"/><Relationship Id="rId4" Type="http://schemas.openxmlformats.org/officeDocument/2006/relationships/tags" Target="../tags/tag297.xml"/><Relationship Id="rId3" Type="http://schemas.openxmlformats.org/officeDocument/2006/relationships/image" Target="../media/image1.wmf"/><Relationship Id="rId2" Type="http://schemas.openxmlformats.org/officeDocument/2006/relationships/oleObject" Target="../embeddings/oleObject88.bin"/><Relationship Id="rId1" Type="http://schemas.openxmlformats.org/officeDocument/2006/relationships/tags" Target="../tags/tag296.xml"/></Relationships>
</file>

<file path=ppt/slides/_rels/slide78.xml.rels><?xml version="1.0" encoding="UTF-8" standalone="yes"?>
<Relationships xmlns="http://schemas.openxmlformats.org/package/2006/relationships"><Relationship Id="rId6" Type="http://schemas.openxmlformats.org/officeDocument/2006/relationships/vmlDrawing" Target="../drawings/vmlDrawing76.vml"/><Relationship Id="rId5" Type="http://schemas.openxmlformats.org/officeDocument/2006/relationships/slideLayout" Target="../slideLayouts/slideLayout4.xml"/><Relationship Id="rId4" Type="http://schemas.openxmlformats.org/officeDocument/2006/relationships/tags" Target="../tags/tag299.xml"/><Relationship Id="rId3" Type="http://schemas.openxmlformats.org/officeDocument/2006/relationships/image" Target="../media/image1.wmf"/><Relationship Id="rId2" Type="http://schemas.openxmlformats.org/officeDocument/2006/relationships/oleObject" Target="../embeddings/oleObject89.bin"/><Relationship Id="rId1" Type="http://schemas.openxmlformats.org/officeDocument/2006/relationships/tags" Target="../tags/tag298.xml"/></Relationships>
</file>

<file path=ppt/slides/_rels/slide79.xml.rels><?xml version="1.0" encoding="UTF-8" standalone="yes"?>
<Relationships xmlns="http://schemas.openxmlformats.org/package/2006/relationships"><Relationship Id="rId6" Type="http://schemas.openxmlformats.org/officeDocument/2006/relationships/vmlDrawing" Target="../drawings/vmlDrawing77.vml"/><Relationship Id="rId5" Type="http://schemas.openxmlformats.org/officeDocument/2006/relationships/slideLayout" Target="../slideLayouts/slideLayout4.xml"/><Relationship Id="rId4" Type="http://schemas.openxmlformats.org/officeDocument/2006/relationships/tags" Target="../tags/tag301.xml"/><Relationship Id="rId3" Type="http://schemas.openxmlformats.org/officeDocument/2006/relationships/image" Target="../media/image1.wmf"/><Relationship Id="rId2" Type="http://schemas.openxmlformats.org/officeDocument/2006/relationships/oleObject" Target="../embeddings/oleObject90.bin"/><Relationship Id="rId1" Type="http://schemas.openxmlformats.org/officeDocument/2006/relationships/tags" Target="../tags/tag300.xml"/></Relationships>
</file>

<file path=ppt/slides/_rels/slide80.xml.rels><?xml version="1.0" encoding="UTF-8" standalone="yes"?>
<Relationships xmlns="http://schemas.openxmlformats.org/package/2006/relationships"><Relationship Id="rId9" Type="http://schemas.openxmlformats.org/officeDocument/2006/relationships/image" Target="../media/image20.wmf"/><Relationship Id="rId8" Type="http://schemas.openxmlformats.org/officeDocument/2006/relationships/oleObject" Target="../embeddings/oleObject94.bin"/><Relationship Id="rId7" Type="http://schemas.openxmlformats.org/officeDocument/2006/relationships/image" Target="../media/image19.wmf"/><Relationship Id="rId6" Type="http://schemas.openxmlformats.org/officeDocument/2006/relationships/oleObject" Target="../embeddings/oleObject93.bin"/><Relationship Id="rId5" Type="http://schemas.openxmlformats.org/officeDocument/2006/relationships/image" Target="../media/image18.wmf"/><Relationship Id="rId4" Type="http://schemas.openxmlformats.org/officeDocument/2006/relationships/oleObject" Target="../embeddings/oleObject92.bin"/><Relationship Id="rId3" Type="http://schemas.openxmlformats.org/officeDocument/2006/relationships/image" Target="../media/image1.wmf"/><Relationship Id="rId2" Type="http://schemas.openxmlformats.org/officeDocument/2006/relationships/oleObject" Target="../embeddings/oleObject91.bin"/><Relationship Id="rId11" Type="http://schemas.openxmlformats.org/officeDocument/2006/relationships/vmlDrawing" Target="../drawings/vmlDrawing78.vml"/><Relationship Id="rId10" Type="http://schemas.openxmlformats.org/officeDocument/2006/relationships/slideLayout" Target="../slideLayouts/slideLayout4.xml"/><Relationship Id="rId1" Type="http://schemas.openxmlformats.org/officeDocument/2006/relationships/tags" Target="../tags/tag302.xml"/></Relationships>
</file>

<file path=ppt/slides/_rels/slide81.xml.rels><?xml version="1.0" encoding="UTF-8" standalone="yes"?>
<Relationships xmlns="http://schemas.openxmlformats.org/package/2006/relationships"><Relationship Id="rId9" Type="http://schemas.openxmlformats.org/officeDocument/2006/relationships/image" Target="../media/image22.wmf"/><Relationship Id="rId8" Type="http://schemas.openxmlformats.org/officeDocument/2006/relationships/oleObject" Target="../embeddings/oleObject98.bin"/><Relationship Id="rId7" Type="http://schemas.openxmlformats.org/officeDocument/2006/relationships/image" Target="../media/image13.wmf"/><Relationship Id="rId6" Type="http://schemas.openxmlformats.org/officeDocument/2006/relationships/oleObject" Target="../embeddings/oleObject97.bin"/><Relationship Id="rId5" Type="http://schemas.openxmlformats.org/officeDocument/2006/relationships/image" Target="../media/image21.wmf"/><Relationship Id="rId4" Type="http://schemas.openxmlformats.org/officeDocument/2006/relationships/oleObject" Target="../embeddings/oleObject96.bin"/><Relationship Id="rId3" Type="http://schemas.openxmlformats.org/officeDocument/2006/relationships/image" Target="../media/image1.wmf"/><Relationship Id="rId2" Type="http://schemas.openxmlformats.org/officeDocument/2006/relationships/oleObject" Target="../embeddings/oleObject95.bin"/><Relationship Id="rId11" Type="http://schemas.openxmlformats.org/officeDocument/2006/relationships/vmlDrawing" Target="../drawings/vmlDrawing79.vml"/><Relationship Id="rId10" Type="http://schemas.openxmlformats.org/officeDocument/2006/relationships/slideLayout" Target="../slideLayouts/slideLayout4.xml"/><Relationship Id="rId1" Type="http://schemas.openxmlformats.org/officeDocument/2006/relationships/tags" Target="../tags/tag303.xml"/></Relationships>
</file>

<file path=ppt/slides/_rels/slide82.xml.rels><?xml version="1.0" encoding="UTF-8" standalone="yes"?>
<Relationships xmlns="http://schemas.openxmlformats.org/package/2006/relationships"><Relationship Id="rId5" Type="http://schemas.openxmlformats.org/officeDocument/2006/relationships/vmlDrawing" Target="../drawings/vmlDrawing80.vml"/><Relationship Id="rId4" Type="http://schemas.openxmlformats.org/officeDocument/2006/relationships/slideLayout" Target="../slideLayouts/slideLayout4.xml"/><Relationship Id="rId3" Type="http://schemas.openxmlformats.org/officeDocument/2006/relationships/image" Target="../media/image1.wmf"/><Relationship Id="rId2" Type="http://schemas.openxmlformats.org/officeDocument/2006/relationships/oleObject" Target="../embeddings/oleObject99.bin"/><Relationship Id="rId1" Type="http://schemas.openxmlformats.org/officeDocument/2006/relationships/tags" Target="../tags/tag304.xml"/></Relationships>
</file>

<file path=ppt/slides/_rels/slide83.xml.rels><?xml version="1.0" encoding="UTF-8" standalone="yes"?>
<Relationships xmlns="http://schemas.openxmlformats.org/package/2006/relationships"><Relationship Id="rId5" Type="http://schemas.openxmlformats.org/officeDocument/2006/relationships/vmlDrawing" Target="../drawings/vmlDrawing81.vml"/><Relationship Id="rId4" Type="http://schemas.openxmlformats.org/officeDocument/2006/relationships/slideLayout" Target="../slideLayouts/slideLayout4.xml"/><Relationship Id="rId3" Type="http://schemas.openxmlformats.org/officeDocument/2006/relationships/image" Target="../media/image1.wmf"/><Relationship Id="rId2" Type="http://schemas.openxmlformats.org/officeDocument/2006/relationships/oleObject" Target="../embeddings/oleObject100.bin"/><Relationship Id="rId1" Type="http://schemas.openxmlformats.org/officeDocument/2006/relationships/tags" Target="../tags/tag30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18870" y="914400"/>
            <a:ext cx="9799320" cy="1376045"/>
          </a:xfrm>
        </p:spPr>
        <p:txBody>
          <a:bodyPr>
            <a:normAutofit fontScale="90000"/>
          </a:bodyPr>
          <a:p>
            <a:r>
              <a:rPr lang="en-US" altLang="zh-CN" dirty="0" smtClean="0">
                <a:solidFill>
                  <a:srgbClr val="FF0000"/>
                </a:solidFill>
                <a:latin typeface="等线" panose="02010600030101010101" charset="-122"/>
                <a:ea typeface="等线" panose="02010600030101010101" charset="-122"/>
                <a:sym typeface="+mn-ea"/>
              </a:rPr>
              <a:t> </a:t>
            </a:r>
            <a:br>
              <a:rPr lang="en-US" altLang="zh-CN" dirty="0" smtClean="0">
                <a:solidFill>
                  <a:srgbClr val="FF0000"/>
                </a:solidFill>
                <a:latin typeface="等线" panose="02010600030101010101" charset="-122"/>
                <a:ea typeface="等线" panose="02010600030101010101" charset="-122"/>
                <a:sym typeface="+mn-ea"/>
              </a:rPr>
            </a:br>
            <a:r>
              <a:rPr lang="zh-CN" altLang="en-US" dirty="0" smtClean="0">
                <a:solidFill>
                  <a:srgbClr val="FF0000"/>
                </a:solidFill>
                <a:latin typeface="等线" panose="02010600030101010101" charset="-122"/>
                <a:ea typeface="等线" panose="02010600030101010101" charset="-122"/>
                <a:sym typeface="+mn-ea"/>
              </a:rPr>
              <a:t>软件韧性可信量化模型</a:t>
            </a:r>
            <a:endParaRPr lang="zh-CN" altLang="en-US" dirty="0" smtClean="0">
              <a:solidFill>
                <a:srgbClr val="FF0000"/>
              </a:solidFill>
              <a:latin typeface="等线" panose="02010600030101010101" charset="-122"/>
              <a:ea typeface="等线" panose="02010600030101010101" charset="-122"/>
              <a:sym typeface="+mn-ea"/>
            </a:endParaRPr>
          </a:p>
        </p:txBody>
      </p:sp>
      <p:sp>
        <p:nvSpPr>
          <p:cNvPr id="16" name="文本框 15"/>
          <p:cNvSpPr txBox="1"/>
          <p:nvPr/>
        </p:nvSpPr>
        <p:spPr>
          <a:xfrm>
            <a:off x="2810510" y="3336925"/>
            <a:ext cx="6706235" cy="3140075"/>
          </a:xfrm>
          <a:prstGeom prst="rect">
            <a:avLst/>
          </a:prstGeom>
          <a:noFill/>
        </p:spPr>
        <p:txBody>
          <a:bodyPr wrap="square" rtlCol="0">
            <a:noAutofit/>
          </a:bodyPr>
          <a:p>
            <a:pPr algn="ctr">
              <a:lnSpc>
                <a:spcPct val="120000"/>
              </a:lnSpc>
            </a:pPr>
            <a:r>
              <a:rPr lang="zh-CN" altLang="zh-CN" sz="2800">
                <a:solidFill>
                  <a:schemeClr val="tx1"/>
                </a:solidFill>
                <a:latin typeface="微软雅黑" panose="020B0503020204020204" charset="-122"/>
                <a:ea typeface="微软雅黑" panose="020B0503020204020204" charset="-122"/>
                <a:sym typeface="+mn-ea"/>
              </a:rPr>
              <a:t>陈仪香</a:t>
            </a:r>
            <a:endParaRPr lang="zh-CN" altLang="zh-CN" sz="2800">
              <a:solidFill>
                <a:schemeClr val="tx1"/>
              </a:solidFill>
              <a:latin typeface="微软雅黑" panose="020B0503020204020204" charset="-122"/>
              <a:ea typeface="微软雅黑" panose="020B0503020204020204" charset="-122"/>
              <a:sym typeface="+mn-ea"/>
            </a:endParaRPr>
          </a:p>
          <a:p>
            <a:pPr algn="ctr">
              <a:lnSpc>
                <a:spcPct val="120000"/>
              </a:lnSpc>
            </a:pPr>
            <a:endParaRPr lang="zh-CN" altLang="zh-CN" sz="2800">
              <a:solidFill>
                <a:schemeClr val="tx1"/>
              </a:solidFill>
              <a:latin typeface="微软雅黑" panose="020B0503020204020204" charset="-122"/>
              <a:ea typeface="微软雅黑" panose="020B0503020204020204" charset="-122"/>
              <a:sym typeface="+mn-ea"/>
            </a:endParaRPr>
          </a:p>
          <a:p>
            <a:pPr algn="ctr">
              <a:lnSpc>
                <a:spcPct val="120000"/>
              </a:lnSpc>
            </a:pPr>
            <a:r>
              <a:rPr lang="zh-CN" altLang="zh-CN" sz="2800">
                <a:solidFill>
                  <a:schemeClr val="tx1"/>
                </a:solidFill>
                <a:latin typeface="微软雅黑" panose="020B0503020204020204" charset="-122"/>
                <a:ea typeface="微软雅黑" panose="020B0503020204020204" charset="-122"/>
                <a:sym typeface="+mn-ea"/>
              </a:rPr>
              <a:t>华东师范大学软件学院可信智能团队</a:t>
            </a:r>
            <a:r>
              <a:rPr lang="en-US" altLang="zh-CN" sz="2800">
                <a:solidFill>
                  <a:schemeClr val="tx1"/>
                </a:solidFill>
                <a:latin typeface="微软雅黑" panose="020B0503020204020204" charset="-122"/>
                <a:ea typeface="微软雅黑" panose="020B0503020204020204" charset="-122"/>
                <a:sym typeface="+mn-ea"/>
              </a:rPr>
              <a:t>TrIG</a:t>
            </a:r>
            <a:endParaRPr lang="en-US" altLang="zh-CN" sz="2800">
              <a:solidFill>
                <a:schemeClr val="tx1"/>
              </a:solidFill>
              <a:latin typeface="微软雅黑" panose="020B0503020204020204" charset="-122"/>
              <a:ea typeface="微软雅黑" panose="020B0503020204020204" charset="-122"/>
              <a:sym typeface="+mn-ea"/>
            </a:endParaRPr>
          </a:p>
          <a:p>
            <a:pPr algn="ctr">
              <a:lnSpc>
                <a:spcPct val="120000"/>
              </a:lnSpc>
            </a:pPr>
            <a:endParaRPr lang="en-US" altLang="zh-CN" sz="2800">
              <a:solidFill>
                <a:schemeClr val="tx1"/>
              </a:solidFill>
              <a:latin typeface="微软雅黑" panose="020B0503020204020204" charset="-122"/>
              <a:ea typeface="微软雅黑" panose="020B0503020204020204" charset="-122"/>
              <a:sym typeface="+mn-ea"/>
            </a:endParaRPr>
          </a:p>
          <a:p>
            <a:pPr algn="ctr">
              <a:lnSpc>
                <a:spcPct val="120000"/>
              </a:lnSpc>
            </a:pPr>
            <a:r>
              <a:rPr lang="en-US" altLang="zh-CN" sz="2800">
                <a:solidFill>
                  <a:schemeClr val="tx1"/>
                </a:solidFill>
              </a:rPr>
              <a:t>2026</a:t>
            </a:r>
            <a:r>
              <a:rPr lang="zh-CN" altLang="en-US" sz="2800">
                <a:solidFill>
                  <a:schemeClr val="tx1"/>
                </a:solidFill>
              </a:rPr>
              <a:t>年</a:t>
            </a:r>
            <a:r>
              <a:rPr lang="en-US" altLang="zh-CN" sz="2800">
                <a:solidFill>
                  <a:schemeClr val="tx1"/>
                </a:solidFill>
              </a:rPr>
              <a:t>11</a:t>
            </a:r>
            <a:r>
              <a:rPr lang="zh-CN" altLang="en-US" sz="2800">
                <a:solidFill>
                  <a:schemeClr val="tx1"/>
                </a:solidFill>
              </a:rPr>
              <a:t>月</a:t>
            </a:r>
            <a:r>
              <a:rPr lang="en-US" altLang="zh-CN" sz="2800">
                <a:solidFill>
                  <a:schemeClr val="tx1"/>
                </a:solidFill>
              </a:rPr>
              <a:t>30</a:t>
            </a:r>
            <a:r>
              <a:rPr lang="zh-CN" altLang="en-US" sz="2800">
                <a:solidFill>
                  <a:schemeClr val="tx1"/>
                </a:solidFill>
              </a:rPr>
              <a:t>日</a:t>
            </a:r>
            <a:endParaRPr lang="zh-CN" altLang="en-US" sz="2800">
              <a:solidFill>
                <a:schemeClr val="tx1"/>
              </a:solidFill>
            </a:endParaRPr>
          </a:p>
          <a:p>
            <a:pPr algn="ctr">
              <a:lnSpc>
                <a:spcPct val="120000"/>
              </a:lnSpc>
            </a:pPr>
            <a:endParaRPr lang="zh-CN" altLang="en-US" sz="2800">
              <a:solidFill>
                <a:schemeClr val="tx1"/>
              </a:solidFill>
              <a:latin typeface="微软雅黑" panose="020B0503020204020204" charset="-122"/>
              <a:ea typeface="微软雅黑" panose="020B0503020204020204" charset="-122"/>
            </a:endParaRPr>
          </a:p>
        </p:txBody>
      </p:sp>
      <p:graphicFrame>
        <p:nvGraphicFramePr>
          <p:cNvPr id="4" name="对象 3"/>
          <p:cNvGraphicFramePr/>
          <p:nvPr>
            <p:custDataLst>
              <p:tags r:id="rId2"/>
            </p:custDataLst>
          </p:nvPr>
        </p:nvGraphicFramePr>
        <p:xfrm>
          <a:off x="7642225" y="5949950"/>
          <a:ext cx="4392930" cy="734060"/>
        </p:xfrm>
        <a:graphic>
          <a:graphicData uri="http://schemas.openxmlformats.org/presentationml/2006/ole">
            <mc:AlternateContent xmlns:mc="http://schemas.openxmlformats.org/markup-compatibility/2006">
              <mc:Choice xmlns:v="urn:schemas-microsoft-com:vml" Requires="v">
                <p:oleObj spid="_x0000_s39" name="" r:id="rId3" imgW="11239500" imgH="2009775" progId="Paint.Picture">
                  <p:embed/>
                </p:oleObj>
              </mc:Choice>
              <mc:Fallback>
                <p:oleObj name="" r:id="rId3" imgW="11239500" imgH="2009775" progId="Paint.Picture">
                  <p:embed/>
                  <p:pic>
                    <p:nvPicPr>
                      <p:cNvPr id="0" name="图片 10"/>
                      <p:cNvPicPr/>
                      <p:nvPr/>
                    </p:nvPicPr>
                    <p:blipFill>
                      <a:blip r:embed="rId4"/>
                      <a:stretch>
                        <a:fillRect/>
                      </a:stretch>
                    </p:blipFill>
                    <p:spPr>
                      <a:xfrm>
                        <a:off x="7642225" y="5949950"/>
                        <a:ext cx="4392930" cy="734060"/>
                      </a:xfrm>
                      <a:prstGeom prst="rect">
                        <a:avLst/>
                      </a:prstGeom>
                    </p:spPr>
                  </p:pic>
                </p:oleObj>
              </mc:Fallback>
            </mc:AlternateContent>
          </a:graphicData>
        </a:graphic>
      </p:graphicFrame>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44932" y="479808"/>
            <a:ext cx="4424680" cy="645160"/>
          </a:xfrm>
          <a:prstGeom prst="rect">
            <a:avLst/>
          </a:prstGeom>
          <a:noFill/>
        </p:spPr>
        <p:txBody>
          <a:bodyPr wrap="none" rtlCol="0">
            <a:spAutoFit/>
          </a:bodyPr>
          <a:lstStyle/>
          <a:p>
            <a:r>
              <a:rPr lang="zh-CN" altLang="en-US" sz="3600" b="1" dirty="0" smtClean="0"/>
              <a:t>第八章</a:t>
            </a:r>
            <a:r>
              <a:rPr lang="en-US" altLang="zh-CN" sz="3600" b="1" dirty="0" smtClean="0"/>
              <a:t> </a:t>
            </a:r>
            <a:r>
              <a:rPr lang="zh-CN" altLang="en-US" sz="3600" b="1" dirty="0" smtClean="0"/>
              <a:t>软件韧性分析</a:t>
            </a:r>
            <a:endParaRPr lang="zh-CN" altLang="en-US" sz="3600" b="1" dirty="0" smtClean="0"/>
          </a:p>
        </p:txBody>
      </p:sp>
      <p:grpSp>
        <p:nvGrpSpPr>
          <p:cNvPr id="3" name="组合 2"/>
          <p:cNvGrpSpPr/>
          <p:nvPr>
            <p:custDataLst>
              <p:tags r:id="rId1"/>
            </p:custDataLst>
          </p:nvPr>
        </p:nvGrpSpPr>
        <p:grpSpPr>
          <a:xfrm>
            <a:off x="4497070" y="1554480"/>
            <a:ext cx="2930525" cy="545454"/>
            <a:chOff x="4601" y="2441"/>
            <a:chExt cx="4615" cy="875"/>
          </a:xfrm>
        </p:grpSpPr>
        <p:sp>
          <p:nvSpPr>
            <p:cNvPr id="7171" name="AutoShape 10"/>
            <p:cNvSpPr/>
            <p:nvPr>
              <p:custDataLst>
                <p:tags r:id="rId2"/>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2" name="文本框 1"/>
            <p:cNvSpPr txBox="1"/>
            <p:nvPr>
              <p:custDataLst>
                <p:tags r:id="rId3"/>
              </p:custDataLst>
            </p:nvPr>
          </p:nvSpPr>
          <p:spPr>
            <a:xfrm>
              <a:off x="4601" y="2556"/>
              <a:ext cx="4611" cy="739"/>
            </a:xfrm>
            <a:prstGeom prst="rect">
              <a:avLst/>
            </a:prstGeom>
            <a:noFill/>
          </p:spPr>
          <p:txBody>
            <a:bodyPr wrap="square" rtlCol="0">
              <a:spAutoFit/>
            </a:bodyPr>
            <a:p>
              <a:pPr algn="ctr"/>
              <a:r>
                <a:rPr lang="en-US" sz="2400">
                  <a:solidFill>
                    <a:srgbClr val="FF0000"/>
                  </a:solidFill>
                </a:rPr>
                <a:t>8.1 软件</a:t>
              </a:r>
              <a:r>
                <a:rPr lang="zh-CN" altLang="en-US" sz="2400">
                  <a:solidFill>
                    <a:srgbClr val="FF0000"/>
                  </a:solidFill>
                </a:rPr>
                <a:t>韧性</a:t>
              </a:r>
              <a:endParaRPr lang="zh-CN" altLang="en-US" sz="2400">
                <a:solidFill>
                  <a:srgbClr val="FF0000"/>
                </a:solidFill>
              </a:endParaRPr>
            </a:p>
          </p:txBody>
        </p:sp>
      </p:grpSp>
      <p:grpSp>
        <p:nvGrpSpPr>
          <p:cNvPr id="6" name="组合 5"/>
          <p:cNvGrpSpPr/>
          <p:nvPr>
            <p:custDataLst>
              <p:tags r:id="rId4"/>
            </p:custDataLst>
          </p:nvPr>
        </p:nvGrpSpPr>
        <p:grpSpPr>
          <a:xfrm>
            <a:off x="4466590" y="2783205"/>
            <a:ext cx="2948305" cy="552311"/>
            <a:chOff x="4573" y="2441"/>
            <a:chExt cx="4643" cy="886"/>
          </a:xfrm>
        </p:grpSpPr>
        <p:sp>
          <p:nvSpPr>
            <p:cNvPr id="7" name="AutoShape 10"/>
            <p:cNvSpPr/>
            <p:nvPr>
              <p:custDataLst>
                <p:tags r:id="rId5"/>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8" name="文本框 7"/>
            <p:cNvSpPr txBox="1"/>
            <p:nvPr>
              <p:custDataLst>
                <p:tags r:id="rId6"/>
              </p:custDataLst>
            </p:nvPr>
          </p:nvSpPr>
          <p:spPr>
            <a:xfrm>
              <a:off x="4573" y="2588"/>
              <a:ext cx="4594" cy="739"/>
            </a:xfrm>
            <a:prstGeom prst="rect">
              <a:avLst/>
            </a:prstGeom>
            <a:noFill/>
          </p:spPr>
          <p:txBody>
            <a:bodyPr wrap="square" rtlCol="0">
              <a:spAutoFit/>
            </a:bodyPr>
            <a:p>
              <a:pPr algn="ctr"/>
              <a:r>
                <a:rPr lang="en-US" altLang="zh-CN" sz="2400"/>
                <a:t>8.2 </a:t>
              </a:r>
              <a:r>
                <a:rPr lang="zh-CN" altLang="en-US" sz="2400"/>
                <a:t>软件组件</a:t>
              </a:r>
              <a:endParaRPr lang="zh-CN" altLang="en-US" sz="2400"/>
            </a:p>
          </p:txBody>
        </p:sp>
      </p:grpSp>
      <p:grpSp>
        <p:nvGrpSpPr>
          <p:cNvPr id="9" name="组合 8"/>
          <p:cNvGrpSpPr/>
          <p:nvPr>
            <p:custDataLst>
              <p:tags r:id="rId7"/>
            </p:custDataLst>
          </p:nvPr>
        </p:nvGrpSpPr>
        <p:grpSpPr>
          <a:xfrm>
            <a:off x="4425950" y="4013835"/>
            <a:ext cx="3055620" cy="552311"/>
            <a:chOff x="4472" y="2441"/>
            <a:chExt cx="4812" cy="886"/>
          </a:xfrm>
        </p:grpSpPr>
        <p:sp>
          <p:nvSpPr>
            <p:cNvPr id="10" name="AutoShape 10"/>
            <p:cNvSpPr/>
            <p:nvPr>
              <p:custDataLst>
                <p:tags r:id="rId8"/>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11" name="文本框 10"/>
            <p:cNvSpPr txBox="1"/>
            <p:nvPr>
              <p:custDataLst>
                <p:tags r:id="rId9"/>
              </p:custDataLst>
            </p:nvPr>
          </p:nvSpPr>
          <p:spPr>
            <a:xfrm>
              <a:off x="4472" y="2588"/>
              <a:ext cx="4812" cy="739"/>
            </a:xfrm>
            <a:prstGeom prst="rect">
              <a:avLst/>
            </a:prstGeom>
            <a:noFill/>
          </p:spPr>
          <p:txBody>
            <a:bodyPr wrap="square" rtlCol="0">
              <a:spAutoFit/>
            </a:bodyPr>
            <a:p>
              <a:pPr algn="ctr"/>
              <a:r>
                <a:rPr lang="en-US" altLang="zh-CN" sz="2400"/>
                <a:t>8.3 </a:t>
              </a:r>
              <a:r>
                <a:rPr lang="zh-CN" altLang="en-US" sz="2400"/>
                <a:t>韧性可信度量</a:t>
              </a:r>
              <a:endParaRPr lang="zh-CN" altLang="en-US" sz="2400"/>
            </a:p>
          </p:txBody>
        </p:sp>
      </p:grpSp>
      <p:graphicFrame>
        <p:nvGraphicFramePr>
          <p:cNvPr id="4" name="对象 3"/>
          <p:cNvGraphicFramePr/>
          <p:nvPr>
            <p:custDataLst>
              <p:tags r:id="rId10"/>
            </p:custDataLst>
          </p:nvPr>
        </p:nvGraphicFramePr>
        <p:xfrm>
          <a:off x="7642225" y="6123940"/>
          <a:ext cx="4392930" cy="734060"/>
        </p:xfrm>
        <a:graphic>
          <a:graphicData uri="http://schemas.openxmlformats.org/presentationml/2006/ole">
            <mc:AlternateContent xmlns:mc="http://schemas.openxmlformats.org/markup-compatibility/2006">
              <mc:Choice xmlns:v="urn:schemas-microsoft-com:vml" Requires="v">
                <p:oleObj spid="_x0000_s39" name="" r:id="rId11" imgW="11239500" imgH="2009775" progId="Paint.Picture">
                  <p:embed/>
                </p:oleObj>
              </mc:Choice>
              <mc:Fallback>
                <p:oleObj name="" r:id="rId11" imgW="11239500" imgH="2009775" progId="Paint.Picture">
                  <p:embed/>
                  <p:pic>
                    <p:nvPicPr>
                      <p:cNvPr id="0" name="图片 10"/>
                      <p:cNvPicPr/>
                      <p:nvPr/>
                    </p:nvPicPr>
                    <p:blipFill>
                      <a:blip r:embed="rId12"/>
                      <a:stretch>
                        <a:fillRect/>
                      </a:stretch>
                    </p:blipFill>
                    <p:spPr>
                      <a:xfrm>
                        <a:off x="7642225" y="6123940"/>
                        <a:ext cx="4392930" cy="734060"/>
                      </a:xfrm>
                      <a:prstGeom prst="rect">
                        <a:avLst/>
                      </a:prstGeom>
                    </p:spPr>
                  </p:pic>
                </p:oleObj>
              </mc:Fallback>
            </mc:AlternateContent>
          </a:graphicData>
        </a:graphic>
      </p:graphicFrame>
      <p:grpSp>
        <p:nvGrpSpPr>
          <p:cNvPr id="12" name="组合 11"/>
          <p:cNvGrpSpPr/>
          <p:nvPr>
            <p:custDataLst>
              <p:tags r:id="rId13"/>
            </p:custDataLst>
          </p:nvPr>
        </p:nvGrpSpPr>
        <p:grpSpPr>
          <a:xfrm>
            <a:off x="4425950" y="5085080"/>
            <a:ext cx="3055620" cy="552311"/>
            <a:chOff x="4472" y="2441"/>
            <a:chExt cx="4812" cy="886"/>
          </a:xfrm>
        </p:grpSpPr>
        <p:sp>
          <p:nvSpPr>
            <p:cNvPr id="13" name="AutoShape 10"/>
            <p:cNvSpPr/>
            <p:nvPr>
              <p:custDataLst>
                <p:tags r:id="rId14"/>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14" name="文本框 13"/>
            <p:cNvSpPr txBox="1"/>
            <p:nvPr>
              <p:custDataLst>
                <p:tags r:id="rId15"/>
              </p:custDataLst>
            </p:nvPr>
          </p:nvSpPr>
          <p:spPr>
            <a:xfrm>
              <a:off x="4472" y="2588"/>
              <a:ext cx="4812" cy="739"/>
            </a:xfrm>
            <a:prstGeom prst="rect">
              <a:avLst/>
            </a:prstGeom>
            <a:noFill/>
          </p:spPr>
          <p:txBody>
            <a:bodyPr wrap="square" rtlCol="0">
              <a:spAutoFit/>
            </a:bodyPr>
            <a:p>
              <a:pPr algn="ctr"/>
              <a:r>
                <a:rPr lang="en-US" altLang="zh-CN" sz="2400"/>
                <a:t>8.4 </a:t>
              </a:r>
              <a:r>
                <a:rPr lang="zh-CN" altLang="en-US" sz="2400"/>
                <a:t>例子</a:t>
              </a:r>
              <a:endParaRPr lang="zh-CN" altLang="en-US" sz="24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840" y="344240"/>
            <a:ext cx="10969200" cy="705600"/>
          </a:xfrm>
        </p:spPr>
        <p:txBody>
          <a:bodyPr/>
          <a:lstStyle/>
          <a:p>
            <a:r>
              <a:rPr lang="en-US" altLang="zh-CN" dirty="0" smtClean="0"/>
              <a:t>8.1 </a:t>
            </a:r>
            <a:r>
              <a:rPr lang="zh-CN" dirty="0" smtClean="0"/>
              <a:t>软件韧性</a:t>
            </a:r>
            <a:endParaRPr lang="zh-CN" dirty="0"/>
          </a:p>
        </p:txBody>
      </p:sp>
      <p:sp>
        <p:nvSpPr>
          <p:cNvPr id="3" name="Content Placeholder 2"/>
          <p:cNvSpPr>
            <a:spLocks noGrp="1"/>
          </p:cNvSpPr>
          <p:nvPr>
            <p:ph sz="half" idx="1"/>
          </p:nvPr>
        </p:nvSpPr>
        <p:spPr>
          <a:xfrm>
            <a:off x="271780" y="1064895"/>
            <a:ext cx="11456670" cy="5544820"/>
          </a:xfrm>
        </p:spPr>
        <p:style>
          <a:lnRef idx="2">
            <a:schemeClr val="accent4"/>
          </a:lnRef>
          <a:fillRef idx="1">
            <a:schemeClr val="lt1"/>
          </a:fillRef>
          <a:effectRef idx="0">
            <a:schemeClr val="accent4"/>
          </a:effectRef>
          <a:fontRef idx="minor">
            <a:schemeClr val="dk1"/>
          </a:fontRef>
        </p:style>
        <p:txBody>
          <a:bodyPr>
            <a:noAutofit/>
          </a:bodyPr>
          <a:lstStyle/>
          <a:p>
            <a:r>
              <a:rPr lang="zh-CN" altLang="en-US" sz="2400">
                <a:solidFill>
                  <a:srgbClr val="FF0000"/>
                </a:solidFill>
              </a:rPr>
              <a:t>软件韧性是指软件在遭受攻击或出现故障时，在不中断服务的情况下尽快恢复到正常工作状态的能力。</a:t>
            </a:r>
            <a:endParaRPr lang="zh-CN" altLang="en-US" sz="2400">
              <a:solidFill>
                <a:srgbClr val="FF0000"/>
              </a:solidFill>
            </a:endParaRPr>
          </a:p>
          <a:p>
            <a:r>
              <a:rPr lang="zh-CN" altLang="en-US" sz="2400"/>
              <a:t>因此，通过对软件系统的韧性可</a:t>
            </a:r>
            <a:r>
              <a:rPr lang="en-US" altLang="zh-CN" sz="2400"/>
              <a:t> </a:t>
            </a:r>
            <a:r>
              <a:rPr lang="zh-CN" altLang="en-US" sz="2400"/>
              <a:t>信性进行评估，使软件系统满足韧性可信性需求后再进行使用，可以减少软件系</a:t>
            </a:r>
            <a:r>
              <a:rPr lang="en-US" altLang="zh-CN" sz="2400"/>
              <a:t> </a:t>
            </a:r>
            <a:r>
              <a:rPr lang="zh-CN" altLang="en-US" sz="2400"/>
              <a:t>统故障带来的经济损失和严重后果。</a:t>
            </a:r>
            <a:endParaRPr lang="zh-CN" altLang="en-US" sz="2400"/>
          </a:p>
          <a:p>
            <a:pPr marL="0" indent="0">
              <a:buNone/>
            </a:pPr>
            <a:r>
              <a:rPr lang="en-US" altLang="zh-CN" sz="3600" dirty="0" smtClean="0">
                <a:latin typeface="+mn-ea"/>
                <a:ea typeface="+mn-ea"/>
              </a:rPr>
              <a:t>  </a:t>
            </a:r>
            <a:endParaRPr lang="zh-CN" altLang="en-US" sz="3600" dirty="0" smtClean="0">
              <a:latin typeface="+mn-ea"/>
              <a:ea typeface="+mn-ea"/>
            </a:endParaRPr>
          </a:p>
        </p:txBody>
      </p:sp>
      <p:pic>
        <p:nvPicPr>
          <p:cNvPr id="4" name="IM 6"/>
          <p:cNvPicPr/>
          <p:nvPr/>
        </p:nvPicPr>
        <p:blipFill>
          <a:blip r:embed="rId1"/>
          <a:stretch>
            <a:fillRect/>
          </a:stretch>
        </p:blipFill>
        <p:spPr>
          <a:xfrm>
            <a:off x="2653665" y="3291205"/>
            <a:ext cx="6131560" cy="3062605"/>
          </a:xfrm>
          <a:prstGeom prst="rect">
            <a:avLst/>
          </a:prstGeom>
        </p:spPr>
      </p:pic>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109290"/>
            <a:ext cx="10969200" cy="705600"/>
          </a:xfrm>
        </p:spPr>
        <p:txBody>
          <a:bodyPr>
            <a:normAutofit/>
          </a:bodyPr>
          <a:p>
            <a:r>
              <a:rPr lang="en-US" altLang="zh-CN" sz="3200">
                <a:solidFill>
                  <a:srgbClr val="FF0000"/>
                </a:solidFill>
                <a:sym typeface="+mn-ea"/>
              </a:rPr>
              <a:t>8.1 </a:t>
            </a:r>
            <a:r>
              <a:rPr lang="zh-CN" altLang="en-US" sz="3200">
                <a:solidFill>
                  <a:srgbClr val="FF0000"/>
                </a:solidFill>
                <a:sym typeface="+mn-ea"/>
              </a:rPr>
              <a:t>软件韧性</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graphicFrame>
        <p:nvGraphicFramePr>
          <p:cNvPr id="5" name="表格 4"/>
          <p:cNvGraphicFramePr/>
          <p:nvPr>
            <p:custDataLst>
              <p:tags r:id="rId3"/>
            </p:custDataLst>
          </p:nvPr>
        </p:nvGraphicFramePr>
        <p:xfrm>
          <a:off x="1246505" y="1364615"/>
          <a:ext cx="9747250" cy="4441825"/>
        </p:xfrm>
        <a:graphic>
          <a:graphicData uri="http://schemas.openxmlformats.org/drawingml/2006/table">
            <a:tbl>
              <a:tblPr/>
              <a:tblGrid>
                <a:gridCol w="1602740"/>
                <a:gridCol w="1163320"/>
                <a:gridCol w="1163320"/>
                <a:gridCol w="1162685"/>
                <a:gridCol w="1163320"/>
                <a:gridCol w="1162050"/>
                <a:gridCol w="1162685"/>
                <a:gridCol w="1167130"/>
              </a:tblGrid>
              <a:tr h="608965">
                <a:tc>
                  <a:txBody>
                    <a:bodyPr/>
                    <a:p>
                      <a:pPr marL="76835" indent="0">
                        <a:spcBef>
                          <a:spcPct val="0"/>
                        </a:spcBef>
                        <a:spcAft>
                          <a:spcPct val="0"/>
                        </a:spcAft>
                      </a:pPr>
                      <a:endParaRPr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84785" indent="0" algn="l" eaLnBrk="0" fontAlgn="base">
                        <a:spcBef>
                          <a:spcPts val="800"/>
                        </a:spcBef>
                        <a:spcAft>
                          <a:spcPct val="0"/>
                        </a:spcAft>
                      </a:pPr>
                      <a:r>
                        <a:rPr lang="zh-CN" sz="2400">
                          <a:solidFill>
                            <a:srgbClr val="000000"/>
                          </a:solidFill>
                          <a:latin typeface="宋体" panose="02010600030101010101" pitchFamily="2" charset="-122"/>
                          <a:ea typeface="宋体" panose="02010600030101010101" pitchFamily="2" charset="-122"/>
                        </a:rPr>
                        <a:t>华为</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2090" indent="-49530" algn="l" eaLnBrk="0" fontAlgn="base">
                        <a:lnSpc>
                          <a:spcPct val="104000"/>
                        </a:lnSpc>
                        <a:spcBef>
                          <a:spcPts val="300"/>
                        </a:spcBef>
                        <a:spcAft>
                          <a:spcPct val="0"/>
                        </a:spcAft>
                      </a:pPr>
                      <a:r>
                        <a:rPr lang="en-US" altLang="zh-CN" sz="2400">
                          <a:solidFill>
                            <a:srgbClr val="000000"/>
                          </a:solidFill>
                          <a:latin typeface="Times New Roman" panose="02020603050405020304"/>
                          <a:ea typeface="Times New Roman" panose="02020603050405020304"/>
                        </a:rPr>
                        <a:t>NIST </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2090" indent="-6985" algn="l" eaLnBrk="0" fontAlgn="base">
                        <a:lnSpc>
                          <a:spcPct val="103000"/>
                        </a:lnSpc>
                        <a:spcBef>
                          <a:spcPts val="300"/>
                        </a:spcBef>
                        <a:spcAft>
                          <a:spcPct val="0"/>
                        </a:spcAft>
                      </a:pPr>
                      <a:r>
                        <a:rPr lang="en-US" altLang="zh-CN" sz="2400">
                          <a:solidFill>
                            <a:srgbClr val="000000"/>
                          </a:solidFill>
                          <a:latin typeface="Times New Roman" panose="02020603050405020304"/>
                          <a:ea typeface="Times New Roman" panose="02020603050405020304"/>
                        </a:rPr>
                        <a:t>ITU </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2725" indent="-86360" algn="l" eaLnBrk="0" fontAlgn="base">
                        <a:lnSpc>
                          <a:spcPct val="104000"/>
                        </a:lnSpc>
                        <a:spcBef>
                          <a:spcPts val="300"/>
                        </a:spcBef>
                        <a:spcAft>
                          <a:spcPct val="0"/>
                        </a:spcAft>
                      </a:pPr>
                      <a:r>
                        <a:rPr lang="en-US" altLang="zh-CN" sz="2400">
                          <a:solidFill>
                            <a:srgbClr val="000000"/>
                          </a:solidFill>
                          <a:latin typeface="Times New Roman" panose="02020603050405020304"/>
                          <a:ea typeface="Times New Roman" panose="02020603050405020304"/>
                        </a:rPr>
                        <a:t>MORS </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2725" indent="-78740" algn="l" eaLnBrk="0" fontAlgn="base">
                        <a:lnSpc>
                          <a:spcPct val="104000"/>
                        </a:lnSpc>
                        <a:spcBef>
                          <a:spcPts val="300"/>
                        </a:spcBef>
                        <a:spcAft>
                          <a:spcPct val="0"/>
                        </a:spcAft>
                      </a:pPr>
                      <a:r>
                        <a:rPr lang="en-US" altLang="zh-CN" sz="2400">
                          <a:solidFill>
                            <a:srgbClr val="000000"/>
                          </a:solidFill>
                          <a:latin typeface="Times New Roman" panose="02020603050405020304"/>
                          <a:ea typeface="Times New Roman" panose="02020603050405020304"/>
                        </a:rPr>
                        <a:t>Barker </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95885" indent="12700" algn="l" eaLnBrk="0" fontAlgn="base">
                        <a:lnSpc>
                          <a:spcPct val="103000"/>
                        </a:lnSpc>
                        <a:spcBef>
                          <a:spcPts val="300"/>
                        </a:spcBef>
                        <a:spcAft>
                          <a:spcPct val="0"/>
                        </a:spcAft>
                      </a:pPr>
                      <a:r>
                        <a:rPr lang="en-US" altLang="zh-CN" sz="2400">
                          <a:solidFill>
                            <a:srgbClr val="000000"/>
                          </a:solidFill>
                          <a:latin typeface="Times New Roman" panose="02020603050405020304"/>
                          <a:ea typeface="Times New Roman" panose="02020603050405020304"/>
                        </a:rPr>
                        <a:t>Jin-Hee </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3360" indent="-124460" algn="l" eaLnBrk="0" fontAlgn="base">
                        <a:lnSpc>
                          <a:spcPct val="104000"/>
                        </a:lnSpc>
                        <a:spcBef>
                          <a:spcPts val="300"/>
                        </a:spcBef>
                        <a:spcAft>
                          <a:spcPct val="0"/>
                        </a:spcAft>
                      </a:pPr>
                      <a:r>
                        <a:rPr lang="en-US" altLang="zh-CN" sz="2400">
                          <a:solidFill>
                            <a:srgbClr val="000000"/>
                          </a:solidFill>
                          <a:latin typeface="Times New Roman" panose="02020603050405020304"/>
                          <a:ea typeface="Times New Roman" panose="02020603050405020304"/>
                        </a:rPr>
                        <a:t>Sterbenz </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3540">
                <a:tc>
                  <a:txBody>
                    <a:bodyPr/>
                    <a:p>
                      <a:pPr marL="17145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可生存性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797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797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924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2905">
                <a:tc>
                  <a:txBody>
                    <a:bodyPr/>
                    <a:p>
                      <a:pPr marL="17145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可恢复性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797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797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924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3540">
                <a:tc>
                  <a:txBody>
                    <a:bodyPr/>
                    <a:p>
                      <a:pPr marL="23685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适应性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797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797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924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3540">
                <a:tc>
                  <a:txBody>
                    <a:bodyPr/>
                    <a:p>
                      <a:pPr marL="23876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容错性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924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924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2905">
                <a:tc>
                  <a:txBody>
                    <a:bodyPr/>
                    <a:p>
                      <a:pPr marL="23812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可靠性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3540">
                <a:tc>
                  <a:txBody>
                    <a:bodyPr/>
                    <a:p>
                      <a:pPr marL="23685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脆弱性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2905">
                <a:tc>
                  <a:txBody>
                    <a:bodyPr/>
                    <a:p>
                      <a:pPr marL="23876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冗余性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8605"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3540">
                <a:tc>
                  <a:txBody>
                    <a:bodyPr/>
                    <a:p>
                      <a:pPr marL="24003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安全性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924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2905">
                <a:tc>
                  <a:txBody>
                    <a:bodyPr/>
                    <a:p>
                      <a:pPr marL="17145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可依赖性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924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3540">
                <a:tc>
                  <a:txBody>
                    <a:bodyPr/>
                    <a:p>
                      <a:pPr marL="30543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性能</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9240" indent="0" algn="l" eaLnBrk="0" fontAlgn="base">
                        <a:spcBef>
                          <a:spcPts val="300"/>
                        </a:spcBef>
                        <a:spcAft>
                          <a:spcPct val="0"/>
                        </a:spcAft>
                      </a:pPr>
                      <a:r>
                        <a:rPr lang="en-US" altLang="zh-CN" sz="2400">
                          <a:solidFill>
                            <a:srgbClr val="000000"/>
                          </a:solidFill>
                          <a:latin typeface="微软雅黑" panose="020B0503020204020204" charset="-122"/>
                          <a:ea typeface="微软雅黑" panose="020B0503020204020204" charset="-122"/>
                        </a:rPr>
                        <a:t>√</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6" name="文本框 5"/>
          <p:cNvSpPr txBox="1"/>
          <p:nvPr/>
        </p:nvSpPr>
        <p:spPr>
          <a:xfrm>
            <a:off x="2834640" y="717550"/>
            <a:ext cx="4232910" cy="460375"/>
          </a:xfrm>
          <a:prstGeom prst="rect">
            <a:avLst/>
          </a:prstGeom>
          <a:noFill/>
        </p:spPr>
        <p:txBody>
          <a:bodyPr wrap="square" rtlCol="0">
            <a:spAutoFit/>
          </a:bodyPr>
          <a:p>
            <a:pPr algn="ctr"/>
            <a:r>
              <a:rPr lang="zh-CN" altLang="en-US" sz="2400"/>
              <a:t>常见韧性定义涉及的属性</a:t>
            </a:r>
            <a:endParaRPr lang="zh-CN" altLang="en-US" sz="2400"/>
          </a:p>
        </p:txBody>
      </p:sp>
    </p:spTree>
    <p:custDataLst>
      <p:tags r:id="rId4"/>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solidFill>
                  <a:srgbClr val="FF0000"/>
                </a:solidFill>
                <a:sym typeface="+mn-ea"/>
              </a:rPr>
              <a:t>8.1 </a:t>
            </a:r>
            <a:r>
              <a:rPr lang="zh-CN" altLang="en-US">
                <a:solidFill>
                  <a:srgbClr val="FF0000"/>
                </a:solidFill>
                <a:sym typeface="+mn-ea"/>
              </a:rPr>
              <a:t>软件韧性</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pic>
        <p:nvPicPr>
          <p:cNvPr id="5" name="图片 4"/>
          <p:cNvPicPr>
            <a:picLocks noChangeAspect="1"/>
          </p:cNvPicPr>
          <p:nvPr/>
        </p:nvPicPr>
        <p:blipFill>
          <a:blip r:embed="rId3"/>
          <a:stretch>
            <a:fillRect/>
          </a:stretch>
        </p:blipFill>
        <p:spPr>
          <a:xfrm>
            <a:off x="339090" y="1579245"/>
            <a:ext cx="11513185" cy="4767580"/>
          </a:xfrm>
          <a:prstGeom prst="rect">
            <a:avLst/>
          </a:prstGeom>
        </p:spPr>
      </p:pic>
      <p:sp>
        <p:nvSpPr>
          <p:cNvPr id="7" name="文本框 6"/>
          <p:cNvSpPr txBox="1"/>
          <p:nvPr/>
        </p:nvSpPr>
        <p:spPr>
          <a:xfrm>
            <a:off x="4068445" y="870585"/>
            <a:ext cx="4375785" cy="521970"/>
          </a:xfrm>
          <a:prstGeom prst="rect">
            <a:avLst/>
          </a:prstGeom>
          <a:noFill/>
        </p:spPr>
        <p:txBody>
          <a:bodyPr wrap="square" rtlCol="0">
            <a:spAutoFit/>
          </a:bodyPr>
          <a:p>
            <a:pPr algn="ctr"/>
            <a:r>
              <a:rPr lang="zh-CN" altLang="en-US" sz="2800"/>
              <a:t>韧性属性分解</a:t>
            </a:r>
            <a:endParaRPr lang="zh-CN" altLang="en-US" sz="2800"/>
          </a:p>
        </p:txBody>
      </p:sp>
    </p:spTree>
    <p:custDataLst>
      <p:tags r:id="rId4"/>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solidFill>
                  <a:srgbClr val="FF0000"/>
                </a:solidFill>
                <a:sym typeface="+mn-ea"/>
              </a:rPr>
              <a:t>8.1 </a:t>
            </a:r>
            <a:r>
              <a:rPr lang="zh-CN" altLang="en-US">
                <a:solidFill>
                  <a:srgbClr val="FF0000"/>
                </a:solidFill>
                <a:sym typeface="+mn-ea"/>
              </a:rPr>
              <a:t>软件韧性</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graphicFrame>
        <p:nvGraphicFramePr>
          <p:cNvPr id="4" name="表格 3"/>
          <p:cNvGraphicFramePr/>
          <p:nvPr>
            <p:custDataLst>
              <p:tags r:id="rId3"/>
            </p:custDataLst>
          </p:nvPr>
        </p:nvGraphicFramePr>
        <p:xfrm>
          <a:off x="1517015" y="2462530"/>
          <a:ext cx="9158605" cy="3174365"/>
        </p:xfrm>
        <a:graphic>
          <a:graphicData uri="http://schemas.openxmlformats.org/drawingml/2006/table">
            <a:tbl>
              <a:tblPr/>
              <a:tblGrid>
                <a:gridCol w="1997710"/>
                <a:gridCol w="7160895"/>
              </a:tblGrid>
              <a:tr h="396240">
                <a:tc>
                  <a:txBody>
                    <a:bodyPr/>
                    <a:p>
                      <a:pPr marL="44640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3421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定义</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793750">
                <a:tc>
                  <a:txBody>
                    <a:bodyPr/>
                    <a:p>
                      <a:pPr marL="313055" indent="0" algn="l" eaLnBrk="0" fontAlgn="base">
                        <a:spcBef>
                          <a:spcPts val="800"/>
                        </a:spcBef>
                        <a:spcAft>
                          <a:spcPct val="0"/>
                        </a:spcAft>
                      </a:pPr>
                      <a:r>
                        <a:rPr lang="zh-CN" sz="2800">
                          <a:solidFill>
                            <a:srgbClr val="000000"/>
                          </a:solidFill>
                          <a:latin typeface="宋体" panose="02010600030101010101" pitchFamily="2" charset="-122"/>
                          <a:ea typeface="宋体" panose="02010600030101010101" pitchFamily="2" charset="-122"/>
                        </a:rPr>
                        <a:t>可生存性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系统在受到攻击、出现故障或事故的情况下，及时完成其任务的能</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力。</a:t>
                      </a:r>
                      <a:endParaRPr lang="zh-CN" alt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794385">
                <a:tc>
                  <a:txBody>
                    <a:bodyPr/>
                    <a:p>
                      <a:pPr marL="31305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可恢复性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ct val="0"/>
                        </a:spcBef>
                        <a:spcAft>
                          <a:spcPct val="0"/>
                        </a:spcAft>
                      </a:pPr>
                      <a:r>
                        <a:rPr lang="zh-CN" sz="2800">
                          <a:solidFill>
                            <a:srgbClr val="000000"/>
                          </a:solidFill>
                          <a:latin typeface="宋体" panose="02010600030101010101" pitchFamily="2" charset="-122"/>
                          <a:ea typeface="宋体" panose="02010600030101010101" pitchFamily="2" charset="-122"/>
                        </a:rPr>
                        <a:t>系统及时恢复其服务的能力。</a:t>
                      </a:r>
                      <a:endParaRPr lang="zh-CN" alt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1189990">
                <a:tc>
                  <a:txBody>
                    <a:bodyPr/>
                    <a:p>
                      <a:pPr marL="378460" indent="0" algn="l" eaLnBrk="0" fontAlgn="base">
                        <a:spcBef>
                          <a:spcPts val="8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090" indent="-1905"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系统调整自身或其资源以面对改变的形势或环境来维持正常工作的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能力。</a:t>
                      </a:r>
                      <a:endParaRPr lang="zh-CN" alt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7" name="文本框 6"/>
          <p:cNvSpPr txBox="1"/>
          <p:nvPr/>
        </p:nvSpPr>
        <p:spPr>
          <a:xfrm>
            <a:off x="4068445" y="1475105"/>
            <a:ext cx="4375785" cy="521970"/>
          </a:xfrm>
          <a:prstGeom prst="rect">
            <a:avLst/>
          </a:prstGeom>
          <a:noFill/>
        </p:spPr>
        <p:txBody>
          <a:bodyPr wrap="square" rtlCol="0">
            <a:spAutoFit/>
          </a:bodyPr>
          <a:p>
            <a:pPr algn="ctr"/>
            <a:r>
              <a:rPr lang="zh-CN" altLang="en-US" sz="2800"/>
              <a:t>韧性属性定义</a:t>
            </a:r>
            <a:endParaRPr lang="zh-CN" altLang="en-US" sz="2800"/>
          </a:p>
        </p:txBody>
      </p:sp>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990" y="81985"/>
            <a:ext cx="10969200" cy="705600"/>
          </a:xfrm>
        </p:spPr>
        <p:txBody>
          <a:bodyPr/>
          <a:lstStyle/>
          <a:p>
            <a:r>
              <a:rPr lang="en-US" altLang="zh-CN" dirty="0">
                <a:solidFill>
                  <a:srgbClr val="FF0000"/>
                </a:solidFill>
                <a:sym typeface="+mn-ea"/>
              </a:rPr>
              <a:t>8.1 </a:t>
            </a:r>
            <a:r>
              <a:rPr lang="zh-CN" altLang="en-US" dirty="0">
                <a:solidFill>
                  <a:srgbClr val="FF0000"/>
                </a:solidFill>
                <a:sym typeface="+mn-ea"/>
              </a:rPr>
              <a:t>软件韧性</a:t>
            </a:r>
            <a:endParaRPr lang="zh-CN" altLang="en-US" dirty="0" smtClean="0">
              <a:solidFill>
                <a:srgbClr val="FF0000"/>
              </a:solidFill>
              <a:sym typeface="+mn-ea"/>
            </a:endParaRPr>
          </a:p>
        </p:txBody>
      </p:sp>
      <p:graphicFrame>
        <p:nvGraphicFramePr>
          <p:cNvPr id="5" name="对象 4"/>
          <p:cNvGraphicFramePr/>
          <p:nvPr>
            <p:custDataLst>
              <p:tags r:id="rId1"/>
            </p:custDataLst>
          </p:nvPr>
        </p:nvGraphicFramePr>
        <p:xfrm>
          <a:off x="7581265" y="53340"/>
          <a:ext cx="4392930" cy="734060"/>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7581265" y="53340"/>
                        <a:ext cx="4392930" cy="734060"/>
                      </a:xfrm>
                      <a:prstGeom prst="rect">
                        <a:avLst/>
                      </a:prstGeom>
                    </p:spPr>
                  </p:pic>
                </p:oleObj>
              </mc:Fallback>
            </mc:AlternateContent>
          </a:graphicData>
        </a:graphic>
      </p:graphicFrame>
      <p:graphicFrame>
        <p:nvGraphicFramePr>
          <p:cNvPr id="3" name="表格 2"/>
          <p:cNvGraphicFramePr/>
          <p:nvPr>
            <p:custDataLst>
              <p:tags r:id="rId4"/>
            </p:custDataLst>
          </p:nvPr>
        </p:nvGraphicFramePr>
        <p:xfrm>
          <a:off x="575310" y="812800"/>
          <a:ext cx="11238865" cy="5544185"/>
        </p:xfrm>
        <a:graphic>
          <a:graphicData uri="http://schemas.openxmlformats.org/drawingml/2006/table">
            <a:tbl>
              <a:tblPr/>
              <a:tblGrid>
                <a:gridCol w="1185545"/>
                <a:gridCol w="1719580"/>
                <a:gridCol w="8333740"/>
              </a:tblGrid>
              <a:tr h="422910">
                <a:tc>
                  <a:txBody>
                    <a:bodyPr/>
                    <a:p>
                      <a:pPr marL="379095" indent="0" algn="l" eaLnBrk="0" fontAlgn="base">
                        <a:spcBef>
                          <a:spcPts val="100"/>
                        </a:spcBef>
                        <a:spcAft>
                          <a:spcPct val="0"/>
                        </a:spcAft>
                        <a:buNone/>
                      </a:pPr>
                      <a:r>
                        <a:rPr lang="zh-CN" altLang="en-US" sz="2400">
                          <a:solidFill>
                            <a:srgbClr val="000000"/>
                          </a:solidFill>
                          <a:latin typeface="宋体" panose="02010600030101010101" pitchFamily="2" charset="-122"/>
                          <a:ea typeface="宋体" panose="02010600030101010101" pitchFamily="2" charset="-122"/>
                        </a:rPr>
                        <a:t>属性</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7909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子属性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3421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定义</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33070">
                <a:tc rowSpan="3">
                  <a:txBody>
                    <a:bodyPr/>
                    <a:p>
                      <a:pPr marL="379730" indent="0" algn="l" eaLnBrk="0" fontAlgn="base">
                        <a:spcBef>
                          <a:spcPts val="100"/>
                        </a:spcBef>
                        <a:spcAft>
                          <a:spcPct val="0"/>
                        </a:spcAft>
                        <a:buNone/>
                      </a:pPr>
                      <a:endParaRPr lang="zh-CN" altLang="en-US" sz="2400">
                        <a:solidFill>
                          <a:srgbClr val="000000"/>
                        </a:solidFill>
                        <a:latin typeface="宋体" panose="02010600030101010101" pitchFamily="2" charset="-122"/>
                        <a:ea typeface="宋体" panose="02010600030101010101" pitchFamily="2" charset="-122"/>
                      </a:endParaRPr>
                    </a:p>
                    <a:p>
                      <a:pPr marL="379730" indent="0" algn="l" eaLnBrk="0" fontAlgn="base">
                        <a:spcBef>
                          <a:spcPts val="100"/>
                        </a:spcBef>
                        <a:spcAft>
                          <a:spcPct val="0"/>
                        </a:spcAft>
                        <a:buNone/>
                      </a:pPr>
                      <a:r>
                        <a:rPr lang="zh-CN" altLang="en-US" sz="2400">
                          <a:solidFill>
                            <a:srgbClr val="000000"/>
                          </a:solidFill>
                          <a:latin typeface="宋体" panose="02010600030101010101" pitchFamily="2" charset="-122"/>
                          <a:ea typeface="宋体" panose="02010600030101010101" pitchFamily="2" charset="-122"/>
                        </a:rPr>
                        <a:t>可生存性</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7973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可用性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010" indent="0" algn="l" eaLnBrk="0" fontAlgn="base">
                        <a:spcBef>
                          <a:spcPct val="0"/>
                        </a:spcBef>
                        <a:spcAft>
                          <a:spcPct val="0"/>
                        </a:spcAft>
                      </a:pPr>
                      <a:r>
                        <a:rPr lang="zh-CN" sz="2400">
                          <a:solidFill>
                            <a:srgbClr val="000000"/>
                          </a:solidFill>
                          <a:latin typeface="宋体" panose="02010600030101010101" pitchFamily="2" charset="-122"/>
                          <a:ea typeface="宋体" panose="02010600030101010101" pitchFamily="2" charset="-122"/>
                        </a:rPr>
                        <a:t>在规定的时间段内系统能够按照要求运行的能力。</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00685">
                <a:tc vMerge="1">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8100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安全性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ct val="0"/>
                        </a:spcBef>
                        <a:spcAft>
                          <a:spcPct val="0"/>
                        </a:spcAft>
                      </a:pPr>
                      <a:r>
                        <a:rPr lang="zh-CN" sz="2400">
                          <a:solidFill>
                            <a:srgbClr val="000000"/>
                          </a:solidFill>
                          <a:latin typeface="宋体" panose="02010600030101010101" pitchFamily="2" charset="-122"/>
                          <a:ea typeface="宋体" panose="02010600030101010101" pitchFamily="2" charset="-122"/>
                        </a:rPr>
                        <a:t>系统保护信息和数据的能力。</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639445">
                <a:tc vMerge="1">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80365" indent="0" algn="l" eaLnBrk="0" fontAlgn="base">
                        <a:spcBef>
                          <a:spcPts val="800"/>
                        </a:spcBef>
                        <a:spcAft>
                          <a:spcPct val="0"/>
                        </a:spcAft>
                      </a:pPr>
                      <a:r>
                        <a:rPr lang="zh-CN" sz="2400">
                          <a:solidFill>
                            <a:srgbClr val="000000"/>
                          </a:solidFill>
                          <a:latin typeface="宋体" panose="02010600030101010101" pitchFamily="2" charset="-122"/>
                          <a:ea typeface="宋体" panose="02010600030101010101" pitchFamily="2" charset="-122"/>
                        </a:rPr>
                        <a:t>容错性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010"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在存在包括故障、错误或攻击等威胁的情况下，系统的功能状态能</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够提供适当服务的程度。</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12750">
                <a:tc rowSpan="3">
                  <a:txBody>
                    <a:bodyPr/>
                    <a:p>
                      <a:pPr marL="313055" indent="0" algn="l" eaLnBrk="0" fontAlgn="base">
                        <a:spcBef>
                          <a:spcPts val="100"/>
                        </a:spcBef>
                        <a:spcAft>
                          <a:spcPct val="0"/>
                        </a:spcAft>
                        <a:buNone/>
                      </a:pPr>
                      <a:r>
                        <a:rPr lang="zh-CN" altLang="en-US" sz="2400">
                          <a:solidFill>
                            <a:srgbClr val="000000"/>
                          </a:solidFill>
                          <a:latin typeface="宋体" panose="02010600030101010101" pitchFamily="2" charset="-122"/>
                          <a:ea typeface="宋体" panose="02010600030101010101" pitchFamily="2" charset="-122"/>
                        </a:rPr>
                        <a:t>可恢复性</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1305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恢复性能</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ct val="0"/>
                        </a:spcBef>
                        <a:spcAft>
                          <a:spcPct val="0"/>
                        </a:spcAft>
                      </a:pPr>
                      <a:r>
                        <a:rPr lang="zh-CN" sz="2400">
                          <a:solidFill>
                            <a:srgbClr val="000000"/>
                          </a:solidFill>
                          <a:latin typeface="宋体" panose="02010600030101010101" pitchFamily="2" charset="-122"/>
                          <a:ea typeface="宋体" panose="02010600030101010101" pitchFamily="2" charset="-122"/>
                        </a:rPr>
                        <a:t>系统恢复其服务的能力。</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01320">
                <a:tc vMerge="1">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1305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恢复成本</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ct val="0"/>
                        </a:spcBef>
                        <a:spcAft>
                          <a:spcPct val="0"/>
                        </a:spcAft>
                      </a:pPr>
                      <a:r>
                        <a:rPr lang="zh-CN" sz="2400">
                          <a:solidFill>
                            <a:srgbClr val="000000"/>
                          </a:solidFill>
                          <a:latin typeface="宋体" panose="02010600030101010101" pitchFamily="2" charset="-122"/>
                          <a:ea typeface="宋体" panose="02010600030101010101" pitchFamily="2" charset="-122"/>
                        </a:rPr>
                        <a:t>系统在恢复过程中耗费的非时间成本。</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78460">
                <a:tc vMerge="1">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1305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恢复时间</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ct val="0"/>
                        </a:spcBef>
                        <a:spcAft>
                          <a:spcPct val="0"/>
                        </a:spcAft>
                      </a:pPr>
                      <a:r>
                        <a:rPr lang="zh-CN" sz="2400">
                          <a:solidFill>
                            <a:srgbClr val="000000"/>
                          </a:solidFill>
                          <a:latin typeface="宋体" panose="02010600030101010101" pitchFamily="2" charset="-122"/>
                          <a:ea typeface="宋体" panose="02010600030101010101" pitchFamily="2" charset="-122"/>
                        </a:rPr>
                        <a:t>系统在恢复过程中涉及到的一系列时间、延时等。</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68935">
                <a:tc rowSpan="4">
                  <a:txBody>
                    <a:bodyPr/>
                    <a:p>
                      <a:pPr marL="313055" indent="0" algn="l" eaLnBrk="0" fontAlgn="base">
                        <a:spcBef>
                          <a:spcPts val="100"/>
                        </a:spcBef>
                        <a:spcAft>
                          <a:spcPct val="0"/>
                        </a:spcAft>
                        <a:buNone/>
                      </a:pPr>
                      <a:endParaRPr lang="zh-CN" altLang="en-US" sz="2400">
                        <a:solidFill>
                          <a:srgbClr val="000000"/>
                        </a:solidFill>
                        <a:latin typeface="宋体" panose="02010600030101010101" pitchFamily="2" charset="-122"/>
                        <a:ea typeface="宋体" panose="02010600030101010101" pitchFamily="2" charset="-122"/>
                      </a:endParaRPr>
                    </a:p>
                    <a:p>
                      <a:pPr marL="313055" indent="0" algn="l" eaLnBrk="0" fontAlgn="base">
                        <a:spcBef>
                          <a:spcPts val="100"/>
                        </a:spcBef>
                        <a:spcAft>
                          <a:spcPct val="0"/>
                        </a:spcAft>
                        <a:buNone/>
                      </a:pPr>
                      <a:r>
                        <a:rPr lang="zh-CN" altLang="en-US" sz="2400">
                          <a:solidFill>
                            <a:srgbClr val="000000"/>
                          </a:solidFill>
                          <a:latin typeface="宋体" panose="02010600030101010101" pitchFamily="2" charset="-122"/>
                          <a:ea typeface="宋体" panose="02010600030101010101" pitchFamily="2" charset="-122"/>
                        </a:rPr>
                        <a:t>适应性</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1305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可拓展性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ct val="0"/>
                        </a:spcBef>
                        <a:spcAft>
                          <a:spcPct val="0"/>
                        </a:spcAft>
                      </a:pPr>
                      <a:r>
                        <a:rPr lang="zh-CN" sz="2400">
                          <a:solidFill>
                            <a:srgbClr val="000000"/>
                          </a:solidFill>
                          <a:latin typeface="宋体" panose="02010600030101010101" pitchFamily="2" charset="-122"/>
                          <a:ea typeface="宋体" panose="02010600030101010101" pitchFamily="2" charset="-122"/>
                        </a:rPr>
                        <a:t>系统可以添加新的功能。</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531495">
                <a:tc vMerge="1">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13055" indent="0" algn="l" eaLnBrk="0" fontAlgn="base">
                        <a:spcBef>
                          <a:spcPts val="200"/>
                        </a:spcBef>
                        <a:spcAft>
                          <a:spcPct val="0"/>
                        </a:spcAft>
                      </a:pPr>
                      <a:r>
                        <a:rPr lang="zh-CN" sz="2400">
                          <a:solidFill>
                            <a:srgbClr val="000000"/>
                          </a:solidFill>
                          <a:latin typeface="宋体" panose="02010600030101010101" pitchFamily="2" charset="-122"/>
                          <a:ea typeface="宋体" panose="02010600030101010101" pitchFamily="2" charset="-122"/>
                        </a:rPr>
                        <a:t>可重配置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系统重新调整资源与进程关系的能力。</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531495">
                <a:tc vMerge="1">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13055" indent="0"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可学习性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ct val="0"/>
                        </a:spcBef>
                        <a:spcAft>
                          <a:spcPct val="0"/>
                        </a:spcAft>
                      </a:pPr>
                      <a:r>
                        <a:rPr lang="zh-CN" sz="2400">
                          <a:solidFill>
                            <a:srgbClr val="000000"/>
                          </a:solidFill>
                          <a:latin typeface="宋体" panose="02010600030101010101" pitchFamily="2" charset="-122"/>
                          <a:ea typeface="宋体" panose="02010600030101010101" pitchFamily="2" charset="-122"/>
                        </a:rPr>
                        <a:t>系统从动态环境中学习，做出适应性的决定来提高性能的能力。</a:t>
                      </a:r>
                      <a:endParaRPr lang="zh-CN" alt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531495">
                <a:tc vMerge="1">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400685" indent="0" algn="l" eaLnBrk="0" fontAlgn="base">
                        <a:spcBef>
                          <a:spcPts val="800"/>
                        </a:spcBef>
                        <a:spcAft>
                          <a:spcPct val="0"/>
                        </a:spcAft>
                      </a:pPr>
                      <a:r>
                        <a:rPr lang="zh-CN" sz="2400">
                          <a:solidFill>
                            <a:srgbClr val="000000"/>
                          </a:solidFill>
                          <a:latin typeface="宋体" panose="02010600030101010101" pitchFamily="2" charset="-122"/>
                          <a:ea typeface="宋体" panose="02010600030101010101" pitchFamily="2" charset="-122"/>
                        </a:rPr>
                        <a:t>自治性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91440" indent="10795" algn="l" eaLnBrk="0" fontAlgn="base">
                        <a:spcBef>
                          <a:spcPts val="100"/>
                        </a:spcBef>
                        <a:spcAft>
                          <a:spcPct val="0"/>
                        </a:spcAft>
                      </a:pPr>
                      <a:r>
                        <a:rPr lang="zh-CN" sz="2400">
                          <a:solidFill>
                            <a:srgbClr val="000000"/>
                          </a:solidFill>
                          <a:latin typeface="宋体" panose="02010600030101010101" pitchFamily="2" charset="-122"/>
                          <a:ea typeface="宋体" panose="02010600030101010101" pitchFamily="2" charset="-122"/>
                        </a:rPr>
                        <a:t>自主控制系统在不确定环境下长时间运行良好，并在没有外部干预</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的情况下自动恢复系统故障的能力。</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990" y="81985"/>
            <a:ext cx="10969200" cy="705600"/>
          </a:xfrm>
        </p:spPr>
        <p:txBody>
          <a:bodyPr/>
          <a:lstStyle/>
          <a:p>
            <a:r>
              <a:rPr lang="en-US" altLang="zh-CN" dirty="0">
                <a:solidFill>
                  <a:srgbClr val="FF0000"/>
                </a:solidFill>
                <a:sym typeface="+mn-ea"/>
              </a:rPr>
              <a:t>8.1 </a:t>
            </a:r>
            <a:r>
              <a:rPr lang="zh-CN" altLang="en-US" dirty="0">
                <a:solidFill>
                  <a:srgbClr val="FF0000"/>
                </a:solidFill>
                <a:sym typeface="+mn-ea"/>
              </a:rPr>
              <a:t>软件韧性</a:t>
            </a:r>
            <a:endParaRPr lang="zh-CN" altLang="en-US" dirty="0" smtClean="0">
              <a:solidFill>
                <a:srgbClr val="FF0000"/>
              </a:solidFill>
              <a:sym typeface="+mn-ea"/>
            </a:endParaRPr>
          </a:p>
        </p:txBody>
      </p:sp>
      <p:graphicFrame>
        <p:nvGraphicFramePr>
          <p:cNvPr id="5" name="对象 4"/>
          <p:cNvGraphicFramePr/>
          <p:nvPr>
            <p:custDataLst>
              <p:tags r:id="rId1"/>
            </p:custDataLst>
          </p:nvPr>
        </p:nvGraphicFramePr>
        <p:xfrm>
          <a:off x="7581265" y="53340"/>
          <a:ext cx="4392930" cy="734060"/>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7581265" y="53340"/>
                        <a:ext cx="4392930" cy="734060"/>
                      </a:xfrm>
                      <a:prstGeom prst="rect">
                        <a:avLst/>
                      </a:prstGeom>
                    </p:spPr>
                  </p:pic>
                </p:oleObj>
              </mc:Fallback>
            </mc:AlternateContent>
          </a:graphicData>
        </a:graphic>
      </p:graphicFrame>
      <p:pic>
        <p:nvPicPr>
          <p:cNvPr id="4" name="图片 3"/>
          <p:cNvPicPr>
            <a:picLocks noChangeAspect="1"/>
          </p:cNvPicPr>
          <p:nvPr/>
        </p:nvPicPr>
        <p:blipFill>
          <a:blip r:embed="rId4"/>
          <a:stretch>
            <a:fillRect/>
          </a:stretch>
        </p:blipFill>
        <p:spPr>
          <a:xfrm>
            <a:off x="509905" y="1946910"/>
            <a:ext cx="10979785" cy="4399280"/>
          </a:xfrm>
          <a:prstGeom prst="rect">
            <a:avLst/>
          </a:prstGeom>
        </p:spPr>
      </p:pic>
      <p:sp>
        <p:nvSpPr>
          <p:cNvPr id="6" name="文本框 5"/>
          <p:cNvSpPr txBox="1"/>
          <p:nvPr/>
        </p:nvSpPr>
        <p:spPr>
          <a:xfrm>
            <a:off x="3719195" y="1013778"/>
            <a:ext cx="5080000" cy="521970"/>
          </a:xfrm>
          <a:prstGeom prst="rect">
            <a:avLst/>
          </a:prstGeom>
        </p:spPr>
        <p:txBody>
          <a:bodyPr>
            <a:spAutoFit/>
          </a:bodyPr>
          <a:p>
            <a:pPr algn="ctr"/>
            <a:r>
              <a:rPr lang="zh-CN" altLang="en-US" sz="2800">
                <a:solidFill>
                  <a:srgbClr val="000000"/>
                </a:solidFill>
                <a:latin typeface="楷体" panose="02010609060101010101" charset="-122"/>
                <a:ea typeface="楷体" panose="02010609060101010101" charset="-122"/>
              </a:rPr>
              <a:t>韧性可信分解架构示意图</a:t>
            </a:r>
            <a:endParaRPr lang="zh-CN" altLang="en-US" sz="2800">
              <a:solidFill>
                <a:srgbClr val="000000"/>
              </a:solidFill>
              <a:latin typeface="楷体" panose="02010609060101010101" charset="-122"/>
              <a:ea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8.1 </a:t>
            </a:r>
            <a:r>
              <a:rPr lang="zh-CN" altLang="en-US">
                <a:solidFill>
                  <a:srgbClr val="FF0000"/>
                </a:solidFill>
                <a:sym typeface="+mn-ea"/>
              </a:rPr>
              <a:t>软件韧性</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434975" y="1076960"/>
            <a:ext cx="11389995" cy="521970"/>
          </a:xfrm>
          <a:prstGeom prst="rect">
            <a:avLst/>
          </a:prstGeom>
          <a:noFill/>
        </p:spPr>
        <p:txBody>
          <a:bodyPr wrap="square" rtlCol="0">
            <a:spAutoFit/>
          </a:bodyPr>
          <a:p>
            <a:r>
              <a:rPr lang="zh-CN" altLang="en-US" sz="2800"/>
              <a:t>韧性既有功能也有性能，因而既要对功能进行度量也要对性能进行度量</a:t>
            </a:r>
            <a:endParaRPr lang="zh-CN" altLang="en-US" sz="2800"/>
          </a:p>
        </p:txBody>
      </p:sp>
      <p:graphicFrame>
        <p:nvGraphicFramePr>
          <p:cNvPr id="5" name="表格 4"/>
          <p:cNvGraphicFramePr/>
          <p:nvPr/>
        </p:nvGraphicFramePr>
        <p:xfrm>
          <a:off x="284480" y="1598613"/>
          <a:ext cx="11701780" cy="5012690"/>
        </p:xfrm>
        <a:graphic>
          <a:graphicData uri="http://schemas.openxmlformats.org/drawingml/2006/table">
            <a:tbl>
              <a:tblPr/>
              <a:tblGrid>
                <a:gridCol w="1042035"/>
                <a:gridCol w="7040245"/>
                <a:gridCol w="3619500"/>
              </a:tblGrid>
              <a:tr h="437515">
                <a:tc>
                  <a:txBody>
                    <a:bodyPr/>
                    <a:p>
                      <a:pPr marL="749300" indent="0" algn="l" eaLnBrk="0" fontAlgn="base">
                        <a:spcBef>
                          <a:spcPts val="600"/>
                        </a:spcBef>
                        <a:spcAft>
                          <a:spcPct val="0"/>
                        </a:spcAft>
                        <a:buNone/>
                      </a:pPr>
                      <a:endParaRPr lang="zh-CN" altLang="en-US" sz="26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49300" indent="0" algn="l" eaLnBrk="0" fontAlgn="base">
                        <a:spcBef>
                          <a:spcPts val="600"/>
                        </a:spcBef>
                        <a:spcAft>
                          <a:spcPct val="0"/>
                        </a:spcAft>
                      </a:pPr>
                      <a:r>
                        <a:rPr lang="zh-CN" sz="2600">
                          <a:solidFill>
                            <a:srgbClr val="000000"/>
                          </a:solidFill>
                          <a:latin typeface="宋体" panose="02010600030101010101" pitchFamily="2" charset="-122"/>
                          <a:ea typeface="宋体" panose="02010600030101010101" pitchFamily="2" charset="-122"/>
                        </a:rPr>
                        <a:t>属性</a:t>
                      </a:r>
                      <a:endParaRPr lang="zh-CN" sz="26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681990" indent="0" algn="l" eaLnBrk="0" fontAlgn="base">
                        <a:spcBef>
                          <a:spcPts val="600"/>
                        </a:spcBef>
                        <a:spcAft>
                          <a:spcPct val="0"/>
                        </a:spcAft>
                      </a:pPr>
                      <a:r>
                        <a:rPr lang="zh-CN" sz="2600">
                          <a:solidFill>
                            <a:srgbClr val="000000"/>
                          </a:solidFill>
                          <a:latin typeface="宋体" panose="02010600030101010101" pitchFamily="2" charset="-122"/>
                          <a:ea typeface="宋体" panose="02010600030101010101" pitchFamily="2" charset="-122"/>
                        </a:rPr>
                        <a:t>度量元</a:t>
                      </a:r>
                      <a:endParaRPr lang="zh-CN" sz="26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1730375">
                <a:tc rowSpan="2">
                  <a:txBody>
                    <a:bodyPr/>
                    <a:p>
                      <a:pPr marL="80645" indent="1905" algn="l" eaLnBrk="0" fontAlgn="base">
                        <a:lnSpc>
                          <a:spcPct val="135000"/>
                        </a:lnSpc>
                        <a:spcBef>
                          <a:spcPts val="600"/>
                        </a:spcBef>
                        <a:spcAft>
                          <a:spcPct val="0"/>
                        </a:spcAft>
                        <a:buNone/>
                      </a:pPr>
                      <a:endParaRPr lang="zh-CN" altLang="en-US" sz="2600">
                        <a:solidFill>
                          <a:srgbClr val="000000"/>
                        </a:solidFill>
                        <a:latin typeface="宋体" panose="02010600030101010101" pitchFamily="2" charset="-122"/>
                        <a:ea typeface="宋体" panose="02010600030101010101" pitchFamily="2" charset="-122"/>
                      </a:endParaRPr>
                    </a:p>
                    <a:p>
                      <a:pPr marL="80645" indent="1905" algn="l" eaLnBrk="0" fontAlgn="base">
                        <a:lnSpc>
                          <a:spcPct val="135000"/>
                        </a:lnSpc>
                        <a:spcBef>
                          <a:spcPts val="600"/>
                        </a:spcBef>
                        <a:spcAft>
                          <a:spcPct val="0"/>
                        </a:spcAft>
                        <a:buNone/>
                      </a:pPr>
                      <a:endParaRPr lang="zh-CN" altLang="en-US" sz="2600">
                        <a:solidFill>
                          <a:srgbClr val="000000"/>
                        </a:solidFill>
                        <a:latin typeface="宋体" panose="02010600030101010101" pitchFamily="2" charset="-122"/>
                        <a:ea typeface="宋体" panose="02010600030101010101" pitchFamily="2" charset="-122"/>
                      </a:endParaRPr>
                    </a:p>
                    <a:p>
                      <a:pPr marL="80645" indent="1905" algn="ctr" eaLnBrk="0" fontAlgn="base">
                        <a:lnSpc>
                          <a:spcPct val="135000"/>
                        </a:lnSpc>
                        <a:spcBef>
                          <a:spcPts val="600"/>
                        </a:spcBef>
                        <a:spcAft>
                          <a:spcPct val="0"/>
                        </a:spcAft>
                        <a:buNone/>
                      </a:pPr>
                      <a:r>
                        <a:rPr lang="zh-CN" altLang="en-US" sz="2600">
                          <a:solidFill>
                            <a:srgbClr val="000000"/>
                          </a:solidFill>
                          <a:latin typeface="宋体" panose="02010600030101010101" pitchFamily="2" charset="-122"/>
                          <a:ea typeface="宋体" panose="02010600030101010101" pitchFamily="2" charset="-122"/>
                        </a:rPr>
                        <a:t>表</a:t>
                      </a:r>
                      <a:endParaRPr lang="zh-CN" altLang="en-US" sz="2600">
                        <a:solidFill>
                          <a:srgbClr val="000000"/>
                        </a:solidFill>
                        <a:latin typeface="宋体" panose="02010600030101010101" pitchFamily="2" charset="-122"/>
                        <a:ea typeface="宋体" panose="02010600030101010101" pitchFamily="2" charset="-122"/>
                      </a:endParaRPr>
                    </a:p>
                    <a:p>
                      <a:pPr marL="80645" indent="1905" algn="ctr" eaLnBrk="0" fontAlgn="base">
                        <a:lnSpc>
                          <a:spcPct val="135000"/>
                        </a:lnSpc>
                        <a:spcBef>
                          <a:spcPts val="600"/>
                        </a:spcBef>
                        <a:spcAft>
                          <a:spcPct val="0"/>
                        </a:spcAft>
                        <a:buNone/>
                      </a:pPr>
                      <a:r>
                        <a:rPr lang="zh-CN" altLang="en-US" sz="2600">
                          <a:solidFill>
                            <a:srgbClr val="000000"/>
                          </a:solidFill>
                          <a:latin typeface="宋体" panose="02010600030101010101" pitchFamily="2" charset="-122"/>
                          <a:ea typeface="宋体" panose="02010600030101010101" pitchFamily="2" charset="-122"/>
                        </a:rPr>
                        <a:t>现</a:t>
                      </a:r>
                      <a:endParaRPr lang="zh-CN" altLang="en-US" sz="2600">
                        <a:solidFill>
                          <a:srgbClr val="000000"/>
                        </a:solidFill>
                        <a:latin typeface="宋体" panose="02010600030101010101" pitchFamily="2" charset="-122"/>
                        <a:ea typeface="宋体" panose="02010600030101010101" pitchFamily="2" charset="-122"/>
                      </a:endParaRPr>
                    </a:p>
                    <a:p>
                      <a:pPr marL="80645" indent="1905" algn="ctr" eaLnBrk="0" fontAlgn="base">
                        <a:lnSpc>
                          <a:spcPct val="135000"/>
                        </a:lnSpc>
                        <a:spcBef>
                          <a:spcPts val="600"/>
                        </a:spcBef>
                        <a:spcAft>
                          <a:spcPct val="0"/>
                        </a:spcAft>
                        <a:buNone/>
                      </a:pPr>
                      <a:r>
                        <a:rPr lang="en-US" altLang="zh-CN" sz="2600">
                          <a:solidFill>
                            <a:srgbClr val="000000"/>
                          </a:solidFill>
                          <a:latin typeface="宋体" panose="02010600030101010101" pitchFamily="2" charset="-122"/>
                          <a:ea typeface="宋体" panose="02010600030101010101" pitchFamily="2" charset="-122"/>
                        </a:rPr>
                        <a:t>B</a:t>
                      </a:r>
                      <a:endParaRPr lang="en-US" altLang="zh-CN" sz="26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645" indent="1905" algn="l" eaLnBrk="0" fontAlgn="base">
                        <a:lnSpc>
                          <a:spcPct val="135000"/>
                        </a:lnSpc>
                        <a:spcBef>
                          <a:spcPts val="600"/>
                        </a:spcBef>
                        <a:spcAft>
                          <a:spcPct val="0"/>
                        </a:spcAft>
                      </a:pPr>
                      <a:r>
                        <a:rPr lang="zh-CN" sz="2600">
                          <a:solidFill>
                            <a:srgbClr val="000000"/>
                          </a:solidFill>
                          <a:latin typeface="宋体" panose="02010600030101010101" pitchFamily="2" charset="-122"/>
                          <a:ea typeface="宋体" panose="02010600030101010101" pitchFamily="2" charset="-122"/>
                        </a:rPr>
                        <a:t>性能：实际工作时的性能，</a:t>
                      </a:r>
                      <a:r>
                        <a:rPr lang="zh-CN" altLang="en-US" sz="2600">
                          <a:solidFill>
                            <a:srgbClr val="000000"/>
                          </a:solidFill>
                          <a:latin typeface="宋体" panose="02010600030101010101" pitchFamily="2" charset="-122"/>
                          <a:ea typeface="宋体" panose="02010600030101010101" pitchFamily="2" charset="-122"/>
                        </a:rPr>
                        <a:t> </a:t>
                      </a:r>
                      <a:r>
                        <a:rPr lang="zh-CN" sz="2600">
                          <a:solidFill>
                            <a:srgbClr val="000000"/>
                          </a:solidFill>
                          <a:latin typeface="宋体" panose="02010600030101010101" pitchFamily="2" charset="-122"/>
                          <a:ea typeface="宋体" panose="02010600030101010101" pitchFamily="2" charset="-122"/>
                        </a:rPr>
                        <a:t>以初始性能为基准，不同系</a:t>
                      </a:r>
                      <a:r>
                        <a:rPr lang="zh-CN" altLang="en-US" sz="2600">
                          <a:solidFill>
                            <a:srgbClr val="000000"/>
                          </a:solidFill>
                          <a:latin typeface="宋体" panose="02010600030101010101" pitchFamily="2" charset="-122"/>
                          <a:ea typeface="宋体" panose="02010600030101010101" pitchFamily="2" charset="-122"/>
                        </a:rPr>
                        <a:t> </a:t>
                      </a:r>
                      <a:r>
                        <a:rPr lang="zh-CN" sz="2600">
                          <a:solidFill>
                            <a:srgbClr val="000000"/>
                          </a:solidFill>
                          <a:latin typeface="宋体" panose="02010600030101010101" pitchFamily="2" charset="-122"/>
                          <a:ea typeface="宋体" panose="02010600030101010101" pitchFamily="2" charset="-122"/>
                        </a:rPr>
                        <a:t>统或组件有不同的指标量，</a:t>
                      </a:r>
                      <a:r>
                        <a:rPr lang="zh-CN" altLang="en-US" sz="2600">
                          <a:solidFill>
                            <a:srgbClr val="000000"/>
                          </a:solidFill>
                          <a:latin typeface="宋体" panose="02010600030101010101" pitchFamily="2" charset="-122"/>
                          <a:ea typeface="宋体" panose="02010600030101010101" pitchFamily="2" charset="-122"/>
                        </a:rPr>
                        <a:t> </a:t>
                      </a:r>
                      <a:r>
                        <a:rPr lang="zh-CN" sz="2600">
                          <a:solidFill>
                            <a:srgbClr val="000000"/>
                          </a:solidFill>
                          <a:latin typeface="宋体" panose="02010600030101010101" pitchFamily="2" charset="-122"/>
                          <a:ea typeface="宋体" panose="02010600030101010101" pitchFamily="2" charset="-122"/>
                        </a:rPr>
                        <a:t>例如</a:t>
                      </a:r>
                      <a:r>
                        <a:rPr lang="zh-CN" altLang="en-US" sz="2600">
                          <a:solidFill>
                            <a:srgbClr val="000000"/>
                          </a:solidFill>
                          <a:latin typeface="宋体" panose="02010600030101010101" pitchFamily="2" charset="-122"/>
                          <a:ea typeface="宋体" panose="02010600030101010101" pitchFamily="2" charset="-122"/>
                        </a:rPr>
                        <a:t> </a:t>
                      </a:r>
                      <a:r>
                        <a:rPr lang="en-US" altLang="zh-CN" sz="2600">
                          <a:solidFill>
                            <a:srgbClr val="000000"/>
                          </a:solidFill>
                          <a:latin typeface="Times New Roman" panose="02020603050405020304"/>
                          <a:ea typeface="Times New Roman" panose="02020603050405020304"/>
                        </a:rPr>
                        <a:t>CPU</a:t>
                      </a:r>
                      <a:r>
                        <a:rPr lang="zh-CN" sz="2600">
                          <a:solidFill>
                            <a:srgbClr val="000000"/>
                          </a:solidFill>
                          <a:latin typeface="宋体" panose="02010600030101010101" pitchFamily="2" charset="-122"/>
                          <a:ea typeface="宋体" panose="02010600030101010101" pitchFamily="2" charset="-122"/>
                        </a:rPr>
                        <a:t>，内存等的性能</a:t>
                      </a:r>
                      <a:r>
                        <a:rPr lang="zh-CN" altLang="en-US" sz="2600">
                          <a:solidFill>
                            <a:srgbClr val="000000"/>
                          </a:solidFill>
                          <a:latin typeface="宋体" panose="02010600030101010101" pitchFamily="2" charset="-122"/>
                          <a:ea typeface="宋体" panose="02010600030101010101" pitchFamily="2" charset="-122"/>
                        </a:rPr>
                        <a:t>  </a:t>
                      </a:r>
                      <a:r>
                        <a:rPr lang="zh-CN" sz="2600">
                          <a:solidFill>
                            <a:srgbClr val="000000"/>
                          </a:solidFill>
                          <a:latin typeface="宋体" panose="02010600030101010101" pitchFamily="2" charset="-122"/>
                          <a:ea typeface="宋体" panose="02010600030101010101" pitchFamily="2" charset="-122"/>
                        </a:rPr>
                        <a:t>体现为工作频率等，屏幕的</a:t>
                      </a:r>
                      <a:r>
                        <a:rPr lang="zh-CN" altLang="en-US" sz="2600">
                          <a:solidFill>
                            <a:srgbClr val="000000"/>
                          </a:solidFill>
                          <a:latin typeface="宋体" panose="02010600030101010101" pitchFamily="2" charset="-122"/>
                          <a:ea typeface="宋体" panose="02010600030101010101" pitchFamily="2" charset="-122"/>
                        </a:rPr>
                        <a:t> </a:t>
                      </a:r>
                      <a:r>
                        <a:rPr lang="zh-CN" sz="2600">
                          <a:solidFill>
                            <a:srgbClr val="000000"/>
                          </a:solidFill>
                          <a:latin typeface="宋体" panose="02010600030101010101" pitchFamily="2" charset="-122"/>
                          <a:ea typeface="宋体" panose="02010600030101010101" pitchFamily="2" charset="-122"/>
                        </a:rPr>
                        <a:t>性能体现为分辨率、触摸反</a:t>
                      </a:r>
                      <a:r>
                        <a:rPr lang="zh-CN" altLang="en-US" sz="2600">
                          <a:solidFill>
                            <a:srgbClr val="000000"/>
                          </a:solidFill>
                          <a:latin typeface="宋体" panose="02010600030101010101" pitchFamily="2" charset="-122"/>
                          <a:ea typeface="宋体" panose="02010600030101010101" pitchFamily="2" charset="-122"/>
                        </a:rPr>
                        <a:t> </a:t>
                      </a:r>
                      <a:r>
                        <a:rPr lang="zh-CN" sz="2600">
                          <a:solidFill>
                            <a:srgbClr val="000000"/>
                          </a:solidFill>
                          <a:latin typeface="宋体" panose="02010600030101010101" pitchFamily="2" charset="-122"/>
                          <a:ea typeface="宋体" panose="02010600030101010101" pitchFamily="2" charset="-122"/>
                        </a:rPr>
                        <a:t>馈准确率等。</a:t>
                      </a:r>
                      <a:endParaRPr lang="zh-CN" sz="26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3000"/>
                        </a:lnSpc>
                        <a:spcBef>
                          <a:spcPct val="0"/>
                        </a:spcBef>
                        <a:spcAft>
                          <a:spcPct val="0"/>
                        </a:spcAft>
                      </a:pPr>
                      <a:endParaRPr lang="en-US" altLang="zh-CN" sz="26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600">
                          <a:solidFill>
                            <a:srgbClr val="000000"/>
                          </a:solidFill>
                          <a:latin typeface="Arial" panose="020B0604020202020204"/>
                          <a:ea typeface="Arial" panose="020B0604020202020204"/>
                        </a:rPr>
                        <a:t> </a:t>
                      </a:r>
                      <a:r>
                        <a:rPr lang="zh-CN" sz="2600">
                          <a:solidFill>
                            <a:srgbClr val="000000"/>
                          </a:solidFill>
                          <a:latin typeface="宋体" panose="02010600030101010101" pitchFamily="2" charset="-122"/>
                          <a:ea typeface="宋体" panose="02010600030101010101" pitchFamily="2" charset="-122"/>
                        </a:rPr>
                        <a:t>性能按</a:t>
                      </a:r>
                      <a:r>
                        <a:rPr lang="zh-CN" altLang="en-US" sz="2600">
                          <a:solidFill>
                            <a:srgbClr val="000000"/>
                          </a:solidFill>
                          <a:latin typeface="宋体" panose="02010600030101010101" pitchFamily="2" charset="-122"/>
                          <a:ea typeface="宋体" panose="02010600030101010101" pitchFamily="2" charset="-122"/>
                        </a:rPr>
                        <a:t> </a:t>
                      </a:r>
                      <a:r>
                        <a:rPr lang="en-US" altLang="zh-CN" sz="2600">
                          <a:solidFill>
                            <a:srgbClr val="000000"/>
                          </a:solidFill>
                          <a:latin typeface="Times New Roman" panose="02020603050405020304"/>
                          <a:ea typeface="Times New Roman" panose="02020603050405020304"/>
                        </a:rPr>
                        <a:t>0%-100% </a:t>
                      </a:r>
                      <a:r>
                        <a:rPr lang="zh-CN" sz="2600">
                          <a:solidFill>
                            <a:srgbClr val="000000"/>
                          </a:solidFill>
                          <a:latin typeface="宋体" panose="02010600030101010101" pitchFamily="2" charset="-122"/>
                          <a:ea typeface="宋体" panose="02010600030101010101" pitchFamily="2" charset="-122"/>
                        </a:rPr>
                        <a:t>对应到</a:t>
                      </a:r>
                      <a:r>
                        <a:rPr lang="zh-CN" altLang="en-US" sz="2600">
                          <a:solidFill>
                            <a:srgbClr val="000000"/>
                          </a:solidFill>
                          <a:latin typeface="宋体" panose="02010600030101010101" pitchFamily="2" charset="-122"/>
                          <a:ea typeface="宋体" panose="02010600030101010101" pitchFamily="2" charset="-122"/>
                        </a:rPr>
                        <a:t> </a:t>
                      </a:r>
                      <a:r>
                        <a:rPr lang="en-US" altLang="zh-CN" sz="2600">
                          <a:solidFill>
                            <a:srgbClr val="000000"/>
                          </a:solidFill>
                          <a:latin typeface="Times New Roman" panose="02020603050405020304"/>
                          <a:ea typeface="Times New Roman" panose="02020603050405020304"/>
                        </a:rPr>
                        <a:t>1-10 </a:t>
                      </a:r>
                      <a:r>
                        <a:rPr lang="zh-CN" sz="2600">
                          <a:solidFill>
                            <a:srgbClr val="000000"/>
                          </a:solidFill>
                          <a:latin typeface="宋体" panose="02010600030101010101" pitchFamily="2" charset="-122"/>
                          <a:ea typeface="宋体" panose="02010600030101010101" pitchFamily="2" charset="-122"/>
                        </a:rPr>
                        <a:t>分。</a:t>
                      </a:r>
                      <a:endParaRPr lang="zh-CN" sz="26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1014095">
                <a:tc vMerge="1">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80000"/>
                        </a:lnSpc>
                        <a:spcBef>
                          <a:spcPct val="0"/>
                        </a:spcBef>
                        <a:spcAft>
                          <a:spcPct val="0"/>
                        </a:spcAft>
                      </a:pPr>
                      <a:r>
                        <a:rPr lang="en-US" altLang="zh-CN" sz="2600">
                          <a:solidFill>
                            <a:srgbClr val="000000"/>
                          </a:solidFill>
                          <a:latin typeface="Arial" panose="020B0604020202020204"/>
                          <a:ea typeface="Arial" panose="020B0604020202020204"/>
                        </a:rPr>
                        <a:t> </a:t>
                      </a:r>
                      <a:endParaRPr lang="en-US" altLang="zh-CN" sz="2600">
                        <a:solidFill>
                          <a:srgbClr val="000000"/>
                        </a:solidFill>
                        <a:latin typeface="Arial" panose="020B0604020202020204"/>
                        <a:ea typeface="Arial" panose="020B0604020202020204"/>
                      </a:endParaRPr>
                    </a:p>
                    <a:p>
                      <a:pPr marL="85725" indent="-2540" algn="l" eaLnBrk="0" fontAlgn="base">
                        <a:lnSpc>
                          <a:spcPct val="133000"/>
                        </a:lnSpc>
                        <a:spcBef>
                          <a:spcPts val="300"/>
                        </a:spcBef>
                        <a:spcAft>
                          <a:spcPct val="0"/>
                        </a:spcAft>
                      </a:pPr>
                      <a:r>
                        <a:rPr lang="zh-CN" sz="2600">
                          <a:solidFill>
                            <a:srgbClr val="000000"/>
                          </a:solidFill>
                          <a:latin typeface="宋体" panose="02010600030101010101" pitchFamily="2" charset="-122"/>
                          <a:ea typeface="宋体" panose="02010600030101010101" pitchFamily="2" charset="-122"/>
                        </a:rPr>
                        <a:t>功能：实际工作时提供的功</a:t>
                      </a:r>
                      <a:r>
                        <a:rPr lang="zh-CN" altLang="en-US" sz="2600">
                          <a:solidFill>
                            <a:srgbClr val="000000"/>
                          </a:solidFill>
                          <a:latin typeface="宋体" panose="02010600030101010101" pitchFamily="2" charset="-122"/>
                          <a:ea typeface="宋体" panose="02010600030101010101" pitchFamily="2" charset="-122"/>
                        </a:rPr>
                        <a:t> </a:t>
                      </a:r>
                      <a:r>
                        <a:rPr lang="zh-CN" sz="2600">
                          <a:solidFill>
                            <a:srgbClr val="000000"/>
                          </a:solidFill>
                          <a:latin typeface="宋体" panose="02010600030101010101" pitchFamily="2" charset="-122"/>
                          <a:ea typeface="宋体" panose="02010600030101010101" pitchFamily="2" charset="-122"/>
                        </a:rPr>
                        <a:t>能，以初始功能为基准。</a:t>
                      </a:r>
                      <a:endParaRPr lang="zh-CN" sz="26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4455" indent="0" algn="l" eaLnBrk="0" fontAlgn="base">
                        <a:spcBef>
                          <a:spcPts val="600"/>
                        </a:spcBef>
                        <a:spcAft>
                          <a:spcPct val="0"/>
                        </a:spcAft>
                      </a:pPr>
                      <a:r>
                        <a:rPr lang="zh-CN" sz="2600">
                          <a:solidFill>
                            <a:srgbClr val="000000"/>
                          </a:solidFill>
                          <a:latin typeface="宋体" panose="02010600030101010101" pitchFamily="2" charset="-122"/>
                          <a:ea typeface="宋体" panose="02010600030101010101" pitchFamily="2" charset="-122"/>
                        </a:rPr>
                        <a:t>功能按</a:t>
                      </a:r>
                      <a:r>
                        <a:rPr lang="zh-CN" altLang="en-US" sz="2600">
                          <a:solidFill>
                            <a:srgbClr val="000000"/>
                          </a:solidFill>
                          <a:latin typeface="宋体" panose="02010600030101010101" pitchFamily="2" charset="-122"/>
                          <a:ea typeface="宋体" panose="02010600030101010101" pitchFamily="2" charset="-122"/>
                        </a:rPr>
                        <a:t> </a:t>
                      </a:r>
                      <a:r>
                        <a:rPr lang="en-US" altLang="zh-CN" sz="2600">
                          <a:solidFill>
                            <a:srgbClr val="000000"/>
                          </a:solidFill>
                          <a:latin typeface="Times New Roman" panose="02020603050405020304"/>
                          <a:ea typeface="Times New Roman" panose="02020603050405020304"/>
                        </a:rPr>
                        <a:t>0%-100% </a:t>
                      </a:r>
                      <a:r>
                        <a:rPr lang="zh-CN" sz="2600">
                          <a:solidFill>
                            <a:srgbClr val="000000"/>
                          </a:solidFill>
                          <a:latin typeface="宋体" panose="02010600030101010101" pitchFamily="2" charset="-122"/>
                          <a:ea typeface="宋体" panose="02010600030101010101" pitchFamily="2" charset="-122"/>
                        </a:rPr>
                        <a:t>对应到</a:t>
                      </a:r>
                      <a:endParaRPr lang="zh-CN" sz="2600">
                        <a:solidFill>
                          <a:srgbClr val="000000"/>
                        </a:solidFill>
                        <a:latin typeface="宋体" panose="02010600030101010101" pitchFamily="2" charset="-122"/>
                        <a:ea typeface="宋体" panose="02010600030101010101" pitchFamily="2" charset="-122"/>
                      </a:endParaRPr>
                    </a:p>
                    <a:p>
                      <a:pPr marL="84455" indent="8255" algn="l" eaLnBrk="0" fontAlgn="base">
                        <a:lnSpc>
                          <a:spcPct val="132000"/>
                        </a:lnSpc>
                        <a:spcBef>
                          <a:spcPts val="600"/>
                        </a:spcBef>
                        <a:spcAft>
                          <a:spcPct val="0"/>
                        </a:spcAft>
                      </a:pPr>
                      <a:r>
                        <a:rPr lang="en-US" altLang="zh-CN" sz="2600">
                          <a:solidFill>
                            <a:srgbClr val="000000"/>
                          </a:solidFill>
                          <a:latin typeface="Times New Roman" panose="02020603050405020304"/>
                          <a:ea typeface="Times New Roman" panose="02020603050405020304"/>
                        </a:rPr>
                        <a:t>1-10 </a:t>
                      </a:r>
                      <a:r>
                        <a:rPr lang="zh-CN" sz="2600">
                          <a:solidFill>
                            <a:srgbClr val="000000"/>
                          </a:solidFill>
                          <a:latin typeface="宋体" panose="02010600030101010101" pitchFamily="2" charset="-122"/>
                          <a:ea typeface="宋体" panose="02010600030101010101" pitchFamily="2" charset="-122"/>
                        </a:rPr>
                        <a:t>分。例外情况：</a:t>
                      </a:r>
                      <a:r>
                        <a:rPr lang="zh-CN" altLang="en-US" sz="2600">
                          <a:solidFill>
                            <a:srgbClr val="000000"/>
                          </a:solidFill>
                          <a:latin typeface="宋体" panose="02010600030101010101" pitchFamily="2" charset="-122"/>
                          <a:ea typeface="宋体" panose="02010600030101010101" pitchFamily="2" charset="-122"/>
                        </a:rPr>
                        <a:t> </a:t>
                      </a:r>
                      <a:r>
                        <a:rPr lang="zh-CN" sz="2600">
                          <a:solidFill>
                            <a:srgbClr val="000000"/>
                          </a:solidFill>
                          <a:latin typeface="宋体" panose="02010600030101010101" pitchFamily="2" charset="-122"/>
                          <a:ea typeface="宋体" panose="02010600030101010101" pitchFamily="2" charset="-122"/>
                        </a:rPr>
                        <a:t>当所有关键功能无法工作时取</a:t>
                      </a:r>
                      <a:r>
                        <a:rPr lang="zh-CN" altLang="en-US" sz="2600">
                          <a:solidFill>
                            <a:srgbClr val="000000"/>
                          </a:solidFill>
                          <a:latin typeface="宋体" panose="02010600030101010101" pitchFamily="2" charset="-122"/>
                          <a:ea typeface="宋体" panose="02010600030101010101" pitchFamily="2" charset="-122"/>
                        </a:rPr>
                        <a:t> </a:t>
                      </a:r>
                      <a:r>
                        <a:rPr lang="en-US" altLang="zh-CN" sz="2600">
                          <a:solidFill>
                            <a:srgbClr val="000000"/>
                          </a:solidFill>
                          <a:latin typeface="Times New Roman" panose="02020603050405020304"/>
                          <a:ea typeface="Times New Roman" panose="02020603050405020304"/>
                        </a:rPr>
                        <a:t>1</a:t>
                      </a:r>
                      <a:r>
                        <a:rPr lang="zh-CN" sz="2600">
                          <a:solidFill>
                            <a:srgbClr val="000000"/>
                          </a:solidFill>
                          <a:latin typeface="宋体" panose="02010600030101010101" pitchFamily="2" charset="-122"/>
                          <a:ea typeface="宋体" panose="02010600030101010101" pitchFamily="2" charset="-122"/>
                        </a:rPr>
                        <a:t>分。</a:t>
                      </a:r>
                      <a:endParaRPr lang="zh-CN" sz="26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ustDataLst>
      <p:tags r:id="rId3"/>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8.1 </a:t>
            </a:r>
            <a:r>
              <a:rPr lang="zh-CN" altLang="en-US">
                <a:solidFill>
                  <a:srgbClr val="FF0000"/>
                </a:solidFill>
                <a:sym typeface="+mn-ea"/>
              </a:rPr>
              <a:t>软件韧性</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434975" y="1076960"/>
            <a:ext cx="11389995" cy="521970"/>
          </a:xfrm>
          <a:prstGeom prst="rect">
            <a:avLst/>
          </a:prstGeom>
          <a:noFill/>
        </p:spPr>
        <p:txBody>
          <a:bodyPr wrap="square" rtlCol="0">
            <a:spAutoFit/>
          </a:bodyPr>
          <a:p>
            <a:r>
              <a:rPr lang="zh-CN" altLang="en-US" sz="2800"/>
              <a:t>韧性既有功能也有性能，因而既要对功能进行度量也要对性能进行度量</a:t>
            </a:r>
            <a:endParaRPr lang="zh-CN" altLang="en-US" sz="2800"/>
          </a:p>
        </p:txBody>
      </p:sp>
      <p:graphicFrame>
        <p:nvGraphicFramePr>
          <p:cNvPr id="3" name="对象 2">
            <a:hlinkClick r:id="" action="ppaction://ole?verb="/>
          </p:cNvPr>
          <p:cNvGraphicFramePr>
            <a:graphicFrameLocks noChangeAspect="1"/>
          </p:cNvGraphicFramePr>
          <p:nvPr/>
        </p:nvGraphicFramePr>
        <p:xfrm>
          <a:off x="3176270" y="2369820"/>
          <a:ext cx="5907405" cy="1171575"/>
        </p:xfrm>
        <a:graphic>
          <a:graphicData uri="http://schemas.openxmlformats.org/presentationml/2006/ole">
            <mc:AlternateContent xmlns:mc="http://schemas.openxmlformats.org/markup-compatibility/2006">
              <mc:Choice xmlns:v="urn:schemas-microsoft-com:vml" Requires="v">
                <p:oleObj spid="_x0000_s1025" name="" r:id="rId3" imgW="1346200" imgH="266700" progId="Equation.KSEE3">
                  <p:embed/>
                </p:oleObj>
              </mc:Choice>
              <mc:Fallback>
                <p:oleObj name="" r:id="rId3" imgW="1346200" imgH="266700" progId="Equation.KSEE3">
                  <p:embed/>
                  <p:pic>
                    <p:nvPicPr>
                      <p:cNvPr id="0" name="图片 1024"/>
                      <p:cNvPicPr/>
                      <p:nvPr/>
                    </p:nvPicPr>
                    <p:blipFill>
                      <a:blip r:embed="rId4"/>
                      <a:stretch>
                        <a:fillRect/>
                      </a:stretch>
                    </p:blipFill>
                    <p:spPr>
                      <a:xfrm>
                        <a:off x="3176270" y="2369820"/>
                        <a:ext cx="5907405" cy="1171575"/>
                      </a:xfrm>
                      <a:prstGeom prst="rect">
                        <a:avLst/>
                      </a:prstGeom>
                    </p:spPr>
                  </p:pic>
                </p:oleObj>
              </mc:Fallback>
            </mc:AlternateContent>
          </a:graphicData>
        </a:graphic>
      </p:graphicFrame>
      <p:sp>
        <p:nvSpPr>
          <p:cNvPr id="6" name="文本框 5"/>
          <p:cNvSpPr txBox="1"/>
          <p:nvPr/>
        </p:nvSpPr>
        <p:spPr>
          <a:xfrm>
            <a:off x="1205865" y="4312285"/>
            <a:ext cx="9872980" cy="1814830"/>
          </a:xfrm>
          <a:prstGeom prst="rect">
            <a:avLst/>
          </a:prstGeom>
        </p:spPr>
        <p:style>
          <a:lnRef idx="3">
            <a:schemeClr val="accent1"/>
          </a:lnRef>
          <a:fillRef idx="0">
            <a:srgbClr val="FFFFFF"/>
          </a:fillRef>
          <a:effectRef idx="0">
            <a:srgbClr val="FFFFFF"/>
          </a:effectRef>
          <a:fontRef idx="minor">
            <a:schemeClr val="tx1"/>
          </a:fontRef>
        </p:style>
        <p:txBody>
          <a:bodyPr wrap="square" rtlCol="0">
            <a:spAutoFit/>
          </a:bodyPr>
          <a:p>
            <a:pPr marL="457200" indent="-457200">
              <a:buFont typeface="Wingdings" panose="05000000000000000000" charset="0"/>
              <a:buChar char="l"/>
            </a:pPr>
            <a:r>
              <a:rPr lang="en-US" altLang="zh-CN" sz="2800"/>
              <a:t>PERF </a:t>
            </a:r>
            <a:r>
              <a:rPr lang="zh-CN" altLang="en-US" sz="2800"/>
              <a:t>为根据前表得到的性能度量值，</a:t>
            </a:r>
            <a:r>
              <a:rPr lang="en-US" altLang="zh-CN" sz="2800"/>
              <a:t>FUNC </a:t>
            </a:r>
            <a:r>
              <a:rPr lang="zh-CN" altLang="en-US" sz="2800"/>
              <a:t>为根据前表得到的</a:t>
            </a:r>
            <a:r>
              <a:rPr lang="en-US" altLang="zh-CN" sz="2800"/>
              <a:t> </a:t>
            </a:r>
            <a:r>
              <a:rPr lang="zh-CN" altLang="en-US" sz="2800"/>
              <a:t>功能度量值，</a:t>
            </a:r>
            <a:r>
              <a:rPr lang="en-US" altLang="zh-CN" sz="2800"/>
              <a:t>α1 </a:t>
            </a:r>
            <a:r>
              <a:rPr lang="zh-CN" altLang="en-US" sz="2800"/>
              <a:t>和</a:t>
            </a:r>
            <a:r>
              <a:rPr lang="en-US" altLang="zh-CN" sz="2800"/>
              <a:t> α2  </a:t>
            </a:r>
            <a:r>
              <a:rPr lang="zh-CN" altLang="en-US" sz="2800"/>
              <a:t>分别为性能和功能的权重，取值范围为</a:t>
            </a:r>
            <a:r>
              <a:rPr lang="en-US" altLang="zh-CN" sz="2800"/>
              <a:t> [0, 1]</a:t>
            </a:r>
            <a:r>
              <a:rPr lang="zh-CN" altLang="en-US" sz="2800"/>
              <a:t>，由专家和组</a:t>
            </a:r>
            <a:r>
              <a:rPr lang="en-US" altLang="zh-CN" sz="2800"/>
              <a:t> </a:t>
            </a:r>
            <a:r>
              <a:rPr lang="zh-CN" altLang="en-US" sz="2800"/>
              <a:t>件开发人员指定。</a:t>
            </a:r>
            <a:endParaRPr lang="zh-CN" altLang="en-US" sz="2800"/>
          </a:p>
          <a:p>
            <a:pPr marL="457200" indent="-457200">
              <a:buFont typeface="Wingdings" panose="05000000000000000000" charset="0"/>
              <a:buChar char="l"/>
            </a:pPr>
            <a:r>
              <a:rPr lang="zh-CN" altLang="en-US" sz="2800"/>
              <a:t>表现</a:t>
            </a:r>
            <a:r>
              <a:rPr lang="en-US" altLang="zh-CN" sz="2800"/>
              <a:t> B </a:t>
            </a:r>
            <a:r>
              <a:rPr lang="zh-CN" altLang="en-US" sz="2800"/>
              <a:t>的可信度量取值区间范围为</a:t>
            </a:r>
            <a:r>
              <a:rPr lang="en-US" altLang="zh-CN" sz="2800"/>
              <a:t> [1, 10]</a:t>
            </a:r>
            <a:r>
              <a:rPr lang="zh-CN" altLang="en-US" sz="2800"/>
              <a:t>。</a:t>
            </a:r>
            <a:endParaRPr lang="zh-CN" altLang="en-US" sz="2800"/>
          </a:p>
        </p:txBody>
      </p:sp>
    </p:spTree>
    <p:custDataLst>
      <p:tags r:id="rId5"/>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44932" y="479808"/>
            <a:ext cx="4424680" cy="645160"/>
          </a:xfrm>
          <a:prstGeom prst="rect">
            <a:avLst/>
          </a:prstGeom>
          <a:noFill/>
        </p:spPr>
        <p:txBody>
          <a:bodyPr wrap="none" rtlCol="0">
            <a:spAutoFit/>
          </a:bodyPr>
          <a:lstStyle/>
          <a:p>
            <a:r>
              <a:rPr lang="zh-CN" altLang="en-US" sz="3600" b="1" dirty="0" smtClean="0"/>
              <a:t>第八章</a:t>
            </a:r>
            <a:r>
              <a:rPr lang="en-US" altLang="zh-CN" sz="3600" b="1" dirty="0" smtClean="0"/>
              <a:t> </a:t>
            </a:r>
            <a:r>
              <a:rPr lang="zh-CN" altLang="en-US" sz="3600" b="1" dirty="0" smtClean="0"/>
              <a:t>软件韧性分析</a:t>
            </a:r>
            <a:endParaRPr lang="zh-CN" altLang="en-US" sz="3600" b="1" dirty="0" smtClean="0"/>
          </a:p>
        </p:txBody>
      </p:sp>
      <p:grpSp>
        <p:nvGrpSpPr>
          <p:cNvPr id="3" name="组合 2"/>
          <p:cNvGrpSpPr/>
          <p:nvPr>
            <p:custDataLst>
              <p:tags r:id="rId1"/>
            </p:custDataLst>
          </p:nvPr>
        </p:nvGrpSpPr>
        <p:grpSpPr>
          <a:xfrm>
            <a:off x="4497070" y="1554480"/>
            <a:ext cx="2930525" cy="545454"/>
            <a:chOff x="4601" y="2441"/>
            <a:chExt cx="4615" cy="875"/>
          </a:xfrm>
        </p:grpSpPr>
        <p:sp>
          <p:nvSpPr>
            <p:cNvPr id="7171" name="AutoShape 10"/>
            <p:cNvSpPr/>
            <p:nvPr>
              <p:custDataLst>
                <p:tags r:id="rId2"/>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2" name="文本框 1"/>
            <p:cNvSpPr txBox="1"/>
            <p:nvPr>
              <p:custDataLst>
                <p:tags r:id="rId3"/>
              </p:custDataLst>
            </p:nvPr>
          </p:nvSpPr>
          <p:spPr>
            <a:xfrm>
              <a:off x="4601" y="2556"/>
              <a:ext cx="4611" cy="739"/>
            </a:xfrm>
            <a:prstGeom prst="rect">
              <a:avLst/>
            </a:prstGeom>
            <a:noFill/>
          </p:spPr>
          <p:txBody>
            <a:bodyPr wrap="square" rtlCol="0">
              <a:spAutoFit/>
            </a:bodyPr>
            <a:p>
              <a:pPr algn="ctr"/>
              <a:r>
                <a:rPr lang="en-US" sz="2400"/>
                <a:t>8.1 软件</a:t>
              </a:r>
              <a:r>
                <a:rPr lang="zh-CN" altLang="en-US" sz="2400"/>
                <a:t>韧性</a:t>
              </a:r>
              <a:endParaRPr lang="zh-CN" altLang="en-US" sz="2400"/>
            </a:p>
          </p:txBody>
        </p:sp>
      </p:grpSp>
      <p:grpSp>
        <p:nvGrpSpPr>
          <p:cNvPr id="6" name="组合 5"/>
          <p:cNvGrpSpPr/>
          <p:nvPr>
            <p:custDataLst>
              <p:tags r:id="rId4"/>
            </p:custDataLst>
          </p:nvPr>
        </p:nvGrpSpPr>
        <p:grpSpPr>
          <a:xfrm>
            <a:off x="4466590" y="2783205"/>
            <a:ext cx="2948305" cy="552311"/>
            <a:chOff x="4573" y="2441"/>
            <a:chExt cx="4643" cy="886"/>
          </a:xfrm>
        </p:grpSpPr>
        <p:sp>
          <p:nvSpPr>
            <p:cNvPr id="7" name="AutoShape 10"/>
            <p:cNvSpPr/>
            <p:nvPr>
              <p:custDataLst>
                <p:tags r:id="rId5"/>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8" name="文本框 7"/>
            <p:cNvSpPr txBox="1"/>
            <p:nvPr>
              <p:custDataLst>
                <p:tags r:id="rId6"/>
              </p:custDataLst>
            </p:nvPr>
          </p:nvSpPr>
          <p:spPr>
            <a:xfrm>
              <a:off x="4573" y="2588"/>
              <a:ext cx="4594" cy="739"/>
            </a:xfrm>
            <a:prstGeom prst="rect">
              <a:avLst/>
            </a:prstGeom>
            <a:noFill/>
          </p:spPr>
          <p:txBody>
            <a:bodyPr wrap="square" rtlCol="0">
              <a:spAutoFit/>
            </a:bodyPr>
            <a:p>
              <a:pPr algn="ctr"/>
              <a:r>
                <a:rPr lang="en-US" altLang="zh-CN" sz="2400">
                  <a:solidFill>
                    <a:srgbClr val="FF0000"/>
                  </a:solidFill>
                </a:rPr>
                <a:t>8.2 </a:t>
              </a:r>
              <a:r>
                <a:rPr lang="zh-CN" altLang="en-US" sz="2400">
                  <a:solidFill>
                    <a:srgbClr val="FF0000"/>
                  </a:solidFill>
                </a:rPr>
                <a:t>软件组件</a:t>
              </a:r>
              <a:endParaRPr lang="zh-CN" altLang="en-US" sz="2400">
                <a:solidFill>
                  <a:srgbClr val="FF0000"/>
                </a:solidFill>
              </a:endParaRPr>
            </a:p>
          </p:txBody>
        </p:sp>
      </p:grpSp>
      <p:grpSp>
        <p:nvGrpSpPr>
          <p:cNvPr id="9" name="组合 8"/>
          <p:cNvGrpSpPr/>
          <p:nvPr>
            <p:custDataLst>
              <p:tags r:id="rId7"/>
            </p:custDataLst>
          </p:nvPr>
        </p:nvGrpSpPr>
        <p:grpSpPr>
          <a:xfrm>
            <a:off x="4425950" y="4013835"/>
            <a:ext cx="3055620" cy="552311"/>
            <a:chOff x="4472" y="2441"/>
            <a:chExt cx="4812" cy="886"/>
          </a:xfrm>
        </p:grpSpPr>
        <p:sp>
          <p:nvSpPr>
            <p:cNvPr id="10" name="AutoShape 10"/>
            <p:cNvSpPr/>
            <p:nvPr>
              <p:custDataLst>
                <p:tags r:id="rId8"/>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11" name="文本框 10"/>
            <p:cNvSpPr txBox="1"/>
            <p:nvPr>
              <p:custDataLst>
                <p:tags r:id="rId9"/>
              </p:custDataLst>
            </p:nvPr>
          </p:nvSpPr>
          <p:spPr>
            <a:xfrm>
              <a:off x="4472" y="2588"/>
              <a:ext cx="4812" cy="739"/>
            </a:xfrm>
            <a:prstGeom prst="rect">
              <a:avLst/>
            </a:prstGeom>
            <a:noFill/>
          </p:spPr>
          <p:txBody>
            <a:bodyPr wrap="square" rtlCol="0">
              <a:spAutoFit/>
            </a:bodyPr>
            <a:p>
              <a:pPr algn="ctr"/>
              <a:r>
                <a:rPr lang="en-US" altLang="zh-CN" sz="2400"/>
                <a:t>8.3 </a:t>
              </a:r>
              <a:r>
                <a:rPr lang="zh-CN" altLang="en-US" sz="2400"/>
                <a:t>韧性可信度量</a:t>
              </a:r>
              <a:endParaRPr lang="zh-CN" altLang="en-US" sz="2400"/>
            </a:p>
          </p:txBody>
        </p:sp>
      </p:grpSp>
      <p:graphicFrame>
        <p:nvGraphicFramePr>
          <p:cNvPr id="4" name="对象 3"/>
          <p:cNvGraphicFramePr/>
          <p:nvPr>
            <p:custDataLst>
              <p:tags r:id="rId10"/>
            </p:custDataLst>
          </p:nvPr>
        </p:nvGraphicFramePr>
        <p:xfrm>
          <a:off x="7642225" y="6123940"/>
          <a:ext cx="4392930" cy="734060"/>
        </p:xfrm>
        <a:graphic>
          <a:graphicData uri="http://schemas.openxmlformats.org/presentationml/2006/ole">
            <mc:AlternateContent xmlns:mc="http://schemas.openxmlformats.org/markup-compatibility/2006">
              <mc:Choice xmlns:v="urn:schemas-microsoft-com:vml" Requires="v">
                <p:oleObj spid="_x0000_s39" name="" r:id="rId11" imgW="11239500" imgH="2009775" progId="Paint.Picture">
                  <p:embed/>
                </p:oleObj>
              </mc:Choice>
              <mc:Fallback>
                <p:oleObj name="" r:id="rId11" imgW="11239500" imgH="2009775" progId="Paint.Picture">
                  <p:embed/>
                  <p:pic>
                    <p:nvPicPr>
                      <p:cNvPr id="0" name="图片 10"/>
                      <p:cNvPicPr/>
                      <p:nvPr/>
                    </p:nvPicPr>
                    <p:blipFill>
                      <a:blip r:embed="rId12"/>
                      <a:stretch>
                        <a:fillRect/>
                      </a:stretch>
                    </p:blipFill>
                    <p:spPr>
                      <a:xfrm>
                        <a:off x="7642225" y="6123940"/>
                        <a:ext cx="4392930" cy="734060"/>
                      </a:xfrm>
                      <a:prstGeom prst="rect">
                        <a:avLst/>
                      </a:prstGeom>
                    </p:spPr>
                  </p:pic>
                </p:oleObj>
              </mc:Fallback>
            </mc:AlternateContent>
          </a:graphicData>
        </a:graphic>
      </p:graphicFrame>
      <p:grpSp>
        <p:nvGrpSpPr>
          <p:cNvPr id="12" name="组合 11"/>
          <p:cNvGrpSpPr/>
          <p:nvPr>
            <p:custDataLst>
              <p:tags r:id="rId13"/>
            </p:custDataLst>
          </p:nvPr>
        </p:nvGrpSpPr>
        <p:grpSpPr>
          <a:xfrm>
            <a:off x="4425950" y="5085080"/>
            <a:ext cx="3055620" cy="552311"/>
            <a:chOff x="4472" y="2441"/>
            <a:chExt cx="4812" cy="886"/>
          </a:xfrm>
        </p:grpSpPr>
        <p:sp>
          <p:nvSpPr>
            <p:cNvPr id="13" name="AutoShape 10"/>
            <p:cNvSpPr/>
            <p:nvPr>
              <p:custDataLst>
                <p:tags r:id="rId14"/>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14" name="文本框 13"/>
            <p:cNvSpPr txBox="1"/>
            <p:nvPr>
              <p:custDataLst>
                <p:tags r:id="rId15"/>
              </p:custDataLst>
            </p:nvPr>
          </p:nvSpPr>
          <p:spPr>
            <a:xfrm>
              <a:off x="4472" y="2588"/>
              <a:ext cx="4812" cy="739"/>
            </a:xfrm>
            <a:prstGeom prst="rect">
              <a:avLst/>
            </a:prstGeom>
            <a:noFill/>
          </p:spPr>
          <p:txBody>
            <a:bodyPr wrap="square" rtlCol="0">
              <a:spAutoFit/>
            </a:bodyPr>
            <a:p>
              <a:pPr algn="ctr"/>
              <a:r>
                <a:rPr lang="en-US" altLang="zh-CN" sz="2400"/>
                <a:t>8.4 </a:t>
              </a:r>
              <a:r>
                <a:rPr lang="zh-CN" altLang="en-US" sz="2400"/>
                <a:t>例子</a:t>
              </a:r>
              <a:endParaRPr lang="zh-CN" altLang="en-US" sz="240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3969385"/>
          </a:xfrm>
          <a:prstGeom prst="rect">
            <a:avLst/>
          </a:prstGeom>
          <a:noFill/>
        </p:spPr>
        <p:txBody>
          <a:bodyPr wrap="square" rtlCol="0">
            <a:spAutoFit/>
          </a:bodyPr>
          <a:p>
            <a:pPr marL="457200" indent="-457200">
              <a:buFont typeface="Wingdings" panose="05000000000000000000" charset="0"/>
              <a:buChar char="n"/>
            </a:pPr>
            <a:r>
              <a:rPr lang="zh-CN" altLang="en-US" sz="2800"/>
              <a:t>组件可用性主要体现在功能可用性和数据可用性两个方面，不同组件具有不同的关键功能和非关键功能，数据也是类似。</a:t>
            </a:r>
            <a:endParaRPr lang="zh-CN" altLang="en-US" sz="2800"/>
          </a:p>
          <a:p>
            <a:pPr marL="457200" indent="-457200">
              <a:buFont typeface="Wingdings" panose="05000000000000000000" charset="0"/>
              <a:buChar char="n"/>
            </a:pPr>
            <a:endParaRPr lang="zh-CN" altLang="en-US" sz="2800"/>
          </a:p>
          <a:p>
            <a:pPr marL="457200" indent="-457200">
              <a:buFont typeface="Wingdings" panose="05000000000000000000" charset="0"/>
              <a:buChar char="n"/>
            </a:pPr>
            <a:r>
              <a:rPr lang="zh-CN" altLang="en-US" sz="2800"/>
              <a:t>开发人员需要在组件设计和开发</a:t>
            </a:r>
            <a:r>
              <a:rPr lang="en-US" altLang="zh-CN" sz="2800"/>
              <a:t> </a:t>
            </a:r>
            <a:r>
              <a:rPr lang="zh-CN" altLang="en-US" sz="2800"/>
              <a:t>过程中确定该组件哪些功能和数据是关键的，尽可能保证关键功能和关键数据</a:t>
            </a:r>
            <a:r>
              <a:rPr lang="en-US" altLang="zh-CN" sz="2800"/>
              <a:t> </a:t>
            </a:r>
            <a:r>
              <a:rPr lang="zh-CN" altLang="en-US" sz="2800"/>
              <a:t>的可用性以达到高韧性可信度。</a:t>
            </a:r>
            <a:endParaRPr lang="zh-CN" altLang="en-US" sz="2800"/>
          </a:p>
          <a:p>
            <a:endParaRPr lang="zh-CN" altLang="en-US" sz="2800"/>
          </a:p>
          <a:p>
            <a:endParaRPr lang="zh-CN" altLang="en-US" sz="2800"/>
          </a:p>
        </p:txBody>
      </p:sp>
    </p:spTree>
    <p:custDataLst>
      <p:tags r:id="rId3"/>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953135"/>
          </a:xfrm>
          <a:prstGeom prst="rect">
            <a:avLst/>
          </a:prstGeom>
          <a:noFill/>
        </p:spPr>
        <p:txBody>
          <a:bodyPr wrap="square" rtlCol="0">
            <a:spAutoFit/>
          </a:bodyPr>
          <a:p>
            <a:endParaRPr lang="zh-CN" altLang="en-US" sz="2800"/>
          </a:p>
          <a:p>
            <a:endParaRPr lang="zh-CN" altLang="en-US" sz="2800"/>
          </a:p>
        </p:txBody>
      </p:sp>
      <p:graphicFrame>
        <p:nvGraphicFramePr>
          <p:cNvPr id="3" name="表格 2"/>
          <p:cNvGraphicFramePr/>
          <p:nvPr/>
        </p:nvGraphicFramePr>
        <p:xfrm>
          <a:off x="109538" y="870458"/>
          <a:ext cx="11430000" cy="6205220"/>
        </p:xfrm>
        <a:graphic>
          <a:graphicData uri="http://schemas.openxmlformats.org/drawingml/2006/table">
            <a:tbl>
              <a:tblPr/>
              <a:tblGrid>
                <a:gridCol w="1151890"/>
                <a:gridCol w="1560830"/>
                <a:gridCol w="6073775"/>
                <a:gridCol w="2643505"/>
              </a:tblGrid>
              <a:tr h="487680">
                <a:tc>
                  <a:txBody>
                    <a:bodyPr/>
                    <a:p>
                      <a:pPr marL="228600" indent="-13398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018030">
                <a:tc>
                  <a:txBody>
                    <a:bodyPr/>
                    <a:p>
                      <a:pPr marL="76835" indent="0" algn="l" eaLnBrk="0" fontAlgn="base">
                        <a:lnSpc>
                          <a:spcPct val="113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000">
                          <a:solidFill>
                            <a:srgbClr val="000000"/>
                          </a:solidFill>
                          <a:latin typeface="宋体" panose="02010600030101010101" pitchFamily="2" charset="-122"/>
                          <a:ea typeface="宋体" panose="02010600030101010101" pitchFamily="2" charset="-122"/>
                        </a:rPr>
                        <a:t>可生存</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7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8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000">
                          <a:solidFill>
                            <a:srgbClr val="000000"/>
                          </a:solidFill>
                          <a:latin typeface="宋体" panose="02010600030101010101" pitchFamily="2" charset="-122"/>
                          <a:ea typeface="宋体" panose="02010600030101010101" pitchFamily="2" charset="-122"/>
                        </a:rPr>
                        <a:t>可用性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lnSpc>
                          <a:spcPct val="132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组件当前关键功能与非关键功能可</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用状态：</a:t>
                      </a:r>
                      <a:endParaRPr lang="zh-CN" sz="2000">
                        <a:solidFill>
                          <a:srgbClr val="000000"/>
                        </a:solidFill>
                        <a:latin typeface="宋体" panose="02010600030101010101" pitchFamily="2" charset="-122"/>
                        <a:ea typeface="宋体" panose="02010600030101010101" pitchFamily="2" charset="-122"/>
                      </a:endParaRPr>
                    </a:p>
                    <a:p>
                      <a:pPr marL="91440" indent="0" algn="l" eaLnBrk="0" fontAlgn="base">
                        <a:spcBef>
                          <a:spcPts val="100"/>
                        </a:spcBef>
                        <a:spcAft>
                          <a:spcPct val="0"/>
                        </a:spcAft>
                      </a:pP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组件关键功能全部可用</a:t>
                      </a:r>
                      <a:endParaRPr lang="zh-CN" sz="2000">
                        <a:solidFill>
                          <a:srgbClr val="000000"/>
                        </a:solidFill>
                        <a:latin typeface="宋体" panose="02010600030101010101" pitchFamily="2" charset="-122"/>
                        <a:ea typeface="宋体" panose="02010600030101010101" pitchFamily="2" charset="-122"/>
                      </a:endParaRPr>
                    </a:p>
                    <a:p>
                      <a:pPr marL="78740"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2. </a:t>
                      </a:r>
                      <a:r>
                        <a:rPr lang="zh-CN" sz="2000">
                          <a:solidFill>
                            <a:srgbClr val="000000"/>
                          </a:solidFill>
                          <a:latin typeface="宋体" panose="02010600030101010101" pitchFamily="2" charset="-122"/>
                          <a:ea typeface="宋体" panose="02010600030101010101" pitchFamily="2" charset="-122"/>
                        </a:rPr>
                        <a:t>组件关键功能部分可用</a:t>
                      </a:r>
                      <a:endParaRPr lang="zh-CN" sz="2000">
                        <a:solidFill>
                          <a:srgbClr val="000000"/>
                        </a:solidFill>
                        <a:latin typeface="宋体" panose="02010600030101010101" pitchFamily="2" charset="-122"/>
                        <a:ea typeface="宋体" panose="02010600030101010101" pitchFamily="2" charset="-122"/>
                      </a:endParaRPr>
                    </a:p>
                    <a:p>
                      <a:pPr marL="81280"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3. </a:t>
                      </a:r>
                      <a:r>
                        <a:rPr lang="zh-CN" sz="2000">
                          <a:solidFill>
                            <a:srgbClr val="000000"/>
                          </a:solidFill>
                          <a:latin typeface="宋体" panose="02010600030101010101" pitchFamily="2" charset="-122"/>
                          <a:ea typeface="宋体" panose="02010600030101010101" pitchFamily="2" charset="-122"/>
                        </a:rPr>
                        <a:t>组件非关键功能全部可用</a:t>
                      </a:r>
                      <a:endParaRPr lang="zh-CN" sz="2000">
                        <a:solidFill>
                          <a:srgbClr val="000000"/>
                        </a:solidFill>
                        <a:latin typeface="宋体" panose="02010600030101010101" pitchFamily="2" charset="-122"/>
                        <a:ea typeface="宋体" panose="02010600030101010101" pitchFamily="2" charset="-122"/>
                      </a:endParaRPr>
                    </a:p>
                    <a:p>
                      <a:pPr marL="7810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4. </a:t>
                      </a:r>
                      <a:r>
                        <a:rPr lang="zh-CN" sz="2000">
                          <a:solidFill>
                            <a:srgbClr val="000000"/>
                          </a:solidFill>
                          <a:latin typeface="宋体" panose="02010600030101010101" pitchFamily="2" charset="-122"/>
                          <a:ea typeface="宋体" panose="02010600030101010101" pitchFamily="2" charset="-122"/>
                        </a:rPr>
                        <a:t>组件非关键功能部分可用</a:t>
                      </a:r>
                      <a:endParaRPr lang="zh-CN" sz="20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5. </a:t>
                      </a:r>
                      <a:r>
                        <a:rPr lang="zh-CN" sz="2000">
                          <a:solidFill>
                            <a:srgbClr val="000000"/>
                          </a:solidFill>
                          <a:latin typeface="宋体" panose="02010600030101010101" pitchFamily="2" charset="-122"/>
                          <a:ea typeface="宋体" panose="02010600030101010101" pitchFamily="2" charset="-122"/>
                        </a:rPr>
                        <a:t>组件全部功能不可用</a:t>
                      </a:r>
                      <a:endParaRPr lang="zh-CN" sz="2000">
                        <a:solidFill>
                          <a:srgbClr val="000000"/>
                        </a:solidFill>
                        <a:latin typeface="宋体" panose="02010600030101010101" pitchFamily="2" charset="-122"/>
                        <a:ea typeface="宋体" panose="02010600030101010101" pitchFamily="2" charset="-122"/>
                      </a:endParaRPr>
                    </a:p>
                    <a:p>
                      <a:pPr marL="83820" indent="-74930" algn="l" eaLnBrk="0" fontAlgn="base">
                        <a:lnSpc>
                          <a:spcPct val="128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（关键功能与非关键功能取决于组件</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实际需求）</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1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000">
                          <a:solidFill>
                            <a:srgbClr val="000000"/>
                          </a:solidFill>
                          <a:latin typeface="Times New Roman" panose="02020603050405020304"/>
                          <a:ea typeface="Times New Roman" panose="02020603050405020304"/>
                        </a:rPr>
                        <a:t>A: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3</a:t>
                      </a:r>
                      <a:endParaRPr lang="en-US" altLang="zh-CN" sz="2000">
                        <a:solidFill>
                          <a:srgbClr val="000000"/>
                        </a:solidFill>
                        <a:latin typeface="Times New Roman" panose="02020603050405020304"/>
                        <a:ea typeface="Times New Roman" panose="02020603050405020304"/>
                      </a:endParaRPr>
                    </a:p>
                    <a:p>
                      <a:pPr marL="7937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B: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4</a:t>
                      </a:r>
                      <a:endParaRPr lang="en-US" altLang="zh-CN" sz="2000">
                        <a:solidFill>
                          <a:srgbClr val="000000"/>
                        </a:solidFill>
                        <a:latin typeface="Times New Roman" panose="02020603050405020304"/>
                        <a:ea typeface="Times New Roman" panose="02020603050405020304"/>
                      </a:endParaRPr>
                    </a:p>
                    <a:p>
                      <a:pPr marL="83820" indent="-1905" algn="l" eaLnBrk="0" fontAlgn="base">
                        <a:lnSpc>
                          <a:spcPct val="133000"/>
                        </a:lnSpc>
                        <a:spcBef>
                          <a:spcPts val="600"/>
                        </a:spcBef>
                        <a:spcAft>
                          <a:spcPct val="0"/>
                        </a:spcAft>
                      </a:pPr>
                      <a:r>
                        <a:rPr lang="en-US" altLang="zh-CN" sz="2000">
                          <a:solidFill>
                            <a:srgbClr val="000000"/>
                          </a:solidFill>
                          <a:latin typeface="Times New Roman" panose="02020603050405020304"/>
                          <a:ea typeface="Times New Roman" panose="02020603050405020304"/>
                        </a:rPr>
                        <a:t>C: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2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3 </a:t>
                      </a:r>
                      <a:r>
                        <a:rPr lang="zh-CN" sz="2000">
                          <a:solidFill>
                            <a:srgbClr val="000000"/>
                          </a:solidFill>
                          <a:latin typeface="宋体" panose="02010600030101010101" pitchFamily="2" charset="-122"/>
                          <a:ea typeface="宋体" panose="02010600030101010101" pitchFamily="2" charset="-122"/>
                        </a:rPr>
                        <a:t>或组件满</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2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4</a:t>
                      </a:r>
                      <a:endParaRPr lang="en-US" altLang="zh-CN" sz="2000">
                        <a:solidFill>
                          <a:srgbClr val="000000"/>
                        </a:solidFill>
                        <a:latin typeface="Times New Roman" panose="02020603050405020304"/>
                        <a:ea typeface="Times New Roman" panose="02020603050405020304"/>
                      </a:endParaRPr>
                    </a:p>
                    <a:p>
                      <a:pPr marL="79375" indent="0" algn="l" eaLnBrk="0" fontAlgn="base">
                        <a:spcBef>
                          <a:spcPts val="100"/>
                        </a:spcBef>
                        <a:spcAft>
                          <a:spcPct val="0"/>
                        </a:spcAft>
                      </a:pPr>
                      <a:r>
                        <a:rPr lang="en-US" altLang="zh-CN" sz="2000">
                          <a:solidFill>
                            <a:srgbClr val="000000"/>
                          </a:solidFill>
                          <a:latin typeface="Times New Roman" panose="02020603050405020304"/>
                          <a:ea typeface="Times New Roman" panose="02020603050405020304"/>
                        </a:rPr>
                        <a:t>D: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5</a:t>
                      </a:r>
                      <a:endParaRPr lang="en-US" altLang="zh-CN" sz="20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020570">
                <a:tc>
                  <a:txBody>
                    <a:bodyPr/>
                    <a:p>
                      <a:pPr marL="76835" indent="0" algn="l" eaLnBrk="0" fontAlgn="base">
                        <a:lnSpc>
                          <a:spcPct val="11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000">
                          <a:solidFill>
                            <a:srgbClr val="000000"/>
                          </a:solidFill>
                          <a:latin typeface="宋体" panose="02010600030101010101" pitchFamily="2" charset="-122"/>
                          <a:ea typeface="宋体" panose="02010600030101010101" pitchFamily="2" charset="-122"/>
                        </a:rPr>
                        <a:t>可生存</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8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8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8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000">
                          <a:solidFill>
                            <a:srgbClr val="000000"/>
                          </a:solidFill>
                          <a:latin typeface="宋体" panose="02010600030101010101" pitchFamily="2" charset="-122"/>
                          <a:ea typeface="宋体" panose="02010600030101010101" pitchFamily="2" charset="-122"/>
                        </a:rPr>
                        <a:t>可用性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lnSpc>
                          <a:spcPct val="132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组件当前关键数据与非关键数据可</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用状态：</a:t>
                      </a:r>
                      <a:endParaRPr lang="zh-CN" sz="2000">
                        <a:solidFill>
                          <a:srgbClr val="000000"/>
                        </a:solidFill>
                        <a:latin typeface="宋体" panose="02010600030101010101" pitchFamily="2" charset="-122"/>
                        <a:ea typeface="宋体" panose="02010600030101010101" pitchFamily="2" charset="-122"/>
                      </a:endParaRPr>
                    </a:p>
                    <a:p>
                      <a:pPr marL="91440" indent="0" algn="l" eaLnBrk="0" fontAlgn="base">
                        <a:spcBef>
                          <a:spcPts val="100"/>
                        </a:spcBef>
                        <a:spcAft>
                          <a:spcPct val="0"/>
                        </a:spcAft>
                      </a:pP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组件关键数据全部可用</a:t>
                      </a:r>
                      <a:endParaRPr lang="zh-CN" sz="2000">
                        <a:solidFill>
                          <a:srgbClr val="000000"/>
                        </a:solidFill>
                        <a:latin typeface="宋体" panose="02010600030101010101" pitchFamily="2" charset="-122"/>
                        <a:ea typeface="宋体" panose="02010600030101010101" pitchFamily="2" charset="-122"/>
                      </a:endParaRPr>
                    </a:p>
                    <a:p>
                      <a:pPr marL="78740"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2. </a:t>
                      </a:r>
                      <a:r>
                        <a:rPr lang="zh-CN" sz="2000">
                          <a:solidFill>
                            <a:srgbClr val="000000"/>
                          </a:solidFill>
                          <a:latin typeface="宋体" panose="02010600030101010101" pitchFamily="2" charset="-122"/>
                          <a:ea typeface="宋体" panose="02010600030101010101" pitchFamily="2" charset="-122"/>
                        </a:rPr>
                        <a:t>组件关键数据部分可用</a:t>
                      </a:r>
                      <a:endParaRPr lang="zh-CN" sz="2000">
                        <a:solidFill>
                          <a:srgbClr val="000000"/>
                        </a:solidFill>
                        <a:latin typeface="宋体" panose="02010600030101010101" pitchFamily="2" charset="-122"/>
                        <a:ea typeface="宋体" panose="02010600030101010101" pitchFamily="2" charset="-122"/>
                      </a:endParaRPr>
                    </a:p>
                    <a:p>
                      <a:pPr marL="81280"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3. </a:t>
                      </a:r>
                      <a:r>
                        <a:rPr lang="zh-CN" sz="2000">
                          <a:solidFill>
                            <a:srgbClr val="000000"/>
                          </a:solidFill>
                          <a:latin typeface="宋体" panose="02010600030101010101" pitchFamily="2" charset="-122"/>
                          <a:ea typeface="宋体" panose="02010600030101010101" pitchFamily="2" charset="-122"/>
                        </a:rPr>
                        <a:t>组件非关键数据全部可用</a:t>
                      </a:r>
                      <a:endParaRPr lang="zh-CN" sz="2000">
                        <a:solidFill>
                          <a:srgbClr val="000000"/>
                        </a:solidFill>
                        <a:latin typeface="宋体" panose="02010600030101010101" pitchFamily="2" charset="-122"/>
                        <a:ea typeface="宋体" panose="02010600030101010101" pitchFamily="2" charset="-122"/>
                      </a:endParaRPr>
                    </a:p>
                    <a:p>
                      <a:pPr marL="7810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4. </a:t>
                      </a:r>
                      <a:r>
                        <a:rPr lang="zh-CN" sz="2000">
                          <a:solidFill>
                            <a:srgbClr val="000000"/>
                          </a:solidFill>
                          <a:latin typeface="宋体" panose="02010600030101010101" pitchFamily="2" charset="-122"/>
                          <a:ea typeface="宋体" panose="02010600030101010101" pitchFamily="2" charset="-122"/>
                        </a:rPr>
                        <a:t>组件非关键数据部分可用</a:t>
                      </a:r>
                      <a:endParaRPr lang="zh-CN" sz="20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5. </a:t>
                      </a:r>
                      <a:r>
                        <a:rPr lang="zh-CN" sz="2000">
                          <a:solidFill>
                            <a:srgbClr val="000000"/>
                          </a:solidFill>
                          <a:latin typeface="宋体" panose="02010600030101010101" pitchFamily="2" charset="-122"/>
                          <a:ea typeface="宋体" panose="02010600030101010101" pitchFamily="2" charset="-122"/>
                        </a:rPr>
                        <a:t>组件全部数据不可用</a:t>
                      </a:r>
                      <a:endParaRPr lang="zh-CN" sz="2000">
                        <a:solidFill>
                          <a:srgbClr val="000000"/>
                        </a:solidFill>
                        <a:latin typeface="宋体" panose="02010600030101010101" pitchFamily="2" charset="-122"/>
                        <a:ea typeface="宋体" panose="02010600030101010101" pitchFamily="2" charset="-122"/>
                      </a:endParaRPr>
                    </a:p>
                    <a:p>
                      <a:pPr marL="83820" indent="-74930" algn="l" eaLnBrk="0" fontAlgn="base">
                        <a:lnSpc>
                          <a:spcPct val="128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（关键数据与非关键数据取决于组件</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实际需求）</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2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000">
                          <a:solidFill>
                            <a:srgbClr val="000000"/>
                          </a:solidFill>
                          <a:latin typeface="Times New Roman" panose="02020603050405020304"/>
                          <a:ea typeface="Times New Roman" panose="02020603050405020304"/>
                        </a:rPr>
                        <a:t>A: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3</a:t>
                      </a:r>
                      <a:endParaRPr lang="en-US" altLang="zh-CN" sz="2000">
                        <a:solidFill>
                          <a:srgbClr val="000000"/>
                        </a:solidFill>
                        <a:latin typeface="Times New Roman" panose="02020603050405020304"/>
                        <a:ea typeface="Times New Roman" panose="02020603050405020304"/>
                      </a:endParaRPr>
                    </a:p>
                    <a:p>
                      <a:pPr marL="7937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B: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4</a:t>
                      </a:r>
                      <a:endParaRPr lang="en-US" altLang="zh-CN" sz="2000">
                        <a:solidFill>
                          <a:srgbClr val="000000"/>
                        </a:solidFill>
                        <a:latin typeface="Times New Roman" panose="02020603050405020304"/>
                        <a:ea typeface="Times New Roman" panose="02020603050405020304"/>
                      </a:endParaRPr>
                    </a:p>
                    <a:p>
                      <a:pPr marL="83820" indent="-1905" algn="l" eaLnBrk="0" fontAlgn="base">
                        <a:lnSpc>
                          <a:spcPct val="133000"/>
                        </a:lnSpc>
                        <a:spcBef>
                          <a:spcPts val="600"/>
                        </a:spcBef>
                        <a:spcAft>
                          <a:spcPct val="0"/>
                        </a:spcAft>
                      </a:pPr>
                      <a:r>
                        <a:rPr lang="en-US" altLang="zh-CN" sz="2000">
                          <a:solidFill>
                            <a:srgbClr val="000000"/>
                          </a:solidFill>
                          <a:latin typeface="Times New Roman" panose="02020603050405020304"/>
                          <a:ea typeface="Times New Roman" panose="02020603050405020304"/>
                        </a:rPr>
                        <a:t>C: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2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3 </a:t>
                      </a:r>
                      <a:r>
                        <a:rPr lang="zh-CN" sz="2000">
                          <a:solidFill>
                            <a:srgbClr val="000000"/>
                          </a:solidFill>
                          <a:latin typeface="宋体" panose="02010600030101010101" pitchFamily="2" charset="-122"/>
                          <a:ea typeface="宋体" panose="02010600030101010101" pitchFamily="2" charset="-122"/>
                        </a:rPr>
                        <a:t>或组件满</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2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4</a:t>
                      </a:r>
                      <a:endParaRPr lang="en-US" altLang="zh-CN" sz="2000">
                        <a:solidFill>
                          <a:srgbClr val="000000"/>
                        </a:solidFill>
                        <a:latin typeface="Times New Roman" panose="02020603050405020304"/>
                        <a:ea typeface="Times New Roman" panose="02020603050405020304"/>
                      </a:endParaRPr>
                    </a:p>
                    <a:p>
                      <a:pPr marL="79375" indent="0" algn="l" eaLnBrk="0" fontAlgn="base">
                        <a:spcBef>
                          <a:spcPts val="100"/>
                        </a:spcBef>
                        <a:spcAft>
                          <a:spcPct val="0"/>
                        </a:spcAft>
                      </a:pPr>
                      <a:r>
                        <a:rPr lang="en-US" altLang="zh-CN" sz="2000">
                          <a:solidFill>
                            <a:srgbClr val="000000"/>
                          </a:solidFill>
                          <a:latin typeface="Times New Roman" panose="02020603050405020304"/>
                          <a:ea typeface="Times New Roman" panose="02020603050405020304"/>
                        </a:rPr>
                        <a:t>D: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5</a:t>
                      </a:r>
                      <a:endParaRPr lang="en-US" altLang="zh-CN" sz="20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869055" y="327660"/>
            <a:ext cx="3016885" cy="460375"/>
          </a:xfrm>
          <a:prstGeom prst="rect">
            <a:avLst/>
          </a:prstGeom>
          <a:noFill/>
        </p:spPr>
        <p:txBody>
          <a:bodyPr wrap="square" rtlCol="0">
            <a:spAutoFit/>
          </a:bodyPr>
          <a:p>
            <a:pPr algn="ctr"/>
            <a:r>
              <a:rPr lang="zh-CN" altLang="en-US" sz="2400"/>
              <a:t>可用性可信证据</a:t>
            </a:r>
            <a:endParaRPr lang="zh-CN" altLang="en-US" sz="2400"/>
          </a:p>
        </p:txBody>
      </p:sp>
    </p:spTree>
    <p:custDataLst>
      <p:tags r:id="rId3"/>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2676525"/>
          </a:xfrm>
          <a:prstGeom prst="rect">
            <a:avLst/>
          </a:prstGeom>
          <a:noFill/>
        </p:spPr>
        <p:txBody>
          <a:bodyPr wrap="square" rtlCol="0">
            <a:spAutoFit/>
          </a:bodyPr>
          <a:p>
            <a:endParaRPr lang="zh-CN" altLang="en-US" sz="2800"/>
          </a:p>
          <a:p>
            <a:pPr marL="457200" indent="-457200">
              <a:buFont typeface="Wingdings" panose="05000000000000000000" charset="0"/>
              <a:buChar char="u"/>
            </a:pPr>
            <a:r>
              <a:rPr lang="zh-CN" altLang="en-US" sz="2800"/>
              <a:t>组件安全性主要体现在组件能保护好数据不会泄露给未授权用户，</a:t>
            </a:r>
            <a:endParaRPr lang="zh-CN" altLang="en-US" sz="2800"/>
          </a:p>
          <a:p>
            <a:pPr marL="457200" indent="-457200">
              <a:buFont typeface="Wingdings" panose="05000000000000000000" charset="0"/>
              <a:buChar char="u"/>
            </a:pPr>
            <a:endParaRPr lang="zh-CN" altLang="en-US" sz="2800"/>
          </a:p>
          <a:p>
            <a:pPr marL="457200" indent="-457200">
              <a:buFont typeface="Wingdings" panose="05000000000000000000" charset="0"/>
              <a:buChar char="u"/>
            </a:pPr>
            <a:r>
              <a:rPr lang="zh-CN" altLang="en-US" sz="2800"/>
              <a:t>从</a:t>
            </a:r>
            <a:r>
              <a:rPr lang="en-US" altLang="zh-CN" sz="2800"/>
              <a:t> </a:t>
            </a:r>
            <a:r>
              <a:rPr lang="zh-CN" altLang="en-US" sz="2800"/>
              <a:t>灾难发生前和灾难发生后两个方面考虑，以考虑到其安全措施是否周全。</a:t>
            </a:r>
            <a:endParaRPr lang="zh-CN" altLang="en-US" sz="2800"/>
          </a:p>
        </p:txBody>
      </p:sp>
    </p:spTree>
    <p:custDataLst>
      <p:tags r:id="rId3"/>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953135"/>
          </a:xfrm>
          <a:prstGeom prst="rect">
            <a:avLst/>
          </a:prstGeom>
          <a:noFill/>
        </p:spPr>
        <p:txBody>
          <a:bodyPr wrap="square" rtlCol="0">
            <a:spAutoFit/>
          </a:bodyPr>
          <a:p>
            <a:endParaRPr lang="zh-CN" altLang="en-US" sz="2800"/>
          </a:p>
          <a:p>
            <a:endParaRPr lang="zh-CN" altLang="en-US" sz="2800"/>
          </a:p>
        </p:txBody>
      </p:sp>
      <p:graphicFrame>
        <p:nvGraphicFramePr>
          <p:cNvPr id="3" name="表格 2"/>
          <p:cNvGraphicFramePr/>
          <p:nvPr/>
        </p:nvGraphicFramePr>
        <p:xfrm>
          <a:off x="480060" y="1815465"/>
          <a:ext cx="10848340" cy="4812665"/>
        </p:xfrm>
        <a:graphic>
          <a:graphicData uri="http://schemas.openxmlformats.org/drawingml/2006/table">
            <a:tbl>
              <a:tblPr/>
              <a:tblGrid>
                <a:gridCol w="1290320"/>
                <a:gridCol w="1603375"/>
                <a:gridCol w="5456555"/>
                <a:gridCol w="2498090"/>
              </a:tblGrid>
              <a:tr h="534670">
                <a:tc>
                  <a:txBody>
                    <a:bodyPr/>
                    <a:p>
                      <a:pPr marL="228600" indent="-13398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692400">
                <a:tc>
                  <a:txBody>
                    <a:bodyPr/>
                    <a:p>
                      <a:pPr marL="76835" indent="0" algn="l" eaLnBrk="0" fontAlgn="base">
                        <a:lnSpc>
                          <a:spcPct val="103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0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000">
                          <a:solidFill>
                            <a:srgbClr val="000000"/>
                          </a:solidFill>
                          <a:latin typeface="宋体" panose="02010600030101010101" pitchFamily="2" charset="-122"/>
                          <a:ea typeface="宋体" panose="02010600030101010101" pitchFamily="2" charset="-122"/>
                        </a:rPr>
                        <a:t>可生存</a:t>
                      </a:r>
                      <a:r>
                        <a:rPr lang="zh-CN" altLang="en-US" sz="2000">
                          <a:solidFill>
                            <a:srgbClr val="000000"/>
                          </a:solidFill>
                          <a:latin typeface="宋体" panose="02010600030101010101" pitchFamily="2" charset="-122"/>
                          <a:ea typeface="宋体" panose="02010600030101010101" pitchFamily="2" charset="-122"/>
                        </a:rPr>
                        <a:t> </a:t>
                      </a:r>
                      <a:r>
                        <a:rPr lang="zh-CN" sz="2000">
                          <a:solidFill>
                            <a:srgbClr val="000000"/>
                          </a:solidFill>
                          <a:latin typeface="宋体" panose="02010600030101010101" pitchFamily="2" charset="-122"/>
                          <a:ea typeface="宋体" panose="02010600030101010101" pitchFamily="2" charset="-122"/>
                        </a:rPr>
                        <a:t>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000">
                          <a:solidFill>
                            <a:srgbClr val="000000"/>
                          </a:solidFill>
                          <a:latin typeface="宋体" panose="02010600030101010101" pitchFamily="2" charset="-122"/>
                          <a:ea typeface="宋体" panose="02010600030101010101" pitchFamily="2" charset="-122"/>
                        </a:rPr>
                        <a:t>安全性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组件数据与信息保密：</a:t>
                      </a:r>
                      <a:endParaRPr lang="zh-CN" sz="2000">
                        <a:solidFill>
                          <a:srgbClr val="000000"/>
                        </a:solidFill>
                        <a:latin typeface="宋体" panose="02010600030101010101" pitchFamily="2" charset="-122"/>
                        <a:ea typeface="宋体" panose="02010600030101010101" pitchFamily="2" charset="-122"/>
                      </a:endParaRPr>
                    </a:p>
                    <a:p>
                      <a:pPr marL="80645" indent="10795" algn="l" eaLnBrk="0" fontAlgn="base">
                        <a:lnSpc>
                          <a:spcPct val="114000"/>
                        </a:lnSpc>
                        <a:spcBef>
                          <a:spcPts val="600"/>
                        </a:spcBef>
                        <a:spcAft>
                          <a:spcPct val="0"/>
                        </a:spcAft>
                      </a:pP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组件在灾难发生前可保证数据不会被未授权用户访问得到</a:t>
                      </a:r>
                      <a:endParaRPr lang="zh-CN" sz="2000">
                        <a:solidFill>
                          <a:srgbClr val="000000"/>
                        </a:solidFill>
                        <a:latin typeface="宋体" panose="02010600030101010101" pitchFamily="2" charset="-122"/>
                        <a:ea typeface="宋体" panose="02010600030101010101" pitchFamily="2" charset="-122"/>
                      </a:endParaRPr>
                    </a:p>
                    <a:p>
                      <a:pPr marL="80010" indent="-1270" algn="l" eaLnBrk="0" fontAlgn="base">
                        <a:lnSpc>
                          <a:spcPct val="114000"/>
                        </a:lnSpc>
                        <a:spcBef>
                          <a:spcPts val="600"/>
                        </a:spcBef>
                        <a:spcAft>
                          <a:spcPct val="0"/>
                        </a:spcAft>
                      </a:pPr>
                      <a:r>
                        <a:rPr lang="en-US" altLang="zh-CN" sz="2000">
                          <a:solidFill>
                            <a:srgbClr val="000000"/>
                          </a:solidFill>
                          <a:latin typeface="Times New Roman" panose="02020603050405020304"/>
                          <a:ea typeface="Times New Roman" panose="02020603050405020304"/>
                        </a:rPr>
                        <a:t>2. </a:t>
                      </a:r>
                      <a:r>
                        <a:rPr lang="zh-CN" sz="2000">
                          <a:solidFill>
                            <a:srgbClr val="000000"/>
                          </a:solidFill>
                          <a:latin typeface="宋体" panose="02010600030101010101" pitchFamily="2" charset="-122"/>
                          <a:ea typeface="宋体" panose="02010600030101010101" pitchFamily="2" charset="-122"/>
                        </a:rPr>
                        <a:t>组件在灾难发生后可保证数据不会被未授权用户访问得到</a:t>
                      </a:r>
                      <a:endParaRPr lang="zh-CN" sz="2000">
                        <a:solidFill>
                          <a:srgbClr val="000000"/>
                        </a:solidFill>
                        <a:latin typeface="宋体" panose="02010600030101010101" pitchFamily="2" charset="-122"/>
                        <a:ea typeface="宋体" panose="02010600030101010101" pitchFamily="2" charset="-122"/>
                      </a:endParaRPr>
                    </a:p>
                    <a:p>
                      <a:pPr marL="82550" indent="-1270" algn="l" eaLnBrk="0" fontAlgn="base">
                        <a:lnSpc>
                          <a:spcPct val="114000"/>
                        </a:lnSpc>
                        <a:spcBef>
                          <a:spcPts val="600"/>
                        </a:spcBef>
                        <a:spcAft>
                          <a:spcPct val="0"/>
                        </a:spcAft>
                      </a:pPr>
                      <a:r>
                        <a:rPr lang="en-US" altLang="zh-CN" sz="2000">
                          <a:solidFill>
                            <a:srgbClr val="000000"/>
                          </a:solidFill>
                          <a:latin typeface="Times New Roman" panose="02020603050405020304"/>
                          <a:ea typeface="Times New Roman" panose="02020603050405020304"/>
                        </a:rPr>
                        <a:t>3. </a:t>
                      </a:r>
                      <a:r>
                        <a:rPr lang="zh-CN" sz="2000">
                          <a:solidFill>
                            <a:srgbClr val="000000"/>
                          </a:solidFill>
                          <a:latin typeface="宋体" panose="02010600030101010101" pitchFamily="2" charset="-122"/>
                          <a:ea typeface="宋体" panose="02010600030101010101" pitchFamily="2" charset="-122"/>
                        </a:rPr>
                        <a:t>组件在灾难发生前无法保证数据不会被未授权用户访问得到</a:t>
                      </a:r>
                      <a:endParaRPr lang="zh-CN" sz="2000">
                        <a:solidFill>
                          <a:srgbClr val="000000"/>
                        </a:solidFill>
                        <a:latin typeface="宋体" panose="02010600030101010101" pitchFamily="2" charset="-122"/>
                        <a:ea typeface="宋体" panose="02010600030101010101" pitchFamily="2" charset="-122"/>
                      </a:endParaRPr>
                    </a:p>
                    <a:p>
                      <a:pPr marL="83185" indent="-5080" algn="l" eaLnBrk="0" fontAlgn="base">
                        <a:lnSpc>
                          <a:spcPct val="114000"/>
                        </a:lnSpc>
                        <a:spcBef>
                          <a:spcPts val="600"/>
                        </a:spcBef>
                        <a:spcAft>
                          <a:spcPct val="0"/>
                        </a:spcAft>
                      </a:pPr>
                      <a:r>
                        <a:rPr lang="en-US" altLang="zh-CN" sz="2000">
                          <a:solidFill>
                            <a:srgbClr val="000000"/>
                          </a:solidFill>
                          <a:latin typeface="Times New Roman" panose="02020603050405020304"/>
                          <a:ea typeface="Times New Roman" panose="02020603050405020304"/>
                        </a:rPr>
                        <a:t>4. </a:t>
                      </a:r>
                      <a:r>
                        <a:rPr lang="zh-CN" sz="2000">
                          <a:solidFill>
                            <a:srgbClr val="000000"/>
                          </a:solidFill>
                          <a:latin typeface="宋体" panose="02010600030101010101" pitchFamily="2" charset="-122"/>
                          <a:ea typeface="宋体" panose="02010600030101010101" pitchFamily="2" charset="-122"/>
                        </a:rPr>
                        <a:t>组件在灾难发生后无法保证数据不会被未授权用户访问得到</a:t>
                      </a:r>
                      <a:endParaRPr lang="zh-CN" sz="2000">
                        <a:solidFill>
                          <a:srgbClr val="000000"/>
                        </a:solidFill>
                        <a:latin typeface="宋体" panose="02010600030101010101" pitchFamily="2" charset="-122"/>
                        <a:ea typeface="宋体" panose="02010600030101010101" pitchFamily="2" charset="-122"/>
                      </a:endParaRPr>
                    </a:p>
                    <a:p>
                      <a:pPr marL="81280" indent="635" algn="l" eaLnBrk="0" fontAlgn="base">
                        <a:lnSpc>
                          <a:spcPct val="114000"/>
                        </a:lnSpc>
                        <a:spcBef>
                          <a:spcPts val="600"/>
                        </a:spcBef>
                        <a:spcAft>
                          <a:spcPct val="0"/>
                        </a:spcAft>
                      </a:pPr>
                      <a:r>
                        <a:rPr lang="en-US" altLang="zh-CN" sz="2000">
                          <a:solidFill>
                            <a:srgbClr val="000000"/>
                          </a:solidFill>
                          <a:latin typeface="Times New Roman" panose="02020603050405020304"/>
                          <a:ea typeface="Times New Roman" panose="02020603050405020304"/>
                        </a:rPr>
                        <a:t>5. </a:t>
                      </a:r>
                      <a:r>
                        <a:rPr lang="zh-CN" sz="2000">
                          <a:solidFill>
                            <a:srgbClr val="000000"/>
                          </a:solidFill>
                          <a:latin typeface="宋体" panose="02010600030101010101" pitchFamily="2" charset="-122"/>
                          <a:ea typeface="宋体" panose="02010600030101010101" pitchFamily="2" charset="-122"/>
                        </a:rPr>
                        <a:t>组件在灾难发生后数据损坏，所有用户均无法访问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3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000">
                          <a:solidFill>
                            <a:srgbClr val="000000"/>
                          </a:solidFill>
                          <a:latin typeface="Arial" panose="020B0604020202020204"/>
                          <a:ea typeface="Arial" panose="020B0604020202020204"/>
                        </a:rPr>
                        <a:t> </a:t>
                      </a:r>
                      <a:endParaRPr lang="en-US" altLang="zh-CN" sz="20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000">
                          <a:solidFill>
                            <a:srgbClr val="000000"/>
                          </a:solidFill>
                          <a:latin typeface="Times New Roman" panose="02020603050405020304"/>
                          <a:ea typeface="Times New Roman" panose="02020603050405020304"/>
                        </a:rPr>
                        <a:t>A: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2</a:t>
                      </a:r>
                      <a:endParaRPr lang="en-US" altLang="zh-CN" sz="2000">
                        <a:solidFill>
                          <a:srgbClr val="000000"/>
                        </a:solidFill>
                        <a:latin typeface="Times New Roman" panose="02020603050405020304"/>
                        <a:ea typeface="Times New Roman" panose="02020603050405020304"/>
                      </a:endParaRPr>
                    </a:p>
                    <a:p>
                      <a:pPr marL="7937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B: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1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4</a:t>
                      </a:r>
                      <a:endParaRPr lang="en-US" altLang="zh-CN" sz="2000">
                        <a:solidFill>
                          <a:srgbClr val="000000"/>
                        </a:solidFill>
                        <a:latin typeface="Times New Roman" panose="02020603050405020304"/>
                        <a:ea typeface="Times New Roman" panose="02020603050405020304"/>
                      </a:endParaRPr>
                    </a:p>
                    <a:p>
                      <a:pPr marL="8191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C: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3 </a:t>
                      </a:r>
                      <a:r>
                        <a:rPr lang="zh-CN" sz="2000">
                          <a:solidFill>
                            <a:srgbClr val="000000"/>
                          </a:solidFill>
                          <a:latin typeface="宋体" panose="02010600030101010101" pitchFamily="2" charset="-122"/>
                          <a:ea typeface="宋体" panose="02010600030101010101" pitchFamily="2" charset="-122"/>
                        </a:rPr>
                        <a:t>和</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4</a:t>
                      </a:r>
                      <a:endParaRPr lang="en-US" altLang="zh-CN" sz="2000">
                        <a:solidFill>
                          <a:srgbClr val="000000"/>
                        </a:solidFill>
                        <a:latin typeface="Times New Roman" panose="02020603050405020304"/>
                        <a:ea typeface="Times New Roman" panose="02020603050405020304"/>
                      </a:endParaRPr>
                    </a:p>
                    <a:p>
                      <a:pPr marL="79375" indent="0" algn="l" eaLnBrk="0" fontAlgn="base">
                        <a:spcBef>
                          <a:spcPts val="600"/>
                        </a:spcBef>
                        <a:spcAft>
                          <a:spcPct val="0"/>
                        </a:spcAft>
                      </a:pPr>
                      <a:r>
                        <a:rPr lang="en-US" altLang="zh-CN" sz="2000">
                          <a:solidFill>
                            <a:srgbClr val="000000"/>
                          </a:solidFill>
                          <a:latin typeface="Times New Roman" panose="02020603050405020304"/>
                          <a:ea typeface="Times New Roman" panose="02020603050405020304"/>
                        </a:rPr>
                        <a:t>D: </a:t>
                      </a:r>
                      <a:r>
                        <a:rPr lang="zh-CN" sz="2000">
                          <a:solidFill>
                            <a:srgbClr val="000000"/>
                          </a:solidFill>
                          <a:latin typeface="宋体" panose="02010600030101010101" pitchFamily="2" charset="-122"/>
                          <a:ea typeface="宋体" panose="02010600030101010101" pitchFamily="2" charset="-122"/>
                        </a:rPr>
                        <a:t>组件满足</a:t>
                      </a:r>
                      <a:r>
                        <a:rPr lang="zh-CN" altLang="en-US" sz="2000">
                          <a:solidFill>
                            <a:srgbClr val="000000"/>
                          </a:solidFill>
                          <a:latin typeface="宋体" panose="02010600030101010101" pitchFamily="2" charset="-122"/>
                          <a:ea typeface="宋体" panose="02010600030101010101" pitchFamily="2" charset="-122"/>
                        </a:rPr>
                        <a:t> </a:t>
                      </a:r>
                      <a:r>
                        <a:rPr lang="en-US" altLang="zh-CN" sz="2000">
                          <a:solidFill>
                            <a:srgbClr val="000000"/>
                          </a:solidFill>
                          <a:latin typeface="Times New Roman" panose="02020603050405020304"/>
                          <a:ea typeface="Times New Roman" panose="02020603050405020304"/>
                        </a:rPr>
                        <a:t>5</a:t>
                      </a:r>
                      <a:endParaRPr lang="en-US" altLang="zh-CN" sz="20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4232910" y="947420"/>
            <a:ext cx="3313430" cy="460375"/>
          </a:xfrm>
          <a:prstGeom prst="rect">
            <a:avLst/>
          </a:prstGeom>
          <a:noFill/>
        </p:spPr>
        <p:txBody>
          <a:bodyPr wrap="square" rtlCol="0">
            <a:spAutoFit/>
          </a:bodyPr>
          <a:p>
            <a:pPr algn="ctr"/>
            <a:r>
              <a:rPr lang="zh-CN" altLang="en-US" sz="2400"/>
              <a:t>安全性可信证据</a:t>
            </a:r>
            <a:endParaRPr lang="zh-CN" altLang="en-US" sz="2400"/>
          </a:p>
        </p:txBody>
      </p:sp>
    </p:spTree>
    <p:custDataLst>
      <p:tags r:id="rId3"/>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3107690"/>
          </a:xfrm>
          <a:prstGeom prst="rect">
            <a:avLst/>
          </a:prstGeom>
          <a:noFill/>
        </p:spPr>
        <p:txBody>
          <a:bodyPr wrap="square" rtlCol="0">
            <a:spAutoFit/>
          </a:bodyPr>
          <a:p>
            <a:pPr marL="457200" indent="-457200">
              <a:buFont typeface="Wingdings" panose="05000000000000000000" charset="0"/>
              <a:buChar char="u"/>
            </a:pPr>
            <a:r>
              <a:rPr lang="zh-CN" altLang="en-US" sz="2800"/>
              <a:t>组件容错性主要体现在组件有容错设计、容错设计合理、容错性能达标等方</a:t>
            </a:r>
            <a:r>
              <a:rPr lang="en-US" altLang="zh-CN" sz="2800"/>
              <a:t> </a:t>
            </a:r>
            <a:r>
              <a:rPr lang="zh-CN" altLang="en-US" sz="2800"/>
              <a:t>面。</a:t>
            </a:r>
            <a:endParaRPr lang="zh-CN" altLang="en-US" sz="2800"/>
          </a:p>
          <a:p>
            <a:pPr marL="457200" indent="-457200">
              <a:buFont typeface="Wingdings" panose="05000000000000000000" charset="0"/>
              <a:buChar char="u"/>
            </a:pPr>
            <a:endParaRPr lang="zh-CN" altLang="en-US" sz="2800"/>
          </a:p>
          <a:p>
            <a:pPr marL="457200" indent="-457200">
              <a:buFont typeface="Wingdings" panose="05000000000000000000" charset="0"/>
              <a:buChar char="u"/>
            </a:pPr>
            <a:r>
              <a:rPr lang="zh-CN" altLang="en-US" sz="2800"/>
              <a:t>同时，</a:t>
            </a:r>
            <a:r>
              <a:rPr lang="en-US" altLang="zh-CN" sz="2800"/>
              <a:t> </a:t>
            </a:r>
            <a:r>
              <a:rPr lang="zh-CN" altLang="en-US" sz="2800"/>
              <a:t>组件的故障频率（即平均故障间隔）和故障后损失的功能和性能情况</a:t>
            </a:r>
            <a:r>
              <a:rPr lang="en-US" altLang="zh-CN" sz="2800"/>
              <a:t> </a:t>
            </a:r>
            <a:r>
              <a:rPr lang="zh-CN" altLang="en-US" sz="2800"/>
              <a:t>也可以反映组件的容错能力。</a:t>
            </a:r>
            <a:endParaRPr lang="en-US" altLang="zh-CN" sz="2800"/>
          </a:p>
          <a:p>
            <a:endParaRPr lang="zh-CN" altLang="en-US" sz="2800"/>
          </a:p>
          <a:p>
            <a:endParaRPr lang="zh-CN" altLang="en-US" sz="2800"/>
          </a:p>
        </p:txBody>
      </p:sp>
    </p:spTree>
    <p:custDataLst>
      <p:tags r:id="rId3"/>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graphicFrame>
        <p:nvGraphicFramePr>
          <p:cNvPr id="3" name="表格 2"/>
          <p:cNvGraphicFramePr/>
          <p:nvPr>
            <p:custDataLst>
              <p:tags r:id="rId3"/>
            </p:custDataLst>
          </p:nvPr>
        </p:nvGraphicFramePr>
        <p:xfrm>
          <a:off x="255270" y="1029970"/>
          <a:ext cx="11242040" cy="5633085"/>
        </p:xfrm>
        <a:graphic>
          <a:graphicData uri="http://schemas.openxmlformats.org/drawingml/2006/table">
            <a:tbl>
              <a:tblPr/>
              <a:tblGrid>
                <a:gridCol w="1139190"/>
                <a:gridCol w="1443355"/>
                <a:gridCol w="4747895"/>
                <a:gridCol w="3911600"/>
              </a:tblGrid>
              <a:tr h="324485">
                <a:tc>
                  <a:txBody>
                    <a:bodyPr/>
                    <a:p>
                      <a:pPr marL="228600" indent="-13398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758825">
                <a:tc>
                  <a:txBody>
                    <a:bodyPr/>
                    <a:p>
                      <a:pPr marL="76835" indent="0" algn="l" eaLnBrk="0" fontAlgn="base">
                        <a:lnSpc>
                          <a:spcPct val="128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容错性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组件容错及其功能：</a:t>
                      </a:r>
                      <a:endParaRPr lang="zh-CN" sz="2400">
                        <a:solidFill>
                          <a:srgbClr val="000000"/>
                        </a:solidFill>
                        <a:latin typeface="宋体" panose="02010600030101010101" pitchFamily="2" charset="-122"/>
                        <a:ea typeface="宋体" panose="02010600030101010101" pitchFamily="2" charset="-122"/>
                      </a:endParaRPr>
                    </a:p>
                    <a:p>
                      <a:pPr marL="9144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对容错性有合理的测试</a:t>
                      </a:r>
                      <a:endParaRPr lang="en-US" altLang="zh-CN" sz="2400">
                        <a:solidFill>
                          <a:srgbClr val="000000"/>
                        </a:solidFill>
                        <a:latin typeface="Times New Roman" panose="02020603050405020304"/>
                        <a:ea typeface="Times New Roman" panose="02020603050405020304"/>
                      </a:endParaRPr>
                    </a:p>
                    <a:p>
                      <a:pPr marL="82550" indent="-381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组件具有错误透明性，能给出错误根源</a:t>
                      </a:r>
                      <a:endParaRPr lang="en-US" altLang="zh-CN" sz="2400">
                        <a:solidFill>
                          <a:srgbClr val="000000"/>
                        </a:solidFill>
                        <a:latin typeface="Times New Roman" panose="02020603050405020304"/>
                        <a:ea typeface="Times New Roman" panose="02020603050405020304"/>
                      </a:endParaRPr>
                    </a:p>
                    <a:p>
                      <a:pPr marL="81280" indent="0" algn="l" eaLnBrk="0" fontAlgn="base">
                        <a:spcBef>
                          <a:spcPts val="5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组件在容错阶段仍能提供服务</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组件当前满足其中三点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组件当前满足其中两点</a:t>
                      </a:r>
                      <a:endParaRPr lang="zh-CN" sz="24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组件当前满足其中一点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组件不满足任何一点</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1050290">
                <a:tc>
                  <a:txBody>
                    <a:bodyPr/>
                    <a:p>
                      <a:pPr marL="7683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容错性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组件容错性能：</a:t>
                      </a:r>
                      <a:endParaRPr lang="zh-CN" sz="2400">
                        <a:solidFill>
                          <a:srgbClr val="000000"/>
                        </a:solidFill>
                        <a:latin typeface="宋体" panose="02010600030101010101" pitchFamily="2" charset="-122"/>
                        <a:ea typeface="宋体" panose="02010600030101010101" pitchFamily="2" charset="-122"/>
                      </a:endParaRPr>
                    </a:p>
                    <a:p>
                      <a:pPr marL="81280" indent="952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修复前平均时间（</a:t>
                      </a:r>
                      <a:r>
                        <a:rPr lang="en-US" altLang="zh-CN" sz="2400">
                          <a:solidFill>
                            <a:srgbClr val="000000"/>
                          </a:solidFill>
                          <a:latin typeface="Times New Roman" panose="02020603050405020304"/>
                          <a:ea typeface="Times New Roman" panose="02020603050405020304"/>
                        </a:rPr>
                        <a:t>MTTF</a:t>
                      </a:r>
                      <a:r>
                        <a:rPr lang="zh-CN" sz="2400">
                          <a:solidFill>
                            <a:srgbClr val="000000"/>
                          </a:solidFill>
                          <a:latin typeface="宋体" panose="02010600030101010101" pitchFamily="2" charset="-122"/>
                          <a:ea typeface="宋体" panose="02010600030101010101" pitchFamily="2" charset="-122"/>
                        </a:rPr>
                        <a:t>）不高于规定值</a:t>
                      </a:r>
                      <a:endParaRPr lang="en-US" altLang="zh-CN" sz="2400">
                        <a:solidFill>
                          <a:srgbClr val="000000"/>
                        </a:solidFill>
                        <a:latin typeface="Times New Roman" panose="02020603050405020304"/>
                        <a:ea typeface="Times New Roman" panose="02020603050405020304"/>
                      </a:endParaRPr>
                    </a:p>
                    <a:p>
                      <a:pPr marL="83185" indent="-444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渗透阈值（</a:t>
                      </a:r>
                      <a:r>
                        <a:rPr lang="en-US" altLang="zh-CN" sz="2400">
                          <a:solidFill>
                            <a:srgbClr val="000000"/>
                          </a:solidFill>
                          <a:latin typeface="Times New Roman" panose="02020603050405020304"/>
                          <a:ea typeface="Times New Roman" panose="02020603050405020304"/>
                        </a:rPr>
                        <a:t>Percolation threshhold</a:t>
                      </a:r>
                      <a:r>
                        <a:rPr lang="zh-CN" sz="2400">
                          <a:solidFill>
                            <a:srgbClr val="000000"/>
                          </a:solidFill>
                          <a:latin typeface="宋体" panose="02010600030101010101" pitchFamily="2" charset="-122"/>
                          <a:ea typeface="宋体" panose="02010600030101010101" pitchFamily="2" charset="-122"/>
                        </a:rPr>
                        <a:t>）</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不低于规定值</a:t>
                      </a:r>
                      <a:endParaRPr lang="en-US" altLang="zh-CN" sz="2400">
                        <a:solidFill>
                          <a:srgbClr val="000000"/>
                        </a:solidFill>
                        <a:latin typeface="Times New Roman" panose="02020603050405020304"/>
                        <a:ea typeface="Times New Roman" panose="02020603050405020304"/>
                      </a:endParaRPr>
                    </a:p>
                    <a:p>
                      <a:pPr marL="82550" indent="-127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该组件与其他组件有合理的依赖</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关系</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8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组件当前满足其中三点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组件当前满足其中两点</a:t>
                      </a:r>
                      <a:endParaRPr lang="zh-CN" sz="24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组件当前满足其中一点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组件不满足任何一点</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926205" y="487680"/>
            <a:ext cx="2787015" cy="460375"/>
          </a:xfrm>
          <a:prstGeom prst="rect">
            <a:avLst/>
          </a:prstGeom>
          <a:noFill/>
        </p:spPr>
        <p:txBody>
          <a:bodyPr wrap="square" rtlCol="0">
            <a:spAutoFit/>
          </a:bodyPr>
          <a:p>
            <a:pPr algn="ctr"/>
            <a:r>
              <a:rPr lang="zh-CN" altLang="en-US" sz="2400"/>
              <a:t>容错性可信证据</a:t>
            </a:r>
            <a:endParaRPr lang="zh-CN" altLang="en-US" sz="2400"/>
          </a:p>
        </p:txBody>
      </p:sp>
    </p:spTree>
    <p:custDataLst>
      <p:tags r:id="rId4"/>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graphicFrame>
        <p:nvGraphicFramePr>
          <p:cNvPr id="3" name="表格 2"/>
          <p:cNvGraphicFramePr/>
          <p:nvPr>
            <p:custDataLst>
              <p:tags r:id="rId3"/>
            </p:custDataLst>
          </p:nvPr>
        </p:nvGraphicFramePr>
        <p:xfrm>
          <a:off x="313690" y="895985"/>
          <a:ext cx="11435080" cy="6339840"/>
        </p:xfrm>
        <a:graphic>
          <a:graphicData uri="http://schemas.openxmlformats.org/drawingml/2006/table">
            <a:tbl>
              <a:tblPr/>
              <a:tblGrid>
                <a:gridCol w="1122045"/>
                <a:gridCol w="1464945"/>
                <a:gridCol w="2300605"/>
                <a:gridCol w="6547485"/>
              </a:tblGrid>
              <a:tr h="324485">
                <a:tc>
                  <a:txBody>
                    <a:bodyPr/>
                    <a:p>
                      <a:pPr marL="228600" indent="-13398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1195705">
                <a:tc>
                  <a:txBody>
                    <a:bodyPr/>
                    <a:p>
                      <a:pPr marL="7683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4000"/>
                        </a:lnSpc>
                        <a:spcBef>
                          <a:spcPct val="0"/>
                        </a:spcBef>
                        <a:spcAft>
                          <a:spcPct val="0"/>
                        </a:spcAft>
                      </a:pPr>
                      <a:endParaRPr lang="en-US" altLang="zh-CN" sz="24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容错性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064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平均故障间隔时间（</a:t>
                      </a:r>
                      <a:r>
                        <a:rPr lang="en-US" altLang="zh-CN" sz="2400">
                          <a:solidFill>
                            <a:srgbClr val="000000"/>
                          </a:solidFill>
                          <a:latin typeface="Times New Roman" panose="02020603050405020304"/>
                          <a:ea typeface="Times New Roman" panose="02020603050405020304"/>
                        </a:rPr>
                        <a:t>MTBF</a:t>
                      </a:r>
                      <a:r>
                        <a:rPr lang="zh-CN" altLang="en-US" sz="2400">
                          <a:solidFill>
                            <a:srgbClr val="000000"/>
                          </a:solidFill>
                          <a:latin typeface="Times New Roman" panose="02020603050405020304"/>
                          <a:ea typeface="宋体" panose="02010600030101010101" pitchFamily="2" charset="-122"/>
                        </a:rPr>
                        <a:t>，</a:t>
                      </a:r>
                      <a:r>
                        <a:rPr lang="en-US" altLang="zh-CN" sz="2400">
                          <a:solidFill>
                            <a:srgbClr val="000000"/>
                          </a:solidFill>
                          <a:latin typeface="Times New Roman" panose="02020603050405020304"/>
                          <a:ea typeface="Times New Roman" panose="02020603050405020304"/>
                        </a:rPr>
                        <a:t> </a:t>
                      </a:r>
                      <a:r>
                        <a:rPr lang="zh-CN" sz="2400">
                          <a:solidFill>
                            <a:srgbClr val="000000"/>
                          </a:solidFill>
                          <a:latin typeface="宋体" panose="02010600030101010101" pitchFamily="2" charset="-122"/>
                          <a:ea typeface="宋体" panose="02010600030101010101" pitchFamily="2" charset="-122"/>
                        </a:rPr>
                        <a:t>即两次故障之间的间隔时间）</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090" indent="-6985" algn="l" eaLnBrk="0" fontAlgn="base">
                        <a:lnSpc>
                          <a:spcPct val="132000"/>
                        </a:lnSpc>
                        <a:spcBef>
                          <a:spcPts val="6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平均故障间隔时间低于规定时间</a:t>
                      </a:r>
                      <a:endParaRPr lang="zh-CN" sz="2400">
                        <a:solidFill>
                          <a:srgbClr val="000000"/>
                        </a:solidFill>
                        <a:latin typeface="宋体" panose="02010600030101010101" pitchFamily="2" charset="-122"/>
                        <a:ea typeface="宋体" panose="02010600030101010101" pitchFamily="2" charset="-122"/>
                      </a:endParaRPr>
                    </a:p>
                    <a:p>
                      <a:pPr marL="88265" indent="-8890" algn="l" eaLnBrk="0" fontAlgn="base">
                        <a:lnSpc>
                          <a:spcPct val="133000"/>
                        </a:lnSpc>
                        <a:spcBef>
                          <a:spcPts val="1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平均故障间隔时间在规定时间的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100%-150% </a:t>
                      </a:r>
                      <a:r>
                        <a:rPr lang="zh-CN" sz="2400">
                          <a:solidFill>
                            <a:srgbClr val="000000"/>
                          </a:solidFill>
                          <a:latin typeface="宋体" panose="02010600030101010101" pitchFamily="2" charset="-122"/>
                          <a:ea typeface="宋体" panose="02010600030101010101" pitchFamily="2" charset="-122"/>
                        </a:rPr>
                        <a:t>之间</a:t>
                      </a:r>
                      <a:endParaRPr lang="zh-CN" sz="2400">
                        <a:solidFill>
                          <a:srgbClr val="000000"/>
                        </a:solidFill>
                        <a:latin typeface="宋体" panose="02010600030101010101" pitchFamily="2" charset="-122"/>
                        <a:ea typeface="宋体" panose="02010600030101010101" pitchFamily="2" charset="-122"/>
                      </a:endParaRPr>
                    </a:p>
                    <a:p>
                      <a:pPr marL="88265" indent="-6350" algn="l" eaLnBrk="0" fontAlgn="base">
                        <a:lnSpc>
                          <a:spcPct val="133000"/>
                        </a:lnSpc>
                        <a:spcBef>
                          <a:spcPts val="1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平均故障间隔时间在规定时间的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150%-200% </a:t>
                      </a:r>
                      <a:r>
                        <a:rPr lang="zh-CN" sz="2400">
                          <a:solidFill>
                            <a:srgbClr val="000000"/>
                          </a:solidFill>
                          <a:latin typeface="宋体" panose="02010600030101010101" pitchFamily="2" charset="-122"/>
                          <a:ea typeface="宋体" panose="02010600030101010101" pitchFamily="2" charset="-122"/>
                        </a:rPr>
                        <a:t>之间</a:t>
                      </a:r>
                      <a:endParaRPr lang="zh-CN" sz="2400">
                        <a:solidFill>
                          <a:srgbClr val="000000"/>
                        </a:solidFill>
                        <a:latin typeface="宋体" panose="02010600030101010101" pitchFamily="2" charset="-122"/>
                        <a:ea typeface="宋体" panose="02010600030101010101" pitchFamily="2" charset="-122"/>
                      </a:endParaRPr>
                    </a:p>
                    <a:p>
                      <a:pPr marL="85090" indent="-5715" algn="l" eaLnBrk="0" fontAlgn="base">
                        <a:lnSpc>
                          <a:spcPct val="128000"/>
                        </a:lnSpc>
                        <a:spcBef>
                          <a:spcPts val="1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平均故障间隔时间超出规定时间的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200%</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1196975">
                <a:tc>
                  <a:txBody>
                    <a:bodyPr/>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容错性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组件损失表现：组件受到攻击前的表现</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B</a:t>
                      </a:r>
                      <a:r>
                        <a:rPr lang="en-US" altLang="zh-CN" sz="2400" baseline="-25000">
                          <a:solidFill>
                            <a:srgbClr val="000000"/>
                          </a:solidFill>
                          <a:latin typeface="Times New Roman" panose="02020603050405020304"/>
                          <a:ea typeface="Times New Roman" panose="02020603050405020304"/>
                        </a:rPr>
                        <a:t>origin</a:t>
                      </a:r>
                      <a:r>
                        <a:rPr lang="en-US" altLang="zh-CN" sz="2400">
                          <a:solidFill>
                            <a:srgbClr val="000000"/>
                          </a:solidFill>
                          <a:latin typeface="Times New Roman" panose="02020603050405020304"/>
                          <a:ea typeface="Times New Roman" panose="02020603050405020304"/>
                        </a:rPr>
                        <a:t>  </a:t>
                      </a:r>
                      <a:r>
                        <a:rPr lang="zh-CN" sz="2400">
                          <a:solidFill>
                            <a:srgbClr val="000000"/>
                          </a:solidFill>
                          <a:latin typeface="宋体" panose="02010600030101010101" pitchFamily="2" charset="-122"/>
                          <a:ea typeface="宋体" panose="02010600030101010101" pitchFamily="2" charset="-122"/>
                        </a:rPr>
                        <a:t>与受到攻击后降低到的最低表现</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B</a:t>
                      </a:r>
                      <a:r>
                        <a:rPr lang="en-US" altLang="zh-CN" sz="2400" baseline="-25000">
                          <a:solidFill>
                            <a:srgbClr val="000000"/>
                          </a:solidFill>
                          <a:latin typeface="Times New Roman" panose="02020603050405020304"/>
                          <a:ea typeface="Times New Roman" panose="02020603050405020304"/>
                        </a:rPr>
                        <a:t>disrupt</a:t>
                      </a:r>
                      <a:r>
                        <a:rPr lang="en-US" altLang="zh-CN" sz="2400">
                          <a:solidFill>
                            <a:srgbClr val="000000"/>
                          </a:solidFill>
                          <a:latin typeface="Times New Roman" panose="02020603050405020304"/>
                          <a:ea typeface="Times New Roman" panose="02020603050405020304"/>
                        </a:rPr>
                        <a:t>  </a:t>
                      </a:r>
                      <a:r>
                        <a:rPr lang="zh-CN" sz="2400">
                          <a:solidFill>
                            <a:srgbClr val="000000"/>
                          </a:solidFill>
                          <a:latin typeface="宋体" panose="02010600030101010101" pitchFamily="2" charset="-122"/>
                          <a:ea typeface="宋体" panose="02010600030101010101" pitchFamily="2" charset="-122"/>
                        </a:rPr>
                        <a:t>之差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4445" algn="l" eaLnBrk="0" fontAlgn="base">
                        <a:lnSpc>
                          <a:spcPct val="132000"/>
                        </a:lnSpc>
                        <a:spcBef>
                          <a:spcPts val="6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组件损失表现不超过受到攻击前表现的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10%</a:t>
                      </a:r>
                      <a:endParaRPr lang="en-US" altLang="zh-CN" sz="2400">
                        <a:solidFill>
                          <a:srgbClr val="000000"/>
                        </a:solidFill>
                        <a:latin typeface="Times New Roman" panose="02020603050405020304"/>
                        <a:ea typeface="Times New Roman" panose="02020603050405020304"/>
                      </a:endParaRPr>
                    </a:p>
                    <a:p>
                      <a:pPr marL="83820" indent="-4445" algn="l" eaLnBrk="0" fontAlgn="base">
                        <a:lnSpc>
                          <a:spcPct val="132000"/>
                        </a:lnSpc>
                        <a:spcBef>
                          <a:spcPts val="1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组件损失表现占受到攻击前表现的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10%-40%</a:t>
                      </a:r>
                      <a:endParaRPr lang="en-US" altLang="zh-CN" sz="2400">
                        <a:solidFill>
                          <a:srgbClr val="000000"/>
                        </a:solidFill>
                        <a:latin typeface="Times New Roman" panose="02020603050405020304"/>
                        <a:ea typeface="Times New Roman" panose="02020603050405020304"/>
                      </a:endParaRPr>
                    </a:p>
                    <a:p>
                      <a:pPr marL="83820" indent="-1905" algn="l" eaLnBrk="0" fontAlgn="base">
                        <a:lnSpc>
                          <a:spcPct val="132000"/>
                        </a:lnSpc>
                        <a:spcBef>
                          <a:spcPts val="1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组件损失表现占受到攻击前表现的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40%-70%</a:t>
                      </a:r>
                      <a:endParaRPr lang="en-US" altLang="zh-CN" sz="2400">
                        <a:solidFill>
                          <a:srgbClr val="000000"/>
                        </a:solidFill>
                        <a:latin typeface="Times New Roman" panose="02020603050405020304"/>
                        <a:ea typeface="Times New Roman" panose="02020603050405020304"/>
                      </a:endParaRPr>
                    </a:p>
                    <a:p>
                      <a:pPr marL="81280" indent="-1905" algn="l" eaLnBrk="0" fontAlgn="base">
                        <a:lnSpc>
                          <a:spcPct val="129000"/>
                        </a:lnSpc>
                        <a:spcBef>
                          <a:spcPts val="1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组件损失表现超过受到攻击前表现的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70%</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926205" y="487680"/>
            <a:ext cx="3323590" cy="460375"/>
          </a:xfrm>
          <a:prstGeom prst="rect">
            <a:avLst/>
          </a:prstGeom>
          <a:noFill/>
        </p:spPr>
        <p:txBody>
          <a:bodyPr wrap="square" rtlCol="0">
            <a:spAutoFit/>
          </a:bodyPr>
          <a:p>
            <a:pPr algn="ctr"/>
            <a:r>
              <a:rPr lang="zh-CN" altLang="en-US" sz="2400"/>
              <a:t>容错性可信证据（续）</a:t>
            </a:r>
            <a:endParaRPr lang="zh-CN" altLang="en-US" sz="2400"/>
          </a:p>
        </p:txBody>
      </p:sp>
    </p:spTree>
    <p:custDataLst>
      <p:tags r:id="rId4"/>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3969385"/>
          </a:xfrm>
          <a:prstGeom prst="rect">
            <a:avLst/>
          </a:prstGeom>
          <a:noFill/>
        </p:spPr>
        <p:txBody>
          <a:bodyPr wrap="square" rtlCol="0">
            <a:spAutoFit/>
          </a:bodyPr>
          <a:p>
            <a:endParaRPr lang="en-US" altLang="zh-CN" sz="2800"/>
          </a:p>
          <a:p>
            <a:endParaRPr lang="zh-CN" altLang="en-US" sz="2800"/>
          </a:p>
          <a:p>
            <a:pPr marL="457200" indent="-457200">
              <a:buFont typeface="Wingdings" panose="05000000000000000000" charset="0"/>
              <a:buChar char="u"/>
            </a:pPr>
            <a:r>
              <a:rPr lang="zh-CN" altLang="en-US" sz="2800"/>
              <a:t>组件恢复性能主要体现在其故障时对性能和功能的恢复，</a:t>
            </a:r>
            <a:endParaRPr lang="zh-CN" altLang="en-US" sz="2800"/>
          </a:p>
          <a:p>
            <a:pPr marL="457200" indent="-457200">
              <a:buFont typeface="Wingdings" panose="05000000000000000000" charset="0"/>
              <a:buChar char="u"/>
            </a:pPr>
            <a:r>
              <a:rPr lang="zh-CN" altLang="en-US" sz="2800"/>
              <a:t>该恢复过程又可</a:t>
            </a:r>
            <a:r>
              <a:rPr lang="en-US" altLang="zh-CN" sz="2800"/>
              <a:t> </a:t>
            </a:r>
            <a:r>
              <a:rPr lang="zh-CN" altLang="en-US" sz="2800"/>
              <a:t>从两方面考虑，是否及时恢复和能恢复多少。</a:t>
            </a:r>
            <a:endParaRPr lang="zh-CN" altLang="en-US" sz="2800"/>
          </a:p>
          <a:p>
            <a:pPr marL="457200" indent="-457200">
              <a:buFont typeface="Wingdings" panose="05000000000000000000" charset="0"/>
              <a:buChar char="u"/>
            </a:pPr>
            <a:r>
              <a:rPr lang="zh-CN" altLang="en-US" sz="2800"/>
              <a:t>另一方面，组件的韧性可信度和可</a:t>
            </a:r>
            <a:r>
              <a:rPr lang="en-US" altLang="zh-CN" sz="2800"/>
              <a:t> </a:t>
            </a:r>
            <a:r>
              <a:rPr lang="zh-CN" altLang="en-US" sz="2800"/>
              <a:t>信等级在故障时也可能发生变化，因此也需将其在韧性可信等级的恢复性能也</a:t>
            </a:r>
            <a:r>
              <a:rPr lang="en-US" altLang="zh-CN" sz="2800"/>
              <a:t> </a:t>
            </a:r>
            <a:r>
              <a:rPr lang="zh-CN" altLang="en-US" sz="2800"/>
              <a:t>纳入考量。</a:t>
            </a:r>
            <a:endParaRPr lang="zh-CN" altLang="en-US" sz="2800"/>
          </a:p>
        </p:txBody>
      </p:sp>
    </p:spTree>
    <p:custDataLst>
      <p:tags r:id="rId3"/>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graphicFrame>
        <p:nvGraphicFramePr>
          <p:cNvPr id="3" name="表格 2"/>
          <p:cNvGraphicFramePr/>
          <p:nvPr/>
        </p:nvGraphicFramePr>
        <p:xfrm>
          <a:off x="12700" y="1483233"/>
          <a:ext cx="12128500" cy="4664075"/>
        </p:xfrm>
        <a:graphic>
          <a:graphicData uri="http://schemas.openxmlformats.org/drawingml/2006/table">
            <a:tbl>
              <a:tblPr/>
              <a:tblGrid>
                <a:gridCol w="1120775"/>
                <a:gridCol w="1475105"/>
                <a:gridCol w="6779260"/>
                <a:gridCol w="2753360"/>
              </a:tblGrid>
              <a:tr h="406400">
                <a:tc>
                  <a:txBody>
                    <a:bodyPr/>
                    <a:p>
                      <a:pPr marL="228600" indent="-13398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590800">
                <a:tc>
                  <a:txBody>
                    <a:bodyPr/>
                    <a:p>
                      <a:pPr marL="7683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可恢复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9235" indent="-13716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恢复性能</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889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组件在规定时间内恢复了损失表现的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90% </a:t>
                      </a:r>
                      <a:r>
                        <a:rPr lang="zh-CN" sz="2400">
                          <a:solidFill>
                            <a:srgbClr val="000000"/>
                          </a:solidFill>
                          <a:latin typeface="宋体" panose="02010600030101010101" pitchFamily="2" charset="-122"/>
                          <a:ea typeface="宋体" panose="02010600030101010101" pitchFamily="2" charset="-122"/>
                        </a:rPr>
                        <a:t>以上</a:t>
                      </a:r>
                      <a:endParaRPr lang="zh-CN" sz="2400">
                        <a:solidFill>
                          <a:srgbClr val="000000"/>
                        </a:solidFill>
                        <a:latin typeface="宋体" panose="02010600030101010101" pitchFamily="2" charset="-122"/>
                        <a:ea typeface="宋体" panose="02010600030101010101" pitchFamily="2" charset="-122"/>
                      </a:endParaRPr>
                    </a:p>
                    <a:p>
                      <a:pPr marL="81915" indent="-317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组件在规定时间内恢复了损失表现的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60%-90%</a:t>
                      </a:r>
                      <a:endParaRPr lang="en-US" altLang="zh-CN" sz="2400">
                        <a:solidFill>
                          <a:srgbClr val="000000"/>
                        </a:solidFill>
                        <a:latin typeface="Times New Roman" panose="02020603050405020304"/>
                        <a:ea typeface="Times New Roman" panose="02020603050405020304"/>
                      </a:endParaRPr>
                    </a:p>
                    <a:p>
                      <a:pPr marL="84455" indent="-317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组件在不超过两倍规定时间内恢复了损失表现的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90% </a:t>
                      </a:r>
                      <a:r>
                        <a:rPr lang="zh-CN" sz="2400">
                          <a:solidFill>
                            <a:srgbClr val="000000"/>
                          </a:solidFill>
                          <a:latin typeface="宋体" panose="02010600030101010101" pitchFamily="2" charset="-122"/>
                          <a:ea typeface="宋体" panose="02010600030101010101" pitchFamily="2" charset="-122"/>
                        </a:rPr>
                        <a:t>以上</a:t>
                      </a:r>
                      <a:endParaRPr lang="zh-CN" sz="2400">
                        <a:solidFill>
                          <a:srgbClr val="000000"/>
                        </a:solidFill>
                        <a:latin typeface="宋体" panose="02010600030101010101" pitchFamily="2" charset="-122"/>
                        <a:ea typeface="宋体" panose="02010600030101010101" pitchFamily="2" charset="-122"/>
                      </a:endParaRPr>
                    </a:p>
                    <a:p>
                      <a:pPr marL="81915" indent="-381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4. </a:t>
                      </a:r>
                      <a:r>
                        <a:rPr lang="zh-CN" sz="2400">
                          <a:solidFill>
                            <a:srgbClr val="000000"/>
                          </a:solidFill>
                          <a:latin typeface="宋体" panose="02010600030101010101" pitchFamily="2" charset="-122"/>
                          <a:ea typeface="宋体" panose="02010600030101010101" pitchFamily="2" charset="-122"/>
                        </a:rPr>
                        <a:t>组件在规定时间内恢复了损失表现的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30%-60%</a:t>
                      </a:r>
                      <a:endParaRPr lang="en-US" altLang="zh-CN" sz="2400">
                        <a:solidFill>
                          <a:srgbClr val="000000"/>
                        </a:solidFill>
                        <a:latin typeface="Times New Roman" panose="02020603050405020304"/>
                        <a:ea typeface="Times New Roman" panose="02020603050405020304"/>
                      </a:endParaRPr>
                    </a:p>
                    <a:p>
                      <a:pPr marL="83820" indent="-190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5. </a:t>
                      </a:r>
                      <a:r>
                        <a:rPr lang="zh-CN" sz="2400">
                          <a:solidFill>
                            <a:srgbClr val="000000"/>
                          </a:solidFill>
                          <a:latin typeface="宋体" panose="02010600030101010101" pitchFamily="2" charset="-122"/>
                          <a:ea typeface="宋体" panose="02010600030101010101" pitchFamily="2" charset="-122"/>
                        </a:rPr>
                        <a:t>组件在不超过两倍规定时间内恢复了损失表现的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60%-90%</a:t>
                      </a:r>
                      <a:endParaRPr lang="en-US" altLang="zh-CN" sz="2400">
                        <a:solidFill>
                          <a:srgbClr val="000000"/>
                        </a:solidFill>
                        <a:latin typeface="Times New Roman" panose="02020603050405020304"/>
                        <a:ea typeface="Times New Roman" panose="02020603050405020304"/>
                      </a:endParaRPr>
                    </a:p>
                    <a:p>
                      <a:pPr marL="81280" indent="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6. </a:t>
                      </a:r>
                      <a:r>
                        <a:rPr lang="zh-CN" sz="2400">
                          <a:solidFill>
                            <a:srgbClr val="000000"/>
                          </a:solidFill>
                          <a:latin typeface="宋体" panose="02010600030101010101" pitchFamily="2" charset="-122"/>
                          <a:ea typeface="宋体" panose="02010600030101010101" pitchFamily="2" charset="-122"/>
                        </a:rPr>
                        <a:t>组件在规定时间内恢复了损失表现的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30% </a:t>
                      </a:r>
                      <a:r>
                        <a:rPr lang="zh-CN" sz="2400">
                          <a:solidFill>
                            <a:srgbClr val="000000"/>
                          </a:solidFill>
                          <a:latin typeface="宋体" panose="02010600030101010101" pitchFamily="2" charset="-122"/>
                          <a:ea typeface="宋体" panose="02010600030101010101" pitchFamily="2" charset="-122"/>
                        </a:rPr>
                        <a:t>以下</a:t>
                      </a:r>
                      <a:endParaRPr lang="zh-CN" sz="2400">
                        <a:solidFill>
                          <a:srgbClr val="000000"/>
                        </a:solidFill>
                        <a:latin typeface="宋体" panose="02010600030101010101" pitchFamily="2" charset="-122"/>
                        <a:ea typeface="宋体" panose="02010600030101010101" pitchFamily="2" charset="-122"/>
                      </a:endParaRPr>
                    </a:p>
                    <a:p>
                      <a:pPr marL="78740" indent="4445" algn="l"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具体规定时间可参考</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GB/T 20988-2007 </a:t>
                      </a:r>
                      <a:r>
                        <a:rPr lang="zh-CN" sz="2400">
                          <a:solidFill>
                            <a:srgbClr val="000000"/>
                          </a:solidFill>
                          <a:latin typeface="宋体" panose="02010600030101010101" pitchFamily="2" charset="-122"/>
                          <a:ea typeface="宋体" panose="02010600030101010101" pitchFamily="2" charset="-122"/>
                        </a:rPr>
                        <a:t>进行制定</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满足证据</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a:t>
                      </a:r>
                      <a:endParaRPr lang="en-US" altLang="zh-CN" sz="2400">
                        <a:solidFill>
                          <a:srgbClr val="000000"/>
                        </a:solidFill>
                        <a:latin typeface="Times New Roman" panose="02020603050405020304"/>
                        <a:ea typeface="Times New Roman" panose="02020603050405020304"/>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满足证据</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或</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a:t>
                      </a:r>
                      <a:endParaRPr lang="en-US" altLang="zh-CN" sz="2400">
                        <a:solidFill>
                          <a:srgbClr val="000000"/>
                        </a:solidFill>
                        <a:latin typeface="Times New Roman" panose="02020603050405020304"/>
                        <a:ea typeface="Times New Roman" panose="02020603050405020304"/>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满足证据</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4 </a:t>
                      </a:r>
                      <a:r>
                        <a:rPr lang="zh-CN" sz="2400">
                          <a:solidFill>
                            <a:srgbClr val="000000"/>
                          </a:solidFill>
                          <a:latin typeface="宋体" panose="02010600030101010101" pitchFamily="2" charset="-122"/>
                          <a:ea typeface="宋体" panose="02010600030101010101" pitchFamily="2" charset="-122"/>
                        </a:rPr>
                        <a:t>或</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5</a:t>
                      </a:r>
                      <a:endParaRPr lang="en-US" altLang="zh-CN" sz="2400">
                        <a:solidFill>
                          <a:srgbClr val="000000"/>
                        </a:solidFill>
                        <a:latin typeface="Times New Roman" panose="02020603050405020304"/>
                        <a:ea typeface="Times New Roman" panose="02020603050405020304"/>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满足证据</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4" name="文本框 3"/>
          <p:cNvSpPr txBox="1"/>
          <p:nvPr/>
        </p:nvSpPr>
        <p:spPr>
          <a:xfrm>
            <a:off x="4312285" y="832485"/>
            <a:ext cx="2940685" cy="460375"/>
          </a:xfrm>
          <a:prstGeom prst="rect">
            <a:avLst/>
          </a:prstGeom>
          <a:noFill/>
        </p:spPr>
        <p:txBody>
          <a:bodyPr wrap="square" rtlCol="0">
            <a:spAutoFit/>
          </a:bodyPr>
          <a:p>
            <a:pPr algn="ctr"/>
            <a:r>
              <a:rPr lang="zh-CN" altLang="en-US" sz="2400"/>
              <a:t>恢复性能可信证据</a:t>
            </a:r>
            <a:endParaRPr lang="zh-CN" altLang="en-US" sz="2400"/>
          </a:p>
        </p:txBody>
      </p:sp>
    </p:spTree>
    <p:custDataLst>
      <p:tags r:id="rId3"/>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graphicFrame>
        <p:nvGraphicFramePr>
          <p:cNvPr id="3" name="表格 2"/>
          <p:cNvGraphicFramePr/>
          <p:nvPr/>
        </p:nvGraphicFramePr>
        <p:xfrm>
          <a:off x="12700" y="1483233"/>
          <a:ext cx="11551920" cy="3808095"/>
        </p:xfrm>
        <a:graphic>
          <a:graphicData uri="http://schemas.openxmlformats.org/drawingml/2006/table">
            <a:tbl>
              <a:tblPr/>
              <a:tblGrid>
                <a:gridCol w="1120775"/>
                <a:gridCol w="1475105"/>
                <a:gridCol w="2599055"/>
                <a:gridCol w="6356985"/>
              </a:tblGrid>
              <a:tr h="406400">
                <a:tc>
                  <a:txBody>
                    <a:bodyPr/>
                    <a:p>
                      <a:pPr marL="228600" indent="-13398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590800">
                <a:tc>
                  <a:txBody>
                    <a:bodyPr/>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可恢复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9235" indent="-13716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恢复性能</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3000"/>
                        </a:lnSpc>
                        <a:spcBef>
                          <a:spcPct val="0"/>
                        </a:spcBef>
                        <a:spcAft>
                          <a:spcPct val="0"/>
                        </a:spcAft>
                      </a:pPr>
                      <a:r>
                        <a:rPr lang="zh-CN" sz="2400">
                          <a:solidFill>
                            <a:srgbClr val="000000"/>
                          </a:solidFill>
                          <a:latin typeface="宋体" panose="02010600030101010101" pitchFamily="2" charset="-122"/>
                          <a:ea typeface="宋体" panose="02010600030101010101" pitchFamily="2" charset="-122"/>
                        </a:rPr>
                        <a:t>组件在系统降级后仍可恢复到降级前的状态</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280" indent="-3175" algn="l" eaLnBrk="0" fontAlgn="base">
                        <a:lnSpc>
                          <a:spcPct val="132000"/>
                        </a:lnSpc>
                        <a:spcBef>
                          <a:spcPts val="6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系统降级到最低等级时组件仍能恢复到降级前状态</a:t>
                      </a:r>
                      <a:endParaRPr lang="zh-CN" sz="2400">
                        <a:solidFill>
                          <a:srgbClr val="000000"/>
                        </a:solidFill>
                        <a:latin typeface="宋体" panose="02010600030101010101" pitchFamily="2" charset="-122"/>
                        <a:ea typeface="宋体" panose="02010600030101010101" pitchFamily="2" charset="-122"/>
                      </a:endParaRPr>
                    </a:p>
                    <a:p>
                      <a:pPr marL="83820" indent="-4445" algn="l" eaLnBrk="0" fontAlgn="base">
                        <a:lnSpc>
                          <a:spcPct val="132000"/>
                        </a:lnSpc>
                        <a:spcBef>
                          <a:spcPts val="1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系统降级到不低于</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II </a:t>
                      </a:r>
                      <a:r>
                        <a:rPr lang="zh-CN" sz="2400">
                          <a:solidFill>
                            <a:srgbClr val="000000"/>
                          </a:solidFill>
                          <a:latin typeface="宋体" panose="02010600030101010101" pitchFamily="2" charset="-122"/>
                          <a:ea typeface="宋体" panose="02010600030101010101" pitchFamily="2" charset="-122"/>
                        </a:rPr>
                        <a:t>级时组件仍能恢复到降级前状态</a:t>
                      </a:r>
                      <a:endParaRPr lang="zh-CN" sz="2400">
                        <a:solidFill>
                          <a:srgbClr val="000000"/>
                        </a:solidFill>
                        <a:latin typeface="宋体" panose="02010600030101010101" pitchFamily="2" charset="-122"/>
                        <a:ea typeface="宋体" panose="02010600030101010101" pitchFamily="2" charset="-122"/>
                      </a:endParaRPr>
                    </a:p>
                    <a:p>
                      <a:pPr marL="83820" indent="-1905" algn="l" eaLnBrk="0" fontAlgn="base">
                        <a:lnSpc>
                          <a:spcPct val="132000"/>
                        </a:lnSpc>
                        <a:spcBef>
                          <a:spcPts val="1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系统降级到不低于</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IV </a:t>
                      </a:r>
                      <a:r>
                        <a:rPr lang="zh-CN" sz="2400">
                          <a:solidFill>
                            <a:srgbClr val="000000"/>
                          </a:solidFill>
                          <a:latin typeface="宋体" panose="02010600030101010101" pitchFamily="2" charset="-122"/>
                          <a:ea typeface="宋体" panose="02010600030101010101" pitchFamily="2" charset="-122"/>
                        </a:rPr>
                        <a:t>级时组件仍能恢复到降级前状态</a:t>
                      </a:r>
                      <a:endParaRPr lang="zh-CN" sz="2400">
                        <a:solidFill>
                          <a:srgbClr val="000000"/>
                        </a:solidFill>
                        <a:latin typeface="宋体" panose="02010600030101010101" pitchFamily="2" charset="-122"/>
                        <a:ea typeface="宋体" panose="02010600030101010101" pitchFamily="2" charset="-122"/>
                      </a:endParaRPr>
                    </a:p>
                    <a:p>
                      <a:pPr marL="85725" indent="-6350" algn="l" eaLnBrk="0" fontAlgn="base">
                        <a:lnSpc>
                          <a:spcPct val="128000"/>
                        </a:lnSpc>
                        <a:spcBef>
                          <a:spcPts val="1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系统降级后组件无法恢复到降级前状态</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4" name="文本框 3"/>
          <p:cNvSpPr txBox="1"/>
          <p:nvPr/>
        </p:nvSpPr>
        <p:spPr>
          <a:xfrm>
            <a:off x="4092575" y="832485"/>
            <a:ext cx="3582035" cy="460375"/>
          </a:xfrm>
          <a:prstGeom prst="rect">
            <a:avLst/>
          </a:prstGeom>
          <a:noFill/>
        </p:spPr>
        <p:txBody>
          <a:bodyPr wrap="square" rtlCol="0">
            <a:spAutoFit/>
          </a:bodyPr>
          <a:p>
            <a:pPr algn="ctr"/>
            <a:r>
              <a:rPr lang="zh-CN" altLang="en-US" sz="2400"/>
              <a:t>恢复性能可信证据（续）</a:t>
            </a:r>
            <a:endParaRPr lang="zh-CN" altLang="en-US" sz="2400"/>
          </a:p>
        </p:txBody>
      </p:sp>
    </p:spTree>
    <p:custDataLst>
      <p:tags r:id="rId3"/>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3538220"/>
          </a:xfrm>
          <a:prstGeom prst="rect">
            <a:avLst/>
          </a:prstGeom>
          <a:noFill/>
        </p:spPr>
        <p:txBody>
          <a:bodyPr wrap="square" rtlCol="0">
            <a:spAutoFit/>
          </a:bodyPr>
          <a:p>
            <a:pPr marL="457200" indent="-457200">
              <a:buFont typeface="Wingdings" panose="05000000000000000000" charset="0"/>
              <a:buChar char="u"/>
            </a:pPr>
            <a:r>
              <a:rPr lang="zh-CN" altLang="en-US" sz="2800"/>
              <a:t>组件恢复成本主要体现在恢复的经济和时间成本，</a:t>
            </a:r>
            <a:endParaRPr lang="zh-CN" altLang="en-US" sz="2800"/>
          </a:p>
          <a:p>
            <a:pPr marL="457200" indent="-457200">
              <a:buFont typeface="Wingdings" panose="05000000000000000000" charset="0"/>
              <a:buChar char="u"/>
            </a:pPr>
            <a:endParaRPr lang="zh-CN" altLang="en-US" sz="2800"/>
          </a:p>
          <a:p>
            <a:pPr marL="457200" indent="-457200">
              <a:buFont typeface="Wingdings" panose="05000000000000000000" charset="0"/>
              <a:buChar char="u"/>
            </a:pPr>
            <a:r>
              <a:rPr lang="zh-CN" altLang="en-US" sz="2800"/>
              <a:t>但为避免证据及子属性</a:t>
            </a:r>
            <a:r>
              <a:rPr lang="en-US" altLang="zh-CN" sz="2800"/>
              <a:t> </a:t>
            </a:r>
            <a:r>
              <a:rPr lang="zh-CN" altLang="en-US" sz="2800"/>
              <a:t>的重叠，时间成本和其他时间相关证据在恢复时间中进行考量。</a:t>
            </a:r>
            <a:endParaRPr lang="zh-CN" altLang="en-US" sz="2800"/>
          </a:p>
          <a:p>
            <a:pPr marL="457200" indent="-457200">
              <a:buFont typeface="Wingdings" panose="05000000000000000000" charset="0"/>
              <a:buChar char="u"/>
            </a:pPr>
            <a:endParaRPr lang="zh-CN" altLang="en-US" sz="2800"/>
          </a:p>
          <a:p>
            <a:pPr marL="457200" indent="-457200">
              <a:buFont typeface="Wingdings" panose="05000000000000000000" charset="0"/>
              <a:buChar char="u"/>
            </a:pPr>
            <a:r>
              <a:rPr lang="zh-CN" altLang="en-US" sz="2800"/>
              <a:t>此处仅考虑组件在恢复过程中耗费的经济成本。</a:t>
            </a:r>
            <a:endParaRPr lang="zh-CN" altLang="en-US" sz="2800"/>
          </a:p>
          <a:p>
            <a:endParaRPr lang="en-US" altLang="zh-CN" sz="2800"/>
          </a:p>
          <a:p>
            <a:endParaRPr lang="en-US" altLang="zh-CN" sz="2800"/>
          </a:p>
        </p:txBody>
      </p:sp>
    </p:spTree>
    <p:custDataLst>
      <p:tags r:id="rId3"/>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graphicFrame>
        <p:nvGraphicFramePr>
          <p:cNvPr id="3" name="表格 2"/>
          <p:cNvGraphicFramePr/>
          <p:nvPr>
            <p:custDataLst>
              <p:tags r:id="rId3"/>
            </p:custDataLst>
          </p:nvPr>
        </p:nvGraphicFramePr>
        <p:xfrm>
          <a:off x="319405" y="1501140"/>
          <a:ext cx="10923270" cy="4813300"/>
        </p:xfrm>
        <a:graphic>
          <a:graphicData uri="http://schemas.openxmlformats.org/drawingml/2006/table">
            <a:tbl>
              <a:tblPr/>
              <a:tblGrid>
                <a:gridCol w="1413510"/>
                <a:gridCol w="1715770"/>
                <a:gridCol w="3088005"/>
                <a:gridCol w="4705985"/>
              </a:tblGrid>
              <a:tr h="427990">
                <a:tc>
                  <a:txBody>
                    <a:bodyPr/>
                    <a:p>
                      <a:pPr marL="228600" indent="-133985" algn="ctr"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1795780">
                <a:tc>
                  <a:txBody>
                    <a:bodyPr/>
                    <a:p>
                      <a:pPr marL="7683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可恢复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4790" indent="-132715" algn="l" eaLnBrk="0" fontAlgn="base">
                        <a:lnSpc>
                          <a:spcPct val="132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恢复成本</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255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组件当前恢复所耗费的开销</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3810" algn="l" eaLnBrk="0" fontAlgn="base">
                        <a:lnSpc>
                          <a:spcPct val="132000"/>
                        </a:lnSpc>
                        <a:spcBef>
                          <a:spcPts val="6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当前耗费了原组件成本的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30% </a:t>
                      </a:r>
                      <a:r>
                        <a:rPr lang="zh-CN" sz="2400">
                          <a:solidFill>
                            <a:srgbClr val="000000"/>
                          </a:solidFill>
                          <a:latin typeface="宋体" panose="02010600030101010101" pitchFamily="2" charset="-122"/>
                          <a:ea typeface="宋体" panose="02010600030101010101" pitchFamily="2" charset="-122"/>
                        </a:rPr>
                        <a:t>以下用于恢复</a:t>
                      </a:r>
                      <a:endParaRPr lang="zh-CN" sz="2400">
                        <a:solidFill>
                          <a:srgbClr val="000000"/>
                        </a:solidFill>
                        <a:latin typeface="宋体" panose="02010600030101010101" pitchFamily="2" charset="-122"/>
                        <a:ea typeface="宋体" panose="02010600030101010101" pitchFamily="2" charset="-122"/>
                      </a:endParaRPr>
                    </a:p>
                    <a:p>
                      <a:pPr marL="82550" indent="-3175" algn="l" eaLnBrk="0" fontAlgn="base">
                        <a:lnSpc>
                          <a:spcPct val="132000"/>
                        </a:lnSpc>
                        <a:spcBef>
                          <a:spcPts val="1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当前耗费了原组件成本的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30%-60% </a:t>
                      </a:r>
                      <a:r>
                        <a:rPr lang="zh-CN" sz="2400">
                          <a:solidFill>
                            <a:srgbClr val="000000"/>
                          </a:solidFill>
                          <a:latin typeface="宋体" panose="02010600030101010101" pitchFamily="2" charset="-122"/>
                          <a:ea typeface="宋体" panose="02010600030101010101" pitchFamily="2" charset="-122"/>
                        </a:rPr>
                        <a:t>用于恢复</a:t>
                      </a:r>
                      <a:endParaRPr lang="zh-CN" sz="2400">
                        <a:solidFill>
                          <a:srgbClr val="000000"/>
                        </a:solidFill>
                        <a:latin typeface="宋体" panose="02010600030101010101" pitchFamily="2" charset="-122"/>
                        <a:ea typeface="宋体" panose="02010600030101010101" pitchFamily="2" charset="-122"/>
                      </a:endParaRPr>
                    </a:p>
                    <a:p>
                      <a:pPr marL="82550" indent="-635" algn="l" eaLnBrk="0" fontAlgn="base">
                        <a:lnSpc>
                          <a:spcPct val="132000"/>
                        </a:lnSpc>
                        <a:spcBef>
                          <a:spcPts val="1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当前耗费了原组件成本的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60%-90% </a:t>
                      </a:r>
                      <a:r>
                        <a:rPr lang="zh-CN" sz="2400">
                          <a:solidFill>
                            <a:srgbClr val="000000"/>
                          </a:solidFill>
                          <a:latin typeface="宋体" panose="02010600030101010101" pitchFamily="2" charset="-122"/>
                          <a:ea typeface="宋体" panose="02010600030101010101" pitchFamily="2" charset="-122"/>
                        </a:rPr>
                        <a:t>用于恢复</a:t>
                      </a:r>
                      <a:endParaRPr lang="zh-CN" sz="2400">
                        <a:solidFill>
                          <a:srgbClr val="000000"/>
                        </a:solidFill>
                        <a:latin typeface="宋体" panose="02010600030101010101" pitchFamily="2" charset="-122"/>
                        <a:ea typeface="宋体" panose="02010600030101010101" pitchFamily="2" charset="-122"/>
                      </a:endParaRPr>
                    </a:p>
                    <a:p>
                      <a:pPr marL="81915" indent="-2540" algn="l" eaLnBrk="0" fontAlgn="base">
                        <a:lnSpc>
                          <a:spcPct val="129000"/>
                        </a:lnSpc>
                        <a:spcBef>
                          <a:spcPts val="1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当前耗费了原组件成本的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90% </a:t>
                      </a:r>
                      <a:r>
                        <a:rPr lang="zh-CN" sz="2400">
                          <a:solidFill>
                            <a:srgbClr val="000000"/>
                          </a:solidFill>
                          <a:latin typeface="宋体" panose="02010600030101010101" pitchFamily="2" charset="-122"/>
                          <a:ea typeface="宋体" panose="02010600030101010101" pitchFamily="2" charset="-122"/>
                        </a:rPr>
                        <a:t>以上用于恢复</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600450" y="822960"/>
            <a:ext cx="3917315" cy="460375"/>
          </a:xfrm>
          <a:prstGeom prst="rect">
            <a:avLst/>
          </a:prstGeom>
          <a:noFill/>
        </p:spPr>
        <p:txBody>
          <a:bodyPr wrap="square" rtlCol="0">
            <a:spAutoFit/>
          </a:bodyPr>
          <a:p>
            <a:pPr algn="ctr"/>
            <a:r>
              <a:rPr lang="en-US" altLang="zh-CN"/>
              <a:t> </a:t>
            </a:r>
            <a:r>
              <a:rPr lang="zh-CN" altLang="en-US" sz="2400"/>
              <a:t>恢复成本可信证据</a:t>
            </a:r>
            <a:endParaRPr lang="zh-CN" altLang="en-US" sz="2400"/>
          </a:p>
        </p:txBody>
      </p:sp>
    </p:spTree>
    <p:custDataLst>
      <p:tags r:id="rId4"/>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2676525"/>
          </a:xfrm>
          <a:prstGeom prst="rect">
            <a:avLst/>
          </a:prstGeom>
          <a:noFill/>
        </p:spPr>
        <p:txBody>
          <a:bodyPr wrap="square" rtlCol="0">
            <a:spAutoFit/>
          </a:bodyPr>
          <a:p>
            <a:endParaRPr lang="en-US" altLang="zh-CN" sz="2800"/>
          </a:p>
          <a:p>
            <a:pPr marL="457200" indent="-457200">
              <a:buFont typeface="Wingdings" panose="05000000000000000000" charset="0"/>
              <a:buChar char="u"/>
            </a:pPr>
            <a:r>
              <a:rPr lang="zh-CN" altLang="en-US" sz="2800"/>
              <a:t>组件恢复时间主要从三个方面，即从故障到开始恢复的延迟时间、用于恢复的时间和恢复总时间体现，</a:t>
            </a:r>
            <a:endParaRPr lang="zh-CN" altLang="en-US" sz="2800"/>
          </a:p>
          <a:p>
            <a:pPr marL="457200" indent="-457200">
              <a:buFont typeface="Wingdings" panose="05000000000000000000" charset="0"/>
              <a:buChar char="u"/>
            </a:pPr>
            <a:endParaRPr lang="zh-CN" altLang="en-US" sz="2800"/>
          </a:p>
          <a:p>
            <a:pPr marL="457200" indent="-457200">
              <a:buFont typeface="Wingdings" panose="05000000000000000000" charset="0"/>
              <a:buChar char="u"/>
            </a:pPr>
            <a:r>
              <a:rPr lang="zh-CN" altLang="en-US" sz="2800"/>
              <a:t>若这些时间低于预期设计，则说明组件在恢复时间方</a:t>
            </a:r>
            <a:r>
              <a:rPr lang="en-US" altLang="zh-CN" sz="2800"/>
              <a:t> </a:t>
            </a:r>
            <a:r>
              <a:rPr lang="zh-CN" altLang="en-US" sz="2800"/>
              <a:t>面可达到韧性要求。</a:t>
            </a:r>
            <a:endParaRPr lang="en-US" altLang="zh-CN" sz="2800"/>
          </a:p>
        </p:txBody>
      </p:sp>
    </p:spTree>
    <p:custDataLst>
      <p:tags r:id="rId3"/>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graphicFrame>
        <p:nvGraphicFramePr>
          <p:cNvPr id="3" name="表格 2"/>
          <p:cNvGraphicFramePr/>
          <p:nvPr>
            <p:custDataLst>
              <p:tags r:id="rId3"/>
            </p:custDataLst>
          </p:nvPr>
        </p:nvGraphicFramePr>
        <p:xfrm>
          <a:off x="194310" y="1337310"/>
          <a:ext cx="11792585" cy="4873625"/>
        </p:xfrm>
        <a:graphic>
          <a:graphicData uri="http://schemas.openxmlformats.org/drawingml/2006/table">
            <a:tbl>
              <a:tblPr/>
              <a:tblGrid>
                <a:gridCol w="1300480"/>
                <a:gridCol w="1533525"/>
                <a:gridCol w="5247005"/>
                <a:gridCol w="3711575"/>
              </a:tblGrid>
              <a:tr h="393065">
                <a:tc>
                  <a:txBody>
                    <a:bodyPr/>
                    <a:p>
                      <a:pPr marL="228600" indent="-13398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480560">
                <a:tc>
                  <a:txBody>
                    <a:bodyPr/>
                    <a:p>
                      <a:pPr marL="85725" indent="0" algn="l" eaLnBrk="0" fontAlgn="base">
                        <a:lnSpc>
                          <a:spcPct val="11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可恢复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34315" indent="-14224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恢复时</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间</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825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平均完全恢复时间（</a:t>
                      </a:r>
                      <a:r>
                        <a:rPr lang="en-US" altLang="zh-CN" sz="2400">
                          <a:solidFill>
                            <a:srgbClr val="000000"/>
                          </a:solidFill>
                          <a:latin typeface="Times New Roman" panose="02020603050405020304"/>
                          <a:ea typeface="Times New Roman" panose="02020603050405020304"/>
                        </a:rPr>
                        <a:t>MTTFR</a:t>
                      </a:r>
                      <a:r>
                        <a:rPr lang="zh-CN" sz="2400">
                          <a:solidFill>
                            <a:srgbClr val="000000"/>
                          </a:solidFill>
                          <a:latin typeface="宋体" panose="02010600030101010101" pitchFamily="2" charset="-122"/>
                          <a:ea typeface="宋体" panose="02010600030101010101" pitchFamily="2" charset="-122"/>
                        </a:rPr>
                        <a:t>）低于规定时间</a:t>
                      </a:r>
                      <a:endParaRPr lang="zh-CN" sz="2400">
                        <a:solidFill>
                          <a:srgbClr val="000000"/>
                        </a:solidFill>
                        <a:latin typeface="宋体" panose="02010600030101010101" pitchFamily="2" charset="-122"/>
                        <a:ea typeface="宋体" panose="02010600030101010101" pitchFamily="2" charset="-122"/>
                      </a:endParaRPr>
                    </a:p>
                    <a:p>
                      <a:pPr marL="86995" indent="-8255" algn="l" eaLnBrk="0" fontAlgn="base">
                        <a:lnSpc>
                          <a:spcPct val="115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平均恢复时间（</a:t>
                      </a:r>
                      <a:r>
                        <a:rPr lang="en-US" altLang="zh-CN" sz="2400">
                          <a:solidFill>
                            <a:srgbClr val="000000"/>
                          </a:solidFill>
                          <a:latin typeface="Times New Roman" panose="02020603050405020304"/>
                          <a:ea typeface="Times New Roman" panose="02020603050405020304"/>
                        </a:rPr>
                        <a:t>MTTR</a:t>
                      </a:r>
                      <a:r>
                        <a:rPr lang="zh-CN" sz="2400">
                          <a:solidFill>
                            <a:srgbClr val="000000"/>
                          </a:solidFill>
                          <a:latin typeface="宋体" panose="02010600030101010101" pitchFamily="2" charset="-122"/>
                          <a:ea typeface="宋体" panose="02010600030101010101" pitchFamily="2" charset="-122"/>
                        </a:rPr>
                        <a:t>）低于规定时间</a:t>
                      </a:r>
                      <a:endParaRPr lang="en-US" altLang="zh-CN" sz="2400">
                        <a:solidFill>
                          <a:srgbClr val="000000"/>
                        </a:solidFill>
                        <a:latin typeface="Times New Roman" panose="02020603050405020304"/>
                        <a:ea typeface="Times New Roman" panose="02020603050405020304"/>
                      </a:endParaRPr>
                    </a:p>
                    <a:p>
                      <a:pPr marL="8128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恢复延迟低于规定时间</a:t>
                      </a:r>
                      <a:endParaRPr lang="zh-CN" sz="2400">
                        <a:solidFill>
                          <a:srgbClr val="000000"/>
                        </a:solidFill>
                        <a:latin typeface="宋体" panose="02010600030101010101" pitchFamily="2" charset="-122"/>
                        <a:ea typeface="宋体" panose="02010600030101010101" pitchFamily="2" charset="-122"/>
                      </a:endParaRPr>
                    </a:p>
                    <a:p>
                      <a:pPr marL="81915" indent="-635" algn="just" eaLnBrk="0" fontAlgn="base">
                        <a:lnSpc>
                          <a:spcPct val="133000"/>
                        </a:lnSpc>
                        <a:spcBef>
                          <a:spcPts val="600"/>
                        </a:spcBef>
                        <a:spcAft>
                          <a:spcPct val="0"/>
                        </a:spcAft>
                      </a:pPr>
                      <a:r>
                        <a:rPr lang="en-US" altLang="zh-CN" sz="2400">
                          <a:solidFill>
                            <a:srgbClr val="000000"/>
                          </a:solidFill>
                          <a:latin typeface="Times New Roman" panose="02020603050405020304"/>
                          <a:ea typeface="Times New Roman" panose="02020603050405020304"/>
                        </a:rPr>
                        <a:t>(MTTFR </a:t>
                      </a:r>
                      <a:r>
                        <a:rPr lang="zh-CN" sz="2400">
                          <a:solidFill>
                            <a:srgbClr val="000000"/>
                          </a:solidFill>
                          <a:latin typeface="宋体" panose="02010600030101010101" pitchFamily="2" charset="-122"/>
                          <a:ea typeface="宋体" panose="02010600030101010101" pitchFamily="2" charset="-122"/>
                        </a:rPr>
                        <a:t>指从组件受到攻击到完全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恢复耗时，</a:t>
                      </a:r>
                      <a:r>
                        <a:rPr lang="en-US" altLang="zh-CN" sz="2400">
                          <a:solidFill>
                            <a:srgbClr val="000000"/>
                          </a:solidFill>
                          <a:latin typeface="Times New Roman" panose="02020603050405020304"/>
                          <a:ea typeface="Times New Roman" panose="02020603050405020304"/>
                        </a:rPr>
                        <a:t>MTTR </a:t>
                      </a:r>
                      <a:r>
                        <a:rPr lang="zh-CN" sz="2400">
                          <a:solidFill>
                            <a:srgbClr val="000000"/>
                          </a:solidFill>
                          <a:latin typeface="宋体" panose="02010600030101010101" pitchFamily="2" charset="-122"/>
                          <a:ea typeface="宋体" panose="02010600030101010101" pitchFamily="2" charset="-122"/>
                        </a:rPr>
                        <a:t>指从发生降级到</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完全恢复耗时，恢复延迟指从表现</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降到最低到开始恢复工作耗时</a:t>
                      </a:r>
                      <a:r>
                        <a:rPr lang="en-US" altLang="zh-CN" sz="2400">
                          <a:solidFill>
                            <a:srgbClr val="000000"/>
                          </a:solidFill>
                          <a:latin typeface="Times New Roman" panose="02020603050405020304"/>
                          <a:ea typeface="Times New Roman" panose="02020603050405020304"/>
                        </a:rPr>
                        <a:t>)</a:t>
                      </a:r>
                      <a:endParaRPr 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组件当前满足其中三点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组件当前满足其中两点</a:t>
                      </a:r>
                      <a:endParaRPr lang="zh-CN" sz="24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组件当前满足其中一点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组件不满足任何一点</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4177665" y="478155"/>
            <a:ext cx="2691765" cy="460375"/>
          </a:xfrm>
          <a:prstGeom prst="rect">
            <a:avLst/>
          </a:prstGeom>
          <a:noFill/>
        </p:spPr>
        <p:txBody>
          <a:bodyPr wrap="square" rtlCol="0">
            <a:spAutoFit/>
          </a:bodyPr>
          <a:p>
            <a:r>
              <a:rPr lang="zh-CN" altLang="en-US" sz="2400"/>
              <a:t>恢复时间可信证据</a:t>
            </a:r>
            <a:endParaRPr lang="zh-CN" altLang="en-US" sz="2400"/>
          </a:p>
        </p:txBody>
      </p:sp>
    </p:spTree>
    <p:custDataLst>
      <p:tags r:id="rId4"/>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885825"/>
          </a:xfrm>
          <a:prstGeom prst="rect">
            <a:avLst/>
          </a:prstGeom>
          <a:noFill/>
        </p:spPr>
        <p:txBody>
          <a:bodyPr wrap="square" rtlCol="0">
            <a:noAutofit/>
          </a:bodyPr>
          <a:p>
            <a:r>
              <a:rPr lang="zh-CN" altLang="en-US" sz="2800"/>
              <a:t>组件可拓展性则体现在组件能否通过更新添加新的功能，</a:t>
            </a:r>
            <a:endParaRPr lang="zh-CN" altLang="en-US" sz="2800"/>
          </a:p>
          <a:p>
            <a:r>
              <a:rPr lang="zh-CN" altLang="en-US" sz="2800"/>
              <a:t>从关键功能和非关键功能两方面考虑。</a:t>
            </a:r>
            <a:endParaRPr lang="zh-CN" altLang="en-US" sz="2800"/>
          </a:p>
          <a:p>
            <a:endParaRPr lang="zh-CN" altLang="en-US" sz="2800"/>
          </a:p>
          <a:p>
            <a:endParaRPr lang="zh-CN" altLang="en-US" sz="2800"/>
          </a:p>
        </p:txBody>
      </p:sp>
      <p:graphicFrame>
        <p:nvGraphicFramePr>
          <p:cNvPr id="3" name="表格 2"/>
          <p:cNvGraphicFramePr/>
          <p:nvPr>
            <p:custDataLst>
              <p:tags r:id="rId3"/>
            </p:custDataLst>
          </p:nvPr>
        </p:nvGraphicFramePr>
        <p:xfrm>
          <a:off x="758825" y="2554605"/>
          <a:ext cx="10989945" cy="3233420"/>
        </p:xfrm>
        <a:graphic>
          <a:graphicData uri="http://schemas.openxmlformats.org/drawingml/2006/table">
            <a:tbl>
              <a:tblPr/>
              <a:tblGrid>
                <a:gridCol w="1508125"/>
                <a:gridCol w="1750060"/>
                <a:gridCol w="4626610"/>
                <a:gridCol w="3105150"/>
              </a:tblGrid>
              <a:tr h="563245">
                <a:tc>
                  <a:txBody>
                    <a:bodyPr/>
                    <a:p>
                      <a:pPr marL="228600" indent="-133985" algn="l"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670175">
                <a:tc>
                  <a:txBody>
                    <a:bodyPr/>
                    <a:p>
                      <a:pPr marL="7683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适应性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8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28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542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可拓展性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组件可以添加新的功能以适应环境：</a:t>
                      </a:r>
                      <a:endParaRPr lang="zh-CN" sz="2400">
                        <a:solidFill>
                          <a:srgbClr val="000000"/>
                        </a:solidFill>
                        <a:latin typeface="宋体" panose="02010600030101010101" pitchFamily="2" charset="-122"/>
                        <a:ea typeface="宋体" panose="02010600030101010101" pitchFamily="2" charset="-122"/>
                      </a:endParaRPr>
                    </a:p>
                    <a:p>
                      <a:pPr marL="9144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组件可以添加新的关键功能</a:t>
                      </a:r>
                      <a:endParaRPr lang="zh-CN" sz="2400">
                        <a:solidFill>
                          <a:srgbClr val="000000"/>
                        </a:solidFill>
                        <a:latin typeface="宋体" panose="02010600030101010101" pitchFamily="2" charset="-122"/>
                        <a:ea typeface="宋体" panose="02010600030101010101" pitchFamily="2" charset="-122"/>
                      </a:endParaRPr>
                    </a:p>
                    <a:p>
                      <a:pPr marL="7874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组件可以添加新的非关键功能</a:t>
                      </a:r>
                      <a:endParaRPr lang="zh-CN" sz="2400">
                        <a:solidFill>
                          <a:srgbClr val="000000"/>
                        </a:solidFill>
                        <a:latin typeface="宋体" panose="02010600030101010101" pitchFamily="2" charset="-122"/>
                        <a:ea typeface="宋体" panose="02010600030101010101" pitchFamily="2" charset="-122"/>
                      </a:endParaRPr>
                    </a:p>
                    <a:p>
                      <a:pPr marL="8128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组件无法添加新的关键功能</a:t>
                      </a:r>
                      <a:endParaRPr lang="zh-CN" sz="2400">
                        <a:solidFill>
                          <a:srgbClr val="000000"/>
                        </a:solidFill>
                        <a:latin typeface="宋体" panose="02010600030101010101" pitchFamily="2" charset="-122"/>
                        <a:ea typeface="宋体" panose="02010600030101010101" pitchFamily="2" charset="-122"/>
                      </a:endParaRPr>
                    </a:p>
                    <a:p>
                      <a:pPr marL="7810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4. </a:t>
                      </a:r>
                      <a:r>
                        <a:rPr lang="zh-CN" sz="2400">
                          <a:solidFill>
                            <a:srgbClr val="000000"/>
                          </a:solidFill>
                          <a:latin typeface="宋体" panose="02010600030101010101" pitchFamily="2" charset="-122"/>
                          <a:ea typeface="宋体" panose="02010600030101010101" pitchFamily="2" charset="-122"/>
                        </a:rPr>
                        <a:t>组件无法添加新的非关键功能</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组件满足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2</a:t>
                      </a:r>
                      <a:endParaRPr lang="en-US" altLang="zh-CN" sz="2400">
                        <a:solidFill>
                          <a:srgbClr val="000000"/>
                        </a:solidFill>
                        <a:latin typeface="Times New Roman" panose="02020603050405020304"/>
                        <a:ea typeface="Times New Roman" panose="02020603050405020304"/>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组件满足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4</a:t>
                      </a:r>
                      <a:endParaRPr lang="en-US" altLang="zh-CN" sz="2400">
                        <a:solidFill>
                          <a:srgbClr val="000000"/>
                        </a:solidFill>
                        <a:latin typeface="Times New Roman" panose="02020603050405020304"/>
                        <a:ea typeface="Times New Roman" panose="02020603050405020304"/>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组件满足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a:t>
                      </a:r>
                      <a:endParaRPr lang="en-US" altLang="zh-CN" sz="2400">
                        <a:solidFill>
                          <a:srgbClr val="000000"/>
                        </a:solidFill>
                        <a:latin typeface="Times New Roman" panose="02020603050405020304"/>
                        <a:ea typeface="Times New Roman" panose="02020603050405020304"/>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组件满足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4</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4625340" y="1991360"/>
            <a:ext cx="2691130" cy="460375"/>
          </a:xfrm>
          <a:prstGeom prst="rect">
            <a:avLst/>
          </a:prstGeom>
          <a:solidFill>
            <a:srgbClr val="FF0000"/>
          </a:solidFill>
        </p:spPr>
        <p:txBody>
          <a:bodyPr wrap="square" rtlCol="0">
            <a:spAutoFit/>
          </a:bodyPr>
          <a:p>
            <a:r>
              <a:rPr lang="zh-CN" altLang="en-US" sz="2400"/>
              <a:t>可拓展性可信证据</a:t>
            </a:r>
            <a:endParaRPr lang="zh-CN" altLang="en-US" sz="2400"/>
          </a:p>
        </p:txBody>
      </p:sp>
    </p:spTree>
    <p:custDataLst>
      <p:tags r:id="rId4"/>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1059180"/>
          </a:xfrm>
          <a:prstGeom prst="rect">
            <a:avLst/>
          </a:prstGeom>
          <a:noFill/>
        </p:spPr>
        <p:txBody>
          <a:bodyPr wrap="square" rtlCol="0">
            <a:noAutofit/>
          </a:bodyPr>
          <a:p>
            <a:r>
              <a:rPr lang="zh-CN" altLang="en-US" sz="2800"/>
              <a:t>组件可重配置则主要指组件能在不同情况下进行不同地配置，以更好地提</a:t>
            </a:r>
            <a:r>
              <a:rPr lang="en-US" altLang="zh-CN" sz="2800"/>
              <a:t> </a:t>
            </a:r>
            <a:r>
              <a:rPr lang="zh-CN" altLang="en-US" sz="2800"/>
              <a:t>供服务等。</a:t>
            </a:r>
            <a:endParaRPr lang="zh-CN" altLang="en-US" sz="2800"/>
          </a:p>
          <a:p>
            <a:endParaRPr lang="zh-CN" altLang="en-US" sz="2800"/>
          </a:p>
          <a:p>
            <a:endParaRPr lang="zh-CN" altLang="en-US" sz="2800"/>
          </a:p>
        </p:txBody>
      </p:sp>
      <p:graphicFrame>
        <p:nvGraphicFramePr>
          <p:cNvPr id="3" name="表格 2"/>
          <p:cNvGraphicFramePr/>
          <p:nvPr>
            <p:custDataLst>
              <p:tags r:id="rId3"/>
            </p:custDataLst>
          </p:nvPr>
        </p:nvGraphicFramePr>
        <p:xfrm>
          <a:off x="644525" y="2614930"/>
          <a:ext cx="10713720" cy="3655060"/>
        </p:xfrm>
        <a:graphic>
          <a:graphicData uri="http://schemas.openxmlformats.org/drawingml/2006/table">
            <a:tbl>
              <a:tblPr/>
              <a:tblGrid>
                <a:gridCol w="904240"/>
                <a:gridCol w="1386205"/>
                <a:gridCol w="4635500"/>
                <a:gridCol w="3787775"/>
              </a:tblGrid>
              <a:tr h="962660">
                <a:tc>
                  <a:txBody>
                    <a:bodyPr/>
                    <a:p>
                      <a:pPr marL="228600" indent="-133985" algn="l"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692400">
                <a:tc>
                  <a:txBody>
                    <a:bodyPr/>
                    <a:p>
                      <a:pPr marL="8572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适应性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2885" indent="-130810" algn="l" eaLnBrk="0" fontAlgn="base">
                        <a:lnSpc>
                          <a:spcPct val="134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可重</a:t>
                      </a:r>
                      <a:endParaRPr lang="zh-CN" sz="2400">
                        <a:solidFill>
                          <a:srgbClr val="000000"/>
                        </a:solidFill>
                        <a:latin typeface="宋体" panose="02010600030101010101" pitchFamily="2" charset="-122"/>
                        <a:ea typeface="宋体" panose="02010600030101010101" pitchFamily="2" charset="-122"/>
                      </a:endParaRPr>
                    </a:p>
                    <a:p>
                      <a:pPr marL="222885" indent="-130810" algn="l" eaLnBrk="0" fontAlgn="base">
                        <a:lnSpc>
                          <a:spcPct val="134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配置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010" indent="1143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组件在新环境中很快就能改变配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置并正常提供服务</a:t>
                      </a:r>
                      <a:endParaRPr lang="zh-CN" sz="2400">
                        <a:solidFill>
                          <a:srgbClr val="000000"/>
                        </a:solidFill>
                        <a:latin typeface="宋体" panose="02010600030101010101" pitchFamily="2" charset="-122"/>
                        <a:ea typeface="宋体" panose="02010600030101010101" pitchFamily="2" charset="-122"/>
                      </a:endParaRPr>
                    </a:p>
                    <a:p>
                      <a:pPr marL="81280" indent="-254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组件有很多套已有配置可选择以</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面对各种环境或攻击</a:t>
                      </a:r>
                      <a:endParaRPr lang="zh-CN" sz="2400">
                        <a:solidFill>
                          <a:srgbClr val="000000"/>
                        </a:solidFill>
                        <a:latin typeface="宋体" panose="02010600030101010101" pitchFamily="2" charset="-122"/>
                        <a:ea typeface="宋体" panose="02010600030101010101" pitchFamily="2" charset="-122"/>
                      </a:endParaRPr>
                    </a:p>
                    <a:p>
                      <a:pPr marL="91440" indent="-1016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组件可以根据需求调整自己使用的资源数量</a:t>
                      </a:r>
                      <a:endParaRPr lang="en-US" altLang="zh-CN" sz="16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79000"/>
                        </a:lnSpc>
                        <a:spcBef>
                          <a:spcPct val="0"/>
                        </a:spcBef>
                        <a:spcAft>
                          <a:spcPct val="0"/>
                        </a:spcAft>
                      </a:pPr>
                      <a:r>
                        <a:rPr lang="en-US" altLang="zh-CN" sz="2400">
                          <a:solidFill>
                            <a:srgbClr val="000000"/>
                          </a:solidFill>
                          <a:latin typeface="Arial" panose="020B0604020202020204"/>
                          <a:ea typeface="Arial" panose="020B0604020202020204"/>
                        </a:rPr>
                        <a:t> </a:t>
                      </a: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组件当前满足其中三点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组件当前满足其中两点</a:t>
                      </a:r>
                      <a:endParaRPr lang="zh-CN" sz="24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组件当前满足其中一点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组件不满足任何一点</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458845" y="4364672"/>
            <a:ext cx="5080000" cy="155575"/>
          </a:xfrm>
          <a:prstGeom prst="rect">
            <a:avLst/>
          </a:prstGeom>
        </p:spPr>
        <p:txBody>
          <a:bodyPr>
            <a:spAutoFit/>
          </a:bodyPr>
          <a:p>
            <a:pPr marL="0" indent="0" algn="l" defTabSz="266700" eaLnBrk="0" fontAlgn="base">
              <a:lnSpc>
                <a:spcPts val="505"/>
              </a:lnSpc>
              <a:spcBef>
                <a:spcPct val="0"/>
              </a:spcBef>
              <a:spcAft>
                <a:spcPct val="0"/>
              </a:spcAft>
            </a:pPr>
            <a:r>
              <a:rPr lang="en-US" altLang="zh-CN" sz="1600">
                <a:solidFill>
                  <a:srgbClr val="000000"/>
                </a:solidFill>
                <a:latin typeface="Arial" panose="020B0604020202020204"/>
                <a:ea typeface="Arial" panose="020B0604020202020204"/>
              </a:rPr>
              <a:t> </a:t>
            </a:r>
            <a:endParaRPr lang="en-US" altLang="zh-CN" sz="1600">
              <a:solidFill>
                <a:srgbClr val="000000"/>
              </a:solidFill>
              <a:latin typeface="Arial" panose="020B0604020202020204"/>
              <a:ea typeface="Arial" panose="020B0604020202020204"/>
            </a:endParaRPr>
          </a:p>
        </p:txBody>
      </p:sp>
      <p:sp>
        <p:nvSpPr>
          <p:cNvPr id="6" name="文本框 5"/>
          <p:cNvSpPr txBox="1"/>
          <p:nvPr/>
        </p:nvSpPr>
        <p:spPr>
          <a:xfrm>
            <a:off x="4318635" y="2096770"/>
            <a:ext cx="3726180" cy="46037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400"/>
              <a:t>可重配置可信证据</a:t>
            </a:r>
            <a:endParaRPr lang="zh-CN" altLang="en-US" sz="2400"/>
          </a:p>
        </p:txBody>
      </p:sp>
    </p:spTree>
    <p:custDataLst>
      <p:tags r:id="rId4"/>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804545"/>
            <a:ext cx="9002395" cy="1086485"/>
          </a:xfrm>
          <a:prstGeom prst="rect">
            <a:avLst/>
          </a:prstGeom>
          <a:noFill/>
        </p:spPr>
        <p:txBody>
          <a:bodyPr wrap="square" rtlCol="0">
            <a:noAutofit/>
          </a:bodyPr>
          <a:p>
            <a:r>
              <a:rPr lang="zh-CN" altLang="en-US" sz="2800"/>
              <a:t>组件自治性主要体现在组件能在没有人为干预的情况下做出正确决策并高</a:t>
            </a:r>
            <a:r>
              <a:rPr lang="en-US" altLang="zh-CN" sz="2800"/>
              <a:t> </a:t>
            </a:r>
            <a:r>
              <a:rPr lang="zh-CN" altLang="en-US" sz="2800"/>
              <a:t>效地提供服务。</a:t>
            </a:r>
            <a:endParaRPr lang="zh-CN" altLang="en-US" sz="2800"/>
          </a:p>
        </p:txBody>
      </p:sp>
      <p:graphicFrame>
        <p:nvGraphicFramePr>
          <p:cNvPr id="3" name="表格 2"/>
          <p:cNvGraphicFramePr/>
          <p:nvPr>
            <p:custDataLst>
              <p:tags r:id="rId3"/>
            </p:custDataLst>
          </p:nvPr>
        </p:nvGraphicFramePr>
        <p:xfrm>
          <a:off x="109855" y="2418080"/>
          <a:ext cx="11525250" cy="4291330"/>
        </p:xfrm>
        <a:graphic>
          <a:graphicData uri="http://schemas.openxmlformats.org/drawingml/2006/table">
            <a:tbl>
              <a:tblPr/>
              <a:tblGrid>
                <a:gridCol w="1645285"/>
                <a:gridCol w="1438910"/>
                <a:gridCol w="1800225"/>
                <a:gridCol w="6640830"/>
              </a:tblGrid>
              <a:tr h="405765">
                <a:tc>
                  <a:txBody>
                    <a:bodyPr/>
                    <a:p>
                      <a:pPr marL="228600" indent="-13398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593725" indent="0" algn="ctr" eaLnBrk="0" fontAlgn="base">
                        <a:spcBef>
                          <a:spcPts val="300"/>
                        </a:spcBef>
                        <a:spcAft>
                          <a:spcPct val="0"/>
                        </a:spcAft>
                      </a:pP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885565">
                <a:tc>
                  <a:txBody>
                    <a:bodyPr/>
                    <a:p>
                      <a:pPr marL="7683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适应性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11303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自治性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1915" indent="0" algn="l" eaLnBrk="0" fontAlgn="base">
                        <a:lnSpc>
                          <a:spcPct val="132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组件可以自动应对变化做出决策</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3810" algn="l" eaLnBrk="0" fontAlgn="base">
                        <a:lnSpc>
                          <a:spcPct val="134000"/>
                        </a:lnSpc>
                        <a:spcBef>
                          <a:spcPts val="6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组件可以根据自己的观测和规定以最高效率完成目标，</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且无需人为干预</a:t>
                      </a:r>
                      <a:endParaRPr lang="zh-CN" sz="2400">
                        <a:solidFill>
                          <a:srgbClr val="000000"/>
                        </a:solidFill>
                        <a:latin typeface="宋体" panose="02010600030101010101" pitchFamily="2" charset="-122"/>
                        <a:ea typeface="宋体" panose="02010600030101010101" pitchFamily="2" charset="-122"/>
                      </a:endParaRPr>
                    </a:p>
                    <a:p>
                      <a:pPr marL="82550" indent="-3175" algn="l" eaLnBrk="0" fontAlgn="base">
                        <a:lnSpc>
                          <a:spcPct val="135000"/>
                        </a:lnSpc>
                        <a:spcBef>
                          <a:spcPts val="1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组件可以根据自己的观测和规定完成目标，在人为干预的情况下可以使效率最大化</a:t>
                      </a:r>
                      <a:endParaRPr lang="zh-CN" sz="2400">
                        <a:solidFill>
                          <a:srgbClr val="000000"/>
                        </a:solidFill>
                        <a:latin typeface="宋体" panose="02010600030101010101" pitchFamily="2" charset="-122"/>
                        <a:ea typeface="宋体" panose="02010600030101010101" pitchFamily="2" charset="-122"/>
                      </a:endParaRPr>
                    </a:p>
                    <a:p>
                      <a:pPr marL="82550" indent="-635" algn="l" eaLnBrk="0" fontAlgn="base">
                        <a:lnSpc>
                          <a:spcPct val="135000"/>
                        </a:lnSpc>
                        <a:spcBef>
                          <a:spcPts val="1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组件可以根据自己的观测和规定完成目标，但即使在人为干预的情况下也无法使效率最大化</a:t>
                      </a:r>
                      <a:endParaRPr lang="zh-CN" sz="2400">
                        <a:solidFill>
                          <a:srgbClr val="000000"/>
                        </a:solidFill>
                        <a:latin typeface="宋体" panose="02010600030101010101" pitchFamily="2" charset="-122"/>
                        <a:ea typeface="宋体" panose="02010600030101010101" pitchFamily="2" charset="-122"/>
                      </a:endParaRPr>
                    </a:p>
                    <a:p>
                      <a:pPr marL="83820" indent="-4445" algn="l" eaLnBrk="0" fontAlgn="base">
                        <a:lnSpc>
                          <a:spcPct val="129000"/>
                        </a:lnSpc>
                        <a:spcBef>
                          <a:spcPts val="1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组件无法独立完成目标，</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必须人为干预</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4558030" y="1876425"/>
            <a:ext cx="3122930" cy="460375"/>
          </a:xfrm>
          <a:prstGeom prst="rect">
            <a:avLst/>
          </a:prstGeom>
        </p:spPr>
        <p:style>
          <a:lnRef idx="0">
            <a:srgbClr val="FFFFFF"/>
          </a:lnRef>
          <a:fillRef idx="3">
            <a:schemeClr val="accent6"/>
          </a:fillRef>
          <a:effectRef idx="0">
            <a:srgbClr val="FFFFFF"/>
          </a:effectRef>
          <a:fontRef idx="minor">
            <a:schemeClr val="lt1"/>
          </a:fontRef>
        </p:style>
        <p:txBody>
          <a:bodyPr wrap="square" rtlCol="0">
            <a:spAutoFit/>
          </a:bodyPr>
          <a:p>
            <a:pPr algn="ctr"/>
            <a:r>
              <a:rPr lang="zh-CN" altLang="en-US" sz="2400"/>
              <a:t>自治性可信证据</a:t>
            </a:r>
            <a:endParaRPr lang="zh-CN" altLang="en-US" sz="2400"/>
          </a:p>
        </p:txBody>
      </p:sp>
    </p:spTree>
    <p:custDataLst>
      <p:tags r:id="rId4"/>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1020445"/>
          </a:xfrm>
          <a:prstGeom prst="rect">
            <a:avLst/>
          </a:prstGeom>
          <a:noFill/>
        </p:spPr>
        <p:txBody>
          <a:bodyPr wrap="square" rtlCol="0">
            <a:noAutofit/>
          </a:bodyPr>
          <a:p>
            <a:r>
              <a:rPr lang="zh-CN" altLang="en-US" sz="2800"/>
              <a:t>组件可学习性主要体现在组件能否根据已有的工作信息进行学习，以在未</a:t>
            </a:r>
            <a:r>
              <a:rPr lang="en-US" altLang="zh-CN" sz="2800"/>
              <a:t> </a:t>
            </a:r>
            <a:r>
              <a:rPr lang="zh-CN" altLang="en-US" sz="2800"/>
              <a:t>来更好地提供服务。</a:t>
            </a:r>
            <a:endParaRPr lang="zh-CN" altLang="en-US" sz="2800"/>
          </a:p>
          <a:p>
            <a:endParaRPr lang="en-US" altLang="zh-CN" sz="2800"/>
          </a:p>
          <a:p>
            <a:endParaRPr lang="zh-CN" altLang="en-US" sz="2800"/>
          </a:p>
        </p:txBody>
      </p:sp>
      <p:graphicFrame>
        <p:nvGraphicFramePr>
          <p:cNvPr id="3" name="表格 2"/>
          <p:cNvGraphicFramePr/>
          <p:nvPr>
            <p:custDataLst>
              <p:tags r:id="rId3"/>
            </p:custDataLst>
          </p:nvPr>
        </p:nvGraphicFramePr>
        <p:xfrm>
          <a:off x="751205" y="2535555"/>
          <a:ext cx="10934065" cy="3952240"/>
        </p:xfrm>
        <a:graphic>
          <a:graphicData uri="http://schemas.openxmlformats.org/drawingml/2006/table">
            <a:tbl>
              <a:tblPr/>
              <a:tblGrid>
                <a:gridCol w="1205865"/>
                <a:gridCol w="1198880"/>
                <a:gridCol w="4967605"/>
                <a:gridCol w="3561715"/>
              </a:tblGrid>
              <a:tr h="1041400">
                <a:tc>
                  <a:txBody>
                    <a:bodyPr/>
                    <a:p>
                      <a:pPr marL="228600" indent="-133985" algn="l"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8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910840">
                <a:tc>
                  <a:txBody>
                    <a:bodyPr/>
                    <a:p>
                      <a:pPr marL="7683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适应性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542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可学习</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645" indent="1016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组件可以学习到攻击者的行为以</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应对未来的攻击</a:t>
                      </a:r>
                      <a:endParaRPr lang="zh-CN" sz="2400">
                        <a:solidFill>
                          <a:srgbClr val="000000"/>
                        </a:solidFill>
                        <a:latin typeface="宋体" panose="02010600030101010101" pitchFamily="2" charset="-122"/>
                        <a:ea typeface="宋体" panose="02010600030101010101" pitchFamily="2" charset="-122"/>
                      </a:endParaRPr>
                    </a:p>
                    <a:p>
                      <a:pPr marL="81280" indent="-254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组件可以学习以往恢复工作的开</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销</a:t>
                      </a:r>
                      <a:r>
                        <a:rPr lang="en-US" altLang="zh-CN" sz="2400">
                          <a:solidFill>
                            <a:srgbClr val="000000"/>
                          </a:solidFill>
                          <a:latin typeface="Times New Roman" panose="02020603050405020304"/>
                          <a:ea typeface="Times New Roman" panose="02020603050405020304"/>
                        </a:rPr>
                        <a:t>-</a:t>
                      </a:r>
                      <a:r>
                        <a:rPr lang="zh-CN" sz="2400">
                          <a:solidFill>
                            <a:srgbClr val="000000"/>
                          </a:solidFill>
                          <a:latin typeface="宋体" panose="02010600030101010101" pitchFamily="2" charset="-122"/>
                          <a:ea typeface="宋体" panose="02010600030101010101" pitchFamily="2" charset="-122"/>
                        </a:rPr>
                        <a:t>恢复比，以更好地开展恢复工作</a:t>
                      </a:r>
                      <a:endParaRPr lang="zh-CN" sz="2400">
                        <a:solidFill>
                          <a:srgbClr val="000000"/>
                        </a:solidFill>
                        <a:latin typeface="宋体" panose="02010600030101010101" pitchFamily="2" charset="-122"/>
                        <a:ea typeface="宋体" panose="02010600030101010101" pitchFamily="2" charset="-122"/>
                      </a:endParaRPr>
                    </a:p>
                    <a:p>
                      <a:pPr marL="81280" indent="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组件可以自动分析未知的系统漏</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洞及缺陷，以在未来进行修复</a:t>
                      </a:r>
                      <a:endParaRPr lang="en-US" altLang="zh-CN" sz="16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79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组件当前满足其中三点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组件当前满足其中两点</a:t>
                      </a:r>
                      <a:endParaRPr lang="zh-CN" sz="24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组件当前满足其中一点</a:t>
                      </a:r>
                      <a:endParaRPr lang="zh-CN" sz="2400">
                        <a:solidFill>
                          <a:srgbClr val="000000"/>
                        </a:solidFill>
                        <a:latin typeface="宋体" panose="02010600030101010101" pitchFamily="2" charset="-122"/>
                        <a:ea typeface="宋体" panose="02010600030101010101" pitchFamily="2" charset="-122"/>
                      </a:endParaRPr>
                    </a:p>
                    <a:p>
                      <a:pPr marL="7937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组件不满足任何一点</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4070350" y="1999615"/>
            <a:ext cx="3093085" cy="460375"/>
          </a:xfrm>
          <a:prstGeom prst="rect">
            <a:avLst/>
          </a:prstGeom>
        </p:spPr>
        <p:style>
          <a:lnRef idx="0">
            <a:srgbClr val="FFFFFF"/>
          </a:lnRef>
          <a:fillRef idx="3">
            <a:schemeClr val="accent4"/>
          </a:fillRef>
          <a:effectRef idx="0">
            <a:srgbClr val="FFFFFF"/>
          </a:effectRef>
          <a:fontRef idx="minor">
            <a:schemeClr val="dk1"/>
          </a:fontRef>
        </p:style>
        <p:txBody>
          <a:bodyPr wrap="square" rtlCol="0">
            <a:spAutoFit/>
          </a:bodyPr>
          <a:p>
            <a:pPr algn="ctr"/>
            <a:r>
              <a:rPr lang="zh-CN" altLang="en-US" sz="2400"/>
              <a:t>可学习性可信证据</a:t>
            </a:r>
            <a:endParaRPr lang="zh-CN" altLang="en-US" sz="2400"/>
          </a:p>
        </p:txBody>
      </p:sp>
    </p:spTree>
    <p:custDataLst>
      <p:tags r:id="rId4"/>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1020445"/>
          </a:xfrm>
          <a:prstGeom prst="rect">
            <a:avLst/>
          </a:prstGeom>
          <a:noFill/>
        </p:spPr>
        <p:txBody>
          <a:bodyPr wrap="square" rtlCol="0">
            <a:noAutofit/>
          </a:bodyPr>
          <a:p>
            <a:r>
              <a:rPr lang="zh-CN" sz="2800"/>
              <a:t>权重</a:t>
            </a:r>
            <a:endParaRPr lang="en-US" altLang="zh-CN" sz="2800"/>
          </a:p>
          <a:p>
            <a:endParaRPr lang="zh-CN" altLang="en-US" sz="2800"/>
          </a:p>
        </p:txBody>
      </p:sp>
      <p:graphicFrame>
        <p:nvGraphicFramePr>
          <p:cNvPr id="7" name="表格 6"/>
          <p:cNvGraphicFramePr/>
          <p:nvPr>
            <p:custDataLst>
              <p:tags r:id="rId3"/>
            </p:custDataLst>
          </p:nvPr>
        </p:nvGraphicFramePr>
        <p:xfrm>
          <a:off x="3242310" y="5198110"/>
          <a:ext cx="6345555" cy="1228090"/>
        </p:xfrm>
        <a:graphic>
          <a:graphicData uri="http://schemas.openxmlformats.org/drawingml/2006/table">
            <a:tbl>
              <a:tblPr/>
              <a:tblGrid>
                <a:gridCol w="1189990"/>
                <a:gridCol w="1716405"/>
                <a:gridCol w="1602105"/>
                <a:gridCol w="1837055"/>
              </a:tblGrid>
              <a:tr h="456565">
                <a:tc>
                  <a:txBody>
                    <a:bodyPr/>
                    <a:p>
                      <a:pPr marL="831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子属性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可用性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0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安全性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445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771525">
                <a:tc>
                  <a:txBody>
                    <a:bodyPr/>
                    <a:p>
                      <a:pPr marL="1485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2954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0.353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3017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0.324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3081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0.323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8" name="文本框 7"/>
          <p:cNvSpPr txBox="1"/>
          <p:nvPr/>
        </p:nvSpPr>
        <p:spPr>
          <a:xfrm>
            <a:off x="4328795" y="4519930"/>
            <a:ext cx="4319270" cy="460375"/>
          </a:xfrm>
          <a:prstGeom prst="rect">
            <a:avLst/>
          </a:prstGeom>
          <a:effectLst>
            <a:softEdge rad="50800"/>
          </a:effectLst>
        </p:spPr>
        <p:style>
          <a:lnRef idx="0">
            <a:srgbClr val="FFFFFF"/>
          </a:lnRef>
          <a:fillRef idx="1">
            <a:schemeClr val="accent4"/>
          </a:fillRef>
          <a:effectRef idx="0">
            <a:srgbClr val="FFFFFF"/>
          </a:effectRef>
          <a:fontRef idx="minor">
            <a:schemeClr val="dk1"/>
          </a:fontRef>
        </p:style>
        <p:txBody>
          <a:bodyPr wrap="square" rtlCol="0">
            <a:spAutoFit/>
          </a:bodyPr>
          <a:p>
            <a:r>
              <a:rPr lang="zh-CN" altLang="en-US" sz="2400"/>
              <a:t>可生存性子属性权重计算结果</a:t>
            </a:r>
            <a:endParaRPr lang="zh-CN" altLang="en-US" sz="2400"/>
          </a:p>
        </p:txBody>
      </p:sp>
      <p:sp>
        <p:nvSpPr>
          <p:cNvPr id="9" name="文本框 8"/>
          <p:cNvSpPr txBox="1"/>
          <p:nvPr/>
        </p:nvSpPr>
        <p:spPr>
          <a:xfrm>
            <a:off x="3792855" y="1910080"/>
            <a:ext cx="5630545" cy="521970"/>
          </a:xfrm>
          <a:prstGeom prst="rect">
            <a:avLst/>
          </a:prstGeom>
          <a:effectLst>
            <a:softEdge rad="50800"/>
          </a:effectLst>
        </p:spPr>
        <p:style>
          <a:lnRef idx="0">
            <a:srgbClr val="FFFFFF"/>
          </a:lnRef>
          <a:fillRef idx="1">
            <a:schemeClr val="accent6"/>
          </a:fillRef>
          <a:effectRef idx="0">
            <a:srgbClr val="FFFFFF"/>
          </a:effectRef>
          <a:fontRef idx="minor">
            <a:schemeClr val="lt1"/>
          </a:fontRef>
        </p:style>
        <p:txBody>
          <a:bodyPr wrap="square" rtlCol="0">
            <a:spAutoFit/>
          </a:bodyPr>
          <a:p>
            <a:pPr algn="ctr"/>
            <a:r>
              <a:rPr lang="zh-CN" altLang="en-US" sz="2800"/>
              <a:t>韧性可信属性权重计算结果</a:t>
            </a:r>
            <a:endParaRPr lang="zh-CN" altLang="en-US" sz="2800"/>
          </a:p>
        </p:txBody>
      </p:sp>
      <p:graphicFrame>
        <p:nvGraphicFramePr>
          <p:cNvPr id="12" name="表格 11"/>
          <p:cNvGraphicFramePr/>
          <p:nvPr>
            <p:custDataLst>
              <p:tags r:id="rId4"/>
            </p:custDataLst>
          </p:nvPr>
        </p:nvGraphicFramePr>
        <p:xfrm>
          <a:off x="3545840" y="2747010"/>
          <a:ext cx="5878195" cy="1262380"/>
        </p:xfrm>
        <a:graphic>
          <a:graphicData uri="http://schemas.openxmlformats.org/drawingml/2006/table">
            <a:tbl>
              <a:tblPr/>
              <a:tblGrid>
                <a:gridCol w="1058545"/>
                <a:gridCol w="1715135"/>
                <a:gridCol w="1714500"/>
                <a:gridCol w="1390015"/>
              </a:tblGrid>
              <a:tr h="631190">
                <a:tc>
                  <a:txBody>
                    <a:bodyPr/>
                    <a:p>
                      <a:pPr marL="8382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可生存性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可恢复性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631190">
                <a:tc>
                  <a:txBody>
                    <a:bodyPr/>
                    <a:p>
                      <a:pPr marL="8191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558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0.322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62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0.410</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3081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0.268</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ustDataLst>
      <p:tags r:id="rId5"/>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1020445"/>
          </a:xfrm>
          <a:prstGeom prst="rect">
            <a:avLst/>
          </a:prstGeom>
          <a:noFill/>
        </p:spPr>
        <p:txBody>
          <a:bodyPr wrap="square" rtlCol="0">
            <a:noAutofit/>
          </a:bodyPr>
          <a:p>
            <a:r>
              <a:rPr lang="zh-CN" sz="2800"/>
              <a:t>权重</a:t>
            </a:r>
            <a:endParaRPr lang="en-US" altLang="zh-CN" sz="2800"/>
          </a:p>
          <a:p>
            <a:endParaRPr lang="zh-CN" altLang="en-US" sz="2800"/>
          </a:p>
        </p:txBody>
      </p:sp>
      <p:graphicFrame>
        <p:nvGraphicFramePr>
          <p:cNvPr id="6" name="表格 5"/>
          <p:cNvGraphicFramePr/>
          <p:nvPr>
            <p:custDataLst>
              <p:tags r:id="rId3"/>
            </p:custDataLst>
          </p:nvPr>
        </p:nvGraphicFramePr>
        <p:xfrm>
          <a:off x="892175" y="4827905"/>
          <a:ext cx="10985500" cy="1281430"/>
        </p:xfrm>
        <a:graphic>
          <a:graphicData uri="http://schemas.openxmlformats.org/drawingml/2006/table">
            <a:tbl>
              <a:tblPr/>
              <a:tblGrid>
                <a:gridCol w="1926590"/>
                <a:gridCol w="2377440"/>
                <a:gridCol w="2377440"/>
                <a:gridCol w="2377440"/>
                <a:gridCol w="1926590"/>
              </a:tblGrid>
              <a:tr h="553720">
                <a:tc>
                  <a:txBody>
                    <a:bodyPr/>
                    <a:p>
                      <a:pPr marL="831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子属性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可拓展性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可重配置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可学习性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477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自治性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727710">
                <a:tc>
                  <a:txBody>
                    <a:bodyPr/>
                    <a:p>
                      <a:pPr marL="1485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558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0.251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62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0.237</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685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0.261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3081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0.251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graphicFrame>
        <p:nvGraphicFramePr>
          <p:cNvPr id="7" name="表格 6"/>
          <p:cNvGraphicFramePr/>
          <p:nvPr>
            <p:custDataLst>
              <p:tags r:id="rId4"/>
            </p:custDataLst>
          </p:nvPr>
        </p:nvGraphicFramePr>
        <p:xfrm>
          <a:off x="3169920" y="2190750"/>
          <a:ext cx="6325235" cy="1121410"/>
        </p:xfrm>
        <a:graphic>
          <a:graphicData uri="http://schemas.openxmlformats.org/drawingml/2006/table">
            <a:tbl>
              <a:tblPr/>
              <a:tblGrid>
                <a:gridCol w="1186180"/>
                <a:gridCol w="1710690"/>
                <a:gridCol w="1597025"/>
                <a:gridCol w="1831340"/>
              </a:tblGrid>
              <a:tr h="426720">
                <a:tc>
                  <a:txBody>
                    <a:bodyPr/>
                    <a:p>
                      <a:pPr marL="831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子属性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恢复性能</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恢复成本</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恢复时间</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694690">
                <a:tc>
                  <a:txBody>
                    <a:bodyPr/>
                    <a:p>
                      <a:pPr marL="1485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558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0.369</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62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0.294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9685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0.337</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8" name="文本框 7"/>
          <p:cNvSpPr txBox="1"/>
          <p:nvPr/>
        </p:nvSpPr>
        <p:spPr>
          <a:xfrm>
            <a:off x="3936365" y="1449070"/>
            <a:ext cx="4319270" cy="46037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可恢复性子属性权重计算结果</a:t>
            </a:r>
            <a:endParaRPr lang="zh-CN" altLang="en-US" sz="2400"/>
          </a:p>
        </p:txBody>
      </p:sp>
      <p:sp>
        <p:nvSpPr>
          <p:cNvPr id="9" name="文本框 8"/>
          <p:cNvSpPr txBox="1"/>
          <p:nvPr/>
        </p:nvSpPr>
        <p:spPr>
          <a:xfrm>
            <a:off x="3422650" y="3919220"/>
            <a:ext cx="5630545" cy="521970"/>
          </a:xfrm>
          <a:prstGeom prst="rect">
            <a:avLst/>
          </a:prstGeom>
        </p:spPr>
        <p:style>
          <a:lnRef idx="0">
            <a:srgbClr val="FFFFFF"/>
          </a:lnRef>
          <a:fillRef idx="3">
            <a:schemeClr val="accent2"/>
          </a:fillRef>
          <a:effectRef idx="0">
            <a:srgbClr val="FFFFFF"/>
          </a:effectRef>
          <a:fontRef idx="minor">
            <a:schemeClr val="dk1"/>
          </a:fontRef>
        </p:style>
        <p:txBody>
          <a:bodyPr wrap="square" rtlCol="0">
            <a:spAutoFit/>
          </a:bodyPr>
          <a:p>
            <a:pPr algn="ctr"/>
            <a:r>
              <a:rPr lang="zh-CN" altLang="en-US" sz="2800"/>
              <a:t>适应性子属性权重计算结果</a:t>
            </a:r>
            <a:endParaRPr lang="zh-CN" altLang="en-US" sz="2800"/>
          </a:p>
        </p:txBody>
      </p:sp>
    </p:spTree>
    <p:custDataLst>
      <p:tags r:id="rId5"/>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9925" y="82620"/>
            <a:ext cx="10969200" cy="705600"/>
          </a:xfrm>
        </p:spPr>
        <p:txBody>
          <a:bodyPr>
            <a:normAutofit/>
          </a:bodyPr>
          <a:p>
            <a:r>
              <a:rPr lang="en-US" altLang="zh-CN">
                <a:solidFill>
                  <a:srgbClr val="FF0000"/>
                </a:solidFill>
                <a:sym typeface="+mn-ea"/>
              </a:rPr>
              <a:t>8.2 </a:t>
            </a:r>
            <a:r>
              <a:rPr lang="zh-CN" altLang="en-US">
                <a:solidFill>
                  <a:srgbClr val="FF0000"/>
                </a:solidFill>
                <a:sym typeface="+mn-ea"/>
              </a:rPr>
              <a:t>软件组件</a:t>
            </a:r>
            <a:endParaRPr lang="zh-CN" altLang="en-US" sz="3200">
              <a:solidFill>
                <a:srgbClr val="FF0000"/>
              </a:solidFill>
              <a:sym typeface="+mn-ea"/>
            </a:endParaRPr>
          </a:p>
        </p:txBody>
      </p:sp>
      <p:graphicFrame>
        <p:nvGraphicFramePr>
          <p:cNvPr id="10" name="对象 9"/>
          <p:cNvGraphicFramePr/>
          <p:nvPr/>
        </p:nvGraphicFramePr>
        <p:xfrm>
          <a:off x="7593330" y="53340"/>
          <a:ext cx="4392930" cy="817245"/>
        </p:xfrm>
        <a:graphic>
          <a:graphicData uri="http://schemas.openxmlformats.org/presentationml/2006/ole">
            <mc:AlternateContent xmlns:mc="http://schemas.openxmlformats.org/markup-compatibility/2006">
              <mc:Choice xmlns:v="urn:schemas-microsoft-com:vml" Requires="v">
                <p:oleObj spid="_x0000_s13" name="" r:id="rId1" imgW="11239500" imgH="2009775" progId="Paint.Picture">
                  <p:embed/>
                </p:oleObj>
              </mc:Choice>
              <mc:Fallback>
                <p:oleObj name="" r:id="rId1" imgW="11239500" imgH="2009775" progId="Paint.Picture">
                  <p:embed/>
                  <p:pic>
                    <p:nvPicPr>
                      <p:cNvPr id="0" name="图片 10"/>
                      <p:cNvPicPr/>
                      <p:nvPr/>
                    </p:nvPicPr>
                    <p:blipFill>
                      <a:blip r:embed="rId2"/>
                      <a:stretch>
                        <a:fillRect/>
                      </a:stretch>
                    </p:blipFill>
                    <p:spPr>
                      <a:xfrm>
                        <a:off x="7593330" y="53340"/>
                        <a:ext cx="4392930" cy="817245"/>
                      </a:xfrm>
                      <a:prstGeom prst="rect">
                        <a:avLst/>
                      </a:prstGeom>
                    </p:spPr>
                  </p:pic>
                </p:oleObj>
              </mc:Fallback>
            </mc:AlternateContent>
          </a:graphicData>
        </a:graphic>
      </p:graphicFrame>
      <p:sp>
        <p:nvSpPr>
          <p:cNvPr id="4" name="文本框 3"/>
          <p:cNvSpPr txBox="1"/>
          <p:nvPr/>
        </p:nvSpPr>
        <p:spPr>
          <a:xfrm>
            <a:off x="770255" y="979170"/>
            <a:ext cx="9002395" cy="1020445"/>
          </a:xfrm>
          <a:prstGeom prst="rect">
            <a:avLst/>
          </a:prstGeom>
          <a:noFill/>
        </p:spPr>
        <p:txBody>
          <a:bodyPr wrap="square" rtlCol="0">
            <a:noAutofit/>
          </a:bodyPr>
          <a:p>
            <a:r>
              <a:rPr lang="zh-CN" sz="2800"/>
              <a:t>权重</a:t>
            </a:r>
            <a:endParaRPr lang="en-US" altLang="zh-CN" sz="2800"/>
          </a:p>
          <a:p>
            <a:endParaRPr lang="zh-CN" altLang="en-US" sz="2800"/>
          </a:p>
        </p:txBody>
      </p:sp>
      <p:sp>
        <p:nvSpPr>
          <p:cNvPr id="8" name="文本框 7"/>
          <p:cNvSpPr txBox="1"/>
          <p:nvPr/>
        </p:nvSpPr>
        <p:spPr>
          <a:xfrm>
            <a:off x="3936365" y="1753870"/>
            <a:ext cx="5317490" cy="46037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可恢复性子属性证据权重取值表</a:t>
            </a:r>
            <a:endParaRPr lang="zh-CN" altLang="en-US" sz="2400"/>
          </a:p>
        </p:txBody>
      </p:sp>
      <p:graphicFrame>
        <p:nvGraphicFramePr>
          <p:cNvPr id="3" name="表格 2"/>
          <p:cNvGraphicFramePr/>
          <p:nvPr>
            <p:custDataLst>
              <p:tags r:id="rId3"/>
            </p:custDataLst>
          </p:nvPr>
        </p:nvGraphicFramePr>
        <p:xfrm>
          <a:off x="467360" y="4684395"/>
          <a:ext cx="11189335" cy="2085975"/>
        </p:xfrm>
        <a:graphic>
          <a:graphicData uri="http://schemas.openxmlformats.org/drawingml/2006/table">
            <a:tbl>
              <a:tblPr/>
              <a:tblGrid>
                <a:gridCol w="1345565"/>
                <a:gridCol w="1229995"/>
                <a:gridCol w="1229995"/>
                <a:gridCol w="1229995"/>
                <a:gridCol w="1230630"/>
                <a:gridCol w="1229360"/>
                <a:gridCol w="1229995"/>
                <a:gridCol w="1229360"/>
                <a:gridCol w="1234440"/>
              </a:tblGrid>
              <a:tr h="549910">
                <a:tc>
                  <a:txBody>
                    <a:bodyPr/>
                    <a:p>
                      <a:pPr marL="1212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子属性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gridSpan="3">
                  <a:txBody>
                    <a:bodyPr/>
                    <a:p>
                      <a:pPr marL="67373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可用性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hMerge="1">
                  <a:tcP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hMerge="1">
                  <a:tcPr>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a:txBody>
                    <a:bodyPr/>
                    <a:p>
                      <a:pPr marL="958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安全性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gridSpan="4">
                  <a:txBody>
                    <a:bodyPr/>
                    <a:p>
                      <a:pPr marL="96520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hMerge="1">
                  <a:tcP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hMerge="1">
                  <a:tcP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hMerge="1">
                  <a:tcPr>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r>
              <a:tr h="621665">
                <a:tc>
                  <a:txBody>
                    <a:bodyPr/>
                    <a:p>
                      <a:pPr marL="18732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22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22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85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85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85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104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104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104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914400">
                <a:tc>
                  <a:txBody>
                    <a:bodyPr/>
                    <a:p>
                      <a:pPr marL="1866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089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089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089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7051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0955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018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018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018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4178935" y="4093845"/>
            <a:ext cx="4855845" cy="460375"/>
          </a:xfrm>
          <a:prstGeom prst="rect">
            <a:avLst/>
          </a:prstGeom>
        </p:spPr>
        <p:style>
          <a:lnRef idx="3">
            <a:schemeClr val="accent1"/>
          </a:lnRef>
          <a:fillRef idx="0">
            <a:srgbClr val="FFFFFF"/>
          </a:fillRef>
          <a:effectRef idx="0">
            <a:srgbClr val="FFFFFF"/>
          </a:effectRef>
          <a:fontRef idx="minor">
            <a:schemeClr val="tx1"/>
          </a:fontRef>
        </p:style>
        <p:txBody>
          <a:bodyPr wrap="square" rtlCol="0">
            <a:spAutoFit/>
          </a:bodyPr>
          <a:p>
            <a:pPr algn="ctr"/>
            <a:r>
              <a:rPr lang="zh-CN" altLang="en-US" sz="2400"/>
              <a:t>可生存性子属性证据权重取值表</a:t>
            </a:r>
            <a:endParaRPr lang="zh-CN" altLang="en-US" sz="2400"/>
          </a:p>
        </p:txBody>
      </p:sp>
      <p:graphicFrame>
        <p:nvGraphicFramePr>
          <p:cNvPr id="11" name="表格 10"/>
          <p:cNvGraphicFramePr/>
          <p:nvPr>
            <p:custDataLst>
              <p:tags r:id="rId4"/>
            </p:custDataLst>
          </p:nvPr>
        </p:nvGraphicFramePr>
        <p:xfrm>
          <a:off x="1012825" y="2513965"/>
          <a:ext cx="10737850" cy="1280160"/>
        </p:xfrm>
        <a:graphic>
          <a:graphicData uri="http://schemas.openxmlformats.org/drawingml/2006/table">
            <a:tbl>
              <a:tblPr/>
              <a:tblGrid>
                <a:gridCol w="1410970"/>
                <a:gridCol w="1715770"/>
                <a:gridCol w="2178685"/>
                <a:gridCol w="3074035"/>
                <a:gridCol w="2358390"/>
              </a:tblGrid>
              <a:tr h="213360">
                <a:tc>
                  <a:txBody>
                    <a:bodyPr/>
                    <a:p>
                      <a:pPr marL="33210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子属性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gridSpan="2">
                  <a:txBody>
                    <a:bodyPr/>
                    <a:p>
                      <a:pPr marL="79121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恢复性能</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hMerge="1">
                  <a:tcPr>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a:txBody>
                    <a:bodyPr/>
                    <a:p>
                      <a:pPr marL="26543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恢复成本</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543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恢复时间</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11455">
                <a:tc>
                  <a:txBody>
                    <a:bodyPr/>
                    <a:p>
                      <a:pPr marL="39814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4607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4671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4734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4798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213995">
                <a:tc>
                  <a:txBody>
                    <a:bodyPr/>
                    <a:p>
                      <a:pPr marL="39751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44577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0.6</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44577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50800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50800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ustDataLst>
      <p:tags r:id="rId5"/>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44932" y="479808"/>
            <a:ext cx="4424680" cy="645160"/>
          </a:xfrm>
          <a:prstGeom prst="rect">
            <a:avLst/>
          </a:prstGeom>
          <a:noFill/>
        </p:spPr>
        <p:txBody>
          <a:bodyPr wrap="none" rtlCol="0">
            <a:spAutoFit/>
          </a:bodyPr>
          <a:lstStyle/>
          <a:p>
            <a:r>
              <a:rPr lang="zh-CN" altLang="en-US" sz="3600" b="1" dirty="0" smtClean="0"/>
              <a:t>第八章</a:t>
            </a:r>
            <a:r>
              <a:rPr lang="en-US" altLang="zh-CN" sz="3600" b="1" dirty="0" smtClean="0"/>
              <a:t> </a:t>
            </a:r>
            <a:r>
              <a:rPr lang="zh-CN" altLang="en-US" sz="3600" b="1" dirty="0" smtClean="0"/>
              <a:t>软件韧性分析</a:t>
            </a:r>
            <a:endParaRPr lang="zh-CN" altLang="en-US" sz="3600" b="1" dirty="0" smtClean="0"/>
          </a:p>
        </p:txBody>
      </p:sp>
      <p:grpSp>
        <p:nvGrpSpPr>
          <p:cNvPr id="3" name="组合 2"/>
          <p:cNvGrpSpPr/>
          <p:nvPr>
            <p:custDataLst>
              <p:tags r:id="rId1"/>
            </p:custDataLst>
          </p:nvPr>
        </p:nvGrpSpPr>
        <p:grpSpPr>
          <a:xfrm>
            <a:off x="4497070" y="1554480"/>
            <a:ext cx="2930525" cy="545454"/>
            <a:chOff x="4601" y="2441"/>
            <a:chExt cx="4615" cy="875"/>
          </a:xfrm>
        </p:grpSpPr>
        <p:sp>
          <p:nvSpPr>
            <p:cNvPr id="7171" name="AutoShape 10"/>
            <p:cNvSpPr/>
            <p:nvPr>
              <p:custDataLst>
                <p:tags r:id="rId2"/>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2" name="文本框 1"/>
            <p:cNvSpPr txBox="1"/>
            <p:nvPr>
              <p:custDataLst>
                <p:tags r:id="rId3"/>
              </p:custDataLst>
            </p:nvPr>
          </p:nvSpPr>
          <p:spPr>
            <a:xfrm>
              <a:off x="4601" y="2556"/>
              <a:ext cx="4611" cy="739"/>
            </a:xfrm>
            <a:prstGeom prst="rect">
              <a:avLst/>
            </a:prstGeom>
            <a:noFill/>
          </p:spPr>
          <p:txBody>
            <a:bodyPr wrap="square" rtlCol="0">
              <a:spAutoFit/>
            </a:bodyPr>
            <a:p>
              <a:pPr algn="ctr"/>
              <a:r>
                <a:rPr lang="en-US" sz="2400"/>
                <a:t>8.1 软件</a:t>
              </a:r>
              <a:r>
                <a:rPr lang="zh-CN" altLang="en-US" sz="2400"/>
                <a:t>韧性</a:t>
              </a:r>
              <a:endParaRPr lang="zh-CN" altLang="en-US" sz="2400"/>
            </a:p>
          </p:txBody>
        </p:sp>
      </p:grpSp>
      <p:grpSp>
        <p:nvGrpSpPr>
          <p:cNvPr id="6" name="组合 5"/>
          <p:cNvGrpSpPr/>
          <p:nvPr>
            <p:custDataLst>
              <p:tags r:id="rId4"/>
            </p:custDataLst>
          </p:nvPr>
        </p:nvGrpSpPr>
        <p:grpSpPr>
          <a:xfrm>
            <a:off x="4466590" y="2783205"/>
            <a:ext cx="2948305" cy="552311"/>
            <a:chOff x="4573" y="2441"/>
            <a:chExt cx="4643" cy="886"/>
          </a:xfrm>
        </p:grpSpPr>
        <p:sp>
          <p:nvSpPr>
            <p:cNvPr id="7" name="AutoShape 10"/>
            <p:cNvSpPr/>
            <p:nvPr>
              <p:custDataLst>
                <p:tags r:id="rId5"/>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8" name="文本框 7"/>
            <p:cNvSpPr txBox="1"/>
            <p:nvPr>
              <p:custDataLst>
                <p:tags r:id="rId6"/>
              </p:custDataLst>
            </p:nvPr>
          </p:nvSpPr>
          <p:spPr>
            <a:xfrm>
              <a:off x="4573" y="2588"/>
              <a:ext cx="4594" cy="739"/>
            </a:xfrm>
            <a:prstGeom prst="rect">
              <a:avLst/>
            </a:prstGeom>
            <a:noFill/>
          </p:spPr>
          <p:txBody>
            <a:bodyPr wrap="square" rtlCol="0">
              <a:spAutoFit/>
            </a:bodyPr>
            <a:p>
              <a:pPr algn="ctr"/>
              <a:r>
                <a:rPr lang="en-US" altLang="zh-CN" sz="2400"/>
                <a:t>8.2 </a:t>
              </a:r>
              <a:r>
                <a:rPr lang="zh-CN" altLang="en-US" sz="2400"/>
                <a:t>软件组件</a:t>
              </a:r>
              <a:endParaRPr lang="zh-CN" altLang="en-US" sz="2400"/>
            </a:p>
          </p:txBody>
        </p:sp>
      </p:grpSp>
      <p:grpSp>
        <p:nvGrpSpPr>
          <p:cNvPr id="9" name="组合 8"/>
          <p:cNvGrpSpPr/>
          <p:nvPr>
            <p:custDataLst>
              <p:tags r:id="rId7"/>
            </p:custDataLst>
          </p:nvPr>
        </p:nvGrpSpPr>
        <p:grpSpPr>
          <a:xfrm>
            <a:off x="4425950" y="4013835"/>
            <a:ext cx="3055620" cy="552311"/>
            <a:chOff x="4472" y="2441"/>
            <a:chExt cx="4812" cy="886"/>
          </a:xfrm>
        </p:grpSpPr>
        <p:sp>
          <p:nvSpPr>
            <p:cNvPr id="10" name="AutoShape 10"/>
            <p:cNvSpPr/>
            <p:nvPr>
              <p:custDataLst>
                <p:tags r:id="rId8"/>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11" name="文本框 10"/>
            <p:cNvSpPr txBox="1"/>
            <p:nvPr>
              <p:custDataLst>
                <p:tags r:id="rId9"/>
              </p:custDataLst>
            </p:nvPr>
          </p:nvSpPr>
          <p:spPr>
            <a:xfrm>
              <a:off x="4472" y="2588"/>
              <a:ext cx="4812" cy="739"/>
            </a:xfrm>
            <a:prstGeom prst="rect">
              <a:avLst/>
            </a:prstGeom>
            <a:noFill/>
          </p:spPr>
          <p:txBody>
            <a:bodyPr wrap="square" rtlCol="0">
              <a:spAutoFit/>
            </a:bodyPr>
            <a:p>
              <a:pPr algn="ctr"/>
              <a:r>
                <a:rPr lang="en-US" altLang="zh-CN" sz="2400">
                  <a:solidFill>
                    <a:srgbClr val="FF0000"/>
                  </a:solidFill>
                </a:rPr>
                <a:t>8.3 </a:t>
              </a:r>
              <a:r>
                <a:rPr lang="zh-CN" altLang="en-US" sz="2400">
                  <a:solidFill>
                    <a:srgbClr val="FF0000"/>
                  </a:solidFill>
                </a:rPr>
                <a:t>韧性可信度量</a:t>
              </a:r>
              <a:endParaRPr lang="zh-CN" altLang="en-US" sz="2400">
                <a:solidFill>
                  <a:srgbClr val="FF0000"/>
                </a:solidFill>
              </a:endParaRPr>
            </a:p>
          </p:txBody>
        </p:sp>
      </p:grpSp>
      <p:graphicFrame>
        <p:nvGraphicFramePr>
          <p:cNvPr id="4" name="对象 3"/>
          <p:cNvGraphicFramePr/>
          <p:nvPr>
            <p:custDataLst>
              <p:tags r:id="rId10"/>
            </p:custDataLst>
          </p:nvPr>
        </p:nvGraphicFramePr>
        <p:xfrm>
          <a:off x="7642225" y="6123940"/>
          <a:ext cx="4392930" cy="734060"/>
        </p:xfrm>
        <a:graphic>
          <a:graphicData uri="http://schemas.openxmlformats.org/presentationml/2006/ole">
            <mc:AlternateContent xmlns:mc="http://schemas.openxmlformats.org/markup-compatibility/2006">
              <mc:Choice xmlns:v="urn:schemas-microsoft-com:vml" Requires="v">
                <p:oleObj spid="_x0000_s39" name="" r:id="rId11" imgW="11239500" imgH="2009775" progId="Paint.Picture">
                  <p:embed/>
                </p:oleObj>
              </mc:Choice>
              <mc:Fallback>
                <p:oleObj name="" r:id="rId11" imgW="11239500" imgH="2009775" progId="Paint.Picture">
                  <p:embed/>
                  <p:pic>
                    <p:nvPicPr>
                      <p:cNvPr id="0" name="图片 10"/>
                      <p:cNvPicPr/>
                      <p:nvPr/>
                    </p:nvPicPr>
                    <p:blipFill>
                      <a:blip r:embed="rId12"/>
                      <a:stretch>
                        <a:fillRect/>
                      </a:stretch>
                    </p:blipFill>
                    <p:spPr>
                      <a:xfrm>
                        <a:off x="7642225" y="6123940"/>
                        <a:ext cx="4392930" cy="734060"/>
                      </a:xfrm>
                      <a:prstGeom prst="rect">
                        <a:avLst/>
                      </a:prstGeom>
                    </p:spPr>
                  </p:pic>
                </p:oleObj>
              </mc:Fallback>
            </mc:AlternateContent>
          </a:graphicData>
        </a:graphic>
      </p:graphicFrame>
      <p:grpSp>
        <p:nvGrpSpPr>
          <p:cNvPr id="12" name="组合 11"/>
          <p:cNvGrpSpPr/>
          <p:nvPr>
            <p:custDataLst>
              <p:tags r:id="rId13"/>
            </p:custDataLst>
          </p:nvPr>
        </p:nvGrpSpPr>
        <p:grpSpPr>
          <a:xfrm>
            <a:off x="4466590" y="4986655"/>
            <a:ext cx="2948305" cy="552311"/>
            <a:chOff x="4573" y="2441"/>
            <a:chExt cx="4643" cy="886"/>
          </a:xfrm>
        </p:grpSpPr>
        <p:sp>
          <p:nvSpPr>
            <p:cNvPr id="13" name="AutoShape 10"/>
            <p:cNvSpPr/>
            <p:nvPr>
              <p:custDataLst>
                <p:tags r:id="rId14"/>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14" name="文本框 13"/>
            <p:cNvSpPr txBox="1"/>
            <p:nvPr>
              <p:custDataLst>
                <p:tags r:id="rId15"/>
              </p:custDataLst>
            </p:nvPr>
          </p:nvSpPr>
          <p:spPr>
            <a:xfrm>
              <a:off x="4573" y="2588"/>
              <a:ext cx="4594" cy="739"/>
            </a:xfrm>
            <a:prstGeom prst="rect">
              <a:avLst/>
            </a:prstGeom>
            <a:noFill/>
          </p:spPr>
          <p:txBody>
            <a:bodyPr wrap="square" rtlCol="0">
              <a:spAutoFit/>
            </a:bodyPr>
            <a:p>
              <a:pPr algn="ctr"/>
              <a:r>
                <a:rPr lang="en-US" altLang="zh-CN" sz="2400"/>
                <a:t>8.4 </a:t>
              </a:r>
              <a:r>
                <a:rPr lang="zh-CN" altLang="en-US" sz="2400"/>
                <a:t>例子</a:t>
              </a:r>
              <a:endParaRPr lang="zh-CN" altLang="en-US" sz="240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rPr>
              <a:t>8.3 </a:t>
            </a:r>
            <a:r>
              <a:rPr lang="zh-CN" altLang="en-US" dirty="0" smtClean="0">
                <a:solidFill>
                  <a:srgbClr val="FF0000"/>
                </a:solidFill>
              </a:rPr>
              <a:t>韧性可信度量模型</a:t>
            </a:r>
            <a:endParaRPr lang="zh-CN" altLang="en-US" dirty="0" smtClean="0">
              <a:solidFill>
                <a:srgbClr val="FF0000"/>
              </a:solidFill>
            </a:endParaRPr>
          </a:p>
        </p:txBody>
      </p:sp>
      <p:pic>
        <p:nvPicPr>
          <p:cNvPr id="126" name="IM 126"/>
          <p:cNvPicPr/>
          <p:nvPr/>
        </p:nvPicPr>
        <p:blipFill>
          <a:blip r:embed="rId1"/>
          <a:stretch>
            <a:fillRect/>
          </a:stretch>
        </p:blipFill>
        <p:spPr>
          <a:xfrm>
            <a:off x="2493010" y="1038860"/>
            <a:ext cx="6515735" cy="5510530"/>
          </a:xfrm>
          <a:prstGeom prst="rect">
            <a:avLst/>
          </a:prstGeom>
        </p:spPr>
      </p:pic>
      <p:sp>
        <p:nvSpPr>
          <p:cNvPr id="6" name="文本框 5"/>
          <p:cNvSpPr txBox="1"/>
          <p:nvPr/>
        </p:nvSpPr>
        <p:spPr>
          <a:xfrm>
            <a:off x="750570" y="1391285"/>
            <a:ext cx="514350" cy="5107940"/>
          </a:xfrm>
          <a:prstGeom prst="rect">
            <a:avLst/>
          </a:prstGeom>
        </p:spPr>
        <p:style>
          <a:lnRef idx="0">
            <a:srgbClr val="FFFFFF"/>
          </a:lnRef>
          <a:fillRef idx="3">
            <a:schemeClr val="accent6"/>
          </a:fillRef>
          <a:effectRef idx="0">
            <a:srgbClr val="FFFFFF"/>
          </a:effectRef>
          <a:fontRef idx="minor">
            <a:schemeClr val="lt1"/>
          </a:fontRef>
        </p:style>
        <p:txBody>
          <a:bodyPr wrap="square" rtlCol="0">
            <a:spAutoFit/>
          </a:bodyPr>
          <a:p>
            <a:r>
              <a:rPr lang="en-US" altLang="zh-CN"/>
              <a:t> </a:t>
            </a:r>
            <a:r>
              <a:rPr lang="zh-CN" altLang="en-US" sz="2800"/>
              <a:t>组件韧性可信性计算模型</a:t>
            </a:r>
            <a:endParaRPr lang="zh-CN" altLang="en-US" sz="2800"/>
          </a:p>
        </p:txBody>
      </p:sp>
      <p:sp>
        <p:nvSpPr>
          <p:cNvPr id="7" name="文本框 6"/>
          <p:cNvSpPr txBox="1"/>
          <p:nvPr/>
        </p:nvSpPr>
        <p:spPr>
          <a:xfrm>
            <a:off x="9393555" y="578485"/>
            <a:ext cx="2613025" cy="5962650"/>
          </a:xfrm>
          <a:prstGeom prst="rect">
            <a:avLst/>
          </a:prstGeom>
        </p:spPr>
        <p:style>
          <a:lnRef idx="3">
            <a:schemeClr val="accent1"/>
          </a:lnRef>
          <a:fillRef idx="0">
            <a:srgbClr val="FFFFFF"/>
          </a:fillRef>
          <a:effectRef idx="0">
            <a:srgbClr val="FFFFFF"/>
          </a:effectRef>
          <a:fontRef idx="minor">
            <a:schemeClr val="tx1"/>
          </a:fontRef>
        </p:style>
        <p:txBody>
          <a:bodyPr wrap="square" rtlCol="0">
            <a:noAutofit/>
          </a:bodyPr>
          <a:p>
            <a:pPr marL="457200" indent="-457200">
              <a:buFont typeface="Wingdings" panose="05000000000000000000" charset="0"/>
              <a:buChar char="l"/>
            </a:pPr>
            <a:r>
              <a:rPr lang="zh-CN" altLang="en-US" sz="2800"/>
              <a:t>属性的可信值由子属性值计算可得，</a:t>
            </a:r>
            <a:endParaRPr lang="zh-CN" altLang="en-US" sz="2800"/>
          </a:p>
          <a:p>
            <a:pPr marL="457200" indent="-457200">
              <a:buFont typeface="Wingdings" panose="05000000000000000000" charset="0"/>
              <a:buChar char="l"/>
            </a:pPr>
            <a:r>
              <a:rPr lang="zh-CN" altLang="en-US" sz="2800"/>
              <a:t>组件子属性的可信值由可信度量元获得，</a:t>
            </a:r>
            <a:endParaRPr lang="zh-CN" altLang="en-US" sz="2800"/>
          </a:p>
          <a:p>
            <a:pPr marL="457200" indent="-457200">
              <a:buFont typeface="Wingdings" panose="05000000000000000000" charset="0"/>
              <a:buChar char="l"/>
            </a:pPr>
            <a:r>
              <a:rPr lang="zh-CN" altLang="en-US" sz="2800"/>
              <a:t>可信度量元等级的选定从可信证</a:t>
            </a:r>
            <a:r>
              <a:rPr lang="en-US" altLang="zh-CN" sz="2800"/>
              <a:t> </a:t>
            </a:r>
            <a:r>
              <a:rPr lang="zh-CN" altLang="en-US" sz="2800"/>
              <a:t>据中获得，</a:t>
            </a:r>
            <a:endParaRPr lang="zh-CN" altLang="en-US" sz="2800"/>
          </a:p>
          <a:p>
            <a:pPr marL="457200" indent="-457200">
              <a:buFont typeface="Wingdings" panose="05000000000000000000" charset="0"/>
              <a:buChar char="l"/>
            </a:pPr>
            <a:r>
              <a:rPr lang="zh-CN" altLang="en-US" sz="2800"/>
              <a:t>可信证据从产品数据库中获得。</a:t>
            </a:r>
            <a:endParaRPr lang="zh-CN" altLang="en-US" sz="280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8.3 </a:t>
            </a:r>
            <a:r>
              <a:rPr lang="zh-CN" altLang="en-US" dirty="0" smtClean="0">
                <a:solidFill>
                  <a:srgbClr val="FF0000"/>
                </a:solidFill>
                <a:sym typeface="+mn-ea"/>
              </a:rPr>
              <a:t>韧性可信度量模型</a:t>
            </a:r>
            <a:endParaRPr lang="en-US" altLang="zh-CN" dirty="0" smtClean="0"/>
          </a:p>
        </p:txBody>
      </p:sp>
      <p:sp>
        <p:nvSpPr>
          <p:cNvPr id="3" name="Content Placeholder 2"/>
          <p:cNvSpPr>
            <a:spLocks noGrp="1"/>
          </p:cNvSpPr>
          <p:nvPr>
            <p:ph sz="half" idx="1"/>
          </p:nvPr>
        </p:nvSpPr>
        <p:spPr>
          <a:xfrm>
            <a:off x="608330" y="842645"/>
            <a:ext cx="11501120" cy="5880100"/>
          </a:xfrm>
        </p:spPr>
        <p:style>
          <a:lnRef idx="2">
            <a:schemeClr val="accent2"/>
          </a:lnRef>
          <a:fillRef idx="1">
            <a:schemeClr val="lt1"/>
          </a:fillRef>
          <a:effectRef idx="0">
            <a:schemeClr val="accent2"/>
          </a:effectRef>
          <a:fontRef idx="minor">
            <a:schemeClr val="dk1"/>
          </a:fontRef>
        </p:style>
        <p:txBody>
          <a:bodyPr>
            <a:noAutofit/>
          </a:bodyPr>
          <a:lstStyle/>
          <a:p>
            <a:pPr marL="0" indent="0">
              <a:buNone/>
            </a:pPr>
            <a:endParaRPr lang="zh-CN" altLang="en-US"/>
          </a:p>
          <a:p>
            <a:pPr marL="0" indent="0">
              <a:buNone/>
            </a:pPr>
            <a:r>
              <a:rPr lang="zh-CN" altLang="en-US" sz="2800"/>
              <a:t>度量元都是</a:t>
            </a:r>
            <a:r>
              <a:rPr lang="en-US" altLang="zh-CN" sz="2800"/>
              <a:t>A,B,C,D</a:t>
            </a:r>
            <a:r>
              <a:rPr lang="zh-CN" altLang="en-US" sz="2800"/>
              <a:t>形式</a:t>
            </a:r>
            <a:endParaRPr lang="zh-CN" altLang="en-US" sz="2800"/>
          </a:p>
          <a:p>
            <a:pPr marL="0" indent="0">
              <a:buNone/>
            </a:pPr>
            <a:r>
              <a:rPr lang="zh-CN" altLang="en-US" sz="2800"/>
              <a:t>因而直接定义</a:t>
            </a:r>
            <a:r>
              <a:rPr lang="en-US" altLang="zh-CN" sz="2800"/>
              <a:t>ABCD</a:t>
            </a:r>
            <a:r>
              <a:rPr lang="zh-CN" altLang="en-US" sz="2800"/>
              <a:t>的取值就可以了：</a:t>
            </a:r>
            <a:endParaRPr lang="zh-CN" altLang="en-US" sz="2800"/>
          </a:p>
          <a:p>
            <a:pPr marL="0" indent="0">
              <a:buNone/>
            </a:pPr>
            <a:r>
              <a:rPr lang="en-US" altLang="zh-CN" sz="2800"/>
              <a:t>A:10</a:t>
            </a:r>
            <a:endParaRPr lang="en-US" altLang="zh-CN" sz="2800"/>
          </a:p>
          <a:p>
            <a:pPr marL="0" indent="0">
              <a:buNone/>
            </a:pPr>
            <a:r>
              <a:rPr lang="en-US" altLang="zh-CN" sz="2800"/>
              <a:t>B:7</a:t>
            </a:r>
            <a:endParaRPr lang="en-US" altLang="zh-CN" sz="2800"/>
          </a:p>
          <a:p>
            <a:pPr marL="0" indent="0">
              <a:buNone/>
            </a:pPr>
            <a:r>
              <a:rPr lang="en-US" altLang="zh-CN" sz="2800"/>
              <a:t>C:4</a:t>
            </a:r>
            <a:endParaRPr lang="en-US" altLang="zh-CN" sz="2800"/>
          </a:p>
          <a:p>
            <a:pPr marL="0" indent="0">
              <a:buNone/>
            </a:pPr>
            <a:r>
              <a:rPr lang="en-US" altLang="zh-CN" sz="2800"/>
              <a:t>D:1</a:t>
            </a:r>
            <a:endParaRPr lang="zh-CN" altLang="en-US" sz="2800"/>
          </a:p>
          <a:p>
            <a:pPr marL="0" indent="0">
              <a:buNone/>
            </a:pPr>
            <a:endParaRPr lang="zh-CN" altLang="en-US" sz="280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8.3 </a:t>
            </a:r>
            <a:r>
              <a:rPr lang="zh-CN" altLang="en-US" dirty="0" smtClean="0">
                <a:solidFill>
                  <a:srgbClr val="FF0000"/>
                </a:solidFill>
                <a:sym typeface="+mn-ea"/>
              </a:rPr>
              <a:t>韧性可信度量模型</a:t>
            </a:r>
            <a:endParaRPr lang="en-US" altLang="zh-CN" dirty="0" smtClean="0"/>
          </a:p>
        </p:txBody>
      </p:sp>
      <p:sp>
        <p:nvSpPr>
          <p:cNvPr id="3" name="Content Placeholder 2"/>
          <p:cNvSpPr>
            <a:spLocks noGrp="1"/>
          </p:cNvSpPr>
          <p:nvPr>
            <p:ph sz="half" idx="1"/>
          </p:nvPr>
        </p:nvSpPr>
        <p:spPr>
          <a:xfrm>
            <a:off x="608330" y="842645"/>
            <a:ext cx="11501120" cy="4419600"/>
          </a:xfrm>
        </p:spPr>
        <p:style>
          <a:lnRef idx="2">
            <a:schemeClr val="accent2"/>
          </a:lnRef>
          <a:fillRef idx="1">
            <a:schemeClr val="lt1"/>
          </a:fillRef>
          <a:effectRef idx="0">
            <a:schemeClr val="accent2"/>
          </a:effectRef>
          <a:fontRef idx="minor">
            <a:schemeClr val="dk1"/>
          </a:fontRef>
        </p:style>
        <p:txBody>
          <a:bodyPr>
            <a:noAutofit/>
          </a:bodyPr>
          <a:lstStyle/>
          <a:p>
            <a:pPr marL="0" indent="0">
              <a:buNone/>
            </a:pPr>
            <a:r>
              <a:rPr lang="zh-CN" altLang="en-US" sz="2800"/>
              <a:t>子属性可信值计算：</a:t>
            </a:r>
            <a:endParaRPr lang="zh-CN" altLang="en-US" sz="280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2200275" y="1615758"/>
          <a:ext cx="7859395" cy="2679700"/>
        </p:xfrm>
        <a:graphic>
          <a:graphicData uri="http://schemas.openxmlformats.org/presentationml/2006/ole">
            <mc:AlternateContent xmlns:mc="http://schemas.openxmlformats.org/markup-compatibility/2006">
              <mc:Choice xmlns:v="urn:schemas-microsoft-com:vml" Requires="v">
                <p:oleObj spid="_x0000_s1025" name="" r:id="rId4" imgW="1790700" imgH="609600" progId="Equation.KSEE3">
                  <p:embed/>
                </p:oleObj>
              </mc:Choice>
              <mc:Fallback>
                <p:oleObj name="" r:id="rId4" imgW="1790700" imgH="609600" progId="Equation.KSEE3">
                  <p:embed/>
                  <p:pic>
                    <p:nvPicPr>
                      <p:cNvPr id="0" name="图片 1024"/>
                      <p:cNvPicPr/>
                      <p:nvPr/>
                    </p:nvPicPr>
                    <p:blipFill>
                      <a:blip r:embed="rId5"/>
                      <a:stretch>
                        <a:fillRect/>
                      </a:stretch>
                    </p:blipFill>
                    <p:spPr>
                      <a:xfrm>
                        <a:off x="2200275" y="1615758"/>
                        <a:ext cx="7859395" cy="2679700"/>
                      </a:xfrm>
                      <a:prstGeom prst="rect">
                        <a:avLst/>
                      </a:prstGeom>
                    </p:spPr>
                  </p:pic>
                </p:oleObj>
              </mc:Fallback>
            </mc:AlternateContent>
          </a:graphicData>
        </a:graphic>
      </p:graphicFrame>
      <p:sp>
        <p:nvSpPr>
          <p:cNvPr id="7" name="文本框 6"/>
          <p:cNvSpPr txBox="1"/>
          <p:nvPr/>
        </p:nvSpPr>
        <p:spPr>
          <a:xfrm>
            <a:off x="1295400" y="5588635"/>
            <a:ext cx="9793605" cy="706755"/>
          </a:xfrm>
          <a:prstGeom prst="rect">
            <a:avLst/>
          </a:prstGeom>
          <a:noFill/>
        </p:spPr>
        <p:txBody>
          <a:bodyPr wrap="square" rtlCol="0">
            <a:spAutoFit/>
          </a:bodyPr>
          <a:p>
            <a:r>
              <a:rPr lang="zh-CN" altLang="en-US" sz="2400"/>
              <a:t>其中</a:t>
            </a:r>
            <a:r>
              <a:rPr lang="en-US" altLang="zh-CN" sz="2400"/>
              <a:t> Metric</a:t>
            </a:r>
            <a:r>
              <a:rPr lang="en-US" altLang="zh-CN" sz="2400" baseline="-25000"/>
              <a:t>i</a:t>
            </a:r>
            <a:r>
              <a:rPr lang="zh-CN" altLang="en-US" sz="2400"/>
              <a:t>是子属性</a:t>
            </a:r>
            <a:r>
              <a:rPr lang="en-US" altLang="zh-CN" sz="2400"/>
              <a:t>j</a:t>
            </a:r>
            <a:r>
              <a:rPr lang="zh-CN" altLang="en-US" sz="2400"/>
              <a:t>的第</a:t>
            </a:r>
            <a:r>
              <a:rPr lang="en-US" altLang="zh-CN" sz="2400"/>
              <a:t>i</a:t>
            </a:r>
            <a:r>
              <a:rPr lang="zh-CN" altLang="en-US" sz="2400"/>
              <a:t>个证据对应的度量值，而</a:t>
            </a:r>
            <a:r>
              <a:rPr lang="zh-CN" altLang="en-US" sz="4000">
                <a:latin typeface="Arial" panose="020B0604020202020204" pitchFamily="34" charset="0"/>
                <a:cs typeface="Arial" panose="020B0604020202020204" pitchFamily="34" charset="0"/>
              </a:rPr>
              <a:t>ᵧ</a:t>
            </a:r>
            <a:r>
              <a:rPr lang="en-US" altLang="zh-CN" sz="2400" baseline="-25000">
                <a:latin typeface="Arial" panose="020B0604020202020204" pitchFamily="34" charset="0"/>
                <a:cs typeface="Arial" panose="020B0604020202020204" pitchFamily="34" charset="0"/>
              </a:rPr>
              <a:t>i</a:t>
            </a:r>
            <a:r>
              <a:rPr lang="zh-CN" altLang="en-US" sz="2400">
                <a:latin typeface="Arial" panose="020B0604020202020204" pitchFamily="34" charset="0"/>
                <a:cs typeface="Arial" panose="020B0604020202020204" pitchFamily="34" charset="0"/>
              </a:rPr>
              <a:t>是第</a:t>
            </a:r>
            <a:r>
              <a:rPr lang="en-US" altLang="zh-CN" sz="2400">
                <a:latin typeface="Arial" panose="020B0604020202020204" pitchFamily="34" charset="0"/>
                <a:cs typeface="Arial" panose="020B0604020202020204" pitchFamily="34" charset="0"/>
              </a:rPr>
              <a:t>i</a:t>
            </a:r>
            <a:r>
              <a:rPr lang="zh-CN" altLang="en-US" sz="2400">
                <a:latin typeface="Arial" panose="020B0604020202020204" pitchFamily="34" charset="0"/>
                <a:cs typeface="Arial" panose="020B0604020202020204" pitchFamily="34" charset="0"/>
              </a:rPr>
              <a:t>个证据的权重</a:t>
            </a:r>
            <a:endParaRPr lang="zh-CN" altLang="en-US" sz="2400">
              <a:latin typeface="Arial" panose="020B0604020202020204" pitchFamily="34" charset="0"/>
              <a:cs typeface="Arial" panose="020B0604020202020204" pitchFamily="34"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8.3 </a:t>
            </a:r>
            <a:r>
              <a:rPr lang="zh-CN" altLang="en-US" dirty="0" smtClean="0">
                <a:solidFill>
                  <a:srgbClr val="FF0000"/>
                </a:solidFill>
                <a:sym typeface="+mn-ea"/>
              </a:rPr>
              <a:t>韧性可信度量模型</a:t>
            </a:r>
            <a:endParaRPr lang="en-US" altLang="zh-CN" dirty="0" smtClean="0"/>
          </a:p>
        </p:txBody>
      </p:sp>
      <p:sp>
        <p:nvSpPr>
          <p:cNvPr id="3" name="Content Placeholder 2"/>
          <p:cNvSpPr>
            <a:spLocks noGrp="1"/>
          </p:cNvSpPr>
          <p:nvPr>
            <p:ph sz="half" idx="1"/>
          </p:nvPr>
        </p:nvSpPr>
        <p:spPr>
          <a:xfrm>
            <a:off x="608330" y="842645"/>
            <a:ext cx="11501120" cy="4419600"/>
          </a:xfrm>
        </p:spPr>
        <p:style>
          <a:lnRef idx="2">
            <a:schemeClr val="accent2"/>
          </a:lnRef>
          <a:fillRef idx="1">
            <a:schemeClr val="lt1"/>
          </a:fillRef>
          <a:effectRef idx="0">
            <a:schemeClr val="accent2"/>
          </a:effectRef>
          <a:fontRef idx="minor">
            <a:schemeClr val="dk1"/>
          </a:fontRef>
        </p:style>
        <p:txBody>
          <a:bodyPr>
            <a:noAutofit/>
          </a:bodyPr>
          <a:lstStyle/>
          <a:p>
            <a:pPr marL="0" indent="0">
              <a:buNone/>
            </a:pPr>
            <a:r>
              <a:rPr lang="zh-CN" altLang="en-US" sz="2800"/>
              <a:t>属性可信值计算：</a:t>
            </a:r>
            <a:endParaRPr lang="zh-CN" altLang="en-US" sz="280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2450783" y="1503998"/>
          <a:ext cx="7358380" cy="2903220"/>
        </p:xfrm>
        <a:graphic>
          <a:graphicData uri="http://schemas.openxmlformats.org/presentationml/2006/ole">
            <mc:AlternateContent xmlns:mc="http://schemas.openxmlformats.org/markup-compatibility/2006">
              <mc:Choice xmlns:v="urn:schemas-microsoft-com:vml" Requires="v">
                <p:oleObj spid="_x0000_s1025" name="" r:id="rId4" imgW="1676400" imgH="660400" progId="Equation.KSEE3">
                  <p:embed/>
                </p:oleObj>
              </mc:Choice>
              <mc:Fallback>
                <p:oleObj name="" r:id="rId4" imgW="1676400" imgH="660400" progId="Equation.KSEE3">
                  <p:embed/>
                  <p:pic>
                    <p:nvPicPr>
                      <p:cNvPr id="0" name="图片 1024"/>
                      <p:cNvPicPr/>
                      <p:nvPr/>
                    </p:nvPicPr>
                    <p:blipFill>
                      <a:blip r:embed="rId5"/>
                      <a:stretch>
                        <a:fillRect/>
                      </a:stretch>
                    </p:blipFill>
                    <p:spPr>
                      <a:xfrm>
                        <a:off x="2450783" y="1503998"/>
                        <a:ext cx="7358380" cy="2903220"/>
                      </a:xfrm>
                      <a:prstGeom prst="rect">
                        <a:avLst/>
                      </a:prstGeom>
                    </p:spPr>
                  </p:pic>
                </p:oleObj>
              </mc:Fallback>
            </mc:AlternateContent>
          </a:graphicData>
        </a:graphic>
      </p:graphicFrame>
      <p:sp>
        <p:nvSpPr>
          <p:cNvPr id="7" name="文本框 6"/>
          <p:cNvSpPr txBox="1"/>
          <p:nvPr/>
        </p:nvSpPr>
        <p:spPr>
          <a:xfrm>
            <a:off x="2324735" y="5588635"/>
            <a:ext cx="6501130" cy="829945"/>
          </a:xfrm>
          <a:prstGeom prst="rect">
            <a:avLst/>
          </a:prstGeom>
          <a:noFill/>
        </p:spPr>
        <p:txBody>
          <a:bodyPr wrap="square" rtlCol="0">
            <a:spAutoFit/>
          </a:bodyPr>
          <a:p>
            <a:r>
              <a:rPr lang="zh-CN" altLang="en-US" sz="2400"/>
              <a:t>其中</a:t>
            </a:r>
            <a:r>
              <a:rPr lang="en-US" altLang="zh-CN" sz="2400"/>
              <a:t> </a:t>
            </a:r>
            <a:r>
              <a:rPr lang="zh-CN" altLang="en-US" sz="2400"/>
              <a:t>子属性</a:t>
            </a:r>
            <a:r>
              <a:rPr lang="en-US" altLang="zh-CN" sz="2400" baseline="-25000"/>
              <a:t>j</a:t>
            </a:r>
            <a:r>
              <a:rPr lang="zh-CN" altLang="en-US" sz="2400"/>
              <a:t>是属性</a:t>
            </a:r>
            <a:r>
              <a:rPr lang="en-US" altLang="zh-CN" sz="2400"/>
              <a:t>i</a:t>
            </a:r>
            <a:r>
              <a:rPr lang="zh-CN" altLang="en-US" sz="2400"/>
              <a:t>对应的第</a:t>
            </a:r>
            <a:r>
              <a:rPr lang="en-US" altLang="zh-CN" sz="2400"/>
              <a:t>j</a:t>
            </a:r>
            <a:r>
              <a:rPr lang="zh-CN" altLang="en-US" sz="2400"/>
              <a:t>个子属性的度量值，而</a:t>
            </a:r>
            <a:r>
              <a:rPr lang="zh-CN" altLang="en-US" sz="2400">
                <a:latin typeface="Arial" panose="020B0604020202020204" pitchFamily="34" charset="0"/>
                <a:cs typeface="Arial" panose="020B0604020202020204" pitchFamily="34" charset="0"/>
              </a:rPr>
              <a:t>β</a:t>
            </a:r>
            <a:r>
              <a:rPr lang="en-US" altLang="zh-CN" sz="2400" baseline="-25000">
                <a:latin typeface="Arial" panose="020B0604020202020204" pitchFamily="34" charset="0"/>
                <a:cs typeface="Arial" panose="020B0604020202020204" pitchFamily="34" charset="0"/>
              </a:rPr>
              <a:t>j</a:t>
            </a:r>
            <a:r>
              <a:rPr lang="zh-CN" altLang="en-US" sz="2400">
                <a:latin typeface="Arial" panose="020B0604020202020204" pitchFamily="34" charset="0"/>
                <a:cs typeface="Arial" panose="020B0604020202020204" pitchFamily="34" charset="0"/>
              </a:rPr>
              <a:t>是第</a:t>
            </a:r>
            <a:r>
              <a:rPr lang="en-US" altLang="zh-CN" sz="2400">
                <a:latin typeface="Arial" panose="020B0604020202020204" pitchFamily="34" charset="0"/>
                <a:cs typeface="Arial" panose="020B0604020202020204" pitchFamily="34" charset="0"/>
              </a:rPr>
              <a:t>j</a:t>
            </a:r>
            <a:r>
              <a:rPr lang="zh-CN" altLang="en-US" sz="2400">
                <a:latin typeface="Arial" panose="020B0604020202020204" pitchFamily="34" charset="0"/>
                <a:cs typeface="Arial" panose="020B0604020202020204" pitchFamily="34" charset="0"/>
              </a:rPr>
              <a:t>个子属性的权重</a:t>
            </a:r>
            <a:endParaRPr lang="zh-CN" altLang="en-US" sz="2400">
              <a:latin typeface="Arial" panose="020B0604020202020204" pitchFamily="34" charset="0"/>
              <a:cs typeface="Arial" panose="020B0604020202020204" pitchFamily="3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8.3 </a:t>
            </a:r>
            <a:r>
              <a:rPr lang="zh-CN" altLang="en-US" dirty="0" smtClean="0">
                <a:solidFill>
                  <a:srgbClr val="FF0000"/>
                </a:solidFill>
                <a:sym typeface="+mn-ea"/>
              </a:rPr>
              <a:t>韧性可信度量模型</a:t>
            </a:r>
            <a:endParaRPr lang="en-US" altLang="zh-CN" dirty="0" smtClean="0"/>
          </a:p>
        </p:txBody>
      </p:sp>
      <p:sp>
        <p:nvSpPr>
          <p:cNvPr id="3" name="Content Placeholder 2"/>
          <p:cNvSpPr>
            <a:spLocks noGrp="1"/>
          </p:cNvSpPr>
          <p:nvPr>
            <p:ph sz="half" idx="1"/>
          </p:nvPr>
        </p:nvSpPr>
        <p:spPr>
          <a:xfrm>
            <a:off x="608330" y="842645"/>
            <a:ext cx="11501120" cy="4419600"/>
          </a:xfrm>
        </p:spPr>
        <p:style>
          <a:lnRef idx="2">
            <a:schemeClr val="accent2"/>
          </a:lnRef>
          <a:fillRef idx="1">
            <a:schemeClr val="lt1"/>
          </a:fillRef>
          <a:effectRef idx="0">
            <a:schemeClr val="accent2"/>
          </a:effectRef>
          <a:fontRef idx="minor">
            <a:schemeClr val="dk1"/>
          </a:fontRef>
        </p:style>
        <p:txBody>
          <a:bodyPr>
            <a:noAutofit/>
          </a:bodyPr>
          <a:lstStyle/>
          <a:p>
            <a:pPr marL="0" indent="0">
              <a:buNone/>
            </a:pPr>
            <a:r>
              <a:rPr lang="zh-CN" altLang="en-US" sz="2800"/>
              <a:t>韧性可信值计算：</a:t>
            </a:r>
            <a:endParaRPr lang="zh-CN" altLang="en-US" sz="280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1153160" y="2526030"/>
          <a:ext cx="10086340" cy="721995"/>
        </p:xfrm>
        <a:graphic>
          <a:graphicData uri="http://schemas.openxmlformats.org/presentationml/2006/ole">
            <mc:AlternateContent xmlns:mc="http://schemas.openxmlformats.org/markup-compatibility/2006">
              <mc:Choice xmlns:v="urn:schemas-microsoft-com:vml" Requires="v">
                <p:oleObj spid="_x0000_s1025" name="" r:id="rId4" imgW="3556000" imgH="254000" progId="Equation.KSEE3">
                  <p:embed/>
                </p:oleObj>
              </mc:Choice>
              <mc:Fallback>
                <p:oleObj name="" r:id="rId4" imgW="3556000" imgH="254000" progId="Equation.KSEE3">
                  <p:embed/>
                  <p:pic>
                    <p:nvPicPr>
                      <p:cNvPr id="0" name="图片 1024"/>
                      <p:cNvPicPr/>
                      <p:nvPr/>
                    </p:nvPicPr>
                    <p:blipFill>
                      <a:blip r:embed="rId5"/>
                      <a:stretch>
                        <a:fillRect/>
                      </a:stretch>
                    </p:blipFill>
                    <p:spPr>
                      <a:xfrm>
                        <a:off x="1153160" y="2526030"/>
                        <a:ext cx="10086340" cy="721995"/>
                      </a:xfrm>
                      <a:prstGeom prst="rect">
                        <a:avLst/>
                      </a:prstGeom>
                    </p:spPr>
                  </p:pic>
                </p:oleObj>
              </mc:Fallback>
            </mc:AlternateContent>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44932" y="479808"/>
            <a:ext cx="4424680" cy="645160"/>
          </a:xfrm>
          <a:prstGeom prst="rect">
            <a:avLst/>
          </a:prstGeom>
          <a:noFill/>
        </p:spPr>
        <p:txBody>
          <a:bodyPr wrap="none" rtlCol="0">
            <a:spAutoFit/>
          </a:bodyPr>
          <a:lstStyle/>
          <a:p>
            <a:r>
              <a:rPr lang="zh-CN" altLang="en-US" sz="3600" b="1" dirty="0" smtClean="0"/>
              <a:t>第八章</a:t>
            </a:r>
            <a:r>
              <a:rPr lang="en-US" altLang="zh-CN" sz="3600" b="1" dirty="0" smtClean="0"/>
              <a:t> </a:t>
            </a:r>
            <a:r>
              <a:rPr lang="zh-CN" altLang="en-US" sz="3600" b="1" dirty="0" smtClean="0"/>
              <a:t>软件韧性分析</a:t>
            </a:r>
            <a:endParaRPr lang="zh-CN" altLang="en-US" sz="3600" b="1" dirty="0" smtClean="0"/>
          </a:p>
        </p:txBody>
      </p:sp>
      <p:grpSp>
        <p:nvGrpSpPr>
          <p:cNvPr id="3" name="组合 2"/>
          <p:cNvGrpSpPr/>
          <p:nvPr>
            <p:custDataLst>
              <p:tags r:id="rId1"/>
            </p:custDataLst>
          </p:nvPr>
        </p:nvGrpSpPr>
        <p:grpSpPr>
          <a:xfrm>
            <a:off x="4497070" y="1554480"/>
            <a:ext cx="2930525" cy="545454"/>
            <a:chOff x="4601" y="2441"/>
            <a:chExt cx="4615" cy="875"/>
          </a:xfrm>
        </p:grpSpPr>
        <p:sp>
          <p:nvSpPr>
            <p:cNvPr id="7171" name="AutoShape 10"/>
            <p:cNvSpPr/>
            <p:nvPr>
              <p:custDataLst>
                <p:tags r:id="rId2"/>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2" name="文本框 1"/>
            <p:cNvSpPr txBox="1"/>
            <p:nvPr>
              <p:custDataLst>
                <p:tags r:id="rId3"/>
              </p:custDataLst>
            </p:nvPr>
          </p:nvSpPr>
          <p:spPr>
            <a:xfrm>
              <a:off x="4601" y="2556"/>
              <a:ext cx="4611" cy="739"/>
            </a:xfrm>
            <a:prstGeom prst="rect">
              <a:avLst/>
            </a:prstGeom>
            <a:noFill/>
          </p:spPr>
          <p:txBody>
            <a:bodyPr wrap="square" rtlCol="0">
              <a:spAutoFit/>
            </a:bodyPr>
            <a:p>
              <a:pPr algn="ctr"/>
              <a:r>
                <a:rPr lang="en-US" sz="2400"/>
                <a:t>8.1 软件</a:t>
              </a:r>
              <a:r>
                <a:rPr lang="zh-CN" altLang="en-US" sz="2400"/>
                <a:t>韧性</a:t>
              </a:r>
              <a:endParaRPr lang="zh-CN" altLang="en-US" sz="2400"/>
            </a:p>
          </p:txBody>
        </p:sp>
      </p:grpSp>
      <p:grpSp>
        <p:nvGrpSpPr>
          <p:cNvPr id="6" name="组合 5"/>
          <p:cNvGrpSpPr/>
          <p:nvPr>
            <p:custDataLst>
              <p:tags r:id="rId4"/>
            </p:custDataLst>
          </p:nvPr>
        </p:nvGrpSpPr>
        <p:grpSpPr>
          <a:xfrm>
            <a:off x="4466590" y="2783205"/>
            <a:ext cx="2948305" cy="552311"/>
            <a:chOff x="4573" y="2441"/>
            <a:chExt cx="4643" cy="886"/>
          </a:xfrm>
        </p:grpSpPr>
        <p:sp>
          <p:nvSpPr>
            <p:cNvPr id="7" name="AutoShape 10"/>
            <p:cNvSpPr/>
            <p:nvPr>
              <p:custDataLst>
                <p:tags r:id="rId5"/>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8" name="文本框 7"/>
            <p:cNvSpPr txBox="1"/>
            <p:nvPr>
              <p:custDataLst>
                <p:tags r:id="rId6"/>
              </p:custDataLst>
            </p:nvPr>
          </p:nvSpPr>
          <p:spPr>
            <a:xfrm>
              <a:off x="4573" y="2588"/>
              <a:ext cx="4594" cy="739"/>
            </a:xfrm>
            <a:prstGeom prst="rect">
              <a:avLst/>
            </a:prstGeom>
            <a:noFill/>
          </p:spPr>
          <p:txBody>
            <a:bodyPr wrap="square" rtlCol="0">
              <a:spAutoFit/>
            </a:bodyPr>
            <a:p>
              <a:pPr algn="ctr"/>
              <a:r>
                <a:rPr lang="en-US" altLang="zh-CN" sz="2400"/>
                <a:t>8.2 </a:t>
              </a:r>
              <a:r>
                <a:rPr lang="zh-CN" altLang="en-US" sz="2400"/>
                <a:t>软件组件</a:t>
              </a:r>
              <a:endParaRPr lang="zh-CN" altLang="en-US" sz="2400"/>
            </a:p>
          </p:txBody>
        </p:sp>
      </p:grpSp>
      <p:grpSp>
        <p:nvGrpSpPr>
          <p:cNvPr id="9" name="组合 8"/>
          <p:cNvGrpSpPr/>
          <p:nvPr>
            <p:custDataLst>
              <p:tags r:id="rId7"/>
            </p:custDataLst>
          </p:nvPr>
        </p:nvGrpSpPr>
        <p:grpSpPr>
          <a:xfrm>
            <a:off x="4425950" y="4013835"/>
            <a:ext cx="3055620" cy="552311"/>
            <a:chOff x="4472" y="2441"/>
            <a:chExt cx="4812" cy="886"/>
          </a:xfrm>
        </p:grpSpPr>
        <p:sp>
          <p:nvSpPr>
            <p:cNvPr id="10" name="AutoShape 10"/>
            <p:cNvSpPr/>
            <p:nvPr>
              <p:custDataLst>
                <p:tags r:id="rId8"/>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11" name="文本框 10"/>
            <p:cNvSpPr txBox="1"/>
            <p:nvPr>
              <p:custDataLst>
                <p:tags r:id="rId9"/>
              </p:custDataLst>
            </p:nvPr>
          </p:nvSpPr>
          <p:spPr>
            <a:xfrm>
              <a:off x="4472" y="2588"/>
              <a:ext cx="4812" cy="739"/>
            </a:xfrm>
            <a:prstGeom prst="rect">
              <a:avLst/>
            </a:prstGeom>
            <a:noFill/>
          </p:spPr>
          <p:txBody>
            <a:bodyPr wrap="square" rtlCol="0">
              <a:spAutoFit/>
            </a:bodyPr>
            <a:p>
              <a:pPr algn="ctr"/>
              <a:r>
                <a:rPr lang="en-US" altLang="zh-CN" sz="2400">
                  <a:solidFill>
                    <a:schemeClr val="tx1"/>
                  </a:solidFill>
                </a:rPr>
                <a:t>8.3 </a:t>
              </a:r>
              <a:r>
                <a:rPr lang="zh-CN" altLang="en-US" sz="2400">
                  <a:solidFill>
                    <a:schemeClr val="tx1"/>
                  </a:solidFill>
                </a:rPr>
                <a:t>韧性可信度量</a:t>
              </a:r>
              <a:endParaRPr lang="zh-CN" altLang="en-US" sz="2400">
                <a:solidFill>
                  <a:schemeClr val="tx1"/>
                </a:solidFill>
              </a:endParaRPr>
            </a:p>
          </p:txBody>
        </p:sp>
      </p:grpSp>
      <p:graphicFrame>
        <p:nvGraphicFramePr>
          <p:cNvPr id="4" name="对象 3"/>
          <p:cNvGraphicFramePr/>
          <p:nvPr>
            <p:custDataLst>
              <p:tags r:id="rId10"/>
            </p:custDataLst>
          </p:nvPr>
        </p:nvGraphicFramePr>
        <p:xfrm>
          <a:off x="7642225" y="6123940"/>
          <a:ext cx="4392930" cy="734060"/>
        </p:xfrm>
        <a:graphic>
          <a:graphicData uri="http://schemas.openxmlformats.org/presentationml/2006/ole">
            <mc:AlternateContent xmlns:mc="http://schemas.openxmlformats.org/markup-compatibility/2006">
              <mc:Choice xmlns:v="urn:schemas-microsoft-com:vml" Requires="v">
                <p:oleObj spid="_x0000_s39" name="" r:id="rId11" imgW="11239500" imgH="2009775" progId="Paint.Picture">
                  <p:embed/>
                </p:oleObj>
              </mc:Choice>
              <mc:Fallback>
                <p:oleObj name="" r:id="rId11" imgW="11239500" imgH="2009775" progId="Paint.Picture">
                  <p:embed/>
                  <p:pic>
                    <p:nvPicPr>
                      <p:cNvPr id="0" name="图片 10"/>
                      <p:cNvPicPr/>
                      <p:nvPr/>
                    </p:nvPicPr>
                    <p:blipFill>
                      <a:blip r:embed="rId12"/>
                      <a:stretch>
                        <a:fillRect/>
                      </a:stretch>
                    </p:blipFill>
                    <p:spPr>
                      <a:xfrm>
                        <a:off x="7642225" y="6123940"/>
                        <a:ext cx="4392930" cy="734060"/>
                      </a:xfrm>
                      <a:prstGeom prst="rect">
                        <a:avLst/>
                      </a:prstGeom>
                    </p:spPr>
                  </p:pic>
                </p:oleObj>
              </mc:Fallback>
            </mc:AlternateContent>
          </a:graphicData>
        </a:graphic>
      </p:graphicFrame>
      <p:grpSp>
        <p:nvGrpSpPr>
          <p:cNvPr id="12" name="组合 11"/>
          <p:cNvGrpSpPr/>
          <p:nvPr>
            <p:custDataLst>
              <p:tags r:id="rId13"/>
            </p:custDataLst>
          </p:nvPr>
        </p:nvGrpSpPr>
        <p:grpSpPr>
          <a:xfrm>
            <a:off x="4466590" y="4986655"/>
            <a:ext cx="2948305" cy="552311"/>
            <a:chOff x="4573" y="2441"/>
            <a:chExt cx="4643" cy="886"/>
          </a:xfrm>
        </p:grpSpPr>
        <p:sp>
          <p:nvSpPr>
            <p:cNvPr id="13" name="AutoShape 10"/>
            <p:cNvSpPr/>
            <p:nvPr>
              <p:custDataLst>
                <p:tags r:id="rId14"/>
              </p:custDataLst>
            </p:nvPr>
          </p:nvSpPr>
          <p:spPr>
            <a:xfrm>
              <a:off x="4752" y="2441"/>
              <a:ext cx="4464" cy="875"/>
            </a:xfrm>
            <a:prstGeom prst="roundRect">
              <a:avLst>
                <a:gd name="adj" fmla="val 16667"/>
              </a:avLst>
            </a:prstGeom>
            <a:solidFill>
              <a:srgbClr val="FFFFFF"/>
            </a:solidFill>
            <a:ln w="28575" cap="flat" cmpd="sng">
              <a:solidFill>
                <a:srgbClr val="C00000"/>
              </a:solidFill>
              <a:prstDash val="solid"/>
              <a:round/>
              <a:headEnd type="none" w="med" len="med"/>
              <a:tailEnd type="none" w="med" len="med"/>
            </a:ln>
          </p:spPr>
          <p:txBody>
            <a:bodyPr wrap="none" anchor="ctr"/>
            <a:p>
              <a:pPr algn="ctr">
                <a:spcBef>
                  <a:spcPct val="50000"/>
                </a:spcBef>
              </a:pPr>
              <a:endParaRPr lang="zh-CN" altLang="en-US" sz="2250" b="1" dirty="0">
                <a:latin typeface="Arial" panose="020B0604020202020204" pitchFamily="34" charset="0"/>
                <a:ea typeface="宋体" panose="02010600030101010101" pitchFamily="2" charset="-122"/>
              </a:endParaRPr>
            </a:p>
          </p:txBody>
        </p:sp>
        <p:sp>
          <p:nvSpPr>
            <p:cNvPr id="14" name="文本框 13"/>
            <p:cNvSpPr txBox="1"/>
            <p:nvPr>
              <p:custDataLst>
                <p:tags r:id="rId15"/>
              </p:custDataLst>
            </p:nvPr>
          </p:nvSpPr>
          <p:spPr>
            <a:xfrm>
              <a:off x="4573" y="2588"/>
              <a:ext cx="4594" cy="739"/>
            </a:xfrm>
            <a:prstGeom prst="rect">
              <a:avLst/>
            </a:prstGeom>
            <a:noFill/>
          </p:spPr>
          <p:txBody>
            <a:bodyPr wrap="square" rtlCol="0">
              <a:spAutoFit/>
            </a:bodyPr>
            <a:p>
              <a:pPr algn="ctr"/>
              <a:r>
                <a:rPr lang="en-US" altLang="zh-CN" sz="2400">
                  <a:solidFill>
                    <a:srgbClr val="FF0000"/>
                  </a:solidFill>
                </a:rPr>
                <a:t>8.4 </a:t>
              </a:r>
              <a:r>
                <a:rPr lang="zh-CN" altLang="en-US" sz="2400">
                  <a:solidFill>
                    <a:srgbClr val="FF0000"/>
                  </a:solidFill>
                </a:rPr>
                <a:t>例子</a:t>
              </a:r>
              <a:endParaRPr lang="zh-CN" altLang="en-US" sz="2400">
                <a:solidFill>
                  <a:srgbClr val="FF0000"/>
                </a:solidFil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sp>
        <p:nvSpPr>
          <p:cNvPr id="3" name="Content Placeholder 2"/>
          <p:cNvSpPr>
            <a:spLocks noGrp="1"/>
          </p:cNvSpPr>
          <p:nvPr>
            <p:ph sz="half" idx="1"/>
          </p:nvPr>
        </p:nvSpPr>
        <p:spPr>
          <a:xfrm>
            <a:off x="608330" y="842645"/>
            <a:ext cx="11501120" cy="5880100"/>
          </a:xfrm>
        </p:spPr>
        <p:style>
          <a:lnRef idx="2">
            <a:schemeClr val="accent2"/>
          </a:lnRef>
          <a:fillRef idx="1">
            <a:schemeClr val="lt1"/>
          </a:fillRef>
          <a:effectRef idx="0">
            <a:schemeClr val="accent2"/>
          </a:effectRef>
          <a:fontRef idx="minor">
            <a:schemeClr val="dk1"/>
          </a:fontRef>
        </p:style>
        <p:txBody>
          <a:bodyPr>
            <a:noAutofit/>
          </a:bodyPr>
          <a:lstStyle/>
          <a:p>
            <a:pPr marL="0" indent="0">
              <a:buNone/>
            </a:pPr>
            <a:r>
              <a:rPr lang="zh-CN" sz="2800" dirty="0" smtClean="0">
                <a:latin typeface="+mn-ea"/>
                <a:ea typeface="+mn-ea"/>
              </a:rPr>
              <a:t>例子：</a:t>
            </a:r>
            <a:r>
              <a:rPr lang="zh-CN" altLang="en-US" sz="2800"/>
              <a:t>选取</a:t>
            </a:r>
            <a:r>
              <a:rPr lang="en-US" altLang="zh-CN" sz="2800"/>
              <a:t> GitHub </a:t>
            </a:r>
            <a:r>
              <a:rPr lang="zh-CN" altLang="en-US" sz="2800"/>
              <a:t>上的一个游戏服务器系统为例，其包括一个网关组件，</a:t>
            </a:r>
            <a:r>
              <a:rPr lang="en-US" altLang="zh-CN" sz="2800"/>
              <a:t> </a:t>
            </a:r>
            <a:r>
              <a:rPr lang="zh-CN" altLang="en-US" sz="2800"/>
              <a:t>网关组件运行在服务器上，</a:t>
            </a:r>
            <a:endParaRPr lang="zh-CN" altLang="en-US" sz="2800"/>
          </a:p>
          <a:p>
            <a:pPr>
              <a:buFont typeface="Wingdings" panose="05000000000000000000" charset="0"/>
              <a:buChar char="l"/>
            </a:pPr>
            <a:r>
              <a:rPr lang="zh-CN" altLang="en-US" sz="2800"/>
              <a:t>其关键功能是：</a:t>
            </a:r>
            <a:r>
              <a:rPr lang="en-US" altLang="zh-CN" sz="2800"/>
              <a:t>(i) </a:t>
            </a:r>
            <a:r>
              <a:rPr lang="zh-CN" altLang="en-US" sz="2800"/>
              <a:t>负责与客户端进行网络互联，</a:t>
            </a:r>
            <a:r>
              <a:rPr lang="en-US" altLang="zh-CN" sz="2800"/>
              <a:t>(ii) </a:t>
            </a:r>
            <a:r>
              <a:rPr lang="zh-CN" altLang="en-US" sz="2800"/>
              <a:t>向</a:t>
            </a:r>
            <a:r>
              <a:rPr lang="en-US" altLang="zh-CN" sz="2800"/>
              <a:t>  </a:t>
            </a:r>
            <a:r>
              <a:rPr lang="zh-CN" altLang="en-US" sz="2800"/>
              <a:t>客户端提供游戏数据；</a:t>
            </a:r>
            <a:endParaRPr lang="zh-CN" altLang="en-US" sz="2800"/>
          </a:p>
          <a:p>
            <a:pPr>
              <a:buFont typeface="Wingdings" panose="05000000000000000000" charset="0"/>
              <a:buChar char="l"/>
            </a:pPr>
            <a:r>
              <a:rPr lang="zh-CN" altLang="en-US" sz="2800"/>
              <a:t>非关键功能是：帮助用户选择网络质量最佳的服务器，确保用户以较低的网络延迟连接服务器。</a:t>
            </a:r>
            <a:endParaRPr lang="zh-CN" altLang="en-US" sz="2800"/>
          </a:p>
          <a:p>
            <a:pPr>
              <a:buFont typeface="Wingdings" panose="05000000000000000000" charset="0"/>
              <a:buChar char="l"/>
            </a:pPr>
            <a:r>
              <a:rPr lang="zh-CN" altLang="en-US" sz="2800"/>
              <a:t>关键数据是游戏内部数据，</a:t>
            </a:r>
            <a:endParaRPr lang="zh-CN" altLang="en-US" sz="2800"/>
          </a:p>
          <a:p>
            <a:pPr>
              <a:buFont typeface="Wingdings" panose="05000000000000000000" charset="0"/>
              <a:buChar char="l"/>
            </a:pPr>
            <a:r>
              <a:rPr lang="zh-CN" altLang="en-US" sz="2800"/>
              <a:t>非关键数据</a:t>
            </a:r>
            <a:r>
              <a:rPr lang="en-US" altLang="zh-CN" sz="2800"/>
              <a:t> </a:t>
            </a:r>
            <a:r>
              <a:rPr lang="zh-CN" altLang="en-US" sz="2800"/>
              <a:t>是网络调试信息。</a:t>
            </a:r>
            <a:endParaRPr lang="zh-CN" altLang="en-US" sz="2800"/>
          </a:p>
          <a:p>
            <a:pPr marL="0" indent="0">
              <a:buNone/>
            </a:pPr>
            <a:endParaRPr lang="zh-CN" altLang="en-US" sz="280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sp>
        <p:nvSpPr>
          <p:cNvPr id="3" name="Content Placeholder 2"/>
          <p:cNvSpPr>
            <a:spLocks noGrp="1"/>
          </p:cNvSpPr>
          <p:nvPr>
            <p:ph sz="half" idx="1"/>
          </p:nvPr>
        </p:nvSpPr>
        <p:spPr>
          <a:xfrm>
            <a:off x="608330" y="842645"/>
            <a:ext cx="11501120" cy="5880100"/>
          </a:xfrm>
        </p:spPr>
        <p:style>
          <a:lnRef idx="2">
            <a:schemeClr val="accent2"/>
          </a:lnRef>
          <a:fillRef idx="1">
            <a:schemeClr val="lt1"/>
          </a:fillRef>
          <a:effectRef idx="0">
            <a:schemeClr val="accent2"/>
          </a:effectRef>
          <a:fontRef idx="minor">
            <a:schemeClr val="dk1"/>
          </a:fontRef>
        </p:style>
        <p:txBody>
          <a:bodyPr>
            <a:noAutofit/>
          </a:bodyPr>
          <a:lstStyle/>
          <a:p>
            <a:pPr marL="0" indent="0">
              <a:buNone/>
            </a:pPr>
            <a:r>
              <a:rPr lang="zh-CN" sz="2800" dirty="0" smtClean="0">
                <a:latin typeface="+mn-ea"/>
                <a:ea typeface="+mn-ea"/>
              </a:rPr>
              <a:t>例子：</a:t>
            </a:r>
            <a:r>
              <a:rPr lang="zh-CN" altLang="en-US" sz="2800"/>
              <a:t>选取</a:t>
            </a:r>
            <a:r>
              <a:rPr lang="en-US" altLang="zh-CN" sz="2800"/>
              <a:t> GitHub </a:t>
            </a:r>
            <a:r>
              <a:rPr lang="zh-CN" altLang="en-US" sz="2800"/>
              <a:t>上的一个游戏服务器系统为例，其包括一个网关组件，</a:t>
            </a:r>
            <a:r>
              <a:rPr lang="en-US" altLang="zh-CN" sz="2800"/>
              <a:t> </a:t>
            </a:r>
            <a:r>
              <a:rPr lang="zh-CN" altLang="en-US" sz="2800"/>
              <a:t>网关组件运行在服务器上，</a:t>
            </a:r>
            <a:endParaRPr lang="zh-CN" altLang="en-US" sz="2800"/>
          </a:p>
          <a:p>
            <a:pPr marL="0" indent="0">
              <a:buNone/>
            </a:pPr>
            <a:endParaRPr lang="zh-CN" altLang="en-US" sz="2800"/>
          </a:p>
          <a:p>
            <a:pPr marL="0" indent="0">
              <a:buNone/>
            </a:pPr>
            <a:r>
              <a:rPr lang="zh-CN" altLang="en-US" sz="2800"/>
              <a:t>由于网络服务器需要对全球各地的玩家提供服务，因此其可用性及可拓展性有一定额外需求，可用性及可拓展性中增加了多条证据，这些</a:t>
            </a:r>
            <a:r>
              <a:rPr lang="en-US" altLang="zh-CN" sz="2800"/>
              <a:t>  </a:t>
            </a:r>
            <a:r>
              <a:rPr lang="zh-CN" altLang="en-US" sz="2800"/>
              <a:t>证据在该组件使用过程中或受到攻击时会随时间发生相应改变。其添加的证据如下表</a:t>
            </a:r>
            <a:endParaRPr lang="zh-CN" altLang="en-US" sz="280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5" name="表格 4"/>
          <p:cNvGraphicFramePr/>
          <p:nvPr>
            <p:custDataLst>
              <p:tags r:id="rId4"/>
            </p:custDataLst>
          </p:nvPr>
        </p:nvGraphicFramePr>
        <p:xfrm>
          <a:off x="897255" y="1512570"/>
          <a:ext cx="10782935" cy="5103495"/>
        </p:xfrm>
        <a:graphic>
          <a:graphicData uri="http://schemas.openxmlformats.org/drawingml/2006/table">
            <a:tbl>
              <a:tblPr/>
              <a:tblGrid>
                <a:gridCol w="993775"/>
                <a:gridCol w="1087120"/>
                <a:gridCol w="3011170"/>
                <a:gridCol w="5690870"/>
              </a:tblGrid>
              <a:tr h="943610">
                <a:tc>
                  <a:txBody>
                    <a:bodyPr/>
                    <a:p>
                      <a:pPr marL="228600" indent="-13398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ctr"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ctr"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159885">
                <a:tc>
                  <a:txBody>
                    <a:bodyPr/>
                    <a:p>
                      <a:pPr marL="8572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8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可用性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0645" indent="1905" algn="just" eaLnBrk="0" fontAlgn="base">
                        <a:lnSpc>
                          <a:spcPct val="135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组件当前对各地区提供的服务质量：</a:t>
                      </a:r>
                      <a:r>
                        <a:rPr lang="zh-CN" altLang="en-US" sz="2400">
                          <a:solidFill>
                            <a:srgbClr val="000000"/>
                          </a:solidFill>
                          <a:latin typeface="宋体" panose="02010600030101010101" pitchFamily="2" charset="-122"/>
                          <a:ea typeface="宋体" panose="02010600030101010101" pitchFamily="2" charset="-122"/>
                        </a:rPr>
                        <a:t> </a:t>
                      </a:r>
                      <a:endParaRPr lang="zh-CN" altLang="en-US" sz="2400">
                        <a:solidFill>
                          <a:srgbClr val="000000"/>
                        </a:solidFill>
                        <a:latin typeface="宋体" panose="02010600030101010101" pitchFamily="2" charset="-122"/>
                        <a:ea typeface="宋体" panose="02010600030101010101" pitchFamily="2" charset="-122"/>
                      </a:endParaRPr>
                    </a:p>
                    <a:p>
                      <a:pPr marL="80645" indent="1905" algn="just" eaLnBrk="0" fontAlgn="base">
                        <a:lnSpc>
                          <a:spcPct val="135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延迟不高于平均延迟、网速不低于均网速、丢包率不高于平均丢包率即达到质量要求</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7620" algn="l" eaLnBrk="0" fontAlgn="base">
                        <a:lnSpc>
                          <a:spcPct val="132000"/>
                        </a:lnSpc>
                        <a:spcBef>
                          <a:spcPts val="6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组件对各地区均能提供达到质量要求的服务</a:t>
                      </a:r>
                      <a:endParaRPr lang="zh-CN" sz="2400">
                        <a:solidFill>
                          <a:srgbClr val="000000"/>
                        </a:solidFill>
                        <a:latin typeface="宋体" panose="02010600030101010101" pitchFamily="2" charset="-122"/>
                        <a:ea typeface="宋体" panose="02010600030101010101" pitchFamily="2" charset="-122"/>
                      </a:endParaRPr>
                    </a:p>
                    <a:p>
                      <a:pPr marL="83820" indent="-4445" algn="l" eaLnBrk="0" fontAlgn="base">
                        <a:lnSpc>
                          <a:spcPct val="135000"/>
                        </a:lnSpc>
                        <a:spcBef>
                          <a:spcPts val="1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组件对超过</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50% </a:t>
                      </a:r>
                      <a:r>
                        <a:rPr lang="zh-CN" sz="2400">
                          <a:solidFill>
                            <a:srgbClr val="000000"/>
                          </a:solidFill>
                          <a:latin typeface="宋体" panose="02010600030101010101" pitchFamily="2" charset="-122"/>
                          <a:ea typeface="宋体" panose="02010600030101010101" pitchFamily="2" charset="-122"/>
                        </a:rPr>
                        <a:t>地区提供</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的服务能达到质量要求，少于</a:t>
                      </a:r>
                      <a:r>
                        <a:rPr lang="en-US" altLang="zh-CN" sz="2400">
                          <a:solidFill>
                            <a:srgbClr val="000000"/>
                          </a:solidFill>
                          <a:latin typeface="Times New Roman" panose="02020603050405020304"/>
                          <a:ea typeface="Times New Roman" panose="02020603050405020304"/>
                        </a:rPr>
                        <a:t>50% </a:t>
                      </a:r>
                      <a:r>
                        <a:rPr lang="zh-CN" sz="2400">
                          <a:solidFill>
                            <a:srgbClr val="000000"/>
                          </a:solidFill>
                          <a:latin typeface="宋体" panose="02010600030101010101" pitchFamily="2" charset="-122"/>
                          <a:ea typeface="宋体" panose="02010600030101010101" pitchFamily="2" charset="-122"/>
                        </a:rPr>
                        <a:t>地区无法达到要求</a:t>
                      </a:r>
                      <a:endParaRPr lang="zh-CN" sz="2400">
                        <a:solidFill>
                          <a:srgbClr val="000000"/>
                        </a:solidFill>
                        <a:latin typeface="宋体" panose="02010600030101010101" pitchFamily="2" charset="-122"/>
                        <a:ea typeface="宋体" panose="02010600030101010101" pitchFamily="2" charset="-122"/>
                      </a:endParaRPr>
                    </a:p>
                    <a:p>
                      <a:pPr marL="82550" indent="-635" algn="l" eaLnBrk="0" fontAlgn="base">
                        <a:lnSpc>
                          <a:spcPct val="135000"/>
                        </a:lnSpc>
                        <a:spcBef>
                          <a:spcPts val="1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组件对少于</a:t>
                      </a:r>
                      <a:r>
                        <a:rPr lang="en-US" altLang="zh-CN" sz="2400">
                          <a:solidFill>
                            <a:srgbClr val="000000"/>
                          </a:solidFill>
                          <a:latin typeface="Times New Roman" panose="02020603050405020304"/>
                          <a:ea typeface="Times New Roman" panose="02020603050405020304"/>
                        </a:rPr>
                        <a:t>50% </a:t>
                      </a:r>
                      <a:r>
                        <a:rPr lang="zh-CN" sz="2400">
                          <a:solidFill>
                            <a:srgbClr val="000000"/>
                          </a:solidFill>
                          <a:latin typeface="宋体" panose="02010600030101010101" pitchFamily="2" charset="-122"/>
                          <a:ea typeface="宋体" panose="02010600030101010101" pitchFamily="2" charset="-122"/>
                        </a:rPr>
                        <a:t>地区提供</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的服务能达到质量要求，超过</a:t>
                      </a:r>
                      <a:r>
                        <a:rPr lang="en-US" altLang="zh-CN" sz="2400">
                          <a:solidFill>
                            <a:srgbClr val="000000"/>
                          </a:solidFill>
                          <a:latin typeface="Times New Roman" panose="02020603050405020304"/>
                          <a:ea typeface="Times New Roman" panose="02020603050405020304"/>
                        </a:rPr>
                        <a:t>50% </a:t>
                      </a:r>
                      <a:r>
                        <a:rPr lang="zh-CN" sz="2400">
                          <a:solidFill>
                            <a:srgbClr val="000000"/>
                          </a:solidFill>
                          <a:latin typeface="宋体" panose="02010600030101010101" pitchFamily="2" charset="-122"/>
                          <a:ea typeface="宋体" panose="02010600030101010101" pitchFamily="2" charset="-122"/>
                        </a:rPr>
                        <a:t>地区无法达到要求</a:t>
                      </a:r>
                      <a:endParaRPr lang="zh-CN" sz="2400">
                        <a:solidFill>
                          <a:srgbClr val="000000"/>
                        </a:solidFill>
                        <a:latin typeface="宋体" panose="02010600030101010101" pitchFamily="2" charset="-122"/>
                        <a:ea typeface="宋体" panose="02010600030101010101" pitchFamily="2" charset="-122"/>
                      </a:endParaRPr>
                    </a:p>
                    <a:p>
                      <a:pPr marL="83185" indent="-3810" algn="l" eaLnBrk="0" fontAlgn="base">
                        <a:lnSpc>
                          <a:spcPct val="128000"/>
                        </a:lnSpc>
                        <a:spcBef>
                          <a:spcPts val="1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组件对所有地区提供的服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务均无法达到质量要求</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6" name="文本框 5"/>
          <p:cNvSpPr txBox="1"/>
          <p:nvPr/>
        </p:nvSpPr>
        <p:spPr>
          <a:xfrm>
            <a:off x="4094480" y="831850"/>
            <a:ext cx="5318760" cy="460375"/>
          </a:xfrm>
          <a:prstGeom prst="rect">
            <a:avLst/>
          </a:prstGeom>
        </p:spPr>
        <p:style>
          <a:lnRef idx="0">
            <a:srgbClr val="FFFFFF"/>
          </a:lnRef>
          <a:fillRef idx="1">
            <a:schemeClr val="accent1"/>
          </a:fillRef>
          <a:effectRef idx="2">
            <a:schemeClr val="accent1"/>
          </a:effectRef>
          <a:fontRef idx="minor">
            <a:schemeClr val="lt1"/>
          </a:fontRef>
        </p:style>
        <p:txBody>
          <a:bodyPr wrap="square" rtlCol="0">
            <a:spAutoFit/>
          </a:bodyPr>
          <a:p>
            <a:pPr algn="ctr"/>
            <a:r>
              <a:rPr lang="zh-CN" altLang="en-US" sz="2400"/>
              <a:t>网关组件添加的韧性证据</a:t>
            </a:r>
            <a:r>
              <a:rPr lang="en-US" altLang="zh-CN" sz="2400"/>
              <a:t>--</a:t>
            </a:r>
            <a:r>
              <a:rPr lang="zh-CN" altLang="en-US" sz="2400"/>
              <a:t>可用性</a:t>
            </a:r>
            <a:endParaRPr lang="zh-CN" altLang="en-US" sz="240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5" name="表格 4"/>
          <p:cNvGraphicFramePr/>
          <p:nvPr>
            <p:custDataLst>
              <p:tags r:id="rId4"/>
            </p:custDataLst>
          </p:nvPr>
        </p:nvGraphicFramePr>
        <p:xfrm>
          <a:off x="608965" y="1426210"/>
          <a:ext cx="10775950" cy="4801870"/>
        </p:xfrm>
        <a:graphic>
          <a:graphicData uri="http://schemas.openxmlformats.org/drawingml/2006/table">
            <a:tbl>
              <a:tblPr/>
              <a:tblGrid>
                <a:gridCol w="1167130"/>
                <a:gridCol w="1203960"/>
                <a:gridCol w="2016760"/>
                <a:gridCol w="6388100"/>
              </a:tblGrid>
              <a:tr h="65024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2000"/>
                        </a:lnSpc>
                        <a:spcBef>
                          <a:spcPct val="0"/>
                        </a:spcBef>
                        <a:spcAft>
                          <a:spcPct val="0"/>
                        </a:spcAft>
                      </a:pP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151630">
                <a:tc>
                  <a:txBody>
                    <a:bodyPr/>
                    <a:p>
                      <a:pPr marL="85725" indent="0" algn="l" eaLnBrk="0" fontAlgn="base">
                        <a:lnSpc>
                          <a:spcPct val="103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适应性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542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可拓展</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6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1280" indent="635" algn="l" eaLnBrk="0" fontAlgn="base">
                        <a:lnSpc>
                          <a:spcPct val="132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组件在添加新功能时对已有的影响情况</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4445" algn="l" eaLnBrk="0" fontAlgn="base">
                        <a:lnSpc>
                          <a:spcPct val="132000"/>
                        </a:lnSpc>
                        <a:spcBef>
                          <a:spcPts val="6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组件可以在用户无感知地情况下添加功能</a:t>
                      </a:r>
                      <a:endParaRPr lang="zh-CN" sz="2400">
                        <a:solidFill>
                          <a:srgbClr val="000000"/>
                        </a:solidFill>
                        <a:latin typeface="宋体" panose="02010600030101010101" pitchFamily="2" charset="-122"/>
                        <a:ea typeface="宋体" panose="02010600030101010101" pitchFamily="2" charset="-122"/>
                      </a:endParaRPr>
                    </a:p>
                    <a:p>
                      <a:pPr marL="81915" indent="-2540" algn="l" eaLnBrk="0" fontAlgn="base">
                        <a:lnSpc>
                          <a:spcPct val="135000"/>
                        </a:lnSpc>
                        <a:spcBef>
                          <a:spcPts val="100"/>
                        </a:spcBef>
                        <a:spcAft>
                          <a:spcPct val="0"/>
                        </a:spcAft>
                      </a:pPr>
                      <a:r>
                        <a:rPr lang="en-US" altLang="zh-CN" sz="2400">
                          <a:solidFill>
                            <a:srgbClr val="000000"/>
                          </a:solidFill>
                          <a:latin typeface="Times New Roman" panose="02020603050405020304"/>
                          <a:ea typeface="Times New Roman" panose="02020603050405020304"/>
                        </a:rPr>
                        <a:t>B: </a:t>
                      </a:r>
                      <a:r>
                        <a:rPr lang="zh-CN" sz="2400">
                          <a:solidFill>
                            <a:srgbClr val="000000"/>
                          </a:solidFill>
                          <a:latin typeface="宋体" panose="02010600030101010101" pitchFamily="2" charset="-122"/>
                          <a:ea typeface="宋体" panose="02010600030101010101" pitchFamily="2" charset="-122"/>
                        </a:rPr>
                        <a:t>组件添加功能时不影响正运行的功能，但用户下次使用时需更新</a:t>
                      </a:r>
                      <a:endParaRPr lang="zh-CN" sz="2400">
                        <a:solidFill>
                          <a:srgbClr val="000000"/>
                        </a:solidFill>
                        <a:latin typeface="宋体" panose="02010600030101010101" pitchFamily="2" charset="-122"/>
                        <a:ea typeface="宋体" panose="02010600030101010101" pitchFamily="2" charset="-122"/>
                      </a:endParaRPr>
                    </a:p>
                    <a:p>
                      <a:pPr marL="82550" indent="-635" algn="l" eaLnBrk="0" fontAlgn="base">
                        <a:lnSpc>
                          <a:spcPct val="136000"/>
                        </a:lnSpc>
                        <a:spcBef>
                          <a:spcPts val="100"/>
                        </a:spcBef>
                        <a:spcAft>
                          <a:spcPct val="0"/>
                        </a:spcAft>
                      </a:pP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组件添加功能时不影响部分功能，但需中断提供其他功能，正在使用被中断功的用户会受到影响。所有用户在下次使用组件时均要更新</a:t>
                      </a:r>
                      <a:endParaRPr lang="zh-CN" sz="2400">
                        <a:solidFill>
                          <a:srgbClr val="000000"/>
                        </a:solidFill>
                        <a:latin typeface="宋体" panose="02010600030101010101" pitchFamily="2" charset="-122"/>
                        <a:ea typeface="宋体" panose="02010600030101010101" pitchFamily="2" charset="-122"/>
                      </a:endParaRPr>
                    </a:p>
                    <a:p>
                      <a:pPr marL="81915" indent="-2540" algn="l" eaLnBrk="0" fontAlgn="base">
                        <a:lnSpc>
                          <a:spcPct val="132000"/>
                        </a:lnSpc>
                        <a:spcBef>
                          <a:spcPts val="1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组件添加功能时需中断提供所有功能，用户下次使用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时需更新</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3" name="文本框 2"/>
          <p:cNvSpPr txBox="1"/>
          <p:nvPr/>
        </p:nvSpPr>
        <p:spPr>
          <a:xfrm>
            <a:off x="4516755" y="831850"/>
            <a:ext cx="5163820" cy="460375"/>
          </a:xfrm>
          <a:prstGeom prst="rect">
            <a:avLst/>
          </a:prstGeom>
        </p:spPr>
        <p:style>
          <a:lnRef idx="0">
            <a:srgbClr val="FFFFFF"/>
          </a:lnRef>
          <a:fillRef idx="1">
            <a:schemeClr val="accent1"/>
          </a:fillRef>
          <a:effectRef idx="2">
            <a:schemeClr val="accent1"/>
          </a:effectRef>
          <a:fontRef idx="minor">
            <a:schemeClr val="lt1"/>
          </a:fontRef>
        </p:style>
        <p:txBody>
          <a:bodyPr wrap="square" rtlCol="0">
            <a:spAutoFit/>
          </a:bodyPr>
          <a:p>
            <a:pPr algn="ctr"/>
            <a:r>
              <a:rPr lang="zh-CN" altLang="en-US" sz="2400"/>
              <a:t>网关组件添加的韧性证据</a:t>
            </a:r>
            <a:r>
              <a:rPr lang="en-US" altLang="zh-CN" sz="2400"/>
              <a:t>-</a:t>
            </a:r>
            <a:r>
              <a:rPr lang="zh-CN" altLang="en-US" sz="2400"/>
              <a:t>可拓展性</a:t>
            </a:r>
            <a:endParaRPr lang="zh-CN" altLang="en-US" sz="240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sp>
        <p:nvSpPr>
          <p:cNvPr id="10" name="文本框 9"/>
          <p:cNvSpPr txBox="1"/>
          <p:nvPr/>
        </p:nvSpPr>
        <p:spPr>
          <a:xfrm>
            <a:off x="302895" y="1069975"/>
            <a:ext cx="11889105" cy="5250815"/>
          </a:xfrm>
          <a:prstGeom prst="rect">
            <a:avLst/>
          </a:prstGeom>
        </p:spPr>
        <p:style>
          <a:lnRef idx="3">
            <a:schemeClr val="accent6"/>
          </a:lnRef>
          <a:fillRef idx="0">
            <a:srgbClr val="FFFFFF"/>
          </a:fillRef>
          <a:effectRef idx="0">
            <a:srgbClr val="FFFFFF"/>
          </a:effectRef>
          <a:fontRef idx="minor">
            <a:schemeClr val="tx1"/>
          </a:fontRef>
        </p:style>
        <p:txBody>
          <a:bodyPr wrap="square" rtlCol="0">
            <a:noAutofit/>
          </a:bodyPr>
          <a:p>
            <a:pPr marL="342900" indent="-342900">
              <a:lnSpc>
                <a:spcPct val="140000"/>
              </a:lnSpc>
              <a:buFont typeface="Wingdings" panose="05000000000000000000" charset="0"/>
              <a:buChar char="l"/>
            </a:pPr>
            <a:r>
              <a:rPr lang="zh-CN" altLang="en-US" sz="2800">
                <a:solidFill>
                  <a:schemeClr val="tx2"/>
                </a:solidFill>
              </a:rPr>
              <a:t>作为对比，后台管理组件也是该游戏系统的一部分，其主要功能是：</a:t>
            </a:r>
            <a:endParaRPr lang="zh-CN" altLang="en-US" sz="2800">
              <a:solidFill>
                <a:schemeClr val="tx2"/>
              </a:solidFill>
            </a:endParaRPr>
          </a:p>
          <a:p>
            <a:pPr lvl="1" indent="0">
              <a:lnSpc>
                <a:spcPct val="140000"/>
              </a:lnSpc>
              <a:buFont typeface="Wingdings" panose="05000000000000000000" charset="0"/>
              <a:buNone/>
            </a:pPr>
            <a:r>
              <a:rPr lang="en-US" altLang="zh-CN" sz="2800">
                <a:solidFill>
                  <a:schemeClr val="tx2"/>
                </a:solidFill>
              </a:rPr>
              <a:t>(i) </a:t>
            </a:r>
            <a:r>
              <a:rPr lang="zh-CN" altLang="en-US" sz="2800">
                <a:solidFill>
                  <a:schemeClr val="tx2"/>
                </a:solidFill>
              </a:rPr>
              <a:t>使</a:t>
            </a:r>
            <a:r>
              <a:rPr lang="en-US" altLang="zh-CN" sz="2800">
                <a:solidFill>
                  <a:schemeClr val="tx2"/>
                </a:solidFill>
              </a:rPr>
              <a:t> </a:t>
            </a:r>
            <a:r>
              <a:rPr lang="zh-CN" altLang="en-US" sz="2800">
                <a:solidFill>
                  <a:schemeClr val="tx2"/>
                </a:solidFill>
              </a:rPr>
              <a:t>管理员可以管理游戏用户，对其进行封禁等，</a:t>
            </a:r>
            <a:endParaRPr lang="zh-CN" altLang="en-US" sz="2800">
              <a:solidFill>
                <a:schemeClr val="tx2"/>
              </a:solidFill>
            </a:endParaRPr>
          </a:p>
          <a:p>
            <a:pPr lvl="1" indent="0">
              <a:lnSpc>
                <a:spcPct val="140000"/>
              </a:lnSpc>
              <a:buFont typeface="Wingdings" panose="05000000000000000000" charset="0"/>
              <a:buNone/>
            </a:pPr>
            <a:r>
              <a:rPr lang="en-US" altLang="zh-CN" sz="2800">
                <a:solidFill>
                  <a:schemeClr val="tx2"/>
                </a:solidFill>
              </a:rPr>
              <a:t>(ii) </a:t>
            </a:r>
            <a:r>
              <a:rPr lang="zh-CN" altLang="en-US" sz="2800">
                <a:solidFill>
                  <a:schemeClr val="tx2"/>
                </a:solidFill>
              </a:rPr>
              <a:t>使管理员可以实时改变一部分</a:t>
            </a:r>
            <a:r>
              <a:rPr lang="en-US" altLang="zh-CN" sz="2800">
                <a:solidFill>
                  <a:schemeClr val="tx2"/>
                </a:solidFill>
              </a:rPr>
              <a:t> </a:t>
            </a:r>
            <a:r>
              <a:rPr lang="zh-CN" altLang="en-US" sz="2800">
                <a:solidFill>
                  <a:schemeClr val="tx2"/>
                </a:solidFill>
              </a:rPr>
              <a:t>游戏数据；</a:t>
            </a:r>
            <a:endParaRPr lang="zh-CN" altLang="en-US" sz="2800">
              <a:solidFill>
                <a:schemeClr val="tx2"/>
              </a:solidFill>
            </a:endParaRPr>
          </a:p>
          <a:p>
            <a:pPr marL="342900" indent="-342900">
              <a:lnSpc>
                <a:spcPct val="140000"/>
              </a:lnSpc>
              <a:buFont typeface="Wingdings" panose="05000000000000000000" charset="0"/>
              <a:buChar char="l"/>
            </a:pPr>
            <a:r>
              <a:rPr lang="zh-CN" altLang="en-US" sz="2800">
                <a:solidFill>
                  <a:schemeClr val="tx2"/>
                </a:solidFill>
              </a:rPr>
              <a:t>非关键功能是自动识别使用外挂的用户并提醒管理员。其关键数据是</a:t>
            </a:r>
            <a:r>
              <a:rPr lang="en-US" altLang="zh-CN" sz="2800">
                <a:solidFill>
                  <a:schemeClr val="tx2"/>
                </a:solidFill>
              </a:rPr>
              <a:t> </a:t>
            </a:r>
            <a:endParaRPr lang="en-US" altLang="zh-CN" sz="2800">
              <a:solidFill>
                <a:schemeClr val="tx2"/>
              </a:solidFill>
            </a:endParaRPr>
          </a:p>
          <a:p>
            <a:pPr lvl="1" indent="0">
              <a:lnSpc>
                <a:spcPct val="140000"/>
              </a:lnSpc>
              <a:buFont typeface="Wingdings" panose="05000000000000000000" charset="0"/>
              <a:buNone/>
            </a:pPr>
            <a:r>
              <a:rPr lang="en-US" altLang="zh-CN" sz="2800">
                <a:solidFill>
                  <a:schemeClr val="tx2"/>
                </a:solidFill>
              </a:rPr>
              <a:t>(i) </a:t>
            </a:r>
            <a:r>
              <a:rPr lang="zh-CN" altLang="en-US" sz="2800">
                <a:solidFill>
                  <a:schemeClr val="tx2"/>
                </a:solidFill>
              </a:rPr>
              <a:t>游戏信息、数值配置数据，</a:t>
            </a:r>
            <a:endParaRPr lang="zh-CN" altLang="en-US" sz="2800">
              <a:solidFill>
                <a:schemeClr val="tx2"/>
              </a:solidFill>
            </a:endParaRPr>
          </a:p>
          <a:p>
            <a:pPr lvl="1" indent="0">
              <a:lnSpc>
                <a:spcPct val="140000"/>
              </a:lnSpc>
              <a:buFont typeface="Wingdings" panose="05000000000000000000" charset="0"/>
              <a:buNone/>
            </a:pPr>
            <a:r>
              <a:rPr lang="en-US" altLang="zh-CN" sz="2800">
                <a:solidFill>
                  <a:schemeClr val="tx2"/>
                </a:solidFill>
              </a:rPr>
              <a:t>(ii) </a:t>
            </a:r>
            <a:r>
              <a:rPr lang="zh-CN" altLang="en-US" sz="2800">
                <a:solidFill>
                  <a:schemeClr val="tx2"/>
                </a:solidFill>
              </a:rPr>
              <a:t>用户账户信息数据；</a:t>
            </a:r>
            <a:endParaRPr lang="zh-CN" altLang="en-US" sz="2800">
              <a:solidFill>
                <a:schemeClr val="tx2"/>
              </a:solidFill>
            </a:endParaRPr>
          </a:p>
          <a:p>
            <a:pPr marL="342900" indent="-342900">
              <a:lnSpc>
                <a:spcPct val="140000"/>
              </a:lnSpc>
              <a:buFont typeface="Wingdings" panose="05000000000000000000" charset="0"/>
              <a:buChar char="l"/>
            </a:pPr>
            <a:r>
              <a:rPr lang="zh-CN" altLang="en-US" sz="2800">
                <a:solidFill>
                  <a:schemeClr val="tx2"/>
                </a:solidFill>
              </a:rPr>
              <a:t>非关键数据是日志数据。其添加的一部分证据如下表</a:t>
            </a:r>
            <a:r>
              <a:rPr lang="en-US" altLang="zh-CN" sz="2800">
                <a:solidFill>
                  <a:schemeClr val="tx2"/>
                </a:solidFill>
              </a:rPr>
              <a:t> </a:t>
            </a:r>
            <a:r>
              <a:rPr lang="zh-CN" altLang="en-US" sz="2800">
                <a:solidFill>
                  <a:schemeClr val="tx2"/>
                </a:solidFill>
              </a:rPr>
              <a:t>所示：</a:t>
            </a:r>
            <a:endParaRPr lang="zh-CN" altLang="en-US" sz="2800">
              <a:solidFill>
                <a:schemeClr val="tx2"/>
              </a:solidFill>
            </a:endParaRPr>
          </a:p>
          <a:p>
            <a:endParaRPr lang="zh-CN" altLang="en-US" sz="2800">
              <a:solidFill>
                <a:schemeClr val="tx2"/>
              </a:solidFill>
            </a:endParaRPr>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3" name="表格 2"/>
          <p:cNvGraphicFramePr/>
          <p:nvPr>
            <p:custDataLst>
              <p:tags r:id="rId4"/>
            </p:custDataLst>
          </p:nvPr>
        </p:nvGraphicFramePr>
        <p:xfrm>
          <a:off x="795020" y="1383665"/>
          <a:ext cx="10993120" cy="4934585"/>
        </p:xfrm>
        <a:graphic>
          <a:graphicData uri="http://schemas.openxmlformats.org/drawingml/2006/table">
            <a:tbl>
              <a:tblPr/>
              <a:tblGrid>
                <a:gridCol w="1121410"/>
                <a:gridCol w="1249680"/>
                <a:gridCol w="2282190"/>
                <a:gridCol w="6339840"/>
              </a:tblGrid>
              <a:tr h="976630">
                <a:tc>
                  <a:txBody>
                    <a:bodyPr/>
                    <a:p>
                      <a:pPr marL="228600" indent="-133985" algn="ctr" eaLnBrk="0" fontAlgn="base">
                        <a:lnSpc>
                          <a:spcPct val="128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韧性属</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8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韧性子</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800">
                          <a:solidFill>
                            <a:srgbClr val="000000"/>
                          </a:solidFill>
                          <a:latin typeface="Arial" panose="020B0604020202020204"/>
                          <a:ea typeface="Arial" panose="020B0604020202020204"/>
                        </a:rPr>
                        <a:t> </a:t>
                      </a:r>
                      <a:r>
                        <a:rPr lang="zh-CN" sz="2800">
                          <a:solidFill>
                            <a:srgbClr val="000000"/>
                          </a:solidFill>
                          <a:latin typeface="宋体" panose="02010600030101010101" pitchFamily="2" charset="-122"/>
                          <a:ea typeface="宋体" panose="02010600030101010101" pitchFamily="2" charset="-122"/>
                        </a:rPr>
                        <a:t>韧性证据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800">
                          <a:solidFill>
                            <a:srgbClr val="000000"/>
                          </a:solidFill>
                          <a:latin typeface="Arial" panose="020B0604020202020204"/>
                          <a:ea typeface="Arial" panose="020B0604020202020204"/>
                        </a:rPr>
                        <a:t> </a:t>
                      </a:r>
                      <a:r>
                        <a:rPr lang="zh-CN" sz="2800">
                          <a:solidFill>
                            <a:srgbClr val="000000"/>
                          </a:solidFill>
                          <a:latin typeface="宋体" panose="02010600030101010101" pitchFamily="2" charset="-122"/>
                          <a:ea typeface="宋体" panose="02010600030101010101" pitchFamily="2" charset="-122"/>
                        </a:rPr>
                        <a:t>韧性度量元</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608070">
                <a:tc>
                  <a:txBody>
                    <a:bodyPr/>
                    <a:p>
                      <a:pPr marL="76835" indent="0" algn="l" eaLnBrk="0" fontAlgn="base">
                        <a:lnSpc>
                          <a:spcPct val="114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23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542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可学习</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23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82550" indent="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组件可以学习并识别外挂玩家的行为</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7620" algn="l" eaLnBrk="0" fontAlgn="base">
                        <a:lnSpc>
                          <a:spcPct val="132000"/>
                        </a:lnSpc>
                        <a:spcBef>
                          <a:spcPts val="6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组件识别外挂玩家准确率高于</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90%</a:t>
                      </a:r>
                      <a:endParaRPr lang="en-US" altLang="zh-CN" sz="2800">
                        <a:solidFill>
                          <a:srgbClr val="000000"/>
                        </a:solidFill>
                        <a:latin typeface="Times New Roman" panose="02020603050405020304"/>
                        <a:ea typeface="Times New Roman" panose="02020603050405020304"/>
                      </a:endParaRPr>
                    </a:p>
                    <a:p>
                      <a:pPr marL="81280" indent="-1905" algn="l" eaLnBrk="0" fontAlgn="base">
                        <a:lnSpc>
                          <a:spcPct val="133000"/>
                        </a:lnSpc>
                        <a:spcBef>
                          <a:spcPts val="100"/>
                        </a:spcBef>
                        <a:spcAft>
                          <a:spcPct val="0"/>
                        </a:spcAft>
                      </a:pPr>
                      <a:r>
                        <a:rPr lang="en-US" altLang="zh-CN" sz="2800">
                          <a:solidFill>
                            <a:srgbClr val="000000"/>
                          </a:solidFill>
                          <a:latin typeface="Times New Roman" panose="02020603050405020304"/>
                          <a:ea typeface="Times New Roman" panose="02020603050405020304"/>
                        </a:rPr>
                        <a:t>B: </a:t>
                      </a:r>
                      <a:r>
                        <a:rPr lang="zh-CN" sz="2800">
                          <a:solidFill>
                            <a:srgbClr val="000000"/>
                          </a:solidFill>
                          <a:latin typeface="宋体" panose="02010600030101010101" pitchFamily="2" charset="-122"/>
                          <a:ea typeface="宋体" panose="02010600030101010101" pitchFamily="2" charset="-122"/>
                        </a:rPr>
                        <a:t>组件识别外挂玩家准确率在</a:t>
                      </a:r>
                      <a:r>
                        <a:rPr lang="en-US" altLang="zh-CN" sz="2800">
                          <a:solidFill>
                            <a:srgbClr val="000000"/>
                          </a:solidFill>
                          <a:latin typeface="Times New Roman" panose="02020603050405020304"/>
                          <a:ea typeface="Times New Roman" panose="02020603050405020304"/>
                        </a:rPr>
                        <a:t>60%-90% </a:t>
                      </a:r>
                      <a:r>
                        <a:rPr lang="zh-CN" sz="2800">
                          <a:solidFill>
                            <a:srgbClr val="000000"/>
                          </a:solidFill>
                          <a:latin typeface="宋体" panose="02010600030101010101" pitchFamily="2" charset="-122"/>
                          <a:ea typeface="宋体" panose="02010600030101010101" pitchFamily="2" charset="-122"/>
                        </a:rPr>
                        <a:t>之间</a:t>
                      </a:r>
                      <a:endParaRPr lang="zh-CN" sz="2800">
                        <a:solidFill>
                          <a:srgbClr val="000000"/>
                        </a:solidFill>
                        <a:latin typeface="宋体" panose="02010600030101010101" pitchFamily="2" charset="-122"/>
                        <a:ea typeface="宋体" panose="02010600030101010101" pitchFamily="2" charset="-122"/>
                      </a:endParaRPr>
                    </a:p>
                    <a:p>
                      <a:pPr marL="81915" indent="0" algn="l" eaLnBrk="0" fontAlgn="base">
                        <a:lnSpc>
                          <a:spcPct val="133000"/>
                        </a:lnSpc>
                        <a:spcBef>
                          <a:spcPts val="100"/>
                        </a:spcBef>
                        <a:spcAft>
                          <a:spcPct val="0"/>
                        </a:spcAft>
                      </a:pPr>
                      <a:r>
                        <a:rPr lang="en-US" altLang="zh-CN" sz="2800">
                          <a:solidFill>
                            <a:srgbClr val="000000"/>
                          </a:solidFill>
                          <a:latin typeface="Times New Roman" panose="02020603050405020304"/>
                          <a:ea typeface="Times New Roman" panose="02020603050405020304"/>
                        </a:rPr>
                        <a:t>C: </a:t>
                      </a:r>
                      <a:r>
                        <a:rPr lang="zh-CN" sz="2800">
                          <a:solidFill>
                            <a:srgbClr val="000000"/>
                          </a:solidFill>
                          <a:latin typeface="宋体" panose="02010600030101010101" pitchFamily="2" charset="-122"/>
                          <a:ea typeface="宋体" panose="02010600030101010101" pitchFamily="2" charset="-122"/>
                        </a:rPr>
                        <a:t>组件识别外挂玩家准确率在</a:t>
                      </a:r>
                      <a:r>
                        <a:rPr lang="en-US" altLang="zh-CN" sz="2800">
                          <a:solidFill>
                            <a:srgbClr val="000000"/>
                          </a:solidFill>
                          <a:latin typeface="Times New Roman" panose="02020603050405020304"/>
                          <a:ea typeface="Times New Roman" panose="02020603050405020304"/>
                        </a:rPr>
                        <a:t>30%-60% </a:t>
                      </a:r>
                      <a:r>
                        <a:rPr lang="zh-CN" sz="2800">
                          <a:solidFill>
                            <a:srgbClr val="000000"/>
                          </a:solidFill>
                          <a:latin typeface="宋体" panose="02010600030101010101" pitchFamily="2" charset="-122"/>
                          <a:ea typeface="宋体" panose="02010600030101010101" pitchFamily="2" charset="-122"/>
                        </a:rPr>
                        <a:t>之间</a:t>
                      </a:r>
                      <a:endParaRPr lang="zh-CN" sz="2800">
                        <a:solidFill>
                          <a:srgbClr val="000000"/>
                        </a:solidFill>
                        <a:latin typeface="宋体" panose="02010600030101010101" pitchFamily="2" charset="-122"/>
                        <a:ea typeface="宋体" panose="02010600030101010101" pitchFamily="2" charset="-122"/>
                      </a:endParaRPr>
                    </a:p>
                    <a:p>
                      <a:pPr marL="81280" indent="-1905" algn="l" eaLnBrk="0" fontAlgn="base">
                        <a:lnSpc>
                          <a:spcPct val="129000"/>
                        </a:lnSpc>
                        <a:spcBef>
                          <a:spcPts val="100"/>
                        </a:spcBef>
                        <a:spcAft>
                          <a:spcPct val="0"/>
                        </a:spcAft>
                      </a:pPr>
                      <a:r>
                        <a:rPr lang="en-US" altLang="zh-CN" sz="2800">
                          <a:solidFill>
                            <a:srgbClr val="000000"/>
                          </a:solidFill>
                          <a:latin typeface="Times New Roman" panose="02020603050405020304"/>
                          <a:ea typeface="Times New Roman" panose="02020603050405020304"/>
                        </a:rPr>
                        <a:t>D: </a:t>
                      </a:r>
                      <a:r>
                        <a:rPr lang="zh-CN" sz="2800">
                          <a:solidFill>
                            <a:srgbClr val="000000"/>
                          </a:solidFill>
                          <a:latin typeface="宋体" panose="02010600030101010101" pitchFamily="2" charset="-122"/>
                          <a:ea typeface="宋体" panose="02010600030101010101" pitchFamily="2" charset="-122"/>
                        </a:rPr>
                        <a:t>组件识别外挂玩家准确率低于</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30%</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415030" y="882650"/>
            <a:ext cx="6409690" cy="46037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后台管理组件添加的韧性证据</a:t>
            </a:r>
            <a:r>
              <a:rPr lang="en-US" altLang="zh-CN" sz="2400"/>
              <a:t>--</a:t>
            </a:r>
            <a:r>
              <a:rPr lang="zh-CN" altLang="en-US" sz="2400"/>
              <a:t>可学习性</a:t>
            </a:r>
            <a:endParaRPr lang="zh-CN" altLang="en-US" sz="240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1</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可用性（</a:t>
                      </a:r>
                      <a:r>
                        <a:rPr lang="en-US" altLang="zh-CN" sz="2400">
                          <a:solidFill>
                            <a:srgbClr val="000000"/>
                          </a:solidFill>
                          <a:latin typeface="宋体" panose="02010600030101010101" pitchFamily="2" charset="-122"/>
                          <a:ea typeface="宋体" panose="02010600030101010101" pitchFamily="2" charset="-122"/>
                        </a:rPr>
                        <a:t>1</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lnSpc>
                          <a:spcPct val="132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组件当前关键功能与非关键功能可</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用状态：</a:t>
                      </a:r>
                      <a:endParaRPr lang="zh-CN" sz="2400">
                        <a:solidFill>
                          <a:srgbClr val="000000"/>
                        </a:solidFill>
                        <a:latin typeface="宋体" panose="02010600030101010101" pitchFamily="2" charset="-122"/>
                        <a:ea typeface="宋体" panose="02010600030101010101" pitchFamily="2" charset="-122"/>
                      </a:endParaRPr>
                    </a:p>
                    <a:p>
                      <a:pPr marL="91440" indent="0" algn="l" eaLnBrk="0" fontAlgn="base">
                        <a:spcBef>
                          <a:spcPts val="1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组件关键功能全部可用</a:t>
                      </a:r>
                      <a:endParaRPr lang="zh-CN" sz="2400">
                        <a:solidFill>
                          <a:srgbClr val="000000"/>
                        </a:solidFill>
                        <a:latin typeface="宋体" panose="02010600030101010101" pitchFamily="2" charset="-122"/>
                        <a:ea typeface="宋体" panose="02010600030101010101" pitchFamily="2" charset="-122"/>
                      </a:endParaRPr>
                    </a:p>
                    <a:p>
                      <a:pPr marL="8128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组件非关键功能全部可用</a:t>
                      </a:r>
                      <a:endParaRPr lang="zh-CN" sz="2400">
                        <a:solidFill>
                          <a:srgbClr val="000000"/>
                        </a:solidFill>
                        <a:latin typeface="宋体" panose="02010600030101010101" pitchFamily="2" charset="-122"/>
                        <a:ea typeface="宋体" panose="02010600030101010101" pitchFamily="2" charset="-122"/>
                      </a:endParaRPr>
                    </a:p>
                    <a:p>
                      <a:pPr marL="80645" indent="2540" algn="l" eaLnBrk="0" fontAlgn="base">
                        <a:lnSpc>
                          <a:spcPct val="134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该组件关键功能是：</a:t>
                      </a:r>
                      <a:r>
                        <a:rPr lang="en-US" altLang="zh-CN" sz="2400">
                          <a:solidFill>
                            <a:srgbClr val="000000"/>
                          </a:solidFill>
                          <a:latin typeface="Times New Roman" panose="02020603050405020304"/>
                          <a:ea typeface="Times New Roman" panose="02020603050405020304"/>
                        </a:rPr>
                        <a:t>(i) </a:t>
                      </a:r>
                      <a:r>
                        <a:rPr lang="zh-CN" sz="2400">
                          <a:solidFill>
                            <a:srgbClr val="000000"/>
                          </a:solidFill>
                          <a:latin typeface="宋体" panose="02010600030101010101" pitchFamily="2" charset="-122"/>
                          <a:ea typeface="宋体" panose="02010600030101010101" pitchFamily="2" charset="-122"/>
                        </a:rPr>
                        <a:t>负责与客户</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端进行网络互联，</a:t>
                      </a:r>
                      <a:r>
                        <a:rPr lang="en-US" altLang="zh-CN" sz="2400">
                          <a:solidFill>
                            <a:srgbClr val="000000"/>
                          </a:solidFill>
                          <a:latin typeface="Times New Roman" panose="02020603050405020304"/>
                          <a:ea typeface="Times New Roman" panose="02020603050405020304"/>
                        </a:rPr>
                        <a:t>(ii) </a:t>
                      </a:r>
                      <a:r>
                        <a:rPr lang="zh-CN" sz="2400">
                          <a:solidFill>
                            <a:srgbClr val="000000"/>
                          </a:solidFill>
                          <a:latin typeface="宋体" panose="02010600030101010101" pitchFamily="2" charset="-122"/>
                          <a:ea typeface="宋体" panose="02010600030101010101" pitchFamily="2" charset="-122"/>
                        </a:rPr>
                        <a:t>向客户端提供</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游戏数据；非关键功能是：帮助用户</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选择网络质量最佳的服务器，确保</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用户以较低的网络延迟连接服务器。</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组件满足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2</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可用性</a:t>
                      </a:r>
                      <a:endParaRPr lang="zh-CN" sz="2400">
                        <a:solidFill>
                          <a:srgbClr val="000000"/>
                        </a:solidFill>
                        <a:latin typeface="宋体" panose="02010600030101010101" pitchFamily="2" charset="-122"/>
                        <a:ea typeface="宋体" panose="02010600030101010101" pitchFamily="2" charset="-122"/>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2</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lnSpc>
                          <a:spcPct val="132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组件当前关键数据与非关键数据可</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用状态：</a:t>
                      </a:r>
                      <a:endParaRPr lang="zh-CN" sz="2800">
                        <a:solidFill>
                          <a:srgbClr val="000000"/>
                        </a:solidFill>
                        <a:latin typeface="宋体" panose="02010600030101010101" pitchFamily="2" charset="-122"/>
                        <a:ea typeface="宋体" panose="02010600030101010101" pitchFamily="2" charset="-122"/>
                      </a:endParaRPr>
                    </a:p>
                    <a:p>
                      <a:pPr marL="91440" indent="0" algn="l" eaLnBrk="0" fontAlgn="base">
                        <a:spcBef>
                          <a:spcPts val="100"/>
                        </a:spcBef>
                        <a:spcAft>
                          <a:spcPct val="0"/>
                        </a:spcAft>
                      </a:pP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组件关键数据全部可用</a:t>
                      </a:r>
                      <a:endParaRPr lang="zh-CN" sz="2800">
                        <a:solidFill>
                          <a:srgbClr val="000000"/>
                        </a:solidFill>
                        <a:latin typeface="宋体" panose="02010600030101010101" pitchFamily="2" charset="-122"/>
                        <a:ea typeface="宋体" panose="02010600030101010101" pitchFamily="2" charset="-122"/>
                      </a:endParaRPr>
                    </a:p>
                    <a:p>
                      <a:pPr marL="81280" indent="0" algn="l" eaLnBrk="0" fontAlgn="base">
                        <a:spcBef>
                          <a:spcPts val="600"/>
                        </a:spcBef>
                        <a:spcAft>
                          <a:spcPct val="0"/>
                        </a:spcAft>
                      </a:pPr>
                      <a:r>
                        <a:rPr lang="en-US" altLang="zh-CN" sz="2800">
                          <a:solidFill>
                            <a:srgbClr val="000000"/>
                          </a:solidFill>
                          <a:latin typeface="Times New Roman" panose="02020603050405020304"/>
                          <a:ea typeface="Times New Roman" panose="02020603050405020304"/>
                        </a:rPr>
                        <a:t>3. </a:t>
                      </a:r>
                      <a:r>
                        <a:rPr lang="zh-CN" sz="2800">
                          <a:solidFill>
                            <a:srgbClr val="000000"/>
                          </a:solidFill>
                          <a:latin typeface="宋体" panose="02010600030101010101" pitchFamily="2" charset="-122"/>
                          <a:ea typeface="宋体" panose="02010600030101010101" pitchFamily="2" charset="-122"/>
                        </a:rPr>
                        <a:t>组件非关键数据全部可用</a:t>
                      </a:r>
                      <a:endParaRPr lang="zh-CN" sz="2800">
                        <a:solidFill>
                          <a:srgbClr val="000000"/>
                        </a:solidFill>
                        <a:latin typeface="宋体" panose="02010600030101010101" pitchFamily="2" charset="-122"/>
                        <a:ea typeface="宋体" panose="02010600030101010101" pitchFamily="2" charset="-122"/>
                      </a:endParaRPr>
                    </a:p>
                    <a:p>
                      <a:pPr marL="83185" indent="0" algn="l" eaLnBrk="0" fontAlgn="base">
                        <a:lnSpc>
                          <a:spcPct val="128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该组件关键数据是游戏内部数据，</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非关键数据是网络调试信息。</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7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组件满足</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和</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8.3 </a:t>
            </a:r>
            <a:r>
              <a:rPr lang="zh-CN" altLang="en-US" dirty="0" smtClean="0">
                <a:solidFill>
                  <a:srgbClr val="FF0000"/>
                </a:solidFill>
                <a:sym typeface="+mn-ea"/>
              </a:rPr>
              <a:t>韧性可信度量</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3</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29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29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可用性（</a:t>
                      </a:r>
                      <a:r>
                        <a:rPr lang="en-US" altLang="zh-CN" sz="2800">
                          <a:solidFill>
                            <a:srgbClr val="000000"/>
                          </a:solidFill>
                          <a:latin typeface="宋体" panose="02010600030101010101" pitchFamily="2" charset="-122"/>
                          <a:ea typeface="宋体" panose="02010600030101010101" pitchFamily="2" charset="-122"/>
                        </a:rPr>
                        <a:t>3</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645" indent="1905" algn="just" eaLnBrk="0" fontAlgn="base">
                        <a:lnSpc>
                          <a:spcPct val="133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组件当前对各地区提供的服务质量：</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延迟不高于平均延迟、网速不低于</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平均网速、丢包率不高于平均丢包</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率即达到质量要求</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80000"/>
                        </a:lnSpc>
                        <a:spcBef>
                          <a:spcPct val="0"/>
                        </a:spcBef>
                        <a:spcAft>
                          <a:spcPct val="0"/>
                        </a:spcAft>
                      </a:pPr>
                      <a:r>
                        <a:rPr lang="en-US" altLang="zh-CN" sz="2800">
                          <a:solidFill>
                            <a:srgbClr val="000000"/>
                          </a:solidFill>
                          <a:latin typeface="Arial" panose="020B0604020202020204"/>
                          <a:ea typeface="Arial" panose="020B0604020202020204"/>
                        </a:rPr>
                        <a:t> </a:t>
                      </a: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组件对各地区均能提供达</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到质量要求的服务</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4</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spcBef>
                          <a:spcPct val="0"/>
                        </a:spcBef>
                        <a:spcAft>
                          <a:spcPct val="0"/>
                        </a:spcAft>
                      </a:pPr>
                      <a:endParaRPr lang="en-US" altLang="zh-CN" sz="11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1100">
                          <a:solidFill>
                            <a:srgbClr val="000000"/>
                          </a:solidFill>
                          <a:latin typeface="Arial" panose="020B0604020202020204"/>
                          <a:ea typeface="Arial" panose="020B0604020202020204"/>
                        </a:rPr>
                        <a:t> </a:t>
                      </a:r>
                      <a:endParaRPr lang="en-US" altLang="zh-CN" sz="11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1100">
                          <a:solidFill>
                            <a:srgbClr val="000000"/>
                          </a:solidFill>
                          <a:latin typeface="Arial" panose="020B0604020202020204"/>
                          <a:ea typeface="Arial" panose="020B0604020202020204"/>
                        </a:rPr>
                        <a:t> </a:t>
                      </a:r>
                      <a:endParaRPr lang="en-US" altLang="zh-CN" sz="11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1100">
                          <a:solidFill>
                            <a:srgbClr val="000000"/>
                          </a:solidFill>
                          <a:latin typeface="Arial" panose="020B0604020202020204"/>
                          <a:ea typeface="Arial" panose="020B0604020202020204"/>
                        </a:rPr>
                        <a:t> </a:t>
                      </a:r>
                      <a:endParaRPr lang="en-US" altLang="zh-CN" sz="11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1100">
                          <a:solidFill>
                            <a:srgbClr val="000000"/>
                          </a:solidFill>
                          <a:latin typeface="Arial" panose="020B0604020202020204"/>
                          <a:ea typeface="Arial" panose="020B0604020202020204"/>
                        </a:rPr>
                        <a:t> </a:t>
                      </a:r>
                      <a:endParaRPr lang="en-US" altLang="zh-CN" sz="11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11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安全性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组件数据与信息保密：</a:t>
                      </a:r>
                      <a:endParaRPr lang="zh-CN" sz="2400">
                        <a:solidFill>
                          <a:srgbClr val="000000"/>
                        </a:solidFill>
                        <a:latin typeface="宋体" panose="02010600030101010101" pitchFamily="2" charset="-122"/>
                        <a:ea typeface="宋体" panose="02010600030101010101" pitchFamily="2" charset="-122"/>
                      </a:endParaRPr>
                    </a:p>
                    <a:p>
                      <a:pPr marL="80645" indent="1079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组件在灾难发生前可保证数据不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会被未授权用户访问得到</a:t>
                      </a:r>
                      <a:endParaRPr lang="zh-CN" sz="2400">
                        <a:solidFill>
                          <a:srgbClr val="000000"/>
                        </a:solidFill>
                        <a:latin typeface="宋体" panose="02010600030101010101" pitchFamily="2" charset="-122"/>
                        <a:ea typeface="宋体" panose="02010600030101010101" pitchFamily="2" charset="-122"/>
                      </a:endParaRPr>
                    </a:p>
                    <a:p>
                      <a:pPr marL="80010" indent="-127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组件在灾难发生后可保证数据不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会被未授权用户访问得到</a:t>
                      </a:r>
                      <a:endParaRPr lang="zh-CN" sz="2400">
                        <a:solidFill>
                          <a:srgbClr val="000000"/>
                        </a:solidFill>
                        <a:latin typeface="宋体" panose="02010600030101010101" pitchFamily="2" charset="-122"/>
                        <a:ea typeface="宋体" panose="02010600030101010101" pitchFamily="2" charset="-122"/>
                      </a:endParaRPr>
                    </a:p>
                    <a:p>
                      <a:pPr marL="82550" indent="-1270" algn="l" eaLnBrk="0" fontAlgn="base">
                        <a:lnSpc>
                          <a:spcPct val="114000"/>
                        </a:lnSpc>
                        <a:spcBef>
                          <a:spcPts val="600"/>
                        </a:spcBef>
                        <a:spcAft>
                          <a:spcPct val="0"/>
                        </a:spcAft>
                      </a:pP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组件满足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2</a:t>
                      </a:r>
                      <a:endParaRPr lang="en-US" alt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5</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1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1</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组件容错及其功能：</a:t>
                      </a:r>
                      <a:endParaRPr lang="zh-CN" sz="2800">
                        <a:solidFill>
                          <a:srgbClr val="000000"/>
                        </a:solidFill>
                        <a:latin typeface="宋体" panose="02010600030101010101" pitchFamily="2" charset="-122"/>
                        <a:ea typeface="宋体" panose="02010600030101010101" pitchFamily="2" charset="-122"/>
                      </a:endParaRPr>
                    </a:p>
                    <a:p>
                      <a:pPr marL="91440" indent="0" algn="l" eaLnBrk="0" fontAlgn="base">
                        <a:spcBef>
                          <a:spcPts val="600"/>
                        </a:spcBef>
                        <a:spcAft>
                          <a:spcPct val="0"/>
                        </a:spcAft>
                      </a:pP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对容错性有合理的测试</a:t>
                      </a:r>
                      <a:endParaRPr lang="en-US" altLang="zh-CN" sz="1800">
                        <a:solidFill>
                          <a:srgbClr val="000000"/>
                        </a:solidFill>
                        <a:latin typeface="Times New Roman" panose="02020603050405020304"/>
                        <a:ea typeface="Times New Roman" panose="02020603050405020304"/>
                      </a:endParaRPr>
                    </a:p>
                    <a:p>
                      <a:pPr marL="82550" indent="-381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2. </a:t>
                      </a:r>
                      <a:r>
                        <a:rPr lang="zh-CN" sz="2800">
                          <a:solidFill>
                            <a:srgbClr val="000000"/>
                          </a:solidFill>
                          <a:latin typeface="宋体" panose="02010600030101010101" pitchFamily="2" charset="-122"/>
                          <a:ea typeface="宋体" panose="02010600030101010101" pitchFamily="2" charset="-122"/>
                        </a:rPr>
                        <a:t>组件具有错误透明性，能给出错误根源</a:t>
                      </a:r>
                      <a:endParaRPr lang="en-US" altLang="zh-CN" sz="1800">
                        <a:solidFill>
                          <a:srgbClr val="000000"/>
                        </a:solidFill>
                        <a:latin typeface="Times New Roman" panose="02020603050405020304"/>
                        <a:ea typeface="Times New Roman" panose="02020603050405020304"/>
                      </a:endParaRPr>
                    </a:p>
                    <a:p>
                      <a:pPr marL="81280" indent="0" algn="l" eaLnBrk="0" fontAlgn="base">
                        <a:spcBef>
                          <a:spcPts val="500"/>
                        </a:spcBef>
                        <a:spcAft>
                          <a:spcPct val="0"/>
                        </a:spcAft>
                      </a:pPr>
                      <a:r>
                        <a:rPr lang="en-US" altLang="zh-CN" sz="2800">
                          <a:solidFill>
                            <a:srgbClr val="000000"/>
                          </a:solidFill>
                          <a:latin typeface="Times New Roman" panose="02020603050405020304"/>
                          <a:ea typeface="Times New Roman" panose="02020603050405020304"/>
                        </a:rPr>
                        <a:t>3. </a:t>
                      </a:r>
                      <a:r>
                        <a:rPr lang="zh-CN" sz="2800">
                          <a:solidFill>
                            <a:srgbClr val="000000"/>
                          </a:solidFill>
                          <a:latin typeface="宋体" panose="02010600030101010101" pitchFamily="2" charset="-122"/>
                          <a:ea typeface="宋体" panose="02010600030101010101" pitchFamily="2" charset="-122"/>
                        </a:rPr>
                        <a:t>组件在容错阶段仍能提供服务</a:t>
                      </a:r>
                      <a:endParaRPr lang="en-US" altLang="zh-CN" sz="1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9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29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10160" indent="68580" algn="l" eaLnBrk="0" fontAlgn="base">
                        <a:lnSpc>
                          <a:spcPct val="132000"/>
                        </a:lnSpc>
                        <a:spcBef>
                          <a:spcPts val="300"/>
                        </a:spcBef>
                        <a:spcAft>
                          <a:spcPct val="0"/>
                        </a:spcAft>
                      </a:pPr>
                      <a:r>
                        <a:rPr lang="en-US" altLang="zh-CN" sz="2800">
                          <a:solidFill>
                            <a:srgbClr val="000000"/>
                          </a:solidFill>
                          <a:latin typeface="Times New Roman" panose="02020603050405020304"/>
                          <a:ea typeface="Times New Roman" panose="02020603050405020304"/>
                        </a:rPr>
                        <a:t>B: </a:t>
                      </a:r>
                      <a:r>
                        <a:rPr lang="zh-CN" sz="2800">
                          <a:solidFill>
                            <a:srgbClr val="000000"/>
                          </a:solidFill>
                          <a:latin typeface="宋体" panose="02010600030101010101" pitchFamily="2" charset="-122"/>
                          <a:ea typeface="宋体" panose="02010600030101010101" pitchFamily="2" charset="-122"/>
                        </a:rPr>
                        <a:t>组件当前满足其中两点</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（满足</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和</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3</a:t>
                      </a:r>
                      <a:r>
                        <a:rPr lang="zh-CN" sz="2800">
                          <a:solidFill>
                            <a:srgbClr val="000000"/>
                          </a:solidFill>
                          <a:latin typeface="宋体" panose="02010600030101010101" pitchFamily="2" charset="-122"/>
                          <a:ea typeface="宋体" panose="02010600030101010101" pitchFamily="2" charset="-122"/>
                        </a:rPr>
                        <a:t>）</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6</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2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2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2</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组件容错性能：</a:t>
                      </a:r>
                      <a:endParaRPr lang="zh-CN" sz="2800">
                        <a:solidFill>
                          <a:srgbClr val="000000"/>
                        </a:solidFill>
                        <a:latin typeface="宋体" panose="02010600030101010101" pitchFamily="2" charset="-122"/>
                        <a:ea typeface="宋体" panose="02010600030101010101" pitchFamily="2" charset="-122"/>
                      </a:endParaRPr>
                    </a:p>
                    <a:p>
                      <a:pPr marL="81280" indent="9525"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修复前平均时间（</a:t>
                      </a:r>
                      <a:r>
                        <a:rPr lang="en-US" altLang="zh-CN" sz="2800">
                          <a:solidFill>
                            <a:srgbClr val="000000"/>
                          </a:solidFill>
                          <a:latin typeface="Times New Roman" panose="02020603050405020304"/>
                          <a:ea typeface="Times New Roman" panose="02020603050405020304"/>
                        </a:rPr>
                        <a:t>MTTF</a:t>
                      </a:r>
                      <a:r>
                        <a:rPr lang="zh-CN" sz="2800">
                          <a:solidFill>
                            <a:srgbClr val="000000"/>
                          </a:solidFill>
                          <a:latin typeface="宋体" panose="02010600030101010101" pitchFamily="2" charset="-122"/>
                          <a:ea typeface="宋体" panose="02010600030101010101" pitchFamily="2" charset="-122"/>
                        </a:rPr>
                        <a:t>）不高于</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规定值</a:t>
                      </a:r>
                      <a:endParaRPr lang="zh-CN" sz="2800">
                        <a:solidFill>
                          <a:srgbClr val="000000"/>
                        </a:solidFill>
                        <a:latin typeface="宋体" panose="02010600030101010101" pitchFamily="2" charset="-122"/>
                        <a:ea typeface="宋体" panose="02010600030101010101" pitchFamily="2" charset="-122"/>
                      </a:endParaRPr>
                    </a:p>
                    <a:p>
                      <a:pPr marL="81280" indent="9525"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2. </a:t>
                      </a:r>
                      <a:r>
                        <a:rPr lang="zh-CN" sz="2800">
                          <a:solidFill>
                            <a:srgbClr val="000000"/>
                          </a:solidFill>
                          <a:latin typeface="宋体" panose="02010600030101010101" pitchFamily="2" charset="-122"/>
                          <a:ea typeface="宋体" panose="02010600030101010101" pitchFamily="2" charset="-122"/>
                        </a:rPr>
                        <a:t>渗透阈值（</a:t>
                      </a:r>
                      <a:r>
                        <a:rPr lang="en-US" altLang="zh-CN" sz="2800">
                          <a:solidFill>
                            <a:srgbClr val="000000"/>
                          </a:solidFill>
                          <a:latin typeface="Times New Roman" panose="02020603050405020304"/>
                          <a:ea typeface="Times New Roman" panose="02020603050405020304"/>
                        </a:rPr>
                        <a:t>Percolation threshhold</a:t>
                      </a:r>
                      <a:r>
                        <a:rPr lang="zh-CN" sz="2800">
                          <a:solidFill>
                            <a:srgbClr val="000000"/>
                          </a:solidFill>
                          <a:latin typeface="宋体" panose="02010600030101010101" pitchFamily="2" charset="-122"/>
                          <a:ea typeface="宋体" panose="02010600030101010101" pitchFamily="2" charset="-122"/>
                        </a:rPr>
                        <a:t>）</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不低于规定值</a:t>
                      </a:r>
                      <a:endParaRPr lang="en-US" altLang="zh-CN" sz="2800">
                        <a:solidFill>
                          <a:srgbClr val="000000"/>
                        </a:solidFill>
                        <a:latin typeface="Times New Roman" panose="02020603050405020304"/>
                        <a:ea typeface="Times New Roman" panose="02020603050405020304"/>
                      </a:endParaRPr>
                    </a:p>
                    <a:p>
                      <a:pPr marL="82550" indent="-127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3. </a:t>
                      </a:r>
                      <a:r>
                        <a:rPr lang="zh-CN" sz="2800">
                          <a:solidFill>
                            <a:srgbClr val="000000"/>
                          </a:solidFill>
                          <a:latin typeface="宋体" panose="02010600030101010101" pitchFamily="2" charset="-122"/>
                          <a:ea typeface="宋体" panose="02010600030101010101" pitchFamily="2" charset="-122"/>
                        </a:rPr>
                        <a:t>该组件与其他组件有合理的依赖</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关系</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2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组件当前满足其中三点</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7</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01000"/>
                        </a:lnSpc>
                        <a:spcBef>
                          <a:spcPct val="0"/>
                        </a:spcBef>
                        <a:spcAft>
                          <a:spcPct val="0"/>
                        </a:spcAft>
                      </a:pPr>
                      <a:endParaRPr lang="en-US" altLang="zh-CN" sz="28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3</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645" indent="0" algn="l" eaLnBrk="0" fontAlgn="base">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平均故障间隔时间（</a:t>
                      </a:r>
                      <a:r>
                        <a:rPr lang="en-US" altLang="zh-CN" sz="2800">
                          <a:solidFill>
                            <a:srgbClr val="000000"/>
                          </a:solidFill>
                          <a:latin typeface="Times New Roman" panose="02020603050405020304"/>
                          <a:ea typeface="Times New Roman" panose="02020603050405020304"/>
                        </a:rPr>
                        <a:t>MTBF</a:t>
                      </a:r>
                      <a:r>
                        <a:rPr lang="zh-CN" sz="2800">
                          <a:solidFill>
                            <a:srgbClr val="000000"/>
                          </a:solidFill>
                          <a:latin typeface="宋体" panose="02010600030101010101" pitchFamily="2" charset="-122"/>
                          <a:ea typeface="宋体" panose="02010600030101010101" pitchFamily="2" charset="-122"/>
                        </a:rPr>
                        <a:t>）</a:t>
                      </a:r>
                      <a:endParaRPr lang="zh-CN" sz="2800">
                        <a:solidFill>
                          <a:srgbClr val="000000"/>
                        </a:solidFill>
                        <a:latin typeface="宋体" panose="02010600030101010101" pitchFamily="2" charset="-122"/>
                        <a:ea typeface="宋体" panose="02010600030101010101" pitchFamily="2" charset="-122"/>
                      </a:endParaRPr>
                    </a:p>
                    <a:p>
                      <a:pPr marL="8890" indent="0" algn="l" eaLnBrk="0" fontAlgn="base">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Times New Roman" panose="02020603050405020304"/>
                          <a:ea typeface="Times New Roman" panose="02020603050405020304"/>
                        </a:rPr>
                        <a:t>MTBF </a:t>
                      </a:r>
                      <a:r>
                        <a:rPr lang="zh-CN" sz="2800">
                          <a:solidFill>
                            <a:srgbClr val="000000"/>
                          </a:solidFill>
                          <a:latin typeface="宋体" panose="02010600030101010101" pitchFamily="2" charset="-122"/>
                          <a:ea typeface="宋体" panose="02010600030101010101" pitchFamily="2" charset="-122"/>
                        </a:rPr>
                        <a:t>即两次故障之间的间隔时间）</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090" indent="-6985" algn="l" eaLnBrk="0" fontAlgn="base">
                        <a:lnSpc>
                          <a:spcPct val="128000"/>
                        </a:lnSpc>
                        <a:spcBef>
                          <a:spcPts val="6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平均故障间隔时间低于规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定时间</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8</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80000"/>
                        </a:lnSpc>
                        <a:spcBef>
                          <a:spcPct val="0"/>
                        </a:spcBef>
                        <a:spcAft>
                          <a:spcPct val="0"/>
                        </a:spcAft>
                      </a:pPr>
                      <a:endParaRPr lang="en-US" altLang="zh-CN" sz="28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4</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645" indent="1905" algn="just" eaLnBrk="0" fontAlgn="base">
                        <a:lnSpc>
                          <a:spcPct val="132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组件损失表现：组件受到攻击前的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表现</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B</a:t>
                      </a:r>
                      <a:r>
                        <a:rPr lang="en-US" altLang="zh-CN" sz="2800" baseline="-25000">
                          <a:solidFill>
                            <a:srgbClr val="000000"/>
                          </a:solidFill>
                          <a:latin typeface="Times New Roman" panose="02020603050405020304"/>
                          <a:ea typeface="Times New Roman" panose="02020603050405020304"/>
                        </a:rPr>
                        <a:t>origin</a:t>
                      </a:r>
                      <a:r>
                        <a:rPr lang="en-US" altLang="zh-CN" sz="2800">
                          <a:solidFill>
                            <a:srgbClr val="000000"/>
                          </a:solidFill>
                          <a:latin typeface="Times New Roman" panose="02020603050405020304"/>
                          <a:ea typeface="Times New Roman" panose="02020603050405020304"/>
                        </a:rPr>
                        <a:t>  </a:t>
                      </a:r>
                      <a:r>
                        <a:rPr lang="zh-CN" sz="2800">
                          <a:solidFill>
                            <a:srgbClr val="000000"/>
                          </a:solidFill>
                          <a:latin typeface="宋体" panose="02010600030101010101" pitchFamily="2" charset="-122"/>
                          <a:ea typeface="宋体" panose="02010600030101010101" pitchFamily="2" charset="-122"/>
                        </a:rPr>
                        <a:t>与受到攻击后降低到的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最低表现</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B</a:t>
                      </a:r>
                      <a:r>
                        <a:rPr lang="en-US" altLang="zh-CN" sz="2800" baseline="-25000">
                          <a:solidFill>
                            <a:srgbClr val="000000"/>
                          </a:solidFill>
                          <a:latin typeface="Times New Roman" panose="02020603050405020304"/>
                          <a:ea typeface="Times New Roman" panose="02020603050405020304"/>
                        </a:rPr>
                        <a:t>disrupt</a:t>
                      </a:r>
                      <a:r>
                        <a:rPr lang="en-US" altLang="zh-CN" sz="2800">
                          <a:solidFill>
                            <a:srgbClr val="000000"/>
                          </a:solidFill>
                          <a:latin typeface="Times New Roman" panose="02020603050405020304"/>
                          <a:ea typeface="Times New Roman" panose="02020603050405020304"/>
                        </a:rPr>
                        <a:t>  </a:t>
                      </a:r>
                      <a:r>
                        <a:rPr lang="zh-CN" sz="2800">
                          <a:solidFill>
                            <a:srgbClr val="000000"/>
                          </a:solidFill>
                          <a:latin typeface="宋体" panose="02010600030101010101" pitchFamily="2" charset="-122"/>
                          <a:ea typeface="宋体" panose="02010600030101010101" pitchFamily="2" charset="-122"/>
                        </a:rPr>
                        <a:t>之差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82550" indent="-4445" algn="l" eaLnBrk="0" fontAlgn="base">
                        <a:lnSpc>
                          <a:spcPct val="132000"/>
                        </a:lnSpc>
                        <a:spcBef>
                          <a:spcPts val="3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组件损失表现不超过受到</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攻击前表现的</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10%</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3745865"/>
        </p:xfrm>
        <a:graphic>
          <a:graphicData uri="http://schemas.openxmlformats.org/drawingml/2006/table">
            <a:tbl>
              <a:tblPr/>
              <a:tblGrid>
                <a:gridCol w="1144270"/>
                <a:gridCol w="1138555"/>
                <a:gridCol w="5992495"/>
                <a:gridCol w="21018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lnSpc>
                          <a:spcPct val="10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可恢复性</a:t>
                      </a:r>
                      <a:endParaRPr lang="zh-CN" sz="28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1</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9235" indent="-13716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恢复性能</a:t>
                      </a:r>
                      <a:endParaRPr lang="zh-CN" sz="2800">
                        <a:solidFill>
                          <a:srgbClr val="000000"/>
                        </a:solidFill>
                        <a:latin typeface="宋体" panose="02010600030101010101" pitchFamily="2" charset="-122"/>
                        <a:ea typeface="宋体" panose="02010600030101010101" pitchFamily="2" charset="-122"/>
                      </a:endParaRPr>
                    </a:p>
                    <a:p>
                      <a:pPr marL="229235" indent="-13716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1</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889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组件在规定时间内恢复了损失表</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现的</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90% </a:t>
                      </a:r>
                      <a:r>
                        <a:rPr lang="zh-CN" sz="2800">
                          <a:solidFill>
                            <a:srgbClr val="000000"/>
                          </a:solidFill>
                          <a:latin typeface="宋体" panose="02010600030101010101" pitchFamily="2" charset="-122"/>
                          <a:ea typeface="宋体" panose="02010600030101010101" pitchFamily="2" charset="-122"/>
                        </a:rPr>
                        <a:t>以上</a:t>
                      </a:r>
                      <a:endParaRPr lang="zh-CN" sz="2800">
                        <a:solidFill>
                          <a:srgbClr val="000000"/>
                        </a:solidFill>
                        <a:latin typeface="宋体" panose="02010600030101010101" pitchFamily="2" charset="-122"/>
                        <a:ea typeface="宋体" panose="02010600030101010101" pitchFamily="2" charset="-122"/>
                      </a:endParaRPr>
                    </a:p>
                    <a:p>
                      <a:pPr marL="81915" indent="-3175"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2. </a:t>
                      </a:r>
                      <a:r>
                        <a:rPr lang="zh-CN" sz="2800">
                          <a:solidFill>
                            <a:srgbClr val="000000"/>
                          </a:solidFill>
                          <a:latin typeface="宋体" panose="02010600030101010101" pitchFamily="2" charset="-122"/>
                          <a:ea typeface="宋体" panose="02010600030101010101" pitchFamily="2" charset="-122"/>
                        </a:rPr>
                        <a:t>组件在规定时间内恢复了损失表</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现的</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60%-90%</a:t>
                      </a:r>
                      <a:endParaRPr lang="en-US" altLang="zh-CN" sz="2800">
                        <a:solidFill>
                          <a:srgbClr val="000000"/>
                        </a:solidFill>
                        <a:latin typeface="Times New Roman" panose="02020603050405020304"/>
                        <a:ea typeface="Times New Roman" panose="02020603050405020304"/>
                      </a:endParaRPr>
                    </a:p>
                    <a:p>
                      <a:pPr marL="84455" indent="-3175" algn="l" eaLnBrk="0" fontAlgn="base">
                        <a:lnSpc>
                          <a:spcPct val="114000"/>
                        </a:lnSpc>
                        <a:spcBef>
                          <a:spcPts val="600"/>
                        </a:spcBef>
                        <a:spcAft>
                          <a:spcPct val="0"/>
                        </a:spcAft>
                      </a:pP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0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满足证据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4111625"/>
        </p:xfrm>
        <a:graphic>
          <a:graphicData uri="http://schemas.openxmlformats.org/drawingml/2006/table">
            <a:tbl>
              <a:tblPr/>
              <a:tblGrid>
                <a:gridCol w="1144270"/>
                <a:gridCol w="1138555"/>
                <a:gridCol w="5704840"/>
                <a:gridCol w="2389505"/>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lnSpc>
                          <a:spcPct val="10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可恢复性</a:t>
                      </a:r>
                      <a:endParaRPr lang="zh-CN" sz="28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2</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9235" indent="-13716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恢复性能</a:t>
                      </a:r>
                      <a:endParaRPr lang="zh-CN" sz="2800">
                        <a:solidFill>
                          <a:srgbClr val="000000"/>
                        </a:solidFill>
                        <a:latin typeface="宋体" panose="02010600030101010101" pitchFamily="2" charset="-122"/>
                        <a:ea typeface="宋体" panose="02010600030101010101" pitchFamily="2" charset="-122"/>
                      </a:endParaRPr>
                    </a:p>
                    <a:p>
                      <a:pPr marL="229235" indent="-13716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2</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lnSpc>
                          <a:spcPct val="128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组件在系统降级后仍可恢复到降级</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前的状态</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280" indent="-3175" algn="l" eaLnBrk="0" fontAlgn="base">
                        <a:lnSpc>
                          <a:spcPct val="128000"/>
                        </a:lnSpc>
                        <a:spcBef>
                          <a:spcPts val="6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系统降级到最低等级时组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件仍能恢复到降级前状态</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4111625"/>
        </p:xfrm>
        <a:graphic>
          <a:graphicData uri="http://schemas.openxmlformats.org/drawingml/2006/table">
            <a:tbl>
              <a:tblPr/>
              <a:tblGrid>
                <a:gridCol w="1144270"/>
                <a:gridCol w="1138555"/>
                <a:gridCol w="5704840"/>
                <a:gridCol w="2389505"/>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lnSpc>
                          <a:spcPct val="10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可恢复性</a:t>
                      </a:r>
                      <a:endParaRPr lang="zh-CN" sz="28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3</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24790" indent="-132715" algn="l" eaLnBrk="0" fontAlgn="base">
                        <a:lnSpc>
                          <a:spcPct val="129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恢复成</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本</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1400"/>
                        </a:spcBef>
                        <a:spcAft>
                          <a:spcPct val="0"/>
                        </a:spcAft>
                      </a:pPr>
                      <a:r>
                        <a:rPr lang="zh-CN" sz="2800">
                          <a:solidFill>
                            <a:srgbClr val="000000"/>
                          </a:solidFill>
                          <a:latin typeface="宋体" panose="02010600030101010101" pitchFamily="2" charset="-122"/>
                          <a:ea typeface="宋体" panose="02010600030101010101" pitchFamily="2" charset="-122"/>
                        </a:rPr>
                        <a:t>组件当前恢复所耗费的开销</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3810" algn="l" eaLnBrk="0" fontAlgn="base">
                        <a:lnSpc>
                          <a:spcPct val="129000"/>
                        </a:lnSpc>
                        <a:spcBef>
                          <a:spcPts val="6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当前耗费了原组件成本的</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30% </a:t>
                      </a:r>
                      <a:r>
                        <a:rPr lang="zh-CN" sz="2800">
                          <a:solidFill>
                            <a:srgbClr val="000000"/>
                          </a:solidFill>
                          <a:latin typeface="宋体" panose="02010600030101010101" pitchFamily="2" charset="-122"/>
                          <a:ea typeface="宋体" panose="02010600030101010101" pitchFamily="2" charset="-122"/>
                        </a:rPr>
                        <a:t>以下用于恢复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4310380"/>
        </p:xfrm>
        <a:graphic>
          <a:graphicData uri="http://schemas.openxmlformats.org/drawingml/2006/table">
            <a:tbl>
              <a:tblPr/>
              <a:tblGrid>
                <a:gridCol w="1144270"/>
                <a:gridCol w="1138555"/>
                <a:gridCol w="6435090"/>
                <a:gridCol w="1659255"/>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gn="l" eaLnBrk="0" fontAlgn="base">
                        <a:lnSpc>
                          <a:spcPct val="101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可恢复性</a:t>
                      </a:r>
                      <a:endParaRPr lang="zh-CN" sz="28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4</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14000"/>
                        </a:lnSpc>
                        <a:spcBef>
                          <a:spcPct val="0"/>
                        </a:spcBef>
                        <a:spcAft>
                          <a:spcPct val="0"/>
                        </a:spcAft>
                      </a:pPr>
                      <a:endParaRPr lang="en-US" altLang="zh-CN" sz="2400">
                        <a:solidFill>
                          <a:srgbClr val="000000"/>
                        </a:solidFill>
                        <a:latin typeface="Arial" panose="020B0604020202020204"/>
                        <a:ea typeface="Arial" panose="020B0604020202020204"/>
                      </a:endParaRPr>
                    </a:p>
                    <a:p>
                      <a:pPr marL="76835" indent="0" algn="l" eaLnBrk="0" fontAlgn="base">
                        <a:lnSpc>
                          <a:spcPct val="114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34315" indent="-14224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恢复时</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间</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185" indent="825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平均完全恢复时间（</a:t>
                      </a:r>
                      <a:r>
                        <a:rPr lang="en-US" altLang="zh-CN" sz="2400">
                          <a:solidFill>
                            <a:srgbClr val="000000"/>
                          </a:solidFill>
                          <a:latin typeface="Times New Roman" panose="02020603050405020304"/>
                          <a:ea typeface="Times New Roman" panose="02020603050405020304"/>
                        </a:rPr>
                        <a:t>MTTFR</a:t>
                      </a:r>
                      <a:r>
                        <a:rPr lang="zh-CN" sz="2400">
                          <a:solidFill>
                            <a:srgbClr val="000000"/>
                          </a:solidFill>
                          <a:latin typeface="宋体" panose="02010600030101010101" pitchFamily="2" charset="-122"/>
                          <a:ea typeface="宋体" panose="02010600030101010101" pitchFamily="2" charset="-122"/>
                        </a:rPr>
                        <a:t>）低于规定时间</a:t>
                      </a:r>
                      <a:endParaRPr lang="zh-CN" sz="2400">
                        <a:solidFill>
                          <a:srgbClr val="000000"/>
                        </a:solidFill>
                        <a:latin typeface="宋体" panose="02010600030101010101" pitchFamily="2" charset="-122"/>
                        <a:ea typeface="宋体" panose="02010600030101010101" pitchFamily="2" charset="-122"/>
                      </a:endParaRPr>
                    </a:p>
                    <a:p>
                      <a:pPr marL="86995" indent="-8255" algn="l" eaLnBrk="0" fontAlgn="base">
                        <a:lnSpc>
                          <a:spcPct val="115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平均恢复时间（</a:t>
                      </a:r>
                      <a:r>
                        <a:rPr lang="en-US" altLang="zh-CN" sz="2400">
                          <a:solidFill>
                            <a:srgbClr val="000000"/>
                          </a:solidFill>
                          <a:latin typeface="Times New Roman" panose="02020603050405020304"/>
                          <a:ea typeface="Times New Roman" panose="02020603050405020304"/>
                        </a:rPr>
                        <a:t>MTTR</a:t>
                      </a:r>
                      <a:r>
                        <a:rPr lang="zh-CN" sz="2400">
                          <a:solidFill>
                            <a:srgbClr val="000000"/>
                          </a:solidFill>
                          <a:latin typeface="宋体" panose="02010600030101010101" pitchFamily="2" charset="-122"/>
                          <a:ea typeface="宋体" panose="02010600030101010101" pitchFamily="2" charset="-122"/>
                        </a:rPr>
                        <a:t>）低于规定时间</a:t>
                      </a:r>
                      <a:endParaRPr lang="en-US" altLang="zh-CN" sz="2400">
                        <a:solidFill>
                          <a:srgbClr val="000000"/>
                        </a:solidFill>
                        <a:latin typeface="Times New Roman" panose="02020603050405020304"/>
                        <a:ea typeface="Times New Roman" panose="02020603050405020304"/>
                      </a:endParaRPr>
                    </a:p>
                    <a:p>
                      <a:pPr marL="8128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恢复延迟低于规定时间</a:t>
                      </a:r>
                      <a:endParaRPr lang="zh-CN" sz="2400">
                        <a:solidFill>
                          <a:srgbClr val="000000"/>
                        </a:solidFill>
                        <a:latin typeface="宋体" panose="02010600030101010101" pitchFamily="2" charset="-122"/>
                        <a:ea typeface="宋体" panose="02010600030101010101" pitchFamily="2" charset="-122"/>
                      </a:endParaRPr>
                    </a:p>
                    <a:p>
                      <a:pPr marL="81915" indent="-635" algn="just" eaLnBrk="0" fontAlgn="base">
                        <a:lnSpc>
                          <a:spcPct val="133000"/>
                        </a:lnSpc>
                        <a:spcBef>
                          <a:spcPts val="600"/>
                        </a:spcBef>
                        <a:spcAft>
                          <a:spcPct val="0"/>
                        </a:spcAft>
                      </a:pPr>
                      <a:r>
                        <a:rPr lang="en-US" altLang="zh-CN" sz="2400">
                          <a:solidFill>
                            <a:srgbClr val="000000"/>
                          </a:solidFill>
                          <a:latin typeface="Times New Roman" panose="02020603050405020304"/>
                          <a:ea typeface="Times New Roman" panose="02020603050405020304"/>
                        </a:rPr>
                        <a:t>(MTTFR </a:t>
                      </a:r>
                      <a:r>
                        <a:rPr lang="zh-CN" sz="2400">
                          <a:solidFill>
                            <a:srgbClr val="000000"/>
                          </a:solidFill>
                          <a:latin typeface="宋体" panose="02010600030101010101" pitchFamily="2" charset="-122"/>
                          <a:ea typeface="宋体" panose="02010600030101010101" pitchFamily="2" charset="-122"/>
                        </a:rPr>
                        <a:t>指从组件受到攻击到完全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恢复耗时，</a:t>
                      </a:r>
                      <a:r>
                        <a:rPr lang="en-US" altLang="zh-CN" sz="2400">
                          <a:solidFill>
                            <a:srgbClr val="000000"/>
                          </a:solidFill>
                          <a:latin typeface="Times New Roman" panose="02020603050405020304"/>
                          <a:ea typeface="Times New Roman" panose="02020603050405020304"/>
                        </a:rPr>
                        <a:t>MTTR </a:t>
                      </a:r>
                      <a:r>
                        <a:rPr lang="zh-CN" sz="2400">
                          <a:solidFill>
                            <a:srgbClr val="000000"/>
                          </a:solidFill>
                          <a:latin typeface="宋体" panose="02010600030101010101" pitchFamily="2" charset="-122"/>
                          <a:ea typeface="宋体" panose="02010600030101010101" pitchFamily="2" charset="-122"/>
                        </a:rPr>
                        <a:t>指从发生降级到</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完全恢复耗时，恢复延迟指从表现</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降到最低到开始恢复工作耗时</a:t>
                      </a:r>
                      <a:r>
                        <a:rPr lang="en-US" altLang="zh-CN" sz="2400">
                          <a:solidFill>
                            <a:srgbClr val="000000"/>
                          </a:solidFill>
                          <a:latin typeface="Times New Roman" panose="02020603050405020304"/>
                          <a:ea typeface="Times New Roman" panose="02020603050405020304"/>
                        </a:rPr>
                        <a:t>)</a:t>
                      </a:r>
                      <a:endParaRPr lang="zh-CN" sz="24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7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组件当前满足其中三点</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4310380"/>
        </p:xfrm>
        <a:graphic>
          <a:graphicData uri="http://schemas.openxmlformats.org/drawingml/2006/table">
            <a:tbl>
              <a:tblPr/>
              <a:tblGrid>
                <a:gridCol w="1144270"/>
                <a:gridCol w="1138555"/>
                <a:gridCol w="6435090"/>
                <a:gridCol w="1659255"/>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nSpc>
                          <a:spcPct val="11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1</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8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29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542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可拓展性</a:t>
                      </a:r>
                      <a:endParaRPr lang="zh-CN" sz="2800">
                        <a:solidFill>
                          <a:srgbClr val="000000"/>
                        </a:solidFill>
                        <a:latin typeface="宋体" panose="02010600030101010101" pitchFamily="2" charset="-122"/>
                        <a:ea typeface="宋体" panose="02010600030101010101" pitchFamily="2" charset="-122"/>
                      </a:endParaRPr>
                    </a:p>
                    <a:p>
                      <a:pPr marL="22542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1</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0" algn="l" eaLnBrk="0" fontAlgn="base">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组件可以添加新的功能以适应环境：</a:t>
                      </a:r>
                      <a:endParaRPr lang="zh-CN" sz="2800">
                        <a:solidFill>
                          <a:srgbClr val="000000"/>
                        </a:solidFill>
                        <a:latin typeface="宋体" panose="02010600030101010101" pitchFamily="2" charset="-122"/>
                        <a:ea typeface="宋体" panose="02010600030101010101" pitchFamily="2" charset="-122"/>
                      </a:endParaRPr>
                    </a:p>
                    <a:p>
                      <a:pPr marL="91440" indent="0" algn="l" eaLnBrk="0" fontAlgn="base">
                        <a:spcBef>
                          <a:spcPts val="600"/>
                        </a:spcBef>
                        <a:spcAft>
                          <a:spcPct val="0"/>
                        </a:spcAft>
                      </a:pP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组件可以添加新的关键功能</a:t>
                      </a:r>
                      <a:endParaRPr lang="zh-CN" sz="2800">
                        <a:solidFill>
                          <a:srgbClr val="000000"/>
                        </a:solidFill>
                        <a:latin typeface="宋体" panose="02010600030101010101" pitchFamily="2" charset="-122"/>
                        <a:ea typeface="宋体" panose="02010600030101010101" pitchFamily="2" charset="-122"/>
                      </a:endParaRPr>
                    </a:p>
                    <a:p>
                      <a:pPr marL="78740" indent="0" algn="l" eaLnBrk="0" fontAlgn="base">
                        <a:spcBef>
                          <a:spcPts val="600"/>
                        </a:spcBef>
                        <a:spcAft>
                          <a:spcPct val="0"/>
                        </a:spcAft>
                      </a:pPr>
                      <a:r>
                        <a:rPr lang="en-US" altLang="zh-CN" sz="2800">
                          <a:solidFill>
                            <a:srgbClr val="000000"/>
                          </a:solidFill>
                          <a:latin typeface="Times New Roman" panose="02020603050405020304"/>
                          <a:ea typeface="Times New Roman" panose="02020603050405020304"/>
                        </a:rPr>
                        <a:t>2. </a:t>
                      </a:r>
                      <a:r>
                        <a:rPr lang="zh-CN" sz="2800">
                          <a:solidFill>
                            <a:srgbClr val="000000"/>
                          </a:solidFill>
                          <a:latin typeface="宋体" panose="02010600030101010101" pitchFamily="2" charset="-122"/>
                          <a:ea typeface="宋体" panose="02010600030101010101" pitchFamily="2" charset="-122"/>
                        </a:rPr>
                        <a:t>组件可以添加新的非关键功能</a:t>
                      </a:r>
                      <a:endParaRPr lang="zh-CN" sz="2800">
                        <a:solidFill>
                          <a:srgbClr val="000000"/>
                        </a:solidFill>
                        <a:latin typeface="宋体" panose="02010600030101010101" pitchFamily="2" charset="-122"/>
                        <a:ea typeface="宋体" panose="02010600030101010101" pitchFamily="2" charset="-122"/>
                      </a:endParaRPr>
                    </a:p>
                    <a:p>
                      <a:pPr marL="81280" indent="0" algn="l" eaLnBrk="0" fontAlgn="base">
                        <a:spcBef>
                          <a:spcPts val="600"/>
                        </a:spcBef>
                        <a:spcAft>
                          <a:spcPct val="0"/>
                        </a:spcAft>
                      </a:pPr>
                      <a:r>
                        <a:rPr lang="en-US" altLang="zh-CN" sz="2800">
                          <a:solidFill>
                            <a:srgbClr val="000000"/>
                          </a:solidFill>
                          <a:latin typeface="Times New Roman" panose="02020603050405020304"/>
                          <a:ea typeface="Times New Roman" panose="02020603050405020304"/>
                        </a:rPr>
                        <a:t>3. </a:t>
                      </a:r>
                      <a:r>
                        <a:rPr lang="zh-CN" sz="2800">
                          <a:solidFill>
                            <a:srgbClr val="000000"/>
                          </a:solidFill>
                          <a:latin typeface="宋体" panose="02010600030101010101" pitchFamily="2" charset="-122"/>
                          <a:ea typeface="宋体" panose="02010600030101010101" pitchFamily="2" charset="-122"/>
                        </a:rPr>
                        <a:t>组件无法添加新的关键功能</a:t>
                      </a:r>
                      <a:endParaRPr lang="zh-CN" sz="2800">
                        <a:solidFill>
                          <a:srgbClr val="000000"/>
                        </a:solidFill>
                        <a:latin typeface="宋体" panose="02010600030101010101" pitchFamily="2" charset="-122"/>
                        <a:ea typeface="宋体" panose="02010600030101010101" pitchFamily="2" charset="-122"/>
                      </a:endParaRPr>
                    </a:p>
                    <a:p>
                      <a:pPr marL="78105" indent="0" algn="l" eaLnBrk="0" fontAlgn="base">
                        <a:spcBef>
                          <a:spcPts val="600"/>
                        </a:spcBef>
                        <a:spcAft>
                          <a:spcPct val="0"/>
                        </a:spcAft>
                      </a:pPr>
                      <a:r>
                        <a:rPr lang="en-US" altLang="zh-CN" sz="2800">
                          <a:solidFill>
                            <a:srgbClr val="000000"/>
                          </a:solidFill>
                          <a:latin typeface="Times New Roman" panose="02020603050405020304"/>
                          <a:ea typeface="Times New Roman" panose="02020603050405020304"/>
                        </a:rPr>
                        <a:t>4. </a:t>
                      </a:r>
                      <a:r>
                        <a:rPr lang="zh-CN" sz="2800">
                          <a:solidFill>
                            <a:srgbClr val="000000"/>
                          </a:solidFill>
                          <a:latin typeface="宋体" panose="02010600030101010101" pitchFamily="2" charset="-122"/>
                          <a:ea typeface="宋体" panose="02010600030101010101" pitchFamily="2" charset="-122"/>
                        </a:rPr>
                        <a:t>组件无法添加新的非关键功能</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810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组件满足</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和</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4111625"/>
        </p:xfrm>
        <a:graphic>
          <a:graphicData uri="http://schemas.openxmlformats.org/drawingml/2006/table">
            <a:tbl>
              <a:tblPr/>
              <a:tblGrid>
                <a:gridCol w="1144270"/>
                <a:gridCol w="1138555"/>
                <a:gridCol w="5776595"/>
                <a:gridCol w="23177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nSpc>
                          <a:spcPct val="11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2</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01000"/>
                        </a:lnSpc>
                        <a:spcBef>
                          <a:spcPct val="0"/>
                        </a:spcBef>
                        <a:spcAft>
                          <a:spcPct val="0"/>
                        </a:spcAft>
                      </a:pPr>
                      <a:endParaRPr lang="en-US" altLang="zh-CN" sz="2800">
                        <a:solidFill>
                          <a:srgbClr val="000000"/>
                        </a:solidFill>
                        <a:latin typeface="Arial" panose="020B0604020202020204"/>
                        <a:ea typeface="Arial" panose="020B0604020202020204"/>
                      </a:endParaRPr>
                    </a:p>
                    <a:p>
                      <a:pPr marL="22542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可拓展性（</a:t>
                      </a:r>
                      <a:r>
                        <a:rPr lang="en-US" altLang="zh-CN" sz="2800">
                          <a:solidFill>
                            <a:srgbClr val="000000"/>
                          </a:solidFill>
                          <a:latin typeface="宋体" panose="02010600030101010101" pitchFamily="2" charset="-122"/>
                          <a:ea typeface="宋体" panose="02010600030101010101" pitchFamily="2" charset="-122"/>
                        </a:rPr>
                        <a:t>2</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81280" indent="635" algn="l" eaLnBrk="0" fontAlgn="base">
                        <a:lnSpc>
                          <a:spcPct val="132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组件在添加新功能时对已有的影响</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情况</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2540" algn="just" eaLnBrk="0" fontAlgn="base">
                        <a:lnSpc>
                          <a:spcPct val="131000"/>
                        </a:lnSpc>
                        <a:spcBef>
                          <a:spcPts val="600"/>
                        </a:spcBef>
                        <a:spcAft>
                          <a:spcPct val="0"/>
                        </a:spcAft>
                      </a:pPr>
                      <a:r>
                        <a:rPr lang="en-US" altLang="zh-CN" sz="2800">
                          <a:solidFill>
                            <a:srgbClr val="000000"/>
                          </a:solidFill>
                          <a:latin typeface="Times New Roman" panose="02020603050405020304"/>
                          <a:ea typeface="Times New Roman" panose="02020603050405020304"/>
                        </a:rPr>
                        <a:t>D: </a:t>
                      </a:r>
                      <a:r>
                        <a:rPr lang="zh-CN" sz="2800">
                          <a:solidFill>
                            <a:srgbClr val="000000"/>
                          </a:solidFill>
                          <a:latin typeface="宋体" panose="02010600030101010101" pitchFamily="2" charset="-122"/>
                          <a:ea typeface="宋体" panose="02010600030101010101" pitchFamily="2" charset="-122"/>
                        </a:rPr>
                        <a:t>组件添加功能时需中断提</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供所有功能，用户下次使用</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时需更新</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4111625"/>
        </p:xfrm>
        <a:graphic>
          <a:graphicData uri="http://schemas.openxmlformats.org/drawingml/2006/table">
            <a:tbl>
              <a:tblPr/>
              <a:tblGrid>
                <a:gridCol w="1144270"/>
                <a:gridCol w="1138555"/>
                <a:gridCol w="5776595"/>
                <a:gridCol w="23177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nSpc>
                          <a:spcPct val="11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3</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1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2885" indent="-130810" algn="l" eaLnBrk="0" fontAlgn="base">
                        <a:lnSpc>
                          <a:spcPct val="134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可重配</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010" indent="1143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组件在新环境中很快就能改变配</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置并正常提供服务</a:t>
                      </a:r>
                      <a:endParaRPr lang="zh-CN" sz="2800">
                        <a:solidFill>
                          <a:srgbClr val="000000"/>
                        </a:solidFill>
                        <a:latin typeface="宋体" panose="02010600030101010101" pitchFamily="2" charset="-122"/>
                        <a:ea typeface="宋体" panose="02010600030101010101" pitchFamily="2" charset="-122"/>
                      </a:endParaRPr>
                    </a:p>
                    <a:p>
                      <a:pPr marL="81280" indent="-254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2. </a:t>
                      </a:r>
                      <a:r>
                        <a:rPr lang="zh-CN" sz="2800">
                          <a:solidFill>
                            <a:srgbClr val="000000"/>
                          </a:solidFill>
                          <a:latin typeface="宋体" panose="02010600030101010101" pitchFamily="2" charset="-122"/>
                          <a:ea typeface="宋体" panose="02010600030101010101" pitchFamily="2" charset="-122"/>
                        </a:rPr>
                        <a:t>组件有很多套已有配置可选择以</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面对各种环境或攻击</a:t>
                      </a:r>
                      <a:endParaRPr lang="zh-CN" sz="2800">
                        <a:solidFill>
                          <a:srgbClr val="000000"/>
                        </a:solidFill>
                        <a:latin typeface="宋体" panose="02010600030101010101" pitchFamily="2" charset="-122"/>
                        <a:ea typeface="宋体" panose="02010600030101010101" pitchFamily="2" charset="-122"/>
                      </a:endParaRPr>
                    </a:p>
                    <a:p>
                      <a:pPr marL="91440" indent="-1016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3. </a:t>
                      </a:r>
                      <a:r>
                        <a:rPr lang="zh-CN" sz="2800">
                          <a:solidFill>
                            <a:srgbClr val="000000"/>
                          </a:solidFill>
                          <a:latin typeface="宋体" panose="02010600030101010101" pitchFamily="2" charset="-122"/>
                          <a:ea typeface="宋体" panose="02010600030101010101" pitchFamily="2" charset="-122"/>
                        </a:rPr>
                        <a:t>组件可以根据需求调整自己使用</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的资源数量</a:t>
                      </a:r>
                      <a:endParaRPr 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r>
                        <a:rPr lang="en-US" altLang="zh-CN" sz="2800">
                          <a:solidFill>
                            <a:srgbClr val="000000"/>
                          </a:solidFill>
                          <a:latin typeface="Times New Roman" panose="02020603050405020304"/>
                          <a:ea typeface="Times New Roman" panose="02020603050405020304"/>
                        </a:rPr>
                        <a:t>B: </a:t>
                      </a:r>
                      <a:r>
                        <a:rPr lang="zh-CN" sz="2800">
                          <a:solidFill>
                            <a:srgbClr val="000000"/>
                          </a:solidFill>
                          <a:latin typeface="宋体" panose="02010600030101010101" pitchFamily="2" charset="-122"/>
                          <a:ea typeface="宋体" panose="02010600030101010101" pitchFamily="2" charset="-122"/>
                        </a:rPr>
                        <a:t>组件当前满足其中两点</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（满足</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2 </a:t>
                      </a:r>
                      <a:r>
                        <a:rPr lang="zh-CN" sz="2800">
                          <a:solidFill>
                            <a:srgbClr val="000000"/>
                          </a:solidFill>
                          <a:latin typeface="宋体" panose="02010600030101010101" pitchFamily="2" charset="-122"/>
                          <a:ea typeface="宋体" panose="02010600030101010101" pitchFamily="2" charset="-122"/>
                        </a:rPr>
                        <a:t>和</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3</a:t>
                      </a:r>
                      <a:r>
                        <a:rPr lang="zh-CN" sz="2800">
                          <a:solidFill>
                            <a:srgbClr val="000000"/>
                          </a:solidFill>
                          <a:latin typeface="宋体" panose="02010600030101010101" pitchFamily="2" charset="-122"/>
                          <a:ea typeface="宋体" panose="02010600030101010101" pitchFamily="2" charset="-122"/>
                        </a:rPr>
                        <a:t>）</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4111625"/>
        </p:xfrm>
        <a:graphic>
          <a:graphicData uri="http://schemas.openxmlformats.org/drawingml/2006/table">
            <a:tbl>
              <a:tblPr/>
              <a:tblGrid>
                <a:gridCol w="1144270"/>
                <a:gridCol w="1138555"/>
                <a:gridCol w="5776595"/>
                <a:gridCol w="2317750"/>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nSpc>
                          <a:spcPct val="11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4</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1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542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可学习</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645" indent="1016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1. </a:t>
                      </a:r>
                      <a:r>
                        <a:rPr lang="zh-CN" sz="2800">
                          <a:solidFill>
                            <a:srgbClr val="000000"/>
                          </a:solidFill>
                          <a:latin typeface="宋体" panose="02010600030101010101" pitchFamily="2" charset="-122"/>
                          <a:ea typeface="宋体" panose="02010600030101010101" pitchFamily="2" charset="-122"/>
                        </a:rPr>
                        <a:t>组件可以学习到攻击者的行为以</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应对未来的攻击</a:t>
                      </a:r>
                      <a:endParaRPr lang="zh-CN" sz="2800">
                        <a:solidFill>
                          <a:srgbClr val="000000"/>
                        </a:solidFill>
                        <a:latin typeface="宋体" panose="02010600030101010101" pitchFamily="2" charset="-122"/>
                        <a:ea typeface="宋体" panose="02010600030101010101" pitchFamily="2" charset="-122"/>
                      </a:endParaRPr>
                    </a:p>
                    <a:p>
                      <a:pPr marL="81280" indent="-254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2. </a:t>
                      </a:r>
                      <a:r>
                        <a:rPr lang="zh-CN" sz="2800">
                          <a:solidFill>
                            <a:srgbClr val="000000"/>
                          </a:solidFill>
                          <a:latin typeface="宋体" panose="02010600030101010101" pitchFamily="2" charset="-122"/>
                          <a:ea typeface="宋体" panose="02010600030101010101" pitchFamily="2" charset="-122"/>
                        </a:rPr>
                        <a:t>组件可以学习以往恢复工作的开</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销</a:t>
                      </a:r>
                      <a:r>
                        <a:rPr lang="en-US" altLang="zh-CN" sz="2800">
                          <a:solidFill>
                            <a:srgbClr val="000000"/>
                          </a:solidFill>
                          <a:latin typeface="Times New Roman" panose="02020603050405020304"/>
                          <a:ea typeface="Times New Roman" panose="02020603050405020304"/>
                        </a:rPr>
                        <a:t>-</a:t>
                      </a:r>
                      <a:r>
                        <a:rPr lang="zh-CN" sz="2800">
                          <a:solidFill>
                            <a:srgbClr val="000000"/>
                          </a:solidFill>
                          <a:latin typeface="宋体" panose="02010600030101010101" pitchFamily="2" charset="-122"/>
                          <a:ea typeface="宋体" panose="02010600030101010101" pitchFamily="2" charset="-122"/>
                        </a:rPr>
                        <a:t>恢复比，以更好地开展恢复工作</a:t>
                      </a:r>
                      <a:endParaRPr lang="zh-CN" sz="2800">
                        <a:solidFill>
                          <a:srgbClr val="000000"/>
                        </a:solidFill>
                        <a:latin typeface="宋体" panose="02010600030101010101" pitchFamily="2" charset="-122"/>
                        <a:ea typeface="宋体" panose="02010600030101010101" pitchFamily="2" charset="-122"/>
                      </a:endParaRPr>
                    </a:p>
                    <a:p>
                      <a:pPr marL="81280" indent="0" algn="l" eaLnBrk="0" fontAlgn="base">
                        <a:lnSpc>
                          <a:spcPct val="114000"/>
                        </a:lnSpc>
                        <a:spcBef>
                          <a:spcPts val="600"/>
                        </a:spcBef>
                        <a:spcAft>
                          <a:spcPct val="0"/>
                        </a:spcAft>
                      </a:pPr>
                      <a:r>
                        <a:rPr lang="en-US" altLang="zh-CN" sz="2800">
                          <a:solidFill>
                            <a:srgbClr val="000000"/>
                          </a:solidFill>
                          <a:latin typeface="Times New Roman" panose="02020603050405020304"/>
                          <a:ea typeface="Times New Roman" panose="02020603050405020304"/>
                        </a:rPr>
                        <a:t>3. </a:t>
                      </a:r>
                      <a:r>
                        <a:rPr lang="zh-CN" sz="2800">
                          <a:solidFill>
                            <a:srgbClr val="000000"/>
                          </a:solidFill>
                          <a:latin typeface="宋体" panose="02010600030101010101" pitchFamily="2" charset="-122"/>
                          <a:ea typeface="宋体" panose="02010600030101010101" pitchFamily="2" charset="-122"/>
                        </a:rPr>
                        <a:t>组件可以自动分析未知的系统漏</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洞及缺陷，以在未来进行修复</a:t>
                      </a:r>
                      <a:endParaRPr 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10160" indent="71120" algn="l" eaLnBrk="0" fontAlgn="base">
                        <a:lnSpc>
                          <a:spcPct val="132000"/>
                        </a:lnSpc>
                        <a:spcBef>
                          <a:spcPts val="300"/>
                        </a:spcBef>
                        <a:spcAft>
                          <a:spcPct val="0"/>
                        </a:spcAft>
                      </a:pPr>
                      <a:r>
                        <a:rPr lang="en-US" altLang="zh-CN" sz="2800">
                          <a:solidFill>
                            <a:srgbClr val="000000"/>
                          </a:solidFill>
                          <a:latin typeface="Times New Roman" panose="02020603050405020304"/>
                          <a:ea typeface="Times New Roman" panose="02020603050405020304"/>
                        </a:rPr>
                        <a:t>C: </a:t>
                      </a:r>
                      <a:r>
                        <a:rPr lang="zh-CN" sz="2800">
                          <a:solidFill>
                            <a:srgbClr val="000000"/>
                          </a:solidFill>
                          <a:latin typeface="宋体" panose="02010600030101010101" pitchFamily="2" charset="-122"/>
                          <a:ea typeface="宋体" panose="02010600030101010101" pitchFamily="2" charset="-122"/>
                        </a:rPr>
                        <a:t>组件当前满足其中一点</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（满足</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r>
                        <a:rPr lang="zh-CN" sz="2800">
                          <a:solidFill>
                            <a:srgbClr val="000000"/>
                          </a:solidFill>
                          <a:latin typeface="宋体" panose="02010600030101010101" pitchFamily="2" charset="-122"/>
                          <a:ea typeface="宋体" panose="02010600030101010101" pitchFamily="2" charset="-122"/>
                        </a:rPr>
                        <a:t>）</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730250" y="882650"/>
            <a:ext cx="1096708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r>
              <a:rPr lang="zh-CN" altLang="en-US" sz="2400"/>
              <a:t>游戏系统网关组件的全部韧性证据参见附录，根据其实际情况可知网关组</a:t>
            </a:r>
            <a:r>
              <a:rPr lang="en-US" altLang="zh-CN" sz="2400"/>
              <a:t> </a:t>
            </a:r>
            <a:r>
              <a:rPr lang="zh-CN" altLang="en-US" sz="2400"/>
              <a:t>件初始满足度量元如表</a:t>
            </a:r>
            <a:endParaRPr lang="en-US" altLang="zh-CN" sz="2400"/>
          </a:p>
        </p:txBody>
      </p:sp>
      <p:graphicFrame>
        <p:nvGraphicFramePr>
          <p:cNvPr id="6" name="表格 5"/>
          <p:cNvGraphicFramePr/>
          <p:nvPr>
            <p:custDataLst>
              <p:tags r:id="rId4"/>
            </p:custDataLst>
          </p:nvPr>
        </p:nvGraphicFramePr>
        <p:xfrm>
          <a:off x="803910" y="1826260"/>
          <a:ext cx="10377170" cy="4345940"/>
        </p:xfrm>
        <a:graphic>
          <a:graphicData uri="http://schemas.openxmlformats.org/drawingml/2006/table">
            <a:tbl>
              <a:tblPr/>
              <a:tblGrid>
                <a:gridCol w="1144270"/>
                <a:gridCol w="1138555"/>
                <a:gridCol w="5436870"/>
                <a:gridCol w="2657475"/>
              </a:tblGrid>
              <a:tr h="577850">
                <a:tc>
                  <a:txBody>
                    <a:bodyPr/>
                    <a:p>
                      <a:pPr marL="228600" indent="-13398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7058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59372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168015">
                <a:tc>
                  <a:txBody>
                    <a:bodyPr/>
                    <a:p>
                      <a:pPr marL="76835" indent="0">
                        <a:lnSpc>
                          <a:spcPct val="112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1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5</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28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29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11303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自治性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80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81915" indent="0" algn="l" eaLnBrk="0" fontAlgn="base">
                        <a:lnSpc>
                          <a:spcPct val="132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组件可以自动应对变化做出决策</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3175" algn="just" eaLnBrk="0" fontAlgn="base">
                        <a:lnSpc>
                          <a:spcPct val="133000"/>
                        </a:lnSpc>
                        <a:spcBef>
                          <a:spcPts val="600"/>
                        </a:spcBef>
                        <a:spcAft>
                          <a:spcPct val="0"/>
                        </a:spcAft>
                      </a:pPr>
                      <a:r>
                        <a:rPr lang="en-US" altLang="zh-CN" sz="2800">
                          <a:solidFill>
                            <a:srgbClr val="000000"/>
                          </a:solidFill>
                          <a:latin typeface="Times New Roman" panose="02020603050405020304"/>
                          <a:ea typeface="Times New Roman" panose="02020603050405020304"/>
                        </a:rPr>
                        <a:t>B: </a:t>
                      </a:r>
                      <a:r>
                        <a:rPr lang="zh-CN" sz="2800">
                          <a:solidFill>
                            <a:srgbClr val="000000"/>
                          </a:solidFill>
                          <a:latin typeface="宋体" panose="02010600030101010101" pitchFamily="2" charset="-122"/>
                          <a:ea typeface="宋体" panose="02010600030101010101" pitchFamily="2" charset="-122"/>
                        </a:rPr>
                        <a:t>组件可以根据自己的观测</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和规定完成目标，在人为干</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预的情况下可以使效率最大</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化</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3052445" y="985520"/>
            <a:ext cx="5575935" cy="521970"/>
          </a:xfrm>
          <a:prstGeom prst="rect">
            <a:avLst/>
          </a:prstGeom>
          <a:effectLst>
            <a:softEdge rad="50800"/>
          </a:effectLst>
        </p:spPr>
        <p:style>
          <a:lnRef idx="0">
            <a:srgbClr val="FFFFFF"/>
          </a:lnRef>
          <a:fillRef idx="1">
            <a:schemeClr val="accent6"/>
          </a:fillRef>
          <a:effectRef idx="0">
            <a:srgbClr val="FFFFFF"/>
          </a:effectRef>
          <a:fontRef idx="minor">
            <a:schemeClr val="lt1"/>
          </a:fontRef>
        </p:style>
        <p:txBody>
          <a:bodyPr wrap="square" rtlCol="0">
            <a:spAutoFit/>
          </a:bodyPr>
          <a:p>
            <a:pPr algn="ctr"/>
            <a:r>
              <a:rPr lang="zh-CN" altLang="en-US" sz="2800">
                <a:solidFill>
                  <a:schemeClr val="tx1"/>
                </a:solidFill>
              </a:rPr>
              <a:t>可生存性子属性证据权重取值表</a:t>
            </a:r>
            <a:endParaRPr lang="zh-CN" altLang="en-US" sz="2800">
              <a:solidFill>
                <a:schemeClr val="tx1"/>
              </a:solidFill>
            </a:endParaRPr>
          </a:p>
        </p:txBody>
      </p:sp>
      <p:graphicFrame>
        <p:nvGraphicFramePr>
          <p:cNvPr id="3" name="表格 2"/>
          <p:cNvGraphicFramePr/>
          <p:nvPr>
            <p:custDataLst>
              <p:tags r:id="rId4"/>
            </p:custDataLst>
          </p:nvPr>
        </p:nvGraphicFramePr>
        <p:xfrm>
          <a:off x="444500" y="1560830"/>
          <a:ext cx="10951845" cy="2016760"/>
        </p:xfrm>
        <a:graphic>
          <a:graphicData uri="http://schemas.openxmlformats.org/drawingml/2006/table">
            <a:tbl>
              <a:tblPr/>
              <a:tblGrid>
                <a:gridCol w="1391285"/>
                <a:gridCol w="1379220"/>
                <a:gridCol w="1079500"/>
                <a:gridCol w="1235075"/>
                <a:gridCol w="1450340"/>
                <a:gridCol w="1121410"/>
                <a:gridCol w="1141095"/>
                <a:gridCol w="1071245"/>
                <a:gridCol w="1082675"/>
              </a:tblGrid>
              <a:tr h="667385">
                <a:tc>
                  <a:txBody>
                    <a:bodyPr/>
                    <a:p>
                      <a:pPr marL="1212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子属性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gridSpan="3">
                  <a:txBody>
                    <a:bodyPr/>
                    <a:p>
                      <a:pPr marL="67373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可用性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hMerge="1">
                  <a:tcP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hMerge="1">
                  <a:tcPr>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a:txBody>
                    <a:bodyPr/>
                    <a:p>
                      <a:pPr marL="9588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安全性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gridSpan="4">
                  <a:txBody>
                    <a:bodyPr/>
                    <a:p>
                      <a:pPr marL="96520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hMerge="1">
                  <a:tcP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hMerge="1">
                  <a:tcP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hMerge="1">
                  <a:tcPr>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r>
              <a:tr h="605790">
                <a:tc>
                  <a:txBody>
                    <a:bodyPr/>
                    <a:p>
                      <a:pPr marL="18732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22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22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85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85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0985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104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104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104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743585">
                <a:tc>
                  <a:txBody>
                    <a:bodyPr/>
                    <a:p>
                      <a:pPr marL="18669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089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089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0891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7051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0955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018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018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1018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0.3</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graphicFrame>
        <p:nvGraphicFramePr>
          <p:cNvPr id="8" name="对象 7">
            <a:hlinkClick r:id="" action="ppaction://ole?verb="/>
          </p:cNvPr>
          <p:cNvGraphicFramePr>
            <a:graphicFrameLocks noChangeAspect="1"/>
          </p:cNvGraphicFramePr>
          <p:nvPr/>
        </p:nvGraphicFramePr>
        <p:xfrm>
          <a:off x="2099310" y="3863975"/>
          <a:ext cx="7824470" cy="1986280"/>
        </p:xfrm>
        <a:graphic>
          <a:graphicData uri="http://schemas.openxmlformats.org/presentationml/2006/ole">
            <mc:AlternateContent xmlns:mc="http://schemas.openxmlformats.org/markup-compatibility/2006">
              <mc:Choice xmlns:v="urn:schemas-microsoft-com:vml" Requires="v">
                <p:oleObj spid="_x0000_s1025" name="" r:id="rId5" imgW="2438400" imgH="914400" progId="Equation.KSEE3">
                  <p:embed/>
                </p:oleObj>
              </mc:Choice>
              <mc:Fallback>
                <p:oleObj name="" r:id="rId5" imgW="2438400" imgH="914400" progId="Equation.KSEE3">
                  <p:embed/>
                  <p:pic>
                    <p:nvPicPr>
                      <p:cNvPr id="0" name="图片 1024"/>
                      <p:cNvPicPr/>
                      <p:nvPr/>
                    </p:nvPicPr>
                    <p:blipFill>
                      <a:blip r:embed="rId6"/>
                      <a:stretch>
                        <a:fillRect/>
                      </a:stretch>
                    </p:blipFill>
                    <p:spPr>
                      <a:xfrm>
                        <a:off x="2099310" y="3863975"/>
                        <a:ext cx="7824470" cy="1986280"/>
                      </a:xfrm>
                      <a:prstGeom prst="rect">
                        <a:avLst/>
                      </a:prstGeom>
                    </p:spPr>
                  </p:pic>
                </p:oleObj>
              </mc:Fallback>
            </mc:AlternateContent>
          </a:graphicData>
        </a:graphic>
      </p:graphicFrame>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3052445" y="985520"/>
            <a:ext cx="5575935" cy="521970"/>
          </a:xfrm>
          <a:prstGeom prst="rect">
            <a:avLst/>
          </a:prstGeom>
          <a:effectLst>
            <a:softEdge rad="50800"/>
          </a:effectLst>
        </p:spPr>
        <p:style>
          <a:lnRef idx="0">
            <a:srgbClr val="FFFFFF"/>
          </a:lnRef>
          <a:fillRef idx="1">
            <a:schemeClr val="accent3"/>
          </a:fillRef>
          <a:effectRef idx="0">
            <a:srgbClr val="FFFFFF"/>
          </a:effectRef>
          <a:fontRef idx="minor">
            <a:schemeClr val="dk1"/>
          </a:fontRef>
        </p:style>
        <p:txBody>
          <a:bodyPr wrap="square" rtlCol="0">
            <a:spAutoFit/>
          </a:bodyPr>
          <a:p>
            <a:pPr algn="ctr"/>
            <a:r>
              <a:rPr lang="zh-CN" altLang="en-US" sz="2800">
                <a:solidFill>
                  <a:schemeClr val="tx1"/>
                </a:solidFill>
              </a:rPr>
              <a:t>可恢复性子属性证据权重取值表</a:t>
            </a:r>
            <a:endParaRPr lang="zh-CN" altLang="en-US" sz="2800">
              <a:solidFill>
                <a:schemeClr val="tx1"/>
              </a:solidFill>
            </a:endParaRPr>
          </a:p>
        </p:txBody>
      </p:sp>
      <p:graphicFrame>
        <p:nvGraphicFramePr>
          <p:cNvPr id="6" name="表格 5"/>
          <p:cNvGraphicFramePr/>
          <p:nvPr>
            <p:custDataLst>
              <p:tags r:id="rId4"/>
            </p:custDataLst>
          </p:nvPr>
        </p:nvGraphicFramePr>
        <p:xfrm>
          <a:off x="1423035" y="1650365"/>
          <a:ext cx="9069705" cy="2398395"/>
        </p:xfrm>
        <a:graphic>
          <a:graphicData uri="http://schemas.openxmlformats.org/drawingml/2006/table">
            <a:tbl>
              <a:tblPr/>
              <a:tblGrid>
                <a:gridCol w="1816735"/>
                <a:gridCol w="1812925"/>
                <a:gridCol w="1811655"/>
                <a:gridCol w="1812290"/>
                <a:gridCol w="1816100"/>
              </a:tblGrid>
              <a:tr h="744220">
                <a:tc>
                  <a:txBody>
                    <a:bodyPr/>
                    <a:p>
                      <a:pPr marL="33210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子属性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gridSpan="2">
                  <a:txBody>
                    <a:bodyPr/>
                    <a:p>
                      <a:pPr marL="79121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恢复性能</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hMerge="1">
                  <a:tcPr>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a:txBody>
                    <a:bodyPr/>
                    <a:p>
                      <a:pPr marL="26543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恢复成本</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543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恢复时间</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762635">
                <a:tc>
                  <a:txBody>
                    <a:bodyPr/>
                    <a:p>
                      <a:pPr marL="39814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4607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4671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4734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4798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891540">
                <a:tc>
                  <a:txBody>
                    <a:bodyPr/>
                    <a:p>
                      <a:pPr marL="39751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44577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0.6</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44577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50800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50800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graphicFrame>
        <p:nvGraphicFramePr>
          <p:cNvPr id="8" name="对象 7">
            <a:hlinkClick r:id="" action="ppaction://ole?verb="/>
          </p:cNvPr>
          <p:cNvGraphicFramePr>
            <a:graphicFrameLocks noChangeAspect="1"/>
          </p:cNvGraphicFramePr>
          <p:nvPr/>
        </p:nvGraphicFramePr>
        <p:xfrm>
          <a:off x="325120" y="4681855"/>
          <a:ext cx="10248265" cy="762635"/>
        </p:xfrm>
        <a:graphic>
          <a:graphicData uri="http://schemas.openxmlformats.org/presentationml/2006/ole">
            <mc:AlternateContent xmlns:mc="http://schemas.openxmlformats.org/markup-compatibility/2006">
              <mc:Choice xmlns:v="urn:schemas-microsoft-com:vml" Requires="v">
                <p:oleObj spid="_x0000_s2049" name="" r:id="rId5" imgW="2730500" imgH="203200" progId="Equation.KSEE3">
                  <p:embed/>
                </p:oleObj>
              </mc:Choice>
              <mc:Fallback>
                <p:oleObj name="" r:id="rId5" imgW="2730500" imgH="203200" progId="Equation.KSEE3">
                  <p:embed/>
                  <p:pic>
                    <p:nvPicPr>
                      <p:cNvPr id="0" name="图片 2048"/>
                      <p:cNvPicPr/>
                      <p:nvPr/>
                    </p:nvPicPr>
                    <p:blipFill>
                      <a:blip r:embed="rId6"/>
                      <a:stretch>
                        <a:fillRect/>
                      </a:stretch>
                    </p:blipFill>
                    <p:spPr>
                      <a:xfrm>
                        <a:off x="325120" y="4681855"/>
                        <a:ext cx="10248265" cy="762635"/>
                      </a:xfrm>
                      <a:prstGeom prst="rect">
                        <a:avLst/>
                      </a:prstGeom>
                    </p:spPr>
                  </p:pic>
                </p:oleObj>
              </mc:Fallback>
            </mc:AlternateContent>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5" name="文本框 4"/>
          <p:cNvSpPr txBox="1"/>
          <p:nvPr/>
        </p:nvSpPr>
        <p:spPr>
          <a:xfrm>
            <a:off x="3052445" y="985520"/>
            <a:ext cx="5575935" cy="521970"/>
          </a:xfrm>
          <a:prstGeom prst="rect">
            <a:avLst/>
          </a:prstGeom>
        </p:spPr>
        <p:style>
          <a:lnRef idx="0">
            <a:srgbClr val="FFFFFF"/>
          </a:lnRef>
          <a:fillRef idx="3">
            <a:schemeClr val="accent4"/>
          </a:fillRef>
          <a:effectRef idx="0">
            <a:srgbClr val="FFFFFF"/>
          </a:effectRef>
          <a:fontRef idx="minor">
            <a:schemeClr val="dk1"/>
          </a:fontRef>
        </p:style>
        <p:txBody>
          <a:bodyPr wrap="square" rtlCol="0">
            <a:spAutoFit/>
          </a:bodyPr>
          <a:p>
            <a:pPr algn="ctr"/>
            <a:r>
              <a:rPr lang="zh-CN" altLang="en-US" sz="2800">
                <a:solidFill>
                  <a:schemeClr val="tx1"/>
                </a:solidFill>
              </a:rPr>
              <a:t>适应性子属性证据权重取值表</a:t>
            </a:r>
            <a:endParaRPr lang="zh-CN" altLang="en-US" sz="2800">
              <a:solidFill>
                <a:schemeClr val="tx1"/>
              </a:solidFill>
            </a:endParaRPr>
          </a:p>
        </p:txBody>
      </p:sp>
      <p:graphicFrame>
        <p:nvGraphicFramePr>
          <p:cNvPr id="3" name="表格 2"/>
          <p:cNvGraphicFramePr/>
          <p:nvPr>
            <p:custDataLst>
              <p:tags r:id="rId4"/>
            </p:custDataLst>
          </p:nvPr>
        </p:nvGraphicFramePr>
        <p:xfrm>
          <a:off x="2028825" y="1690370"/>
          <a:ext cx="8956675" cy="1708785"/>
        </p:xfrm>
        <a:graphic>
          <a:graphicData uri="http://schemas.openxmlformats.org/drawingml/2006/table">
            <a:tbl>
              <a:tblPr/>
              <a:tblGrid>
                <a:gridCol w="1366520"/>
                <a:gridCol w="1363345"/>
                <a:gridCol w="1177925"/>
                <a:gridCol w="1794510"/>
                <a:gridCol w="1713230"/>
                <a:gridCol w="1541145"/>
              </a:tblGrid>
              <a:tr h="608965">
                <a:tc>
                  <a:txBody>
                    <a:bodyPr/>
                    <a:p>
                      <a:pPr marL="24384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子属性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gridSpan="2">
                  <a:txBody>
                    <a:bodyPr/>
                    <a:p>
                      <a:pPr marL="61531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可拓展性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hMerge="1">
                  <a:tcPr>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tcPr>
                </a:tc>
                <a:tc>
                  <a:txBody>
                    <a:bodyPr/>
                    <a:p>
                      <a:pPr marL="17716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可重配置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7780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可学习性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543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自治性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83235">
                <a:tc>
                  <a:txBody>
                    <a:bodyPr/>
                    <a:p>
                      <a:pPr marL="31051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5844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5908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en-US" altLang="zh-CN" sz="2800">
                          <a:solidFill>
                            <a:srgbClr val="000000"/>
                          </a:solidFill>
                          <a:latin typeface="Times New Roman" panose="02020603050405020304"/>
                          <a:ea typeface="Times New Roman" panose="02020603050405020304"/>
                        </a:rPr>
                        <a:t>2</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5908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59715"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26035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证据</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616585">
                <a:tc>
                  <a:txBody>
                    <a:bodyPr/>
                    <a:p>
                      <a:pPr marL="309880" indent="0" algn="l" eaLnBrk="0" fontAlgn="base">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权重</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5814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0.6</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35814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0.4</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41973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420370"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421005" indent="0" algn="l" eaLnBrk="0" fontAlgn="base">
                        <a:spcBef>
                          <a:spcPts val="300"/>
                        </a:spcBef>
                        <a:spcAft>
                          <a:spcPct val="0"/>
                        </a:spcAft>
                      </a:pPr>
                      <a:r>
                        <a:rPr lang="en-US" altLang="zh-CN" sz="2800">
                          <a:solidFill>
                            <a:srgbClr val="000000"/>
                          </a:solidFill>
                          <a:latin typeface="Times New Roman" panose="02020603050405020304"/>
                          <a:ea typeface="Times New Roman" panose="02020603050405020304"/>
                        </a:rPr>
                        <a:t>1</a:t>
                      </a:r>
                      <a:endParaRPr lang="en-US" altLang="zh-CN" sz="2800">
                        <a:solidFill>
                          <a:srgbClr val="000000"/>
                        </a:solidFill>
                        <a:latin typeface="Times New Roman" panose="02020603050405020304"/>
                        <a:ea typeface="Times New Roman" panose="02020603050405020304"/>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graphicFrame>
        <p:nvGraphicFramePr>
          <p:cNvPr id="8" name="对象 7">
            <a:hlinkClick r:id="" action="ppaction://ole?verb="/>
          </p:cNvPr>
          <p:cNvGraphicFramePr>
            <a:graphicFrameLocks noChangeAspect="1"/>
          </p:cNvGraphicFramePr>
          <p:nvPr/>
        </p:nvGraphicFramePr>
        <p:xfrm>
          <a:off x="1572260" y="3673475"/>
          <a:ext cx="9413240" cy="2289810"/>
        </p:xfrm>
        <a:graphic>
          <a:graphicData uri="http://schemas.openxmlformats.org/presentationml/2006/ole">
            <mc:AlternateContent xmlns:mc="http://schemas.openxmlformats.org/markup-compatibility/2006">
              <mc:Choice xmlns:v="urn:schemas-microsoft-com:vml" Requires="v">
                <p:oleObj spid="_x0000_s3073" name="" r:id="rId5" imgW="2819400" imgH="685800" progId="Equation.KSEE3">
                  <p:embed/>
                </p:oleObj>
              </mc:Choice>
              <mc:Fallback>
                <p:oleObj name="" r:id="rId5" imgW="2819400" imgH="685800" progId="Equation.KSEE3">
                  <p:embed/>
                  <p:pic>
                    <p:nvPicPr>
                      <p:cNvPr id="0" name="图片 3072"/>
                      <p:cNvPicPr/>
                      <p:nvPr/>
                    </p:nvPicPr>
                    <p:blipFill>
                      <a:blip r:embed="rId6"/>
                      <a:stretch>
                        <a:fillRect/>
                      </a:stretch>
                    </p:blipFill>
                    <p:spPr>
                      <a:xfrm>
                        <a:off x="1572260" y="3673475"/>
                        <a:ext cx="9413240" cy="2289810"/>
                      </a:xfrm>
                      <a:prstGeom prst="rect">
                        <a:avLst/>
                      </a:prstGeom>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6" name="文本框 5"/>
          <p:cNvSpPr txBox="1"/>
          <p:nvPr/>
        </p:nvSpPr>
        <p:spPr>
          <a:xfrm>
            <a:off x="2468880" y="1026795"/>
            <a:ext cx="8004175" cy="521970"/>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800"/>
              <a:t>游戏系统网关组件的韧性</a:t>
            </a:r>
            <a:r>
              <a:rPr lang="zh-CN" sz="2800"/>
              <a:t>可信性度量值</a:t>
            </a:r>
            <a:endParaRPr lang="zh-CN" sz="2800"/>
          </a:p>
        </p:txBody>
      </p:sp>
      <p:graphicFrame>
        <p:nvGraphicFramePr>
          <p:cNvPr id="9" name="对象 8">
            <a:hlinkClick r:id="" action="ppaction://ole?verb="/>
          </p:cNvPr>
          <p:cNvGraphicFramePr>
            <a:graphicFrameLocks noChangeAspect="1"/>
          </p:cNvGraphicFramePr>
          <p:nvPr/>
        </p:nvGraphicFramePr>
        <p:xfrm>
          <a:off x="1378585" y="2738755"/>
          <a:ext cx="9232900" cy="817245"/>
        </p:xfrm>
        <a:graphic>
          <a:graphicData uri="http://schemas.openxmlformats.org/presentationml/2006/ole">
            <mc:AlternateContent xmlns:mc="http://schemas.openxmlformats.org/markup-compatibility/2006">
              <mc:Choice xmlns:v="urn:schemas-microsoft-com:vml" Requires="v">
                <p:oleObj spid="_x0000_s4097" name="" r:id="rId4" imgW="2870200" imgH="254000" progId="Equation.KSEE3">
                  <p:embed/>
                </p:oleObj>
              </mc:Choice>
              <mc:Fallback>
                <p:oleObj name="" r:id="rId4" imgW="2870200" imgH="254000" progId="Equation.KSEE3">
                  <p:embed/>
                  <p:pic>
                    <p:nvPicPr>
                      <p:cNvPr id="0" name="图片 4096"/>
                      <p:cNvPicPr/>
                      <p:nvPr/>
                    </p:nvPicPr>
                    <p:blipFill>
                      <a:blip r:embed="rId5"/>
                      <a:stretch>
                        <a:fillRect/>
                      </a:stretch>
                    </p:blipFill>
                    <p:spPr>
                      <a:xfrm>
                        <a:off x="1378585" y="2738755"/>
                        <a:ext cx="9232900" cy="817245"/>
                      </a:xfrm>
                      <a:prstGeom prst="rect">
                        <a:avLst/>
                      </a:prstGeom>
                    </p:spPr>
                  </p:pic>
                </p:oleObj>
              </mc:Fallback>
            </mc:AlternateContent>
          </a:graphicData>
        </a:graphic>
      </p:graphicFrame>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3" name="文本框 2"/>
          <p:cNvSpPr txBox="1"/>
          <p:nvPr/>
        </p:nvSpPr>
        <p:spPr>
          <a:xfrm>
            <a:off x="1410335" y="2162810"/>
            <a:ext cx="9031605" cy="3105150"/>
          </a:xfrm>
          <a:prstGeom prst="rect">
            <a:avLst/>
          </a:prstGeom>
          <a:noFill/>
        </p:spPr>
        <p:txBody>
          <a:bodyPr wrap="square" rtlCol="0">
            <a:spAutoFit/>
          </a:bodyPr>
          <a:p>
            <a:pPr>
              <a:lnSpc>
                <a:spcPct val="140000"/>
              </a:lnSpc>
            </a:pPr>
            <a:r>
              <a:rPr lang="zh-CN" altLang="en-US" sz="2800"/>
              <a:t>该游戏由于主要在美国运营，因此在美国部署服务器较多，后期在中国宣传</a:t>
            </a:r>
            <a:r>
              <a:rPr lang="en-US" altLang="zh-CN" sz="2800"/>
              <a:t> </a:t>
            </a:r>
            <a:r>
              <a:rPr lang="zh-CN" altLang="en-US" sz="2800"/>
              <a:t>较多，在一次版本更新后，中国玩家数量增加，中国地区服务器压力剧增，无法</a:t>
            </a:r>
            <a:r>
              <a:rPr lang="en-US" altLang="zh-CN" sz="2800"/>
              <a:t> </a:t>
            </a:r>
            <a:r>
              <a:rPr lang="zh-CN" altLang="en-US" sz="2800"/>
              <a:t>提供与美国地区同等质量的服务，玩家将明显感到延迟增加，部分玩家甚至无法</a:t>
            </a:r>
            <a:r>
              <a:rPr lang="en-US" altLang="zh-CN" sz="2800"/>
              <a:t> </a:t>
            </a:r>
            <a:r>
              <a:rPr lang="zh-CN" altLang="en-US" sz="2800"/>
              <a:t>连上服务器，对应部分度量元改变如表</a:t>
            </a:r>
            <a:r>
              <a:rPr lang="en-US" altLang="zh-CN" sz="2800"/>
              <a:t> </a:t>
            </a:r>
            <a:endParaRPr lang="zh-CN" altLang="en-US" sz="280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5" name="表格 4"/>
          <p:cNvGraphicFramePr/>
          <p:nvPr>
            <p:custDataLst>
              <p:tags r:id="rId4"/>
            </p:custDataLst>
          </p:nvPr>
        </p:nvGraphicFramePr>
        <p:xfrm>
          <a:off x="250190" y="1148080"/>
          <a:ext cx="11610340" cy="5676900"/>
        </p:xfrm>
        <a:graphic>
          <a:graphicData uri="http://schemas.openxmlformats.org/drawingml/2006/table">
            <a:tbl>
              <a:tblPr/>
              <a:tblGrid>
                <a:gridCol w="1263015"/>
                <a:gridCol w="1486535"/>
                <a:gridCol w="5647055"/>
                <a:gridCol w="3213735"/>
              </a:tblGrid>
              <a:tr h="523875">
                <a:tc>
                  <a:txBody>
                    <a:bodyPr/>
                    <a:p>
                      <a:pPr marL="228600" indent="-13398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761740">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1</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可用性</a:t>
                      </a:r>
                      <a:endParaRPr lang="zh-CN" sz="2400">
                        <a:solidFill>
                          <a:srgbClr val="000000"/>
                        </a:solidFill>
                        <a:latin typeface="宋体" panose="02010600030101010101" pitchFamily="2" charset="-122"/>
                        <a:ea typeface="宋体" panose="02010600030101010101" pitchFamily="2" charset="-122"/>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1</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lnSpc>
                          <a:spcPct val="132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组件当前关键功能与非关键功能可用状态：</a:t>
                      </a:r>
                      <a:endParaRPr lang="zh-CN" sz="2400">
                        <a:solidFill>
                          <a:srgbClr val="000000"/>
                        </a:solidFill>
                        <a:latin typeface="宋体" panose="02010600030101010101" pitchFamily="2" charset="-122"/>
                        <a:ea typeface="宋体" panose="02010600030101010101" pitchFamily="2" charset="-122"/>
                      </a:endParaRPr>
                    </a:p>
                    <a:p>
                      <a:pPr marL="91440" indent="0" algn="l" eaLnBrk="0" fontAlgn="base">
                        <a:spcBef>
                          <a:spcPts val="1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组件关键功能全部可用</a:t>
                      </a:r>
                      <a:endParaRPr lang="zh-CN" sz="2400">
                        <a:solidFill>
                          <a:srgbClr val="000000"/>
                        </a:solidFill>
                        <a:latin typeface="宋体" panose="02010600030101010101" pitchFamily="2" charset="-122"/>
                        <a:ea typeface="宋体" panose="02010600030101010101" pitchFamily="2" charset="-122"/>
                      </a:endParaRPr>
                    </a:p>
                    <a:p>
                      <a:pPr marL="7874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组件关键功能部分可用</a:t>
                      </a:r>
                      <a:endParaRPr lang="zh-CN" sz="2400">
                        <a:solidFill>
                          <a:srgbClr val="000000"/>
                        </a:solidFill>
                        <a:latin typeface="宋体" panose="02010600030101010101" pitchFamily="2" charset="-122"/>
                        <a:ea typeface="宋体" panose="02010600030101010101" pitchFamily="2" charset="-122"/>
                      </a:endParaRPr>
                    </a:p>
                    <a:p>
                      <a:pPr marL="8128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组件非关键功能全部可用</a:t>
                      </a:r>
                      <a:endParaRPr lang="zh-CN" sz="2400">
                        <a:solidFill>
                          <a:srgbClr val="000000"/>
                        </a:solidFill>
                        <a:latin typeface="宋体" panose="02010600030101010101" pitchFamily="2" charset="-122"/>
                        <a:ea typeface="宋体" panose="02010600030101010101" pitchFamily="2" charset="-122"/>
                      </a:endParaRPr>
                    </a:p>
                    <a:p>
                      <a:pPr marL="7810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4. </a:t>
                      </a:r>
                      <a:r>
                        <a:rPr lang="zh-CN" sz="2400">
                          <a:solidFill>
                            <a:srgbClr val="000000"/>
                          </a:solidFill>
                          <a:latin typeface="宋体" panose="02010600030101010101" pitchFamily="2" charset="-122"/>
                          <a:ea typeface="宋体" panose="02010600030101010101" pitchFamily="2" charset="-122"/>
                        </a:rPr>
                        <a:t>组件非关键功能部分可用</a:t>
                      </a:r>
                      <a:endParaRPr lang="zh-CN" sz="24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5. </a:t>
                      </a:r>
                      <a:r>
                        <a:rPr lang="zh-CN" sz="2400">
                          <a:solidFill>
                            <a:srgbClr val="000000"/>
                          </a:solidFill>
                          <a:latin typeface="宋体" panose="02010600030101010101" pitchFamily="2" charset="-122"/>
                          <a:ea typeface="宋体" panose="02010600030101010101" pitchFamily="2" charset="-122"/>
                        </a:rPr>
                        <a:t>组件全部功能不可用</a:t>
                      </a:r>
                      <a:endParaRPr lang="zh-CN" sz="2400">
                        <a:solidFill>
                          <a:srgbClr val="000000"/>
                        </a:solidFill>
                        <a:latin typeface="宋体" panose="02010600030101010101" pitchFamily="2" charset="-122"/>
                        <a:ea typeface="宋体" panose="02010600030101010101" pitchFamily="2" charset="-122"/>
                      </a:endParaRPr>
                    </a:p>
                    <a:p>
                      <a:pPr marL="80645" indent="2540" algn="l" eaLnBrk="0" fontAlgn="base">
                        <a:lnSpc>
                          <a:spcPct val="134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该组件关键功能是：</a:t>
                      </a:r>
                      <a:r>
                        <a:rPr lang="en-US" altLang="zh-CN" sz="2400">
                          <a:solidFill>
                            <a:srgbClr val="000000"/>
                          </a:solidFill>
                          <a:latin typeface="Times New Roman" panose="02020603050405020304"/>
                          <a:ea typeface="Times New Roman" panose="02020603050405020304"/>
                        </a:rPr>
                        <a:t>(i) </a:t>
                      </a:r>
                      <a:r>
                        <a:rPr lang="zh-CN" sz="2400">
                          <a:solidFill>
                            <a:srgbClr val="000000"/>
                          </a:solidFill>
                          <a:latin typeface="宋体" panose="02010600030101010101" pitchFamily="2" charset="-122"/>
                          <a:ea typeface="宋体" panose="02010600030101010101" pitchFamily="2" charset="-122"/>
                        </a:rPr>
                        <a:t>负责与客户</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端进行网络互联，</a:t>
                      </a:r>
                      <a:r>
                        <a:rPr lang="en-US" altLang="zh-CN" sz="2400">
                          <a:solidFill>
                            <a:srgbClr val="000000"/>
                          </a:solidFill>
                          <a:latin typeface="Times New Roman" panose="02020603050405020304"/>
                          <a:ea typeface="Times New Roman" panose="02020603050405020304"/>
                        </a:rPr>
                        <a:t>(ii) </a:t>
                      </a:r>
                      <a:r>
                        <a:rPr lang="zh-CN" sz="2400">
                          <a:solidFill>
                            <a:srgbClr val="000000"/>
                          </a:solidFill>
                          <a:latin typeface="宋体" panose="02010600030101010101" pitchFamily="2" charset="-122"/>
                          <a:ea typeface="宋体" panose="02010600030101010101" pitchFamily="2" charset="-122"/>
                        </a:rPr>
                        <a:t>向客户端提供游戏数据；非关键功能是：帮助用户选择网络质量最佳的服务器，确保用户以较低的网络延迟连接服务器。</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2000"/>
                        </a:lnSpc>
                        <a:spcBef>
                          <a:spcPct val="0"/>
                        </a:spcBef>
                        <a:spcAft>
                          <a:spcPct val="0"/>
                        </a:spcAft>
                      </a:pPr>
                      <a:r>
                        <a:rPr lang="en-US" altLang="zh-CN" sz="2400">
                          <a:solidFill>
                            <a:srgbClr val="000000"/>
                          </a:solidFill>
                          <a:latin typeface="Arial" panose="020B0604020202020204"/>
                          <a:ea typeface="Arial" panose="020B0604020202020204"/>
                        </a:rPr>
                        <a:t> </a:t>
                      </a:r>
                      <a:r>
                        <a:rPr lang="en-US" altLang="zh-CN" sz="2400">
                          <a:solidFill>
                            <a:srgbClr val="000000"/>
                          </a:solidFill>
                          <a:latin typeface="Times New Roman" panose="02020603050405020304"/>
                          <a:ea typeface="Times New Roman" panose="02020603050405020304"/>
                        </a:rPr>
                        <a:t>C: </a:t>
                      </a:r>
                      <a:r>
                        <a:rPr lang="zh-CN" sz="2400">
                          <a:solidFill>
                            <a:srgbClr val="000000"/>
                          </a:solidFill>
                          <a:latin typeface="宋体" panose="02010600030101010101" pitchFamily="2" charset="-122"/>
                          <a:ea typeface="宋体" panose="02010600030101010101" pitchFamily="2" charset="-122"/>
                        </a:rPr>
                        <a:t>组件满足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或组件满</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4</a:t>
                      </a:r>
                      <a:endParaRPr lang="en-US" altLang="zh-CN" sz="2400">
                        <a:solidFill>
                          <a:srgbClr val="000000"/>
                        </a:solidFill>
                        <a:latin typeface="Times New Roman" panose="02020603050405020304"/>
                        <a:ea typeface="Times New Roman" panose="02020603050405020304"/>
                      </a:endParaRPr>
                    </a:p>
                    <a:p>
                      <a:pPr marL="76835" indent="0" algn="l" eaLnBrk="0" fontAlgn="base">
                        <a:lnSpc>
                          <a:spcPct val="122000"/>
                        </a:lnSpc>
                        <a:spcBef>
                          <a:spcPct val="0"/>
                        </a:spcBef>
                        <a:spcAft>
                          <a:spcPct val="0"/>
                        </a:spcAft>
                      </a:pPr>
                      <a:r>
                        <a:rPr lang="zh-CN" sz="2400">
                          <a:solidFill>
                            <a:srgbClr val="000000"/>
                          </a:solidFill>
                          <a:latin typeface="宋体" panose="02010600030101010101" pitchFamily="2" charset="-122"/>
                          <a:ea typeface="宋体" panose="02010600030101010101" pitchFamily="2" charset="-122"/>
                        </a:rPr>
                        <a:t>（版本更新前为</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A</a:t>
                      </a:r>
                      <a:r>
                        <a:rPr lang="zh-CN" sz="2400">
                          <a:solidFill>
                            <a:srgbClr val="000000"/>
                          </a:solidFill>
                          <a:latin typeface="宋体" panose="02010600030101010101" pitchFamily="2" charset="-122"/>
                          <a:ea typeface="宋体" panose="02010600030101010101" pitchFamily="2" charset="-122"/>
                        </a:rPr>
                        <a:t>，</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此时网关组件无法向部分用户提供与客户端进行网络互联功能，无法帮部分用户选择网络质量最佳的服务器）</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3" name="文本框 2"/>
          <p:cNvSpPr txBox="1"/>
          <p:nvPr/>
        </p:nvSpPr>
        <p:spPr>
          <a:xfrm>
            <a:off x="3549650" y="794385"/>
            <a:ext cx="6603365" cy="46037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400"/>
              <a:t>网关组件故障时满足的度量元</a:t>
            </a:r>
            <a:endParaRPr lang="zh-CN" altLang="en-US" sz="2400"/>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5" name="表格 4"/>
          <p:cNvGraphicFramePr/>
          <p:nvPr>
            <p:custDataLst>
              <p:tags r:id="rId4"/>
            </p:custDataLst>
          </p:nvPr>
        </p:nvGraphicFramePr>
        <p:xfrm>
          <a:off x="250190" y="1148080"/>
          <a:ext cx="11610340" cy="5669280"/>
        </p:xfrm>
        <a:graphic>
          <a:graphicData uri="http://schemas.openxmlformats.org/drawingml/2006/table">
            <a:tbl>
              <a:tblPr/>
              <a:tblGrid>
                <a:gridCol w="1263015"/>
                <a:gridCol w="1486535"/>
                <a:gridCol w="5358765"/>
                <a:gridCol w="3502025"/>
              </a:tblGrid>
              <a:tr h="523875">
                <a:tc>
                  <a:txBody>
                    <a:bodyPr/>
                    <a:p>
                      <a:pPr marL="228600" indent="-13398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761740">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2</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03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可用性</a:t>
                      </a:r>
                      <a:endParaRPr lang="zh-CN" sz="2800">
                        <a:solidFill>
                          <a:srgbClr val="000000"/>
                        </a:solidFill>
                        <a:latin typeface="宋体" panose="02010600030101010101" pitchFamily="2" charset="-122"/>
                        <a:ea typeface="宋体" panose="02010600030101010101" pitchFamily="2" charset="-122"/>
                      </a:endParaRPr>
                    </a:p>
                    <a:p>
                      <a:pPr marL="92075"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a:t>
                      </a:r>
                      <a:r>
                        <a:rPr lang="en-US" altLang="zh-CN" sz="2800">
                          <a:solidFill>
                            <a:srgbClr val="000000"/>
                          </a:solidFill>
                          <a:latin typeface="宋体" panose="02010600030101010101" pitchFamily="2" charset="-122"/>
                          <a:ea typeface="宋体" panose="02010600030101010101" pitchFamily="2" charset="-122"/>
                        </a:rPr>
                        <a:t>2</a:t>
                      </a:r>
                      <a:r>
                        <a:rPr lang="zh-CN" altLang="en-US" sz="2800">
                          <a:solidFill>
                            <a:srgbClr val="000000"/>
                          </a:solidFill>
                          <a:latin typeface="宋体" panose="02010600030101010101" pitchFamily="2" charset="-122"/>
                          <a:ea typeface="宋体" panose="02010600030101010101" pitchFamily="2" charset="-122"/>
                        </a:rPr>
                        <a:t>）</a:t>
                      </a:r>
                      <a:endParaRPr lang="zh-CN" altLang="en-US"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78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80645" indent="1905" algn="just" eaLnBrk="0" fontAlgn="base">
                        <a:lnSpc>
                          <a:spcPct val="135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组件当前对各地区提供的服务质量：</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延迟不高于平均延迟、网速不低于</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平均网速、丢包率不高于平均丢包</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率即达到质量要求</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3820" indent="-4445" algn="l" eaLnBrk="0" fontAlgn="base">
                        <a:lnSpc>
                          <a:spcPct val="135000"/>
                        </a:lnSpc>
                        <a:spcBef>
                          <a:spcPts val="600"/>
                        </a:spcBef>
                        <a:spcAft>
                          <a:spcPct val="0"/>
                        </a:spcAft>
                      </a:pPr>
                      <a:r>
                        <a:rPr lang="en-US" altLang="zh-CN" sz="2800">
                          <a:solidFill>
                            <a:srgbClr val="000000"/>
                          </a:solidFill>
                          <a:latin typeface="Times New Roman" panose="02020603050405020304"/>
                          <a:ea typeface="Times New Roman" panose="02020603050405020304"/>
                        </a:rPr>
                        <a:t>B: </a:t>
                      </a:r>
                      <a:r>
                        <a:rPr lang="zh-CN" sz="2800">
                          <a:solidFill>
                            <a:srgbClr val="000000"/>
                          </a:solidFill>
                          <a:latin typeface="宋体" panose="02010600030101010101" pitchFamily="2" charset="-122"/>
                          <a:ea typeface="宋体" panose="02010600030101010101" pitchFamily="2" charset="-122"/>
                        </a:rPr>
                        <a:t>组件对超过</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50% </a:t>
                      </a:r>
                      <a:r>
                        <a:rPr lang="zh-CN" sz="2800">
                          <a:solidFill>
                            <a:srgbClr val="000000"/>
                          </a:solidFill>
                          <a:latin typeface="宋体" panose="02010600030101010101" pitchFamily="2" charset="-122"/>
                          <a:ea typeface="宋体" panose="02010600030101010101" pitchFamily="2" charset="-122"/>
                        </a:rPr>
                        <a:t>地区提供</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的服务能达到质量要求，少</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于</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50% </a:t>
                      </a:r>
                      <a:r>
                        <a:rPr lang="zh-CN" sz="2800">
                          <a:solidFill>
                            <a:srgbClr val="000000"/>
                          </a:solidFill>
                          <a:latin typeface="宋体" panose="02010600030101010101" pitchFamily="2" charset="-122"/>
                          <a:ea typeface="宋体" panose="02010600030101010101" pitchFamily="2" charset="-122"/>
                        </a:rPr>
                        <a:t>地区无法达到要求</a:t>
                      </a:r>
                      <a:endParaRPr lang="zh-CN" sz="2800">
                        <a:solidFill>
                          <a:srgbClr val="000000"/>
                        </a:solidFill>
                        <a:latin typeface="宋体" panose="02010600030101010101" pitchFamily="2" charset="-122"/>
                        <a:ea typeface="宋体" panose="02010600030101010101" pitchFamily="2" charset="-122"/>
                      </a:endParaRPr>
                    </a:p>
                    <a:p>
                      <a:pPr marL="81915" indent="-71755" algn="l" eaLnBrk="0" fontAlgn="base">
                        <a:lnSpc>
                          <a:spcPct val="132000"/>
                        </a:lnSpc>
                        <a:spcBef>
                          <a:spcPts val="100"/>
                        </a:spcBef>
                        <a:spcAft>
                          <a:spcPct val="0"/>
                        </a:spcAft>
                      </a:pPr>
                      <a:r>
                        <a:rPr lang="zh-CN" sz="2800">
                          <a:solidFill>
                            <a:srgbClr val="000000"/>
                          </a:solidFill>
                          <a:latin typeface="宋体" panose="02010600030101010101" pitchFamily="2" charset="-122"/>
                          <a:ea typeface="宋体" panose="02010600030101010101" pitchFamily="2" charset="-122"/>
                        </a:rPr>
                        <a:t>（版本更新前为</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A</a:t>
                      </a:r>
                      <a:r>
                        <a:rPr lang="zh-CN" sz="2800">
                          <a:solidFill>
                            <a:srgbClr val="000000"/>
                          </a:solidFill>
                          <a:latin typeface="宋体" panose="02010600030101010101" pitchFamily="2" charset="-122"/>
                          <a:ea typeface="宋体" panose="02010600030101010101" pitchFamily="2" charset="-122"/>
                        </a:rPr>
                        <a:t>，此时网关</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组件在中国以外地区仍能提</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供达到质量要求的服务）</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6" name="文本框 5"/>
          <p:cNvSpPr txBox="1"/>
          <p:nvPr/>
        </p:nvSpPr>
        <p:spPr>
          <a:xfrm>
            <a:off x="3549650" y="794385"/>
            <a:ext cx="6603365" cy="46037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400"/>
              <a:t>网关组件故障时满足的度量元</a:t>
            </a:r>
            <a:endParaRPr lang="zh-CN" altLang="en-US" sz="240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5" name="表格 4"/>
          <p:cNvGraphicFramePr/>
          <p:nvPr>
            <p:custDataLst>
              <p:tags r:id="rId4"/>
            </p:custDataLst>
          </p:nvPr>
        </p:nvGraphicFramePr>
        <p:xfrm>
          <a:off x="250190" y="1148080"/>
          <a:ext cx="11610340" cy="4555490"/>
        </p:xfrm>
        <a:graphic>
          <a:graphicData uri="http://schemas.openxmlformats.org/drawingml/2006/table">
            <a:tbl>
              <a:tblPr/>
              <a:tblGrid>
                <a:gridCol w="1263015"/>
                <a:gridCol w="1486535"/>
                <a:gridCol w="5019675"/>
                <a:gridCol w="3841115"/>
              </a:tblGrid>
              <a:tr h="523875">
                <a:tc>
                  <a:txBody>
                    <a:bodyPr/>
                    <a:p>
                      <a:pPr marL="228600" indent="-13398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761740">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3</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03000"/>
                        </a:lnSpc>
                        <a:spcBef>
                          <a:spcPct val="0"/>
                        </a:spcBef>
                        <a:spcAft>
                          <a:spcPct val="0"/>
                        </a:spcAft>
                      </a:pPr>
                      <a:endParaRPr lang="en-US" altLang="zh-CN" sz="28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03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28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76835" indent="0" algn="l" eaLnBrk="0" fontAlgn="base">
                        <a:lnSpc>
                          <a:spcPct val="128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80645" indent="1905" algn="just" eaLnBrk="0" fontAlgn="base">
                        <a:lnSpc>
                          <a:spcPct val="132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组件损失表现：组件受到攻击前的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表现</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B</a:t>
                      </a:r>
                      <a:r>
                        <a:rPr lang="en-US" altLang="zh-CN" sz="2800" baseline="-25000">
                          <a:solidFill>
                            <a:srgbClr val="000000"/>
                          </a:solidFill>
                          <a:latin typeface="Times New Roman" panose="02020603050405020304"/>
                          <a:ea typeface="Times New Roman" panose="02020603050405020304"/>
                        </a:rPr>
                        <a:t>origin </a:t>
                      </a:r>
                      <a:r>
                        <a:rPr lang="en-US" altLang="zh-CN" sz="2800">
                          <a:solidFill>
                            <a:srgbClr val="000000"/>
                          </a:solidFill>
                          <a:latin typeface="Times New Roman" panose="02020603050405020304"/>
                          <a:ea typeface="Times New Roman" panose="02020603050405020304"/>
                        </a:rPr>
                        <a:t> </a:t>
                      </a:r>
                      <a:r>
                        <a:rPr lang="zh-CN" sz="2800">
                          <a:solidFill>
                            <a:srgbClr val="000000"/>
                          </a:solidFill>
                          <a:latin typeface="宋体" panose="02010600030101010101" pitchFamily="2" charset="-122"/>
                          <a:ea typeface="宋体" panose="02010600030101010101" pitchFamily="2" charset="-122"/>
                        </a:rPr>
                        <a:t>与受到攻击后降低到的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最低表现</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B</a:t>
                      </a:r>
                      <a:r>
                        <a:rPr lang="en-US" altLang="zh-CN" sz="2800" baseline="-25000">
                          <a:solidFill>
                            <a:srgbClr val="000000"/>
                          </a:solidFill>
                          <a:latin typeface="Times New Roman" panose="02020603050405020304"/>
                          <a:ea typeface="Times New Roman" panose="02020603050405020304"/>
                        </a:rPr>
                        <a:t>disrupt</a:t>
                      </a:r>
                      <a:r>
                        <a:rPr lang="en-US" altLang="zh-CN" sz="2800">
                          <a:solidFill>
                            <a:srgbClr val="000000"/>
                          </a:solidFill>
                          <a:latin typeface="Times New Roman" panose="02020603050405020304"/>
                          <a:ea typeface="Times New Roman" panose="02020603050405020304"/>
                        </a:rPr>
                        <a:t>  </a:t>
                      </a:r>
                      <a:r>
                        <a:rPr lang="zh-CN" sz="2800">
                          <a:solidFill>
                            <a:srgbClr val="000000"/>
                          </a:solidFill>
                          <a:latin typeface="宋体" panose="02010600030101010101" pitchFamily="2" charset="-122"/>
                          <a:ea typeface="宋体" panose="02010600030101010101" pitchFamily="2" charset="-122"/>
                        </a:rPr>
                        <a:t>之差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3175" algn="l" eaLnBrk="0" fontAlgn="base">
                        <a:lnSpc>
                          <a:spcPct val="135000"/>
                        </a:lnSpc>
                        <a:spcBef>
                          <a:spcPts val="600"/>
                        </a:spcBef>
                        <a:spcAft>
                          <a:spcPct val="0"/>
                        </a:spcAft>
                      </a:pPr>
                      <a:r>
                        <a:rPr lang="en-US" altLang="zh-CN" sz="2800">
                          <a:solidFill>
                            <a:srgbClr val="000000"/>
                          </a:solidFill>
                          <a:latin typeface="Times New Roman" panose="02020603050405020304"/>
                          <a:ea typeface="Times New Roman" panose="02020603050405020304"/>
                        </a:rPr>
                        <a:t>B: </a:t>
                      </a:r>
                      <a:r>
                        <a:rPr lang="zh-CN" sz="2800">
                          <a:solidFill>
                            <a:srgbClr val="000000"/>
                          </a:solidFill>
                          <a:latin typeface="宋体" panose="02010600030101010101" pitchFamily="2" charset="-122"/>
                          <a:ea typeface="宋体" panose="02010600030101010101" pitchFamily="2" charset="-122"/>
                        </a:rPr>
                        <a:t>组件损失表现占受到攻击前表现的</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10%-40% </a:t>
                      </a:r>
                      <a:r>
                        <a:rPr lang="zh-CN" sz="2800">
                          <a:solidFill>
                            <a:srgbClr val="000000"/>
                          </a:solidFill>
                          <a:latin typeface="宋体" panose="02010600030101010101" pitchFamily="2" charset="-122"/>
                          <a:ea typeface="宋体" panose="02010600030101010101" pitchFamily="2" charset="-122"/>
                        </a:rPr>
                        <a:t>（版本更</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新前为</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A</a:t>
                      </a:r>
                      <a:r>
                        <a:rPr lang="zh-CN" sz="2800">
                          <a:solidFill>
                            <a:srgbClr val="000000"/>
                          </a:solidFill>
                          <a:latin typeface="宋体" panose="02010600030101010101" pitchFamily="2" charset="-122"/>
                          <a:ea typeface="宋体" panose="02010600030101010101" pitchFamily="2" charset="-122"/>
                        </a:rPr>
                        <a:t>，此时受到影响用</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户约占总用户</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30%</a:t>
                      </a:r>
                      <a:r>
                        <a:rPr lang="zh-CN" sz="2800">
                          <a:solidFill>
                            <a:srgbClr val="000000"/>
                          </a:solidFill>
                          <a:latin typeface="宋体" panose="02010600030101010101" pitchFamily="2" charset="-122"/>
                          <a:ea typeface="宋体" panose="02010600030101010101" pitchFamily="2" charset="-122"/>
                        </a:rPr>
                        <a:t>，且部分</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用户受到影响较为轻微，损</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失表现约为</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25%</a:t>
                      </a:r>
                      <a:r>
                        <a:rPr lang="zh-CN" sz="2800">
                          <a:solidFill>
                            <a:srgbClr val="000000"/>
                          </a:solidFill>
                          <a:latin typeface="宋体" panose="02010600030101010101" pitchFamily="2" charset="-122"/>
                          <a:ea typeface="宋体" panose="02010600030101010101" pitchFamily="2" charset="-122"/>
                        </a:rPr>
                        <a:t>）</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6" name="文本框 5"/>
          <p:cNvSpPr txBox="1"/>
          <p:nvPr/>
        </p:nvSpPr>
        <p:spPr>
          <a:xfrm>
            <a:off x="3549650" y="794385"/>
            <a:ext cx="6603365" cy="46037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400"/>
              <a:t>网关组件故障时满足的度量元</a:t>
            </a:r>
            <a:endParaRPr lang="zh-CN" altLang="en-US" sz="240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5" name="表格 4"/>
          <p:cNvGraphicFramePr/>
          <p:nvPr>
            <p:custDataLst>
              <p:tags r:id="rId4"/>
            </p:custDataLst>
          </p:nvPr>
        </p:nvGraphicFramePr>
        <p:xfrm>
          <a:off x="250190" y="1148080"/>
          <a:ext cx="11610340" cy="6741795"/>
        </p:xfrm>
        <a:graphic>
          <a:graphicData uri="http://schemas.openxmlformats.org/drawingml/2006/table">
            <a:tbl>
              <a:tblPr/>
              <a:tblGrid>
                <a:gridCol w="1263015"/>
                <a:gridCol w="1486535"/>
                <a:gridCol w="6542405"/>
                <a:gridCol w="2318385"/>
              </a:tblGrid>
              <a:tr h="523875">
                <a:tc>
                  <a:txBody>
                    <a:bodyPr/>
                    <a:p>
                      <a:pPr marL="228600" indent="-13398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l" eaLnBrk="0" fontAlgn="base">
                        <a:lnSpc>
                          <a:spcPct val="129000"/>
                        </a:lnSpc>
                        <a:spcBef>
                          <a:spcPts val="600"/>
                        </a:spcBef>
                        <a:spcAft>
                          <a:spcPct val="0"/>
                        </a:spcAft>
                      </a:pPr>
                      <a:r>
                        <a:rPr lang="zh-CN" sz="2000">
                          <a:solidFill>
                            <a:srgbClr val="000000"/>
                          </a:solidFill>
                          <a:latin typeface="宋体" panose="02010600030101010101" pitchFamily="2" charset="-122"/>
                          <a:ea typeface="宋体" panose="02010600030101010101" pitchFamily="2" charset="-122"/>
                        </a:rPr>
                        <a:t>韧性子属性</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韧性证据</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000">
                          <a:solidFill>
                            <a:srgbClr val="000000"/>
                          </a:solidFill>
                          <a:latin typeface="Arial" panose="020B0604020202020204"/>
                          <a:ea typeface="Arial" panose="020B0604020202020204"/>
                        </a:rPr>
                        <a:t> </a:t>
                      </a:r>
                      <a:r>
                        <a:rPr lang="zh-CN" sz="2000">
                          <a:solidFill>
                            <a:srgbClr val="000000"/>
                          </a:solidFill>
                          <a:latin typeface="宋体" panose="02010600030101010101" pitchFamily="2" charset="-122"/>
                          <a:ea typeface="宋体" panose="02010600030101010101" pitchFamily="2" charset="-122"/>
                        </a:rPr>
                        <a:t>韧性度量元</a:t>
                      </a:r>
                      <a:endParaRPr lang="zh-CN" sz="20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3761740">
                <a:tc>
                  <a:txBody>
                    <a:bodyPr/>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可恢复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9235" indent="-13716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恢复性</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能</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889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组件在规定时间内恢复了损失表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90% </a:t>
                      </a:r>
                      <a:r>
                        <a:rPr lang="zh-CN" sz="2400">
                          <a:solidFill>
                            <a:srgbClr val="000000"/>
                          </a:solidFill>
                          <a:latin typeface="宋体" panose="02010600030101010101" pitchFamily="2" charset="-122"/>
                          <a:ea typeface="宋体" panose="02010600030101010101" pitchFamily="2" charset="-122"/>
                        </a:rPr>
                        <a:t>以上</a:t>
                      </a:r>
                      <a:endParaRPr lang="zh-CN" sz="2400">
                        <a:solidFill>
                          <a:srgbClr val="000000"/>
                        </a:solidFill>
                        <a:latin typeface="宋体" panose="02010600030101010101" pitchFamily="2" charset="-122"/>
                        <a:ea typeface="宋体" panose="02010600030101010101" pitchFamily="2" charset="-122"/>
                      </a:endParaRPr>
                    </a:p>
                    <a:p>
                      <a:pPr marL="81915" indent="-317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组件在规定时间内恢复了损失表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60%-90%</a:t>
                      </a:r>
                      <a:endParaRPr lang="en-US" altLang="zh-CN" sz="2400">
                        <a:solidFill>
                          <a:srgbClr val="000000"/>
                        </a:solidFill>
                        <a:latin typeface="Times New Roman" panose="02020603050405020304"/>
                        <a:ea typeface="Times New Roman" panose="02020603050405020304"/>
                      </a:endParaRPr>
                    </a:p>
                    <a:p>
                      <a:pPr marL="84455" indent="-317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组件在不超过两倍规定时间内恢</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90% </a:t>
                      </a:r>
                      <a:r>
                        <a:rPr lang="zh-CN" sz="2400">
                          <a:solidFill>
                            <a:srgbClr val="000000"/>
                          </a:solidFill>
                          <a:latin typeface="宋体" panose="02010600030101010101" pitchFamily="2" charset="-122"/>
                          <a:ea typeface="宋体" panose="02010600030101010101" pitchFamily="2" charset="-122"/>
                        </a:rPr>
                        <a:t>以上</a:t>
                      </a:r>
                      <a:endParaRPr lang="zh-CN" sz="2400">
                        <a:solidFill>
                          <a:srgbClr val="000000"/>
                        </a:solidFill>
                        <a:latin typeface="宋体" panose="02010600030101010101" pitchFamily="2" charset="-122"/>
                        <a:ea typeface="宋体" panose="02010600030101010101" pitchFamily="2" charset="-122"/>
                      </a:endParaRPr>
                    </a:p>
                    <a:p>
                      <a:pPr marL="81915" indent="-381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4. </a:t>
                      </a:r>
                      <a:r>
                        <a:rPr lang="zh-CN" sz="2400">
                          <a:solidFill>
                            <a:srgbClr val="000000"/>
                          </a:solidFill>
                          <a:latin typeface="宋体" panose="02010600030101010101" pitchFamily="2" charset="-122"/>
                          <a:ea typeface="宋体" panose="02010600030101010101" pitchFamily="2" charset="-122"/>
                        </a:rPr>
                        <a:t>组件在规定时间内恢复了损失表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30%-60%</a:t>
                      </a:r>
                      <a:endParaRPr lang="en-US" altLang="zh-CN" sz="2400">
                        <a:solidFill>
                          <a:srgbClr val="000000"/>
                        </a:solidFill>
                        <a:latin typeface="Times New Roman" panose="02020603050405020304"/>
                        <a:ea typeface="Times New Roman" panose="02020603050405020304"/>
                      </a:endParaRPr>
                    </a:p>
                    <a:p>
                      <a:pPr marL="83820" indent="-190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5. </a:t>
                      </a:r>
                      <a:r>
                        <a:rPr lang="zh-CN" sz="2400">
                          <a:solidFill>
                            <a:srgbClr val="000000"/>
                          </a:solidFill>
                          <a:latin typeface="宋体" panose="02010600030101010101" pitchFamily="2" charset="-122"/>
                          <a:ea typeface="宋体" panose="02010600030101010101" pitchFamily="2" charset="-122"/>
                        </a:rPr>
                        <a:t>组件在不超过两倍规定时间内恢</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60%-90%</a:t>
                      </a:r>
                      <a:endParaRPr lang="en-US" altLang="zh-CN" sz="2400">
                        <a:solidFill>
                          <a:srgbClr val="000000"/>
                        </a:solidFill>
                        <a:latin typeface="Times New Roman" panose="02020603050405020304"/>
                        <a:ea typeface="Times New Roman" panose="02020603050405020304"/>
                      </a:endParaRPr>
                    </a:p>
                    <a:p>
                      <a:pPr marL="81280" indent="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6. </a:t>
                      </a:r>
                      <a:r>
                        <a:rPr lang="zh-CN" sz="2400">
                          <a:solidFill>
                            <a:srgbClr val="000000"/>
                          </a:solidFill>
                          <a:latin typeface="宋体" panose="02010600030101010101" pitchFamily="2" charset="-122"/>
                          <a:ea typeface="宋体" panose="02010600030101010101" pitchFamily="2" charset="-122"/>
                        </a:rPr>
                        <a:t>组件在规定时间内恢复了损失表现的</a:t>
                      </a:r>
                      <a:r>
                        <a:rPr lang="en-US" altLang="zh-CN" sz="2400">
                          <a:solidFill>
                            <a:srgbClr val="000000"/>
                          </a:solidFill>
                          <a:latin typeface="Times New Roman" panose="02020603050405020304"/>
                          <a:ea typeface="Times New Roman" panose="02020603050405020304"/>
                        </a:rPr>
                        <a:t>30% </a:t>
                      </a:r>
                      <a:r>
                        <a:rPr lang="zh-CN" sz="2400">
                          <a:solidFill>
                            <a:srgbClr val="000000"/>
                          </a:solidFill>
                          <a:latin typeface="宋体" panose="02010600030101010101" pitchFamily="2" charset="-122"/>
                          <a:ea typeface="宋体" panose="02010600030101010101" pitchFamily="2" charset="-122"/>
                        </a:rPr>
                        <a:t>以下</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3820" indent="-4445" algn="l" eaLnBrk="0" fontAlgn="base">
                        <a:lnSpc>
                          <a:spcPct val="133000"/>
                        </a:lnSpc>
                        <a:spcBef>
                          <a:spcPts val="300"/>
                        </a:spcBef>
                        <a:spcAft>
                          <a:spcPct val="0"/>
                        </a:spcAft>
                      </a:pPr>
                      <a:r>
                        <a:rPr lang="en-US" altLang="zh-CN" sz="2400">
                          <a:solidFill>
                            <a:srgbClr val="000000"/>
                          </a:solidFill>
                          <a:latin typeface="Times New Roman" panose="02020603050405020304"/>
                          <a:ea typeface="Times New Roman" panose="02020603050405020304"/>
                        </a:rPr>
                        <a:t>D: </a:t>
                      </a:r>
                      <a:r>
                        <a:rPr lang="zh-CN" sz="2400">
                          <a:solidFill>
                            <a:srgbClr val="000000"/>
                          </a:solidFill>
                          <a:latin typeface="宋体" panose="02010600030101010101" pitchFamily="2" charset="-122"/>
                          <a:ea typeface="宋体" panose="02010600030101010101" pitchFamily="2" charset="-122"/>
                        </a:rPr>
                        <a:t>满足证据</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 </a:t>
                      </a:r>
                      <a:r>
                        <a:rPr lang="zh-CN" sz="2400">
                          <a:solidFill>
                            <a:srgbClr val="000000"/>
                          </a:solidFill>
                          <a:latin typeface="宋体" panose="02010600030101010101" pitchFamily="2" charset="-122"/>
                          <a:ea typeface="宋体" panose="02010600030101010101" pitchFamily="2" charset="-122"/>
                        </a:rPr>
                        <a:t>（版本更新前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为</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A</a:t>
                      </a:r>
                      <a:r>
                        <a:rPr lang="zh-CN" sz="2400">
                          <a:solidFill>
                            <a:srgbClr val="000000"/>
                          </a:solidFill>
                          <a:latin typeface="宋体" panose="02010600030101010101" pitchFamily="2" charset="-122"/>
                          <a:ea typeface="宋体" panose="02010600030101010101" pitchFamily="2" charset="-122"/>
                        </a:rPr>
                        <a:t>）</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6" name="文本框 5"/>
          <p:cNvSpPr txBox="1"/>
          <p:nvPr/>
        </p:nvSpPr>
        <p:spPr>
          <a:xfrm>
            <a:off x="3549650" y="794385"/>
            <a:ext cx="6603365" cy="46037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400"/>
              <a:t>网关组件故障时满足的度量元</a:t>
            </a:r>
            <a:endParaRPr lang="zh-CN" altLang="en-US" sz="240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6" name="文本框 5"/>
          <p:cNvSpPr txBox="1"/>
          <p:nvPr/>
        </p:nvSpPr>
        <p:spPr>
          <a:xfrm>
            <a:off x="205740" y="794385"/>
            <a:ext cx="1157287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400"/>
              <a:t>第二次计算出网关组件初始可生存性（</a:t>
            </a:r>
            <a:r>
              <a:rPr lang="en-US" altLang="zh-CN" sz="2400"/>
              <a:t>SURV</a:t>
            </a:r>
            <a:r>
              <a:rPr lang="zh-CN" altLang="en-US" sz="2400"/>
              <a:t>）、可恢复性（</a:t>
            </a:r>
            <a:r>
              <a:rPr lang="en-US" altLang="zh-CN" sz="2400"/>
              <a:t>REC</a:t>
            </a:r>
            <a:r>
              <a:rPr lang="zh-CN" altLang="en-US" sz="2400"/>
              <a:t>）、适</a:t>
            </a:r>
            <a:r>
              <a:rPr lang="en-US" altLang="zh-CN" sz="2400"/>
              <a:t> </a:t>
            </a:r>
            <a:r>
              <a:rPr lang="zh-CN" altLang="en-US" sz="2400"/>
              <a:t>应性（</a:t>
            </a:r>
            <a:r>
              <a:rPr lang="en-US" altLang="zh-CN" sz="2400"/>
              <a:t>ADAPT</a:t>
            </a:r>
            <a:r>
              <a:rPr lang="zh-CN" altLang="en-US" sz="2400"/>
              <a:t>）及韧性可信度量值分别为</a:t>
            </a:r>
            <a:endParaRPr lang="zh-CN" altLang="en-US" sz="2400"/>
          </a:p>
        </p:txBody>
      </p:sp>
      <p:graphicFrame>
        <p:nvGraphicFramePr>
          <p:cNvPr id="8" name="对象 7">
            <a:hlinkClick r:id="" action="ppaction://ole?verb="/>
          </p:cNvPr>
          <p:cNvGraphicFramePr>
            <a:graphicFrameLocks noChangeAspect="1"/>
          </p:cNvGraphicFramePr>
          <p:nvPr/>
        </p:nvGraphicFramePr>
        <p:xfrm>
          <a:off x="1417320" y="4951730"/>
          <a:ext cx="9022715" cy="1618615"/>
        </p:xfrm>
        <a:graphic>
          <a:graphicData uri="http://schemas.openxmlformats.org/presentationml/2006/ole">
            <mc:AlternateContent xmlns:mc="http://schemas.openxmlformats.org/markup-compatibility/2006">
              <mc:Choice xmlns:v="urn:schemas-microsoft-com:vml" Requires="v">
                <p:oleObj spid="_x0000_s3073" name="" r:id="rId4" imgW="2819400" imgH="685800" progId="Equation.KSEE3">
                  <p:embed/>
                </p:oleObj>
              </mc:Choice>
              <mc:Fallback>
                <p:oleObj name="" r:id="rId4" imgW="2819400" imgH="685800" progId="Equation.KSEE3">
                  <p:embed/>
                  <p:pic>
                    <p:nvPicPr>
                      <p:cNvPr id="0" name="图片 3072"/>
                      <p:cNvPicPr/>
                      <p:nvPr/>
                    </p:nvPicPr>
                    <p:blipFill>
                      <a:blip r:embed="rId5"/>
                      <a:stretch>
                        <a:fillRect/>
                      </a:stretch>
                    </p:blipFill>
                    <p:spPr>
                      <a:xfrm>
                        <a:off x="1417320" y="4951730"/>
                        <a:ext cx="9022715" cy="161861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753745" y="3622040"/>
          <a:ext cx="10677525" cy="762635"/>
        </p:xfrm>
        <a:graphic>
          <a:graphicData uri="http://schemas.openxmlformats.org/presentationml/2006/ole">
            <mc:AlternateContent xmlns:mc="http://schemas.openxmlformats.org/markup-compatibility/2006">
              <mc:Choice xmlns:v="urn:schemas-microsoft-com:vml" Requires="v">
                <p:oleObj spid="_x0000_s2049" name="" r:id="rId6" imgW="2844800" imgH="203200" progId="Equation.KSEE3">
                  <p:embed/>
                </p:oleObj>
              </mc:Choice>
              <mc:Fallback>
                <p:oleObj name="" r:id="rId6" imgW="2844800" imgH="203200" progId="Equation.KSEE3">
                  <p:embed/>
                  <p:pic>
                    <p:nvPicPr>
                      <p:cNvPr id="0" name="图片 2048"/>
                      <p:cNvPicPr/>
                      <p:nvPr/>
                    </p:nvPicPr>
                    <p:blipFill>
                      <a:blip r:embed="rId7"/>
                      <a:stretch>
                        <a:fillRect/>
                      </a:stretch>
                    </p:blipFill>
                    <p:spPr>
                      <a:xfrm>
                        <a:off x="753745" y="3622040"/>
                        <a:ext cx="10677525" cy="76263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1852930" y="1817370"/>
          <a:ext cx="6144260" cy="1611630"/>
        </p:xfrm>
        <a:graphic>
          <a:graphicData uri="http://schemas.openxmlformats.org/presentationml/2006/ole">
            <mc:AlternateContent xmlns:mc="http://schemas.openxmlformats.org/markup-compatibility/2006">
              <mc:Choice xmlns:v="urn:schemas-microsoft-com:vml" Requires="v">
                <p:oleObj spid="_x0000_s1025" name="" r:id="rId8" imgW="2324100" imgH="914400" progId="Equation.KSEE3">
                  <p:embed/>
                </p:oleObj>
              </mc:Choice>
              <mc:Fallback>
                <p:oleObj name="" r:id="rId8" imgW="2324100" imgH="914400" progId="Equation.KSEE3">
                  <p:embed/>
                  <p:pic>
                    <p:nvPicPr>
                      <p:cNvPr id="0" name="图片 1024"/>
                      <p:cNvPicPr/>
                      <p:nvPr/>
                    </p:nvPicPr>
                    <p:blipFill>
                      <a:blip r:embed="rId9"/>
                      <a:stretch>
                        <a:fillRect/>
                      </a:stretch>
                    </p:blipFill>
                    <p:spPr>
                      <a:xfrm>
                        <a:off x="1852930" y="1817370"/>
                        <a:ext cx="6144260" cy="1611630"/>
                      </a:xfrm>
                      <a:prstGeom prst="rect">
                        <a:avLst/>
                      </a:prstGeom>
                    </p:spPr>
                  </p:pic>
                </p:oleObj>
              </mc:Fallback>
            </mc:AlternateContent>
          </a:graphicData>
        </a:graphic>
      </p:graphicFrame>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6" name="文本框 5"/>
          <p:cNvSpPr txBox="1"/>
          <p:nvPr/>
        </p:nvSpPr>
        <p:spPr>
          <a:xfrm>
            <a:off x="205740" y="794385"/>
            <a:ext cx="1157287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400"/>
              <a:t>第二次计算出网关组件初始可生存性（</a:t>
            </a:r>
            <a:r>
              <a:rPr lang="en-US" altLang="zh-CN" sz="2400"/>
              <a:t>SURV</a:t>
            </a:r>
            <a:r>
              <a:rPr lang="zh-CN" altLang="en-US" sz="2400"/>
              <a:t>）、可恢复性（</a:t>
            </a:r>
            <a:r>
              <a:rPr lang="en-US" altLang="zh-CN" sz="2400"/>
              <a:t>REC</a:t>
            </a:r>
            <a:r>
              <a:rPr lang="zh-CN" altLang="en-US" sz="2400"/>
              <a:t>）、适</a:t>
            </a:r>
            <a:r>
              <a:rPr lang="en-US" altLang="zh-CN" sz="2400"/>
              <a:t> </a:t>
            </a:r>
            <a:r>
              <a:rPr lang="zh-CN" altLang="en-US" sz="2400"/>
              <a:t>应性（</a:t>
            </a:r>
            <a:r>
              <a:rPr lang="en-US" altLang="zh-CN" sz="2400"/>
              <a:t>ADAPT</a:t>
            </a:r>
            <a:r>
              <a:rPr lang="zh-CN" altLang="en-US" sz="2400"/>
              <a:t>）及韧性可信度量值分别为</a:t>
            </a:r>
            <a:endParaRPr lang="zh-CN" altLang="en-US" sz="2400"/>
          </a:p>
        </p:txBody>
      </p:sp>
      <p:graphicFrame>
        <p:nvGraphicFramePr>
          <p:cNvPr id="9" name="对象 8">
            <a:hlinkClick r:id="" action="ppaction://ole?verb="/>
          </p:cNvPr>
          <p:cNvGraphicFramePr>
            <a:graphicFrameLocks noChangeAspect="1"/>
          </p:cNvGraphicFramePr>
          <p:nvPr/>
        </p:nvGraphicFramePr>
        <p:xfrm>
          <a:off x="835343" y="2049780"/>
          <a:ext cx="9968865" cy="817245"/>
        </p:xfrm>
        <a:graphic>
          <a:graphicData uri="http://schemas.openxmlformats.org/presentationml/2006/ole">
            <mc:AlternateContent xmlns:mc="http://schemas.openxmlformats.org/markup-compatibility/2006">
              <mc:Choice xmlns:v="urn:schemas-microsoft-com:vml" Requires="v">
                <p:oleObj spid="_x0000_s4097" name="" r:id="rId4" imgW="3098800" imgH="254000" progId="Equation.KSEE3">
                  <p:embed/>
                </p:oleObj>
              </mc:Choice>
              <mc:Fallback>
                <p:oleObj name="" r:id="rId4" imgW="3098800" imgH="254000" progId="Equation.KSEE3">
                  <p:embed/>
                  <p:pic>
                    <p:nvPicPr>
                      <p:cNvPr id="0" name="图片 4096"/>
                      <p:cNvPicPr/>
                      <p:nvPr/>
                    </p:nvPicPr>
                    <p:blipFill>
                      <a:blip r:embed="rId5"/>
                      <a:stretch>
                        <a:fillRect/>
                      </a:stretch>
                    </p:blipFill>
                    <p:spPr>
                      <a:xfrm>
                        <a:off x="835343" y="2049780"/>
                        <a:ext cx="9968865" cy="81724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1141730" y="4670425"/>
          <a:ext cx="9232900" cy="817245"/>
        </p:xfrm>
        <a:graphic>
          <a:graphicData uri="http://schemas.openxmlformats.org/presentationml/2006/ole">
            <mc:AlternateContent xmlns:mc="http://schemas.openxmlformats.org/markup-compatibility/2006">
              <mc:Choice xmlns:v="urn:schemas-microsoft-com:vml" Requires="v">
                <p:oleObj spid="_x0000_s5" name="" r:id="rId6" imgW="2870200" imgH="254000" progId="Equation.KSEE3">
                  <p:embed/>
                </p:oleObj>
              </mc:Choice>
              <mc:Fallback>
                <p:oleObj name="" r:id="rId6" imgW="2870200" imgH="254000" progId="Equation.KSEE3">
                  <p:embed/>
                  <p:pic>
                    <p:nvPicPr>
                      <p:cNvPr id="0" name="图片 4096"/>
                      <p:cNvPicPr/>
                      <p:nvPr/>
                    </p:nvPicPr>
                    <p:blipFill>
                      <a:blip r:embed="rId7"/>
                      <a:stretch>
                        <a:fillRect/>
                      </a:stretch>
                    </p:blipFill>
                    <p:spPr>
                      <a:xfrm>
                        <a:off x="1141730" y="4670425"/>
                        <a:ext cx="9232900" cy="817245"/>
                      </a:xfrm>
                      <a:prstGeom prst="rect">
                        <a:avLst/>
                      </a:prstGeom>
                    </p:spPr>
                  </p:pic>
                </p:oleObj>
              </mc:Fallback>
            </mc:AlternateContent>
          </a:graphicData>
        </a:graphic>
      </p:graphicFrame>
      <p:sp>
        <p:nvSpPr>
          <p:cNvPr id="7" name="文本框 6"/>
          <p:cNvSpPr txBox="1"/>
          <p:nvPr/>
        </p:nvSpPr>
        <p:spPr>
          <a:xfrm>
            <a:off x="2427605" y="3768090"/>
            <a:ext cx="5710555" cy="521970"/>
          </a:xfrm>
          <a:prstGeom prst="rect">
            <a:avLst/>
          </a:prstGeom>
          <a:effectLst>
            <a:softEdge rad="50800"/>
          </a:effectLst>
        </p:spPr>
        <p:style>
          <a:lnRef idx="0">
            <a:srgbClr val="FFFFFF"/>
          </a:lnRef>
          <a:fillRef idx="1">
            <a:schemeClr val="accent6"/>
          </a:fillRef>
          <a:effectRef idx="0">
            <a:srgbClr val="FFFFFF"/>
          </a:effectRef>
          <a:fontRef idx="minor">
            <a:schemeClr val="lt1"/>
          </a:fontRef>
        </p:style>
        <p:txBody>
          <a:bodyPr wrap="square" rtlCol="0">
            <a:spAutoFit/>
          </a:bodyPr>
          <a:p>
            <a:pPr algn="ctr"/>
            <a:r>
              <a:rPr lang="zh-CN" altLang="en-US" sz="2800"/>
              <a:t>前一次可信性值计算</a:t>
            </a:r>
            <a:endParaRPr lang="zh-CN" altLang="en-US" sz="280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6" name="文本框 5"/>
          <p:cNvSpPr txBox="1"/>
          <p:nvPr/>
        </p:nvSpPr>
        <p:spPr>
          <a:xfrm>
            <a:off x="1707515" y="794385"/>
            <a:ext cx="8476615" cy="5097145"/>
          </a:xfrm>
          <a:prstGeom prst="rect">
            <a:avLst/>
          </a:prstGeom>
        </p:spPr>
        <p:style>
          <a:lnRef idx="3">
            <a:schemeClr val="accent3"/>
          </a:lnRef>
          <a:fillRef idx="0">
            <a:srgbClr val="FFFFFF"/>
          </a:fillRef>
          <a:effectRef idx="0">
            <a:srgbClr val="FFFFFF"/>
          </a:effectRef>
          <a:fontRef idx="minor">
            <a:schemeClr val="tx1"/>
          </a:fontRef>
        </p:style>
        <p:txBody>
          <a:bodyPr wrap="square" rtlCol="0">
            <a:noAutofit/>
          </a:bodyPr>
          <a:p>
            <a:pPr marL="342900" indent="-342900" algn="l">
              <a:lnSpc>
                <a:spcPct val="140000"/>
              </a:lnSpc>
              <a:buFont typeface="Wingdings" panose="05000000000000000000" charset="0"/>
              <a:buChar char="l"/>
            </a:pPr>
            <a:r>
              <a:rPr lang="zh-CN" altLang="en-US" sz="2800"/>
              <a:t>游戏开发人员及时增加了服务器以解决了该问题，</a:t>
            </a:r>
            <a:endParaRPr lang="zh-CN" altLang="en-US" sz="2800"/>
          </a:p>
          <a:p>
            <a:pPr marL="342900" indent="-342900" algn="l">
              <a:lnSpc>
                <a:spcPct val="140000"/>
              </a:lnSpc>
              <a:buFont typeface="Wingdings" panose="05000000000000000000" charset="0"/>
              <a:buChar char="l"/>
            </a:pPr>
            <a:r>
              <a:rPr lang="zh-CN" altLang="en-US" sz="2800"/>
              <a:t>同时调整了更新策略，</a:t>
            </a:r>
            <a:endParaRPr lang="zh-CN" altLang="en-US" sz="2800"/>
          </a:p>
          <a:p>
            <a:pPr marL="800100" lvl="1" indent="-342900" algn="l">
              <a:lnSpc>
                <a:spcPct val="140000"/>
              </a:lnSpc>
              <a:buFont typeface="Wingdings" panose="05000000000000000000" charset="0"/>
              <a:buChar char="Ø"/>
            </a:pPr>
            <a:r>
              <a:rPr lang="zh-CN" altLang="en-US" sz="2800"/>
              <a:t>让</a:t>
            </a:r>
            <a:r>
              <a:rPr lang="en-US" altLang="zh-CN" sz="2800"/>
              <a:t> </a:t>
            </a:r>
            <a:r>
              <a:rPr lang="zh-CN" altLang="en-US" sz="2800"/>
              <a:t>一部分正在游玩的玩家继续游玩，未游玩的玩家才需进行更新，以免导致服务器</a:t>
            </a:r>
            <a:r>
              <a:rPr lang="en-US" altLang="zh-CN" sz="2800"/>
              <a:t> </a:t>
            </a:r>
            <a:r>
              <a:rPr lang="zh-CN" altLang="en-US" sz="2800"/>
              <a:t>突发压力过大。</a:t>
            </a:r>
            <a:endParaRPr lang="zh-CN" altLang="en-US" sz="2800"/>
          </a:p>
          <a:p>
            <a:pPr marL="342900" indent="-342900" algn="l">
              <a:lnSpc>
                <a:spcPct val="140000"/>
              </a:lnSpc>
              <a:buFont typeface="Wingdings" panose="05000000000000000000" charset="0"/>
              <a:buChar char="l"/>
            </a:pPr>
            <a:r>
              <a:rPr lang="zh-CN" altLang="en-US" sz="2800"/>
              <a:t>由于开发成本属于正常运营成本的一部分，</a:t>
            </a:r>
            <a:endParaRPr lang="zh-CN" altLang="en-US" sz="2800"/>
          </a:p>
          <a:p>
            <a:pPr marL="342900" indent="-342900" algn="l">
              <a:lnSpc>
                <a:spcPct val="140000"/>
              </a:lnSpc>
              <a:buFont typeface="Wingdings" panose="05000000000000000000" charset="0"/>
              <a:buChar char="l"/>
            </a:pPr>
            <a:r>
              <a:rPr lang="zh-CN" altLang="en-US" sz="2800"/>
              <a:t>因此并未计算到恢复</a:t>
            </a:r>
            <a:r>
              <a:rPr lang="en-US" altLang="zh-CN" sz="2800"/>
              <a:t> </a:t>
            </a:r>
            <a:r>
              <a:rPr lang="zh-CN" altLang="en-US" sz="2800"/>
              <a:t>成本中，对应度量元改变如表</a:t>
            </a:r>
            <a:r>
              <a:rPr lang="en-US" altLang="zh-CN" sz="2800"/>
              <a:t> </a:t>
            </a:r>
            <a:endParaRPr lang="zh-CN" altLang="en-US" sz="280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3" name="表格 2"/>
          <p:cNvGraphicFramePr/>
          <p:nvPr>
            <p:custDataLst>
              <p:tags r:id="rId4"/>
            </p:custDataLst>
          </p:nvPr>
        </p:nvGraphicFramePr>
        <p:xfrm>
          <a:off x="375920" y="1471295"/>
          <a:ext cx="11482070" cy="5655310"/>
        </p:xfrm>
        <a:graphic>
          <a:graphicData uri="http://schemas.openxmlformats.org/drawingml/2006/table">
            <a:tbl>
              <a:tblPr/>
              <a:tblGrid>
                <a:gridCol w="1575435"/>
                <a:gridCol w="1713230"/>
                <a:gridCol w="6522720"/>
                <a:gridCol w="1670685"/>
              </a:tblGrid>
              <a:tr h="391795">
                <a:tc>
                  <a:txBody>
                    <a:bodyPr/>
                    <a:p>
                      <a:pPr marL="228600" indent="-13398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225925">
                <a:tc>
                  <a:txBody>
                    <a:bodyPr/>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可用性</a:t>
                      </a:r>
                      <a:endParaRPr lang="zh-CN" sz="2400">
                        <a:solidFill>
                          <a:srgbClr val="000000"/>
                        </a:solidFill>
                        <a:latin typeface="宋体" panose="02010600030101010101" pitchFamily="2" charset="-122"/>
                        <a:ea typeface="宋体" panose="02010600030101010101" pitchFamily="2" charset="-122"/>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1</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0" algn="l" eaLnBrk="0" fontAlgn="base">
                        <a:lnSpc>
                          <a:spcPct val="132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组件当前关键功能与非关键功能可</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用状态：</a:t>
                      </a:r>
                      <a:endParaRPr lang="zh-CN" sz="2400">
                        <a:solidFill>
                          <a:srgbClr val="000000"/>
                        </a:solidFill>
                        <a:latin typeface="宋体" panose="02010600030101010101" pitchFamily="2" charset="-122"/>
                        <a:ea typeface="宋体" panose="02010600030101010101" pitchFamily="2" charset="-122"/>
                      </a:endParaRPr>
                    </a:p>
                    <a:p>
                      <a:pPr marL="91440" indent="0" algn="l" eaLnBrk="0" fontAlgn="base">
                        <a:spcBef>
                          <a:spcPts val="1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组件关键功能全部可用</a:t>
                      </a:r>
                      <a:endParaRPr lang="zh-CN" sz="2400">
                        <a:solidFill>
                          <a:srgbClr val="000000"/>
                        </a:solidFill>
                        <a:latin typeface="宋体" panose="02010600030101010101" pitchFamily="2" charset="-122"/>
                        <a:ea typeface="宋体" panose="02010600030101010101" pitchFamily="2" charset="-122"/>
                      </a:endParaRPr>
                    </a:p>
                    <a:p>
                      <a:pPr marL="7874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组件关键功能部分可用</a:t>
                      </a:r>
                      <a:endParaRPr lang="zh-CN" sz="2400">
                        <a:solidFill>
                          <a:srgbClr val="000000"/>
                        </a:solidFill>
                        <a:latin typeface="宋体" panose="02010600030101010101" pitchFamily="2" charset="-122"/>
                        <a:ea typeface="宋体" panose="02010600030101010101" pitchFamily="2" charset="-122"/>
                      </a:endParaRPr>
                    </a:p>
                    <a:p>
                      <a:pPr marL="81280"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组件非关键功能全部可用</a:t>
                      </a:r>
                      <a:endParaRPr lang="zh-CN" sz="2400">
                        <a:solidFill>
                          <a:srgbClr val="000000"/>
                        </a:solidFill>
                        <a:latin typeface="宋体" panose="02010600030101010101" pitchFamily="2" charset="-122"/>
                        <a:ea typeface="宋体" panose="02010600030101010101" pitchFamily="2" charset="-122"/>
                      </a:endParaRPr>
                    </a:p>
                    <a:p>
                      <a:pPr marL="7810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4. </a:t>
                      </a:r>
                      <a:r>
                        <a:rPr lang="zh-CN" sz="2400">
                          <a:solidFill>
                            <a:srgbClr val="000000"/>
                          </a:solidFill>
                          <a:latin typeface="宋体" panose="02010600030101010101" pitchFamily="2" charset="-122"/>
                          <a:ea typeface="宋体" panose="02010600030101010101" pitchFamily="2" charset="-122"/>
                        </a:rPr>
                        <a:t>组件非关键功能部分可用</a:t>
                      </a:r>
                      <a:endParaRPr lang="zh-CN" sz="2400">
                        <a:solidFill>
                          <a:srgbClr val="000000"/>
                        </a:solidFill>
                        <a:latin typeface="宋体" panose="02010600030101010101" pitchFamily="2" charset="-122"/>
                        <a:ea typeface="宋体" panose="02010600030101010101" pitchFamily="2" charset="-122"/>
                      </a:endParaRPr>
                    </a:p>
                    <a:p>
                      <a:pPr marL="81915" indent="0" algn="l" eaLnBrk="0" fontAlgn="base">
                        <a:spcBef>
                          <a:spcPts val="600"/>
                        </a:spcBef>
                        <a:spcAft>
                          <a:spcPct val="0"/>
                        </a:spcAft>
                      </a:pPr>
                      <a:r>
                        <a:rPr lang="en-US" altLang="zh-CN" sz="2400">
                          <a:solidFill>
                            <a:srgbClr val="000000"/>
                          </a:solidFill>
                          <a:latin typeface="Times New Roman" panose="02020603050405020304"/>
                          <a:ea typeface="Times New Roman" panose="02020603050405020304"/>
                        </a:rPr>
                        <a:t>5. </a:t>
                      </a:r>
                      <a:r>
                        <a:rPr lang="zh-CN" sz="2400">
                          <a:solidFill>
                            <a:srgbClr val="000000"/>
                          </a:solidFill>
                          <a:latin typeface="宋体" panose="02010600030101010101" pitchFamily="2" charset="-122"/>
                          <a:ea typeface="宋体" panose="02010600030101010101" pitchFamily="2" charset="-122"/>
                        </a:rPr>
                        <a:t>组件全部功能不可用</a:t>
                      </a:r>
                      <a:endParaRPr lang="zh-CN" sz="2400">
                        <a:solidFill>
                          <a:srgbClr val="000000"/>
                        </a:solidFill>
                        <a:latin typeface="宋体" panose="02010600030101010101" pitchFamily="2" charset="-122"/>
                        <a:ea typeface="宋体" panose="02010600030101010101" pitchFamily="2" charset="-122"/>
                      </a:endParaRPr>
                    </a:p>
                    <a:p>
                      <a:pPr marL="80645" indent="2540" algn="l" eaLnBrk="0" fontAlgn="base">
                        <a:lnSpc>
                          <a:spcPct val="134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该组件关键功能是：</a:t>
                      </a:r>
                      <a:r>
                        <a:rPr lang="en-US" altLang="zh-CN" sz="2400">
                          <a:solidFill>
                            <a:srgbClr val="000000"/>
                          </a:solidFill>
                          <a:latin typeface="Times New Roman" panose="02020603050405020304"/>
                          <a:ea typeface="Times New Roman" panose="02020603050405020304"/>
                        </a:rPr>
                        <a:t>(i) </a:t>
                      </a:r>
                      <a:r>
                        <a:rPr lang="zh-CN" sz="2400">
                          <a:solidFill>
                            <a:srgbClr val="000000"/>
                          </a:solidFill>
                          <a:latin typeface="宋体" panose="02010600030101010101" pitchFamily="2" charset="-122"/>
                          <a:ea typeface="宋体" panose="02010600030101010101" pitchFamily="2" charset="-122"/>
                        </a:rPr>
                        <a:t>负责与客户端进行网络互联，</a:t>
                      </a:r>
                      <a:r>
                        <a:rPr lang="en-US" altLang="zh-CN" sz="2400">
                          <a:solidFill>
                            <a:srgbClr val="000000"/>
                          </a:solidFill>
                          <a:latin typeface="Times New Roman" panose="02020603050405020304"/>
                          <a:ea typeface="Times New Roman" panose="02020603050405020304"/>
                        </a:rPr>
                        <a:t>(ii) </a:t>
                      </a:r>
                      <a:r>
                        <a:rPr lang="zh-CN" sz="2400">
                          <a:solidFill>
                            <a:srgbClr val="000000"/>
                          </a:solidFill>
                          <a:latin typeface="宋体" panose="02010600030101010101" pitchFamily="2" charset="-122"/>
                          <a:ea typeface="宋体" panose="02010600030101010101" pitchFamily="2" charset="-122"/>
                        </a:rPr>
                        <a:t>向客户端提供游戏数据；非关键功能是：帮助用户选择网络质量最佳的服务器，确保</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用户以较低的网络延迟连接服务器。</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组件满足</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和</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a:t>
                      </a:r>
                      <a:r>
                        <a:rPr lang="zh-CN" sz="2400">
                          <a:solidFill>
                            <a:srgbClr val="000000"/>
                          </a:solidFill>
                          <a:latin typeface="宋体" panose="02010600030101010101" pitchFamily="2" charset="-122"/>
                          <a:ea typeface="宋体" panose="02010600030101010101" pitchFamily="2" charset="-122"/>
                        </a:rPr>
                        <a:t>（修复前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为</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C</a:t>
                      </a:r>
                      <a:r>
                        <a:rPr lang="zh-CN" sz="2400">
                          <a:solidFill>
                            <a:srgbClr val="000000"/>
                          </a:solidFill>
                          <a:latin typeface="宋体" panose="02010600030101010101" pitchFamily="2" charset="-122"/>
                          <a:ea typeface="宋体" panose="02010600030101010101" pitchFamily="2" charset="-122"/>
                        </a:rPr>
                        <a:t>）</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363595" y="842645"/>
            <a:ext cx="5864860" cy="460375"/>
          </a:xfrm>
          <a:prstGeom prst="rect">
            <a:avLst/>
          </a:prstGeom>
        </p:spPr>
        <p:style>
          <a:lnRef idx="0">
            <a:srgbClr val="FFFFFF"/>
          </a:lnRef>
          <a:fillRef idx="3">
            <a:schemeClr val="accent1"/>
          </a:fillRef>
          <a:effectRef idx="0">
            <a:srgbClr val="FFFFFF"/>
          </a:effectRef>
          <a:fontRef idx="minor">
            <a:schemeClr val="lt1"/>
          </a:fontRef>
        </p:style>
        <p:txBody>
          <a:bodyPr wrap="square" rtlCol="0">
            <a:spAutoFit/>
          </a:bodyPr>
          <a:p>
            <a:pPr algn="ctr"/>
            <a:r>
              <a:rPr lang="zh-CN" altLang="en-US" sz="2400"/>
              <a:t>网关组件修复后满足的度量元</a:t>
            </a:r>
            <a:endParaRPr lang="zh-CN" altLang="en-US" sz="240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3" name="表格 2"/>
          <p:cNvGraphicFramePr/>
          <p:nvPr>
            <p:custDataLst>
              <p:tags r:id="rId4"/>
            </p:custDataLst>
          </p:nvPr>
        </p:nvGraphicFramePr>
        <p:xfrm>
          <a:off x="375920" y="1471295"/>
          <a:ext cx="11482070" cy="4697730"/>
        </p:xfrm>
        <a:graphic>
          <a:graphicData uri="http://schemas.openxmlformats.org/drawingml/2006/table">
            <a:tbl>
              <a:tblPr/>
              <a:tblGrid>
                <a:gridCol w="1575435"/>
                <a:gridCol w="1713230"/>
                <a:gridCol w="6245225"/>
                <a:gridCol w="1948180"/>
              </a:tblGrid>
              <a:tr h="391795">
                <a:tc>
                  <a:txBody>
                    <a:bodyPr/>
                    <a:p>
                      <a:pPr marL="228600" indent="-13398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225925">
                <a:tc>
                  <a:txBody>
                    <a:bodyPr/>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可用性</a:t>
                      </a:r>
                      <a:endParaRPr lang="zh-CN" sz="2400">
                        <a:solidFill>
                          <a:srgbClr val="000000"/>
                        </a:solidFill>
                        <a:latin typeface="宋体" panose="02010600030101010101" pitchFamily="2" charset="-122"/>
                        <a:ea typeface="宋体" panose="02010600030101010101" pitchFamily="2" charset="-122"/>
                      </a:endParaRPr>
                    </a:p>
                    <a:p>
                      <a:pPr marL="92075" indent="0" algn="l" eaLnBrk="0" fontAlgn="base">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a:t>
                      </a:r>
                      <a:r>
                        <a:rPr lang="en-US" altLang="zh-CN" sz="2400">
                          <a:solidFill>
                            <a:srgbClr val="000000"/>
                          </a:solidFill>
                          <a:latin typeface="宋体" panose="02010600030101010101" pitchFamily="2" charset="-122"/>
                          <a:ea typeface="宋体" panose="02010600030101010101" pitchFamily="2" charset="-122"/>
                        </a:rPr>
                        <a:t>2</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645" indent="1905" algn="just" eaLnBrk="0" fontAlgn="base">
                        <a:lnSpc>
                          <a:spcPct val="133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组件当前对各地区提供的服务质量：</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延迟不高于平均延迟、网速不低于平均网速、丢包率不高于平均丢包率即达到质量要求</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l" eaLnBrk="0" fontAlgn="base">
                        <a:lnSpc>
                          <a:spcPct val="10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83820" indent="-5715" algn="just" eaLnBrk="0" fontAlgn="base">
                        <a:lnSpc>
                          <a:spcPct val="135000"/>
                        </a:lnSpc>
                        <a:spcBef>
                          <a:spcPts val="3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组件对各地区均能提供达</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到质量要求的服务（修复前</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为</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B</a:t>
                      </a:r>
                      <a:r>
                        <a:rPr lang="zh-CN" sz="2800">
                          <a:solidFill>
                            <a:srgbClr val="000000"/>
                          </a:solidFill>
                          <a:latin typeface="宋体" panose="02010600030101010101" pitchFamily="2" charset="-122"/>
                          <a:ea typeface="宋体" panose="02010600030101010101" pitchFamily="2" charset="-122"/>
                        </a:rPr>
                        <a:t>）</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363595" y="842645"/>
            <a:ext cx="5864860" cy="460375"/>
          </a:xfrm>
          <a:prstGeom prst="rect">
            <a:avLst/>
          </a:prstGeom>
        </p:spPr>
        <p:style>
          <a:lnRef idx="0">
            <a:srgbClr val="FFFFFF"/>
          </a:lnRef>
          <a:fillRef idx="3">
            <a:schemeClr val="accent1"/>
          </a:fillRef>
          <a:effectRef idx="0">
            <a:srgbClr val="FFFFFF"/>
          </a:effectRef>
          <a:fontRef idx="minor">
            <a:schemeClr val="lt1"/>
          </a:fontRef>
        </p:style>
        <p:txBody>
          <a:bodyPr wrap="square" rtlCol="0">
            <a:spAutoFit/>
          </a:bodyPr>
          <a:p>
            <a:pPr algn="ctr"/>
            <a:r>
              <a:rPr lang="zh-CN" altLang="en-US" sz="2400"/>
              <a:t>网关组件修复后满足的度量元</a:t>
            </a:r>
            <a:endParaRPr lang="zh-CN" altLang="en-US" sz="2400"/>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3" name="表格 2"/>
          <p:cNvGraphicFramePr/>
          <p:nvPr>
            <p:custDataLst>
              <p:tags r:id="rId4"/>
            </p:custDataLst>
          </p:nvPr>
        </p:nvGraphicFramePr>
        <p:xfrm>
          <a:off x="375920" y="1471295"/>
          <a:ext cx="11482070" cy="4697730"/>
        </p:xfrm>
        <a:graphic>
          <a:graphicData uri="http://schemas.openxmlformats.org/drawingml/2006/table">
            <a:tbl>
              <a:tblPr/>
              <a:tblGrid>
                <a:gridCol w="1575435"/>
                <a:gridCol w="1713230"/>
                <a:gridCol w="5833745"/>
                <a:gridCol w="2359660"/>
              </a:tblGrid>
              <a:tr h="391795">
                <a:tc>
                  <a:txBody>
                    <a:bodyPr/>
                    <a:p>
                      <a:pPr marL="228600" indent="-13398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225925">
                <a:tc>
                  <a:txBody>
                    <a:bodyPr/>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8572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可生存</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nSpc>
                          <a:spcPct val="179000"/>
                        </a:lnSpc>
                        <a:spcBef>
                          <a:spcPct val="0"/>
                        </a:spcBef>
                        <a:spcAft>
                          <a:spcPct val="0"/>
                        </a:spcAft>
                      </a:pPr>
                      <a:endParaRPr lang="en-US" altLang="zh-CN" sz="2800">
                        <a:solidFill>
                          <a:srgbClr val="000000"/>
                        </a:solidFill>
                        <a:latin typeface="Arial" panose="020B0604020202020204"/>
                        <a:ea typeface="Arial" panose="020B0604020202020204"/>
                      </a:endParaRPr>
                    </a:p>
                    <a:p>
                      <a:pPr marL="9271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容错性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0645" indent="1905" algn="just" eaLnBrk="0" fontAlgn="base">
                        <a:lnSpc>
                          <a:spcPct val="132000"/>
                        </a:lnSpc>
                        <a:spcBef>
                          <a:spcPts val="600"/>
                        </a:spcBef>
                        <a:spcAft>
                          <a:spcPct val="0"/>
                        </a:spcAft>
                      </a:pPr>
                      <a:r>
                        <a:rPr lang="zh-CN" sz="2800">
                          <a:solidFill>
                            <a:srgbClr val="000000"/>
                          </a:solidFill>
                          <a:latin typeface="宋体" panose="02010600030101010101" pitchFamily="2" charset="-122"/>
                          <a:ea typeface="宋体" panose="02010600030101010101" pitchFamily="2" charset="-122"/>
                        </a:rPr>
                        <a:t>组件损失表现：组件受到攻击前的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表现</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B</a:t>
                      </a:r>
                      <a:r>
                        <a:rPr lang="en-US" altLang="zh-CN" sz="2800" baseline="-25000">
                          <a:solidFill>
                            <a:srgbClr val="000000"/>
                          </a:solidFill>
                          <a:latin typeface="Times New Roman" panose="02020603050405020304"/>
                          <a:ea typeface="Times New Roman" panose="02020603050405020304"/>
                        </a:rPr>
                        <a:t>origin</a:t>
                      </a:r>
                      <a:r>
                        <a:rPr lang="en-US" altLang="zh-CN" sz="2800">
                          <a:solidFill>
                            <a:srgbClr val="000000"/>
                          </a:solidFill>
                          <a:latin typeface="Times New Roman" panose="02020603050405020304"/>
                          <a:ea typeface="Times New Roman" panose="02020603050405020304"/>
                        </a:rPr>
                        <a:t>  </a:t>
                      </a:r>
                      <a:r>
                        <a:rPr lang="zh-CN" sz="2800">
                          <a:solidFill>
                            <a:srgbClr val="000000"/>
                          </a:solidFill>
                          <a:latin typeface="宋体" panose="02010600030101010101" pitchFamily="2" charset="-122"/>
                          <a:ea typeface="宋体" panose="02010600030101010101" pitchFamily="2" charset="-122"/>
                        </a:rPr>
                        <a:t>与受到攻击后降低到的</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最低表现</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B</a:t>
                      </a:r>
                      <a:r>
                        <a:rPr lang="en-US" altLang="zh-CN" sz="2800" baseline="-25000">
                          <a:solidFill>
                            <a:srgbClr val="000000"/>
                          </a:solidFill>
                          <a:latin typeface="Times New Roman" panose="02020603050405020304"/>
                          <a:ea typeface="Times New Roman" panose="02020603050405020304"/>
                        </a:rPr>
                        <a:t>disrupt </a:t>
                      </a:r>
                      <a:r>
                        <a:rPr lang="en-US" altLang="zh-CN" sz="2800">
                          <a:solidFill>
                            <a:srgbClr val="000000"/>
                          </a:solidFill>
                          <a:latin typeface="Times New Roman" panose="02020603050405020304"/>
                          <a:ea typeface="Times New Roman" panose="02020603050405020304"/>
                        </a:rPr>
                        <a:t> </a:t>
                      </a:r>
                      <a:r>
                        <a:rPr lang="zh-CN" sz="2800">
                          <a:solidFill>
                            <a:srgbClr val="000000"/>
                          </a:solidFill>
                          <a:latin typeface="宋体" panose="02010600030101010101" pitchFamily="2" charset="-122"/>
                          <a:ea typeface="宋体" panose="02010600030101010101" pitchFamily="2" charset="-122"/>
                        </a:rPr>
                        <a:t>之差</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2550" indent="-4445" algn="just" eaLnBrk="0" fontAlgn="base">
                        <a:lnSpc>
                          <a:spcPct val="132000"/>
                        </a:lnSpc>
                        <a:spcBef>
                          <a:spcPts val="600"/>
                        </a:spcBef>
                        <a:spcAft>
                          <a:spcPct val="0"/>
                        </a:spcAft>
                      </a:pPr>
                      <a:r>
                        <a:rPr lang="en-US" altLang="zh-CN" sz="2800">
                          <a:solidFill>
                            <a:srgbClr val="000000"/>
                          </a:solidFill>
                          <a:latin typeface="Times New Roman" panose="02020603050405020304"/>
                          <a:ea typeface="Times New Roman" panose="02020603050405020304"/>
                        </a:rPr>
                        <a:t>A: </a:t>
                      </a:r>
                      <a:r>
                        <a:rPr lang="zh-CN" sz="2800">
                          <a:solidFill>
                            <a:srgbClr val="000000"/>
                          </a:solidFill>
                          <a:latin typeface="宋体" panose="02010600030101010101" pitchFamily="2" charset="-122"/>
                          <a:ea typeface="宋体" panose="02010600030101010101" pitchFamily="2" charset="-122"/>
                        </a:rPr>
                        <a:t>组件损失表现不超过受到</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攻击前表现的</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40% </a:t>
                      </a:r>
                      <a:r>
                        <a:rPr lang="zh-CN" sz="2800">
                          <a:solidFill>
                            <a:srgbClr val="000000"/>
                          </a:solidFill>
                          <a:latin typeface="宋体" panose="02010600030101010101" pitchFamily="2" charset="-122"/>
                          <a:ea typeface="宋体" panose="02010600030101010101" pitchFamily="2" charset="-122"/>
                        </a:rPr>
                        <a:t>（修复前</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为</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B</a:t>
                      </a:r>
                      <a:r>
                        <a:rPr lang="zh-CN" sz="2800">
                          <a:solidFill>
                            <a:srgbClr val="000000"/>
                          </a:solidFill>
                          <a:latin typeface="宋体" panose="02010600030101010101" pitchFamily="2" charset="-122"/>
                          <a:ea typeface="宋体" panose="02010600030101010101" pitchFamily="2" charset="-122"/>
                        </a:rPr>
                        <a:t>）</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363595" y="842645"/>
            <a:ext cx="5864860" cy="460375"/>
          </a:xfrm>
          <a:prstGeom prst="rect">
            <a:avLst/>
          </a:prstGeom>
        </p:spPr>
        <p:style>
          <a:lnRef idx="0">
            <a:srgbClr val="FFFFFF"/>
          </a:lnRef>
          <a:fillRef idx="3">
            <a:schemeClr val="accent1"/>
          </a:fillRef>
          <a:effectRef idx="0">
            <a:srgbClr val="FFFFFF"/>
          </a:effectRef>
          <a:fontRef idx="minor">
            <a:schemeClr val="lt1"/>
          </a:fontRef>
        </p:style>
        <p:txBody>
          <a:bodyPr wrap="square" rtlCol="0">
            <a:spAutoFit/>
          </a:bodyPr>
          <a:p>
            <a:pPr algn="ctr"/>
            <a:r>
              <a:rPr lang="zh-CN" altLang="en-US" sz="2400"/>
              <a:t>网关组件修复后满足的度量元</a:t>
            </a:r>
            <a:endParaRPr lang="zh-CN" altLang="en-US" sz="240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3" name="表格 2"/>
          <p:cNvGraphicFramePr/>
          <p:nvPr>
            <p:custDataLst>
              <p:tags r:id="rId4"/>
            </p:custDataLst>
          </p:nvPr>
        </p:nvGraphicFramePr>
        <p:xfrm>
          <a:off x="190500" y="1471295"/>
          <a:ext cx="11667490" cy="5107940"/>
        </p:xfrm>
        <a:graphic>
          <a:graphicData uri="http://schemas.openxmlformats.org/drawingml/2006/table">
            <a:tbl>
              <a:tblPr/>
              <a:tblGrid>
                <a:gridCol w="1436370"/>
                <a:gridCol w="1720850"/>
                <a:gridCol w="6894195"/>
                <a:gridCol w="1616075"/>
              </a:tblGrid>
              <a:tr h="391795">
                <a:tc>
                  <a:txBody>
                    <a:bodyPr/>
                    <a:p>
                      <a:pPr marL="228600" indent="-13398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225925">
                <a:tc>
                  <a:txBody>
                    <a:bodyPr/>
                    <a:p>
                      <a:pPr marL="76835" indent="0">
                        <a:spcBef>
                          <a:spcPct val="0"/>
                        </a:spcBef>
                        <a:spcAft>
                          <a:spcPct val="0"/>
                        </a:spcAft>
                      </a:pP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7965" indent="-13335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可恢复</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0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229235" indent="-137160" algn="l" eaLnBrk="0" fontAlgn="base">
                        <a:lnSpc>
                          <a:spcPct val="133000"/>
                        </a:lnSpc>
                        <a:spcBef>
                          <a:spcPts val="300"/>
                        </a:spcBef>
                        <a:spcAft>
                          <a:spcPct val="0"/>
                        </a:spcAft>
                      </a:pPr>
                      <a:r>
                        <a:rPr lang="zh-CN" sz="2400">
                          <a:solidFill>
                            <a:srgbClr val="000000"/>
                          </a:solidFill>
                          <a:latin typeface="宋体" panose="02010600030101010101" pitchFamily="2" charset="-122"/>
                          <a:ea typeface="宋体" panose="02010600030101010101" pitchFamily="2" charset="-122"/>
                        </a:rPr>
                        <a:t>恢复性能</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889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组件在规定时间内恢复了损失表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90% </a:t>
                      </a:r>
                      <a:r>
                        <a:rPr lang="zh-CN" sz="2400">
                          <a:solidFill>
                            <a:srgbClr val="000000"/>
                          </a:solidFill>
                          <a:latin typeface="宋体" panose="02010600030101010101" pitchFamily="2" charset="-122"/>
                          <a:ea typeface="宋体" panose="02010600030101010101" pitchFamily="2" charset="-122"/>
                        </a:rPr>
                        <a:t>以上</a:t>
                      </a:r>
                      <a:endParaRPr lang="zh-CN" sz="2400">
                        <a:solidFill>
                          <a:srgbClr val="000000"/>
                        </a:solidFill>
                        <a:latin typeface="宋体" panose="02010600030101010101" pitchFamily="2" charset="-122"/>
                        <a:ea typeface="宋体" panose="02010600030101010101" pitchFamily="2" charset="-122"/>
                      </a:endParaRPr>
                    </a:p>
                    <a:p>
                      <a:pPr marL="81915" indent="-317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2. </a:t>
                      </a:r>
                      <a:r>
                        <a:rPr lang="zh-CN" sz="2400">
                          <a:solidFill>
                            <a:srgbClr val="000000"/>
                          </a:solidFill>
                          <a:latin typeface="宋体" panose="02010600030101010101" pitchFamily="2" charset="-122"/>
                          <a:ea typeface="宋体" panose="02010600030101010101" pitchFamily="2" charset="-122"/>
                        </a:rPr>
                        <a:t>组件在规定时间内恢复了损失表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60%-90%</a:t>
                      </a:r>
                      <a:endParaRPr lang="en-US" altLang="zh-CN" sz="2400">
                        <a:solidFill>
                          <a:srgbClr val="000000"/>
                        </a:solidFill>
                        <a:latin typeface="Times New Roman" panose="02020603050405020304"/>
                        <a:ea typeface="Times New Roman" panose="02020603050405020304"/>
                      </a:endParaRPr>
                    </a:p>
                    <a:p>
                      <a:pPr marL="84455" indent="-317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3. </a:t>
                      </a:r>
                      <a:r>
                        <a:rPr lang="zh-CN" sz="2400">
                          <a:solidFill>
                            <a:srgbClr val="000000"/>
                          </a:solidFill>
                          <a:latin typeface="宋体" panose="02010600030101010101" pitchFamily="2" charset="-122"/>
                          <a:ea typeface="宋体" panose="02010600030101010101" pitchFamily="2" charset="-122"/>
                        </a:rPr>
                        <a:t>组件在不超过两倍规定时间内恢</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90% </a:t>
                      </a:r>
                      <a:r>
                        <a:rPr lang="zh-CN" sz="2400">
                          <a:solidFill>
                            <a:srgbClr val="000000"/>
                          </a:solidFill>
                          <a:latin typeface="宋体" panose="02010600030101010101" pitchFamily="2" charset="-122"/>
                          <a:ea typeface="宋体" panose="02010600030101010101" pitchFamily="2" charset="-122"/>
                        </a:rPr>
                        <a:t>以上</a:t>
                      </a:r>
                      <a:endParaRPr lang="zh-CN" sz="2400">
                        <a:solidFill>
                          <a:srgbClr val="000000"/>
                        </a:solidFill>
                        <a:latin typeface="宋体" panose="02010600030101010101" pitchFamily="2" charset="-122"/>
                        <a:ea typeface="宋体" panose="02010600030101010101" pitchFamily="2" charset="-122"/>
                      </a:endParaRPr>
                    </a:p>
                    <a:p>
                      <a:pPr marL="81915" indent="-381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4. </a:t>
                      </a:r>
                      <a:r>
                        <a:rPr lang="zh-CN" sz="2400">
                          <a:solidFill>
                            <a:srgbClr val="000000"/>
                          </a:solidFill>
                          <a:latin typeface="宋体" panose="02010600030101010101" pitchFamily="2" charset="-122"/>
                          <a:ea typeface="宋体" panose="02010600030101010101" pitchFamily="2" charset="-122"/>
                        </a:rPr>
                        <a:t>组件在规定时间内恢复了损失表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30%-60%</a:t>
                      </a:r>
                      <a:endParaRPr lang="en-US" altLang="zh-CN" sz="2400">
                        <a:solidFill>
                          <a:srgbClr val="000000"/>
                        </a:solidFill>
                        <a:latin typeface="Times New Roman" panose="02020603050405020304"/>
                        <a:ea typeface="Times New Roman" panose="02020603050405020304"/>
                      </a:endParaRPr>
                    </a:p>
                    <a:p>
                      <a:pPr marL="83820" indent="-1905"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5. </a:t>
                      </a:r>
                      <a:r>
                        <a:rPr lang="zh-CN" sz="2400">
                          <a:solidFill>
                            <a:srgbClr val="000000"/>
                          </a:solidFill>
                          <a:latin typeface="宋体" panose="02010600030101010101" pitchFamily="2" charset="-122"/>
                          <a:ea typeface="宋体" panose="02010600030101010101" pitchFamily="2" charset="-122"/>
                        </a:rPr>
                        <a:t>组件在不超过两倍规定时间内恢</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复了损失表现的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60%-90%</a:t>
                      </a:r>
                      <a:endParaRPr lang="en-US" altLang="zh-CN" sz="2400">
                        <a:solidFill>
                          <a:srgbClr val="000000"/>
                        </a:solidFill>
                        <a:latin typeface="Times New Roman" panose="02020603050405020304"/>
                        <a:ea typeface="Times New Roman" panose="02020603050405020304"/>
                      </a:endParaRPr>
                    </a:p>
                    <a:p>
                      <a:pPr marL="81280" indent="0" algn="l" eaLnBrk="0" fontAlgn="base">
                        <a:lnSpc>
                          <a:spcPct val="114000"/>
                        </a:lnSpc>
                        <a:spcBef>
                          <a:spcPts val="600"/>
                        </a:spcBef>
                        <a:spcAft>
                          <a:spcPct val="0"/>
                        </a:spcAft>
                      </a:pPr>
                      <a:r>
                        <a:rPr lang="en-US" altLang="zh-CN" sz="2400">
                          <a:solidFill>
                            <a:srgbClr val="000000"/>
                          </a:solidFill>
                          <a:latin typeface="Times New Roman" panose="02020603050405020304"/>
                          <a:ea typeface="Times New Roman" panose="02020603050405020304"/>
                        </a:rPr>
                        <a:t>6. </a:t>
                      </a:r>
                      <a:r>
                        <a:rPr lang="zh-CN" sz="2400">
                          <a:solidFill>
                            <a:srgbClr val="000000"/>
                          </a:solidFill>
                          <a:latin typeface="宋体" panose="02010600030101010101" pitchFamily="2" charset="-122"/>
                          <a:ea typeface="宋体" panose="02010600030101010101" pitchFamily="2" charset="-122"/>
                        </a:rPr>
                        <a:t>组件在规定时间内恢复了损失表</a:t>
                      </a:r>
                      <a:r>
                        <a:rPr lang="zh-CN" altLang="en-US" sz="2400">
                          <a:solidFill>
                            <a:srgbClr val="000000"/>
                          </a:solidFill>
                          <a:latin typeface="宋体" panose="02010600030101010101" pitchFamily="2" charset="-122"/>
                          <a:ea typeface="宋体" panose="02010600030101010101" pitchFamily="2" charset="-122"/>
                        </a:rPr>
                        <a:t> </a:t>
                      </a:r>
                      <a:r>
                        <a:rPr lang="zh-CN" sz="2400">
                          <a:solidFill>
                            <a:srgbClr val="000000"/>
                          </a:solidFill>
                          <a:latin typeface="宋体" panose="02010600030101010101" pitchFamily="2" charset="-122"/>
                          <a:ea typeface="宋体" panose="02010600030101010101" pitchFamily="2" charset="-122"/>
                        </a:rPr>
                        <a:t>现的</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30% </a:t>
                      </a:r>
                      <a:r>
                        <a:rPr lang="zh-CN" sz="2400">
                          <a:solidFill>
                            <a:srgbClr val="000000"/>
                          </a:solidFill>
                          <a:latin typeface="宋体" panose="02010600030101010101" pitchFamily="2" charset="-122"/>
                          <a:ea typeface="宋体" panose="02010600030101010101" pitchFamily="2" charset="-122"/>
                        </a:rPr>
                        <a:t>以下</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0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l" eaLnBrk="0" fontAlgn="base">
                        <a:lnSpc>
                          <a:spcPct val="111000"/>
                        </a:lnSpc>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p>
                      <a:pPr marL="76835" indent="0" algn="r" eaLnBrk="0" fontAlgn="base">
                        <a:spcBef>
                          <a:spcPts val="300"/>
                        </a:spcBef>
                        <a:spcAft>
                          <a:spcPct val="0"/>
                        </a:spcAft>
                      </a:pPr>
                      <a:r>
                        <a:rPr lang="en-US" altLang="zh-CN" sz="2400">
                          <a:solidFill>
                            <a:srgbClr val="000000"/>
                          </a:solidFill>
                          <a:latin typeface="Times New Roman" panose="02020603050405020304"/>
                          <a:ea typeface="Times New Roman" panose="02020603050405020304"/>
                        </a:rPr>
                        <a:t>A: </a:t>
                      </a:r>
                      <a:r>
                        <a:rPr lang="zh-CN" sz="2400">
                          <a:solidFill>
                            <a:srgbClr val="000000"/>
                          </a:solidFill>
                          <a:latin typeface="宋体" panose="02010600030101010101" pitchFamily="2" charset="-122"/>
                          <a:ea typeface="宋体" panose="02010600030101010101" pitchFamily="2" charset="-122"/>
                        </a:rPr>
                        <a:t>满足证据</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1 </a:t>
                      </a:r>
                      <a:r>
                        <a:rPr lang="zh-CN" sz="2400">
                          <a:solidFill>
                            <a:srgbClr val="000000"/>
                          </a:solidFill>
                          <a:latin typeface="宋体" panose="02010600030101010101" pitchFamily="2" charset="-122"/>
                          <a:ea typeface="宋体" panose="02010600030101010101" pitchFamily="2" charset="-122"/>
                        </a:rPr>
                        <a:t>（修复前为</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Times New Roman" panose="02020603050405020304"/>
                          <a:ea typeface="Times New Roman" panose="02020603050405020304"/>
                        </a:rPr>
                        <a:t>D</a:t>
                      </a:r>
                      <a:r>
                        <a:rPr lang="zh-CN" sz="2400">
                          <a:solidFill>
                            <a:srgbClr val="000000"/>
                          </a:solidFill>
                          <a:latin typeface="宋体" panose="02010600030101010101" pitchFamily="2" charset="-122"/>
                          <a:ea typeface="宋体" panose="02010600030101010101" pitchFamily="2" charset="-122"/>
                        </a:rPr>
                        <a:t>）</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363595" y="842645"/>
            <a:ext cx="5864860" cy="460375"/>
          </a:xfrm>
          <a:prstGeom prst="rect">
            <a:avLst/>
          </a:prstGeom>
        </p:spPr>
        <p:style>
          <a:lnRef idx="0">
            <a:srgbClr val="FFFFFF"/>
          </a:lnRef>
          <a:fillRef idx="3">
            <a:schemeClr val="accent1"/>
          </a:fillRef>
          <a:effectRef idx="0">
            <a:srgbClr val="FFFFFF"/>
          </a:effectRef>
          <a:fontRef idx="minor">
            <a:schemeClr val="lt1"/>
          </a:fontRef>
        </p:style>
        <p:txBody>
          <a:bodyPr wrap="square" rtlCol="0">
            <a:spAutoFit/>
          </a:bodyPr>
          <a:p>
            <a:pPr algn="ctr"/>
            <a:r>
              <a:rPr lang="zh-CN" altLang="en-US" sz="2400"/>
              <a:t>网关组件修复后满足的度量元</a:t>
            </a:r>
            <a:endParaRPr lang="zh-CN" altLang="en-US" sz="240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graphicFrame>
        <p:nvGraphicFramePr>
          <p:cNvPr id="3" name="表格 2"/>
          <p:cNvGraphicFramePr/>
          <p:nvPr>
            <p:custDataLst>
              <p:tags r:id="rId4"/>
            </p:custDataLst>
          </p:nvPr>
        </p:nvGraphicFramePr>
        <p:xfrm>
          <a:off x="190500" y="1471295"/>
          <a:ext cx="11667490" cy="4697730"/>
        </p:xfrm>
        <a:graphic>
          <a:graphicData uri="http://schemas.openxmlformats.org/drawingml/2006/table">
            <a:tbl>
              <a:tblPr/>
              <a:tblGrid>
                <a:gridCol w="1436370"/>
                <a:gridCol w="1720850"/>
                <a:gridCol w="4959985"/>
                <a:gridCol w="3550285"/>
              </a:tblGrid>
              <a:tr h="391795">
                <a:tc>
                  <a:txBody>
                    <a:bodyPr/>
                    <a:p>
                      <a:pPr marL="228600" indent="-13398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158750" indent="-66675" algn="ctr" eaLnBrk="0" fontAlgn="base">
                        <a:lnSpc>
                          <a:spcPct val="129000"/>
                        </a:lnSpc>
                        <a:spcBef>
                          <a:spcPts val="600"/>
                        </a:spcBef>
                        <a:spcAft>
                          <a:spcPct val="0"/>
                        </a:spcAft>
                      </a:pPr>
                      <a:r>
                        <a:rPr lang="zh-CN" sz="2400">
                          <a:solidFill>
                            <a:srgbClr val="000000"/>
                          </a:solidFill>
                          <a:latin typeface="宋体" panose="02010600030101010101" pitchFamily="2" charset="-122"/>
                          <a:ea typeface="宋体" panose="02010600030101010101" pitchFamily="2" charset="-122"/>
                        </a:rPr>
                        <a:t>韧性子属性</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韧性证据</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5725" indent="0" algn="ctr" eaLnBrk="0" fontAlgn="base">
                        <a:lnSpc>
                          <a:spcPct val="102000"/>
                        </a:lnSpc>
                        <a:spcBef>
                          <a:spcPct val="0"/>
                        </a:spcBef>
                        <a:spcAft>
                          <a:spcPct val="0"/>
                        </a:spcAft>
                      </a:pPr>
                      <a:r>
                        <a:rPr lang="en-US" altLang="zh-CN" sz="2400">
                          <a:solidFill>
                            <a:srgbClr val="000000"/>
                          </a:solidFill>
                          <a:latin typeface="Arial" panose="020B0604020202020204"/>
                          <a:ea typeface="Arial" panose="020B0604020202020204"/>
                        </a:rPr>
                        <a:t> </a:t>
                      </a:r>
                      <a:r>
                        <a:rPr lang="zh-CN" sz="2400">
                          <a:solidFill>
                            <a:srgbClr val="000000"/>
                          </a:solidFill>
                          <a:latin typeface="宋体" panose="02010600030101010101" pitchFamily="2" charset="-122"/>
                          <a:ea typeface="宋体" panose="02010600030101010101" pitchFamily="2" charset="-122"/>
                        </a:rPr>
                        <a:t>韧性度量元</a:t>
                      </a:r>
                      <a:endParaRPr lang="zh-CN" sz="24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r h="4225925">
                <a:tc>
                  <a:txBody>
                    <a:bodyPr/>
                    <a:p>
                      <a:pPr marL="76835" indent="0">
                        <a:lnSpc>
                          <a:spcPct val="180000"/>
                        </a:lnSpc>
                        <a:spcBef>
                          <a:spcPct val="0"/>
                        </a:spcBef>
                        <a:spcAft>
                          <a:spcPct val="0"/>
                        </a:spcAft>
                      </a:pPr>
                      <a:endParaRPr lang="en-US" altLang="zh-CN" sz="2800">
                        <a:solidFill>
                          <a:srgbClr val="000000"/>
                        </a:solidFill>
                        <a:latin typeface="Arial" panose="020B0604020202020204"/>
                        <a:ea typeface="Arial" panose="020B0604020202020204"/>
                      </a:endParaRPr>
                    </a:p>
                    <a:p>
                      <a:pPr marL="93980" indent="0" algn="l" eaLnBrk="0" fontAlgn="base">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适应性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225425" indent="-133350" algn="l" eaLnBrk="0" fontAlgn="base">
                        <a:lnSpc>
                          <a:spcPct val="133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可拓展</a:t>
                      </a:r>
                      <a:r>
                        <a:rPr lang="zh-CN" altLang="en-US" sz="2800">
                          <a:solidFill>
                            <a:srgbClr val="000000"/>
                          </a:solidFill>
                          <a:latin typeface="宋体" panose="02010600030101010101" pitchFamily="2" charset="-122"/>
                          <a:ea typeface="宋体" panose="02010600030101010101" pitchFamily="2" charset="-122"/>
                        </a:rPr>
                        <a:t> </a:t>
                      </a:r>
                      <a:r>
                        <a:rPr lang="zh-CN" sz="2800">
                          <a:solidFill>
                            <a:srgbClr val="000000"/>
                          </a:solidFill>
                          <a:latin typeface="宋体" panose="02010600030101010101" pitchFamily="2" charset="-122"/>
                          <a:ea typeface="宋体" panose="02010600030101010101" pitchFamily="2" charset="-122"/>
                        </a:rPr>
                        <a:t>性</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76835" indent="0" algn="l" eaLnBrk="0" fontAlgn="base">
                        <a:lnSpc>
                          <a:spcPct val="102000"/>
                        </a:lnSpc>
                        <a:spcBef>
                          <a:spcPct val="0"/>
                        </a:spcBef>
                        <a:spcAft>
                          <a:spcPct val="0"/>
                        </a:spcAft>
                      </a:pPr>
                      <a:r>
                        <a:rPr lang="en-US" altLang="zh-CN" sz="2800">
                          <a:solidFill>
                            <a:srgbClr val="000000"/>
                          </a:solidFill>
                          <a:latin typeface="Arial" panose="020B0604020202020204"/>
                          <a:ea typeface="Arial" panose="020B0604020202020204"/>
                        </a:rPr>
                        <a:t> </a:t>
                      </a:r>
                      <a:endParaRPr lang="en-US" altLang="zh-CN" sz="2800">
                        <a:solidFill>
                          <a:srgbClr val="000000"/>
                        </a:solidFill>
                        <a:latin typeface="Arial" panose="020B0604020202020204"/>
                        <a:ea typeface="Arial" panose="020B0604020202020204"/>
                      </a:endParaRPr>
                    </a:p>
                    <a:p>
                      <a:pPr marL="81280" indent="635" algn="l" eaLnBrk="0" fontAlgn="base">
                        <a:lnSpc>
                          <a:spcPct val="132000"/>
                        </a:lnSpc>
                        <a:spcBef>
                          <a:spcPts val="300"/>
                        </a:spcBef>
                        <a:spcAft>
                          <a:spcPct val="0"/>
                        </a:spcAft>
                      </a:pPr>
                      <a:r>
                        <a:rPr lang="zh-CN" sz="2800">
                          <a:solidFill>
                            <a:srgbClr val="000000"/>
                          </a:solidFill>
                          <a:latin typeface="宋体" panose="02010600030101010101" pitchFamily="2" charset="-122"/>
                          <a:ea typeface="宋体" panose="02010600030101010101" pitchFamily="2" charset="-122"/>
                        </a:rPr>
                        <a:t>组件在添加新功能时对已有的影响情况</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c>
                  <a:txBody>
                    <a:bodyPr/>
                    <a:p>
                      <a:pPr marL="81915" indent="-2540" algn="just" eaLnBrk="0" fontAlgn="base">
                        <a:lnSpc>
                          <a:spcPct val="132000"/>
                        </a:lnSpc>
                        <a:spcBef>
                          <a:spcPts val="600"/>
                        </a:spcBef>
                        <a:spcAft>
                          <a:spcPct val="0"/>
                        </a:spcAft>
                      </a:pPr>
                      <a:r>
                        <a:rPr lang="en-US" altLang="zh-CN" sz="2800">
                          <a:solidFill>
                            <a:srgbClr val="000000"/>
                          </a:solidFill>
                          <a:latin typeface="Times New Roman" panose="02020603050405020304"/>
                          <a:ea typeface="Times New Roman" panose="02020603050405020304"/>
                        </a:rPr>
                        <a:t>B: </a:t>
                      </a:r>
                      <a:r>
                        <a:rPr lang="zh-CN" sz="2800">
                          <a:solidFill>
                            <a:srgbClr val="000000"/>
                          </a:solidFill>
                          <a:latin typeface="宋体" panose="02010600030101010101" pitchFamily="2" charset="-122"/>
                          <a:ea typeface="宋体" panose="02010600030101010101" pitchFamily="2" charset="-122"/>
                        </a:rPr>
                        <a:t>组件添加功能时不影响正运行的功能，但用户下次使用时需更新（修复前为</a:t>
                      </a:r>
                      <a:r>
                        <a:rPr lang="zh-CN" altLang="en-US" sz="2800">
                          <a:solidFill>
                            <a:srgbClr val="000000"/>
                          </a:solidFill>
                          <a:latin typeface="宋体" panose="02010600030101010101" pitchFamily="2" charset="-122"/>
                          <a:ea typeface="宋体" panose="02010600030101010101" pitchFamily="2" charset="-122"/>
                        </a:rPr>
                        <a:t> </a:t>
                      </a:r>
                      <a:r>
                        <a:rPr lang="en-US" altLang="zh-CN" sz="2800">
                          <a:solidFill>
                            <a:srgbClr val="000000"/>
                          </a:solidFill>
                          <a:latin typeface="Times New Roman" panose="02020603050405020304"/>
                          <a:ea typeface="Times New Roman" panose="02020603050405020304"/>
                        </a:rPr>
                        <a:t>D</a:t>
                      </a:r>
                      <a:r>
                        <a:rPr lang="zh-CN" sz="2800">
                          <a:solidFill>
                            <a:srgbClr val="000000"/>
                          </a:solidFill>
                          <a:latin typeface="宋体" panose="02010600030101010101" pitchFamily="2" charset="-122"/>
                          <a:ea typeface="宋体" panose="02010600030101010101" pitchFamily="2" charset="-122"/>
                        </a:rPr>
                        <a:t>）</a:t>
                      </a:r>
                      <a:endParaRPr lang="zh-CN" sz="2800">
                        <a:solidFill>
                          <a:srgbClr val="000000"/>
                        </a:solidFill>
                        <a:latin typeface="宋体" panose="02010600030101010101" pitchFamily="2" charset="-122"/>
                        <a:ea typeface="宋体" panose="02010600030101010101" pitchFamily="2" charset="-122"/>
                      </a:endParaRPr>
                    </a:p>
                  </a:txBody>
                  <a:tcPr marL="0" marR="0" marT="0" marB="0" anchor="t" anchorCtr="0">
                    <a:lnL w="3175" cap="flat" cmpd="sng">
                      <a:solidFill>
                        <a:srgbClr val="000000"/>
                      </a:solidFill>
                      <a:prstDash val="solid"/>
                      <a:headEnd type="none" w="med" len="med"/>
                      <a:tailEnd type="none" w="med" len="med"/>
                    </a:lnL>
                    <a:lnR w="3175" cap="flat" cmpd="sng">
                      <a:solidFill>
                        <a:srgbClr val="000000"/>
                      </a:solidFill>
                      <a:prstDash val="solid"/>
                      <a:headEnd type="none" w="med" len="med"/>
                      <a:tailEnd type="none" w="med" len="med"/>
                    </a:lnR>
                    <a:lnT w="3175" cap="flat" cmpd="sng">
                      <a:solidFill>
                        <a:srgbClr val="000000"/>
                      </a:solidFill>
                      <a:prstDash val="solid"/>
                      <a:headEnd type="none" w="med" len="med"/>
                      <a:tailEnd type="none" w="med" len="med"/>
                    </a:lnT>
                    <a:lnB w="3175"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3363595" y="842645"/>
            <a:ext cx="5864860" cy="460375"/>
          </a:xfrm>
          <a:prstGeom prst="rect">
            <a:avLst/>
          </a:prstGeom>
        </p:spPr>
        <p:style>
          <a:lnRef idx="0">
            <a:srgbClr val="FFFFFF"/>
          </a:lnRef>
          <a:fillRef idx="3">
            <a:schemeClr val="accent1"/>
          </a:fillRef>
          <a:effectRef idx="0">
            <a:srgbClr val="FFFFFF"/>
          </a:effectRef>
          <a:fontRef idx="minor">
            <a:schemeClr val="lt1"/>
          </a:fontRef>
        </p:style>
        <p:txBody>
          <a:bodyPr wrap="square" rtlCol="0">
            <a:spAutoFit/>
          </a:bodyPr>
          <a:p>
            <a:pPr algn="ctr"/>
            <a:r>
              <a:rPr lang="zh-CN" altLang="en-US" sz="2400"/>
              <a:t>网关组件修复后满足的度量元</a:t>
            </a:r>
            <a:endParaRPr lang="zh-CN" altLang="en-US" sz="240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6" name="文本框 5"/>
          <p:cNvSpPr txBox="1"/>
          <p:nvPr/>
        </p:nvSpPr>
        <p:spPr>
          <a:xfrm>
            <a:off x="205740" y="794385"/>
            <a:ext cx="11572875" cy="829945"/>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400"/>
              <a:t>第三次计算出网关组件初始可生存性（</a:t>
            </a:r>
            <a:r>
              <a:rPr lang="en-US" altLang="zh-CN" sz="2400"/>
              <a:t>SURV</a:t>
            </a:r>
            <a:r>
              <a:rPr lang="zh-CN" altLang="en-US" sz="2400"/>
              <a:t>）、可恢复性（</a:t>
            </a:r>
            <a:r>
              <a:rPr lang="en-US" altLang="zh-CN" sz="2400"/>
              <a:t>REC</a:t>
            </a:r>
            <a:r>
              <a:rPr lang="zh-CN" altLang="en-US" sz="2400"/>
              <a:t>）、适</a:t>
            </a:r>
            <a:r>
              <a:rPr lang="en-US" altLang="zh-CN" sz="2400"/>
              <a:t> </a:t>
            </a:r>
            <a:r>
              <a:rPr lang="zh-CN" altLang="en-US" sz="2400"/>
              <a:t>应性（</a:t>
            </a:r>
            <a:r>
              <a:rPr lang="en-US" altLang="zh-CN" sz="2400"/>
              <a:t>ADAPT</a:t>
            </a:r>
            <a:r>
              <a:rPr lang="zh-CN" altLang="en-US" sz="2400"/>
              <a:t>）及韧性可信度量值分别为</a:t>
            </a:r>
            <a:endParaRPr lang="zh-CN" altLang="en-US" sz="2400"/>
          </a:p>
        </p:txBody>
      </p:sp>
      <p:graphicFrame>
        <p:nvGraphicFramePr>
          <p:cNvPr id="8" name="对象 7">
            <a:hlinkClick r:id="" action="ppaction://ole?verb="/>
          </p:cNvPr>
          <p:cNvGraphicFramePr>
            <a:graphicFrameLocks noChangeAspect="1"/>
          </p:cNvGraphicFramePr>
          <p:nvPr/>
        </p:nvGraphicFramePr>
        <p:xfrm>
          <a:off x="1356043" y="4951730"/>
          <a:ext cx="9145270" cy="1618615"/>
        </p:xfrm>
        <a:graphic>
          <a:graphicData uri="http://schemas.openxmlformats.org/presentationml/2006/ole">
            <mc:AlternateContent xmlns:mc="http://schemas.openxmlformats.org/markup-compatibility/2006">
              <mc:Choice xmlns:v="urn:schemas-microsoft-com:vml" Requires="v">
                <p:oleObj spid="_x0000_s3073" name="" r:id="rId4" imgW="2857500" imgH="685800" progId="Equation.KSEE3">
                  <p:embed/>
                </p:oleObj>
              </mc:Choice>
              <mc:Fallback>
                <p:oleObj name="" r:id="rId4" imgW="2857500" imgH="685800" progId="Equation.KSEE3">
                  <p:embed/>
                  <p:pic>
                    <p:nvPicPr>
                      <p:cNvPr id="0" name="图片 3072"/>
                      <p:cNvPicPr/>
                      <p:nvPr/>
                    </p:nvPicPr>
                    <p:blipFill>
                      <a:blip r:embed="rId5"/>
                      <a:stretch>
                        <a:fillRect/>
                      </a:stretch>
                    </p:blipFill>
                    <p:spPr>
                      <a:xfrm>
                        <a:off x="1356043" y="4951730"/>
                        <a:ext cx="9145270" cy="161861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968058" y="3622040"/>
          <a:ext cx="10248900" cy="762635"/>
        </p:xfrm>
        <a:graphic>
          <a:graphicData uri="http://schemas.openxmlformats.org/presentationml/2006/ole">
            <mc:AlternateContent xmlns:mc="http://schemas.openxmlformats.org/markup-compatibility/2006">
              <mc:Choice xmlns:v="urn:schemas-microsoft-com:vml" Requires="v">
                <p:oleObj spid="_x0000_s2049" name="" r:id="rId6" imgW="2730500" imgH="203200" progId="Equation.KSEE3">
                  <p:embed/>
                </p:oleObj>
              </mc:Choice>
              <mc:Fallback>
                <p:oleObj name="" r:id="rId6" imgW="2730500" imgH="203200" progId="Equation.KSEE3">
                  <p:embed/>
                  <p:pic>
                    <p:nvPicPr>
                      <p:cNvPr id="0" name="图片 2048"/>
                      <p:cNvPicPr/>
                      <p:nvPr/>
                    </p:nvPicPr>
                    <p:blipFill>
                      <a:blip r:embed="rId7"/>
                      <a:stretch>
                        <a:fillRect/>
                      </a:stretch>
                    </p:blipFill>
                    <p:spPr>
                      <a:xfrm>
                        <a:off x="968058" y="3622040"/>
                        <a:ext cx="10248900" cy="76263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1701800" y="1817370"/>
          <a:ext cx="6446520" cy="1611630"/>
        </p:xfrm>
        <a:graphic>
          <a:graphicData uri="http://schemas.openxmlformats.org/presentationml/2006/ole">
            <mc:AlternateContent xmlns:mc="http://schemas.openxmlformats.org/markup-compatibility/2006">
              <mc:Choice xmlns:v="urn:schemas-microsoft-com:vml" Requires="v">
                <p:oleObj spid="_x0000_s1025" name="" r:id="rId8" imgW="2438400" imgH="914400" progId="Equation.KSEE3">
                  <p:embed/>
                </p:oleObj>
              </mc:Choice>
              <mc:Fallback>
                <p:oleObj name="" r:id="rId8" imgW="2438400" imgH="914400" progId="Equation.KSEE3">
                  <p:embed/>
                  <p:pic>
                    <p:nvPicPr>
                      <p:cNvPr id="0" name="图片 1024"/>
                      <p:cNvPicPr/>
                      <p:nvPr/>
                    </p:nvPicPr>
                    <p:blipFill>
                      <a:blip r:embed="rId9"/>
                      <a:stretch>
                        <a:fillRect/>
                      </a:stretch>
                    </p:blipFill>
                    <p:spPr>
                      <a:xfrm>
                        <a:off x="1701800" y="1817370"/>
                        <a:ext cx="6446520" cy="1611630"/>
                      </a:xfrm>
                      <a:prstGeom prst="rect">
                        <a:avLst/>
                      </a:prstGeom>
                    </p:spPr>
                  </p:pic>
                </p:oleObj>
              </mc:Fallback>
            </mc:AlternateContent>
          </a:graphicData>
        </a:graphic>
      </p:graphicFrame>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6" name="文本框 5"/>
          <p:cNvSpPr txBox="1"/>
          <p:nvPr/>
        </p:nvSpPr>
        <p:spPr>
          <a:xfrm>
            <a:off x="1923415" y="842645"/>
            <a:ext cx="6704330" cy="521970"/>
          </a:xfrm>
          <a:prstGeom prst="rect">
            <a:avLst/>
          </a:prstGeom>
        </p:spPr>
        <p:style>
          <a:lnRef idx="2">
            <a:schemeClr val="accent5"/>
          </a:lnRef>
          <a:fillRef idx="2">
            <a:schemeClr val="accent5"/>
          </a:fillRef>
          <a:effectRef idx="0">
            <a:srgbClr val="FFFFFF"/>
          </a:effectRef>
          <a:fontRef idx="minor">
            <a:schemeClr val="dk1"/>
          </a:fontRef>
        </p:style>
        <p:txBody>
          <a:bodyPr wrap="square" rtlCol="0">
            <a:spAutoFit/>
          </a:bodyPr>
          <a:p>
            <a:pPr algn="ctr"/>
            <a:r>
              <a:rPr lang="zh-CN" altLang="en-US" sz="2800"/>
              <a:t>第三次计算韧性可信度量值（修复）</a:t>
            </a:r>
            <a:endParaRPr lang="zh-CN" altLang="en-US" sz="2800"/>
          </a:p>
        </p:txBody>
      </p:sp>
      <p:graphicFrame>
        <p:nvGraphicFramePr>
          <p:cNvPr id="9" name="对象 8">
            <a:hlinkClick r:id="" action="ppaction://ole?verb="/>
          </p:cNvPr>
          <p:cNvGraphicFramePr>
            <a:graphicFrameLocks noChangeAspect="1"/>
          </p:cNvGraphicFramePr>
          <p:nvPr/>
        </p:nvGraphicFramePr>
        <p:xfrm>
          <a:off x="835343" y="3623945"/>
          <a:ext cx="9968865" cy="817245"/>
        </p:xfrm>
        <a:graphic>
          <a:graphicData uri="http://schemas.openxmlformats.org/presentationml/2006/ole">
            <mc:AlternateContent xmlns:mc="http://schemas.openxmlformats.org/markup-compatibility/2006">
              <mc:Choice xmlns:v="urn:schemas-microsoft-com:vml" Requires="v">
                <p:oleObj spid="_x0000_s4097" name="" r:id="rId4" imgW="3098800" imgH="254000" progId="Equation.KSEE3">
                  <p:embed/>
                </p:oleObj>
              </mc:Choice>
              <mc:Fallback>
                <p:oleObj name="" r:id="rId4" imgW="3098800" imgH="254000" progId="Equation.KSEE3">
                  <p:embed/>
                  <p:pic>
                    <p:nvPicPr>
                      <p:cNvPr id="0" name="图片 4096"/>
                      <p:cNvPicPr/>
                      <p:nvPr/>
                    </p:nvPicPr>
                    <p:blipFill>
                      <a:blip r:embed="rId5"/>
                      <a:stretch>
                        <a:fillRect/>
                      </a:stretch>
                    </p:blipFill>
                    <p:spPr>
                      <a:xfrm>
                        <a:off x="835343" y="3623945"/>
                        <a:ext cx="9968865" cy="81724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1141730" y="5369560"/>
          <a:ext cx="9232900" cy="817245"/>
        </p:xfrm>
        <a:graphic>
          <a:graphicData uri="http://schemas.openxmlformats.org/presentationml/2006/ole">
            <mc:AlternateContent xmlns:mc="http://schemas.openxmlformats.org/markup-compatibility/2006">
              <mc:Choice xmlns:v="urn:schemas-microsoft-com:vml" Requires="v">
                <p:oleObj spid="_x0000_s5" name="" r:id="rId6" imgW="2870200" imgH="254000" progId="Equation.KSEE3">
                  <p:embed/>
                </p:oleObj>
              </mc:Choice>
              <mc:Fallback>
                <p:oleObj name="" r:id="rId6" imgW="2870200" imgH="254000" progId="Equation.KSEE3">
                  <p:embed/>
                  <p:pic>
                    <p:nvPicPr>
                      <p:cNvPr id="0" name="图片 4096"/>
                      <p:cNvPicPr/>
                      <p:nvPr/>
                    </p:nvPicPr>
                    <p:blipFill>
                      <a:blip r:embed="rId7"/>
                      <a:stretch>
                        <a:fillRect/>
                      </a:stretch>
                    </p:blipFill>
                    <p:spPr>
                      <a:xfrm>
                        <a:off x="1141730" y="5369560"/>
                        <a:ext cx="9232900" cy="817245"/>
                      </a:xfrm>
                      <a:prstGeom prst="rect">
                        <a:avLst/>
                      </a:prstGeom>
                    </p:spPr>
                  </p:pic>
                </p:oleObj>
              </mc:Fallback>
            </mc:AlternateContent>
          </a:graphicData>
        </a:graphic>
      </p:graphicFrame>
      <p:sp>
        <p:nvSpPr>
          <p:cNvPr id="7" name="文本框 6"/>
          <p:cNvSpPr txBox="1"/>
          <p:nvPr/>
        </p:nvSpPr>
        <p:spPr>
          <a:xfrm>
            <a:off x="2427605" y="4755515"/>
            <a:ext cx="5710555" cy="521970"/>
          </a:xfrm>
          <a:prstGeom prst="rect">
            <a:avLst/>
          </a:prstGeom>
          <a:effectLst>
            <a:softEdge rad="50800"/>
          </a:effectLst>
        </p:spPr>
        <p:style>
          <a:lnRef idx="0">
            <a:srgbClr val="FFFFFF"/>
          </a:lnRef>
          <a:fillRef idx="1">
            <a:schemeClr val="accent6"/>
          </a:fillRef>
          <a:effectRef idx="0">
            <a:srgbClr val="FFFFFF"/>
          </a:effectRef>
          <a:fontRef idx="minor">
            <a:schemeClr val="lt1"/>
          </a:fontRef>
        </p:style>
        <p:txBody>
          <a:bodyPr wrap="square" rtlCol="0">
            <a:spAutoFit/>
          </a:bodyPr>
          <a:p>
            <a:pPr algn="ctr"/>
            <a:r>
              <a:rPr lang="zh-CN" altLang="en-US" sz="2800"/>
              <a:t>第一次可信性值计算（初始）</a:t>
            </a:r>
            <a:endParaRPr lang="zh-CN" altLang="en-US" sz="2800"/>
          </a:p>
        </p:txBody>
      </p:sp>
      <p:sp>
        <p:nvSpPr>
          <p:cNvPr id="8" name="文本框 7"/>
          <p:cNvSpPr txBox="1"/>
          <p:nvPr/>
        </p:nvSpPr>
        <p:spPr>
          <a:xfrm>
            <a:off x="2708910" y="2844800"/>
            <a:ext cx="5710555" cy="521970"/>
          </a:xfrm>
          <a:prstGeom prst="rect">
            <a:avLst/>
          </a:prstGeom>
        </p:spPr>
        <p:style>
          <a:lnRef idx="0">
            <a:srgbClr val="FFFFFF"/>
          </a:lnRef>
          <a:fillRef idx="3">
            <a:schemeClr val="accent3"/>
          </a:fillRef>
          <a:effectRef idx="0">
            <a:srgbClr val="FFFFFF"/>
          </a:effectRef>
          <a:fontRef idx="minor">
            <a:schemeClr val="dk1"/>
          </a:fontRef>
        </p:style>
        <p:txBody>
          <a:bodyPr wrap="square" rtlCol="0">
            <a:spAutoFit/>
          </a:bodyPr>
          <a:p>
            <a:pPr algn="ctr"/>
            <a:r>
              <a:rPr lang="zh-CN" altLang="en-US" sz="2800"/>
              <a:t>第二次可信性值计算（多布置）</a:t>
            </a:r>
            <a:endParaRPr lang="zh-CN" altLang="en-US" sz="2800"/>
          </a:p>
        </p:txBody>
      </p:sp>
      <p:graphicFrame>
        <p:nvGraphicFramePr>
          <p:cNvPr id="10" name="对象 9">
            <a:hlinkClick r:id="" action="ppaction://ole?verb="/>
          </p:cNvPr>
          <p:cNvGraphicFramePr>
            <a:graphicFrameLocks noChangeAspect="1"/>
          </p:cNvGraphicFramePr>
          <p:nvPr/>
        </p:nvGraphicFramePr>
        <p:xfrm>
          <a:off x="1454786" y="1643380"/>
          <a:ext cx="9274810" cy="817245"/>
        </p:xfrm>
        <a:graphic>
          <a:graphicData uri="http://schemas.openxmlformats.org/presentationml/2006/ole">
            <mc:AlternateContent xmlns:mc="http://schemas.openxmlformats.org/markup-compatibility/2006">
              <mc:Choice xmlns:v="urn:schemas-microsoft-com:vml" Requires="v">
                <p:oleObj spid="_x0000_s11" name="" r:id="rId8" imgW="2882900" imgH="254000" progId="Equation.KSEE3">
                  <p:embed/>
                </p:oleObj>
              </mc:Choice>
              <mc:Fallback>
                <p:oleObj name="" r:id="rId8" imgW="2882900" imgH="254000" progId="Equation.KSEE3">
                  <p:embed/>
                  <p:pic>
                    <p:nvPicPr>
                      <p:cNvPr id="0" name="图片 4096"/>
                      <p:cNvPicPr/>
                      <p:nvPr/>
                    </p:nvPicPr>
                    <p:blipFill>
                      <a:blip r:embed="rId9"/>
                      <a:stretch>
                        <a:fillRect/>
                      </a:stretch>
                    </p:blipFill>
                    <p:spPr>
                      <a:xfrm>
                        <a:off x="1454786" y="1643380"/>
                        <a:ext cx="9274810" cy="817245"/>
                      </a:xfrm>
                      <a:prstGeom prst="rect">
                        <a:avLst/>
                      </a:prstGeom>
                    </p:spPr>
                  </p:pic>
                </p:oleObj>
              </mc:Fallback>
            </mc:AlternateContent>
          </a:graphicData>
        </a:graphic>
      </p:graphicFrame>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en-US" dirty="0" smtClean="0">
                <a:solidFill>
                  <a:srgbClr val="FF0000"/>
                </a:solidFill>
                <a:sym typeface="+mn-ea"/>
              </a:rPr>
              <a:t>8.4 </a:t>
            </a:r>
            <a:r>
              <a:rPr lang="zh-CN" altLang="en-US" dirty="0" smtClean="0">
                <a:solidFill>
                  <a:srgbClr val="FF0000"/>
                </a:solidFill>
                <a:sym typeface="+mn-ea"/>
              </a:rPr>
              <a:t>例子</a:t>
            </a:r>
            <a:endParaRPr lang="en-US" alt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6" name="文本框 5"/>
          <p:cNvSpPr txBox="1"/>
          <p:nvPr/>
        </p:nvSpPr>
        <p:spPr>
          <a:xfrm>
            <a:off x="874395" y="794385"/>
            <a:ext cx="10132695" cy="5605780"/>
          </a:xfrm>
          <a:prstGeom prst="rect">
            <a:avLst/>
          </a:prstGeom>
        </p:spPr>
        <p:style>
          <a:lnRef idx="3">
            <a:schemeClr val="accent3"/>
          </a:lnRef>
          <a:fillRef idx="0">
            <a:srgbClr val="FFFFFF"/>
          </a:fillRef>
          <a:effectRef idx="0">
            <a:srgbClr val="FFFFFF"/>
          </a:effectRef>
          <a:fontRef idx="minor">
            <a:schemeClr val="tx1"/>
          </a:fontRef>
        </p:style>
        <p:txBody>
          <a:bodyPr wrap="square" rtlCol="0">
            <a:spAutoFit/>
          </a:bodyPr>
          <a:p>
            <a:pPr marL="457200" indent="-457200" algn="l">
              <a:lnSpc>
                <a:spcPct val="160000"/>
              </a:lnSpc>
              <a:buFont typeface="Wingdings" panose="05000000000000000000" charset="0"/>
              <a:buChar char="l"/>
            </a:pPr>
            <a:r>
              <a:rPr lang="zh-CN" altLang="en-US" sz="2800"/>
              <a:t>组件正常工作时韧性可信度量值为</a:t>
            </a:r>
            <a:r>
              <a:rPr lang="en-US" altLang="zh-CN" sz="2800"/>
              <a:t> 8.321</a:t>
            </a:r>
            <a:r>
              <a:rPr lang="zh-CN" altLang="en-US" sz="2800"/>
              <a:t>，</a:t>
            </a:r>
            <a:endParaRPr lang="zh-CN" altLang="en-US" sz="2800"/>
          </a:p>
          <a:p>
            <a:pPr marL="457200" indent="-457200" algn="l">
              <a:lnSpc>
                <a:spcPct val="160000"/>
              </a:lnSpc>
              <a:buFont typeface="Wingdings" panose="05000000000000000000" charset="0"/>
              <a:buChar char="l"/>
            </a:pPr>
            <a:r>
              <a:rPr lang="zh-CN" altLang="en-US" sz="2800"/>
              <a:t>压力较大发生故障后，韧性可信</a:t>
            </a:r>
            <a:r>
              <a:rPr lang="en-US" altLang="zh-CN" sz="2800"/>
              <a:t> </a:t>
            </a:r>
            <a:r>
              <a:rPr lang="zh-CN" altLang="en-US" sz="2800"/>
              <a:t>度量值降低到</a:t>
            </a:r>
            <a:r>
              <a:rPr lang="en-US" altLang="zh-CN" sz="2800"/>
              <a:t> 6.353</a:t>
            </a:r>
            <a:r>
              <a:rPr lang="zh-CN" altLang="en-US" sz="2800"/>
              <a:t>，</a:t>
            </a:r>
            <a:endParaRPr lang="zh-CN" altLang="en-US" sz="2800"/>
          </a:p>
          <a:p>
            <a:pPr marL="457200" indent="-457200" algn="l">
              <a:lnSpc>
                <a:spcPct val="160000"/>
              </a:lnSpc>
              <a:buFont typeface="Wingdings" panose="05000000000000000000" charset="0"/>
              <a:buChar char="l"/>
            </a:pPr>
            <a:r>
              <a:rPr lang="zh-CN" altLang="en-US" sz="2800"/>
              <a:t>程序员进行修复和升级后，韧性可信度量值恢复并提升到</a:t>
            </a:r>
            <a:r>
              <a:rPr lang="en-US" altLang="zh-CN" sz="2800"/>
              <a:t> </a:t>
            </a:r>
            <a:r>
              <a:rPr lang="zh-CN" altLang="en-US" sz="2800"/>
              <a:t>了</a:t>
            </a:r>
            <a:r>
              <a:rPr lang="en-US" altLang="zh-CN" sz="2800"/>
              <a:t> 8.768</a:t>
            </a:r>
            <a:r>
              <a:rPr lang="zh-CN" altLang="en-US" sz="2800"/>
              <a:t>。</a:t>
            </a:r>
            <a:endParaRPr lang="zh-CN" altLang="en-US" sz="2800"/>
          </a:p>
          <a:p>
            <a:pPr marL="457200" indent="-457200" algn="l">
              <a:lnSpc>
                <a:spcPct val="160000"/>
              </a:lnSpc>
              <a:buFont typeface="Wingdings" panose="05000000000000000000" charset="0"/>
              <a:buChar char="l"/>
            </a:pPr>
            <a:r>
              <a:rPr lang="zh-CN" altLang="en-US" sz="2800"/>
              <a:t>从该案例的计算结果可以看出，在灾难后及时对系统或组件修复可保</a:t>
            </a:r>
            <a:r>
              <a:rPr lang="en-US" altLang="zh-CN" sz="2800"/>
              <a:t> </a:t>
            </a:r>
            <a:r>
              <a:rPr lang="zh-CN" altLang="en-US" sz="2800"/>
              <a:t>证韧性可信值不低于灾难前地韧性可信值，</a:t>
            </a:r>
            <a:endParaRPr lang="zh-CN" altLang="en-US" sz="2800"/>
          </a:p>
          <a:p>
            <a:pPr marL="457200" indent="-457200" algn="l">
              <a:lnSpc>
                <a:spcPct val="160000"/>
              </a:lnSpc>
              <a:buFont typeface="Wingdings" panose="05000000000000000000" charset="0"/>
              <a:buChar char="l"/>
            </a:pPr>
            <a:r>
              <a:rPr lang="zh-CN" altLang="en-US" sz="2800"/>
              <a:t>同时，通过分析灾难形成的原因，对</a:t>
            </a:r>
            <a:r>
              <a:rPr lang="en-US" altLang="zh-CN" sz="2800"/>
              <a:t> </a:t>
            </a:r>
            <a:r>
              <a:rPr lang="zh-CN" altLang="en-US" sz="2800"/>
              <a:t>系统或组件进行提升，可进一步提高韧性可信值。</a:t>
            </a:r>
            <a:endParaRPr lang="zh-CN" altLang="en-US" sz="280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00" y="137230"/>
            <a:ext cx="10969200" cy="705600"/>
          </a:xfrm>
        </p:spPr>
        <p:txBody>
          <a:bodyPr/>
          <a:lstStyle/>
          <a:p>
            <a:r>
              <a:rPr lang="zh-CN" dirty="0" smtClean="0">
                <a:solidFill>
                  <a:srgbClr val="FF0000"/>
                </a:solidFill>
                <a:sym typeface="+mn-ea"/>
              </a:rPr>
              <a:t>作业</a:t>
            </a:r>
            <a:endParaRPr lang="zh-CN" dirty="0" smtClean="0"/>
          </a:p>
        </p:txBody>
      </p:sp>
      <p:graphicFrame>
        <p:nvGraphicFramePr>
          <p:cNvPr id="4" name="对象 3"/>
          <p:cNvGraphicFramePr/>
          <p:nvPr>
            <p:custDataLst>
              <p:tags r:id="rId1"/>
            </p:custDataLst>
          </p:nvPr>
        </p:nvGraphicFramePr>
        <p:xfrm>
          <a:off x="8628380" y="114935"/>
          <a:ext cx="3499485" cy="559435"/>
        </p:xfrm>
        <a:graphic>
          <a:graphicData uri="http://schemas.openxmlformats.org/presentationml/2006/ole">
            <mc:AlternateContent xmlns:mc="http://schemas.openxmlformats.org/markup-compatibility/2006">
              <mc:Choice xmlns:v="urn:schemas-microsoft-com:vml" Requires="v">
                <p:oleObj spid="_x0000_s39" name="" r:id="rId2" imgW="11239500" imgH="2009775" progId="Paint.Picture">
                  <p:embed/>
                </p:oleObj>
              </mc:Choice>
              <mc:Fallback>
                <p:oleObj name="" r:id="rId2" imgW="11239500" imgH="2009775" progId="Paint.Picture">
                  <p:embed/>
                  <p:pic>
                    <p:nvPicPr>
                      <p:cNvPr id="0" name="图片 10"/>
                      <p:cNvPicPr/>
                      <p:nvPr/>
                    </p:nvPicPr>
                    <p:blipFill>
                      <a:blip r:embed="rId3"/>
                      <a:stretch>
                        <a:fillRect/>
                      </a:stretch>
                    </p:blipFill>
                    <p:spPr>
                      <a:xfrm>
                        <a:off x="8628380" y="114935"/>
                        <a:ext cx="3499485" cy="559435"/>
                      </a:xfrm>
                      <a:prstGeom prst="rect">
                        <a:avLst/>
                      </a:prstGeom>
                    </p:spPr>
                  </p:pic>
                </p:oleObj>
              </mc:Fallback>
            </mc:AlternateContent>
          </a:graphicData>
        </a:graphic>
      </p:graphicFrame>
      <p:sp>
        <p:nvSpPr>
          <p:cNvPr id="3" name="内容占位符 2"/>
          <p:cNvSpPr>
            <a:spLocks noGrp="1"/>
          </p:cNvSpPr>
          <p:nvPr>
            <p:ph idx="1"/>
          </p:nvPr>
        </p:nvSpPr>
        <p:spPr>
          <a:xfrm>
            <a:off x="608330" y="1501140"/>
            <a:ext cx="10577830" cy="4748530"/>
          </a:xfrm>
        </p:spPr>
        <p:txBody>
          <a:bodyPr/>
          <a:p>
            <a:r>
              <a:rPr lang="zh-CN" altLang="en-US" sz="2800"/>
              <a:t>软件韧性的定义是什么，包含了哪三个可信属性和十个子属性？其定义是什么？</a:t>
            </a:r>
            <a:endParaRPr lang="zh-CN" altLang="en-US" sz="2800"/>
          </a:p>
          <a:p>
            <a:r>
              <a:rPr lang="zh-CN" altLang="en-US" sz="2800">
                <a:sym typeface="+mn-ea"/>
              </a:rPr>
              <a:t>韧性既有功能也有性能，因而既要对功能进行度量也要对性能进行度量，一般情况下，如何对其性能进行分级度量的？并以可生存性的容错性度量元定义加以说明</a:t>
            </a:r>
            <a:endParaRPr lang="zh-CN" altLang="en-US" sz="2800">
              <a:sym typeface="+mn-ea"/>
            </a:endParaRPr>
          </a:p>
          <a:p>
            <a:r>
              <a:rPr lang="zh-CN" altLang="en-US" sz="2800"/>
              <a:t>例子中的</a:t>
            </a:r>
            <a:r>
              <a:rPr lang="zh-CN" altLang="en-US" sz="2800">
                <a:sym typeface="+mn-ea"/>
              </a:rPr>
              <a:t>游戏系统网关组件，在客户大量增加后，性能发生了哪些变化？运行商是如何维护和解决的？解决效果如何？</a:t>
            </a:r>
            <a:endParaRPr lang="zh-CN" altLang="en-US" sz="2800"/>
          </a:p>
        </p:txBody>
      </p:sp>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DIAGRAM_VIRTUALLY_FRAME" val="{&quot;height&quot;:266.19720481328096,&quot;left&quot;:348.5,&quot;top&quot;:122.4,&quot;width&quot;:240.6}"/>
</p:tagLst>
</file>

<file path=ppt/tags/tag129.xml><?xml version="1.0" encoding="utf-8"?>
<p:tagLst xmlns:p="http://schemas.openxmlformats.org/presentationml/2006/main">
  <p:tag name="KSO_WM_DIAGRAM_VIRTUALLY_FRAME" val="{&quot;height&quot;:266.19720481328096,&quot;left&quot;:348.5,&quot;top&quot;:122.4,&quot;width&quot;:240.6}"/>
</p:tagLst>
</file>

<file path=ppt/tags/tag130.xml><?xml version="1.0" encoding="utf-8"?>
<p:tagLst xmlns:p="http://schemas.openxmlformats.org/presentationml/2006/main">
  <p:tag name="KSO_WM_DIAGRAM_VIRTUALLY_FRAME" val="{&quot;height&quot;:266.19720481328096,&quot;left&quot;:348.5,&quot;top&quot;:122.4,&quot;width&quot;:240.6}"/>
</p:tagLst>
</file>

<file path=ppt/tags/tag131.xml><?xml version="1.0" encoding="utf-8"?>
<p:tagLst xmlns:p="http://schemas.openxmlformats.org/presentationml/2006/main">
  <p:tag name="KSO_WM_DIAGRAM_VIRTUALLY_FRAME" val="{&quot;height&quot;:266.19720481328096,&quot;left&quot;:348.5,&quot;top&quot;:122.4,&quot;width&quot;:240.6}"/>
</p:tagLst>
</file>

<file path=ppt/tags/tag132.xml><?xml version="1.0" encoding="utf-8"?>
<p:tagLst xmlns:p="http://schemas.openxmlformats.org/presentationml/2006/main">
  <p:tag name="KSO_WM_DIAGRAM_VIRTUALLY_FRAME" val="{&quot;height&quot;:266.19720481328096,&quot;left&quot;:348.5,&quot;top&quot;:122.4,&quot;width&quot;:240.6}"/>
</p:tagLst>
</file>

<file path=ppt/tags/tag133.xml><?xml version="1.0" encoding="utf-8"?>
<p:tagLst xmlns:p="http://schemas.openxmlformats.org/presentationml/2006/main">
  <p:tag name="KSO_WM_DIAGRAM_VIRTUALLY_FRAME" val="{&quot;height&quot;:266.19720481328096,&quot;left&quot;:348.5,&quot;top&quot;:122.4,&quot;width&quot;:240.6}"/>
</p:tagLst>
</file>

<file path=ppt/tags/tag134.xml><?xml version="1.0" encoding="utf-8"?>
<p:tagLst xmlns:p="http://schemas.openxmlformats.org/presentationml/2006/main">
  <p:tag name="KSO_WM_DIAGRAM_VIRTUALLY_FRAME" val="{&quot;height&quot;:266.19720481328096,&quot;left&quot;:348.5,&quot;top&quot;:122.4,&quot;width&quot;:240.6}"/>
</p:tagLst>
</file>

<file path=ppt/tags/tag135.xml><?xml version="1.0" encoding="utf-8"?>
<p:tagLst xmlns:p="http://schemas.openxmlformats.org/presentationml/2006/main">
  <p:tag name="KSO_WM_DIAGRAM_VIRTUALLY_FRAME" val="{&quot;height&quot;:266.19720481328096,&quot;left&quot;:348.5,&quot;top&quot;:122.4,&quot;width&quot;:240.6}"/>
</p:tagLst>
</file>

<file path=ppt/tags/tag136.xml><?xml version="1.0" encoding="utf-8"?>
<p:tagLst xmlns:p="http://schemas.openxmlformats.org/presentationml/2006/main">
  <p:tag name="KSO_WM_DIAGRAM_VIRTUALLY_FRAME" val="{&quot;height&quot;:266.19720481328096,&quot;left&quot;:348.5,&quot;top&quot;:122.4,&quot;width&quot;:240.6}"/>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DIAGRAM_VIRTUALLY_FRAME" val="{&quot;height&quot;:266.19720481328096,&quot;left&quot;:348.5,&quot;top&quot;:122.4,&quot;width&quot;:240.6}"/>
</p:tagLst>
</file>

<file path=ppt/tags/tag139.xml><?xml version="1.0" encoding="utf-8"?>
<p:tagLst xmlns:p="http://schemas.openxmlformats.org/presentationml/2006/main">
  <p:tag name="KSO_WM_DIAGRAM_VIRTUALLY_FRAME" val="{&quot;height&quot;:266.19720481328096,&quot;left&quot;:348.5,&quot;top&quot;:122.4,&quot;width&quot;:240.6}"/>
</p:tagLst>
</file>

<file path=ppt/tags/tag140.xml><?xml version="1.0" encoding="utf-8"?>
<p:tagLst xmlns:p="http://schemas.openxmlformats.org/presentationml/2006/main">
  <p:tag name="KSO_WM_DIAGRAM_VIRTUALLY_FRAME" val="{&quot;height&quot;:266.19720481328096,&quot;left&quot;:348.5,&quot;top&quot;:122.4,&quot;width&quot;:240.6}"/>
</p:tagLst>
</file>

<file path=ppt/tags/tag141.xml><?xml version="1.0" encoding="utf-8"?>
<p:tagLst xmlns:p="http://schemas.openxmlformats.org/presentationml/2006/main">
  <p:tag name="KSO_WM_SLIDE_MODEL_TYPE" val="timeline"/>
</p:tagLst>
</file>

<file path=ppt/tags/tag142.xml><?xml version="1.0" encoding="utf-8"?>
<p:tagLst xmlns:p="http://schemas.openxmlformats.org/presentationml/2006/main">
  <p:tag name="TABLE_ENDDRAG_ORIGIN_RECT" val="767*395"/>
  <p:tag name="TABLE_ENDDRAG_RECT" val="98*107*767*395"/>
</p:tagLst>
</file>

<file path=ppt/tags/tag143.xml><?xml version="1.0" encoding="utf-8"?>
<p:tagLst xmlns:p="http://schemas.openxmlformats.org/presentationml/2006/main">
  <p:tag name="KSO_WM_BEAUTIFY_FLAG" val="#wm#"/>
  <p:tag name="KSO_WM_TEMPLATE_CATEGORY" val="custom"/>
  <p:tag name="KSO_WM_TEMPLATE_INDEX" val="20205081"/>
</p:tagLst>
</file>

<file path=ppt/tags/tag144.xml><?xml version="1.0" encoding="utf-8"?>
<p:tagLst xmlns:p="http://schemas.openxmlformats.org/presentationml/2006/main">
  <p:tag name="KSO_WM_BEAUTIFY_FLAG" val="#wm#"/>
  <p:tag name="KSO_WM_TEMPLATE_CATEGORY" val="custom"/>
  <p:tag name="KSO_WM_TEMPLATE_INDEX" val="20205081"/>
</p:tagLst>
</file>

<file path=ppt/tags/tag145.xml><?xml version="1.0" encoding="utf-8"?>
<p:tagLst xmlns:p="http://schemas.openxmlformats.org/presentationml/2006/main">
  <p:tag name="TABLE_ENDDRAG_ORIGIN_RECT" val="721*249"/>
  <p:tag name="TABLE_ENDDRAG_RECT" val="137*223*721*249"/>
</p:tagLst>
</file>

<file path=ppt/tags/tag146.xml><?xml version="1.0" encoding="utf-8"?>
<p:tagLst xmlns:p="http://schemas.openxmlformats.org/presentationml/2006/main">
  <p:tag name="KSO_WM_BEAUTIFY_FLAG" val="#wm#"/>
  <p:tag name="KSO_WM_TEMPLATE_CATEGORY" val="custom"/>
  <p:tag name="KSO_WM_TEMPLATE_INDEX" val="20205081"/>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TABLE_ENDDRAG_ORIGIN_RECT" val="884*1026"/>
  <p:tag name="TABLE_ENDDRAG_RECT" val="45*109*884*1026"/>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ags/tag151.xml><?xml version="1.0" encoding="utf-8"?>
<p:tagLst xmlns:p="http://schemas.openxmlformats.org/presentationml/2006/main">
  <p:tag name="KSO_WM_BEAUTIFY_FLAG" val="#wm#"/>
  <p:tag name="KSO_WM_TEMPLATE_CATEGORY" val="custom"/>
  <p:tag name="KSO_WM_TEMPLATE_INDEX" val="20205081"/>
</p:tagLst>
</file>

<file path=ppt/tags/tag152.xml><?xml version="1.0" encoding="utf-8"?>
<p:tagLst xmlns:p="http://schemas.openxmlformats.org/presentationml/2006/main">
  <p:tag name="KSO_WM_DIAGRAM_VIRTUALLY_FRAME" val="{&quot;height&quot;:266.19720481328096,&quot;left&quot;:348.5,&quot;top&quot;:122.4,&quot;width&quot;:240.6}"/>
</p:tagLst>
</file>

<file path=ppt/tags/tag153.xml><?xml version="1.0" encoding="utf-8"?>
<p:tagLst xmlns:p="http://schemas.openxmlformats.org/presentationml/2006/main">
  <p:tag name="KSO_WM_DIAGRAM_VIRTUALLY_FRAME" val="{&quot;height&quot;:266.19720481328096,&quot;left&quot;:348.5,&quot;top&quot;:122.4,&quot;width&quot;:240.6}"/>
</p:tagLst>
</file>

<file path=ppt/tags/tag154.xml><?xml version="1.0" encoding="utf-8"?>
<p:tagLst xmlns:p="http://schemas.openxmlformats.org/presentationml/2006/main">
  <p:tag name="KSO_WM_DIAGRAM_VIRTUALLY_FRAME" val="{&quot;height&quot;:266.19720481328096,&quot;left&quot;:348.5,&quot;top&quot;:122.4,&quot;width&quot;:240.6}"/>
</p:tagLst>
</file>

<file path=ppt/tags/tag155.xml><?xml version="1.0" encoding="utf-8"?>
<p:tagLst xmlns:p="http://schemas.openxmlformats.org/presentationml/2006/main">
  <p:tag name="KSO_WM_DIAGRAM_VIRTUALLY_FRAME" val="{&quot;height&quot;:266.19720481328096,&quot;left&quot;:348.5,&quot;top&quot;:122.4,&quot;width&quot;:240.6}"/>
</p:tagLst>
</file>

<file path=ppt/tags/tag156.xml><?xml version="1.0" encoding="utf-8"?>
<p:tagLst xmlns:p="http://schemas.openxmlformats.org/presentationml/2006/main">
  <p:tag name="KSO_WM_DIAGRAM_VIRTUALLY_FRAME" val="{&quot;height&quot;:266.19720481328096,&quot;left&quot;:348.5,&quot;top&quot;:122.4,&quot;width&quot;:240.6}"/>
</p:tagLst>
</file>

<file path=ppt/tags/tag157.xml><?xml version="1.0" encoding="utf-8"?>
<p:tagLst xmlns:p="http://schemas.openxmlformats.org/presentationml/2006/main">
  <p:tag name="KSO_WM_DIAGRAM_VIRTUALLY_FRAME" val="{&quot;height&quot;:266.19720481328096,&quot;left&quot;:348.5,&quot;top&quot;:122.4,&quot;width&quot;:240.6}"/>
</p:tagLst>
</file>

<file path=ppt/tags/tag158.xml><?xml version="1.0" encoding="utf-8"?>
<p:tagLst xmlns:p="http://schemas.openxmlformats.org/presentationml/2006/main">
  <p:tag name="KSO_WM_DIAGRAM_VIRTUALLY_FRAME" val="{&quot;height&quot;:266.19720481328096,&quot;left&quot;:348.5,&quot;top&quot;:122.4,&quot;width&quot;:240.6}"/>
</p:tagLst>
</file>

<file path=ppt/tags/tag159.xml><?xml version="1.0" encoding="utf-8"?>
<p:tagLst xmlns:p="http://schemas.openxmlformats.org/presentationml/2006/main">
  <p:tag name="KSO_WM_DIAGRAM_VIRTUALLY_FRAME" val="{&quot;height&quot;:266.19720481328096,&quot;left&quot;:348.5,&quot;top&quot;:122.4,&quot;width&quot;:240.6}"/>
</p:tagLst>
</file>

<file path=ppt/tags/tag160.xml><?xml version="1.0" encoding="utf-8"?>
<p:tagLst xmlns:p="http://schemas.openxmlformats.org/presentationml/2006/main">
  <p:tag name="KSO_WM_DIAGRAM_VIRTUALLY_FRAME" val="{&quot;height&quot;:266.19720481328096,&quot;left&quot;:348.5,&quot;top&quot;:122.4,&quot;width&quot;:240.6}"/>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DIAGRAM_VIRTUALLY_FRAME" val="{&quot;height&quot;:266.19720481328096,&quot;left&quot;:348.5,&quot;top&quot;:122.4,&quot;width&quot;:240.6}"/>
</p:tagLst>
</file>

<file path=ppt/tags/tag163.xml><?xml version="1.0" encoding="utf-8"?>
<p:tagLst xmlns:p="http://schemas.openxmlformats.org/presentationml/2006/main">
  <p:tag name="KSO_WM_DIAGRAM_VIRTUALLY_FRAME" val="{&quot;height&quot;:266.19720481328096,&quot;left&quot;:348.5,&quot;top&quot;:122.4,&quot;width&quot;:240.6}"/>
</p:tagLst>
</file>

<file path=ppt/tags/tag164.xml><?xml version="1.0" encoding="utf-8"?>
<p:tagLst xmlns:p="http://schemas.openxmlformats.org/presentationml/2006/main">
  <p:tag name="KSO_WM_DIAGRAM_VIRTUALLY_FRAME" val="{&quot;height&quot;:266.19720481328096,&quot;left&quot;:348.5,&quot;top&quot;:122.4,&quot;width&quot;:240.6}"/>
</p:tagLst>
</file>

<file path=ppt/tags/tag165.xml><?xml version="1.0" encoding="utf-8"?>
<p:tagLst xmlns:p="http://schemas.openxmlformats.org/presentationml/2006/main">
  <p:tag name="KSO_WM_BEAUTIFY_FLAG" val="#wm#"/>
  <p:tag name="KSO_WM_TEMPLATE_CATEGORY" val="custom"/>
  <p:tag name="KSO_WM_TEMPLATE_INDEX" val="20205081"/>
</p:tagLst>
</file>

<file path=ppt/tags/tag166.xml><?xml version="1.0" encoding="utf-8"?>
<p:tagLst xmlns:p="http://schemas.openxmlformats.org/presentationml/2006/main">
  <p:tag name="KSO_WM_BEAUTIFY_FLAG" val="#wm#"/>
  <p:tag name="KSO_WM_TEMPLATE_CATEGORY" val="custom"/>
  <p:tag name="KSO_WM_TEMPLATE_INDEX" val="20205081"/>
</p:tagLst>
</file>

<file path=ppt/tags/tag167.xml><?xml version="1.0" encoding="utf-8"?>
<p:tagLst xmlns:p="http://schemas.openxmlformats.org/presentationml/2006/main">
  <p:tag name="KSO_WM_BEAUTIFY_FLAG" val="#wm#"/>
  <p:tag name="KSO_WM_TEMPLATE_CATEGORY" val="custom"/>
  <p:tag name="KSO_WM_TEMPLATE_INDEX" val="20205081"/>
</p:tagLst>
</file>

<file path=ppt/tags/tag168.xml><?xml version="1.0" encoding="utf-8"?>
<p:tagLst xmlns:p="http://schemas.openxmlformats.org/presentationml/2006/main">
  <p:tag name="KSO_WM_BEAUTIFY_FLAG" val="#wm#"/>
  <p:tag name="KSO_WM_TEMPLATE_CATEGORY" val="custom"/>
  <p:tag name="KSO_WM_TEMPLATE_INDEX" val="20205081"/>
</p:tagLst>
</file>

<file path=ppt/tags/tag169.xml><?xml version="1.0" encoding="utf-8"?>
<p:tagLst xmlns:p="http://schemas.openxmlformats.org/presentationml/2006/main">
  <p:tag name="KSO_WM_BEAUTIFY_FLAG" val="#wm#"/>
  <p:tag name="KSO_WM_TEMPLATE_CATEGORY" val="custom"/>
  <p:tag name="KSO_WM_TEMPLATE_INDEX" val="20205081"/>
</p:tagLst>
</file>

<file path=ppt/tags/tag170.xml><?xml version="1.0" encoding="utf-8"?>
<p:tagLst xmlns:p="http://schemas.openxmlformats.org/presentationml/2006/main">
  <p:tag name="TABLE_ENDDRAG_ORIGIN_RECT" val="478*439"/>
  <p:tag name="TABLE_ENDDRAG_RECT" val="127*107*478*439"/>
</p:tagLst>
</file>

<file path=ppt/tags/tag171.xml><?xml version="1.0" encoding="utf-8"?>
<p:tagLst xmlns:p="http://schemas.openxmlformats.org/presentationml/2006/main">
  <p:tag name="KSO_WM_BEAUTIFY_FLAG" val="#wm#"/>
  <p:tag name="KSO_WM_TEMPLATE_CATEGORY" val="custom"/>
  <p:tag name="KSO_WM_TEMPLATE_INDEX" val="20205081"/>
</p:tagLst>
</file>

<file path=ppt/tags/tag172.xml><?xml version="1.0" encoding="utf-8"?>
<p:tagLst xmlns:p="http://schemas.openxmlformats.org/presentationml/2006/main">
  <p:tag name="TABLE_ENDDRAG_ORIGIN_RECT" val="855*220"/>
  <p:tag name="TABLE_ENDDRAG_RECT" val="49*107*855*220"/>
</p:tagLst>
</file>

<file path=ppt/tags/tag173.xml><?xml version="1.0" encoding="utf-8"?>
<p:tagLst xmlns:p="http://schemas.openxmlformats.org/presentationml/2006/main">
  <p:tag name="KSO_WM_BEAUTIFY_FLAG" val="#wm#"/>
  <p:tag name="KSO_WM_TEMPLATE_CATEGORY" val="custom"/>
  <p:tag name="KSO_WM_TEMPLATE_INDEX" val="20205081"/>
</p:tagLst>
</file>

<file path=ppt/tags/tag174.xml><?xml version="1.0" encoding="utf-8"?>
<p:tagLst xmlns:p="http://schemas.openxmlformats.org/presentationml/2006/main">
  <p:tag name="KSO_WM_BEAUTIFY_FLAG" val="#wm#"/>
  <p:tag name="KSO_WM_TEMPLATE_CATEGORY" val="custom"/>
  <p:tag name="KSO_WM_TEMPLATE_INDEX" val="20205081"/>
</p:tagLst>
</file>

<file path=ppt/tags/tag175.xml><?xml version="1.0" encoding="utf-8"?>
<p:tagLst xmlns:p="http://schemas.openxmlformats.org/presentationml/2006/main">
  <p:tag name="KSO_WM_BEAUTIFY_FLAG" val="#wm#"/>
  <p:tag name="KSO_WM_TEMPLATE_CATEGORY" val="custom"/>
  <p:tag name="KSO_WM_TEMPLATE_INDEX" val="20205081"/>
</p:tagLst>
</file>

<file path=ppt/tags/tag176.xml><?xml version="1.0" encoding="utf-8"?>
<p:tagLst xmlns:p="http://schemas.openxmlformats.org/presentationml/2006/main">
  <p:tag name="KSO_WM_BEAUTIFY_FLAG" val="#wm#"/>
  <p:tag name="KSO_WM_TEMPLATE_CATEGORY" val="custom"/>
  <p:tag name="KSO_WM_TEMPLATE_INDEX" val="20205081"/>
</p:tagLst>
</file>

<file path=ppt/tags/tag177.xml><?xml version="1.0" encoding="utf-8"?>
<p:tagLst xmlns:p="http://schemas.openxmlformats.org/presentationml/2006/main">
  <p:tag name="KSO_WM_BEAUTIFY_FLAG" val="#wm#"/>
  <p:tag name="KSO_WM_TEMPLATE_CATEGORY" val="custom"/>
  <p:tag name="KSO_WM_TEMPLATE_INDEX" val="20205081"/>
</p:tagLst>
</file>

<file path=ppt/tags/tag178.xml><?xml version="1.0" encoding="utf-8"?>
<p:tagLst xmlns:p="http://schemas.openxmlformats.org/presentationml/2006/main">
  <p:tag name="TABLE_ENDDRAG_ORIGIN_RECT" val="811*175"/>
  <p:tag name="TABLE_ENDDRAG_RECT" val="74*193*811*175"/>
</p:tagLst>
</file>

<file path=ppt/tags/tag179.xml><?xml version="1.0" encoding="utf-8"?>
<p:tagLst xmlns:p="http://schemas.openxmlformats.org/presentationml/2006/main">
  <p:tag name="KSO_WM_BEAUTIFY_FLAG" val="#wm#"/>
  <p:tag name="KSO_WM_TEMPLATE_CATEGORY" val="custom"/>
  <p:tag name="KSO_WM_TEMPLATE_INDEX" val="20205081"/>
</p:tagLst>
</file>

<file path=ppt/tags/tag180.xml><?xml version="1.0" encoding="utf-8"?>
<p:tagLst xmlns:p="http://schemas.openxmlformats.org/presentationml/2006/main">
  <p:tag name="KSO_WM_BEAUTIFY_FLAG" val="#wm#"/>
  <p:tag name="KSO_WM_TEMPLATE_CATEGORY" val="custom"/>
  <p:tag name="KSO_WM_TEMPLATE_INDEX" val="20205081"/>
</p:tagLst>
</file>

<file path=ppt/tags/tag181.xml><?xml version="1.0" encoding="utf-8"?>
<p:tagLst xmlns:p="http://schemas.openxmlformats.org/presentationml/2006/main">
  <p:tag name="TABLE_ENDDRAG_ORIGIN_RECT" val="928*383"/>
  <p:tag name="TABLE_ENDDRAG_RECT" val="15*77*928*383"/>
</p:tagLst>
</file>

<file path=ppt/tags/tag182.xml><?xml version="1.0" encoding="utf-8"?>
<p:tagLst xmlns:p="http://schemas.openxmlformats.org/presentationml/2006/main">
  <p:tag name="KSO_WM_BEAUTIFY_FLAG" val="#wm#"/>
  <p:tag name="KSO_WM_TEMPLATE_CATEGORY" val="custom"/>
  <p:tag name="KSO_WM_TEMPLATE_INDEX" val="20205081"/>
</p:tagLst>
</file>

<file path=ppt/tags/tag183.xml><?xml version="1.0" encoding="utf-8"?>
<p:tagLst xmlns:p="http://schemas.openxmlformats.org/presentationml/2006/main">
  <p:tag name="TABLE_ENDDRAG_ORIGIN_RECT" val="865*401"/>
  <p:tag name="TABLE_ENDDRAG_RECT" val="59*161*865*401"/>
</p:tagLst>
</file>

<file path=ppt/tags/tag184.xml><?xml version="1.0" encoding="utf-8"?>
<p:tagLst xmlns:p="http://schemas.openxmlformats.org/presentationml/2006/main">
  <p:tag name="KSO_WM_BEAUTIFY_FLAG" val="#wm#"/>
  <p:tag name="KSO_WM_TEMPLATE_CATEGORY" val="custom"/>
  <p:tag name="KSO_WM_TEMPLATE_INDEX" val="20205081"/>
</p:tagLst>
</file>

<file path=ppt/tags/tag185.xml><?xml version="1.0" encoding="utf-8"?>
<p:tagLst xmlns:p="http://schemas.openxmlformats.org/presentationml/2006/main">
  <p:tag name="TABLE_ENDDRAG_ORIGIN_RECT" val="713*287"/>
  <p:tag name="TABLE_ENDDRAG_RECT" val="126*185*713*287"/>
</p:tagLst>
</file>

<file path=ppt/tags/tag186.xml><?xml version="1.0" encoding="utf-8"?>
<p:tagLst xmlns:p="http://schemas.openxmlformats.org/presentationml/2006/main">
  <p:tag name="KSO_WM_BEAUTIFY_FLAG" val="#wm#"/>
  <p:tag name="KSO_WM_TEMPLATE_CATEGORY" val="custom"/>
  <p:tag name="KSO_WM_TEMPLATE_INDEX" val="20205081"/>
</p:tagLst>
</file>

<file path=ppt/tags/tag187.xml><?xml version="1.0" encoding="utf-8"?>
<p:tagLst xmlns:p="http://schemas.openxmlformats.org/presentationml/2006/main">
  <p:tag name="TABLE_ENDDRAG_ORIGIN_RECT" val="867*461"/>
  <p:tag name="TABLE_ENDDRAG_RECT" val="14*124*867*461"/>
</p:tagLst>
</file>

<file path=ppt/tags/tag188.xml><?xml version="1.0" encoding="utf-8"?>
<p:tagLst xmlns:p="http://schemas.openxmlformats.org/presentationml/2006/main">
  <p:tag name="KSO_WM_BEAUTIFY_FLAG" val="#wm#"/>
  <p:tag name="KSO_WM_TEMPLATE_CATEGORY" val="custom"/>
  <p:tag name="KSO_WM_TEMPLATE_INDEX" val="20205081"/>
</p:tagLst>
</file>

<file path=ppt/tags/tag189.xml><?xml version="1.0" encoding="utf-8"?>
<p:tagLst xmlns:p="http://schemas.openxmlformats.org/presentationml/2006/main">
  <p:tag name="TABLE_ENDDRAG_ORIGIN_RECT" val="860*311"/>
  <p:tag name="TABLE_ENDDRAG_RECT" val="60*172*860*311"/>
</p:tagLst>
</file>

<file path=ppt/tags/tag190.xml><?xml version="1.0" encoding="utf-8"?>
<p:tagLst xmlns:p="http://schemas.openxmlformats.org/presentationml/2006/main">
  <p:tag name="KSO_WM_BEAUTIFY_FLAG" val="#wm#"/>
  <p:tag name="KSO_WM_TEMPLATE_CATEGORY" val="custom"/>
  <p:tag name="KSO_WM_TEMPLATE_INDEX" val="20205081"/>
</p:tagLst>
</file>

<file path=ppt/tags/tag191.xml><?xml version="1.0" encoding="utf-8"?>
<p:tagLst xmlns:p="http://schemas.openxmlformats.org/presentationml/2006/main">
  <p:tag name="TABLE_ENDDRAG_ORIGIN_RECT" val="499*96"/>
  <p:tag name="TABLE_ENDDRAG_RECT" val="389*363*499*96"/>
</p:tagLst>
</file>

<file path=ppt/tags/tag192.xml><?xml version="1.0" encoding="utf-8"?>
<p:tagLst xmlns:p="http://schemas.openxmlformats.org/presentationml/2006/main">
  <p:tag name="TABLE_ENDDRAG_ORIGIN_RECT" val="462*99"/>
  <p:tag name="TABLE_ENDDRAG_RECT" val="279*216*462*99"/>
</p:tagLst>
</file>

<file path=ppt/tags/tag193.xml><?xml version="1.0" encoding="utf-8"?>
<p:tagLst xmlns:p="http://schemas.openxmlformats.org/presentationml/2006/main">
  <p:tag name="KSO_WM_BEAUTIFY_FLAG" val="#wm#"/>
  <p:tag name="KSO_WM_TEMPLATE_CATEGORY" val="custom"/>
  <p:tag name="KSO_WM_TEMPLATE_INDEX" val="20205081"/>
</p:tagLst>
</file>

<file path=ppt/tags/tag194.xml><?xml version="1.0" encoding="utf-8"?>
<p:tagLst xmlns:p="http://schemas.openxmlformats.org/presentationml/2006/main">
  <p:tag name="TABLE_ENDDRAG_ORIGIN_RECT" val="865*100"/>
  <p:tag name="TABLE_ENDDRAG_RECT" val="70*324*865*100"/>
</p:tagLst>
</file>

<file path=ppt/tags/tag195.xml><?xml version="1.0" encoding="utf-8"?>
<p:tagLst xmlns:p="http://schemas.openxmlformats.org/presentationml/2006/main">
  <p:tag name="TABLE_ENDDRAG_ORIGIN_RECT" val="498*87"/>
  <p:tag name="TABLE_ENDDRAG_RECT" val="256*418*498*87"/>
</p:tagLst>
</file>

<file path=ppt/tags/tag196.xml><?xml version="1.0" encoding="utf-8"?>
<p:tagLst xmlns:p="http://schemas.openxmlformats.org/presentationml/2006/main">
  <p:tag name="KSO_WM_BEAUTIFY_FLAG" val="#wm#"/>
  <p:tag name="KSO_WM_TEMPLATE_CATEGORY" val="custom"/>
  <p:tag name="KSO_WM_TEMPLATE_INDEX" val="20205081"/>
</p:tagLst>
</file>

<file path=ppt/tags/tag197.xml><?xml version="1.0" encoding="utf-8"?>
<p:tagLst xmlns:p="http://schemas.openxmlformats.org/presentationml/2006/main">
  <p:tag name="TABLE_ENDDRAG_ORIGIN_RECT" val="881*164"/>
  <p:tag name="TABLE_ENDDRAG_RECT" val="36*304*881*164"/>
</p:tagLst>
</file>

<file path=ppt/tags/tag198.xml><?xml version="1.0" encoding="utf-8"?>
<p:tagLst xmlns:p="http://schemas.openxmlformats.org/presentationml/2006/main">
  <p:tag name="TABLE_ENDDRAG_ORIGIN_RECT" val="845*235"/>
  <p:tag name="TABLE_ENDDRAG_RECT" val="78*141*845*235"/>
</p:tagLst>
</file>

<file path=ppt/tags/tag199.xml><?xml version="1.0" encoding="utf-8"?>
<p:tagLst xmlns:p="http://schemas.openxmlformats.org/presentationml/2006/main">
  <p:tag name="KSO_WM_BEAUTIFY_FLAG" val="#wm#"/>
  <p:tag name="KSO_WM_TEMPLATE_CATEGORY" val="custom"/>
  <p:tag name="KSO_WM_TEMPLATE_INDEX" val="20205081"/>
</p:tagLst>
</file>

<file path=ppt/tags/tag200.xml><?xml version="1.0" encoding="utf-8"?>
<p:tagLst xmlns:p="http://schemas.openxmlformats.org/presentationml/2006/main">
  <p:tag name="KSO_WM_DIAGRAM_VIRTUALLY_FRAME" val="{&quot;height&quot;:266.19720481328096,&quot;left&quot;:348.5,&quot;top&quot;:122.4,&quot;width&quot;:240.6}"/>
</p:tagLst>
</file>

<file path=ppt/tags/tag201.xml><?xml version="1.0" encoding="utf-8"?>
<p:tagLst xmlns:p="http://schemas.openxmlformats.org/presentationml/2006/main">
  <p:tag name="KSO_WM_DIAGRAM_VIRTUALLY_FRAME" val="{&quot;height&quot;:266.19720481328096,&quot;left&quot;:348.5,&quot;top&quot;:122.4,&quot;width&quot;:240.6}"/>
</p:tagLst>
</file>

<file path=ppt/tags/tag202.xml><?xml version="1.0" encoding="utf-8"?>
<p:tagLst xmlns:p="http://schemas.openxmlformats.org/presentationml/2006/main">
  <p:tag name="KSO_WM_DIAGRAM_VIRTUALLY_FRAME" val="{&quot;height&quot;:266.19720481328096,&quot;left&quot;:348.5,&quot;top&quot;:122.4,&quot;width&quot;:240.6}"/>
</p:tagLst>
</file>

<file path=ppt/tags/tag203.xml><?xml version="1.0" encoding="utf-8"?>
<p:tagLst xmlns:p="http://schemas.openxmlformats.org/presentationml/2006/main">
  <p:tag name="KSO_WM_DIAGRAM_VIRTUALLY_FRAME" val="{&quot;height&quot;:266.19720481328096,&quot;left&quot;:348.5,&quot;top&quot;:122.4,&quot;width&quot;:240.6}"/>
</p:tagLst>
</file>

<file path=ppt/tags/tag204.xml><?xml version="1.0" encoding="utf-8"?>
<p:tagLst xmlns:p="http://schemas.openxmlformats.org/presentationml/2006/main">
  <p:tag name="KSO_WM_DIAGRAM_VIRTUALLY_FRAME" val="{&quot;height&quot;:266.19720481328096,&quot;left&quot;:348.5,&quot;top&quot;:122.4,&quot;width&quot;:240.6}"/>
</p:tagLst>
</file>

<file path=ppt/tags/tag205.xml><?xml version="1.0" encoding="utf-8"?>
<p:tagLst xmlns:p="http://schemas.openxmlformats.org/presentationml/2006/main">
  <p:tag name="KSO_WM_DIAGRAM_VIRTUALLY_FRAME" val="{&quot;height&quot;:266.19720481328096,&quot;left&quot;:348.5,&quot;top&quot;:122.4,&quot;width&quot;:240.6}"/>
</p:tagLst>
</file>

<file path=ppt/tags/tag206.xml><?xml version="1.0" encoding="utf-8"?>
<p:tagLst xmlns:p="http://schemas.openxmlformats.org/presentationml/2006/main">
  <p:tag name="KSO_WM_DIAGRAM_VIRTUALLY_FRAME" val="{&quot;height&quot;:266.19720481328096,&quot;left&quot;:348.5,&quot;top&quot;:122.4,&quot;width&quot;:240.6}"/>
</p:tagLst>
</file>

<file path=ppt/tags/tag207.xml><?xml version="1.0" encoding="utf-8"?>
<p:tagLst xmlns:p="http://schemas.openxmlformats.org/presentationml/2006/main">
  <p:tag name="KSO_WM_DIAGRAM_VIRTUALLY_FRAME" val="{&quot;height&quot;:266.19720481328096,&quot;left&quot;:348.5,&quot;top&quot;:122.4,&quot;width&quot;:240.6}"/>
</p:tagLst>
</file>

<file path=ppt/tags/tag208.xml><?xml version="1.0" encoding="utf-8"?>
<p:tagLst xmlns:p="http://schemas.openxmlformats.org/presentationml/2006/main">
  <p:tag name="KSO_WM_DIAGRAM_VIRTUALLY_FRAME" val="{&quot;height&quot;:266.19720481328096,&quot;left&quot;:348.5,&quot;top&quot;:122.4,&quot;width&quot;:240.6}"/>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DIAGRAM_VIRTUALLY_FRAME" val="{&quot;height&quot;:266.19720481328096,&quot;left&quot;:348.5,&quot;top&quot;:122.4,&quot;width&quot;:240.6}"/>
</p:tagLst>
</file>

<file path=ppt/tags/tag211.xml><?xml version="1.0" encoding="utf-8"?>
<p:tagLst xmlns:p="http://schemas.openxmlformats.org/presentationml/2006/main">
  <p:tag name="KSO_WM_DIAGRAM_VIRTUALLY_FRAME" val="{&quot;height&quot;:266.19720481328096,&quot;left&quot;:348.5,&quot;top&quot;:122.4,&quot;width&quot;:240.6}"/>
</p:tagLst>
</file>

<file path=ppt/tags/tag212.xml><?xml version="1.0" encoding="utf-8"?>
<p:tagLst xmlns:p="http://schemas.openxmlformats.org/presentationml/2006/main">
  <p:tag name="KSO_WM_DIAGRAM_VIRTUALLY_FRAME" val="{&quot;height&quot;:266.19720481328096,&quot;left&quot;:348.5,&quot;top&quot;:122.4,&quot;width&quot;:240.6}"/>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DIAGRAM_VIRTUALLY_FRAME" val="{&quot;height&quot;:266.19720481328096,&quot;left&quot;:348.5,&quot;top&quot;:122.4,&quot;width&quot;:240.6}"/>
</p:tagLst>
</file>

<file path=ppt/tags/tag218.xml><?xml version="1.0" encoding="utf-8"?>
<p:tagLst xmlns:p="http://schemas.openxmlformats.org/presentationml/2006/main">
  <p:tag name="KSO_WM_DIAGRAM_VIRTUALLY_FRAME" val="{&quot;height&quot;:266.19720481328096,&quot;left&quot;:348.5,&quot;top&quot;:122.4,&quot;width&quot;:240.6}"/>
</p:tagLst>
</file>

<file path=ppt/tags/tag219.xml><?xml version="1.0" encoding="utf-8"?>
<p:tagLst xmlns:p="http://schemas.openxmlformats.org/presentationml/2006/main">
  <p:tag name="KSO_WM_DIAGRAM_VIRTUALLY_FRAME" val="{&quot;height&quot;:266.19720481328096,&quot;left&quot;:348.5,&quot;top&quot;:122.4,&quot;width&quot;:240.6}"/>
</p:tagLst>
</file>

<file path=ppt/tags/tag220.xml><?xml version="1.0" encoding="utf-8"?>
<p:tagLst xmlns:p="http://schemas.openxmlformats.org/presentationml/2006/main">
  <p:tag name="KSO_WM_DIAGRAM_VIRTUALLY_FRAME" val="{&quot;height&quot;:266.19720481328096,&quot;left&quot;:348.5,&quot;top&quot;:122.4,&quot;width&quot;:240.6}"/>
</p:tagLst>
</file>

<file path=ppt/tags/tag221.xml><?xml version="1.0" encoding="utf-8"?>
<p:tagLst xmlns:p="http://schemas.openxmlformats.org/presentationml/2006/main">
  <p:tag name="KSO_WM_DIAGRAM_VIRTUALLY_FRAME" val="{&quot;height&quot;:266.19720481328096,&quot;left&quot;:348.5,&quot;top&quot;:122.4,&quot;width&quot;:240.6}"/>
</p:tagLst>
</file>

<file path=ppt/tags/tag222.xml><?xml version="1.0" encoding="utf-8"?>
<p:tagLst xmlns:p="http://schemas.openxmlformats.org/presentationml/2006/main">
  <p:tag name="KSO_WM_DIAGRAM_VIRTUALLY_FRAME" val="{&quot;height&quot;:266.19720481328096,&quot;left&quot;:348.5,&quot;top&quot;:122.4,&quot;width&quot;:240.6}"/>
</p:tagLst>
</file>

<file path=ppt/tags/tag223.xml><?xml version="1.0" encoding="utf-8"?>
<p:tagLst xmlns:p="http://schemas.openxmlformats.org/presentationml/2006/main">
  <p:tag name="KSO_WM_DIAGRAM_VIRTUALLY_FRAME" val="{&quot;height&quot;:266.19720481328096,&quot;left&quot;:348.5,&quot;top&quot;:122.4,&quot;width&quot;:240.6}"/>
</p:tagLst>
</file>

<file path=ppt/tags/tag224.xml><?xml version="1.0" encoding="utf-8"?>
<p:tagLst xmlns:p="http://schemas.openxmlformats.org/presentationml/2006/main">
  <p:tag name="KSO_WM_DIAGRAM_VIRTUALLY_FRAME" val="{&quot;height&quot;:266.19720481328096,&quot;left&quot;:348.5,&quot;top&quot;:122.4,&quot;width&quot;:240.6}"/>
</p:tagLst>
</file>

<file path=ppt/tags/tag225.xml><?xml version="1.0" encoding="utf-8"?>
<p:tagLst xmlns:p="http://schemas.openxmlformats.org/presentationml/2006/main">
  <p:tag name="KSO_WM_DIAGRAM_VIRTUALLY_FRAME" val="{&quot;height&quot;:266.19720481328096,&quot;left&quot;:348.5,&quot;top&quot;:122.4,&quot;width&quot;:240.6}"/>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DIAGRAM_VIRTUALLY_FRAME" val="{&quot;height&quot;:266.19720481328096,&quot;left&quot;:348.5,&quot;top&quot;:122.4,&quot;width&quot;:240.6}"/>
</p:tagLst>
</file>

<file path=ppt/tags/tag228.xml><?xml version="1.0" encoding="utf-8"?>
<p:tagLst xmlns:p="http://schemas.openxmlformats.org/presentationml/2006/main">
  <p:tag name="KSO_WM_DIAGRAM_VIRTUALLY_FRAME" val="{&quot;height&quot;:266.19720481328096,&quot;left&quot;:348.5,&quot;top&quot;:122.4,&quot;width&quot;:240.6}"/>
</p:tagLst>
</file>

<file path=ppt/tags/tag229.xml><?xml version="1.0" encoding="utf-8"?>
<p:tagLst xmlns:p="http://schemas.openxmlformats.org/presentationml/2006/main">
  <p:tag name="KSO_WM_DIAGRAM_VIRTUALLY_FRAME" val="{&quot;height&quot;:266.19720481328096,&quot;left&quot;:348.5,&quot;top&quot;:122.4,&quot;width&quot;:240.6}"/>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TABLE_ENDDRAG_ORIGIN_RECT" val="849*392"/>
  <p:tag name="TABLE_ENDDRAG_RECT" val="43*75*849*392"/>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TABLE_ENDDRAG_ORIGIN_RECT" val="848*378"/>
  <p:tag name="TABLE_ENDDRAG_RECT" val="47*112*848*378"/>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TABLE_ENDDRAG_ORIGIN_RECT" val="800*361"/>
  <p:tag name="TABLE_ENDDRAG_RECT" val="69*145*800*361"/>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TABLE_ENDDRAG_ORIGIN_RECT" val="817*294"/>
  <p:tag name="TABLE_ENDDRAG_RECT" val="69*157*817*294"/>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TABLE_ENDDRAG_ORIGIN_RECT" val="817*294"/>
  <p:tag name="TABLE_ENDDRAG_RECT" val="69*157*817*294"/>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TABLE_ENDDRAG_ORIGIN_RECT" val="817*294"/>
  <p:tag name="TABLE_ENDDRAG_RECT" val="69*157*817*294"/>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TABLE_ENDDRAG_ORIGIN_RECT" val="817*294"/>
  <p:tag name="TABLE_ENDDRAG_RECT" val="69*157*817*294"/>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TABLE_ENDDRAG_ORIGIN_RECT" val="817*294"/>
  <p:tag name="TABLE_ENDDRAG_RECT" val="69*157*817*294"/>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TABLE_ENDDRAG_ORIGIN_RECT" val="817*294"/>
  <p:tag name="TABLE_ENDDRAG_RECT" val="69*157*817*294"/>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TABLE_ENDDRAG_ORIGIN_RECT" val="817*294"/>
  <p:tag name="TABLE_ENDDRAG_RECT" val="69*157*817*294"/>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TABLE_ENDDRAG_ORIGIN_RECT" val="817*294"/>
  <p:tag name="TABLE_ENDDRAG_RECT" val="69*157*817*294"/>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TABLE_ENDDRAG_ORIGIN_RECT" val="817*294"/>
  <p:tag name="TABLE_ENDDRAG_RECT" val="69*157*817*294"/>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TABLE_ENDDRAG_ORIGIN_RECT" val="817*294"/>
  <p:tag name="TABLE_ENDDRAG_RECT" val="69*157*817*294"/>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TABLE_ENDDRAG_ORIGIN_RECT" val="817*294"/>
  <p:tag name="TABLE_ENDDRAG_RECT" val="69*157*817*294"/>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TABLE_ENDDRAG_ORIGIN_RECT" val="817*294"/>
  <p:tag name="TABLE_ENDDRAG_RECT" val="69*157*817*294"/>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TABLE_ENDDRAG_ORIGIN_RECT" val="817*294"/>
  <p:tag name="TABLE_ENDDRAG_RECT" val="69*157*817*294"/>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TABLE_ENDDRAG_ORIGIN_RECT" val="817*294"/>
  <p:tag name="TABLE_ENDDRAG_RECT" val="69*157*817*294"/>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TABLE_ENDDRAG_ORIGIN_RECT" val="817*294"/>
  <p:tag name="TABLE_ENDDRAG_RECT" val="69*157*817*294"/>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TABLE_ENDDRAG_ORIGIN_RECT" val="817*294"/>
  <p:tag name="TABLE_ENDDRAG_RECT" val="69*157*817*294"/>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TABLE_ENDDRAG_ORIGIN_RECT" val="817*294"/>
  <p:tag name="TABLE_ENDDRAG_RECT" val="69*157*817*294"/>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TABLE_ENDDRAG_ORIGIN_RECT" val="665*238"/>
  <p:tag name="TABLE_ENDDRAG_RECT" val="107*214*665*238"/>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TABLE_ENDDRAG_ORIGIN_RECT" val="548*222"/>
  <p:tag name="TABLE_ENDDRAG_RECT" val="272*244*548*222"/>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TABLE_ENDDRAG_ORIGIN_RECT" val="644*230"/>
  <p:tag name="TABLE_ENDDRAG_RECT" val="159*184*644*230"/>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TABLE_ENDDRAG_ORIGIN_RECT" val="914*416"/>
  <p:tag name="TABLE_ENDDRAG_RECT" val="19*90*914*416"/>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TABLE_ENDDRAG_ORIGIN_RECT" val="914*416"/>
  <p:tag name="TABLE_ENDDRAG_RECT" val="19*90*914*416"/>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TABLE_ENDDRAG_ORIGIN_RECT" val="914*416"/>
  <p:tag name="TABLE_ENDDRAG_RECT" val="19*90*914*416"/>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TABLE_ENDDRAG_ORIGIN_RECT" val="914*416"/>
  <p:tag name="TABLE_ENDDRAG_RECT" val="19*90*914*416"/>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TABLE_ENDDRAG_ORIGIN_RECT" val="610*391"/>
  <p:tag name="TABLE_ENDDRAG_RECT" val="274*125*610*391"/>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TABLE_ENDDRAG_ORIGIN_RECT" val="610*391"/>
  <p:tag name="TABLE_ENDDRAG_RECT" val="274*125*610*391"/>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TABLE_ENDDRAG_ORIGIN_RECT" val="610*391"/>
  <p:tag name="TABLE_ENDDRAG_RECT" val="274*125*610*391"/>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TABLE_ENDDRAG_ORIGIN_RECT" val="918*460"/>
  <p:tag name="TABLE_ENDDRAG_RECT" val="15*115*918*460"/>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TABLE_ENDDRAG_ORIGIN_RECT" val="918*460"/>
  <p:tag name="TABLE_ENDDRAG_RECT" val="15*115*918*460"/>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COMMONDATA" val="eyJoZGlkIjoiNGY3YjViNmIwNzEwMmJlYmIwNjZkNjgwODI3NGFjMTgifQ=="/>
  <p:tag name="KSO_WPP_MARK_KEY" val="92c2aca8-aeaa-47d7-bb19-fbbcfd4fac2e"/>
  <p:tag name="resource_record_key" val="{&quot;29&quot;:[50000211,50000086,50000076,50000159],&quot;8&quot;:[20476122]}"/>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12795</Words>
  <Application>WPS 演示</Application>
  <PresentationFormat>宽屏</PresentationFormat>
  <Paragraphs>2228</Paragraphs>
  <Slides>83</Slides>
  <Notes>4</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100</vt:i4>
      </vt:variant>
      <vt:variant>
        <vt:lpstr>幻灯片标题</vt:lpstr>
      </vt:variant>
      <vt:variant>
        <vt:i4>83</vt:i4>
      </vt:variant>
    </vt:vector>
  </HeadingPairs>
  <TitlesOfParts>
    <vt:vector size="196" baseType="lpstr">
      <vt:lpstr>Arial</vt:lpstr>
      <vt:lpstr>宋体</vt:lpstr>
      <vt:lpstr>Wingdings</vt:lpstr>
      <vt:lpstr>Wingdings</vt:lpstr>
      <vt:lpstr>等线</vt:lpstr>
      <vt:lpstr>微软雅黑</vt:lpstr>
      <vt:lpstr>Arial</vt:lpstr>
      <vt:lpstr>Times New Roman</vt:lpstr>
      <vt:lpstr>楷体</vt:lpstr>
      <vt:lpstr>Arial Unicode MS</vt:lpstr>
      <vt:lpstr>Calibri</vt:lpstr>
      <vt:lpstr>Office 主题​​</vt:lpstr>
      <vt:lpstr>1_Office 主题​​</vt:lpstr>
      <vt:lpstr>Paint.Picture</vt:lpstr>
      <vt:lpstr>Equation.KSEE3</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Equation.KSEE3</vt:lpstr>
      <vt:lpstr>Paint.Picture</vt:lpstr>
      <vt:lpstr>Equation.KSEE3</vt:lpstr>
      <vt:lpstr>Paint.Picture</vt:lpstr>
      <vt:lpstr>Paint.Picture</vt:lpstr>
      <vt:lpstr>Equation.KSEE3</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Equation.KSEE3</vt:lpstr>
      <vt:lpstr>Paint.Picture</vt:lpstr>
      <vt:lpstr>Equation.KSEE3</vt:lpstr>
      <vt:lpstr>Paint.Picture</vt:lpstr>
      <vt:lpstr>Paint.Picture</vt:lpstr>
      <vt:lpstr>Equation.KSEE3</vt:lpstr>
      <vt:lpstr>Paint.Picture</vt:lpstr>
      <vt:lpstr>Equation.KSEE3</vt:lpstr>
      <vt:lpstr>Paint.Picture</vt:lpstr>
      <vt:lpstr>Paint.Picture</vt:lpstr>
      <vt:lpstr>Paint.Picture</vt:lpstr>
      <vt:lpstr>Paint.Picture</vt:lpstr>
      <vt:lpstr>Paint.Picture</vt:lpstr>
      <vt:lpstr>Paint.Picture</vt:lpstr>
      <vt:lpstr>Equation.KSEE3</vt:lpstr>
      <vt:lpstr>Paint.Picture</vt:lpstr>
      <vt:lpstr>Equation.KSEE3</vt:lpstr>
      <vt:lpstr>Equation.KSEE3</vt:lpstr>
      <vt:lpstr>Paint.Picture</vt:lpstr>
      <vt:lpstr>Equation.KSEE3</vt:lpstr>
      <vt:lpstr>Equation.KSEE3</vt:lpstr>
      <vt:lpstr>Paint.Picture</vt:lpstr>
      <vt:lpstr>Paint.Picture</vt:lpstr>
      <vt:lpstr>Paint.Picture</vt:lpstr>
      <vt:lpstr>Paint.Picture</vt:lpstr>
      <vt:lpstr>Paint.Picture</vt:lpstr>
      <vt:lpstr>Paint.Picture</vt:lpstr>
      <vt:lpstr>Paint.Picture</vt:lpstr>
      <vt:lpstr>Paint.Picture</vt:lpstr>
      <vt:lpstr>Equation.KSEE3</vt:lpstr>
      <vt:lpstr>Equation.KSEE3</vt:lpstr>
      <vt:lpstr>Equation.KSEE3</vt:lpstr>
      <vt:lpstr>Paint.Picture</vt:lpstr>
      <vt:lpstr>Equation.KSEE3</vt:lpstr>
      <vt:lpstr>Equation.KSEE3</vt:lpstr>
      <vt:lpstr>Equation.KSEE3</vt:lpstr>
      <vt:lpstr>Paint.Picture</vt:lpstr>
      <vt:lpstr> 第八章  软件韧性可信量化模型</vt:lpstr>
      <vt:lpstr>PowerPoint 演示文稿</vt:lpstr>
      <vt:lpstr>8.1 软件韧性</vt:lpstr>
      <vt:lpstr>8.1 软件韧性</vt:lpstr>
      <vt:lpstr>8.1 软件韧性</vt:lpstr>
      <vt:lpstr>8.1 软件韧性</vt:lpstr>
      <vt:lpstr>8.1 软件韧性</vt:lpstr>
      <vt:lpstr>8.1 软件韧性</vt:lpstr>
      <vt:lpstr>8.1 软件韧性</vt:lpstr>
      <vt:lpstr>8.1 软件韧性</vt:lpstr>
      <vt:lpstr>PowerPoint 演示文稿</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8.2 软件组件</vt:lpstr>
      <vt:lpstr>PowerPoint 演示文稿</vt:lpstr>
      <vt:lpstr>8.3 韧性可信度量模型</vt:lpstr>
      <vt:lpstr>8.3 韧性可信度量模型</vt:lpstr>
      <vt:lpstr>8.3 韧性可信度量模型</vt:lpstr>
      <vt:lpstr>8.3 韧性可信度量模型</vt:lpstr>
      <vt:lpstr>8.3 韧性可信度量模型</vt:lpstr>
      <vt:lpstr>PowerPoint 演示文稿</vt:lpstr>
      <vt:lpstr>8.4 例子</vt:lpstr>
      <vt:lpstr>8.4 例子</vt:lpstr>
      <vt:lpstr>8.4 例子</vt:lpstr>
      <vt:lpstr>8.4 例子</vt:lpstr>
      <vt:lpstr>8.4 例子</vt:lpstr>
      <vt:lpstr>8.4 例子</vt:lpstr>
      <vt:lpstr>8.4 例子</vt:lpstr>
      <vt:lpstr>8.4 例子</vt:lpstr>
      <vt:lpstr>8.3 韧性可信度量</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8.4 例子</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陈年老酒</cp:lastModifiedBy>
  <cp:revision>299</cp:revision>
  <dcterms:created xsi:type="dcterms:W3CDTF">2019-06-19T02:08:00Z</dcterms:created>
  <dcterms:modified xsi:type="dcterms:W3CDTF">2025-11-30T23:38:25Z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9F16B906E9014B2BB78588070D3AB22E_13</vt:lpwstr>
  </property>
</Properties>
</file>