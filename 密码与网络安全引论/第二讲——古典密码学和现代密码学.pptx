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4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tags/tag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tags/tag6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7.xml" ContentType="application/vnd.openxmlformats-officedocument.presentationml.tags+xml"/>
  <Override PartName="/ppt/notesSlides/notesSlide36.xml" ContentType="application/vnd.openxmlformats-officedocument.presentationml.notesSlide+xml"/>
  <Override PartName="/ppt/tags/tag8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256" r:id="rId2"/>
    <p:sldId id="257" r:id="rId3"/>
    <p:sldId id="313" r:id="rId4"/>
    <p:sldId id="316" r:id="rId5"/>
    <p:sldId id="317" r:id="rId6"/>
    <p:sldId id="273" r:id="rId7"/>
    <p:sldId id="328" r:id="rId8"/>
    <p:sldId id="332" r:id="rId9"/>
    <p:sldId id="275" r:id="rId10"/>
    <p:sldId id="274" r:id="rId11"/>
    <p:sldId id="325" r:id="rId12"/>
    <p:sldId id="342" r:id="rId13"/>
    <p:sldId id="277" r:id="rId14"/>
    <p:sldId id="326" r:id="rId15"/>
    <p:sldId id="343" r:id="rId16"/>
    <p:sldId id="327" r:id="rId17"/>
    <p:sldId id="344" r:id="rId18"/>
    <p:sldId id="280" r:id="rId19"/>
    <p:sldId id="284" r:id="rId20"/>
    <p:sldId id="333" r:id="rId21"/>
    <p:sldId id="321" r:id="rId22"/>
    <p:sldId id="320" r:id="rId23"/>
    <p:sldId id="288" r:id="rId24"/>
    <p:sldId id="345" r:id="rId25"/>
    <p:sldId id="289" r:id="rId26"/>
    <p:sldId id="291" r:id="rId27"/>
    <p:sldId id="322" r:id="rId28"/>
    <p:sldId id="330" r:id="rId29"/>
    <p:sldId id="346" r:id="rId30"/>
    <p:sldId id="290" r:id="rId31"/>
    <p:sldId id="294" r:id="rId32"/>
    <p:sldId id="331" r:id="rId33"/>
    <p:sldId id="341" r:id="rId34"/>
    <p:sldId id="323" r:id="rId35"/>
    <p:sldId id="295" r:id="rId36"/>
    <p:sldId id="296" r:id="rId37"/>
    <p:sldId id="297" r:id="rId38"/>
    <p:sldId id="298" r:id="rId39"/>
    <p:sldId id="299" r:id="rId40"/>
    <p:sldId id="300" r:id="rId41"/>
    <p:sldId id="336" r:id="rId42"/>
    <p:sldId id="337" r:id="rId43"/>
    <p:sldId id="338" r:id="rId44"/>
    <p:sldId id="339" r:id="rId45"/>
    <p:sldId id="340" r:id="rId46"/>
    <p:sldId id="307" r:id="rId47"/>
    <p:sldId id="334" r:id="rId48"/>
    <p:sldId id="347" r:id="rId49"/>
    <p:sldId id="308" r:id="rId50"/>
    <p:sldId id="348" r:id="rId51"/>
    <p:sldId id="309" r:id="rId52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5F5F5"/>
    <a:srgbClr val="C41F1F"/>
    <a:srgbClr val="C52727"/>
    <a:srgbClr val="CE6B6A"/>
    <a:srgbClr val="D8A8A6"/>
    <a:srgbClr val="B80102"/>
    <a:srgbClr val="ECECEC"/>
    <a:srgbClr val="7F7F7F"/>
    <a:srgbClr val="006A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772" autoAdjust="0"/>
    <p:restoredTop sz="95026" autoAdjust="0"/>
  </p:normalViewPr>
  <p:slideViewPr>
    <p:cSldViewPr snapToGrid="0">
      <p:cViewPr varScale="1">
        <p:scale>
          <a:sx n="151" d="100"/>
          <a:sy n="151" d="100"/>
        </p:scale>
        <p:origin x="186" y="3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出现频率(%)</c:v>
                </c:pt>
              </c:strCache>
            </c:strRef>
          </c:tx>
          <c:spPr>
            <a:solidFill>
              <a:srgbClr val="C00000"/>
            </a:solidFill>
          </c:spPr>
          <c:invertIfNegative val="0"/>
          <c:cat>
            <c:strRef>
              <c:f>Sheet1!$A$2:$A$13</c:f>
              <c:strCache>
                <c:ptCount val="12"/>
                <c:pt idx="0">
                  <c:v>E</c:v>
                </c:pt>
                <c:pt idx="1">
                  <c:v>T</c:v>
                </c:pt>
                <c:pt idx="2">
                  <c:v>A</c:v>
                </c:pt>
                <c:pt idx="3">
                  <c:v>O</c:v>
                </c:pt>
                <c:pt idx="4">
                  <c:v>I</c:v>
                </c:pt>
                <c:pt idx="5">
                  <c:v>N</c:v>
                </c:pt>
                <c:pt idx="6">
                  <c:v>S</c:v>
                </c:pt>
                <c:pt idx="7">
                  <c:v>H</c:v>
                </c:pt>
                <c:pt idx="8">
                  <c:v>R</c:v>
                </c:pt>
                <c:pt idx="9">
                  <c:v>D</c:v>
                </c:pt>
                <c:pt idx="10">
                  <c:v>L</c:v>
                </c:pt>
                <c:pt idx="11">
                  <c:v>U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12.7</c:v>
                </c:pt>
                <c:pt idx="1">
                  <c:v>9.1</c:v>
                </c:pt>
                <c:pt idx="2">
                  <c:v>8.1999999999999993</c:v>
                </c:pt>
                <c:pt idx="3">
                  <c:v>7.5</c:v>
                </c:pt>
                <c:pt idx="4">
                  <c:v>7</c:v>
                </c:pt>
                <c:pt idx="5">
                  <c:v>6.7</c:v>
                </c:pt>
                <c:pt idx="6">
                  <c:v>6.3</c:v>
                </c:pt>
                <c:pt idx="7">
                  <c:v>6.1</c:v>
                </c:pt>
                <c:pt idx="8">
                  <c:v>6</c:v>
                </c:pt>
                <c:pt idx="9">
                  <c:v>4.3</c:v>
                </c:pt>
                <c:pt idx="10">
                  <c:v>4</c:v>
                </c:pt>
                <c:pt idx="11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364-4A4F-A01F-0AEE5DE14E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4d83dfdf-4c83-4364-85a7-203a94dc707a}"/>
      </c:ext>
    </c:extLst>
  </c:chart>
  <c:txPr>
    <a:bodyPr/>
    <a:lstStyle/>
    <a:p>
      <a:pPr>
        <a:defRPr lang="zh-CN" sz="1800"/>
      </a:pPr>
      <a:endParaRPr lang="zh-CN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9B1AB-4C61-4EAA-B981-DC4B0504F26F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1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06D625-A1DC-4EBB-A646-079D2450DB9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开场：本课程不讲泛泛的网络安全概论，而是回答一个问题——网络信任靠什么建立？答案是密码学。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6D625-A1DC-4EBB-A646-079D2450DB9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调节节奏的趣例页：左为漫画情节，右为小人—字母对照表。点明"单表代换 + 频率分析"与前文呼应，可留 1 分钟讨论。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与上一页趣例成对：代换 vs 置换。可让学生讨论"如果缴获了羊皮纸但没有棍子，能怎么办"（试不同粗细≈穷举）。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表 1.1 要求记住；负数取模提前排雷。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带学生逐列算前三个字母；右卡现场跟算两列，保持动手率。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三步法是后面所有手工计算的模板，本页反复强调。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确立"密钥空间太小→穷举"范式；与下页"大也不安全"对照。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26! 的量级用"1270 万年"具象化；设问制造转折。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难点页。一句话区分两条攻击路线；结论句要求复述。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用已有示例当场数频率，缺陷不講自明。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合并页：左讲思想、右演示例。先带学生看密钥流如何循环，再逐列算两列；定义留到下页形式化。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与移位密码对比讲，降低认知负担。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骨架表让学生当堂填密文行；答案 MVWZXMQVYZLW。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骨架表让学生当堂填密文行；答案 MVWZXMQVYZLW。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神话破灭页；把教训连接到现代流密码设计思想。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小例子讲透双射与逆；挂勾习题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难点页：口诀化表述 + 示例逐步演示。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两个迷你示例让区别可感。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比较表 + 快答收束古典部分；课间休息在此页后。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06D625-A1DC-4EBB-A646-079D2450DB9A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两栏对照收束与开启；强调"可定义、可分析、可证明"。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总览页先给地图；卡片补算法行，信息密度提高。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两栏对照 + 一句话区别；补分组/序列密码注脚。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口诀务必记牢；数字签名法补充现实意义。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概念图只讲思想不展开数学；回扣密钥生命周期主线。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用"一百万年"问题推动安全观转变；三卡片各带一个定位标签。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异或小例让信息论直觉落地；困难处回扣密钥主线。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三判据 + 量子注脚，体现"动态安全观"。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三步流程是骨架；强调归约的边界，防止过度承诺。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演进链 + 时代芯片双行对照；一句话总结供学生记忆。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首尾呼应是本课设计感的落点；次序芯片补工程直觉。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首尾呼应是本课设计感的落点；次序芯片补工程直觉。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五条结论逐条带读；作业分类布置并提示复习路径。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五条结论逐条带读；作业分类布置并提示复习路径。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结束页以密钥四环节收尾，呼应全课主线。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78" y="1122388"/>
            <a:ext cx="9144470" cy="238765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78" y="3602118"/>
            <a:ext cx="9144470" cy="165579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-25401304" y="-25400558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>
            <p:custDataLst>
              <p:tags r:id="rId4"/>
            </p:custDataLst>
          </p:nvPr>
        </p:nvSpPr>
        <p:spPr>
          <a:xfrm>
            <a:off x="37593930" y="32258709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7" name="组合 86"/>
          <p:cNvGrpSpPr/>
          <p:nvPr userDrawn="1"/>
        </p:nvGrpSpPr>
        <p:grpSpPr>
          <a:xfrm>
            <a:off x="0" y="6385712"/>
            <a:ext cx="12192000" cy="508075"/>
            <a:chOff x="0" y="12669"/>
            <a:chExt cx="17007" cy="1008"/>
          </a:xfrm>
        </p:grpSpPr>
        <p:grpSp>
          <p:nvGrpSpPr>
            <p:cNvPr id="85" name="组合 84"/>
            <p:cNvGrpSpPr/>
            <p:nvPr userDrawn="1"/>
          </p:nvGrpSpPr>
          <p:grpSpPr>
            <a:xfrm>
              <a:off x="0" y="13021"/>
              <a:ext cx="15152" cy="585"/>
              <a:chOff x="0" y="13021"/>
              <a:chExt cx="15152" cy="585"/>
            </a:xfrm>
          </p:grpSpPr>
          <p:sp>
            <p:nvSpPr>
              <p:cNvPr id="45" name="矩形 44"/>
              <p:cNvSpPr/>
              <p:nvPr userDrawn="1"/>
            </p:nvSpPr>
            <p:spPr>
              <a:xfrm>
                <a:off x="0" y="13426"/>
                <a:ext cx="3726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1" name="矩形 50"/>
              <p:cNvSpPr/>
              <p:nvPr userDrawn="1"/>
            </p:nvSpPr>
            <p:spPr>
              <a:xfrm>
                <a:off x="0" y="13201"/>
                <a:ext cx="376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57" name="矩形 56"/>
              <p:cNvSpPr/>
              <p:nvPr userDrawn="1"/>
            </p:nvSpPr>
            <p:spPr>
              <a:xfrm>
                <a:off x="0" y="13021"/>
                <a:ext cx="3788" cy="11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2" name="矩形 61"/>
              <p:cNvSpPr/>
              <p:nvPr userDrawn="1"/>
            </p:nvSpPr>
            <p:spPr>
              <a:xfrm>
                <a:off x="0" y="13313"/>
                <a:ext cx="3747" cy="4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67" name="矩形 66"/>
              <p:cNvSpPr/>
              <p:nvPr userDrawn="1"/>
            </p:nvSpPr>
            <p:spPr>
              <a:xfrm>
                <a:off x="0" y="13538"/>
                <a:ext cx="3704" cy="6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grpSp>
            <p:nvGrpSpPr>
              <p:cNvPr id="81" name="组合 80"/>
              <p:cNvGrpSpPr/>
              <p:nvPr userDrawn="1"/>
            </p:nvGrpSpPr>
            <p:grpSpPr>
              <a:xfrm>
                <a:off x="3704" y="13021"/>
                <a:ext cx="3872" cy="585"/>
                <a:chOff x="3704" y="13021"/>
                <a:chExt cx="3872" cy="585"/>
              </a:xfrm>
            </p:grpSpPr>
            <p:sp>
              <p:nvSpPr>
                <p:cNvPr id="46" name="矩形 45"/>
                <p:cNvSpPr/>
                <p:nvPr userDrawn="1"/>
              </p:nvSpPr>
              <p:spPr>
                <a:xfrm>
                  <a:off x="3726" y="13426"/>
                  <a:ext cx="3726" cy="43"/>
                </a:xfrm>
                <a:prstGeom prst="rect">
                  <a:avLst/>
                </a:prstGeom>
                <a:solidFill>
                  <a:schemeClr val="accent1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2" name="矩形 51"/>
                <p:cNvSpPr/>
                <p:nvPr userDrawn="1"/>
              </p:nvSpPr>
              <p:spPr>
                <a:xfrm>
                  <a:off x="3768" y="13201"/>
                  <a:ext cx="376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8" name="矩形 57"/>
                <p:cNvSpPr/>
                <p:nvPr userDrawn="1"/>
              </p:nvSpPr>
              <p:spPr>
                <a:xfrm>
                  <a:off x="3788" y="13021"/>
                  <a:ext cx="3788" cy="110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3" name="矩形 62"/>
                <p:cNvSpPr/>
                <p:nvPr userDrawn="1"/>
              </p:nvSpPr>
              <p:spPr>
                <a:xfrm>
                  <a:off x="3747" y="13313"/>
                  <a:ext cx="3747" cy="43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8" name="矩形 67"/>
                <p:cNvSpPr/>
                <p:nvPr userDrawn="1"/>
              </p:nvSpPr>
              <p:spPr>
                <a:xfrm>
                  <a:off x="3704" y="13538"/>
                  <a:ext cx="3704" cy="68"/>
                </a:xfrm>
                <a:prstGeom prst="rect">
                  <a:avLst/>
                </a:prstGeom>
                <a:solidFill>
                  <a:srgbClr val="D8A8A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2" name="组合 81"/>
              <p:cNvGrpSpPr/>
              <p:nvPr userDrawn="1"/>
            </p:nvGrpSpPr>
            <p:grpSpPr>
              <a:xfrm>
                <a:off x="7408" y="13021"/>
                <a:ext cx="3956" cy="585"/>
                <a:chOff x="7408" y="13021"/>
                <a:chExt cx="3956" cy="585"/>
              </a:xfrm>
            </p:grpSpPr>
            <p:sp>
              <p:nvSpPr>
                <p:cNvPr id="47" name="矩形 46"/>
                <p:cNvSpPr/>
                <p:nvPr userDrawn="1"/>
              </p:nvSpPr>
              <p:spPr>
                <a:xfrm>
                  <a:off x="7452" y="13426"/>
                  <a:ext cx="3726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3" name="矩形 52"/>
                <p:cNvSpPr/>
                <p:nvPr userDrawn="1"/>
              </p:nvSpPr>
              <p:spPr>
                <a:xfrm>
                  <a:off x="7535" y="13201"/>
                  <a:ext cx="376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9" name="矩形 58"/>
                <p:cNvSpPr/>
                <p:nvPr userDrawn="1"/>
              </p:nvSpPr>
              <p:spPr>
                <a:xfrm>
                  <a:off x="7576" y="13021"/>
                  <a:ext cx="3788" cy="110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4" name="矩形 63"/>
                <p:cNvSpPr/>
                <p:nvPr userDrawn="1"/>
              </p:nvSpPr>
              <p:spPr>
                <a:xfrm>
                  <a:off x="7493" y="13313"/>
                  <a:ext cx="3747" cy="43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9" name="矩形 68"/>
                <p:cNvSpPr/>
                <p:nvPr userDrawn="1"/>
              </p:nvSpPr>
              <p:spPr>
                <a:xfrm>
                  <a:off x="7408" y="13538"/>
                  <a:ext cx="3704" cy="68"/>
                </a:xfrm>
                <a:prstGeom prst="rect">
                  <a:avLst/>
                </a:prstGeom>
                <a:solidFill>
                  <a:srgbClr val="CE6B6A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  <p:grpSp>
            <p:nvGrpSpPr>
              <p:cNvPr id="83" name="组合 82"/>
              <p:cNvGrpSpPr/>
              <p:nvPr userDrawn="1"/>
            </p:nvGrpSpPr>
            <p:grpSpPr>
              <a:xfrm>
                <a:off x="11112" y="13021"/>
                <a:ext cx="4040" cy="585"/>
                <a:chOff x="11112" y="13021"/>
                <a:chExt cx="4040" cy="585"/>
              </a:xfrm>
            </p:grpSpPr>
            <p:sp>
              <p:nvSpPr>
                <p:cNvPr id="48" name="矩形 47"/>
                <p:cNvSpPr/>
                <p:nvPr userDrawn="1"/>
              </p:nvSpPr>
              <p:spPr>
                <a:xfrm>
                  <a:off x="11178" y="13426"/>
                  <a:ext cx="3726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54" name="矩形 53"/>
                <p:cNvSpPr/>
                <p:nvPr userDrawn="1"/>
              </p:nvSpPr>
              <p:spPr>
                <a:xfrm>
                  <a:off x="11303" y="13201"/>
                  <a:ext cx="376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0" name="矩形 59"/>
                <p:cNvSpPr/>
                <p:nvPr userDrawn="1"/>
              </p:nvSpPr>
              <p:spPr>
                <a:xfrm>
                  <a:off x="11364" y="13021"/>
                  <a:ext cx="3788" cy="110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65" name="矩形 64"/>
                <p:cNvSpPr/>
                <p:nvPr userDrawn="1"/>
              </p:nvSpPr>
              <p:spPr>
                <a:xfrm>
                  <a:off x="11240" y="13313"/>
                  <a:ext cx="3747" cy="43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  <p:sp>
              <p:nvSpPr>
                <p:cNvPr id="70" name="矩形 69"/>
                <p:cNvSpPr/>
                <p:nvPr userDrawn="1"/>
              </p:nvSpPr>
              <p:spPr>
                <a:xfrm>
                  <a:off x="11112" y="13538"/>
                  <a:ext cx="3704" cy="68"/>
                </a:xfrm>
                <a:prstGeom prst="rect">
                  <a:avLst/>
                </a:prstGeom>
                <a:solidFill>
                  <a:srgbClr val="C5272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525"/>
                </a:p>
              </p:txBody>
            </p:sp>
          </p:grpSp>
        </p:grpSp>
        <p:grpSp>
          <p:nvGrpSpPr>
            <p:cNvPr id="84" name="组合 83"/>
            <p:cNvGrpSpPr/>
            <p:nvPr userDrawn="1"/>
          </p:nvGrpSpPr>
          <p:grpSpPr>
            <a:xfrm>
              <a:off x="16123" y="13081"/>
              <a:ext cx="884" cy="518"/>
              <a:chOff x="16123" y="13021"/>
              <a:chExt cx="884" cy="518"/>
            </a:xfrm>
          </p:grpSpPr>
          <p:sp>
            <p:nvSpPr>
              <p:cNvPr id="72" name="矩形 71"/>
              <p:cNvSpPr/>
              <p:nvPr userDrawn="1"/>
            </p:nvSpPr>
            <p:spPr>
              <a:xfrm>
                <a:off x="16123" y="13379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3" name="矩形 72"/>
              <p:cNvSpPr/>
              <p:nvPr userDrawn="1"/>
            </p:nvSpPr>
            <p:spPr>
              <a:xfrm>
                <a:off x="16123" y="13021"/>
                <a:ext cx="884" cy="9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4" name="矩形 73"/>
              <p:cNvSpPr/>
              <p:nvPr userDrawn="1"/>
            </p:nvSpPr>
            <p:spPr>
              <a:xfrm>
                <a:off x="16123" y="131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5" name="矩形 74"/>
              <p:cNvSpPr/>
              <p:nvPr userDrawn="1"/>
            </p:nvSpPr>
            <p:spPr>
              <a:xfrm>
                <a:off x="16123" y="13280"/>
                <a:ext cx="884" cy="38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  <p:sp>
            <p:nvSpPr>
              <p:cNvPr id="76" name="矩形 75"/>
              <p:cNvSpPr/>
              <p:nvPr userDrawn="1"/>
            </p:nvSpPr>
            <p:spPr>
              <a:xfrm>
                <a:off x="16123" y="13479"/>
                <a:ext cx="884" cy="6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525"/>
              </a:p>
            </p:txBody>
          </p:sp>
        </p:grpSp>
        <p:pic>
          <p:nvPicPr>
            <p:cNvPr id="86" name="图片 85" descr="ChatGPT Image 2026年9月7日 11_42_32"/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14612" y="12669"/>
              <a:ext cx="1682" cy="1009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ct val="150000"/>
        </a:spcBef>
        <a:buFont typeface="Arial" panose="020B060402020209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ct val="75000"/>
        </a:spcBef>
        <a:buFont typeface="Arial" panose="020B060402020209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103120"/>
            <a:ext cx="9445752" cy="615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i="0">
                <a:solidFill>
                  <a:srgbClr val="333333"/>
                </a:solidFill>
                <a:latin typeface="微软雅黑"/>
                <a:ea typeface="微软雅黑"/>
              </a:rPr>
              <a:t>密码与网络安全引论</a:t>
            </a:r>
            <a:endParaRPr sz="40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4023360" y="3291840"/>
            <a:ext cx="414223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454146" y="5067935"/>
            <a:ext cx="5280659" cy="457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1" i="0">
                <a:solidFill>
                  <a:srgbClr val="333333"/>
                </a:solidFill>
                <a:latin typeface="微软雅黑"/>
                <a:ea typeface="微软雅黑"/>
              </a:rPr>
              <a:t>第二讲</a:t>
            </a:r>
            <a:r>
              <a:rPr sz="1400" b="1" i="0">
                <a:solidFill>
                  <a:srgbClr val="333333"/>
                </a:solidFill>
                <a:latin typeface="微软雅黑"/>
                <a:ea typeface="微软雅黑"/>
              </a:rPr>
              <a:t> · 从古典密码走向现代密码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062476" y="370903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华东师范大学软件工程学院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062476" y="44030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主讲人</a:t>
            </a:r>
            <a:r>
              <a:rPr lang="en-US" altLang="zh-CN"/>
              <a:t>：</a:t>
            </a:r>
            <a:r>
              <a:rPr lang="zh-CN" altLang="en-US"/>
              <a:t>张磊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1554480"/>
            <a:ext cx="731520" cy="12357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3600" b="0" i="0">
                <a:solidFill>
                  <a:srgbClr val="808080"/>
                </a:solidFill>
                <a:latin typeface="微软雅黑"/>
                <a:ea typeface="微软雅黑"/>
              </a:rPr>
              <a:t>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808080"/>
                </a:solidFill>
                <a:latin typeface="微软雅黑"/>
                <a:ea typeface="微软雅黑"/>
              </a:rPr>
              <a:t>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2880360" y="868680"/>
            <a:ext cx="128016" cy="5120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19600" y="1890967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 anchorCtr="0"/>
          <a:lstStyle/>
          <a:p>
            <a:pPr algn="ctr"/>
            <a:endParaRPr sz="2400"/>
          </a:p>
        </p:txBody>
      </p:sp>
      <p:sp>
        <p:nvSpPr>
          <p:cNvPr id="16" name="TextBox 15"/>
          <p:cNvSpPr txBox="1"/>
          <p:nvPr/>
        </p:nvSpPr>
        <p:spPr>
          <a:xfrm>
            <a:off x="5105400" y="1774825"/>
            <a:ext cx="5120640" cy="57975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6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古典密码学</a:t>
            </a:r>
          </a:p>
        </p:txBody>
      </p:sp>
      <p:sp>
        <p:nvSpPr>
          <p:cNvPr id="4" name="Rectangle 3"/>
          <p:cNvSpPr/>
          <p:nvPr/>
        </p:nvSpPr>
        <p:spPr>
          <a:xfrm>
            <a:off x="4419600" y="3146044"/>
            <a:ext cx="347472" cy="34747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5105400" y="3036570"/>
            <a:ext cx="5120640" cy="5664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36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82235" y="2665199"/>
            <a:ext cx="4826761" cy="764195"/>
            <a:chOff x="3147" y="6401"/>
            <a:chExt cx="6733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4901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古典</a:t>
              </a:r>
              <a:r>
                <a:rPr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密码学</a:t>
              </a:r>
              <a:endParaRPr lang="zh-CN" sz="4965" b="1">
                <a:solidFill>
                  <a:srgbClr val="333333"/>
                </a:solidFill>
                <a:latin typeface="微软雅黑"/>
                <a:ea typeface="微软雅黑"/>
                <a:sym typeface="+mn-ea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 dirty="0">
                  <a:solidFill>
                    <a:prstClr val="white"/>
                  </a:solidFill>
                  <a:latin typeface="+mj-ea"/>
                  <a:ea typeface="+mj-ea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e4309959-d1f4-4416-93cb-80fbe2f4a624-1788837950236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16355"/>
            <a:ext cx="3114040" cy="4352925"/>
          </a:xfrm>
          <a:prstGeom prst="rect">
            <a:avLst/>
          </a:prstGeom>
        </p:spPr>
      </p:pic>
      <p:pic>
        <p:nvPicPr>
          <p:cNvPr id="7" name="Picture 6" descr="be39e025-709e-4601-bf7d-63629881d111-1788837952893_image.png"/>
          <p:cNvPicPr>
            <a:picLocks noChangeAspect="1"/>
          </p:cNvPicPr>
          <p:nvPr/>
        </p:nvPicPr>
        <p:blipFill rotWithShape="1">
          <a:blip r:embed="rId4"/>
          <a:srcRect t="7712" b="29486"/>
          <a:stretch/>
        </p:blipFill>
        <p:spPr>
          <a:xfrm>
            <a:off x="4160520" y="1311910"/>
            <a:ext cx="7223760" cy="12255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173730"/>
            <a:ext cx="7360920" cy="21310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小人身后的密码学</a:t>
            </a:r>
            <a:endParaRPr sz="2000" b="1" i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柯南·道尔笔下的"跳舞小人"密码，本质是单表代换密码：每个小人对应一个字母（见上方对照表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）；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福尔摩斯的破法正是频率分析：先猜出现最多的小人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=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E，再借助词形（举旗小人标示词尾）逐字突破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思考：这套"看起来神秘"的密码，为何在频率分析面前不堪一击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737225"/>
            <a:ext cx="10789920" cy="68199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文学中的密码学：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古典密码不只是教材里的公式，也曾真实地出现在侦探小说与历史通信中——理解它，就理解了代换与频率分析的攻防。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cxnSp>
        <p:nvCxnSpPr>
          <p:cNvPr id="1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2"/>
          <p:cNvSpPr txBox="1"/>
          <p:nvPr/>
        </p:nvSpPr>
        <p:spPr>
          <a:xfrm>
            <a:off x="502920" y="830580"/>
            <a:ext cx="5575935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福尔摩斯·跳舞的小人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斯巴达的隐秘信息——Scytale 棍子加密</a:t>
            </a:r>
          </a:p>
        </p:txBody>
      </p:sp>
      <p:pic>
        <p:nvPicPr>
          <p:cNvPr id="6" name="Picture 5" descr="a2be3a9d-8492-4a45-8a52-e0384eb05548-1788838995839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976630"/>
            <a:ext cx="5120640" cy="31835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234440"/>
            <a:ext cx="5189220" cy="32975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一根木棍里的密码学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斯巴达军队把羊皮纸螺旋缠绕在固定粗细的木棍上，沿棍身方向写下军令；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取下羊皮纸后，字母顺序错乱、看似天书——只有用同样粗细的木棍重新缠绕才能读出；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本质是置换密码：字母本身不变，变的只是位置；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木棍的粗细就是密钥——一把"物理形态"的钥匙。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字母不变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7556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位置重排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9600" y="4709160"/>
            <a:ext cx="161544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棍径 = 密钥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4457700"/>
            <a:ext cx="512064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安全性点评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密钥空间极小（棍子粗细），且密文保留全部字母——难挡分析；价值在于早期的物理密钥思想。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28665"/>
            <a:ext cx="11018520" cy="56705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两页趣例收束古典密码学：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跳舞的小人 = 代换，Scytale = 置换——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古典密码主要建立在代换和置换两类基本操作之上。</a:t>
            </a:r>
          </a:p>
        </p:txBody>
      </p:sp>
      <p:cxnSp>
        <p:nvCxnSpPr>
          <p:cNvPr id="15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移位密码</a:t>
            </a:r>
            <a:r>
              <a:rPr lang="en-US" alt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1.2.1</a:t>
            </a:r>
          </a:p>
        </p:txBody>
      </p:sp>
      <p:sp>
        <p:nvSpPr>
          <p:cNvPr id="12" name="TextBox 7"/>
          <p:cNvSpPr txBox="1"/>
          <p:nvPr/>
        </p:nvSpPr>
        <p:spPr>
          <a:xfrm>
            <a:off x="704850" y="2314575"/>
            <a:ext cx="10867390" cy="398716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sz="24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同余具有以下基本性质（教材原文</a:t>
            </a:r>
            <a:r>
              <a:rPr sz="2400" b="1" i="0" dirty="0">
                <a:solidFill>
                  <a:srgbClr val="C00000"/>
                </a:solidFill>
                <a:latin typeface="微软雅黑"/>
                <a:ea typeface="微软雅黑"/>
              </a:rPr>
              <a:t>）：</a:t>
            </a:r>
          </a:p>
          <a:p>
            <a:pPr marL="285750" indent="-28575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自反性。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对于任意整数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和正整数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m，a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≡ a (mod m)，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即每个整数都与自身在模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对称性。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≡ b (mod m)，则 b ≡ a (mod m)，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即如果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和 b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b 和 a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下也同余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传递性。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≡ b (mod m) 且 b ≡ c (mod m)，则 a ≡ c (mod m)，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即如果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和 b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下同余，并且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b 和 c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和 c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下也同余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加法性质。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≡ b (mod m) 和 c ≡ d (mod m)，则 (a + c) ≡ (b + d) (mod m)，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即如果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和 b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下同余，并且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c 和 d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+ c 和 b + d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下也同余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1" i="0" dirty="0" err="1">
                <a:solidFill>
                  <a:srgbClr val="C00000"/>
                </a:solidFill>
                <a:latin typeface="微软雅黑"/>
                <a:ea typeface="微软雅黑"/>
              </a:rPr>
              <a:t>乘法性质。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若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≡ b (mod m)，c ≡ d (mod m)，则 a × c ≡ b × d (mod m)，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即若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和 b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下同余，并且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c 和 d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下同余，则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a × c 和 b × d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在模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m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下也同余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3" name="Rectangle 6"/>
          <p:cNvSpPr/>
          <p:nvPr/>
        </p:nvSpPr>
        <p:spPr>
          <a:xfrm>
            <a:off x="730885" y="1353820"/>
            <a:ext cx="10790555" cy="76009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模运算：a mod m 表示 a 除以 m 的余数；模同余：a ≡ b (mod m) 当且仅当 a mod m = b mod m。</a:t>
            </a:r>
            <a:endParaRPr sz="2000" b="0" i="0">
              <a:solidFill>
                <a:srgbClr val="40404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乘法逆元——定义与性质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88709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定义：设 a ∈ Z</a:t>
            </a:r>
            <a:r>
              <a:rPr lang="zh-CN"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m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。若存在 a′ ∈ Z</a:t>
            </a:r>
            <a:r>
              <a:rPr lang="zh-CN"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m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使得 aa′ ≡ 1 (mod m)，则称 a 模 m 可逆，a′ 称为 a 模 m 的乘法逆元（逆元），记作 a⁻¹ mod m；当 m 由上下文确定时，简记为 a⁻¹。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2427800"/>
            <a:ext cx="10789920" cy="33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性质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可逆判据：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a 模 m 可逆，当且仅当 gcd(a, m) = 1；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素数情形：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如果 p 是素数，则 Z</a:t>
            </a:r>
            <a:r>
              <a:rPr lang="zh-CN"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p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上任何非零元素都有乘法逆元；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同余求解：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如果 gcd(a, m) = 1，则同余方程 ax ≡ b (mod m) 在</a:t>
            </a:r>
            <a:r>
              <a:rPr lang="zh-CN" alt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Z</a:t>
            </a:r>
            <a:r>
              <a:rPr lang="zh-CN" altLang="zh-CN"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m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中有唯一解 x = (a⁻¹b) mod m。</a:t>
            </a:r>
          </a:p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为什么重要</a:t>
            </a:r>
            <a:r>
              <a:rPr lang="en-US" alt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?</a:t>
            </a:r>
            <a:endParaRPr lang="zh-CN" sz="2000" b="1" i="0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示例：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3 × 9 = 27 ≡ 1 (mod 26)，故 3⁻¹ mod 26 = 9；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 dirty="0">
                <a:solidFill>
                  <a:srgbClr val="C00000"/>
                </a:solidFill>
                <a:latin typeface="微软雅黑"/>
                <a:ea typeface="微软雅黑"/>
              </a:rPr>
              <a:t>用途：</a:t>
            </a:r>
            <a:r>
              <a:rPr lang="zh-CN"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乘法逆元是仿射密码解密与 RSA 等公钥密码的数学基础。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凯撒密码的故事——将军手中的密信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186815"/>
            <a:ext cx="10790555" cy="6172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两千多年前，盖乌斯·尤利乌斯·凯撒用"移位字母表"保护军事通信——这是西方有明确记载的最早密码实践之一。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1891030"/>
            <a:ext cx="7825740" cy="46913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 dirty="0">
                <a:solidFill>
                  <a:srgbClr val="C00000"/>
                </a:solidFill>
                <a:latin typeface="微软雅黑"/>
                <a:ea typeface="微软雅黑"/>
              </a:rPr>
              <a:t>将军的密信</a:t>
            </a:r>
          </a:p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 dirty="0">
                <a:solidFill>
                  <a:srgbClr val="C00000"/>
                </a:solidFill>
                <a:latin typeface="微软雅黑"/>
                <a:ea typeface="微软雅黑"/>
              </a:rPr>
              <a:t>战报：</a:t>
            </a:r>
            <a:r>
              <a:rPr lang="zh-CN" b="0" i="0" dirty="0">
                <a:solidFill>
                  <a:srgbClr val="404040"/>
                </a:solidFill>
                <a:latin typeface="微软雅黑"/>
                <a:ea typeface="微软雅黑"/>
              </a:rPr>
              <a:t>高卢战争（前 58—前 50 年）中，凯撒的军令常需穿越敌区；信使可能被截获时，他便以移位后的字母书写；</a:t>
            </a:r>
          </a:p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 dirty="0">
                <a:solidFill>
                  <a:srgbClr val="C00000"/>
                </a:solidFill>
                <a:latin typeface="微软雅黑"/>
                <a:ea typeface="微软雅黑"/>
              </a:rPr>
              <a:t>密钥：</a:t>
            </a:r>
            <a:r>
              <a:rPr lang="zh-CN" b="0" i="0" dirty="0">
                <a:solidFill>
                  <a:srgbClr val="404040"/>
                </a:solidFill>
                <a:latin typeface="微软雅黑"/>
                <a:ea typeface="微软雅黑"/>
              </a:rPr>
              <a:t>即使信件落入敌手，不知移位量便无从读起——移位量就是钥匙；</a:t>
            </a:r>
          </a:p>
          <a:p>
            <a:pPr indent="0" algn="just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 dirty="0">
                <a:solidFill>
                  <a:srgbClr val="C00000"/>
                </a:solidFill>
                <a:latin typeface="微软雅黑"/>
                <a:ea typeface="微软雅黑"/>
              </a:rPr>
              <a:t>史家的见证</a:t>
            </a:r>
          </a:p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 dirty="0">
                <a:solidFill>
                  <a:srgbClr val="C00000"/>
                </a:solidFill>
                <a:latin typeface="微软雅黑"/>
                <a:ea typeface="微软雅黑"/>
              </a:rPr>
              <a:t>苏埃托尼乌斯：</a:t>
            </a:r>
            <a:r>
              <a:rPr lang="zh-CN" b="0" i="0" dirty="0">
                <a:solidFill>
                  <a:srgbClr val="404040"/>
                </a:solidFill>
                <a:latin typeface="微软雅黑"/>
                <a:ea typeface="微软雅黑"/>
              </a:rPr>
              <a:t>《十二凯撒传》记载，凯撒若有密事相告，便以密码书写——以 D 代 A（即移位 3）；</a:t>
            </a:r>
          </a:p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 dirty="0">
                <a:solidFill>
                  <a:srgbClr val="C00000"/>
                </a:solidFill>
                <a:latin typeface="微软雅黑"/>
                <a:ea typeface="微软雅黑"/>
              </a:rPr>
              <a:t>奥古斯都：</a:t>
            </a:r>
            <a:r>
              <a:rPr lang="zh-CN" b="0" i="0" dirty="0">
                <a:solidFill>
                  <a:srgbClr val="404040"/>
                </a:solidFill>
                <a:latin typeface="微软雅黑"/>
                <a:ea typeface="微软雅黑"/>
              </a:rPr>
              <a:t>继任者奥古斯都改用移位 1（以 B 代 A），"移位量 = 密钥"的思路在皇室中延续；</a:t>
            </a:r>
          </a:p>
          <a:p>
            <a:pPr marL="285750" indent="-285750" algn="just" fontAlgn="auto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 dirty="0">
                <a:solidFill>
                  <a:srgbClr val="C00000"/>
                </a:solidFill>
                <a:latin typeface="微软雅黑"/>
                <a:ea typeface="微软雅黑"/>
              </a:rPr>
              <a:t>评价：</a:t>
            </a:r>
            <a:r>
              <a:rPr lang="zh-CN" b="0" i="0" dirty="0">
                <a:solidFill>
                  <a:srgbClr val="404040"/>
                </a:solidFill>
                <a:latin typeface="微软雅黑"/>
                <a:ea typeface="微软雅黑"/>
              </a:rPr>
              <a:t>这套密码在当时也并不安全，但"用密钥控制的映射隐藏信息"的思想，成为古典密码的起点。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8714740" y="2264410"/>
            <a:ext cx="2807335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微软雅黑"/>
                <a:ea typeface="微软雅黑"/>
              </a:rPr>
              <a:t>前 58 年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微软雅黑"/>
                <a:ea typeface="微软雅黑"/>
              </a:rPr>
              <a:t>高卢战争军令中首次使用</a:t>
            </a:r>
          </a:p>
        </p:txBody>
      </p:sp>
      <p:sp>
        <p:nvSpPr>
          <p:cNvPr id="2" name="Rectangle 21"/>
          <p:cNvSpPr/>
          <p:nvPr/>
        </p:nvSpPr>
        <p:spPr>
          <a:xfrm>
            <a:off x="8714105" y="3514725"/>
            <a:ext cx="2807970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微软雅黑"/>
                <a:ea typeface="微软雅黑"/>
              </a:rPr>
              <a:t>移位 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微软雅黑"/>
                <a:ea typeface="微软雅黑"/>
              </a:rPr>
              <a:t>苏埃托尼乌斯记载：以 D 代 A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714105" y="4764405"/>
            <a:ext cx="2807970" cy="10998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2800" b="1" i="0">
                <a:solidFill>
                  <a:srgbClr val="C00000"/>
                </a:solidFill>
                <a:latin typeface="微软雅黑"/>
                <a:ea typeface="微软雅黑"/>
              </a:rPr>
              <a:t>移位 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400" b="0" i="0">
                <a:solidFill>
                  <a:srgbClr val="404040"/>
                </a:solidFill>
                <a:latin typeface="微软雅黑"/>
                <a:ea typeface="微软雅黑"/>
              </a:rPr>
              <a:t>奥古斯都变体：以 B 代 A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239135"/>
          <a:ext cx="10789920" cy="16824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+3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1405890"/>
            <a:ext cx="6766560" cy="145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得名于古罗马凯撒大帝，曾用于军事与政治通信；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解密只需执行逆过程：减 3 模 26（验证：K→10−3=7→H）；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等价视角：把整张字母表循环右移 3 位后查表。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69365"/>
            <a:ext cx="3749039" cy="1828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课堂跟算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请算第 4、5 列：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L → 11+3=14 → O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O → 14+3=17 → 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58105"/>
            <a:ext cx="10789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微软雅黑"/>
                <a:ea typeface="微软雅黑"/>
              </a:rPr>
              <a:t>HELLOWORLD → KHOORZRUOG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943600"/>
            <a:ext cx="10789920" cy="384048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808080"/>
                </a:solidFill>
                <a:latin typeface="微软雅黑"/>
                <a:ea typeface="微软雅黑"/>
              </a:rPr>
              <a:t>移位密码 = 凯撒密码当 K=3 的特例命名；一般 K 仍称移位密码。</a:t>
            </a:r>
          </a:p>
        </p:txBody>
      </p: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移位密码</a:t>
            </a:r>
            <a:r>
              <a:rPr lang="en-US" alt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1.2.1——</a:t>
            </a:r>
            <a:r>
              <a:rPr lang="zh-CN" altLang="en-US" sz="2200" b="1" i="0">
                <a:solidFill>
                  <a:srgbClr val="333333"/>
                </a:solidFill>
                <a:latin typeface="微软雅黑"/>
                <a:ea typeface="微软雅黑"/>
              </a:rPr>
              <a:t>凯撒密码示例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altLang="zh-CN" sz="2200"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5"/>
              <p:cNvSpPr txBox="1"/>
              <p:nvPr/>
            </p:nvSpPr>
            <p:spPr>
              <a:xfrm>
                <a:off x="502920" y="836168"/>
                <a:ext cx="10789920" cy="307777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定义</a:t>
                </a:r>
                <a:r>
                  <a:rPr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 1.2　</a:t>
                </a: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移位密码（教材</a:t>
                </a:r>
                <a:r>
                  <a:rPr lang="zh-CN"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定义</a:t>
                </a:r>
                <a:r>
                  <a:rPr lang="en-US" altLang="zh-CN"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1.2</a:t>
                </a:r>
                <a:r>
                  <a:rPr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）：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</a:t>
                </a:r>
                <a:r>
                  <a:rPr lang="zh-CN" altLang="en-US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zh-CN" altLang="en-US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= Z</a:t>
                </a:r>
                <a:r>
                  <a:rPr sz="2000" b="0" i="0" baseline="-2500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，移位密码由如下算法组成。</a:t>
                </a:r>
              </a:p>
            </p:txBody>
          </p:sp>
        </mc:Choice>
        <mc:Fallback xmlns="">
          <p:sp>
            <p:nvSpPr>
              <p:cNvPr id="23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36168"/>
                <a:ext cx="10789920" cy="307777"/>
              </a:xfrm>
              <a:prstGeom prst="rect">
                <a:avLst/>
              </a:prstGeom>
              <a:blipFill>
                <a:blip r:embed="rId3"/>
                <a:stretch>
                  <a:fillRect l="-1469" t="-25490" b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6"/>
          <p:cNvSpPr/>
          <p:nvPr/>
        </p:nvSpPr>
        <p:spPr>
          <a:xfrm>
            <a:off x="731520" y="1359408"/>
            <a:ext cx="10789920" cy="56692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密钥生成算法。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选取密钥 K =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e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=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d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∈ Z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26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。该密钥用于确定移位的数量。</a:t>
            </a:r>
          </a:p>
        </p:txBody>
      </p:sp>
      <p:sp>
        <p:nvSpPr>
          <p:cNvPr id="25" name="Rectangle 7"/>
          <p:cNvSpPr/>
          <p:nvPr/>
        </p:nvSpPr>
        <p:spPr>
          <a:xfrm>
            <a:off x="731520" y="2157984"/>
            <a:ext cx="10789920" cy="713232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加密算法。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对于某个明文字母，首先将其按照表 1.1 转换成对应的整数 x，其次计算 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E</a:t>
            </a:r>
            <a:r>
              <a:rPr sz="2000" b="1" i="0" baseline="-25000">
                <a:solidFill>
                  <a:srgbClr val="333333"/>
                </a:solidFill>
                <a:latin typeface="微软雅黑"/>
                <a:ea typeface="微软雅黑"/>
              </a:rPr>
              <a:t>K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(x) = (x + K) mod 26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，最后将计算结果按照表 1.1 转换成密文字母。</a:t>
            </a:r>
          </a:p>
        </p:txBody>
      </p:sp>
      <p:sp>
        <p:nvSpPr>
          <p:cNvPr id="26" name="Rectangle 8"/>
          <p:cNvSpPr/>
          <p:nvPr/>
        </p:nvSpPr>
        <p:spPr>
          <a:xfrm>
            <a:off x="731520" y="3102864"/>
            <a:ext cx="10789920" cy="713232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解密算法。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对于某个密文字母，首先将其按照表 1.1 转换成整数 y，计算 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D</a:t>
            </a:r>
            <a:r>
              <a:rPr sz="2000" b="1" i="0" baseline="-25000">
                <a:solidFill>
                  <a:srgbClr val="333333"/>
                </a:solidFill>
                <a:latin typeface="微软雅黑"/>
                <a:ea typeface="微软雅黑"/>
              </a:rPr>
              <a:t>K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(y) = (y − K) mod 26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并将计算结果转换成对应的明文字母。</a:t>
            </a:r>
          </a:p>
        </p:txBody>
      </p:sp>
      <p:graphicFrame>
        <p:nvGraphicFramePr>
          <p:cNvPr id="27" name="Table 5"/>
          <p:cNvGraphicFramePr>
            <a:graphicFrameLocks noGrp="1"/>
          </p:cNvGraphicFramePr>
          <p:nvPr/>
        </p:nvGraphicFramePr>
        <p:xfrm>
          <a:off x="731520" y="4178935"/>
          <a:ext cx="73152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2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6270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6271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F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U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" name="Rectangle 6"/>
          <p:cNvSpPr/>
          <p:nvPr/>
        </p:nvSpPr>
        <p:spPr>
          <a:xfrm>
            <a:off x="8321040" y="4186555"/>
            <a:ext cx="3200400" cy="14630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算一算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37 mod 26 = 11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−3 mod 26 = 23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（负数：余数加 26）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移位密码例题——取 K = 11 加密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用移位密码加密明文 we will meet at midnight，取密钥 K = 11。加密逐字母进行：EK(x) = (x + 11) mod 26；单词间空格保留、不参与加密。</a:t>
            </a:r>
          </a:p>
        </p:txBody>
      </p:sp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1520" y="2150000"/>
          <a:ext cx="10789920" cy="14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11,11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3,13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8,6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+11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22,22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14,24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19,17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移位密码例题——取 K = 11 加密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用移位密码加密明文 we will meet at midnight，取密钥 K = 11。加密逐字母进行：EK(x) = (x + 11) mod 26；单词间空格保留、不参与加密。</a:t>
            </a:r>
          </a:p>
        </p:txBody>
      </p:sp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1520" y="2150000"/>
          <a:ext cx="10789920" cy="14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整数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11,11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12,4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12,8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3,13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8,6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+11 mod 26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22,22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23,15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23,19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14,24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19,17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18,3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WW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XP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OY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14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Box 8"/>
          <p:cNvSpPr txBox="1"/>
          <p:nvPr/>
        </p:nvSpPr>
        <p:spPr>
          <a:xfrm>
            <a:off x="731520" y="4050000"/>
            <a:ext cx="10789920" cy="14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1800" b="1" i="0">
                <a:solidFill>
                  <a:srgbClr val="C00000"/>
                </a:solidFill>
                <a:latin typeface="微软雅黑"/>
                <a:ea typeface="微软雅黑"/>
              </a:rPr>
              <a:t>逐列验证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1500" b="1" i="0">
                <a:solidFill>
                  <a:srgbClr val="C00000"/>
                </a:solidFill>
                <a:latin typeface="微软雅黑"/>
                <a:ea typeface="微软雅黑"/>
              </a:rPr>
              <a:t>首列：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w = 22 → (22+11) mod 26 = 7 → H；e = 4 → (4+11) mod 26 = 15 → P；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1500" b="1" i="0">
                <a:solidFill>
                  <a:srgbClr val="C00000"/>
                </a:solidFill>
                <a:latin typeface="微软雅黑"/>
                <a:ea typeface="微软雅黑"/>
              </a:rPr>
              <a:t>次列：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w = 22 → H；i = 8 → (8+11) mod 26 = 19 → T；其余各列同理。</a:t>
            </a:r>
          </a:p>
        </p:txBody>
      </p:sp>
      <p:sp>
        <p:nvSpPr>
          <p:cNvPr id="16" name="Rectangle 9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密文为：HP</a:t>
            </a:r>
            <a:r>
              <a:rPr lang="en-US" alt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HTWW</a:t>
            </a:r>
            <a:r>
              <a:rPr lang="en-US" alt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XPPE</a:t>
            </a:r>
            <a:r>
              <a:rPr lang="en-US" alt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 </a:t>
            </a:r>
            <a:r>
              <a:rPr 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LE XTOYTRSE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微软雅黑"/>
                <a:ea typeface="微软雅黑"/>
              </a:rPr>
              <a:t>26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种可能的密钥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微软雅黑"/>
                <a:ea typeface="微软雅黑"/>
              </a:rPr>
              <a:t>1 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穷举即可遍历密钥空间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34440"/>
            <a:ext cx="3474720" cy="13716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C00000"/>
                </a:solidFill>
                <a:latin typeface="微软雅黑"/>
                <a:ea typeface="微软雅黑"/>
              </a:rPr>
              <a:t>单表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代换保留语言统计特征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107899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穷举攻击四步：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截获密文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86150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逐一试密钥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0779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语言特征校验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5409" y="3246120"/>
            <a:ext cx="2526029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输出有意义明文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10789920" cy="1012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甚至不需要穷举：根据语言特征就能认出正确明文；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定位：今天主要作为教学工具，帮助理解加密思想。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29780" y="4139565"/>
            <a:ext cx="3966210" cy="7797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第一条攻击范式确立：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密钥空间太小 → 穷举可行。</a:t>
            </a:r>
          </a:p>
        </p:txBody>
      </p:sp>
      <p:sp>
        <p:nvSpPr>
          <p:cNvPr id="17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移位密码为什么不安全</a:t>
            </a:r>
            <a:r>
              <a:rPr lang="en-US" alt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？</a:t>
            </a:r>
          </a:p>
        </p:txBody>
      </p:sp>
      <p:cxnSp>
        <p:nvCxnSpPr>
          <p:cNvPr id="20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8"/>
          <p:cNvSpPr/>
          <p:nvPr/>
        </p:nvSpPr>
        <p:spPr>
          <a:xfrm>
            <a:off x="731520" y="5304790"/>
            <a:ext cx="10789920" cy="7797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密钥空间大就安全吗？</a:t>
            </a:r>
            <a:endParaRPr sz="2400" b="1" i="0">
              <a:solidFill>
                <a:srgbClr val="333333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穷举攻击例题——破译移位密文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截获移位密码密文：PHHW PH DIWHU WKH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SDUWB，在不知道密钥的情况下破译它。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25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种可能密钥，逐一试用</a:t>
            </a:r>
          </a:p>
        </p:txBody>
      </p:sp>
      <p:sp>
        <p:nvSpPr>
          <p:cNvPr id="2" name="Rectangle 21"/>
          <p:cNvSpPr/>
          <p:nvPr/>
        </p:nvSpPr>
        <p:spPr>
          <a:xfrm>
            <a:off x="442816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次尝试即命中正确密钥</a:t>
            </a:r>
            <a:endParaRPr lang="zh-CN" sz="1300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8124800" y="2100000"/>
            <a:ext cx="3396640" cy="12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轮语言特征校验即可确认</a:t>
            </a:r>
            <a:endParaRPr lang="zh-CN" sz="1300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15" name="TextBox 8"/>
          <p:cNvSpPr txBox="1"/>
          <p:nvPr/>
        </p:nvSpPr>
        <p:spPr>
          <a:xfrm>
            <a:off x="731520" y="3600000"/>
            <a:ext cx="10789920" cy="1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1800" b="1" i="0">
                <a:solidFill>
                  <a:srgbClr val="C00000"/>
                </a:solidFill>
                <a:latin typeface="微软雅黑"/>
                <a:ea typeface="微软雅黑"/>
              </a:rPr>
              <a:t>穷举过程（节选）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1500" b="1" i="0">
                <a:solidFill>
                  <a:srgbClr val="C00000"/>
                </a:solidFill>
                <a:latin typeface="微软雅黑"/>
                <a:ea typeface="微软雅黑"/>
              </a:rPr>
              <a:t>KEY 1：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OGGV OG CHVGT VJG</a:t>
            </a:r>
            <a:r>
              <a:rPr lang="en-US" alt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RCTVA —— 无意义；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1500" b="1" i="0">
                <a:solidFill>
                  <a:srgbClr val="C00000"/>
                </a:solidFill>
                <a:latin typeface="微软雅黑"/>
                <a:ea typeface="微软雅黑"/>
              </a:rPr>
              <a:t>KEY 2：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NFFU NF BGUFS UIF</a:t>
            </a:r>
            <a:r>
              <a:rPr lang="en-US" alt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QBSUZ —— 无意义；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1500" b="1" i="0">
                <a:solidFill>
                  <a:srgbClr val="C00000"/>
                </a:solidFill>
                <a:latin typeface="微软雅黑"/>
                <a:ea typeface="微软雅黑"/>
              </a:rPr>
              <a:t>KEY 3：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MEET ME AFTER THE</a:t>
            </a:r>
            <a:r>
              <a:rPr lang="en-US" alt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lang="zh-CN" sz="1500" b="0" i="0">
                <a:solidFill>
                  <a:srgbClr val="404040"/>
                </a:solidFill>
                <a:latin typeface="微软雅黑"/>
                <a:ea typeface="微软雅黑"/>
              </a:rPr>
              <a:t>PARTY —— 有意义的英文，命中！</a:t>
            </a:r>
          </a:p>
        </p:txBody>
      </p:sp>
      <p:sp>
        <p:nvSpPr>
          <p:cNvPr id="16" name="Rectangle 9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1" i="0">
                <a:solidFill>
                  <a:srgbClr val="C00000"/>
                </a:solidFill>
                <a:latin typeface="微软雅黑"/>
                <a:ea typeface="微软雅黑"/>
              </a:rPr>
              <a:t>密钥空间只有 25，手工几分钟即可试完——密钥空间太小是移位密码的致命伤。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363585" y="1156335"/>
            <a:ext cx="3157855" cy="1862455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3800" b="1" i="0">
                <a:solidFill>
                  <a:srgbClr val="FFFFFF"/>
                </a:solidFill>
                <a:latin typeface="微软雅黑"/>
                <a:ea typeface="微软雅黑"/>
              </a:rPr>
              <a:t>26!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微软雅黑"/>
                <a:ea typeface="微软雅黑"/>
              </a:rPr>
              <a:t>≈ 4×10²⁶ 种密钥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948430"/>
            <a:ext cx="11018520" cy="54292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感受量级：</a:t>
            </a: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即使每秒试 10¹² 个密钥，穷尽 26! 也需约 1270 万年——穷举攻击对此失效。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5"/>
              <p:cNvSpPr txBox="1"/>
              <p:nvPr/>
            </p:nvSpPr>
            <p:spPr>
              <a:xfrm>
                <a:off x="502920" y="810895"/>
                <a:ext cx="7360920" cy="308737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indent="0" algn="l"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None/>
                </a:pP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定义</a:t>
                </a:r>
                <a:r>
                  <a:rPr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 1.3　</a:t>
                </a: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代换密码（教材原文</a:t>
                </a:r>
                <a:r>
                  <a:rPr sz="20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）：</a:t>
                </a:r>
              </a:p>
              <a:p>
                <a:pPr marL="285750" indent="-285750"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令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为 26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个英文字母，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为集合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{0, 1, …, 25}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中所有可能的置换；代换密码由如下算法组成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：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密钥生成算法。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选取密钥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K =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K</a:t>
                </a:r>
                <a:r>
                  <a:rPr sz="2000" b="0" i="0" baseline="-2500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e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K</a:t>
                </a:r>
                <a:r>
                  <a:rPr sz="2000" b="0" i="0" baseline="-2500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d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∈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加密算法。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对于明文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x，计算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1" i="0" dirty="0">
                    <a:solidFill>
                      <a:srgbClr val="333333"/>
                    </a:solidFill>
                    <a:latin typeface="微软雅黑"/>
                    <a:ea typeface="微软雅黑"/>
                  </a:rPr>
                  <a:t>E(x) = K(x)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解密算法。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对于密文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y，计算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1" i="0" dirty="0">
                    <a:solidFill>
                      <a:srgbClr val="333333"/>
                    </a:solidFill>
                    <a:latin typeface="微软雅黑"/>
                    <a:ea typeface="微软雅黑"/>
                  </a:rPr>
                  <a:t>D(y) = K⁻¹(y)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这里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K⁻¹ 为 K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的逆置换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；</a:t>
                </a:r>
              </a:p>
              <a:p>
                <a:pPr marL="285750" indent="-285750" algn="l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charset="0"/>
                  <a:buChar char=""/>
                </a:pP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密钥空间为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26! ≈ 4×10²⁶，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能抵抗穷举攻击，但易被频率分析破解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</a:p>
            </p:txBody>
          </p:sp>
        </mc:Choice>
        <mc:Fallback xmlns="">
          <p:sp>
            <p:nvSpPr>
              <p:cNvPr id="17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10895"/>
                <a:ext cx="7360920" cy="3087370"/>
              </a:xfrm>
              <a:prstGeom prst="rect">
                <a:avLst/>
              </a:prstGeom>
              <a:blipFill>
                <a:blip r:embed="rId4"/>
                <a:stretch>
                  <a:fillRect l="-2154" t="-2569" r="-1243" b="-6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731520" y="4541520"/>
            <a:ext cx="10789920" cy="907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密钥 K：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A→Q  B→W  C→E  D→R  E→T  F→Y  G→U  H→I  I→O  J→P  K→A  L→S  M→D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N→F  O→G  P→H  Q→J  R→K  S→L  T→Z  U→X  V→C  W→V  X→B  Y→N  Z→M</a:t>
            </a:r>
          </a:p>
        </p:txBody>
      </p:sp>
      <p:graphicFrame>
        <p:nvGraphicFramePr>
          <p:cNvPr id="4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502920" y="5497830"/>
          <a:ext cx="11018520" cy="892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41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31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518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4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4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V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代换密码例题——用置换 π 加密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299845"/>
            <a:ext cx="10790555" cy="155321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indent="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用代换密码加密明文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we will meet at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midnight，密钥为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Z</a:t>
            </a:r>
            <a:r>
              <a:rPr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26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上的置换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π。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加密：逐字母查表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π；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解密：查逆置换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π⁻¹。</a:t>
            </a:r>
          </a:p>
        </p:txBody>
      </p:sp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0885" y="3087440"/>
          <a:ext cx="10789914" cy="682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π(x)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5" name="Table 7"/>
          <p:cNvGraphicFramePr>
            <a:graphicFrameLocks noGrp="1"/>
          </p:cNvGraphicFramePr>
          <p:nvPr/>
        </p:nvGraphicFramePr>
        <p:xfrm>
          <a:off x="730885" y="3767440"/>
          <a:ext cx="10789914" cy="682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74537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x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19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23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24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π(x)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21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Table 8"/>
          <p:cNvGraphicFramePr>
            <a:graphicFrameLocks noGrp="1"/>
          </p:cNvGraphicFramePr>
          <p:nvPr/>
        </p:nvGraphicFramePr>
        <p:xfrm>
          <a:off x="730885" y="462744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?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代换密码例题——用置换 π 加密</a:t>
            </a:r>
          </a:p>
        </p:txBody>
      </p:sp>
      <p:graphicFrame>
        <p:nvGraphicFramePr>
          <p:cNvPr id="16" name="Table 8"/>
          <p:cNvGraphicFramePr>
            <a:graphicFrameLocks noGrp="1"/>
          </p:cNvGraphicFramePr>
          <p:nvPr/>
        </p:nvGraphicFramePr>
        <p:xfrm>
          <a:off x="730885" y="351111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MI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DN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IG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BB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XM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TZ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ZO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GM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9"/>
          <p:cNvSpPr txBox="1"/>
          <p:nvPr/>
        </p:nvSpPr>
        <p:spPr>
          <a:xfrm>
            <a:off x="731520" y="4802895"/>
            <a:ext cx="1078992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查表示例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w = 22 → π(22) = 9 → K；e = 4 → π(4) = 7 → H；故 WE → KH，其余同理。</a:t>
            </a:r>
          </a:p>
        </p:txBody>
      </p:sp>
      <p:sp>
        <p:nvSpPr>
          <p:cNvPr id="18" name="Rectangle 10"/>
          <p:cNvSpPr/>
          <p:nvPr/>
        </p:nvSpPr>
        <p:spPr>
          <a:xfrm>
            <a:off x="730885" y="575000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密文为：KHKZ BBTH HMXM TZAS ZOGM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  <p:sp>
        <p:nvSpPr>
          <p:cNvPr id="3" name="Rectangle 5"/>
          <p:cNvSpPr/>
          <p:nvPr/>
        </p:nvSpPr>
        <p:spPr>
          <a:xfrm>
            <a:off x="730885" y="1299845"/>
            <a:ext cx="10790555" cy="155321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indent="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None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用代换密码加密明文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we will meet at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midnight，密钥为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Z</a:t>
            </a:r>
            <a:r>
              <a:rPr sz="2000" b="0" i="0" baseline="-25000" dirty="0">
                <a:solidFill>
                  <a:srgbClr val="404040"/>
                </a:solidFill>
                <a:latin typeface="微软雅黑"/>
                <a:ea typeface="微软雅黑"/>
              </a:rPr>
              <a:t>26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上的置换 π。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加密：逐字母查表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π；</a:t>
            </a:r>
          </a:p>
          <a:p>
            <a:pPr marL="285750" indent="-285750" algn="l"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解密：查逆置换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π⁻¹。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1344930"/>
            <a:ext cx="6766560" cy="24072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代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换密码能抵抗穷举：26! 种密钥试不完；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但单表代换只改符号、不改统计：高频字母、常见单词、重复结构原样保留；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频率分析：统计密文字母频率，对照自然语言频率即可逐步还原密钥。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542733"/>
            <a:ext cx="3749039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频率分析三步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① 统计密文字母频率；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② 对照自然语言频率；</a:t>
            </a:r>
          </a:p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③ 逐步还原代换表。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930015"/>
            <a:ext cx="10789920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结论：密钥空间大 ≠ 体制安全。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安全性取决于体制是否掩盖了可被利用的结构。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两条攻击路线对照：穷举密钥（比算力） vs 利用结构（比聪明）——古典密码两条都挡不住。</a:t>
            </a:r>
          </a:p>
        </p:txBody>
      </p:sp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密钥空间很大，为什么仍然不安全</a:t>
            </a:r>
            <a:r>
              <a:rPr lang="en-US"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？</a:t>
            </a:r>
            <a:endParaRPr lang="en-US" sz="2200" b="1" i="0">
              <a:solidFill>
                <a:srgbClr val="333333"/>
              </a:solidFill>
              <a:latin typeface="微软雅黑"/>
              <a:ea typeface="微软雅黑"/>
              <a:sym typeface="+mn-ea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2155" y="1296035"/>
            <a:ext cx="5618480" cy="1793875"/>
          </a:xfrm>
          <a:prstGeom prst="rect">
            <a:avLst/>
          </a:prstGeom>
          <a:noFill/>
        </p:spPr>
        <p:txBody>
          <a:bodyPr wrap="square" lIns="0" tIns="0" rIns="0" bIns="0" anchor="t" anchorCtr="0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同一个明文字母，永远被替换为同一个密文字母；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于是明文的频率分布被"原样复印"到密文上；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频率分析只需统计 + 对照，即可逐步还原代换表。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161665"/>
            <a:ext cx="5619750" cy="139001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现场观察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HELLOWORD</a:t>
            </a:r>
            <a:r>
              <a:rPr sz="2000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 ↔ 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ITSSGVGKSR 中：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S 出现 3 次 ↔ 明文 L 出现 3 次；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G 出现 2 次 ↔ 明文 O 出现 2 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2155" y="4682490"/>
            <a:ext cx="10789920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设问：</a:t>
            </a:r>
            <a:r>
              <a:rPr sz="2800" b="1" i="0">
                <a:solidFill>
                  <a:srgbClr val="333333"/>
                </a:solidFill>
                <a:latin typeface="微软雅黑"/>
                <a:ea typeface="微软雅黑"/>
              </a:rPr>
              <a:t>能否让同一个明文字母，在不同位置对应不同密文字母？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63626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缺陷根源：映射表只有一张。改进方向：多张表轮换——维吉尼亚密码登场。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单表代换的缺陷</a:t>
            </a:r>
          </a:p>
        </p:txBody>
      </p:sp>
      <p:graphicFrame>
        <p:nvGraphicFramePr>
          <p:cNvPr id="12" name="Chart 5"/>
          <p:cNvGraphicFramePr>
            <a:graphicFrameLocks noGrp="1"/>
          </p:cNvGraphicFramePr>
          <p:nvPr/>
        </p:nvGraphicFramePr>
        <p:xfrm>
          <a:off x="6799580" y="862965"/>
          <a:ext cx="4502150" cy="2035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6"/>
          <p:cNvSpPr txBox="1"/>
          <p:nvPr/>
        </p:nvSpPr>
        <p:spPr>
          <a:xfrm>
            <a:off x="6798944" y="3145155"/>
            <a:ext cx="4887088" cy="1390015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自然语言中字母频率很不均匀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单表代换改变符号，却不改变总体统计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密码分析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 ≠ </a:t>
            </a:r>
            <a:r>
              <a:rPr sz="2000" b="0" i="0" dirty="0" err="1">
                <a:solidFill>
                  <a:srgbClr val="404040"/>
                </a:solidFill>
                <a:latin typeface="微软雅黑"/>
                <a:ea typeface="微软雅黑"/>
              </a:rPr>
              <a:t>穷举密钥：利用结构弱点更聪明</a:t>
            </a:r>
            <a:r>
              <a:rPr sz="2000" b="0" i="0" dirty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333333"/>
                </a:solidFill>
                <a:latin typeface="微软雅黑"/>
                <a:ea typeface="微软雅黑"/>
              </a:rPr>
              <a:t>维吉尼亚密码的故事——"不可破译"的三百年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299845"/>
            <a:ext cx="10790555" cy="68008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这套密码的历史是一桩三百年的公案：发明者被遗忘、冠名者被弄错、神话最终被两位"业余者"终结。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0250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1553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贝拉索著书首述多表代换</a:t>
            </a:r>
          </a:p>
        </p:txBody>
      </p:sp>
      <p:sp>
        <p:nvSpPr>
          <p:cNvPr id="2" name="Rectangle 21"/>
          <p:cNvSpPr/>
          <p:nvPr/>
        </p:nvSpPr>
        <p:spPr>
          <a:xfrm>
            <a:off x="2918234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1586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维吉尼亚提出更强的自密钥密码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106218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19世纪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多表代换被误冠以维吉尼亚之名</a:t>
            </a:r>
          </a:p>
        </p:txBody>
      </p:sp>
      <p:sp>
        <p:nvSpPr>
          <p:cNvPr id="23" name="Rectangle 23"/>
          <p:cNvSpPr/>
          <p:nvPr/>
        </p:nvSpPr>
        <p:spPr>
          <a:xfrm>
            <a:off x="7294202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1854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巴贝奇秘密破译，未发表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440276" y="2040960"/>
            <a:ext cx="2037984" cy="140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</a:rPr>
              <a:t>1863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1600" b="0" i="0">
                <a:solidFill>
                  <a:srgbClr val="404040"/>
                </a:solidFill>
                <a:latin typeface="微软雅黑"/>
                <a:ea typeface="微软雅黑"/>
              </a:rPr>
              <a:t>卡西斯基发表间距检验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3550285"/>
            <a:ext cx="10789920" cy="23101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两个名字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微软雅黑"/>
                <a:ea typeface="微软雅黑"/>
              </a:rPr>
              <a:t>真发明者：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意大利密码学家贝拉索（1553）——密钥字循环使用，正是本课所讲的方法；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微软雅黑"/>
                <a:ea typeface="微软雅黑"/>
              </a:rPr>
              <a:t>冠名者：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法国外交官维吉尼亚的自密钥密码其实更强，却在 19 世纪被张冠李戴；</a:t>
            </a:r>
          </a:p>
          <a:p>
            <a:pPr indent="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神话的终结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微软雅黑"/>
                <a:ea typeface="微软雅黑"/>
              </a:rPr>
              <a:t>三百年：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"不可破译的密码"（le chiffre indéchiffrable）之名所向披靡约三百年；</a:t>
            </a:r>
          </a:p>
          <a:p>
            <a:pPr marL="285750" indent="-285750" algn="l" fontAlgn="auto">
              <a:spcBef>
                <a:spcPts val="250"/>
              </a:spcBef>
              <a:spcAft>
                <a:spcPts val="25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b="1" i="0">
                <a:solidFill>
                  <a:srgbClr val="C00000"/>
                </a:solidFill>
                <a:latin typeface="微软雅黑"/>
                <a:ea typeface="微软雅黑"/>
              </a:rPr>
              <a:t>破译者：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巴贝奇 1854 年破译却未发表；1863 年卡西斯基独立发表方法，卡西斯基检验由此得名。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30885" y="5843980"/>
            <a:ext cx="10790555" cy="56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密码的强弱不在于名声与传说，而在于密钥流的结构能否经受统计检验。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02920" y="1209040"/>
            <a:ext cx="4343400" cy="32315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基本思想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使用长度为 a 的密钥字（如 CIPHER），循环排列铺满明文；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不同位置使用不同移位量——每个字母一张代换表，本质是多表代换；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▪ 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密钥空间 26ᵃ，曾号称"不可破译"，真相见本单元后文。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典故：最早见于 Bellaso 1553 年著作，19 世纪被误归于 Vigenère。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4999990" y="1172210"/>
          <a:ext cx="6521450" cy="25387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6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13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94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607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600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W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D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37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转换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11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密钥编排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密钥转换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15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密文计算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13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25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10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005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J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N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Q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Z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0250" y="4638040"/>
            <a:ext cx="1078992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密钥流 = 密钥字的循环复制（CIPHERCIPH）；逐列计算，如首列 (7+2) mod 26 = 9 → J。</a:t>
            </a:r>
            <a:endParaRPr b="1" i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维吉尼亚密码</a:t>
            </a:r>
            <a:r>
              <a:rPr lang="en-US" altLang="zh-CN"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——</a:t>
            </a:r>
            <a:r>
              <a:rPr lang="zh-CN" altLang="en-US" sz="2200" b="1">
                <a:solidFill>
                  <a:srgbClr val="333333"/>
                </a:solidFill>
                <a:latin typeface="微软雅黑"/>
                <a:ea typeface="微软雅黑"/>
                <a:sym typeface="+mn-ea"/>
              </a:rPr>
              <a:t>示例</a:t>
            </a:r>
          </a:p>
        </p:txBody>
      </p:sp>
      <p:sp>
        <p:nvSpPr>
          <p:cNvPr id="11" name="Rectangle 8"/>
          <p:cNvSpPr/>
          <p:nvPr/>
        </p:nvSpPr>
        <p:spPr>
          <a:xfrm>
            <a:off x="730250" y="5374640"/>
            <a:ext cx="10790555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密钥流 = 密钥字的循环复制；位置不同，移位量不同——这就是</a:t>
            </a:r>
            <a:r>
              <a:rPr sz="2400" b="1" i="0">
                <a:solidFill>
                  <a:srgbClr val="404040"/>
                </a:solidFill>
                <a:latin typeface="微软雅黑"/>
                <a:ea typeface="微软雅黑"/>
              </a:rPr>
              <a:t>"多表"</a:t>
            </a: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02920" y="827278"/>
                <a:ext cx="10789920" cy="676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定义</a:t>
                </a:r>
                <a:r>
                  <a:rPr sz="24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 1.4　</a:t>
                </a:r>
                <a:r>
                  <a:rPr sz="24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维吉尼亚密码：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设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a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是一个正整数。令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</a:t>
                </a:r>
                <a:r>
                  <a:rPr lang="en-US" altLang="zh-CN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lang="en-US" altLang="zh-CN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= (Z</a:t>
                </a:r>
                <a:r>
                  <a:rPr sz="2000" b="0" i="0" baseline="-2500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)</a:t>
                </a:r>
                <a:r>
                  <a:rPr sz="2000" b="0" i="0" baseline="3000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a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，维吉尼亚密码由如下算法组成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827278"/>
                <a:ext cx="10789920" cy="676910"/>
              </a:xfrm>
              <a:prstGeom prst="rect">
                <a:avLst/>
              </a:prstGeom>
              <a:blipFill>
                <a:blip r:embed="rId3"/>
                <a:stretch>
                  <a:fillRect l="-1751" t="-14414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731520" y="1472565"/>
            <a:ext cx="10789920" cy="67691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密钥生成算法。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选取长度为 a 的字母串作为密钥字并按照表 1.1 转换成密钥 K =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e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=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d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∈ (Z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26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</a:t>
            </a:r>
            <a:r>
              <a:rPr sz="2000" b="0" i="0" baseline="30000">
                <a:solidFill>
                  <a:srgbClr val="404040"/>
                </a:solidFill>
                <a:latin typeface="微软雅黑"/>
                <a:ea typeface="微软雅黑"/>
              </a:rPr>
              <a:t>a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，即 a 个 Z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26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中的元素。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25040"/>
            <a:ext cx="10789920" cy="120523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加密算法。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对于明文，首先将其进行分组，每组 a 个字母，其中最后一组字母数可以少于 a 个。每个字母串的第 i 个明文字母按照表 1.1 转换成对应的整数 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，其次对 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计算 E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(x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= (x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+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mod 26，最后按照表 1.1 逐一输出对应的密文字母。这里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对应 K 中的第 i 个元素。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05200"/>
            <a:ext cx="10789920" cy="78168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解密算法。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对于密文，首先将其按照表 1.1 转换成对应的整数串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1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,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2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, …,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a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，计算 D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(y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= (y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−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mod 26 并将计算结果转换成对应的明文字母。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391025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与移位密码对比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移位：K 是常数，全篇一个移位量；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维吉尼亚：Kᵢ 随位置周期变化 → 多表。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391025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下标 i 的含义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位置决定用哪张代换表；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b="0" i="0">
                <a:solidFill>
                  <a:srgbClr val="404040"/>
                </a:solidFill>
                <a:latin typeface="微软雅黑"/>
                <a:ea typeface="微软雅黑"/>
              </a:rPr>
              <a:t>Kᵢ 为密钥字第 i 个字母对应的整数。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654040"/>
            <a:ext cx="10789920" cy="5029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分组规则：明文按 a 个字母分组，末组可不足 a 个。</a:t>
            </a:r>
            <a:endParaRPr b="0" i="0">
              <a:solidFill>
                <a:schemeClr val="tx1"/>
              </a:solidFill>
              <a:latin typeface="微软雅黑"/>
              <a:ea typeface="微软雅黑"/>
              <a:sym typeface="+mn-ea"/>
            </a:endParaRP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3900" y="96901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用密钥字 KEY 加密明文：CRYPTOGRAPHY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900" y="2027555"/>
          <a:ext cx="1078260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749040"/>
            <a:ext cx="5065395" cy="873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提示：K=10, E=4, Y=24；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23900" y="96901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用密钥字 KEY 加密明文：CRYPTOGRAPHY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23900" y="2027555"/>
          <a:ext cx="1078260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1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C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T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O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R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K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Y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749040"/>
            <a:ext cx="5065395" cy="873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提示：K=10, E=4, Y=24；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280" y="4523740"/>
            <a:ext cx="10789920" cy="54864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全串参考答案：MVWZXMQVYZLW（与习题 5 同源）。</a:t>
            </a:r>
          </a:p>
        </p:txBody>
      </p:sp>
      <p:cxnSp>
        <p:nvCxnSpPr>
          <p:cNvPr id="22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1089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维吉尼亚密码是否真正安全</a:t>
            </a:r>
            <a:r>
              <a:rPr lang="en-US" sz="2200" b="1" i="0">
                <a:solidFill>
                  <a:srgbClr val="333333"/>
                </a:solidFill>
                <a:latin typeface="微软雅黑"/>
                <a:ea typeface="微软雅黑"/>
              </a:rPr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0330"/>
            <a:ext cx="10789920" cy="118808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密钥空间 26ᵃ，远大于移位密码；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同一明文字母可对应多个密文字母，掩盖了部分频率；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但密钥循环使用产生周期——周期一旦暴露，多表退化为若干单表。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17520"/>
            <a:ext cx="5257800" cy="11887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卡西斯基检验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利用重复密文片段的间距推测密钥长度。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017520"/>
            <a:ext cx="5257800" cy="11887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重合指数法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用统计量验证猜测的密钥长度。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43484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历史注脚：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"不可破译"的神话维持约三百年，最终败于周期分析。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212080"/>
            <a:ext cx="10789920" cy="4114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启示：密钥流绝不能有短周期——这一教训直接影响现代流密码的设计。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760085"/>
            <a:ext cx="10789920" cy="56769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chemeClr val="tx1"/>
                </a:solidFill>
                <a:latin typeface="微软雅黑"/>
                <a:ea typeface="微软雅黑"/>
              </a:rPr>
              <a:t>古典密码的天花板至此清晰：人工规则 + 统计规律 = 可破。</a:t>
            </a:r>
          </a:p>
        </p:txBody>
      </p:sp>
      <p:cxnSp>
        <p:nvCxnSpPr>
          <p:cNvPr id="14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52805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置换与逆置换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4310"/>
            <a:ext cx="5257800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置换 K（教材示例 S = {1,2,3}）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K：1→3, 2→1, 3→2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{1,2,3} 重排为 {3,1,2}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置换是集合到自身的双射。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75740"/>
            <a:ext cx="5257800" cy="2011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逆置换 K⁻¹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K⁻¹：3→1, 1→2, 2→3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{3,1,2} 恢复为 {1,2,3}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逆置换把置换的结果恢复原序。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04945"/>
            <a:ext cx="10789920" cy="1025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双射：每个输入有唯一输出，且不重不漏；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解密就是逆置换——加密重排、解密还原。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502920" y="905383"/>
                <a:ext cx="10789920" cy="67691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r>
                  <a:rPr sz="24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定义</a:t>
                </a:r>
                <a:r>
                  <a:rPr sz="2400" b="1" i="0" dirty="0">
                    <a:solidFill>
                      <a:srgbClr val="C00000"/>
                    </a:solidFill>
                    <a:latin typeface="微软雅黑"/>
                    <a:ea typeface="微软雅黑"/>
                  </a:rPr>
                  <a:t> 1.5　</a:t>
                </a:r>
                <a:r>
                  <a:rPr sz="24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置换密码：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设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a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是一个正整数。令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= (Z</a:t>
                </a:r>
                <a:r>
                  <a:rPr sz="2000" b="0" i="0" baseline="-2500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)</a:t>
                </a:r>
                <a:r>
                  <a:rPr sz="2000" b="0" i="0" baseline="3000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a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为集合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{1, 2, …, a}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中所有可能的置换。置换密码由如下算法组成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905383"/>
                <a:ext cx="10789920" cy="676910"/>
              </a:xfrm>
              <a:prstGeom prst="rect">
                <a:avLst/>
              </a:prstGeom>
              <a:blipFill>
                <a:blip r:embed="rId3"/>
                <a:stretch>
                  <a:fillRect l="-1751" t="-14414" r="-1243" b="-216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731520" y="1783080"/>
                <a:ext cx="10789920" cy="4572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:pPr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 dirty="0" err="1">
                    <a:solidFill>
                      <a:srgbClr val="C00000"/>
                    </a:solidFill>
                    <a:latin typeface="微软雅黑"/>
                    <a:ea typeface="微软雅黑"/>
                  </a:rPr>
                  <a:t>密钥生成算法。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选取密钥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K =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K</a:t>
                </a:r>
                <a:r>
                  <a:rPr sz="2000" b="0" i="0" baseline="-2500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e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 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K</a:t>
                </a:r>
                <a:r>
                  <a:rPr sz="2000" b="0" i="0" baseline="-2500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d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∈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1783080"/>
                <a:ext cx="10789920" cy="457200"/>
              </a:xfrm>
              <a:prstGeom prst="rect">
                <a:avLst/>
              </a:prstGeom>
              <a:blipFill>
                <a:blip r:embed="rId4"/>
                <a:stretch>
                  <a:fillRect t="-1333" b="-16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31520" y="2350008"/>
            <a:ext cx="10789920" cy="713232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加密算法。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对于明文，首先将其进行分组，每组 a 个字母；其次对每个字母串的第 i 个明文字母 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计算 E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(x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= x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；最后逐一输出密文字母。这里 K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对应 K 中的第 i 个元素。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172968"/>
            <a:ext cx="10789920" cy="822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解密算法。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对于一组密文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1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,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2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, …,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a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，首先对第 i 个密文字母计算 D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K⁻¹ᵢ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(y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) = y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K⁻¹ᵢ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；然后逐一输出明文字母。这里 K</a:t>
            </a:r>
            <a:r>
              <a:rPr sz="2000" b="0" i="0" baseline="30000">
                <a:solidFill>
                  <a:srgbClr val="404040"/>
                </a:solidFill>
                <a:latin typeface="微软雅黑"/>
                <a:ea typeface="微软雅黑"/>
              </a:rPr>
              <a:t>⁻¹</a:t>
            </a:r>
            <a:r>
              <a:rPr sz="2000" b="0" i="0" baseline="-25000">
                <a:solidFill>
                  <a:srgbClr val="404040"/>
                </a:solidFill>
                <a:latin typeface="微软雅黑"/>
                <a:ea typeface="微软雅黑"/>
              </a:rPr>
              <a:t>i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 为 K 的逆置换 K⁻¹ 中的第 i 个元素。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60520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口诀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"第 i 个输出，取原串第 Kᵢ 个"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——下标方向不再迷。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4160520"/>
            <a:ext cx="5257800" cy="10515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易混点对比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代换：x → K(x)，改内容；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置换：xᵢ → x(Kᵢ)，改位置。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731520" y="5394960"/>
                <a:ext cx="10789920" cy="502920"/>
              </a:xfrm>
              <a:prstGeom prst="rect">
                <a:avLst/>
              </a:prstGeom>
              <a:solidFill>
                <a:srgbClr val="FBF1F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228600" rIns="228600" rtlCol="0" anchor="ctr"/>
              <a:lstStyle/>
              <a:p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ℳ</m:t>
                    </m:r>
                  </m:oMath>
                </a14:m>
                <a:r>
                  <a:rPr lang="en-US" altLang="zh-CN"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 =</a:t>
                </a:r>
                <a:r>
                  <a:rPr lang="en-US" altLang="zh-CN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𝒞</m:t>
                    </m:r>
                  </m:oMath>
                </a14:m>
                <a:r>
                  <a:rPr lang="en-US" altLang="zh-CN" sz="2000" b="0" i="0" dirty="0">
                    <a:solidFill>
                      <a:schemeClr val="tx1"/>
                    </a:solidFill>
                    <a:latin typeface="微软雅黑"/>
                    <a:ea typeface="微软雅黑"/>
                  </a:rPr>
                  <a:t> 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= (Z</a:t>
                </a:r>
                <a:r>
                  <a:rPr sz="2000" b="0" i="0" baseline="-2500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26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)ᵃ：</a:t>
                </a:r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分组串空间；</a:t>
                </a:r>
                <a14:m>
                  <m:oMath xmlns:m="http://schemas.openxmlformats.org/officeDocument/2006/math">
                    <m:r>
                      <a:rPr lang="zh-CN" alt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DejaVu Math TeX Gyre" panose="02000503000000000000" charset="0"/>
                      </a:rPr>
                      <m:t>𝒦</m:t>
                    </m:r>
                  </m:oMath>
                </a14:m>
                <a:r>
                  <a:rPr sz="2000" b="0" i="0" dirty="0" err="1">
                    <a:solidFill>
                      <a:srgbClr val="404040"/>
                    </a:solidFill>
                    <a:latin typeface="微软雅黑"/>
                    <a:ea typeface="微软雅黑"/>
                  </a:rPr>
                  <a:t>为组内位置的全部置换；示例与逆置换验证见前一页</a:t>
                </a:r>
                <a:r>
                  <a:rPr sz="2000" b="0" i="0" dirty="0">
                    <a:solidFill>
                      <a:srgbClr val="404040"/>
                    </a:solidFill>
                    <a:latin typeface="微软雅黑"/>
                    <a:ea typeface="微软雅黑"/>
                  </a:rPr>
                  <a:t>。</a:t>
                </a:r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394960"/>
                <a:ext cx="10789920" cy="502920"/>
              </a:xfrm>
              <a:prstGeom prst="rect">
                <a:avLst/>
              </a:prstGeom>
              <a:blipFill>
                <a:blip r:embed="rId5"/>
                <a:stretch>
                  <a:fillRect b="-1084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731520" y="5989320"/>
            <a:ext cx="10789920" cy="38404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下标映射方向最易错，口诀 + 示例双保险。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置换密码例题——π = (3,5,1,6,4,2)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10922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输出以下密文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：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设 m = 6，置换 π = (3, 5, 1, 6, 4, 2)。用置换密码加密明文 she sells seashells by the seashore。</a:t>
            </a:r>
            <a:endParaRPr lang="en-US" altLang="zh-CN" sz="2000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置换密码例题——π = (3,5,1,6,4,2)</a:t>
            </a:r>
          </a:p>
        </p:txBody>
      </p:sp>
      <p:sp>
        <p:nvSpPr>
          <p:cNvPr id="12" name="Rectangle 5"/>
          <p:cNvSpPr/>
          <p:nvPr/>
        </p:nvSpPr>
        <p:spPr>
          <a:xfrm>
            <a:off x="730885" y="1353820"/>
            <a:ext cx="10790555" cy="6959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设 m = 6，置换 π = (3, 5, 1, 6, 4, 2)。用置换密码加密明文 she sells seashells by the seashore。</a:t>
            </a:r>
          </a:p>
        </p:txBody>
      </p:sp>
      <p:sp>
        <p:nvSpPr>
          <p:cNvPr id="13" name="TextBox 7"/>
          <p:cNvSpPr txBox="1"/>
          <p:nvPr/>
        </p:nvSpPr>
        <p:spPr>
          <a:xfrm>
            <a:off x="731520" y="2236525"/>
            <a:ext cx="10789920" cy="17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indent="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None/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加密步骤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分组：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去空格后每 6 个字母一组：shesel | lsseas | hellsb | ythese | ashore；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重排：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组内第 i 个输出取原组第 πᵢ 个字母；</a:t>
            </a:r>
          </a:p>
          <a:p>
            <a:pPr marL="285750" indent="-285750" algn="l" fontAlgn="auto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首组：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shesel → (x3, x5, x1, x6, x4, x2) = e, e, s, l, s, h → EESLSH。</a:t>
            </a:r>
          </a:p>
        </p:txBody>
      </p:sp>
      <p:graphicFrame>
        <p:nvGraphicFramePr>
          <p:cNvPr id="14" name="Table 6"/>
          <p:cNvGraphicFramePr>
            <a:graphicFrameLocks noGrp="1"/>
          </p:cNvGraphicFramePr>
          <p:nvPr/>
        </p:nvGraphicFramePr>
        <p:xfrm>
          <a:off x="730885" y="4179870"/>
          <a:ext cx="10789920" cy="7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79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明文组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shesel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lsseas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hellsb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ythese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ashore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密文组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EESLSH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SALSES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LSHBLE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HSYEET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HRAEOS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Rectangle 9"/>
          <p:cNvSpPr/>
          <p:nvPr/>
        </p:nvSpPr>
        <p:spPr>
          <a:xfrm>
            <a:off x="730885" y="5549900"/>
            <a:ext cx="10790555" cy="76009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密文按 4 字母重排：EESL SHSA LSES LSHB LEHS YEET HRAE OS；解密用逆置换 π⁻¹ 重排。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6487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代换与置换的区别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463040" y="1414780"/>
          <a:ext cx="9262872" cy="17007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类型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字母本身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字母位置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代换密码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改变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通常不变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置换密码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改变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31520" y="3380740"/>
            <a:ext cx="5257800" cy="10972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代换示例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H → I：内容变了，位置没变。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3390900"/>
            <a:ext cx="5257800" cy="10972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置换示例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HELLO → ELHOL：字母没变，位置变了。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16780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记忆口诀：代换换"内容"，置换换"位置"。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49900"/>
            <a:ext cx="1078992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置换密码的安全性依赖置换规则的复杂性与密钥的保密性（教材 §1.2.4）。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23048" y="1012190"/>
            <a:ext cx="91744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四种古典密码的比较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15645" y="1430020"/>
          <a:ext cx="10789920" cy="2628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密码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核心操作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主要特点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主要弱点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移位密码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固定移位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简单直观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密钥空间仅 26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代换密码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单表代换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密钥空间 26!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保留频率特征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维吉尼亚密码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多表代换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隐藏部分频率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密钥周期可被检测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置换密码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重新排列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字符不变、位置变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保留字符统计特征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15328" y="4342130"/>
            <a:ext cx="10789920" cy="7315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共同结论：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加密过程相对简单，容易被统计分析、频率分析和穷举破解——古典密码已不再安全。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5328" y="5356860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快答：四种密码中，属于代换族的有几个？属于置换族的有几个？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课堂习题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1（模运算）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计算 </a:t>
            </a:r>
            <a:r>
              <a:rPr lang="en-US" alt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58</a:t>
            </a:r>
            <a:r>
              <a:rPr 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 mod 26 与 −</a:t>
            </a:r>
            <a:r>
              <a:rPr lang="en-US" alt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1</a:t>
            </a:r>
            <a:r>
              <a:rPr 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3 mod 26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" name="Rectangle 21"/>
          <p:cNvSpPr/>
          <p:nvPr/>
        </p:nvSpPr>
        <p:spPr>
          <a:xfrm>
            <a:off x="627648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2（移位密码）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在 K = 3 加密 HELLOWORLD 的表中，补全第 4、5 列（两个 L）的整数行与密文行，并核对全串密文。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3152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3（维吉尼亚密码）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用密钥字 KEY 加密明文 CRYPTOGRAPHY，写出完整密文串，并对照参考答案校验。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7648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4（置换密码）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用置换 K = (4, 5, 3, 1, 2) 加密 HELLOWORLD：按 5 个字母分组后组内重排。</a:t>
            </a: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3"/>
          <p:cNvSpPr txBox="1"/>
          <p:nvPr/>
        </p:nvSpPr>
        <p:spPr>
          <a:xfrm>
            <a:off x="502920" y="82867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课堂习题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73152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12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1（模运算）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计算 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58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 mod 26 与 −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1</a:t>
            </a: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3 mod 26。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微软雅黑"/>
              <a:ea typeface="微软雅黑"/>
            </a:endParaRP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答案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：6、13</a:t>
            </a:r>
          </a:p>
        </p:txBody>
      </p:sp>
      <p:sp>
        <p:nvSpPr>
          <p:cNvPr id="2" name="Rectangle 21"/>
          <p:cNvSpPr/>
          <p:nvPr/>
        </p:nvSpPr>
        <p:spPr>
          <a:xfrm>
            <a:off x="6276480" y="14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2（移位密码）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在 K = 3 加密 HELLOWORLD 的表中，补全第 4、5 列（两个 L）的整数行与密文行，并核对全串密文。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：HKOORZRUOG</a:t>
            </a:r>
            <a:endParaRPr lang="en-US" altLang="zh-CN" b="0" i="0">
              <a:solidFill>
                <a:srgbClr val="404040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22" name="Rectangle 22"/>
          <p:cNvSpPr/>
          <p:nvPr/>
        </p:nvSpPr>
        <p:spPr>
          <a:xfrm>
            <a:off x="73152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3（维吉尼亚密码）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用密钥字 KEY 加密明文 CRYPTOGRAPHY，写出完整密文串，并对照参考答案校验。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：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MVWZXMQVYZLW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6276480" y="3750000"/>
            <a:ext cx="5244960" cy="205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txBody>
          <a:bodyPr wrap="square" lIns="228600" rIns="182880" rtlCol="0" anchor="t" anchorCtr="0"/>
          <a:lstStyle/>
          <a:p>
            <a:pPr indent="0" algn="l" fontAlgn="auto">
              <a:spcBef>
                <a:spcPts val="600"/>
              </a:spcBef>
              <a:spcAft>
                <a:spcPts val="4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习题 4（置换密码）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 b="0" i="0">
                <a:solidFill>
                  <a:srgbClr val="404040"/>
                </a:solidFill>
                <a:latin typeface="微软雅黑"/>
                <a:ea typeface="微软雅黑"/>
              </a:rPr>
              <a:t>用置换 K = (4, 5, 3, 1, 2) 加密 HELLOWORLD：按 5 个字母分组后组内重排。</a:t>
            </a:r>
          </a:p>
          <a:p>
            <a:pPr indent="0" algn="l" fontAlgn="auto">
              <a:spcBef>
                <a:spcPts val="600"/>
              </a:spcBef>
              <a:spcAft>
                <a:spcPts val="0"/>
              </a:spcAft>
            </a:pPr>
            <a:r>
              <a:rPr 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答案</a:t>
            </a:r>
            <a:r>
              <a:rPr lang="en-US" altLang="zh-CN"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：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LOLHELDRWO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zh-CN"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10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19113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古典</a:t>
            </a:r>
            <a:r>
              <a:rPr sz="3200" b="1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密码学</a:t>
            </a:r>
            <a:endParaRPr sz="3200" b="1" i="0">
              <a:solidFill>
                <a:srgbClr val="C00000"/>
              </a:solidFill>
              <a:latin typeface="微软雅黑"/>
              <a:ea typeface="微软雅黑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464940" y="2665834"/>
            <a:ext cx="7261289" cy="764195"/>
            <a:chOff x="3147" y="6401"/>
            <a:chExt cx="10129" cy="1066"/>
          </a:xfrm>
        </p:grpSpPr>
        <p:sp>
          <p:nvSpPr>
            <p:cNvPr id="6" name="文本占位符 5"/>
            <p:cNvSpPr txBox="1"/>
            <p:nvPr/>
          </p:nvSpPr>
          <p:spPr>
            <a:xfrm>
              <a:off x="4979" y="6401"/>
              <a:ext cx="8297" cy="1066"/>
            </a:xfrm>
            <a:prstGeom prst="rect">
              <a:avLst/>
            </a:prstGeom>
          </p:spPr>
          <p:txBody>
            <a:bodyPr vert="horz" wrap="square" lIns="0" tIns="0" rIns="0" bIns="0" anchor="t" anchorCtr="0">
              <a:spAutoFit/>
            </a:bodyPr>
            <a:lstStyle>
              <a:lvl1pPr mar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Font typeface="Arial" panose="020B0604020202090204" pitchFamily="34" charset="0"/>
                <a:buNone/>
                <a:defRPr sz="2800" kern="1200" spc="100" baseline="0">
                  <a:solidFill>
                    <a:srgbClr val="404040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  <a:cs typeface="+mn-cs"/>
                  <a:sym typeface="字魂111号-金榜招牌体" panose="00000500000000000000" pitchFamily="2" charset="-122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9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现代</a:t>
              </a:r>
              <a:r>
                <a:rPr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密码学</a:t>
              </a:r>
              <a:r>
                <a:rPr lang="zh-CN" sz="4965" b="1">
                  <a:solidFill>
                    <a:srgbClr val="333333"/>
                  </a:solidFill>
                  <a:latin typeface="微软雅黑"/>
                  <a:ea typeface="微软雅黑"/>
                  <a:sym typeface="+mn-ea"/>
                </a:rPr>
                <a:t>与安全性</a:t>
              </a:r>
            </a:p>
          </p:txBody>
        </p:sp>
        <p:sp>
          <p:nvSpPr>
            <p:cNvPr id="7" name="椭圆 6"/>
            <p:cNvSpPr/>
            <p:nvPr/>
          </p:nvSpPr>
          <p:spPr>
            <a:xfrm>
              <a:off x="3271" y="6401"/>
              <a:ext cx="1084" cy="1066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710" dirty="0"/>
            </a:p>
          </p:txBody>
        </p:sp>
        <p:sp>
          <p:nvSpPr>
            <p:cNvPr id="8" name="矩形 7"/>
            <p:cNvSpPr/>
            <p:nvPr/>
          </p:nvSpPr>
          <p:spPr>
            <a:xfrm>
              <a:off x="3147" y="6523"/>
              <a:ext cx="1331" cy="8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altLang="zh-CN" sz="3160" dirty="0">
                  <a:solidFill>
                    <a:prstClr val="white"/>
                  </a:solidFill>
                  <a:latin typeface="+mj-ea"/>
                  <a:ea typeface="+mj-ea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1002030"/>
            <a:ext cx="5212080" cy="313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古典密码的共同问题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主要依赖人工设计规则；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安全性缺乏严格模型；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容易暴露语言统计规律；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无法支撑大规模通信与身份认证；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密钥分发没有系统性方案。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02030"/>
            <a:ext cx="5212080" cy="3136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现代密码学的转向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数学基础：信息论、数论、计算复杂性；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形式化安全目标与攻击模型；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标准化算法与协议；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可证明的安全保证；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公钥思想解决密钥分发与签名。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135" y="5423535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微软雅黑"/>
                <a:ea typeface="微软雅黑"/>
              </a:rPr>
              <a:t>从"技巧"到"科学"：安全必须能被定义、被分析、被证明。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99135" y="4325620"/>
            <a:ext cx="10789920" cy="91059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古典密码主要问：</a:t>
            </a:r>
            <a:r>
              <a:rPr lang="en-US" altLang="zh-CN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“</a:t>
            </a:r>
            <a:r>
              <a:rPr lang="zh-CN" altLang="en-US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别人能不能看懂？</a:t>
            </a:r>
            <a:r>
              <a:rPr lang="en-US" altLang="zh-CN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”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现代密码进一步问：</a:t>
            </a:r>
            <a:r>
              <a:rPr lang="en-US" altLang="zh-CN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“</a:t>
            </a:r>
            <a:r>
              <a:rPr lang="zh-CN" altLang="en-US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攻击者拥有什么能力？成功意味着什么？需要多少计算资源？</a:t>
            </a:r>
            <a:r>
              <a:rPr lang="en-US" altLang="zh-CN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”</a:t>
            </a: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23444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sz="2000" b="1" i="0">
                <a:solidFill>
                  <a:srgbClr val="C00000"/>
                </a:solidFill>
                <a:latin typeface="微软雅黑"/>
                <a:ea typeface="微软雅黑"/>
              </a:rPr>
              <a:t>杂凑</a:t>
            </a: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函数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主要支撑：完整性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典型算法：SHA-3 · SM3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123444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对称加密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主要支撑：保密性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典型算法：AES · SM4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23444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消息认证码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主要支撑：完整+来源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典型算法：HMAC · CMAC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7180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公钥加密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主要支撑：保密+密钥分发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典型算法：RSA · SM2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971800"/>
            <a:ext cx="3474720" cy="15087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数字签名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主要支撑：认证+不可否认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典型算法：RSA · DSA · SM2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2971800"/>
            <a:ext cx="3474720" cy="1508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t" anchorCtr="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密钥协商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主要支撑：会话密钥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典型算法：DH · SM2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4632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每个原语只问三个问题：解决什么？典型算法？局限在哪？</a:t>
            </a:r>
          </a:p>
        </p:txBody>
      </p:sp>
      <p:cxnSp>
        <p:nvCxnSpPr>
          <p:cNvPr id="1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6296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杂凑</a:t>
            </a: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函数 Hash Function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350" y="1461770"/>
            <a:ext cx="6729730" cy="164846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任意长度输入 → 固定长度输出（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值）；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单向性：很难从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值逆推原始输入；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用途：数据完整性验证；</a:t>
            </a:r>
          </a:p>
          <a:p>
            <a:pPr marL="285750" indent="-285750" algn="l"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典型算法：SHA-3、SM3（MD5 已退场）。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88720"/>
            <a:ext cx="3749039" cy="21945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</a:rPr>
              <a:t>提醒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普通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只能发现数据变化，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不能单独证明消息来自谁；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来源认证需要密钥参与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——见下页 MAC。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任意长消息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858768" y="381965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80560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微软雅黑"/>
                <a:ea typeface="微软雅黑"/>
              </a:rPr>
              <a:t>杂凑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函数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876288" y="381965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498079" y="363220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固定长指纹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57200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例：一封百万字合同与一个字节的消息，指纹长度相同；改动一字，指纹面目全非。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557520"/>
            <a:ext cx="10789920" cy="50292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单向性 = 正向容易、反向困难——</a:t>
            </a:r>
            <a:r>
              <a:rPr lang="zh-CN" sz="200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杂凑函数</a:t>
            </a:r>
            <a:r>
              <a:rPr sz="200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的第一性质。</a:t>
            </a:r>
            <a:endParaRPr sz="2000" b="0" i="0">
              <a:solidFill>
                <a:schemeClr val="tx1"/>
              </a:solidFill>
              <a:latin typeface="微软雅黑"/>
              <a:ea typeface="微软雅黑"/>
              <a:sym typeface="+mn-ea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9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65760" y="862965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对称加密与消息认证码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12545"/>
            <a:ext cx="4134485" cy="264287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对称加密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加解密使用</a:t>
            </a: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同一密钥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效率高，适合大量数据；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典型：DES、AES、SM4；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短板：密钥分发与管理；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应用：会话数据的主力加密。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200650" y="1312545"/>
            <a:ext cx="6320790" cy="264287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>
                <a:solidFill>
                  <a:srgbClr val="C00000"/>
                </a:solidFill>
                <a:latin typeface="微软雅黑"/>
                <a:ea typeface="微软雅黑"/>
              </a:rPr>
              <a:t>消息认证码 MAC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输入 = 消息 + 共享密钥；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输出固定长度认证标签；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提供完整性 + 消息来源认证；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典型：基于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杂凑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的消息认证码（HMAC）、基于密文的消息认证码（CMAC）；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应用：报文防篡改与溯源。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1078992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MAC </a:t>
            </a:r>
            <a:r>
              <a:rPr lang="zh-CN" altLang="en-US" b="0" i="0">
                <a:solidFill>
                  <a:srgbClr val="404040"/>
                </a:solidFill>
                <a:latin typeface="微软雅黑"/>
                <a:ea typeface="微软雅黑"/>
              </a:rPr>
              <a:t>与普通杂凑函数的关键区别：</a:t>
            </a:r>
            <a:r>
              <a:rPr lang="en-US" altLang="zh-CN" b="0" i="0">
                <a:solidFill>
                  <a:srgbClr val="404040"/>
                </a:solidFill>
                <a:latin typeface="微软雅黑"/>
                <a:ea typeface="微软雅黑"/>
              </a:rPr>
              <a:t>MAC </a:t>
            </a:r>
            <a:r>
              <a:rPr lang="zh-CN" altLang="en-US" b="0" i="0">
                <a:solidFill>
                  <a:srgbClr val="404040"/>
                </a:solidFill>
                <a:latin typeface="微软雅黑"/>
                <a:ea typeface="微软雅黑"/>
              </a:rPr>
              <a:t>的计算需要</a:t>
            </a:r>
            <a:r>
              <a:rPr lang="zh-CN" altLang="en-US" b="0" i="0">
                <a:solidFill>
                  <a:srgbClr val="C00000"/>
                </a:solidFill>
                <a:latin typeface="微软雅黑"/>
                <a:ea typeface="微软雅黑"/>
              </a:rPr>
              <a:t>共享密钥</a:t>
            </a:r>
            <a:r>
              <a:rPr lang="zh-CN" altLang="en-US" b="0" i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  <a:endParaRPr b="0" i="0">
              <a:solidFill>
                <a:srgbClr val="404040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493776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404040"/>
                </a:solidFill>
                <a:latin typeface="微软雅黑"/>
                <a:ea typeface="微软雅黑"/>
                <a:sym typeface="+mn-ea"/>
              </a:rPr>
              <a:t>对称加密的效率优势使其承担数据保护；公钥加密承担密钥交换——组合使用是工程惯例。</a:t>
            </a:r>
            <a:endParaRPr b="0" i="0">
              <a:solidFill>
                <a:srgbClr val="808080"/>
              </a:solidFill>
              <a:latin typeface="微软雅黑"/>
              <a:ea typeface="微软雅黑"/>
            </a:endParaRP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5852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公钥加密与数字签名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03045"/>
            <a:ext cx="5257800" cy="215455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</a:rPr>
              <a:t>公钥加密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公钥加密、私钥解密；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主要提供保密性；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典型：RSA、SM2；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速度较慢，常与对称加密组合。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496060"/>
            <a:ext cx="5257800" cy="21615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t" anchorCtr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C00000"/>
                </a:solidFill>
                <a:latin typeface="微软雅黑"/>
                <a:ea typeface="微软雅黑"/>
              </a:rPr>
              <a:t>数字签名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私钥签名、公钥验证；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完整性 + 来源认证 + 不可否认；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典型：RSA、DSA、SM2；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动机：手写签名易伪造、进不了数字世界。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886200"/>
            <a:ext cx="10789920" cy="6400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微软雅黑"/>
                <a:ea typeface="微软雅黑"/>
              </a:rPr>
              <a:t>口诀：加密用对方公钥，签名用自己私钥。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09160"/>
            <a:ext cx="10789920" cy="7315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法律背书：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美国、德国、日本和我国等许多国家已颁布数字签名法，签名在电子商务与政务中具有法律效力。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rgbClr val="808080"/>
                </a:solidFill>
                <a:latin typeface="微软雅黑"/>
                <a:ea typeface="微软雅黑"/>
              </a:rPr>
              <a:t>公钥密码显著缓解了对称密钥预共享和分发问题</a:t>
            </a: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，但加解密速度通常较慢——二者互补。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0225" y="862965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密钥协商 Key Agreement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0970"/>
            <a:ext cx="10789920" cy="15297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目标：通信双方在不安全信道上建立共享密钥；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关键：不直接传输最终会话密钥；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典型协议：DH 密钥协商、SM2 密钥协商；</a:t>
            </a:r>
          </a:p>
          <a:p>
            <a:pPr marL="285750" indent="-285750" algn="l">
              <a:spcBef>
                <a:spcPts val="0"/>
              </a:spcBef>
              <a:spcAft>
                <a:spcPts val="7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建立的共享密钥通常交给后续对称加密使用。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A 公布 gᵃ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58768" y="329641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B 公布 gᵇ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76288" y="3296412"/>
            <a:ext cx="585215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98079" y="3108960"/>
            <a:ext cx="2377440" cy="5943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双方共得 gᵃᵇ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77639"/>
            <a:ext cx="10789920" cy="5943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chemeClr val="tx1"/>
                </a:solidFill>
                <a:latin typeface="微软雅黑"/>
                <a:ea typeface="微软雅黑"/>
              </a:rPr>
              <a:t>双方各自贡献"一半"秘密，任何人只看到公开量，算不出共享值（离散对数困难）。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846320"/>
            <a:ext cx="10789920" cy="593725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altLang="en-US" sz="2000" b="0" i="0">
                <a:solidFill>
                  <a:schemeClr val="tx1"/>
                </a:solidFill>
                <a:latin typeface="微软雅黑"/>
                <a:ea typeface="微软雅黑"/>
                <a:sym typeface="+mn-ea"/>
              </a:rPr>
              <a:t>实际协议通常使用短期会话密钥，并定期更新，以降低长期密钥暴露带来的风险。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2222500"/>
          <a:ext cx="999439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安全需求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主要密码学机制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数据保密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对称加密、公钥加密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数据完整性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杂凑</a:t>
                      </a: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函数、MAC、数字签名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消息来源认证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MAC、数字签名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身份认证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挑战—响应、数字签名、PKI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不可否认性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数字签名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会话密钥建立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密钥协商、公钥加密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3"/>
          <p:cNvSpPr txBox="1"/>
          <p:nvPr/>
        </p:nvSpPr>
        <p:spPr>
          <a:xfrm>
            <a:off x="3164205" y="1490980"/>
            <a:ext cx="5860415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333333"/>
                </a:solidFill>
                <a:latin typeface="微软雅黑"/>
                <a:ea typeface="微软雅黑"/>
              </a:rPr>
              <a:t>不同安全需求应该选择什么工具</a:t>
            </a:r>
          </a:p>
        </p:txBody>
      </p: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31520" y="1188720"/>
            <a:ext cx="10789920" cy="8686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设问：如果一个密码需要一百万年才能破解，它在现实中是否可以认为安全？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无条件安全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无限算力也破不了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理想标杆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484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计算安全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有限算力下合理时间破不了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工程现实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2377440"/>
            <a:ext cx="3474720" cy="1554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可证明安全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归约到公认数学难题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科学方法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264025"/>
            <a:ext cx="1078992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三者关系：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无条件安全是理想标杆，计算安全是工程现实，可证明安全是科学方法。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236210"/>
            <a:ext cx="10789920" cy="6400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安全观转变：从"能否破解"到"合理资源下能否破解"。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810895"/>
            <a:ext cx="6766560" cy="20053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无条件安全性</a:t>
            </a:r>
            <a:endParaRPr sz="2400" b="1" i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又称信息论安全性：攻击者拥有无限计算资源仍无法破解；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唯一被证明者：一次性密码本（One-Time Pad）；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做法：明文与等长随机比特串做异或（XOR）。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963295"/>
            <a:ext cx="3749039" cy="1828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OTP 三条件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密钥真正随机；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密钥与消息等长；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密钥只用一次。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85135"/>
            <a:ext cx="10789920" cy="97282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异或小例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明文 0100 ⊕ 密钥 1011 = 密文 1111；无密钥时，密文与任何明文都"相容"。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220845"/>
            <a:ext cx="10789920" cy="576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主要困难：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密钥的安全分发与管理——又是密钥问题（等长、一次一用使分发成本翻倍）。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80000"/>
            <a:ext cx="10789920" cy="576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三条件任缺其一，即失去无条件安全性。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855335"/>
            <a:ext cx="10789920" cy="576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OTP 是标杆而非主力：理解它，就理解了"密钥为何是核心"。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31520" y="997585"/>
            <a:ext cx="6766560" cy="2092325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sz="2400" b="1" i="0">
                <a:solidFill>
                  <a:srgbClr val="C00000"/>
                </a:solidFill>
                <a:latin typeface="微软雅黑"/>
                <a:ea typeface="微软雅黑"/>
              </a:rPr>
              <a:t>计算安全性</a:t>
            </a: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假设攻击者计算资源有限：合理时间内无法攻破；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通常立足于数论困难问题；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动态观：算力与攻击技术进步，会使"安全"变"脆弱"，算法需持续演进。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89920" cy="5400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例：量子计算机若实用化，大整数分解变易——RSA 将面临挑战，后量子密码因此兴起。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806440"/>
            <a:ext cx="10789920" cy="5400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计算安全是工程世界的现实标准：安全是成本与价值的博弈。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61055"/>
            <a:ext cx="10789920" cy="1525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实际安全的三条判据（满足其一）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破译的实际计算量巨大，实际上无法实现；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破译所需时间超过被加密信息的有用生命周期；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破译费用超过被加密信息本身的价值。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188720"/>
            <a:ext cx="3749040" cy="335026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Ins="137160" rtlCol="0" anchor="ctr"/>
          <a:lstStyle/>
          <a:p>
            <a:pPr indent="0" algn="ctr" fontAlgn="auto">
              <a:spcBef>
                <a:spcPts val="0"/>
              </a:spcBef>
              <a:spcAft>
                <a:spcPts val="170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两大困难问题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大整数分解 →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给定一个大整数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N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，求其两个或多个非平凡因子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；</a:t>
            </a:r>
          </a:p>
          <a:p>
            <a:pPr marL="342900" indent="-342900" algn="l">
              <a:spcBef>
                <a:spcPts val="0"/>
              </a:spcBef>
              <a:spcAft>
                <a:spcPts val="300"/>
              </a:spcAft>
              <a:buClr>
                <a:srgbClr val="C00000"/>
              </a:buClr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离散对数 →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给定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g、g</a:t>
            </a:r>
            <a:r>
              <a:rPr lang="en-US" altLang="zh-CN" sz="2000" b="0" i="0" baseline="30000">
                <a:solidFill>
                  <a:srgbClr val="404040"/>
                </a:solidFill>
                <a:latin typeface="微软雅黑"/>
                <a:ea typeface="微软雅黑"/>
              </a:rPr>
              <a:t>x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，求未知指数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 </a:t>
            </a:r>
            <a:r>
              <a:rPr 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x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3439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可证明安全性的基本思想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18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明确安全目标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23233" y="1700657"/>
            <a:ext cx="630936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469074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建立攻击模型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60793" y="1700657"/>
            <a:ext cx="630936" cy="219456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8028305" y="1490345"/>
            <a:ext cx="2651760" cy="64008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归约到数学难题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5808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安全目标举例：加密体制→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密文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保密性；签名体制→</a:t>
            </a:r>
            <a:r>
              <a:rPr 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签名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不可伪造性；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归约：若攻击者能攻破体制，则可在多项式时间内解决公认难题（如大整数分解）；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思想源于数学证明中的反证法。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208145"/>
            <a:ext cx="10789920" cy="6858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举例：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如果大整数分解是困难的，那么破解给定的基于大整数分解的密码体制也是困难的。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192395"/>
            <a:ext cx="10789920" cy="9144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00000"/>
                </a:solidFill>
                <a:latin typeface="微软雅黑"/>
                <a:ea typeface="微软雅黑"/>
              </a:rPr>
              <a:t>强调：</a:t>
            </a: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可证明安全不是"绝对安全"，而是在明确假设与攻击模型下给出的安全保证；归约只说明安全性与难题相关，并未完全证明体制安全。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843280"/>
            <a:ext cx="11155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从古典密码到现代密码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隐藏字符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3588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8" name="Rectangle 7"/>
          <p:cNvSpPr/>
          <p:nvPr/>
        </p:nvSpPr>
        <p:spPr>
          <a:xfrm>
            <a:off x="3008376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密钥控制变换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4187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5212079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统计规律攻防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929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7415783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数学困难问题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53855" y="1637665"/>
            <a:ext cx="356870" cy="219710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2000"/>
          </a:p>
        </p:txBody>
      </p:sp>
      <p:sp>
        <p:nvSpPr>
          <p:cNvPr id="14" name="Rectangle 13"/>
          <p:cNvSpPr/>
          <p:nvPr/>
        </p:nvSpPr>
        <p:spPr>
          <a:xfrm>
            <a:off x="9619488" y="1445895"/>
            <a:ext cx="1828800" cy="60325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形式化安全模型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古代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35224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古典–1949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38927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1949–1976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42631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1976–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6337" y="2194560"/>
            <a:ext cx="1975103" cy="411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08080"/>
                </a:solidFill>
                <a:latin typeface="微软雅黑"/>
                <a:ea typeface="微软雅黑"/>
              </a:rPr>
              <a:t>现代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5371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古典：靠隐藏与技巧；现代：靠密钥、数学与模型；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攻击与防御交替推动密码学发展；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安全性从"感觉安全"走向"可定义、可分析、可证明"。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999355"/>
            <a:ext cx="10789920" cy="68580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rIns="2286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微软雅黑"/>
                <a:ea typeface="微软雅黑"/>
              </a:rPr>
              <a:t>密码学把"信任"变成了可以计算、可以证明的对象。</a:t>
            </a:r>
          </a:p>
        </p:txBody>
      </p:sp>
      <p:cxnSp>
        <p:nvCxnSpPr>
          <p:cNvPr id="26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7073" y="810895"/>
            <a:ext cx="8234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案例</a:t>
            </a: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回顾</a:t>
            </a: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：设计一次安全的网络转账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32815" y="2800985"/>
          <a:ext cx="1043241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安全目标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应选密码学机制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转账内容不能被窃听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转账金额不能被篡改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接收方确认发送者身份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发送方不能事后否认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双方建立会话密钥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？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1520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密钥协商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248729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对称加密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3070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微软雅黑"/>
                <a:ea typeface="微软雅黑"/>
              </a:rPr>
              <a:t>数字</a:t>
            </a: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签名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9884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PKI 信任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932815" y="1330960"/>
            <a:ext cx="3968750" cy="1125855"/>
            <a:chOff x="1469" y="2096"/>
            <a:chExt cx="6250" cy="1773"/>
          </a:xfrm>
        </p:grpSpPr>
        <p:grpSp>
          <p:nvGrpSpPr>
            <p:cNvPr id="17" name="组合 16"/>
            <p:cNvGrpSpPr/>
            <p:nvPr/>
          </p:nvGrpSpPr>
          <p:grpSpPr>
            <a:xfrm>
              <a:off x="1469" y="2096"/>
              <a:ext cx="6250" cy="864"/>
              <a:chOff x="1721" y="1921"/>
              <a:chExt cx="6250" cy="864"/>
            </a:xfrm>
          </p:grpSpPr>
          <p:sp>
            <p:nvSpPr>
              <p:cNvPr id="2" name="Rectangle 5"/>
              <p:cNvSpPr/>
              <p:nvPr/>
            </p:nvSpPr>
            <p:spPr>
              <a:xfrm>
                <a:off x="1721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微软雅黑" charset="-122"/>
                    <a:ea typeface="微软雅黑" charset="-122"/>
                  </a:rPr>
                  <a:t>汇款人 A</a:t>
                </a:r>
              </a:p>
            </p:txBody>
          </p:sp>
          <p:sp>
            <p:nvSpPr>
              <p:cNvPr id="3" name="Right Arrow 6"/>
              <p:cNvSpPr/>
              <p:nvPr/>
            </p:nvSpPr>
            <p:spPr>
              <a:xfrm>
                <a:off x="4342" y="2137"/>
                <a:ext cx="1008" cy="432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sz="2400"/>
              </a:p>
            </p:txBody>
          </p:sp>
          <p:sp>
            <p:nvSpPr>
              <p:cNvPr id="5" name="Rectangle 7"/>
              <p:cNvSpPr/>
              <p:nvPr/>
            </p:nvSpPr>
            <p:spPr>
              <a:xfrm>
                <a:off x="5523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微软雅黑" charset="-122"/>
                    <a:ea typeface="微软雅黑" charset="-122"/>
                  </a:rPr>
                  <a:t>收款人 B</a:t>
                </a:r>
              </a:p>
            </p:txBody>
          </p:sp>
        </p:grpSp>
        <p:sp>
          <p:nvSpPr>
            <p:cNvPr id="13" name="Rectangle 8"/>
            <p:cNvSpPr/>
            <p:nvPr/>
          </p:nvSpPr>
          <p:spPr>
            <a:xfrm>
              <a:off x="3226" y="3149"/>
              <a:ext cx="2736" cy="7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攻击者</a:t>
              </a:r>
            </a:p>
          </p:txBody>
        </p:sp>
      </p:grpSp>
      <p:sp>
        <p:nvSpPr>
          <p:cNvPr id="14" name="TextBox 9"/>
          <p:cNvSpPr txBox="1"/>
          <p:nvPr/>
        </p:nvSpPr>
        <p:spPr>
          <a:xfrm>
            <a:off x="5561965" y="1408430"/>
            <a:ext cx="5340985" cy="9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33333"/>
                </a:solidFill>
                <a:latin typeface="微软雅黑" charset="-122"/>
                <a:ea typeface="微软雅黑" charset="-122"/>
              </a:rPr>
              <a:t>攻击者位于信道之中，可以：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窃听内容 · 篡改数据 · 冒充身份 · 事后否认</a:t>
            </a:r>
          </a:p>
        </p:txBody>
      </p:sp>
      <p:sp>
        <p:nvSpPr>
          <p:cNvPr id="19" name="Rectangle 7"/>
          <p:cNvSpPr/>
          <p:nvPr/>
        </p:nvSpPr>
        <p:spPr>
          <a:xfrm>
            <a:off x="7855585" y="5632450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微软雅黑"/>
                <a:ea typeface="微软雅黑"/>
              </a:rPr>
              <a:t>杂凑</a:t>
            </a:r>
            <a:r>
              <a:rPr lang="en-US" altLang="zh-CN" sz="2000" b="1" i="0">
                <a:solidFill>
                  <a:srgbClr val="333333"/>
                </a:solidFill>
                <a:latin typeface="微软雅黑"/>
                <a:ea typeface="微软雅黑"/>
              </a:rPr>
              <a:t>/MAC</a:t>
            </a:r>
          </a:p>
        </p:txBody>
      </p:sp>
      <p:sp>
        <p:nvSpPr>
          <p:cNvPr id="20" name="Rectangle 7"/>
          <p:cNvSpPr/>
          <p:nvPr/>
        </p:nvSpPr>
        <p:spPr>
          <a:xfrm>
            <a:off x="9712325" y="5625465"/>
            <a:ext cx="1620000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zh-CN" sz="2000" b="1" i="0">
                <a:solidFill>
                  <a:srgbClr val="333333"/>
                </a:solidFill>
                <a:latin typeface="微软雅黑"/>
                <a:ea typeface="微软雅黑"/>
              </a:rPr>
              <a:t>公钥加密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7073" y="810895"/>
            <a:ext cx="8234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案例</a:t>
            </a: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回顾</a:t>
            </a: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：设计一次安全的网络转账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32815" y="2800985"/>
          <a:ext cx="10432415" cy="2346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5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96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安全目标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应选密码学机制</a:t>
                      </a:r>
                    </a:p>
                  </a:txBody>
                  <a:tcPr marL="73152" marR="73152" marT="18288" marB="18288" anchor="ctr"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转账内容不能被窃听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对称加密（保护后续通信）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转账金额不能被篡改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zh-CN"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杂凑</a:t>
                      </a: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 / MAC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接收方确认发送者身份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数字签名 + PKI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发送方不能事后否认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数字签名</a:t>
                      </a:r>
                    </a:p>
                  </a:txBody>
                  <a:tcPr marL="73152" marR="73152" marT="18288" marB="18288" anchor="ctr">
                    <a:solidFill>
                      <a:srgbClr val="FB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1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双方建立会话密钥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 i="0">
                          <a:solidFill>
                            <a:srgbClr val="404040"/>
                          </a:solidFill>
                          <a:latin typeface="微软雅黑"/>
                          <a:ea typeface="微软雅黑"/>
                        </a:rPr>
                        <a:t>密钥协商或公钥加密</a:t>
                      </a:r>
                    </a:p>
                  </a:txBody>
                  <a:tcPr marL="73152" marR="73152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234940"/>
            <a:ext cx="1078992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C00000"/>
                </a:solidFill>
                <a:latin typeface="微软雅黑"/>
                <a:ea typeface="微软雅黑"/>
              </a:rPr>
              <a:t>实际系统中的使用次序：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① 密钥协商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6150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② 对称加密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0779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③ MAC / 签名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95409" y="5632450"/>
            <a:ext cx="2526029" cy="548640"/>
          </a:xfrm>
          <a:prstGeom prst="rect">
            <a:avLst/>
          </a:prstGeom>
          <a:solidFill>
            <a:srgbClr val="FB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33333"/>
                </a:solidFill>
                <a:latin typeface="微软雅黑"/>
                <a:ea typeface="微软雅黑"/>
              </a:rPr>
              <a:t>④ PKI 信任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932815" y="1330960"/>
            <a:ext cx="3968750" cy="1125855"/>
            <a:chOff x="1469" y="2096"/>
            <a:chExt cx="6250" cy="1773"/>
          </a:xfrm>
        </p:grpSpPr>
        <p:grpSp>
          <p:nvGrpSpPr>
            <p:cNvPr id="17" name="组合 16"/>
            <p:cNvGrpSpPr/>
            <p:nvPr/>
          </p:nvGrpSpPr>
          <p:grpSpPr>
            <a:xfrm>
              <a:off x="1469" y="2096"/>
              <a:ext cx="6250" cy="864"/>
              <a:chOff x="1721" y="1921"/>
              <a:chExt cx="6250" cy="864"/>
            </a:xfrm>
          </p:grpSpPr>
          <p:sp>
            <p:nvSpPr>
              <p:cNvPr id="2" name="Rectangle 5"/>
              <p:cNvSpPr/>
              <p:nvPr/>
            </p:nvSpPr>
            <p:spPr>
              <a:xfrm>
                <a:off x="1721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微软雅黑" charset="-122"/>
                    <a:ea typeface="微软雅黑" charset="-122"/>
                  </a:rPr>
                  <a:t>汇款人 A</a:t>
                </a:r>
              </a:p>
            </p:txBody>
          </p:sp>
          <p:sp>
            <p:nvSpPr>
              <p:cNvPr id="3" name="Right Arrow 6"/>
              <p:cNvSpPr/>
              <p:nvPr/>
            </p:nvSpPr>
            <p:spPr>
              <a:xfrm>
                <a:off x="4342" y="2137"/>
                <a:ext cx="1008" cy="432"/>
              </a:xfrm>
              <a:prstGeom prst="rightArrow">
                <a:avLst/>
              </a:prstGeom>
              <a:solidFill>
                <a:srgbClr val="C00000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/>
                <a:endParaRPr sz="2400"/>
              </a:p>
            </p:txBody>
          </p:sp>
          <p:sp>
            <p:nvSpPr>
              <p:cNvPr id="5" name="Rectangle 7"/>
              <p:cNvSpPr/>
              <p:nvPr/>
            </p:nvSpPr>
            <p:spPr>
              <a:xfrm>
                <a:off x="5523" y="1921"/>
                <a:ext cx="2448" cy="864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/>
              <a:lstStyle/>
              <a:p>
                <a:pPr algn="ctr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1" i="0">
                    <a:solidFill>
                      <a:srgbClr val="333333"/>
                    </a:solidFill>
                    <a:latin typeface="微软雅黑" charset="-122"/>
                    <a:ea typeface="微软雅黑" charset="-122"/>
                  </a:rPr>
                  <a:t>收款人 B</a:t>
                </a:r>
              </a:p>
            </p:txBody>
          </p:sp>
        </p:grpSp>
        <p:sp>
          <p:nvSpPr>
            <p:cNvPr id="13" name="Rectangle 8"/>
            <p:cNvSpPr/>
            <p:nvPr/>
          </p:nvSpPr>
          <p:spPr>
            <a:xfrm>
              <a:off x="3226" y="3149"/>
              <a:ext cx="2736" cy="72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b="1" i="0">
                  <a:solidFill>
                    <a:srgbClr val="FFFFFF"/>
                  </a:solidFill>
                  <a:latin typeface="微软雅黑" charset="-122"/>
                  <a:ea typeface="微软雅黑" charset="-122"/>
                </a:rPr>
                <a:t>攻击者</a:t>
              </a:r>
            </a:p>
          </p:txBody>
        </p:sp>
      </p:grpSp>
      <p:sp>
        <p:nvSpPr>
          <p:cNvPr id="14" name="TextBox 9"/>
          <p:cNvSpPr txBox="1"/>
          <p:nvPr/>
        </p:nvSpPr>
        <p:spPr>
          <a:xfrm>
            <a:off x="5561965" y="1408430"/>
            <a:ext cx="5340985" cy="97091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400" b="1" i="0">
                <a:solidFill>
                  <a:srgbClr val="333333"/>
                </a:solidFill>
                <a:latin typeface="微软雅黑" charset="-122"/>
                <a:ea typeface="微软雅黑" charset="-122"/>
              </a:rPr>
              <a:t>攻击者位于信道之中，可以：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404040"/>
                </a:solidFill>
                <a:latin typeface="微软雅黑" charset="-122"/>
                <a:ea typeface="微软雅黑" charset="-122"/>
              </a:rPr>
              <a:t>窃听内容 · 篡改数据 · 冒充身份 · 事后否认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97472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33333"/>
                </a:solidFill>
                <a:latin typeface="微软雅黑"/>
                <a:ea typeface="微软雅黑"/>
              </a:rPr>
              <a:t>本章核心结论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61465"/>
            <a:ext cx="10789920" cy="159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古典密码帮助理解加密思想，但不能满足现代安全需求；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现代密码学的安全性建立在密钥、算法、数学假设和安全模型之上；</a:t>
            </a: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sz="2000" b="0" i="0">
                <a:solidFill>
                  <a:srgbClr val="404040"/>
                </a:solidFill>
                <a:latin typeface="微软雅黑"/>
                <a:ea typeface="微软雅黑"/>
              </a:rPr>
              <a:t>密码学是网络安全的核心基础，但不能单独解决所有网络安全问题。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974725"/>
            <a:ext cx="11155680" cy="3384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2200" b="1" i="0">
                <a:solidFill>
                  <a:srgbClr val="333333"/>
                </a:solidFill>
                <a:latin typeface="微软雅黑"/>
                <a:ea typeface="微软雅黑"/>
              </a:rPr>
              <a:t>课程作业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61465"/>
            <a:ext cx="10789920" cy="14357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1.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简述一个密码体制主要包含哪些部分。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2.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假设密钥为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“KEY”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，使用维吉尼亚密码对明文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“CRYPTOGRAPHY”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进行加密，计算对应的密文。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00000"/>
              </a:buClr>
              <a:buSzTx/>
              <a:buFont typeface="Wingdings" panose="05000000000000000000" charset="0"/>
              <a:buChar char=""/>
            </a:pP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3.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假设代换密码使用的置换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 K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如表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 1.5 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所示，密文为</a:t>
            </a:r>
            <a:r>
              <a:rPr lang="en-US" altLang="zh-CN" sz="2000" b="0" i="0">
                <a:solidFill>
                  <a:srgbClr val="404040"/>
                </a:solidFill>
                <a:latin typeface="微软雅黑"/>
                <a:ea typeface="微软雅黑"/>
              </a:rPr>
              <a:t>“VTSEGDT”</a:t>
            </a:r>
            <a:r>
              <a:rPr lang="zh-CN" altLang="en-US" sz="2000" b="0" i="0">
                <a:solidFill>
                  <a:srgbClr val="404040"/>
                </a:solidFill>
                <a:latin typeface="微软雅黑"/>
                <a:ea typeface="微软雅黑"/>
              </a:rPr>
              <a:t>，计算对应的明文。</a:t>
            </a:r>
          </a:p>
        </p:txBody>
      </p:sp>
      <p:cxnSp>
        <p:nvCxnSpPr>
          <p:cNvPr id="18" name="Connector 4"/>
          <p:cNvCxnSpPr/>
          <p:nvPr/>
        </p:nvCxnSpPr>
        <p:spPr>
          <a:xfrm>
            <a:off x="502920" y="726694"/>
            <a:ext cx="11183112" cy="0"/>
          </a:xfrm>
          <a:prstGeom prst="line">
            <a:avLst/>
          </a:prstGeom>
          <a:ln w="1524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"/>
          <p:cNvSpPr/>
          <p:nvPr/>
        </p:nvSpPr>
        <p:spPr>
          <a:xfrm>
            <a:off x="502920" y="230505"/>
            <a:ext cx="429895" cy="41148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 i="0">
                <a:solidFill>
                  <a:srgbClr val="FFFFFF"/>
                </a:solidFill>
                <a:latin typeface="微软雅黑"/>
                <a:ea typeface="微软雅黑"/>
              </a:rPr>
              <a:t>0</a:t>
            </a:r>
            <a:r>
              <a:rPr lang="en-US" b="1" i="0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2"/>
          <p:cNvSpPr txBox="1"/>
          <p:nvPr/>
        </p:nvSpPr>
        <p:spPr>
          <a:xfrm>
            <a:off x="1066800" y="221615"/>
            <a:ext cx="4134485" cy="492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zh-CN" sz="3200" b="1" i="0">
                <a:solidFill>
                  <a:srgbClr val="C00000"/>
                </a:solidFill>
                <a:latin typeface="微软雅黑"/>
                <a:ea typeface="微软雅黑"/>
                <a:sym typeface="+mn-ea"/>
              </a:rPr>
              <a:t>现代密码学与安全性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630" y="3832225"/>
            <a:ext cx="85725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710180"/>
            <a:ext cx="944575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微软雅黑"/>
                <a:ea typeface="微软雅黑"/>
              </a:rPr>
              <a:t>谢谢！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83480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00000"/>
                </a:solidFill>
                <a:latin typeface="微软雅黑"/>
                <a:ea typeface="微软雅黑"/>
              </a:rPr>
              <a:t>一切安全诉求，最终落到密钥。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85cdf94d-2bb2-4b04-838a-86a44d3bd643"/>
  <p:tag name="COMMONDATA" val="eyJoZGlkIjoiN2NjMGRiN2MwMWUxOGQyNjI2NjFhOWNlNjA1ZDYy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XEDSHAPES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67*70"/>
  <p:tag name="TABLE_ENDDRAG_RECT" val="39*432*867*7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513*198"/>
  <p:tag name="TABLE_ENDDRAG_RECT" val="393*77*513*19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49*207"/>
  <p:tag name="TABLE_ENDDRAG_RECT" val="56*112*849*20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1*184"/>
  <p:tag name="TABLE_ENDDRAG_RECT" val="72*225*821*18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1*184"/>
  <p:tag name="TABLE_ENDDRAG_RECT" val="72*225*821*184"/>
</p:tagLst>
</file>

<file path=ppt/theme/theme1.xml><?xml version="1.0" encoding="utf-8"?>
<a:theme xmlns:a="http://schemas.openxmlformats.org/drawingml/2006/main" name="主题1">
  <a:themeElements>
    <a:clrScheme name="Calligraphy">
      <a:dk1>
        <a:sysClr val="windowText" lastClr="000000"/>
      </a:dk1>
      <a:lt1>
        <a:sysClr val="window" lastClr="FFFFFF"/>
      </a:lt1>
      <a:dk2>
        <a:srgbClr val="411401"/>
      </a:dk2>
      <a:lt2>
        <a:srgbClr val="FFE6E6"/>
      </a:lt2>
      <a:accent1>
        <a:srgbClr val="A24A48"/>
      </a:accent1>
      <a:accent2>
        <a:srgbClr val="B2935C"/>
      </a:accent2>
      <a:accent3>
        <a:srgbClr val="6A9A9A"/>
      </a:accent3>
      <a:accent4>
        <a:srgbClr val="B2B787"/>
      </a:accent4>
      <a:accent5>
        <a:srgbClr val="91644B"/>
      </a:accent5>
      <a:accent6>
        <a:srgbClr val="654A76"/>
      </a:accent6>
      <a:hlink>
        <a:srgbClr val="00A800"/>
      </a:hlink>
      <a:folHlink>
        <a:srgbClr val="FF00FF"/>
      </a:folHlink>
    </a:clrScheme>
    <a:fontScheme name="自定义 1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25</TotalTime>
  <Words>4977</Words>
  <Application>Microsoft Office PowerPoint</Application>
  <PresentationFormat>宽屏</PresentationFormat>
  <Paragraphs>1124</Paragraphs>
  <Slides>51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9" baseType="lpstr">
      <vt:lpstr>等线</vt:lpstr>
      <vt:lpstr>微软雅黑</vt:lpstr>
      <vt:lpstr>Arial</vt:lpstr>
      <vt:lpstr>Arial Black</vt:lpstr>
      <vt:lpstr>Calibri</vt:lpstr>
      <vt:lpstr>Cambria Math</vt:lpstr>
      <vt:lpstr>Wingdings</vt:lpstr>
      <vt:lpstr>主题1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吴鸿轩</dc:creator>
  <cp:lastModifiedBy>temp</cp:lastModifiedBy>
  <cp:revision>870</cp:revision>
  <dcterms:created xsi:type="dcterms:W3CDTF">2026-09-21T01:39:36Z</dcterms:created>
  <dcterms:modified xsi:type="dcterms:W3CDTF">2026-09-21T09:14:37Z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CFB9E36589933C5F9FBD9F6A4B065949_43</vt:lpwstr>
  </property>
  <property fmtid="{D5CDD505-2E9C-101B-9397-08002B2CF9AE}" pid="3" name="KSOProductBuildVer">
    <vt:lpwstr>2052-7.3.1.8967</vt:lpwstr>
  </property>
</Properties>
</file>