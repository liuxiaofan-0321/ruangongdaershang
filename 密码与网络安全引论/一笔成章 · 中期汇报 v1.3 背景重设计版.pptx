
<file path=[Content_Types].xml><?xml version="1.0" encoding="utf-8"?>
<Types xmlns="http://schemas.openxmlformats.org/package/2006/content-types">
  <Default Extension="xml" ContentType="application/vnd.openxmlformats-package.core-properties+xml"/>
  <Default Extension="dat" ContentType="application/x-fontdata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d28a7ea23cd4410" /><Relationship Type="http://schemas.openxmlformats.org/officeDocument/2006/relationships/extended-properties" Target="/docProps/app.xml" Id="R58331d7f3681430a" /><Relationship Type="http://schemas.openxmlformats.org/officeDocument/2006/relationships/officeDocument" Target="/ppt/presentation.xml" Id="Rc2a2e4f996c94ffe" /></Relationships>
</file>

<file path=ppt/presentation.xml><?xml version="1.0" encoding="utf-8"?>
<p:presentation xmlns:p="http://schemas.openxmlformats.org/presentationml/2006/main" embedTrueTypeFonts="1" saveSubsetFonts="1">
  <p:sldMasterIdLst>
    <p:sldMasterId xmlns:r="http://schemas.openxmlformats.org/officeDocument/2006/relationships" id="2147483648" r:id="R944a49e3169644d9"/>
  </p:sldMasterIdLst>
  <p:notesMasterIdLst>
    <p:notesMasterId xmlns:r="http://schemas.openxmlformats.org/officeDocument/2006/relationships" r:id="R73f04e1fe2a047c4"/>
  </p:notesMasterIdLst>
  <p:sldIdLst>
    <p:sldId xmlns:r="http://schemas.openxmlformats.org/officeDocument/2006/relationships" id="256" r:id="R7833d451ee934afa"/>
    <p:sldId xmlns:r="http://schemas.openxmlformats.org/officeDocument/2006/relationships" id="257" r:id="R19b4a795ec9547f5"/>
    <p:sldId xmlns:r="http://schemas.openxmlformats.org/officeDocument/2006/relationships" id="258" r:id="R982e1b768f544a5a"/>
    <p:sldId xmlns:r="http://schemas.openxmlformats.org/officeDocument/2006/relationships" id="259" r:id="Rf0734f72e80646ca"/>
    <p:sldId xmlns:r="http://schemas.openxmlformats.org/officeDocument/2006/relationships" id="260" r:id="R2beee5d9b288441a"/>
    <p:sldId xmlns:r="http://schemas.openxmlformats.org/officeDocument/2006/relationships" id="261" r:id="Rd59250b1d4f94b7b"/>
    <p:sldId xmlns:r="http://schemas.openxmlformats.org/officeDocument/2006/relationships" id="262" r:id="R87cede9db6c14c98"/>
    <p:sldId xmlns:r="http://schemas.openxmlformats.org/officeDocument/2006/relationships" id="263" r:id="R3d1adbea95b5408d"/>
    <p:sldId xmlns:r="http://schemas.openxmlformats.org/officeDocument/2006/relationships" id="264" r:id="R96369f829caf4822"/>
    <p:sldId xmlns:r="http://schemas.openxmlformats.org/officeDocument/2006/relationships" id="265" r:id="R8b6c10392b2047b3"/>
    <p:sldId xmlns:r="http://schemas.openxmlformats.org/officeDocument/2006/relationships" id="266" r:id="R77f485e687f548f3"/>
    <p:sldId xmlns:r="http://schemas.openxmlformats.org/officeDocument/2006/relationships" id="267" r:id="Rf83df5edb3ac48cc"/>
    <p:sldId xmlns:r="http://schemas.openxmlformats.org/officeDocument/2006/relationships" id="268" r:id="R9118e3f348ff4494"/>
  </p:sldIdLst>
  <p:sldSz cx="12192000" cy="6858000"/>
  <p:notesSz cx="6858000" cy="9144000"/>
  <p:embeddedFontLst>
    <p:embeddedFont>
      <p:font typeface="MiSans"/>
      <p:regular xmlns:r="http://schemas.openxmlformats.org/officeDocument/2006/relationships" r:id="Rd7f59d8b33294fb6"/>
    </p:embeddedFont>
  </p:embeddedFontLst>
  <p:defaultTextStyle>
    <a:lvl1pPr xmlns:a="http://schemas.openxmlformats.org/drawingml/2006/main" marL="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xmlns:a="http://schemas.openxmlformats.org/drawingml/2006/main" marL="457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xmlns:a="http://schemas.openxmlformats.org/drawingml/2006/main" marL="914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xmlns:a="http://schemas.openxmlformats.org/drawingml/2006/main" marL="1371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xmlns:a="http://schemas.openxmlformats.org/drawingml/2006/main" marL="18288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xmlns:a="http://schemas.openxmlformats.org/drawingml/2006/main" marL="22860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xmlns:a="http://schemas.openxmlformats.org/drawingml/2006/main" marL="2743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xmlns:a="http://schemas.openxmlformats.org/drawingml/2006/main" marL="3200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xmlns:a="http://schemas.openxmlformats.org/drawingml/2006/main" marL="3657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612e5e463fa4f86" /><Relationship Type="http://schemas.openxmlformats.org/officeDocument/2006/relationships/slideMaster" Target="/ppt/slideMasters/slideMaster1.xml" Id="R944a49e3169644d9" /><Relationship Type="http://schemas.openxmlformats.org/officeDocument/2006/relationships/notesMaster" Target="/ppt/notesMasters/notesMaster1.xml" Id="R73f04e1fe2a047c4" /><Relationship Type="http://schemas.openxmlformats.org/officeDocument/2006/relationships/presProps" Target="/ppt/presProps.xml" Id="R8ea52ed5707543be" /><Relationship Type="http://schemas.openxmlformats.org/officeDocument/2006/relationships/viewProps" Target="/ppt/viewProps.xml" Id="Rca0060307155463e" /><Relationship Type="http://schemas.openxmlformats.org/officeDocument/2006/relationships/tableStyles" Target="/ppt/tableStyles.xml" Id="R2bcb5e0d1d9a4db7" /><Relationship Type="http://schemas.openxmlformats.org/officeDocument/2006/relationships/font" Target="/ppt/fonts/font.dat" Id="Rd7f59d8b33294fb6" /><Relationship Type="http://schemas.openxmlformats.org/officeDocument/2006/relationships/slide" Target="/ppt/slides/slide1.xml" Id="R7833d451ee934afa" /><Relationship Type="http://schemas.openxmlformats.org/officeDocument/2006/relationships/slide" Target="/ppt/slides/slide2.xml" Id="R19b4a795ec9547f5" /><Relationship Type="http://schemas.openxmlformats.org/officeDocument/2006/relationships/slide" Target="/ppt/slides/slide3.xml" Id="R982e1b768f544a5a" /><Relationship Type="http://schemas.openxmlformats.org/officeDocument/2006/relationships/slide" Target="/ppt/slides/slide4.xml" Id="Rf0734f72e80646ca" /><Relationship Type="http://schemas.openxmlformats.org/officeDocument/2006/relationships/slide" Target="/ppt/slides/slide5.xml" Id="R2beee5d9b288441a" /><Relationship Type="http://schemas.openxmlformats.org/officeDocument/2006/relationships/slide" Target="/ppt/slides/slide6.xml" Id="Rd59250b1d4f94b7b" /><Relationship Type="http://schemas.openxmlformats.org/officeDocument/2006/relationships/slide" Target="/ppt/slides/slide7.xml" Id="R87cede9db6c14c98" /><Relationship Type="http://schemas.openxmlformats.org/officeDocument/2006/relationships/slide" Target="/ppt/slides/slide8.xml" Id="R3d1adbea95b5408d" /><Relationship Type="http://schemas.openxmlformats.org/officeDocument/2006/relationships/slide" Target="/ppt/slides/slide9.xml" Id="R96369f829caf4822" /><Relationship Type="http://schemas.openxmlformats.org/officeDocument/2006/relationships/slide" Target="/ppt/slides/slide10.xml" Id="R8b6c10392b2047b3" /><Relationship Type="http://schemas.openxmlformats.org/officeDocument/2006/relationships/slide" Target="/ppt/slides/slide11.xml" Id="R77f485e687f548f3" /><Relationship Type="http://schemas.openxmlformats.org/officeDocument/2006/relationships/slide" Target="/ppt/slides/slide12.xml" Id="Rf83df5edb3ac48cc" /><Relationship Type="http://schemas.openxmlformats.org/officeDocument/2006/relationships/slide" Target="/ppt/slides/slide13.xml" Id="R9118e3f348ff449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0a0d32ba65a4de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PPTD">
  <a:themeElements>
    <a:clrScheme name="PPTD">
      <a:dk1>
        <a:srgbClr val="000000"/>
      </a:dk1>
      <a:lt1>
        <a:srgbClr val="FFFFFF"/>
      </a:lt1>
      <a:dk2>
        <a:srgbClr val="1F2937"/>
      </a:dk2>
      <a:lt2>
        <a:srgbClr val="F3F4F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PTD">
      <a:majorFont>
        <a:latin typeface="MiSans"/>
        <a:ea typeface="MiSans"/>
        <a:cs typeface="MiSans"/>
      </a:majorFont>
      <a:minorFont>
        <a:latin typeface="MiSans"/>
        <a:ea typeface="MiSans"/>
        <a:cs typeface="MiSans"/>
      </a:minorFont>
    </a:fontScheme>
    <a:fmtScheme name="PPTD">
      <a:fillStyleLst>
        <a:solidFill>
          <a:schemeClr val="accent1"/>
        </a:solidFill>
        <a:solidFill>
          <a:schemeClr val="accent2"/>
        </a:solidFill>
        <a:solidFill>
          <a:schemeClr val="accent3"/>
        </a:solidFill>
      </a:fillStyleLst>
      <a:lnStyleLst>
        <a:ln w="6350">
          <a:solidFill>
            <a:schemeClr val="accent1"/>
          </a:solidFill>
          <a:prstDash val="solid"/>
        </a:ln>
        <a:ln w="12700">
          <a:solidFill>
            <a:schemeClr val="accent1"/>
          </a:solidFill>
          <a:prstDash val="solid"/>
        </a:ln>
        <a:ln w="19050">
          <a:solidFill>
            <a:schemeClr val="accent1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lt1"/>
        </a:solidFill>
        <a:solidFill>
          <a:schemeClr val="lt2"/>
        </a:solidFill>
        <a:solidFill>
          <a:schemeClr val="dk1"/>
        </a:soli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cd3bbbb974b4ba1" /><Relationship Type="http://schemas.openxmlformats.org/officeDocument/2006/relationships/notesMaster" Target="/ppt/notesMasters/notesMaster1.xml" Id="Rd670b4faa39d403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9b4b72a1d8b41b6" /><Relationship Type="http://schemas.openxmlformats.org/officeDocument/2006/relationships/notesMaster" Target="/ppt/notesMasters/notesMaster1.xml" Id="Raf635e6c3b354c1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b83b40877de47bf" /><Relationship Type="http://schemas.openxmlformats.org/officeDocument/2006/relationships/notesMaster" Target="/ppt/notesMasters/notesMaster1.xml" Id="Rdc9c3e68b1084cc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4e791cb6b8142d7" /><Relationship Type="http://schemas.openxmlformats.org/officeDocument/2006/relationships/notesMaster" Target="/ppt/notesMasters/notesMaster1.xml" Id="Re8684e773f3e47f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1e7c36e17954d23" /><Relationship Type="http://schemas.openxmlformats.org/officeDocument/2006/relationships/notesMaster" Target="/ppt/notesMasters/notesMaster1.xml" Id="R198903d2f42d4c9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a3342c456184802" /><Relationship Type="http://schemas.openxmlformats.org/officeDocument/2006/relationships/notesMaster" Target="/ppt/notesMasters/notesMaster1.xml" Id="R3dde7fa2e24241b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00d436d2c11411d" /><Relationship Type="http://schemas.openxmlformats.org/officeDocument/2006/relationships/notesMaster" Target="/ppt/notesMasters/notesMaster1.xml" Id="R39b916d434a44d2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57f0934511845bc" /><Relationship Type="http://schemas.openxmlformats.org/officeDocument/2006/relationships/notesMaster" Target="/ppt/notesMasters/notesMaster1.xml" Id="R36cc5775a74a44d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e2eafe682804b33" /><Relationship Type="http://schemas.openxmlformats.org/officeDocument/2006/relationships/notesMaster" Target="/ppt/notesMasters/notesMaster1.xml" Id="R27a13735e4ef483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d08a03b8b544816" /><Relationship Type="http://schemas.openxmlformats.org/officeDocument/2006/relationships/notesMaster" Target="/ppt/notesMasters/notesMaster1.xml" Id="R99d1e29920f84e63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6962050b640d4fe0" /><Relationship Type="http://schemas.openxmlformats.org/officeDocument/2006/relationships/notesMaster" Target="/ppt/notesMasters/notesMaster1.xml" Id="R4b3a5423b3184f61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1f573cd6a0264cae" /><Relationship Type="http://schemas.openxmlformats.org/officeDocument/2006/relationships/notesMaster" Target="/ppt/notesMasters/notesMaster1.xml" Id="Rda90da462a5848db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43b0c187c61c4455" /><Relationship Type="http://schemas.openxmlformats.org/officeDocument/2006/relationships/notesMaster" Target="/ppt/notesMasters/notesMaster1.xml" Id="Rd182a811a24d44e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6b9ae4d15b94d90" /></Relationships>
</file>

<file path=ppt/slideLayouts/slideLayout1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ec4cbec41d448a3" /><Relationship Type="http://schemas.openxmlformats.org/officeDocument/2006/relationships/slideLayout" Target="/ppt/slideLayouts/slideLayout1.xml" Id="R55fca682784f4a07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5fca682784f4a07"/>
  </p:sldLayoutIdLst>
</p:sldMaster>
</file>

<file path=ppt/slideMasters/theme/theme2.xml><?xml version="1.0" encoding="utf-8"?>
<a:theme xmlns:a="http://schemas.openxmlformats.org/drawingml/2006/main" name="PPTD">
  <a:themeElements>
    <a:clrScheme name="PPTD">
      <a:dk1>
        <a:srgbClr val="000000"/>
      </a:dk1>
      <a:lt1>
        <a:srgbClr val="FFFFFF"/>
      </a:lt1>
      <a:dk2>
        <a:srgbClr val="1F2937"/>
      </a:dk2>
      <a:lt2>
        <a:srgbClr val="F3F4F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PTD">
      <a:majorFont>
        <a:latin typeface="MiSans"/>
        <a:ea typeface="MiSans"/>
        <a:cs typeface="MiSans"/>
      </a:majorFont>
      <a:minorFont>
        <a:latin typeface="MiSans"/>
        <a:ea typeface="MiSans"/>
        <a:cs typeface="MiSans"/>
      </a:minorFont>
    </a:fontScheme>
    <a:fmtScheme name="PPTD">
      <a:fillStyleLst>
        <a:solidFill>
          <a:schemeClr val="accent1"/>
        </a:solidFill>
        <a:solidFill>
          <a:schemeClr val="accent2"/>
        </a:solidFill>
        <a:solidFill>
          <a:schemeClr val="accent3"/>
        </a:solidFill>
      </a:fillStyleLst>
      <a:lnStyleLst>
        <a:ln w="6350">
          <a:solidFill>
            <a:schemeClr val="accent1"/>
          </a:solidFill>
          <a:prstDash val="solid"/>
        </a:ln>
        <a:ln w="12700">
          <a:solidFill>
            <a:schemeClr val="accent1"/>
          </a:solidFill>
          <a:prstDash val="solid"/>
        </a:ln>
        <a:ln w="19050">
          <a:solidFill>
            <a:schemeClr val="accent1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lt1"/>
        </a:solidFill>
        <a:solidFill>
          <a:schemeClr val="lt2"/>
        </a:solidFill>
        <a:solidFill>
          <a:schemeClr val="dk1"/>
        </a:soli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0160b288794ea9" /><Relationship Type="http://schemas.openxmlformats.org/officeDocument/2006/relationships/image" Target="/ppt/media/image.jpeg" Id="R64bd09ad6bf2496d" /><Relationship Type="http://schemas.openxmlformats.org/officeDocument/2006/relationships/image" Target="/ppt/media/image.png" Id="Ra4be3b4e6c3743a3" /><Relationship Type="http://schemas.openxmlformats.org/officeDocument/2006/relationships/notesSlide" Target="/ppt/notesSlides/notesSlide1.xml" Id="Rd866e9cc459f428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ac6231b94d4d0e" /><Relationship Type="http://schemas.openxmlformats.org/officeDocument/2006/relationships/image" Target="/ppt/media/image2.png" Id="Rf0295cbc7ddf422a" /><Relationship Type="http://schemas.openxmlformats.org/officeDocument/2006/relationships/image" Target="/ppt/media/image3.png" Id="R55a6baabb9574f56" /><Relationship Type="http://schemas.openxmlformats.org/officeDocument/2006/relationships/notesSlide" Target="/ppt/notesSlides/notesSlide2.xml" Id="Rdae79b74b91249ca" /></Relationships>
</file>

<file path=ppt/slides/_rels/slide3.xml.rels><?xml version='1.0' encoding='utf-8'?>
<Relationships xmlns="http://schemas.openxmlformats.org/package/2006/relationships"><Relationship Type="http://schemas.openxmlformats.org/officeDocument/2006/relationships/slideLayout" Target="/ppt/slideLayouts/slideLayout1.xml" Id="Rc8001e64a67842b5" /><Relationship Type="http://schemas.openxmlformats.org/officeDocument/2006/relationships/image" Target="../media/image2.png" Id="R8111ca3b103543b9" /><Relationship Type="http://schemas.openxmlformats.org/officeDocument/2006/relationships/notesSlide" Target="/ppt/notesSlides/notesSlide3.xml" Id="R22d9e100f2a741f3" /></Relationships>
</file>

<file path=ppt/slides/_rels/slide4.xml.rels><?xml version='1.0' encoding='utf-8'?>
<Relationships xmlns="http://schemas.openxmlformats.org/package/2006/relationships"><Relationship Type="http://schemas.openxmlformats.org/officeDocument/2006/relationships/slideLayout" Target="/ppt/slideLayouts/slideLayout1.xml" Id="R69196f0bfdfb4424" /><Relationship Type="http://schemas.openxmlformats.org/officeDocument/2006/relationships/image" Target="../media/image2.png" Id="R4d5b0e4f11674be6" /><Relationship Type="http://schemas.openxmlformats.org/officeDocument/2006/relationships/notesSlide" Target="/ppt/notesSlides/notesSlide4.xml" Id="R5cf030ff1ea64fa3" /></Relationships>
</file>

<file path=ppt/slides/_rels/slide5.xml.rels><?xml version='1.0' encoding='utf-8'?>
<Relationships xmlns="http://schemas.openxmlformats.org/package/2006/relationships"><Relationship Type="http://schemas.openxmlformats.org/officeDocument/2006/relationships/slideLayout" Target="/ppt/slideLayouts/slideLayout1.xml" Id="R9011c057bf1743e1" /><Relationship Type="http://schemas.openxmlformats.org/officeDocument/2006/relationships/image" Target="../media/image2.png" Id="R2df4bf60c8154ce3" /><Relationship Type="http://schemas.openxmlformats.org/officeDocument/2006/relationships/notesSlide" Target="/ppt/notesSlides/notesSlide5.xml" Id="R6994198332944828" /></Relationships>
</file>

<file path=ppt/slides/_rels/slide6.xml.rels><?xml version='1.0' encoding='utf-8'?>
<Relationships xmlns="http://schemas.openxmlformats.org/package/2006/relationships"><Relationship Type="http://schemas.openxmlformats.org/officeDocument/2006/relationships/slideLayout" Target="/ppt/slideLayouts/slideLayout1.xml" Id="Rbef42b37327a4b31" /><Relationship Type="http://schemas.openxmlformats.org/officeDocument/2006/relationships/image" Target="../media/image2.png" Id="R7a5ecdd0ea3b452b" /><Relationship Type="http://schemas.openxmlformats.org/officeDocument/2006/relationships/notesSlide" Target="/ppt/notesSlides/notesSlide6.xml" Id="R68d1b45e7ec44226" /></Relationships>
</file>

<file path=ppt/slides/_rels/slide7.xml.rels><?xml version='1.0' encoding='utf-8'?>
<Relationships xmlns="http://schemas.openxmlformats.org/package/2006/relationships"><Relationship Type="http://schemas.openxmlformats.org/officeDocument/2006/relationships/slideLayout" Target="/ppt/slideLayouts/slideLayout1.xml" Id="R08a5404e08ec40e2" /><Relationship Type="http://schemas.openxmlformats.org/officeDocument/2006/relationships/image" Target="../media/image2.png" Id="Ra1218e71a70f4951" /><Relationship Type="http://schemas.openxmlformats.org/officeDocument/2006/relationships/image" Target="/ppt/media/image9.png" Id="Re0cf0c114925457a" /><Relationship Type="http://schemas.openxmlformats.org/officeDocument/2006/relationships/notesSlide" Target="/ppt/notesSlides/notesSlide7.xml" Id="R0aba755a97314816" /></Relationships>
</file>

<file path=ppt/slides/_rels/slide8.xml.rels><?xml version='1.0' encoding='utf-8'?>
<Relationships xmlns="http://schemas.openxmlformats.org/package/2006/relationships"><Relationship Type="http://schemas.openxmlformats.org/officeDocument/2006/relationships/slideLayout" Target="/ppt/slideLayouts/slideLayout1.xml" Id="R65e5f60d5e8a4adb" /><Relationship Type="http://schemas.openxmlformats.org/officeDocument/2006/relationships/image" Target="../media/image2.png" Id="Re6275242a3a7464f" /><Relationship Type="http://schemas.openxmlformats.org/officeDocument/2006/relationships/image" Target="/ppt/media/image11.png" Id="R7835fbe91f6b46d2" /><Relationship Type="http://schemas.openxmlformats.org/officeDocument/2006/relationships/image" Target="/ppt/media/image12.png" Id="Rd5c21af2415b4a85" /><Relationship Type="http://schemas.openxmlformats.org/officeDocument/2006/relationships/notesSlide" Target="/ppt/notesSlides/notesSlide8.xml" Id="Rf233d47d66924987" /></Relationships>
</file>

<file path=ppt/slides/_rels/slide9.xml.rels><?xml version='1.0' encoding='utf-8'?>
<Relationships xmlns="http://schemas.openxmlformats.org/package/2006/relationships"><Relationship Type="http://schemas.openxmlformats.org/officeDocument/2006/relationships/slideLayout" Target="/ppt/slideLayouts/slideLayout1.xml" Id="R942a4965d31a4634" /><Relationship Type="http://schemas.openxmlformats.org/officeDocument/2006/relationships/image" Target="../media/image2.png" Id="Ra3bcf15ad8114041" /><Relationship Type="http://schemas.openxmlformats.org/officeDocument/2006/relationships/image" Target="/ppt/media/image14.png" Id="R63e4c054a81e492f" /><Relationship Type="http://schemas.openxmlformats.org/officeDocument/2006/relationships/image" Target="/ppt/media/image15.png" Id="R39335c490c0b408b" /><Relationship Type="http://schemas.openxmlformats.org/officeDocument/2006/relationships/notesSlide" Target="/ppt/notesSlides/notesSlide9.xml" Id="Re4309d1da26442fd" /></Relationships>
</file>

<file path=ppt/slides/_rels/slide10.xml.rels><?xml version='1.0' encoding='utf-8'?>
<Relationships xmlns="http://schemas.openxmlformats.org/package/2006/relationships"><Relationship Type="http://schemas.openxmlformats.org/officeDocument/2006/relationships/slideLayout" Target="/ppt/slideLayouts/slideLayout1.xml" Id="R7eb9d627e9ea4963" /><Relationship Type="http://schemas.openxmlformats.org/officeDocument/2006/relationships/image" Target="../media/image2.png" Id="R2f8df4eaa5874fca" /><Relationship Type="http://schemas.openxmlformats.org/officeDocument/2006/relationships/notesSlide" Target="/ppt/notesSlides/notesSlide10.xml" Id="Rf5f8f3e843d3489e" /></Relationships>
</file>

<file path=ppt/slides/_rels/slide11.xml.rels><?xml version='1.0' encoding='utf-8'?>
<Relationships xmlns="http://schemas.openxmlformats.org/package/2006/relationships"><Relationship Type="http://schemas.openxmlformats.org/officeDocument/2006/relationships/slideLayout" Target="/ppt/slideLayouts/slideLayout1.xml" Id="R9d1301b714d34230" /><Relationship Type="http://schemas.openxmlformats.org/officeDocument/2006/relationships/image" Target="../media/image2.png" Id="R4ad4513a23434691" /><Relationship Type="http://schemas.openxmlformats.org/officeDocument/2006/relationships/notesSlide" Target="/ppt/notesSlides/notesSlide11.xml" Id="R505f54a2e8944a64" /></Relationships>
</file>

<file path=ppt/slides/_rels/slide12.xml.rels><?xml version='1.0' encoding='utf-8'?>
<Relationships xmlns="http://schemas.openxmlformats.org/package/2006/relationships"><Relationship Type="http://schemas.openxmlformats.org/officeDocument/2006/relationships/slideLayout" Target="/ppt/slideLayouts/slideLayout1.xml" Id="Re817f4d08a674a76" /><Relationship Type="http://schemas.openxmlformats.org/officeDocument/2006/relationships/image" Target="../media/image2.png" Id="R2bbce22d94af49f0" /><Relationship Type="http://schemas.openxmlformats.org/officeDocument/2006/relationships/notesSlide" Target="/ppt/notesSlides/notesSlide12.xml" Id="Rd6c5d98e8832433e" /></Relationships>
</file>

<file path=ppt/slides/_rels/slide13.xml.rels><?xml version='1.0' encoding='utf-8'?>
<Relationships xmlns="http://schemas.openxmlformats.org/package/2006/relationships"><Relationship Type="http://schemas.openxmlformats.org/officeDocument/2006/relationships/slideLayout" Target="/ppt/slideLayouts/slideLayout1.xml" Id="Rfb5f4909f0b24f34" /><Relationship Type="http://schemas.openxmlformats.org/officeDocument/2006/relationships/image" Target="../media/image.jpeg" Id="R5d4f09e5d87c4453" /><Relationship Type="http://schemas.openxmlformats.org/officeDocument/2006/relationships/image" Target="/ppt/media/image19.png" Id="R4fd427995df14153" /><Relationship Type="http://schemas.openxmlformats.org/officeDocument/2006/relationships/notesSlide" Target="/ppt/notesSlides/notesSlide13.xml" Id="Rda28a7d0a20e4b3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6D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5F6063F-1D55-4818-8945-4A75DDCBDEE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4bd09ad6bf2496d"/>
          <a:srcRect xmlns:a="http://schemas.openxmlformats.org/drawingml/2006/main" l="0" t="7816" r="0" b="781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14" name="cover-blue-photo-tone">
            <a:extLst xmlns:a="http://schemas.openxmlformats.org/drawingml/2006/main">
              <a:ext uri="{FF2B5EF4-FFF2-40B4-BE49-F238E27FC236}">
                <a16:creationId xmlns:a16="http://schemas.microsoft.com/office/drawing/2014/main" id="{D92A4284-A7C1-4F0C-8009-E9251160C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6DFC">
              <a:alpha val="9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deco-tri-big">
            <a:extLst xmlns:a="http://schemas.openxmlformats.org/drawingml/2006/main">
              <a:ext uri="{FF2B5EF4-FFF2-40B4-BE49-F238E27FC236}">
                <a16:creationId xmlns:a16="http://schemas.microsoft.com/office/drawing/2014/main" id="{74B75EF9-462C-4BAD-94C1-3B2814038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8890000" y="-762000"/>
            <a:ext cx="4064000" cy="27940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A8EB3F"/>
          </a:solidFill>
          <a:ln xmlns:a="http://schemas.openxmlformats.org/drawingml/2006/main">
            <a:noFill/>
          </a:ln>
        </p:spPr>
      </p:sp>
      <p:sp>
        <p:nvSpPr>
          <p:cNvPr id="3" name="deco-tri-small">
            <a:extLst xmlns:a="http://schemas.openxmlformats.org/drawingml/2006/main">
              <a:ext uri="{FF2B5EF4-FFF2-40B4-BE49-F238E27FC236}">
                <a16:creationId xmlns:a16="http://schemas.microsoft.com/office/drawing/2014/main" id="{66FE613F-1B3D-49A0-B1B7-C810CAC68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508000" y="5588000"/>
            <a:ext cx="1524000" cy="11430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A8EB3F"/>
          </a:solidFill>
          <a:ln xmlns:a="http://schemas.openxmlformats.org/drawingml/2006/main">
            <a:noFill/>
          </a:ln>
        </p:spPr>
      </p:sp>
      <p:sp>
        <p:nvSpPr>
          <p:cNvPr id="4" name="deco-circle">
            <a:extLst xmlns:a="http://schemas.openxmlformats.org/drawingml/2006/main">
              <a:ext uri="{FF2B5EF4-FFF2-40B4-BE49-F238E27FC236}">
                <a16:creationId xmlns:a16="http://schemas.microsoft.com/office/drawing/2014/main" id="{B6EA7263-84E8-4BD2-82D9-752A8D608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4000" y="4191000"/>
            <a:ext cx="1905000" cy="19050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31750">
            <a:solidFill>
              <a:srgbClr val="FFFFFF">
                <a:alpha val="60000"/>
              </a:srgbClr>
            </a:solidFill>
          </a:ln>
        </p:spPr>
      </p:sp>
      <p:sp>
        <p:nvSpPr>
          <p:cNvPr id="5" name="deco-dot">
            <a:extLst xmlns:a="http://schemas.openxmlformats.org/drawingml/2006/main">
              <a:ext uri="{FF2B5EF4-FFF2-40B4-BE49-F238E27FC236}">
                <a16:creationId xmlns:a16="http://schemas.microsoft.com/office/drawing/2014/main" id="{D8C76508-EDD8-42A5-BAA0-91DDF8F69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5200" y="51054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8EB3F"/>
          </a:solidFill>
          <a:ln xmlns:a="http://schemas.openxmlformats.org/drawingml/2006/main">
            <a:noFill/>
          </a:ln>
        </p:spPr>
      </p:sp>
      <p:sp>
        <p:nvSpPr>
          <p:cNvPr id="6" name="cover-org">
            <a:extLst xmlns:a="http://schemas.openxmlformats.org/drawingml/2006/main">
              <a:ext uri="{FF2B5EF4-FFF2-40B4-BE49-F238E27FC236}">
                <a16:creationId xmlns:a16="http://schemas.microsoft.com/office/drawing/2014/main" id="{C33AF4D0-87A2-49F8-A472-E8FA70CD0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" y="558800"/>
            <a:ext cx="711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</a:pPr>
            <a:r>
              <a:rPr sz="1100" b="1" spc="100">
                <a:solidFill>
                  <a:srgbClr val="D6E6FF"/>
                </a:solidFill>
                <a:latin typeface="MiSans"/>
                <a:ea typeface="MiSans"/>
                <a:cs typeface="MiSans"/>
              </a:rPr>
              <a:t>华东师范大学 · 本科生创新训练培育项目（创业训练类）</a:t>
            </a:r>
            <a:endParaRPr sz="1100"/>
          </a:p>
        </p:txBody>
      </p:sp>
      <p:sp>
        <p:nvSpPr>
          <p:cNvPr id="7" name="cover-title">
            <a:extLst xmlns:a="http://schemas.openxmlformats.org/drawingml/2006/main">
              <a:ext uri="{FF2B5EF4-FFF2-40B4-BE49-F238E27FC236}">
                <a16:creationId xmlns:a16="http://schemas.microsoft.com/office/drawing/2014/main" id="{8CB1DAA8-6BE3-4991-9FE1-1BD465136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25600"/>
            <a:ext cx="6096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</a:pPr>
            <a:r>
              <a:rPr sz="6200" b="1" spc="400">
                <a:solidFill>
                  <a:srgbClr val="FFFFFF"/>
                </a:solidFill>
                <a:latin typeface="MiSans"/>
                <a:ea typeface="MiSans"/>
                <a:cs typeface="MiSans"/>
              </a:rPr>
              <a:t>一笔成章</a:t>
            </a:r>
            <a:endParaRPr sz="6200"/>
          </a:p>
        </p:txBody>
      </p:sp>
      <p:sp>
        <p:nvSpPr>
          <p:cNvPr id="8" name="cover-sub">
            <a:extLst xmlns:a="http://schemas.openxmlformats.org/drawingml/2006/main">
              <a:ext uri="{FF2B5EF4-FFF2-40B4-BE49-F238E27FC236}">
                <a16:creationId xmlns:a16="http://schemas.microsoft.com/office/drawing/2014/main" id="{E21E416E-C26B-48CC-B3D0-72B7F3CA1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" y="2819400"/>
            <a:ext cx="5969000" cy="33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</a:pPr>
            <a:r>
              <a:rPr sz="1800" b="1">
                <a:solidFill>
                  <a:srgbClr val="EAF2FF"/>
                </a:solidFill>
                <a:latin typeface="MiSans"/>
                <a:ea typeface="MiSans"/>
                <a:cs typeface="MiSans"/>
              </a:rPr>
              <a:t>基于视觉模型的全场景汉字书法智能反馈系统</a:t>
            </a:r>
            <a:endParaRPr sz="1800"/>
          </a:p>
        </p:txBody>
      </p:sp>
      <p:sp>
        <p:nvSpPr>
          <p:cNvPr id="9" name="cover-tag-bg">
            <a:extLst xmlns:a="http://schemas.openxmlformats.org/drawingml/2006/main">
              <a:ext uri="{FF2B5EF4-FFF2-40B4-BE49-F238E27FC236}">
                <a16:creationId xmlns:a16="http://schemas.microsoft.com/office/drawing/2014/main" id="{62BC7203-DBC5-4B91-A81B-B96773F6F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" y="3454400"/>
            <a:ext cx="1498600" cy="381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A8EB3F"/>
          </a:solidFill>
          <a:ln xmlns:a="http://schemas.openxmlformats.org/drawingml/2006/main">
            <a:noFill/>
          </a:ln>
        </p:spPr>
      </p:sp>
      <p:sp>
        <p:nvSpPr>
          <p:cNvPr id="10" name="cover-tag">
            <a:extLst xmlns:a="http://schemas.openxmlformats.org/drawingml/2006/main">
              <a:ext uri="{FF2B5EF4-FFF2-40B4-BE49-F238E27FC236}">
                <a16:creationId xmlns:a16="http://schemas.microsoft.com/office/drawing/2014/main" id="{1853C196-BCC0-476E-8E9A-7CA8C23C8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" y="3454400"/>
            <a:ext cx="1498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</a:pPr>
            <a:r>
              <a:rPr sz="1400" b="1" spc="600">
                <a:solidFill>
                  <a:srgbClr val="0A2A6B"/>
                </a:solidFill>
                <a:latin typeface="MiSans"/>
                <a:ea typeface="MiSans"/>
                <a:cs typeface="MiSans"/>
              </a:rPr>
              <a:t>中期汇报</a:t>
            </a:r>
            <a:endParaRPr sz="1400"/>
          </a:p>
        </p:txBody>
      </p:sp>
      <p:sp>
        <p:nvSpPr>
          <p:cNvPr id="11" name="cover-info">
            <a:extLst xmlns:a="http://schemas.openxmlformats.org/drawingml/2006/main">
              <a:ext uri="{FF2B5EF4-FFF2-40B4-BE49-F238E27FC236}">
                <a16:creationId xmlns:a16="http://schemas.microsoft.com/office/drawing/2014/main" id="{7356D927-F951-489B-BADE-BFCD392ED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" y="4318000"/>
            <a:ext cx="5842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80000"/>
              </a:lnSpc>
              <a:buNone/>
            </a:pPr>
            <a:r>
              <a:rPr sz="1200" b="1">
                <a:solidFill>
                  <a:srgbClr val="D6E6FF"/>
                </a:solidFill>
                <a:latin typeface="MiSans"/>
                <a:ea typeface="MiSans"/>
                <a:cs typeface="MiSans"/>
              </a:rPr>
              <a:t>汇报人：刘小凡（软件工程学院）　　指导教师：万成城</a:t>
            </a:r>
            <a:endParaRPr sz="1200"/>
          </a:p>
          <a:p xmlns:a="http://schemas.openxmlformats.org/drawingml/2006/main">
            <a:pPr algn="l">
              <a:lnSpc>
                <a:spcPct val="180000"/>
              </a:lnSpc>
              <a:buNone/>
            </a:pPr>
            <a:r>
              <a:rPr sz="1200" b="1">
                <a:solidFill>
                  <a:srgbClr val="D6E6FF"/>
                </a:solidFill>
                <a:latin typeface="MiSans"/>
                <a:ea typeface="MiSans"/>
                <a:cs typeface="MiSans"/>
              </a:rPr>
              <a:t>2026 年 10 月</a:t>
            </a:r>
            <a:endParaRPr sz="1200"/>
          </a:p>
        </p:txBody>
      </p:sp>
      <p:pic>
        <p:nvPicPr>
          <p:cNvPr id="12" name="cover-img">
            <a:extLst xmlns:a="http://schemas.openxmlformats.org/drawingml/2006/main">
              <a:ext uri="{FF2B5EF4-FFF2-40B4-BE49-F238E27FC236}">
                <a16:creationId xmlns:a16="http://schemas.microsoft.com/office/drawing/2014/main" id="{FACB861A-A558-4C2B-9358-E50E7B49B39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4be3b4e6c3743a3"/>
          <a:srcRect xmlns:a="http://schemas.openxmlformats.org/drawingml/2006/main" l="0" t="-423" r="0" b="-42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985000" y="1242060"/>
            <a:ext cx="4481830" cy="315722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3" name="cover-img-cap">
            <a:extLst xmlns:a="http://schemas.openxmlformats.org/drawingml/2006/main">
              <a:ext uri="{FF2B5EF4-FFF2-40B4-BE49-F238E27FC236}">
                <a16:creationId xmlns:a16="http://schemas.microsoft.com/office/drawing/2014/main" id="{E929685B-A7C1-44F1-90C1-D32B9C340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699000"/>
            <a:ext cx="4572000" cy="20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</a:pPr>
            <a:r>
              <a:rPr sz="950" b="1">
                <a:solidFill>
                  <a:srgbClr val="C9DCFF"/>
                </a:solidFill>
                <a:latin typeface="MiSans"/>
                <a:ea typeface="MiSans"/>
                <a:cs typeface="MiSans"/>
              </a:rPr>
              <a:t>iPad 端 AI 分析结果实拍：参考结构匹配度 + 四图对照 + 点评建议</a:t>
            </a:r>
            <a:endParaRPr sz="950"/>
          </a:p>
        </p:txBody>
      </p:sp>
    </p:spTree>
    <p:extLst>
      <p:ext uri="{BB962C8B-B14F-4D97-AF65-F5344CB8AC3E}">
        <p14:creationId xmlns:p14="http://schemas.microsoft.com/office/powerpoint/2010/main" val="523044439"/>
      </p:ext>
    </p:extLst>
  </p:cSld>
</p:sld>
</file>

<file path=ppt/slides/slide2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E7EFFB"/>
            </a:gs>
            <a:gs pos="48000">
              <a:srgbClr val="F1F5FC"/>
            </a:gs>
            <a:gs pos="100000">
              <a:srgbClr val="E9F2FF"/>
            </a:gs>
          </a:gsLst>
          <a:lin ang="168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C168434-0F20-4EDB-A153-52EA47E0B80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0295cbc7ddf422a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38" name="reference-cover-triangle">
            <a:extLst xmlns:a="http://schemas.openxmlformats.org/drawingml/2006/main">
              <a:ext uri="{FF2B5EF4-FFF2-40B4-BE49-F238E27FC236}">
                <a16:creationId xmlns:a16="http://schemas.microsoft.com/office/drawing/2014/main" id="{3401BBA5-2E9F-4AFF-BE89-9066183C1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0" y="5905500"/>
            <a:ext cx="533400" cy="381000"/>
          </a:xfrm>
          <a:prstGeom xmlns:a="http://schemas.openxmlformats.org/drawingml/2006/main" prst="triangl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7" name="reference-cover-ring">
            <a:extLst xmlns:a="http://schemas.openxmlformats.org/drawingml/2006/main">
              <a:ext uri="{FF2B5EF4-FFF2-40B4-BE49-F238E27FC236}">
                <a16:creationId xmlns:a16="http://schemas.microsoft.com/office/drawing/2014/main" id="{A350605F-69EA-4A56-B048-0AB25F09C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95250"/>
            <a:ext cx="1181100" cy="11811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" name="hd-bar">
            <a:extLst xmlns:a="http://schemas.openxmlformats.org/drawingml/2006/main">
              <a:ext uri="{FF2B5EF4-FFF2-40B4-BE49-F238E27FC236}">
                <a16:creationId xmlns:a16="http://schemas.microsoft.com/office/drawing/2014/main" id="{DA93D536-F5FB-43AB-879F-C8C87FFA2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8000"/>
            <a:ext cx="76200" cy="3048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" name="hd-title">
            <a:extLst xmlns:a="http://schemas.openxmlformats.org/drawingml/2006/main">
              <a:ext uri="{FF2B5EF4-FFF2-40B4-BE49-F238E27FC236}">
                <a16:creationId xmlns:a16="http://schemas.microsoft.com/office/drawing/2014/main" id="{44FDA1B4-48C5-4B8D-8F05-3C68263BE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19100"/>
            <a:ext cx="101346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>
              <a:defRPr sz="2200" b="1">
                <a:solidFill>
                  <a:srgbClr val="FFFFFF"/>
                </a:solidFill>
              </a:defRPr>
            </a:defPPr>
            <a:lvl1pPr>
              <a:defRPr sz="2200" b="1">
                <a:solidFill>
                  <a:srgbClr val="FFFFFF"/>
                </a:solidFill>
              </a:defRPr>
            </a:lvl1pPr>
            <a:lvl2pPr>
              <a:defRPr sz="2200" b="1">
                <a:solidFill>
                  <a:srgbClr val="FFFFFF"/>
                </a:solidFill>
              </a:defRPr>
            </a:lvl2pPr>
            <a:lvl3pPr>
              <a:defRPr sz="2200" b="1">
                <a:solidFill>
                  <a:srgbClr val="FFFFFF"/>
                </a:solidFill>
              </a:defRPr>
            </a:lvl3pPr>
            <a:lvl4pPr>
              <a:defRPr sz="2200" b="1">
                <a:solidFill>
                  <a:srgbClr val="FFFFFF"/>
                </a:solidFill>
              </a:defRPr>
            </a:lvl4pPr>
            <a:lvl5pPr>
              <a:defRPr sz="2200" b="1">
                <a:solidFill>
                  <a:srgbClr val="FFFFFF"/>
                </a:solidFill>
              </a:defRPr>
            </a:lvl5pPr>
            <a:lvl6pPr>
              <a:defRPr sz="2200" b="1">
                <a:solidFill>
                  <a:srgbClr val="FFFFFF"/>
                </a:solidFill>
              </a:defRPr>
            </a:lvl6pPr>
            <a:lvl7pPr>
              <a:defRPr sz="2200" b="1">
                <a:solidFill>
                  <a:srgbClr val="FFFFFF"/>
                </a:solidFill>
              </a:defRPr>
            </a:lvl7pPr>
            <a:lvl8pPr>
              <a:defRPr sz="2200" b="1">
                <a:solidFill>
                  <a:srgbClr val="FFFFFF"/>
                </a:solidFill>
              </a:defRPr>
            </a:lvl8pPr>
            <a:lvl9pPr>
              <a:defRPr sz="220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2200" b="1">
                <a:solidFill>
                  <a:srgbClr val="FFFFFF"/>
                </a:solidFill>
              </a:defRPr>
            </a:pPr>
            <a:r>
              <a:rPr sz="2200" b="1">
                <a:solidFill>
                  <a:srgbClr val="FFFFFF"/>
                </a:solidFill>
                <a:latin typeface="MiSans"/>
                <a:ea typeface="MiSans"/>
                <a:cs typeface="MiSans"/>
              </a:rPr>
              <a:t>项目简介：核心功能与用户画像</a:t>
            </a:r>
            <a:endParaRPr sz="2200"/>
          </a:p>
        </p:txBody>
      </p:sp>
      <p:sp>
        <p:nvSpPr>
          <p:cNvPr id="4" name="hd-tag">
            <a:extLst xmlns:a="http://schemas.openxmlformats.org/drawingml/2006/main">
              <a:ext uri="{FF2B5EF4-FFF2-40B4-BE49-F238E27FC236}">
                <a16:creationId xmlns:a16="http://schemas.microsoft.com/office/drawing/2014/main" id="{0B29422D-F266-45B6-8200-2417E143A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180975"/>
            <a:ext cx="762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900" b="0">
                <a:solidFill>
                  <a:srgbClr val="CBE1FF"/>
                </a:solidFill>
                <a:latin typeface="MiSans"/>
                <a:ea typeface="MiSans"/>
                <a:cs typeface="MiSans"/>
              </a:defRPr>
            </a:defPPr>
            <a:lvl1pPr algn="l">
              <a:buNone/>
              <a:defRPr sz="975" b="0">
                <a:solidFill>
                  <a:srgbClr val="076DFC"/>
                </a:solidFill>
                <a:latin typeface="MiSans"/>
                <a:ea typeface="MiSans"/>
                <a:cs typeface="MiSans"/>
              </a:defRPr>
            </a:lvl1pPr>
            <a:lvl2pPr algn="l">
              <a:buNone/>
              <a:defRPr sz="975" b="0">
                <a:solidFill>
                  <a:srgbClr val="076DFC"/>
                </a:solidFill>
                <a:latin typeface="MiSans"/>
                <a:ea typeface="MiSans"/>
                <a:cs typeface="MiSans"/>
              </a:defRPr>
            </a:lvl2pPr>
            <a:lvl3pPr algn="l">
              <a:buNone/>
              <a:defRPr sz="975" b="0">
                <a:solidFill>
                  <a:srgbClr val="076DFC"/>
                </a:solidFill>
                <a:latin typeface="MiSans"/>
                <a:ea typeface="MiSans"/>
                <a:cs typeface="MiSans"/>
              </a:defRPr>
            </a:lvl3pPr>
            <a:lvl4pPr algn="l">
              <a:buNone/>
              <a:defRPr sz="975" b="0">
                <a:solidFill>
                  <a:srgbClr val="076DFC"/>
                </a:solidFill>
                <a:latin typeface="MiSans"/>
                <a:ea typeface="MiSans"/>
                <a:cs typeface="MiSans"/>
              </a:defRPr>
            </a:lvl4pPr>
            <a:lvl5pPr algn="l">
              <a:buNone/>
              <a:defRPr sz="975" b="0">
                <a:solidFill>
                  <a:srgbClr val="076DFC"/>
                </a:solidFill>
                <a:latin typeface="MiSans"/>
                <a:ea typeface="MiSans"/>
                <a:cs typeface="MiSans"/>
              </a:defRPr>
            </a:lvl5pPr>
            <a:lvl6pPr algn="l">
              <a:buNone/>
              <a:defRPr sz="975" b="0">
                <a:solidFill>
                  <a:srgbClr val="076DFC"/>
                </a:solidFill>
                <a:latin typeface="MiSans"/>
                <a:ea typeface="MiSans"/>
                <a:cs typeface="MiSans"/>
              </a:defRPr>
            </a:lvl6pPr>
            <a:lvl7pPr algn="l">
              <a:buNone/>
              <a:defRPr sz="975" b="0">
                <a:solidFill>
                  <a:srgbClr val="076DFC"/>
                </a:solidFill>
                <a:latin typeface="MiSans"/>
                <a:ea typeface="MiSans"/>
                <a:cs typeface="MiSans"/>
              </a:defRPr>
            </a:lvl7pPr>
            <a:lvl8pPr algn="l">
              <a:buNone/>
              <a:defRPr sz="975" b="0">
                <a:solidFill>
                  <a:srgbClr val="076DFC"/>
                </a:solidFill>
                <a:latin typeface="MiSans"/>
                <a:ea typeface="MiSans"/>
                <a:cs typeface="MiSans"/>
              </a:defRPr>
            </a:lvl8pPr>
            <a:lvl9pPr algn="l">
              <a:buNone/>
              <a:defRPr sz="975" b="0">
                <a:solidFill>
                  <a:srgbClr val="076DFC"/>
                </a:solidFill>
                <a:latin typeface="MiSans"/>
                <a:ea typeface="MiSans"/>
                <a:cs typeface="MiSans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900" b="0">
                <a:solidFill>
                  <a:srgbClr val="CBE1FF"/>
                </a:solidFill>
                <a:latin typeface="MiSans"/>
                <a:ea typeface="MiSans"/>
                <a:cs typeface="MiSans"/>
              </a:defRPr>
            </a:pPr>
            <a:r>
              <a:rPr sz="900" b="0">
                <a:solidFill>
                  <a:srgbClr val="CBE1FF"/>
                </a:solidFill>
                <a:latin typeface="MiSans"/>
                <a:ea typeface="MiSans"/>
                <a:cs typeface="MiSans"/>
              </a:rPr>
              <a:t>01 · 项目背景与意义</a:t>
            </a:r>
            <a:endParaRPr sz="1000"/>
          </a:p>
        </p:txBody>
      </p:sp>
      <p:sp>
        <p:nvSpPr>
          <p:cNvPr id="5" name="hd-line">
            <a:extLst xmlns:a="http://schemas.openxmlformats.org/drawingml/2006/main">
              <a:ext uri="{FF2B5EF4-FFF2-40B4-BE49-F238E27FC236}">
                <a16:creationId xmlns:a16="http://schemas.microsoft.com/office/drawing/2014/main" id="{70FFE422-722A-4676-9CD9-DD48E53C1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90600"/>
            <a:ext cx="742950" cy="28575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6" name="intro-text">
            <a:extLst xmlns:a="http://schemas.openxmlformats.org/drawingml/2006/main">
              <a:ext uri="{FF2B5EF4-FFF2-40B4-BE49-F238E27FC236}">
                <a16:creationId xmlns:a16="http://schemas.microsoft.com/office/drawing/2014/main" id="{39F44D18-4E0C-4805-94A2-460763593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95400"/>
            <a:ext cx="55880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1350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defPPr>
            <a:lvl1pPr>
              <a:buNone/>
              <a:defRPr sz="1350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1pPr>
            <a:lvl2pPr>
              <a:buNone/>
              <a:defRPr sz="1350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2pPr>
            <a:lvl3pPr>
              <a:buNone/>
              <a:defRPr sz="1350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3pPr>
            <a:lvl4pPr>
              <a:buNone/>
              <a:defRPr sz="1350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4pPr>
            <a:lvl5pPr>
              <a:buNone/>
              <a:defRPr sz="1350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5pPr>
            <a:lvl6pPr>
              <a:buNone/>
              <a:defRPr sz="1350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6pPr>
            <a:lvl7pPr>
              <a:buNone/>
              <a:defRPr sz="1350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7pPr>
            <a:lvl8pPr>
              <a:buNone/>
              <a:defRPr sz="1350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8pPr>
            <a:lvl9pPr>
              <a:buNone/>
              <a:defRPr sz="1350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9pPr>
          </a:lstStyle>
          <a:p xmlns:a="http://schemas.openxmlformats.org/drawingml/2006/main">
            <a:pPr algn="l">
              <a:lnSpc>
                <a:spcPct val="155000"/>
              </a:lnSpc>
              <a:buNone/>
              <a:defRPr sz="1350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pPr>
            <a:r>
              <a:rPr sz="1350" b="0">
                <a:solidFill>
                  <a:srgbClr val="3E506E"/>
                </a:solidFill>
                <a:latin typeface="MiSans"/>
                <a:ea typeface="MiSans"/>
                <a:cs typeface="MiSans"/>
              </a:rPr>
              <a:t>「一笔成章」面向汉字书写与书法练习，提供全场景智能反馈。</a:t>
            </a:r>
            <a:endParaRPr sz="1200"/>
          </a:p>
          <a:p xmlns:a="http://schemas.openxmlformats.org/drawingml/2006/main">
            <a:pPr algn="l">
              <a:lnSpc>
                <a:spcPct val="155000"/>
              </a:lnSpc>
              <a:spcBef>
                <a:spcPts val="800"/>
              </a:spcBef>
              <a:buNone/>
              <a:defRPr sz="1350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pPr>
            <a:r>
              <a:rPr sz="1350" b="0">
                <a:solidFill>
                  <a:srgbClr val="3E506E"/>
                </a:solidFill>
                <a:latin typeface="MiSans"/>
                <a:ea typeface="MiSans"/>
                <a:cs typeface="MiSans"/>
              </a:rPr>
              <a:t>平板压感笔实时书写，或拍照上传练字作品，均可获得结构评分与可解释的修改建议。</a:t>
            </a:r>
            <a:endParaRPr sz="1200"/>
          </a:p>
          <a:p xmlns:a="http://schemas.openxmlformats.org/drawingml/2006/main">
            <a:pPr algn="l">
              <a:lnSpc>
                <a:spcPct val="155000"/>
              </a:lnSpc>
              <a:spcBef>
                <a:spcPts val="800"/>
              </a:spcBef>
              <a:buNone/>
              <a:defRPr sz="1350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pPr>
            <a:r>
              <a:rPr sz="1350" b="0">
                <a:solidFill>
                  <a:srgbClr val="3E506E"/>
                </a:solidFill>
                <a:latin typeface="MiSans"/>
                <a:ea typeface="MiSans"/>
                <a:cs typeface="MiSans"/>
              </a:rPr>
              <a:t>专业 App 支持深度练习，Web 端覆盖课堂与机房。</a:t>
            </a:r>
            <a:endParaRPr sz="1200"/>
          </a:p>
        </p:txBody>
      </p:sp>
      <p:sp>
        <p:nvSpPr>
          <p:cNvPr id="7" name="func-kicker">
            <a:extLst xmlns:a="http://schemas.openxmlformats.org/drawingml/2006/main">
              <a:ext uri="{FF2B5EF4-FFF2-40B4-BE49-F238E27FC236}">
                <a16:creationId xmlns:a16="http://schemas.microsoft.com/office/drawing/2014/main" id="{D05D446F-54CC-4D93-A0A5-9BE393F7D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03600"/>
            <a:ext cx="3810000" cy="20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</a:pPr>
            <a:r>
              <a:rPr sz="1050" b="1" spc="200">
                <a:solidFill>
                  <a:srgbClr val="076DFC"/>
                </a:solidFill>
                <a:latin typeface="MiSans"/>
                <a:ea typeface="MiSans"/>
                <a:cs typeface="MiSans"/>
              </a:rPr>
              <a:t>核心功能</a:t>
            </a:r>
            <a:endParaRPr sz="1050"/>
          </a:p>
        </p:txBody>
      </p:sp>
      <p:sp>
        <p:nvSpPr>
          <p:cNvPr id="8" name="f1-marker">
            <a:extLst xmlns:a="http://schemas.openxmlformats.org/drawingml/2006/main">
              <a:ext uri="{FF2B5EF4-FFF2-40B4-BE49-F238E27FC236}">
                <a16:creationId xmlns:a16="http://schemas.microsoft.com/office/drawing/2014/main" id="{8A2F058F-FA96-4940-BD32-F0DC27C4E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0"/>
            <a:ext cx="127000" cy="127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8EB3F"/>
          </a:solidFill>
          <a:ln xmlns:a="http://schemas.openxmlformats.org/drawingml/2006/main">
            <a:noFill/>
          </a:ln>
        </p:spPr>
      </p:sp>
      <p:sp>
        <p:nvSpPr>
          <p:cNvPr id="9" name="f1-text">
            <a:extLst xmlns:a="http://schemas.openxmlformats.org/drawingml/2006/main">
              <a:ext uri="{FF2B5EF4-FFF2-40B4-BE49-F238E27FC236}">
                <a16:creationId xmlns:a16="http://schemas.microsoft.com/office/drawing/2014/main" id="{C3DF967C-C6E5-4485-BAD8-0E3EB5677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600" y="3733800"/>
            <a:ext cx="5334000" cy="279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>
              <a:defRPr sz="1313" b="0">
                <a:solidFill>
                  <a:srgbClr val="14213D"/>
                </a:solidFill>
                <a:latin typeface="MiSans"/>
                <a:ea typeface="MiSans"/>
                <a:cs typeface="MiSans"/>
              </a:defRPr>
            </a:defPPr>
            <a:lvl1pPr>
              <a:buNone/>
              <a:defRPr sz="1313" b="0">
                <a:solidFill>
                  <a:srgbClr val="14213D"/>
                </a:solidFill>
                <a:latin typeface="MiSans"/>
                <a:ea typeface="MiSans"/>
                <a:cs typeface="MiSans"/>
              </a:defRPr>
            </a:lvl1pPr>
            <a:lvl2pPr>
              <a:buNone/>
              <a:defRPr sz="1313" b="0">
                <a:solidFill>
                  <a:srgbClr val="14213D"/>
                </a:solidFill>
                <a:latin typeface="MiSans"/>
                <a:ea typeface="MiSans"/>
                <a:cs typeface="MiSans"/>
              </a:defRPr>
            </a:lvl2pPr>
            <a:lvl3pPr>
              <a:buNone/>
              <a:defRPr sz="1313" b="0">
                <a:solidFill>
                  <a:srgbClr val="14213D"/>
                </a:solidFill>
                <a:latin typeface="MiSans"/>
                <a:ea typeface="MiSans"/>
                <a:cs typeface="MiSans"/>
              </a:defRPr>
            </a:lvl3pPr>
            <a:lvl4pPr>
              <a:buNone/>
              <a:defRPr sz="1313" b="0">
                <a:solidFill>
                  <a:srgbClr val="14213D"/>
                </a:solidFill>
                <a:latin typeface="MiSans"/>
                <a:ea typeface="MiSans"/>
                <a:cs typeface="MiSans"/>
              </a:defRPr>
            </a:lvl4pPr>
            <a:lvl5pPr>
              <a:buNone/>
              <a:defRPr sz="1313" b="0">
                <a:solidFill>
                  <a:srgbClr val="14213D"/>
                </a:solidFill>
                <a:latin typeface="MiSans"/>
                <a:ea typeface="MiSans"/>
                <a:cs typeface="MiSans"/>
              </a:defRPr>
            </a:lvl5pPr>
            <a:lvl6pPr>
              <a:buNone/>
              <a:defRPr sz="1313" b="0">
                <a:solidFill>
                  <a:srgbClr val="14213D"/>
                </a:solidFill>
                <a:latin typeface="MiSans"/>
                <a:ea typeface="MiSans"/>
                <a:cs typeface="MiSans"/>
              </a:defRPr>
            </a:lvl6pPr>
            <a:lvl7pPr>
              <a:buNone/>
              <a:defRPr sz="1313" b="0">
                <a:solidFill>
                  <a:srgbClr val="14213D"/>
                </a:solidFill>
                <a:latin typeface="MiSans"/>
                <a:ea typeface="MiSans"/>
                <a:cs typeface="MiSans"/>
              </a:defRPr>
            </a:lvl7pPr>
            <a:lvl8pPr>
              <a:buNone/>
              <a:defRPr sz="1313" b="0">
                <a:solidFill>
                  <a:srgbClr val="14213D"/>
                </a:solidFill>
                <a:latin typeface="MiSans"/>
                <a:ea typeface="MiSans"/>
                <a:cs typeface="MiSans"/>
              </a:defRPr>
            </a:lvl8pPr>
            <a:lvl9pPr>
              <a:buNone/>
              <a:defRPr sz="1313" b="0">
                <a:solidFill>
                  <a:srgbClr val="14213D"/>
                </a:solidFill>
                <a:latin typeface="MiSans"/>
                <a:ea typeface="MiSans"/>
                <a:cs typeface="MiSans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313" b="0">
                <a:solidFill>
                  <a:srgbClr val="14213D"/>
                </a:solidFill>
                <a:latin typeface="MiSans"/>
                <a:ea typeface="MiSans"/>
                <a:cs typeface="MiSans"/>
              </a:defRPr>
            </a:pPr>
            <a:r>
              <a:rPr sz="1313" b="0">
                <a:solidFill>
                  <a:srgbClr val="14213D"/>
                </a:solidFill>
                <a:latin typeface="MiSans"/>
                <a:ea typeface="MiSans"/>
                <a:cs typeface="MiSans"/>
              </a:rPr>
              <a:t>实时书写 AI 点评：压感笔书写，即时分析</a:t>
            </a:r>
            <a:endParaRPr sz="1250"/>
          </a:p>
        </p:txBody>
      </p:sp>
      <p:sp>
        <p:nvSpPr>
          <p:cNvPr id="10" name="f2-marker">
            <a:extLst xmlns:a="http://schemas.openxmlformats.org/drawingml/2006/main">
              <a:ext uri="{FF2B5EF4-FFF2-40B4-BE49-F238E27FC236}">
                <a16:creationId xmlns:a16="http://schemas.microsoft.com/office/drawing/2014/main" id="{8D17D98D-77FE-4637-9EED-2DDB3C910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68800"/>
            <a:ext cx="127000" cy="127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8EB3F"/>
          </a:solidFill>
          <a:ln xmlns:a="http://schemas.openxmlformats.org/drawingml/2006/main">
            <a:noFill/>
          </a:ln>
        </p:spPr>
      </p:sp>
      <p:sp>
        <p:nvSpPr>
          <p:cNvPr id="11" name="f2-text">
            <a:extLst xmlns:a="http://schemas.openxmlformats.org/drawingml/2006/main">
              <a:ext uri="{FF2B5EF4-FFF2-40B4-BE49-F238E27FC236}">
                <a16:creationId xmlns:a16="http://schemas.microsoft.com/office/drawing/2014/main" id="{B99D7407-DD41-4A73-8442-0148A754D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600" y="4292600"/>
            <a:ext cx="5334000" cy="279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>
              <a:defRPr sz="1313" b="0">
                <a:solidFill>
                  <a:srgbClr val="14213D"/>
                </a:solidFill>
                <a:latin typeface="MiSans"/>
                <a:ea typeface="MiSans"/>
                <a:cs typeface="MiSans"/>
              </a:defRPr>
            </a:defPPr>
            <a:lvl1pPr>
              <a:buNone/>
              <a:defRPr sz="1313" b="0">
                <a:solidFill>
                  <a:srgbClr val="14213D"/>
                </a:solidFill>
                <a:latin typeface="MiSans"/>
                <a:ea typeface="MiSans"/>
                <a:cs typeface="MiSans"/>
              </a:defRPr>
            </a:lvl1pPr>
            <a:lvl2pPr>
              <a:buNone/>
              <a:defRPr sz="1313" b="0">
                <a:solidFill>
                  <a:srgbClr val="14213D"/>
                </a:solidFill>
                <a:latin typeface="MiSans"/>
                <a:ea typeface="MiSans"/>
                <a:cs typeface="MiSans"/>
              </a:defRPr>
            </a:lvl2pPr>
            <a:lvl3pPr>
              <a:buNone/>
              <a:defRPr sz="1313" b="0">
                <a:solidFill>
                  <a:srgbClr val="14213D"/>
                </a:solidFill>
                <a:latin typeface="MiSans"/>
                <a:ea typeface="MiSans"/>
                <a:cs typeface="MiSans"/>
              </a:defRPr>
            </a:lvl3pPr>
            <a:lvl4pPr>
              <a:buNone/>
              <a:defRPr sz="1313" b="0">
                <a:solidFill>
                  <a:srgbClr val="14213D"/>
                </a:solidFill>
                <a:latin typeface="MiSans"/>
                <a:ea typeface="MiSans"/>
                <a:cs typeface="MiSans"/>
              </a:defRPr>
            </a:lvl4pPr>
            <a:lvl5pPr>
              <a:buNone/>
              <a:defRPr sz="1313" b="0">
                <a:solidFill>
                  <a:srgbClr val="14213D"/>
                </a:solidFill>
                <a:latin typeface="MiSans"/>
                <a:ea typeface="MiSans"/>
                <a:cs typeface="MiSans"/>
              </a:defRPr>
            </a:lvl5pPr>
            <a:lvl6pPr>
              <a:buNone/>
              <a:defRPr sz="1313" b="0">
                <a:solidFill>
                  <a:srgbClr val="14213D"/>
                </a:solidFill>
                <a:latin typeface="MiSans"/>
                <a:ea typeface="MiSans"/>
                <a:cs typeface="MiSans"/>
              </a:defRPr>
            </a:lvl6pPr>
            <a:lvl7pPr>
              <a:buNone/>
              <a:defRPr sz="1313" b="0">
                <a:solidFill>
                  <a:srgbClr val="14213D"/>
                </a:solidFill>
                <a:latin typeface="MiSans"/>
                <a:ea typeface="MiSans"/>
                <a:cs typeface="MiSans"/>
              </a:defRPr>
            </a:lvl7pPr>
            <a:lvl8pPr>
              <a:buNone/>
              <a:defRPr sz="1313" b="0">
                <a:solidFill>
                  <a:srgbClr val="14213D"/>
                </a:solidFill>
                <a:latin typeface="MiSans"/>
                <a:ea typeface="MiSans"/>
                <a:cs typeface="MiSans"/>
              </a:defRPr>
            </a:lvl8pPr>
            <a:lvl9pPr>
              <a:buNone/>
              <a:defRPr sz="1313" b="0">
                <a:solidFill>
                  <a:srgbClr val="14213D"/>
                </a:solidFill>
                <a:latin typeface="MiSans"/>
                <a:ea typeface="MiSans"/>
                <a:cs typeface="MiSans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313" b="0">
                <a:solidFill>
                  <a:srgbClr val="14213D"/>
                </a:solidFill>
                <a:latin typeface="MiSans"/>
                <a:ea typeface="MiSans"/>
                <a:cs typeface="MiSans"/>
              </a:defRPr>
            </a:pPr>
            <a:r>
              <a:rPr sz="1313" b="0">
                <a:solidFill>
                  <a:srgbClr val="14213D"/>
                </a:solidFill>
                <a:latin typeface="MiSans"/>
                <a:ea typeface="MiSans"/>
                <a:cs typeface="MiSans"/>
              </a:rPr>
              <a:t>拍照评估：上传练字作品，整体结构诊断</a:t>
            </a:r>
            <a:endParaRPr sz="1250"/>
          </a:p>
        </p:txBody>
      </p:sp>
      <p:sp>
        <p:nvSpPr>
          <p:cNvPr id="12" name="f3-marker">
            <a:extLst xmlns:a="http://schemas.openxmlformats.org/drawingml/2006/main">
              <a:ext uri="{FF2B5EF4-FFF2-40B4-BE49-F238E27FC236}">
                <a16:creationId xmlns:a16="http://schemas.microsoft.com/office/drawing/2014/main" id="{876CFE89-DA85-4B1F-81C4-33A864390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27600"/>
            <a:ext cx="127000" cy="127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8EB3F"/>
          </a:solidFill>
          <a:ln xmlns:a="http://schemas.openxmlformats.org/drawingml/2006/main">
            <a:noFill/>
          </a:ln>
        </p:spPr>
      </p:sp>
      <p:sp>
        <p:nvSpPr>
          <p:cNvPr id="13" name="f3-text">
            <a:extLst xmlns:a="http://schemas.openxmlformats.org/drawingml/2006/main">
              <a:ext uri="{FF2B5EF4-FFF2-40B4-BE49-F238E27FC236}">
                <a16:creationId xmlns:a16="http://schemas.microsoft.com/office/drawing/2014/main" id="{8A26C3E3-4867-41ED-BB8D-2F1871870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600" y="4851400"/>
            <a:ext cx="5334000" cy="279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>
              <a:defRPr sz="1313" b="0">
                <a:solidFill>
                  <a:srgbClr val="14213D"/>
                </a:solidFill>
                <a:latin typeface="MiSans"/>
                <a:ea typeface="MiSans"/>
                <a:cs typeface="MiSans"/>
              </a:defRPr>
            </a:defPPr>
            <a:lvl1pPr>
              <a:buNone/>
              <a:defRPr sz="1313" b="0">
                <a:solidFill>
                  <a:srgbClr val="14213D"/>
                </a:solidFill>
                <a:latin typeface="MiSans"/>
                <a:ea typeface="MiSans"/>
                <a:cs typeface="MiSans"/>
              </a:defRPr>
            </a:lvl1pPr>
            <a:lvl2pPr>
              <a:buNone/>
              <a:defRPr sz="1313" b="0">
                <a:solidFill>
                  <a:srgbClr val="14213D"/>
                </a:solidFill>
                <a:latin typeface="MiSans"/>
                <a:ea typeface="MiSans"/>
                <a:cs typeface="MiSans"/>
              </a:defRPr>
            </a:lvl2pPr>
            <a:lvl3pPr>
              <a:buNone/>
              <a:defRPr sz="1313" b="0">
                <a:solidFill>
                  <a:srgbClr val="14213D"/>
                </a:solidFill>
                <a:latin typeface="MiSans"/>
                <a:ea typeface="MiSans"/>
                <a:cs typeface="MiSans"/>
              </a:defRPr>
            </a:lvl3pPr>
            <a:lvl4pPr>
              <a:buNone/>
              <a:defRPr sz="1313" b="0">
                <a:solidFill>
                  <a:srgbClr val="14213D"/>
                </a:solidFill>
                <a:latin typeface="MiSans"/>
                <a:ea typeface="MiSans"/>
                <a:cs typeface="MiSans"/>
              </a:defRPr>
            </a:lvl4pPr>
            <a:lvl5pPr>
              <a:buNone/>
              <a:defRPr sz="1313" b="0">
                <a:solidFill>
                  <a:srgbClr val="14213D"/>
                </a:solidFill>
                <a:latin typeface="MiSans"/>
                <a:ea typeface="MiSans"/>
                <a:cs typeface="MiSans"/>
              </a:defRPr>
            </a:lvl5pPr>
            <a:lvl6pPr>
              <a:buNone/>
              <a:defRPr sz="1313" b="0">
                <a:solidFill>
                  <a:srgbClr val="14213D"/>
                </a:solidFill>
                <a:latin typeface="MiSans"/>
                <a:ea typeface="MiSans"/>
                <a:cs typeface="MiSans"/>
              </a:defRPr>
            </a:lvl6pPr>
            <a:lvl7pPr>
              <a:buNone/>
              <a:defRPr sz="1313" b="0">
                <a:solidFill>
                  <a:srgbClr val="14213D"/>
                </a:solidFill>
                <a:latin typeface="MiSans"/>
                <a:ea typeface="MiSans"/>
                <a:cs typeface="MiSans"/>
              </a:defRPr>
            </a:lvl7pPr>
            <a:lvl8pPr>
              <a:buNone/>
              <a:defRPr sz="1313" b="0">
                <a:solidFill>
                  <a:srgbClr val="14213D"/>
                </a:solidFill>
                <a:latin typeface="MiSans"/>
                <a:ea typeface="MiSans"/>
                <a:cs typeface="MiSans"/>
              </a:defRPr>
            </a:lvl8pPr>
            <a:lvl9pPr>
              <a:buNone/>
              <a:defRPr sz="1313" b="0">
                <a:solidFill>
                  <a:srgbClr val="14213D"/>
                </a:solidFill>
                <a:latin typeface="MiSans"/>
                <a:ea typeface="MiSans"/>
                <a:cs typeface="MiSans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313" b="0">
                <a:solidFill>
                  <a:srgbClr val="14213D"/>
                </a:solidFill>
                <a:latin typeface="MiSans"/>
                <a:ea typeface="MiSans"/>
                <a:cs typeface="MiSans"/>
              </a:defRPr>
            </a:pPr>
            <a:r>
              <a:rPr sz="1313" b="0">
                <a:solidFill>
                  <a:srgbClr val="14213D"/>
                </a:solidFill>
                <a:latin typeface="MiSans"/>
                <a:ea typeface="MiSans"/>
                <a:cs typeface="MiSans"/>
              </a:rPr>
              <a:t>参考结构匹配度：与名家范字量化对照</a:t>
            </a:r>
            <a:endParaRPr sz="1250"/>
          </a:p>
        </p:txBody>
      </p:sp>
      <p:sp>
        <p:nvSpPr>
          <p:cNvPr id="14" name="f4-marker">
            <a:extLst xmlns:a="http://schemas.openxmlformats.org/drawingml/2006/main">
              <a:ext uri="{FF2B5EF4-FFF2-40B4-BE49-F238E27FC236}">
                <a16:creationId xmlns:a16="http://schemas.microsoft.com/office/drawing/2014/main" id="{2592DC57-B5FE-4919-82EB-141B9E491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86400"/>
            <a:ext cx="127000" cy="127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8EB3F"/>
          </a:solidFill>
          <a:ln xmlns:a="http://schemas.openxmlformats.org/drawingml/2006/main">
            <a:noFill/>
          </a:ln>
        </p:spPr>
      </p:sp>
      <p:sp>
        <p:nvSpPr>
          <p:cNvPr id="15" name="f4-text">
            <a:extLst xmlns:a="http://schemas.openxmlformats.org/drawingml/2006/main">
              <a:ext uri="{FF2B5EF4-FFF2-40B4-BE49-F238E27FC236}">
                <a16:creationId xmlns:a16="http://schemas.microsoft.com/office/drawing/2014/main" id="{29C95A51-2161-49A4-BA8B-2F87B7450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600" y="5410200"/>
            <a:ext cx="5334000" cy="279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>
              <a:defRPr sz="1313" b="0">
                <a:solidFill>
                  <a:srgbClr val="14213D"/>
                </a:solidFill>
                <a:latin typeface="MiSans"/>
                <a:ea typeface="MiSans"/>
                <a:cs typeface="MiSans"/>
              </a:defRPr>
            </a:defPPr>
            <a:lvl1pPr>
              <a:buNone/>
              <a:defRPr sz="1313" b="0">
                <a:solidFill>
                  <a:srgbClr val="14213D"/>
                </a:solidFill>
                <a:latin typeface="MiSans"/>
                <a:ea typeface="MiSans"/>
                <a:cs typeface="MiSans"/>
              </a:defRPr>
            </a:lvl1pPr>
            <a:lvl2pPr>
              <a:buNone/>
              <a:defRPr sz="1313" b="0">
                <a:solidFill>
                  <a:srgbClr val="14213D"/>
                </a:solidFill>
                <a:latin typeface="MiSans"/>
                <a:ea typeface="MiSans"/>
                <a:cs typeface="MiSans"/>
              </a:defRPr>
            </a:lvl2pPr>
            <a:lvl3pPr>
              <a:buNone/>
              <a:defRPr sz="1313" b="0">
                <a:solidFill>
                  <a:srgbClr val="14213D"/>
                </a:solidFill>
                <a:latin typeface="MiSans"/>
                <a:ea typeface="MiSans"/>
                <a:cs typeface="MiSans"/>
              </a:defRPr>
            </a:lvl3pPr>
            <a:lvl4pPr>
              <a:buNone/>
              <a:defRPr sz="1313" b="0">
                <a:solidFill>
                  <a:srgbClr val="14213D"/>
                </a:solidFill>
                <a:latin typeface="MiSans"/>
                <a:ea typeface="MiSans"/>
                <a:cs typeface="MiSans"/>
              </a:defRPr>
            </a:lvl4pPr>
            <a:lvl5pPr>
              <a:buNone/>
              <a:defRPr sz="1313" b="0">
                <a:solidFill>
                  <a:srgbClr val="14213D"/>
                </a:solidFill>
                <a:latin typeface="MiSans"/>
                <a:ea typeface="MiSans"/>
                <a:cs typeface="MiSans"/>
              </a:defRPr>
            </a:lvl5pPr>
            <a:lvl6pPr>
              <a:buNone/>
              <a:defRPr sz="1313" b="0">
                <a:solidFill>
                  <a:srgbClr val="14213D"/>
                </a:solidFill>
                <a:latin typeface="MiSans"/>
                <a:ea typeface="MiSans"/>
                <a:cs typeface="MiSans"/>
              </a:defRPr>
            </a:lvl6pPr>
            <a:lvl7pPr>
              <a:buNone/>
              <a:defRPr sz="1313" b="0">
                <a:solidFill>
                  <a:srgbClr val="14213D"/>
                </a:solidFill>
                <a:latin typeface="MiSans"/>
                <a:ea typeface="MiSans"/>
                <a:cs typeface="MiSans"/>
              </a:defRPr>
            </a:lvl7pPr>
            <a:lvl8pPr>
              <a:buNone/>
              <a:defRPr sz="1313" b="0">
                <a:solidFill>
                  <a:srgbClr val="14213D"/>
                </a:solidFill>
                <a:latin typeface="MiSans"/>
                <a:ea typeface="MiSans"/>
                <a:cs typeface="MiSans"/>
              </a:defRPr>
            </a:lvl8pPr>
            <a:lvl9pPr>
              <a:buNone/>
              <a:defRPr sz="1313" b="0">
                <a:solidFill>
                  <a:srgbClr val="14213D"/>
                </a:solidFill>
                <a:latin typeface="MiSans"/>
                <a:ea typeface="MiSans"/>
                <a:cs typeface="MiSans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313" b="0">
                <a:solidFill>
                  <a:srgbClr val="14213D"/>
                </a:solidFill>
                <a:latin typeface="MiSans"/>
                <a:ea typeface="MiSans"/>
                <a:cs typeface="MiSans"/>
              </a:defRPr>
            </a:pPr>
            <a:r>
              <a:rPr sz="1313" b="0">
                <a:solidFill>
                  <a:srgbClr val="14213D"/>
                </a:solidFill>
                <a:latin typeface="MiSans"/>
                <a:ea typeface="MiSans"/>
                <a:cs typeface="MiSans"/>
              </a:rPr>
              <a:t>课程字库 + 个性化修改建议，定位到局部</a:t>
            </a:r>
            <a:endParaRPr sz="1250"/>
          </a:p>
        </p:txBody>
      </p:sp>
      <p:pic>
        <p:nvPicPr>
          <p:cNvPr id="16" name="shot-home">
            <a:extLst xmlns:a="http://schemas.openxmlformats.org/drawingml/2006/main">
              <a:ext uri="{FF2B5EF4-FFF2-40B4-BE49-F238E27FC236}">
                <a16:creationId xmlns:a16="http://schemas.microsoft.com/office/drawing/2014/main" id="{BAC36EB9-2CAF-4423-A307-D045D2A4873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5a6baabb9574f56"/>
          <a:srcRect xmlns:a="http://schemas.openxmlformats.org/drawingml/2006/main" l="-62" t="0" r="-6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112000" y="1219200"/>
            <a:ext cx="4368800" cy="30480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7" name="shot-home-cap">
            <a:extLst xmlns:a="http://schemas.openxmlformats.org/drawingml/2006/main">
              <a:ext uri="{FF2B5EF4-FFF2-40B4-BE49-F238E27FC236}">
                <a16:creationId xmlns:a16="http://schemas.microsoft.com/office/drawing/2014/main" id="{9420919D-4F2E-44E3-A709-A0B428F60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2000" y="4318000"/>
            <a:ext cx="4368800" cy="17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>
              <a:defRPr b="0">
                <a:solidFill>
                  <a:srgbClr val="7A8CA7"/>
                </a:solidFill>
                <a:latin typeface="MiSans"/>
                <a:ea typeface="MiSans"/>
                <a:cs typeface="MiSans"/>
              </a:defRPr>
            </a:defPPr>
            <a:lvl1pPr>
              <a:buNone/>
              <a:defRPr b="0">
                <a:solidFill>
                  <a:srgbClr val="7A8CA7"/>
                </a:solidFill>
                <a:latin typeface="MiSans"/>
                <a:ea typeface="MiSans"/>
                <a:cs typeface="MiSans"/>
              </a:defRPr>
            </a:lvl1pPr>
            <a:lvl2pPr>
              <a:buNone/>
              <a:defRPr b="0">
                <a:solidFill>
                  <a:srgbClr val="7A8CA7"/>
                </a:solidFill>
                <a:latin typeface="MiSans"/>
                <a:ea typeface="MiSans"/>
                <a:cs typeface="MiSans"/>
              </a:defRPr>
            </a:lvl2pPr>
            <a:lvl3pPr>
              <a:buNone/>
              <a:defRPr b="0">
                <a:solidFill>
                  <a:srgbClr val="7A8CA7"/>
                </a:solidFill>
                <a:latin typeface="MiSans"/>
                <a:ea typeface="MiSans"/>
                <a:cs typeface="MiSans"/>
              </a:defRPr>
            </a:lvl3pPr>
            <a:lvl4pPr>
              <a:buNone/>
              <a:defRPr b="0">
                <a:solidFill>
                  <a:srgbClr val="7A8CA7"/>
                </a:solidFill>
                <a:latin typeface="MiSans"/>
                <a:ea typeface="MiSans"/>
                <a:cs typeface="MiSans"/>
              </a:defRPr>
            </a:lvl4pPr>
            <a:lvl5pPr>
              <a:buNone/>
              <a:defRPr b="0">
                <a:solidFill>
                  <a:srgbClr val="7A8CA7"/>
                </a:solidFill>
                <a:latin typeface="MiSans"/>
                <a:ea typeface="MiSans"/>
                <a:cs typeface="MiSans"/>
              </a:defRPr>
            </a:lvl5pPr>
            <a:lvl6pPr>
              <a:buNone/>
              <a:defRPr b="0">
                <a:solidFill>
                  <a:srgbClr val="7A8CA7"/>
                </a:solidFill>
                <a:latin typeface="MiSans"/>
                <a:ea typeface="MiSans"/>
                <a:cs typeface="MiSans"/>
              </a:defRPr>
            </a:lvl6pPr>
            <a:lvl7pPr>
              <a:buNone/>
              <a:defRPr b="0">
                <a:solidFill>
                  <a:srgbClr val="7A8CA7"/>
                </a:solidFill>
                <a:latin typeface="MiSans"/>
                <a:ea typeface="MiSans"/>
                <a:cs typeface="MiSans"/>
              </a:defRPr>
            </a:lvl7pPr>
            <a:lvl8pPr>
              <a:buNone/>
              <a:defRPr b="0">
                <a:solidFill>
                  <a:srgbClr val="7A8CA7"/>
                </a:solidFill>
                <a:latin typeface="MiSans"/>
                <a:ea typeface="MiSans"/>
                <a:cs typeface="MiSans"/>
              </a:defRPr>
            </a:lvl8pPr>
            <a:lvl9pPr>
              <a:buNone/>
              <a:defRPr b="0">
                <a:solidFill>
                  <a:srgbClr val="7A8CA7"/>
                </a:solidFill>
                <a:latin typeface="MiSans"/>
                <a:ea typeface="MiSans"/>
                <a:cs typeface="MiSans"/>
              </a:defRPr>
            </a:lvl9pPr>
          </a:lstStyle>
          <a:p xmlns:a="http://schemas.openxmlformats.org/drawingml/2006/main">
            <a:pPr algn="ctr">
              <a:lnSpc>
                <a:spcPct val="140000"/>
              </a:lnSpc>
              <a:buNone/>
              <a:defRPr b="0">
                <a:solidFill>
                  <a:srgbClr val="7A8CA7"/>
                </a:solidFill>
                <a:latin typeface="MiSans"/>
                <a:ea typeface="MiSans"/>
                <a:cs typeface="MiSans"/>
              </a:defRPr>
            </a:pPr>
            <a:r>
              <a:rPr sz="950" b="0">
                <a:solidFill>
                  <a:srgbClr val="7A8CA7"/>
                </a:solidFill>
                <a:latin typeface="MiSans"/>
                <a:ea typeface="MiSans"/>
                <a:cs typeface="MiSans"/>
              </a:rPr>
              <a:t>iPad 端首页：今日一字 · 学习概览 · 评分趋势</a:t>
            </a:r>
            <a:endParaRPr sz="950"/>
          </a:p>
        </p:txBody>
      </p:sp>
      <p:sp>
        <p:nvSpPr>
          <p:cNvPr id="18" name="user-kicker">
            <a:extLst xmlns:a="http://schemas.openxmlformats.org/drawingml/2006/main">
              <a:ext uri="{FF2B5EF4-FFF2-40B4-BE49-F238E27FC236}">
                <a16:creationId xmlns:a16="http://schemas.microsoft.com/office/drawing/2014/main" id="{9C611BFC-282F-4376-9486-DA565BCBD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2000" y="4597400"/>
            <a:ext cx="3810000" cy="20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</a:pPr>
            <a:r>
              <a:rPr sz="1050" b="1" spc="200">
                <a:solidFill>
                  <a:srgbClr val="076DFC"/>
                </a:solidFill>
                <a:latin typeface="MiSans"/>
                <a:ea typeface="MiSans"/>
                <a:cs typeface="MiSans"/>
              </a:rPr>
              <a:t>用户画像</a:t>
            </a:r>
            <a:endParaRPr sz="1050"/>
          </a:p>
        </p:txBody>
      </p:sp>
      <p:sp>
        <p:nvSpPr>
          <p:cNvPr id="19" name="u1-label">
            <a:extLst xmlns:a="http://schemas.openxmlformats.org/drawingml/2006/main">
              <a:ext uri="{FF2B5EF4-FFF2-40B4-BE49-F238E27FC236}">
                <a16:creationId xmlns:a16="http://schemas.microsoft.com/office/drawing/2014/main" id="{F436DABF-FC87-40F0-B112-8F85C607E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2000" y="4762500"/>
            <a:ext cx="3429000" cy="20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</a:pPr>
            <a:r>
              <a:rPr sz="1050" b="1">
                <a:solidFill>
                  <a:srgbClr val="14213D"/>
                </a:solidFill>
                <a:latin typeface="MiSans"/>
                <a:ea typeface="MiSans"/>
                <a:cs typeface="MiSans"/>
              </a:rPr>
              <a:t>核心群体 · 6–18 岁 K12 学生</a:t>
            </a:r>
            <a:endParaRPr sz="1050"/>
          </a:p>
        </p:txBody>
      </p:sp>
      <p:sp>
        <p:nvSpPr>
          <p:cNvPr id="20" name="u1-pct">
            <a:extLst xmlns:a="http://schemas.openxmlformats.org/drawingml/2006/main">
              <a:ext uri="{FF2B5EF4-FFF2-40B4-BE49-F238E27FC236}">
                <a16:creationId xmlns:a16="http://schemas.microsoft.com/office/drawing/2014/main" id="{9D6A3F47-7020-478F-B012-92B4C7943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41000" y="4762500"/>
            <a:ext cx="1041400" cy="20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20000"/>
              </a:lnSpc>
              <a:buNone/>
            </a:pPr>
            <a:r>
              <a:rPr sz="1200" b="1">
                <a:solidFill>
                  <a:srgbClr val="076DFC"/>
                </a:solidFill>
                <a:latin typeface="MiSans"/>
                <a:ea typeface="MiSans"/>
                <a:cs typeface="MiSans"/>
              </a:rPr>
              <a:t>约 60%</a:t>
            </a:r>
            <a:endParaRPr sz="1200"/>
          </a:p>
        </p:txBody>
      </p:sp>
      <p:sp>
        <p:nvSpPr>
          <p:cNvPr id="21" name="u1-track">
            <a:extLst xmlns:a="http://schemas.openxmlformats.org/drawingml/2006/main">
              <a:ext uri="{FF2B5EF4-FFF2-40B4-BE49-F238E27FC236}">
                <a16:creationId xmlns:a16="http://schemas.microsoft.com/office/drawing/2014/main" id="{65E0485E-8560-4851-B410-B50D882FC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2000" y="5016500"/>
            <a:ext cx="4368800" cy="63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CE3F2"/>
          </a:solidFill>
          <a:ln xmlns:a="http://schemas.openxmlformats.org/drawingml/2006/main">
            <a:noFill/>
          </a:ln>
        </p:spPr>
      </p:sp>
      <p:sp>
        <p:nvSpPr>
          <p:cNvPr id="22" name="u1-bar">
            <a:extLst xmlns:a="http://schemas.openxmlformats.org/drawingml/2006/main">
              <a:ext uri="{FF2B5EF4-FFF2-40B4-BE49-F238E27FC236}">
                <a16:creationId xmlns:a16="http://schemas.microsoft.com/office/drawing/2014/main" id="{E8855523-CBBE-409A-826B-AC3BF97E6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2000" y="5016500"/>
            <a:ext cx="2616200" cy="63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76DFC"/>
          </a:solidFill>
          <a:ln xmlns:a="http://schemas.openxmlformats.org/drawingml/2006/main">
            <a:noFill/>
          </a:ln>
        </p:spPr>
      </p:sp>
      <p:sp>
        <p:nvSpPr>
          <p:cNvPr id="23" name="u1-need">
            <a:extLst xmlns:a="http://schemas.openxmlformats.org/drawingml/2006/main">
              <a:ext uri="{FF2B5EF4-FFF2-40B4-BE49-F238E27FC236}">
                <a16:creationId xmlns:a16="http://schemas.microsoft.com/office/drawing/2014/main" id="{82AF481E-C75A-4CB5-BF5D-30ECBB079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2000" y="5105400"/>
            <a:ext cx="43688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/>
          <a:lstStyle xmlns:a="http://schemas.openxmlformats.org/drawingml/2006/main">
            <a:defPPr>
              <a:defRPr sz="900" b="0">
                <a:solidFill>
                  <a:srgbClr val="7A8CA7"/>
                </a:solidFill>
                <a:latin typeface="MiSans"/>
                <a:ea typeface="MiSans"/>
                <a:cs typeface="MiSans"/>
              </a:defRPr>
            </a:defPPr>
            <a:lvl1pPr>
              <a:buNone/>
              <a:defRPr sz="900" b="0">
                <a:solidFill>
                  <a:srgbClr val="7A8CA7"/>
                </a:solidFill>
                <a:latin typeface="MiSans"/>
                <a:ea typeface="MiSans"/>
                <a:cs typeface="MiSans"/>
              </a:defRPr>
            </a:lvl1pPr>
            <a:lvl2pPr>
              <a:buNone/>
              <a:defRPr sz="900" b="0">
                <a:solidFill>
                  <a:srgbClr val="7A8CA7"/>
                </a:solidFill>
                <a:latin typeface="MiSans"/>
                <a:ea typeface="MiSans"/>
                <a:cs typeface="MiSans"/>
              </a:defRPr>
            </a:lvl2pPr>
            <a:lvl3pPr>
              <a:buNone/>
              <a:defRPr sz="900" b="0">
                <a:solidFill>
                  <a:srgbClr val="7A8CA7"/>
                </a:solidFill>
                <a:latin typeface="MiSans"/>
                <a:ea typeface="MiSans"/>
                <a:cs typeface="MiSans"/>
              </a:defRPr>
            </a:lvl3pPr>
            <a:lvl4pPr>
              <a:buNone/>
              <a:defRPr sz="900" b="0">
                <a:solidFill>
                  <a:srgbClr val="7A8CA7"/>
                </a:solidFill>
                <a:latin typeface="MiSans"/>
                <a:ea typeface="MiSans"/>
                <a:cs typeface="MiSans"/>
              </a:defRPr>
            </a:lvl4pPr>
            <a:lvl5pPr>
              <a:buNone/>
              <a:defRPr sz="900" b="0">
                <a:solidFill>
                  <a:srgbClr val="7A8CA7"/>
                </a:solidFill>
                <a:latin typeface="MiSans"/>
                <a:ea typeface="MiSans"/>
                <a:cs typeface="MiSans"/>
              </a:defRPr>
            </a:lvl5pPr>
            <a:lvl6pPr>
              <a:buNone/>
              <a:defRPr sz="900" b="0">
                <a:solidFill>
                  <a:srgbClr val="7A8CA7"/>
                </a:solidFill>
                <a:latin typeface="MiSans"/>
                <a:ea typeface="MiSans"/>
                <a:cs typeface="MiSans"/>
              </a:defRPr>
            </a:lvl6pPr>
            <a:lvl7pPr>
              <a:buNone/>
              <a:defRPr sz="900" b="0">
                <a:solidFill>
                  <a:srgbClr val="7A8CA7"/>
                </a:solidFill>
                <a:latin typeface="MiSans"/>
                <a:ea typeface="MiSans"/>
                <a:cs typeface="MiSans"/>
              </a:defRPr>
            </a:lvl7pPr>
            <a:lvl8pPr>
              <a:buNone/>
              <a:defRPr sz="900" b="0">
                <a:solidFill>
                  <a:srgbClr val="7A8CA7"/>
                </a:solidFill>
                <a:latin typeface="MiSans"/>
                <a:ea typeface="MiSans"/>
                <a:cs typeface="MiSans"/>
              </a:defRPr>
            </a:lvl8pPr>
            <a:lvl9pPr>
              <a:buNone/>
              <a:defRPr sz="900" b="0">
                <a:solidFill>
                  <a:srgbClr val="7A8CA7"/>
                </a:solidFill>
                <a:latin typeface="MiSans"/>
                <a:ea typeface="MiSans"/>
                <a:cs typeface="MiSans"/>
              </a:defRPr>
            </a:lvl9pPr>
          </a:lstStyle>
          <a:p xmlns:a="http://schemas.openxmlformats.org/drawingml/2006/main">
            <a:pPr>
              <a:lnSpc>
                <a:spcPct val="120000"/>
              </a:lnSpc>
              <a:buNone/>
              <a:defRPr sz="900" b="0">
                <a:solidFill>
                  <a:srgbClr val="7A8CA7"/>
                </a:solidFill>
                <a:latin typeface="MiSans"/>
                <a:ea typeface="MiSans"/>
                <a:cs typeface="MiSans"/>
              </a:defRPr>
            </a:pPr>
            <a:r>
              <a:rPr sz="900" b="0">
                <a:solidFill>
                  <a:srgbClr val="7A8CA7"/>
                </a:solidFill>
                <a:latin typeface="MiSans"/>
                <a:ea typeface="MiSans"/>
                <a:cs typeface="MiSans"/>
              </a:rPr>
              <a:t>需求：考级通关、课业要求</a:t>
            </a:r>
            <a:endParaRPr sz="850"/>
          </a:p>
        </p:txBody>
      </p:sp>
      <p:sp>
        <p:nvSpPr>
          <p:cNvPr id="24" name="u2-label">
            <a:extLst xmlns:a="http://schemas.openxmlformats.org/drawingml/2006/main">
              <a:ext uri="{FF2B5EF4-FFF2-40B4-BE49-F238E27FC236}">
                <a16:creationId xmlns:a16="http://schemas.microsoft.com/office/drawing/2014/main" id="{00306BA3-D725-4456-B10F-8F8D850F3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2000" y="5321300"/>
            <a:ext cx="3429000" cy="20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</a:pPr>
            <a:r>
              <a:rPr sz="1050" b="1">
                <a:solidFill>
                  <a:srgbClr val="14213D"/>
                </a:solidFill>
                <a:latin typeface="MiSans"/>
                <a:ea typeface="MiSans"/>
                <a:cs typeface="MiSans"/>
              </a:rPr>
              <a:t>重要群体 · 18–25 岁大学生</a:t>
            </a:r>
            <a:endParaRPr sz="1050"/>
          </a:p>
        </p:txBody>
      </p:sp>
      <p:sp>
        <p:nvSpPr>
          <p:cNvPr id="25" name="u2-pct">
            <a:extLst xmlns:a="http://schemas.openxmlformats.org/drawingml/2006/main">
              <a:ext uri="{FF2B5EF4-FFF2-40B4-BE49-F238E27FC236}">
                <a16:creationId xmlns:a16="http://schemas.microsoft.com/office/drawing/2014/main" id="{14A56DCD-8F52-4A57-8C7C-9D1DE16BF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41000" y="5321300"/>
            <a:ext cx="1041400" cy="20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20000"/>
              </a:lnSpc>
              <a:buNone/>
            </a:pPr>
            <a:r>
              <a:rPr sz="1200" b="1">
                <a:solidFill>
                  <a:srgbClr val="076DFC"/>
                </a:solidFill>
                <a:latin typeface="MiSans"/>
                <a:ea typeface="MiSans"/>
                <a:cs typeface="MiSans"/>
              </a:rPr>
              <a:t>约 25%</a:t>
            </a:r>
            <a:endParaRPr sz="1200"/>
          </a:p>
        </p:txBody>
      </p:sp>
      <p:sp>
        <p:nvSpPr>
          <p:cNvPr id="26" name="u2-track">
            <a:extLst xmlns:a="http://schemas.openxmlformats.org/drawingml/2006/main">
              <a:ext uri="{FF2B5EF4-FFF2-40B4-BE49-F238E27FC236}">
                <a16:creationId xmlns:a16="http://schemas.microsoft.com/office/drawing/2014/main" id="{57D8BBDA-9D71-4F36-B6E4-6ADA7EB42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2000" y="5575300"/>
            <a:ext cx="4368800" cy="63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CE3F2"/>
          </a:solidFill>
          <a:ln xmlns:a="http://schemas.openxmlformats.org/drawingml/2006/main">
            <a:noFill/>
          </a:ln>
        </p:spPr>
      </p:sp>
      <p:sp>
        <p:nvSpPr>
          <p:cNvPr id="27" name="u2-bar">
            <a:extLst xmlns:a="http://schemas.openxmlformats.org/drawingml/2006/main">
              <a:ext uri="{FF2B5EF4-FFF2-40B4-BE49-F238E27FC236}">
                <a16:creationId xmlns:a16="http://schemas.microsoft.com/office/drawing/2014/main" id="{25E7E70A-277C-4336-A41B-385F21113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2000" y="5575300"/>
            <a:ext cx="1092200" cy="63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76DFC"/>
          </a:solidFill>
          <a:ln xmlns:a="http://schemas.openxmlformats.org/drawingml/2006/main">
            <a:noFill/>
          </a:ln>
        </p:spPr>
      </p:sp>
      <p:sp>
        <p:nvSpPr>
          <p:cNvPr id="28" name="u2-need">
            <a:extLst xmlns:a="http://schemas.openxmlformats.org/drawingml/2006/main">
              <a:ext uri="{FF2B5EF4-FFF2-40B4-BE49-F238E27FC236}">
                <a16:creationId xmlns:a16="http://schemas.microsoft.com/office/drawing/2014/main" id="{E55026F9-3024-4A67-9180-4D9F28818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2000" y="5664200"/>
            <a:ext cx="43688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/>
          <a:lstStyle xmlns:a="http://schemas.openxmlformats.org/drawingml/2006/main">
            <a:defPPr>
              <a:defRPr sz="900" b="0">
                <a:solidFill>
                  <a:srgbClr val="7A8CA7"/>
                </a:solidFill>
                <a:latin typeface="MiSans"/>
                <a:ea typeface="MiSans"/>
                <a:cs typeface="MiSans"/>
              </a:defRPr>
            </a:defPPr>
            <a:lvl1pPr>
              <a:buNone/>
              <a:defRPr sz="900" b="0">
                <a:solidFill>
                  <a:srgbClr val="7A8CA7"/>
                </a:solidFill>
                <a:latin typeface="MiSans"/>
                <a:ea typeface="MiSans"/>
                <a:cs typeface="MiSans"/>
              </a:defRPr>
            </a:lvl1pPr>
            <a:lvl2pPr>
              <a:buNone/>
              <a:defRPr sz="900" b="0">
                <a:solidFill>
                  <a:srgbClr val="7A8CA7"/>
                </a:solidFill>
                <a:latin typeface="MiSans"/>
                <a:ea typeface="MiSans"/>
                <a:cs typeface="MiSans"/>
              </a:defRPr>
            </a:lvl2pPr>
            <a:lvl3pPr>
              <a:buNone/>
              <a:defRPr sz="900" b="0">
                <a:solidFill>
                  <a:srgbClr val="7A8CA7"/>
                </a:solidFill>
                <a:latin typeface="MiSans"/>
                <a:ea typeface="MiSans"/>
                <a:cs typeface="MiSans"/>
              </a:defRPr>
            </a:lvl3pPr>
            <a:lvl4pPr>
              <a:buNone/>
              <a:defRPr sz="900" b="0">
                <a:solidFill>
                  <a:srgbClr val="7A8CA7"/>
                </a:solidFill>
                <a:latin typeface="MiSans"/>
                <a:ea typeface="MiSans"/>
                <a:cs typeface="MiSans"/>
              </a:defRPr>
            </a:lvl4pPr>
            <a:lvl5pPr>
              <a:buNone/>
              <a:defRPr sz="900" b="0">
                <a:solidFill>
                  <a:srgbClr val="7A8CA7"/>
                </a:solidFill>
                <a:latin typeface="MiSans"/>
                <a:ea typeface="MiSans"/>
                <a:cs typeface="MiSans"/>
              </a:defRPr>
            </a:lvl5pPr>
            <a:lvl6pPr>
              <a:buNone/>
              <a:defRPr sz="900" b="0">
                <a:solidFill>
                  <a:srgbClr val="7A8CA7"/>
                </a:solidFill>
                <a:latin typeface="MiSans"/>
                <a:ea typeface="MiSans"/>
                <a:cs typeface="MiSans"/>
              </a:defRPr>
            </a:lvl6pPr>
            <a:lvl7pPr>
              <a:buNone/>
              <a:defRPr sz="900" b="0">
                <a:solidFill>
                  <a:srgbClr val="7A8CA7"/>
                </a:solidFill>
                <a:latin typeface="MiSans"/>
                <a:ea typeface="MiSans"/>
                <a:cs typeface="MiSans"/>
              </a:defRPr>
            </a:lvl7pPr>
            <a:lvl8pPr>
              <a:buNone/>
              <a:defRPr sz="900" b="0">
                <a:solidFill>
                  <a:srgbClr val="7A8CA7"/>
                </a:solidFill>
                <a:latin typeface="MiSans"/>
                <a:ea typeface="MiSans"/>
                <a:cs typeface="MiSans"/>
              </a:defRPr>
            </a:lvl8pPr>
            <a:lvl9pPr>
              <a:buNone/>
              <a:defRPr sz="900" b="0">
                <a:solidFill>
                  <a:srgbClr val="7A8CA7"/>
                </a:solidFill>
                <a:latin typeface="MiSans"/>
                <a:ea typeface="MiSans"/>
                <a:cs typeface="MiSans"/>
              </a:defRPr>
            </a:lvl9pPr>
          </a:lstStyle>
          <a:p xmlns:a="http://schemas.openxmlformats.org/drawingml/2006/main">
            <a:pPr>
              <a:lnSpc>
                <a:spcPct val="120000"/>
              </a:lnSpc>
              <a:buNone/>
              <a:defRPr sz="900" b="0">
                <a:solidFill>
                  <a:srgbClr val="7A8CA7"/>
                </a:solidFill>
                <a:latin typeface="MiSans"/>
                <a:ea typeface="MiSans"/>
                <a:cs typeface="MiSans"/>
              </a:defRPr>
            </a:pPr>
            <a:r>
              <a:rPr sz="900" b="0">
                <a:solidFill>
                  <a:srgbClr val="7A8CA7"/>
                </a:solidFill>
                <a:latin typeface="MiSans"/>
                <a:ea typeface="MiSans"/>
                <a:cs typeface="MiSans"/>
              </a:rPr>
              <a:t>需求：素养提升、技能精进</a:t>
            </a:r>
            <a:endParaRPr sz="850"/>
          </a:p>
        </p:txBody>
      </p:sp>
      <p:sp>
        <p:nvSpPr>
          <p:cNvPr id="29" name="u3-label">
            <a:extLst xmlns:a="http://schemas.openxmlformats.org/drawingml/2006/main">
              <a:ext uri="{FF2B5EF4-FFF2-40B4-BE49-F238E27FC236}">
                <a16:creationId xmlns:a16="http://schemas.microsoft.com/office/drawing/2014/main" id="{29F88A60-2AA6-4652-AD46-315247B58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2000" y="5880100"/>
            <a:ext cx="3556000" cy="20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</a:pPr>
            <a:r>
              <a:rPr sz="1050" b="1">
                <a:solidFill>
                  <a:srgbClr val="14213D"/>
                </a:solidFill>
                <a:latin typeface="MiSans"/>
                <a:ea typeface="MiSans"/>
                <a:cs typeface="MiSans"/>
              </a:rPr>
              <a:t>潜力群体 · 25 岁以上爱好者与职场人</a:t>
            </a:r>
            <a:endParaRPr sz="1050"/>
          </a:p>
        </p:txBody>
      </p:sp>
      <p:sp>
        <p:nvSpPr>
          <p:cNvPr id="30" name="u3-pct">
            <a:extLst xmlns:a="http://schemas.openxmlformats.org/drawingml/2006/main">
              <a:ext uri="{FF2B5EF4-FFF2-40B4-BE49-F238E27FC236}">
                <a16:creationId xmlns:a16="http://schemas.microsoft.com/office/drawing/2014/main" id="{CD23D8C5-DF87-47CC-8663-A3884B352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41000" y="5880100"/>
            <a:ext cx="1041400" cy="20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20000"/>
              </a:lnSpc>
              <a:buNone/>
            </a:pPr>
            <a:r>
              <a:rPr sz="1200" b="1">
                <a:solidFill>
                  <a:srgbClr val="076DFC"/>
                </a:solidFill>
                <a:latin typeface="MiSans"/>
                <a:ea typeface="MiSans"/>
                <a:cs typeface="MiSans"/>
              </a:rPr>
              <a:t>约 15%</a:t>
            </a:r>
            <a:endParaRPr sz="1200"/>
          </a:p>
        </p:txBody>
      </p:sp>
      <p:sp>
        <p:nvSpPr>
          <p:cNvPr id="31" name="u3-track">
            <a:extLst xmlns:a="http://schemas.openxmlformats.org/drawingml/2006/main">
              <a:ext uri="{FF2B5EF4-FFF2-40B4-BE49-F238E27FC236}">
                <a16:creationId xmlns:a16="http://schemas.microsoft.com/office/drawing/2014/main" id="{79E05F05-F187-4D56-9CB6-736688648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2000" y="6134100"/>
            <a:ext cx="4368800" cy="63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CE3F2"/>
          </a:solidFill>
          <a:ln xmlns:a="http://schemas.openxmlformats.org/drawingml/2006/main">
            <a:noFill/>
          </a:ln>
        </p:spPr>
      </p:sp>
      <p:sp>
        <p:nvSpPr>
          <p:cNvPr id="32" name="u3-bar">
            <a:extLst xmlns:a="http://schemas.openxmlformats.org/drawingml/2006/main">
              <a:ext uri="{FF2B5EF4-FFF2-40B4-BE49-F238E27FC236}">
                <a16:creationId xmlns:a16="http://schemas.microsoft.com/office/drawing/2014/main" id="{A33E05CD-5E59-4E60-A32A-625636F81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2000" y="6134100"/>
            <a:ext cx="660400" cy="63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76DFC"/>
          </a:solidFill>
          <a:ln xmlns:a="http://schemas.openxmlformats.org/drawingml/2006/main">
            <a:noFill/>
          </a:ln>
        </p:spPr>
      </p:sp>
      <p:sp>
        <p:nvSpPr>
          <p:cNvPr id="33" name="u3-need">
            <a:extLst xmlns:a="http://schemas.openxmlformats.org/drawingml/2006/main">
              <a:ext uri="{FF2B5EF4-FFF2-40B4-BE49-F238E27FC236}">
                <a16:creationId xmlns:a16="http://schemas.microsoft.com/office/drawing/2014/main" id="{195DD1C7-B7C3-4972-92A8-9E9B16BBE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2000" y="6223000"/>
            <a:ext cx="43688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/>
          <a:lstStyle xmlns:a="http://schemas.openxmlformats.org/drawingml/2006/main">
            <a:defPPr>
              <a:defRPr sz="900" b="0">
                <a:solidFill>
                  <a:srgbClr val="7A8CA7"/>
                </a:solidFill>
                <a:latin typeface="MiSans"/>
                <a:ea typeface="MiSans"/>
                <a:cs typeface="MiSans"/>
              </a:defRPr>
            </a:defPPr>
            <a:lvl1pPr>
              <a:buNone/>
              <a:defRPr sz="900" b="0">
                <a:solidFill>
                  <a:srgbClr val="7A8CA7"/>
                </a:solidFill>
                <a:latin typeface="MiSans"/>
                <a:ea typeface="MiSans"/>
                <a:cs typeface="MiSans"/>
              </a:defRPr>
            </a:lvl1pPr>
            <a:lvl2pPr>
              <a:buNone/>
              <a:defRPr sz="900" b="0">
                <a:solidFill>
                  <a:srgbClr val="7A8CA7"/>
                </a:solidFill>
                <a:latin typeface="MiSans"/>
                <a:ea typeface="MiSans"/>
                <a:cs typeface="MiSans"/>
              </a:defRPr>
            </a:lvl2pPr>
            <a:lvl3pPr>
              <a:buNone/>
              <a:defRPr sz="900" b="0">
                <a:solidFill>
                  <a:srgbClr val="7A8CA7"/>
                </a:solidFill>
                <a:latin typeface="MiSans"/>
                <a:ea typeface="MiSans"/>
                <a:cs typeface="MiSans"/>
              </a:defRPr>
            </a:lvl3pPr>
            <a:lvl4pPr>
              <a:buNone/>
              <a:defRPr sz="900" b="0">
                <a:solidFill>
                  <a:srgbClr val="7A8CA7"/>
                </a:solidFill>
                <a:latin typeface="MiSans"/>
                <a:ea typeface="MiSans"/>
                <a:cs typeface="MiSans"/>
              </a:defRPr>
            </a:lvl4pPr>
            <a:lvl5pPr>
              <a:buNone/>
              <a:defRPr sz="900" b="0">
                <a:solidFill>
                  <a:srgbClr val="7A8CA7"/>
                </a:solidFill>
                <a:latin typeface="MiSans"/>
                <a:ea typeface="MiSans"/>
                <a:cs typeface="MiSans"/>
              </a:defRPr>
            </a:lvl5pPr>
            <a:lvl6pPr>
              <a:buNone/>
              <a:defRPr sz="900" b="0">
                <a:solidFill>
                  <a:srgbClr val="7A8CA7"/>
                </a:solidFill>
                <a:latin typeface="MiSans"/>
                <a:ea typeface="MiSans"/>
                <a:cs typeface="MiSans"/>
              </a:defRPr>
            </a:lvl6pPr>
            <a:lvl7pPr>
              <a:buNone/>
              <a:defRPr sz="900" b="0">
                <a:solidFill>
                  <a:srgbClr val="7A8CA7"/>
                </a:solidFill>
                <a:latin typeface="MiSans"/>
                <a:ea typeface="MiSans"/>
                <a:cs typeface="MiSans"/>
              </a:defRPr>
            </a:lvl7pPr>
            <a:lvl8pPr>
              <a:buNone/>
              <a:defRPr sz="900" b="0">
                <a:solidFill>
                  <a:srgbClr val="7A8CA7"/>
                </a:solidFill>
                <a:latin typeface="MiSans"/>
                <a:ea typeface="MiSans"/>
                <a:cs typeface="MiSans"/>
              </a:defRPr>
            </a:lvl8pPr>
            <a:lvl9pPr>
              <a:buNone/>
              <a:defRPr sz="900" b="0">
                <a:solidFill>
                  <a:srgbClr val="7A8CA7"/>
                </a:solidFill>
                <a:latin typeface="MiSans"/>
                <a:ea typeface="MiSans"/>
                <a:cs typeface="MiSans"/>
              </a:defRPr>
            </a:lvl9pPr>
          </a:lstStyle>
          <a:p xmlns:a="http://schemas.openxmlformats.org/drawingml/2006/main">
            <a:pPr>
              <a:lnSpc>
                <a:spcPct val="120000"/>
              </a:lnSpc>
              <a:buNone/>
              <a:defRPr sz="900" b="0">
                <a:solidFill>
                  <a:srgbClr val="7A8CA7"/>
                </a:solidFill>
                <a:latin typeface="MiSans"/>
                <a:ea typeface="MiSans"/>
                <a:cs typeface="MiSans"/>
              </a:defRPr>
            </a:pPr>
            <a:r>
              <a:rPr sz="900" b="0">
                <a:solidFill>
                  <a:srgbClr val="7A8CA7"/>
                </a:solidFill>
                <a:latin typeface="MiSans"/>
                <a:ea typeface="MiSans"/>
                <a:cs typeface="MiSans"/>
              </a:rPr>
              <a:t>需求：修身养性、兴趣深耕</a:t>
            </a:r>
            <a:endParaRPr sz="850"/>
          </a:p>
        </p:txBody>
      </p:sp>
      <p:sp>
        <p:nvSpPr>
          <p:cNvPr id="34" name="ft-line">
            <a:extLst xmlns:a="http://schemas.openxmlformats.org/drawingml/2006/main">
              <a:ext uri="{FF2B5EF4-FFF2-40B4-BE49-F238E27FC236}">
                <a16:creationId xmlns:a16="http://schemas.microsoft.com/office/drawing/2014/main" id="{33F32160-E93A-4C30-967C-CEC0C2AF6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2400"/>
            <a:ext cx="10972800" cy="12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5" name="ft-left">
            <a:extLst xmlns:a="http://schemas.openxmlformats.org/drawingml/2006/main">
              <a:ext uri="{FF2B5EF4-FFF2-40B4-BE49-F238E27FC236}">
                <a16:creationId xmlns:a16="http://schemas.microsoft.com/office/drawing/2014/main" id="{101A4203-31B2-4F1D-A10C-6A3DE25E5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8600"/>
            <a:ext cx="3048000" cy="17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/>
          <a:lstStyle xmlns:a="http://schemas.openxmlformats.org/drawingml/2006/main">
            <a:defPPr>
              <a:defRPr sz="863" b="0">
                <a:solidFill>
                  <a:srgbClr val="D8E8FF"/>
                </a:solidFill>
                <a:latin typeface="MiSans"/>
                <a:ea typeface="MiSans"/>
                <a:cs typeface="MiSans"/>
              </a:defRPr>
            </a:defPPr>
            <a:lvl1pPr>
              <a:buNone/>
              <a:defRPr sz="863" b="0">
                <a:solidFill>
                  <a:srgbClr val="7A8CA7"/>
                </a:solidFill>
                <a:latin typeface="MiSans"/>
                <a:ea typeface="MiSans"/>
                <a:cs typeface="MiSans"/>
              </a:defRPr>
            </a:lvl1pPr>
            <a:lvl2pPr>
              <a:buNone/>
              <a:defRPr sz="863" b="0">
                <a:solidFill>
                  <a:srgbClr val="7A8CA7"/>
                </a:solidFill>
                <a:latin typeface="MiSans"/>
                <a:ea typeface="MiSans"/>
                <a:cs typeface="MiSans"/>
              </a:defRPr>
            </a:lvl2pPr>
            <a:lvl3pPr>
              <a:buNone/>
              <a:defRPr sz="863" b="0">
                <a:solidFill>
                  <a:srgbClr val="7A8CA7"/>
                </a:solidFill>
                <a:latin typeface="MiSans"/>
                <a:ea typeface="MiSans"/>
                <a:cs typeface="MiSans"/>
              </a:defRPr>
            </a:lvl3pPr>
            <a:lvl4pPr>
              <a:buNone/>
              <a:defRPr sz="863" b="0">
                <a:solidFill>
                  <a:srgbClr val="7A8CA7"/>
                </a:solidFill>
                <a:latin typeface="MiSans"/>
                <a:ea typeface="MiSans"/>
                <a:cs typeface="MiSans"/>
              </a:defRPr>
            </a:lvl4pPr>
            <a:lvl5pPr>
              <a:buNone/>
              <a:defRPr sz="863" b="0">
                <a:solidFill>
                  <a:srgbClr val="7A8CA7"/>
                </a:solidFill>
                <a:latin typeface="MiSans"/>
                <a:ea typeface="MiSans"/>
                <a:cs typeface="MiSans"/>
              </a:defRPr>
            </a:lvl5pPr>
            <a:lvl6pPr>
              <a:buNone/>
              <a:defRPr sz="863" b="0">
                <a:solidFill>
                  <a:srgbClr val="7A8CA7"/>
                </a:solidFill>
                <a:latin typeface="MiSans"/>
                <a:ea typeface="MiSans"/>
                <a:cs typeface="MiSans"/>
              </a:defRPr>
            </a:lvl6pPr>
            <a:lvl7pPr>
              <a:buNone/>
              <a:defRPr sz="863" b="0">
                <a:solidFill>
                  <a:srgbClr val="7A8CA7"/>
                </a:solidFill>
                <a:latin typeface="MiSans"/>
                <a:ea typeface="MiSans"/>
                <a:cs typeface="MiSans"/>
              </a:defRPr>
            </a:lvl7pPr>
            <a:lvl8pPr>
              <a:buNone/>
              <a:defRPr sz="863" b="0">
                <a:solidFill>
                  <a:srgbClr val="7A8CA7"/>
                </a:solidFill>
                <a:latin typeface="MiSans"/>
                <a:ea typeface="MiSans"/>
                <a:cs typeface="MiSans"/>
              </a:defRPr>
            </a:lvl8pPr>
            <a:lvl9pPr>
              <a:buNone/>
              <a:defRPr sz="863" b="0">
                <a:solidFill>
                  <a:srgbClr val="7A8CA7"/>
                </a:solidFill>
                <a:latin typeface="MiSans"/>
                <a:ea typeface="MiSans"/>
                <a:cs typeface="MiSans"/>
              </a:defRPr>
            </a:lvl9pPr>
          </a:lstStyle>
          <a:p xmlns:a="http://schemas.openxmlformats.org/drawingml/2006/main">
            <a:pPr>
              <a:lnSpc>
                <a:spcPct val="120000"/>
              </a:lnSpc>
              <a:buNone/>
              <a:defRPr sz="863" b="0">
                <a:solidFill>
                  <a:srgbClr val="D8E8FF"/>
                </a:solidFill>
                <a:latin typeface="MiSans"/>
                <a:ea typeface="MiSans"/>
                <a:cs typeface="MiSans"/>
              </a:defRPr>
            </a:pPr>
            <a:r>
              <a:rPr sz="863" b="0">
                <a:solidFill>
                  <a:srgbClr val="D8E8FF"/>
                </a:solidFill>
                <a:latin typeface="MiSans"/>
                <a:ea typeface="MiSans"/>
                <a:cs typeface="MiSans"/>
              </a:rPr>
              <a:t>一笔成章 · 2026 中期汇报</a:t>
            </a:r>
            <a:endParaRPr sz="900"/>
          </a:p>
        </p:txBody>
      </p:sp>
      <p:sp>
        <p:nvSpPr>
          <p:cNvPr id="36" name="ft-page">
            <a:extLst xmlns:a="http://schemas.openxmlformats.org/drawingml/2006/main">
              <a:ext uri="{FF2B5EF4-FFF2-40B4-BE49-F238E27FC236}">
                <a16:creationId xmlns:a16="http://schemas.microsoft.com/office/drawing/2014/main" id="{F40E012E-7689-4481-BCAB-4A961B7B3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6578600"/>
            <a:ext cx="914400" cy="17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>
            <a:defPPr>
              <a:defRPr sz="863" b="0">
                <a:solidFill>
                  <a:srgbClr val="D8E8FF"/>
                </a:solidFill>
                <a:latin typeface="MiSans"/>
                <a:ea typeface="MiSans"/>
                <a:cs typeface="MiSans"/>
              </a:defRPr>
            </a:defPPr>
            <a:lvl1pPr>
              <a:buNone/>
              <a:defRPr sz="863" b="0">
                <a:solidFill>
                  <a:srgbClr val="7A8CA7"/>
                </a:solidFill>
                <a:latin typeface="MiSans"/>
                <a:ea typeface="MiSans"/>
                <a:cs typeface="MiSans"/>
              </a:defRPr>
            </a:lvl1pPr>
            <a:lvl2pPr>
              <a:buNone/>
              <a:defRPr sz="863" b="0">
                <a:solidFill>
                  <a:srgbClr val="7A8CA7"/>
                </a:solidFill>
                <a:latin typeface="MiSans"/>
                <a:ea typeface="MiSans"/>
                <a:cs typeface="MiSans"/>
              </a:defRPr>
            </a:lvl2pPr>
            <a:lvl3pPr>
              <a:buNone/>
              <a:defRPr sz="863" b="0">
                <a:solidFill>
                  <a:srgbClr val="7A8CA7"/>
                </a:solidFill>
                <a:latin typeface="MiSans"/>
                <a:ea typeface="MiSans"/>
                <a:cs typeface="MiSans"/>
              </a:defRPr>
            </a:lvl3pPr>
            <a:lvl4pPr>
              <a:buNone/>
              <a:defRPr sz="863" b="0">
                <a:solidFill>
                  <a:srgbClr val="7A8CA7"/>
                </a:solidFill>
                <a:latin typeface="MiSans"/>
                <a:ea typeface="MiSans"/>
                <a:cs typeface="MiSans"/>
              </a:defRPr>
            </a:lvl4pPr>
            <a:lvl5pPr>
              <a:buNone/>
              <a:defRPr sz="863" b="0">
                <a:solidFill>
                  <a:srgbClr val="7A8CA7"/>
                </a:solidFill>
                <a:latin typeface="MiSans"/>
                <a:ea typeface="MiSans"/>
                <a:cs typeface="MiSans"/>
              </a:defRPr>
            </a:lvl5pPr>
            <a:lvl6pPr>
              <a:buNone/>
              <a:defRPr sz="863" b="0">
                <a:solidFill>
                  <a:srgbClr val="7A8CA7"/>
                </a:solidFill>
                <a:latin typeface="MiSans"/>
                <a:ea typeface="MiSans"/>
                <a:cs typeface="MiSans"/>
              </a:defRPr>
            </a:lvl6pPr>
            <a:lvl7pPr>
              <a:buNone/>
              <a:defRPr sz="863" b="0">
                <a:solidFill>
                  <a:srgbClr val="7A8CA7"/>
                </a:solidFill>
                <a:latin typeface="MiSans"/>
                <a:ea typeface="MiSans"/>
                <a:cs typeface="MiSans"/>
              </a:defRPr>
            </a:lvl7pPr>
            <a:lvl8pPr>
              <a:buNone/>
              <a:defRPr sz="863" b="0">
                <a:solidFill>
                  <a:srgbClr val="7A8CA7"/>
                </a:solidFill>
                <a:latin typeface="MiSans"/>
                <a:ea typeface="MiSans"/>
                <a:cs typeface="MiSans"/>
              </a:defRPr>
            </a:lvl8pPr>
            <a:lvl9pPr>
              <a:buNone/>
              <a:defRPr sz="863" b="0">
                <a:solidFill>
                  <a:srgbClr val="7A8CA7"/>
                </a:solidFill>
                <a:latin typeface="MiSans"/>
                <a:ea typeface="MiSans"/>
                <a:cs typeface="MiSans"/>
              </a:defRPr>
            </a:lvl9pPr>
          </a:lstStyle>
          <a:p xmlns:a="http://schemas.openxmlformats.org/drawingml/2006/main">
            <a:pPr algn="r">
              <a:lnSpc>
                <a:spcPct val="120000"/>
              </a:lnSpc>
              <a:buNone/>
              <a:defRPr sz="863" b="0">
                <a:solidFill>
                  <a:srgbClr val="D8E8FF"/>
                </a:solidFill>
                <a:latin typeface="MiSans"/>
                <a:ea typeface="MiSans"/>
                <a:cs typeface="MiSans"/>
              </a:defRPr>
            </a:pPr>
            <a:r>
              <a:rPr sz="863" b="0">
                <a:solidFill>
                  <a:srgbClr val="D8E8FF"/>
                </a:solidFill>
                <a:latin typeface="MiSans"/>
                <a:ea typeface="MiSans"/>
                <a:cs typeface="MiSans"/>
              </a:rPr>
              <a:t>02 / 13</a:t>
            </a:r>
            <a:endParaRPr sz="900"/>
          </a:p>
        </p:txBody>
      </p:sp>
    </p:spTree>
    <p:extLst>
      <p:ext uri="{BB962C8B-B14F-4D97-AF65-F5344CB8AC3E}">
        <p14:creationId xmlns:p14="http://schemas.microsoft.com/office/powerpoint/2010/main" val="1443254938"/>
      </p:ext>
    </p:extLst>
  </p:cSld>
</p:sld>
</file>

<file path=ppt/slides/slide3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E7EFFB"/>
            </a:gs>
            <a:gs pos="48000">
              <a:srgbClr val="F1F5FC"/>
            </a:gs>
            <a:gs pos="100000">
              <a:srgbClr val="E9F2FF"/>
            </a:gs>
          </a:gsLst>
          <a:lin ang="168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6BA7451-AB88-4DED-94CA-CF4E9003849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111ca3b103543b9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33" name="reference-cover-triangle">
            <a:extLst xmlns:a="http://schemas.openxmlformats.org/drawingml/2006/main">
              <a:ext uri="{FF2B5EF4-FFF2-40B4-BE49-F238E27FC236}">
                <a16:creationId xmlns:a16="http://schemas.microsoft.com/office/drawing/2014/main" id="{7E0F7F6D-8075-4048-9640-581B711ED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0" y="5905500"/>
            <a:ext cx="533400" cy="381000"/>
          </a:xfrm>
          <a:prstGeom xmlns:a="http://schemas.openxmlformats.org/drawingml/2006/main" prst="triangl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2" name="reference-cover-ring">
            <a:extLst xmlns:a="http://schemas.openxmlformats.org/drawingml/2006/main">
              <a:ext uri="{FF2B5EF4-FFF2-40B4-BE49-F238E27FC236}">
                <a16:creationId xmlns:a16="http://schemas.microsoft.com/office/drawing/2014/main" id="{1A917011-E0C4-42C9-B2D8-8394CB90A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95250"/>
            <a:ext cx="1181100" cy="11811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" name="hd-bar">
            <a:extLst xmlns:a="http://schemas.openxmlformats.org/drawingml/2006/main">
              <a:ext uri="{FF2B5EF4-FFF2-40B4-BE49-F238E27FC236}">
                <a16:creationId xmlns:a16="http://schemas.microsoft.com/office/drawing/2014/main" id="{D36E5C8A-835F-4F59-A96E-B766F66FB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8000"/>
            <a:ext cx="76200" cy="3048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" name="hd-title">
            <a:extLst xmlns:a="http://schemas.openxmlformats.org/drawingml/2006/main">
              <a:ext uri="{FF2B5EF4-FFF2-40B4-BE49-F238E27FC236}">
                <a16:creationId xmlns:a16="http://schemas.microsoft.com/office/drawing/2014/main" id="{4DBCF345-75CB-4FE1-8F8A-41265A780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19100"/>
            <a:ext cx="101346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>
              <a:defRPr sz="2200" b="1">
                <a:solidFill>
                  <a:srgbClr val="FFFFFF"/>
                </a:solidFill>
              </a:defRPr>
            </a:defPPr>
            <a:lvl1pPr>
              <a:defRPr sz="2200" b="1">
                <a:solidFill>
                  <a:srgbClr val="FFFFFF"/>
                </a:solidFill>
              </a:defRPr>
            </a:lvl1pPr>
            <a:lvl2pPr>
              <a:defRPr sz="2200" b="1">
                <a:solidFill>
                  <a:srgbClr val="FFFFFF"/>
                </a:solidFill>
              </a:defRPr>
            </a:lvl2pPr>
            <a:lvl3pPr>
              <a:defRPr sz="2200" b="1">
                <a:solidFill>
                  <a:srgbClr val="FFFFFF"/>
                </a:solidFill>
              </a:defRPr>
            </a:lvl3pPr>
            <a:lvl4pPr>
              <a:defRPr sz="2200" b="1">
                <a:solidFill>
                  <a:srgbClr val="FFFFFF"/>
                </a:solidFill>
              </a:defRPr>
            </a:lvl4pPr>
            <a:lvl5pPr>
              <a:defRPr sz="2200" b="1">
                <a:solidFill>
                  <a:srgbClr val="FFFFFF"/>
                </a:solidFill>
              </a:defRPr>
            </a:lvl5pPr>
            <a:lvl6pPr>
              <a:defRPr sz="2200" b="1">
                <a:solidFill>
                  <a:srgbClr val="FFFFFF"/>
                </a:solidFill>
              </a:defRPr>
            </a:lvl6pPr>
            <a:lvl7pPr>
              <a:defRPr sz="2200" b="1">
                <a:solidFill>
                  <a:srgbClr val="FFFFFF"/>
                </a:solidFill>
              </a:defRPr>
            </a:lvl7pPr>
            <a:lvl8pPr>
              <a:defRPr sz="2200" b="1">
                <a:solidFill>
                  <a:srgbClr val="FFFFFF"/>
                </a:solidFill>
              </a:defRPr>
            </a:lvl8pPr>
            <a:lvl9pPr>
              <a:defRPr sz="220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2200" b="1">
                <a:solidFill>
                  <a:srgbClr val="FFFFFF"/>
                </a:solidFill>
              </a:defRPr>
            </a:pPr>
            <a:r>
              <a:rPr sz="2200" b="1">
                <a:solidFill>
                  <a:srgbClr val="FFFFFF"/>
                </a:solidFill>
                <a:latin typeface="MiSans"/>
                <a:ea typeface="MiSans"/>
                <a:cs typeface="MiSans"/>
              </a:rPr>
              <a:t>项目背景：政策、市场与书写方式的变革</a:t>
            </a:r>
            <a:endParaRPr sz="2200"/>
          </a:p>
        </p:txBody>
      </p:sp>
      <p:sp>
        <p:nvSpPr>
          <p:cNvPr id="4" name="hd-tag">
            <a:extLst xmlns:a="http://schemas.openxmlformats.org/drawingml/2006/main">
              <a:ext uri="{FF2B5EF4-FFF2-40B4-BE49-F238E27FC236}">
                <a16:creationId xmlns:a16="http://schemas.microsoft.com/office/drawing/2014/main" id="{25ED5E20-A974-49DB-B209-2DD444E64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180975"/>
            <a:ext cx="762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900" b="0">
                <a:solidFill>
                  <a:srgbClr val="CBE1FF"/>
                </a:solidFill>
                <a:latin typeface="MiSans"/>
                <a:ea typeface="MiSans"/>
                <a:cs typeface="MiSans"/>
              </a:defRPr>
            </a:defPPr>
            <a:lvl1pPr algn="l">
              <a:buNone/>
              <a:defRPr sz="975" b="0">
                <a:solidFill>
                  <a:srgbClr val="076DFC"/>
                </a:solidFill>
                <a:latin typeface="MiSans"/>
                <a:ea typeface="MiSans"/>
                <a:cs typeface="MiSans"/>
              </a:defRPr>
            </a:lvl1pPr>
            <a:lvl2pPr algn="l">
              <a:buNone/>
              <a:defRPr sz="975" b="0">
                <a:solidFill>
                  <a:srgbClr val="076DFC"/>
                </a:solidFill>
                <a:latin typeface="MiSans"/>
                <a:ea typeface="MiSans"/>
                <a:cs typeface="MiSans"/>
              </a:defRPr>
            </a:lvl2pPr>
            <a:lvl3pPr algn="l">
              <a:buNone/>
              <a:defRPr sz="975" b="0">
                <a:solidFill>
                  <a:srgbClr val="076DFC"/>
                </a:solidFill>
                <a:latin typeface="MiSans"/>
                <a:ea typeface="MiSans"/>
                <a:cs typeface="MiSans"/>
              </a:defRPr>
            </a:lvl3pPr>
            <a:lvl4pPr algn="l">
              <a:buNone/>
              <a:defRPr sz="975" b="0">
                <a:solidFill>
                  <a:srgbClr val="076DFC"/>
                </a:solidFill>
                <a:latin typeface="MiSans"/>
                <a:ea typeface="MiSans"/>
                <a:cs typeface="MiSans"/>
              </a:defRPr>
            </a:lvl4pPr>
            <a:lvl5pPr algn="l">
              <a:buNone/>
              <a:defRPr sz="975" b="0">
                <a:solidFill>
                  <a:srgbClr val="076DFC"/>
                </a:solidFill>
                <a:latin typeface="MiSans"/>
                <a:ea typeface="MiSans"/>
                <a:cs typeface="MiSans"/>
              </a:defRPr>
            </a:lvl5pPr>
            <a:lvl6pPr algn="l">
              <a:buNone/>
              <a:defRPr sz="975" b="0">
                <a:solidFill>
                  <a:srgbClr val="076DFC"/>
                </a:solidFill>
                <a:latin typeface="MiSans"/>
                <a:ea typeface="MiSans"/>
                <a:cs typeface="MiSans"/>
              </a:defRPr>
            </a:lvl6pPr>
            <a:lvl7pPr algn="l">
              <a:buNone/>
              <a:defRPr sz="975" b="0">
                <a:solidFill>
                  <a:srgbClr val="076DFC"/>
                </a:solidFill>
                <a:latin typeface="MiSans"/>
                <a:ea typeface="MiSans"/>
                <a:cs typeface="MiSans"/>
              </a:defRPr>
            </a:lvl7pPr>
            <a:lvl8pPr algn="l">
              <a:buNone/>
              <a:defRPr sz="975" b="0">
                <a:solidFill>
                  <a:srgbClr val="076DFC"/>
                </a:solidFill>
                <a:latin typeface="MiSans"/>
                <a:ea typeface="MiSans"/>
                <a:cs typeface="MiSans"/>
              </a:defRPr>
            </a:lvl8pPr>
            <a:lvl9pPr algn="l">
              <a:buNone/>
              <a:defRPr sz="975" b="0">
                <a:solidFill>
                  <a:srgbClr val="076DFC"/>
                </a:solidFill>
                <a:latin typeface="MiSans"/>
                <a:ea typeface="MiSans"/>
                <a:cs typeface="MiSans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900" b="0">
                <a:solidFill>
                  <a:srgbClr val="CBE1FF"/>
                </a:solidFill>
                <a:latin typeface="MiSans"/>
                <a:ea typeface="MiSans"/>
                <a:cs typeface="MiSans"/>
              </a:defRPr>
            </a:pPr>
            <a:r>
              <a:rPr sz="900" b="0">
                <a:solidFill>
                  <a:srgbClr val="CBE1FF"/>
                </a:solidFill>
                <a:latin typeface="MiSans"/>
                <a:ea typeface="MiSans"/>
                <a:cs typeface="MiSans"/>
              </a:rPr>
              <a:t>01 · 项目背景与意义</a:t>
            </a:r>
            <a:endParaRPr sz="1000"/>
          </a:p>
        </p:txBody>
      </p:sp>
      <p:sp>
        <p:nvSpPr>
          <p:cNvPr id="5" name="hd-line">
            <a:extLst xmlns:a="http://schemas.openxmlformats.org/drawingml/2006/main">
              <a:ext uri="{FF2B5EF4-FFF2-40B4-BE49-F238E27FC236}">
                <a16:creationId xmlns:a16="http://schemas.microsoft.com/office/drawing/2014/main" id="{8E9632F0-614A-4008-83E3-C5D0F3445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90600"/>
            <a:ext cx="742950" cy="28575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6" name="b1-circle">
            <a:extLst xmlns:a="http://schemas.openxmlformats.org/drawingml/2006/main">
              <a:ext uri="{FF2B5EF4-FFF2-40B4-BE49-F238E27FC236}">
                <a16:creationId xmlns:a16="http://schemas.microsoft.com/office/drawing/2014/main" id="{F158C54B-FC04-4A44-9D4D-9443DE291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46200"/>
            <a:ext cx="558800" cy="55880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DFEAFE"/>
          </a:solidFill>
          <a:ln xmlns:a="http://schemas.openxmlformats.org/drawingml/2006/main" w="0">
            <a:noFill/>
          </a:ln>
        </p:spPr>
      </p:sp>
      <p:sp>
        <p:nvSpPr>
          <p:cNvPr id="7" name="b1-num">
            <a:extLst xmlns:a="http://schemas.openxmlformats.org/drawingml/2006/main">
              <a:ext uri="{FF2B5EF4-FFF2-40B4-BE49-F238E27FC236}">
                <a16:creationId xmlns:a16="http://schemas.microsoft.com/office/drawing/2014/main" id="{57DE4DF3-8CC6-4C0D-B919-386E485F3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46200"/>
            <a:ext cx="558800" cy="558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>
              <a:defRPr sz="1725" b="1">
                <a:solidFill>
                  <a:srgbClr val="076DFC"/>
                </a:solidFill>
                <a:latin typeface="MiSans"/>
                <a:ea typeface="MiSans"/>
                <a:cs typeface="MiSans"/>
              </a:defRPr>
            </a:defPPr>
            <a:lvl1pPr>
              <a:buNone/>
              <a:defRPr sz="1725" b="1">
                <a:solidFill>
                  <a:srgbClr val="076DFC"/>
                </a:solidFill>
                <a:latin typeface="MiSans"/>
                <a:ea typeface="MiSans"/>
                <a:cs typeface="MiSans"/>
              </a:defRPr>
            </a:lvl1pPr>
            <a:lvl2pPr>
              <a:buNone/>
              <a:defRPr sz="1725" b="1">
                <a:solidFill>
                  <a:srgbClr val="076DFC"/>
                </a:solidFill>
                <a:latin typeface="MiSans"/>
                <a:ea typeface="MiSans"/>
                <a:cs typeface="MiSans"/>
              </a:defRPr>
            </a:lvl2pPr>
            <a:lvl3pPr>
              <a:buNone/>
              <a:defRPr sz="1725" b="1">
                <a:solidFill>
                  <a:srgbClr val="076DFC"/>
                </a:solidFill>
                <a:latin typeface="MiSans"/>
                <a:ea typeface="MiSans"/>
                <a:cs typeface="MiSans"/>
              </a:defRPr>
            </a:lvl3pPr>
            <a:lvl4pPr>
              <a:buNone/>
              <a:defRPr sz="1725" b="1">
                <a:solidFill>
                  <a:srgbClr val="076DFC"/>
                </a:solidFill>
                <a:latin typeface="MiSans"/>
                <a:ea typeface="MiSans"/>
                <a:cs typeface="MiSans"/>
              </a:defRPr>
            </a:lvl4pPr>
            <a:lvl5pPr>
              <a:buNone/>
              <a:defRPr sz="1725" b="1">
                <a:solidFill>
                  <a:srgbClr val="076DFC"/>
                </a:solidFill>
                <a:latin typeface="MiSans"/>
                <a:ea typeface="MiSans"/>
                <a:cs typeface="MiSans"/>
              </a:defRPr>
            </a:lvl5pPr>
            <a:lvl6pPr>
              <a:buNone/>
              <a:defRPr sz="1725" b="1">
                <a:solidFill>
                  <a:srgbClr val="076DFC"/>
                </a:solidFill>
                <a:latin typeface="MiSans"/>
                <a:ea typeface="MiSans"/>
                <a:cs typeface="MiSans"/>
              </a:defRPr>
            </a:lvl6pPr>
            <a:lvl7pPr>
              <a:buNone/>
              <a:defRPr sz="1725" b="1">
                <a:solidFill>
                  <a:srgbClr val="076DFC"/>
                </a:solidFill>
                <a:latin typeface="MiSans"/>
                <a:ea typeface="MiSans"/>
                <a:cs typeface="MiSans"/>
              </a:defRPr>
            </a:lvl7pPr>
            <a:lvl8pPr>
              <a:buNone/>
              <a:defRPr sz="1725" b="1">
                <a:solidFill>
                  <a:srgbClr val="076DFC"/>
                </a:solidFill>
                <a:latin typeface="MiSans"/>
                <a:ea typeface="MiSans"/>
                <a:cs typeface="MiSans"/>
              </a:defRPr>
            </a:lvl8pPr>
            <a:lvl9pPr>
              <a:buNone/>
              <a:defRPr sz="1725" b="1">
                <a:solidFill>
                  <a:srgbClr val="076DFC"/>
                </a:solidFill>
                <a:latin typeface="MiSans"/>
                <a:ea typeface="MiSans"/>
                <a:cs typeface="MiSans"/>
              </a:defRPr>
            </a:lvl9pPr>
          </a:lstStyle>
          <a:p xmlns:a="http://schemas.openxmlformats.org/drawingml/2006/main">
            <a:pPr algn="ctr">
              <a:lnSpc>
                <a:spcPct val="120000"/>
              </a:lnSpc>
              <a:buNone/>
              <a:defRPr sz="1725" b="1">
                <a:solidFill>
                  <a:srgbClr val="076DFC"/>
                </a:solidFill>
                <a:latin typeface="MiSans"/>
                <a:ea typeface="MiSans"/>
                <a:cs typeface="MiSans"/>
              </a:defRPr>
            </a:pPr>
            <a:r>
              <a:rPr sz="1725" b="1">
                <a:solidFill>
                  <a:srgbClr val="076DFC"/>
                </a:solidFill>
                <a:latin typeface="MiSans"/>
                <a:ea typeface="MiSans"/>
                <a:cs typeface="MiSans"/>
              </a:rPr>
              <a:t>01</a:t>
            </a:r>
            <a:endParaRPr sz="1600"/>
          </a:p>
        </p:txBody>
      </p:sp>
      <p:sp>
        <p:nvSpPr>
          <p:cNvPr id="8" name="b1-title">
            <a:extLst xmlns:a="http://schemas.openxmlformats.org/drawingml/2006/main">
              <a:ext uri="{FF2B5EF4-FFF2-40B4-BE49-F238E27FC236}">
                <a16:creationId xmlns:a16="http://schemas.microsoft.com/office/drawing/2014/main" id="{76F11DB5-EF57-469D-88BF-96EB31B41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1320800"/>
            <a:ext cx="5080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</a:pPr>
            <a:r>
              <a:rPr sz="1500" b="1">
                <a:solidFill>
                  <a:srgbClr val="14213D"/>
                </a:solidFill>
                <a:latin typeface="MiSans"/>
                <a:ea typeface="MiSans"/>
                <a:cs typeface="MiSans"/>
              </a:rPr>
              <a:t>政策支持</a:t>
            </a:r>
            <a:endParaRPr sz="1500"/>
          </a:p>
        </p:txBody>
      </p:sp>
      <p:sp>
        <p:nvSpPr>
          <p:cNvPr id="9" name="b1-desc">
            <a:extLst xmlns:a="http://schemas.openxmlformats.org/drawingml/2006/main">
              <a:ext uri="{FF2B5EF4-FFF2-40B4-BE49-F238E27FC236}">
                <a16:creationId xmlns:a16="http://schemas.microsoft.com/office/drawing/2014/main" id="{A2F810CA-61EE-4441-B3C9-5F0DE026F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1676400"/>
            <a:ext cx="9906000" cy="50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1163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defPPr>
            <a:lvl1pPr>
              <a:buNone/>
              <a:defRPr sz="1163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1pPr>
            <a:lvl2pPr>
              <a:buNone/>
              <a:defRPr sz="1163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2pPr>
            <a:lvl3pPr>
              <a:buNone/>
              <a:defRPr sz="1163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3pPr>
            <a:lvl4pPr>
              <a:buNone/>
              <a:defRPr sz="1163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4pPr>
            <a:lvl5pPr>
              <a:buNone/>
              <a:defRPr sz="1163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5pPr>
            <a:lvl6pPr>
              <a:buNone/>
              <a:defRPr sz="1163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6pPr>
            <a:lvl7pPr>
              <a:buNone/>
              <a:defRPr sz="1163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7pPr>
            <a:lvl8pPr>
              <a:buNone/>
              <a:defRPr sz="1163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8pPr>
            <a:lvl9pPr>
              <a:buNone/>
              <a:defRPr sz="1163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9pPr>
          </a:lstStyle>
          <a:p xmlns:a="http://schemas.openxmlformats.org/drawingml/2006/main">
            <a:pPr algn="l">
              <a:lnSpc>
                <a:spcPct val="145000"/>
              </a:lnSpc>
              <a:buNone/>
              <a:defRPr sz="1163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pPr>
            <a:r>
              <a:rPr sz="1163" b="0">
                <a:solidFill>
                  <a:srgbClr val="3E506E"/>
                </a:solidFill>
                <a:latin typeface="MiSans"/>
                <a:ea typeface="MiSans"/>
                <a:cs typeface="MiSans"/>
              </a:rPr>
              <a:t>教育部《中小学书法教育指导纲要》将书法纳入中小学教学体系；新时代学校美育建设持续推进，「双减」落地后，课后服务对优质书法素质教育内容的需求持续增长。</a:t>
            </a:r>
            <a:endParaRPr sz="1050"/>
          </a:p>
        </p:txBody>
      </p:sp>
      <p:sp>
        <p:nvSpPr>
          <p:cNvPr id="10" name="b1-line">
            <a:extLst xmlns:a="http://schemas.openxmlformats.org/drawingml/2006/main">
              <a:ext uri="{FF2B5EF4-FFF2-40B4-BE49-F238E27FC236}">
                <a16:creationId xmlns:a16="http://schemas.microsoft.com/office/drawing/2014/main" id="{DC392009-D602-4DE0-998E-448DAB5D2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13000"/>
            <a:ext cx="10972800" cy="12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8EB"/>
          </a:solidFill>
          <a:ln xmlns:a="http://schemas.openxmlformats.org/drawingml/2006/main">
            <a:noFill/>
          </a:ln>
        </p:spPr>
      </p:sp>
      <p:sp>
        <p:nvSpPr>
          <p:cNvPr id="11" name="b2-circle">
            <a:extLst xmlns:a="http://schemas.openxmlformats.org/drawingml/2006/main">
              <a:ext uri="{FF2B5EF4-FFF2-40B4-BE49-F238E27FC236}">
                <a16:creationId xmlns:a16="http://schemas.microsoft.com/office/drawing/2014/main" id="{3D484072-6A39-48DC-BF28-6C92EACE0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92400"/>
            <a:ext cx="558800" cy="55880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DFEAFE"/>
          </a:solidFill>
          <a:ln xmlns:a="http://schemas.openxmlformats.org/drawingml/2006/main" w="0">
            <a:noFill/>
          </a:ln>
        </p:spPr>
      </p:sp>
      <p:sp>
        <p:nvSpPr>
          <p:cNvPr id="12" name="b2-num">
            <a:extLst xmlns:a="http://schemas.openxmlformats.org/drawingml/2006/main">
              <a:ext uri="{FF2B5EF4-FFF2-40B4-BE49-F238E27FC236}">
                <a16:creationId xmlns:a16="http://schemas.microsoft.com/office/drawing/2014/main" id="{DCF2C826-C275-4072-953E-164343798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92400"/>
            <a:ext cx="558800" cy="558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>
              <a:defRPr sz="1725" b="1">
                <a:solidFill>
                  <a:srgbClr val="076DFC"/>
                </a:solidFill>
                <a:latin typeface="MiSans"/>
                <a:ea typeface="MiSans"/>
                <a:cs typeface="MiSans"/>
              </a:defRPr>
            </a:defPPr>
            <a:lvl1pPr>
              <a:buNone/>
              <a:defRPr sz="1725" b="1">
                <a:solidFill>
                  <a:srgbClr val="076DFC"/>
                </a:solidFill>
                <a:latin typeface="MiSans"/>
                <a:ea typeface="MiSans"/>
                <a:cs typeface="MiSans"/>
              </a:defRPr>
            </a:lvl1pPr>
            <a:lvl2pPr>
              <a:buNone/>
              <a:defRPr sz="1725" b="1">
                <a:solidFill>
                  <a:srgbClr val="076DFC"/>
                </a:solidFill>
                <a:latin typeface="MiSans"/>
                <a:ea typeface="MiSans"/>
                <a:cs typeface="MiSans"/>
              </a:defRPr>
            </a:lvl2pPr>
            <a:lvl3pPr>
              <a:buNone/>
              <a:defRPr sz="1725" b="1">
                <a:solidFill>
                  <a:srgbClr val="076DFC"/>
                </a:solidFill>
                <a:latin typeface="MiSans"/>
                <a:ea typeface="MiSans"/>
                <a:cs typeface="MiSans"/>
              </a:defRPr>
            </a:lvl3pPr>
            <a:lvl4pPr>
              <a:buNone/>
              <a:defRPr sz="1725" b="1">
                <a:solidFill>
                  <a:srgbClr val="076DFC"/>
                </a:solidFill>
                <a:latin typeface="MiSans"/>
                <a:ea typeface="MiSans"/>
                <a:cs typeface="MiSans"/>
              </a:defRPr>
            </a:lvl4pPr>
            <a:lvl5pPr>
              <a:buNone/>
              <a:defRPr sz="1725" b="1">
                <a:solidFill>
                  <a:srgbClr val="076DFC"/>
                </a:solidFill>
                <a:latin typeface="MiSans"/>
                <a:ea typeface="MiSans"/>
                <a:cs typeface="MiSans"/>
              </a:defRPr>
            </a:lvl5pPr>
            <a:lvl6pPr>
              <a:buNone/>
              <a:defRPr sz="1725" b="1">
                <a:solidFill>
                  <a:srgbClr val="076DFC"/>
                </a:solidFill>
                <a:latin typeface="MiSans"/>
                <a:ea typeface="MiSans"/>
                <a:cs typeface="MiSans"/>
              </a:defRPr>
            </a:lvl6pPr>
            <a:lvl7pPr>
              <a:buNone/>
              <a:defRPr sz="1725" b="1">
                <a:solidFill>
                  <a:srgbClr val="076DFC"/>
                </a:solidFill>
                <a:latin typeface="MiSans"/>
                <a:ea typeface="MiSans"/>
                <a:cs typeface="MiSans"/>
              </a:defRPr>
            </a:lvl7pPr>
            <a:lvl8pPr>
              <a:buNone/>
              <a:defRPr sz="1725" b="1">
                <a:solidFill>
                  <a:srgbClr val="076DFC"/>
                </a:solidFill>
                <a:latin typeface="MiSans"/>
                <a:ea typeface="MiSans"/>
                <a:cs typeface="MiSans"/>
              </a:defRPr>
            </a:lvl8pPr>
            <a:lvl9pPr>
              <a:buNone/>
              <a:defRPr sz="1725" b="1">
                <a:solidFill>
                  <a:srgbClr val="076DFC"/>
                </a:solidFill>
                <a:latin typeface="MiSans"/>
                <a:ea typeface="MiSans"/>
                <a:cs typeface="MiSans"/>
              </a:defRPr>
            </a:lvl9pPr>
          </a:lstStyle>
          <a:p xmlns:a="http://schemas.openxmlformats.org/drawingml/2006/main">
            <a:pPr algn="ctr">
              <a:lnSpc>
                <a:spcPct val="120000"/>
              </a:lnSpc>
              <a:buNone/>
              <a:defRPr sz="1725" b="1">
                <a:solidFill>
                  <a:srgbClr val="076DFC"/>
                </a:solidFill>
                <a:latin typeface="MiSans"/>
                <a:ea typeface="MiSans"/>
                <a:cs typeface="MiSans"/>
              </a:defRPr>
            </a:pPr>
            <a:r>
              <a:rPr sz="1725" b="1">
                <a:solidFill>
                  <a:srgbClr val="076DFC"/>
                </a:solidFill>
                <a:latin typeface="MiSans"/>
                <a:ea typeface="MiSans"/>
                <a:cs typeface="MiSans"/>
              </a:rPr>
              <a:t>02</a:t>
            </a:r>
            <a:endParaRPr sz="1600"/>
          </a:p>
        </p:txBody>
      </p:sp>
      <p:sp>
        <p:nvSpPr>
          <p:cNvPr id="13" name="b2-title">
            <a:extLst xmlns:a="http://schemas.openxmlformats.org/drawingml/2006/main">
              <a:ext uri="{FF2B5EF4-FFF2-40B4-BE49-F238E27FC236}">
                <a16:creationId xmlns:a16="http://schemas.microsoft.com/office/drawing/2014/main" id="{00ED8DB7-7EA0-4428-BE68-31B5D51C7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667000"/>
            <a:ext cx="5080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</a:pPr>
            <a:r>
              <a:rPr sz="1500" b="1">
                <a:solidFill>
                  <a:srgbClr val="14213D"/>
                </a:solidFill>
                <a:latin typeface="MiSans"/>
                <a:ea typeface="MiSans"/>
                <a:cs typeface="MiSans"/>
              </a:rPr>
              <a:t>家长群体对书法的重视</a:t>
            </a:r>
            <a:endParaRPr sz="1500"/>
          </a:p>
        </p:txBody>
      </p:sp>
      <p:sp>
        <p:nvSpPr>
          <p:cNvPr id="14" name="b2-desc">
            <a:extLst xmlns:a="http://schemas.openxmlformats.org/drawingml/2006/main">
              <a:ext uri="{FF2B5EF4-FFF2-40B4-BE49-F238E27FC236}">
                <a16:creationId xmlns:a16="http://schemas.microsoft.com/office/drawing/2014/main" id="{B2B4ED28-ED8C-4F85-9AEE-FFA6BFCC4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022600"/>
            <a:ext cx="7112000" cy="965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1163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defPPr>
            <a:lvl1pPr>
              <a:buNone/>
              <a:defRPr sz="1163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1pPr>
            <a:lvl2pPr>
              <a:buNone/>
              <a:defRPr sz="1163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2pPr>
            <a:lvl3pPr>
              <a:buNone/>
              <a:defRPr sz="1163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3pPr>
            <a:lvl4pPr>
              <a:buNone/>
              <a:defRPr sz="1163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4pPr>
            <a:lvl5pPr>
              <a:buNone/>
              <a:defRPr sz="1163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5pPr>
            <a:lvl6pPr>
              <a:buNone/>
              <a:defRPr sz="1163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6pPr>
            <a:lvl7pPr>
              <a:buNone/>
              <a:defRPr sz="1163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7pPr>
            <a:lvl8pPr>
              <a:buNone/>
              <a:defRPr sz="1163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8pPr>
            <a:lvl9pPr>
              <a:buNone/>
              <a:defRPr sz="1163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9pPr>
          </a:lstStyle>
          <a:p xmlns:a="http://schemas.openxmlformats.org/drawingml/2006/main">
            <a:pPr algn="l">
              <a:lnSpc>
                <a:spcPct val="145000"/>
              </a:lnSpc>
              <a:buNone/>
              <a:defRPr sz="1163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pPr>
            <a:r>
              <a:rPr sz="1163" b="0">
                <a:solidFill>
                  <a:srgbClr val="3E506E"/>
                </a:solidFill>
                <a:latin typeface="MiSans"/>
                <a:ea typeface="MiSans"/>
                <a:cs typeface="MiSans"/>
              </a:rPr>
              <a:t>家长普遍认可书法在传承传统文化、涵养孩子专注力与审美素养中的核心价值，主动将其纳入综合素质培养体系，并直接转化为实际消费行为——从筛选专业课程、购置笔墨工具，到稳定的学期预算投入。</a:t>
            </a:r>
            <a:endParaRPr sz="1050"/>
          </a:p>
        </p:txBody>
      </p:sp>
      <p:sp>
        <p:nvSpPr>
          <p:cNvPr id="15" name="b2-stat1-border">
            <a:extLst xmlns:a="http://schemas.openxmlformats.org/drawingml/2006/main">
              <a:ext uri="{FF2B5EF4-FFF2-40B4-BE49-F238E27FC236}">
                <a16:creationId xmlns:a16="http://schemas.microsoft.com/office/drawing/2014/main" id="{8775AFD3-C03C-4ED8-9A16-7C578A8D4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971800"/>
            <a:ext cx="34290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8EB3F"/>
          </a:solidFill>
          <a:ln xmlns:a="http://schemas.openxmlformats.org/drawingml/2006/main">
            <a:noFill/>
          </a:ln>
        </p:spPr>
      </p:sp>
      <p:sp>
        <p:nvSpPr>
          <p:cNvPr id="16" name="b2-stat1-num">
            <a:extLst xmlns:a="http://schemas.openxmlformats.org/drawingml/2006/main">
              <a:ext uri="{FF2B5EF4-FFF2-40B4-BE49-F238E27FC236}">
                <a16:creationId xmlns:a16="http://schemas.microsoft.com/office/drawing/2014/main" id="{B7A4A5E4-A254-4F5E-B9C0-3BB8B21F7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3098800"/>
            <a:ext cx="1270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</a:pPr>
            <a:r>
              <a:rPr sz="2200" b="1">
                <a:solidFill>
                  <a:srgbClr val="076DFC"/>
                </a:solidFill>
                <a:latin typeface="MiSans"/>
                <a:ea typeface="MiSans"/>
                <a:cs typeface="MiSans"/>
              </a:rPr>
              <a:t>41.58%</a:t>
            </a:r>
            <a:endParaRPr sz="2200"/>
          </a:p>
        </p:txBody>
      </p:sp>
      <p:sp>
        <p:nvSpPr>
          <p:cNvPr id="17" name="b2-stat1-label">
            <a:extLst xmlns:a="http://schemas.openxmlformats.org/drawingml/2006/main">
              <a:ext uri="{FF2B5EF4-FFF2-40B4-BE49-F238E27FC236}">
                <a16:creationId xmlns:a16="http://schemas.microsoft.com/office/drawing/2014/main" id="{8ED3DB0D-F052-4B6B-B488-D54C8A461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3505200"/>
            <a:ext cx="1270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900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defPPr>
            <a:lvl1pPr>
              <a:buNone/>
              <a:defRPr sz="900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1pPr>
            <a:lvl2pPr>
              <a:buNone/>
              <a:defRPr sz="900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2pPr>
            <a:lvl3pPr>
              <a:buNone/>
              <a:defRPr sz="900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3pPr>
            <a:lvl4pPr>
              <a:buNone/>
              <a:defRPr sz="900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4pPr>
            <a:lvl5pPr>
              <a:buNone/>
              <a:defRPr sz="900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5pPr>
            <a:lvl6pPr>
              <a:buNone/>
              <a:defRPr sz="900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6pPr>
            <a:lvl7pPr>
              <a:buNone/>
              <a:defRPr sz="900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7pPr>
            <a:lvl8pPr>
              <a:buNone/>
              <a:defRPr sz="900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8pPr>
            <a:lvl9pPr>
              <a:buNone/>
              <a:defRPr sz="900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9pPr>
          </a:lstStyle>
          <a:p xmlns:a="http://schemas.openxmlformats.org/drawingml/2006/main">
            <a:pPr algn="l">
              <a:lnSpc>
                <a:spcPct val="140000"/>
              </a:lnSpc>
              <a:buNone/>
              <a:defRPr sz="900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pPr>
            <a:r>
              <a:rPr sz="900" b="0">
                <a:solidFill>
                  <a:srgbClr val="3E506E"/>
                </a:solidFill>
                <a:latin typeface="MiSans"/>
                <a:ea typeface="MiSans"/>
                <a:cs typeface="MiSans"/>
              </a:rPr>
              <a:t>愿意投入 1000–3000 元/学期</a:t>
            </a:r>
            <a:endParaRPr sz="900"/>
          </a:p>
        </p:txBody>
      </p:sp>
      <p:sp>
        <p:nvSpPr>
          <p:cNvPr id="18" name="b2-stat2-border">
            <a:extLst xmlns:a="http://schemas.openxmlformats.org/drawingml/2006/main">
              <a:ext uri="{FF2B5EF4-FFF2-40B4-BE49-F238E27FC236}">
                <a16:creationId xmlns:a16="http://schemas.microsoft.com/office/drawing/2014/main" id="{EC9ED4BE-8F42-45B5-B0FE-82A09A338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12400" y="2971800"/>
            <a:ext cx="34290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8EB3F"/>
          </a:solidFill>
          <a:ln xmlns:a="http://schemas.openxmlformats.org/drawingml/2006/main">
            <a:noFill/>
          </a:ln>
        </p:spPr>
      </p:sp>
      <p:sp>
        <p:nvSpPr>
          <p:cNvPr id="19" name="b2-stat2-num">
            <a:extLst xmlns:a="http://schemas.openxmlformats.org/drawingml/2006/main">
              <a:ext uri="{FF2B5EF4-FFF2-40B4-BE49-F238E27FC236}">
                <a16:creationId xmlns:a16="http://schemas.microsoft.com/office/drawing/2014/main" id="{169D8BDC-59A2-4551-AE5F-0778626FE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12400" y="3098800"/>
            <a:ext cx="1270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</a:pPr>
            <a:r>
              <a:rPr sz="2200" b="1">
                <a:solidFill>
                  <a:srgbClr val="076DFC"/>
                </a:solidFill>
                <a:latin typeface="MiSans"/>
                <a:ea typeface="MiSans"/>
                <a:cs typeface="MiSans"/>
              </a:rPr>
              <a:t>11.88%</a:t>
            </a:r>
            <a:endParaRPr sz="2200"/>
          </a:p>
        </p:txBody>
      </p:sp>
      <p:sp>
        <p:nvSpPr>
          <p:cNvPr id="20" name="b2-stat2-label">
            <a:extLst xmlns:a="http://schemas.openxmlformats.org/drawingml/2006/main">
              <a:ext uri="{FF2B5EF4-FFF2-40B4-BE49-F238E27FC236}">
                <a16:creationId xmlns:a16="http://schemas.microsoft.com/office/drawing/2014/main" id="{5AE93DEB-42D2-4DC6-8944-4EDDF152F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12400" y="3505200"/>
            <a:ext cx="1270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900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defPPr>
            <a:lvl1pPr>
              <a:buNone/>
              <a:defRPr sz="900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1pPr>
            <a:lvl2pPr>
              <a:buNone/>
              <a:defRPr sz="900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2pPr>
            <a:lvl3pPr>
              <a:buNone/>
              <a:defRPr sz="900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3pPr>
            <a:lvl4pPr>
              <a:buNone/>
              <a:defRPr sz="900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4pPr>
            <a:lvl5pPr>
              <a:buNone/>
              <a:defRPr sz="900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5pPr>
            <a:lvl6pPr>
              <a:buNone/>
              <a:defRPr sz="900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6pPr>
            <a:lvl7pPr>
              <a:buNone/>
              <a:defRPr sz="900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7pPr>
            <a:lvl8pPr>
              <a:buNone/>
              <a:defRPr sz="900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8pPr>
            <a:lvl9pPr>
              <a:buNone/>
              <a:defRPr sz="900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9pPr>
          </a:lstStyle>
          <a:p xmlns:a="http://schemas.openxmlformats.org/drawingml/2006/main">
            <a:pPr algn="l">
              <a:lnSpc>
                <a:spcPct val="140000"/>
              </a:lnSpc>
              <a:buNone/>
              <a:defRPr sz="900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pPr>
            <a:r>
              <a:rPr sz="900" b="0">
                <a:solidFill>
                  <a:srgbClr val="3E506E"/>
                </a:solidFill>
                <a:latin typeface="MiSans"/>
                <a:ea typeface="MiSans"/>
                <a:cs typeface="MiSans"/>
              </a:rPr>
              <a:t>愿意投入 5000 元以上/学期</a:t>
            </a:r>
            <a:endParaRPr sz="900"/>
          </a:p>
        </p:txBody>
      </p:sp>
      <p:sp>
        <p:nvSpPr>
          <p:cNvPr id="21" name="b2-line">
            <a:extLst xmlns:a="http://schemas.openxmlformats.org/drawingml/2006/main">
              <a:ext uri="{FF2B5EF4-FFF2-40B4-BE49-F238E27FC236}">
                <a16:creationId xmlns:a16="http://schemas.microsoft.com/office/drawing/2014/main" id="{B6121841-B53B-4167-8898-2DB78DBA1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89400"/>
            <a:ext cx="10972800" cy="12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8EB"/>
          </a:solidFill>
          <a:ln xmlns:a="http://schemas.openxmlformats.org/drawingml/2006/main">
            <a:noFill/>
          </a:ln>
        </p:spPr>
      </p:sp>
      <p:sp>
        <p:nvSpPr>
          <p:cNvPr id="22" name="b3-circle">
            <a:extLst xmlns:a="http://schemas.openxmlformats.org/drawingml/2006/main">
              <a:ext uri="{FF2B5EF4-FFF2-40B4-BE49-F238E27FC236}">
                <a16:creationId xmlns:a16="http://schemas.microsoft.com/office/drawing/2014/main" id="{2111E1BF-87AD-459A-A29C-1FAB6432F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68800"/>
            <a:ext cx="558800" cy="55880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DFEAFE"/>
          </a:solidFill>
          <a:ln xmlns:a="http://schemas.openxmlformats.org/drawingml/2006/main" w="0">
            <a:noFill/>
          </a:ln>
        </p:spPr>
      </p:sp>
      <p:sp>
        <p:nvSpPr>
          <p:cNvPr id="23" name="b3-num">
            <a:extLst xmlns:a="http://schemas.openxmlformats.org/drawingml/2006/main">
              <a:ext uri="{FF2B5EF4-FFF2-40B4-BE49-F238E27FC236}">
                <a16:creationId xmlns:a16="http://schemas.microsoft.com/office/drawing/2014/main" id="{4FF04E3D-D440-40F5-90DB-9939288C2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68800"/>
            <a:ext cx="558800" cy="558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>
              <a:defRPr sz="1725" b="1">
                <a:solidFill>
                  <a:srgbClr val="076DFC"/>
                </a:solidFill>
                <a:latin typeface="MiSans"/>
                <a:ea typeface="MiSans"/>
                <a:cs typeface="MiSans"/>
              </a:defRPr>
            </a:defPPr>
            <a:lvl1pPr>
              <a:buNone/>
              <a:defRPr sz="1725" b="1">
                <a:solidFill>
                  <a:srgbClr val="076DFC"/>
                </a:solidFill>
                <a:latin typeface="MiSans"/>
                <a:ea typeface="MiSans"/>
                <a:cs typeface="MiSans"/>
              </a:defRPr>
            </a:lvl1pPr>
            <a:lvl2pPr>
              <a:buNone/>
              <a:defRPr sz="1725" b="1">
                <a:solidFill>
                  <a:srgbClr val="076DFC"/>
                </a:solidFill>
                <a:latin typeface="MiSans"/>
                <a:ea typeface="MiSans"/>
                <a:cs typeface="MiSans"/>
              </a:defRPr>
            </a:lvl2pPr>
            <a:lvl3pPr>
              <a:buNone/>
              <a:defRPr sz="1725" b="1">
                <a:solidFill>
                  <a:srgbClr val="076DFC"/>
                </a:solidFill>
                <a:latin typeface="MiSans"/>
                <a:ea typeface="MiSans"/>
                <a:cs typeface="MiSans"/>
              </a:defRPr>
            </a:lvl3pPr>
            <a:lvl4pPr>
              <a:buNone/>
              <a:defRPr sz="1725" b="1">
                <a:solidFill>
                  <a:srgbClr val="076DFC"/>
                </a:solidFill>
                <a:latin typeface="MiSans"/>
                <a:ea typeface="MiSans"/>
                <a:cs typeface="MiSans"/>
              </a:defRPr>
            </a:lvl4pPr>
            <a:lvl5pPr>
              <a:buNone/>
              <a:defRPr sz="1725" b="1">
                <a:solidFill>
                  <a:srgbClr val="076DFC"/>
                </a:solidFill>
                <a:latin typeface="MiSans"/>
                <a:ea typeface="MiSans"/>
                <a:cs typeface="MiSans"/>
              </a:defRPr>
            </a:lvl5pPr>
            <a:lvl6pPr>
              <a:buNone/>
              <a:defRPr sz="1725" b="1">
                <a:solidFill>
                  <a:srgbClr val="076DFC"/>
                </a:solidFill>
                <a:latin typeface="MiSans"/>
                <a:ea typeface="MiSans"/>
                <a:cs typeface="MiSans"/>
              </a:defRPr>
            </a:lvl6pPr>
            <a:lvl7pPr>
              <a:buNone/>
              <a:defRPr sz="1725" b="1">
                <a:solidFill>
                  <a:srgbClr val="076DFC"/>
                </a:solidFill>
                <a:latin typeface="MiSans"/>
                <a:ea typeface="MiSans"/>
                <a:cs typeface="MiSans"/>
              </a:defRPr>
            </a:lvl7pPr>
            <a:lvl8pPr>
              <a:buNone/>
              <a:defRPr sz="1725" b="1">
                <a:solidFill>
                  <a:srgbClr val="076DFC"/>
                </a:solidFill>
                <a:latin typeface="MiSans"/>
                <a:ea typeface="MiSans"/>
                <a:cs typeface="MiSans"/>
              </a:defRPr>
            </a:lvl8pPr>
            <a:lvl9pPr>
              <a:buNone/>
              <a:defRPr sz="1725" b="1">
                <a:solidFill>
                  <a:srgbClr val="076DFC"/>
                </a:solidFill>
                <a:latin typeface="MiSans"/>
                <a:ea typeface="MiSans"/>
                <a:cs typeface="MiSans"/>
              </a:defRPr>
            </a:lvl9pPr>
          </a:lstStyle>
          <a:p xmlns:a="http://schemas.openxmlformats.org/drawingml/2006/main">
            <a:pPr algn="ctr">
              <a:lnSpc>
                <a:spcPct val="120000"/>
              </a:lnSpc>
              <a:buNone/>
              <a:defRPr sz="1725" b="1">
                <a:solidFill>
                  <a:srgbClr val="076DFC"/>
                </a:solidFill>
                <a:latin typeface="MiSans"/>
                <a:ea typeface="MiSans"/>
                <a:cs typeface="MiSans"/>
              </a:defRPr>
            </a:pPr>
            <a:r>
              <a:rPr sz="1725" b="1">
                <a:solidFill>
                  <a:srgbClr val="076DFC"/>
                </a:solidFill>
                <a:latin typeface="MiSans"/>
                <a:ea typeface="MiSans"/>
                <a:cs typeface="MiSans"/>
              </a:rPr>
              <a:t>03</a:t>
            </a:r>
            <a:endParaRPr sz="1600"/>
          </a:p>
        </p:txBody>
      </p:sp>
      <p:sp>
        <p:nvSpPr>
          <p:cNvPr id="24" name="b3-title">
            <a:extLst xmlns:a="http://schemas.openxmlformats.org/drawingml/2006/main">
              <a:ext uri="{FF2B5EF4-FFF2-40B4-BE49-F238E27FC236}">
                <a16:creationId xmlns:a16="http://schemas.microsoft.com/office/drawing/2014/main" id="{00F2A4F3-0D83-4D31-A905-B3D7BE8DF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343400"/>
            <a:ext cx="5080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</a:pPr>
            <a:r>
              <a:rPr sz="1500" b="1">
                <a:solidFill>
                  <a:srgbClr val="14213D"/>
                </a:solidFill>
                <a:latin typeface="MiSans"/>
                <a:ea typeface="MiSans"/>
                <a:cs typeface="MiSans"/>
              </a:rPr>
              <a:t>无纸化学习成为趋势</a:t>
            </a:r>
            <a:endParaRPr sz="1500"/>
          </a:p>
        </p:txBody>
      </p:sp>
      <p:sp>
        <p:nvSpPr>
          <p:cNvPr id="25" name="b3-desc">
            <a:extLst xmlns:a="http://schemas.openxmlformats.org/drawingml/2006/main">
              <a:ext uri="{FF2B5EF4-FFF2-40B4-BE49-F238E27FC236}">
                <a16:creationId xmlns:a16="http://schemas.microsoft.com/office/drawing/2014/main" id="{D53162BA-0C20-4429-918D-A63D277CA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699000"/>
            <a:ext cx="9906000" cy="965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1163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defPPr>
            <a:lvl1pPr>
              <a:buNone/>
              <a:defRPr sz="1163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1pPr>
            <a:lvl2pPr>
              <a:buNone/>
              <a:defRPr sz="1163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2pPr>
            <a:lvl3pPr>
              <a:buNone/>
              <a:defRPr sz="1163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3pPr>
            <a:lvl4pPr>
              <a:buNone/>
              <a:defRPr sz="1163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4pPr>
            <a:lvl5pPr>
              <a:buNone/>
              <a:defRPr sz="1163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5pPr>
            <a:lvl6pPr>
              <a:buNone/>
              <a:defRPr sz="1163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6pPr>
            <a:lvl7pPr>
              <a:buNone/>
              <a:defRPr sz="1163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7pPr>
            <a:lvl8pPr>
              <a:buNone/>
              <a:defRPr sz="1163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8pPr>
            <a:lvl9pPr>
              <a:buNone/>
              <a:defRPr sz="1163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9pPr>
          </a:lstStyle>
          <a:p xmlns:a="http://schemas.openxmlformats.org/drawingml/2006/main">
            <a:pPr algn="l">
              <a:lnSpc>
                <a:spcPct val="145000"/>
              </a:lnSpc>
              <a:buNone/>
              <a:defRPr sz="1163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pPr>
            <a:r>
              <a:rPr sz="1163" b="0">
                <a:solidFill>
                  <a:srgbClr val="3E506E"/>
                </a:solidFill>
                <a:latin typeface="MiSans"/>
                <a:ea typeface="MiSans"/>
                <a:cs typeface="MiSans"/>
              </a:rPr>
              <a:t>随着平板与手写笔硬件价格降低，越来越多学生选择无纸化学习，高校中尤为突出。「电子纸」作为全新的书写介质，用户初次上手难以适应书写体验，想写出一手好字同样需要练习；无纸化同时减少纸张消耗，是未来书写介质发展的一大趋势。</a:t>
            </a:r>
            <a:endParaRPr sz="1050"/>
          </a:p>
        </p:txBody>
      </p:sp>
      <p:sp>
        <p:nvSpPr>
          <p:cNvPr id="26" name="concl-band">
            <a:extLst xmlns:a="http://schemas.openxmlformats.org/drawingml/2006/main">
              <a:ext uri="{FF2B5EF4-FFF2-40B4-BE49-F238E27FC236}">
                <a16:creationId xmlns:a16="http://schemas.microsoft.com/office/drawing/2014/main" id="{E314EB0A-8475-4ADA-8FC1-5FFDAF8C7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40400"/>
            <a:ext cx="10972800" cy="558800"/>
          </a:xfrm>
          <a:prstGeom xmlns:a="http://schemas.openxmlformats.org/drawingml/2006/main" prst="roundRect">
            <a:avLst>
              <a:gd name="adj" fmla="val 20455"/>
            </a:avLst>
          </a:prstGeom>
          <a:solidFill xmlns:a="http://schemas.openxmlformats.org/drawingml/2006/main">
            <a:srgbClr val="EEF4FE"/>
          </a:solidFill>
          <a:ln xmlns:a="http://schemas.openxmlformats.org/drawingml/2006/main">
            <a:noFill/>
          </a:ln>
        </p:spPr>
      </p:sp>
      <p:sp>
        <p:nvSpPr>
          <p:cNvPr id="27" name="concl-bar">
            <a:extLst xmlns:a="http://schemas.openxmlformats.org/drawingml/2006/main">
              <a:ext uri="{FF2B5EF4-FFF2-40B4-BE49-F238E27FC236}">
                <a16:creationId xmlns:a16="http://schemas.microsoft.com/office/drawing/2014/main" id="{9FC17112-DAA7-4DF0-A25F-D4A396E45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40400"/>
            <a:ext cx="50800" cy="558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8EB3F"/>
          </a:solidFill>
          <a:ln xmlns:a="http://schemas.openxmlformats.org/drawingml/2006/main">
            <a:noFill/>
          </a:ln>
        </p:spPr>
      </p:sp>
      <p:sp>
        <p:nvSpPr>
          <p:cNvPr id="28" name="concl-text">
            <a:extLst xmlns:a="http://schemas.openxmlformats.org/drawingml/2006/main">
              <a:ext uri="{FF2B5EF4-FFF2-40B4-BE49-F238E27FC236}">
                <a16:creationId xmlns:a16="http://schemas.microsoft.com/office/drawing/2014/main" id="{E4FD2919-4DD9-4390-A73A-9D71DF25B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600" y="5740400"/>
            <a:ext cx="10541000" cy="558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</a:pPr>
            <a:r>
              <a:rPr sz="1150" b="1">
                <a:solidFill>
                  <a:srgbClr val="14213D"/>
                </a:solidFill>
                <a:latin typeface="MiSans"/>
                <a:ea typeface="MiSans"/>
                <a:cs typeface="MiSans"/>
              </a:rPr>
              <a:t>政策有导向、家庭有预算、介质在变革——</a:t>
            </a:r>
            <a:r>
              <a:rPr sz="1150" b="1">
                <a:solidFill>
                  <a:srgbClr val="14213D"/>
                </a:solidFill>
                <a:latin typeface="MiSans"/>
                <a:ea typeface="MiSans"/>
                <a:cs typeface="MiSans"/>
              </a:rPr>
              <a:t>智能书法反馈的需求窗口已经打开</a:t>
            </a:r>
            <a:r>
              <a:rPr sz="1150" b="1">
                <a:solidFill>
                  <a:srgbClr val="14213D"/>
                </a:solidFill>
                <a:latin typeface="MiSans"/>
                <a:ea typeface="MiSans"/>
                <a:cs typeface="MiSans"/>
              </a:rPr>
              <a:t>。</a:t>
            </a:r>
            <a:endParaRPr sz="1150"/>
          </a:p>
        </p:txBody>
      </p:sp>
      <p:sp>
        <p:nvSpPr>
          <p:cNvPr id="29" name="ft-line">
            <a:extLst xmlns:a="http://schemas.openxmlformats.org/drawingml/2006/main">
              <a:ext uri="{FF2B5EF4-FFF2-40B4-BE49-F238E27FC236}">
                <a16:creationId xmlns:a16="http://schemas.microsoft.com/office/drawing/2014/main" id="{48F30B19-8D18-45C6-838E-620A3C4B8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2400"/>
            <a:ext cx="10972800" cy="12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0" name="ft-left">
            <a:extLst xmlns:a="http://schemas.openxmlformats.org/drawingml/2006/main">
              <a:ext uri="{FF2B5EF4-FFF2-40B4-BE49-F238E27FC236}">
                <a16:creationId xmlns:a16="http://schemas.microsoft.com/office/drawing/2014/main" id="{875FE7B3-A78E-4A1A-9C72-96B5444B0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8600"/>
            <a:ext cx="3048000" cy="17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/>
          <a:lstStyle xmlns:a="http://schemas.openxmlformats.org/drawingml/2006/main">
            <a:defPPr>
              <a:defRPr sz="863" b="0">
                <a:solidFill>
                  <a:srgbClr val="D8E8FF"/>
                </a:solidFill>
                <a:latin typeface="MiSans"/>
                <a:ea typeface="MiSans"/>
                <a:cs typeface="MiSans"/>
              </a:defRPr>
            </a:defPPr>
            <a:lvl1pPr>
              <a:buNone/>
              <a:defRPr sz="863" b="0">
                <a:solidFill>
                  <a:srgbClr val="7A8CA7"/>
                </a:solidFill>
                <a:latin typeface="MiSans"/>
                <a:ea typeface="MiSans"/>
                <a:cs typeface="MiSans"/>
              </a:defRPr>
            </a:lvl1pPr>
            <a:lvl2pPr>
              <a:buNone/>
              <a:defRPr sz="863" b="0">
                <a:solidFill>
                  <a:srgbClr val="7A8CA7"/>
                </a:solidFill>
                <a:latin typeface="MiSans"/>
                <a:ea typeface="MiSans"/>
                <a:cs typeface="MiSans"/>
              </a:defRPr>
            </a:lvl2pPr>
            <a:lvl3pPr>
              <a:buNone/>
              <a:defRPr sz="863" b="0">
                <a:solidFill>
                  <a:srgbClr val="7A8CA7"/>
                </a:solidFill>
                <a:latin typeface="MiSans"/>
                <a:ea typeface="MiSans"/>
                <a:cs typeface="MiSans"/>
              </a:defRPr>
            </a:lvl3pPr>
            <a:lvl4pPr>
              <a:buNone/>
              <a:defRPr sz="863" b="0">
                <a:solidFill>
                  <a:srgbClr val="7A8CA7"/>
                </a:solidFill>
                <a:latin typeface="MiSans"/>
                <a:ea typeface="MiSans"/>
                <a:cs typeface="MiSans"/>
              </a:defRPr>
            </a:lvl4pPr>
            <a:lvl5pPr>
              <a:buNone/>
              <a:defRPr sz="863" b="0">
                <a:solidFill>
                  <a:srgbClr val="7A8CA7"/>
                </a:solidFill>
                <a:latin typeface="MiSans"/>
                <a:ea typeface="MiSans"/>
                <a:cs typeface="MiSans"/>
              </a:defRPr>
            </a:lvl5pPr>
            <a:lvl6pPr>
              <a:buNone/>
              <a:defRPr sz="863" b="0">
                <a:solidFill>
                  <a:srgbClr val="7A8CA7"/>
                </a:solidFill>
                <a:latin typeface="MiSans"/>
                <a:ea typeface="MiSans"/>
                <a:cs typeface="MiSans"/>
              </a:defRPr>
            </a:lvl6pPr>
            <a:lvl7pPr>
              <a:buNone/>
              <a:defRPr sz="863" b="0">
                <a:solidFill>
                  <a:srgbClr val="7A8CA7"/>
                </a:solidFill>
                <a:latin typeface="MiSans"/>
                <a:ea typeface="MiSans"/>
                <a:cs typeface="MiSans"/>
              </a:defRPr>
            </a:lvl7pPr>
            <a:lvl8pPr>
              <a:buNone/>
              <a:defRPr sz="863" b="0">
                <a:solidFill>
                  <a:srgbClr val="7A8CA7"/>
                </a:solidFill>
                <a:latin typeface="MiSans"/>
                <a:ea typeface="MiSans"/>
                <a:cs typeface="MiSans"/>
              </a:defRPr>
            </a:lvl8pPr>
            <a:lvl9pPr>
              <a:buNone/>
              <a:defRPr sz="863" b="0">
                <a:solidFill>
                  <a:srgbClr val="7A8CA7"/>
                </a:solidFill>
                <a:latin typeface="MiSans"/>
                <a:ea typeface="MiSans"/>
                <a:cs typeface="MiSans"/>
              </a:defRPr>
            </a:lvl9pPr>
          </a:lstStyle>
          <a:p xmlns:a="http://schemas.openxmlformats.org/drawingml/2006/main">
            <a:pPr>
              <a:lnSpc>
                <a:spcPct val="120000"/>
              </a:lnSpc>
              <a:buNone/>
              <a:defRPr sz="863" b="0">
                <a:solidFill>
                  <a:srgbClr val="D8E8FF"/>
                </a:solidFill>
                <a:latin typeface="MiSans"/>
                <a:ea typeface="MiSans"/>
                <a:cs typeface="MiSans"/>
              </a:defRPr>
            </a:pPr>
            <a:r>
              <a:rPr sz="863" b="0">
                <a:solidFill>
                  <a:srgbClr val="D8E8FF"/>
                </a:solidFill>
                <a:latin typeface="MiSans"/>
                <a:ea typeface="MiSans"/>
                <a:cs typeface="MiSans"/>
              </a:rPr>
              <a:t>一笔成章 · 2026 中期汇报</a:t>
            </a:r>
            <a:endParaRPr sz="900"/>
          </a:p>
        </p:txBody>
      </p:sp>
      <p:sp>
        <p:nvSpPr>
          <p:cNvPr id="31" name="ft-page">
            <a:extLst xmlns:a="http://schemas.openxmlformats.org/drawingml/2006/main">
              <a:ext uri="{FF2B5EF4-FFF2-40B4-BE49-F238E27FC236}">
                <a16:creationId xmlns:a16="http://schemas.microsoft.com/office/drawing/2014/main" id="{3B674F73-BB00-4609-B1FC-247F904E5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6578600"/>
            <a:ext cx="914400" cy="17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>
            <a:defPPr>
              <a:defRPr sz="863" b="0">
                <a:solidFill>
                  <a:srgbClr val="D8E8FF"/>
                </a:solidFill>
                <a:latin typeface="MiSans"/>
                <a:ea typeface="MiSans"/>
                <a:cs typeface="MiSans"/>
              </a:defRPr>
            </a:defPPr>
            <a:lvl1pPr>
              <a:buNone/>
              <a:defRPr sz="863" b="0">
                <a:solidFill>
                  <a:srgbClr val="7A8CA7"/>
                </a:solidFill>
                <a:latin typeface="MiSans"/>
                <a:ea typeface="MiSans"/>
                <a:cs typeface="MiSans"/>
              </a:defRPr>
            </a:lvl1pPr>
            <a:lvl2pPr>
              <a:buNone/>
              <a:defRPr sz="863" b="0">
                <a:solidFill>
                  <a:srgbClr val="7A8CA7"/>
                </a:solidFill>
                <a:latin typeface="MiSans"/>
                <a:ea typeface="MiSans"/>
                <a:cs typeface="MiSans"/>
              </a:defRPr>
            </a:lvl2pPr>
            <a:lvl3pPr>
              <a:buNone/>
              <a:defRPr sz="863" b="0">
                <a:solidFill>
                  <a:srgbClr val="7A8CA7"/>
                </a:solidFill>
                <a:latin typeface="MiSans"/>
                <a:ea typeface="MiSans"/>
                <a:cs typeface="MiSans"/>
              </a:defRPr>
            </a:lvl3pPr>
            <a:lvl4pPr>
              <a:buNone/>
              <a:defRPr sz="863" b="0">
                <a:solidFill>
                  <a:srgbClr val="7A8CA7"/>
                </a:solidFill>
                <a:latin typeface="MiSans"/>
                <a:ea typeface="MiSans"/>
                <a:cs typeface="MiSans"/>
              </a:defRPr>
            </a:lvl4pPr>
            <a:lvl5pPr>
              <a:buNone/>
              <a:defRPr sz="863" b="0">
                <a:solidFill>
                  <a:srgbClr val="7A8CA7"/>
                </a:solidFill>
                <a:latin typeface="MiSans"/>
                <a:ea typeface="MiSans"/>
                <a:cs typeface="MiSans"/>
              </a:defRPr>
            </a:lvl5pPr>
            <a:lvl6pPr>
              <a:buNone/>
              <a:defRPr sz="863" b="0">
                <a:solidFill>
                  <a:srgbClr val="7A8CA7"/>
                </a:solidFill>
                <a:latin typeface="MiSans"/>
                <a:ea typeface="MiSans"/>
                <a:cs typeface="MiSans"/>
              </a:defRPr>
            </a:lvl6pPr>
            <a:lvl7pPr>
              <a:buNone/>
              <a:defRPr sz="863" b="0">
                <a:solidFill>
                  <a:srgbClr val="7A8CA7"/>
                </a:solidFill>
                <a:latin typeface="MiSans"/>
                <a:ea typeface="MiSans"/>
                <a:cs typeface="MiSans"/>
              </a:defRPr>
            </a:lvl7pPr>
            <a:lvl8pPr>
              <a:buNone/>
              <a:defRPr sz="863" b="0">
                <a:solidFill>
                  <a:srgbClr val="7A8CA7"/>
                </a:solidFill>
                <a:latin typeface="MiSans"/>
                <a:ea typeface="MiSans"/>
                <a:cs typeface="MiSans"/>
              </a:defRPr>
            </a:lvl8pPr>
            <a:lvl9pPr>
              <a:buNone/>
              <a:defRPr sz="863" b="0">
                <a:solidFill>
                  <a:srgbClr val="7A8CA7"/>
                </a:solidFill>
                <a:latin typeface="MiSans"/>
                <a:ea typeface="MiSans"/>
                <a:cs typeface="MiSans"/>
              </a:defRPr>
            </a:lvl9pPr>
          </a:lstStyle>
          <a:p xmlns:a="http://schemas.openxmlformats.org/drawingml/2006/main">
            <a:pPr algn="r">
              <a:lnSpc>
                <a:spcPct val="120000"/>
              </a:lnSpc>
              <a:buNone/>
              <a:defRPr sz="863" b="0">
                <a:solidFill>
                  <a:srgbClr val="D8E8FF"/>
                </a:solidFill>
                <a:latin typeface="MiSans"/>
                <a:ea typeface="MiSans"/>
                <a:cs typeface="MiSans"/>
              </a:defRPr>
            </a:pPr>
            <a:r>
              <a:rPr sz="863" b="0">
                <a:solidFill>
                  <a:srgbClr val="D8E8FF"/>
                </a:solidFill>
                <a:latin typeface="MiSans"/>
                <a:ea typeface="MiSans"/>
                <a:cs typeface="MiSans"/>
              </a:rPr>
              <a:t>03 / 13</a:t>
            </a:r>
            <a:endParaRPr sz="900"/>
          </a:p>
        </p:txBody>
      </p:sp>
    </p:spTree>
    <p:extLst>
      <p:ext uri="{BB962C8B-B14F-4D97-AF65-F5344CB8AC3E}">
        <p14:creationId xmlns:p14="http://schemas.microsoft.com/office/powerpoint/2010/main" val="314477751"/>
      </p:ext>
    </p:extLst>
  </p:cSld>
</p:sld>
</file>

<file path=ppt/slides/slide4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E7EFFB"/>
            </a:gs>
            <a:gs pos="48000">
              <a:srgbClr val="F1F5FC"/>
            </a:gs>
            <a:gs pos="100000">
              <a:srgbClr val="E9F2FF"/>
            </a:gs>
          </a:gsLst>
          <a:lin ang="168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C2CAC73-5E02-41C0-9E20-E83A0121583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d5b0e4f11674be6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30" name="reference-cover-triangle">
            <a:extLst xmlns:a="http://schemas.openxmlformats.org/drawingml/2006/main">
              <a:ext uri="{FF2B5EF4-FFF2-40B4-BE49-F238E27FC236}">
                <a16:creationId xmlns:a16="http://schemas.microsoft.com/office/drawing/2014/main" id="{A7C78797-4959-416E-8B93-92D8CD2F0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0" y="5905500"/>
            <a:ext cx="533400" cy="381000"/>
          </a:xfrm>
          <a:prstGeom xmlns:a="http://schemas.openxmlformats.org/drawingml/2006/main" prst="triangl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9" name="reference-cover-ring">
            <a:extLst xmlns:a="http://schemas.openxmlformats.org/drawingml/2006/main">
              <a:ext uri="{FF2B5EF4-FFF2-40B4-BE49-F238E27FC236}">
                <a16:creationId xmlns:a16="http://schemas.microsoft.com/office/drawing/2014/main" id="{5186161D-DC8A-4781-A15D-B2E904D8E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95250"/>
            <a:ext cx="1181100" cy="11811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" name="hd-bar">
            <a:extLst xmlns:a="http://schemas.openxmlformats.org/drawingml/2006/main">
              <a:ext uri="{FF2B5EF4-FFF2-40B4-BE49-F238E27FC236}">
                <a16:creationId xmlns:a16="http://schemas.microsoft.com/office/drawing/2014/main" id="{55107CB3-C1AA-48AF-95F5-0CB61B784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8000"/>
            <a:ext cx="76200" cy="3048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" name="hd-title">
            <a:extLst xmlns:a="http://schemas.openxmlformats.org/drawingml/2006/main">
              <a:ext uri="{FF2B5EF4-FFF2-40B4-BE49-F238E27FC236}">
                <a16:creationId xmlns:a16="http://schemas.microsoft.com/office/drawing/2014/main" id="{AA4AFFCA-37CC-4196-9F1C-2F7C4350B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19100"/>
            <a:ext cx="101346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>
              <a:defRPr sz="2200" b="1">
                <a:solidFill>
                  <a:srgbClr val="FFFFFF"/>
                </a:solidFill>
              </a:defRPr>
            </a:defPPr>
            <a:lvl1pPr>
              <a:defRPr sz="2200" b="1">
                <a:solidFill>
                  <a:srgbClr val="FFFFFF"/>
                </a:solidFill>
              </a:defRPr>
            </a:lvl1pPr>
            <a:lvl2pPr>
              <a:defRPr sz="2200" b="1">
                <a:solidFill>
                  <a:srgbClr val="FFFFFF"/>
                </a:solidFill>
              </a:defRPr>
            </a:lvl2pPr>
            <a:lvl3pPr>
              <a:defRPr sz="2200" b="1">
                <a:solidFill>
                  <a:srgbClr val="FFFFFF"/>
                </a:solidFill>
              </a:defRPr>
            </a:lvl3pPr>
            <a:lvl4pPr>
              <a:defRPr sz="2200" b="1">
                <a:solidFill>
                  <a:srgbClr val="FFFFFF"/>
                </a:solidFill>
              </a:defRPr>
            </a:lvl4pPr>
            <a:lvl5pPr>
              <a:defRPr sz="2200" b="1">
                <a:solidFill>
                  <a:srgbClr val="FFFFFF"/>
                </a:solidFill>
              </a:defRPr>
            </a:lvl5pPr>
            <a:lvl6pPr>
              <a:defRPr sz="2200" b="1">
                <a:solidFill>
                  <a:srgbClr val="FFFFFF"/>
                </a:solidFill>
              </a:defRPr>
            </a:lvl6pPr>
            <a:lvl7pPr>
              <a:defRPr sz="2200" b="1">
                <a:solidFill>
                  <a:srgbClr val="FFFFFF"/>
                </a:solidFill>
              </a:defRPr>
            </a:lvl7pPr>
            <a:lvl8pPr>
              <a:defRPr sz="2200" b="1">
                <a:solidFill>
                  <a:srgbClr val="FFFFFF"/>
                </a:solidFill>
              </a:defRPr>
            </a:lvl8pPr>
            <a:lvl9pPr>
              <a:defRPr sz="220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2200" b="1">
                <a:solidFill>
                  <a:srgbClr val="FFFFFF"/>
                </a:solidFill>
              </a:defRPr>
            </a:pPr>
            <a:r>
              <a:rPr sz="2200" b="1">
                <a:solidFill>
                  <a:srgbClr val="FFFFFF"/>
                </a:solidFill>
                <a:latin typeface="MiSans"/>
                <a:ea typeface="MiSans"/>
                <a:cs typeface="MiSans"/>
              </a:rPr>
              <a:t>市场痛点：软件供给跟不上硬件与需求</a:t>
            </a:r>
            <a:endParaRPr sz="2200"/>
          </a:p>
        </p:txBody>
      </p:sp>
      <p:sp>
        <p:nvSpPr>
          <p:cNvPr id="4" name="hd-tag">
            <a:extLst xmlns:a="http://schemas.openxmlformats.org/drawingml/2006/main">
              <a:ext uri="{FF2B5EF4-FFF2-40B4-BE49-F238E27FC236}">
                <a16:creationId xmlns:a16="http://schemas.microsoft.com/office/drawing/2014/main" id="{2A8C2C04-9826-4664-802D-3911BEE49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180975"/>
            <a:ext cx="762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900" b="0">
                <a:solidFill>
                  <a:srgbClr val="CBE1FF"/>
                </a:solidFill>
                <a:latin typeface="MiSans"/>
                <a:ea typeface="MiSans"/>
                <a:cs typeface="MiSans"/>
              </a:defRPr>
            </a:defPPr>
            <a:lvl1pPr algn="l">
              <a:buNone/>
              <a:defRPr sz="975" b="0">
                <a:solidFill>
                  <a:srgbClr val="076DFC"/>
                </a:solidFill>
                <a:latin typeface="MiSans"/>
                <a:ea typeface="MiSans"/>
                <a:cs typeface="MiSans"/>
              </a:defRPr>
            </a:lvl1pPr>
            <a:lvl2pPr algn="l">
              <a:buNone/>
              <a:defRPr sz="975" b="0">
                <a:solidFill>
                  <a:srgbClr val="076DFC"/>
                </a:solidFill>
                <a:latin typeface="MiSans"/>
                <a:ea typeface="MiSans"/>
                <a:cs typeface="MiSans"/>
              </a:defRPr>
            </a:lvl2pPr>
            <a:lvl3pPr algn="l">
              <a:buNone/>
              <a:defRPr sz="975" b="0">
                <a:solidFill>
                  <a:srgbClr val="076DFC"/>
                </a:solidFill>
                <a:latin typeface="MiSans"/>
                <a:ea typeface="MiSans"/>
                <a:cs typeface="MiSans"/>
              </a:defRPr>
            </a:lvl3pPr>
            <a:lvl4pPr algn="l">
              <a:buNone/>
              <a:defRPr sz="975" b="0">
                <a:solidFill>
                  <a:srgbClr val="076DFC"/>
                </a:solidFill>
                <a:latin typeface="MiSans"/>
                <a:ea typeface="MiSans"/>
                <a:cs typeface="MiSans"/>
              </a:defRPr>
            </a:lvl4pPr>
            <a:lvl5pPr algn="l">
              <a:buNone/>
              <a:defRPr sz="975" b="0">
                <a:solidFill>
                  <a:srgbClr val="076DFC"/>
                </a:solidFill>
                <a:latin typeface="MiSans"/>
                <a:ea typeface="MiSans"/>
                <a:cs typeface="MiSans"/>
              </a:defRPr>
            </a:lvl5pPr>
            <a:lvl6pPr algn="l">
              <a:buNone/>
              <a:defRPr sz="975" b="0">
                <a:solidFill>
                  <a:srgbClr val="076DFC"/>
                </a:solidFill>
                <a:latin typeface="MiSans"/>
                <a:ea typeface="MiSans"/>
                <a:cs typeface="MiSans"/>
              </a:defRPr>
            </a:lvl6pPr>
            <a:lvl7pPr algn="l">
              <a:buNone/>
              <a:defRPr sz="975" b="0">
                <a:solidFill>
                  <a:srgbClr val="076DFC"/>
                </a:solidFill>
                <a:latin typeface="MiSans"/>
                <a:ea typeface="MiSans"/>
                <a:cs typeface="MiSans"/>
              </a:defRPr>
            </a:lvl7pPr>
            <a:lvl8pPr algn="l">
              <a:buNone/>
              <a:defRPr sz="975" b="0">
                <a:solidFill>
                  <a:srgbClr val="076DFC"/>
                </a:solidFill>
                <a:latin typeface="MiSans"/>
                <a:ea typeface="MiSans"/>
                <a:cs typeface="MiSans"/>
              </a:defRPr>
            </a:lvl8pPr>
            <a:lvl9pPr algn="l">
              <a:buNone/>
              <a:defRPr sz="975" b="0">
                <a:solidFill>
                  <a:srgbClr val="076DFC"/>
                </a:solidFill>
                <a:latin typeface="MiSans"/>
                <a:ea typeface="MiSans"/>
                <a:cs typeface="MiSans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900" b="0">
                <a:solidFill>
                  <a:srgbClr val="CBE1FF"/>
                </a:solidFill>
                <a:latin typeface="MiSans"/>
                <a:ea typeface="MiSans"/>
                <a:cs typeface="MiSans"/>
              </a:defRPr>
            </a:pPr>
            <a:r>
              <a:rPr sz="900" b="0">
                <a:solidFill>
                  <a:srgbClr val="CBE1FF"/>
                </a:solidFill>
                <a:latin typeface="MiSans"/>
                <a:ea typeface="MiSans"/>
                <a:cs typeface="MiSans"/>
              </a:rPr>
              <a:t>01 · 项目背景与意义</a:t>
            </a:r>
            <a:endParaRPr sz="1000"/>
          </a:p>
        </p:txBody>
      </p:sp>
      <p:sp>
        <p:nvSpPr>
          <p:cNvPr id="5" name="hd-line">
            <a:extLst xmlns:a="http://schemas.openxmlformats.org/drawingml/2006/main">
              <a:ext uri="{FF2B5EF4-FFF2-40B4-BE49-F238E27FC236}">
                <a16:creationId xmlns:a16="http://schemas.microsoft.com/office/drawing/2014/main" id="{4D2ECC50-C5CE-4ECF-ABEF-844FE8B61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90600"/>
            <a:ext cx="742950" cy="28575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6" name="gap-kicker">
            <a:extLst xmlns:a="http://schemas.openxmlformats.org/drawingml/2006/main">
              <a:ext uri="{FF2B5EF4-FFF2-40B4-BE49-F238E27FC236}">
                <a16:creationId xmlns:a16="http://schemas.microsoft.com/office/drawing/2014/main" id="{90A7CA7D-37C1-42DB-9B80-585679993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70000"/>
            <a:ext cx="3810000" cy="20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</a:pPr>
            <a:r>
              <a:rPr sz="1050" b="1" spc="200">
                <a:solidFill>
                  <a:srgbClr val="076DFC"/>
                </a:solidFill>
                <a:latin typeface="MiSans"/>
                <a:ea typeface="MiSans"/>
                <a:cs typeface="MiSans"/>
              </a:rPr>
              <a:t>现有书法软件的不足</a:t>
            </a:r>
            <a:endParaRPr sz="1050"/>
          </a:p>
        </p:txBody>
      </p:sp>
      <p:sp>
        <p:nvSpPr>
          <p:cNvPr id="7" name="gap-band">
            <a:extLst xmlns:a="http://schemas.openxmlformats.org/drawingml/2006/main">
              <a:ext uri="{FF2B5EF4-FFF2-40B4-BE49-F238E27FC236}">
                <a16:creationId xmlns:a16="http://schemas.microsoft.com/office/drawing/2014/main" id="{644EBD11-DD1B-4013-8C59-F0F2C6DF5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74800"/>
            <a:ext cx="10972800" cy="12192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EEF4FE"/>
          </a:solidFill>
          <a:ln xmlns:a="http://schemas.openxmlformats.org/drawingml/2006/main" w="0">
            <a:noFill/>
          </a:ln>
        </p:spPr>
      </p:sp>
      <p:sp>
        <p:nvSpPr>
          <p:cNvPr id="8" name="gap1-icon">
            <a:extLst xmlns:a="http://schemas.openxmlformats.org/drawingml/2006/main">
              <a:ext uri="{FF2B5EF4-FFF2-40B4-BE49-F238E27FC236}">
                <a16:creationId xmlns:a16="http://schemas.microsoft.com/office/drawing/2014/main" id="{86126287-1FBD-4A6D-AF92-CDE2C4386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778000"/>
            <a:ext cx="228600" cy="228600"/>
          </a:xfrm>
          <a:custGeom xmlns:a="http://schemas.openxmlformats.org/drawingml/2006/main">
            <a:rect l="l" t="t" r="r" b="b"/>
            <a:pathLst>
              <a:path w="384" h="512">
                <a:moveTo>
                  <a:pt x="55" y="73"/>
                </a:moveTo>
                <a:cubicBezTo>
                  <a:pt x="43" y="61"/>
                  <a:pt x="22" y="61"/>
                  <a:pt x="10" y="73"/>
                </a:cubicBezTo>
                <a:cubicBezTo>
                  <a:pt x="-3" y="86"/>
                  <a:pt x="-3" y="106"/>
                  <a:pt x="10" y="119"/>
                </a:cubicBezTo>
                <a:lnTo>
                  <a:pt x="147" y="256"/>
                </a:lnTo>
                <a:lnTo>
                  <a:pt x="10" y="393"/>
                </a:lnTo>
                <a:cubicBezTo>
                  <a:pt x="-3" y="406"/>
                  <a:pt x="-3" y="426"/>
                  <a:pt x="10" y="439"/>
                </a:cubicBezTo>
                <a:cubicBezTo>
                  <a:pt x="22" y="451"/>
                  <a:pt x="43" y="451"/>
                  <a:pt x="55" y="439"/>
                </a:cubicBezTo>
                <a:lnTo>
                  <a:pt x="193" y="301"/>
                </a:lnTo>
                <a:lnTo>
                  <a:pt x="330" y="439"/>
                </a:lnTo>
                <a:cubicBezTo>
                  <a:pt x="342" y="451"/>
                  <a:pt x="363" y="451"/>
                  <a:pt x="375" y="439"/>
                </a:cubicBezTo>
                <a:cubicBezTo>
                  <a:pt x="388" y="426"/>
                  <a:pt x="388" y="406"/>
                  <a:pt x="375" y="393"/>
                </a:cubicBezTo>
                <a:lnTo>
                  <a:pt x="238" y="256"/>
                </a:lnTo>
                <a:lnTo>
                  <a:pt x="375" y="119"/>
                </a:lnTo>
                <a:cubicBezTo>
                  <a:pt x="388" y="106"/>
                  <a:pt x="388" y="86"/>
                  <a:pt x="375" y="73"/>
                </a:cubicBezTo>
                <a:cubicBezTo>
                  <a:pt x="363" y="61"/>
                  <a:pt x="342" y="61"/>
                  <a:pt x="330" y="73"/>
                </a:cubicBezTo>
                <a:lnTo>
                  <a:pt x="193" y="211"/>
                </a:lnTo>
                <a:lnTo>
                  <a:pt x="55" y="73"/>
                </a:lnTo>
                <a:close/>
              </a:path>
            </a:pathLst>
          </a:custGeom>
          <a:solidFill xmlns:a="http://schemas.openxmlformats.org/drawingml/2006/main">
            <a:srgbClr val="076DFC"/>
          </a:solidFill>
          <a:ln xmlns:a="http://schemas.openxmlformats.org/drawingml/2006/main">
            <a:noFill/>
          </a:ln>
        </p:spPr>
      </p:sp>
      <p:sp>
        <p:nvSpPr>
          <p:cNvPr id="9" name="gap1-text">
            <a:extLst xmlns:a="http://schemas.openxmlformats.org/drawingml/2006/main">
              <a:ext uri="{FF2B5EF4-FFF2-40B4-BE49-F238E27FC236}">
                <a16:creationId xmlns:a16="http://schemas.microsoft.com/office/drawing/2014/main" id="{F86BD3DA-6A7F-4817-8462-C8A3EDDED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676400"/>
            <a:ext cx="9906000" cy="431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>
              <a:defRPr sz="1200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defPPr>
            <a:lvl1pPr>
              <a:buNone/>
              <a:defRPr sz="1200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1pPr>
            <a:lvl2pPr>
              <a:buNone/>
              <a:defRPr sz="1200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2pPr>
            <a:lvl3pPr>
              <a:buNone/>
              <a:defRPr sz="1200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3pPr>
            <a:lvl4pPr>
              <a:buNone/>
              <a:defRPr sz="1200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4pPr>
            <a:lvl5pPr>
              <a:buNone/>
              <a:defRPr sz="1200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5pPr>
            <a:lvl6pPr>
              <a:buNone/>
              <a:defRPr sz="1200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6pPr>
            <a:lvl7pPr>
              <a:buNone/>
              <a:defRPr sz="1200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7pPr>
            <a:lvl8pPr>
              <a:buNone/>
              <a:defRPr sz="1200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8pPr>
            <a:lvl9pPr>
              <a:buNone/>
              <a:defRPr sz="1200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9pPr>
          </a:lstStyle>
          <a:p xmlns:a="http://schemas.openxmlformats.org/drawingml/2006/main">
            <a:pPr algn="l">
              <a:lnSpc>
                <a:spcPct val="150000"/>
              </a:lnSpc>
              <a:buNone/>
              <a:defRPr sz="1200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pPr>
            <a:r>
              <a:rPr sz="1200" b="0">
                <a:solidFill>
                  <a:srgbClr val="3E506E"/>
                </a:solidFill>
                <a:latin typeface="MiSans"/>
                <a:ea typeface="MiSans"/>
                <a:cs typeface="MiSans"/>
              </a:rPr>
              <a:t>市面书法练习软件</a:t>
            </a:r>
            <a:r>
              <a:rPr sz="1200" b="0">
                <a:solidFill>
                  <a:srgbClr val="3E506E"/>
                </a:solidFill>
                <a:latin typeface="MiSans"/>
                <a:ea typeface="MiSans"/>
                <a:cs typeface="MiSans"/>
              </a:rPr>
              <a:t>几乎全部局限于提供字帖进行临摹或分享</a:t>
            </a:r>
            <a:r>
              <a:rPr sz="1200" b="0">
                <a:solidFill>
                  <a:srgbClr val="3E506E"/>
                </a:solidFill>
                <a:latin typeface="MiSans"/>
                <a:ea typeface="MiSans"/>
                <a:cs typeface="MiSans"/>
              </a:rPr>
              <a:t>，缺乏对练习者的指导性功能。</a:t>
            </a:r>
            <a:endParaRPr sz="1100"/>
          </a:p>
        </p:txBody>
      </p:sp>
      <p:sp>
        <p:nvSpPr>
          <p:cNvPr id="10" name="gap2-icon">
            <a:extLst xmlns:a="http://schemas.openxmlformats.org/drawingml/2006/main">
              <a:ext uri="{FF2B5EF4-FFF2-40B4-BE49-F238E27FC236}">
                <a16:creationId xmlns:a16="http://schemas.microsoft.com/office/drawing/2014/main" id="{EF39A0B5-3DD0-47B7-848C-DEC2CED51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60600"/>
            <a:ext cx="228600" cy="228600"/>
          </a:xfrm>
          <a:custGeom xmlns:a="http://schemas.openxmlformats.org/drawingml/2006/main">
            <a:rect l="l" t="t" r="r" b="b"/>
            <a:pathLst>
              <a:path w="384" h="512">
                <a:moveTo>
                  <a:pt x="55" y="73"/>
                </a:moveTo>
                <a:cubicBezTo>
                  <a:pt x="43" y="61"/>
                  <a:pt x="22" y="61"/>
                  <a:pt x="10" y="73"/>
                </a:cubicBezTo>
                <a:cubicBezTo>
                  <a:pt x="-3" y="86"/>
                  <a:pt x="-3" y="106"/>
                  <a:pt x="10" y="119"/>
                </a:cubicBezTo>
                <a:lnTo>
                  <a:pt x="147" y="256"/>
                </a:lnTo>
                <a:lnTo>
                  <a:pt x="10" y="393"/>
                </a:lnTo>
                <a:cubicBezTo>
                  <a:pt x="-3" y="406"/>
                  <a:pt x="-3" y="426"/>
                  <a:pt x="10" y="439"/>
                </a:cubicBezTo>
                <a:cubicBezTo>
                  <a:pt x="22" y="451"/>
                  <a:pt x="43" y="451"/>
                  <a:pt x="55" y="439"/>
                </a:cubicBezTo>
                <a:lnTo>
                  <a:pt x="193" y="301"/>
                </a:lnTo>
                <a:lnTo>
                  <a:pt x="330" y="439"/>
                </a:lnTo>
                <a:cubicBezTo>
                  <a:pt x="342" y="451"/>
                  <a:pt x="363" y="451"/>
                  <a:pt x="375" y="439"/>
                </a:cubicBezTo>
                <a:cubicBezTo>
                  <a:pt x="388" y="426"/>
                  <a:pt x="388" y="406"/>
                  <a:pt x="375" y="393"/>
                </a:cubicBezTo>
                <a:lnTo>
                  <a:pt x="238" y="256"/>
                </a:lnTo>
                <a:lnTo>
                  <a:pt x="375" y="119"/>
                </a:lnTo>
                <a:cubicBezTo>
                  <a:pt x="388" y="106"/>
                  <a:pt x="388" y="86"/>
                  <a:pt x="375" y="73"/>
                </a:cubicBezTo>
                <a:cubicBezTo>
                  <a:pt x="363" y="61"/>
                  <a:pt x="342" y="61"/>
                  <a:pt x="330" y="73"/>
                </a:cubicBezTo>
                <a:lnTo>
                  <a:pt x="193" y="211"/>
                </a:lnTo>
                <a:lnTo>
                  <a:pt x="55" y="73"/>
                </a:lnTo>
                <a:close/>
              </a:path>
            </a:pathLst>
          </a:custGeom>
          <a:solidFill xmlns:a="http://schemas.openxmlformats.org/drawingml/2006/main">
            <a:srgbClr val="076DFC"/>
          </a:solidFill>
          <a:ln xmlns:a="http://schemas.openxmlformats.org/drawingml/2006/main">
            <a:noFill/>
          </a:ln>
        </p:spPr>
      </p:sp>
      <p:sp>
        <p:nvSpPr>
          <p:cNvPr id="11" name="gap2-text">
            <a:extLst xmlns:a="http://schemas.openxmlformats.org/drawingml/2006/main">
              <a:ext uri="{FF2B5EF4-FFF2-40B4-BE49-F238E27FC236}">
                <a16:creationId xmlns:a16="http://schemas.microsoft.com/office/drawing/2014/main" id="{001F889A-7630-47F3-9E6E-D01F9FA7E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159000"/>
            <a:ext cx="9906000" cy="431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>
              <a:defRPr sz="1200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defPPr>
            <a:lvl1pPr>
              <a:buNone/>
              <a:defRPr sz="1200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1pPr>
            <a:lvl2pPr>
              <a:buNone/>
              <a:defRPr sz="1200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2pPr>
            <a:lvl3pPr>
              <a:buNone/>
              <a:defRPr sz="1200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3pPr>
            <a:lvl4pPr>
              <a:buNone/>
              <a:defRPr sz="1200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4pPr>
            <a:lvl5pPr>
              <a:buNone/>
              <a:defRPr sz="1200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5pPr>
            <a:lvl6pPr>
              <a:buNone/>
              <a:defRPr sz="1200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6pPr>
            <a:lvl7pPr>
              <a:buNone/>
              <a:defRPr sz="1200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7pPr>
            <a:lvl8pPr>
              <a:buNone/>
              <a:defRPr sz="1200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8pPr>
            <a:lvl9pPr>
              <a:buNone/>
              <a:defRPr sz="1200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9pPr>
          </a:lstStyle>
          <a:p xmlns:a="http://schemas.openxmlformats.org/drawingml/2006/main">
            <a:pPr algn="l">
              <a:lnSpc>
                <a:spcPct val="150000"/>
              </a:lnSpc>
              <a:buNone/>
              <a:defRPr sz="1200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pPr>
            <a:r>
              <a:rPr sz="1200" b="0">
                <a:solidFill>
                  <a:srgbClr val="3E506E"/>
                </a:solidFill>
                <a:latin typeface="MiSans"/>
                <a:ea typeface="MiSans"/>
                <a:cs typeface="MiSans"/>
              </a:rPr>
              <a:t>主流手写笔已支持 </a:t>
            </a:r>
            <a:r>
              <a:rPr sz="1200" b="0">
                <a:solidFill>
                  <a:srgbClr val="3E506E"/>
                </a:solidFill>
                <a:latin typeface="MiSans"/>
                <a:ea typeface="MiSans"/>
                <a:cs typeface="MiSans"/>
              </a:rPr>
              <a:t>4096 级压感</a:t>
            </a:r>
            <a:r>
              <a:rPr sz="1200" b="0">
                <a:solidFill>
                  <a:srgbClr val="3E506E"/>
                </a:solidFill>
                <a:latin typeface="MiSans"/>
                <a:ea typeface="MiSans"/>
                <a:cs typeface="MiSans"/>
              </a:rPr>
              <a:t>，但软件功能未能跟进硬件进步，丰富的书写数据被白白浪费。</a:t>
            </a:r>
            <a:endParaRPr sz="1100"/>
          </a:p>
        </p:txBody>
      </p:sp>
      <p:sp>
        <p:nvSpPr>
          <p:cNvPr id="12" name="arrow-down">
            <a:extLst xmlns:a="http://schemas.openxmlformats.org/drawingml/2006/main">
              <a:ext uri="{FF2B5EF4-FFF2-40B4-BE49-F238E27FC236}">
                <a16:creationId xmlns:a16="http://schemas.microsoft.com/office/drawing/2014/main" id="{3D81AD19-E5F1-4D85-8C5A-279796767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71800"/>
            <a:ext cx="203200" cy="203200"/>
          </a:xfrm>
          <a:custGeom xmlns:a="http://schemas.openxmlformats.org/drawingml/2006/main">
            <a:rect l="l" t="t" r="r" b="b"/>
            <a:pathLst>
              <a:path w="320" h="512">
                <a:moveTo>
                  <a:pt x="137" y="535"/>
                </a:moveTo>
                <a:cubicBezTo>
                  <a:pt x="150" y="547"/>
                  <a:pt x="170" y="547"/>
                  <a:pt x="183" y="535"/>
                </a:cubicBezTo>
                <a:lnTo>
                  <a:pt x="311" y="407"/>
                </a:lnTo>
                <a:cubicBezTo>
                  <a:pt x="323" y="394"/>
                  <a:pt x="323" y="374"/>
                  <a:pt x="311" y="361"/>
                </a:cubicBezTo>
                <a:cubicBezTo>
                  <a:pt x="298" y="349"/>
                  <a:pt x="278" y="349"/>
                  <a:pt x="265" y="361"/>
                </a:cubicBezTo>
                <a:lnTo>
                  <a:pt x="192" y="435"/>
                </a:lnTo>
                <a:lnTo>
                  <a:pt x="192" y="0"/>
                </a:lnTo>
                <a:cubicBezTo>
                  <a:pt x="192" y="-18"/>
                  <a:pt x="178" y="-32"/>
                  <a:pt x="160" y="-32"/>
                </a:cubicBezTo>
                <a:cubicBezTo>
                  <a:pt x="142" y="-32"/>
                  <a:pt x="128" y="-18"/>
                  <a:pt x="128" y="0"/>
                </a:cubicBezTo>
                <a:lnTo>
                  <a:pt x="128" y="435"/>
                </a:lnTo>
                <a:lnTo>
                  <a:pt x="55" y="361"/>
                </a:lnTo>
                <a:cubicBezTo>
                  <a:pt x="42" y="349"/>
                  <a:pt x="22" y="349"/>
                  <a:pt x="9" y="361"/>
                </a:cubicBezTo>
                <a:cubicBezTo>
                  <a:pt x="-3" y="374"/>
                  <a:pt x="-3" y="394"/>
                  <a:pt x="9" y="407"/>
                </a:cubicBezTo>
                <a:lnTo>
                  <a:pt x="137" y="535"/>
                </a:lnTo>
                <a:close/>
              </a:path>
            </a:pathLst>
          </a:custGeom>
          <a:solidFill xmlns:a="http://schemas.openxmlformats.org/drawingml/2006/main">
            <a:srgbClr val="8B98B5"/>
          </a:solidFill>
          <a:ln xmlns:a="http://schemas.openxmlformats.org/drawingml/2006/main">
            <a:noFill/>
          </a:ln>
        </p:spPr>
      </p:sp>
      <p:sp>
        <p:nvSpPr>
          <p:cNvPr id="13" name="pain-lead">
            <a:extLst xmlns:a="http://schemas.openxmlformats.org/drawingml/2006/main">
              <a:ext uri="{FF2B5EF4-FFF2-40B4-BE49-F238E27FC236}">
                <a16:creationId xmlns:a16="http://schemas.microsoft.com/office/drawing/2014/main" id="{9DB40FAC-7127-48B7-BAA0-6664C42F5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0000" y="2921000"/>
            <a:ext cx="7620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</a:pPr>
            <a:r>
              <a:rPr sz="1250" b="1">
                <a:solidFill>
                  <a:srgbClr val="14213D"/>
                </a:solidFill>
                <a:latin typeface="MiSans"/>
                <a:ea typeface="MiSans"/>
                <a:cs typeface="MiSans"/>
              </a:rPr>
              <a:t>传导到练习者身上，是三个长期未被解决的痛点</a:t>
            </a:r>
            <a:endParaRPr sz="1250"/>
          </a:p>
        </p:txBody>
      </p:sp>
      <p:sp>
        <p:nvSpPr>
          <p:cNvPr id="14" name="p1-marker">
            <a:extLst xmlns:a="http://schemas.openxmlformats.org/drawingml/2006/main">
              <a:ext uri="{FF2B5EF4-FFF2-40B4-BE49-F238E27FC236}">
                <a16:creationId xmlns:a16="http://schemas.microsoft.com/office/drawing/2014/main" id="{D9ABCD35-34E5-48C9-949F-BB4B0713B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05200"/>
            <a:ext cx="127000" cy="127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8EB3F"/>
          </a:solidFill>
          <a:ln xmlns:a="http://schemas.openxmlformats.org/drawingml/2006/main">
            <a:noFill/>
          </a:ln>
        </p:spPr>
      </p:sp>
      <p:sp>
        <p:nvSpPr>
          <p:cNvPr id="15" name="p1-lead">
            <a:extLst xmlns:a="http://schemas.openxmlformats.org/drawingml/2006/main">
              <a:ext uri="{FF2B5EF4-FFF2-40B4-BE49-F238E27FC236}">
                <a16:creationId xmlns:a16="http://schemas.microsoft.com/office/drawing/2014/main" id="{351C417A-88CC-4878-817D-BE949E548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600" y="3403600"/>
            <a:ext cx="304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</a:pPr>
            <a:r>
              <a:rPr sz="1400" b="1">
                <a:solidFill>
                  <a:srgbClr val="14213D"/>
                </a:solidFill>
                <a:latin typeface="MiSans"/>
                <a:ea typeface="MiSans"/>
                <a:cs typeface="MiSans"/>
              </a:rPr>
              <a:t>反馈滞后</a:t>
            </a:r>
            <a:endParaRPr sz="1400"/>
          </a:p>
        </p:txBody>
      </p:sp>
      <p:sp>
        <p:nvSpPr>
          <p:cNvPr id="16" name="p1-desc">
            <a:extLst xmlns:a="http://schemas.openxmlformats.org/drawingml/2006/main">
              <a:ext uri="{FF2B5EF4-FFF2-40B4-BE49-F238E27FC236}">
                <a16:creationId xmlns:a16="http://schemas.microsoft.com/office/drawing/2014/main" id="{6C6DCA49-DA0F-4D4E-93F1-97717363B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600" y="3759200"/>
            <a:ext cx="3175000" cy="88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1163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defPPr>
            <a:lvl1pPr>
              <a:buNone/>
              <a:defRPr sz="1163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1pPr>
            <a:lvl2pPr>
              <a:buNone/>
              <a:defRPr sz="1163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2pPr>
            <a:lvl3pPr>
              <a:buNone/>
              <a:defRPr sz="1163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3pPr>
            <a:lvl4pPr>
              <a:buNone/>
              <a:defRPr sz="1163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4pPr>
            <a:lvl5pPr>
              <a:buNone/>
              <a:defRPr sz="1163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5pPr>
            <a:lvl6pPr>
              <a:buNone/>
              <a:defRPr sz="1163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6pPr>
            <a:lvl7pPr>
              <a:buNone/>
              <a:defRPr sz="1163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7pPr>
            <a:lvl8pPr>
              <a:buNone/>
              <a:defRPr sz="1163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8pPr>
            <a:lvl9pPr>
              <a:buNone/>
              <a:defRPr sz="1163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9pPr>
          </a:lstStyle>
          <a:p xmlns:a="http://schemas.openxmlformats.org/drawingml/2006/main">
            <a:pPr algn="l">
              <a:lnSpc>
                <a:spcPct val="150000"/>
              </a:lnSpc>
              <a:buNone/>
              <a:defRPr sz="1163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pPr>
            <a:r>
              <a:rPr sz="1163" b="0">
                <a:solidFill>
                  <a:srgbClr val="3E506E"/>
                </a:solidFill>
                <a:latin typeface="MiSans"/>
                <a:ea typeface="MiSans"/>
                <a:cs typeface="MiSans"/>
              </a:rPr>
              <a:t>传统课堂一对多，作业批改周期长，问题笔画得不到及时纠正，错误写法反复固化。</a:t>
            </a:r>
            <a:endParaRPr sz="1050"/>
          </a:p>
        </p:txBody>
      </p:sp>
      <p:sp>
        <p:nvSpPr>
          <p:cNvPr id="17" name="p2-marker">
            <a:extLst xmlns:a="http://schemas.openxmlformats.org/drawingml/2006/main">
              <a:ext uri="{FF2B5EF4-FFF2-40B4-BE49-F238E27FC236}">
                <a16:creationId xmlns:a16="http://schemas.microsoft.com/office/drawing/2014/main" id="{8F64B24E-FFF5-4B72-B625-44CFA762D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1200" y="3505200"/>
            <a:ext cx="127000" cy="127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8EB3F"/>
          </a:solidFill>
          <a:ln xmlns:a="http://schemas.openxmlformats.org/drawingml/2006/main">
            <a:noFill/>
          </a:ln>
        </p:spPr>
      </p:sp>
      <p:sp>
        <p:nvSpPr>
          <p:cNvPr id="18" name="p2-lead">
            <a:extLst xmlns:a="http://schemas.openxmlformats.org/drawingml/2006/main">
              <a:ext uri="{FF2B5EF4-FFF2-40B4-BE49-F238E27FC236}">
                <a16:creationId xmlns:a16="http://schemas.microsoft.com/office/drawing/2014/main" id="{102BEBDE-E36E-4BA3-A88C-B51751B9D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5200" y="3403600"/>
            <a:ext cx="304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</a:pPr>
            <a:r>
              <a:rPr sz="1400" b="1">
                <a:solidFill>
                  <a:srgbClr val="14213D"/>
                </a:solidFill>
                <a:latin typeface="MiSans"/>
                <a:ea typeface="MiSans"/>
                <a:cs typeface="MiSans"/>
              </a:rPr>
              <a:t>评价主观</a:t>
            </a:r>
            <a:endParaRPr sz="1400"/>
          </a:p>
        </p:txBody>
      </p:sp>
      <p:sp>
        <p:nvSpPr>
          <p:cNvPr id="19" name="p2-desc">
            <a:extLst xmlns:a="http://schemas.openxmlformats.org/drawingml/2006/main">
              <a:ext uri="{FF2B5EF4-FFF2-40B4-BE49-F238E27FC236}">
                <a16:creationId xmlns:a16="http://schemas.microsoft.com/office/drawing/2014/main" id="{6DF323B0-F275-4F54-A208-2DC3EFE11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5200" y="3759200"/>
            <a:ext cx="3175000" cy="88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1163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defPPr>
            <a:lvl1pPr>
              <a:buNone/>
              <a:defRPr sz="1163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1pPr>
            <a:lvl2pPr>
              <a:buNone/>
              <a:defRPr sz="1163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2pPr>
            <a:lvl3pPr>
              <a:buNone/>
              <a:defRPr sz="1163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3pPr>
            <a:lvl4pPr>
              <a:buNone/>
              <a:defRPr sz="1163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4pPr>
            <a:lvl5pPr>
              <a:buNone/>
              <a:defRPr sz="1163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5pPr>
            <a:lvl6pPr>
              <a:buNone/>
              <a:defRPr sz="1163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6pPr>
            <a:lvl7pPr>
              <a:buNone/>
              <a:defRPr sz="1163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7pPr>
            <a:lvl8pPr>
              <a:buNone/>
              <a:defRPr sz="1163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8pPr>
            <a:lvl9pPr>
              <a:buNone/>
              <a:defRPr sz="1163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9pPr>
          </a:lstStyle>
          <a:p xmlns:a="http://schemas.openxmlformats.org/drawingml/2006/main">
            <a:pPr algn="l">
              <a:lnSpc>
                <a:spcPct val="150000"/>
              </a:lnSpc>
              <a:buNone/>
              <a:defRPr sz="1163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pPr>
            <a:r>
              <a:rPr sz="1163" b="0">
                <a:solidFill>
                  <a:srgbClr val="3E506E"/>
                </a:solidFill>
                <a:latin typeface="MiSans"/>
                <a:ea typeface="MiSans"/>
                <a:cs typeface="MiSans"/>
              </a:rPr>
              <a:t>缺少可量化的结构标准，「写得好不好」长期依赖个人感觉，练习者无法自我判断。</a:t>
            </a:r>
            <a:endParaRPr sz="1050"/>
          </a:p>
        </p:txBody>
      </p:sp>
      <p:sp>
        <p:nvSpPr>
          <p:cNvPr id="20" name="p3-marker">
            <a:extLst xmlns:a="http://schemas.openxmlformats.org/drawingml/2006/main">
              <a:ext uri="{FF2B5EF4-FFF2-40B4-BE49-F238E27FC236}">
                <a16:creationId xmlns:a16="http://schemas.microsoft.com/office/drawing/2014/main" id="{E9587FE8-42DF-41D5-9CE9-61EFC91F2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2800" y="3505200"/>
            <a:ext cx="127000" cy="127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8EB3F"/>
          </a:solidFill>
          <a:ln xmlns:a="http://schemas.openxmlformats.org/drawingml/2006/main">
            <a:noFill/>
          </a:ln>
        </p:spPr>
      </p:sp>
      <p:sp>
        <p:nvSpPr>
          <p:cNvPr id="21" name="p3-lead">
            <a:extLst xmlns:a="http://schemas.openxmlformats.org/drawingml/2006/main">
              <a:ext uri="{FF2B5EF4-FFF2-40B4-BE49-F238E27FC236}">
                <a16:creationId xmlns:a16="http://schemas.microsoft.com/office/drawing/2014/main" id="{D5CCFCB6-1129-4945-8512-4B0C54CCF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403600"/>
            <a:ext cx="304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</a:pPr>
            <a:r>
              <a:rPr sz="1400" b="1">
                <a:solidFill>
                  <a:srgbClr val="14213D"/>
                </a:solidFill>
                <a:latin typeface="MiSans"/>
                <a:ea typeface="MiSans"/>
                <a:cs typeface="MiSans"/>
              </a:rPr>
              <a:t>练习静态</a:t>
            </a:r>
            <a:endParaRPr sz="1400"/>
          </a:p>
        </p:txBody>
      </p:sp>
      <p:sp>
        <p:nvSpPr>
          <p:cNvPr id="22" name="p3-desc">
            <a:extLst xmlns:a="http://schemas.openxmlformats.org/drawingml/2006/main">
              <a:ext uri="{FF2B5EF4-FFF2-40B4-BE49-F238E27FC236}">
                <a16:creationId xmlns:a16="http://schemas.microsoft.com/office/drawing/2014/main" id="{CB5234A2-FEF6-4E96-96AF-CC6434D68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759200"/>
            <a:ext cx="2895600" cy="88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1163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defPPr>
            <a:lvl1pPr>
              <a:buNone/>
              <a:defRPr sz="1163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1pPr>
            <a:lvl2pPr>
              <a:buNone/>
              <a:defRPr sz="1163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2pPr>
            <a:lvl3pPr>
              <a:buNone/>
              <a:defRPr sz="1163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3pPr>
            <a:lvl4pPr>
              <a:buNone/>
              <a:defRPr sz="1163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4pPr>
            <a:lvl5pPr>
              <a:buNone/>
              <a:defRPr sz="1163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5pPr>
            <a:lvl6pPr>
              <a:buNone/>
              <a:defRPr sz="1163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6pPr>
            <a:lvl7pPr>
              <a:buNone/>
              <a:defRPr sz="1163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7pPr>
            <a:lvl8pPr>
              <a:buNone/>
              <a:defRPr sz="1163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8pPr>
            <a:lvl9pPr>
              <a:buNone/>
              <a:defRPr sz="1163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9pPr>
          </a:lstStyle>
          <a:p xmlns:a="http://schemas.openxmlformats.org/drawingml/2006/main">
            <a:pPr algn="l">
              <a:lnSpc>
                <a:spcPct val="150000"/>
              </a:lnSpc>
              <a:buNone/>
              <a:defRPr sz="1163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pPr>
            <a:r>
              <a:rPr sz="1163" b="0">
                <a:solidFill>
                  <a:srgbClr val="3E506E"/>
                </a:solidFill>
                <a:latin typeface="MiSans"/>
                <a:ea typeface="MiSans"/>
                <a:cs typeface="MiSans"/>
              </a:rPr>
              <a:t>字帖只能临摹对照，无法针对个人问题给出具体修改路径，练习效率低、容易放弃。</a:t>
            </a:r>
            <a:endParaRPr sz="1050"/>
          </a:p>
        </p:txBody>
      </p:sp>
      <p:sp>
        <p:nvSpPr>
          <p:cNvPr id="23" name="ans-line">
            <a:extLst xmlns:a="http://schemas.openxmlformats.org/drawingml/2006/main">
              <a:ext uri="{FF2B5EF4-FFF2-40B4-BE49-F238E27FC236}">
                <a16:creationId xmlns:a16="http://schemas.microsoft.com/office/drawing/2014/main" id="{ED242CC4-CC85-43E5-B2E6-68575E262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78400"/>
            <a:ext cx="10972800" cy="12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4" name="ans-kicker">
            <a:extLst xmlns:a="http://schemas.openxmlformats.org/drawingml/2006/main">
              <a:ext uri="{FF2B5EF4-FFF2-40B4-BE49-F238E27FC236}">
                <a16:creationId xmlns:a16="http://schemas.microsoft.com/office/drawing/2014/main" id="{FF7C2EA6-B8AB-4BEC-9189-D23C36385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81600"/>
            <a:ext cx="3810000" cy="20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</a:pPr>
            <a:r>
              <a:rPr sz="1050" b="1" spc="200">
                <a:solidFill>
                  <a:srgbClr val="076DFC"/>
                </a:solidFill>
                <a:latin typeface="MiSans"/>
                <a:ea typeface="MiSans"/>
                <a:cs typeface="MiSans"/>
              </a:rPr>
              <a:t>我们的回答</a:t>
            </a:r>
            <a:endParaRPr sz="1050"/>
          </a:p>
        </p:txBody>
      </p:sp>
      <p:sp>
        <p:nvSpPr>
          <p:cNvPr id="25" name="ans-text">
            <a:extLst xmlns:a="http://schemas.openxmlformats.org/drawingml/2006/main">
              <a:ext uri="{FF2B5EF4-FFF2-40B4-BE49-F238E27FC236}">
                <a16:creationId xmlns:a16="http://schemas.microsoft.com/office/drawing/2014/main" id="{9FA8AF31-0CB8-46B9-9E88-CB34F662A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61000"/>
            <a:ext cx="10972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1425" b="0">
                <a:solidFill>
                  <a:srgbClr val="14213D"/>
                </a:solidFill>
                <a:latin typeface="MiSans"/>
                <a:ea typeface="MiSans"/>
                <a:cs typeface="MiSans"/>
              </a:defRPr>
            </a:defPPr>
            <a:lvl1pPr>
              <a:buNone/>
              <a:defRPr sz="1425" b="0">
                <a:solidFill>
                  <a:srgbClr val="14213D"/>
                </a:solidFill>
                <a:latin typeface="MiSans"/>
                <a:ea typeface="MiSans"/>
                <a:cs typeface="MiSans"/>
              </a:defRPr>
            </a:lvl1pPr>
            <a:lvl2pPr>
              <a:buNone/>
              <a:defRPr sz="1425" b="0">
                <a:solidFill>
                  <a:srgbClr val="14213D"/>
                </a:solidFill>
                <a:latin typeface="MiSans"/>
                <a:ea typeface="MiSans"/>
                <a:cs typeface="MiSans"/>
              </a:defRPr>
            </a:lvl2pPr>
            <a:lvl3pPr>
              <a:buNone/>
              <a:defRPr sz="1425" b="0">
                <a:solidFill>
                  <a:srgbClr val="14213D"/>
                </a:solidFill>
                <a:latin typeface="MiSans"/>
                <a:ea typeface="MiSans"/>
                <a:cs typeface="MiSans"/>
              </a:defRPr>
            </a:lvl3pPr>
            <a:lvl4pPr>
              <a:buNone/>
              <a:defRPr sz="1425" b="0">
                <a:solidFill>
                  <a:srgbClr val="14213D"/>
                </a:solidFill>
                <a:latin typeface="MiSans"/>
                <a:ea typeface="MiSans"/>
                <a:cs typeface="MiSans"/>
              </a:defRPr>
            </a:lvl4pPr>
            <a:lvl5pPr>
              <a:buNone/>
              <a:defRPr sz="1425" b="0">
                <a:solidFill>
                  <a:srgbClr val="14213D"/>
                </a:solidFill>
                <a:latin typeface="MiSans"/>
                <a:ea typeface="MiSans"/>
                <a:cs typeface="MiSans"/>
              </a:defRPr>
            </a:lvl5pPr>
            <a:lvl6pPr>
              <a:buNone/>
              <a:defRPr sz="1425" b="0">
                <a:solidFill>
                  <a:srgbClr val="14213D"/>
                </a:solidFill>
                <a:latin typeface="MiSans"/>
                <a:ea typeface="MiSans"/>
                <a:cs typeface="MiSans"/>
              </a:defRPr>
            </a:lvl6pPr>
            <a:lvl7pPr>
              <a:buNone/>
              <a:defRPr sz="1425" b="0">
                <a:solidFill>
                  <a:srgbClr val="14213D"/>
                </a:solidFill>
                <a:latin typeface="MiSans"/>
                <a:ea typeface="MiSans"/>
                <a:cs typeface="MiSans"/>
              </a:defRPr>
            </a:lvl7pPr>
            <a:lvl8pPr>
              <a:buNone/>
              <a:defRPr sz="1425" b="0">
                <a:solidFill>
                  <a:srgbClr val="14213D"/>
                </a:solidFill>
                <a:latin typeface="MiSans"/>
                <a:ea typeface="MiSans"/>
                <a:cs typeface="MiSans"/>
              </a:defRPr>
            </a:lvl8pPr>
            <a:lvl9pPr>
              <a:buNone/>
              <a:defRPr sz="1425" b="0">
                <a:solidFill>
                  <a:srgbClr val="14213D"/>
                </a:solidFill>
                <a:latin typeface="MiSans"/>
                <a:ea typeface="MiSans"/>
                <a:cs typeface="MiSans"/>
              </a:defRPr>
            </a:lvl9pPr>
          </a:lstStyle>
          <a:p xmlns:a="http://schemas.openxmlformats.org/drawingml/2006/main">
            <a:pPr algn="l">
              <a:lnSpc>
                <a:spcPct val="155000"/>
              </a:lnSpc>
              <a:buNone/>
              <a:defRPr sz="1425" b="0">
                <a:solidFill>
                  <a:srgbClr val="14213D"/>
                </a:solidFill>
                <a:latin typeface="MiSans"/>
                <a:ea typeface="MiSans"/>
                <a:cs typeface="MiSans"/>
              </a:defRPr>
            </a:pPr>
            <a:r>
              <a:rPr sz="1425" b="0">
                <a:solidFill>
                  <a:srgbClr val="14213D"/>
                </a:solidFill>
                <a:latin typeface="MiSans"/>
                <a:ea typeface="MiSans"/>
                <a:cs typeface="MiSans"/>
              </a:rPr>
              <a:t>以视觉模型提供即时反馈、量化标准与个性化建议。</a:t>
            </a:r>
            <a:endParaRPr sz="1250"/>
          </a:p>
          <a:p xmlns:a="http://schemas.openxmlformats.org/drawingml/2006/main">
            <a:pPr algn="l">
              <a:lnSpc>
                <a:spcPct val="155000"/>
              </a:lnSpc>
              <a:buNone/>
              <a:defRPr sz="1425" b="0">
                <a:solidFill>
                  <a:srgbClr val="14213D"/>
                </a:solidFill>
                <a:latin typeface="MiSans"/>
                <a:ea typeface="MiSans"/>
                <a:cs typeface="MiSans"/>
              </a:defRPr>
            </a:pPr>
            <a:r>
              <a:rPr sz="1425" b="0">
                <a:solidFill>
                  <a:srgbClr val="14213D"/>
                </a:solidFill>
                <a:latin typeface="MiSans"/>
                <a:ea typeface="MiSans"/>
                <a:cs typeface="MiSans"/>
              </a:rPr>
              <a:t>书写完成即生成结构评分，公开评分依据，并把修改建议定位到具体局部。</a:t>
            </a:r>
            <a:endParaRPr sz="1250"/>
          </a:p>
        </p:txBody>
      </p:sp>
      <p:sp>
        <p:nvSpPr>
          <p:cNvPr id="26" name="ft-line">
            <a:extLst xmlns:a="http://schemas.openxmlformats.org/drawingml/2006/main">
              <a:ext uri="{FF2B5EF4-FFF2-40B4-BE49-F238E27FC236}">
                <a16:creationId xmlns:a16="http://schemas.microsoft.com/office/drawing/2014/main" id="{FBF504D6-9395-44E8-9DD7-CD7B14EDE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2400"/>
            <a:ext cx="10972800" cy="12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7" name="ft-left">
            <a:extLst xmlns:a="http://schemas.openxmlformats.org/drawingml/2006/main">
              <a:ext uri="{FF2B5EF4-FFF2-40B4-BE49-F238E27FC236}">
                <a16:creationId xmlns:a16="http://schemas.microsoft.com/office/drawing/2014/main" id="{965293B9-39B6-408C-A350-29989C29C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8600"/>
            <a:ext cx="3048000" cy="17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/>
          <a:lstStyle xmlns:a="http://schemas.openxmlformats.org/drawingml/2006/main">
            <a:defPPr>
              <a:defRPr sz="863" b="0">
                <a:solidFill>
                  <a:srgbClr val="D8E8FF"/>
                </a:solidFill>
                <a:latin typeface="MiSans"/>
                <a:ea typeface="MiSans"/>
                <a:cs typeface="MiSans"/>
              </a:defRPr>
            </a:defPPr>
            <a:lvl1pPr>
              <a:buNone/>
              <a:defRPr sz="863" b="0">
                <a:solidFill>
                  <a:srgbClr val="7A8CA7"/>
                </a:solidFill>
                <a:latin typeface="MiSans"/>
                <a:ea typeface="MiSans"/>
                <a:cs typeface="MiSans"/>
              </a:defRPr>
            </a:lvl1pPr>
            <a:lvl2pPr>
              <a:buNone/>
              <a:defRPr sz="863" b="0">
                <a:solidFill>
                  <a:srgbClr val="7A8CA7"/>
                </a:solidFill>
                <a:latin typeface="MiSans"/>
                <a:ea typeface="MiSans"/>
                <a:cs typeface="MiSans"/>
              </a:defRPr>
            </a:lvl2pPr>
            <a:lvl3pPr>
              <a:buNone/>
              <a:defRPr sz="863" b="0">
                <a:solidFill>
                  <a:srgbClr val="7A8CA7"/>
                </a:solidFill>
                <a:latin typeface="MiSans"/>
                <a:ea typeface="MiSans"/>
                <a:cs typeface="MiSans"/>
              </a:defRPr>
            </a:lvl3pPr>
            <a:lvl4pPr>
              <a:buNone/>
              <a:defRPr sz="863" b="0">
                <a:solidFill>
                  <a:srgbClr val="7A8CA7"/>
                </a:solidFill>
                <a:latin typeface="MiSans"/>
                <a:ea typeface="MiSans"/>
                <a:cs typeface="MiSans"/>
              </a:defRPr>
            </a:lvl4pPr>
            <a:lvl5pPr>
              <a:buNone/>
              <a:defRPr sz="863" b="0">
                <a:solidFill>
                  <a:srgbClr val="7A8CA7"/>
                </a:solidFill>
                <a:latin typeface="MiSans"/>
                <a:ea typeface="MiSans"/>
                <a:cs typeface="MiSans"/>
              </a:defRPr>
            </a:lvl5pPr>
            <a:lvl6pPr>
              <a:buNone/>
              <a:defRPr sz="863" b="0">
                <a:solidFill>
                  <a:srgbClr val="7A8CA7"/>
                </a:solidFill>
                <a:latin typeface="MiSans"/>
                <a:ea typeface="MiSans"/>
                <a:cs typeface="MiSans"/>
              </a:defRPr>
            </a:lvl6pPr>
            <a:lvl7pPr>
              <a:buNone/>
              <a:defRPr sz="863" b="0">
                <a:solidFill>
                  <a:srgbClr val="7A8CA7"/>
                </a:solidFill>
                <a:latin typeface="MiSans"/>
                <a:ea typeface="MiSans"/>
                <a:cs typeface="MiSans"/>
              </a:defRPr>
            </a:lvl7pPr>
            <a:lvl8pPr>
              <a:buNone/>
              <a:defRPr sz="863" b="0">
                <a:solidFill>
                  <a:srgbClr val="7A8CA7"/>
                </a:solidFill>
                <a:latin typeface="MiSans"/>
                <a:ea typeface="MiSans"/>
                <a:cs typeface="MiSans"/>
              </a:defRPr>
            </a:lvl8pPr>
            <a:lvl9pPr>
              <a:buNone/>
              <a:defRPr sz="863" b="0">
                <a:solidFill>
                  <a:srgbClr val="7A8CA7"/>
                </a:solidFill>
                <a:latin typeface="MiSans"/>
                <a:ea typeface="MiSans"/>
                <a:cs typeface="MiSans"/>
              </a:defRPr>
            </a:lvl9pPr>
          </a:lstStyle>
          <a:p xmlns:a="http://schemas.openxmlformats.org/drawingml/2006/main">
            <a:pPr>
              <a:lnSpc>
                <a:spcPct val="120000"/>
              </a:lnSpc>
              <a:buNone/>
              <a:defRPr sz="863" b="0">
                <a:solidFill>
                  <a:srgbClr val="D8E8FF"/>
                </a:solidFill>
                <a:latin typeface="MiSans"/>
                <a:ea typeface="MiSans"/>
                <a:cs typeface="MiSans"/>
              </a:defRPr>
            </a:pPr>
            <a:r>
              <a:rPr sz="863" b="0">
                <a:solidFill>
                  <a:srgbClr val="D8E8FF"/>
                </a:solidFill>
                <a:latin typeface="MiSans"/>
                <a:ea typeface="MiSans"/>
                <a:cs typeface="MiSans"/>
              </a:rPr>
              <a:t>一笔成章 · 2026 中期汇报</a:t>
            </a:r>
            <a:endParaRPr sz="900"/>
          </a:p>
        </p:txBody>
      </p:sp>
      <p:sp>
        <p:nvSpPr>
          <p:cNvPr id="28" name="ft-page">
            <a:extLst xmlns:a="http://schemas.openxmlformats.org/drawingml/2006/main">
              <a:ext uri="{FF2B5EF4-FFF2-40B4-BE49-F238E27FC236}">
                <a16:creationId xmlns:a16="http://schemas.microsoft.com/office/drawing/2014/main" id="{0E4B2B33-CCF2-4257-8195-B953BF5C8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6578600"/>
            <a:ext cx="914400" cy="17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>
            <a:defPPr>
              <a:defRPr sz="863" b="0">
                <a:solidFill>
                  <a:srgbClr val="D8E8FF"/>
                </a:solidFill>
                <a:latin typeface="MiSans"/>
                <a:ea typeface="MiSans"/>
                <a:cs typeface="MiSans"/>
              </a:defRPr>
            </a:defPPr>
            <a:lvl1pPr>
              <a:buNone/>
              <a:defRPr sz="863" b="0">
                <a:solidFill>
                  <a:srgbClr val="7A8CA7"/>
                </a:solidFill>
                <a:latin typeface="MiSans"/>
                <a:ea typeface="MiSans"/>
                <a:cs typeface="MiSans"/>
              </a:defRPr>
            </a:lvl1pPr>
            <a:lvl2pPr>
              <a:buNone/>
              <a:defRPr sz="863" b="0">
                <a:solidFill>
                  <a:srgbClr val="7A8CA7"/>
                </a:solidFill>
                <a:latin typeface="MiSans"/>
                <a:ea typeface="MiSans"/>
                <a:cs typeface="MiSans"/>
              </a:defRPr>
            </a:lvl2pPr>
            <a:lvl3pPr>
              <a:buNone/>
              <a:defRPr sz="863" b="0">
                <a:solidFill>
                  <a:srgbClr val="7A8CA7"/>
                </a:solidFill>
                <a:latin typeface="MiSans"/>
                <a:ea typeface="MiSans"/>
                <a:cs typeface="MiSans"/>
              </a:defRPr>
            </a:lvl3pPr>
            <a:lvl4pPr>
              <a:buNone/>
              <a:defRPr sz="863" b="0">
                <a:solidFill>
                  <a:srgbClr val="7A8CA7"/>
                </a:solidFill>
                <a:latin typeface="MiSans"/>
                <a:ea typeface="MiSans"/>
                <a:cs typeface="MiSans"/>
              </a:defRPr>
            </a:lvl4pPr>
            <a:lvl5pPr>
              <a:buNone/>
              <a:defRPr sz="863" b="0">
                <a:solidFill>
                  <a:srgbClr val="7A8CA7"/>
                </a:solidFill>
                <a:latin typeface="MiSans"/>
                <a:ea typeface="MiSans"/>
                <a:cs typeface="MiSans"/>
              </a:defRPr>
            </a:lvl5pPr>
            <a:lvl6pPr>
              <a:buNone/>
              <a:defRPr sz="863" b="0">
                <a:solidFill>
                  <a:srgbClr val="7A8CA7"/>
                </a:solidFill>
                <a:latin typeface="MiSans"/>
                <a:ea typeface="MiSans"/>
                <a:cs typeface="MiSans"/>
              </a:defRPr>
            </a:lvl6pPr>
            <a:lvl7pPr>
              <a:buNone/>
              <a:defRPr sz="863" b="0">
                <a:solidFill>
                  <a:srgbClr val="7A8CA7"/>
                </a:solidFill>
                <a:latin typeface="MiSans"/>
                <a:ea typeface="MiSans"/>
                <a:cs typeface="MiSans"/>
              </a:defRPr>
            </a:lvl7pPr>
            <a:lvl8pPr>
              <a:buNone/>
              <a:defRPr sz="863" b="0">
                <a:solidFill>
                  <a:srgbClr val="7A8CA7"/>
                </a:solidFill>
                <a:latin typeface="MiSans"/>
                <a:ea typeface="MiSans"/>
                <a:cs typeface="MiSans"/>
              </a:defRPr>
            </a:lvl8pPr>
            <a:lvl9pPr>
              <a:buNone/>
              <a:defRPr sz="863" b="0">
                <a:solidFill>
                  <a:srgbClr val="7A8CA7"/>
                </a:solidFill>
                <a:latin typeface="MiSans"/>
                <a:ea typeface="MiSans"/>
                <a:cs typeface="MiSans"/>
              </a:defRPr>
            </a:lvl9pPr>
          </a:lstStyle>
          <a:p xmlns:a="http://schemas.openxmlformats.org/drawingml/2006/main">
            <a:pPr algn="r">
              <a:lnSpc>
                <a:spcPct val="120000"/>
              </a:lnSpc>
              <a:buNone/>
              <a:defRPr sz="863" b="0">
                <a:solidFill>
                  <a:srgbClr val="D8E8FF"/>
                </a:solidFill>
                <a:latin typeface="MiSans"/>
                <a:ea typeface="MiSans"/>
                <a:cs typeface="MiSans"/>
              </a:defRPr>
            </a:pPr>
            <a:r>
              <a:rPr sz="863" b="0">
                <a:solidFill>
                  <a:srgbClr val="D8E8FF"/>
                </a:solidFill>
                <a:latin typeface="MiSans"/>
                <a:ea typeface="MiSans"/>
                <a:cs typeface="MiSans"/>
              </a:rPr>
              <a:t>04 / 13</a:t>
            </a:r>
            <a:endParaRPr sz="900"/>
          </a:p>
        </p:txBody>
      </p:sp>
    </p:spTree>
    <p:extLst>
      <p:ext uri="{BB962C8B-B14F-4D97-AF65-F5344CB8AC3E}">
        <p14:creationId xmlns:p14="http://schemas.microsoft.com/office/powerpoint/2010/main" val="1479439672"/>
      </p:ext>
    </p:extLst>
  </p:cSld>
</p:sld>
</file>

<file path=ppt/slides/slide5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E7EFFB"/>
            </a:gs>
            <a:gs pos="48000">
              <a:srgbClr val="F1F5FC"/>
            </a:gs>
            <a:gs pos="100000">
              <a:srgbClr val="E9F2FF"/>
            </a:gs>
          </a:gsLst>
          <a:lin ang="168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C6A97DA-9C22-4941-BD39-E973B907E5B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df4bf60c8154ce3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14" name="reference-cover-triangle">
            <a:extLst xmlns:a="http://schemas.openxmlformats.org/drawingml/2006/main">
              <a:ext uri="{FF2B5EF4-FFF2-40B4-BE49-F238E27FC236}">
                <a16:creationId xmlns:a16="http://schemas.microsoft.com/office/drawing/2014/main" id="{FCB6AB3E-0900-464A-BFE6-8EC3CA8B6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0" y="5905500"/>
            <a:ext cx="533400" cy="381000"/>
          </a:xfrm>
          <a:prstGeom xmlns:a="http://schemas.openxmlformats.org/drawingml/2006/main" prst="triangl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3" name="reference-cover-ring">
            <a:extLst xmlns:a="http://schemas.openxmlformats.org/drawingml/2006/main">
              <a:ext uri="{FF2B5EF4-FFF2-40B4-BE49-F238E27FC236}">
                <a16:creationId xmlns:a16="http://schemas.microsoft.com/office/drawing/2014/main" id="{6C741630-5E27-4B45-AC21-CEA3E48F5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95250"/>
            <a:ext cx="1181100" cy="11811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" name="hd-bar">
            <a:extLst xmlns:a="http://schemas.openxmlformats.org/drawingml/2006/main">
              <a:ext uri="{FF2B5EF4-FFF2-40B4-BE49-F238E27FC236}">
                <a16:creationId xmlns:a16="http://schemas.microsoft.com/office/drawing/2014/main" id="{88E754BB-B1D6-4C75-8DC6-3B0D7E01E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8000"/>
            <a:ext cx="76200" cy="3048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" name="hd-title">
            <a:extLst xmlns:a="http://schemas.openxmlformats.org/drawingml/2006/main">
              <a:ext uri="{FF2B5EF4-FFF2-40B4-BE49-F238E27FC236}">
                <a16:creationId xmlns:a16="http://schemas.microsoft.com/office/drawing/2014/main" id="{0250305D-68FC-4AB5-9CBF-82AEE0267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19100"/>
            <a:ext cx="101346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>
              <a:defRPr sz="2200" b="1">
                <a:solidFill>
                  <a:srgbClr val="FFFFFF"/>
                </a:solidFill>
              </a:defRPr>
            </a:defPPr>
            <a:lvl1pPr>
              <a:defRPr sz="2200" b="1">
                <a:solidFill>
                  <a:srgbClr val="FFFFFF"/>
                </a:solidFill>
              </a:defRPr>
            </a:lvl1pPr>
            <a:lvl2pPr>
              <a:defRPr sz="2200" b="1">
                <a:solidFill>
                  <a:srgbClr val="FFFFFF"/>
                </a:solidFill>
              </a:defRPr>
            </a:lvl2pPr>
            <a:lvl3pPr>
              <a:defRPr sz="2200" b="1">
                <a:solidFill>
                  <a:srgbClr val="FFFFFF"/>
                </a:solidFill>
              </a:defRPr>
            </a:lvl3pPr>
            <a:lvl4pPr>
              <a:defRPr sz="2200" b="1">
                <a:solidFill>
                  <a:srgbClr val="FFFFFF"/>
                </a:solidFill>
              </a:defRPr>
            </a:lvl4pPr>
            <a:lvl5pPr>
              <a:defRPr sz="2200" b="1">
                <a:solidFill>
                  <a:srgbClr val="FFFFFF"/>
                </a:solidFill>
              </a:defRPr>
            </a:lvl5pPr>
            <a:lvl6pPr>
              <a:defRPr sz="2200" b="1">
                <a:solidFill>
                  <a:srgbClr val="FFFFFF"/>
                </a:solidFill>
              </a:defRPr>
            </a:lvl6pPr>
            <a:lvl7pPr>
              <a:defRPr sz="2200" b="1">
                <a:solidFill>
                  <a:srgbClr val="FFFFFF"/>
                </a:solidFill>
              </a:defRPr>
            </a:lvl7pPr>
            <a:lvl8pPr>
              <a:defRPr sz="2200" b="1">
                <a:solidFill>
                  <a:srgbClr val="FFFFFF"/>
                </a:solidFill>
              </a:defRPr>
            </a:lvl8pPr>
            <a:lvl9pPr>
              <a:defRPr sz="220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2200" b="1">
                <a:solidFill>
                  <a:srgbClr val="FFFFFF"/>
                </a:solidFill>
              </a:defRPr>
            </a:pPr>
            <a:r>
              <a:rPr sz="2200" b="1">
                <a:solidFill>
                  <a:srgbClr val="FFFFFF"/>
                </a:solidFill>
                <a:latin typeface="MiSans"/>
                <a:ea typeface="MiSans"/>
                <a:cs typeface="MiSans"/>
              </a:rPr>
              <a:t>迭代逻辑：</a:t>
            </a:r>
            <a:r>
              <a:rPr sz="2200" b="1">
                <a:solidFill>
                  <a:srgbClr val="FFFFFF"/>
                </a:solidFill>
                <a:latin typeface="MiSans"/>
                <a:ea typeface="MiSans"/>
                <a:cs typeface="MiSans"/>
              </a:rPr>
              <a:t>以往</a:t>
            </a:r>
            <a:r>
              <a:rPr sz="2200" b="1">
                <a:solidFill>
                  <a:srgbClr val="FFFFFF"/>
                </a:solidFill>
                <a:latin typeface="MiSans"/>
                <a:ea typeface="MiSans"/>
                <a:cs typeface="MiSans"/>
              </a:rPr>
              <a:t>的局限，今年的解法</a:t>
            </a:r>
            <a:endParaRPr sz="2200"/>
          </a:p>
        </p:txBody>
      </p:sp>
      <p:sp>
        <p:nvSpPr>
          <p:cNvPr id="4" name="hd-tag">
            <a:extLst xmlns:a="http://schemas.openxmlformats.org/drawingml/2006/main">
              <a:ext uri="{FF2B5EF4-FFF2-40B4-BE49-F238E27FC236}">
                <a16:creationId xmlns:a16="http://schemas.microsoft.com/office/drawing/2014/main" id="{28A1AE2D-531B-438E-9094-1E9D318C9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180975"/>
            <a:ext cx="762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900" b="0">
                <a:solidFill>
                  <a:srgbClr val="CBE1FF"/>
                </a:solidFill>
                <a:latin typeface="MiSans"/>
                <a:ea typeface="MiSans"/>
                <a:cs typeface="MiSans"/>
              </a:defRPr>
            </a:defPPr>
            <a:lvl1pPr algn="l">
              <a:buNone/>
              <a:defRPr sz="975" b="0">
                <a:solidFill>
                  <a:srgbClr val="076DFC"/>
                </a:solidFill>
                <a:latin typeface="MiSans"/>
                <a:ea typeface="MiSans"/>
                <a:cs typeface="MiSans"/>
              </a:defRPr>
            </a:lvl1pPr>
            <a:lvl2pPr algn="l">
              <a:buNone/>
              <a:defRPr sz="975" b="0">
                <a:solidFill>
                  <a:srgbClr val="076DFC"/>
                </a:solidFill>
                <a:latin typeface="MiSans"/>
                <a:ea typeface="MiSans"/>
                <a:cs typeface="MiSans"/>
              </a:defRPr>
            </a:lvl2pPr>
            <a:lvl3pPr algn="l">
              <a:buNone/>
              <a:defRPr sz="975" b="0">
                <a:solidFill>
                  <a:srgbClr val="076DFC"/>
                </a:solidFill>
                <a:latin typeface="MiSans"/>
                <a:ea typeface="MiSans"/>
                <a:cs typeface="MiSans"/>
              </a:defRPr>
            </a:lvl3pPr>
            <a:lvl4pPr algn="l">
              <a:buNone/>
              <a:defRPr sz="975" b="0">
                <a:solidFill>
                  <a:srgbClr val="076DFC"/>
                </a:solidFill>
                <a:latin typeface="MiSans"/>
                <a:ea typeface="MiSans"/>
                <a:cs typeface="MiSans"/>
              </a:defRPr>
            </a:lvl4pPr>
            <a:lvl5pPr algn="l">
              <a:buNone/>
              <a:defRPr sz="975" b="0">
                <a:solidFill>
                  <a:srgbClr val="076DFC"/>
                </a:solidFill>
                <a:latin typeface="MiSans"/>
                <a:ea typeface="MiSans"/>
                <a:cs typeface="MiSans"/>
              </a:defRPr>
            </a:lvl5pPr>
            <a:lvl6pPr algn="l">
              <a:buNone/>
              <a:defRPr sz="975" b="0">
                <a:solidFill>
                  <a:srgbClr val="076DFC"/>
                </a:solidFill>
                <a:latin typeface="MiSans"/>
                <a:ea typeface="MiSans"/>
                <a:cs typeface="MiSans"/>
              </a:defRPr>
            </a:lvl6pPr>
            <a:lvl7pPr algn="l">
              <a:buNone/>
              <a:defRPr sz="975" b="0">
                <a:solidFill>
                  <a:srgbClr val="076DFC"/>
                </a:solidFill>
                <a:latin typeface="MiSans"/>
                <a:ea typeface="MiSans"/>
                <a:cs typeface="MiSans"/>
              </a:defRPr>
            </a:lvl7pPr>
            <a:lvl8pPr algn="l">
              <a:buNone/>
              <a:defRPr sz="975" b="0">
                <a:solidFill>
                  <a:srgbClr val="076DFC"/>
                </a:solidFill>
                <a:latin typeface="MiSans"/>
                <a:ea typeface="MiSans"/>
                <a:cs typeface="MiSans"/>
              </a:defRPr>
            </a:lvl8pPr>
            <a:lvl9pPr algn="l">
              <a:buNone/>
              <a:defRPr sz="975" b="0">
                <a:solidFill>
                  <a:srgbClr val="076DFC"/>
                </a:solidFill>
                <a:latin typeface="MiSans"/>
                <a:ea typeface="MiSans"/>
                <a:cs typeface="MiSans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900" b="0">
                <a:solidFill>
                  <a:srgbClr val="CBE1FF"/>
                </a:solidFill>
                <a:latin typeface="MiSans"/>
                <a:ea typeface="MiSans"/>
                <a:cs typeface="MiSans"/>
              </a:defRPr>
            </a:pPr>
            <a:r>
              <a:rPr sz="900" b="0">
                <a:solidFill>
                  <a:srgbClr val="CBE1FF"/>
                </a:solidFill>
                <a:latin typeface="MiSans"/>
                <a:ea typeface="MiSans"/>
                <a:cs typeface="MiSans"/>
              </a:rPr>
              <a:t>01 · 项目背景与意义</a:t>
            </a:r>
            <a:endParaRPr sz="1000"/>
          </a:p>
        </p:txBody>
      </p:sp>
      <p:sp>
        <p:nvSpPr>
          <p:cNvPr id="5" name="hd-line">
            <a:extLst xmlns:a="http://schemas.openxmlformats.org/drawingml/2006/main">
              <a:ext uri="{FF2B5EF4-FFF2-40B4-BE49-F238E27FC236}">
                <a16:creationId xmlns:a16="http://schemas.microsoft.com/office/drawing/2014/main" id="{7D339D12-EA2C-4083-B8E1-3D394036E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90600"/>
            <a:ext cx="742950" cy="28575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graphicFrame>
        <p:nvGraphicFramePr>
          <p:cNvPr id="6" name="iter-table">
            <a:extLst xmlns:a="http://schemas.openxmlformats.org/drawingml/2006/main">
              <a:ext uri="{FF2B5EF4-FFF2-40B4-BE49-F238E27FC236}">
                <a16:creationId xmlns:a16="http://schemas.microsoft.com/office/drawing/2014/main" id="{AB43E7DB-D629-4209-8EEF-98C2F2E2C29E}"/>
              </a:ext>
            </a:extLst>
          </p:cNvPr>
          <p:cNvGraphicFramePr/>
          <p:nvPr/>
        </p:nvGraphicFramePr>
        <p:xfrm>
          <a:off xmlns:a="http://schemas.openxmlformats.org/drawingml/2006/main" x="609600" y="1295400"/>
          <a:ext xmlns:a="http://schemas.openxmlformats.org/drawingml/2006/main" cx="10972800" cy="4191002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511296"/>
                <a:gridCol w="3950208"/>
                <a:gridCol w="3511296"/>
              </a:tblGrid>
              <a:tr h="461010"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163" b="1">
                          <a:solidFill>
                            <a:srgbClr val="FFFFFF"/>
                          </a:solidFill>
                          <a:latin typeface="MiSans"/>
                          <a:ea typeface="MiSans"/>
                          <a:cs typeface="MiSans"/>
                        </a:rPr>
                        <a:t>往昔</a:t>
                      </a:r>
                      <a:r>
                        <a:rPr sz="1163" b="1">
                          <a:solidFill>
                            <a:srgbClr val="FFFFFF"/>
                          </a:solidFill>
                          <a:latin typeface="MiSans"/>
                          <a:ea typeface="MiSans"/>
                          <a:cs typeface="MiSans"/>
                        </a:rPr>
                        <a:t>成果的局限</a:t>
                      </a:r>
                      <a:endParaRPr sz="1100" b="1">
                        <a:solidFill>
                          <a:srgbClr val="FFFFFF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91440" marR="91440" marT="45720" marB="45720" anchor="ctr">
                    <a:lnL w="0">
                      <a:noFill/>
                      <a:prstDash val="solid"/>
                    </a:lnL>
                    <a:lnR w="0">
                      <a:noFill/>
                      <a:prstDash val="solid"/>
                    </a:lnR>
                    <a:lnT w="0">
                      <a:noFill/>
                      <a:prstDash val="solid"/>
                    </a:lnT>
                    <a:lnB w="0">
                      <a:noFill/>
                      <a:prstDash val="solid"/>
                    </a:lnB>
                    <a:solidFill>
                      <a:srgbClr val="076D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163" b="1">
                          <a:solidFill>
                            <a:srgbClr val="FFFFFF"/>
                          </a:solidFill>
                          <a:latin typeface="MiSans"/>
                          <a:ea typeface="MiSans"/>
                          <a:cs typeface="MiSans"/>
                        </a:rPr>
                        <a:t>今年的解法</a:t>
                      </a:r>
                      <a:endParaRPr sz="1100" b="1">
                        <a:solidFill>
                          <a:srgbClr val="FFFFFF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91440" marR="91440" marT="45720" marB="45720" anchor="ctr">
                    <a:lnL>
                      <a:noFill/>
                    </a:lnL>
                    <a:lnR w="0">
                      <a:noFill/>
                      <a:prstDash val="solid"/>
                    </a:lnR>
                    <a:lnT w="0">
                      <a:noFill/>
                      <a:prstDash val="solid"/>
                    </a:lnT>
                    <a:lnB w="0">
                      <a:noFill/>
                      <a:prstDash val="solid"/>
                    </a:lnB>
                    <a:solidFill>
                      <a:srgbClr val="076D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163" b="1">
                          <a:solidFill>
                            <a:srgbClr val="FFFFFF"/>
                          </a:solidFill>
                          <a:latin typeface="MiSans"/>
                          <a:ea typeface="MiSans"/>
                          <a:cs typeface="MiSans"/>
                        </a:rPr>
                        <a:t>验证证据</a:t>
                      </a:r>
                      <a:endParaRPr sz="1100" b="1">
                        <a:solidFill>
                          <a:srgbClr val="FFFFFF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91440" marR="91440" marT="45720" marB="45720" anchor="ctr">
                    <a:lnL>
                      <a:noFill/>
                    </a:lnL>
                    <a:lnR w="0">
                      <a:noFill/>
                      <a:prstDash val="solid"/>
                    </a:lnR>
                    <a:lnT w="0">
                      <a:noFill/>
                      <a:prstDash val="solid"/>
                    </a:lnT>
                    <a:lnB w="0">
                      <a:noFill/>
                      <a:prstDash val="solid"/>
                    </a:lnB>
                    <a:solidFill>
                      <a:srgbClr val="076DFC"/>
                    </a:solidFill>
                  </a:tcPr>
                </a:tc>
              </a:tr>
              <a:tr h="932498"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163" b="0">
                          <a:solidFill>
                            <a:srgbClr val="14213D"/>
                          </a:solidFill>
                          <a:latin typeface="MiSans"/>
                          <a:ea typeface="MiSans"/>
                          <a:cs typeface="MiSans"/>
                        </a:rPr>
                        <a:t>评估口径自定：U-Net 自定义准确率约 85.2%，难以横向比较</a:t>
                      </a:r>
                      <a:endParaRPr sz="1100" b="1">
                        <a:solidFill>
                          <a:srgbClr val="14213D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91440" marR="91440" marT="45720" marB="45720" anchor="ctr">
                    <a:lnL w="0">
                      <a:noFill/>
                      <a:prstDash val="solid"/>
                    </a:lnL>
                    <a:lnR w="0">
                      <a:noFill/>
                      <a:prstDash val="solid"/>
                    </a:lnR>
                    <a:lnT>
                      <a:noFill/>
                    </a:lnT>
                    <a:lnB w="0">
                      <a:noFill/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163" b="0">
                          <a:solidFill>
                            <a:srgbClr val="14213D"/>
                          </a:solidFill>
                          <a:latin typeface="MiSans"/>
                          <a:ea typeface="MiSans"/>
                          <a:cs typeface="MiSans"/>
                        </a:rPr>
                        <a:t>统一六通道 schema，采用 Dice / IoU / 关键点 F1 / 边界 F1 标准指标体系</a:t>
                      </a:r>
                      <a:endParaRPr sz="1100" b="1">
                        <a:solidFill>
                          <a:srgbClr val="14213D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91440" marR="91440" marT="45720" marB="45720" anchor="ctr">
                    <a:lnL>
                      <a:noFill/>
                    </a:lnL>
                    <a:lnR w="0">
                      <a:noFill/>
                      <a:prstDash val="solid"/>
                    </a:lnR>
                    <a:lnT>
                      <a:noFill/>
                    </a:lnT>
                    <a:lnB w="0">
                      <a:noFill/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163" b="0">
                          <a:solidFill>
                            <a:srgbClr val="14213D"/>
                          </a:solidFill>
                          <a:latin typeface="MiSans"/>
                          <a:ea typeface="MiSans"/>
                          <a:cs typeface="MiSans"/>
                        </a:rPr>
                        <a:t>U-Net 可信基线 0.891；B2 标准划分 Macro Dice 0.958</a:t>
                      </a:r>
                      <a:endParaRPr sz="1100" b="1">
                        <a:solidFill>
                          <a:srgbClr val="14213D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91440" marR="91440" marT="45720" marB="45720" anchor="ctr">
                    <a:lnL>
                      <a:noFill/>
                    </a:lnL>
                    <a:lnR w="0">
                      <a:noFill/>
                      <a:prstDash val="solid"/>
                    </a:lnR>
                    <a:lnT>
                      <a:noFill/>
                    </a:lnT>
                    <a:lnB w="0">
                      <a:noFill/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932498"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163" b="0">
                          <a:solidFill>
                            <a:srgbClr val="14213D"/>
                          </a:solidFill>
                          <a:latin typeface="MiSans"/>
                          <a:ea typeface="MiSans"/>
                          <a:cs typeface="MiSans"/>
                        </a:rPr>
                        <a:t>数据治理缺失：标注一度遗失，划分混入错配与重复样本</a:t>
                      </a:r>
                      <a:endParaRPr sz="1100" b="1">
                        <a:solidFill>
                          <a:srgbClr val="14213D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91440" marR="91440" marT="45720" marB="45720" anchor="ctr">
                    <a:lnL w="0">
                      <a:noFill/>
                      <a:prstDash val="solid"/>
                    </a:lnL>
                    <a:lnR w="0">
                      <a:noFill/>
                      <a:prstDash val="solid"/>
                    </a:lnR>
                    <a:lnT>
                      <a:noFill/>
                    </a:lnT>
                    <a:lnB w="0">
                      <a:noFill/>
                      <a:prstDash val="solid"/>
                    </a:lnB>
                    <a:solidFill>
                      <a:srgbClr val="E8F0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163" b="0">
                          <a:solidFill>
                            <a:srgbClr val="14213D"/>
                          </a:solidFill>
                          <a:latin typeface="MiSans"/>
                          <a:ea typeface="MiSans"/>
                          <a:cs typeface="MiSans"/>
                        </a:rPr>
                        <a:t>840 份原始 GT 全量找回校验；语义 QC 剔除 12 错配 + 59 重复</a:t>
                      </a:r>
                      <a:endParaRPr sz="1100" b="1">
                        <a:solidFill>
                          <a:srgbClr val="14213D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91440" marR="91440" marT="45720" marB="45720" anchor="ctr">
                    <a:lnL>
                      <a:noFill/>
                    </a:lnL>
                    <a:lnR w="0">
                      <a:noFill/>
                      <a:prstDash val="solid"/>
                    </a:lnR>
                    <a:lnT>
                      <a:noFill/>
                    </a:lnT>
                    <a:lnB w="0">
                      <a:noFill/>
                      <a:prstDash val="solid"/>
                    </a:lnB>
                    <a:solidFill>
                      <a:srgbClr val="E8F0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163" b="0">
                          <a:solidFill>
                            <a:srgbClr val="14213D"/>
                          </a:solidFill>
                          <a:latin typeface="MiSans"/>
                          <a:ea typeface="MiSans"/>
                          <a:cs typeface="MiSans"/>
                        </a:rPr>
                        <a:t>769 个洁净独立样本，划分冻结并 SHA-256 留档</a:t>
                      </a:r>
                      <a:endParaRPr sz="1100" b="1">
                        <a:solidFill>
                          <a:srgbClr val="14213D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91440" marR="91440" marT="45720" marB="45720" anchor="ctr">
                    <a:lnL>
                      <a:noFill/>
                    </a:lnL>
                    <a:lnR w="0">
                      <a:noFill/>
                      <a:prstDash val="solid"/>
                    </a:lnR>
                    <a:lnT>
                      <a:noFill/>
                    </a:lnT>
                    <a:lnB w="0">
                      <a:noFill/>
                      <a:prstDash val="solid"/>
                    </a:lnB>
                    <a:solidFill>
                      <a:srgbClr val="E8F0FC"/>
                    </a:solidFill>
                  </a:tcPr>
                </a:tc>
              </a:tr>
              <a:tr h="932498"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163" b="0">
                          <a:solidFill>
                            <a:srgbClr val="14213D"/>
                          </a:solidFill>
                          <a:latin typeface="MiSans"/>
                          <a:ea typeface="MiSans"/>
                          <a:cs typeface="MiSans"/>
                        </a:rPr>
                        <a:t>泛化能力未知：训练与测试同字出现，高分不等于能评新字</a:t>
                      </a:r>
                      <a:endParaRPr sz="1100" b="1">
                        <a:solidFill>
                          <a:srgbClr val="14213D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91440" marR="91440" marT="45720" marB="45720" anchor="ctr">
                    <a:lnL w="0">
                      <a:noFill/>
                      <a:prstDash val="solid"/>
                    </a:lnL>
                    <a:lnR w="0">
                      <a:noFill/>
                      <a:prstDash val="solid"/>
                    </a:lnR>
                    <a:lnT>
                      <a:noFill/>
                    </a:lnT>
                    <a:lnB w="0">
                      <a:noFill/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163" b="0">
                          <a:solidFill>
                            <a:srgbClr val="14213D"/>
                          </a:solidFill>
                          <a:latin typeface="MiSans"/>
                          <a:ea typeface="MiSans"/>
                          <a:cs typeface="MiSans"/>
                        </a:rPr>
                        <a:t>字符隔离的 character-disjoint 划分，三模型公平比较</a:t>
                      </a:r>
                      <a:endParaRPr sz="1100" b="1">
                        <a:solidFill>
                          <a:srgbClr val="14213D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91440" marR="91440" marT="45720" marB="45720" anchor="ctr">
                    <a:lnL>
                      <a:noFill/>
                    </a:lnL>
                    <a:lnR w="0">
                      <a:noFill/>
                      <a:prstDash val="solid"/>
                    </a:lnR>
                    <a:lnT>
                      <a:noFill/>
                    </a:lnT>
                    <a:lnB w="0">
                      <a:noFill/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163" b="0">
                          <a:solidFill>
                            <a:srgbClr val="14213D"/>
                          </a:solidFill>
                          <a:latin typeface="MiSans"/>
                          <a:ea typeface="MiSans"/>
                          <a:cs typeface="MiSans"/>
                        </a:rPr>
                        <a:t>未见字 Dice 0.887，三模型中下降最小（7.2 pp）</a:t>
                      </a:r>
                      <a:endParaRPr sz="1100" b="1">
                        <a:solidFill>
                          <a:srgbClr val="14213D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91440" marR="91440" marT="45720" marB="45720" anchor="ctr">
                    <a:lnL>
                      <a:noFill/>
                    </a:lnL>
                    <a:lnR w="0">
                      <a:noFill/>
                      <a:prstDash val="solid"/>
                    </a:lnR>
                    <a:lnT>
                      <a:noFill/>
                    </a:lnT>
                    <a:lnB w="0">
                      <a:noFill/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932498"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163" b="0">
                          <a:solidFill>
                            <a:srgbClr val="14213D"/>
                          </a:solidFill>
                          <a:latin typeface="MiSans"/>
                          <a:ea typeface="MiSans"/>
                          <a:cs typeface="MiSans"/>
                        </a:rPr>
                        <a:t>评分不透明：整体点评打分，依据无法向用户解释</a:t>
                      </a:r>
                      <a:endParaRPr sz="1100" b="1">
                        <a:solidFill>
                          <a:srgbClr val="14213D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91440" marR="91440" marT="45720" marB="45720" anchor="ctr">
                    <a:lnL w="0">
                      <a:noFill/>
                      <a:prstDash val="solid"/>
                    </a:lnL>
                    <a:lnR w="0">
                      <a:noFill/>
                      <a:prstDash val="solid"/>
                    </a:lnR>
                    <a:lnT>
                      <a:noFill/>
                    </a:lnT>
                    <a:lnB w="0">
                      <a:noFill/>
                      <a:prstDash val="solid"/>
                    </a:lnB>
                    <a:solidFill>
                      <a:srgbClr val="E8F0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163" b="0">
                          <a:solidFill>
                            <a:srgbClr val="14213D"/>
                          </a:solidFill>
                          <a:latin typeface="MiSans"/>
                          <a:ea typeface="MiSans"/>
                          <a:cs typeface="MiSans"/>
                        </a:rPr>
                        <a:t>受限对齐 + 公式公开的参考结构匹配度，建议逐条对应证据</a:t>
                      </a:r>
                      <a:endParaRPr sz="1100" b="1">
                        <a:solidFill>
                          <a:srgbClr val="14213D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91440" marR="91440" marT="45720" marB="45720" anchor="ctr">
                    <a:lnL>
                      <a:noFill/>
                    </a:lnL>
                    <a:lnR w="0">
                      <a:noFill/>
                      <a:prstDash val="solid"/>
                    </a:lnR>
                    <a:lnT>
                      <a:noFill/>
                    </a:lnT>
                    <a:lnB w="0">
                      <a:noFill/>
                      <a:prstDash val="solid"/>
                    </a:lnB>
                    <a:solidFill>
                      <a:srgbClr val="E8F0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163" b="0">
                          <a:solidFill>
                            <a:srgbClr val="14213D"/>
                          </a:solidFill>
                          <a:latin typeface="MiSans"/>
                          <a:ea typeface="MiSans"/>
                          <a:cs typeface="MiSans"/>
                        </a:rPr>
                        <a:t>经受控扰动、对齐消融与人工盲评三重验证</a:t>
                      </a:r>
                      <a:endParaRPr sz="1100" b="1">
                        <a:solidFill>
                          <a:srgbClr val="14213D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91440" marR="91440" marT="45720" marB="45720" anchor="ctr">
                    <a:lnL>
                      <a:noFill/>
                    </a:lnL>
                    <a:lnR w="0">
                      <a:noFill/>
                      <a:prstDash val="solid"/>
                    </a:lnR>
                    <a:lnT>
                      <a:noFill/>
                    </a:lnT>
                    <a:lnB w="0">
                      <a:noFill/>
                      <a:prstDash val="solid"/>
                    </a:lnB>
                    <a:solidFill>
                      <a:srgbClr val="E8F0FC"/>
                    </a:solidFill>
                  </a:tcPr>
                </a:tc>
              </a:tr>
            </a:tbl>
          </a:graphicData>
        </a:graphic>
      </p:graphicFrame>
      <p:sp>
        <p:nvSpPr>
          <p:cNvPr id="7" name="iter-note-band">
            <a:extLst xmlns:a="http://schemas.openxmlformats.org/drawingml/2006/main">
              <a:ext uri="{FF2B5EF4-FFF2-40B4-BE49-F238E27FC236}">
                <a16:creationId xmlns:a16="http://schemas.microsoft.com/office/drawing/2014/main" id="{1E380B80-7633-49A1-95F4-360A6858E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0"/>
            <a:ext cx="10972800" cy="584200"/>
          </a:xfrm>
          <a:prstGeom xmlns:a="http://schemas.openxmlformats.org/drawingml/2006/main" prst="roundRect">
            <a:avLst>
              <a:gd name="adj" fmla="val 19565"/>
            </a:avLst>
          </a:prstGeom>
          <a:solidFill xmlns:a="http://schemas.openxmlformats.org/drawingml/2006/main">
            <a:srgbClr val="EEF4FE"/>
          </a:solidFill>
          <a:ln xmlns:a="http://schemas.openxmlformats.org/drawingml/2006/main">
            <a:noFill/>
          </a:ln>
        </p:spPr>
      </p:sp>
      <p:sp>
        <p:nvSpPr>
          <p:cNvPr id="8" name="iter-note-bar">
            <a:extLst xmlns:a="http://schemas.openxmlformats.org/drawingml/2006/main">
              <a:ext uri="{FF2B5EF4-FFF2-40B4-BE49-F238E27FC236}">
                <a16:creationId xmlns:a16="http://schemas.microsoft.com/office/drawing/2014/main" id="{C441D883-F654-4A7C-9E91-2215637A4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0"/>
            <a:ext cx="50800" cy="584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8EB3F"/>
          </a:solidFill>
          <a:ln xmlns:a="http://schemas.openxmlformats.org/drawingml/2006/main">
            <a:noFill/>
          </a:ln>
        </p:spPr>
      </p:sp>
      <p:sp>
        <p:nvSpPr>
          <p:cNvPr id="9" name="iter-note">
            <a:extLst xmlns:a="http://schemas.openxmlformats.org/drawingml/2006/main">
              <a:ext uri="{FF2B5EF4-FFF2-40B4-BE49-F238E27FC236}">
                <a16:creationId xmlns:a16="http://schemas.microsoft.com/office/drawing/2014/main" id="{2A9B007E-B2AD-4825-AE2A-B2975C133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600" y="5715000"/>
            <a:ext cx="10541000" cy="584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>
              <a:defRPr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defPPr>
            <a:lvl1pPr>
              <a:buNone/>
              <a:defRPr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1pPr>
            <a:lvl2pPr>
              <a:buNone/>
              <a:defRPr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2pPr>
            <a:lvl3pPr>
              <a:buNone/>
              <a:defRPr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3pPr>
            <a:lvl4pPr>
              <a:buNone/>
              <a:defRPr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4pPr>
            <a:lvl5pPr>
              <a:buNone/>
              <a:defRPr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5pPr>
            <a:lvl6pPr>
              <a:buNone/>
              <a:defRPr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6pPr>
            <a:lvl7pPr>
              <a:buNone/>
              <a:defRPr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7pPr>
            <a:lvl8pPr>
              <a:buNone/>
              <a:defRPr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8pPr>
            <a:lvl9pPr>
              <a:buNone/>
              <a:defRPr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9pPr>
          </a:lstStyle>
          <a:p xmlns:a="http://schemas.openxmlformats.org/drawingml/2006/main">
            <a:pPr algn="l">
              <a:lnSpc>
                <a:spcPct val="155000"/>
              </a:lnSpc>
              <a:buNone/>
              <a:defRPr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pPr>
            <a:r>
              <a:rPr sz="1100" b="0">
                <a:solidFill>
                  <a:srgbClr val="3E506E"/>
                </a:solidFill>
                <a:latin typeface="MiSans"/>
                <a:ea typeface="MiSans"/>
                <a:cs typeface="MiSans"/>
              </a:rPr>
              <a:t>往昔</a:t>
            </a:r>
            <a:r>
              <a:rPr sz="1100" b="0">
                <a:solidFill>
                  <a:srgbClr val="3E506E"/>
                </a:solidFill>
                <a:latin typeface="MiSans"/>
                <a:ea typeface="MiSans"/>
                <a:cs typeface="MiSans"/>
              </a:rPr>
              <a:t>的采集链路与标签生成逻辑仍是今年数据资产的基础——</a:t>
            </a:r>
            <a:r>
              <a:rPr sz="1100" b="0">
                <a:solidFill>
                  <a:srgbClr val="3E506E"/>
                </a:solidFill>
                <a:latin typeface="MiSans"/>
                <a:ea typeface="MiSans"/>
                <a:cs typeface="MiSans"/>
              </a:rPr>
              <a:t>迭代不是推翻，而是在原有地基上接续建设</a:t>
            </a:r>
            <a:r>
              <a:rPr sz="1100" b="0">
                <a:solidFill>
                  <a:srgbClr val="3E506E"/>
                </a:solidFill>
                <a:latin typeface="MiSans"/>
                <a:ea typeface="MiSans"/>
                <a:cs typeface="MiSans"/>
              </a:rPr>
              <a:t>。</a:t>
            </a:r>
            <a:endParaRPr sz="1100"/>
          </a:p>
        </p:txBody>
      </p:sp>
      <p:sp>
        <p:nvSpPr>
          <p:cNvPr id="10" name="ft-line">
            <a:extLst xmlns:a="http://schemas.openxmlformats.org/drawingml/2006/main">
              <a:ext uri="{FF2B5EF4-FFF2-40B4-BE49-F238E27FC236}">
                <a16:creationId xmlns:a16="http://schemas.microsoft.com/office/drawing/2014/main" id="{9A3631E0-6602-4424-9A5A-D939E1814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2400"/>
            <a:ext cx="10972800" cy="12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1" name="ft-left">
            <a:extLst xmlns:a="http://schemas.openxmlformats.org/drawingml/2006/main">
              <a:ext uri="{FF2B5EF4-FFF2-40B4-BE49-F238E27FC236}">
                <a16:creationId xmlns:a16="http://schemas.microsoft.com/office/drawing/2014/main" id="{814B0B12-2304-4EB7-AB70-990A7CADB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8600"/>
            <a:ext cx="3048000" cy="17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/>
          <a:lstStyle xmlns:a="http://schemas.openxmlformats.org/drawingml/2006/main">
            <a:defPPr>
              <a:defRPr sz="863" b="0">
                <a:solidFill>
                  <a:srgbClr val="D8E8FF"/>
                </a:solidFill>
                <a:latin typeface="MiSans"/>
                <a:ea typeface="MiSans"/>
                <a:cs typeface="MiSans"/>
              </a:defRPr>
            </a:defPPr>
            <a:lvl1pPr>
              <a:buNone/>
              <a:defRPr sz="863" b="0">
                <a:solidFill>
                  <a:srgbClr val="7A8CA7"/>
                </a:solidFill>
                <a:latin typeface="MiSans"/>
                <a:ea typeface="MiSans"/>
                <a:cs typeface="MiSans"/>
              </a:defRPr>
            </a:lvl1pPr>
            <a:lvl2pPr>
              <a:buNone/>
              <a:defRPr sz="863" b="0">
                <a:solidFill>
                  <a:srgbClr val="7A8CA7"/>
                </a:solidFill>
                <a:latin typeface="MiSans"/>
                <a:ea typeface="MiSans"/>
                <a:cs typeface="MiSans"/>
              </a:defRPr>
            </a:lvl2pPr>
            <a:lvl3pPr>
              <a:buNone/>
              <a:defRPr sz="863" b="0">
                <a:solidFill>
                  <a:srgbClr val="7A8CA7"/>
                </a:solidFill>
                <a:latin typeface="MiSans"/>
                <a:ea typeface="MiSans"/>
                <a:cs typeface="MiSans"/>
              </a:defRPr>
            </a:lvl3pPr>
            <a:lvl4pPr>
              <a:buNone/>
              <a:defRPr sz="863" b="0">
                <a:solidFill>
                  <a:srgbClr val="7A8CA7"/>
                </a:solidFill>
                <a:latin typeface="MiSans"/>
                <a:ea typeface="MiSans"/>
                <a:cs typeface="MiSans"/>
              </a:defRPr>
            </a:lvl4pPr>
            <a:lvl5pPr>
              <a:buNone/>
              <a:defRPr sz="863" b="0">
                <a:solidFill>
                  <a:srgbClr val="7A8CA7"/>
                </a:solidFill>
                <a:latin typeface="MiSans"/>
                <a:ea typeface="MiSans"/>
                <a:cs typeface="MiSans"/>
              </a:defRPr>
            </a:lvl5pPr>
            <a:lvl6pPr>
              <a:buNone/>
              <a:defRPr sz="863" b="0">
                <a:solidFill>
                  <a:srgbClr val="7A8CA7"/>
                </a:solidFill>
                <a:latin typeface="MiSans"/>
                <a:ea typeface="MiSans"/>
                <a:cs typeface="MiSans"/>
              </a:defRPr>
            </a:lvl6pPr>
            <a:lvl7pPr>
              <a:buNone/>
              <a:defRPr sz="863" b="0">
                <a:solidFill>
                  <a:srgbClr val="7A8CA7"/>
                </a:solidFill>
                <a:latin typeface="MiSans"/>
                <a:ea typeface="MiSans"/>
                <a:cs typeface="MiSans"/>
              </a:defRPr>
            </a:lvl7pPr>
            <a:lvl8pPr>
              <a:buNone/>
              <a:defRPr sz="863" b="0">
                <a:solidFill>
                  <a:srgbClr val="7A8CA7"/>
                </a:solidFill>
                <a:latin typeface="MiSans"/>
                <a:ea typeface="MiSans"/>
                <a:cs typeface="MiSans"/>
              </a:defRPr>
            </a:lvl8pPr>
            <a:lvl9pPr>
              <a:buNone/>
              <a:defRPr sz="863" b="0">
                <a:solidFill>
                  <a:srgbClr val="7A8CA7"/>
                </a:solidFill>
                <a:latin typeface="MiSans"/>
                <a:ea typeface="MiSans"/>
                <a:cs typeface="MiSans"/>
              </a:defRPr>
            </a:lvl9pPr>
          </a:lstStyle>
          <a:p xmlns:a="http://schemas.openxmlformats.org/drawingml/2006/main">
            <a:pPr>
              <a:lnSpc>
                <a:spcPct val="120000"/>
              </a:lnSpc>
              <a:buNone/>
              <a:defRPr sz="863" b="0">
                <a:solidFill>
                  <a:srgbClr val="D8E8FF"/>
                </a:solidFill>
                <a:latin typeface="MiSans"/>
                <a:ea typeface="MiSans"/>
                <a:cs typeface="MiSans"/>
              </a:defRPr>
            </a:pPr>
            <a:r>
              <a:rPr sz="863" b="0">
                <a:solidFill>
                  <a:srgbClr val="D8E8FF"/>
                </a:solidFill>
                <a:latin typeface="MiSans"/>
                <a:ea typeface="MiSans"/>
                <a:cs typeface="MiSans"/>
              </a:rPr>
              <a:t>一笔成章 · 2026 中期汇报</a:t>
            </a:r>
            <a:endParaRPr sz="900"/>
          </a:p>
        </p:txBody>
      </p:sp>
      <p:sp>
        <p:nvSpPr>
          <p:cNvPr id="12" name="ft-page">
            <a:extLst xmlns:a="http://schemas.openxmlformats.org/drawingml/2006/main">
              <a:ext uri="{FF2B5EF4-FFF2-40B4-BE49-F238E27FC236}">
                <a16:creationId xmlns:a16="http://schemas.microsoft.com/office/drawing/2014/main" id="{5CE6F0F3-9724-4AB9-B2C8-D85769221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6578600"/>
            <a:ext cx="914400" cy="17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>
            <a:defPPr>
              <a:defRPr sz="863" b="0">
                <a:solidFill>
                  <a:srgbClr val="D8E8FF"/>
                </a:solidFill>
                <a:latin typeface="MiSans"/>
                <a:ea typeface="MiSans"/>
                <a:cs typeface="MiSans"/>
              </a:defRPr>
            </a:defPPr>
            <a:lvl1pPr>
              <a:buNone/>
              <a:defRPr sz="863" b="0">
                <a:solidFill>
                  <a:srgbClr val="7A8CA7"/>
                </a:solidFill>
                <a:latin typeface="MiSans"/>
                <a:ea typeface="MiSans"/>
                <a:cs typeface="MiSans"/>
              </a:defRPr>
            </a:lvl1pPr>
            <a:lvl2pPr>
              <a:buNone/>
              <a:defRPr sz="863" b="0">
                <a:solidFill>
                  <a:srgbClr val="7A8CA7"/>
                </a:solidFill>
                <a:latin typeface="MiSans"/>
                <a:ea typeface="MiSans"/>
                <a:cs typeface="MiSans"/>
              </a:defRPr>
            </a:lvl2pPr>
            <a:lvl3pPr>
              <a:buNone/>
              <a:defRPr sz="863" b="0">
                <a:solidFill>
                  <a:srgbClr val="7A8CA7"/>
                </a:solidFill>
                <a:latin typeface="MiSans"/>
                <a:ea typeface="MiSans"/>
                <a:cs typeface="MiSans"/>
              </a:defRPr>
            </a:lvl3pPr>
            <a:lvl4pPr>
              <a:buNone/>
              <a:defRPr sz="863" b="0">
                <a:solidFill>
                  <a:srgbClr val="7A8CA7"/>
                </a:solidFill>
                <a:latin typeface="MiSans"/>
                <a:ea typeface="MiSans"/>
                <a:cs typeface="MiSans"/>
              </a:defRPr>
            </a:lvl4pPr>
            <a:lvl5pPr>
              <a:buNone/>
              <a:defRPr sz="863" b="0">
                <a:solidFill>
                  <a:srgbClr val="7A8CA7"/>
                </a:solidFill>
                <a:latin typeface="MiSans"/>
                <a:ea typeface="MiSans"/>
                <a:cs typeface="MiSans"/>
              </a:defRPr>
            </a:lvl5pPr>
            <a:lvl6pPr>
              <a:buNone/>
              <a:defRPr sz="863" b="0">
                <a:solidFill>
                  <a:srgbClr val="7A8CA7"/>
                </a:solidFill>
                <a:latin typeface="MiSans"/>
                <a:ea typeface="MiSans"/>
                <a:cs typeface="MiSans"/>
              </a:defRPr>
            </a:lvl6pPr>
            <a:lvl7pPr>
              <a:buNone/>
              <a:defRPr sz="863" b="0">
                <a:solidFill>
                  <a:srgbClr val="7A8CA7"/>
                </a:solidFill>
                <a:latin typeface="MiSans"/>
                <a:ea typeface="MiSans"/>
                <a:cs typeface="MiSans"/>
              </a:defRPr>
            </a:lvl7pPr>
            <a:lvl8pPr>
              <a:buNone/>
              <a:defRPr sz="863" b="0">
                <a:solidFill>
                  <a:srgbClr val="7A8CA7"/>
                </a:solidFill>
                <a:latin typeface="MiSans"/>
                <a:ea typeface="MiSans"/>
                <a:cs typeface="MiSans"/>
              </a:defRPr>
            </a:lvl8pPr>
            <a:lvl9pPr>
              <a:buNone/>
              <a:defRPr sz="863" b="0">
                <a:solidFill>
                  <a:srgbClr val="7A8CA7"/>
                </a:solidFill>
                <a:latin typeface="MiSans"/>
                <a:ea typeface="MiSans"/>
                <a:cs typeface="MiSans"/>
              </a:defRPr>
            </a:lvl9pPr>
          </a:lstStyle>
          <a:p xmlns:a="http://schemas.openxmlformats.org/drawingml/2006/main">
            <a:pPr algn="r">
              <a:lnSpc>
                <a:spcPct val="120000"/>
              </a:lnSpc>
              <a:buNone/>
              <a:defRPr sz="863" b="0">
                <a:solidFill>
                  <a:srgbClr val="D8E8FF"/>
                </a:solidFill>
                <a:latin typeface="MiSans"/>
                <a:ea typeface="MiSans"/>
                <a:cs typeface="MiSans"/>
              </a:defRPr>
            </a:pPr>
            <a:r>
              <a:rPr sz="863" b="0">
                <a:solidFill>
                  <a:srgbClr val="D8E8FF"/>
                </a:solidFill>
                <a:latin typeface="MiSans"/>
                <a:ea typeface="MiSans"/>
                <a:cs typeface="MiSans"/>
              </a:rPr>
              <a:t>05 / 13</a:t>
            </a:r>
            <a:endParaRPr sz="900"/>
          </a:p>
        </p:txBody>
      </p:sp>
    </p:spTree>
    <p:extLst>
      <p:ext uri="{BB962C8B-B14F-4D97-AF65-F5344CB8AC3E}">
        <p14:creationId xmlns:p14="http://schemas.microsoft.com/office/powerpoint/2010/main" val="639169496"/>
      </p:ext>
    </p:extLst>
  </p:cSld>
</p:sld>
</file>

<file path=ppt/slides/slide6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E7EFFB"/>
            </a:gs>
            <a:gs pos="48000">
              <a:srgbClr val="F1F5FC"/>
            </a:gs>
            <a:gs pos="100000">
              <a:srgbClr val="E9F2FF"/>
            </a:gs>
          </a:gsLst>
          <a:lin ang="168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A782C467-0B57-4201-9526-DBC86B54C9F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a5ecdd0ea3b452b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71" name="reference-cover-triangle">
            <a:extLst xmlns:a="http://schemas.openxmlformats.org/drawingml/2006/main">
              <a:ext uri="{FF2B5EF4-FFF2-40B4-BE49-F238E27FC236}">
                <a16:creationId xmlns:a16="http://schemas.microsoft.com/office/drawing/2014/main" id="{AC6F20D6-3F76-4328-AEC4-E2537ABCF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0" y="5905500"/>
            <a:ext cx="533400" cy="381000"/>
          </a:xfrm>
          <a:prstGeom xmlns:a="http://schemas.openxmlformats.org/drawingml/2006/main" prst="triangl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70" name="reference-cover-ring">
            <a:extLst xmlns:a="http://schemas.openxmlformats.org/drawingml/2006/main">
              <a:ext uri="{FF2B5EF4-FFF2-40B4-BE49-F238E27FC236}">
                <a16:creationId xmlns:a16="http://schemas.microsoft.com/office/drawing/2014/main" id="{4580FC5D-4C62-4BB5-8384-CF9950ECA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95250"/>
            <a:ext cx="1181100" cy="11811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" name="hd-bar">
            <a:extLst xmlns:a="http://schemas.openxmlformats.org/drawingml/2006/main">
              <a:ext uri="{FF2B5EF4-FFF2-40B4-BE49-F238E27FC236}">
                <a16:creationId xmlns:a16="http://schemas.microsoft.com/office/drawing/2014/main" id="{A33DBD98-5CF6-4100-A73E-657A88708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8000"/>
            <a:ext cx="76200" cy="3048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" name="hd-title">
            <a:extLst xmlns:a="http://schemas.openxmlformats.org/drawingml/2006/main">
              <a:ext uri="{FF2B5EF4-FFF2-40B4-BE49-F238E27FC236}">
                <a16:creationId xmlns:a16="http://schemas.microsoft.com/office/drawing/2014/main" id="{1D16B473-406A-4C0C-A4EC-6C8C2A9D1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19100"/>
            <a:ext cx="101346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>
              <a:defRPr sz="2200" b="1">
                <a:solidFill>
                  <a:srgbClr val="FFFFFF"/>
                </a:solidFill>
              </a:defRPr>
            </a:defPPr>
            <a:lvl1pPr>
              <a:defRPr sz="2200" b="1">
                <a:solidFill>
                  <a:srgbClr val="FFFFFF"/>
                </a:solidFill>
              </a:defRPr>
            </a:lvl1pPr>
            <a:lvl2pPr>
              <a:defRPr sz="2200" b="1">
                <a:solidFill>
                  <a:srgbClr val="FFFFFF"/>
                </a:solidFill>
              </a:defRPr>
            </a:lvl2pPr>
            <a:lvl3pPr>
              <a:defRPr sz="2200" b="1">
                <a:solidFill>
                  <a:srgbClr val="FFFFFF"/>
                </a:solidFill>
              </a:defRPr>
            </a:lvl3pPr>
            <a:lvl4pPr>
              <a:defRPr sz="2200" b="1">
                <a:solidFill>
                  <a:srgbClr val="FFFFFF"/>
                </a:solidFill>
              </a:defRPr>
            </a:lvl4pPr>
            <a:lvl5pPr>
              <a:defRPr sz="2200" b="1">
                <a:solidFill>
                  <a:srgbClr val="FFFFFF"/>
                </a:solidFill>
              </a:defRPr>
            </a:lvl5pPr>
            <a:lvl6pPr>
              <a:defRPr sz="2200" b="1">
                <a:solidFill>
                  <a:srgbClr val="FFFFFF"/>
                </a:solidFill>
              </a:defRPr>
            </a:lvl6pPr>
            <a:lvl7pPr>
              <a:defRPr sz="2200" b="1">
                <a:solidFill>
                  <a:srgbClr val="FFFFFF"/>
                </a:solidFill>
              </a:defRPr>
            </a:lvl7pPr>
            <a:lvl8pPr>
              <a:defRPr sz="2200" b="1">
                <a:solidFill>
                  <a:srgbClr val="FFFFFF"/>
                </a:solidFill>
              </a:defRPr>
            </a:lvl8pPr>
            <a:lvl9pPr>
              <a:defRPr sz="220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2200" b="1">
                <a:solidFill>
                  <a:srgbClr val="FFFFFF"/>
                </a:solidFill>
              </a:defRPr>
            </a:pPr>
            <a:r>
              <a:rPr sz="2200" b="1">
                <a:solidFill>
                  <a:srgbClr val="FFFFFF"/>
                </a:solidFill>
                <a:latin typeface="MiSans"/>
                <a:ea typeface="MiSans"/>
                <a:cs typeface="MiSans"/>
              </a:rPr>
              <a:t>中期总览：从数据到产品的完整闭环已经打通</a:t>
            </a:r>
            <a:endParaRPr sz="2200"/>
          </a:p>
        </p:txBody>
      </p:sp>
      <p:sp>
        <p:nvSpPr>
          <p:cNvPr id="4" name="hd-tag">
            <a:extLst xmlns:a="http://schemas.openxmlformats.org/drawingml/2006/main">
              <a:ext uri="{FF2B5EF4-FFF2-40B4-BE49-F238E27FC236}">
                <a16:creationId xmlns:a16="http://schemas.microsoft.com/office/drawing/2014/main" id="{D6D95502-D2CA-4BEB-B1B8-CEAAC5C20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180975"/>
            <a:ext cx="762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900" b="0">
                <a:solidFill>
                  <a:srgbClr val="CBE1FF"/>
                </a:solidFill>
                <a:latin typeface="MiSans"/>
                <a:ea typeface="MiSans"/>
                <a:cs typeface="MiSans"/>
              </a:defRPr>
            </a:defPPr>
            <a:lvl1pPr algn="l">
              <a:buNone/>
              <a:defRPr sz="975" b="0">
                <a:solidFill>
                  <a:srgbClr val="076DFC"/>
                </a:solidFill>
                <a:latin typeface="MiSans"/>
                <a:ea typeface="MiSans"/>
                <a:cs typeface="MiSans"/>
              </a:defRPr>
            </a:lvl1pPr>
            <a:lvl2pPr algn="l">
              <a:buNone/>
              <a:defRPr sz="975" b="0">
                <a:solidFill>
                  <a:srgbClr val="076DFC"/>
                </a:solidFill>
                <a:latin typeface="MiSans"/>
                <a:ea typeface="MiSans"/>
                <a:cs typeface="MiSans"/>
              </a:defRPr>
            </a:lvl2pPr>
            <a:lvl3pPr algn="l">
              <a:buNone/>
              <a:defRPr sz="975" b="0">
                <a:solidFill>
                  <a:srgbClr val="076DFC"/>
                </a:solidFill>
                <a:latin typeface="MiSans"/>
                <a:ea typeface="MiSans"/>
                <a:cs typeface="MiSans"/>
              </a:defRPr>
            </a:lvl3pPr>
            <a:lvl4pPr algn="l">
              <a:buNone/>
              <a:defRPr sz="975" b="0">
                <a:solidFill>
                  <a:srgbClr val="076DFC"/>
                </a:solidFill>
                <a:latin typeface="MiSans"/>
                <a:ea typeface="MiSans"/>
                <a:cs typeface="MiSans"/>
              </a:defRPr>
            </a:lvl4pPr>
            <a:lvl5pPr algn="l">
              <a:buNone/>
              <a:defRPr sz="975" b="0">
                <a:solidFill>
                  <a:srgbClr val="076DFC"/>
                </a:solidFill>
                <a:latin typeface="MiSans"/>
                <a:ea typeface="MiSans"/>
                <a:cs typeface="MiSans"/>
              </a:defRPr>
            </a:lvl5pPr>
            <a:lvl6pPr algn="l">
              <a:buNone/>
              <a:defRPr sz="975" b="0">
                <a:solidFill>
                  <a:srgbClr val="076DFC"/>
                </a:solidFill>
                <a:latin typeface="MiSans"/>
                <a:ea typeface="MiSans"/>
                <a:cs typeface="MiSans"/>
              </a:defRPr>
            </a:lvl6pPr>
            <a:lvl7pPr algn="l">
              <a:buNone/>
              <a:defRPr sz="975" b="0">
                <a:solidFill>
                  <a:srgbClr val="076DFC"/>
                </a:solidFill>
                <a:latin typeface="MiSans"/>
                <a:ea typeface="MiSans"/>
                <a:cs typeface="MiSans"/>
              </a:defRPr>
            </a:lvl7pPr>
            <a:lvl8pPr algn="l">
              <a:buNone/>
              <a:defRPr sz="975" b="0">
                <a:solidFill>
                  <a:srgbClr val="076DFC"/>
                </a:solidFill>
                <a:latin typeface="MiSans"/>
                <a:ea typeface="MiSans"/>
                <a:cs typeface="MiSans"/>
              </a:defRPr>
            </a:lvl8pPr>
            <a:lvl9pPr algn="l">
              <a:buNone/>
              <a:defRPr sz="975" b="0">
                <a:solidFill>
                  <a:srgbClr val="076DFC"/>
                </a:solidFill>
                <a:latin typeface="MiSans"/>
                <a:ea typeface="MiSans"/>
                <a:cs typeface="MiSans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900" b="0">
                <a:solidFill>
                  <a:srgbClr val="CBE1FF"/>
                </a:solidFill>
                <a:latin typeface="MiSans"/>
                <a:ea typeface="MiSans"/>
                <a:cs typeface="MiSans"/>
              </a:defRPr>
            </a:pPr>
            <a:r>
              <a:rPr sz="900" b="0">
                <a:solidFill>
                  <a:srgbClr val="CBE1FF"/>
                </a:solidFill>
                <a:latin typeface="MiSans"/>
                <a:ea typeface="MiSans"/>
                <a:cs typeface="MiSans"/>
              </a:rPr>
              <a:t>02 · 中期核心进展</a:t>
            </a:r>
            <a:endParaRPr sz="1000"/>
          </a:p>
        </p:txBody>
      </p:sp>
      <p:sp>
        <p:nvSpPr>
          <p:cNvPr id="5" name="hd-line">
            <a:extLst xmlns:a="http://schemas.openxmlformats.org/drawingml/2006/main">
              <a:ext uri="{FF2B5EF4-FFF2-40B4-BE49-F238E27FC236}">
                <a16:creationId xmlns:a16="http://schemas.microsoft.com/office/drawing/2014/main" id="{385DC5FA-EB09-4AF8-8BE0-614F7F719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90600"/>
            <a:ext cx="742950" cy="28575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6" name="s1-box">
            <a:extLst xmlns:a="http://schemas.openxmlformats.org/drawingml/2006/main">
              <a:ext uri="{FF2B5EF4-FFF2-40B4-BE49-F238E27FC236}">
                <a16:creationId xmlns:a16="http://schemas.microsoft.com/office/drawing/2014/main" id="{3EDC38A5-F109-48C5-83BB-12202072B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8600"/>
            <a:ext cx="1625600" cy="304800"/>
          </a:xfrm>
          <a:prstGeom xmlns:a="http://schemas.openxmlformats.org/drawingml/2006/main" prst="roundRect">
            <a:avLst>
              <a:gd name="adj" fmla="val 10000"/>
            </a:avLst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7" name="s1-num">
            <a:extLst xmlns:a="http://schemas.openxmlformats.org/drawingml/2006/main">
              <a:ext uri="{FF2B5EF4-FFF2-40B4-BE49-F238E27FC236}">
                <a16:creationId xmlns:a16="http://schemas.microsoft.com/office/drawing/2014/main" id="{B42DEA79-6F0A-419D-8E16-1AE762F8D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90650"/>
            <a:ext cx="16383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2400" b="1">
                <a:solidFill>
                  <a:srgbClr val="076DFC"/>
                </a:solidFill>
                <a:latin typeface="MiSans"/>
                <a:ea typeface="MiSans"/>
                <a:cs typeface="MiSans"/>
              </a:defRPr>
            </a:defPPr>
            <a:lvl1pPr algn="l">
              <a:buNone/>
              <a:defRPr sz="2400" b="1">
                <a:solidFill>
                  <a:srgbClr val="076DFC"/>
                </a:solidFill>
                <a:latin typeface="MiSans"/>
                <a:ea typeface="MiSans"/>
                <a:cs typeface="MiSans"/>
              </a:defRPr>
            </a:lvl1pPr>
            <a:lvl2pPr algn="l">
              <a:buNone/>
              <a:defRPr sz="2400" b="1">
                <a:solidFill>
                  <a:srgbClr val="076DFC"/>
                </a:solidFill>
                <a:latin typeface="MiSans"/>
                <a:ea typeface="MiSans"/>
                <a:cs typeface="MiSans"/>
              </a:defRPr>
            </a:lvl2pPr>
            <a:lvl3pPr algn="l">
              <a:buNone/>
              <a:defRPr sz="2400" b="1">
                <a:solidFill>
                  <a:srgbClr val="076DFC"/>
                </a:solidFill>
                <a:latin typeface="MiSans"/>
                <a:ea typeface="MiSans"/>
                <a:cs typeface="MiSans"/>
              </a:defRPr>
            </a:lvl3pPr>
            <a:lvl4pPr algn="l">
              <a:buNone/>
              <a:defRPr sz="2400" b="1">
                <a:solidFill>
                  <a:srgbClr val="076DFC"/>
                </a:solidFill>
                <a:latin typeface="MiSans"/>
                <a:ea typeface="MiSans"/>
                <a:cs typeface="MiSans"/>
              </a:defRPr>
            </a:lvl4pPr>
            <a:lvl5pPr algn="l">
              <a:buNone/>
              <a:defRPr sz="2400" b="1">
                <a:solidFill>
                  <a:srgbClr val="076DFC"/>
                </a:solidFill>
                <a:latin typeface="MiSans"/>
                <a:ea typeface="MiSans"/>
                <a:cs typeface="MiSans"/>
              </a:defRPr>
            </a:lvl5pPr>
            <a:lvl6pPr algn="l">
              <a:buNone/>
              <a:defRPr sz="2400" b="1">
                <a:solidFill>
                  <a:srgbClr val="076DFC"/>
                </a:solidFill>
                <a:latin typeface="MiSans"/>
                <a:ea typeface="MiSans"/>
                <a:cs typeface="MiSans"/>
              </a:defRPr>
            </a:lvl6pPr>
            <a:lvl7pPr algn="l">
              <a:buNone/>
              <a:defRPr sz="2400" b="1">
                <a:solidFill>
                  <a:srgbClr val="076DFC"/>
                </a:solidFill>
                <a:latin typeface="MiSans"/>
                <a:ea typeface="MiSans"/>
                <a:cs typeface="MiSans"/>
              </a:defRPr>
            </a:lvl7pPr>
            <a:lvl8pPr algn="l">
              <a:buNone/>
              <a:defRPr sz="2400" b="1">
                <a:solidFill>
                  <a:srgbClr val="076DFC"/>
                </a:solidFill>
                <a:latin typeface="MiSans"/>
                <a:ea typeface="MiSans"/>
                <a:cs typeface="MiSans"/>
              </a:defRPr>
            </a:lvl8pPr>
            <a:lvl9pPr algn="l">
              <a:buNone/>
              <a:defRPr sz="2400" b="1">
                <a:solidFill>
                  <a:srgbClr val="076DFC"/>
                </a:solidFill>
                <a:latin typeface="MiSans"/>
                <a:ea typeface="MiSans"/>
                <a:cs typeface="MiSans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2400" b="1">
                <a:solidFill>
                  <a:srgbClr val="076DFC"/>
                </a:solidFill>
                <a:latin typeface="MiSans"/>
                <a:ea typeface="MiSans"/>
                <a:cs typeface="MiSans"/>
              </a:defRPr>
            </a:pPr>
            <a:r>
              <a:rPr sz="2400" b="1">
                <a:solidFill>
                  <a:srgbClr val="076DFC"/>
                </a:solidFill>
                <a:latin typeface="MiSans"/>
                <a:ea typeface="MiSans"/>
                <a:cs typeface="MiSans"/>
              </a:rPr>
              <a:t>01</a:t>
            </a:r>
            <a:endParaRPr sz="1100"/>
          </a:p>
        </p:txBody>
      </p:sp>
      <p:sp>
        <p:nvSpPr>
          <p:cNvPr id="8" name="s1-title">
            <a:extLst xmlns:a="http://schemas.openxmlformats.org/drawingml/2006/main">
              <a:ext uri="{FF2B5EF4-FFF2-40B4-BE49-F238E27FC236}">
                <a16:creationId xmlns:a16="http://schemas.microsoft.com/office/drawing/2014/main" id="{6D54CE1B-24DC-4928-AE6B-3D1871118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14525"/>
            <a:ext cx="1638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/>
          <a:lstStyle xmlns:a="http://schemas.openxmlformats.org/drawingml/2006/main">
            <a:defPPr>
              <a:defRPr sz="1275" b="1">
                <a:solidFill>
                  <a:srgbClr val="14213D"/>
                </a:solidFill>
                <a:latin typeface="MiSans"/>
                <a:ea typeface="MiSans"/>
                <a:cs typeface="MiSans"/>
              </a:defRPr>
            </a:defPPr>
            <a:lvl1pPr>
              <a:buNone/>
              <a:defRPr sz="1275" b="1">
                <a:solidFill>
                  <a:srgbClr val="14213D"/>
                </a:solidFill>
                <a:latin typeface="MiSans"/>
                <a:ea typeface="MiSans"/>
                <a:cs typeface="MiSans"/>
              </a:defRPr>
            </a:lvl1pPr>
            <a:lvl2pPr>
              <a:buNone/>
              <a:defRPr sz="1275" b="1">
                <a:solidFill>
                  <a:srgbClr val="14213D"/>
                </a:solidFill>
                <a:latin typeface="MiSans"/>
                <a:ea typeface="MiSans"/>
                <a:cs typeface="MiSans"/>
              </a:defRPr>
            </a:lvl2pPr>
            <a:lvl3pPr>
              <a:buNone/>
              <a:defRPr sz="1275" b="1">
                <a:solidFill>
                  <a:srgbClr val="14213D"/>
                </a:solidFill>
                <a:latin typeface="MiSans"/>
                <a:ea typeface="MiSans"/>
                <a:cs typeface="MiSans"/>
              </a:defRPr>
            </a:lvl3pPr>
            <a:lvl4pPr>
              <a:buNone/>
              <a:defRPr sz="1275" b="1">
                <a:solidFill>
                  <a:srgbClr val="14213D"/>
                </a:solidFill>
                <a:latin typeface="MiSans"/>
                <a:ea typeface="MiSans"/>
                <a:cs typeface="MiSans"/>
              </a:defRPr>
            </a:lvl4pPr>
            <a:lvl5pPr>
              <a:buNone/>
              <a:defRPr sz="1275" b="1">
                <a:solidFill>
                  <a:srgbClr val="14213D"/>
                </a:solidFill>
                <a:latin typeface="MiSans"/>
                <a:ea typeface="MiSans"/>
                <a:cs typeface="MiSans"/>
              </a:defRPr>
            </a:lvl5pPr>
            <a:lvl6pPr>
              <a:buNone/>
              <a:defRPr sz="1275" b="1">
                <a:solidFill>
                  <a:srgbClr val="14213D"/>
                </a:solidFill>
                <a:latin typeface="MiSans"/>
                <a:ea typeface="MiSans"/>
                <a:cs typeface="MiSans"/>
              </a:defRPr>
            </a:lvl6pPr>
            <a:lvl7pPr>
              <a:buNone/>
              <a:defRPr sz="1275" b="1">
                <a:solidFill>
                  <a:srgbClr val="14213D"/>
                </a:solidFill>
                <a:latin typeface="MiSans"/>
                <a:ea typeface="MiSans"/>
                <a:cs typeface="MiSans"/>
              </a:defRPr>
            </a:lvl7pPr>
            <a:lvl8pPr>
              <a:buNone/>
              <a:defRPr sz="1275" b="1">
                <a:solidFill>
                  <a:srgbClr val="14213D"/>
                </a:solidFill>
                <a:latin typeface="MiSans"/>
                <a:ea typeface="MiSans"/>
                <a:cs typeface="MiSans"/>
              </a:defRPr>
            </a:lvl8pPr>
            <a:lvl9pPr>
              <a:buNone/>
              <a:defRPr sz="1275" b="1">
                <a:solidFill>
                  <a:srgbClr val="14213D"/>
                </a:solidFill>
                <a:latin typeface="MiSans"/>
                <a:ea typeface="MiSans"/>
                <a:cs typeface="MiSans"/>
              </a:defRPr>
            </a:lvl9pPr>
          </a:lstStyle>
          <a:p xmlns:a="http://schemas.openxmlformats.org/drawingml/2006/main">
            <a:pPr>
              <a:lnSpc>
                <a:spcPct val="120000"/>
              </a:lnSpc>
              <a:buNone/>
              <a:defRPr sz="1275" b="1">
                <a:solidFill>
                  <a:srgbClr val="14213D"/>
                </a:solidFill>
                <a:latin typeface="MiSans"/>
                <a:ea typeface="MiSans"/>
                <a:cs typeface="MiSans"/>
              </a:defRPr>
            </a:pPr>
            <a:r>
              <a:rPr sz="1275" b="1">
                <a:solidFill>
                  <a:srgbClr val="14213D"/>
                </a:solidFill>
                <a:latin typeface="MiSans"/>
                <a:ea typeface="MiSans"/>
                <a:cs typeface="MiSans"/>
              </a:rPr>
              <a:t>数据恢复与 QC</a:t>
            </a:r>
            <a:endParaRPr sz="1250"/>
          </a:p>
        </p:txBody>
      </p:sp>
      <p:sp>
        <p:nvSpPr>
          <p:cNvPr id="9" name="s1-desc">
            <a:extLst xmlns:a="http://schemas.openxmlformats.org/drawingml/2006/main">
              <a:ext uri="{FF2B5EF4-FFF2-40B4-BE49-F238E27FC236}">
                <a16:creationId xmlns:a16="http://schemas.microsoft.com/office/drawing/2014/main" id="{93DA8193-30EE-40D9-B84C-ABCC3800C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0"/>
            <a:ext cx="1638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1013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defPPr>
            <a:lvl1pPr>
              <a:buNone/>
              <a:defRPr sz="1013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1pPr>
            <a:lvl2pPr>
              <a:buNone/>
              <a:defRPr sz="1013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2pPr>
            <a:lvl3pPr>
              <a:buNone/>
              <a:defRPr sz="1013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3pPr>
            <a:lvl4pPr>
              <a:buNone/>
              <a:defRPr sz="1013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4pPr>
            <a:lvl5pPr>
              <a:buNone/>
              <a:defRPr sz="1013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5pPr>
            <a:lvl6pPr>
              <a:buNone/>
              <a:defRPr sz="1013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6pPr>
            <a:lvl7pPr>
              <a:buNone/>
              <a:defRPr sz="1013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7pPr>
            <a:lvl8pPr>
              <a:buNone/>
              <a:defRPr sz="1013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8pPr>
            <a:lvl9pPr>
              <a:buNone/>
              <a:defRPr sz="1013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9pPr>
          </a:lstStyle>
          <a:p xmlns:a="http://schemas.openxmlformats.org/drawingml/2006/main">
            <a:pPr algn="l">
              <a:lnSpc>
                <a:spcPct val="145000"/>
              </a:lnSpc>
              <a:buNone/>
              <a:defRPr sz="1013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pPr>
            <a:r>
              <a:rPr sz="1013" b="0">
                <a:solidFill>
                  <a:srgbClr val="3E506E"/>
                </a:solidFill>
                <a:latin typeface="MiSans"/>
                <a:ea typeface="MiSans"/>
                <a:cs typeface="MiSans"/>
              </a:rPr>
              <a:t>840 份 GT 找回校验，769 个洁净样本</a:t>
            </a:r>
            <a:endParaRPr sz="950"/>
          </a:p>
        </p:txBody>
      </p:sp>
      <p:sp>
        <p:nvSpPr>
          <p:cNvPr id="10" name="s1-check">
            <a:extLst xmlns:a="http://schemas.openxmlformats.org/drawingml/2006/main">
              <a:ext uri="{FF2B5EF4-FFF2-40B4-BE49-F238E27FC236}">
                <a16:creationId xmlns:a16="http://schemas.microsoft.com/office/drawing/2014/main" id="{5ACAC397-6E69-478F-9355-8E9BCE771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95600"/>
            <a:ext cx="177800" cy="177800"/>
          </a:xfrm>
          <a:custGeom xmlns:a="http://schemas.openxmlformats.org/drawingml/2006/main">
            <a:rect l="l" t="t" r="r" b="b"/>
            <a:pathLst>
              <a:path w="512" h="512">
                <a:moveTo>
                  <a:pt x="256" y="512"/>
                </a:moveTo>
                <a:cubicBezTo>
                  <a:pt x="115" y="512"/>
                  <a:pt x="0" y="397"/>
                  <a:pt x="0" y="256"/>
                </a:cubicBezTo>
                <a:cubicBezTo>
                  <a:pt x="0" y="115"/>
                  <a:pt x="115" y="0"/>
                  <a:pt x="256" y="0"/>
                </a:cubicBezTo>
                <a:cubicBezTo>
                  <a:pt x="397" y="0"/>
                  <a:pt x="512" y="115"/>
                  <a:pt x="512" y="256"/>
                </a:cubicBezTo>
                <a:cubicBezTo>
                  <a:pt x="512" y="397"/>
                  <a:pt x="397" y="512"/>
                  <a:pt x="256" y="512"/>
                </a:cubicBezTo>
                <a:close/>
                <a:moveTo>
                  <a:pt x="374" y="146"/>
                </a:moveTo>
                <a:cubicBezTo>
                  <a:pt x="363" y="138"/>
                  <a:pt x="348" y="140"/>
                  <a:pt x="341" y="151"/>
                </a:cubicBezTo>
                <a:lnTo>
                  <a:pt x="221" y="315"/>
                </a:lnTo>
                <a:lnTo>
                  <a:pt x="169" y="263"/>
                </a:lnTo>
                <a:cubicBezTo>
                  <a:pt x="160" y="254"/>
                  <a:pt x="144" y="254"/>
                  <a:pt x="135" y="263"/>
                </a:cubicBezTo>
                <a:cubicBezTo>
                  <a:pt x="126" y="273"/>
                  <a:pt x="126" y="288"/>
                  <a:pt x="135" y="297"/>
                </a:cubicBezTo>
                <a:lnTo>
                  <a:pt x="207" y="369"/>
                </a:lnTo>
                <a:cubicBezTo>
                  <a:pt x="212" y="374"/>
                  <a:pt x="219" y="377"/>
                  <a:pt x="226" y="376"/>
                </a:cubicBezTo>
                <a:cubicBezTo>
                  <a:pt x="233" y="376"/>
                  <a:pt x="239" y="372"/>
                  <a:pt x="243" y="366"/>
                </a:cubicBezTo>
                <a:lnTo>
                  <a:pt x="379" y="179"/>
                </a:lnTo>
                <a:cubicBezTo>
                  <a:pt x="387" y="169"/>
                  <a:pt x="385" y="154"/>
                  <a:pt x="374" y="146"/>
                </a:cubicBezTo>
                <a:close/>
              </a:path>
            </a:pathLst>
          </a:custGeom>
          <a:solidFill xmlns:a="http://schemas.openxmlformats.org/drawingml/2006/main">
            <a:srgbClr val="A8EB3F"/>
          </a:solidFill>
          <a:ln xmlns:a="http://schemas.openxmlformats.org/drawingml/2006/main">
            <a:noFill/>
          </a:ln>
        </p:spPr>
      </p:sp>
      <p:sp>
        <p:nvSpPr>
          <p:cNvPr id="11" name="s1-done">
            <a:extLst xmlns:a="http://schemas.openxmlformats.org/drawingml/2006/main">
              <a:ext uri="{FF2B5EF4-FFF2-40B4-BE49-F238E27FC236}">
                <a16:creationId xmlns:a16="http://schemas.microsoft.com/office/drawing/2014/main" id="{AE2124D0-3AEA-4C8F-BCC5-E99BA7342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2867025"/>
            <a:ext cx="1333500" cy="20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>
              <a:defRPr sz="975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defPPr>
            <a:lvl1pPr>
              <a:buNone/>
              <a:defRPr sz="975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1pPr>
            <a:lvl2pPr>
              <a:buNone/>
              <a:defRPr sz="975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2pPr>
            <a:lvl3pPr>
              <a:buNone/>
              <a:defRPr sz="975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3pPr>
            <a:lvl4pPr>
              <a:buNone/>
              <a:defRPr sz="975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4pPr>
            <a:lvl5pPr>
              <a:buNone/>
              <a:defRPr sz="975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5pPr>
            <a:lvl6pPr>
              <a:buNone/>
              <a:defRPr sz="975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6pPr>
            <a:lvl7pPr>
              <a:buNone/>
              <a:defRPr sz="975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7pPr>
            <a:lvl8pPr>
              <a:buNone/>
              <a:defRPr sz="975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8pPr>
            <a:lvl9pPr>
              <a:buNone/>
              <a:defRPr sz="975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975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pPr>
            <a:r>
              <a:rPr sz="975" b="0">
                <a:solidFill>
                  <a:srgbClr val="3E506E"/>
                </a:solidFill>
                <a:latin typeface="MiSans"/>
                <a:ea typeface="MiSans"/>
                <a:cs typeface="MiSans"/>
              </a:rPr>
              <a:t>已完成</a:t>
            </a:r>
            <a:endParaRPr sz="1000"/>
          </a:p>
        </p:txBody>
      </p:sp>
      <p:sp>
        <p:nvSpPr>
          <p:cNvPr id="12" name="a1">
            <a:extLst xmlns:a="http://schemas.openxmlformats.org/drawingml/2006/main">
              <a:ext uri="{FF2B5EF4-FFF2-40B4-BE49-F238E27FC236}">
                <a16:creationId xmlns:a16="http://schemas.microsoft.com/office/drawing/2014/main" id="{622F1DC5-9F5B-47BE-9D9E-E03FF91D3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6475" y="2047875"/>
            <a:ext cx="133350" cy="133350"/>
          </a:xfrm>
          <a:custGeom xmlns:a="http://schemas.openxmlformats.org/drawingml/2006/main">
            <a:rect l="l" t="t" r="r" b="b"/>
            <a:pathLst>
              <a:path w="256" h="512">
                <a:moveTo>
                  <a:pt x="247" y="233"/>
                </a:moveTo>
                <a:cubicBezTo>
                  <a:pt x="260" y="246"/>
                  <a:pt x="260" y="266"/>
                  <a:pt x="247" y="279"/>
                </a:cubicBezTo>
                <a:lnTo>
                  <a:pt x="87" y="439"/>
                </a:lnTo>
                <a:cubicBezTo>
                  <a:pt x="75" y="451"/>
                  <a:pt x="54" y="451"/>
                  <a:pt x="42" y="439"/>
                </a:cubicBezTo>
                <a:cubicBezTo>
                  <a:pt x="29" y="426"/>
                  <a:pt x="29" y="406"/>
                  <a:pt x="42" y="393"/>
                </a:cubicBezTo>
                <a:lnTo>
                  <a:pt x="179" y="256"/>
                </a:lnTo>
                <a:lnTo>
                  <a:pt x="42" y="119"/>
                </a:lnTo>
                <a:cubicBezTo>
                  <a:pt x="29" y="106"/>
                  <a:pt x="29" y="86"/>
                  <a:pt x="42" y="73"/>
                </a:cubicBezTo>
                <a:cubicBezTo>
                  <a:pt x="54" y="61"/>
                  <a:pt x="75" y="61"/>
                  <a:pt x="87" y="73"/>
                </a:cubicBezTo>
                <a:lnTo>
                  <a:pt x="247" y="233"/>
                </a:lnTo>
                <a:close/>
              </a:path>
            </a:pathLst>
          </a:custGeom>
          <a:solidFill xmlns:a="http://schemas.openxmlformats.org/drawingml/2006/main">
            <a:srgbClr val="AEC1DE"/>
          </a:solidFill>
          <a:ln xmlns:a="http://schemas.openxmlformats.org/drawingml/2006/main">
            <a:noFill/>
          </a:ln>
        </p:spPr>
      </p:sp>
      <p:sp>
        <p:nvSpPr>
          <p:cNvPr id="13" name="s2-box">
            <a:extLst xmlns:a="http://schemas.openxmlformats.org/drawingml/2006/main">
              <a:ext uri="{FF2B5EF4-FFF2-40B4-BE49-F238E27FC236}">
                <a16:creationId xmlns:a16="http://schemas.microsoft.com/office/drawing/2014/main" id="{847A7EDF-0D16-4F27-8DE3-FCA0A97EF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5400" y="1498600"/>
            <a:ext cx="1625600" cy="304800"/>
          </a:xfrm>
          <a:prstGeom xmlns:a="http://schemas.openxmlformats.org/drawingml/2006/main" prst="roundRect">
            <a:avLst>
              <a:gd name="adj" fmla="val 10000"/>
            </a:avLst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4" name="s2-num">
            <a:extLst xmlns:a="http://schemas.openxmlformats.org/drawingml/2006/main">
              <a:ext uri="{FF2B5EF4-FFF2-40B4-BE49-F238E27FC236}">
                <a16:creationId xmlns:a16="http://schemas.microsoft.com/office/drawing/2014/main" id="{05E816D1-E418-42FE-8616-5417D5A00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1390650"/>
            <a:ext cx="16383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2400" b="1">
                <a:solidFill>
                  <a:srgbClr val="076DFC"/>
                </a:solidFill>
                <a:latin typeface="MiSans"/>
                <a:ea typeface="MiSans"/>
                <a:cs typeface="MiSans"/>
              </a:defRPr>
            </a:defPPr>
            <a:lvl1pPr algn="l">
              <a:buNone/>
              <a:defRPr sz="2400" b="1">
                <a:solidFill>
                  <a:srgbClr val="076DFC"/>
                </a:solidFill>
                <a:latin typeface="MiSans"/>
                <a:ea typeface="MiSans"/>
                <a:cs typeface="MiSans"/>
              </a:defRPr>
            </a:lvl1pPr>
            <a:lvl2pPr algn="l">
              <a:buNone/>
              <a:defRPr sz="2400" b="1">
                <a:solidFill>
                  <a:srgbClr val="076DFC"/>
                </a:solidFill>
                <a:latin typeface="MiSans"/>
                <a:ea typeface="MiSans"/>
                <a:cs typeface="MiSans"/>
              </a:defRPr>
            </a:lvl2pPr>
            <a:lvl3pPr algn="l">
              <a:buNone/>
              <a:defRPr sz="2400" b="1">
                <a:solidFill>
                  <a:srgbClr val="076DFC"/>
                </a:solidFill>
                <a:latin typeface="MiSans"/>
                <a:ea typeface="MiSans"/>
                <a:cs typeface="MiSans"/>
              </a:defRPr>
            </a:lvl3pPr>
            <a:lvl4pPr algn="l">
              <a:buNone/>
              <a:defRPr sz="2400" b="1">
                <a:solidFill>
                  <a:srgbClr val="076DFC"/>
                </a:solidFill>
                <a:latin typeface="MiSans"/>
                <a:ea typeface="MiSans"/>
                <a:cs typeface="MiSans"/>
              </a:defRPr>
            </a:lvl4pPr>
            <a:lvl5pPr algn="l">
              <a:buNone/>
              <a:defRPr sz="2400" b="1">
                <a:solidFill>
                  <a:srgbClr val="076DFC"/>
                </a:solidFill>
                <a:latin typeface="MiSans"/>
                <a:ea typeface="MiSans"/>
                <a:cs typeface="MiSans"/>
              </a:defRPr>
            </a:lvl5pPr>
            <a:lvl6pPr algn="l">
              <a:buNone/>
              <a:defRPr sz="2400" b="1">
                <a:solidFill>
                  <a:srgbClr val="076DFC"/>
                </a:solidFill>
                <a:latin typeface="MiSans"/>
                <a:ea typeface="MiSans"/>
                <a:cs typeface="MiSans"/>
              </a:defRPr>
            </a:lvl6pPr>
            <a:lvl7pPr algn="l">
              <a:buNone/>
              <a:defRPr sz="2400" b="1">
                <a:solidFill>
                  <a:srgbClr val="076DFC"/>
                </a:solidFill>
                <a:latin typeface="MiSans"/>
                <a:ea typeface="MiSans"/>
                <a:cs typeface="MiSans"/>
              </a:defRPr>
            </a:lvl7pPr>
            <a:lvl8pPr algn="l">
              <a:buNone/>
              <a:defRPr sz="2400" b="1">
                <a:solidFill>
                  <a:srgbClr val="076DFC"/>
                </a:solidFill>
                <a:latin typeface="MiSans"/>
                <a:ea typeface="MiSans"/>
                <a:cs typeface="MiSans"/>
              </a:defRPr>
            </a:lvl8pPr>
            <a:lvl9pPr algn="l">
              <a:buNone/>
              <a:defRPr sz="2400" b="1">
                <a:solidFill>
                  <a:srgbClr val="076DFC"/>
                </a:solidFill>
                <a:latin typeface="MiSans"/>
                <a:ea typeface="MiSans"/>
                <a:cs typeface="MiSans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2400" b="1">
                <a:solidFill>
                  <a:srgbClr val="076DFC"/>
                </a:solidFill>
                <a:latin typeface="MiSans"/>
                <a:ea typeface="MiSans"/>
                <a:cs typeface="MiSans"/>
              </a:defRPr>
            </a:pPr>
            <a:r>
              <a:rPr sz="2400" b="1">
                <a:solidFill>
                  <a:srgbClr val="076DFC"/>
                </a:solidFill>
                <a:latin typeface="MiSans"/>
                <a:ea typeface="MiSans"/>
                <a:cs typeface="MiSans"/>
              </a:rPr>
              <a:t>02</a:t>
            </a:r>
            <a:endParaRPr sz="1100"/>
          </a:p>
        </p:txBody>
      </p:sp>
      <p:sp>
        <p:nvSpPr>
          <p:cNvPr id="15" name="s2-title">
            <a:extLst xmlns:a="http://schemas.openxmlformats.org/drawingml/2006/main">
              <a:ext uri="{FF2B5EF4-FFF2-40B4-BE49-F238E27FC236}">
                <a16:creationId xmlns:a16="http://schemas.microsoft.com/office/drawing/2014/main" id="{C7F5B6EA-C1B5-4395-AFF1-7A8BB7118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1914525"/>
            <a:ext cx="1638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/>
          <a:lstStyle xmlns:a="http://schemas.openxmlformats.org/drawingml/2006/main">
            <a:defPPr>
              <a:defRPr sz="1275" b="1">
                <a:solidFill>
                  <a:srgbClr val="14213D"/>
                </a:solidFill>
                <a:latin typeface="MiSans"/>
                <a:ea typeface="MiSans"/>
                <a:cs typeface="MiSans"/>
              </a:defRPr>
            </a:defPPr>
            <a:lvl1pPr>
              <a:buNone/>
              <a:defRPr sz="1275" b="1">
                <a:solidFill>
                  <a:srgbClr val="14213D"/>
                </a:solidFill>
                <a:latin typeface="MiSans"/>
                <a:ea typeface="MiSans"/>
                <a:cs typeface="MiSans"/>
              </a:defRPr>
            </a:lvl1pPr>
            <a:lvl2pPr>
              <a:buNone/>
              <a:defRPr sz="1275" b="1">
                <a:solidFill>
                  <a:srgbClr val="14213D"/>
                </a:solidFill>
                <a:latin typeface="MiSans"/>
                <a:ea typeface="MiSans"/>
                <a:cs typeface="MiSans"/>
              </a:defRPr>
            </a:lvl2pPr>
            <a:lvl3pPr>
              <a:buNone/>
              <a:defRPr sz="1275" b="1">
                <a:solidFill>
                  <a:srgbClr val="14213D"/>
                </a:solidFill>
                <a:latin typeface="MiSans"/>
                <a:ea typeface="MiSans"/>
                <a:cs typeface="MiSans"/>
              </a:defRPr>
            </a:lvl3pPr>
            <a:lvl4pPr>
              <a:buNone/>
              <a:defRPr sz="1275" b="1">
                <a:solidFill>
                  <a:srgbClr val="14213D"/>
                </a:solidFill>
                <a:latin typeface="MiSans"/>
                <a:ea typeface="MiSans"/>
                <a:cs typeface="MiSans"/>
              </a:defRPr>
            </a:lvl4pPr>
            <a:lvl5pPr>
              <a:buNone/>
              <a:defRPr sz="1275" b="1">
                <a:solidFill>
                  <a:srgbClr val="14213D"/>
                </a:solidFill>
                <a:latin typeface="MiSans"/>
                <a:ea typeface="MiSans"/>
                <a:cs typeface="MiSans"/>
              </a:defRPr>
            </a:lvl5pPr>
            <a:lvl6pPr>
              <a:buNone/>
              <a:defRPr sz="1275" b="1">
                <a:solidFill>
                  <a:srgbClr val="14213D"/>
                </a:solidFill>
                <a:latin typeface="MiSans"/>
                <a:ea typeface="MiSans"/>
                <a:cs typeface="MiSans"/>
              </a:defRPr>
            </a:lvl6pPr>
            <a:lvl7pPr>
              <a:buNone/>
              <a:defRPr sz="1275" b="1">
                <a:solidFill>
                  <a:srgbClr val="14213D"/>
                </a:solidFill>
                <a:latin typeface="MiSans"/>
                <a:ea typeface="MiSans"/>
                <a:cs typeface="MiSans"/>
              </a:defRPr>
            </a:lvl7pPr>
            <a:lvl8pPr>
              <a:buNone/>
              <a:defRPr sz="1275" b="1">
                <a:solidFill>
                  <a:srgbClr val="14213D"/>
                </a:solidFill>
                <a:latin typeface="MiSans"/>
                <a:ea typeface="MiSans"/>
                <a:cs typeface="MiSans"/>
              </a:defRPr>
            </a:lvl8pPr>
            <a:lvl9pPr>
              <a:buNone/>
              <a:defRPr sz="1275" b="1">
                <a:solidFill>
                  <a:srgbClr val="14213D"/>
                </a:solidFill>
                <a:latin typeface="MiSans"/>
                <a:ea typeface="MiSans"/>
                <a:cs typeface="MiSans"/>
              </a:defRPr>
            </a:lvl9pPr>
          </a:lstStyle>
          <a:p xmlns:a="http://schemas.openxmlformats.org/drawingml/2006/main">
            <a:pPr>
              <a:lnSpc>
                <a:spcPct val="120000"/>
              </a:lnSpc>
              <a:buNone/>
              <a:defRPr sz="1275" b="1">
                <a:solidFill>
                  <a:srgbClr val="14213D"/>
                </a:solidFill>
                <a:latin typeface="MiSans"/>
                <a:ea typeface="MiSans"/>
                <a:cs typeface="MiSans"/>
              </a:defRPr>
            </a:pPr>
            <a:r>
              <a:rPr sz="1275" b="1">
                <a:solidFill>
                  <a:srgbClr val="14213D"/>
                </a:solidFill>
                <a:latin typeface="MiSans"/>
                <a:ea typeface="MiSans"/>
                <a:cs typeface="MiSans"/>
              </a:rPr>
              <a:t>U-Net 可信基线</a:t>
            </a:r>
            <a:endParaRPr sz="1250"/>
          </a:p>
        </p:txBody>
      </p:sp>
      <p:sp>
        <p:nvSpPr>
          <p:cNvPr id="16" name="s2-desc">
            <a:extLst xmlns:a="http://schemas.openxmlformats.org/drawingml/2006/main">
              <a:ext uri="{FF2B5EF4-FFF2-40B4-BE49-F238E27FC236}">
                <a16:creationId xmlns:a16="http://schemas.microsoft.com/office/drawing/2014/main" id="{BEB8C665-63D5-4EF6-8733-D335A1D0A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286000"/>
            <a:ext cx="1638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1013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defPPr>
            <a:lvl1pPr>
              <a:buNone/>
              <a:defRPr sz="1013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1pPr>
            <a:lvl2pPr>
              <a:buNone/>
              <a:defRPr sz="1013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2pPr>
            <a:lvl3pPr>
              <a:buNone/>
              <a:defRPr sz="1013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3pPr>
            <a:lvl4pPr>
              <a:buNone/>
              <a:defRPr sz="1013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4pPr>
            <a:lvl5pPr>
              <a:buNone/>
              <a:defRPr sz="1013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5pPr>
            <a:lvl6pPr>
              <a:buNone/>
              <a:defRPr sz="1013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6pPr>
            <a:lvl7pPr>
              <a:buNone/>
              <a:defRPr sz="1013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7pPr>
            <a:lvl8pPr>
              <a:buNone/>
              <a:defRPr sz="1013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8pPr>
            <a:lvl9pPr>
              <a:buNone/>
              <a:defRPr sz="1013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9pPr>
          </a:lstStyle>
          <a:p xmlns:a="http://schemas.openxmlformats.org/drawingml/2006/main">
            <a:pPr algn="l">
              <a:lnSpc>
                <a:spcPct val="145000"/>
              </a:lnSpc>
              <a:buNone/>
              <a:defRPr sz="1013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pPr>
            <a:r>
              <a:rPr sz="1013" b="0">
                <a:solidFill>
                  <a:srgbClr val="3E506E"/>
                </a:solidFill>
                <a:latin typeface="MiSans"/>
                <a:ea typeface="MiSans"/>
                <a:cs typeface="MiSans"/>
              </a:rPr>
              <a:t>统一数据与评测框架下重测基线</a:t>
            </a:r>
            <a:endParaRPr sz="950"/>
          </a:p>
        </p:txBody>
      </p:sp>
      <p:sp>
        <p:nvSpPr>
          <p:cNvPr id="17" name="s2-check">
            <a:extLst xmlns:a="http://schemas.openxmlformats.org/drawingml/2006/main">
              <a:ext uri="{FF2B5EF4-FFF2-40B4-BE49-F238E27FC236}">
                <a16:creationId xmlns:a16="http://schemas.microsoft.com/office/drawing/2014/main" id="{D88C2018-9571-47AB-A201-8BA16EEAC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895600"/>
            <a:ext cx="177800" cy="177800"/>
          </a:xfrm>
          <a:custGeom xmlns:a="http://schemas.openxmlformats.org/drawingml/2006/main">
            <a:rect l="l" t="t" r="r" b="b"/>
            <a:pathLst>
              <a:path w="512" h="512">
                <a:moveTo>
                  <a:pt x="256" y="512"/>
                </a:moveTo>
                <a:cubicBezTo>
                  <a:pt x="115" y="512"/>
                  <a:pt x="0" y="397"/>
                  <a:pt x="0" y="256"/>
                </a:cubicBezTo>
                <a:cubicBezTo>
                  <a:pt x="0" y="115"/>
                  <a:pt x="115" y="0"/>
                  <a:pt x="256" y="0"/>
                </a:cubicBezTo>
                <a:cubicBezTo>
                  <a:pt x="397" y="0"/>
                  <a:pt x="512" y="115"/>
                  <a:pt x="512" y="256"/>
                </a:cubicBezTo>
                <a:cubicBezTo>
                  <a:pt x="512" y="397"/>
                  <a:pt x="397" y="512"/>
                  <a:pt x="256" y="512"/>
                </a:cubicBezTo>
                <a:close/>
                <a:moveTo>
                  <a:pt x="374" y="146"/>
                </a:moveTo>
                <a:cubicBezTo>
                  <a:pt x="363" y="138"/>
                  <a:pt x="348" y="140"/>
                  <a:pt x="341" y="151"/>
                </a:cubicBezTo>
                <a:lnTo>
                  <a:pt x="221" y="315"/>
                </a:lnTo>
                <a:lnTo>
                  <a:pt x="169" y="263"/>
                </a:lnTo>
                <a:cubicBezTo>
                  <a:pt x="160" y="254"/>
                  <a:pt x="144" y="254"/>
                  <a:pt x="135" y="263"/>
                </a:cubicBezTo>
                <a:cubicBezTo>
                  <a:pt x="126" y="273"/>
                  <a:pt x="126" y="288"/>
                  <a:pt x="135" y="297"/>
                </a:cubicBezTo>
                <a:lnTo>
                  <a:pt x="207" y="369"/>
                </a:lnTo>
                <a:cubicBezTo>
                  <a:pt x="212" y="374"/>
                  <a:pt x="219" y="377"/>
                  <a:pt x="226" y="376"/>
                </a:cubicBezTo>
                <a:cubicBezTo>
                  <a:pt x="233" y="376"/>
                  <a:pt x="239" y="372"/>
                  <a:pt x="243" y="366"/>
                </a:cubicBezTo>
                <a:lnTo>
                  <a:pt x="379" y="179"/>
                </a:lnTo>
                <a:cubicBezTo>
                  <a:pt x="387" y="169"/>
                  <a:pt x="385" y="154"/>
                  <a:pt x="374" y="146"/>
                </a:cubicBezTo>
                <a:close/>
              </a:path>
            </a:pathLst>
          </a:custGeom>
          <a:solidFill xmlns:a="http://schemas.openxmlformats.org/drawingml/2006/main">
            <a:srgbClr val="A8EB3F"/>
          </a:solidFill>
          <a:ln xmlns:a="http://schemas.openxmlformats.org/drawingml/2006/main">
            <a:noFill/>
          </a:ln>
        </p:spPr>
      </p:sp>
      <p:sp>
        <p:nvSpPr>
          <p:cNvPr id="18" name="s2-done">
            <a:extLst xmlns:a="http://schemas.openxmlformats.org/drawingml/2006/main">
              <a:ext uri="{FF2B5EF4-FFF2-40B4-BE49-F238E27FC236}">
                <a16:creationId xmlns:a16="http://schemas.microsoft.com/office/drawing/2014/main" id="{0F6F2655-C18C-4504-9E24-BE477FE6A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2867025"/>
            <a:ext cx="1333500" cy="20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>
              <a:defRPr sz="975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defPPr>
            <a:lvl1pPr>
              <a:buNone/>
              <a:defRPr sz="975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1pPr>
            <a:lvl2pPr>
              <a:buNone/>
              <a:defRPr sz="975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2pPr>
            <a:lvl3pPr>
              <a:buNone/>
              <a:defRPr sz="975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3pPr>
            <a:lvl4pPr>
              <a:buNone/>
              <a:defRPr sz="975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4pPr>
            <a:lvl5pPr>
              <a:buNone/>
              <a:defRPr sz="975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5pPr>
            <a:lvl6pPr>
              <a:buNone/>
              <a:defRPr sz="975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6pPr>
            <a:lvl7pPr>
              <a:buNone/>
              <a:defRPr sz="975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7pPr>
            <a:lvl8pPr>
              <a:buNone/>
              <a:defRPr sz="975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8pPr>
            <a:lvl9pPr>
              <a:buNone/>
              <a:defRPr sz="975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975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pPr>
            <a:r>
              <a:rPr sz="975" b="0">
                <a:solidFill>
                  <a:srgbClr val="3E506E"/>
                </a:solidFill>
                <a:latin typeface="MiSans"/>
                <a:ea typeface="MiSans"/>
                <a:cs typeface="MiSans"/>
              </a:rPr>
              <a:t>已完成</a:t>
            </a:r>
            <a:endParaRPr sz="1000"/>
          </a:p>
        </p:txBody>
      </p:sp>
      <p:sp>
        <p:nvSpPr>
          <p:cNvPr id="19" name="a2">
            <a:extLst xmlns:a="http://schemas.openxmlformats.org/drawingml/2006/main">
              <a:ext uri="{FF2B5EF4-FFF2-40B4-BE49-F238E27FC236}">
                <a16:creationId xmlns:a16="http://schemas.microsoft.com/office/drawing/2014/main" id="{A564C9B2-F5CF-45C1-90EC-8344B52ED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2047875"/>
            <a:ext cx="133350" cy="133350"/>
          </a:xfrm>
          <a:custGeom xmlns:a="http://schemas.openxmlformats.org/drawingml/2006/main">
            <a:rect l="l" t="t" r="r" b="b"/>
            <a:pathLst>
              <a:path w="256" h="512">
                <a:moveTo>
                  <a:pt x="247" y="233"/>
                </a:moveTo>
                <a:cubicBezTo>
                  <a:pt x="260" y="246"/>
                  <a:pt x="260" y="266"/>
                  <a:pt x="247" y="279"/>
                </a:cubicBezTo>
                <a:lnTo>
                  <a:pt x="87" y="439"/>
                </a:lnTo>
                <a:cubicBezTo>
                  <a:pt x="75" y="451"/>
                  <a:pt x="54" y="451"/>
                  <a:pt x="42" y="439"/>
                </a:cubicBezTo>
                <a:cubicBezTo>
                  <a:pt x="29" y="426"/>
                  <a:pt x="29" y="406"/>
                  <a:pt x="42" y="393"/>
                </a:cubicBezTo>
                <a:lnTo>
                  <a:pt x="179" y="256"/>
                </a:lnTo>
                <a:lnTo>
                  <a:pt x="42" y="119"/>
                </a:lnTo>
                <a:cubicBezTo>
                  <a:pt x="29" y="106"/>
                  <a:pt x="29" y="86"/>
                  <a:pt x="42" y="73"/>
                </a:cubicBezTo>
                <a:cubicBezTo>
                  <a:pt x="54" y="61"/>
                  <a:pt x="75" y="61"/>
                  <a:pt x="87" y="73"/>
                </a:cubicBezTo>
                <a:lnTo>
                  <a:pt x="247" y="233"/>
                </a:lnTo>
                <a:close/>
              </a:path>
            </a:pathLst>
          </a:custGeom>
          <a:solidFill xmlns:a="http://schemas.openxmlformats.org/drawingml/2006/main">
            <a:srgbClr val="AEC1DE"/>
          </a:solidFill>
          <a:ln xmlns:a="http://schemas.openxmlformats.org/drawingml/2006/main">
            <a:noFill/>
          </a:ln>
        </p:spPr>
      </p:sp>
      <p:sp>
        <p:nvSpPr>
          <p:cNvPr id="20" name="s3-box">
            <a:extLst xmlns:a="http://schemas.openxmlformats.org/drawingml/2006/main">
              <a:ext uri="{FF2B5EF4-FFF2-40B4-BE49-F238E27FC236}">
                <a16:creationId xmlns:a16="http://schemas.microsoft.com/office/drawing/2014/main" id="{4C194F9E-7FC1-48D5-A9CB-A4FC2B11A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1200" y="1498600"/>
            <a:ext cx="1625600" cy="304800"/>
          </a:xfrm>
          <a:prstGeom xmlns:a="http://schemas.openxmlformats.org/drawingml/2006/main" prst="roundRect">
            <a:avLst>
              <a:gd name="adj" fmla="val 10000"/>
            </a:avLst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1" name="s3-num">
            <a:extLst xmlns:a="http://schemas.openxmlformats.org/drawingml/2006/main">
              <a:ext uri="{FF2B5EF4-FFF2-40B4-BE49-F238E27FC236}">
                <a16:creationId xmlns:a16="http://schemas.microsoft.com/office/drawing/2014/main" id="{C268E618-3742-4DE2-8552-E3F8771C6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1390650"/>
            <a:ext cx="16383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2400" b="1">
                <a:solidFill>
                  <a:srgbClr val="076DFC"/>
                </a:solidFill>
                <a:latin typeface="MiSans"/>
                <a:ea typeface="MiSans"/>
                <a:cs typeface="MiSans"/>
              </a:defRPr>
            </a:defPPr>
            <a:lvl1pPr algn="l">
              <a:buNone/>
              <a:defRPr sz="2400" b="1">
                <a:solidFill>
                  <a:srgbClr val="076DFC"/>
                </a:solidFill>
                <a:latin typeface="MiSans"/>
                <a:ea typeface="MiSans"/>
                <a:cs typeface="MiSans"/>
              </a:defRPr>
            </a:lvl1pPr>
            <a:lvl2pPr algn="l">
              <a:buNone/>
              <a:defRPr sz="2400" b="1">
                <a:solidFill>
                  <a:srgbClr val="076DFC"/>
                </a:solidFill>
                <a:latin typeface="MiSans"/>
                <a:ea typeface="MiSans"/>
                <a:cs typeface="MiSans"/>
              </a:defRPr>
            </a:lvl2pPr>
            <a:lvl3pPr algn="l">
              <a:buNone/>
              <a:defRPr sz="2400" b="1">
                <a:solidFill>
                  <a:srgbClr val="076DFC"/>
                </a:solidFill>
                <a:latin typeface="MiSans"/>
                <a:ea typeface="MiSans"/>
                <a:cs typeface="MiSans"/>
              </a:defRPr>
            </a:lvl3pPr>
            <a:lvl4pPr algn="l">
              <a:buNone/>
              <a:defRPr sz="2400" b="1">
                <a:solidFill>
                  <a:srgbClr val="076DFC"/>
                </a:solidFill>
                <a:latin typeface="MiSans"/>
                <a:ea typeface="MiSans"/>
                <a:cs typeface="MiSans"/>
              </a:defRPr>
            </a:lvl4pPr>
            <a:lvl5pPr algn="l">
              <a:buNone/>
              <a:defRPr sz="2400" b="1">
                <a:solidFill>
                  <a:srgbClr val="076DFC"/>
                </a:solidFill>
                <a:latin typeface="MiSans"/>
                <a:ea typeface="MiSans"/>
                <a:cs typeface="MiSans"/>
              </a:defRPr>
            </a:lvl5pPr>
            <a:lvl6pPr algn="l">
              <a:buNone/>
              <a:defRPr sz="2400" b="1">
                <a:solidFill>
                  <a:srgbClr val="076DFC"/>
                </a:solidFill>
                <a:latin typeface="MiSans"/>
                <a:ea typeface="MiSans"/>
                <a:cs typeface="MiSans"/>
              </a:defRPr>
            </a:lvl6pPr>
            <a:lvl7pPr algn="l">
              <a:buNone/>
              <a:defRPr sz="2400" b="1">
                <a:solidFill>
                  <a:srgbClr val="076DFC"/>
                </a:solidFill>
                <a:latin typeface="MiSans"/>
                <a:ea typeface="MiSans"/>
                <a:cs typeface="MiSans"/>
              </a:defRPr>
            </a:lvl7pPr>
            <a:lvl8pPr algn="l">
              <a:buNone/>
              <a:defRPr sz="2400" b="1">
                <a:solidFill>
                  <a:srgbClr val="076DFC"/>
                </a:solidFill>
                <a:latin typeface="MiSans"/>
                <a:ea typeface="MiSans"/>
                <a:cs typeface="MiSans"/>
              </a:defRPr>
            </a:lvl8pPr>
            <a:lvl9pPr algn="l">
              <a:buNone/>
              <a:defRPr sz="2400" b="1">
                <a:solidFill>
                  <a:srgbClr val="076DFC"/>
                </a:solidFill>
                <a:latin typeface="MiSans"/>
                <a:ea typeface="MiSans"/>
                <a:cs typeface="MiSans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2400" b="1">
                <a:solidFill>
                  <a:srgbClr val="076DFC"/>
                </a:solidFill>
                <a:latin typeface="MiSans"/>
                <a:ea typeface="MiSans"/>
                <a:cs typeface="MiSans"/>
              </a:defRPr>
            </a:pPr>
            <a:r>
              <a:rPr sz="2400" b="1">
                <a:solidFill>
                  <a:srgbClr val="076DFC"/>
                </a:solidFill>
                <a:latin typeface="MiSans"/>
                <a:ea typeface="MiSans"/>
                <a:cs typeface="MiSans"/>
              </a:rPr>
              <a:t>03</a:t>
            </a:r>
            <a:endParaRPr sz="1100"/>
          </a:p>
        </p:txBody>
      </p:sp>
      <p:sp>
        <p:nvSpPr>
          <p:cNvPr id="22" name="s3-title">
            <a:extLst xmlns:a="http://schemas.openxmlformats.org/drawingml/2006/main">
              <a:ext uri="{FF2B5EF4-FFF2-40B4-BE49-F238E27FC236}">
                <a16:creationId xmlns:a16="http://schemas.microsoft.com/office/drawing/2014/main" id="{3ED2A21B-1587-4EA2-9E03-64801D948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1914525"/>
            <a:ext cx="1638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/>
          <a:lstStyle xmlns:a="http://schemas.openxmlformats.org/drawingml/2006/main">
            <a:defPPr>
              <a:defRPr sz="1275" b="1">
                <a:solidFill>
                  <a:srgbClr val="14213D"/>
                </a:solidFill>
                <a:latin typeface="MiSans"/>
                <a:ea typeface="MiSans"/>
                <a:cs typeface="MiSans"/>
              </a:defRPr>
            </a:defPPr>
            <a:lvl1pPr>
              <a:buNone/>
              <a:defRPr sz="1275" b="1">
                <a:solidFill>
                  <a:srgbClr val="14213D"/>
                </a:solidFill>
                <a:latin typeface="MiSans"/>
                <a:ea typeface="MiSans"/>
                <a:cs typeface="MiSans"/>
              </a:defRPr>
            </a:lvl1pPr>
            <a:lvl2pPr>
              <a:buNone/>
              <a:defRPr sz="1275" b="1">
                <a:solidFill>
                  <a:srgbClr val="14213D"/>
                </a:solidFill>
                <a:latin typeface="MiSans"/>
                <a:ea typeface="MiSans"/>
                <a:cs typeface="MiSans"/>
              </a:defRPr>
            </a:lvl2pPr>
            <a:lvl3pPr>
              <a:buNone/>
              <a:defRPr sz="1275" b="1">
                <a:solidFill>
                  <a:srgbClr val="14213D"/>
                </a:solidFill>
                <a:latin typeface="MiSans"/>
                <a:ea typeface="MiSans"/>
                <a:cs typeface="MiSans"/>
              </a:defRPr>
            </a:lvl3pPr>
            <a:lvl4pPr>
              <a:buNone/>
              <a:defRPr sz="1275" b="1">
                <a:solidFill>
                  <a:srgbClr val="14213D"/>
                </a:solidFill>
                <a:latin typeface="MiSans"/>
                <a:ea typeface="MiSans"/>
                <a:cs typeface="MiSans"/>
              </a:defRPr>
            </a:lvl4pPr>
            <a:lvl5pPr>
              <a:buNone/>
              <a:defRPr sz="1275" b="1">
                <a:solidFill>
                  <a:srgbClr val="14213D"/>
                </a:solidFill>
                <a:latin typeface="MiSans"/>
                <a:ea typeface="MiSans"/>
                <a:cs typeface="MiSans"/>
              </a:defRPr>
            </a:lvl5pPr>
            <a:lvl6pPr>
              <a:buNone/>
              <a:defRPr sz="1275" b="1">
                <a:solidFill>
                  <a:srgbClr val="14213D"/>
                </a:solidFill>
                <a:latin typeface="MiSans"/>
                <a:ea typeface="MiSans"/>
                <a:cs typeface="MiSans"/>
              </a:defRPr>
            </a:lvl6pPr>
            <a:lvl7pPr>
              <a:buNone/>
              <a:defRPr sz="1275" b="1">
                <a:solidFill>
                  <a:srgbClr val="14213D"/>
                </a:solidFill>
                <a:latin typeface="MiSans"/>
                <a:ea typeface="MiSans"/>
                <a:cs typeface="MiSans"/>
              </a:defRPr>
            </a:lvl7pPr>
            <a:lvl8pPr>
              <a:buNone/>
              <a:defRPr sz="1275" b="1">
                <a:solidFill>
                  <a:srgbClr val="14213D"/>
                </a:solidFill>
                <a:latin typeface="MiSans"/>
                <a:ea typeface="MiSans"/>
                <a:cs typeface="MiSans"/>
              </a:defRPr>
            </a:lvl8pPr>
            <a:lvl9pPr>
              <a:buNone/>
              <a:defRPr sz="1275" b="1">
                <a:solidFill>
                  <a:srgbClr val="14213D"/>
                </a:solidFill>
                <a:latin typeface="MiSans"/>
                <a:ea typeface="MiSans"/>
                <a:cs typeface="MiSans"/>
              </a:defRPr>
            </a:lvl9pPr>
          </a:lstStyle>
          <a:p xmlns:a="http://schemas.openxmlformats.org/drawingml/2006/main">
            <a:pPr>
              <a:lnSpc>
                <a:spcPct val="120000"/>
              </a:lnSpc>
              <a:buNone/>
              <a:defRPr sz="1275" b="1">
                <a:solidFill>
                  <a:srgbClr val="14213D"/>
                </a:solidFill>
                <a:latin typeface="MiSans"/>
                <a:ea typeface="MiSans"/>
                <a:cs typeface="MiSans"/>
              </a:defRPr>
            </a:pPr>
            <a:r>
              <a:rPr sz="1275" b="1">
                <a:solidFill>
                  <a:srgbClr val="14213D"/>
                </a:solidFill>
                <a:latin typeface="MiSans"/>
                <a:ea typeface="MiSans"/>
                <a:cs typeface="MiSans"/>
              </a:rPr>
              <a:t>B2 模型冻结</a:t>
            </a:r>
            <a:endParaRPr sz="1250"/>
          </a:p>
        </p:txBody>
      </p:sp>
      <p:sp>
        <p:nvSpPr>
          <p:cNvPr id="23" name="s3-desc">
            <a:extLst xmlns:a="http://schemas.openxmlformats.org/drawingml/2006/main">
              <a:ext uri="{FF2B5EF4-FFF2-40B4-BE49-F238E27FC236}">
                <a16:creationId xmlns:a16="http://schemas.microsoft.com/office/drawing/2014/main" id="{DA0E7338-1037-48A9-A8DE-1A1716E3A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286000"/>
            <a:ext cx="1638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1013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defPPr>
            <a:lvl1pPr>
              <a:buNone/>
              <a:defRPr sz="1013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1pPr>
            <a:lvl2pPr>
              <a:buNone/>
              <a:defRPr sz="1013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2pPr>
            <a:lvl3pPr>
              <a:buNone/>
              <a:defRPr sz="1013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3pPr>
            <a:lvl4pPr>
              <a:buNone/>
              <a:defRPr sz="1013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4pPr>
            <a:lvl5pPr>
              <a:buNone/>
              <a:defRPr sz="1013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5pPr>
            <a:lvl6pPr>
              <a:buNone/>
              <a:defRPr sz="1013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6pPr>
            <a:lvl7pPr>
              <a:buNone/>
              <a:defRPr sz="1013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7pPr>
            <a:lvl8pPr>
              <a:buNone/>
              <a:defRPr sz="1013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8pPr>
            <a:lvl9pPr>
              <a:buNone/>
              <a:defRPr sz="1013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9pPr>
          </a:lstStyle>
          <a:p xmlns:a="http://schemas.openxmlformats.org/drawingml/2006/main">
            <a:pPr algn="l">
              <a:lnSpc>
                <a:spcPct val="145000"/>
              </a:lnSpc>
              <a:buNone/>
              <a:defRPr sz="1013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pPr>
            <a:r>
              <a:rPr sz="1013" b="0">
                <a:solidFill>
                  <a:srgbClr val="3E506E"/>
                </a:solidFill>
                <a:latin typeface="MiSans"/>
                <a:ea typeface="MiSans"/>
                <a:cs typeface="MiSans"/>
              </a:rPr>
              <a:t>SegFormer-B2 阈值与模型卡留档</a:t>
            </a:r>
            <a:endParaRPr sz="950"/>
          </a:p>
        </p:txBody>
      </p:sp>
      <p:sp>
        <p:nvSpPr>
          <p:cNvPr id="24" name="s3-check">
            <a:extLst xmlns:a="http://schemas.openxmlformats.org/drawingml/2006/main">
              <a:ext uri="{FF2B5EF4-FFF2-40B4-BE49-F238E27FC236}">
                <a16:creationId xmlns:a16="http://schemas.microsoft.com/office/drawing/2014/main" id="{96E461A0-4ADB-4729-B410-8917AA04C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895600"/>
            <a:ext cx="177800" cy="177800"/>
          </a:xfrm>
          <a:custGeom xmlns:a="http://schemas.openxmlformats.org/drawingml/2006/main">
            <a:rect l="l" t="t" r="r" b="b"/>
            <a:pathLst>
              <a:path w="512" h="512">
                <a:moveTo>
                  <a:pt x="256" y="512"/>
                </a:moveTo>
                <a:cubicBezTo>
                  <a:pt x="115" y="512"/>
                  <a:pt x="0" y="397"/>
                  <a:pt x="0" y="256"/>
                </a:cubicBezTo>
                <a:cubicBezTo>
                  <a:pt x="0" y="115"/>
                  <a:pt x="115" y="0"/>
                  <a:pt x="256" y="0"/>
                </a:cubicBezTo>
                <a:cubicBezTo>
                  <a:pt x="397" y="0"/>
                  <a:pt x="512" y="115"/>
                  <a:pt x="512" y="256"/>
                </a:cubicBezTo>
                <a:cubicBezTo>
                  <a:pt x="512" y="397"/>
                  <a:pt x="397" y="512"/>
                  <a:pt x="256" y="512"/>
                </a:cubicBezTo>
                <a:close/>
                <a:moveTo>
                  <a:pt x="374" y="146"/>
                </a:moveTo>
                <a:cubicBezTo>
                  <a:pt x="363" y="138"/>
                  <a:pt x="348" y="140"/>
                  <a:pt x="341" y="151"/>
                </a:cubicBezTo>
                <a:lnTo>
                  <a:pt x="221" y="315"/>
                </a:lnTo>
                <a:lnTo>
                  <a:pt x="169" y="263"/>
                </a:lnTo>
                <a:cubicBezTo>
                  <a:pt x="160" y="254"/>
                  <a:pt x="144" y="254"/>
                  <a:pt x="135" y="263"/>
                </a:cubicBezTo>
                <a:cubicBezTo>
                  <a:pt x="126" y="273"/>
                  <a:pt x="126" y="288"/>
                  <a:pt x="135" y="297"/>
                </a:cubicBezTo>
                <a:lnTo>
                  <a:pt x="207" y="369"/>
                </a:lnTo>
                <a:cubicBezTo>
                  <a:pt x="212" y="374"/>
                  <a:pt x="219" y="377"/>
                  <a:pt x="226" y="376"/>
                </a:cubicBezTo>
                <a:cubicBezTo>
                  <a:pt x="233" y="376"/>
                  <a:pt x="239" y="372"/>
                  <a:pt x="243" y="366"/>
                </a:cubicBezTo>
                <a:lnTo>
                  <a:pt x="379" y="179"/>
                </a:lnTo>
                <a:cubicBezTo>
                  <a:pt x="387" y="169"/>
                  <a:pt x="385" y="154"/>
                  <a:pt x="374" y="146"/>
                </a:cubicBezTo>
                <a:close/>
              </a:path>
            </a:pathLst>
          </a:custGeom>
          <a:solidFill xmlns:a="http://schemas.openxmlformats.org/drawingml/2006/main">
            <a:srgbClr val="A8EB3F"/>
          </a:solidFill>
          <a:ln xmlns:a="http://schemas.openxmlformats.org/drawingml/2006/main">
            <a:noFill/>
          </a:ln>
        </p:spPr>
      </p:sp>
      <p:sp>
        <p:nvSpPr>
          <p:cNvPr id="25" name="s3-done">
            <a:extLst xmlns:a="http://schemas.openxmlformats.org/drawingml/2006/main">
              <a:ext uri="{FF2B5EF4-FFF2-40B4-BE49-F238E27FC236}">
                <a16:creationId xmlns:a16="http://schemas.microsoft.com/office/drawing/2014/main" id="{CFC1A464-AB1C-4E24-8FBA-ACA665FE6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2867025"/>
            <a:ext cx="1333500" cy="20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>
              <a:defRPr sz="975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defPPr>
            <a:lvl1pPr>
              <a:buNone/>
              <a:defRPr sz="975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1pPr>
            <a:lvl2pPr>
              <a:buNone/>
              <a:defRPr sz="975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2pPr>
            <a:lvl3pPr>
              <a:buNone/>
              <a:defRPr sz="975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3pPr>
            <a:lvl4pPr>
              <a:buNone/>
              <a:defRPr sz="975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4pPr>
            <a:lvl5pPr>
              <a:buNone/>
              <a:defRPr sz="975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5pPr>
            <a:lvl6pPr>
              <a:buNone/>
              <a:defRPr sz="975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6pPr>
            <a:lvl7pPr>
              <a:buNone/>
              <a:defRPr sz="975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7pPr>
            <a:lvl8pPr>
              <a:buNone/>
              <a:defRPr sz="975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8pPr>
            <a:lvl9pPr>
              <a:buNone/>
              <a:defRPr sz="975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975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pPr>
            <a:r>
              <a:rPr sz="975" b="0">
                <a:solidFill>
                  <a:srgbClr val="3E506E"/>
                </a:solidFill>
                <a:latin typeface="MiSans"/>
                <a:ea typeface="MiSans"/>
                <a:cs typeface="MiSans"/>
              </a:rPr>
              <a:t>已完成</a:t>
            </a:r>
            <a:endParaRPr sz="1000"/>
          </a:p>
        </p:txBody>
      </p:sp>
      <p:sp>
        <p:nvSpPr>
          <p:cNvPr id="26" name="a3">
            <a:extLst xmlns:a="http://schemas.openxmlformats.org/drawingml/2006/main">
              <a:ext uri="{FF2B5EF4-FFF2-40B4-BE49-F238E27FC236}">
                <a16:creationId xmlns:a16="http://schemas.microsoft.com/office/drawing/2014/main" id="{F5D994AC-69BC-48D9-8905-131059FF3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0275" y="2047875"/>
            <a:ext cx="133350" cy="133350"/>
          </a:xfrm>
          <a:custGeom xmlns:a="http://schemas.openxmlformats.org/drawingml/2006/main">
            <a:rect l="l" t="t" r="r" b="b"/>
            <a:pathLst>
              <a:path w="256" h="512">
                <a:moveTo>
                  <a:pt x="247" y="233"/>
                </a:moveTo>
                <a:cubicBezTo>
                  <a:pt x="260" y="246"/>
                  <a:pt x="260" y="266"/>
                  <a:pt x="247" y="279"/>
                </a:cubicBezTo>
                <a:lnTo>
                  <a:pt x="87" y="439"/>
                </a:lnTo>
                <a:cubicBezTo>
                  <a:pt x="75" y="451"/>
                  <a:pt x="54" y="451"/>
                  <a:pt x="42" y="439"/>
                </a:cubicBezTo>
                <a:cubicBezTo>
                  <a:pt x="29" y="426"/>
                  <a:pt x="29" y="406"/>
                  <a:pt x="42" y="393"/>
                </a:cubicBezTo>
                <a:lnTo>
                  <a:pt x="179" y="256"/>
                </a:lnTo>
                <a:lnTo>
                  <a:pt x="42" y="119"/>
                </a:lnTo>
                <a:cubicBezTo>
                  <a:pt x="29" y="106"/>
                  <a:pt x="29" y="86"/>
                  <a:pt x="42" y="73"/>
                </a:cubicBezTo>
                <a:cubicBezTo>
                  <a:pt x="54" y="61"/>
                  <a:pt x="75" y="61"/>
                  <a:pt x="87" y="73"/>
                </a:cubicBezTo>
                <a:lnTo>
                  <a:pt x="247" y="233"/>
                </a:lnTo>
                <a:close/>
              </a:path>
            </a:pathLst>
          </a:custGeom>
          <a:solidFill xmlns:a="http://schemas.openxmlformats.org/drawingml/2006/main">
            <a:srgbClr val="AEC1DE"/>
          </a:solidFill>
          <a:ln xmlns:a="http://schemas.openxmlformats.org/drawingml/2006/main">
            <a:noFill/>
          </a:ln>
        </p:spPr>
      </p:sp>
      <p:sp>
        <p:nvSpPr>
          <p:cNvPr id="27" name="s4-box">
            <a:extLst xmlns:a="http://schemas.openxmlformats.org/drawingml/2006/main">
              <a:ext uri="{FF2B5EF4-FFF2-40B4-BE49-F238E27FC236}">
                <a16:creationId xmlns:a16="http://schemas.microsoft.com/office/drawing/2014/main" id="{C456E761-7A4D-47F8-BE02-3B3B5491A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498600"/>
            <a:ext cx="1625600" cy="304800"/>
          </a:xfrm>
          <a:prstGeom xmlns:a="http://schemas.openxmlformats.org/drawingml/2006/main" prst="roundRect">
            <a:avLst>
              <a:gd name="adj" fmla="val 10000"/>
            </a:avLst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8" name="s4-num">
            <a:extLst xmlns:a="http://schemas.openxmlformats.org/drawingml/2006/main">
              <a:ext uri="{FF2B5EF4-FFF2-40B4-BE49-F238E27FC236}">
                <a16:creationId xmlns:a16="http://schemas.microsoft.com/office/drawing/2014/main" id="{4ADF4C86-83A4-4E8D-9889-96D2C70A5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390650"/>
            <a:ext cx="16383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2400" b="1">
                <a:solidFill>
                  <a:srgbClr val="076DFC"/>
                </a:solidFill>
                <a:latin typeface="MiSans"/>
                <a:ea typeface="MiSans"/>
                <a:cs typeface="MiSans"/>
              </a:defRPr>
            </a:defPPr>
            <a:lvl1pPr algn="l">
              <a:buNone/>
              <a:defRPr sz="2400" b="1">
                <a:solidFill>
                  <a:srgbClr val="076DFC"/>
                </a:solidFill>
                <a:latin typeface="MiSans"/>
                <a:ea typeface="MiSans"/>
                <a:cs typeface="MiSans"/>
              </a:defRPr>
            </a:lvl1pPr>
            <a:lvl2pPr algn="l">
              <a:buNone/>
              <a:defRPr sz="2400" b="1">
                <a:solidFill>
                  <a:srgbClr val="076DFC"/>
                </a:solidFill>
                <a:latin typeface="MiSans"/>
                <a:ea typeface="MiSans"/>
                <a:cs typeface="MiSans"/>
              </a:defRPr>
            </a:lvl2pPr>
            <a:lvl3pPr algn="l">
              <a:buNone/>
              <a:defRPr sz="2400" b="1">
                <a:solidFill>
                  <a:srgbClr val="076DFC"/>
                </a:solidFill>
                <a:latin typeface="MiSans"/>
                <a:ea typeface="MiSans"/>
                <a:cs typeface="MiSans"/>
              </a:defRPr>
            </a:lvl3pPr>
            <a:lvl4pPr algn="l">
              <a:buNone/>
              <a:defRPr sz="2400" b="1">
                <a:solidFill>
                  <a:srgbClr val="076DFC"/>
                </a:solidFill>
                <a:latin typeface="MiSans"/>
                <a:ea typeface="MiSans"/>
                <a:cs typeface="MiSans"/>
              </a:defRPr>
            </a:lvl4pPr>
            <a:lvl5pPr algn="l">
              <a:buNone/>
              <a:defRPr sz="2400" b="1">
                <a:solidFill>
                  <a:srgbClr val="076DFC"/>
                </a:solidFill>
                <a:latin typeface="MiSans"/>
                <a:ea typeface="MiSans"/>
                <a:cs typeface="MiSans"/>
              </a:defRPr>
            </a:lvl5pPr>
            <a:lvl6pPr algn="l">
              <a:buNone/>
              <a:defRPr sz="2400" b="1">
                <a:solidFill>
                  <a:srgbClr val="076DFC"/>
                </a:solidFill>
                <a:latin typeface="MiSans"/>
                <a:ea typeface="MiSans"/>
                <a:cs typeface="MiSans"/>
              </a:defRPr>
            </a:lvl6pPr>
            <a:lvl7pPr algn="l">
              <a:buNone/>
              <a:defRPr sz="2400" b="1">
                <a:solidFill>
                  <a:srgbClr val="076DFC"/>
                </a:solidFill>
                <a:latin typeface="MiSans"/>
                <a:ea typeface="MiSans"/>
                <a:cs typeface="MiSans"/>
              </a:defRPr>
            </a:lvl7pPr>
            <a:lvl8pPr algn="l">
              <a:buNone/>
              <a:defRPr sz="2400" b="1">
                <a:solidFill>
                  <a:srgbClr val="076DFC"/>
                </a:solidFill>
                <a:latin typeface="MiSans"/>
                <a:ea typeface="MiSans"/>
                <a:cs typeface="MiSans"/>
              </a:defRPr>
            </a:lvl8pPr>
            <a:lvl9pPr algn="l">
              <a:buNone/>
              <a:defRPr sz="2400" b="1">
                <a:solidFill>
                  <a:srgbClr val="076DFC"/>
                </a:solidFill>
                <a:latin typeface="MiSans"/>
                <a:ea typeface="MiSans"/>
                <a:cs typeface="MiSans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2400" b="1">
                <a:solidFill>
                  <a:srgbClr val="076DFC"/>
                </a:solidFill>
                <a:latin typeface="MiSans"/>
                <a:ea typeface="MiSans"/>
                <a:cs typeface="MiSans"/>
              </a:defRPr>
            </a:pPr>
            <a:r>
              <a:rPr sz="2400" b="1">
                <a:solidFill>
                  <a:srgbClr val="076DFC"/>
                </a:solidFill>
                <a:latin typeface="MiSans"/>
                <a:ea typeface="MiSans"/>
                <a:cs typeface="MiSans"/>
              </a:rPr>
              <a:t>04</a:t>
            </a:r>
            <a:endParaRPr sz="1100"/>
          </a:p>
        </p:txBody>
      </p:sp>
      <p:sp>
        <p:nvSpPr>
          <p:cNvPr id="29" name="s4-title">
            <a:extLst xmlns:a="http://schemas.openxmlformats.org/drawingml/2006/main">
              <a:ext uri="{FF2B5EF4-FFF2-40B4-BE49-F238E27FC236}">
                <a16:creationId xmlns:a16="http://schemas.microsoft.com/office/drawing/2014/main" id="{18CC1AAD-73F6-41F9-A589-5A9D6507F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914525"/>
            <a:ext cx="1638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/>
          <a:lstStyle xmlns:a="http://schemas.openxmlformats.org/drawingml/2006/main">
            <a:defPPr>
              <a:defRPr sz="1275" b="1">
                <a:solidFill>
                  <a:srgbClr val="14213D"/>
                </a:solidFill>
                <a:latin typeface="MiSans"/>
                <a:ea typeface="MiSans"/>
                <a:cs typeface="MiSans"/>
              </a:defRPr>
            </a:defPPr>
            <a:lvl1pPr>
              <a:buNone/>
              <a:defRPr sz="1275" b="1">
                <a:solidFill>
                  <a:srgbClr val="14213D"/>
                </a:solidFill>
                <a:latin typeface="MiSans"/>
                <a:ea typeface="MiSans"/>
                <a:cs typeface="MiSans"/>
              </a:defRPr>
            </a:lvl1pPr>
            <a:lvl2pPr>
              <a:buNone/>
              <a:defRPr sz="1275" b="1">
                <a:solidFill>
                  <a:srgbClr val="14213D"/>
                </a:solidFill>
                <a:latin typeface="MiSans"/>
                <a:ea typeface="MiSans"/>
                <a:cs typeface="MiSans"/>
              </a:defRPr>
            </a:lvl2pPr>
            <a:lvl3pPr>
              <a:buNone/>
              <a:defRPr sz="1275" b="1">
                <a:solidFill>
                  <a:srgbClr val="14213D"/>
                </a:solidFill>
                <a:latin typeface="MiSans"/>
                <a:ea typeface="MiSans"/>
                <a:cs typeface="MiSans"/>
              </a:defRPr>
            </a:lvl3pPr>
            <a:lvl4pPr>
              <a:buNone/>
              <a:defRPr sz="1275" b="1">
                <a:solidFill>
                  <a:srgbClr val="14213D"/>
                </a:solidFill>
                <a:latin typeface="MiSans"/>
                <a:ea typeface="MiSans"/>
                <a:cs typeface="MiSans"/>
              </a:defRPr>
            </a:lvl4pPr>
            <a:lvl5pPr>
              <a:buNone/>
              <a:defRPr sz="1275" b="1">
                <a:solidFill>
                  <a:srgbClr val="14213D"/>
                </a:solidFill>
                <a:latin typeface="MiSans"/>
                <a:ea typeface="MiSans"/>
                <a:cs typeface="MiSans"/>
              </a:defRPr>
            </a:lvl5pPr>
            <a:lvl6pPr>
              <a:buNone/>
              <a:defRPr sz="1275" b="1">
                <a:solidFill>
                  <a:srgbClr val="14213D"/>
                </a:solidFill>
                <a:latin typeface="MiSans"/>
                <a:ea typeface="MiSans"/>
                <a:cs typeface="MiSans"/>
              </a:defRPr>
            </a:lvl6pPr>
            <a:lvl7pPr>
              <a:buNone/>
              <a:defRPr sz="1275" b="1">
                <a:solidFill>
                  <a:srgbClr val="14213D"/>
                </a:solidFill>
                <a:latin typeface="MiSans"/>
                <a:ea typeface="MiSans"/>
                <a:cs typeface="MiSans"/>
              </a:defRPr>
            </a:lvl7pPr>
            <a:lvl8pPr>
              <a:buNone/>
              <a:defRPr sz="1275" b="1">
                <a:solidFill>
                  <a:srgbClr val="14213D"/>
                </a:solidFill>
                <a:latin typeface="MiSans"/>
                <a:ea typeface="MiSans"/>
                <a:cs typeface="MiSans"/>
              </a:defRPr>
            </a:lvl8pPr>
            <a:lvl9pPr>
              <a:buNone/>
              <a:defRPr sz="1275" b="1">
                <a:solidFill>
                  <a:srgbClr val="14213D"/>
                </a:solidFill>
                <a:latin typeface="MiSans"/>
                <a:ea typeface="MiSans"/>
                <a:cs typeface="MiSans"/>
              </a:defRPr>
            </a:lvl9pPr>
          </a:lstStyle>
          <a:p xmlns:a="http://schemas.openxmlformats.org/drawingml/2006/main">
            <a:pPr>
              <a:lnSpc>
                <a:spcPct val="120000"/>
              </a:lnSpc>
              <a:buNone/>
              <a:defRPr sz="1275" b="1">
                <a:solidFill>
                  <a:srgbClr val="14213D"/>
                </a:solidFill>
                <a:latin typeface="MiSans"/>
                <a:ea typeface="MiSans"/>
                <a:cs typeface="MiSans"/>
              </a:defRPr>
            </a:pPr>
            <a:r>
              <a:rPr sz="1275" b="1">
                <a:solidFill>
                  <a:srgbClr val="14213D"/>
                </a:solidFill>
                <a:latin typeface="MiSans"/>
                <a:ea typeface="MiSans"/>
                <a:cs typeface="MiSans"/>
              </a:rPr>
              <a:t>对齐与结构评分</a:t>
            </a:r>
            <a:endParaRPr sz="1250"/>
          </a:p>
        </p:txBody>
      </p:sp>
      <p:sp>
        <p:nvSpPr>
          <p:cNvPr id="30" name="s4-desc">
            <a:extLst xmlns:a="http://schemas.openxmlformats.org/drawingml/2006/main">
              <a:ext uri="{FF2B5EF4-FFF2-40B4-BE49-F238E27FC236}">
                <a16:creationId xmlns:a16="http://schemas.microsoft.com/office/drawing/2014/main" id="{7E0952EA-5BE6-4945-8FF2-93043F7AA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286000"/>
            <a:ext cx="1638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1013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defPPr>
            <a:lvl1pPr>
              <a:buNone/>
              <a:defRPr sz="1013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1pPr>
            <a:lvl2pPr>
              <a:buNone/>
              <a:defRPr sz="1013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2pPr>
            <a:lvl3pPr>
              <a:buNone/>
              <a:defRPr sz="1013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3pPr>
            <a:lvl4pPr>
              <a:buNone/>
              <a:defRPr sz="1013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4pPr>
            <a:lvl5pPr>
              <a:buNone/>
              <a:defRPr sz="1013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5pPr>
            <a:lvl6pPr>
              <a:buNone/>
              <a:defRPr sz="1013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6pPr>
            <a:lvl7pPr>
              <a:buNone/>
              <a:defRPr sz="1013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7pPr>
            <a:lvl8pPr>
              <a:buNone/>
              <a:defRPr sz="1013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8pPr>
            <a:lvl9pPr>
              <a:buNone/>
              <a:defRPr sz="1013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9pPr>
          </a:lstStyle>
          <a:p xmlns:a="http://schemas.openxmlformats.org/drawingml/2006/main">
            <a:pPr algn="l">
              <a:lnSpc>
                <a:spcPct val="145000"/>
              </a:lnSpc>
              <a:buNone/>
              <a:defRPr sz="1013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pPr>
            <a:r>
              <a:rPr sz="1013" b="0">
                <a:solidFill>
                  <a:srgbClr val="3E506E"/>
                </a:solidFill>
                <a:latin typeface="MiSans"/>
                <a:ea typeface="MiSans"/>
                <a:cs typeface="MiSans"/>
              </a:rPr>
              <a:t>受限对齐 + 参考结构匹配度</a:t>
            </a:r>
            <a:endParaRPr sz="950"/>
          </a:p>
        </p:txBody>
      </p:sp>
      <p:sp>
        <p:nvSpPr>
          <p:cNvPr id="31" name="s4-check">
            <a:extLst xmlns:a="http://schemas.openxmlformats.org/drawingml/2006/main">
              <a:ext uri="{FF2B5EF4-FFF2-40B4-BE49-F238E27FC236}">
                <a16:creationId xmlns:a16="http://schemas.microsoft.com/office/drawing/2014/main" id="{C3560A22-840F-48F3-B4E0-3CCD94CA1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895600"/>
            <a:ext cx="177800" cy="177800"/>
          </a:xfrm>
          <a:custGeom xmlns:a="http://schemas.openxmlformats.org/drawingml/2006/main">
            <a:rect l="l" t="t" r="r" b="b"/>
            <a:pathLst>
              <a:path w="512" h="512">
                <a:moveTo>
                  <a:pt x="256" y="512"/>
                </a:moveTo>
                <a:cubicBezTo>
                  <a:pt x="115" y="512"/>
                  <a:pt x="0" y="397"/>
                  <a:pt x="0" y="256"/>
                </a:cubicBezTo>
                <a:cubicBezTo>
                  <a:pt x="0" y="115"/>
                  <a:pt x="115" y="0"/>
                  <a:pt x="256" y="0"/>
                </a:cubicBezTo>
                <a:cubicBezTo>
                  <a:pt x="397" y="0"/>
                  <a:pt x="512" y="115"/>
                  <a:pt x="512" y="256"/>
                </a:cubicBezTo>
                <a:cubicBezTo>
                  <a:pt x="512" y="397"/>
                  <a:pt x="397" y="512"/>
                  <a:pt x="256" y="512"/>
                </a:cubicBezTo>
                <a:close/>
                <a:moveTo>
                  <a:pt x="374" y="146"/>
                </a:moveTo>
                <a:cubicBezTo>
                  <a:pt x="363" y="138"/>
                  <a:pt x="348" y="140"/>
                  <a:pt x="341" y="151"/>
                </a:cubicBezTo>
                <a:lnTo>
                  <a:pt x="221" y="315"/>
                </a:lnTo>
                <a:lnTo>
                  <a:pt x="169" y="263"/>
                </a:lnTo>
                <a:cubicBezTo>
                  <a:pt x="160" y="254"/>
                  <a:pt x="144" y="254"/>
                  <a:pt x="135" y="263"/>
                </a:cubicBezTo>
                <a:cubicBezTo>
                  <a:pt x="126" y="273"/>
                  <a:pt x="126" y="288"/>
                  <a:pt x="135" y="297"/>
                </a:cubicBezTo>
                <a:lnTo>
                  <a:pt x="207" y="369"/>
                </a:lnTo>
                <a:cubicBezTo>
                  <a:pt x="212" y="374"/>
                  <a:pt x="219" y="377"/>
                  <a:pt x="226" y="376"/>
                </a:cubicBezTo>
                <a:cubicBezTo>
                  <a:pt x="233" y="376"/>
                  <a:pt x="239" y="372"/>
                  <a:pt x="243" y="366"/>
                </a:cubicBezTo>
                <a:lnTo>
                  <a:pt x="379" y="179"/>
                </a:lnTo>
                <a:cubicBezTo>
                  <a:pt x="387" y="169"/>
                  <a:pt x="385" y="154"/>
                  <a:pt x="374" y="146"/>
                </a:cubicBezTo>
                <a:close/>
              </a:path>
            </a:pathLst>
          </a:custGeom>
          <a:solidFill xmlns:a="http://schemas.openxmlformats.org/drawingml/2006/main">
            <a:srgbClr val="A8EB3F"/>
          </a:solidFill>
          <a:ln xmlns:a="http://schemas.openxmlformats.org/drawingml/2006/main">
            <a:noFill/>
          </a:ln>
        </p:spPr>
      </p:sp>
      <p:sp>
        <p:nvSpPr>
          <p:cNvPr id="32" name="s4-done">
            <a:extLst xmlns:a="http://schemas.openxmlformats.org/drawingml/2006/main">
              <a:ext uri="{FF2B5EF4-FFF2-40B4-BE49-F238E27FC236}">
                <a16:creationId xmlns:a16="http://schemas.microsoft.com/office/drawing/2014/main" id="{B9F5F5C0-A366-4854-BA2D-7B6903660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2867025"/>
            <a:ext cx="1333500" cy="20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>
              <a:defRPr sz="975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defPPr>
            <a:lvl1pPr>
              <a:buNone/>
              <a:defRPr sz="975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1pPr>
            <a:lvl2pPr>
              <a:buNone/>
              <a:defRPr sz="975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2pPr>
            <a:lvl3pPr>
              <a:buNone/>
              <a:defRPr sz="975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3pPr>
            <a:lvl4pPr>
              <a:buNone/>
              <a:defRPr sz="975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4pPr>
            <a:lvl5pPr>
              <a:buNone/>
              <a:defRPr sz="975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5pPr>
            <a:lvl6pPr>
              <a:buNone/>
              <a:defRPr sz="975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6pPr>
            <a:lvl7pPr>
              <a:buNone/>
              <a:defRPr sz="975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7pPr>
            <a:lvl8pPr>
              <a:buNone/>
              <a:defRPr sz="975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8pPr>
            <a:lvl9pPr>
              <a:buNone/>
              <a:defRPr sz="975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975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pPr>
            <a:r>
              <a:rPr sz="975" b="0">
                <a:solidFill>
                  <a:srgbClr val="3E506E"/>
                </a:solidFill>
                <a:latin typeface="MiSans"/>
                <a:ea typeface="MiSans"/>
                <a:cs typeface="MiSans"/>
              </a:rPr>
              <a:t>已完成</a:t>
            </a:r>
            <a:endParaRPr sz="1000"/>
          </a:p>
        </p:txBody>
      </p:sp>
      <p:sp>
        <p:nvSpPr>
          <p:cNvPr id="33" name="a4">
            <a:extLst xmlns:a="http://schemas.openxmlformats.org/drawingml/2006/main">
              <a:ext uri="{FF2B5EF4-FFF2-40B4-BE49-F238E27FC236}">
                <a16:creationId xmlns:a16="http://schemas.microsoft.com/office/drawing/2014/main" id="{36D67A53-739D-4EE5-B7E2-3728DB8F7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7175" y="2047875"/>
            <a:ext cx="133350" cy="133350"/>
          </a:xfrm>
          <a:custGeom xmlns:a="http://schemas.openxmlformats.org/drawingml/2006/main">
            <a:rect l="l" t="t" r="r" b="b"/>
            <a:pathLst>
              <a:path w="256" h="512">
                <a:moveTo>
                  <a:pt x="247" y="233"/>
                </a:moveTo>
                <a:cubicBezTo>
                  <a:pt x="260" y="246"/>
                  <a:pt x="260" y="266"/>
                  <a:pt x="247" y="279"/>
                </a:cubicBezTo>
                <a:lnTo>
                  <a:pt x="87" y="439"/>
                </a:lnTo>
                <a:cubicBezTo>
                  <a:pt x="75" y="451"/>
                  <a:pt x="54" y="451"/>
                  <a:pt x="42" y="439"/>
                </a:cubicBezTo>
                <a:cubicBezTo>
                  <a:pt x="29" y="426"/>
                  <a:pt x="29" y="406"/>
                  <a:pt x="42" y="393"/>
                </a:cubicBezTo>
                <a:lnTo>
                  <a:pt x="179" y="256"/>
                </a:lnTo>
                <a:lnTo>
                  <a:pt x="42" y="119"/>
                </a:lnTo>
                <a:cubicBezTo>
                  <a:pt x="29" y="106"/>
                  <a:pt x="29" y="86"/>
                  <a:pt x="42" y="73"/>
                </a:cubicBezTo>
                <a:cubicBezTo>
                  <a:pt x="54" y="61"/>
                  <a:pt x="75" y="61"/>
                  <a:pt x="87" y="73"/>
                </a:cubicBezTo>
                <a:lnTo>
                  <a:pt x="247" y="233"/>
                </a:lnTo>
                <a:close/>
              </a:path>
            </a:pathLst>
          </a:custGeom>
          <a:solidFill xmlns:a="http://schemas.openxmlformats.org/drawingml/2006/main">
            <a:srgbClr val="AEC1DE"/>
          </a:solidFill>
          <a:ln xmlns:a="http://schemas.openxmlformats.org/drawingml/2006/main">
            <a:noFill/>
          </a:ln>
        </p:spPr>
      </p:sp>
      <p:sp>
        <p:nvSpPr>
          <p:cNvPr id="34" name="s5-box">
            <a:extLst xmlns:a="http://schemas.openxmlformats.org/drawingml/2006/main">
              <a:ext uri="{FF2B5EF4-FFF2-40B4-BE49-F238E27FC236}">
                <a16:creationId xmlns:a16="http://schemas.microsoft.com/office/drawing/2014/main" id="{B6C80A0D-433F-4455-9670-09648385F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2800" y="1498600"/>
            <a:ext cx="1625600" cy="304800"/>
          </a:xfrm>
          <a:prstGeom xmlns:a="http://schemas.openxmlformats.org/drawingml/2006/main" prst="roundRect">
            <a:avLst>
              <a:gd name="adj" fmla="val 10000"/>
            </a:avLst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5" name="s5-num">
            <a:extLst xmlns:a="http://schemas.openxmlformats.org/drawingml/2006/main">
              <a:ext uri="{FF2B5EF4-FFF2-40B4-BE49-F238E27FC236}">
                <a16:creationId xmlns:a16="http://schemas.microsoft.com/office/drawing/2014/main" id="{8653BE33-4A5B-4C39-AE61-945408E57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1390650"/>
            <a:ext cx="16383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2400" b="1">
                <a:solidFill>
                  <a:srgbClr val="076DFC"/>
                </a:solidFill>
                <a:latin typeface="MiSans"/>
                <a:ea typeface="MiSans"/>
                <a:cs typeface="MiSans"/>
              </a:defRPr>
            </a:defPPr>
            <a:lvl1pPr algn="l">
              <a:buNone/>
              <a:defRPr sz="2400" b="1">
                <a:solidFill>
                  <a:srgbClr val="076DFC"/>
                </a:solidFill>
                <a:latin typeface="MiSans"/>
                <a:ea typeface="MiSans"/>
                <a:cs typeface="MiSans"/>
              </a:defRPr>
            </a:lvl1pPr>
            <a:lvl2pPr algn="l">
              <a:buNone/>
              <a:defRPr sz="2400" b="1">
                <a:solidFill>
                  <a:srgbClr val="076DFC"/>
                </a:solidFill>
                <a:latin typeface="MiSans"/>
                <a:ea typeface="MiSans"/>
                <a:cs typeface="MiSans"/>
              </a:defRPr>
            </a:lvl2pPr>
            <a:lvl3pPr algn="l">
              <a:buNone/>
              <a:defRPr sz="2400" b="1">
                <a:solidFill>
                  <a:srgbClr val="076DFC"/>
                </a:solidFill>
                <a:latin typeface="MiSans"/>
                <a:ea typeface="MiSans"/>
                <a:cs typeface="MiSans"/>
              </a:defRPr>
            </a:lvl3pPr>
            <a:lvl4pPr algn="l">
              <a:buNone/>
              <a:defRPr sz="2400" b="1">
                <a:solidFill>
                  <a:srgbClr val="076DFC"/>
                </a:solidFill>
                <a:latin typeface="MiSans"/>
                <a:ea typeface="MiSans"/>
                <a:cs typeface="MiSans"/>
              </a:defRPr>
            </a:lvl4pPr>
            <a:lvl5pPr algn="l">
              <a:buNone/>
              <a:defRPr sz="2400" b="1">
                <a:solidFill>
                  <a:srgbClr val="076DFC"/>
                </a:solidFill>
                <a:latin typeface="MiSans"/>
                <a:ea typeface="MiSans"/>
                <a:cs typeface="MiSans"/>
              </a:defRPr>
            </a:lvl5pPr>
            <a:lvl6pPr algn="l">
              <a:buNone/>
              <a:defRPr sz="2400" b="1">
                <a:solidFill>
                  <a:srgbClr val="076DFC"/>
                </a:solidFill>
                <a:latin typeface="MiSans"/>
                <a:ea typeface="MiSans"/>
                <a:cs typeface="MiSans"/>
              </a:defRPr>
            </a:lvl6pPr>
            <a:lvl7pPr algn="l">
              <a:buNone/>
              <a:defRPr sz="2400" b="1">
                <a:solidFill>
                  <a:srgbClr val="076DFC"/>
                </a:solidFill>
                <a:latin typeface="MiSans"/>
                <a:ea typeface="MiSans"/>
                <a:cs typeface="MiSans"/>
              </a:defRPr>
            </a:lvl7pPr>
            <a:lvl8pPr algn="l">
              <a:buNone/>
              <a:defRPr sz="2400" b="1">
                <a:solidFill>
                  <a:srgbClr val="076DFC"/>
                </a:solidFill>
                <a:latin typeface="MiSans"/>
                <a:ea typeface="MiSans"/>
                <a:cs typeface="MiSans"/>
              </a:defRPr>
            </a:lvl8pPr>
            <a:lvl9pPr algn="l">
              <a:buNone/>
              <a:defRPr sz="2400" b="1">
                <a:solidFill>
                  <a:srgbClr val="076DFC"/>
                </a:solidFill>
                <a:latin typeface="MiSans"/>
                <a:ea typeface="MiSans"/>
                <a:cs typeface="MiSans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2400" b="1">
                <a:solidFill>
                  <a:srgbClr val="076DFC"/>
                </a:solidFill>
                <a:latin typeface="MiSans"/>
                <a:ea typeface="MiSans"/>
                <a:cs typeface="MiSans"/>
              </a:defRPr>
            </a:pPr>
            <a:r>
              <a:rPr sz="2400" b="1">
                <a:solidFill>
                  <a:srgbClr val="076DFC"/>
                </a:solidFill>
                <a:latin typeface="MiSans"/>
                <a:ea typeface="MiSans"/>
                <a:cs typeface="MiSans"/>
              </a:rPr>
              <a:t>05</a:t>
            </a:r>
            <a:endParaRPr sz="1100"/>
          </a:p>
        </p:txBody>
      </p:sp>
      <p:sp>
        <p:nvSpPr>
          <p:cNvPr id="36" name="s5-title">
            <a:extLst xmlns:a="http://schemas.openxmlformats.org/drawingml/2006/main">
              <a:ext uri="{FF2B5EF4-FFF2-40B4-BE49-F238E27FC236}">
                <a16:creationId xmlns:a16="http://schemas.microsoft.com/office/drawing/2014/main" id="{B833754B-EC36-4FB5-A4A1-4279C5E1E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1914525"/>
            <a:ext cx="1638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/>
          <a:lstStyle xmlns:a="http://schemas.openxmlformats.org/drawingml/2006/main">
            <a:defPPr>
              <a:defRPr sz="1275" b="1">
                <a:solidFill>
                  <a:srgbClr val="14213D"/>
                </a:solidFill>
                <a:latin typeface="MiSans"/>
                <a:ea typeface="MiSans"/>
                <a:cs typeface="MiSans"/>
              </a:defRPr>
            </a:defPPr>
            <a:lvl1pPr>
              <a:buNone/>
              <a:defRPr sz="1275" b="1">
                <a:solidFill>
                  <a:srgbClr val="14213D"/>
                </a:solidFill>
                <a:latin typeface="MiSans"/>
                <a:ea typeface="MiSans"/>
                <a:cs typeface="MiSans"/>
              </a:defRPr>
            </a:lvl1pPr>
            <a:lvl2pPr>
              <a:buNone/>
              <a:defRPr sz="1275" b="1">
                <a:solidFill>
                  <a:srgbClr val="14213D"/>
                </a:solidFill>
                <a:latin typeface="MiSans"/>
                <a:ea typeface="MiSans"/>
                <a:cs typeface="MiSans"/>
              </a:defRPr>
            </a:lvl2pPr>
            <a:lvl3pPr>
              <a:buNone/>
              <a:defRPr sz="1275" b="1">
                <a:solidFill>
                  <a:srgbClr val="14213D"/>
                </a:solidFill>
                <a:latin typeface="MiSans"/>
                <a:ea typeface="MiSans"/>
                <a:cs typeface="MiSans"/>
              </a:defRPr>
            </a:lvl3pPr>
            <a:lvl4pPr>
              <a:buNone/>
              <a:defRPr sz="1275" b="1">
                <a:solidFill>
                  <a:srgbClr val="14213D"/>
                </a:solidFill>
                <a:latin typeface="MiSans"/>
                <a:ea typeface="MiSans"/>
                <a:cs typeface="MiSans"/>
              </a:defRPr>
            </a:lvl4pPr>
            <a:lvl5pPr>
              <a:buNone/>
              <a:defRPr sz="1275" b="1">
                <a:solidFill>
                  <a:srgbClr val="14213D"/>
                </a:solidFill>
                <a:latin typeface="MiSans"/>
                <a:ea typeface="MiSans"/>
                <a:cs typeface="MiSans"/>
              </a:defRPr>
            </a:lvl5pPr>
            <a:lvl6pPr>
              <a:buNone/>
              <a:defRPr sz="1275" b="1">
                <a:solidFill>
                  <a:srgbClr val="14213D"/>
                </a:solidFill>
                <a:latin typeface="MiSans"/>
                <a:ea typeface="MiSans"/>
                <a:cs typeface="MiSans"/>
              </a:defRPr>
            </a:lvl6pPr>
            <a:lvl7pPr>
              <a:buNone/>
              <a:defRPr sz="1275" b="1">
                <a:solidFill>
                  <a:srgbClr val="14213D"/>
                </a:solidFill>
                <a:latin typeface="MiSans"/>
                <a:ea typeface="MiSans"/>
                <a:cs typeface="MiSans"/>
              </a:defRPr>
            </a:lvl7pPr>
            <a:lvl8pPr>
              <a:buNone/>
              <a:defRPr sz="1275" b="1">
                <a:solidFill>
                  <a:srgbClr val="14213D"/>
                </a:solidFill>
                <a:latin typeface="MiSans"/>
                <a:ea typeface="MiSans"/>
                <a:cs typeface="MiSans"/>
              </a:defRPr>
            </a:lvl8pPr>
            <a:lvl9pPr>
              <a:buNone/>
              <a:defRPr sz="1275" b="1">
                <a:solidFill>
                  <a:srgbClr val="14213D"/>
                </a:solidFill>
                <a:latin typeface="MiSans"/>
                <a:ea typeface="MiSans"/>
                <a:cs typeface="MiSans"/>
              </a:defRPr>
            </a:lvl9pPr>
          </a:lstStyle>
          <a:p xmlns:a="http://schemas.openxmlformats.org/drawingml/2006/main">
            <a:pPr>
              <a:lnSpc>
                <a:spcPct val="120000"/>
              </a:lnSpc>
              <a:buNone/>
              <a:defRPr sz="1275" b="1">
                <a:solidFill>
                  <a:srgbClr val="14213D"/>
                </a:solidFill>
                <a:latin typeface="MiSans"/>
                <a:ea typeface="MiSans"/>
                <a:cs typeface="MiSans"/>
              </a:defRPr>
            </a:pPr>
            <a:r>
              <a:rPr sz="1275" b="1">
                <a:solidFill>
                  <a:srgbClr val="14213D"/>
                </a:solidFill>
                <a:latin typeface="MiSans"/>
                <a:ea typeface="MiSans"/>
                <a:cs typeface="MiSans"/>
              </a:rPr>
              <a:t>规则 + LLM 反馈</a:t>
            </a:r>
            <a:endParaRPr sz="1250"/>
          </a:p>
        </p:txBody>
      </p:sp>
      <p:sp>
        <p:nvSpPr>
          <p:cNvPr id="37" name="s5-desc">
            <a:extLst xmlns:a="http://schemas.openxmlformats.org/drawingml/2006/main">
              <a:ext uri="{FF2B5EF4-FFF2-40B4-BE49-F238E27FC236}">
                <a16:creationId xmlns:a16="http://schemas.microsoft.com/office/drawing/2014/main" id="{0900BB30-6853-4FEA-9252-ED76294CB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286000"/>
            <a:ext cx="1638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1013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defPPr>
            <a:lvl1pPr>
              <a:buNone/>
              <a:defRPr sz="1013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1pPr>
            <a:lvl2pPr>
              <a:buNone/>
              <a:defRPr sz="1013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2pPr>
            <a:lvl3pPr>
              <a:buNone/>
              <a:defRPr sz="1013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3pPr>
            <a:lvl4pPr>
              <a:buNone/>
              <a:defRPr sz="1013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4pPr>
            <a:lvl5pPr>
              <a:buNone/>
              <a:defRPr sz="1013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5pPr>
            <a:lvl6pPr>
              <a:buNone/>
              <a:defRPr sz="1013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6pPr>
            <a:lvl7pPr>
              <a:buNone/>
              <a:defRPr sz="1013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7pPr>
            <a:lvl8pPr>
              <a:buNone/>
              <a:defRPr sz="1013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8pPr>
            <a:lvl9pPr>
              <a:buNone/>
              <a:defRPr sz="1013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9pPr>
          </a:lstStyle>
          <a:p xmlns:a="http://schemas.openxmlformats.org/drawingml/2006/main">
            <a:pPr algn="l">
              <a:lnSpc>
                <a:spcPct val="145000"/>
              </a:lnSpc>
              <a:buNone/>
              <a:defRPr sz="1013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pPr>
            <a:r>
              <a:rPr sz="1013" b="0">
                <a:solidFill>
                  <a:srgbClr val="3E506E"/>
                </a:solidFill>
                <a:latin typeface="MiSans"/>
                <a:ea typeface="MiSans"/>
                <a:cs typeface="MiSans"/>
              </a:rPr>
              <a:t>证据驱动建议，LLM 只润色</a:t>
            </a:r>
            <a:endParaRPr sz="950"/>
          </a:p>
        </p:txBody>
      </p:sp>
      <p:sp>
        <p:nvSpPr>
          <p:cNvPr id="38" name="s5-check">
            <a:extLst xmlns:a="http://schemas.openxmlformats.org/drawingml/2006/main">
              <a:ext uri="{FF2B5EF4-FFF2-40B4-BE49-F238E27FC236}">
                <a16:creationId xmlns:a16="http://schemas.microsoft.com/office/drawing/2014/main" id="{A1E71EBB-BFE6-44FF-85AA-EBC517773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895600"/>
            <a:ext cx="177800" cy="177800"/>
          </a:xfrm>
          <a:custGeom xmlns:a="http://schemas.openxmlformats.org/drawingml/2006/main">
            <a:rect l="l" t="t" r="r" b="b"/>
            <a:pathLst>
              <a:path w="512" h="512">
                <a:moveTo>
                  <a:pt x="256" y="512"/>
                </a:moveTo>
                <a:cubicBezTo>
                  <a:pt x="115" y="512"/>
                  <a:pt x="0" y="397"/>
                  <a:pt x="0" y="256"/>
                </a:cubicBezTo>
                <a:cubicBezTo>
                  <a:pt x="0" y="115"/>
                  <a:pt x="115" y="0"/>
                  <a:pt x="256" y="0"/>
                </a:cubicBezTo>
                <a:cubicBezTo>
                  <a:pt x="397" y="0"/>
                  <a:pt x="512" y="115"/>
                  <a:pt x="512" y="256"/>
                </a:cubicBezTo>
                <a:cubicBezTo>
                  <a:pt x="512" y="397"/>
                  <a:pt x="397" y="512"/>
                  <a:pt x="256" y="512"/>
                </a:cubicBezTo>
                <a:close/>
                <a:moveTo>
                  <a:pt x="374" y="146"/>
                </a:moveTo>
                <a:cubicBezTo>
                  <a:pt x="363" y="138"/>
                  <a:pt x="348" y="140"/>
                  <a:pt x="341" y="151"/>
                </a:cubicBezTo>
                <a:lnTo>
                  <a:pt x="221" y="315"/>
                </a:lnTo>
                <a:lnTo>
                  <a:pt x="169" y="263"/>
                </a:lnTo>
                <a:cubicBezTo>
                  <a:pt x="160" y="254"/>
                  <a:pt x="144" y="254"/>
                  <a:pt x="135" y="263"/>
                </a:cubicBezTo>
                <a:cubicBezTo>
                  <a:pt x="126" y="273"/>
                  <a:pt x="126" y="288"/>
                  <a:pt x="135" y="297"/>
                </a:cubicBezTo>
                <a:lnTo>
                  <a:pt x="207" y="369"/>
                </a:lnTo>
                <a:cubicBezTo>
                  <a:pt x="212" y="374"/>
                  <a:pt x="219" y="377"/>
                  <a:pt x="226" y="376"/>
                </a:cubicBezTo>
                <a:cubicBezTo>
                  <a:pt x="233" y="376"/>
                  <a:pt x="239" y="372"/>
                  <a:pt x="243" y="366"/>
                </a:cubicBezTo>
                <a:lnTo>
                  <a:pt x="379" y="179"/>
                </a:lnTo>
                <a:cubicBezTo>
                  <a:pt x="387" y="169"/>
                  <a:pt x="385" y="154"/>
                  <a:pt x="374" y="146"/>
                </a:cubicBezTo>
                <a:close/>
              </a:path>
            </a:pathLst>
          </a:custGeom>
          <a:solidFill xmlns:a="http://schemas.openxmlformats.org/drawingml/2006/main">
            <a:srgbClr val="A8EB3F"/>
          </a:solidFill>
          <a:ln xmlns:a="http://schemas.openxmlformats.org/drawingml/2006/main">
            <a:noFill/>
          </a:ln>
        </p:spPr>
      </p:sp>
      <p:sp>
        <p:nvSpPr>
          <p:cNvPr id="39" name="s5-done">
            <a:extLst xmlns:a="http://schemas.openxmlformats.org/drawingml/2006/main">
              <a:ext uri="{FF2B5EF4-FFF2-40B4-BE49-F238E27FC236}">
                <a16:creationId xmlns:a16="http://schemas.microsoft.com/office/drawing/2014/main" id="{BC752C2F-2FC6-4143-A87F-3A62359F1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2867025"/>
            <a:ext cx="1333500" cy="20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>
              <a:defRPr sz="975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defPPr>
            <a:lvl1pPr>
              <a:buNone/>
              <a:defRPr sz="975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1pPr>
            <a:lvl2pPr>
              <a:buNone/>
              <a:defRPr sz="975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2pPr>
            <a:lvl3pPr>
              <a:buNone/>
              <a:defRPr sz="975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3pPr>
            <a:lvl4pPr>
              <a:buNone/>
              <a:defRPr sz="975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4pPr>
            <a:lvl5pPr>
              <a:buNone/>
              <a:defRPr sz="975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5pPr>
            <a:lvl6pPr>
              <a:buNone/>
              <a:defRPr sz="975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6pPr>
            <a:lvl7pPr>
              <a:buNone/>
              <a:defRPr sz="975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7pPr>
            <a:lvl8pPr>
              <a:buNone/>
              <a:defRPr sz="975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8pPr>
            <a:lvl9pPr>
              <a:buNone/>
              <a:defRPr sz="975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975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pPr>
            <a:r>
              <a:rPr sz="975" b="0">
                <a:solidFill>
                  <a:srgbClr val="3E506E"/>
                </a:solidFill>
                <a:latin typeface="MiSans"/>
                <a:ea typeface="MiSans"/>
                <a:cs typeface="MiSans"/>
              </a:rPr>
              <a:t>已完成</a:t>
            </a:r>
            <a:endParaRPr sz="1000"/>
          </a:p>
        </p:txBody>
      </p:sp>
      <p:sp>
        <p:nvSpPr>
          <p:cNvPr id="40" name="a5">
            <a:extLst xmlns:a="http://schemas.openxmlformats.org/drawingml/2006/main">
              <a:ext uri="{FF2B5EF4-FFF2-40B4-BE49-F238E27FC236}">
                <a16:creationId xmlns:a16="http://schemas.microsoft.com/office/drawing/2014/main" id="{39380F90-80C3-4FDF-9D73-56FA084BA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44075" y="2047875"/>
            <a:ext cx="133350" cy="133350"/>
          </a:xfrm>
          <a:custGeom xmlns:a="http://schemas.openxmlformats.org/drawingml/2006/main">
            <a:rect l="l" t="t" r="r" b="b"/>
            <a:pathLst>
              <a:path w="256" h="512">
                <a:moveTo>
                  <a:pt x="247" y="233"/>
                </a:moveTo>
                <a:cubicBezTo>
                  <a:pt x="260" y="246"/>
                  <a:pt x="260" y="266"/>
                  <a:pt x="247" y="279"/>
                </a:cubicBezTo>
                <a:lnTo>
                  <a:pt x="87" y="439"/>
                </a:lnTo>
                <a:cubicBezTo>
                  <a:pt x="75" y="451"/>
                  <a:pt x="54" y="451"/>
                  <a:pt x="42" y="439"/>
                </a:cubicBezTo>
                <a:cubicBezTo>
                  <a:pt x="29" y="426"/>
                  <a:pt x="29" y="406"/>
                  <a:pt x="42" y="393"/>
                </a:cubicBezTo>
                <a:lnTo>
                  <a:pt x="179" y="256"/>
                </a:lnTo>
                <a:lnTo>
                  <a:pt x="42" y="119"/>
                </a:lnTo>
                <a:cubicBezTo>
                  <a:pt x="29" y="106"/>
                  <a:pt x="29" y="86"/>
                  <a:pt x="42" y="73"/>
                </a:cubicBezTo>
                <a:cubicBezTo>
                  <a:pt x="54" y="61"/>
                  <a:pt x="75" y="61"/>
                  <a:pt x="87" y="73"/>
                </a:cubicBezTo>
                <a:lnTo>
                  <a:pt x="247" y="233"/>
                </a:lnTo>
                <a:close/>
              </a:path>
            </a:pathLst>
          </a:custGeom>
          <a:solidFill xmlns:a="http://schemas.openxmlformats.org/drawingml/2006/main">
            <a:srgbClr val="AEC1DE"/>
          </a:solidFill>
          <a:ln xmlns:a="http://schemas.openxmlformats.org/drawingml/2006/main">
            <a:noFill/>
          </a:ln>
        </p:spPr>
      </p:sp>
      <p:sp>
        <p:nvSpPr>
          <p:cNvPr id="41" name="s6-box">
            <a:extLst xmlns:a="http://schemas.openxmlformats.org/drawingml/2006/main">
              <a:ext uri="{FF2B5EF4-FFF2-40B4-BE49-F238E27FC236}">
                <a16:creationId xmlns:a16="http://schemas.microsoft.com/office/drawing/2014/main" id="{6A702EEC-8E02-4CEE-9844-2B4B06136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8600" y="1498600"/>
            <a:ext cx="1193800" cy="304800"/>
          </a:xfrm>
          <a:prstGeom xmlns:a="http://schemas.openxmlformats.org/drawingml/2006/main" prst="roundRect">
            <a:avLst>
              <a:gd name="adj" fmla="val 10000"/>
            </a:avLst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2" name="s6-num">
            <a:extLst xmlns:a="http://schemas.openxmlformats.org/drawingml/2006/main">
              <a:ext uri="{FF2B5EF4-FFF2-40B4-BE49-F238E27FC236}">
                <a16:creationId xmlns:a16="http://schemas.microsoft.com/office/drawing/2014/main" id="{7A7157D1-B6B2-4503-855D-DCC29CA52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1390650"/>
            <a:ext cx="16383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2400" b="1">
                <a:solidFill>
                  <a:srgbClr val="076DFC"/>
                </a:solidFill>
                <a:latin typeface="MiSans"/>
                <a:ea typeface="MiSans"/>
                <a:cs typeface="MiSans"/>
              </a:defRPr>
            </a:defPPr>
            <a:lvl1pPr algn="l">
              <a:buNone/>
              <a:defRPr sz="2400" b="1">
                <a:solidFill>
                  <a:srgbClr val="076DFC"/>
                </a:solidFill>
                <a:latin typeface="MiSans"/>
                <a:ea typeface="MiSans"/>
                <a:cs typeface="MiSans"/>
              </a:defRPr>
            </a:lvl1pPr>
            <a:lvl2pPr algn="l">
              <a:buNone/>
              <a:defRPr sz="2400" b="1">
                <a:solidFill>
                  <a:srgbClr val="076DFC"/>
                </a:solidFill>
                <a:latin typeface="MiSans"/>
                <a:ea typeface="MiSans"/>
                <a:cs typeface="MiSans"/>
              </a:defRPr>
            </a:lvl2pPr>
            <a:lvl3pPr algn="l">
              <a:buNone/>
              <a:defRPr sz="2400" b="1">
                <a:solidFill>
                  <a:srgbClr val="076DFC"/>
                </a:solidFill>
                <a:latin typeface="MiSans"/>
                <a:ea typeface="MiSans"/>
                <a:cs typeface="MiSans"/>
              </a:defRPr>
            </a:lvl3pPr>
            <a:lvl4pPr algn="l">
              <a:buNone/>
              <a:defRPr sz="2400" b="1">
                <a:solidFill>
                  <a:srgbClr val="076DFC"/>
                </a:solidFill>
                <a:latin typeface="MiSans"/>
                <a:ea typeface="MiSans"/>
                <a:cs typeface="MiSans"/>
              </a:defRPr>
            </a:lvl4pPr>
            <a:lvl5pPr algn="l">
              <a:buNone/>
              <a:defRPr sz="2400" b="1">
                <a:solidFill>
                  <a:srgbClr val="076DFC"/>
                </a:solidFill>
                <a:latin typeface="MiSans"/>
                <a:ea typeface="MiSans"/>
                <a:cs typeface="MiSans"/>
              </a:defRPr>
            </a:lvl5pPr>
            <a:lvl6pPr algn="l">
              <a:buNone/>
              <a:defRPr sz="2400" b="1">
                <a:solidFill>
                  <a:srgbClr val="076DFC"/>
                </a:solidFill>
                <a:latin typeface="MiSans"/>
                <a:ea typeface="MiSans"/>
                <a:cs typeface="MiSans"/>
              </a:defRPr>
            </a:lvl6pPr>
            <a:lvl7pPr algn="l">
              <a:buNone/>
              <a:defRPr sz="2400" b="1">
                <a:solidFill>
                  <a:srgbClr val="076DFC"/>
                </a:solidFill>
                <a:latin typeface="MiSans"/>
                <a:ea typeface="MiSans"/>
                <a:cs typeface="MiSans"/>
              </a:defRPr>
            </a:lvl7pPr>
            <a:lvl8pPr algn="l">
              <a:buNone/>
              <a:defRPr sz="2400" b="1">
                <a:solidFill>
                  <a:srgbClr val="076DFC"/>
                </a:solidFill>
                <a:latin typeface="MiSans"/>
                <a:ea typeface="MiSans"/>
                <a:cs typeface="MiSans"/>
              </a:defRPr>
            </a:lvl8pPr>
            <a:lvl9pPr algn="l">
              <a:buNone/>
              <a:defRPr sz="2400" b="1">
                <a:solidFill>
                  <a:srgbClr val="076DFC"/>
                </a:solidFill>
                <a:latin typeface="MiSans"/>
                <a:ea typeface="MiSans"/>
                <a:cs typeface="MiSans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2400" b="1">
                <a:solidFill>
                  <a:srgbClr val="076DFC"/>
                </a:solidFill>
                <a:latin typeface="MiSans"/>
                <a:ea typeface="MiSans"/>
                <a:cs typeface="MiSans"/>
              </a:defRPr>
            </a:pPr>
            <a:r>
              <a:rPr sz="2400" b="1">
                <a:solidFill>
                  <a:srgbClr val="076DFC"/>
                </a:solidFill>
                <a:latin typeface="MiSans"/>
                <a:ea typeface="MiSans"/>
                <a:cs typeface="MiSans"/>
              </a:rPr>
              <a:t>06</a:t>
            </a:r>
            <a:endParaRPr sz="1100"/>
          </a:p>
        </p:txBody>
      </p:sp>
      <p:sp>
        <p:nvSpPr>
          <p:cNvPr id="43" name="s6-title">
            <a:extLst xmlns:a="http://schemas.openxmlformats.org/drawingml/2006/main">
              <a:ext uri="{FF2B5EF4-FFF2-40B4-BE49-F238E27FC236}">
                <a16:creationId xmlns:a16="http://schemas.microsoft.com/office/drawing/2014/main" id="{F8594F77-1A61-42A8-B29A-4621D79FD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1914525"/>
            <a:ext cx="1638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1275" b="1">
                <a:solidFill>
                  <a:srgbClr val="14213D"/>
                </a:solidFill>
                <a:latin typeface="MiSans"/>
                <a:ea typeface="MiSans"/>
                <a:cs typeface="MiSans"/>
              </a:defRPr>
            </a:defPPr>
            <a:lvl1pPr>
              <a:buNone/>
              <a:defRPr sz="1275" b="1">
                <a:solidFill>
                  <a:srgbClr val="14213D"/>
                </a:solidFill>
                <a:latin typeface="MiSans"/>
                <a:ea typeface="MiSans"/>
                <a:cs typeface="MiSans"/>
              </a:defRPr>
            </a:lvl1pPr>
            <a:lvl2pPr>
              <a:buNone/>
              <a:defRPr sz="1275" b="1">
                <a:solidFill>
                  <a:srgbClr val="14213D"/>
                </a:solidFill>
                <a:latin typeface="MiSans"/>
                <a:ea typeface="MiSans"/>
                <a:cs typeface="MiSans"/>
              </a:defRPr>
            </a:lvl2pPr>
            <a:lvl3pPr>
              <a:buNone/>
              <a:defRPr sz="1275" b="1">
                <a:solidFill>
                  <a:srgbClr val="14213D"/>
                </a:solidFill>
                <a:latin typeface="MiSans"/>
                <a:ea typeface="MiSans"/>
                <a:cs typeface="MiSans"/>
              </a:defRPr>
            </a:lvl3pPr>
            <a:lvl4pPr>
              <a:buNone/>
              <a:defRPr sz="1275" b="1">
                <a:solidFill>
                  <a:srgbClr val="14213D"/>
                </a:solidFill>
                <a:latin typeface="MiSans"/>
                <a:ea typeface="MiSans"/>
                <a:cs typeface="MiSans"/>
              </a:defRPr>
            </a:lvl4pPr>
            <a:lvl5pPr>
              <a:buNone/>
              <a:defRPr sz="1275" b="1">
                <a:solidFill>
                  <a:srgbClr val="14213D"/>
                </a:solidFill>
                <a:latin typeface="MiSans"/>
                <a:ea typeface="MiSans"/>
                <a:cs typeface="MiSans"/>
              </a:defRPr>
            </a:lvl5pPr>
            <a:lvl6pPr>
              <a:buNone/>
              <a:defRPr sz="1275" b="1">
                <a:solidFill>
                  <a:srgbClr val="14213D"/>
                </a:solidFill>
                <a:latin typeface="MiSans"/>
                <a:ea typeface="MiSans"/>
                <a:cs typeface="MiSans"/>
              </a:defRPr>
            </a:lvl6pPr>
            <a:lvl7pPr>
              <a:buNone/>
              <a:defRPr sz="1275" b="1">
                <a:solidFill>
                  <a:srgbClr val="14213D"/>
                </a:solidFill>
                <a:latin typeface="MiSans"/>
                <a:ea typeface="MiSans"/>
                <a:cs typeface="MiSans"/>
              </a:defRPr>
            </a:lvl7pPr>
            <a:lvl8pPr>
              <a:buNone/>
              <a:defRPr sz="1275" b="1">
                <a:solidFill>
                  <a:srgbClr val="14213D"/>
                </a:solidFill>
                <a:latin typeface="MiSans"/>
                <a:ea typeface="MiSans"/>
                <a:cs typeface="MiSans"/>
              </a:defRPr>
            </a:lvl8pPr>
            <a:lvl9pPr>
              <a:buNone/>
              <a:defRPr sz="1275" b="1">
                <a:solidFill>
                  <a:srgbClr val="14213D"/>
                </a:solidFill>
                <a:latin typeface="MiSans"/>
                <a:ea typeface="MiSans"/>
                <a:cs typeface="MiSans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1275" b="1">
                <a:solidFill>
                  <a:srgbClr val="14213D"/>
                </a:solidFill>
                <a:latin typeface="MiSans"/>
                <a:ea typeface="MiSans"/>
                <a:cs typeface="MiSans"/>
              </a:defRPr>
            </a:pPr>
            <a:r>
              <a:rPr sz="1275" b="1">
                <a:solidFill>
                  <a:srgbClr val="14213D"/>
                </a:solidFill>
                <a:latin typeface="MiSans"/>
                <a:ea typeface="MiSans"/>
                <a:cs typeface="MiSans"/>
              </a:rPr>
              <a:t>双端真实联调</a:t>
            </a:r>
            <a:endParaRPr sz="1250"/>
          </a:p>
        </p:txBody>
      </p:sp>
      <p:sp>
        <p:nvSpPr>
          <p:cNvPr id="44" name="s6-desc">
            <a:extLst xmlns:a="http://schemas.openxmlformats.org/drawingml/2006/main">
              <a:ext uri="{FF2B5EF4-FFF2-40B4-BE49-F238E27FC236}">
                <a16:creationId xmlns:a16="http://schemas.microsoft.com/office/drawing/2014/main" id="{30E75F1E-BE45-4A9A-93D8-6BCD25959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2286000"/>
            <a:ext cx="1638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1013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defPPr>
            <a:lvl1pPr>
              <a:buNone/>
              <a:defRPr sz="1013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1pPr>
            <a:lvl2pPr>
              <a:buNone/>
              <a:defRPr sz="1013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2pPr>
            <a:lvl3pPr>
              <a:buNone/>
              <a:defRPr sz="1013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3pPr>
            <a:lvl4pPr>
              <a:buNone/>
              <a:defRPr sz="1013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4pPr>
            <a:lvl5pPr>
              <a:buNone/>
              <a:defRPr sz="1013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5pPr>
            <a:lvl6pPr>
              <a:buNone/>
              <a:defRPr sz="1013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6pPr>
            <a:lvl7pPr>
              <a:buNone/>
              <a:defRPr sz="1013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7pPr>
            <a:lvl8pPr>
              <a:buNone/>
              <a:defRPr sz="1013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8pPr>
            <a:lvl9pPr>
              <a:buNone/>
              <a:defRPr sz="1013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9pPr>
          </a:lstStyle>
          <a:p xmlns:a="http://schemas.openxmlformats.org/drawingml/2006/main">
            <a:pPr algn="l">
              <a:lnSpc>
                <a:spcPct val="145000"/>
              </a:lnSpc>
              <a:buNone/>
              <a:defRPr sz="1013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pPr>
            <a:r>
              <a:rPr sz="1013" b="0">
                <a:solidFill>
                  <a:srgbClr val="3E506E"/>
                </a:solidFill>
                <a:latin typeface="MiSans"/>
                <a:ea typeface="MiSans"/>
                <a:cs typeface="MiSans"/>
              </a:rPr>
              <a:t>Web 与 App 打通模型</a:t>
            </a:r>
            <a:endParaRPr sz="950"/>
          </a:p>
        </p:txBody>
      </p:sp>
      <p:sp>
        <p:nvSpPr>
          <p:cNvPr id="45" name="s6-check">
            <a:extLst xmlns:a="http://schemas.openxmlformats.org/drawingml/2006/main">
              <a:ext uri="{FF2B5EF4-FFF2-40B4-BE49-F238E27FC236}">
                <a16:creationId xmlns:a16="http://schemas.microsoft.com/office/drawing/2014/main" id="{AE2BA898-F9B7-45AF-AC05-47B2489CB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2895600"/>
            <a:ext cx="177800" cy="177800"/>
          </a:xfrm>
          <a:custGeom xmlns:a="http://schemas.openxmlformats.org/drawingml/2006/main">
            <a:rect l="l" t="t" r="r" b="b"/>
            <a:pathLst>
              <a:path w="512" h="512">
                <a:moveTo>
                  <a:pt x="256" y="512"/>
                </a:moveTo>
                <a:cubicBezTo>
                  <a:pt x="115" y="512"/>
                  <a:pt x="0" y="397"/>
                  <a:pt x="0" y="256"/>
                </a:cubicBezTo>
                <a:cubicBezTo>
                  <a:pt x="0" y="115"/>
                  <a:pt x="115" y="0"/>
                  <a:pt x="256" y="0"/>
                </a:cubicBezTo>
                <a:cubicBezTo>
                  <a:pt x="397" y="0"/>
                  <a:pt x="512" y="115"/>
                  <a:pt x="512" y="256"/>
                </a:cubicBezTo>
                <a:cubicBezTo>
                  <a:pt x="512" y="397"/>
                  <a:pt x="397" y="512"/>
                  <a:pt x="256" y="512"/>
                </a:cubicBezTo>
                <a:close/>
                <a:moveTo>
                  <a:pt x="374" y="146"/>
                </a:moveTo>
                <a:cubicBezTo>
                  <a:pt x="363" y="138"/>
                  <a:pt x="348" y="140"/>
                  <a:pt x="341" y="151"/>
                </a:cubicBezTo>
                <a:lnTo>
                  <a:pt x="221" y="315"/>
                </a:lnTo>
                <a:lnTo>
                  <a:pt x="169" y="263"/>
                </a:lnTo>
                <a:cubicBezTo>
                  <a:pt x="160" y="254"/>
                  <a:pt x="144" y="254"/>
                  <a:pt x="135" y="263"/>
                </a:cubicBezTo>
                <a:cubicBezTo>
                  <a:pt x="126" y="273"/>
                  <a:pt x="126" y="288"/>
                  <a:pt x="135" y="297"/>
                </a:cubicBezTo>
                <a:lnTo>
                  <a:pt x="207" y="369"/>
                </a:lnTo>
                <a:cubicBezTo>
                  <a:pt x="212" y="374"/>
                  <a:pt x="219" y="377"/>
                  <a:pt x="226" y="376"/>
                </a:cubicBezTo>
                <a:cubicBezTo>
                  <a:pt x="233" y="376"/>
                  <a:pt x="239" y="372"/>
                  <a:pt x="243" y="366"/>
                </a:cubicBezTo>
                <a:lnTo>
                  <a:pt x="379" y="179"/>
                </a:lnTo>
                <a:cubicBezTo>
                  <a:pt x="387" y="169"/>
                  <a:pt x="385" y="154"/>
                  <a:pt x="374" y="146"/>
                </a:cubicBezTo>
                <a:close/>
              </a:path>
            </a:pathLst>
          </a:custGeom>
          <a:solidFill xmlns:a="http://schemas.openxmlformats.org/drawingml/2006/main">
            <a:srgbClr val="A8EB3F"/>
          </a:solidFill>
          <a:ln xmlns:a="http://schemas.openxmlformats.org/drawingml/2006/main">
            <a:noFill/>
          </a:ln>
        </p:spPr>
      </p:sp>
      <p:sp>
        <p:nvSpPr>
          <p:cNvPr id="46" name="s6-done">
            <a:extLst xmlns:a="http://schemas.openxmlformats.org/drawingml/2006/main">
              <a:ext uri="{FF2B5EF4-FFF2-40B4-BE49-F238E27FC236}">
                <a16:creationId xmlns:a16="http://schemas.microsoft.com/office/drawing/2014/main" id="{4C41BF33-2855-40FD-8253-CEF46AF99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82225" y="2867025"/>
            <a:ext cx="1333500" cy="20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>
              <a:defRPr sz="975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defPPr>
            <a:lvl1pPr>
              <a:buNone/>
              <a:defRPr sz="975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1pPr>
            <a:lvl2pPr>
              <a:buNone/>
              <a:defRPr sz="975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2pPr>
            <a:lvl3pPr>
              <a:buNone/>
              <a:defRPr sz="975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3pPr>
            <a:lvl4pPr>
              <a:buNone/>
              <a:defRPr sz="975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4pPr>
            <a:lvl5pPr>
              <a:buNone/>
              <a:defRPr sz="975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5pPr>
            <a:lvl6pPr>
              <a:buNone/>
              <a:defRPr sz="975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6pPr>
            <a:lvl7pPr>
              <a:buNone/>
              <a:defRPr sz="975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7pPr>
            <a:lvl8pPr>
              <a:buNone/>
              <a:defRPr sz="975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8pPr>
            <a:lvl9pPr>
              <a:buNone/>
              <a:defRPr sz="975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975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pPr>
            <a:r>
              <a:rPr sz="975" b="0">
                <a:solidFill>
                  <a:srgbClr val="3E506E"/>
                </a:solidFill>
                <a:latin typeface="MiSans"/>
                <a:ea typeface="MiSans"/>
                <a:cs typeface="MiSans"/>
              </a:rPr>
              <a:t>已完成</a:t>
            </a:r>
            <a:endParaRPr sz="1000"/>
          </a:p>
        </p:txBody>
      </p:sp>
      <p:sp>
        <p:nvSpPr>
          <p:cNvPr id="47" name="mid-line">
            <a:extLst xmlns:a="http://schemas.openxmlformats.org/drawingml/2006/main">
              <a:ext uri="{FF2B5EF4-FFF2-40B4-BE49-F238E27FC236}">
                <a16:creationId xmlns:a16="http://schemas.microsoft.com/office/drawing/2014/main" id="{8CA88EC5-06A9-4917-9FC3-4F2E04828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03600"/>
            <a:ext cx="10972800" cy="12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8" name="mid-kicker">
            <a:extLst xmlns:a="http://schemas.openxmlformats.org/drawingml/2006/main">
              <a:ext uri="{FF2B5EF4-FFF2-40B4-BE49-F238E27FC236}">
                <a16:creationId xmlns:a16="http://schemas.microsoft.com/office/drawing/2014/main" id="{6E66C277-456D-4BB4-8035-8C2953544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81400"/>
            <a:ext cx="3810000" cy="20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</a:pPr>
            <a:r>
              <a:rPr sz="1050" b="1" spc="200">
                <a:solidFill>
                  <a:srgbClr val="076DFC"/>
                </a:solidFill>
                <a:latin typeface="MiSans"/>
                <a:ea typeface="MiSans"/>
                <a:cs typeface="MiSans"/>
              </a:rPr>
              <a:t>关键数字 · 截至 2026 年 10 月</a:t>
            </a:r>
            <a:endParaRPr sz="1050"/>
          </a:p>
        </p:txBody>
      </p:sp>
      <p:sp>
        <p:nvSpPr>
          <p:cNvPr id="49" name="n1-border">
            <a:extLst xmlns:a="http://schemas.openxmlformats.org/drawingml/2006/main">
              <a:ext uri="{FF2B5EF4-FFF2-40B4-BE49-F238E27FC236}">
                <a16:creationId xmlns:a16="http://schemas.microsoft.com/office/drawing/2014/main" id="{777AAE7E-B684-450F-B31D-4BB062B99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62400"/>
            <a:ext cx="34290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8EB3F"/>
          </a:solidFill>
          <a:ln xmlns:a="http://schemas.openxmlformats.org/drawingml/2006/main">
            <a:noFill/>
          </a:ln>
        </p:spPr>
      </p:sp>
      <p:sp>
        <p:nvSpPr>
          <p:cNvPr id="50" name="n1-num">
            <a:extLst xmlns:a="http://schemas.openxmlformats.org/drawingml/2006/main">
              <a:ext uri="{FF2B5EF4-FFF2-40B4-BE49-F238E27FC236}">
                <a16:creationId xmlns:a16="http://schemas.microsoft.com/office/drawing/2014/main" id="{64EC0F1F-C388-41B3-92FC-264D83BB1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40200"/>
            <a:ext cx="1981200" cy="50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>
              <a:defRPr sz="3150" b="1">
                <a:solidFill>
                  <a:srgbClr val="076DFC"/>
                </a:solidFill>
                <a:latin typeface="MiSans"/>
                <a:ea typeface="MiSans"/>
                <a:cs typeface="MiSans"/>
              </a:defRPr>
            </a:defPPr>
            <a:lvl1pPr>
              <a:buNone/>
              <a:defRPr sz="3150" b="1">
                <a:solidFill>
                  <a:srgbClr val="076DFC"/>
                </a:solidFill>
                <a:latin typeface="MiSans"/>
                <a:ea typeface="MiSans"/>
                <a:cs typeface="MiSans"/>
              </a:defRPr>
            </a:lvl1pPr>
            <a:lvl2pPr>
              <a:buNone/>
              <a:defRPr sz="3150" b="1">
                <a:solidFill>
                  <a:srgbClr val="076DFC"/>
                </a:solidFill>
                <a:latin typeface="MiSans"/>
                <a:ea typeface="MiSans"/>
                <a:cs typeface="MiSans"/>
              </a:defRPr>
            </a:lvl2pPr>
            <a:lvl3pPr>
              <a:buNone/>
              <a:defRPr sz="3150" b="1">
                <a:solidFill>
                  <a:srgbClr val="076DFC"/>
                </a:solidFill>
                <a:latin typeface="MiSans"/>
                <a:ea typeface="MiSans"/>
                <a:cs typeface="MiSans"/>
              </a:defRPr>
            </a:lvl3pPr>
            <a:lvl4pPr>
              <a:buNone/>
              <a:defRPr sz="3150" b="1">
                <a:solidFill>
                  <a:srgbClr val="076DFC"/>
                </a:solidFill>
                <a:latin typeface="MiSans"/>
                <a:ea typeface="MiSans"/>
                <a:cs typeface="MiSans"/>
              </a:defRPr>
            </a:lvl4pPr>
            <a:lvl5pPr>
              <a:buNone/>
              <a:defRPr sz="3150" b="1">
                <a:solidFill>
                  <a:srgbClr val="076DFC"/>
                </a:solidFill>
                <a:latin typeface="MiSans"/>
                <a:ea typeface="MiSans"/>
                <a:cs typeface="MiSans"/>
              </a:defRPr>
            </a:lvl5pPr>
            <a:lvl6pPr>
              <a:buNone/>
              <a:defRPr sz="3150" b="1">
                <a:solidFill>
                  <a:srgbClr val="076DFC"/>
                </a:solidFill>
                <a:latin typeface="MiSans"/>
                <a:ea typeface="MiSans"/>
                <a:cs typeface="MiSans"/>
              </a:defRPr>
            </a:lvl6pPr>
            <a:lvl7pPr>
              <a:buNone/>
              <a:defRPr sz="3150" b="1">
                <a:solidFill>
                  <a:srgbClr val="076DFC"/>
                </a:solidFill>
                <a:latin typeface="MiSans"/>
                <a:ea typeface="MiSans"/>
                <a:cs typeface="MiSans"/>
              </a:defRPr>
            </a:lvl7pPr>
            <a:lvl8pPr>
              <a:buNone/>
              <a:defRPr sz="3150" b="1">
                <a:solidFill>
                  <a:srgbClr val="076DFC"/>
                </a:solidFill>
                <a:latin typeface="MiSans"/>
                <a:ea typeface="MiSans"/>
                <a:cs typeface="MiSans"/>
              </a:defRPr>
            </a:lvl8pPr>
            <a:lvl9pPr>
              <a:buNone/>
              <a:defRPr sz="3150" b="1">
                <a:solidFill>
                  <a:srgbClr val="076DFC"/>
                </a:solidFill>
                <a:latin typeface="MiSans"/>
                <a:ea typeface="MiSans"/>
                <a:cs typeface="MiSans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3150" b="1">
                <a:solidFill>
                  <a:srgbClr val="076DFC"/>
                </a:solidFill>
                <a:latin typeface="MiSans"/>
                <a:ea typeface="MiSans"/>
                <a:cs typeface="MiSans"/>
              </a:defRPr>
            </a:pPr>
            <a:r>
              <a:rPr sz="3150" b="1">
                <a:solidFill>
                  <a:srgbClr val="076DFC"/>
                </a:solidFill>
                <a:latin typeface="MiSans"/>
                <a:ea typeface="MiSans"/>
                <a:cs typeface="MiSans"/>
              </a:rPr>
              <a:t>840</a:t>
            </a:r>
            <a:endParaRPr sz="3000"/>
          </a:p>
        </p:txBody>
      </p:sp>
      <p:sp>
        <p:nvSpPr>
          <p:cNvPr id="51" name="n1-label">
            <a:extLst xmlns:a="http://schemas.openxmlformats.org/drawingml/2006/main">
              <a:ext uri="{FF2B5EF4-FFF2-40B4-BE49-F238E27FC236}">
                <a16:creationId xmlns:a16="http://schemas.microsoft.com/office/drawing/2014/main" id="{911A569D-F700-4171-9CEC-714623D6C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99000"/>
            <a:ext cx="1981200" cy="558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1050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defPPr>
            <a:lvl1pPr>
              <a:buNone/>
              <a:defRPr sz="1050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1pPr>
            <a:lvl2pPr>
              <a:buNone/>
              <a:defRPr sz="1050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2pPr>
            <a:lvl3pPr>
              <a:buNone/>
              <a:defRPr sz="1050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3pPr>
            <a:lvl4pPr>
              <a:buNone/>
              <a:defRPr sz="1050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4pPr>
            <a:lvl5pPr>
              <a:buNone/>
              <a:defRPr sz="1050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5pPr>
            <a:lvl6pPr>
              <a:buNone/>
              <a:defRPr sz="1050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6pPr>
            <a:lvl7pPr>
              <a:buNone/>
              <a:defRPr sz="1050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7pPr>
            <a:lvl8pPr>
              <a:buNone/>
              <a:defRPr sz="1050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8pPr>
            <a:lvl9pPr>
              <a:buNone/>
              <a:defRPr sz="1050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9pPr>
          </a:lstStyle>
          <a:p xmlns:a="http://schemas.openxmlformats.org/drawingml/2006/main">
            <a:pPr algn="l">
              <a:lnSpc>
                <a:spcPct val="150000"/>
              </a:lnSpc>
              <a:buNone/>
              <a:defRPr sz="1050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pPr>
            <a:r>
              <a:rPr sz="1050" b="0">
                <a:solidFill>
                  <a:srgbClr val="3E506E"/>
                </a:solidFill>
                <a:latin typeface="MiSans"/>
                <a:ea typeface="MiSans"/>
                <a:cs typeface="MiSans"/>
              </a:rPr>
              <a:t>份六通道原始 GT 全量找回并逐份校验</a:t>
            </a:r>
            <a:endParaRPr sz="1000"/>
          </a:p>
        </p:txBody>
      </p:sp>
      <p:sp>
        <p:nvSpPr>
          <p:cNvPr id="52" name="n2-border">
            <a:extLst xmlns:a="http://schemas.openxmlformats.org/drawingml/2006/main">
              <a:ext uri="{FF2B5EF4-FFF2-40B4-BE49-F238E27FC236}">
                <a16:creationId xmlns:a16="http://schemas.microsoft.com/office/drawing/2014/main" id="{B2FF2B54-E883-4CF9-9005-B1F441059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962400"/>
            <a:ext cx="34290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8EB3F"/>
          </a:solidFill>
          <a:ln xmlns:a="http://schemas.openxmlformats.org/drawingml/2006/main">
            <a:noFill/>
          </a:ln>
        </p:spPr>
      </p:sp>
      <p:sp>
        <p:nvSpPr>
          <p:cNvPr id="53" name="n2-num">
            <a:extLst xmlns:a="http://schemas.openxmlformats.org/drawingml/2006/main">
              <a:ext uri="{FF2B5EF4-FFF2-40B4-BE49-F238E27FC236}">
                <a16:creationId xmlns:a16="http://schemas.microsoft.com/office/drawing/2014/main" id="{9887FCE9-F0EF-4882-90EE-F8EE8E3CB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140200"/>
            <a:ext cx="1981200" cy="50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>
              <a:defRPr sz="3150" b="1">
                <a:solidFill>
                  <a:srgbClr val="076DFC"/>
                </a:solidFill>
                <a:latin typeface="MiSans"/>
                <a:ea typeface="MiSans"/>
                <a:cs typeface="MiSans"/>
              </a:defRPr>
            </a:defPPr>
            <a:lvl1pPr>
              <a:buNone/>
              <a:defRPr sz="3150" b="1">
                <a:solidFill>
                  <a:srgbClr val="076DFC"/>
                </a:solidFill>
                <a:latin typeface="MiSans"/>
                <a:ea typeface="MiSans"/>
                <a:cs typeface="MiSans"/>
              </a:defRPr>
            </a:lvl1pPr>
            <a:lvl2pPr>
              <a:buNone/>
              <a:defRPr sz="3150" b="1">
                <a:solidFill>
                  <a:srgbClr val="076DFC"/>
                </a:solidFill>
                <a:latin typeface="MiSans"/>
                <a:ea typeface="MiSans"/>
                <a:cs typeface="MiSans"/>
              </a:defRPr>
            </a:lvl2pPr>
            <a:lvl3pPr>
              <a:buNone/>
              <a:defRPr sz="3150" b="1">
                <a:solidFill>
                  <a:srgbClr val="076DFC"/>
                </a:solidFill>
                <a:latin typeface="MiSans"/>
                <a:ea typeface="MiSans"/>
                <a:cs typeface="MiSans"/>
              </a:defRPr>
            </a:lvl3pPr>
            <a:lvl4pPr>
              <a:buNone/>
              <a:defRPr sz="3150" b="1">
                <a:solidFill>
                  <a:srgbClr val="076DFC"/>
                </a:solidFill>
                <a:latin typeface="MiSans"/>
                <a:ea typeface="MiSans"/>
                <a:cs typeface="MiSans"/>
              </a:defRPr>
            </a:lvl4pPr>
            <a:lvl5pPr>
              <a:buNone/>
              <a:defRPr sz="3150" b="1">
                <a:solidFill>
                  <a:srgbClr val="076DFC"/>
                </a:solidFill>
                <a:latin typeface="MiSans"/>
                <a:ea typeface="MiSans"/>
                <a:cs typeface="MiSans"/>
              </a:defRPr>
            </a:lvl5pPr>
            <a:lvl6pPr>
              <a:buNone/>
              <a:defRPr sz="3150" b="1">
                <a:solidFill>
                  <a:srgbClr val="076DFC"/>
                </a:solidFill>
                <a:latin typeface="MiSans"/>
                <a:ea typeface="MiSans"/>
                <a:cs typeface="MiSans"/>
              </a:defRPr>
            </a:lvl6pPr>
            <a:lvl7pPr>
              <a:buNone/>
              <a:defRPr sz="3150" b="1">
                <a:solidFill>
                  <a:srgbClr val="076DFC"/>
                </a:solidFill>
                <a:latin typeface="MiSans"/>
                <a:ea typeface="MiSans"/>
                <a:cs typeface="MiSans"/>
              </a:defRPr>
            </a:lvl7pPr>
            <a:lvl8pPr>
              <a:buNone/>
              <a:defRPr sz="3150" b="1">
                <a:solidFill>
                  <a:srgbClr val="076DFC"/>
                </a:solidFill>
                <a:latin typeface="MiSans"/>
                <a:ea typeface="MiSans"/>
                <a:cs typeface="MiSans"/>
              </a:defRPr>
            </a:lvl8pPr>
            <a:lvl9pPr>
              <a:buNone/>
              <a:defRPr sz="3150" b="1">
                <a:solidFill>
                  <a:srgbClr val="076DFC"/>
                </a:solidFill>
                <a:latin typeface="MiSans"/>
                <a:ea typeface="MiSans"/>
                <a:cs typeface="MiSans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3150" b="1">
                <a:solidFill>
                  <a:srgbClr val="076DFC"/>
                </a:solidFill>
                <a:latin typeface="MiSans"/>
                <a:ea typeface="MiSans"/>
                <a:cs typeface="MiSans"/>
              </a:defRPr>
            </a:pPr>
            <a:r>
              <a:rPr sz="3150" b="1">
                <a:solidFill>
                  <a:srgbClr val="076DFC"/>
                </a:solidFill>
                <a:latin typeface="MiSans"/>
                <a:ea typeface="MiSans"/>
                <a:cs typeface="MiSans"/>
              </a:rPr>
              <a:t>769</a:t>
            </a:r>
            <a:endParaRPr sz="3000"/>
          </a:p>
        </p:txBody>
      </p:sp>
      <p:sp>
        <p:nvSpPr>
          <p:cNvPr id="54" name="n2-label">
            <a:extLst xmlns:a="http://schemas.openxmlformats.org/drawingml/2006/main">
              <a:ext uri="{FF2B5EF4-FFF2-40B4-BE49-F238E27FC236}">
                <a16:creationId xmlns:a16="http://schemas.microsoft.com/office/drawing/2014/main" id="{25334402-3982-40E4-ACB5-5F782E93C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699000"/>
            <a:ext cx="1981200" cy="558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1050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defPPr>
            <a:lvl1pPr>
              <a:buNone/>
              <a:defRPr sz="1050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1pPr>
            <a:lvl2pPr>
              <a:buNone/>
              <a:defRPr sz="1050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2pPr>
            <a:lvl3pPr>
              <a:buNone/>
              <a:defRPr sz="1050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3pPr>
            <a:lvl4pPr>
              <a:buNone/>
              <a:defRPr sz="1050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4pPr>
            <a:lvl5pPr>
              <a:buNone/>
              <a:defRPr sz="1050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5pPr>
            <a:lvl6pPr>
              <a:buNone/>
              <a:defRPr sz="1050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6pPr>
            <a:lvl7pPr>
              <a:buNone/>
              <a:defRPr sz="1050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7pPr>
            <a:lvl8pPr>
              <a:buNone/>
              <a:defRPr sz="1050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8pPr>
            <a:lvl9pPr>
              <a:buNone/>
              <a:defRPr sz="1050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9pPr>
          </a:lstStyle>
          <a:p xmlns:a="http://schemas.openxmlformats.org/drawingml/2006/main">
            <a:pPr algn="l">
              <a:lnSpc>
                <a:spcPct val="150000"/>
              </a:lnSpc>
              <a:buNone/>
              <a:defRPr sz="1050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pPr>
            <a:r>
              <a:rPr sz="1050" b="0">
                <a:solidFill>
                  <a:srgbClr val="3E506E"/>
                </a:solidFill>
                <a:latin typeface="MiSans"/>
                <a:ea typeface="MiSans"/>
                <a:cs typeface="MiSans"/>
              </a:rPr>
              <a:t>个 QC-clean 独立样本，剔除错配与重复</a:t>
            </a:r>
            <a:endParaRPr sz="1000"/>
          </a:p>
        </p:txBody>
      </p:sp>
      <p:sp>
        <p:nvSpPr>
          <p:cNvPr id="55" name="n3-border">
            <a:extLst xmlns:a="http://schemas.openxmlformats.org/drawingml/2006/main">
              <a:ext uri="{FF2B5EF4-FFF2-40B4-BE49-F238E27FC236}">
                <a16:creationId xmlns:a16="http://schemas.microsoft.com/office/drawing/2014/main" id="{4AB3027C-64D2-46A5-83F3-7514BAA68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3962400"/>
            <a:ext cx="34290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8EB3F"/>
          </a:solidFill>
          <a:ln xmlns:a="http://schemas.openxmlformats.org/drawingml/2006/main">
            <a:noFill/>
          </a:ln>
        </p:spPr>
      </p:sp>
      <p:sp>
        <p:nvSpPr>
          <p:cNvPr id="56" name="n3-num">
            <a:extLst xmlns:a="http://schemas.openxmlformats.org/drawingml/2006/main">
              <a:ext uri="{FF2B5EF4-FFF2-40B4-BE49-F238E27FC236}">
                <a16:creationId xmlns:a16="http://schemas.microsoft.com/office/drawing/2014/main" id="{E20C633B-2ECE-4F4B-A799-EE9318CB6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4140200"/>
            <a:ext cx="1981200" cy="50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>
              <a:defRPr sz="3150" b="1">
                <a:solidFill>
                  <a:srgbClr val="076DFC"/>
                </a:solidFill>
                <a:latin typeface="MiSans"/>
                <a:ea typeface="MiSans"/>
                <a:cs typeface="MiSans"/>
              </a:defRPr>
            </a:defPPr>
            <a:lvl1pPr>
              <a:buNone/>
              <a:defRPr sz="3150" b="1">
                <a:solidFill>
                  <a:srgbClr val="076DFC"/>
                </a:solidFill>
                <a:latin typeface="MiSans"/>
                <a:ea typeface="MiSans"/>
                <a:cs typeface="MiSans"/>
              </a:defRPr>
            </a:lvl1pPr>
            <a:lvl2pPr>
              <a:buNone/>
              <a:defRPr sz="3150" b="1">
                <a:solidFill>
                  <a:srgbClr val="076DFC"/>
                </a:solidFill>
                <a:latin typeface="MiSans"/>
                <a:ea typeface="MiSans"/>
                <a:cs typeface="MiSans"/>
              </a:defRPr>
            </a:lvl2pPr>
            <a:lvl3pPr>
              <a:buNone/>
              <a:defRPr sz="3150" b="1">
                <a:solidFill>
                  <a:srgbClr val="076DFC"/>
                </a:solidFill>
                <a:latin typeface="MiSans"/>
                <a:ea typeface="MiSans"/>
                <a:cs typeface="MiSans"/>
              </a:defRPr>
            </a:lvl3pPr>
            <a:lvl4pPr>
              <a:buNone/>
              <a:defRPr sz="3150" b="1">
                <a:solidFill>
                  <a:srgbClr val="076DFC"/>
                </a:solidFill>
                <a:latin typeface="MiSans"/>
                <a:ea typeface="MiSans"/>
                <a:cs typeface="MiSans"/>
              </a:defRPr>
            </a:lvl4pPr>
            <a:lvl5pPr>
              <a:buNone/>
              <a:defRPr sz="3150" b="1">
                <a:solidFill>
                  <a:srgbClr val="076DFC"/>
                </a:solidFill>
                <a:latin typeface="MiSans"/>
                <a:ea typeface="MiSans"/>
                <a:cs typeface="MiSans"/>
              </a:defRPr>
            </a:lvl5pPr>
            <a:lvl6pPr>
              <a:buNone/>
              <a:defRPr sz="3150" b="1">
                <a:solidFill>
                  <a:srgbClr val="076DFC"/>
                </a:solidFill>
                <a:latin typeface="MiSans"/>
                <a:ea typeface="MiSans"/>
                <a:cs typeface="MiSans"/>
              </a:defRPr>
            </a:lvl6pPr>
            <a:lvl7pPr>
              <a:buNone/>
              <a:defRPr sz="3150" b="1">
                <a:solidFill>
                  <a:srgbClr val="076DFC"/>
                </a:solidFill>
                <a:latin typeface="MiSans"/>
                <a:ea typeface="MiSans"/>
                <a:cs typeface="MiSans"/>
              </a:defRPr>
            </a:lvl7pPr>
            <a:lvl8pPr>
              <a:buNone/>
              <a:defRPr sz="3150" b="1">
                <a:solidFill>
                  <a:srgbClr val="076DFC"/>
                </a:solidFill>
                <a:latin typeface="MiSans"/>
                <a:ea typeface="MiSans"/>
                <a:cs typeface="MiSans"/>
              </a:defRPr>
            </a:lvl8pPr>
            <a:lvl9pPr>
              <a:buNone/>
              <a:defRPr sz="3150" b="1">
                <a:solidFill>
                  <a:srgbClr val="076DFC"/>
                </a:solidFill>
                <a:latin typeface="MiSans"/>
                <a:ea typeface="MiSans"/>
                <a:cs typeface="MiSans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3150" b="1">
                <a:solidFill>
                  <a:srgbClr val="076DFC"/>
                </a:solidFill>
                <a:latin typeface="MiSans"/>
                <a:ea typeface="MiSans"/>
                <a:cs typeface="MiSans"/>
              </a:defRPr>
            </a:pPr>
            <a:r>
              <a:rPr sz="3150" b="1">
                <a:solidFill>
                  <a:srgbClr val="076DFC"/>
                </a:solidFill>
                <a:latin typeface="MiSans"/>
                <a:ea typeface="MiSans"/>
                <a:cs typeface="MiSans"/>
              </a:rPr>
              <a:t>0.963</a:t>
            </a:r>
            <a:endParaRPr sz="3000"/>
          </a:p>
        </p:txBody>
      </p:sp>
      <p:sp>
        <p:nvSpPr>
          <p:cNvPr id="57" name="n3-label">
            <a:extLst xmlns:a="http://schemas.openxmlformats.org/drawingml/2006/main">
              <a:ext uri="{FF2B5EF4-FFF2-40B4-BE49-F238E27FC236}">
                <a16:creationId xmlns:a16="http://schemas.microsoft.com/office/drawing/2014/main" id="{FC85E1A5-AE00-43E9-B85B-801269634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4699000"/>
            <a:ext cx="1981200" cy="558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1050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defPPr>
            <a:lvl1pPr>
              <a:buNone/>
              <a:defRPr sz="1050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1pPr>
            <a:lvl2pPr>
              <a:buNone/>
              <a:defRPr sz="1050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2pPr>
            <a:lvl3pPr>
              <a:buNone/>
              <a:defRPr sz="1050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3pPr>
            <a:lvl4pPr>
              <a:buNone/>
              <a:defRPr sz="1050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4pPr>
            <a:lvl5pPr>
              <a:buNone/>
              <a:defRPr sz="1050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5pPr>
            <a:lvl6pPr>
              <a:buNone/>
              <a:defRPr sz="1050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6pPr>
            <a:lvl7pPr>
              <a:buNone/>
              <a:defRPr sz="1050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7pPr>
            <a:lvl8pPr>
              <a:buNone/>
              <a:defRPr sz="1050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8pPr>
            <a:lvl9pPr>
              <a:buNone/>
              <a:defRPr sz="1050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9pPr>
          </a:lstStyle>
          <a:p xmlns:a="http://schemas.openxmlformats.org/drawingml/2006/main">
            <a:pPr algn="l">
              <a:lnSpc>
                <a:spcPct val="150000"/>
              </a:lnSpc>
              <a:buNone/>
              <a:defRPr sz="1050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pPr>
            <a:r>
              <a:rPr sz="1050" b="0">
                <a:solidFill>
                  <a:srgbClr val="3E506E"/>
                </a:solidFill>
                <a:latin typeface="MiSans"/>
                <a:ea typeface="MiSans"/>
                <a:cs typeface="MiSans"/>
              </a:rPr>
              <a:t>标准划分 Macro Dice，分割精度最佳</a:t>
            </a:r>
            <a:endParaRPr sz="1000"/>
          </a:p>
        </p:txBody>
      </p:sp>
      <p:sp>
        <p:nvSpPr>
          <p:cNvPr id="58" name="n4-border">
            <a:extLst xmlns:a="http://schemas.openxmlformats.org/drawingml/2006/main">
              <a:ext uri="{FF2B5EF4-FFF2-40B4-BE49-F238E27FC236}">
                <a16:creationId xmlns:a16="http://schemas.microsoft.com/office/drawing/2014/main" id="{B79B6927-7DF6-4AA5-85CE-3AEC7D014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3962400"/>
            <a:ext cx="34290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8EB3F"/>
          </a:solidFill>
          <a:ln xmlns:a="http://schemas.openxmlformats.org/drawingml/2006/main">
            <a:noFill/>
          </a:ln>
        </p:spPr>
      </p:sp>
      <p:sp>
        <p:nvSpPr>
          <p:cNvPr id="59" name="n4-num">
            <a:extLst xmlns:a="http://schemas.openxmlformats.org/drawingml/2006/main">
              <a:ext uri="{FF2B5EF4-FFF2-40B4-BE49-F238E27FC236}">
                <a16:creationId xmlns:a16="http://schemas.microsoft.com/office/drawing/2014/main" id="{82540A38-73A3-49BB-A2C7-6FE7B3CEF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4140200"/>
            <a:ext cx="1981200" cy="50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>
              <a:defRPr sz="3150" b="1">
                <a:solidFill>
                  <a:srgbClr val="076DFC"/>
                </a:solidFill>
                <a:latin typeface="MiSans"/>
                <a:ea typeface="MiSans"/>
                <a:cs typeface="MiSans"/>
              </a:defRPr>
            </a:defPPr>
            <a:lvl1pPr>
              <a:buNone/>
              <a:defRPr sz="3150" b="1">
                <a:solidFill>
                  <a:srgbClr val="076DFC"/>
                </a:solidFill>
                <a:latin typeface="MiSans"/>
                <a:ea typeface="MiSans"/>
                <a:cs typeface="MiSans"/>
              </a:defRPr>
            </a:lvl1pPr>
            <a:lvl2pPr>
              <a:buNone/>
              <a:defRPr sz="3150" b="1">
                <a:solidFill>
                  <a:srgbClr val="076DFC"/>
                </a:solidFill>
                <a:latin typeface="MiSans"/>
                <a:ea typeface="MiSans"/>
                <a:cs typeface="MiSans"/>
              </a:defRPr>
            </a:lvl2pPr>
            <a:lvl3pPr>
              <a:buNone/>
              <a:defRPr sz="3150" b="1">
                <a:solidFill>
                  <a:srgbClr val="076DFC"/>
                </a:solidFill>
                <a:latin typeface="MiSans"/>
                <a:ea typeface="MiSans"/>
                <a:cs typeface="MiSans"/>
              </a:defRPr>
            </a:lvl3pPr>
            <a:lvl4pPr>
              <a:buNone/>
              <a:defRPr sz="3150" b="1">
                <a:solidFill>
                  <a:srgbClr val="076DFC"/>
                </a:solidFill>
                <a:latin typeface="MiSans"/>
                <a:ea typeface="MiSans"/>
                <a:cs typeface="MiSans"/>
              </a:defRPr>
            </a:lvl4pPr>
            <a:lvl5pPr>
              <a:buNone/>
              <a:defRPr sz="3150" b="1">
                <a:solidFill>
                  <a:srgbClr val="076DFC"/>
                </a:solidFill>
                <a:latin typeface="MiSans"/>
                <a:ea typeface="MiSans"/>
                <a:cs typeface="MiSans"/>
              </a:defRPr>
            </a:lvl5pPr>
            <a:lvl6pPr>
              <a:buNone/>
              <a:defRPr sz="3150" b="1">
                <a:solidFill>
                  <a:srgbClr val="076DFC"/>
                </a:solidFill>
                <a:latin typeface="MiSans"/>
                <a:ea typeface="MiSans"/>
                <a:cs typeface="MiSans"/>
              </a:defRPr>
            </a:lvl6pPr>
            <a:lvl7pPr>
              <a:buNone/>
              <a:defRPr sz="3150" b="1">
                <a:solidFill>
                  <a:srgbClr val="076DFC"/>
                </a:solidFill>
                <a:latin typeface="MiSans"/>
                <a:ea typeface="MiSans"/>
                <a:cs typeface="MiSans"/>
              </a:defRPr>
            </a:lvl7pPr>
            <a:lvl8pPr>
              <a:buNone/>
              <a:defRPr sz="3150" b="1">
                <a:solidFill>
                  <a:srgbClr val="076DFC"/>
                </a:solidFill>
                <a:latin typeface="MiSans"/>
                <a:ea typeface="MiSans"/>
                <a:cs typeface="MiSans"/>
              </a:defRPr>
            </a:lvl8pPr>
            <a:lvl9pPr>
              <a:buNone/>
              <a:defRPr sz="3150" b="1">
                <a:solidFill>
                  <a:srgbClr val="076DFC"/>
                </a:solidFill>
                <a:latin typeface="MiSans"/>
                <a:ea typeface="MiSans"/>
                <a:cs typeface="MiSans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3150" b="1">
                <a:solidFill>
                  <a:srgbClr val="076DFC"/>
                </a:solidFill>
                <a:latin typeface="MiSans"/>
                <a:ea typeface="MiSans"/>
                <a:cs typeface="MiSans"/>
              </a:defRPr>
            </a:pPr>
            <a:r>
              <a:rPr sz="3150" b="1">
                <a:solidFill>
                  <a:srgbClr val="076DFC"/>
                </a:solidFill>
                <a:latin typeface="MiSans"/>
                <a:ea typeface="MiSans"/>
                <a:cs typeface="MiSans"/>
              </a:rPr>
              <a:t>2×100</a:t>
            </a:r>
            <a:endParaRPr sz="3000"/>
          </a:p>
        </p:txBody>
      </p:sp>
      <p:sp>
        <p:nvSpPr>
          <p:cNvPr id="60" name="n4-label">
            <a:extLst xmlns:a="http://schemas.openxmlformats.org/drawingml/2006/main">
              <a:ext uri="{FF2B5EF4-FFF2-40B4-BE49-F238E27FC236}">
                <a16:creationId xmlns:a16="http://schemas.microsoft.com/office/drawing/2014/main" id="{B4B6086F-CF35-4969-9849-0BF67CF0F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4699000"/>
            <a:ext cx="1981200" cy="558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1050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defPPr>
            <a:lvl1pPr>
              <a:buNone/>
              <a:defRPr sz="1050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1pPr>
            <a:lvl2pPr>
              <a:buNone/>
              <a:defRPr sz="1050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2pPr>
            <a:lvl3pPr>
              <a:buNone/>
              <a:defRPr sz="1050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3pPr>
            <a:lvl4pPr>
              <a:buNone/>
              <a:defRPr sz="1050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4pPr>
            <a:lvl5pPr>
              <a:buNone/>
              <a:defRPr sz="1050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5pPr>
            <a:lvl6pPr>
              <a:buNone/>
              <a:defRPr sz="1050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6pPr>
            <a:lvl7pPr>
              <a:buNone/>
              <a:defRPr sz="1050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7pPr>
            <a:lvl8pPr>
              <a:buNone/>
              <a:defRPr sz="1050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8pPr>
            <a:lvl9pPr>
              <a:buNone/>
              <a:defRPr sz="1050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9pPr>
          </a:lstStyle>
          <a:p xmlns:a="http://schemas.openxmlformats.org/drawingml/2006/main">
            <a:pPr algn="l">
              <a:lnSpc>
                <a:spcPct val="150000"/>
              </a:lnSpc>
              <a:buNone/>
              <a:defRPr sz="1050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pPr>
            <a:r>
              <a:rPr sz="1050" b="0">
                <a:solidFill>
                  <a:srgbClr val="3E506E"/>
                </a:solidFill>
                <a:latin typeface="MiSans"/>
                <a:ea typeface="MiSans"/>
                <a:cs typeface="MiSans"/>
              </a:rPr>
              <a:t>欧阳询楷书 + 王羲之行书课程字（Beta）</a:t>
            </a:r>
            <a:endParaRPr sz="1000"/>
          </a:p>
        </p:txBody>
      </p:sp>
      <p:sp>
        <p:nvSpPr>
          <p:cNvPr id="61" name="n5-border">
            <a:extLst xmlns:a="http://schemas.openxmlformats.org/drawingml/2006/main">
              <a:ext uri="{FF2B5EF4-FFF2-40B4-BE49-F238E27FC236}">
                <a16:creationId xmlns:a16="http://schemas.microsoft.com/office/drawing/2014/main" id="{4DBD1211-8EEF-4511-9C2E-8965980CD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3962400"/>
            <a:ext cx="34290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8EB3F"/>
          </a:solidFill>
          <a:ln xmlns:a="http://schemas.openxmlformats.org/drawingml/2006/main">
            <a:noFill/>
          </a:ln>
        </p:spPr>
      </p:sp>
      <p:sp>
        <p:nvSpPr>
          <p:cNvPr id="62" name="n5-num">
            <a:extLst xmlns:a="http://schemas.openxmlformats.org/drawingml/2006/main">
              <a:ext uri="{FF2B5EF4-FFF2-40B4-BE49-F238E27FC236}">
                <a16:creationId xmlns:a16="http://schemas.microsoft.com/office/drawing/2014/main" id="{2230DD10-1136-44EF-9170-DD9C5B584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4140200"/>
            <a:ext cx="1981200" cy="50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>
              <a:defRPr sz="3150" b="1">
                <a:solidFill>
                  <a:srgbClr val="076DFC"/>
                </a:solidFill>
                <a:latin typeface="MiSans"/>
                <a:ea typeface="MiSans"/>
                <a:cs typeface="MiSans"/>
              </a:defRPr>
            </a:defPPr>
            <a:lvl1pPr>
              <a:buNone/>
              <a:defRPr sz="3150" b="1">
                <a:solidFill>
                  <a:srgbClr val="076DFC"/>
                </a:solidFill>
                <a:latin typeface="MiSans"/>
                <a:ea typeface="MiSans"/>
                <a:cs typeface="MiSans"/>
              </a:defRPr>
            </a:lvl1pPr>
            <a:lvl2pPr>
              <a:buNone/>
              <a:defRPr sz="3150" b="1">
                <a:solidFill>
                  <a:srgbClr val="076DFC"/>
                </a:solidFill>
                <a:latin typeface="MiSans"/>
                <a:ea typeface="MiSans"/>
                <a:cs typeface="MiSans"/>
              </a:defRPr>
            </a:lvl2pPr>
            <a:lvl3pPr>
              <a:buNone/>
              <a:defRPr sz="3150" b="1">
                <a:solidFill>
                  <a:srgbClr val="076DFC"/>
                </a:solidFill>
                <a:latin typeface="MiSans"/>
                <a:ea typeface="MiSans"/>
                <a:cs typeface="MiSans"/>
              </a:defRPr>
            </a:lvl3pPr>
            <a:lvl4pPr>
              <a:buNone/>
              <a:defRPr sz="3150" b="1">
                <a:solidFill>
                  <a:srgbClr val="076DFC"/>
                </a:solidFill>
                <a:latin typeface="MiSans"/>
                <a:ea typeface="MiSans"/>
                <a:cs typeface="MiSans"/>
              </a:defRPr>
            </a:lvl4pPr>
            <a:lvl5pPr>
              <a:buNone/>
              <a:defRPr sz="3150" b="1">
                <a:solidFill>
                  <a:srgbClr val="076DFC"/>
                </a:solidFill>
                <a:latin typeface="MiSans"/>
                <a:ea typeface="MiSans"/>
                <a:cs typeface="MiSans"/>
              </a:defRPr>
            </a:lvl5pPr>
            <a:lvl6pPr>
              <a:buNone/>
              <a:defRPr sz="3150" b="1">
                <a:solidFill>
                  <a:srgbClr val="076DFC"/>
                </a:solidFill>
                <a:latin typeface="MiSans"/>
                <a:ea typeface="MiSans"/>
                <a:cs typeface="MiSans"/>
              </a:defRPr>
            </a:lvl6pPr>
            <a:lvl7pPr>
              <a:buNone/>
              <a:defRPr sz="3150" b="1">
                <a:solidFill>
                  <a:srgbClr val="076DFC"/>
                </a:solidFill>
                <a:latin typeface="MiSans"/>
                <a:ea typeface="MiSans"/>
                <a:cs typeface="MiSans"/>
              </a:defRPr>
            </a:lvl7pPr>
            <a:lvl8pPr>
              <a:buNone/>
              <a:defRPr sz="3150" b="1">
                <a:solidFill>
                  <a:srgbClr val="076DFC"/>
                </a:solidFill>
                <a:latin typeface="MiSans"/>
                <a:ea typeface="MiSans"/>
                <a:cs typeface="MiSans"/>
              </a:defRPr>
            </a:lvl8pPr>
            <a:lvl9pPr>
              <a:buNone/>
              <a:defRPr sz="3150" b="1">
                <a:solidFill>
                  <a:srgbClr val="076DFC"/>
                </a:solidFill>
                <a:latin typeface="MiSans"/>
                <a:ea typeface="MiSans"/>
                <a:cs typeface="MiSans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3150" b="1">
                <a:solidFill>
                  <a:srgbClr val="076DFC"/>
                </a:solidFill>
                <a:latin typeface="MiSans"/>
                <a:ea typeface="MiSans"/>
                <a:cs typeface="MiSans"/>
              </a:defRPr>
            </a:pPr>
            <a:r>
              <a:rPr sz="3150" b="1">
                <a:solidFill>
                  <a:srgbClr val="076DFC"/>
                </a:solidFill>
                <a:latin typeface="MiSans"/>
                <a:ea typeface="MiSans"/>
                <a:cs typeface="MiSans"/>
              </a:rPr>
              <a:t>18</a:t>
            </a:r>
            <a:endParaRPr sz="3000"/>
          </a:p>
        </p:txBody>
      </p:sp>
      <p:sp>
        <p:nvSpPr>
          <p:cNvPr id="63" name="n5-label">
            <a:extLst xmlns:a="http://schemas.openxmlformats.org/drawingml/2006/main">
              <a:ext uri="{FF2B5EF4-FFF2-40B4-BE49-F238E27FC236}">
                <a16:creationId xmlns:a16="http://schemas.microsoft.com/office/drawing/2014/main" id="{8577C719-27DF-4937-BE48-CF2382AFC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4699000"/>
            <a:ext cx="1981200" cy="558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1050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defPPr>
            <a:lvl1pPr>
              <a:buNone/>
              <a:defRPr sz="1050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1pPr>
            <a:lvl2pPr>
              <a:buNone/>
              <a:defRPr sz="1050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2pPr>
            <a:lvl3pPr>
              <a:buNone/>
              <a:defRPr sz="1050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3pPr>
            <a:lvl4pPr>
              <a:buNone/>
              <a:defRPr sz="1050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4pPr>
            <a:lvl5pPr>
              <a:buNone/>
              <a:defRPr sz="1050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5pPr>
            <a:lvl6pPr>
              <a:buNone/>
              <a:defRPr sz="1050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6pPr>
            <a:lvl7pPr>
              <a:buNone/>
              <a:defRPr sz="1050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7pPr>
            <a:lvl8pPr>
              <a:buNone/>
              <a:defRPr sz="1050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8pPr>
            <a:lvl9pPr>
              <a:buNone/>
              <a:defRPr sz="1050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9pPr>
          </a:lstStyle>
          <a:p xmlns:a="http://schemas.openxmlformats.org/drawingml/2006/main">
            <a:pPr algn="l">
              <a:lnSpc>
                <a:spcPct val="150000"/>
              </a:lnSpc>
              <a:buNone/>
              <a:defRPr sz="1050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pPr>
            <a:r>
              <a:rPr sz="1050" b="0">
                <a:solidFill>
                  <a:srgbClr val="3E506E"/>
                </a:solidFill>
                <a:latin typeface="MiSans"/>
                <a:ea typeface="MiSans"/>
                <a:cs typeface="MiSans"/>
              </a:rPr>
              <a:t>组正式基准实验：3 模型 × 2 划分 × 3 种子</a:t>
            </a:r>
            <a:endParaRPr sz="1000"/>
          </a:p>
        </p:txBody>
      </p:sp>
      <p:sp>
        <p:nvSpPr>
          <p:cNvPr id="64" name="concl-band">
            <a:extLst xmlns:a="http://schemas.openxmlformats.org/drawingml/2006/main">
              <a:ext uri="{FF2B5EF4-FFF2-40B4-BE49-F238E27FC236}">
                <a16:creationId xmlns:a16="http://schemas.microsoft.com/office/drawing/2014/main" id="{758E5B4C-CDE0-4068-AC9E-F714A43B4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88000"/>
            <a:ext cx="10972800" cy="660400"/>
          </a:xfrm>
          <a:prstGeom xmlns:a="http://schemas.openxmlformats.org/drawingml/2006/main" prst="roundRect">
            <a:avLst>
              <a:gd name="adj" fmla="val 17308"/>
            </a:avLst>
          </a:prstGeom>
          <a:solidFill xmlns:a="http://schemas.openxmlformats.org/drawingml/2006/main">
            <a:srgbClr val="EEF4FE"/>
          </a:solidFill>
          <a:ln xmlns:a="http://schemas.openxmlformats.org/drawingml/2006/main">
            <a:noFill/>
          </a:ln>
        </p:spPr>
      </p:sp>
      <p:sp>
        <p:nvSpPr>
          <p:cNvPr id="65" name="concl-bar">
            <a:extLst xmlns:a="http://schemas.openxmlformats.org/drawingml/2006/main">
              <a:ext uri="{FF2B5EF4-FFF2-40B4-BE49-F238E27FC236}">
                <a16:creationId xmlns:a16="http://schemas.microsoft.com/office/drawing/2014/main" id="{845D345A-E2C4-4232-ACE8-C20428CA5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88000"/>
            <a:ext cx="50800" cy="660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8EB3F"/>
          </a:solidFill>
          <a:ln xmlns:a="http://schemas.openxmlformats.org/drawingml/2006/main">
            <a:noFill/>
          </a:ln>
        </p:spPr>
      </p:sp>
      <p:sp>
        <p:nvSpPr>
          <p:cNvPr id="66" name="concl-text">
            <a:extLst xmlns:a="http://schemas.openxmlformats.org/drawingml/2006/main">
              <a:ext uri="{FF2B5EF4-FFF2-40B4-BE49-F238E27FC236}">
                <a16:creationId xmlns:a16="http://schemas.microsoft.com/office/drawing/2014/main" id="{6E7B7425-2363-4EAE-96F1-AF916D219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600" y="5588000"/>
            <a:ext cx="10541000" cy="660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60000"/>
              </a:lnSpc>
              <a:buNone/>
            </a:pPr>
            <a:r>
              <a:rPr sz="1250" b="1">
                <a:solidFill>
                  <a:srgbClr val="14213D"/>
                </a:solidFill>
                <a:latin typeface="MiSans"/>
                <a:ea typeface="MiSans"/>
                <a:cs typeface="MiSans"/>
              </a:rPr>
              <a:t>立项时承诺的「</a:t>
            </a:r>
            <a:r>
              <a:rPr sz="1250" b="1">
                <a:solidFill>
                  <a:srgbClr val="14213D"/>
                </a:solidFill>
                <a:latin typeface="MiSans"/>
                <a:ea typeface="MiSans"/>
                <a:cs typeface="MiSans"/>
              </a:rPr>
              <a:t>数据 → 模型 → 评分 → 反馈 → 双端应用</a:t>
            </a:r>
            <a:r>
              <a:rPr sz="1250" b="1">
                <a:solidFill>
                  <a:srgbClr val="14213D"/>
                </a:solidFill>
                <a:latin typeface="MiSans"/>
                <a:ea typeface="MiSans"/>
                <a:cs typeface="MiSans"/>
              </a:rPr>
              <a:t>」主链路已全部落地，</a:t>
            </a:r>
            <a:r>
              <a:rPr sz="1250" b="1">
                <a:solidFill>
                  <a:srgbClr val="14213D"/>
                </a:solidFill>
                <a:latin typeface="MiSans"/>
                <a:ea typeface="MiSans"/>
                <a:cs typeface="MiSans"/>
              </a:rPr>
              <a:t>论文与真实场景验证</a:t>
            </a:r>
            <a:r>
              <a:rPr sz="1250" b="1">
                <a:solidFill>
                  <a:srgbClr val="14213D"/>
                </a:solidFill>
                <a:latin typeface="MiSans"/>
                <a:ea typeface="MiSans"/>
                <a:cs typeface="MiSans"/>
              </a:rPr>
              <a:t>进入收尾阶段。</a:t>
            </a:r>
            <a:endParaRPr sz="1250"/>
          </a:p>
        </p:txBody>
      </p:sp>
      <p:sp>
        <p:nvSpPr>
          <p:cNvPr id="67" name="ft-line">
            <a:extLst xmlns:a="http://schemas.openxmlformats.org/drawingml/2006/main">
              <a:ext uri="{FF2B5EF4-FFF2-40B4-BE49-F238E27FC236}">
                <a16:creationId xmlns:a16="http://schemas.microsoft.com/office/drawing/2014/main" id="{6438D260-2323-4514-918D-F1519A21A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2400"/>
            <a:ext cx="10972800" cy="12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8" name="ft-left">
            <a:extLst xmlns:a="http://schemas.openxmlformats.org/drawingml/2006/main">
              <a:ext uri="{FF2B5EF4-FFF2-40B4-BE49-F238E27FC236}">
                <a16:creationId xmlns:a16="http://schemas.microsoft.com/office/drawing/2014/main" id="{1CFE061C-C1DF-4269-9519-E401AF12A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8600"/>
            <a:ext cx="3048000" cy="17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/>
          <a:lstStyle xmlns:a="http://schemas.openxmlformats.org/drawingml/2006/main">
            <a:defPPr>
              <a:defRPr sz="863" b="0">
                <a:solidFill>
                  <a:srgbClr val="D8E8FF"/>
                </a:solidFill>
                <a:latin typeface="MiSans"/>
                <a:ea typeface="MiSans"/>
                <a:cs typeface="MiSans"/>
              </a:defRPr>
            </a:defPPr>
            <a:lvl1pPr>
              <a:buNone/>
              <a:defRPr sz="863" b="0">
                <a:solidFill>
                  <a:srgbClr val="7A8CA7"/>
                </a:solidFill>
                <a:latin typeface="MiSans"/>
                <a:ea typeface="MiSans"/>
                <a:cs typeface="MiSans"/>
              </a:defRPr>
            </a:lvl1pPr>
            <a:lvl2pPr>
              <a:buNone/>
              <a:defRPr sz="863" b="0">
                <a:solidFill>
                  <a:srgbClr val="7A8CA7"/>
                </a:solidFill>
                <a:latin typeface="MiSans"/>
                <a:ea typeface="MiSans"/>
                <a:cs typeface="MiSans"/>
              </a:defRPr>
            </a:lvl2pPr>
            <a:lvl3pPr>
              <a:buNone/>
              <a:defRPr sz="863" b="0">
                <a:solidFill>
                  <a:srgbClr val="7A8CA7"/>
                </a:solidFill>
                <a:latin typeface="MiSans"/>
                <a:ea typeface="MiSans"/>
                <a:cs typeface="MiSans"/>
              </a:defRPr>
            </a:lvl3pPr>
            <a:lvl4pPr>
              <a:buNone/>
              <a:defRPr sz="863" b="0">
                <a:solidFill>
                  <a:srgbClr val="7A8CA7"/>
                </a:solidFill>
                <a:latin typeface="MiSans"/>
                <a:ea typeface="MiSans"/>
                <a:cs typeface="MiSans"/>
              </a:defRPr>
            </a:lvl4pPr>
            <a:lvl5pPr>
              <a:buNone/>
              <a:defRPr sz="863" b="0">
                <a:solidFill>
                  <a:srgbClr val="7A8CA7"/>
                </a:solidFill>
                <a:latin typeface="MiSans"/>
                <a:ea typeface="MiSans"/>
                <a:cs typeface="MiSans"/>
              </a:defRPr>
            </a:lvl5pPr>
            <a:lvl6pPr>
              <a:buNone/>
              <a:defRPr sz="863" b="0">
                <a:solidFill>
                  <a:srgbClr val="7A8CA7"/>
                </a:solidFill>
                <a:latin typeface="MiSans"/>
                <a:ea typeface="MiSans"/>
                <a:cs typeface="MiSans"/>
              </a:defRPr>
            </a:lvl6pPr>
            <a:lvl7pPr>
              <a:buNone/>
              <a:defRPr sz="863" b="0">
                <a:solidFill>
                  <a:srgbClr val="7A8CA7"/>
                </a:solidFill>
                <a:latin typeface="MiSans"/>
                <a:ea typeface="MiSans"/>
                <a:cs typeface="MiSans"/>
              </a:defRPr>
            </a:lvl7pPr>
            <a:lvl8pPr>
              <a:buNone/>
              <a:defRPr sz="863" b="0">
                <a:solidFill>
                  <a:srgbClr val="7A8CA7"/>
                </a:solidFill>
                <a:latin typeface="MiSans"/>
                <a:ea typeface="MiSans"/>
                <a:cs typeface="MiSans"/>
              </a:defRPr>
            </a:lvl8pPr>
            <a:lvl9pPr>
              <a:buNone/>
              <a:defRPr sz="863" b="0">
                <a:solidFill>
                  <a:srgbClr val="7A8CA7"/>
                </a:solidFill>
                <a:latin typeface="MiSans"/>
                <a:ea typeface="MiSans"/>
                <a:cs typeface="MiSans"/>
              </a:defRPr>
            </a:lvl9pPr>
          </a:lstStyle>
          <a:p xmlns:a="http://schemas.openxmlformats.org/drawingml/2006/main">
            <a:pPr>
              <a:lnSpc>
                <a:spcPct val="120000"/>
              </a:lnSpc>
              <a:buNone/>
              <a:defRPr sz="863" b="0">
                <a:solidFill>
                  <a:srgbClr val="D8E8FF"/>
                </a:solidFill>
                <a:latin typeface="MiSans"/>
                <a:ea typeface="MiSans"/>
                <a:cs typeface="MiSans"/>
              </a:defRPr>
            </a:pPr>
            <a:r>
              <a:rPr sz="863" b="0">
                <a:solidFill>
                  <a:srgbClr val="D8E8FF"/>
                </a:solidFill>
                <a:latin typeface="MiSans"/>
                <a:ea typeface="MiSans"/>
                <a:cs typeface="MiSans"/>
              </a:rPr>
              <a:t>一笔成章 · 2026 中期汇报</a:t>
            </a:r>
            <a:endParaRPr sz="900"/>
          </a:p>
        </p:txBody>
      </p:sp>
      <p:sp>
        <p:nvSpPr>
          <p:cNvPr id="69" name="ft-page">
            <a:extLst xmlns:a="http://schemas.openxmlformats.org/drawingml/2006/main">
              <a:ext uri="{FF2B5EF4-FFF2-40B4-BE49-F238E27FC236}">
                <a16:creationId xmlns:a16="http://schemas.microsoft.com/office/drawing/2014/main" id="{DF80626D-B30B-4328-A087-532E25ED9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6578600"/>
            <a:ext cx="914400" cy="17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>
            <a:defPPr>
              <a:defRPr sz="863" b="0">
                <a:solidFill>
                  <a:srgbClr val="D8E8FF"/>
                </a:solidFill>
                <a:latin typeface="MiSans"/>
                <a:ea typeface="MiSans"/>
                <a:cs typeface="MiSans"/>
              </a:defRPr>
            </a:defPPr>
            <a:lvl1pPr>
              <a:buNone/>
              <a:defRPr sz="863" b="0">
                <a:solidFill>
                  <a:srgbClr val="7A8CA7"/>
                </a:solidFill>
                <a:latin typeface="MiSans"/>
                <a:ea typeface="MiSans"/>
                <a:cs typeface="MiSans"/>
              </a:defRPr>
            </a:lvl1pPr>
            <a:lvl2pPr>
              <a:buNone/>
              <a:defRPr sz="863" b="0">
                <a:solidFill>
                  <a:srgbClr val="7A8CA7"/>
                </a:solidFill>
                <a:latin typeface="MiSans"/>
                <a:ea typeface="MiSans"/>
                <a:cs typeface="MiSans"/>
              </a:defRPr>
            </a:lvl2pPr>
            <a:lvl3pPr>
              <a:buNone/>
              <a:defRPr sz="863" b="0">
                <a:solidFill>
                  <a:srgbClr val="7A8CA7"/>
                </a:solidFill>
                <a:latin typeface="MiSans"/>
                <a:ea typeface="MiSans"/>
                <a:cs typeface="MiSans"/>
              </a:defRPr>
            </a:lvl3pPr>
            <a:lvl4pPr>
              <a:buNone/>
              <a:defRPr sz="863" b="0">
                <a:solidFill>
                  <a:srgbClr val="7A8CA7"/>
                </a:solidFill>
                <a:latin typeface="MiSans"/>
                <a:ea typeface="MiSans"/>
                <a:cs typeface="MiSans"/>
              </a:defRPr>
            </a:lvl4pPr>
            <a:lvl5pPr>
              <a:buNone/>
              <a:defRPr sz="863" b="0">
                <a:solidFill>
                  <a:srgbClr val="7A8CA7"/>
                </a:solidFill>
                <a:latin typeface="MiSans"/>
                <a:ea typeface="MiSans"/>
                <a:cs typeface="MiSans"/>
              </a:defRPr>
            </a:lvl5pPr>
            <a:lvl6pPr>
              <a:buNone/>
              <a:defRPr sz="863" b="0">
                <a:solidFill>
                  <a:srgbClr val="7A8CA7"/>
                </a:solidFill>
                <a:latin typeface="MiSans"/>
                <a:ea typeface="MiSans"/>
                <a:cs typeface="MiSans"/>
              </a:defRPr>
            </a:lvl6pPr>
            <a:lvl7pPr>
              <a:buNone/>
              <a:defRPr sz="863" b="0">
                <a:solidFill>
                  <a:srgbClr val="7A8CA7"/>
                </a:solidFill>
                <a:latin typeface="MiSans"/>
                <a:ea typeface="MiSans"/>
                <a:cs typeface="MiSans"/>
              </a:defRPr>
            </a:lvl7pPr>
            <a:lvl8pPr>
              <a:buNone/>
              <a:defRPr sz="863" b="0">
                <a:solidFill>
                  <a:srgbClr val="7A8CA7"/>
                </a:solidFill>
                <a:latin typeface="MiSans"/>
                <a:ea typeface="MiSans"/>
                <a:cs typeface="MiSans"/>
              </a:defRPr>
            </a:lvl8pPr>
            <a:lvl9pPr>
              <a:buNone/>
              <a:defRPr sz="863" b="0">
                <a:solidFill>
                  <a:srgbClr val="7A8CA7"/>
                </a:solidFill>
                <a:latin typeface="MiSans"/>
                <a:ea typeface="MiSans"/>
                <a:cs typeface="MiSans"/>
              </a:defRPr>
            </a:lvl9pPr>
          </a:lstStyle>
          <a:p xmlns:a="http://schemas.openxmlformats.org/drawingml/2006/main">
            <a:pPr algn="r">
              <a:lnSpc>
                <a:spcPct val="120000"/>
              </a:lnSpc>
              <a:buNone/>
              <a:defRPr sz="863" b="0">
                <a:solidFill>
                  <a:srgbClr val="D8E8FF"/>
                </a:solidFill>
                <a:latin typeface="MiSans"/>
                <a:ea typeface="MiSans"/>
                <a:cs typeface="MiSans"/>
              </a:defRPr>
            </a:pPr>
            <a:r>
              <a:rPr sz="863" b="0">
                <a:solidFill>
                  <a:srgbClr val="D8E8FF"/>
                </a:solidFill>
                <a:latin typeface="MiSans"/>
                <a:ea typeface="MiSans"/>
                <a:cs typeface="MiSans"/>
              </a:rPr>
              <a:t>06 / 13</a:t>
            </a:r>
            <a:endParaRPr sz="900"/>
          </a:p>
        </p:txBody>
      </p:sp>
    </p:spTree>
    <p:extLst>
      <p:ext uri="{BB962C8B-B14F-4D97-AF65-F5344CB8AC3E}">
        <p14:creationId xmlns:p14="http://schemas.microsoft.com/office/powerpoint/2010/main" val="1149492596"/>
      </p:ext>
    </p:extLst>
  </p:cSld>
</p:sld>
</file>

<file path=ppt/slides/slide7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E7EFFB"/>
            </a:gs>
            <a:gs pos="48000">
              <a:srgbClr val="F1F5FC"/>
            </a:gs>
            <a:gs pos="100000">
              <a:srgbClr val="E9F2FF"/>
            </a:gs>
          </a:gsLst>
          <a:lin ang="168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5265AC8-2C5D-4796-BCE6-21E61ADB615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1218e71a70f4951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6" name="reference-cover-triangle">
            <a:extLst xmlns:a="http://schemas.openxmlformats.org/drawingml/2006/main">
              <a:ext uri="{FF2B5EF4-FFF2-40B4-BE49-F238E27FC236}">
                <a16:creationId xmlns:a16="http://schemas.microsoft.com/office/drawing/2014/main" id="{738DC8C9-4432-4C82-9175-713CF6C98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0" y="5905500"/>
            <a:ext cx="533400" cy="381000"/>
          </a:xfrm>
          <a:prstGeom xmlns:a="http://schemas.openxmlformats.org/drawingml/2006/main" prst="triangl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5" name="reference-cover-ring">
            <a:extLst xmlns:a="http://schemas.openxmlformats.org/drawingml/2006/main">
              <a:ext uri="{FF2B5EF4-FFF2-40B4-BE49-F238E27FC236}">
                <a16:creationId xmlns:a16="http://schemas.microsoft.com/office/drawing/2014/main" id="{2CF4E902-7B0A-49DD-A6AF-67CEC0392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95250"/>
            <a:ext cx="1181100" cy="11811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" name="hd-bar">
            <a:extLst xmlns:a="http://schemas.openxmlformats.org/drawingml/2006/main">
              <a:ext uri="{FF2B5EF4-FFF2-40B4-BE49-F238E27FC236}">
                <a16:creationId xmlns:a16="http://schemas.microsoft.com/office/drawing/2014/main" id="{67875ED6-E4DC-4E1F-A217-196C10EE1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8000"/>
            <a:ext cx="76200" cy="3048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" name="hd-title">
            <a:extLst xmlns:a="http://schemas.openxmlformats.org/drawingml/2006/main">
              <a:ext uri="{FF2B5EF4-FFF2-40B4-BE49-F238E27FC236}">
                <a16:creationId xmlns:a16="http://schemas.microsoft.com/office/drawing/2014/main" id="{511586E2-9731-4831-854E-4FA8BCDE5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19100"/>
            <a:ext cx="101346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>
              <a:defRPr sz="2200" b="1">
                <a:solidFill>
                  <a:srgbClr val="FFFFFF"/>
                </a:solidFill>
              </a:defRPr>
            </a:defPPr>
            <a:lvl1pPr>
              <a:defRPr sz="2200" b="1">
                <a:solidFill>
                  <a:srgbClr val="FFFFFF"/>
                </a:solidFill>
              </a:defRPr>
            </a:lvl1pPr>
            <a:lvl2pPr>
              <a:defRPr sz="2200" b="1">
                <a:solidFill>
                  <a:srgbClr val="FFFFFF"/>
                </a:solidFill>
              </a:defRPr>
            </a:lvl2pPr>
            <a:lvl3pPr>
              <a:defRPr sz="2200" b="1">
                <a:solidFill>
                  <a:srgbClr val="FFFFFF"/>
                </a:solidFill>
              </a:defRPr>
            </a:lvl3pPr>
            <a:lvl4pPr>
              <a:defRPr sz="2200" b="1">
                <a:solidFill>
                  <a:srgbClr val="FFFFFF"/>
                </a:solidFill>
              </a:defRPr>
            </a:lvl4pPr>
            <a:lvl5pPr>
              <a:defRPr sz="2200" b="1">
                <a:solidFill>
                  <a:srgbClr val="FFFFFF"/>
                </a:solidFill>
              </a:defRPr>
            </a:lvl5pPr>
            <a:lvl6pPr>
              <a:defRPr sz="2200" b="1">
                <a:solidFill>
                  <a:srgbClr val="FFFFFF"/>
                </a:solidFill>
              </a:defRPr>
            </a:lvl6pPr>
            <a:lvl7pPr>
              <a:defRPr sz="2200" b="1">
                <a:solidFill>
                  <a:srgbClr val="FFFFFF"/>
                </a:solidFill>
              </a:defRPr>
            </a:lvl7pPr>
            <a:lvl8pPr>
              <a:defRPr sz="2200" b="1">
                <a:solidFill>
                  <a:srgbClr val="FFFFFF"/>
                </a:solidFill>
              </a:defRPr>
            </a:lvl8pPr>
            <a:lvl9pPr>
              <a:defRPr sz="220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2200" b="1">
                <a:solidFill>
                  <a:srgbClr val="FFFFFF"/>
                </a:solidFill>
              </a:defRPr>
            </a:pPr>
            <a:r>
              <a:rPr sz="2200" b="1">
                <a:solidFill>
                  <a:srgbClr val="FFFFFF"/>
                </a:solidFill>
                <a:latin typeface="MiSans"/>
                <a:ea typeface="MiSans"/>
                <a:cs typeface="MiSans"/>
              </a:rPr>
              <a:t>核心进展 ① 数据治理与笔画结构分割模型</a:t>
            </a:r>
            <a:endParaRPr sz="2200"/>
          </a:p>
        </p:txBody>
      </p:sp>
      <p:sp>
        <p:nvSpPr>
          <p:cNvPr id="4" name="hd-tag">
            <a:extLst xmlns:a="http://schemas.openxmlformats.org/drawingml/2006/main">
              <a:ext uri="{FF2B5EF4-FFF2-40B4-BE49-F238E27FC236}">
                <a16:creationId xmlns:a16="http://schemas.microsoft.com/office/drawing/2014/main" id="{7EEA0BA7-EBDC-42A7-B222-CE3C75838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180975"/>
            <a:ext cx="762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900" b="0">
                <a:solidFill>
                  <a:srgbClr val="CBE1FF"/>
                </a:solidFill>
                <a:latin typeface="MiSans"/>
                <a:ea typeface="MiSans"/>
                <a:cs typeface="MiSans"/>
              </a:defRPr>
            </a:defPPr>
            <a:lvl1pPr algn="l">
              <a:buNone/>
              <a:defRPr sz="975" b="0">
                <a:solidFill>
                  <a:srgbClr val="076DFC"/>
                </a:solidFill>
                <a:latin typeface="MiSans"/>
                <a:ea typeface="MiSans"/>
                <a:cs typeface="MiSans"/>
              </a:defRPr>
            </a:lvl1pPr>
            <a:lvl2pPr algn="l">
              <a:buNone/>
              <a:defRPr sz="975" b="0">
                <a:solidFill>
                  <a:srgbClr val="076DFC"/>
                </a:solidFill>
                <a:latin typeface="MiSans"/>
                <a:ea typeface="MiSans"/>
                <a:cs typeface="MiSans"/>
              </a:defRPr>
            </a:lvl2pPr>
            <a:lvl3pPr algn="l">
              <a:buNone/>
              <a:defRPr sz="975" b="0">
                <a:solidFill>
                  <a:srgbClr val="076DFC"/>
                </a:solidFill>
                <a:latin typeface="MiSans"/>
                <a:ea typeface="MiSans"/>
                <a:cs typeface="MiSans"/>
              </a:defRPr>
            </a:lvl3pPr>
            <a:lvl4pPr algn="l">
              <a:buNone/>
              <a:defRPr sz="975" b="0">
                <a:solidFill>
                  <a:srgbClr val="076DFC"/>
                </a:solidFill>
                <a:latin typeface="MiSans"/>
                <a:ea typeface="MiSans"/>
                <a:cs typeface="MiSans"/>
              </a:defRPr>
            </a:lvl4pPr>
            <a:lvl5pPr algn="l">
              <a:buNone/>
              <a:defRPr sz="975" b="0">
                <a:solidFill>
                  <a:srgbClr val="076DFC"/>
                </a:solidFill>
                <a:latin typeface="MiSans"/>
                <a:ea typeface="MiSans"/>
                <a:cs typeface="MiSans"/>
              </a:defRPr>
            </a:lvl5pPr>
            <a:lvl6pPr algn="l">
              <a:buNone/>
              <a:defRPr sz="975" b="0">
                <a:solidFill>
                  <a:srgbClr val="076DFC"/>
                </a:solidFill>
                <a:latin typeface="MiSans"/>
                <a:ea typeface="MiSans"/>
                <a:cs typeface="MiSans"/>
              </a:defRPr>
            </a:lvl6pPr>
            <a:lvl7pPr algn="l">
              <a:buNone/>
              <a:defRPr sz="975" b="0">
                <a:solidFill>
                  <a:srgbClr val="076DFC"/>
                </a:solidFill>
                <a:latin typeface="MiSans"/>
                <a:ea typeface="MiSans"/>
                <a:cs typeface="MiSans"/>
              </a:defRPr>
            </a:lvl7pPr>
            <a:lvl8pPr algn="l">
              <a:buNone/>
              <a:defRPr sz="975" b="0">
                <a:solidFill>
                  <a:srgbClr val="076DFC"/>
                </a:solidFill>
                <a:latin typeface="MiSans"/>
                <a:ea typeface="MiSans"/>
                <a:cs typeface="MiSans"/>
              </a:defRPr>
            </a:lvl8pPr>
            <a:lvl9pPr algn="l">
              <a:buNone/>
              <a:defRPr sz="975" b="0">
                <a:solidFill>
                  <a:srgbClr val="076DFC"/>
                </a:solidFill>
                <a:latin typeface="MiSans"/>
                <a:ea typeface="MiSans"/>
                <a:cs typeface="MiSans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900" b="0">
                <a:solidFill>
                  <a:srgbClr val="CBE1FF"/>
                </a:solidFill>
                <a:latin typeface="MiSans"/>
                <a:ea typeface="MiSans"/>
                <a:cs typeface="MiSans"/>
              </a:defRPr>
            </a:pPr>
            <a:r>
              <a:rPr sz="900" b="0">
                <a:solidFill>
                  <a:srgbClr val="CBE1FF"/>
                </a:solidFill>
                <a:latin typeface="MiSans"/>
                <a:ea typeface="MiSans"/>
                <a:cs typeface="MiSans"/>
              </a:rPr>
              <a:t>02 · 中期核心进展</a:t>
            </a:r>
            <a:endParaRPr sz="1000"/>
          </a:p>
        </p:txBody>
      </p:sp>
      <p:sp>
        <p:nvSpPr>
          <p:cNvPr id="5" name="hd-line">
            <a:extLst xmlns:a="http://schemas.openxmlformats.org/drawingml/2006/main">
              <a:ext uri="{FF2B5EF4-FFF2-40B4-BE49-F238E27FC236}">
                <a16:creationId xmlns:a16="http://schemas.microsoft.com/office/drawing/2014/main" id="{5566FCDC-DCBB-48D4-8DAD-DA728EDD7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90600"/>
            <a:ext cx="742950" cy="28575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6" name="m1-marker">
            <a:extLst xmlns:a="http://schemas.openxmlformats.org/drawingml/2006/main">
              <a:ext uri="{FF2B5EF4-FFF2-40B4-BE49-F238E27FC236}">
                <a16:creationId xmlns:a16="http://schemas.microsoft.com/office/drawing/2014/main" id="{FA0E4528-B653-4303-967D-25BFC8977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46200"/>
            <a:ext cx="127000" cy="127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8EB3F"/>
          </a:solidFill>
          <a:ln xmlns:a="http://schemas.openxmlformats.org/drawingml/2006/main">
            <a:noFill/>
          </a:ln>
        </p:spPr>
      </p:sp>
      <p:sp>
        <p:nvSpPr>
          <p:cNvPr id="7" name="m1-lead">
            <a:extLst xmlns:a="http://schemas.openxmlformats.org/drawingml/2006/main">
              <a:ext uri="{FF2B5EF4-FFF2-40B4-BE49-F238E27FC236}">
                <a16:creationId xmlns:a16="http://schemas.microsoft.com/office/drawing/2014/main" id="{32B62764-8E5B-4127-B781-C8FEB48FB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600" y="1244600"/>
            <a:ext cx="482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</a:pPr>
            <a:r>
              <a:rPr sz="1350" b="1">
                <a:solidFill>
                  <a:srgbClr val="14213D"/>
                </a:solidFill>
                <a:latin typeface="MiSans"/>
                <a:ea typeface="MiSans"/>
                <a:cs typeface="MiSans"/>
              </a:rPr>
              <a:t>六通道结构表示</a:t>
            </a:r>
            <a:endParaRPr sz="1350"/>
          </a:p>
        </p:txBody>
      </p:sp>
      <p:sp>
        <p:nvSpPr>
          <p:cNvPr id="8" name="m1-desc">
            <a:extLst xmlns:a="http://schemas.openxmlformats.org/drawingml/2006/main">
              <a:ext uri="{FF2B5EF4-FFF2-40B4-BE49-F238E27FC236}">
                <a16:creationId xmlns:a16="http://schemas.microsoft.com/office/drawing/2014/main" id="{19B407A6-2216-4146-96A6-DA39AD119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600" y="1574800"/>
            <a:ext cx="5130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1088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defPPr>
            <a:lvl1pPr>
              <a:buNone/>
              <a:defRPr sz="1088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1pPr>
            <a:lvl2pPr>
              <a:buNone/>
              <a:defRPr sz="1088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2pPr>
            <a:lvl3pPr>
              <a:buNone/>
              <a:defRPr sz="1088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3pPr>
            <a:lvl4pPr>
              <a:buNone/>
              <a:defRPr sz="1088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4pPr>
            <a:lvl5pPr>
              <a:buNone/>
              <a:defRPr sz="1088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5pPr>
            <a:lvl6pPr>
              <a:buNone/>
              <a:defRPr sz="1088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6pPr>
            <a:lvl7pPr>
              <a:buNone/>
              <a:defRPr sz="1088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7pPr>
            <a:lvl8pPr>
              <a:buNone/>
              <a:defRPr sz="1088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8pPr>
            <a:lvl9pPr>
              <a:buNone/>
              <a:defRPr sz="1088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9pPr>
          </a:lstStyle>
          <a:p xmlns:a="http://schemas.openxmlformats.org/drawingml/2006/main">
            <a:pPr algn="l">
              <a:lnSpc>
                <a:spcPct val="140000"/>
              </a:lnSpc>
              <a:buNone/>
              <a:defRPr sz="1088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pPr>
            <a:r>
              <a:rPr sz="1088" b="0">
                <a:solidFill>
                  <a:srgbClr val="3E506E"/>
                </a:solidFill>
                <a:latin typeface="MiSans"/>
                <a:ea typeface="MiSans"/>
                <a:cs typeface="MiSans"/>
              </a:rPr>
              <a:t>横、竖、左斜、右斜、复合五方向 + 关键点通道，允许交叉区域重叠激活，笔画不再被强行切开。</a:t>
            </a:r>
            <a:endParaRPr sz="1050"/>
          </a:p>
        </p:txBody>
      </p:sp>
      <p:sp>
        <p:nvSpPr>
          <p:cNvPr id="9" name="m2-marker">
            <a:extLst xmlns:a="http://schemas.openxmlformats.org/drawingml/2006/main">
              <a:ext uri="{FF2B5EF4-FFF2-40B4-BE49-F238E27FC236}">
                <a16:creationId xmlns:a16="http://schemas.microsoft.com/office/drawing/2014/main" id="{1C38EB76-5FA5-4838-B257-FA860CE99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60600"/>
            <a:ext cx="127000" cy="127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8EB3F"/>
          </a:solidFill>
          <a:ln xmlns:a="http://schemas.openxmlformats.org/drawingml/2006/main">
            <a:noFill/>
          </a:ln>
        </p:spPr>
      </p:sp>
      <p:sp>
        <p:nvSpPr>
          <p:cNvPr id="10" name="m2-lead">
            <a:extLst xmlns:a="http://schemas.openxmlformats.org/drawingml/2006/main">
              <a:ext uri="{FF2B5EF4-FFF2-40B4-BE49-F238E27FC236}">
                <a16:creationId xmlns:a16="http://schemas.microsoft.com/office/drawing/2014/main" id="{BEC3C1A2-964C-4A71-B030-750BB8355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600" y="2159000"/>
            <a:ext cx="482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</a:pPr>
            <a:r>
              <a:rPr sz="1350" b="1">
                <a:solidFill>
                  <a:srgbClr val="14213D"/>
                </a:solidFill>
                <a:latin typeface="MiSans"/>
                <a:ea typeface="MiSans"/>
                <a:cs typeface="MiSans"/>
              </a:rPr>
              <a:t>数据资产抢救与治理</a:t>
            </a:r>
            <a:endParaRPr sz="1350"/>
          </a:p>
        </p:txBody>
      </p:sp>
      <p:sp>
        <p:nvSpPr>
          <p:cNvPr id="11" name="m2-desc">
            <a:extLst xmlns:a="http://schemas.openxmlformats.org/drawingml/2006/main">
              <a:ext uri="{FF2B5EF4-FFF2-40B4-BE49-F238E27FC236}">
                <a16:creationId xmlns:a16="http://schemas.microsoft.com/office/drawing/2014/main" id="{09B7A14F-D87F-43AF-AC91-4580DDF9C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600" y="2489200"/>
            <a:ext cx="5130800" cy="660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1088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defPPr>
            <a:lvl1pPr>
              <a:buNone/>
              <a:defRPr sz="1088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1pPr>
            <a:lvl2pPr>
              <a:buNone/>
              <a:defRPr sz="1088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2pPr>
            <a:lvl3pPr>
              <a:buNone/>
              <a:defRPr sz="1088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3pPr>
            <a:lvl4pPr>
              <a:buNone/>
              <a:defRPr sz="1088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4pPr>
            <a:lvl5pPr>
              <a:buNone/>
              <a:defRPr sz="1088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5pPr>
            <a:lvl6pPr>
              <a:buNone/>
              <a:defRPr sz="1088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6pPr>
            <a:lvl7pPr>
              <a:buNone/>
              <a:defRPr sz="1088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7pPr>
            <a:lvl8pPr>
              <a:buNone/>
              <a:defRPr sz="1088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8pPr>
            <a:lvl9pPr>
              <a:buNone/>
              <a:defRPr sz="1088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9pPr>
          </a:lstStyle>
          <a:p xmlns:a="http://schemas.openxmlformats.org/drawingml/2006/main">
            <a:pPr algn="l">
              <a:lnSpc>
                <a:spcPct val="140000"/>
              </a:lnSpc>
              <a:buNone/>
              <a:defRPr sz="1088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pPr>
            <a:r>
              <a:rPr sz="1088" b="0">
                <a:solidFill>
                  <a:srgbClr val="3E506E"/>
                </a:solidFill>
                <a:latin typeface="MiSans"/>
                <a:ea typeface="MiSans"/>
                <a:cs typeface="MiSans"/>
              </a:rPr>
              <a:t>从旧项目归档找回 840 份原始标注并逐份校验；语义 QC 再剔除 12 个错配、59 个重复，形成 769 个洁净独立样本与冻结划分。</a:t>
            </a:r>
            <a:endParaRPr sz="1050"/>
          </a:p>
        </p:txBody>
      </p:sp>
      <p:sp>
        <p:nvSpPr>
          <p:cNvPr id="12" name="m3-marker">
            <a:extLst xmlns:a="http://schemas.openxmlformats.org/drawingml/2006/main">
              <a:ext uri="{FF2B5EF4-FFF2-40B4-BE49-F238E27FC236}">
                <a16:creationId xmlns:a16="http://schemas.microsoft.com/office/drawing/2014/main" id="{DA23D7BA-6444-4002-A58A-D3CD1BA53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52800"/>
            <a:ext cx="127000" cy="127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8EB3F"/>
          </a:solidFill>
          <a:ln xmlns:a="http://schemas.openxmlformats.org/drawingml/2006/main">
            <a:noFill/>
          </a:ln>
        </p:spPr>
      </p:sp>
      <p:sp>
        <p:nvSpPr>
          <p:cNvPr id="13" name="m3-lead">
            <a:extLst xmlns:a="http://schemas.openxmlformats.org/drawingml/2006/main">
              <a:ext uri="{FF2B5EF4-FFF2-40B4-BE49-F238E27FC236}">
                <a16:creationId xmlns:a16="http://schemas.microsoft.com/office/drawing/2014/main" id="{44119355-AC8A-47FB-8521-3C02A3551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600" y="3251200"/>
            <a:ext cx="482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</a:pPr>
            <a:r>
              <a:rPr sz="1350" b="1">
                <a:solidFill>
                  <a:srgbClr val="14213D"/>
                </a:solidFill>
                <a:latin typeface="MiSans"/>
                <a:ea typeface="MiSans"/>
                <a:cs typeface="MiSans"/>
              </a:rPr>
              <a:t>三模型公平比较</a:t>
            </a:r>
            <a:endParaRPr sz="1350"/>
          </a:p>
        </p:txBody>
      </p:sp>
      <p:sp>
        <p:nvSpPr>
          <p:cNvPr id="14" name="m3-desc">
            <a:extLst xmlns:a="http://schemas.openxmlformats.org/drawingml/2006/main">
              <a:ext uri="{FF2B5EF4-FFF2-40B4-BE49-F238E27FC236}">
                <a16:creationId xmlns:a16="http://schemas.microsoft.com/office/drawing/2014/main" id="{636AFF98-0389-4FE7-A79D-949D856B9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600" y="3581400"/>
            <a:ext cx="5130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1088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defPPr>
            <a:lvl1pPr>
              <a:buNone/>
              <a:defRPr sz="1088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1pPr>
            <a:lvl2pPr>
              <a:buNone/>
              <a:defRPr sz="1088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2pPr>
            <a:lvl3pPr>
              <a:buNone/>
              <a:defRPr sz="1088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3pPr>
            <a:lvl4pPr>
              <a:buNone/>
              <a:defRPr sz="1088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4pPr>
            <a:lvl5pPr>
              <a:buNone/>
              <a:defRPr sz="1088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5pPr>
            <a:lvl6pPr>
              <a:buNone/>
              <a:defRPr sz="1088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6pPr>
            <a:lvl7pPr>
              <a:buNone/>
              <a:defRPr sz="1088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7pPr>
            <a:lvl8pPr>
              <a:buNone/>
              <a:defRPr sz="1088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8pPr>
            <a:lvl9pPr>
              <a:buNone/>
              <a:defRPr sz="1088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9pPr>
          </a:lstStyle>
          <a:p xmlns:a="http://schemas.openxmlformats.org/drawingml/2006/main">
            <a:pPr algn="l">
              <a:lnSpc>
                <a:spcPct val="140000"/>
              </a:lnSpc>
              <a:buNone/>
              <a:defRPr sz="1088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pPr>
            <a:r>
              <a:rPr sz="1088" b="0">
                <a:solidFill>
                  <a:srgbClr val="3E506E"/>
                </a:solidFill>
                <a:latin typeface="MiSans"/>
                <a:ea typeface="MiSans"/>
                <a:cs typeface="MiSans"/>
              </a:rPr>
              <a:t>U-Net / DeepLabV3+ / SegFormer-B2，两种划分、三个随机种子，18 组正式训练全部完成、哈希留档。</a:t>
            </a:r>
            <a:endParaRPr sz="1050"/>
          </a:p>
        </p:txBody>
      </p:sp>
      <p:graphicFrame>
        <p:nvGraphicFramePr>
          <p:cNvPr id="15" name="model-table">
            <a:extLst xmlns:a="http://schemas.openxmlformats.org/drawingml/2006/main">
              <a:ext uri="{FF2B5EF4-FFF2-40B4-BE49-F238E27FC236}">
                <a16:creationId xmlns:a16="http://schemas.microsoft.com/office/drawing/2014/main" id="{FB4F9543-82D4-43E0-B2D5-F1FABC84C9F6}"/>
              </a:ext>
            </a:extLst>
          </p:cNvPr>
          <p:cNvGraphicFramePr/>
          <p:nvPr/>
        </p:nvGraphicFramePr>
        <p:xfrm>
          <a:off xmlns:a="http://schemas.openxmlformats.org/drawingml/2006/main" x="609600" y="4267200"/>
          <a:ext xmlns:a="http://schemas.openxmlformats.org/drawingml/2006/main" cx="5384800" cy="1905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669288"/>
                <a:gridCol w="1238504"/>
                <a:gridCol w="1292352"/>
                <a:gridCol w="1184656"/>
              </a:tblGrid>
              <a:tr h="419100"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140" b="1">
                          <a:solidFill>
                            <a:srgbClr val="FFFFFF"/>
                          </a:solidFill>
                          <a:latin typeface="MiSans"/>
                          <a:ea typeface="MiSans"/>
                          <a:cs typeface="MiSans"/>
                        </a:rPr>
                        <a:t>模型</a:t>
                      </a:r>
                      <a:endParaRPr sz="1100" b="1">
                        <a:solidFill>
                          <a:srgbClr val="FFFFFF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91440" marR="91440" marT="45720" marB="45720" anchor="ctr">
                    <a:lnL w="0">
                      <a:noFill/>
                      <a:prstDash val="solid"/>
                    </a:lnL>
                    <a:lnR w="0">
                      <a:noFill/>
                      <a:prstDash val="solid"/>
                    </a:lnR>
                    <a:lnT w="0">
                      <a:noFill/>
                      <a:prstDash val="solid"/>
                    </a:lnT>
                    <a:lnB w="0">
                      <a:noFill/>
                      <a:prstDash val="solid"/>
                    </a:lnB>
                    <a:solidFill>
                      <a:srgbClr val="076D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140" b="1">
                          <a:solidFill>
                            <a:srgbClr val="FFFFFF"/>
                          </a:solidFill>
                          <a:latin typeface="MiSans"/>
                          <a:ea typeface="MiSans"/>
                          <a:cs typeface="MiSans"/>
                        </a:rPr>
                        <a:t>标准划分 Dice</a:t>
                      </a:r>
                      <a:endParaRPr sz="1100" b="1">
                        <a:solidFill>
                          <a:srgbClr val="FFFFFF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91440" marR="91440" marT="45720" marB="45720" anchor="ctr">
                    <a:lnL>
                      <a:noFill/>
                    </a:lnL>
                    <a:lnR w="0">
                      <a:noFill/>
                      <a:prstDash val="solid"/>
                    </a:lnR>
                    <a:lnT w="0">
                      <a:noFill/>
                      <a:prstDash val="solid"/>
                    </a:lnT>
                    <a:lnB w="0">
                      <a:noFill/>
                      <a:prstDash val="solid"/>
                    </a:lnB>
                    <a:solidFill>
                      <a:srgbClr val="076D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140" b="1">
                          <a:solidFill>
                            <a:srgbClr val="FFFFFF"/>
                          </a:solidFill>
                          <a:latin typeface="MiSans"/>
                          <a:ea typeface="MiSans"/>
                          <a:cs typeface="MiSans"/>
                        </a:rPr>
                        <a:t>未见字 Dice</a:t>
                      </a:r>
                      <a:endParaRPr sz="1100" b="1">
                        <a:solidFill>
                          <a:srgbClr val="FFFFFF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91440" marR="91440" marT="45720" marB="45720" anchor="ctr">
                    <a:lnL>
                      <a:noFill/>
                    </a:lnL>
                    <a:lnR w="0">
                      <a:noFill/>
                      <a:prstDash val="solid"/>
                    </a:lnR>
                    <a:lnT w="0">
                      <a:noFill/>
                      <a:prstDash val="solid"/>
                    </a:lnT>
                    <a:lnB w="0">
                      <a:noFill/>
                      <a:prstDash val="solid"/>
                    </a:lnB>
                    <a:solidFill>
                      <a:srgbClr val="076D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140" b="1">
                          <a:solidFill>
                            <a:srgbClr val="FFFFFF"/>
                          </a:solidFill>
                          <a:latin typeface="MiSans"/>
                          <a:ea typeface="MiSans"/>
                          <a:cs typeface="MiSans"/>
                        </a:rPr>
                        <a:t>精度下降</a:t>
                      </a:r>
                      <a:endParaRPr sz="1100" b="1">
                        <a:solidFill>
                          <a:srgbClr val="FFFFFF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91440" marR="91440" marT="45720" marB="45720" anchor="ctr">
                    <a:lnL>
                      <a:noFill/>
                    </a:lnL>
                    <a:lnR w="0">
                      <a:noFill/>
                      <a:prstDash val="solid"/>
                    </a:lnR>
                    <a:lnT w="0">
                      <a:noFill/>
                      <a:prstDash val="solid"/>
                    </a:lnT>
                    <a:lnB w="0">
                      <a:noFill/>
                      <a:prstDash val="solid"/>
                    </a:lnB>
                    <a:solidFill>
                      <a:srgbClr val="076DFC"/>
                    </a:solidFill>
                  </a:tcPr>
                </a:tc>
              </a:tr>
              <a:tr h="495300"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140" b="0">
                          <a:solidFill>
                            <a:srgbClr val="14213D"/>
                          </a:solidFill>
                          <a:latin typeface="MiSans"/>
                          <a:ea typeface="MiSans"/>
                          <a:cs typeface="MiSans"/>
                        </a:rPr>
                        <a:t>U-Net</a:t>
                      </a:r>
                      <a:endParaRPr sz="1100" b="1">
                        <a:solidFill>
                          <a:srgbClr val="14213D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91440" marR="91440" marT="45720" marB="45720" anchor="ctr">
                    <a:lnL w="0">
                      <a:noFill/>
                      <a:prstDash val="solid"/>
                    </a:lnL>
                    <a:lnR w="0">
                      <a:noFill/>
                      <a:prstDash val="solid"/>
                    </a:lnR>
                    <a:lnT>
                      <a:noFill/>
                    </a:lnT>
                    <a:lnB w="0">
                      <a:noFill/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140" b="0">
                          <a:solidFill>
                            <a:srgbClr val="14213D"/>
                          </a:solidFill>
                          <a:latin typeface="MiSans"/>
                          <a:ea typeface="MiSans"/>
                          <a:cs typeface="MiSans"/>
                        </a:rPr>
                        <a:t>0.920</a:t>
                      </a:r>
                      <a:endParaRPr sz="1100" b="1">
                        <a:solidFill>
                          <a:srgbClr val="14213D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91440" marR="91440" marT="45720" marB="45720" anchor="ctr">
                    <a:lnL>
                      <a:noFill/>
                    </a:lnL>
                    <a:lnR w="0">
                      <a:noFill/>
                      <a:prstDash val="solid"/>
                    </a:lnR>
                    <a:lnT>
                      <a:noFill/>
                    </a:lnT>
                    <a:lnB w="0">
                      <a:noFill/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140" b="0">
                          <a:solidFill>
                            <a:srgbClr val="14213D"/>
                          </a:solidFill>
                          <a:latin typeface="MiSans"/>
                          <a:ea typeface="MiSans"/>
                          <a:cs typeface="MiSans"/>
                        </a:rPr>
                        <a:t>0.826</a:t>
                      </a:r>
                      <a:endParaRPr sz="1100" b="1">
                        <a:solidFill>
                          <a:srgbClr val="14213D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91440" marR="91440" marT="45720" marB="45720" anchor="ctr">
                    <a:lnL>
                      <a:noFill/>
                    </a:lnL>
                    <a:lnR w="0">
                      <a:noFill/>
                      <a:prstDash val="solid"/>
                    </a:lnR>
                    <a:lnT>
                      <a:noFill/>
                    </a:lnT>
                    <a:lnB w="0">
                      <a:noFill/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140" b="0">
                          <a:solidFill>
                            <a:srgbClr val="14213D"/>
                          </a:solidFill>
                          <a:latin typeface="MiSans"/>
                          <a:ea typeface="MiSans"/>
                          <a:cs typeface="MiSans"/>
                        </a:rPr>
                        <a:t>9.4 pp</a:t>
                      </a:r>
                      <a:endParaRPr sz="1100" b="1">
                        <a:solidFill>
                          <a:srgbClr val="14213D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91440" marR="91440" marT="45720" marB="45720" anchor="ctr">
                    <a:lnL>
                      <a:noFill/>
                    </a:lnL>
                    <a:lnR w="0">
                      <a:noFill/>
                      <a:prstDash val="solid"/>
                    </a:lnR>
                    <a:lnT>
                      <a:noFill/>
                    </a:lnT>
                    <a:lnB w="0">
                      <a:noFill/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95300"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140" b="0">
                          <a:solidFill>
                            <a:srgbClr val="14213D"/>
                          </a:solidFill>
                          <a:latin typeface="MiSans"/>
                          <a:ea typeface="MiSans"/>
                          <a:cs typeface="MiSans"/>
                        </a:rPr>
                        <a:t>DeepLabV3+</a:t>
                      </a:r>
                      <a:endParaRPr sz="1100" b="1">
                        <a:solidFill>
                          <a:srgbClr val="14213D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91440" marR="91440" marT="45720" marB="45720" anchor="ctr">
                    <a:lnL w="0">
                      <a:noFill/>
                      <a:prstDash val="solid"/>
                    </a:lnL>
                    <a:lnR w="0">
                      <a:noFill/>
                      <a:prstDash val="solid"/>
                    </a:lnR>
                    <a:lnT>
                      <a:noFill/>
                    </a:lnT>
                    <a:lnB w="0">
                      <a:noFill/>
                      <a:prstDash val="solid"/>
                    </a:lnB>
                    <a:solidFill>
                      <a:srgbClr val="E8F0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140" b="0">
                          <a:solidFill>
                            <a:srgbClr val="14213D"/>
                          </a:solidFill>
                          <a:latin typeface="MiSans"/>
                          <a:ea typeface="MiSans"/>
                          <a:cs typeface="MiSans"/>
                        </a:rPr>
                        <a:t>0.963</a:t>
                      </a:r>
                      <a:endParaRPr sz="1100" b="1">
                        <a:solidFill>
                          <a:srgbClr val="14213D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91440" marR="91440" marT="45720" marB="45720" anchor="ctr">
                    <a:lnL>
                      <a:noFill/>
                    </a:lnL>
                    <a:lnR w="0">
                      <a:noFill/>
                      <a:prstDash val="solid"/>
                    </a:lnR>
                    <a:lnT>
                      <a:noFill/>
                    </a:lnT>
                    <a:lnB w="0">
                      <a:noFill/>
                      <a:prstDash val="solid"/>
                    </a:lnB>
                    <a:solidFill>
                      <a:srgbClr val="E8F0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140" b="0">
                          <a:solidFill>
                            <a:srgbClr val="14213D"/>
                          </a:solidFill>
                          <a:latin typeface="MiSans"/>
                          <a:ea typeface="MiSans"/>
                          <a:cs typeface="MiSans"/>
                        </a:rPr>
                        <a:t>0.866</a:t>
                      </a:r>
                      <a:endParaRPr sz="1100" b="1">
                        <a:solidFill>
                          <a:srgbClr val="14213D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91440" marR="91440" marT="45720" marB="45720" anchor="ctr">
                    <a:lnL>
                      <a:noFill/>
                    </a:lnL>
                    <a:lnR w="0">
                      <a:noFill/>
                      <a:prstDash val="solid"/>
                    </a:lnR>
                    <a:lnT>
                      <a:noFill/>
                    </a:lnT>
                    <a:lnB w="0">
                      <a:noFill/>
                      <a:prstDash val="solid"/>
                    </a:lnB>
                    <a:solidFill>
                      <a:srgbClr val="E8F0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140" b="0">
                          <a:solidFill>
                            <a:srgbClr val="14213D"/>
                          </a:solidFill>
                          <a:latin typeface="MiSans"/>
                          <a:ea typeface="MiSans"/>
                          <a:cs typeface="MiSans"/>
                        </a:rPr>
                        <a:t>9.7 pp</a:t>
                      </a:r>
                      <a:endParaRPr sz="1100" b="1">
                        <a:solidFill>
                          <a:srgbClr val="14213D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91440" marR="91440" marT="45720" marB="45720" anchor="ctr">
                    <a:lnL>
                      <a:noFill/>
                    </a:lnL>
                    <a:lnR w="0">
                      <a:noFill/>
                      <a:prstDash val="solid"/>
                    </a:lnR>
                    <a:lnT>
                      <a:noFill/>
                    </a:lnT>
                    <a:lnB w="0">
                      <a:noFill/>
                      <a:prstDash val="solid"/>
                    </a:lnB>
                    <a:solidFill>
                      <a:srgbClr val="E8F0FC"/>
                    </a:solidFill>
                  </a:tcPr>
                </a:tc>
              </a:tr>
              <a:tr h="495300"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140" b="0">
                          <a:solidFill>
                            <a:srgbClr val="14213D"/>
                          </a:solidFill>
                          <a:latin typeface="MiSans"/>
                          <a:ea typeface="MiSans"/>
                          <a:cs typeface="MiSans"/>
                        </a:rPr>
                        <a:t>SegFormer-B2</a:t>
                      </a:r>
                      <a:endParaRPr sz="1100" b="1">
                        <a:solidFill>
                          <a:srgbClr val="14213D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91440" marR="91440" marT="45720" marB="45720" anchor="ctr">
                    <a:lnL w="0">
                      <a:noFill/>
                      <a:prstDash val="solid"/>
                    </a:lnL>
                    <a:lnR w="0">
                      <a:noFill/>
                      <a:prstDash val="solid"/>
                    </a:lnR>
                    <a:lnT>
                      <a:noFill/>
                    </a:lnT>
                    <a:lnB w="0">
                      <a:noFill/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140" b="0">
                          <a:solidFill>
                            <a:srgbClr val="14213D"/>
                          </a:solidFill>
                          <a:latin typeface="MiSans"/>
                          <a:ea typeface="MiSans"/>
                          <a:cs typeface="MiSans"/>
                        </a:rPr>
                        <a:t>0.958</a:t>
                      </a:r>
                      <a:endParaRPr sz="1100" b="1">
                        <a:solidFill>
                          <a:srgbClr val="14213D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91440" marR="91440" marT="45720" marB="45720" anchor="ctr">
                    <a:lnL>
                      <a:noFill/>
                    </a:lnL>
                    <a:lnR w="0">
                      <a:noFill/>
                      <a:prstDash val="solid"/>
                    </a:lnR>
                    <a:lnT>
                      <a:noFill/>
                    </a:lnT>
                    <a:lnB w="0">
                      <a:noFill/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140" b="1">
                          <a:solidFill>
                            <a:srgbClr val="076DFC"/>
                          </a:solidFill>
                          <a:latin typeface="MiSans"/>
                          <a:ea typeface="MiSans"/>
                          <a:cs typeface="MiSans"/>
                        </a:rPr>
                        <a:t>0.887</a:t>
                      </a:r>
                      <a:endParaRPr sz="1100" b="1">
                        <a:solidFill>
                          <a:srgbClr val="076DFC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91440" marR="91440" marT="45720" marB="45720" anchor="ctr">
                    <a:lnL>
                      <a:noFill/>
                    </a:lnL>
                    <a:lnR w="0">
                      <a:noFill/>
                      <a:prstDash val="solid"/>
                    </a:lnR>
                    <a:lnT>
                      <a:noFill/>
                    </a:lnT>
                    <a:lnB w="0">
                      <a:noFill/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140" b="1">
                          <a:solidFill>
                            <a:srgbClr val="076DFC"/>
                          </a:solidFill>
                          <a:latin typeface="MiSans"/>
                          <a:ea typeface="MiSans"/>
                          <a:cs typeface="MiSans"/>
                        </a:rPr>
                        <a:t>7.2 pp</a:t>
                      </a:r>
                      <a:endParaRPr sz="1100" b="1">
                        <a:solidFill>
                          <a:srgbClr val="076DFC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91440" marR="91440" marT="45720" marB="45720" anchor="ctr">
                    <a:lnL>
                      <a:noFill/>
                    </a:lnL>
                    <a:lnR w="0">
                      <a:noFill/>
                      <a:prstDash val="solid"/>
                    </a:lnR>
                    <a:lnT>
                      <a:noFill/>
                    </a:lnT>
                    <a:lnB w="0">
                      <a:noFill/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6" name="table-note">
            <a:extLst xmlns:a="http://schemas.openxmlformats.org/drawingml/2006/main">
              <a:ext uri="{FF2B5EF4-FFF2-40B4-BE49-F238E27FC236}">
                <a16:creationId xmlns:a16="http://schemas.microsoft.com/office/drawing/2014/main" id="{54DD5F61-433F-46AC-B403-960DE7877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00775"/>
            <a:ext cx="5384800" cy="17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/>
          <a:lstStyle xmlns:a="http://schemas.openxmlformats.org/drawingml/2006/main">
            <a:defPPr>
              <a:defRPr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defPPr>
            <a:lvl1pPr>
              <a:buNone/>
              <a:defRPr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1pPr>
            <a:lvl2pPr>
              <a:buNone/>
              <a:defRPr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2pPr>
            <a:lvl3pPr>
              <a:buNone/>
              <a:defRPr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3pPr>
            <a:lvl4pPr>
              <a:buNone/>
              <a:defRPr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4pPr>
            <a:lvl5pPr>
              <a:buNone/>
              <a:defRPr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5pPr>
            <a:lvl6pPr>
              <a:buNone/>
              <a:defRPr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6pPr>
            <a:lvl7pPr>
              <a:buNone/>
              <a:defRPr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7pPr>
            <a:lvl8pPr>
              <a:buNone/>
              <a:defRPr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8pPr>
            <a:lvl9pPr>
              <a:buNone/>
              <a:defRPr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9pPr>
          </a:lstStyle>
          <a:p xmlns:a="http://schemas.openxmlformats.org/drawingml/2006/main">
            <a:pPr>
              <a:lnSpc>
                <a:spcPct val="140000"/>
              </a:lnSpc>
              <a:buNone/>
              <a:defRPr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pPr>
            <a:r>
              <a:rPr sz="950" b="0">
                <a:solidFill>
                  <a:srgbClr val="3E506E"/>
                </a:solidFill>
                <a:latin typeface="MiSans"/>
                <a:ea typeface="MiSans"/>
                <a:cs typeface="MiSans"/>
              </a:rPr>
              <a:t>三次种子均值；未见字 = character-disjoint 字符隔离划分</a:t>
            </a:r>
            <a:endParaRPr sz="950"/>
          </a:p>
        </p:txBody>
      </p:sp>
      <p:pic>
        <p:nvPicPr>
          <p:cNvPr id="17" name="seg-fig">
            <a:extLst xmlns:a="http://schemas.openxmlformats.org/drawingml/2006/main">
              <a:ext uri="{FF2B5EF4-FFF2-40B4-BE49-F238E27FC236}">
                <a16:creationId xmlns:a16="http://schemas.microsoft.com/office/drawing/2014/main" id="{01FC2859-8919-4EE3-9A93-A7B97BED4E4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0cf0c114925457a"/>
          <a:srcRect xmlns:a="http://schemas.openxmlformats.org/drawingml/2006/main" l="-53" t="0" r="-5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51600" y="1320800"/>
            <a:ext cx="5130800" cy="3251200"/>
          </a:xfrm>
          <a:prstGeom xmlns:a="http://schemas.openxmlformats.org/drawingml/2006/main" prst="roundRect">
            <a:avLst>
              <a:gd name="adj" fmla="val 6000"/>
            </a:avLst>
          </a:prstGeom>
          <a:ln xmlns:a="http://schemas.openxmlformats.org/drawingml/2006/main">
            <a:noFill/>
          </a:ln>
        </p:spPr>
      </p:pic>
      <p:sp>
        <p:nvSpPr>
          <p:cNvPr id="18" name="seg-fig-cap">
            <a:extLst xmlns:a="http://schemas.openxmlformats.org/drawingml/2006/main">
              <a:ext uri="{FF2B5EF4-FFF2-40B4-BE49-F238E27FC236}">
                <a16:creationId xmlns:a16="http://schemas.microsoft.com/office/drawing/2014/main" id="{BC645CAE-B624-4047-8D9F-6CA1C4C63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1600" y="4622800"/>
            <a:ext cx="5130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b="0">
                <a:solidFill>
                  <a:srgbClr val="7A8CA7"/>
                </a:solidFill>
                <a:latin typeface="MiSans"/>
                <a:ea typeface="MiSans"/>
                <a:cs typeface="MiSans"/>
              </a:defRPr>
            </a:defPPr>
            <a:lvl1pPr>
              <a:buNone/>
              <a:defRPr b="0">
                <a:solidFill>
                  <a:srgbClr val="7A8CA7"/>
                </a:solidFill>
                <a:latin typeface="MiSans"/>
                <a:ea typeface="MiSans"/>
                <a:cs typeface="MiSans"/>
              </a:defRPr>
            </a:lvl1pPr>
            <a:lvl2pPr>
              <a:buNone/>
              <a:defRPr b="0">
                <a:solidFill>
                  <a:srgbClr val="7A8CA7"/>
                </a:solidFill>
                <a:latin typeface="MiSans"/>
                <a:ea typeface="MiSans"/>
                <a:cs typeface="MiSans"/>
              </a:defRPr>
            </a:lvl2pPr>
            <a:lvl3pPr>
              <a:buNone/>
              <a:defRPr b="0">
                <a:solidFill>
                  <a:srgbClr val="7A8CA7"/>
                </a:solidFill>
                <a:latin typeface="MiSans"/>
                <a:ea typeface="MiSans"/>
                <a:cs typeface="MiSans"/>
              </a:defRPr>
            </a:lvl3pPr>
            <a:lvl4pPr>
              <a:buNone/>
              <a:defRPr b="0">
                <a:solidFill>
                  <a:srgbClr val="7A8CA7"/>
                </a:solidFill>
                <a:latin typeface="MiSans"/>
                <a:ea typeface="MiSans"/>
                <a:cs typeface="MiSans"/>
              </a:defRPr>
            </a:lvl4pPr>
            <a:lvl5pPr>
              <a:buNone/>
              <a:defRPr b="0">
                <a:solidFill>
                  <a:srgbClr val="7A8CA7"/>
                </a:solidFill>
                <a:latin typeface="MiSans"/>
                <a:ea typeface="MiSans"/>
                <a:cs typeface="MiSans"/>
              </a:defRPr>
            </a:lvl5pPr>
            <a:lvl6pPr>
              <a:buNone/>
              <a:defRPr b="0">
                <a:solidFill>
                  <a:srgbClr val="7A8CA7"/>
                </a:solidFill>
                <a:latin typeface="MiSans"/>
                <a:ea typeface="MiSans"/>
                <a:cs typeface="MiSans"/>
              </a:defRPr>
            </a:lvl6pPr>
            <a:lvl7pPr>
              <a:buNone/>
              <a:defRPr b="0">
                <a:solidFill>
                  <a:srgbClr val="7A8CA7"/>
                </a:solidFill>
                <a:latin typeface="MiSans"/>
                <a:ea typeface="MiSans"/>
                <a:cs typeface="MiSans"/>
              </a:defRPr>
            </a:lvl7pPr>
            <a:lvl8pPr>
              <a:buNone/>
              <a:defRPr b="0">
                <a:solidFill>
                  <a:srgbClr val="7A8CA7"/>
                </a:solidFill>
                <a:latin typeface="MiSans"/>
                <a:ea typeface="MiSans"/>
                <a:cs typeface="MiSans"/>
              </a:defRPr>
            </a:lvl8pPr>
            <a:lvl9pPr>
              <a:buNone/>
              <a:defRPr b="0">
                <a:solidFill>
                  <a:srgbClr val="7A8CA7"/>
                </a:solidFill>
                <a:latin typeface="MiSans"/>
                <a:ea typeface="MiSans"/>
                <a:cs typeface="MiSans"/>
              </a:defRPr>
            </a:lvl9pPr>
          </a:lstStyle>
          <a:p xmlns:a="http://schemas.openxmlformats.org/drawingml/2006/main">
            <a:pPr algn="ctr">
              <a:lnSpc>
                <a:spcPct val="140000"/>
              </a:lnSpc>
              <a:buNone/>
              <a:defRPr b="0">
                <a:solidFill>
                  <a:srgbClr val="7A8CA7"/>
                </a:solidFill>
                <a:latin typeface="MiSans"/>
                <a:ea typeface="MiSans"/>
                <a:cs typeface="MiSans"/>
              </a:defRPr>
            </a:pPr>
            <a:r>
              <a:rPr sz="950" b="0">
                <a:solidFill>
                  <a:srgbClr val="7A8CA7"/>
                </a:solidFill>
                <a:latin typeface="MiSans"/>
                <a:ea typeface="MiSans"/>
                <a:cs typeface="MiSans"/>
              </a:rPr>
              <a:t>交叉、端点稀疏与未见字场景下三模型分割对比（论文 Fig.4，列为输入 / GT / 三模型输出）</a:t>
            </a:r>
            <a:endParaRPr sz="950"/>
          </a:p>
        </p:txBody>
      </p:sp>
      <p:sp>
        <p:nvSpPr>
          <p:cNvPr id="19" name="seg-concl-band">
            <a:extLst xmlns:a="http://schemas.openxmlformats.org/drawingml/2006/main">
              <a:ext uri="{FF2B5EF4-FFF2-40B4-BE49-F238E27FC236}">
                <a16:creationId xmlns:a16="http://schemas.microsoft.com/office/drawing/2014/main" id="{E3E10169-D9DC-4AB7-A395-C1C460536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1600" y="5181600"/>
            <a:ext cx="51308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EEF4FE"/>
          </a:solidFill>
          <a:ln xmlns:a="http://schemas.openxmlformats.org/drawingml/2006/main" w="0">
            <a:noFill/>
          </a:ln>
        </p:spPr>
      </p:sp>
      <p:sp>
        <p:nvSpPr>
          <p:cNvPr id="20" name="seg-concl-bar">
            <a:extLst xmlns:a="http://schemas.openxmlformats.org/drawingml/2006/main">
              <a:ext uri="{FF2B5EF4-FFF2-40B4-BE49-F238E27FC236}">
                <a16:creationId xmlns:a16="http://schemas.microsoft.com/office/drawing/2014/main" id="{8C0EEC94-6303-480C-8310-3D3424EA2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1600" y="5181600"/>
            <a:ext cx="50800" cy="1066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8EB3F"/>
          </a:solidFill>
          <a:ln xmlns:a="http://schemas.openxmlformats.org/drawingml/2006/main">
            <a:noFill/>
          </a:ln>
        </p:spPr>
      </p:sp>
      <p:sp>
        <p:nvSpPr>
          <p:cNvPr id="21" name="seg-concl">
            <a:extLst xmlns:a="http://schemas.openxmlformats.org/drawingml/2006/main">
              <a:ext uri="{FF2B5EF4-FFF2-40B4-BE49-F238E27FC236}">
                <a16:creationId xmlns:a16="http://schemas.microsoft.com/office/drawing/2014/main" id="{A2B45AEC-AF62-4D8B-AC16-8CCF90532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0200" y="5181600"/>
            <a:ext cx="47752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>
              <a:defRPr sz="1163" b="0">
                <a:solidFill>
                  <a:srgbClr val="14213D"/>
                </a:solidFill>
                <a:latin typeface="MiSans"/>
                <a:ea typeface="MiSans"/>
                <a:cs typeface="MiSans"/>
              </a:defRPr>
            </a:defPPr>
            <a:lvl1pPr>
              <a:buNone/>
              <a:defRPr sz="1163" b="0">
                <a:solidFill>
                  <a:srgbClr val="14213D"/>
                </a:solidFill>
                <a:latin typeface="MiSans"/>
                <a:ea typeface="MiSans"/>
                <a:cs typeface="MiSans"/>
              </a:defRPr>
            </a:lvl1pPr>
            <a:lvl2pPr>
              <a:buNone/>
              <a:defRPr sz="1163" b="0">
                <a:solidFill>
                  <a:srgbClr val="14213D"/>
                </a:solidFill>
                <a:latin typeface="MiSans"/>
                <a:ea typeface="MiSans"/>
                <a:cs typeface="MiSans"/>
              </a:defRPr>
            </a:lvl2pPr>
            <a:lvl3pPr>
              <a:buNone/>
              <a:defRPr sz="1163" b="0">
                <a:solidFill>
                  <a:srgbClr val="14213D"/>
                </a:solidFill>
                <a:latin typeface="MiSans"/>
                <a:ea typeface="MiSans"/>
                <a:cs typeface="MiSans"/>
              </a:defRPr>
            </a:lvl3pPr>
            <a:lvl4pPr>
              <a:buNone/>
              <a:defRPr sz="1163" b="0">
                <a:solidFill>
                  <a:srgbClr val="14213D"/>
                </a:solidFill>
                <a:latin typeface="MiSans"/>
                <a:ea typeface="MiSans"/>
                <a:cs typeface="MiSans"/>
              </a:defRPr>
            </a:lvl4pPr>
            <a:lvl5pPr>
              <a:buNone/>
              <a:defRPr sz="1163" b="0">
                <a:solidFill>
                  <a:srgbClr val="14213D"/>
                </a:solidFill>
                <a:latin typeface="MiSans"/>
                <a:ea typeface="MiSans"/>
                <a:cs typeface="MiSans"/>
              </a:defRPr>
            </a:lvl5pPr>
            <a:lvl6pPr>
              <a:buNone/>
              <a:defRPr sz="1163" b="0">
                <a:solidFill>
                  <a:srgbClr val="14213D"/>
                </a:solidFill>
                <a:latin typeface="MiSans"/>
                <a:ea typeface="MiSans"/>
                <a:cs typeface="MiSans"/>
              </a:defRPr>
            </a:lvl6pPr>
            <a:lvl7pPr>
              <a:buNone/>
              <a:defRPr sz="1163" b="0">
                <a:solidFill>
                  <a:srgbClr val="14213D"/>
                </a:solidFill>
                <a:latin typeface="MiSans"/>
                <a:ea typeface="MiSans"/>
                <a:cs typeface="MiSans"/>
              </a:defRPr>
            </a:lvl7pPr>
            <a:lvl8pPr>
              <a:buNone/>
              <a:defRPr sz="1163" b="0">
                <a:solidFill>
                  <a:srgbClr val="14213D"/>
                </a:solidFill>
                <a:latin typeface="MiSans"/>
                <a:ea typeface="MiSans"/>
                <a:cs typeface="MiSans"/>
              </a:defRPr>
            </a:lvl8pPr>
            <a:lvl9pPr>
              <a:buNone/>
              <a:defRPr sz="1163" b="0">
                <a:solidFill>
                  <a:srgbClr val="14213D"/>
                </a:solidFill>
                <a:latin typeface="MiSans"/>
                <a:ea typeface="MiSans"/>
                <a:cs typeface="MiSans"/>
              </a:defRPr>
            </a:lvl9pPr>
          </a:lstStyle>
          <a:p xmlns:a="http://schemas.openxmlformats.org/drawingml/2006/main">
            <a:pPr algn="l">
              <a:lnSpc>
                <a:spcPct val="150000"/>
              </a:lnSpc>
              <a:buNone/>
              <a:defRPr sz="1163" b="0">
                <a:solidFill>
                  <a:srgbClr val="14213D"/>
                </a:solidFill>
                <a:latin typeface="MiSans"/>
                <a:ea typeface="MiSans"/>
                <a:cs typeface="MiSans"/>
              </a:defRPr>
            </a:pPr>
            <a:r>
              <a:rPr sz="1163" b="0">
                <a:solidFill>
                  <a:srgbClr val="14213D"/>
                </a:solidFill>
                <a:latin typeface="MiSans"/>
                <a:ea typeface="MiSans"/>
                <a:cs typeface="MiSans"/>
              </a:rPr>
              <a:t>标准划分 DeepLabV3+ 最优；</a:t>
            </a:r>
            <a:r>
              <a:rPr sz="1163" b="0">
                <a:solidFill>
                  <a:srgbClr val="14213D"/>
                </a:solidFill>
                <a:latin typeface="MiSans"/>
                <a:ea typeface="MiSans"/>
                <a:cs typeface="MiSans"/>
              </a:rPr>
              <a:t>面对从未见过的汉字，SegFormer-B2 精度最高、下降最小</a:t>
            </a:r>
            <a:r>
              <a:rPr sz="1163" b="0">
                <a:solidFill>
                  <a:srgbClr val="14213D"/>
                </a:solidFill>
                <a:latin typeface="MiSans"/>
                <a:ea typeface="MiSans"/>
                <a:cs typeface="MiSans"/>
              </a:rPr>
              <a:t>，因此被选为线上冻结模型 segformer-b2-v1。</a:t>
            </a:r>
            <a:endParaRPr sz="1150"/>
          </a:p>
        </p:txBody>
      </p:sp>
      <p:sp>
        <p:nvSpPr>
          <p:cNvPr id="22" name="ft-line">
            <a:extLst xmlns:a="http://schemas.openxmlformats.org/drawingml/2006/main">
              <a:ext uri="{FF2B5EF4-FFF2-40B4-BE49-F238E27FC236}">
                <a16:creationId xmlns:a16="http://schemas.microsoft.com/office/drawing/2014/main" id="{005D16C9-8D66-40C8-A1DA-8CEC09DB7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2400"/>
            <a:ext cx="10972800" cy="12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3" name="ft-left">
            <a:extLst xmlns:a="http://schemas.openxmlformats.org/drawingml/2006/main">
              <a:ext uri="{FF2B5EF4-FFF2-40B4-BE49-F238E27FC236}">
                <a16:creationId xmlns:a16="http://schemas.microsoft.com/office/drawing/2014/main" id="{90E34A1E-A8EA-4C56-B6F9-5C9E38E94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8600"/>
            <a:ext cx="3048000" cy="17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/>
          <a:lstStyle xmlns:a="http://schemas.openxmlformats.org/drawingml/2006/main">
            <a:defPPr>
              <a:defRPr sz="863" b="0">
                <a:solidFill>
                  <a:srgbClr val="D8E8FF"/>
                </a:solidFill>
                <a:latin typeface="MiSans"/>
                <a:ea typeface="MiSans"/>
                <a:cs typeface="MiSans"/>
              </a:defRPr>
            </a:defPPr>
            <a:lvl1pPr>
              <a:buNone/>
              <a:defRPr sz="863" b="0">
                <a:solidFill>
                  <a:srgbClr val="7A8CA7"/>
                </a:solidFill>
                <a:latin typeface="MiSans"/>
                <a:ea typeface="MiSans"/>
                <a:cs typeface="MiSans"/>
              </a:defRPr>
            </a:lvl1pPr>
            <a:lvl2pPr>
              <a:buNone/>
              <a:defRPr sz="863" b="0">
                <a:solidFill>
                  <a:srgbClr val="7A8CA7"/>
                </a:solidFill>
                <a:latin typeface="MiSans"/>
                <a:ea typeface="MiSans"/>
                <a:cs typeface="MiSans"/>
              </a:defRPr>
            </a:lvl2pPr>
            <a:lvl3pPr>
              <a:buNone/>
              <a:defRPr sz="863" b="0">
                <a:solidFill>
                  <a:srgbClr val="7A8CA7"/>
                </a:solidFill>
                <a:latin typeface="MiSans"/>
                <a:ea typeface="MiSans"/>
                <a:cs typeface="MiSans"/>
              </a:defRPr>
            </a:lvl3pPr>
            <a:lvl4pPr>
              <a:buNone/>
              <a:defRPr sz="863" b="0">
                <a:solidFill>
                  <a:srgbClr val="7A8CA7"/>
                </a:solidFill>
                <a:latin typeface="MiSans"/>
                <a:ea typeface="MiSans"/>
                <a:cs typeface="MiSans"/>
              </a:defRPr>
            </a:lvl4pPr>
            <a:lvl5pPr>
              <a:buNone/>
              <a:defRPr sz="863" b="0">
                <a:solidFill>
                  <a:srgbClr val="7A8CA7"/>
                </a:solidFill>
                <a:latin typeface="MiSans"/>
                <a:ea typeface="MiSans"/>
                <a:cs typeface="MiSans"/>
              </a:defRPr>
            </a:lvl5pPr>
            <a:lvl6pPr>
              <a:buNone/>
              <a:defRPr sz="863" b="0">
                <a:solidFill>
                  <a:srgbClr val="7A8CA7"/>
                </a:solidFill>
                <a:latin typeface="MiSans"/>
                <a:ea typeface="MiSans"/>
                <a:cs typeface="MiSans"/>
              </a:defRPr>
            </a:lvl6pPr>
            <a:lvl7pPr>
              <a:buNone/>
              <a:defRPr sz="863" b="0">
                <a:solidFill>
                  <a:srgbClr val="7A8CA7"/>
                </a:solidFill>
                <a:latin typeface="MiSans"/>
                <a:ea typeface="MiSans"/>
                <a:cs typeface="MiSans"/>
              </a:defRPr>
            </a:lvl7pPr>
            <a:lvl8pPr>
              <a:buNone/>
              <a:defRPr sz="863" b="0">
                <a:solidFill>
                  <a:srgbClr val="7A8CA7"/>
                </a:solidFill>
                <a:latin typeface="MiSans"/>
                <a:ea typeface="MiSans"/>
                <a:cs typeface="MiSans"/>
              </a:defRPr>
            </a:lvl8pPr>
            <a:lvl9pPr>
              <a:buNone/>
              <a:defRPr sz="863" b="0">
                <a:solidFill>
                  <a:srgbClr val="7A8CA7"/>
                </a:solidFill>
                <a:latin typeface="MiSans"/>
                <a:ea typeface="MiSans"/>
                <a:cs typeface="MiSans"/>
              </a:defRPr>
            </a:lvl9pPr>
          </a:lstStyle>
          <a:p xmlns:a="http://schemas.openxmlformats.org/drawingml/2006/main">
            <a:pPr>
              <a:lnSpc>
                <a:spcPct val="120000"/>
              </a:lnSpc>
              <a:buNone/>
              <a:defRPr sz="863" b="0">
                <a:solidFill>
                  <a:srgbClr val="D8E8FF"/>
                </a:solidFill>
                <a:latin typeface="MiSans"/>
                <a:ea typeface="MiSans"/>
                <a:cs typeface="MiSans"/>
              </a:defRPr>
            </a:pPr>
            <a:r>
              <a:rPr sz="863" b="0">
                <a:solidFill>
                  <a:srgbClr val="D8E8FF"/>
                </a:solidFill>
                <a:latin typeface="MiSans"/>
                <a:ea typeface="MiSans"/>
                <a:cs typeface="MiSans"/>
              </a:rPr>
              <a:t>一笔成章 · 2026 中期汇报</a:t>
            </a:r>
            <a:endParaRPr sz="900"/>
          </a:p>
        </p:txBody>
      </p:sp>
      <p:sp>
        <p:nvSpPr>
          <p:cNvPr id="24" name="ft-page">
            <a:extLst xmlns:a="http://schemas.openxmlformats.org/drawingml/2006/main">
              <a:ext uri="{FF2B5EF4-FFF2-40B4-BE49-F238E27FC236}">
                <a16:creationId xmlns:a16="http://schemas.microsoft.com/office/drawing/2014/main" id="{F3EF52AA-1470-40CF-9D3D-CB59223CF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6578600"/>
            <a:ext cx="914400" cy="17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>
            <a:defPPr>
              <a:defRPr sz="863" b="0">
                <a:solidFill>
                  <a:srgbClr val="D8E8FF"/>
                </a:solidFill>
                <a:latin typeface="MiSans"/>
                <a:ea typeface="MiSans"/>
                <a:cs typeface="MiSans"/>
              </a:defRPr>
            </a:defPPr>
            <a:lvl1pPr>
              <a:buNone/>
              <a:defRPr sz="863" b="0">
                <a:solidFill>
                  <a:srgbClr val="7A8CA7"/>
                </a:solidFill>
                <a:latin typeface="MiSans"/>
                <a:ea typeface="MiSans"/>
                <a:cs typeface="MiSans"/>
              </a:defRPr>
            </a:lvl1pPr>
            <a:lvl2pPr>
              <a:buNone/>
              <a:defRPr sz="863" b="0">
                <a:solidFill>
                  <a:srgbClr val="7A8CA7"/>
                </a:solidFill>
                <a:latin typeface="MiSans"/>
                <a:ea typeface="MiSans"/>
                <a:cs typeface="MiSans"/>
              </a:defRPr>
            </a:lvl2pPr>
            <a:lvl3pPr>
              <a:buNone/>
              <a:defRPr sz="863" b="0">
                <a:solidFill>
                  <a:srgbClr val="7A8CA7"/>
                </a:solidFill>
                <a:latin typeface="MiSans"/>
                <a:ea typeface="MiSans"/>
                <a:cs typeface="MiSans"/>
              </a:defRPr>
            </a:lvl3pPr>
            <a:lvl4pPr>
              <a:buNone/>
              <a:defRPr sz="863" b="0">
                <a:solidFill>
                  <a:srgbClr val="7A8CA7"/>
                </a:solidFill>
                <a:latin typeface="MiSans"/>
                <a:ea typeface="MiSans"/>
                <a:cs typeface="MiSans"/>
              </a:defRPr>
            </a:lvl4pPr>
            <a:lvl5pPr>
              <a:buNone/>
              <a:defRPr sz="863" b="0">
                <a:solidFill>
                  <a:srgbClr val="7A8CA7"/>
                </a:solidFill>
                <a:latin typeface="MiSans"/>
                <a:ea typeface="MiSans"/>
                <a:cs typeface="MiSans"/>
              </a:defRPr>
            </a:lvl5pPr>
            <a:lvl6pPr>
              <a:buNone/>
              <a:defRPr sz="863" b="0">
                <a:solidFill>
                  <a:srgbClr val="7A8CA7"/>
                </a:solidFill>
                <a:latin typeface="MiSans"/>
                <a:ea typeface="MiSans"/>
                <a:cs typeface="MiSans"/>
              </a:defRPr>
            </a:lvl6pPr>
            <a:lvl7pPr>
              <a:buNone/>
              <a:defRPr sz="863" b="0">
                <a:solidFill>
                  <a:srgbClr val="7A8CA7"/>
                </a:solidFill>
                <a:latin typeface="MiSans"/>
                <a:ea typeface="MiSans"/>
                <a:cs typeface="MiSans"/>
              </a:defRPr>
            </a:lvl7pPr>
            <a:lvl8pPr>
              <a:buNone/>
              <a:defRPr sz="863" b="0">
                <a:solidFill>
                  <a:srgbClr val="7A8CA7"/>
                </a:solidFill>
                <a:latin typeface="MiSans"/>
                <a:ea typeface="MiSans"/>
                <a:cs typeface="MiSans"/>
              </a:defRPr>
            </a:lvl8pPr>
            <a:lvl9pPr>
              <a:buNone/>
              <a:defRPr sz="863" b="0">
                <a:solidFill>
                  <a:srgbClr val="7A8CA7"/>
                </a:solidFill>
                <a:latin typeface="MiSans"/>
                <a:ea typeface="MiSans"/>
                <a:cs typeface="MiSans"/>
              </a:defRPr>
            </a:lvl9pPr>
          </a:lstStyle>
          <a:p xmlns:a="http://schemas.openxmlformats.org/drawingml/2006/main">
            <a:pPr algn="r">
              <a:lnSpc>
                <a:spcPct val="120000"/>
              </a:lnSpc>
              <a:buNone/>
              <a:defRPr sz="863" b="0">
                <a:solidFill>
                  <a:srgbClr val="D8E8FF"/>
                </a:solidFill>
                <a:latin typeface="MiSans"/>
                <a:ea typeface="MiSans"/>
                <a:cs typeface="MiSans"/>
              </a:defRPr>
            </a:pPr>
            <a:r>
              <a:rPr sz="863" b="0">
                <a:solidFill>
                  <a:srgbClr val="D8E8FF"/>
                </a:solidFill>
                <a:latin typeface="MiSans"/>
                <a:ea typeface="MiSans"/>
                <a:cs typeface="MiSans"/>
              </a:rPr>
              <a:t>07 / 13</a:t>
            </a:r>
            <a:endParaRPr sz="900"/>
          </a:p>
        </p:txBody>
      </p:sp>
    </p:spTree>
    <p:extLst>
      <p:ext uri="{BB962C8B-B14F-4D97-AF65-F5344CB8AC3E}">
        <p14:creationId xmlns:p14="http://schemas.microsoft.com/office/powerpoint/2010/main" val="275477477"/>
      </p:ext>
    </p:extLst>
  </p:cSld>
</p:sld>
</file>

<file path=ppt/slides/slide8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E7EFFB"/>
            </a:gs>
            <a:gs pos="48000">
              <a:srgbClr val="F1F5FC"/>
            </a:gs>
            <a:gs pos="100000">
              <a:srgbClr val="E9F2FF"/>
            </a:gs>
          </a:gsLst>
          <a:lin ang="168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CD4798A-40C0-41FD-9640-37C61CD405D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6275242a3a7464f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18" name="reference-cover-triangle">
            <a:extLst xmlns:a="http://schemas.openxmlformats.org/drawingml/2006/main">
              <a:ext uri="{FF2B5EF4-FFF2-40B4-BE49-F238E27FC236}">
                <a16:creationId xmlns:a16="http://schemas.microsoft.com/office/drawing/2014/main" id="{5043BC63-C8A6-46C3-9BA9-95D9BC8F6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0" y="5905500"/>
            <a:ext cx="533400" cy="381000"/>
          </a:xfrm>
          <a:prstGeom xmlns:a="http://schemas.openxmlformats.org/drawingml/2006/main" prst="triangl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7" name="reference-cover-ring">
            <a:extLst xmlns:a="http://schemas.openxmlformats.org/drawingml/2006/main">
              <a:ext uri="{FF2B5EF4-FFF2-40B4-BE49-F238E27FC236}">
                <a16:creationId xmlns:a16="http://schemas.microsoft.com/office/drawing/2014/main" id="{2DE2AD6D-C340-41F1-92CF-ECC7C558B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95250"/>
            <a:ext cx="1181100" cy="11811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" name="hd-bar">
            <a:extLst xmlns:a="http://schemas.openxmlformats.org/drawingml/2006/main">
              <a:ext uri="{FF2B5EF4-FFF2-40B4-BE49-F238E27FC236}">
                <a16:creationId xmlns:a16="http://schemas.microsoft.com/office/drawing/2014/main" id="{9417CABD-6DE7-40EA-AA21-B34853F1E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8000"/>
            <a:ext cx="76200" cy="3048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" name="hd-title">
            <a:extLst xmlns:a="http://schemas.openxmlformats.org/drawingml/2006/main">
              <a:ext uri="{FF2B5EF4-FFF2-40B4-BE49-F238E27FC236}">
                <a16:creationId xmlns:a16="http://schemas.microsoft.com/office/drawing/2014/main" id="{E8D3DA7D-B7BC-4C12-9B14-DA6EC54E2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19100"/>
            <a:ext cx="101346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>
              <a:defRPr sz="2200" b="1">
                <a:solidFill>
                  <a:srgbClr val="FFFFFF"/>
                </a:solidFill>
              </a:defRPr>
            </a:defPPr>
            <a:lvl1pPr>
              <a:defRPr sz="2200" b="1">
                <a:solidFill>
                  <a:srgbClr val="FFFFFF"/>
                </a:solidFill>
              </a:defRPr>
            </a:lvl1pPr>
            <a:lvl2pPr>
              <a:defRPr sz="2200" b="1">
                <a:solidFill>
                  <a:srgbClr val="FFFFFF"/>
                </a:solidFill>
              </a:defRPr>
            </a:lvl2pPr>
            <a:lvl3pPr>
              <a:defRPr sz="2200" b="1">
                <a:solidFill>
                  <a:srgbClr val="FFFFFF"/>
                </a:solidFill>
              </a:defRPr>
            </a:lvl3pPr>
            <a:lvl4pPr>
              <a:defRPr sz="2200" b="1">
                <a:solidFill>
                  <a:srgbClr val="FFFFFF"/>
                </a:solidFill>
              </a:defRPr>
            </a:lvl4pPr>
            <a:lvl5pPr>
              <a:defRPr sz="2200" b="1">
                <a:solidFill>
                  <a:srgbClr val="FFFFFF"/>
                </a:solidFill>
              </a:defRPr>
            </a:lvl5pPr>
            <a:lvl6pPr>
              <a:defRPr sz="2200" b="1">
                <a:solidFill>
                  <a:srgbClr val="FFFFFF"/>
                </a:solidFill>
              </a:defRPr>
            </a:lvl6pPr>
            <a:lvl7pPr>
              <a:defRPr sz="2200" b="1">
                <a:solidFill>
                  <a:srgbClr val="FFFFFF"/>
                </a:solidFill>
              </a:defRPr>
            </a:lvl7pPr>
            <a:lvl8pPr>
              <a:defRPr sz="2200" b="1">
                <a:solidFill>
                  <a:srgbClr val="FFFFFF"/>
                </a:solidFill>
              </a:defRPr>
            </a:lvl8pPr>
            <a:lvl9pPr>
              <a:defRPr sz="220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2200" b="1">
                <a:solidFill>
                  <a:srgbClr val="FFFFFF"/>
                </a:solidFill>
              </a:defRPr>
            </a:pPr>
            <a:r>
              <a:rPr sz="2200" b="1">
                <a:solidFill>
                  <a:srgbClr val="FFFFFF"/>
                </a:solidFill>
                <a:latin typeface="MiSans"/>
                <a:ea typeface="MiSans"/>
                <a:cs typeface="MiSans"/>
              </a:rPr>
              <a:t>核心进展 ② 参考条件化结构评分与可解释反馈</a:t>
            </a:r>
            <a:endParaRPr sz="2200"/>
          </a:p>
        </p:txBody>
      </p:sp>
      <p:sp>
        <p:nvSpPr>
          <p:cNvPr id="4" name="hd-tag">
            <a:extLst xmlns:a="http://schemas.openxmlformats.org/drawingml/2006/main">
              <a:ext uri="{FF2B5EF4-FFF2-40B4-BE49-F238E27FC236}">
                <a16:creationId xmlns:a16="http://schemas.microsoft.com/office/drawing/2014/main" id="{D98469E7-98D6-4AC6-B2EB-63ACAF2CD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180975"/>
            <a:ext cx="762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900" b="0">
                <a:solidFill>
                  <a:srgbClr val="CBE1FF"/>
                </a:solidFill>
                <a:latin typeface="MiSans"/>
                <a:ea typeface="MiSans"/>
                <a:cs typeface="MiSans"/>
              </a:defRPr>
            </a:defPPr>
            <a:lvl1pPr algn="l">
              <a:buNone/>
              <a:defRPr sz="975" b="0">
                <a:solidFill>
                  <a:srgbClr val="076DFC"/>
                </a:solidFill>
                <a:latin typeface="MiSans"/>
                <a:ea typeface="MiSans"/>
                <a:cs typeface="MiSans"/>
              </a:defRPr>
            </a:lvl1pPr>
            <a:lvl2pPr algn="l">
              <a:buNone/>
              <a:defRPr sz="975" b="0">
                <a:solidFill>
                  <a:srgbClr val="076DFC"/>
                </a:solidFill>
                <a:latin typeface="MiSans"/>
                <a:ea typeface="MiSans"/>
                <a:cs typeface="MiSans"/>
              </a:defRPr>
            </a:lvl2pPr>
            <a:lvl3pPr algn="l">
              <a:buNone/>
              <a:defRPr sz="975" b="0">
                <a:solidFill>
                  <a:srgbClr val="076DFC"/>
                </a:solidFill>
                <a:latin typeface="MiSans"/>
                <a:ea typeface="MiSans"/>
                <a:cs typeface="MiSans"/>
              </a:defRPr>
            </a:lvl3pPr>
            <a:lvl4pPr algn="l">
              <a:buNone/>
              <a:defRPr sz="975" b="0">
                <a:solidFill>
                  <a:srgbClr val="076DFC"/>
                </a:solidFill>
                <a:latin typeface="MiSans"/>
                <a:ea typeface="MiSans"/>
                <a:cs typeface="MiSans"/>
              </a:defRPr>
            </a:lvl4pPr>
            <a:lvl5pPr algn="l">
              <a:buNone/>
              <a:defRPr sz="975" b="0">
                <a:solidFill>
                  <a:srgbClr val="076DFC"/>
                </a:solidFill>
                <a:latin typeface="MiSans"/>
                <a:ea typeface="MiSans"/>
                <a:cs typeface="MiSans"/>
              </a:defRPr>
            </a:lvl5pPr>
            <a:lvl6pPr algn="l">
              <a:buNone/>
              <a:defRPr sz="975" b="0">
                <a:solidFill>
                  <a:srgbClr val="076DFC"/>
                </a:solidFill>
                <a:latin typeface="MiSans"/>
                <a:ea typeface="MiSans"/>
                <a:cs typeface="MiSans"/>
              </a:defRPr>
            </a:lvl6pPr>
            <a:lvl7pPr algn="l">
              <a:buNone/>
              <a:defRPr sz="975" b="0">
                <a:solidFill>
                  <a:srgbClr val="076DFC"/>
                </a:solidFill>
                <a:latin typeface="MiSans"/>
                <a:ea typeface="MiSans"/>
                <a:cs typeface="MiSans"/>
              </a:defRPr>
            </a:lvl7pPr>
            <a:lvl8pPr algn="l">
              <a:buNone/>
              <a:defRPr sz="975" b="0">
                <a:solidFill>
                  <a:srgbClr val="076DFC"/>
                </a:solidFill>
                <a:latin typeface="MiSans"/>
                <a:ea typeface="MiSans"/>
                <a:cs typeface="MiSans"/>
              </a:defRPr>
            </a:lvl8pPr>
            <a:lvl9pPr algn="l">
              <a:buNone/>
              <a:defRPr sz="975" b="0">
                <a:solidFill>
                  <a:srgbClr val="076DFC"/>
                </a:solidFill>
                <a:latin typeface="MiSans"/>
                <a:ea typeface="MiSans"/>
                <a:cs typeface="MiSans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900" b="0">
                <a:solidFill>
                  <a:srgbClr val="CBE1FF"/>
                </a:solidFill>
                <a:latin typeface="MiSans"/>
                <a:ea typeface="MiSans"/>
                <a:cs typeface="MiSans"/>
              </a:defRPr>
            </a:pPr>
            <a:r>
              <a:rPr sz="900" b="0">
                <a:solidFill>
                  <a:srgbClr val="CBE1FF"/>
                </a:solidFill>
                <a:latin typeface="MiSans"/>
                <a:ea typeface="MiSans"/>
                <a:cs typeface="MiSans"/>
              </a:rPr>
              <a:t>02 · 中期核心进展</a:t>
            </a:r>
            <a:endParaRPr sz="1000"/>
          </a:p>
        </p:txBody>
      </p:sp>
      <p:sp>
        <p:nvSpPr>
          <p:cNvPr id="5" name="hd-line">
            <a:extLst xmlns:a="http://schemas.openxmlformats.org/drawingml/2006/main">
              <a:ext uri="{FF2B5EF4-FFF2-40B4-BE49-F238E27FC236}">
                <a16:creationId xmlns:a16="http://schemas.microsoft.com/office/drawing/2014/main" id="{F1FE7FE8-F192-4DD8-BA45-6DB114EC3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90600"/>
            <a:ext cx="742950" cy="28575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pic>
        <p:nvPicPr>
          <p:cNvPr id="6" name="pipe-fig">
            <a:extLst xmlns:a="http://schemas.openxmlformats.org/drawingml/2006/main">
              <a:ext uri="{FF2B5EF4-FFF2-40B4-BE49-F238E27FC236}">
                <a16:creationId xmlns:a16="http://schemas.microsoft.com/office/drawing/2014/main" id="{C1A860C7-76F5-4924-88C8-228E61B98C5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835fbe91f6b46d2"/>
          <a:srcRect xmlns:a="http://schemas.openxmlformats.org/drawingml/2006/main" l="-12" t="0" r="-1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17600" y="1193800"/>
            <a:ext cx="9956800" cy="2705100"/>
          </a:xfrm>
          <a:prstGeom xmlns:a="http://schemas.openxmlformats.org/drawingml/2006/main" prst="roundRect">
            <a:avLst>
              <a:gd name="adj" fmla="val 6000"/>
            </a:avLst>
          </a:prstGeom>
          <a:ln xmlns:a="http://schemas.openxmlformats.org/drawingml/2006/main">
            <a:noFill/>
          </a:ln>
        </p:spPr>
      </p:pic>
      <p:sp>
        <p:nvSpPr>
          <p:cNvPr id="7" name="pipe-fig-cap">
            <a:extLst xmlns:a="http://schemas.openxmlformats.org/drawingml/2006/main">
              <a:ext uri="{FF2B5EF4-FFF2-40B4-BE49-F238E27FC236}">
                <a16:creationId xmlns:a16="http://schemas.microsoft.com/office/drawing/2014/main" id="{DC43D133-18EF-464D-9A4C-98774A9E9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600" y="3937000"/>
            <a:ext cx="9956800" cy="17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>
              <a:defRPr b="0">
                <a:solidFill>
                  <a:srgbClr val="7A8CA7"/>
                </a:solidFill>
                <a:latin typeface="MiSans"/>
                <a:ea typeface="MiSans"/>
                <a:cs typeface="MiSans"/>
              </a:defRPr>
            </a:defPPr>
            <a:lvl1pPr>
              <a:buNone/>
              <a:defRPr b="0">
                <a:solidFill>
                  <a:srgbClr val="7A8CA7"/>
                </a:solidFill>
                <a:latin typeface="MiSans"/>
                <a:ea typeface="MiSans"/>
                <a:cs typeface="MiSans"/>
              </a:defRPr>
            </a:lvl1pPr>
            <a:lvl2pPr>
              <a:buNone/>
              <a:defRPr b="0">
                <a:solidFill>
                  <a:srgbClr val="7A8CA7"/>
                </a:solidFill>
                <a:latin typeface="MiSans"/>
                <a:ea typeface="MiSans"/>
                <a:cs typeface="MiSans"/>
              </a:defRPr>
            </a:lvl2pPr>
            <a:lvl3pPr>
              <a:buNone/>
              <a:defRPr b="0">
                <a:solidFill>
                  <a:srgbClr val="7A8CA7"/>
                </a:solidFill>
                <a:latin typeface="MiSans"/>
                <a:ea typeface="MiSans"/>
                <a:cs typeface="MiSans"/>
              </a:defRPr>
            </a:lvl3pPr>
            <a:lvl4pPr>
              <a:buNone/>
              <a:defRPr b="0">
                <a:solidFill>
                  <a:srgbClr val="7A8CA7"/>
                </a:solidFill>
                <a:latin typeface="MiSans"/>
                <a:ea typeface="MiSans"/>
                <a:cs typeface="MiSans"/>
              </a:defRPr>
            </a:lvl4pPr>
            <a:lvl5pPr>
              <a:buNone/>
              <a:defRPr b="0">
                <a:solidFill>
                  <a:srgbClr val="7A8CA7"/>
                </a:solidFill>
                <a:latin typeface="MiSans"/>
                <a:ea typeface="MiSans"/>
                <a:cs typeface="MiSans"/>
              </a:defRPr>
            </a:lvl5pPr>
            <a:lvl6pPr>
              <a:buNone/>
              <a:defRPr b="0">
                <a:solidFill>
                  <a:srgbClr val="7A8CA7"/>
                </a:solidFill>
                <a:latin typeface="MiSans"/>
                <a:ea typeface="MiSans"/>
                <a:cs typeface="MiSans"/>
              </a:defRPr>
            </a:lvl6pPr>
            <a:lvl7pPr>
              <a:buNone/>
              <a:defRPr b="0">
                <a:solidFill>
                  <a:srgbClr val="7A8CA7"/>
                </a:solidFill>
                <a:latin typeface="MiSans"/>
                <a:ea typeface="MiSans"/>
                <a:cs typeface="MiSans"/>
              </a:defRPr>
            </a:lvl7pPr>
            <a:lvl8pPr>
              <a:buNone/>
              <a:defRPr b="0">
                <a:solidFill>
                  <a:srgbClr val="7A8CA7"/>
                </a:solidFill>
                <a:latin typeface="MiSans"/>
                <a:ea typeface="MiSans"/>
                <a:cs typeface="MiSans"/>
              </a:defRPr>
            </a:lvl8pPr>
            <a:lvl9pPr>
              <a:buNone/>
              <a:defRPr b="0">
                <a:solidFill>
                  <a:srgbClr val="7A8CA7"/>
                </a:solidFill>
                <a:latin typeface="MiSans"/>
                <a:ea typeface="MiSans"/>
                <a:cs typeface="MiSans"/>
              </a:defRPr>
            </a:lvl9pPr>
          </a:lstStyle>
          <a:p xmlns:a="http://schemas.openxmlformats.org/drawingml/2006/main">
            <a:pPr algn="ctr">
              <a:lnSpc>
                <a:spcPct val="140000"/>
              </a:lnSpc>
              <a:buNone/>
              <a:defRPr b="0">
                <a:solidFill>
                  <a:srgbClr val="7A8CA7"/>
                </a:solidFill>
                <a:latin typeface="MiSans"/>
                <a:ea typeface="MiSans"/>
                <a:cs typeface="MiSans"/>
              </a:defRPr>
            </a:pPr>
            <a:r>
              <a:rPr sz="950" b="0">
                <a:solidFill>
                  <a:srgbClr val="7A8CA7"/>
                </a:solidFill>
                <a:latin typeface="MiSans"/>
                <a:ea typeface="MiSans"/>
                <a:cs typeface="MiSans"/>
              </a:rPr>
              <a:t>参考条件化结构评估流水线：同字参照 → 笔画解析 → 受限对齐 → 空间与方向证据 → 可审计输出（论文 Fig.1）</a:t>
            </a:r>
            <a:endParaRPr sz="950"/>
          </a:p>
        </p:txBody>
      </p:sp>
      <p:sp>
        <p:nvSpPr>
          <p:cNvPr id="8" name="sc-kicker">
            <a:extLst xmlns:a="http://schemas.openxmlformats.org/drawingml/2006/main">
              <a:ext uri="{FF2B5EF4-FFF2-40B4-BE49-F238E27FC236}">
                <a16:creationId xmlns:a16="http://schemas.microsoft.com/office/drawing/2014/main" id="{BB736FC7-CC3E-4EB0-895C-6062845BF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68800"/>
            <a:ext cx="3810000" cy="20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</a:pPr>
            <a:r>
              <a:rPr sz="1050" b="1" spc="200">
                <a:solidFill>
                  <a:srgbClr val="076DFC"/>
                </a:solidFill>
                <a:latin typeface="MiSans"/>
                <a:ea typeface="MiSans"/>
                <a:cs typeface="MiSans"/>
              </a:rPr>
              <a:t>评分如何产生</a:t>
            </a:r>
            <a:endParaRPr sz="1050"/>
          </a:p>
        </p:txBody>
      </p:sp>
      <p:sp>
        <p:nvSpPr>
          <p:cNvPr id="9" name="sc-formula-band">
            <a:extLst xmlns:a="http://schemas.openxmlformats.org/drawingml/2006/main">
              <a:ext uri="{FF2B5EF4-FFF2-40B4-BE49-F238E27FC236}">
                <a16:creationId xmlns:a16="http://schemas.microsoft.com/office/drawing/2014/main" id="{4B736AA3-C0D1-4ECE-B17F-3B65CD021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73600"/>
            <a:ext cx="6858000" cy="508000"/>
          </a:xfrm>
          <a:prstGeom xmlns:a="http://schemas.openxmlformats.org/drawingml/2006/main" prst="roundRect">
            <a:avLst>
              <a:gd name="adj" fmla="val 22500"/>
            </a:avLst>
          </a:prstGeom>
          <a:solidFill xmlns:a="http://schemas.openxmlformats.org/drawingml/2006/main">
            <a:srgbClr val="EEF4FE"/>
          </a:solidFill>
          <a:ln xmlns:a="http://schemas.openxmlformats.org/drawingml/2006/main" w="0">
            <a:noFill/>
          </a:ln>
        </p:spPr>
      </p:sp>
      <p:sp>
        <p:nvSpPr>
          <p:cNvPr id="10" name="sc-formula">
            <a:extLst xmlns:a="http://schemas.openxmlformats.org/drawingml/2006/main">
              <a:ext uri="{FF2B5EF4-FFF2-40B4-BE49-F238E27FC236}">
                <a16:creationId xmlns:a16="http://schemas.microsoft.com/office/drawing/2014/main" id="{6B612291-B33D-48E7-A036-23F5A8BF8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" y="4673600"/>
            <a:ext cx="6502400" cy="50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</a:pPr>
            <a:r>
              <a:rPr sz="1250" b="1">
                <a:solidFill>
                  <a:srgbClr val="14213D"/>
                </a:solidFill>
                <a:latin typeface="MiSans"/>
                <a:ea typeface="MiSans"/>
                <a:cs typeface="MiSans"/>
              </a:rPr>
              <a:t>参考结构匹配度 = 0.55×方向Dice + 0.25×墨迹IoU + 0.20×关键点F1</a:t>
            </a:r>
            <a:endParaRPr sz="1250"/>
          </a:p>
        </p:txBody>
      </p:sp>
      <p:sp>
        <p:nvSpPr>
          <p:cNvPr id="11" name="sc-rules">
            <a:extLst xmlns:a="http://schemas.openxmlformats.org/drawingml/2006/main">
              <a:ext uri="{FF2B5EF4-FFF2-40B4-BE49-F238E27FC236}">
                <a16:creationId xmlns:a16="http://schemas.microsoft.com/office/drawing/2014/main" id="{1AD2C3D4-C61E-403A-A76B-E7B79661B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0"/>
            <a:ext cx="6858000" cy="965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1110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defPPr>
            <a:lvl1pPr>
              <a:buNone/>
              <a:defRPr sz="1110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1pPr>
            <a:lvl2pPr>
              <a:buNone/>
              <a:defRPr sz="1110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2pPr>
            <a:lvl3pPr>
              <a:buNone/>
              <a:defRPr sz="1110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3pPr>
            <a:lvl4pPr>
              <a:buNone/>
              <a:defRPr sz="1110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4pPr>
            <a:lvl5pPr>
              <a:buNone/>
              <a:defRPr sz="1110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5pPr>
            <a:lvl6pPr>
              <a:buNone/>
              <a:defRPr sz="1110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6pPr>
            <a:lvl7pPr>
              <a:buNone/>
              <a:defRPr sz="1110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7pPr>
            <a:lvl8pPr>
              <a:buNone/>
              <a:defRPr sz="1110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8pPr>
            <a:lvl9pPr>
              <a:buNone/>
              <a:defRPr sz="1110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9pPr>
          </a:lstStyle>
          <a:p xmlns:a="http://schemas.openxmlformats.org/drawingml/2006/main">
            <a:pPr algn="l">
              <a:lnSpc>
                <a:spcPct val="150000"/>
              </a:lnSpc>
              <a:buNone/>
              <a:defRPr sz="1110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pPr>
            <a:r>
              <a:rPr sz="1110" b="0">
                <a:solidFill>
                  <a:srgbClr val="3E506E"/>
                </a:solidFill>
                <a:latin typeface="MiSans"/>
                <a:ea typeface="MiSans"/>
                <a:cs typeface="MiSans"/>
              </a:rPr>
              <a:t>受限对齐</a:t>
            </a:r>
            <a:r>
              <a:rPr sz="1110" b="0">
                <a:solidFill>
                  <a:srgbClr val="3E506E"/>
                </a:solidFill>
                <a:latin typeface="MiSans"/>
                <a:ea typeface="MiSans"/>
                <a:cs typeface="MiSans"/>
              </a:rPr>
              <a:t>：仅允许平移、0.80–1.20 等比缩放、±3° 旋转，禁止为了高分扭曲用户字。</a:t>
            </a:r>
            <a:endParaRPr sz="1050"/>
          </a:p>
          <a:p xmlns:a="http://schemas.openxmlformats.org/drawingml/2006/main">
            <a:pPr algn="l">
              <a:lnSpc>
                <a:spcPct val="150000"/>
              </a:lnSpc>
              <a:buNone/>
              <a:defRPr sz="1110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pPr>
            <a:r>
              <a:rPr sz="1110" b="0">
                <a:solidFill>
                  <a:srgbClr val="3E506E"/>
                </a:solidFill>
                <a:latin typeface="MiSans"/>
                <a:ea typeface="MiSans"/>
                <a:cs typeface="MiSans"/>
              </a:rPr>
              <a:t>反馈边界</a:t>
            </a:r>
            <a:r>
              <a:rPr sz="1110" b="0">
                <a:solidFill>
                  <a:srgbClr val="3E506E"/>
                </a:solidFill>
                <a:latin typeface="MiSans"/>
                <a:ea typeface="MiSans"/>
                <a:cs typeface="MiSans"/>
              </a:rPr>
              <a:t>：规则建议始终可用、逐条对应证据；DeepSeek 只把证据润色成自然语言，不能改分数、不能虚构笔顺。</a:t>
            </a:r>
            <a:endParaRPr sz="1050"/>
          </a:p>
        </p:txBody>
      </p:sp>
      <p:pic>
        <p:nvPicPr>
          <p:cNvPr id="12" name="shot-practice">
            <a:extLst xmlns:a="http://schemas.openxmlformats.org/drawingml/2006/main">
              <a:ext uri="{FF2B5EF4-FFF2-40B4-BE49-F238E27FC236}">
                <a16:creationId xmlns:a16="http://schemas.microsoft.com/office/drawing/2014/main" id="{B7787874-1971-4B0E-A9C9-39E339422AE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5c21af2415b4a85"/>
          <a:srcRect xmlns:a="http://schemas.openxmlformats.org/drawingml/2006/main" l="-130" t="0" r="-13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305800" y="4171950"/>
            <a:ext cx="2895600" cy="20193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3" name="shot-practice-cap">
            <a:extLst xmlns:a="http://schemas.openxmlformats.org/drawingml/2006/main">
              <a:ext uri="{FF2B5EF4-FFF2-40B4-BE49-F238E27FC236}">
                <a16:creationId xmlns:a16="http://schemas.microsoft.com/office/drawing/2014/main" id="{4858E9BE-36BC-4B61-85D8-56E6AB8C8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6229350"/>
            <a:ext cx="33528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>
              <a:defRPr b="0">
                <a:solidFill>
                  <a:srgbClr val="7A8CA7"/>
                </a:solidFill>
                <a:latin typeface="MiSans"/>
                <a:ea typeface="MiSans"/>
                <a:cs typeface="MiSans"/>
              </a:defRPr>
            </a:defPPr>
            <a:lvl1pPr>
              <a:buNone/>
              <a:defRPr b="0">
                <a:solidFill>
                  <a:srgbClr val="7A8CA7"/>
                </a:solidFill>
                <a:latin typeface="MiSans"/>
                <a:ea typeface="MiSans"/>
                <a:cs typeface="MiSans"/>
              </a:defRPr>
            </a:lvl1pPr>
            <a:lvl2pPr>
              <a:buNone/>
              <a:defRPr b="0">
                <a:solidFill>
                  <a:srgbClr val="7A8CA7"/>
                </a:solidFill>
                <a:latin typeface="MiSans"/>
                <a:ea typeface="MiSans"/>
                <a:cs typeface="MiSans"/>
              </a:defRPr>
            </a:lvl2pPr>
            <a:lvl3pPr>
              <a:buNone/>
              <a:defRPr b="0">
                <a:solidFill>
                  <a:srgbClr val="7A8CA7"/>
                </a:solidFill>
                <a:latin typeface="MiSans"/>
                <a:ea typeface="MiSans"/>
                <a:cs typeface="MiSans"/>
              </a:defRPr>
            </a:lvl3pPr>
            <a:lvl4pPr>
              <a:buNone/>
              <a:defRPr b="0">
                <a:solidFill>
                  <a:srgbClr val="7A8CA7"/>
                </a:solidFill>
                <a:latin typeface="MiSans"/>
                <a:ea typeface="MiSans"/>
                <a:cs typeface="MiSans"/>
              </a:defRPr>
            </a:lvl4pPr>
            <a:lvl5pPr>
              <a:buNone/>
              <a:defRPr b="0">
                <a:solidFill>
                  <a:srgbClr val="7A8CA7"/>
                </a:solidFill>
                <a:latin typeface="MiSans"/>
                <a:ea typeface="MiSans"/>
                <a:cs typeface="MiSans"/>
              </a:defRPr>
            </a:lvl5pPr>
            <a:lvl6pPr>
              <a:buNone/>
              <a:defRPr b="0">
                <a:solidFill>
                  <a:srgbClr val="7A8CA7"/>
                </a:solidFill>
                <a:latin typeface="MiSans"/>
                <a:ea typeface="MiSans"/>
                <a:cs typeface="MiSans"/>
              </a:defRPr>
            </a:lvl6pPr>
            <a:lvl7pPr>
              <a:buNone/>
              <a:defRPr b="0">
                <a:solidFill>
                  <a:srgbClr val="7A8CA7"/>
                </a:solidFill>
                <a:latin typeface="MiSans"/>
                <a:ea typeface="MiSans"/>
                <a:cs typeface="MiSans"/>
              </a:defRPr>
            </a:lvl7pPr>
            <a:lvl8pPr>
              <a:buNone/>
              <a:defRPr b="0">
                <a:solidFill>
                  <a:srgbClr val="7A8CA7"/>
                </a:solidFill>
                <a:latin typeface="MiSans"/>
                <a:ea typeface="MiSans"/>
                <a:cs typeface="MiSans"/>
              </a:defRPr>
            </a:lvl8pPr>
            <a:lvl9pPr>
              <a:buNone/>
              <a:defRPr b="0">
                <a:solidFill>
                  <a:srgbClr val="7A8CA7"/>
                </a:solidFill>
                <a:latin typeface="MiSans"/>
                <a:ea typeface="MiSans"/>
                <a:cs typeface="MiSans"/>
              </a:defRPr>
            </a:lvl9pPr>
          </a:lstStyle>
          <a:p xmlns:a="http://schemas.openxmlformats.org/drawingml/2006/main">
            <a:pPr algn="ctr">
              <a:lnSpc>
                <a:spcPct val="120000"/>
              </a:lnSpc>
              <a:buNone/>
              <a:defRPr b="0">
                <a:solidFill>
                  <a:srgbClr val="7A8CA7"/>
                </a:solidFill>
                <a:latin typeface="MiSans"/>
                <a:ea typeface="MiSans"/>
                <a:cs typeface="MiSans"/>
              </a:defRPr>
            </a:pPr>
            <a:r>
              <a:rPr sz="900" b="0">
                <a:solidFill>
                  <a:srgbClr val="7A8CA7"/>
                </a:solidFill>
                <a:latin typeface="MiSans"/>
                <a:ea typeface="MiSans"/>
                <a:cs typeface="MiSans"/>
              </a:rPr>
              <a:t>书写完成即触发 AI 分析（iPad 端实拍）</a:t>
            </a:r>
            <a:endParaRPr sz="900"/>
          </a:p>
        </p:txBody>
      </p:sp>
      <p:sp>
        <p:nvSpPr>
          <p:cNvPr id="14" name="ft-line">
            <a:extLst xmlns:a="http://schemas.openxmlformats.org/drawingml/2006/main">
              <a:ext uri="{FF2B5EF4-FFF2-40B4-BE49-F238E27FC236}">
                <a16:creationId xmlns:a16="http://schemas.microsoft.com/office/drawing/2014/main" id="{AE5E8B72-042C-40A7-9B48-7E5FF3727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2400"/>
            <a:ext cx="10972800" cy="12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5" name="ft-left">
            <a:extLst xmlns:a="http://schemas.openxmlformats.org/drawingml/2006/main">
              <a:ext uri="{FF2B5EF4-FFF2-40B4-BE49-F238E27FC236}">
                <a16:creationId xmlns:a16="http://schemas.microsoft.com/office/drawing/2014/main" id="{55F4FB40-2091-4D66-93D7-2327CB1E8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8600"/>
            <a:ext cx="3048000" cy="17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/>
          <a:lstStyle xmlns:a="http://schemas.openxmlformats.org/drawingml/2006/main">
            <a:defPPr>
              <a:defRPr sz="863" b="0">
                <a:solidFill>
                  <a:srgbClr val="D8E8FF"/>
                </a:solidFill>
                <a:latin typeface="MiSans"/>
                <a:ea typeface="MiSans"/>
                <a:cs typeface="MiSans"/>
              </a:defRPr>
            </a:defPPr>
            <a:lvl1pPr>
              <a:buNone/>
              <a:defRPr sz="863" b="0">
                <a:solidFill>
                  <a:srgbClr val="7A8CA7"/>
                </a:solidFill>
                <a:latin typeface="MiSans"/>
                <a:ea typeface="MiSans"/>
                <a:cs typeface="MiSans"/>
              </a:defRPr>
            </a:lvl1pPr>
            <a:lvl2pPr>
              <a:buNone/>
              <a:defRPr sz="863" b="0">
                <a:solidFill>
                  <a:srgbClr val="7A8CA7"/>
                </a:solidFill>
                <a:latin typeface="MiSans"/>
                <a:ea typeface="MiSans"/>
                <a:cs typeface="MiSans"/>
              </a:defRPr>
            </a:lvl2pPr>
            <a:lvl3pPr>
              <a:buNone/>
              <a:defRPr sz="863" b="0">
                <a:solidFill>
                  <a:srgbClr val="7A8CA7"/>
                </a:solidFill>
                <a:latin typeface="MiSans"/>
                <a:ea typeface="MiSans"/>
                <a:cs typeface="MiSans"/>
              </a:defRPr>
            </a:lvl3pPr>
            <a:lvl4pPr>
              <a:buNone/>
              <a:defRPr sz="863" b="0">
                <a:solidFill>
                  <a:srgbClr val="7A8CA7"/>
                </a:solidFill>
                <a:latin typeface="MiSans"/>
                <a:ea typeface="MiSans"/>
                <a:cs typeface="MiSans"/>
              </a:defRPr>
            </a:lvl4pPr>
            <a:lvl5pPr>
              <a:buNone/>
              <a:defRPr sz="863" b="0">
                <a:solidFill>
                  <a:srgbClr val="7A8CA7"/>
                </a:solidFill>
                <a:latin typeface="MiSans"/>
                <a:ea typeface="MiSans"/>
                <a:cs typeface="MiSans"/>
              </a:defRPr>
            </a:lvl5pPr>
            <a:lvl6pPr>
              <a:buNone/>
              <a:defRPr sz="863" b="0">
                <a:solidFill>
                  <a:srgbClr val="7A8CA7"/>
                </a:solidFill>
                <a:latin typeface="MiSans"/>
                <a:ea typeface="MiSans"/>
                <a:cs typeface="MiSans"/>
              </a:defRPr>
            </a:lvl6pPr>
            <a:lvl7pPr>
              <a:buNone/>
              <a:defRPr sz="863" b="0">
                <a:solidFill>
                  <a:srgbClr val="7A8CA7"/>
                </a:solidFill>
                <a:latin typeface="MiSans"/>
                <a:ea typeface="MiSans"/>
                <a:cs typeface="MiSans"/>
              </a:defRPr>
            </a:lvl7pPr>
            <a:lvl8pPr>
              <a:buNone/>
              <a:defRPr sz="863" b="0">
                <a:solidFill>
                  <a:srgbClr val="7A8CA7"/>
                </a:solidFill>
                <a:latin typeface="MiSans"/>
                <a:ea typeface="MiSans"/>
                <a:cs typeface="MiSans"/>
              </a:defRPr>
            </a:lvl8pPr>
            <a:lvl9pPr>
              <a:buNone/>
              <a:defRPr sz="863" b="0">
                <a:solidFill>
                  <a:srgbClr val="7A8CA7"/>
                </a:solidFill>
                <a:latin typeface="MiSans"/>
                <a:ea typeface="MiSans"/>
                <a:cs typeface="MiSans"/>
              </a:defRPr>
            </a:lvl9pPr>
          </a:lstStyle>
          <a:p xmlns:a="http://schemas.openxmlformats.org/drawingml/2006/main">
            <a:pPr>
              <a:lnSpc>
                <a:spcPct val="120000"/>
              </a:lnSpc>
              <a:buNone/>
              <a:defRPr sz="863" b="0">
                <a:solidFill>
                  <a:srgbClr val="D8E8FF"/>
                </a:solidFill>
                <a:latin typeface="MiSans"/>
                <a:ea typeface="MiSans"/>
                <a:cs typeface="MiSans"/>
              </a:defRPr>
            </a:pPr>
            <a:r>
              <a:rPr sz="863" b="0">
                <a:solidFill>
                  <a:srgbClr val="D8E8FF"/>
                </a:solidFill>
                <a:latin typeface="MiSans"/>
                <a:ea typeface="MiSans"/>
                <a:cs typeface="MiSans"/>
              </a:rPr>
              <a:t>一笔成章 · 2026 中期汇报</a:t>
            </a:r>
            <a:endParaRPr sz="900"/>
          </a:p>
        </p:txBody>
      </p:sp>
      <p:sp>
        <p:nvSpPr>
          <p:cNvPr id="16" name="ft-page">
            <a:extLst xmlns:a="http://schemas.openxmlformats.org/drawingml/2006/main">
              <a:ext uri="{FF2B5EF4-FFF2-40B4-BE49-F238E27FC236}">
                <a16:creationId xmlns:a16="http://schemas.microsoft.com/office/drawing/2014/main" id="{F60153E2-9A73-47A2-90E9-F54D336A9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6578600"/>
            <a:ext cx="914400" cy="17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>
            <a:defPPr>
              <a:defRPr sz="863" b="0">
                <a:solidFill>
                  <a:srgbClr val="D8E8FF"/>
                </a:solidFill>
                <a:latin typeface="MiSans"/>
                <a:ea typeface="MiSans"/>
                <a:cs typeface="MiSans"/>
              </a:defRPr>
            </a:defPPr>
            <a:lvl1pPr>
              <a:buNone/>
              <a:defRPr sz="863" b="0">
                <a:solidFill>
                  <a:srgbClr val="7A8CA7"/>
                </a:solidFill>
                <a:latin typeface="MiSans"/>
                <a:ea typeface="MiSans"/>
                <a:cs typeface="MiSans"/>
              </a:defRPr>
            </a:lvl1pPr>
            <a:lvl2pPr>
              <a:buNone/>
              <a:defRPr sz="863" b="0">
                <a:solidFill>
                  <a:srgbClr val="7A8CA7"/>
                </a:solidFill>
                <a:latin typeface="MiSans"/>
                <a:ea typeface="MiSans"/>
                <a:cs typeface="MiSans"/>
              </a:defRPr>
            </a:lvl2pPr>
            <a:lvl3pPr>
              <a:buNone/>
              <a:defRPr sz="863" b="0">
                <a:solidFill>
                  <a:srgbClr val="7A8CA7"/>
                </a:solidFill>
                <a:latin typeface="MiSans"/>
                <a:ea typeface="MiSans"/>
                <a:cs typeface="MiSans"/>
              </a:defRPr>
            </a:lvl3pPr>
            <a:lvl4pPr>
              <a:buNone/>
              <a:defRPr sz="863" b="0">
                <a:solidFill>
                  <a:srgbClr val="7A8CA7"/>
                </a:solidFill>
                <a:latin typeface="MiSans"/>
                <a:ea typeface="MiSans"/>
                <a:cs typeface="MiSans"/>
              </a:defRPr>
            </a:lvl4pPr>
            <a:lvl5pPr>
              <a:buNone/>
              <a:defRPr sz="863" b="0">
                <a:solidFill>
                  <a:srgbClr val="7A8CA7"/>
                </a:solidFill>
                <a:latin typeface="MiSans"/>
                <a:ea typeface="MiSans"/>
                <a:cs typeface="MiSans"/>
              </a:defRPr>
            </a:lvl5pPr>
            <a:lvl6pPr>
              <a:buNone/>
              <a:defRPr sz="863" b="0">
                <a:solidFill>
                  <a:srgbClr val="7A8CA7"/>
                </a:solidFill>
                <a:latin typeface="MiSans"/>
                <a:ea typeface="MiSans"/>
                <a:cs typeface="MiSans"/>
              </a:defRPr>
            </a:lvl6pPr>
            <a:lvl7pPr>
              <a:buNone/>
              <a:defRPr sz="863" b="0">
                <a:solidFill>
                  <a:srgbClr val="7A8CA7"/>
                </a:solidFill>
                <a:latin typeface="MiSans"/>
                <a:ea typeface="MiSans"/>
                <a:cs typeface="MiSans"/>
              </a:defRPr>
            </a:lvl7pPr>
            <a:lvl8pPr>
              <a:buNone/>
              <a:defRPr sz="863" b="0">
                <a:solidFill>
                  <a:srgbClr val="7A8CA7"/>
                </a:solidFill>
                <a:latin typeface="MiSans"/>
                <a:ea typeface="MiSans"/>
                <a:cs typeface="MiSans"/>
              </a:defRPr>
            </a:lvl8pPr>
            <a:lvl9pPr>
              <a:buNone/>
              <a:defRPr sz="863" b="0">
                <a:solidFill>
                  <a:srgbClr val="7A8CA7"/>
                </a:solidFill>
                <a:latin typeface="MiSans"/>
                <a:ea typeface="MiSans"/>
                <a:cs typeface="MiSans"/>
              </a:defRPr>
            </a:lvl9pPr>
          </a:lstStyle>
          <a:p xmlns:a="http://schemas.openxmlformats.org/drawingml/2006/main">
            <a:pPr algn="r">
              <a:lnSpc>
                <a:spcPct val="120000"/>
              </a:lnSpc>
              <a:buNone/>
              <a:defRPr sz="863" b="0">
                <a:solidFill>
                  <a:srgbClr val="D8E8FF"/>
                </a:solidFill>
                <a:latin typeface="MiSans"/>
                <a:ea typeface="MiSans"/>
                <a:cs typeface="MiSans"/>
              </a:defRPr>
            </a:pPr>
            <a:r>
              <a:rPr sz="863" b="0">
                <a:solidFill>
                  <a:srgbClr val="D8E8FF"/>
                </a:solidFill>
                <a:latin typeface="MiSans"/>
                <a:ea typeface="MiSans"/>
                <a:cs typeface="MiSans"/>
              </a:rPr>
              <a:t>08 / 13</a:t>
            </a:r>
            <a:endParaRPr sz="900"/>
          </a:p>
        </p:txBody>
      </p:sp>
    </p:spTree>
    <p:extLst>
      <p:ext uri="{BB962C8B-B14F-4D97-AF65-F5344CB8AC3E}">
        <p14:creationId xmlns:p14="http://schemas.microsoft.com/office/powerpoint/2010/main" val="1238661689"/>
      </p:ext>
    </p:extLst>
  </p:cSld>
</p:sld>
</file>

<file path=ppt/slides/slide9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E7EFFB"/>
            </a:gs>
            <a:gs pos="48000">
              <a:srgbClr val="F1F5FC"/>
            </a:gs>
            <a:gs pos="100000">
              <a:srgbClr val="E9F2FF"/>
            </a:gs>
          </a:gsLst>
          <a:lin ang="168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F3577FE-D73F-4CF2-B7EA-F4025053AEE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3bcf15ad8114041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7" name="reference-cover-triangle">
            <a:extLst xmlns:a="http://schemas.openxmlformats.org/drawingml/2006/main">
              <a:ext uri="{FF2B5EF4-FFF2-40B4-BE49-F238E27FC236}">
                <a16:creationId xmlns:a16="http://schemas.microsoft.com/office/drawing/2014/main" id="{59006AA3-3A74-4DAB-8842-52C488C33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0" y="5905500"/>
            <a:ext cx="533400" cy="381000"/>
          </a:xfrm>
          <a:prstGeom xmlns:a="http://schemas.openxmlformats.org/drawingml/2006/main" prst="triangl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6" name="reference-cover-ring">
            <a:extLst xmlns:a="http://schemas.openxmlformats.org/drawingml/2006/main">
              <a:ext uri="{FF2B5EF4-FFF2-40B4-BE49-F238E27FC236}">
                <a16:creationId xmlns:a16="http://schemas.microsoft.com/office/drawing/2014/main" id="{13BC0675-8920-49F8-BD31-68FF8A36A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95250"/>
            <a:ext cx="1181100" cy="11811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" name="hd-bar">
            <a:extLst xmlns:a="http://schemas.openxmlformats.org/drawingml/2006/main">
              <a:ext uri="{FF2B5EF4-FFF2-40B4-BE49-F238E27FC236}">
                <a16:creationId xmlns:a16="http://schemas.microsoft.com/office/drawing/2014/main" id="{ABDA1B27-6037-4253-AA08-62C43D343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8000"/>
            <a:ext cx="76200" cy="3048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" name="hd-title">
            <a:extLst xmlns:a="http://schemas.openxmlformats.org/drawingml/2006/main">
              <a:ext uri="{FF2B5EF4-FFF2-40B4-BE49-F238E27FC236}">
                <a16:creationId xmlns:a16="http://schemas.microsoft.com/office/drawing/2014/main" id="{A835A666-D211-44D0-9088-D5204519C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19100"/>
            <a:ext cx="101346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>
              <a:defRPr sz="2200" b="1">
                <a:solidFill>
                  <a:srgbClr val="FFFFFF"/>
                </a:solidFill>
              </a:defRPr>
            </a:defPPr>
            <a:lvl1pPr>
              <a:defRPr sz="2200" b="1">
                <a:solidFill>
                  <a:srgbClr val="FFFFFF"/>
                </a:solidFill>
              </a:defRPr>
            </a:lvl1pPr>
            <a:lvl2pPr>
              <a:defRPr sz="2200" b="1">
                <a:solidFill>
                  <a:srgbClr val="FFFFFF"/>
                </a:solidFill>
              </a:defRPr>
            </a:lvl2pPr>
            <a:lvl3pPr>
              <a:defRPr sz="2200" b="1">
                <a:solidFill>
                  <a:srgbClr val="FFFFFF"/>
                </a:solidFill>
              </a:defRPr>
            </a:lvl3pPr>
            <a:lvl4pPr>
              <a:defRPr sz="2200" b="1">
                <a:solidFill>
                  <a:srgbClr val="FFFFFF"/>
                </a:solidFill>
              </a:defRPr>
            </a:lvl4pPr>
            <a:lvl5pPr>
              <a:defRPr sz="2200" b="1">
                <a:solidFill>
                  <a:srgbClr val="FFFFFF"/>
                </a:solidFill>
              </a:defRPr>
            </a:lvl5pPr>
            <a:lvl6pPr>
              <a:defRPr sz="2200" b="1">
                <a:solidFill>
                  <a:srgbClr val="FFFFFF"/>
                </a:solidFill>
              </a:defRPr>
            </a:lvl6pPr>
            <a:lvl7pPr>
              <a:defRPr sz="2200" b="1">
                <a:solidFill>
                  <a:srgbClr val="FFFFFF"/>
                </a:solidFill>
              </a:defRPr>
            </a:lvl7pPr>
            <a:lvl8pPr>
              <a:defRPr sz="2200" b="1">
                <a:solidFill>
                  <a:srgbClr val="FFFFFF"/>
                </a:solidFill>
              </a:defRPr>
            </a:lvl8pPr>
            <a:lvl9pPr>
              <a:defRPr sz="220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2200" b="1">
                <a:solidFill>
                  <a:srgbClr val="FFFFFF"/>
                </a:solidFill>
              </a:defRPr>
            </a:pPr>
            <a:r>
              <a:rPr sz="2200" b="1">
                <a:solidFill>
                  <a:srgbClr val="FFFFFF"/>
                </a:solidFill>
                <a:latin typeface="MiSans"/>
                <a:ea typeface="MiSans"/>
                <a:cs typeface="MiSans"/>
              </a:rPr>
              <a:t>核心进展 ③ 双平台产品落地：Web + iPad</a:t>
            </a:r>
            <a:endParaRPr sz="2200"/>
          </a:p>
        </p:txBody>
      </p:sp>
      <p:sp>
        <p:nvSpPr>
          <p:cNvPr id="4" name="hd-tag">
            <a:extLst xmlns:a="http://schemas.openxmlformats.org/drawingml/2006/main">
              <a:ext uri="{FF2B5EF4-FFF2-40B4-BE49-F238E27FC236}">
                <a16:creationId xmlns:a16="http://schemas.microsoft.com/office/drawing/2014/main" id="{7D6008EF-78BF-4651-B9FE-DEDD4C7C1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180975"/>
            <a:ext cx="762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900" b="0">
                <a:solidFill>
                  <a:srgbClr val="CBE1FF"/>
                </a:solidFill>
                <a:latin typeface="MiSans"/>
                <a:ea typeface="MiSans"/>
                <a:cs typeface="MiSans"/>
              </a:defRPr>
            </a:defPPr>
            <a:lvl1pPr algn="l">
              <a:buNone/>
              <a:defRPr sz="975" b="0">
                <a:solidFill>
                  <a:srgbClr val="076DFC"/>
                </a:solidFill>
                <a:latin typeface="MiSans"/>
                <a:ea typeface="MiSans"/>
                <a:cs typeface="MiSans"/>
              </a:defRPr>
            </a:lvl1pPr>
            <a:lvl2pPr algn="l">
              <a:buNone/>
              <a:defRPr sz="975" b="0">
                <a:solidFill>
                  <a:srgbClr val="076DFC"/>
                </a:solidFill>
                <a:latin typeface="MiSans"/>
                <a:ea typeface="MiSans"/>
                <a:cs typeface="MiSans"/>
              </a:defRPr>
            </a:lvl2pPr>
            <a:lvl3pPr algn="l">
              <a:buNone/>
              <a:defRPr sz="975" b="0">
                <a:solidFill>
                  <a:srgbClr val="076DFC"/>
                </a:solidFill>
                <a:latin typeface="MiSans"/>
                <a:ea typeface="MiSans"/>
                <a:cs typeface="MiSans"/>
              </a:defRPr>
            </a:lvl3pPr>
            <a:lvl4pPr algn="l">
              <a:buNone/>
              <a:defRPr sz="975" b="0">
                <a:solidFill>
                  <a:srgbClr val="076DFC"/>
                </a:solidFill>
                <a:latin typeface="MiSans"/>
                <a:ea typeface="MiSans"/>
                <a:cs typeface="MiSans"/>
              </a:defRPr>
            </a:lvl4pPr>
            <a:lvl5pPr algn="l">
              <a:buNone/>
              <a:defRPr sz="975" b="0">
                <a:solidFill>
                  <a:srgbClr val="076DFC"/>
                </a:solidFill>
                <a:latin typeface="MiSans"/>
                <a:ea typeface="MiSans"/>
                <a:cs typeface="MiSans"/>
              </a:defRPr>
            </a:lvl5pPr>
            <a:lvl6pPr algn="l">
              <a:buNone/>
              <a:defRPr sz="975" b="0">
                <a:solidFill>
                  <a:srgbClr val="076DFC"/>
                </a:solidFill>
                <a:latin typeface="MiSans"/>
                <a:ea typeface="MiSans"/>
                <a:cs typeface="MiSans"/>
              </a:defRPr>
            </a:lvl6pPr>
            <a:lvl7pPr algn="l">
              <a:buNone/>
              <a:defRPr sz="975" b="0">
                <a:solidFill>
                  <a:srgbClr val="076DFC"/>
                </a:solidFill>
                <a:latin typeface="MiSans"/>
                <a:ea typeface="MiSans"/>
                <a:cs typeface="MiSans"/>
              </a:defRPr>
            </a:lvl7pPr>
            <a:lvl8pPr algn="l">
              <a:buNone/>
              <a:defRPr sz="975" b="0">
                <a:solidFill>
                  <a:srgbClr val="076DFC"/>
                </a:solidFill>
                <a:latin typeface="MiSans"/>
                <a:ea typeface="MiSans"/>
                <a:cs typeface="MiSans"/>
              </a:defRPr>
            </a:lvl8pPr>
            <a:lvl9pPr algn="l">
              <a:buNone/>
              <a:defRPr sz="975" b="0">
                <a:solidFill>
                  <a:srgbClr val="076DFC"/>
                </a:solidFill>
                <a:latin typeface="MiSans"/>
                <a:ea typeface="MiSans"/>
                <a:cs typeface="MiSans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900" b="0">
                <a:solidFill>
                  <a:srgbClr val="CBE1FF"/>
                </a:solidFill>
                <a:latin typeface="MiSans"/>
                <a:ea typeface="MiSans"/>
                <a:cs typeface="MiSans"/>
              </a:defRPr>
            </a:pPr>
            <a:r>
              <a:rPr sz="900" b="0">
                <a:solidFill>
                  <a:srgbClr val="CBE1FF"/>
                </a:solidFill>
                <a:latin typeface="MiSans"/>
                <a:ea typeface="MiSans"/>
                <a:cs typeface="MiSans"/>
              </a:rPr>
              <a:t>02 · 中期核心进展</a:t>
            </a:r>
            <a:endParaRPr sz="1000"/>
          </a:p>
        </p:txBody>
      </p:sp>
      <p:sp>
        <p:nvSpPr>
          <p:cNvPr id="5" name="hd-line">
            <a:extLst xmlns:a="http://schemas.openxmlformats.org/drawingml/2006/main">
              <a:ext uri="{FF2B5EF4-FFF2-40B4-BE49-F238E27FC236}">
                <a16:creationId xmlns:a16="http://schemas.microsoft.com/office/drawing/2014/main" id="{BEE43C88-0451-4613-A983-19ED953E5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90600"/>
            <a:ext cx="742950" cy="28575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6" name="mid-vline">
            <a:extLst xmlns:a="http://schemas.openxmlformats.org/drawingml/2006/main">
              <a:ext uri="{FF2B5EF4-FFF2-40B4-BE49-F238E27FC236}">
                <a16:creationId xmlns:a16="http://schemas.microsoft.com/office/drawing/2014/main" id="{C80E5AE6-56EA-49A6-B1CA-BF761C4C7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0600" y="1270000"/>
            <a:ext cx="12700" cy="502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7" name="web-icon">
            <a:extLst xmlns:a="http://schemas.openxmlformats.org/drawingml/2006/main">
              <a:ext uri="{FF2B5EF4-FFF2-40B4-BE49-F238E27FC236}">
                <a16:creationId xmlns:a16="http://schemas.microsoft.com/office/drawing/2014/main" id="{EE277BDF-C4C2-4C6E-BE55-D536B0DB2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20800"/>
            <a:ext cx="254000" cy="254000"/>
          </a:xfrm>
          <a:custGeom xmlns:a="http://schemas.openxmlformats.org/drawingml/2006/main">
            <a:rect l="l" t="t" r="r" b="b"/>
            <a:pathLst>
              <a:path w="512" h="512">
                <a:moveTo>
                  <a:pt x="352" y="280"/>
                </a:moveTo>
                <a:lnTo>
                  <a:pt x="161" y="280"/>
                </a:lnTo>
                <a:cubicBezTo>
                  <a:pt x="164" y="345"/>
                  <a:pt x="178" y="404"/>
                  <a:pt x="198" y="447"/>
                </a:cubicBezTo>
                <a:cubicBezTo>
                  <a:pt x="210" y="472"/>
                  <a:pt x="222" y="489"/>
                  <a:pt x="234" y="500"/>
                </a:cubicBezTo>
                <a:cubicBezTo>
                  <a:pt x="245" y="510"/>
                  <a:pt x="252" y="512"/>
                  <a:pt x="256" y="512"/>
                </a:cubicBezTo>
                <a:cubicBezTo>
                  <a:pt x="260" y="512"/>
                  <a:pt x="268" y="510"/>
                  <a:pt x="279" y="500"/>
                </a:cubicBezTo>
                <a:cubicBezTo>
                  <a:pt x="291" y="489"/>
                  <a:pt x="303" y="472"/>
                  <a:pt x="314" y="447"/>
                </a:cubicBezTo>
                <a:cubicBezTo>
                  <a:pt x="335" y="404"/>
                  <a:pt x="349" y="345"/>
                  <a:pt x="352" y="280"/>
                </a:cubicBezTo>
                <a:close/>
              </a:path>
              <a:path w="512" h="512">
                <a:moveTo>
                  <a:pt x="161" y="232"/>
                </a:moveTo>
                <a:lnTo>
                  <a:pt x="352" y="232"/>
                </a:lnTo>
                <a:cubicBezTo>
                  <a:pt x="349" y="168"/>
                  <a:pt x="335" y="108"/>
                  <a:pt x="314" y="65"/>
                </a:cubicBezTo>
                <a:cubicBezTo>
                  <a:pt x="303" y="40"/>
                  <a:pt x="291" y="23"/>
                  <a:pt x="279" y="12"/>
                </a:cubicBezTo>
                <a:cubicBezTo>
                  <a:pt x="268" y="2"/>
                  <a:pt x="260" y="0"/>
                  <a:pt x="256" y="0"/>
                </a:cubicBezTo>
                <a:cubicBezTo>
                  <a:pt x="252" y="0"/>
                  <a:pt x="245" y="2"/>
                  <a:pt x="233" y="12"/>
                </a:cubicBezTo>
                <a:cubicBezTo>
                  <a:pt x="222" y="23"/>
                  <a:pt x="210" y="40"/>
                  <a:pt x="198" y="65"/>
                </a:cubicBezTo>
                <a:cubicBezTo>
                  <a:pt x="178" y="108"/>
                  <a:pt x="164" y="168"/>
                  <a:pt x="161" y="232"/>
                </a:cubicBezTo>
                <a:close/>
              </a:path>
              <a:path w="512" h="512">
                <a:moveTo>
                  <a:pt x="113" y="232"/>
                </a:moveTo>
                <a:cubicBezTo>
                  <a:pt x="116" y="146"/>
                  <a:pt x="139" y="67"/>
                  <a:pt x="171" y="15"/>
                </a:cubicBezTo>
                <a:cubicBezTo>
                  <a:pt x="79" y="47"/>
                  <a:pt x="11" y="131"/>
                  <a:pt x="2" y="232"/>
                </a:cubicBezTo>
                <a:lnTo>
                  <a:pt x="113" y="232"/>
                </a:lnTo>
                <a:close/>
              </a:path>
              <a:path w="512" h="512">
                <a:moveTo>
                  <a:pt x="2" y="280"/>
                </a:moveTo>
                <a:cubicBezTo>
                  <a:pt x="11" y="381"/>
                  <a:pt x="79" y="465"/>
                  <a:pt x="171" y="497"/>
                </a:cubicBezTo>
                <a:cubicBezTo>
                  <a:pt x="139" y="445"/>
                  <a:pt x="116" y="366"/>
                  <a:pt x="113" y="280"/>
                </a:cubicBezTo>
                <a:lnTo>
                  <a:pt x="2" y="280"/>
                </a:lnTo>
                <a:close/>
              </a:path>
              <a:path w="512" h="512">
                <a:moveTo>
                  <a:pt x="400" y="280"/>
                </a:moveTo>
                <a:cubicBezTo>
                  <a:pt x="396" y="366"/>
                  <a:pt x="374" y="445"/>
                  <a:pt x="342" y="497"/>
                </a:cubicBezTo>
                <a:cubicBezTo>
                  <a:pt x="434" y="465"/>
                  <a:pt x="502" y="381"/>
                  <a:pt x="511" y="280"/>
                </a:cubicBezTo>
                <a:lnTo>
                  <a:pt x="400" y="280"/>
                </a:lnTo>
                <a:close/>
              </a:path>
              <a:path w="512" h="512">
                <a:moveTo>
                  <a:pt x="511" y="232"/>
                </a:moveTo>
                <a:cubicBezTo>
                  <a:pt x="502" y="131"/>
                  <a:pt x="434" y="47"/>
                  <a:pt x="342" y="15"/>
                </a:cubicBezTo>
                <a:cubicBezTo>
                  <a:pt x="374" y="67"/>
                  <a:pt x="396" y="146"/>
                  <a:pt x="400" y="232"/>
                </a:cubicBezTo>
                <a:lnTo>
                  <a:pt x="511" y="232"/>
                </a:lnTo>
                <a:close/>
              </a:path>
            </a:pathLst>
          </a:custGeom>
          <a:solidFill xmlns:a="http://schemas.openxmlformats.org/drawingml/2006/main">
            <a:srgbClr val="076DFC"/>
          </a:solidFill>
          <a:ln xmlns:a="http://schemas.openxmlformats.org/drawingml/2006/main">
            <a:noFill/>
          </a:ln>
        </p:spPr>
      </p:sp>
      <p:sp>
        <p:nvSpPr>
          <p:cNvPr id="8" name="web-title">
            <a:extLst xmlns:a="http://schemas.openxmlformats.org/drawingml/2006/main">
              <a:ext uri="{FF2B5EF4-FFF2-40B4-BE49-F238E27FC236}">
                <a16:creationId xmlns:a16="http://schemas.microsoft.com/office/drawing/2014/main" id="{C90EBD3B-69A9-47D4-9F14-B6CD01C87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200" y="1295400"/>
            <a:ext cx="3810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</a:pPr>
            <a:r>
              <a:rPr sz="1500" b="1">
                <a:solidFill>
                  <a:srgbClr val="14213D"/>
                </a:solidFill>
                <a:latin typeface="MiSans"/>
                <a:ea typeface="MiSans"/>
                <a:cs typeface="MiSans"/>
              </a:rPr>
              <a:t>Web 端 · onestroke.cn</a:t>
            </a:r>
            <a:endParaRPr sz="1500"/>
          </a:p>
        </p:txBody>
      </p:sp>
      <p:sp>
        <p:nvSpPr>
          <p:cNvPr id="9" name="web-bullets">
            <a:extLst xmlns:a="http://schemas.openxmlformats.org/drawingml/2006/main">
              <a:ext uri="{FF2B5EF4-FFF2-40B4-BE49-F238E27FC236}">
                <a16:creationId xmlns:a16="http://schemas.microsoft.com/office/drawing/2014/main" id="{3767DF93-4097-4263-8CC5-3953D1415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51308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1125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defPPr>
            <a:lvl1pPr>
              <a:buNone/>
              <a:defRPr sz="1125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1pPr>
            <a:lvl2pPr>
              <a:buNone/>
              <a:defRPr sz="1125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2pPr>
            <a:lvl3pPr>
              <a:buNone/>
              <a:defRPr sz="1125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3pPr>
            <a:lvl4pPr>
              <a:buNone/>
              <a:defRPr sz="1125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4pPr>
            <a:lvl5pPr>
              <a:buNone/>
              <a:defRPr sz="1125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5pPr>
            <a:lvl6pPr>
              <a:buNone/>
              <a:defRPr sz="1125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6pPr>
            <a:lvl7pPr>
              <a:buNone/>
              <a:defRPr sz="1125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7pPr>
            <a:lvl8pPr>
              <a:buNone/>
              <a:defRPr sz="1125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8pPr>
            <a:lvl9pPr>
              <a:buNone/>
              <a:defRPr sz="1125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9pPr>
          </a:lstStyle>
          <a:p xmlns:a="http://schemas.openxmlformats.org/drawingml/2006/main">
            <a:pPr algn="l">
              <a:lnSpc>
                <a:spcPct val="150000"/>
              </a:lnSpc>
              <a:buNone/>
              <a:defRPr sz="1125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pPr>
            <a:r>
              <a:rPr sz="1125" b="0">
                <a:solidFill>
                  <a:srgbClr val="3E506E"/>
                </a:solidFill>
                <a:latin typeface="MiSans"/>
                <a:ea typeface="MiSans"/>
                <a:cs typeface="MiSans"/>
              </a:rPr>
              <a:t>免安装进校：浏览器即用，</a:t>
            </a:r>
            <a:r>
              <a:rPr sz="1125" b="0">
                <a:solidFill>
                  <a:srgbClr val="3E506E"/>
                </a:solidFill>
                <a:latin typeface="MiSans"/>
                <a:ea typeface="MiSans"/>
                <a:cs typeface="MiSans"/>
              </a:rPr>
              <a:t>适配学校机房与电子白板，进校门槛低。</a:t>
            </a:r>
            <a:endParaRPr sz="1050"/>
          </a:p>
          <a:p xmlns:a="http://schemas.openxmlformats.org/drawingml/2006/main">
            <a:pPr algn="l">
              <a:lnSpc>
                <a:spcPct val="150000"/>
              </a:lnSpc>
              <a:buNone/>
              <a:defRPr sz="1125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pPr>
            <a:r>
              <a:rPr sz="1125" b="0">
                <a:solidFill>
                  <a:srgbClr val="3E506E"/>
                </a:solidFill>
                <a:latin typeface="MiSans"/>
                <a:ea typeface="MiSans"/>
                <a:cs typeface="MiSans"/>
              </a:rPr>
              <a:t>两门 Beta 课程</a:t>
            </a:r>
            <a:r>
              <a:rPr sz="1125" b="0">
                <a:solidFill>
                  <a:srgbClr val="3E506E"/>
                </a:solidFill>
                <a:latin typeface="MiSans"/>
                <a:ea typeface="MiSans"/>
                <a:cs typeface="MiSans"/>
              </a:rPr>
              <a:t>：欧阳询楷书 100 字 / 王羲之行书 100 字，参考字取自 Calli-Tongji 授权字库。</a:t>
            </a:r>
            <a:endParaRPr sz="1050"/>
          </a:p>
          <a:p xmlns:a="http://schemas.openxmlformats.org/drawingml/2006/main">
            <a:pPr algn="l">
              <a:lnSpc>
                <a:spcPct val="150000"/>
              </a:lnSpc>
              <a:buNone/>
              <a:defRPr sz="1125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pPr>
            <a:r>
              <a:rPr sz="1125" b="0">
                <a:solidFill>
                  <a:srgbClr val="3E506E"/>
                </a:solidFill>
                <a:latin typeface="MiSans"/>
                <a:ea typeface="MiSans"/>
                <a:cs typeface="MiSans"/>
              </a:rPr>
              <a:t>模型服务链路</a:t>
            </a:r>
            <a:r>
              <a:rPr sz="1125" b="0">
                <a:solidFill>
                  <a:srgbClr val="3E506E"/>
                </a:solidFill>
                <a:latin typeface="MiSans"/>
                <a:ea typeface="MiSans"/>
                <a:cs typeface="MiSans"/>
              </a:rPr>
              <a:t>：Java 后端 → GPU 模型服务，已完成真实联调。</a:t>
            </a:r>
            <a:endParaRPr sz="1050"/>
          </a:p>
        </p:txBody>
      </p:sp>
      <p:sp>
        <p:nvSpPr>
          <p:cNvPr id="10" name="web-shot-frame">
            <a:extLst xmlns:a="http://schemas.openxmlformats.org/drawingml/2006/main">
              <a:ext uri="{FF2B5EF4-FFF2-40B4-BE49-F238E27FC236}">
                <a16:creationId xmlns:a16="http://schemas.microsoft.com/office/drawing/2014/main" id="{22B099E0-5559-4799-9578-F611B99A6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54400"/>
            <a:ext cx="5130800" cy="22352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DFE9F9"/>
          </a:solidFill>
          <a:ln xmlns:a="http://schemas.openxmlformats.org/drawingml/2006/main" w="9525">
            <a:solidFill>
              <a:srgbClr val="C2D2EB"/>
            </a:solidFill>
            <a:prstDash val="solid"/>
          </a:ln>
        </p:spPr>
      </p:sp>
      <p:sp>
        <p:nvSpPr>
          <p:cNvPr id="11" name="web-shot-icon">
            <a:extLst xmlns:a="http://schemas.openxmlformats.org/drawingml/2006/main">
              <a:ext uri="{FF2B5EF4-FFF2-40B4-BE49-F238E27FC236}">
                <a16:creationId xmlns:a16="http://schemas.microsoft.com/office/drawing/2014/main" id="{68AC4CE2-6757-4D71-B8AD-BCB533737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6400" y="4267200"/>
            <a:ext cx="457200" cy="457200"/>
          </a:xfrm>
          <a:custGeom xmlns:a="http://schemas.openxmlformats.org/drawingml/2006/main">
            <a:rect l="l" t="t" r="r" b="b"/>
            <a:pathLst>
              <a:path w="448" h="512">
                <a:moveTo>
                  <a:pt x="0" y="96"/>
                </a:moveTo>
                <a:cubicBezTo>
                  <a:pt x="0" y="61"/>
                  <a:pt x="29" y="32"/>
                  <a:pt x="64" y="32"/>
                </a:cubicBezTo>
                <a:lnTo>
                  <a:pt x="384" y="32"/>
                </a:lnTo>
                <a:cubicBezTo>
                  <a:pt x="419" y="32"/>
                  <a:pt x="448" y="61"/>
                  <a:pt x="448" y="96"/>
                </a:cubicBezTo>
                <a:lnTo>
                  <a:pt x="448" y="416"/>
                </a:lnTo>
                <a:cubicBezTo>
                  <a:pt x="448" y="451"/>
                  <a:pt x="419" y="480"/>
                  <a:pt x="384" y="480"/>
                </a:cubicBezTo>
                <a:lnTo>
                  <a:pt x="64" y="480"/>
                </a:lnTo>
                <a:cubicBezTo>
                  <a:pt x="29" y="480"/>
                  <a:pt x="0" y="451"/>
                  <a:pt x="0" y="416"/>
                </a:cubicBezTo>
                <a:lnTo>
                  <a:pt x="0" y="96"/>
                </a:lnTo>
                <a:close/>
                <a:moveTo>
                  <a:pt x="64" y="80"/>
                </a:moveTo>
                <a:cubicBezTo>
                  <a:pt x="55" y="80"/>
                  <a:pt x="48" y="87"/>
                  <a:pt x="48" y="96"/>
                </a:cubicBezTo>
                <a:lnTo>
                  <a:pt x="48" y="416"/>
                </a:lnTo>
                <a:cubicBezTo>
                  <a:pt x="48" y="425"/>
                  <a:pt x="55" y="432"/>
                  <a:pt x="64" y="432"/>
                </a:cubicBezTo>
                <a:lnTo>
                  <a:pt x="384" y="432"/>
                </a:lnTo>
                <a:cubicBezTo>
                  <a:pt x="393" y="432"/>
                  <a:pt x="400" y="425"/>
                  <a:pt x="400" y="416"/>
                </a:cubicBezTo>
                <a:lnTo>
                  <a:pt x="400" y="96"/>
                </a:lnTo>
                <a:cubicBezTo>
                  <a:pt x="400" y="87"/>
                  <a:pt x="393" y="80"/>
                  <a:pt x="384" y="80"/>
                </a:cubicBezTo>
                <a:lnTo>
                  <a:pt x="64" y="80"/>
                </a:lnTo>
                <a:close/>
              </a:path>
              <a:path w="448" h="512">
                <a:moveTo>
                  <a:pt x="128" y="128"/>
                </a:moveTo>
                <a:cubicBezTo>
                  <a:pt x="146" y="128"/>
                  <a:pt x="160" y="142"/>
                  <a:pt x="160" y="160"/>
                </a:cubicBezTo>
                <a:cubicBezTo>
                  <a:pt x="160" y="178"/>
                  <a:pt x="146" y="192"/>
                  <a:pt x="128" y="192"/>
                </a:cubicBezTo>
                <a:cubicBezTo>
                  <a:pt x="110" y="192"/>
                  <a:pt x="96" y="178"/>
                  <a:pt x="96" y="160"/>
                </a:cubicBezTo>
                <a:cubicBezTo>
                  <a:pt x="96" y="142"/>
                  <a:pt x="110" y="128"/>
                  <a:pt x="128" y="128"/>
                </a:cubicBezTo>
                <a:close/>
              </a:path>
              <a:path w="448" h="512">
                <a:moveTo>
                  <a:pt x="264" y="200"/>
                </a:moveTo>
                <a:cubicBezTo>
                  <a:pt x="273" y="200"/>
                  <a:pt x="280" y="205"/>
                  <a:pt x="285" y="212"/>
                </a:cubicBezTo>
                <a:lnTo>
                  <a:pt x="365" y="348"/>
                </a:lnTo>
                <a:cubicBezTo>
                  <a:pt x="369" y="355"/>
                  <a:pt x="369" y="364"/>
                  <a:pt x="365" y="372"/>
                </a:cubicBezTo>
                <a:cubicBezTo>
                  <a:pt x="361" y="379"/>
                  <a:pt x="353" y="384"/>
                  <a:pt x="344" y="384"/>
                </a:cubicBezTo>
                <a:lnTo>
                  <a:pt x="104" y="384"/>
                </a:lnTo>
                <a:cubicBezTo>
                  <a:pt x="95" y="384"/>
                  <a:pt x="87" y="379"/>
                  <a:pt x="83" y="371"/>
                </a:cubicBezTo>
                <a:cubicBezTo>
                  <a:pt x="79" y="363"/>
                  <a:pt x="79" y="354"/>
                  <a:pt x="84" y="346"/>
                </a:cubicBezTo>
                <a:lnTo>
                  <a:pt x="140" y="266"/>
                </a:lnTo>
                <a:cubicBezTo>
                  <a:pt x="145" y="260"/>
                  <a:pt x="152" y="256"/>
                  <a:pt x="160" y="256"/>
                </a:cubicBezTo>
                <a:cubicBezTo>
                  <a:pt x="168" y="256"/>
                  <a:pt x="175" y="260"/>
                  <a:pt x="180" y="266"/>
                </a:cubicBezTo>
                <a:lnTo>
                  <a:pt x="197" y="291"/>
                </a:lnTo>
                <a:lnTo>
                  <a:pt x="243" y="212"/>
                </a:lnTo>
                <a:cubicBezTo>
                  <a:pt x="248" y="205"/>
                  <a:pt x="256" y="200"/>
                  <a:pt x="264" y="200"/>
                </a:cubicBezTo>
                <a:close/>
              </a:path>
            </a:pathLst>
          </a:custGeom>
          <a:solidFill xmlns:a="http://schemas.openxmlformats.org/drawingml/2006/main">
            <a:srgbClr val="8B98B5"/>
          </a:solidFill>
          <a:ln xmlns:a="http://schemas.openxmlformats.org/drawingml/2006/main">
            <a:noFill/>
          </a:ln>
        </p:spPr>
      </p:sp>
      <p:sp>
        <p:nvSpPr>
          <p:cNvPr id="12" name="web-shot-note">
            <a:extLst xmlns:a="http://schemas.openxmlformats.org/drawingml/2006/main">
              <a:ext uri="{FF2B5EF4-FFF2-40B4-BE49-F238E27FC236}">
                <a16:creationId xmlns:a16="http://schemas.microsoft.com/office/drawing/2014/main" id="{64015010-9737-4A8C-8ADE-7650CD459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51400"/>
            <a:ext cx="5130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1050" b="0">
                <a:solidFill>
                  <a:srgbClr val="7A8CA7"/>
                </a:solidFill>
                <a:latin typeface="MiSans"/>
                <a:ea typeface="MiSans"/>
                <a:cs typeface="MiSans"/>
              </a:defRPr>
            </a:defPPr>
            <a:lvl1pPr>
              <a:buNone/>
              <a:defRPr sz="1050" b="0">
                <a:solidFill>
                  <a:srgbClr val="7A8CA7"/>
                </a:solidFill>
                <a:latin typeface="MiSans"/>
                <a:ea typeface="MiSans"/>
                <a:cs typeface="MiSans"/>
              </a:defRPr>
            </a:lvl1pPr>
            <a:lvl2pPr>
              <a:buNone/>
              <a:defRPr sz="1050" b="0">
                <a:solidFill>
                  <a:srgbClr val="7A8CA7"/>
                </a:solidFill>
                <a:latin typeface="MiSans"/>
                <a:ea typeface="MiSans"/>
                <a:cs typeface="MiSans"/>
              </a:defRPr>
            </a:lvl2pPr>
            <a:lvl3pPr>
              <a:buNone/>
              <a:defRPr sz="1050" b="0">
                <a:solidFill>
                  <a:srgbClr val="7A8CA7"/>
                </a:solidFill>
                <a:latin typeface="MiSans"/>
                <a:ea typeface="MiSans"/>
                <a:cs typeface="MiSans"/>
              </a:defRPr>
            </a:lvl3pPr>
            <a:lvl4pPr>
              <a:buNone/>
              <a:defRPr sz="1050" b="0">
                <a:solidFill>
                  <a:srgbClr val="7A8CA7"/>
                </a:solidFill>
                <a:latin typeface="MiSans"/>
                <a:ea typeface="MiSans"/>
                <a:cs typeface="MiSans"/>
              </a:defRPr>
            </a:lvl4pPr>
            <a:lvl5pPr>
              <a:buNone/>
              <a:defRPr sz="1050" b="0">
                <a:solidFill>
                  <a:srgbClr val="7A8CA7"/>
                </a:solidFill>
                <a:latin typeface="MiSans"/>
                <a:ea typeface="MiSans"/>
                <a:cs typeface="MiSans"/>
              </a:defRPr>
            </a:lvl5pPr>
            <a:lvl6pPr>
              <a:buNone/>
              <a:defRPr sz="1050" b="0">
                <a:solidFill>
                  <a:srgbClr val="7A8CA7"/>
                </a:solidFill>
                <a:latin typeface="MiSans"/>
                <a:ea typeface="MiSans"/>
                <a:cs typeface="MiSans"/>
              </a:defRPr>
            </a:lvl6pPr>
            <a:lvl7pPr>
              <a:buNone/>
              <a:defRPr sz="1050" b="0">
                <a:solidFill>
                  <a:srgbClr val="7A8CA7"/>
                </a:solidFill>
                <a:latin typeface="MiSans"/>
                <a:ea typeface="MiSans"/>
                <a:cs typeface="MiSans"/>
              </a:defRPr>
            </a:lvl7pPr>
            <a:lvl8pPr>
              <a:buNone/>
              <a:defRPr sz="1050" b="0">
                <a:solidFill>
                  <a:srgbClr val="7A8CA7"/>
                </a:solidFill>
                <a:latin typeface="MiSans"/>
                <a:ea typeface="MiSans"/>
                <a:cs typeface="MiSans"/>
              </a:defRPr>
            </a:lvl8pPr>
            <a:lvl9pPr>
              <a:buNone/>
              <a:defRPr sz="1050" b="0">
                <a:solidFill>
                  <a:srgbClr val="7A8CA7"/>
                </a:solidFill>
                <a:latin typeface="MiSans"/>
                <a:ea typeface="MiSans"/>
                <a:cs typeface="MiSans"/>
              </a:defRPr>
            </a:lvl9pPr>
          </a:lstStyle>
          <a:p xmlns:a="http://schemas.openxmlformats.org/drawingml/2006/main">
            <a:pPr algn="ctr">
              <a:lnSpc>
                <a:spcPct val="120000"/>
              </a:lnSpc>
              <a:buNone/>
              <a:defRPr sz="1050" b="0">
                <a:solidFill>
                  <a:srgbClr val="7A8CA7"/>
                </a:solidFill>
                <a:latin typeface="MiSans"/>
                <a:ea typeface="MiSans"/>
                <a:cs typeface="MiSans"/>
              </a:defRPr>
            </a:pPr>
            <a:r>
              <a:rPr sz="1050" b="0">
                <a:solidFill>
                  <a:srgbClr val="7A8CA7"/>
                </a:solidFill>
                <a:latin typeface="MiSans"/>
                <a:ea typeface="MiSans"/>
                <a:cs typeface="MiSans"/>
              </a:rPr>
              <a:t>Web 端课程练习页截图（待补充）</a:t>
            </a:r>
            <a:endParaRPr sz="1050"/>
          </a:p>
        </p:txBody>
      </p:sp>
      <p:sp>
        <p:nvSpPr>
          <p:cNvPr id="13" name="web-shot-cap">
            <a:extLst xmlns:a="http://schemas.openxmlformats.org/drawingml/2006/main">
              <a:ext uri="{FF2B5EF4-FFF2-40B4-BE49-F238E27FC236}">
                <a16:creationId xmlns:a16="http://schemas.microsoft.com/office/drawing/2014/main" id="{58E1E9B8-23EC-4429-B1E4-4979D5C69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91200"/>
            <a:ext cx="5130800" cy="17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>
              <a:defRPr b="0">
                <a:solidFill>
                  <a:srgbClr val="7A8CA7"/>
                </a:solidFill>
                <a:latin typeface="MiSans"/>
                <a:ea typeface="MiSans"/>
                <a:cs typeface="MiSans"/>
              </a:defRPr>
            </a:defPPr>
            <a:lvl1pPr>
              <a:buNone/>
              <a:defRPr b="0">
                <a:solidFill>
                  <a:srgbClr val="7A8CA7"/>
                </a:solidFill>
                <a:latin typeface="MiSans"/>
                <a:ea typeface="MiSans"/>
                <a:cs typeface="MiSans"/>
              </a:defRPr>
            </a:lvl1pPr>
            <a:lvl2pPr>
              <a:buNone/>
              <a:defRPr b="0">
                <a:solidFill>
                  <a:srgbClr val="7A8CA7"/>
                </a:solidFill>
                <a:latin typeface="MiSans"/>
                <a:ea typeface="MiSans"/>
                <a:cs typeface="MiSans"/>
              </a:defRPr>
            </a:lvl2pPr>
            <a:lvl3pPr>
              <a:buNone/>
              <a:defRPr b="0">
                <a:solidFill>
                  <a:srgbClr val="7A8CA7"/>
                </a:solidFill>
                <a:latin typeface="MiSans"/>
                <a:ea typeface="MiSans"/>
                <a:cs typeface="MiSans"/>
              </a:defRPr>
            </a:lvl3pPr>
            <a:lvl4pPr>
              <a:buNone/>
              <a:defRPr b="0">
                <a:solidFill>
                  <a:srgbClr val="7A8CA7"/>
                </a:solidFill>
                <a:latin typeface="MiSans"/>
                <a:ea typeface="MiSans"/>
                <a:cs typeface="MiSans"/>
              </a:defRPr>
            </a:lvl4pPr>
            <a:lvl5pPr>
              <a:buNone/>
              <a:defRPr b="0">
                <a:solidFill>
                  <a:srgbClr val="7A8CA7"/>
                </a:solidFill>
                <a:latin typeface="MiSans"/>
                <a:ea typeface="MiSans"/>
                <a:cs typeface="MiSans"/>
              </a:defRPr>
            </a:lvl5pPr>
            <a:lvl6pPr>
              <a:buNone/>
              <a:defRPr b="0">
                <a:solidFill>
                  <a:srgbClr val="7A8CA7"/>
                </a:solidFill>
                <a:latin typeface="MiSans"/>
                <a:ea typeface="MiSans"/>
                <a:cs typeface="MiSans"/>
              </a:defRPr>
            </a:lvl6pPr>
            <a:lvl7pPr>
              <a:buNone/>
              <a:defRPr b="0">
                <a:solidFill>
                  <a:srgbClr val="7A8CA7"/>
                </a:solidFill>
                <a:latin typeface="MiSans"/>
                <a:ea typeface="MiSans"/>
                <a:cs typeface="MiSans"/>
              </a:defRPr>
            </a:lvl7pPr>
            <a:lvl8pPr>
              <a:buNone/>
              <a:defRPr b="0">
                <a:solidFill>
                  <a:srgbClr val="7A8CA7"/>
                </a:solidFill>
                <a:latin typeface="MiSans"/>
                <a:ea typeface="MiSans"/>
                <a:cs typeface="MiSans"/>
              </a:defRPr>
            </a:lvl8pPr>
            <a:lvl9pPr>
              <a:buNone/>
              <a:defRPr b="0">
                <a:solidFill>
                  <a:srgbClr val="7A8CA7"/>
                </a:solidFill>
                <a:latin typeface="MiSans"/>
                <a:ea typeface="MiSans"/>
                <a:cs typeface="MiSans"/>
              </a:defRPr>
            </a:lvl9pPr>
          </a:lstStyle>
          <a:p xmlns:a="http://schemas.openxmlformats.org/drawingml/2006/main">
            <a:pPr algn="ctr">
              <a:lnSpc>
                <a:spcPct val="140000"/>
              </a:lnSpc>
              <a:buNone/>
              <a:defRPr b="0">
                <a:solidFill>
                  <a:srgbClr val="7A8CA7"/>
                </a:solidFill>
                <a:latin typeface="MiSans"/>
                <a:ea typeface="MiSans"/>
                <a:cs typeface="MiSans"/>
              </a:defRPr>
            </a:pPr>
            <a:r>
              <a:rPr sz="950" b="0">
                <a:solidFill>
                  <a:srgbClr val="7A8CA7"/>
                </a:solidFill>
                <a:latin typeface="MiSans"/>
                <a:ea typeface="MiSans"/>
                <a:cs typeface="MiSans"/>
              </a:rPr>
              <a:t>建议截图：课程选择页或练习结果页</a:t>
            </a:r>
            <a:endParaRPr sz="950"/>
          </a:p>
        </p:txBody>
      </p:sp>
      <p:sp>
        <p:nvSpPr>
          <p:cNvPr id="14" name="pad-icon">
            <a:extLst xmlns:a="http://schemas.openxmlformats.org/drawingml/2006/main">
              <a:ext uri="{FF2B5EF4-FFF2-40B4-BE49-F238E27FC236}">
                <a16:creationId xmlns:a16="http://schemas.microsoft.com/office/drawing/2014/main" id="{51C47383-5E9B-4506-A63D-316B000F8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1600" y="1320800"/>
            <a:ext cx="254000" cy="254000"/>
          </a:xfrm>
          <a:custGeom xmlns:a="http://schemas.openxmlformats.org/drawingml/2006/main">
            <a:rect l="l" t="t" r="r" b="b"/>
            <a:pathLst>
              <a:path w="448" h="512">
                <a:moveTo>
                  <a:pt x="0" y="64"/>
                </a:moveTo>
                <a:cubicBezTo>
                  <a:pt x="0" y="29"/>
                  <a:pt x="29" y="0"/>
                  <a:pt x="64" y="0"/>
                </a:cubicBezTo>
                <a:lnTo>
                  <a:pt x="384" y="0"/>
                </a:lnTo>
                <a:cubicBezTo>
                  <a:pt x="419" y="0"/>
                  <a:pt x="448" y="29"/>
                  <a:pt x="448" y="64"/>
                </a:cubicBezTo>
                <a:lnTo>
                  <a:pt x="448" y="448"/>
                </a:lnTo>
                <a:cubicBezTo>
                  <a:pt x="448" y="483"/>
                  <a:pt x="419" y="512"/>
                  <a:pt x="384" y="512"/>
                </a:cubicBezTo>
                <a:lnTo>
                  <a:pt x="64" y="512"/>
                </a:lnTo>
                <a:cubicBezTo>
                  <a:pt x="29" y="512"/>
                  <a:pt x="0" y="483"/>
                  <a:pt x="0" y="448"/>
                </a:cubicBezTo>
                <a:lnTo>
                  <a:pt x="0" y="64"/>
                </a:lnTo>
                <a:close/>
                <a:moveTo>
                  <a:pt x="256" y="432"/>
                </a:moveTo>
                <a:cubicBezTo>
                  <a:pt x="256" y="414"/>
                  <a:pt x="242" y="400"/>
                  <a:pt x="224" y="400"/>
                </a:cubicBezTo>
                <a:cubicBezTo>
                  <a:pt x="206" y="400"/>
                  <a:pt x="192" y="414"/>
                  <a:pt x="192" y="432"/>
                </a:cubicBezTo>
                <a:cubicBezTo>
                  <a:pt x="192" y="450"/>
                  <a:pt x="206" y="464"/>
                  <a:pt x="224" y="464"/>
                </a:cubicBezTo>
                <a:cubicBezTo>
                  <a:pt x="242" y="464"/>
                  <a:pt x="256" y="450"/>
                  <a:pt x="256" y="432"/>
                </a:cubicBezTo>
                <a:close/>
                <a:moveTo>
                  <a:pt x="384" y="64"/>
                </a:moveTo>
                <a:lnTo>
                  <a:pt x="64" y="64"/>
                </a:lnTo>
                <a:lnTo>
                  <a:pt x="64" y="352"/>
                </a:lnTo>
                <a:lnTo>
                  <a:pt x="384" y="352"/>
                </a:lnTo>
                <a:lnTo>
                  <a:pt x="384" y="64"/>
                </a:lnTo>
                <a:close/>
              </a:path>
            </a:pathLst>
          </a:custGeom>
          <a:solidFill xmlns:a="http://schemas.openxmlformats.org/drawingml/2006/main">
            <a:srgbClr val="076DFC"/>
          </a:solidFill>
          <a:ln xmlns:a="http://schemas.openxmlformats.org/drawingml/2006/main">
            <a:noFill/>
          </a:ln>
        </p:spPr>
      </p:sp>
      <p:sp>
        <p:nvSpPr>
          <p:cNvPr id="15" name="pad-title">
            <a:extLst xmlns:a="http://schemas.openxmlformats.org/drawingml/2006/main">
              <a:ext uri="{FF2B5EF4-FFF2-40B4-BE49-F238E27FC236}">
                <a16:creationId xmlns:a16="http://schemas.microsoft.com/office/drawing/2014/main" id="{17226C23-2A7D-47D9-A2B6-FC83A842B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7200" y="1295400"/>
            <a:ext cx="3810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</a:pPr>
            <a:r>
              <a:rPr sz="1500" b="1">
                <a:solidFill>
                  <a:srgbClr val="14213D"/>
                </a:solidFill>
                <a:latin typeface="MiSans"/>
                <a:ea typeface="MiSans"/>
                <a:cs typeface="MiSans"/>
              </a:rPr>
              <a:t>iPad 端 · 一笔成章 App</a:t>
            </a:r>
            <a:endParaRPr sz="1500"/>
          </a:p>
        </p:txBody>
      </p:sp>
      <p:pic>
        <p:nvPicPr>
          <p:cNvPr id="16" name="shot-course">
            <a:extLst xmlns:a="http://schemas.openxmlformats.org/drawingml/2006/main">
              <a:ext uri="{FF2B5EF4-FFF2-40B4-BE49-F238E27FC236}">
                <a16:creationId xmlns:a16="http://schemas.microsoft.com/office/drawing/2014/main" id="{393D936D-DC2C-4303-A425-5333DA8252F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3e4c054a81e492f"/>
          <a:srcRect xmlns:a="http://schemas.openxmlformats.org/drawingml/2006/main" l="0" t="-32" r="0" b="-3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51600" y="1701800"/>
            <a:ext cx="2489200" cy="17399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7" name="shot-course-cap">
            <a:extLst xmlns:a="http://schemas.openxmlformats.org/drawingml/2006/main">
              <a:ext uri="{FF2B5EF4-FFF2-40B4-BE49-F238E27FC236}">
                <a16:creationId xmlns:a16="http://schemas.microsoft.com/office/drawing/2014/main" id="{4D9013E5-63EC-4BB2-A54E-649CB30B3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1600" y="3505200"/>
            <a:ext cx="2489200" cy="17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>
              <a:defRPr b="0">
                <a:solidFill>
                  <a:srgbClr val="7A8CA7"/>
                </a:solidFill>
                <a:latin typeface="MiSans"/>
                <a:ea typeface="MiSans"/>
                <a:cs typeface="MiSans"/>
              </a:defRPr>
            </a:defPPr>
            <a:lvl1pPr>
              <a:buNone/>
              <a:defRPr b="0">
                <a:solidFill>
                  <a:srgbClr val="7A8CA7"/>
                </a:solidFill>
                <a:latin typeface="MiSans"/>
                <a:ea typeface="MiSans"/>
                <a:cs typeface="MiSans"/>
              </a:defRPr>
            </a:lvl1pPr>
            <a:lvl2pPr>
              <a:buNone/>
              <a:defRPr b="0">
                <a:solidFill>
                  <a:srgbClr val="7A8CA7"/>
                </a:solidFill>
                <a:latin typeface="MiSans"/>
                <a:ea typeface="MiSans"/>
                <a:cs typeface="MiSans"/>
              </a:defRPr>
            </a:lvl2pPr>
            <a:lvl3pPr>
              <a:buNone/>
              <a:defRPr b="0">
                <a:solidFill>
                  <a:srgbClr val="7A8CA7"/>
                </a:solidFill>
                <a:latin typeface="MiSans"/>
                <a:ea typeface="MiSans"/>
                <a:cs typeface="MiSans"/>
              </a:defRPr>
            </a:lvl3pPr>
            <a:lvl4pPr>
              <a:buNone/>
              <a:defRPr b="0">
                <a:solidFill>
                  <a:srgbClr val="7A8CA7"/>
                </a:solidFill>
                <a:latin typeface="MiSans"/>
                <a:ea typeface="MiSans"/>
                <a:cs typeface="MiSans"/>
              </a:defRPr>
            </a:lvl4pPr>
            <a:lvl5pPr>
              <a:buNone/>
              <a:defRPr b="0">
                <a:solidFill>
                  <a:srgbClr val="7A8CA7"/>
                </a:solidFill>
                <a:latin typeface="MiSans"/>
                <a:ea typeface="MiSans"/>
                <a:cs typeface="MiSans"/>
              </a:defRPr>
            </a:lvl5pPr>
            <a:lvl6pPr>
              <a:buNone/>
              <a:defRPr b="0">
                <a:solidFill>
                  <a:srgbClr val="7A8CA7"/>
                </a:solidFill>
                <a:latin typeface="MiSans"/>
                <a:ea typeface="MiSans"/>
                <a:cs typeface="MiSans"/>
              </a:defRPr>
            </a:lvl6pPr>
            <a:lvl7pPr>
              <a:buNone/>
              <a:defRPr b="0">
                <a:solidFill>
                  <a:srgbClr val="7A8CA7"/>
                </a:solidFill>
                <a:latin typeface="MiSans"/>
                <a:ea typeface="MiSans"/>
                <a:cs typeface="MiSans"/>
              </a:defRPr>
            </a:lvl7pPr>
            <a:lvl8pPr>
              <a:buNone/>
              <a:defRPr b="0">
                <a:solidFill>
                  <a:srgbClr val="7A8CA7"/>
                </a:solidFill>
                <a:latin typeface="MiSans"/>
                <a:ea typeface="MiSans"/>
                <a:cs typeface="MiSans"/>
              </a:defRPr>
            </a:lvl8pPr>
            <a:lvl9pPr>
              <a:buNone/>
              <a:defRPr b="0">
                <a:solidFill>
                  <a:srgbClr val="7A8CA7"/>
                </a:solidFill>
                <a:latin typeface="MiSans"/>
                <a:ea typeface="MiSans"/>
                <a:cs typeface="MiSans"/>
              </a:defRPr>
            </a:lvl9pPr>
          </a:lstStyle>
          <a:p xmlns:a="http://schemas.openxmlformats.org/drawingml/2006/main">
            <a:pPr algn="ctr">
              <a:lnSpc>
                <a:spcPct val="120000"/>
              </a:lnSpc>
              <a:buNone/>
              <a:defRPr b="0">
                <a:solidFill>
                  <a:srgbClr val="7A8CA7"/>
                </a:solidFill>
                <a:latin typeface="MiSans"/>
                <a:ea typeface="MiSans"/>
                <a:cs typeface="MiSans"/>
              </a:defRPr>
            </a:pPr>
            <a:r>
              <a:rPr sz="900" b="0">
                <a:solidFill>
                  <a:srgbClr val="7A8CA7"/>
                </a:solidFill>
                <a:latin typeface="MiSans"/>
                <a:ea typeface="MiSans"/>
                <a:cs typeface="MiSans"/>
              </a:rPr>
              <a:t>课程字库（100 字练习包）</a:t>
            </a:r>
            <a:endParaRPr sz="900"/>
          </a:p>
        </p:txBody>
      </p:sp>
      <p:pic>
        <p:nvPicPr>
          <p:cNvPr id="18" name="shot-stats">
            <a:extLst xmlns:a="http://schemas.openxmlformats.org/drawingml/2006/main">
              <a:ext uri="{FF2B5EF4-FFF2-40B4-BE49-F238E27FC236}">
                <a16:creationId xmlns:a16="http://schemas.microsoft.com/office/drawing/2014/main" id="{61143F82-B123-44E4-AEA1-CFCAB5A8ACE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9335c490c0b408b"/>
          <a:srcRect xmlns:a="http://schemas.openxmlformats.org/drawingml/2006/main" l="0" t="-32" r="0" b="-3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093200" y="1701800"/>
            <a:ext cx="2489200" cy="17399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9" name="shot-stats-cap">
            <a:extLst xmlns:a="http://schemas.openxmlformats.org/drawingml/2006/main">
              <a:ext uri="{FF2B5EF4-FFF2-40B4-BE49-F238E27FC236}">
                <a16:creationId xmlns:a16="http://schemas.microsoft.com/office/drawing/2014/main" id="{8D1C5F08-291A-4D71-97EA-E6C3242AE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3200" y="3505200"/>
            <a:ext cx="2489200" cy="17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>
              <a:defRPr b="0">
                <a:solidFill>
                  <a:srgbClr val="7A8CA7"/>
                </a:solidFill>
                <a:latin typeface="MiSans"/>
                <a:ea typeface="MiSans"/>
                <a:cs typeface="MiSans"/>
              </a:defRPr>
            </a:defPPr>
            <a:lvl1pPr>
              <a:buNone/>
              <a:defRPr b="0">
                <a:solidFill>
                  <a:srgbClr val="7A8CA7"/>
                </a:solidFill>
                <a:latin typeface="MiSans"/>
                <a:ea typeface="MiSans"/>
                <a:cs typeface="MiSans"/>
              </a:defRPr>
            </a:lvl1pPr>
            <a:lvl2pPr>
              <a:buNone/>
              <a:defRPr b="0">
                <a:solidFill>
                  <a:srgbClr val="7A8CA7"/>
                </a:solidFill>
                <a:latin typeface="MiSans"/>
                <a:ea typeface="MiSans"/>
                <a:cs typeface="MiSans"/>
              </a:defRPr>
            </a:lvl2pPr>
            <a:lvl3pPr>
              <a:buNone/>
              <a:defRPr b="0">
                <a:solidFill>
                  <a:srgbClr val="7A8CA7"/>
                </a:solidFill>
                <a:latin typeface="MiSans"/>
                <a:ea typeface="MiSans"/>
                <a:cs typeface="MiSans"/>
              </a:defRPr>
            </a:lvl3pPr>
            <a:lvl4pPr>
              <a:buNone/>
              <a:defRPr b="0">
                <a:solidFill>
                  <a:srgbClr val="7A8CA7"/>
                </a:solidFill>
                <a:latin typeface="MiSans"/>
                <a:ea typeface="MiSans"/>
                <a:cs typeface="MiSans"/>
              </a:defRPr>
            </a:lvl4pPr>
            <a:lvl5pPr>
              <a:buNone/>
              <a:defRPr b="0">
                <a:solidFill>
                  <a:srgbClr val="7A8CA7"/>
                </a:solidFill>
                <a:latin typeface="MiSans"/>
                <a:ea typeface="MiSans"/>
                <a:cs typeface="MiSans"/>
              </a:defRPr>
            </a:lvl5pPr>
            <a:lvl6pPr>
              <a:buNone/>
              <a:defRPr b="0">
                <a:solidFill>
                  <a:srgbClr val="7A8CA7"/>
                </a:solidFill>
                <a:latin typeface="MiSans"/>
                <a:ea typeface="MiSans"/>
                <a:cs typeface="MiSans"/>
              </a:defRPr>
            </a:lvl6pPr>
            <a:lvl7pPr>
              <a:buNone/>
              <a:defRPr b="0">
                <a:solidFill>
                  <a:srgbClr val="7A8CA7"/>
                </a:solidFill>
                <a:latin typeface="MiSans"/>
                <a:ea typeface="MiSans"/>
                <a:cs typeface="MiSans"/>
              </a:defRPr>
            </a:lvl7pPr>
            <a:lvl8pPr>
              <a:buNone/>
              <a:defRPr b="0">
                <a:solidFill>
                  <a:srgbClr val="7A8CA7"/>
                </a:solidFill>
                <a:latin typeface="MiSans"/>
                <a:ea typeface="MiSans"/>
                <a:cs typeface="MiSans"/>
              </a:defRPr>
            </a:lvl8pPr>
            <a:lvl9pPr>
              <a:buNone/>
              <a:defRPr b="0">
                <a:solidFill>
                  <a:srgbClr val="7A8CA7"/>
                </a:solidFill>
                <a:latin typeface="MiSans"/>
                <a:ea typeface="MiSans"/>
                <a:cs typeface="MiSans"/>
              </a:defRPr>
            </a:lvl9pPr>
          </a:lstStyle>
          <a:p xmlns:a="http://schemas.openxmlformats.org/drawingml/2006/main">
            <a:pPr algn="ctr">
              <a:lnSpc>
                <a:spcPct val="120000"/>
              </a:lnSpc>
              <a:buNone/>
              <a:defRPr b="0">
                <a:solidFill>
                  <a:srgbClr val="7A8CA7"/>
                </a:solidFill>
                <a:latin typeface="MiSans"/>
                <a:ea typeface="MiSans"/>
                <a:cs typeface="MiSans"/>
              </a:defRPr>
            </a:pPr>
            <a:r>
              <a:rPr sz="900" b="0">
                <a:solidFill>
                  <a:srgbClr val="7A8CA7"/>
                </a:solidFill>
                <a:latin typeface="MiSans"/>
                <a:ea typeface="MiSans"/>
                <a:cs typeface="MiSans"/>
              </a:rPr>
              <a:t>练习统计与打卡</a:t>
            </a:r>
            <a:endParaRPr sz="900"/>
          </a:p>
        </p:txBody>
      </p:sp>
      <p:sp>
        <p:nvSpPr>
          <p:cNvPr id="20" name="pad-bullets">
            <a:extLst xmlns:a="http://schemas.openxmlformats.org/drawingml/2006/main">
              <a:ext uri="{FF2B5EF4-FFF2-40B4-BE49-F238E27FC236}">
                <a16:creationId xmlns:a16="http://schemas.microsoft.com/office/drawing/2014/main" id="{CB2589B9-BED4-4AEE-83D1-2A84DC0FB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1600" y="3860800"/>
            <a:ext cx="51308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1125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defPPr>
            <a:lvl1pPr>
              <a:buNone/>
              <a:defRPr sz="1125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1pPr>
            <a:lvl2pPr>
              <a:buNone/>
              <a:defRPr sz="1125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2pPr>
            <a:lvl3pPr>
              <a:buNone/>
              <a:defRPr sz="1125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3pPr>
            <a:lvl4pPr>
              <a:buNone/>
              <a:defRPr sz="1125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4pPr>
            <a:lvl5pPr>
              <a:buNone/>
              <a:defRPr sz="1125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5pPr>
            <a:lvl6pPr>
              <a:buNone/>
              <a:defRPr sz="1125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6pPr>
            <a:lvl7pPr>
              <a:buNone/>
              <a:defRPr sz="1125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7pPr>
            <a:lvl8pPr>
              <a:buNone/>
              <a:defRPr sz="1125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8pPr>
            <a:lvl9pPr>
              <a:buNone/>
              <a:defRPr sz="1125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9pPr>
          </a:lstStyle>
          <a:p xmlns:a="http://schemas.openxmlformats.org/drawingml/2006/main">
            <a:pPr algn="l">
              <a:lnSpc>
                <a:spcPct val="150000"/>
              </a:lnSpc>
              <a:buNone/>
              <a:defRPr sz="1125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pPr>
            <a:r>
              <a:rPr sz="1125" b="0">
                <a:solidFill>
                  <a:srgbClr val="3E506E"/>
                </a:solidFill>
                <a:latin typeface="MiSans"/>
                <a:ea typeface="MiSans"/>
                <a:cs typeface="MiSans"/>
              </a:rPr>
              <a:t>深度练习闭环</a:t>
            </a:r>
            <a:r>
              <a:rPr sz="1125" b="0">
                <a:solidFill>
                  <a:srgbClr val="3E506E"/>
                </a:solidFill>
                <a:latin typeface="MiSans"/>
                <a:ea typeface="MiSans"/>
                <a:cs typeface="MiSans"/>
              </a:rPr>
              <a:t>：压感笔书写 → 参考字对照 → AI 分析 → 点评建议，一站完成。</a:t>
            </a:r>
            <a:endParaRPr sz="1050"/>
          </a:p>
          <a:p xmlns:a="http://schemas.openxmlformats.org/drawingml/2006/main">
            <a:pPr algn="l">
              <a:lnSpc>
                <a:spcPct val="150000"/>
              </a:lnSpc>
              <a:buNone/>
              <a:defRPr sz="1125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pPr>
            <a:r>
              <a:rPr sz="1125" b="0">
                <a:solidFill>
                  <a:srgbClr val="3E506E"/>
                </a:solidFill>
                <a:latin typeface="MiSans"/>
                <a:ea typeface="MiSans"/>
                <a:cs typeface="MiSans"/>
              </a:rPr>
              <a:t>学习数据沉淀</a:t>
            </a:r>
            <a:r>
              <a:rPr sz="1125" b="0">
                <a:solidFill>
                  <a:srgbClr val="3E506E"/>
                </a:solidFill>
                <a:latin typeface="MiSans"/>
                <a:ea typeface="MiSans"/>
                <a:cs typeface="MiSans"/>
              </a:rPr>
              <a:t>：打卡、练习次数、评分趋势全程记录，形成个人练习档案。</a:t>
            </a:r>
            <a:endParaRPr sz="1050"/>
          </a:p>
          <a:p xmlns:a="http://schemas.openxmlformats.org/drawingml/2006/main">
            <a:pPr algn="l">
              <a:lnSpc>
                <a:spcPct val="150000"/>
              </a:lnSpc>
              <a:buNone/>
              <a:defRPr sz="1125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pPr>
            <a:r>
              <a:rPr sz="1125" b="0">
                <a:solidFill>
                  <a:srgbClr val="3E506E"/>
                </a:solidFill>
                <a:latin typeface="MiSans"/>
                <a:ea typeface="MiSans"/>
                <a:cs typeface="MiSans"/>
              </a:rPr>
              <a:t>四图对照点评</a:t>
            </a:r>
            <a:r>
              <a:rPr sz="1125" b="0">
                <a:solidFill>
                  <a:srgbClr val="3E506E"/>
                </a:solidFill>
                <a:latin typeface="MiSans"/>
                <a:ea typeface="MiSans"/>
                <a:cs typeface="MiSans"/>
              </a:rPr>
              <a:t>：参考字 / 我的书写 / 分割叠图 / 对齐示意并排呈现，问题定位到局部区域。</a:t>
            </a:r>
            <a:endParaRPr sz="1050"/>
          </a:p>
        </p:txBody>
      </p:sp>
      <p:sp>
        <p:nvSpPr>
          <p:cNvPr id="21" name="pad-concl-band">
            <a:extLst xmlns:a="http://schemas.openxmlformats.org/drawingml/2006/main">
              <a:ext uri="{FF2B5EF4-FFF2-40B4-BE49-F238E27FC236}">
                <a16:creationId xmlns:a16="http://schemas.microsoft.com/office/drawing/2014/main" id="{CB0E753D-1F8A-48CE-93E2-AAD217B3A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1600" y="5537200"/>
            <a:ext cx="5130800" cy="558800"/>
          </a:xfrm>
          <a:prstGeom xmlns:a="http://schemas.openxmlformats.org/drawingml/2006/main" prst="roundRect">
            <a:avLst>
              <a:gd name="adj" fmla="val 20455"/>
            </a:avLst>
          </a:prstGeom>
          <a:solidFill xmlns:a="http://schemas.openxmlformats.org/drawingml/2006/main">
            <a:srgbClr val="E5F5C9"/>
          </a:solidFill>
          <a:ln xmlns:a="http://schemas.openxmlformats.org/drawingml/2006/main" w="0">
            <a:noFill/>
          </a:ln>
        </p:spPr>
      </p:sp>
      <p:sp>
        <p:nvSpPr>
          <p:cNvPr id="22" name="pad-concl">
            <a:extLst xmlns:a="http://schemas.openxmlformats.org/drawingml/2006/main">
              <a:ext uri="{FF2B5EF4-FFF2-40B4-BE49-F238E27FC236}">
                <a16:creationId xmlns:a16="http://schemas.microsoft.com/office/drawing/2014/main" id="{C151B6A1-E3B1-48DC-BB83-059F4D188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5537200"/>
            <a:ext cx="4826000" cy="558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>
              <a:defRPr sz="1125" b="1">
                <a:solidFill>
                  <a:srgbClr val="14213D"/>
                </a:solidFill>
                <a:latin typeface="MiSans"/>
                <a:ea typeface="MiSans"/>
                <a:cs typeface="MiSans"/>
              </a:defRPr>
            </a:defPPr>
            <a:lvl1pPr>
              <a:buNone/>
              <a:defRPr sz="1125" b="1">
                <a:solidFill>
                  <a:srgbClr val="14213D"/>
                </a:solidFill>
                <a:latin typeface="MiSans"/>
                <a:ea typeface="MiSans"/>
                <a:cs typeface="MiSans"/>
              </a:defRPr>
            </a:lvl1pPr>
            <a:lvl2pPr>
              <a:buNone/>
              <a:defRPr sz="1125" b="1">
                <a:solidFill>
                  <a:srgbClr val="14213D"/>
                </a:solidFill>
                <a:latin typeface="MiSans"/>
                <a:ea typeface="MiSans"/>
                <a:cs typeface="MiSans"/>
              </a:defRPr>
            </a:lvl2pPr>
            <a:lvl3pPr>
              <a:buNone/>
              <a:defRPr sz="1125" b="1">
                <a:solidFill>
                  <a:srgbClr val="14213D"/>
                </a:solidFill>
                <a:latin typeface="MiSans"/>
                <a:ea typeface="MiSans"/>
                <a:cs typeface="MiSans"/>
              </a:defRPr>
            </a:lvl3pPr>
            <a:lvl4pPr>
              <a:buNone/>
              <a:defRPr sz="1125" b="1">
                <a:solidFill>
                  <a:srgbClr val="14213D"/>
                </a:solidFill>
                <a:latin typeface="MiSans"/>
                <a:ea typeface="MiSans"/>
                <a:cs typeface="MiSans"/>
              </a:defRPr>
            </a:lvl4pPr>
            <a:lvl5pPr>
              <a:buNone/>
              <a:defRPr sz="1125" b="1">
                <a:solidFill>
                  <a:srgbClr val="14213D"/>
                </a:solidFill>
                <a:latin typeface="MiSans"/>
                <a:ea typeface="MiSans"/>
                <a:cs typeface="MiSans"/>
              </a:defRPr>
            </a:lvl5pPr>
            <a:lvl6pPr>
              <a:buNone/>
              <a:defRPr sz="1125" b="1">
                <a:solidFill>
                  <a:srgbClr val="14213D"/>
                </a:solidFill>
                <a:latin typeface="MiSans"/>
                <a:ea typeface="MiSans"/>
                <a:cs typeface="MiSans"/>
              </a:defRPr>
            </a:lvl6pPr>
            <a:lvl7pPr>
              <a:buNone/>
              <a:defRPr sz="1125" b="1">
                <a:solidFill>
                  <a:srgbClr val="14213D"/>
                </a:solidFill>
                <a:latin typeface="MiSans"/>
                <a:ea typeface="MiSans"/>
                <a:cs typeface="MiSans"/>
              </a:defRPr>
            </a:lvl7pPr>
            <a:lvl8pPr>
              <a:buNone/>
              <a:defRPr sz="1125" b="1">
                <a:solidFill>
                  <a:srgbClr val="14213D"/>
                </a:solidFill>
                <a:latin typeface="MiSans"/>
                <a:ea typeface="MiSans"/>
                <a:cs typeface="MiSans"/>
              </a:defRPr>
            </a:lvl8pPr>
            <a:lvl9pPr>
              <a:buNone/>
              <a:defRPr sz="1125" b="1">
                <a:solidFill>
                  <a:srgbClr val="14213D"/>
                </a:solidFill>
                <a:latin typeface="MiSans"/>
                <a:ea typeface="MiSans"/>
                <a:cs typeface="MiSans"/>
              </a:defRPr>
            </a:lvl9pPr>
          </a:lstStyle>
          <a:p xmlns:a="http://schemas.openxmlformats.org/drawingml/2006/main">
            <a:pPr algn="l">
              <a:lnSpc>
                <a:spcPct val="150000"/>
              </a:lnSpc>
              <a:buNone/>
              <a:defRPr sz="1125" b="1">
                <a:solidFill>
                  <a:srgbClr val="14213D"/>
                </a:solidFill>
                <a:latin typeface="MiSans"/>
                <a:ea typeface="MiSans"/>
                <a:cs typeface="MiSans"/>
              </a:defRPr>
            </a:pPr>
            <a:r>
              <a:rPr sz="1125" b="1">
                <a:solidFill>
                  <a:srgbClr val="14213D"/>
                </a:solidFill>
                <a:latin typeface="MiSans"/>
                <a:ea typeface="MiSans"/>
                <a:cs typeface="MiSans"/>
              </a:rPr>
              <a:t>双端均已达到</a:t>
            </a:r>
            <a:r>
              <a:rPr sz="1125" b="1">
                <a:solidFill>
                  <a:srgbClr val="14213D"/>
                </a:solidFill>
                <a:latin typeface="MiSans"/>
                <a:ea typeface="MiSans"/>
                <a:cs typeface="MiSans"/>
              </a:rPr>
              <a:t>可现场演示</a:t>
            </a:r>
            <a:r>
              <a:rPr sz="1125" b="1">
                <a:solidFill>
                  <a:srgbClr val="14213D"/>
                </a:solidFill>
                <a:latin typeface="MiSans"/>
                <a:ea typeface="MiSans"/>
                <a:cs typeface="MiSans"/>
              </a:rPr>
              <a:t>状态，练习数据与模型分析真实联通。</a:t>
            </a:r>
            <a:endParaRPr sz="1100"/>
          </a:p>
        </p:txBody>
      </p:sp>
      <p:sp>
        <p:nvSpPr>
          <p:cNvPr id="23" name="ft-line">
            <a:extLst xmlns:a="http://schemas.openxmlformats.org/drawingml/2006/main">
              <a:ext uri="{FF2B5EF4-FFF2-40B4-BE49-F238E27FC236}">
                <a16:creationId xmlns:a16="http://schemas.microsoft.com/office/drawing/2014/main" id="{21766881-413A-4BCA-967E-38DCCB0C0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2400"/>
            <a:ext cx="10972800" cy="12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4" name="ft-left">
            <a:extLst xmlns:a="http://schemas.openxmlformats.org/drawingml/2006/main">
              <a:ext uri="{FF2B5EF4-FFF2-40B4-BE49-F238E27FC236}">
                <a16:creationId xmlns:a16="http://schemas.microsoft.com/office/drawing/2014/main" id="{1B622673-3996-409D-BE0A-DEF809086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8600"/>
            <a:ext cx="3048000" cy="17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/>
          <a:lstStyle xmlns:a="http://schemas.openxmlformats.org/drawingml/2006/main">
            <a:defPPr>
              <a:defRPr sz="863" b="0">
                <a:solidFill>
                  <a:srgbClr val="D8E8FF"/>
                </a:solidFill>
                <a:latin typeface="MiSans"/>
                <a:ea typeface="MiSans"/>
                <a:cs typeface="MiSans"/>
              </a:defRPr>
            </a:defPPr>
            <a:lvl1pPr>
              <a:buNone/>
              <a:defRPr sz="863" b="0">
                <a:solidFill>
                  <a:srgbClr val="7A8CA7"/>
                </a:solidFill>
                <a:latin typeface="MiSans"/>
                <a:ea typeface="MiSans"/>
                <a:cs typeface="MiSans"/>
              </a:defRPr>
            </a:lvl1pPr>
            <a:lvl2pPr>
              <a:buNone/>
              <a:defRPr sz="863" b="0">
                <a:solidFill>
                  <a:srgbClr val="7A8CA7"/>
                </a:solidFill>
                <a:latin typeface="MiSans"/>
                <a:ea typeface="MiSans"/>
                <a:cs typeface="MiSans"/>
              </a:defRPr>
            </a:lvl2pPr>
            <a:lvl3pPr>
              <a:buNone/>
              <a:defRPr sz="863" b="0">
                <a:solidFill>
                  <a:srgbClr val="7A8CA7"/>
                </a:solidFill>
                <a:latin typeface="MiSans"/>
                <a:ea typeface="MiSans"/>
                <a:cs typeface="MiSans"/>
              </a:defRPr>
            </a:lvl3pPr>
            <a:lvl4pPr>
              <a:buNone/>
              <a:defRPr sz="863" b="0">
                <a:solidFill>
                  <a:srgbClr val="7A8CA7"/>
                </a:solidFill>
                <a:latin typeface="MiSans"/>
                <a:ea typeface="MiSans"/>
                <a:cs typeface="MiSans"/>
              </a:defRPr>
            </a:lvl4pPr>
            <a:lvl5pPr>
              <a:buNone/>
              <a:defRPr sz="863" b="0">
                <a:solidFill>
                  <a:srgbClr val="7A8CA7"/>
                </a:solidFill>
                <a:latin typeface="MiSans"/>
                <a:ea typeface="MiSans"/>
                <a:cs typeface="MiSans"/>
              </a:defRPr>
            </a:lvl5pPr>
            <a:lvl6pPr>
              <a:buNone/>
              <a:defRPr sz="863" b="0">
                <a:solidFill>
                  <a:srgbClr val="7A8CA7"/>
                </a:solidFill>
                <a:latin typeface="MiSans"/>
                <a:ea typeface="MiSans"/>
                <a:cs typeface="MiSans"/>
              </a:defRPr>
            </a:lvl6pPr>
            <a:lvl7pPr>
              <a:buNone/>
              <a:defRPr sz="863" b="0">
                <a:solidFill>
                  <a:srgbClr val="7A8CA7"/>
                </a:solidFill>
                <a:latin typeface="MiSans"/>
                <a:ea typeface="MiSans"/>
                <a:cs typeface="MiSans"/>
              </a:defRPr>
            </a:lvl7pPr>
            <a:lvl8pPr>
              <a:buNone/>
              <a:defRPr sz="863" b="0">
                <a:solidFill>
                  <a:srgbClr val="7A8CA7"/>
                </a:solidFill>
                <a:latin typeface="MiSans"/>
                <a:ea typeface="MiSans"/>
                <a:cs typeface="MiSans"/>
              </a:defRPr>
            </a:lvl8pPr>
            <a:lvl9pPr>
              <a:buNone/>
              <a:defRPr sz="863" b="0">
                <a:solidFill>
                  <a:srgbClr val="7A8CA7"/>
                </a:solidFill>
                <a:latin typeface="MiSans"/>
                <a:ea typeface="MiSans"/>
                <a:cs typeface="MiSans"/>
              </a:defRPr>
            </a:lvl9pPr>
          </a:lstStyle>
          <a:p xmlns:a="http://schemas.openxmlformats.org/drawingml/2006/main">
            <a:pPr>
              <a:lnSpc>
                <a:spcPct val="120000"/>
              </a:lnSpc>
              <a:buNone/>
              <a:defRPr sz="863" b="0">
                <a:solidFill>
                  <a:srgbClr val="D8E8FF"/>
                </a:solidFill>
                <a:latin typeface="MiSans"/>
                <a:ea typeface="MiSans"/>
                <a:cs typeface="MiSans"/>
              </a:defRPr>
            </a:pPr>
            <a:r>
              <a:rPr sz="863" b="0">
                <a:solidFill>
                  <a:srgbClr val="D8E8FF"/>
                </a:solidFill>
                <a:latin typeface="MiSans"/>
                <a:ea typeface="MiSans"/>
                <a:cs typeface="MiSans"/>
              </a:rPr>
              <a:t>一笔成章 · 2026 中期汇报</a:t>
            </a:r>
            <a:endParaRPr sz="900"/>
          </a:p>
        </p:txBody>
      </p:sp>
      <p:sp>
        <p:nvSpPr>
          <p:cNvPr id="25" name="ft-page">
            <a:extLst xmlns:a="http://schemas.openxmlformats.org/drawingml/2006/main">
              <a:ext uri="{FF2B5EF4-FFF2-40B4-BE49-F238E27FC236}">
                <a16:creationId xmlns:a16="http://schemas.microsoft.com/office/drawing/2014/main" id="{95574614-0356-4259-9B04-7D4727948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6578600"/>
            <a:ext cx="914400" cy="17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>
            <a:defPPr>
              <a:defRPr sz="863" b="0">
                <a:solidFill>
                  <a:srgbClr val="D8E8FF"/>
                </a:solidFill>
                <a:latin typeface="MiSans"/>
                <a:ea typeface="MiSans"/>
                <a:cs typeface="MiSans"/>
              </a:defRPr>
            </a:defPPr>
            <a:lvl1pPr>
              <a:buNone/>
              <a:defRPr sz="863" b="0">
                <a:solidFill>
                  <a:srgbClr val="7A8CA7"/>
                </a:solidFill>
                <a:latin typeface="MiSans"/>
                <a:ea typeface="MiSans"/>
                <a:cs typeface="MiSans"/>
              </a:defRPr>
            </a:lvl1pPr>
            <a:lvl2pPr>
              <a:buNone/>
              <a:defRPr sz="863" b="0">
                <a:solidFill>
                  <a:srgbClr val="7A8CA7"/>
                </a:solidFill>
                <a:latin typeface="MiSans"/>
                <a:ea typeface="MiSans"/>
                <a:cs typeface="MiSans"/>
              </a:defRPr>
            </a:lvl2pPr>
            <a:lvl3pPr>
              <a:buNone/>
              <a:defRPr sz="863" b="0">
                <a:solidFill>
                  <a:srgbClr val="7A8CA7"/>
                </a:solidFill>
                <a:latin typeface="MiSans"/>
                <a:ea typeface="MiSans"/>
                <a:cs typeface="MiSans"/>
              </a:defRPr>
            </a:lvl3pPr>
            <a:lvl4pPr>
              <a:buNone/>
              <a:defRPr sz="863" b="0">
                <a:solidFill>
                  <a:srgbClr val="7A8CA7"/>
                </a:solidFill>
                <a:latin typeface="MiSans"/>
                <a:ea typeface="MiSans"/>
                <a:cs typeface="MiSans"/>
              </a:defRPr>
            </a:lvl4pPr>
            <a:lvl5pPr>
              <a:buNone/>
              <a:defRPr sz="863" b="0">
                <a:solidFill>
                  <a:srgbClr val="7A8CA7"/>
                </a:solidFill>
                <a:latin typeface="MiSans"/>
                <a:ea typeface="MiSans"/>
                <a:cs typeface="MiSans"/>
              </a:defRPr>
            </a:lvl5pPr>
            <a:lvl6pPr>
              <a:buNone/>
              <a:defRPr sz="863" b="0">
                <a:solidFill>
                  <a:srgbClr val="7A8CA7"/>
                </a:solidFill>
                <a:latin typeface="MiSans"/>
                <a:ea typeface="MiSans"/>
                <a:cs typeface="MiSans"/>
              </a:defRPr>
            </a:lvl6pPr>
            <a:lvl7pPr>
              <a:buNone/>
              <a:defRPr sz="863" b="0">
                <a:solidFill>
                  <a:srgbClr val="7A8CA7"/>
                </a:solidFill>
                <a:latin typeface="MiSans"/>
                <a:ea typeface="MiSans"/>
                <a:cs typeface="MiSans"/>
              </a:defRPr>
            </a:lvl7pPr>
            <a:lvl8pPr>
              <a:buNone/>
              <a:defRPr sz="863" b="0">
                <a:solidFill>
                  <a:srgbClr val="7A8CA7"/>
                </a:solidFill>
                <a:latin typeface="MiSans"/>
                <a:ea typeface="MiSans"/>
                <a:cs typeface="MiSans"/>
              </a:defRPr>
            </a:lvl8pPr>
            <a:lvl9pPr>
              <a:buNone/>
              <a:defRPr sz="863" b="0">
                <a:solidFill>
                  <a:srgbClr val="7A8CA7"/>
                </a:solidFill>
                <a:latin typeface="MiSans"/>
                <a:ea typeface="MiSans"/>
                <a:cs typeface="MiSans"/>
              </a:defRPr>
            </a:lvl9pPr>
          </a:lstStyle>
          <a:p xmlns:a="http://schemas.openxmlformats.org/drawingml/2006/main">
            <a:pPr algn="r">
              <a:lnSpc>
                <a:spcPct val="120000"/>
              </a:lnSpc>
              <a:buNone/>
              <a:defRPr sz="863" b="0">
                <a:solidFill>
                  <a:srgbClr val="D8E8FF"/>
                </a:solidFill>
                <a:latin typeface="MiSans"/>
                <a:ea typeface="MiSans"/>
                <a:cs typeface="MiSans"/>
              </a:defRPr>
            </a:pPr>
            <a:r>
              <a:rPr sz="863" b="0">
                <a:solidFill>
                  <a:srgbClr val="D8E8FF"/>
                </a:solidFill>
                <a:latin typeface="MiSans"/>
                <a:ea typeface="MiSans"/>
                <a:cs typeface="MiSans"/>
              </a:rPr>
              <a:t>09 / 13</a:t>
            </a:r>
            <a:endParaRPr sz="900"/>
          </a:p>
        </p:txBody>
      </p:sp>
    </p:spTree>
    <p:extLst>
      <p:ext uri="{BB962C8B-B14F-4D97-AF65-F5344CB8AC3E}">
        <p14:creationId xmlns:p14="http://schemas.microsoft.com/office/powerpoint/2010/main" val="1530838020"/>
      </p:ext>
    </p:extLst>
  </p:cSld>
</p:sld>
</file>

<file path=ppt/slides/slide10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E7EFFB"/>
            </a:gs>
            <a:gs pos="48000">
              <a:srgbClr val="F1F5FC"/>
            </a:gs>
            <a:gs pos="100000">
              <a:srgbClr val="E9F2FF"/>
            </a:gs>
          </a:gsLst>
          <a:lin ang="168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262F293-F7F5-4093-BFD5-CDDCBB08528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f8df4eaa5874fca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33" name="reference-cover-triangle">
            <a:extLst xmlns:a="http://schemas.openxmlformats.org/drawingml/2006/main">
              <a:ext uri="{FF2B5EF4-FFF2-40B4-BE49-F238E27FC236}">
                <a16:creationId xmlns:a16="http://schemas.microsoft.com/office/drawing/2014/main" id="{E0A65C76-9A75-4F2D-9CA0-58270A0C0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0" y="5905500"/>
            <a:ext cx="533400" cy="381000"/>
          </a:xfrm>
          <a:prstGeom xmlns:a="http://schemas.openxmlformats.org/drawingml/2006/main" prst="triangl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2" name="reference-cover-ring">
            <a:extLst xmlns:a="http://schemas.openxmlformats.org/drawingml/2006/main">
              <a:ext uri="{FF2B5EF4-FFF2-40B4-BE49-F238E27FC236}">
                <a16:creationId xmlns:a16="http://schemas.microsoft.com/office/drawing/2014/main" id="{6FE62BCC-EF86-4130-A5F9-66A525A38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95250"/>
            <a:ext cx="1181100" cy="11811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" name="hd-bar">
            <a:extLst xmlns:a="http://schemas.openxmlformats.org/drawingml/2006/main">
              <a:ext uri="{FF2B5EF4-FFF2-40B4-BE49-F238E27FC236}">
                <a16:creationId xmlns:a16="http://schemas.microsoft.com/office/drawing/2014/main" id="{773324FB-046D-42B5-BACE-8622220A2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8000"/>
            <a:ext cx="76200" cy="3048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" name="hd-title">
            <a:extLst xmlns:a="http://schemas.openxmlformats.org/drawingml/2006/main">
              <a:ext uri="{FF2B5EF4-FFF2-40B4-BE49-F238E27FC236}">
                <a16:creationId xmlns:a16="http://schemas.microsoft.com/office/drawing/2014/main" id="{2B363C75-C216-4CBE-9E97-B04197BC8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19100"/>
            <a:ext cx="101346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>
              <a:defRPr sz="2200" b="1">
                <a:solidFill>
                  <a:srgbClr val="FFFFFF"/>
                </a:solidFill>
              </a:defRPr>
            </a:defPPr>
            <a:lvl1pPr>
              <a:defRPr sz="2200" b="1">
                <a:solidFill>
                  <a:srgbClr val="FFFFFF"/>
                </a:solidFill>
              </a:defRPr>
            </a:lvl1pPr>
            <a:lvl2pPr>
              <a:defRPr sz="2200" b="1">
                <a:solidFill>
                  <a:srgbClr val="FFFFFF"/>
                </a:solidFill>
              </a:defRPr>
            </a:lvl2pPr>
            <a:lvl3pPr>
              <a:defRPr sz="2200" b="1">
                <a:solidFill>
                  <a:srgbClr val="FFFFFF"/>
                </a:solidFill>
              </a:defRPr>
            </a:lvl3pPr>
            <a:lvl4pPr>
              <a:defRPr sz="2200" b="1">
                <a:solidFill>
                  <a:srgbClr val="FFFFFF"/>
                </a:solidFill>
              </a:defRPr>
            </a:lvl4pPr>
            <a:lvl5pPr>
              <a:defRPr sz="2200" b="1">
                <a:solidFill>
                  <a:srgbClr val="FFFFFF"/>
                </a:solidFill>
              </a:defRPr>
            </a:lvl5pPr>
            <a:lvl6pPr>
              <a:defRPr sz="2200" b="1">
                <a:solidFill>
                  <a:srgbClr val="FFFFFF"/>
                </a:solidFill>
              </a:defRPr>
            </a:lvl6pPr>
            <a:lvl7pPr>
              <a:defRPr sz="2200" b="1">
                <a:solidFill>
                  <a:srgbClr val="FFFFFF"/>
                </a:solidFill>
              </a:defRPr>
            </a:lvl7pPr>
            <a:lvl8pPr>
              <a:defRPr sz="2200" b="1">
                <a:solidFill>
                  <a:srgbClr val="FFFFFF"/>
                </a:solidFill>
              </a:defRPr>
            </a:lvl8pPr>
            <a:lvl9pPr>
              <a:defRPr sz="220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2200" b="1">
                <a:solidFill>
                  <a:srgbClr val="FFFFFF"/>
                </a:solidFill>
              </a:defRPr>
            </a:pPr>
            <a:r>
              <a:rPr sz="2200" b="1">
                <a:solidFill>
                  <a:srgbClr val="FFFFFF"/>
                </a:solidFill>
                <a:latin typeface="MiSans"/>
                <a:ea typeface="MiSans"/>
                <a:cs typeface="MiSans"/>
              </a:rPr>
              <a:t>成果与学术验证</a:t>
            </a:r>
            <a:endParaRPr sz="2200"/>
          </a:p>
        </p:txBody>
      </p:sp>
      <p:sp>
        <p:nvSpPr>
          <p:cNvPr id="4" name="hd-tag">
            <a:extLst xmlns:a="http://schemas.openxmlformats.org/drawingml/2006/main">
              <a:ext uri="{FF2B5EF4-FFF2-40B4-BE49-F238E27FC236}">
                <a16:creationId xmlns:a16="http://schemas.microsoft.com/office/drawing/2014/main" id="{22E973E0-91BC-4F33-848C-5490D5398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180975"/>
            <a:ext cx="762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900" b="0">
                <a:solidFill>
                  <a:srgbClr val="CBE1FF"/>
                </a:solidFill>
                <a:latin typeface="MiSans"/>
                <a:ea typeface="MiSans"/>
                <a:cs typeface="MiSans"/>
              </a:defRPr>
            </a:defPPr>
            <a:lvl1pPr algn="l">
              <a:buNone/>
              <a:defRPr sz="975" b="0">
                <a:solidFill>
                  <a:srgbClr val="076DFC"/>
                </a:solidFill>
                <a:latin typeface="MiSans"/>
                <a:ea typeface="MiSans"/>
                <a:cs typeface="MiSans"/>
              </a:defRPr>
            </a:lvl1pPr>
            <a:lvl2pPr algn="l">
              <a:buNone/>
              <a:defRPr sz="975" b="0">
                <a:solidFill>
                  <a:srgbClr val="076DFC"/>
                </a:solidFill>
                <a:latin typeface="MiSans"/>
                <a:ea typeface="MiSans"/>
                <a:cs typeface="MiSans"/>
              </a:defRPr>
            </a:lvl2pPr>
            <a:lvl3pPr algn="l">
              <a:buNone/>
              <a:defRPr sz="975" b="0">
                <a:solidFill>
                  <a:srgbClr val="076DFC"/>
                </a:solidFill>
                <a:latin typeface="MiSans"/>
                <a:ea typeface="MiSans"/>
                <a:cs typeface="MiSans"/>
              </a:defRPr>
            </a:lvl3pPr>
            <a:lvl4pPr algn="l">
              <a:buNone/>
              <a:defRPr sz="975" b="0">
                <a:solidFill>
                  <a:srgbClr val="076DFC"/>
                </a:solidFill>
                <a:latin typeface="MiSans"/>
                <a:ea typeface="MiSans"/>
                <a:cs typeface="MiSans"/>
              </a:defRPr>
            </a:lvl4pPr>
            <a:lvl5pPr algn="l">
              <a:buNone/>
              <a:defRPr sz="975" b="0">
                <a:solidFill>
                  <a:srgbClr val="076DFC"/>
                </a:solidFill>
                <a:latin typeface="MiSans"/>
                <a:ea typeface="MiSans"/>
                <a:cs typeface="MiSans"/>
              </a:defRPr>
            </a:lvl5pPr>
            <a:lvl6pPr algn="l">
              <a:buNone/>
              <a:defRPr sz="975" b="0">
                <a:solidFill>
                  <a:srgbClr val="076DFC"/>
                </a:solidFill>
                <a:latin typeface="MiSans"/>
                <a:ea typeface="MiSans"/>
                <a:cs typeface="MiSans"/>
              </a:defRPr>
            </a:lvl6pPr>
            <a:lvl7pPr algn="l">
              <a:buNone/>
              <a:defRPr sz="975" b="0">
                <a:solidFill>
                  <a:srgbClr val="076DFC"/>
                </a:solidFill>
                <a:latin typeface="MiSans"/>
                <a:ea typeface="MiSans"/>
                <a:cs typeface="MiSans"/>
              </a:defRPr>
            </a:lvl7pPr>
            <a:lvl8pPr algn="l">
              <a:buNone/>
              <a:defRPr sz="975" b="0">
                <a:solidFill>
                  <a:srgbClr val="076DFC"/>
                </a:solidFill>
                <a:latin typeface="MiSans"/>
                <a:ea typeface="MiSans"/>
                <a:cs typeface="MiSans"/>
              </a:defRPr>
            </a:lvl8pPr>
            <a:lvl9pPr algn="l">
              <a:buNone/>
              <a:defRPr sz="975" b="0">
                <a:solidFill>
                  <a:srgbClr val="076DFC"/>
                </a:solidFill>
                <a:latin typeface="MiSans"/>
                <a:ea typeface="MiSans"/>
                <a:cs typeface="MiSans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900" b="0">
                <a:solidFill>
                  <a:srgbClr val="CBE1FF"/>
                </a:solidFill>
                <a:latin typeface="MiSans"/>
                <a:ea typeface="MiSans"/>
                <a:cs typeface="MiSans"/>
              </a:defRPr>
            </a:pPr>
            <a:r>
              <a:rPr sz="900" b="0">
                <a:solidFill>
                  <a:srgbClr val="CBE1FF"/>
                </a:solidFill>
                <a:latin typeface="MiSans"/>
                <a:ea typeface="MiSans"/>
                <a:cs typeface="MiSans"/>
              </a:rPr>
              <a:t>03 · 成果与学术验证</a:t>
            </a:r>
            <a:endParaRPr sz="1000"/>
          </a:p>
        </p:txBody>
      </p:sp>
      <p:sp>
        <p:nvSpPr>
          <p:cNvPr id="5" name="hd-line">
            <a:extLst xmlns:a="http://schemas.openxmlformats.org/drawingml/2006/main">
              <a:ext uri="{FF2B5EF4-FFF2-40B4-BE49-F238E27FC236}">
                <a16:creationId xmlns:a16="http://schemas.microsoft.com/office/drawing/2014/main" id="{D7E5D7E6-A8FF-4AF3-8823-7385FB9FA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90600"/>
            <a:ext cx="742950" cy="28575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6" name="paper-band">
            <a:extLst xmlns:a="http://schemas.openxmlformats.org/drawingml/2006/main">
              <a:ext uri="{FF2B5EF4-FFF2-40B4-BE49-F238E27FC236}">
                <a16:creationId xmlns:a16="http://schemas.microsoft.com/office/drawing/2014/main" id="{B9A40DBD-25A5-458D-9F42-AC134598B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44600"/>
            <a:ext cx="10972800" cy="787400"/>
          </a:xfrm>
          <a:prstGeom xmlns:a="http://schemas.openxmlformats.org/drawingml/2006/main" prst="roundRect">
            <a:avLst>
              <a:gd name="adj" fmla="val 24194"/>
            </a:avLst>
          </a:prstGeom>
          <a:solidFill xmlns:a="http://schemas.openxmlformats.org/drawingml/2006/main">
            <a:srgbClr val="076DFC"/>
          </a:solidFill>
          <a:ln xmlns:a="http://schemas.openxmlformats.org/drawingml/2006/main" w="0">
            <a:noFill/>
          </a:ln>
        </p:spPr>
      </p:sp>
      <p:sp>
        <p:nvSpPr>
          <p:cNvPr id="7" name="paper-icon">
            <a:extLst xmlns:a="http://schemas.openxmlformats.org/drawingml/2006/main">
              <a:ext uri="{FF2B5EF4-FFF2-40B4-BE49-F238E27FC236}">
                <a16:creationId xmlns:a16="http://schemas.microsoft.com/office/drawing/2014/main" id="{900A6967-EDF7-467A-8A77-DBD2B8ADF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600" y="1485900"/>
            <a:ext cx="304800" cy="304800"/>
          </a:xfrm>
          <a:custGeom xmlns:a="http://schemas.openxmlformats.org/drawingml/2006/main">
            <a:rect l="l" t="t" r="r" b="b"/>
            <a:pathLst>
              <a:path w="384" h="512">
                <a:moveTo>
                  <a:pt x="0" y="64"/>
                </a:moveTo>
                <a:cubicBezTo>
                  <a:pt x="0" y="29"/>
                  <a:pt x="29" y="0"/>
                  <a:pt x="64" y="0"/>
                </a:cubicBezTo>
                <a:lnTo>
                  <a:pt x="214" y="0"/>
                </a:lnTo>
                <a:cubicBezTo>
                  <a:pt x="231" y="0"/>
                  <a:pt x="247" y="7"/>
                  <a:pt x="259" y="19"/>
                </a:cubicBezTo>
                <a:lnTo>
                  <a:pt x="365" y="125"/>
                </a:lnTo>
                <a:cubicBezTo>
                  <a:pt x="377" y="137"/>
                  <a:pt x="384" y="154"/>
                  <a:pt x="384" y="171"/>
                </a:cubicBezTo>
                <a:lnTo>
                  <a:pt x="384" y="448"/>
                </a:lnTo>
                <a:cubicBezTo>
                  <a:pt x="384" y="483"/>
                  <a:pt x="355" y="512"/>
                  <a:pt x="320" y="512"/>
                </a:cubicBezTo>
                <a:lnTo>
                  <a:pt x="64" y="512"/>
                </a:lnTo>
                <a:cubicBezTo>
                  <a:pt x="29" y="512"/>
                  <a:pt x="0" y="483"/>
                  <a:pt x="0" y="448"/>
                </a:cubicBezTo>
                <a:lnTo>
                  <a:pt x="0" y="64"/>
                </a:lnTo>
                <a:close/>
                <a:moveTo>
                  <a:pt x="208" y="59"/>
                </a:moveTo>
                <a:lnTo>
                  <a:pt x="208" y="152"/>
                </a:lnTo>
                <a:cubicBezTo>
                  <a:pt x="208" y="165"/>
                  <a:pt x="219" y="176"/>
                  <a:pt x="232" y="176"/>
                </a:cubicBezTo>
                <a:lnTo>
                  <a:pt x="326" y="176"/>
                </a:lnTo>
                <a:lnTo>
                  <a:pt x="208" y="59"/>
                </a:lnTo>
                <a:close/>
                <a:moveTo>
                  <a:pt x="120" y="256"/>
                </a:moveTo>
                <a:cubicBezTo>
                  <a:pt x="107" y="256"/>
                  <a:pt x="96" y="267"/>
                  <a:pt x="96" y="280"/>
                </a:cubicBezTo>
                <a:cubicBezTo>
                  <a:pt x="96" y="293"/>
                  <a:pt x="107" y="304"/>
                  <a:pt x="120" y="304"/>
                </a:cubicBezTo>
                <a:lnTo>
                  <a:pt x="264" y="304"/>
                </a:lnTo>
                <a:cubicBezTo>
                  <a:pt x="277" y="304"/>
                  <a:pt x="288" y="293"/>
                  <a:pt x="288" y="280"/>
                </a:cubicBezTo>
                <a:cubicBezTo>
                  <a:pt x="288" y="267"/>
                  <a:pt x="277" y="256"/>
                  <a:pt x="264" y="256"/>
                </a:cubicBezTo>
                <a:lnTo>
                  <a:pt x="120" y="256"/>
                </a:lnTo>
                <a:close/>
                <a:moveTo>
                  <a:pt x="120" y="352"/>
                </a:moveTo>
                <a:cubicBezTo>
                  <a:pt x="107" y="352"/>
                  <a:pt x="96" y="363"/>
                  <a:pt x="96" y="376"/>
                </a:cubicBezTo>
                <a:cubicBezTo>
                  <a:pt x="96" y="389"/>
                  <a:pt x="107" y="400"/>
                  <a:pt x="120" y="400"/>
                </a:cubicBezTo>
                <a:lnTo>
                  <a:pt x="264" y="400"/>
                </a:lnTo>
                <a:cubicBezTo>
                  <a:pt x="277" y="400"/>
                  <a:pt x="288" y="389"/>
                  <a:pt x="288" y="376"/>
                </a:cubicBezTo>
                <a:cubicBezTo>
                  <a:pt x="288" y="363"/>
                  <a:pt x="277" y="352"/>
                  <a:pt x="264" y="352"/>
                </a:cubicBezTo>
                <a:lnTo>
                  <a:pt x="120" y="352"/>
                </a:lnTo>
                <a:close/>
              </a:path>
            </a:pathLst>
          </a:custGeom>
          <a:solidFill xmlns:a="http://schemas.openxmlformats.org/drawingml/2006/main">
            <a:srgbClr val="A8EB3F"/>
          </a:solidFill>
          <a:ln xmlns:a="http://schemas.openxmlformats.org/drawingml/2006/main">
            <a:noFill/>
          </a:ln>
        </p:spPr>
      </p:sp>
      <p:sp>
        <p:nvSpPr>
          <p:cNvPr id="8" name="paper-text">
            <a:extLst xmlns:a="http://schemas.openxmlformats.org/drawingml/2006/main">
              <a:ext uri="{FF2B5EF4-FFF2-40B4-BE49-F238E27FC236}">
                <a16:creationId xmlns:a16="http://schemas.microsoft.com/office/drawing/2014/main" id="{85A9E9BF-D31D-4CBF-A91B-7A88661E8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6200" y="1244600"/>
            <a:ext cx="10033000" cy="787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55000"/>
              </a:lnSpc>
              <a:buNone/>
            </a:pPr>
            <a:r>
              <a:rPr sz="1150" b="1">
                <a:solidFill>
                  <a:srgbClr val="FFFFFF"/>
                </a:solidFill>
                <a:latin typeface="MiSans"/>
                <a:ea typeface="MiSans"/>
                <a:cs typeface="MiSans"/>
              </a:rPr>
              <a:t>学术论文在审 · IJDAR</a:t>
            </a:r>
            <a:r>
              <a:rPr sz="1150" b="1">
                <a:solidFill>
                  <a:srgbClr val="FFFFFF"/>
                </a:solidFill>
                <a:latin typeface="MiSans"/>
                <a:ea typeface="MiSans"/>
                <a:cs typeface="MiSans"/>
              </a:rPr>
              <a:t>（International Journal on Document Analysis and Recognition，已完成两轮修订：2026-09-05 / 09-17）</a:t>
            </a:r>
            <a:endParaRPr sz="1150"/>
          </a:p>
          <a:p xmlns:a="http://schemas.openxmlformats.org/drawingml/2006/main">
            <a:pPr algn="l">
              <a:lnSpc>
                <a:spcPct val="155000"/>
              </a:lnSpc>
              <a:spcBef>
                <a:spcPts val="200"/>
              </a:spcBef>
              <a:buNone/>
            </a:pPr>
            <a:r>
              <a:rPr sz="950" b="1">
                <a:solidFill>
                  <a:srgbClr val="C9DCFF"/>
                </a:solidFill>
                <a:latin typeface="MiSans"/>
                <a:ea typeface="MiSans"/>
                <a:cs typeface="MiSans"/>
              </a:rPr>
              <a:t>Reference-Conditioned Multi-Label Stroke Structure Analysis for Low-Resource Chinese Calligraphy Practice · 主稿 20 页 + 补充材料</a:t>
            </a:r>
            <a:endParaRPr sz="1150"/>
          </a:p>
        </p:txBody>
      </p:sp>
      <p:sp>
        <p:nvSpPr>
          <p:cNvPr id="9" name="cr-band">
            <a:extLst xmlns:a="http://schemas.openxmlformats.org/drawingml/2006/main">
              <a:ext uri="{FF2B5EF4-FFF2-40B4-BE49-F238E27FC236}">
                <a16:creationId xmlns:a16="http://schemas.microsoft.com/office/drawing/2014/main" id="{A48A8FA8-6F0A-4525-B145-2E1FA95C9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84400"/>
            <a:ext cx="10972800" cy="5334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E5F5C9"/>
          </a:solidFill>
          <a:ln xmlns:a="http://schemas.openxmlformats.org/drawingml/2006/main" w="0">
            <a:noFill/>
          </a:ln>
        </p:spPr>
      </p:sp>
      <p:sp>
        <p:nvSpPr>
          <p:cNvPr id="10" name="cr-icon">
            <a:extLst xmlns:a="http://schemas.openxmlformats.org/drawingml/2006/main">
              <a:ext uri="{FF2B5EF4-FFF2-40B4-BE49-F238E27FC236}">
                <a16:creationId xmlns:a16="http://schemas.microsoft.com/office/drawing/2014/main" id="{5D4A2D46-C748-461A-A54C-6887A568A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600" y="2336800"/>
            <a:ext cx="228600" cy="228600"/>
          </a:xfrm>
          <a:custGeom xmlns:a="http://schemas.openxmlformats.org/drawingml/2006/main">
            <a:rect l="l" t="t" r="r" b="b"/>
            <a:pathLst>
              <a:path w="576" h="512">
                <a:moveTo>
                  <a:pt x="239" y="-8"/>
                </a:moveTo>
                <a:cubicBezTo>
                  <a:pt x="233" y="-14"/>
                  <a:pt x="224" y="-17"/>
                  <a:pt x="216" y="-14"/>
                </a:cubicBezTo>
                <a:cubicBezTo>
                  <a:pt x="207" y="-12"/>
                  <a:pt x="201" y="-6"/>
                  <a:pt x="199" y="3"/>
                </a:cubicBezTo>
                <a:lnTo>
                  <a:pt x="184" y="63"/>
                </a:lnTo>
                <a:cubicBezTo>
                  <a:pt x="182" y="67"/>
                  <a:pt x="178" y="70"/>
                  <a:pt x="174" y="69"/>
                </a:cubicBezTo>
                <a:lnTo>
                  <a:pt x="114" y="52"/>
                </a:lnTo>
                <a:cubicBezTo>
                  <a:pt x="105" y="50"/>
                  <a:pt x="96" y="52"/>
                  <a:pt x="90" y="58"/>
                </a:cubicBezTo>
                <a:cubicBezTo>
                  <a:pt x="84" y="64"/>
                  <a:pt x="82" y="73"/>
                  <a:pt x="84" y="82"/>
                </a:cubicBezTo>
                <a:lnTo>
                  <a:pt x="101" y="141"/>
                </a:lnTo>
                <a:cubicBezTo>
                  <a:pt x="102" y="146"/>
                  <a:pt x="100" y="150"/>
                  <a:pt x="95" y="151"/>
                </a:cubicBezTo>
                <a:lnTo>
                  <a:pt x="35" y="167"/>
                </a:lnTo>
                <a:cubicBezTo>
                  <a:pt x="27" y="169"/>
                  <a:pt x="20" y="175"/>
                  <a:pt x="18" y="184"/>
                </a:cubicBezTo>
                <a:cubicBezTo>
                  <a:pt x="16" y="192"/>
                  <a:pt x="18" y="201"/>
                  <a:pt x="24" y="207"/>
                </a:cubicBezTo>
                <a:lnTo>
                  <a:pt x="69" y="250"/>
                </a:lnTo>
                <a:cubicBezTo>
                  <a:pt x="72" y="253"/>
                  <a:pt x="72" y="259"/>
                  <a:pt x="69" y="262"/>
                </a:cubicBezTo>
                <a:lnTo>
                  <a:pt x="24" y="305"/>
                </a:lnTo>
                <a:cubicBezTo>
                  <a:pt x="18" y="311"/>
                  <a:pt x="16" y="320"/>
                  <a:pt x="18" y="329"/>
                </a:cubicBezTo>
                <a:cubicBezTo>
                  <a:pt x="20" y="337"/>
                  <a:pt x="27" y="343"/>
                  <a:pt x="35" y="346"/>
                </a:cubicBezTo>
                <a:lnTo>
                  <a:pt x="95" y="361"/>
                </a:lnTo>
                <a:cubicBezTo>
                  <a:pt x="100" y="362"/>
                  <a:pt x="102" y="367"/>
                  <a:pt x="101" y="371"/>
                </a:cubicBezTo>
                <a:lnTo>
                  <a:pt x="84" y="431"/>
                </a:lnTo>
                <a:cubicBezTo>
                  <a:pt x="82" y="439"/>
                  <a:pt x="84" y="448"/>
                  <a:pt x="90" y="454"/>
                </a:cubicBezTo>
                <a:cubicBezTo>
                  <a:pt x="96" y="460"/>
                  <a:pt x="105" y="463"/>
                  <a:pt x="114" y="460"/>
                </a:cubicBezTo>
                <a:lnTo>
                  <a:pt x="174" y="443"/>
                </a:lnTo>
                <a:cubicBezTo>
                  <a:pt x="178" y="442"/>
                  <a:pt x="182" y="445"/>
                  <a:pt x="184" y="449"/>
                </a:cubicBezTo>
                <a:lnTo>
                  <a:pt x="199" y="509"/>
                </a:lnTo>
                <a:cubicBezTo>
                  <a:pt x="201" y="518"/>
                  <a:pt x="208" y="524"/>
                  <a:pt x="216" y="526"/>
                </a:cubicBezTo>
                <a:cubicBezTo>
                  <a:pt x="224" y="529"/>
                  <a:pt x="233" y="526"/>
                  <a:pt x="239" y="520"/>
                </a:cubicBezTo>
                <a:lnTo>
                  <a:pt x="283" y="476"/>
                </a:lnTo>
                <a:cubicBezTo>
                  <a:pt x="286" y="472"/>
                  <a:pt x="291" y="472"/>
                  <a:pt x="294" y="476"/>
                </a:cubicBezTo>
                <a:lnTo>
                  <a:pt x="337" y="520"/>
                </a:lnTo>
                <a:cubicBezTo>
                  <a:pt x="343" y="526"/>
                  <a:pt x="352" y="529"/>
                  <a:pt x="361" y="526"/>
                </a:cubicBezTo>
                <a:cubicBezTo>
                  <a:pt x="369" y="524"/>
                  <a:pt x="376" y="518"/>
                  <a:pt x="378" y="509"/>
                </a:cubicBezTo>
                <a:lnTo>
                  <a:pt x="393" y="449"/>
                </a:lnTo>
                <a:cubicBezTo>
                  <a:pt x="394" y="445"/>
                  <a:pt x="399" y="442"/>
                  <a:pt x="403" y="443"/>
                </a:cubicBezTo>
                <a:lnTo>
                  <a:pt x="463" y="460"/>
                </a:lnTo>
                <a:cubicBezTo>
                  <a:pt x="471" y="463"/>
                  <a:pt x="480" y="460"/>
                  <a:pt x="486" y="454"/>
                </a:cubicBezTo>
                <a:cubicBezTo>
                  <a:pt x="492" y="448"/>
                  <a:pt x="495" y="439"/>
                  <a:pt x="492" y="431"/>
                </a:cubicBezTo>
                <a:lnTo>
                  <a:pt x="476" y="371"/>
                </a:lnTo>
                <a:cubicBezTo>
                  <a:pt x="474" y="366"/>
                  <a:pt x="477" y="362"/>
                  <a:pt x="481" y="361"/>
                </a:cubicBezTo>
                <a:lnTo>
                  <a:pt x="541" y="346"/>
                </a:lnTo>
                <a:cubicBezTo>
                  <a:pt x="550" y="343"/>
                  <a:pt x="556" y="337"/>
                  <a:pt x="559" y="328"/>
                </a:cubicBezTo>
                <a:cubicBezTo>
                  <a:pt x="561" y="320"/>
                  <a:pt x="559" y="311"/>
                  <a:pt x="552" y="305"/>
                </a:cubicBezTo>
                <a:lnTo>
                  <a:pt x="508" y="262"/>
                </a:lnTo>
                <a:cubicBezTo>
                  <a:pt x="505" y="259"/>
                  <a:pt x="505" y="253"/>
                  <a:pt x="508" y="250"/>
                </a:cubicBezTo>
                <a:lnTo>
                  <a:pt x="552" y="207"/>
                </a:lnTo>
                <a:cubicBezTo>
                  <a:pt x="559" y="201"/>
                  <a:pt x="561" y="192"/>
                  <a:pt x="559" y="184"/>
                </a:cubicBezTo>
                <a:cubicBezTo>
                  <a:pt x="556" y="175"/>
                  <a:pt x="550" y="169"/>
                  <a:pt x="541" y="166"/>
                </a:cubicBezTo>
                <a:lnTo>
                  <a:pt x="481" y="151"/>
                </a:lnTo>
                <a:cubicBezTo>
                  <a:pt x="477" y="150"/>
                  <a:pt x="474" y="146"/>
                  <a:pt x="476" y="141"/>
                </a:cubicBezTo>
                <a:lnTo>
                  <a:pt x="492" y="81"/>
                </a:lnTo>
                <a:cubicBezTo>
                  <a:pt x="495" y="73"/>
                  <a:pt x="492" y="64"/>
                  <a:pt x="486" y="58"/>
                </a:cubicBezTo>
                <a:cubicBezTo>
                  <a:pt x="480" y="52"/>
                  <a:pt x="471" y="49"/>
                  <a:pt x="463" y="52"/>
                </a:cubicBezTo>
                <a:lnTo>
                  <a:pt x="403" y="69"/>
                </a:lnTo>
                <a:cubicBezTo>
                  <a:pt x="399" y="70"/>
                  <a:pt x="394" y="67"/>
                  <a:pt x="393" y="63"/>
                </a:cubicBezTo>
                <a:lnTo>
                  <a:pt x="378" y="3"/>
                </a:lnTo>
                <a:cubicBezTo>
                  <a:pt x="376" y="-6"/>
                  <a:pt x="369" y="-12"/>
                  <a:pt x="361" y="-14"/>
                </a:cubicBezTo>
                <a:cubicBezTo>
                  <a:pt x="352" y="-17"/>
                  <a:pt x="343" y="-14"/>
                  <a:pt x="337" y="-8"/>
                </a:cubicBezTo>
                <a:lnTo>
                  <a:pt x="294" y="37"/>
                </a:lnTo>
                <a:cubicBezTo>
                  <a:pt x="291" y="40"/>
                  <a:pt x="286" y="40"/>
                  <a:pt x="283" y="37"/>
                </a:cubicBezTo>
                <a:lnTo>
                  <a:pt x="239" y="-8"/>
                </a:lnTo>
                <a:close/>
              </a:path>
            </a:pathLst>
          </a:custGeom>
          <a:solidFill xmlns:a="http://schemas.openxmlformats.org/drawingml/2006/main">
            <a:srgbClr val="0A2A6B"/>
          </a:solidFill>
          <a:ln xmlns:a="http://schemas.openxmlformats.org/drawingml/2006/main">
            <a:noFill/>
          </a:ln>
        </p:spPr>
      </p:sp>
      <p:sp>
        <p:nvSpPr>
          <p:cNvPr id="11" name="cr-text">
            <a:extLst xmlns:a="http://schemas.openxmlformats.org/drawingml/2006/main">
              <a:ext uri="{FF2B5EF4-FFF2-40B4-BE49-F238E27FC236}">
                <a16:creationId xmlns:a16="http://schemas.microsoft.com/office/drawing/2014/main" id="{AE130C45-9756-4339-9D95-05F0174A8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0000" y="2184400"/>
            <a:ext cx="10160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</a:pPr>
            <a:r>
              <a:rPr sz="1150" b="1">
                <a:solidFill>
                  <a:srgbClr val="14213D"/>
                </a:solidFill>
                <a:latin typeface="MiSans"/>
                <a:ea typeface="MiSans"/>
                <a:cs typeface="MiSans"/>
              </a:rPr>
              <a:t>软件著作权申请中</a:t>
            </a:r>
            <a:r>
              <a:rPr sz="1150" b="1">
                <a:solidFill>
                  <a:srgbClr val="14213D"/>
                </a:solidFill>
                <a:latin typeface="MiSans"/>
                <a:ea typeface="MiSans"/>
                <a:cs typeface="MiSans"/>
              </a:rPr>
              <a:t>：「一笔成章」汉字书法智能反馈系统（iPad 端 + Web 平台）</a:t>
            </a:r>
            <a:endParaRPr sz="1150"/>
          </a:p>
        </p:txBody>
      </p:sp>
      <p:sp>
        <p:nvSpPr>
          <p:cNvPr id="12" name="val-kicker">
            <a:extLst xmlns:a="http://schemas.openxmlformats.org/drawingml/2006/main">
              <a:ext uri="{FF2B5EF4-FFF2-40B4-BE49-F238E27FC236}">
                <a16:creationId xmlns:a16="http://schemas.microsoft.com/office/drawing/2014/main" id="{48936686-57F7-45F1-94C8-D33D362A8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22600"/>
            <a:ext cx="3810000" cy="20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</a:pPr>
            <a:r>
              <a:rPr sz="1050" b="1" spc="200">
                <a:solidFill>
                  <a:srgbClr val="076DFC"/>
                </a:solidFill>
                <a:latin typeface="MiSans"/>
                <a:ea typeface="MiSans"/>
                <a:cs typeface="MiSans"/>
              </a:rPr>
              <a:t>学术验证 · 三组关键证据</a:t>
            </a:r>
            <a:endParaRPr sz="1050"/>
          </a:p>
        </p:txBody>
      </p:sp>
      <p:sp>
        <p:nvSpPr>
          <p:cNvPr id="13" name="v1-num">
            <a:extLst xmlns:a="http://schemas.openxmlformats.org/drawingml/2006/main">
              <a:ext uri="{FF2B5EF4-FFF2-40B4-BE49-F238E27FC236}">
                <a16:creationId xmlns:a16="http://schemas.microsoft.com/office/drawing/2014/main" id="{26162A5A-272F-4ED6-A0F6-08B85144C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78200"/>
            <a:ext cx="50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</a:pPr>
            <a:r>
              <a:rPr sz="1400" b="1">
                <a:solidFill>
                  <a:srgbClr val="076DFC"/>
                </a:solidFill>
                <a:latin typeface="MiSans"/>
                <a:ea typeface="MiSans"/>
                <a:cs typeface="MiSans"/>
              </a:rPr>
              <a:t>E1</a:t>
            </a:r>
            <a:endParaRPr sz="1400"/>
          </a:p>
        </p:txBody>
      </p:sp>
      <p:sp>
        <p:nvSpPr>
          <p:cNvPr id="14" name="v1-text">
            <a:extLst xmlns:a="http://schemas.openxmlformats.org/drawingml/2006/main">
              <a:ext uri="{FF2B5EF4-FFF2-40B4-BE49-F238E27FC236}">
                <a16:creationId xmlns:a16="http://schemas.microsoft.com/office/drawing/2014/main" id="{2D5D95F7-B3F3-4188-A791-89C169D68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327400"/>
            <a:ext cx="4826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1110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defPPr>
            <a:lvl1pPr>
              <a:buNone/>
              <a:defRPr sz="1110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1pPr>
            <a:lvl2pPr>
              <a:buNone/>
              <a:defRPr sz="1110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2pPr>
            <a:lvl3pPr>
              <a:buNone/>
              <a:defRPr sz="1110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3pPr>
            <a:lvl4pPr>
              <a:buNone/>
              <a:defRPr sz="1110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4pPr>
            <a:lvl5pPr>
              <a:buNone/>
              <a:defRPr sz="1110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5pPr>
            <a:lvl6pPr>
              <a:buNone/>
              <a:defRPr sz="1110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6pPr>
            <a:lvl7pPr>
              <a:buNone/>
              <a:defRPr sz="1110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7pPr>
            <a:lvl8pPr>
              <a:buNone/>
              <a:defRPr sz="1110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8pPr>
            <a:lvl9pPr>
              <a:buNone/>
              <a:defRPr sz="1110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9pPr>
          </a:lstStyle>
          <a:p xmlns:a="http://schemas.openxmlformats.org/drawingml/2006/main">
            <a:pPr algn="l">
              <a:lnSpc>
                <a:spcPct val="145000"/>
              </a:lnSpc>
              <a:buNone/>
              <a:defRPr sz="1110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pPr>
            <a:r>
              <a:rPr sz="1110" b="0">
                <a:solidFill>
                  <a:srgbClr val="3E506E"/>
                </a:solidFill>
                <a:latin typeface="MiSans"/>
                <a:ea typeface="MiSans"/>
                <a:cs typeface="MiSans"/>
              </a:rPr>
              <a:t>受控扰动实验</a:t>
            </a:r>
            <a:r>
              <a:rPr sz="1110" b="0">
                <a:solidFill>
                  <a:srgbClr val="3E506E"/>
                </a:solidFill>
                <a:latin typeface="MiSans"/>
                <a:ea typeface="MiSans"/>
                <a:cs typeface="MiSans"/>
              </a:rPr>
              <a:t>：平移罚分≈0 被对齐完全吸收，结构性破坏随严重度单调降分，分数语义符合设计预期。</a:t>
            </a:r>
            <a:endParaRPr sz="1050"/>
          </a:p>
        </p:txBody>
      </p:sp>
      <p:sp>
        <p:nvSpPr>
          <p:cNvPr id="15" name="v2-num">
            <a:extLst xmlns:a="http://schemas.openxmlformats.org/drawingml/2006/main">
              <a:ext uri="{FF2B5EF4-FFF2-40B4-BE49-F238E27FC236}">
                <a16:creationId xmlns:a16="http://schemas.microsoft.com/office/drawing/2014/main" id="{797F95EE-B446-4E48-A18D-DBCCCDB8E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18000"/>
            <a:ext cx="50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</a:pPr>
            <a:r>
              <a:rPr sz="1400" b="1">
                <a:solidFill>
                  <a:srgbClr val="076DFC"/>
                </a:solidFill>
                <a:latin typeface="MiSans"/>
                <a:ea typeface="MiSans"/>
                <a:cs typeface="MiSans"/>
              </a:rPr>
              <a:t>E2</a:t>
            </a:r>
            <a:endParaRPr sz="1400"/>
          </a:p>
        </p:txBody>
      </p:sp>
      <p:sp>
        <p:nvSpPr>
          <p:cNvPr id="16" name="v2-text">
            <a:extLst xmlns:a="http://schemas.openxmlformats.org/drawingml/2006/main">
              <a:ext uri="{FF2B5EF4-FFF2-40B4-BE49-F238E27FC236}">
                <a16:creationId xmlns:a16="http://schemas.microsoft.com/office/drawing/2014/main" id="{6657026F-DAA5-4F1F-8DAC-9BAD78D2E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267200"/>
            <a:ext cx="4826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1110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defPPr>
            <a:lvl1pPr>
              <a:buNone/>
              <a:defRPr sz="1110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1pPr>
            <a:lvl2pPr>
              <a:buNone/>
              <a:defRPr sz="1110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2pPr>
            <a:lvl3pPr>
              <a:buNone/>
              <a:defRPr sz="1110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3pPr>
            <a:lvl4pPr>
              <a:buNone/>
              <a:defRPr sz="1110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4pPr>
            <a:lvl5pPr>
              <a:buNone/>
              <a:defRPr sz="1110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5pPr>
            <a:lvl6pPr>
              <a:buNone/>
              <a:defRPr sz="1110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6pPr>
            <a:lvl7pPr>
              <a:buNone/>
              <a:defRPr sz="1110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7pPr>
            <a:lvl8pPr>
              <a:buNone/>
              <a:defRPr sz="1110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8pPr>
            <a:lvl9pPr>
              <a:buNone/>
              <a:defRPr sz="1110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9pPr>
          </a:lstStyle>
          <a:p xmlns:a="http://schemas.openxmlformats.org/drawingml/2006/main">
            <a:pPr algn="l">
              <a:lnSpc>
                <a:spcPct val="145000"/>
              </a:lnSpc>
              <a:buNone/>
              <a:defRPr sz="1110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pPr>
            <a:r>
              <a:rPr sz="1110" b="0">
                <a:solidFill>
                  <a:srgbClr val="3E506E"/>
                </a:solidFill>
                <a:latin typeface="MiSans"/>
                <a:ea typeface="MiSans"/>
                <a:cs typeface="MiSans"/>
              </a:rPr>
              <a:t>对齐消融</a:t>
            </a:r>
            <a:r>
              <a:rPr sz="1110" b="0">
                <a:solidFill>
                  <a:srgbClr val="3E506E"/>
                </a:solidFill>
                <a:latin typeface="MiSans"/>
                <a:ea typeface="MiSans"/>
                <a:cs typeface="MiSans"/>
              </a:rPr>
              <a:t>：受限对齐使无关变换罚分降低 30.1 分（95% CI [29.5, 30.7]），结构敏感性同步提升。</a:t>
            </a:r>
            <a:endParaRPr sz="1050"/>
          </a:p>
        </p:txBody>
      </p:sp>
      <p:sp>
        <p:nvSpPr>
          <p:cNvPr id="17" name="v3-num">
            <a:extLst xmlns:a="http://schemas.openxmlformats.org/drawingml/2006/main">
              <a:ext uri="{FF2B5EF4-FFF2-40B4-BE49-F238E27FC236}">
                <a16:creationId xmlns:a16="http://schemas.microsoft.com/office/drawing/2014/main" id="{1C22AD49-E45B-4C9B-9DFA-66D5A604B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57800"/>
            <a:ext cx="50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</a:pPr>
            <a:r>
              <a:rPr sz="1400" b="1">
                <a:solidFill>
                  <a:srgbClr val="076DFC"/>
                </a:solidFill>
                <a:latin typeface="MiSans"/>
                <a:ea typeface="MiSans"/>
                <a:cs typeface="MiSans"/>
              </a:rPr>
              <a:t>E3</a:t>
            </a:r>
            <a:endParaRPr sz="1400"/>
          </a:p>
        </p:txBody>
      </p:sp>
      <p:sp>
        <p:nvSpPr>
          <p:cNvPr id="18" name="v3-text">
            <a:extLst xmlns:a="http://schemas.openxmlformats.org/drawingml/2006/main">
              <a:ext uri="{FF2B5EF4-FFF2-40B4-BE49-F238E27FC236}">
                <a16:creationId xmlns:a16="http://schemas.microsoft.com/office/drawing/2014/main" id="{51E13426-16E2-4103-937A-B38CEF32E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5207000"/>
            <a:ext cx="4826000" cy="965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1110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defPPr>
            <a:lvl1pPr>
              <a:buNone/>
              <a:defRPr sz="1110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1pPr>
            <a:lvl2pPr>
              <a:buNone/>
              <a:defRPr sz="1110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2pPr>
            <a:lvl3pPr>
              <a:buNone/>
              <a:defRPr sz="1110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3pPr>
            <a:lvl4pPr>
              <a:buNone/>
              <a:defRPr sz="1110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4pPr>
            <a:lvl5pPr>
              <a:buNone/>
              <a:defRPr sz="1110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5pPr>
            <a:lvl6pPr>
              <a:buNone/>
              <a:defRPr sz="1110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6pPr>
            <a:lvl7pPr>
              <a:buNone/>
              <a:defRPr sz="1110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7pPr>
            <a:lvl8pPr>
              <a:buNone/>
              <a:defRPr sz="1110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8pPr>
            <a:lvl9pPr>
              <a:buNone/>
              <a:defRPr sz="1110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9pPr>
          </a:lstStyle>
          <a:p xmlns:a="http://schemas.openxmlformats.org/drawingml/2006/main">
            <a:pPr algn="l">
              <a:lnSpc>
                <a:spcPct val="145000"/>
              </a:lnSpc>
              <a:buNone/>
              <a:defRPr sz="1110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pPr>
            <a:r>
              <a:rPr sz="1110" b="0">
                <a:solidFill>
                  <a:srgbClr val="3E506E"/>
                </a:solidFill>
                <a:latin typeface="MiSans"/>
                <a:ea typeface="MiSans"/>
                <a:cs typeface="MiSans"/>
              </a:rPr>
              <a:t>人工盲评验证</a:t>
            </a:r>
            <a:r>
              <a:rPr sz="1110" b="0">
                <a:solidFill>
                  <a:srgbClr val="3E506E"/>
                </a:solidFill>
                <a:latin typeface="MiSans"/>
                <a:ea typeface="MiSans"/>
                <a:cs typeface="MiSans"/>
              </a:rPr>
              <a:t>：3 位盲评者 × 150 对同字实例，评分与人判断 Spearman ρ=0.297，coverage-aware 修正后 0.429；评价者间 ICC(2,k)=0.709。</a:t>
            </a:r>
            <a:endParaRPr sz="1050"/>
          </a:p>
        </p:txBody>
      </p:sp>
      <p:sp>
        <p:nvSpPr>
          <p:cNvPr id="19" name="mid-vline">
            <a:extLst xmlns:a="http://schemas.openxmlformats.org/drawingml/2006/main">
              <a:ext uri="{FF2B5EF4-FFF2-40B4-BE49-F238E27FC236}">
                <a16:creationId xmlns:a16="http://schemas.microsoft.com/office/drawing/2014/main" id="{14A05984-1C89-41FD-BE2F-47E2BB207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9200" y="3022600"/>
            <a:ext cx="12700" cy="317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0" name="eng-kicker">
            <a:extLst xmlns:a="http://schemas.openxmlformats.org/drawingml/2006/main">
              <a:ext uri="{FF2B5EF4-FFF2-40B4-BE49-F238E27FC236}">
                <a16:creationId xmlns:a16="http://schemas.microsoft.com/office/drawing/2014/main" id="{3EAF8E49-4FD6-4FBB-9A98-C3D08EB15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4800" y="3022600"/>
            <a:ext cx="3810000" cy="20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</a:pPr>
            <a:r>
              <a:rPr sz="1050" b="1" spc="200">
                <a:solidFill>
                  <a:srgbClr val="076DFC"/>
                </a:solidFill>
                <a:latin typeface="MiSans"/>
                <a:ea typeface="MiSans"/>
                <a:cs typeface="MiSans"/>
              </a:rPr>
              <a:t>工程与数据成果</a:t>
            </a:r>
            <a:endParaRPr sz="1050"/>
          </a:p>
        </p:txBody>
      </p:sp>
      <p:sp>
        <p:nvSpPr>
          <p:cNvPr id="21" name="g1-icon">
            <a:extLst xmlns:a="http://schemas.openxmlformats.org/drawingml/2006/main">
              <a:ext uri="{FF2B5EF4-FFF2-40B4-BE49-F238E27FC236}">
                <a16:creationId xmlns:a16="http://schemas.microsoft.com/office/drawing/2014/main" id="{384F01D8-A676-4EAA-8A05-1EB7CB344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4800" y="3352800"/>
            <a:ext cx="203200" cy="203200"/>
          </a:xfrm>
          <a:custGeom xmlns:a="http://schemas.openxmlformats.org/drawingml/2006/main">
            <a:rect l="l" t="t" r="r" b="b"/>
            <a:pathLst>
              <a:path w="512" h="512">
                <a:moveTo>
                  <a:pt x="224" y="-2"/>
                </a:moveTo>
                <a:cubicBezTo>
                  <a:pt x="244" y="-14"/>
                  <a:pt x="269" y="-14"/>
                  <a:pt x="288" y="-2"/>
                </a:cubicBezTo>
                <a:lnTo>
                  <a:pt x="464" y="99"/>
                </a:lnTo>
                <a:cubicBezTo>
                  <a:pt x="484" y="110"/>
                  <a:pt x="496" y="132"/>
                  <a:pt x="496" y="154"/>
                </a:cubicBezTo>
                <a:lnTo>
                  <a:pt x="496" y="357"/>
                </a:lnTo>
                <a:cubicBezTo>
                  <a:pt x="496" y="380"/>
                  <a:pt x="484" y="401"/>
                  <a:pt x="464" y="413"/>
                </a:cubicBezTo>
                <a:lnTo>
                  <a:pt x="288" y="515"/>
                </a:lnTo>
                <a:cubicBezTo>
                  <a:pt x="269" y="526"/>
                  <a:pt x="244" y="526"/>
                  <a:pt x="224" y="515"/>
                </a:cubicBezTo>
                <a:lnTo>
                  <a:pt x="49" y="413"/>
                </a:lnTo>
                <a:cubicBezTo>
                  <a:pt x="29" y="402"/>
                  <a:pt x="17" y="380"/>
                  <a:pt x="17" y="358"/>
                </a:cubicBezTo>
                <a:lnTo>
                  <a:pt x="17" y="155"/>
                </a:lnTo>
                <a:cubicBezTo>
                  <a:pt x="17" y="132"/>
                  <a:pt x="29" y="111"/>
                  <a:pt x="49" y="99"/>
                </a:cubicBezTo>
                <a:lnTo>
                  <a:pt x="224" y="-2"/>
                </a:lnTo>
                <a:close/>
                <a:moveTo>
                  <a:pt x="432" y="358"/>
                </a:moveTo>
                <a:lnTo>
                  <a:pt x="432" y="191"/>
                </a:lnTo>
                <a:lnTo>
                  <a:pt x="288" y="274"/>
                </a:lnTo>
                <a:lnTo>
                  <a:pt x="288" y="441"/>
                </a:lnTo>
                <a:lnTo>
                  <a:pt x="432" y="358"/>
                </a:lnTo>
                <a:close/>
              </a:path>
            </a:pathLst>
          </a:custGeom>
          <a:solidFill xmlns:a="http://schemas.openxmlformats.org/drawingml/2006/main">
            <a:srgbClr val="076DFC"/>
          </a:solidFill>
          <a:ln xmlns:a="http://schemas.openxmlformats.org/drawingml/2006/main">
            <a:noFill/>
          </a:ln>
        </p:spPr>
      </p:sp>
      <p:sp>
        <p:nvSpPr>
          <p:cNvPr id="22" name="g1-text">
            <a:extLst xmlns:a="http://schemas.openxmlformats.org/drawingml/2006/main">
              <a:ext uri="{FF2B5EF4-FFF2-40B4-BE49-F238E27FC236}">
                <a16:creationId xmlns:a16="http://schemas.microsoft.com/office/drawing/2014/main" id="{AA599C79-B7EA-4781-960A-5C130753A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5000" y="3327400"/>
            <a:ext cx="4597400" cy="50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1088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defPPr>
            <a:lvl1pPr>
              <a:buNone/>
              <a:defRPr sz="1088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1pPr>
            <a:lvl2pPr>
              <a:buNone/>
              <a:defRPr sz="1088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2pPr>
            <a:lvl3pPr>
              <a:buNone/>
              <a:defRPr sz="1088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3pPr>
            <a:lvl4pPr>
              <a:buNone/>
              <a:defRPr sz="1088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4pPr>
            <a:lvl5pPr>
              <a:buNone/>
              <a:defRPr sz="1088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5pPr>
            <a:lvl6pPr>
              <a:buNone/>
              <a:defRPr sz="1088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6pPr>
            <a:lvl7pPr>
              <a:buNone/>
              <a:defRPr sz="1088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7pPr>
            <a:lvl8pPr>
              <a:buNone/>
              <a:defRPr sz="1088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8pPr>
            <a:lvl9pPr>
              <a:buNone/>
              <a:defRPr sz="1088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9pPr>
          </a:lstStyle>
          <a:p xmlns:a="http://schemas.openxmlformats.org/drawingml/2006/main">
            <a:pPr algn="l">
              <a:lnSpc>
                <a:spcPct val="145000"/>
              </a:lnSpc>
              <a:buNone/>
              <a:defRPr sz="1088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pPr>
            <a:r>
              <a:rPr sz="1088" b="0">
                <a:solidFill>
                  <a:srgbClr val="3E506E"/>
                </a:solidFill>
                <a:latin typeface="MiSans"/>
                <a:ea typeface="MiSans"/>
                <a:cs typeface="MiSans"/>
              </a:rPr>
              <a:t>模型冻结发布</a:t>
            </a:r>
            <a:r>
              <a:rPr sz="1088" b="0">
                <a:solidFill>
                  <a:srgbClr val="3E506E"/>
                </a:solidFill>
                <a:latin typeface="MiSans"/>
                <a:ea typeface="MiSans"/>
                <a:cs typeface="MiSans"/>
              </a:rPr>
              <a:t>：segformer-b2-v1，阈值、模型卡、哈希全量留档，18 组正式基准完成审计。</a:t>
            </a:r>
            <a:endParaRPr sz="1050"/>
          </a:p>
        </p:txBody>
      </p:sp>
      <p:sp>
        <p:nvSpPr>
          <p:cNvPr id="23" name="g2-icon">
            <a:extLst xmlns:a="http://schemas.openxmlformats.org/drawingml/2006/main">
              <a:ext uri="{FF2B5EF4-FFF2-40B4-BE49-F238E27FC236}">
                <a16:creationId xmlns:a16="http://schemas.microsoft.com/office/drawing/2014/main" id="{D5838B84-CAEB-461E-A2EB-2A9C65454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4800" y="4038600"/>
            <a:ext cx="203200" cy="203200"/>
          </a:xfrm>
          <a:custGeom xmlns:a="http://schemas.openxmlformats.org/drawingml/2006/main">
            <a:rect l="l" t="t" r="r" b="b"/>
            <a:pathLst>
              <a:path w="448" h="512">
                <a:moveTo>
                  <a:pt x="448" y="206"/>
                </a:moveTo>
                <a:cubicBezTo>
                  <a:pt x="433" y="216"/>
                  <a:pt x="416" y="224"/>
                  <a:pt x="399" y="230"/>
                </a:cubicBezTo>
                <a:cubicBezTo>
                  <a:pt x="352" y="247"/>
                  <a:pt x="290" y="256"/>
                  <a:pt x="224" y="256"/>
                </a:cubicBezTo>
                <a:cubicBezTo>
                  <a:pt x="158" y="256"/>
                  <a:pt x="96" y="247"/>
                  <a:pt x="50" y="230"/>
                </a:cubicBezTo>
                <a:cubicBezTo>
                  <a:pt x="32" y="224"/>
                  <a:pt x="15" y="216"/>
                  <a:pt x="0" y="206"/>
                </a:cubicBezTo>
                <a:lnTo>
                  <a:pt x="0" y="288"/>
                </a:lnTo>
                <a:cubicBezTo>
                  <a:pt x="0" y="332"/>
                  <a:pt x="100" y="368"/>
                  <a:pt x="224" y="368"/>
                </a:cubicBezTo>
                <a:cubicBezTo>
                  <a:pt x="348" y="368"/>
                  <a:pt x="448" y="332"/>
                  <a:pt x="448" y="288"/>
                </a:cubicBezTo>
                <a:lnTo>
                  <a:pt x="448" y="206"/>
                </a:lnTo>
                <a:close/>
              </a:path>
              <a:path w="448" h="512">
                <a:moveTo>
                  <a:pt x="448" y="128"/>
                </a:moveTo>
                <a:lnTo>
                  <a:pt x="448" y="80"/>
                </a:lnTo>
                <a:cubicBezTo>
                  <a:pt x="448" y="36"/>
                  <a:pt x="348" y="0"/>
                  <a:pt x="224" y="0"/>
                </a:cubicBezTo>
                <a:cubicBezTo>
                  <a:pt x="100" y="0"/>
                  <a:pt x="0" y="36"/>
                  <a:pt x="0" y="80"/>
                </a:cubicBezTo>
                <a:lnTo>
                  <a:pt x="0" y="128"/>
                </a:lnTo>
                <a:cubicBezTo>
                  <a:pt x="0" y="172"/>
                  <a:pt x="100" y="208"/>
                  <a:pt x="224" y="208"/>
                </a:cubicBezTo>
                <a:cubicBezTo>
                  <a:pt x="348" y="208"/>
                  <a:pt x="448" y="172"/>
                  <a:pt x="448" y="128"/>
                </a:cubicBezTo>
                <a:close/>
              </a:path>
              <a:path w="448" h="512">
                <a:moveTo>
                  <a:pt x="399" y="390"/>
                </a:moveTo>
                <a:cubicBezTo>
                  <a:pt x="352" y="407"/>
                  <a:pt x="290" y="416"/>
                  <a:pt x="224" y="416"/>
                </a:cubicBezTo>
                <a:cubicBezTo>
                  <a:pt x="158" y="416"/>
                  <a:pt x="96" y="407"/>
                  <a:pt x="50" y="390"/>
                </a:cubicBezTo>
                <a:cubicBezTo>
                  <a:pt x="32" y="384"/>
                  <a:pt x="15" y="376"/>
                  <a:pt x="0" y="366"/>
                </a:cubicBezTo>
                <a:lnTo>
                  <a:pt x="0" y="432"/>
                </a:lnTo>
                <a:cubicBezTo>
                  <a:pt x="0" y="476"/>
                  <a:pt x="100" y="512"/>
                  <a:pt x="224" y="512"/>
                </a:cubicBezTo>
                <a:cubicBezTo>
                  <a:pt x="348" y="512"/>
                  <a:pt x="448" y="476"/>
                  <a:pt x="448" y="432"/>
                </a:cubicBezTo>
                <a:lnTo>
                  <a:pt x="448" y="366"/>
                </a:lnTo>
                <a:cubicBezTo>
                  <a:pt x="433" y="376"/>
                  <a:pt x="416" y="384"/>
                  <a:pt x="399" y="390"/>
                </a:cubicBezTo>
                <a:close/>
              </a:path>
            </a:pathLst>
          </a:custGeom>
          <a:solidFill xmlns:a="http://schemas.openxmlformats.org/drawingml/2006/main">
            <a:srgbClr val="076DFC"/>
          </a:solidFill>
          <a:ln xmlns:a="http://schemas.openxmlformats.org/drawingml/2006/main">
            <a:noFill/>
          </a:ln>
        </p:spPr>
      </p:sp>
      <p:sp>
        <p:nvSpPr>
          <p:cNvPr id="24" name="g2-text">
            <a:extLst xmlns:a="http://schemas.openxmlformats.org/drawingml/2006/main">
              <a:ext uri="{FF2B5EF4-FFF2-40B4-BE49-F238E27FC236}">
                <a16:creationId xmlns:a16="http://schemas.microsoft.com/office/drawing/2014/main" id="{45A71817-165A-4C4E-87D0-E0BBD62F8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5000" y="4013200"/>
            <a:ext cx="4597400" cy="50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1088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defPPr>
            <a:lvl1pPr>
              <a:buNone/>
              <a:defRPr sz="1088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1pPr>
            <a:lvl2pPr>
              <a:buNone/>
              <a:defRPr sz="1088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2pPr>
            <a:lvl3pPr>
              <a:buNone/>
              <a:defRPr sz="1088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3pPr>
            <a:lvl4pPr>
              <a:buNone/>
              <a:defRPr sz="1088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4pPr>
            <a:lvl5pPr>
              <a:buNone/>
              <a:defRPr sz="1088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5pPr>
            <a:lvl6pPr>
              <a:buNone/>
              <a:defRPr sz="1088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6pPr>
            <a:lvl7pPr>
              <a:buNone/>
              <a:defRPr sz="1088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7pPr>
            <a:lvl8pPr>
              <a:buNone/>
              <a:defRPr sz="1088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8pPr>
            <a:lvl9pPr>
              <a:buNone/>
              <a:defRPr sz="1088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9pPr>
          </a:lstStyle>
          <a:p xmlns:a="http://schemas.openxmlformats.org/drawingml/2006/main">
            <a:pPr algn="l">
              <a:lnSpc>
                <a:spcPct val="145000"/>
              </a:lnSpc>
              <a:buNone/>
              <a:defRPr sz="1088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pPr>
            <a:r>
              <a:rPr sz="1088" b="0">
                <a:solidFill>
                  <a:srgbClr val="3E506E"/>
                </a:solidFill>
                <a:latin typeface="MiSans"/>
                <a:ea typeface="MiSans"/>
                <a:cs typeface="MiSans"/>
              </a:rPr>
              <a:t>数据资产固化</a:t>
            </a:r>
            <a:r>
              <a:rPr sz="1088" b="0">
                <a:solidFill>
                  <a:srgbClr val="3E506E"/>
                </a:solidFill>
                <a:latin typeface="MiSans"/>
                <a:ea typeface="MiSans"/>
                <a:cs typeface="MiSans"/>
              </a:rPr>
              <a:t>：840 份 GT 找回校验，769 个 QC-clean 样本与字符级冻结划分。</a:t>
            </a:r>
            <a:endParaRPr sz="1050"/>
          </a:p>
        </p:txBody>
      </p:sp>
      <p:sp>
        <p:nvSpPr>
          <p:cNvPr id="25" name="g3-icon">
            <a:extLst xmlns:a="http://schemas.openxmlformats.org/drawingml/2006/main">
              <a:ext uri="{FF2B5EF4-FFF2-40B4-BE49-F238E27FC236}">
                <a16:creationId xmlns:a16="http://schemas.microsoft.com/office/drawing/2014/main" id="{12F3A745-CFC7-4AD6-8590-A88327449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4800" y="4724400"/>
            <a:ext cx="203200" cy="203200"/>
          </a:xfrm>
          <a:custGeom xmlns:a="http://schemas.openxmlformats.org/drawingml/2006/main">
            <a:rect l="l" t="t" r="r" b="b"/>
            <a:pathLst>
              <a:path w="512" h="512">
                <a:moveTo>
                  <a:pt x="352" y="280"/>
                </a:moveTo>
                <a:lnTo>
                  <a:pt x="161" y="280"/>
                </a:lnTo>
                <a:cubicBezTo>
                  <a:pt x="164" y="345"/>
                  <a:pt x="178" y="404"/>
                  <a:pt x="198" y="447"/>
                </a:cubicBezTo>
                <a:cubicBezTo>
                  <a:pt x="210" y="472"/>
                  <a:pt x="222" y="489"/>
                  <a:pt x="234" y="500"/>
                </a:cubicBezTo>
                <a:cubicBezTo>
                  <a:pt x="245" y="510"/>
                  <a:pt x="252" y="512"/>
                  <a:pt x="256" y="512"/>
                </a:cubicBezTo>
                <a:cubicBezTo>
                  <a:pt x="260" y="512"/>
                  <a:pt x="268" y="510"/>
                  <a:pt x="279" y="500"/>
                </a:cubicBezTo>
                <a:cubicBezTo>
                  <a:pt x="291" y="489"/>
                  <a:pt x="303" y="472"/>
                  <a:pt x="314" y="447"/>
                </a:cubicBezTo>
                <a:cubicBezTo>
                  <a:pt x="335" y="404"/>
                  <a:pt x="349" y="345"/>
                  <a:pt x="352" y="280"/>
                </a:cubicBezTo>
                <a:close/>
              </a:path>
              <a:path w="512" h="512">
                <a:moveTo>
                  <a:pt x="161" y="232"/>
                </a:moveTo>
                <a:lnTo>
                  <a:pt x="352" y="232"/>
                </a:lnTo>
                <a:cubicBezTo>
                  <a:pt x="349" y="168"/>
                  <a:pt x="335" y="108"/>
                  <a:pt x="314" y="65"/>
                </a:cubicBezTo>
                <a:cubicBezTo>
                  <a:pt x="303" y="40"/>
                  <a:pt x="291" y="23"/>
                  <a:pt x="279" y="12"/>
                </a:cubicBezTo>
                <a:cubicBezTo>
                  <a:pt x="268" y="2"/>
                  <a:pt x="260" y="0"/>
                  <a:pt x="256" y="0"/>
                </a:cubicBezTo>
                <a:cubicBezTo>
                  <a:pt x="252" y="0"/>
                  <a:pt x="245" y="2"/>
                  <a:pt x="233" y="12"/>
                </a:cubicBezTo>
                <a:cubicBezTo>
                  <a:pt x="222" y="23"/>
                  <a:pt x="210" y="40"/>
                  <a:pt x="198" y="65"/>
                </a:cubicBezTo>
                <a:cubicBezTo>
                  <a:pt x="178" y="108"/>
                  <a:pt x="164" y="168"/>
                  <a:pt x="161" y="232"/>
                </a:cubicBezTo>
                <a:close/>
              </a:path>
              <a:path w="512" h="512">
                <a:moveTo>
                  <a:pt x="113" y="232"/>
                </a:moveTo>
                <a:cubicBezTo>
                  <a:pt x="116" y="146"/>
                  <a:pt x="139" y="67"/>
                  <a:pt x="171" y="15"/>
                </a:cubicBezTo>
                <a:cubicBezTo>
                  <a:pt x="79" y="47"/>
                  <a:pt x="11" y="131"/>
                  <a:pt x="2" y="232"/>
                </a:cubicBezTo>
                <a:lnTo>
                  <a:pt x="113" y="232"/>
                </a:lnTo>
                <a:close/>
              </a:path>
              <a:path w="512" h="512">
                <a:moveTo>
                  <a:pt x="2" y="280"/>
                </a:moveTo>
                <a:cubicBezTo>
                  <a:pt x="11" y="381"/>
                  <a:pt x="79" y="465"/>
                  <a:pt x="171" y="497"/>
                </a:cubicBezTo>
                <a:cubicBezTo>
                  <a:pt x="139" y="445"/>
                  <a:pt x="116" y="366"/>
                  <a:pt x="113" y="280"/>
                </a:cubicBezTo>
                <a:lnTo>
                  <a:pt x="2" y="280"/>
                </a:lnTo>
                <a:close/>
              </a:path>
              <a:path w="512" h="512">
                <a:moveTo>
                  <a:pt x="400" y="280"/>
                </a:moveTo>
                <a:cubicBezTo>
                  <a:pt x="396" y="366"/>
                  <a:pt x="374" y="445"/>
                  <a:pt x="342" y="497"/>
                </a:cubicBezTo>
                <a:cubicBezTo>
                  <a:pt x="434" y="465"/>
                  <a:pt x="502" y="381"/>
                  <a:pt x="511" y="280"/>
                </a:cubicBezTo>
                <a:lnTo>
                  <a:pt x="400" y="280"/>
                </a:lnTo>
                <a:close/>
              </a:path>
              <a:path w="512" h="512">
                <a:moveTo>
                  <a:pt x="511" y="232"/>
                </a:moveTo>
                <a:cubicBezTo>
                  <a:pt x="502" y="131"/>
                  <a:pt x="434" y="47"/>
                  <a:pt x="342" y="15"/>
                </a:cubicBezTo>
                <a:cubicBezTo>
                  <a:pt x="374" y="67"/>
                  <a:pt x="396" y="146"/>
                  <a:pt x="400" y="232"/>
                </a:cubicBezTo>
                <a:lnTo>
                  <a:pt x="511" y="232"/>
                </a:lnTo>
                <a:close/>
              </a:path>
            </a:pathLst>
          </a:custGeom>
          <a:solidFill xmlns:a="http://schemas.openxmlformats.org/drawingml/2006/main">
            <a:srgbClr val="076DFC"/>
          </a:solidFill>
          <a:ln xmlns:a="http://schemas.openxmlformats.org/drawingml/2006/main">
            <a:noFill/>
          </a:ln>
        </p:spPr>
      </p:sp>
      <p:sp>
        <p:nvSpPr>
          <p:cNvPr id="26" name="g3-text">
            <a:extLst xmlns:a="http://schemas.openxmlformats.org/drawingml/2006/main">
              <a:ext uri="{FF2B5EF4-FFF2-40B4-BE49-F238E27FC236}">
                <a16:creationId xmlns:a16="http://schemas.microsoft.com/office/drawing/2014/main" id="{16E31CB6-DF75-4790-8BF8-7FDFD7347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5000" y="4699000"/>
            <a:ext cx="4597400" cy="50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1088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defPPr>
            <a:lvl1pPr>
              <a:buNone/>
              <a:defRPr sz="1088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1pPr>
            <a:lvl2pPr>
              <a:buNone/>
              <a:defRPr sz="1088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2pPr>
            <a:lvl3pPr>
              <a:buNone/>
              <a:defRPr sz="1088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3pPr>
            <a:lvl4pPr>
              <a:buNone/>
              <a:defRPr sz="1088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4pPr>
            <a:lvl5pPr>
              <a:buNone/>
              <a:defRPr sz="1088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5pPr>
            <a:lvl6pPr>
              <a:buNone/>
              <a:defRPr sz="1088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6pPr>
            <a:lvl7pPr>
              <a:buNone/>
              <a:defRPr sz="1088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7pPr>
            <a:lvl8pPr>
              <a:buNone/>
              <a:defRPr sz="1088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8pPr>
            <a:lvl9pPr>
              <a:buNone/>
              <a:defRPr sz="1088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9pPr>
          </a:lstStyle>
          <a:p xmlns:a="http://schemas.openxmlformats.org/drawingml/2006/main">
            <a:pPr algn="l">
              <a:lnSpc>
                <a:spcPct val="145000"/>
              </a:lnSpc>
              <a:buNone/>
              <a:defRPr sz="1088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pPr>
            <a:r>
              <a:rPr sz="1088" b="0">
                <a:solidFill>
                  <a:srgbClr val="3E506E"/>
                </a:solidFill>
                <a:latin typeface="MiSans"/>
                <a:ea typeface="MiSans"/>
                <a:cs typeface="MiSans"/>
              </a:rPr>
              <a:t>双端真实落地</a:t>
            </a:r>
            <a:r>
              <a:rPr sz="1088" b="0">
                <a:solidFill>
                  <a:srgbClr val="3E506E"/>
                </a:solidFill>
                <a:latin typeface="MiSans"/>
                <a:ea typeface="MiSans"/>
                <a:cs typeface="MiSans"/>
              </a:rPr>
              <a:t>：onestroke.cn 两门 100 字课程包（Beta）+ iPad App 练习全流程，模型联调通过。</a:t>
            </a:r>
            <a:endParaRPr sz="1050"/>
          </a:p>
        </p:txBody>
      </p:sp>
      <p:sp>
        <p:nvSpPr>
          <p:cNvPr id="27" name="g4-icon">
            <a:extLst xmlns:a="http://schemas.openxmlformats.org/drawingml/2006/main">
              <a:ext uri="{FF2B5EF4-FFF2-40B4-BE49-F238E27FC236}">
                <a16:creationId xmlns:a16="http://schemas.microsoft.com/office/drawing/2014/main" id="{66CE852D-2AAD-48CE-8444-C8001B14D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4800" y="5410200"/>
            <a:ext cx="203200" cy="203200"/>
          </a:xfrm>
          <a:custGeom xmlns:a="http://schemas.openxmlformats.org/drawingml/2006/main">
            <a:rect l="l" t="t" r="r" b="b"/>
            <a:pathLst>
              <a:path w="512" h="512">
                <a:moveTo>
                  <a:pt x="256" y="0"/>
                </a:moveTo>
                <a:cubicBezTo>
                  <a:pt x="261" y="0"/>
                  <a:pt x="265" y="1"/>
                  <a:pt x="269" y="3"/>
                </a:cubicBezTo>
                <a:lnTo>
                  <a:pt x="458" y="83"/>
                </a:lnTo>
                <a:cubicBezTo>
                  <a:pt x="480" y="92"/>
                  <a:pt x="496" y="114"/>
                  <a:pt x="496" y="140"/>
                </a:cubicBezTo>
                <a:cubicBezTo>
                  <a:pt x="496" y="239"/>
                  <a:pt x="455" y="421"/>
                  <a:pt x="283" y="503"/>
                </a:cubicBezTo>
                <a:cubicBezTo>
                  <a:pt x="266" y="511"/>
                  <a:pt x="246" y="511"/>
                  <a:pt x="230" y="503"/>
                </a:cubicBezTo>
                <a:cubicBezTo>
                  <a:pt x="57" y="421"/>
                  <a:pt x="17" y="239"/>
                  <a:pt x="16" y="140"/>
                </a:cubicBezTo>
                <a:cubicBezTo>
                  <a:pt x="16" y="114"/>
                  <a:pt x="32" y="92"/>
                  <a:pt x="54" y="83"/>
                </a:cubicBezTo>
                <a:lnTo>
                  <a:pt x="243" y="3"/>
                </a:lnTo>
                <a:cubicBezTo>
                  <a:pt x="247" y="1"/>
                  <a:pt x="251" y="0"/>
                  <a:pt x="256" y="0"/>
                </a:cubicBezTo>
                <a:close/>
                <a:moveTo>
                  <a:pt x="256" y="67"/>
                </a:moveTo>
                <a:lnTo>
                  <a:pt x="256" y="445"/>
                </a:lnTo>
                <a:cubicBezTo>
                  <a:pt x="394" y="378"/>
                  <a:pt x="431" y="230"/>
                  <a:pt x="432" y="142"/>
                </a:cubicBezTo>
                <a:lnTo>
                  <a:pt x="256" y="67"/>
                </a:lnTo>
                <a:lnTo>
                  <a:pt x="256" y="67"/>
                </a:lnTo>
                <a:close/>
              </a:path>
            </a:pathLst>
          </a:custGeom>
          <a:solidFill xmlns:a="http://schemas.openxmlformats.org/drawingml/2006/main">
            <a:srgbClr val="076DFC"/>
          </a:solidFill>
          <a:ln xmlns:a="http://schemas.openxmlformats.org/drawingml/2006/main">
            <a:noFill/>
          </a:ln>
        </p:spPr>
      </p:sp>
      <p:sp>
        <p:nvSpPr>
          <p:cNvPr id="28" name="g4-text">
            <a:extLst xmlns:a="http://schemas.openxmlformats.org/drawingml/2006/main">
              <a:ext uri="{FF2B5EF4-FFF2-40B4-BE49-F238E27FC236}">
                <a16:creationId xmlns:a16="http://schemas.microsoft.com/office/drawing/2014/main" id="{2A97DB31-E789-4677-82E2-8DF80164B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5000" y="5384800"/>
            <a:ext cx="4597400" cy="50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1088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defPPr>
            <a:lvl1pPr>
              <a:buNone/>
              <a:defRPr sz="1088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1pPr>
            <a:lvl2pPr>
              <a:buNone/>
              <a:defRPr sz="1088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2pPr>
            <a:lvl3pPr>
              <a:buNone/>
              <a:defRPr sz="1088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3pPr>
            <a:lvl4pPr>
              <a:buNone/>
              <a:defRPr sz="1088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4pPr>
            <a:lvl5pPr>
              <a:buNone/>
              <a:defRPr sz="1088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5pPr>
            <a:lvl6pPr>
              <a:buNone/>
              <a:defRPr sz="1088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6pPr>
            <a:lvl7pPr>
              <a:buNone/>
              <a:defRPr sz="1088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7pPr>
            <a:lvl8pPr>
              <a:buNone/>
              <a:defRPr sz="1088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8pPr>
            <a:lvl9pPr>
              <a:buNone/>
              <a:defRPr sz="1088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9pPr>
          </a:lstStyle>
          <a:p xmlns:a="http://schemas.openxmlformats.org/drawingml/2006/main">
            <a:pPr algn="l">
              <a:lnSpc>
                <a:spcPct val="145000"/>
              </a:lnSpc>
              <a:buNone/>
              <a:defRPr sz="1088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pPr>
            <a:r>
              <a:rPr sz="1088" b="0">
                <a:solidFill>
                  <a:srgbClr val="3E506E"/>
                </a:solidFill>
                <a:latin typeface="MiSans"/>
                <a:ea typeface="MiSans"/>
                <a:cs typeface="MiSans"/>
              </a:rPr>
              <a:t>工程质量</a:t>
            </a:r>
            <a:r>
              <a:rPr sz="1088" b="0">
                <a:solidFill>
                  <a:srgbClr val="3E506E"/>
                </a:solidFill>
                <a:latin typeface="MiSans"/>
                <a:ea typeface="MiSans"/>
                <a:cs typeface="MiSans"/>
              </a:rPr>
              <a:t>：104 项自动化测试通过，数据—模型—论文全链路可复现、可审计。</a:t>
            </a:r>
            <a:endParaRPr sz="1050"/>
          </a:p>
        </p:txBody>
      </p:sp>
      <p:sp>
        <p:nvSpPr>
          <p:cNvPr id="29" name="ft-line">
            <a:extLst xmlns:a="http://schemas.openxmlformats.org/drawingml/2006/main">
              <a:ext uri="{FF2B5EF4-FFF2-40B4-BE49-F238E27FC236}">
                <a16:creationId xmlns:a16="http://schemas.microsoft.com/office/drawing/2014/main" id="{9BC7BBA4-8D2B-4E88-9AD1-AC3A8AA1F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2400"/>
            <a:ext cx="10972800" cy="12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0" name="ft-left">
            <a:extLst xmlns:a="http://schemas.openxmlformats.org/drawingml/2006/main">
              <a:ext uri="{FF2B5EF4-FFF2-40B4-BE49-F238E27FC236}">
                <a16:creationId xmlns:a16="http://schemas.microsoft.com/office/drawing/2014/main" id="{1666AD88-46A5-435A-8D9A-90B673228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8600"/>
            <a:ext cx="3048000" cy="17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/>
          <a:lstStyle xmlns:a="http://schemas.openxmlformats.org/drawingml/2006/main">
            <a:defPPr>
              <a:defRPr sz="863" b="0">
                <a:solidFill>
                  <a:srgbClr val="D8E8FF"/>
                </a:solidFill>
                <a:latin typeface="MiSans"/>
                <a:ea typeface="MiSans"/>
                <a:cs typeface="MiSans"/>
              </a:defRPr>
            </a:defPPr>
            <a:lvl1pPr>
              <a:buNone/>
              <a:defRPr sz="863" b="0">
                <a:solidFill>
                  <a:srgbClr val="7A8CA7"/>
                </a:solidFill>
                <a:latin typeface="MiSans"/>
                <a:ea typeface="MiSans"/>
                <a:cs typeface="MiSans"/>
              </a:defRPr>
            </a:lvl1pPr>
            <a:lvl2pPr>
              <a:buNone/>
              <a:defRPr sz="863" b="0">
                <a:solidFill>
                  <a:srgbClr val="7A8CA7"/>
                </a:solidFill>
                <a:latin typeface="MiSans"/>
                <a:ea typeface="MiSans"/>
                <a:cs typeface="MiSans"/>
              </a:defRPr>
            </a:lvl2pPr>
            <a:lvl3pPr>
              <a:buNone/>
              <a:defRPr sz="863" b="0">
                <a:solidFill>
                  <a:srgbClr val="7A8CA7"/>
                </a:solidFill>
                <a:latin typeface="MiSans"/>
                <a:ea typeface="MiSans"/>
                <a:cs typeface="MiSans"/>
              </a:defRPr>
            </a:lvl3pPr>
            <a:lvl4pPr>
              <a:buNone/>
              <a:defRPr sz="863" b="0">
                <a:solidFill>
                  <a:srgbClr val="7A8CA7"/>
                </a:solidFill>
                <a:latin typeface="MiSans"/>
                <a:ea typeface="MiSans"/>
                <a:cs typeface="MiSans"/>
              </a:defRPr>
            </a:lvl4pPr>
            <a:lvl5pPr>
              <a:buNone/>
              <a:defRPr sz="863" b="0">
                <a:solidFill>
                  <a:srgbClr val="7A8CA7"/>
                </a:solidFill>
                <a:latin typeface="MiSans"/>
                <a:ea typeface="MiSans"/>
                <a:cs typeface="MiSans"/>
              </a:defRPr>
            </a:lvl5pPr>
            <a:lvl6pPr>
              <a:buNone/>
              <a:defRPr sz="863" b="0">
                <a:solidFill>
                  <a:srgbClr val="7A8CA7"/>
                </a:solidFill>
                <a:latin typeface="MiSans"/>
                <a:ea typeface="MiSans"/>
                <a:cs typeface="MiSans"/>
              </a:defRPr>
            </a:lvl6pPr>
            <a:lvl7pPr>
              <a:buNone/>
              <a:defRPr sz="863" b="0">
                <a:solidFill>
                  <a:srgbClr val="7A8CA7"/>
                </a:solidFill>
                <a:latin typeface="MiSans"/>
                <a:ea typeface="MiSans"/>
                <a:cs typeface="MiSans"/>
              </a:defRPr>
            </a:lvl7pPr>
            <a:lvl8pPr>
              <a:buNone/>
              <a:defRPr sz="863" b="0">
                <a:solidFill>
                  <a:srgbClr val="7A8CA7"/>
                </a:solidFill>
                <a:latin typeface="MiSans"/>
                <a:ea typeface="MiSans"/>
                <a:cs typeface="MiSans"/>
              </a:defRPr>
            </a:lvl8pPr>
            <a:lvl9pPr>
              <a:buNone/>
              <a:defRPr sz="863" b="0">
                <a:solidFill>
                  <a:srgbClr val="7A8CA7"/>
                </a:solidFill>
                <a:latin typeface="MiSans"/>
                <a:ea typeface="MiSans"/>
                <a:cs typeface="MiSans"/>
              </a:defRPr>
            </a:lvl9pPr>
          </a:lstStyle>
          <a:p xmlns:a="http://schemas.openxmlformats.org/drawingml/2006/main">
            <a:pPr>
              <a:lnSpc>
                <a:spcPct val="120000"/>
              </a:lnSpc>
              <a:buNone/>
              <a:defRPr sz="863" b="0">
                <a:solidFill>
                  <a:srgbClr val="D8E8FF"/>
                </a:solidFill>
                <a:latin typeface="MiSans"/>
                <a:ea typeface="MiSans"/>
                <a:cs typeface="MiSans"/>
              </a:defRPr>
            </a:pPr>
            <a:r>
              <a:rPr sz="863" b="0">
                <a:solidFill>
                  <a:srgbClr val="D8E8FF"/>
                </a:solidFill>
                <a:latin typeface="MiSans"/>
                <a:ea typeface="MiSans"/>
                <a:cs typeface="MiSans"/>
              </a:rPr>
              <a:t>一笔成章 · 2026 中期汇报</a:t>
            </a:r>
            <a:endParaRPr sz="900"/>
          </a:p>
        </p:txBody>
      </p:sp>
      <p:sp>
        <p:nvSpPr>
          <p:cNvPr id="31" name="ft-page">
            <a:extLst xmlns:a="http://schemas.openxmlformats.org/drawingml/2006/main">
              <a:ext uri="{FF2B5EF4-FFF2-40B4-BE49-F238E27FC236}">
                <a16:creationId xmlns:a16="http://schemas.microsoft.com/office/drawing/2014/main" id="{3B6C42E5-0A51-4D5F-A9A4-E74B13719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6578600"/>
            <a:ext cx="914400" cy="17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>
            <a:defPPr>
              <a:defRPr sz="863" b="0">
                <a:solidFill>
                  <a:srgbClr val="D8E8FF"/>
                </a:solidFill>
                <a:latin typeface="MiSans"/>
                <a:ea typeface="MiSans"/>
                <a:cs typeface="MiSans"/>
              </a:defRPr>
            </a:defPPr>
            <a:lvl1pPr>
              <a:buNone/>
              <a:defRPr sz="863" b="0">
                <a:solidFill>
                  <a:srgbClr val="7A8CA7"/>
                </a:solidFill>
                <a:latin typeface="MiSans"/>
                <a:ea typeface="MiSans"/>
                <a:cs typeface="MiSans"/>
              </a:defRPr>
            </a:lvl1pPr>
            <a:lvl2pPr>
              <a:buNone/>
              <a:defRPr sz="863" b="0">
                <a:solidFill>
                  <a:srgbClr val="7A8CA7"/>
                </a:solidFill>
                <a:latin typeface="MiSans"/>
                <a:ea typeface="MiSans"/>
                <a:cs typeface="MiSans"/>
              </a:defRPr>
            </a:lvl2pPr>
            <a:lvl3pPr>
              <a:buNone/>
              <a:defRPr sz="863" b="0">
                <a:solidFill>
                  <a:srgbClr val="7A8CA7"/>
                </a:solidFill>
                <a:latin typeface="MiSans"/>
                <a:ea typeface="MiSans"/>
                <a:cs typeface="MiSans"/>
              </a:defRPr>
            </a:lvl3pPr>
            <a:lvl4pPr>
              <a:buNone/>
              <a:defRPr sz="863" b="0">
                <a:solidFill>
                  <a:srgbClr val="7A8CA7"/>
                </a:solidFill>
                <a:latin typeface="MiSans"/>
                <a:ea typeface="MiSans"/>
                <a:cs typeface="MiSans"/>
              </a:defRPr>
            </a:lvl4pPr>
            <a:lvl5pPr>
              <a:buNone/>
              <a:defRPr sz="863" b="0">
                <a:solidFill>
                  <a:srgbClr val="7A8CA7"/>
                </a:solidFill>
                <a:latin typeface="MiSans"/>
                <a:ea typeface="MiSans"/>
                <a:cs typeface="MiSans"/>
              </a:defRPr>
            </a:lvl5pPr>
            <a:lvl6pPr>
              <a:buNone/>
              <a:defRPr sz="863" b="0">
                <a:solidFill>
                  <a:srgbClr val="7A8CA7"/>
                </a:solidFill>
                <a:latin typeface="MiSans"/>
                <a:ea typeface="MiSans"/>
                <a:cs typeface="MiSans"/>
              </a:defRPr>
            </a:lvl6pPr>
            <a:lvl7pPr>
              <a:buNone/>
              <a:defRPr sz="863" b="0">
                <a:solidFill>
                  <a:srgbClr val="7A8CA7"/>
                </a:solidFill>
                <a:latin typeface="MiSans"/>
                <a:ea typeface="MiSans"/>
                <a:cs typeface="MiSans"/>
              </a:defRPr>
            </a:lvl7pPr>
            <a:lvl8pPr>
              <a:buNone/>
              <a:defRPr sz="863" b="0">
                <a:solidFill>
                  <a:srgbClr val="7A8CA7"/>
                </a:solidFill>
                <a:latin typeface="MiSans"/>
                <a:ea typeface="MiSans"/>
                <a:cs typeface="MiSans"/>
              </a:defRPr>
            </a:lvl8pPr>
            <a:lvl9pPr>
              <a:buNone/>
              <a:defRPr sz="863" b="0">
                <a:solidFill>
                  <a:srgbClr val="7A8CA7"/>
                </a:solidFill>
                <a:latin typeface="MiSans"/>
                <a:ea typeface="MiSans"/>
                <a:cs typeface="MiSans"/>
              </a:defRPr>
            </a:lvl9pPr>
          </a:lstStyle>
          <a:p xmlns:a="http://schemas.openxmlformats.org/drawingml/2006/main">
            <a:pPr algn="r">
              <a:lnSpc>
                <a:spcPct val="120000"/>
              </a:lnSpc>
              <a:buNone/>
              <a:defRPr sz="863" b="0">
                <a:solidFill>
                  <a:srgbClr val="D8E8FF"/>
                </a:solidFill>
                <a:latin typeface="MiSans"/>
                <a:ea typeface="MiSans"/>
                <a:cs typeface="MiSans"/>
              </a:defRPr>
            </a:pPr>
            <a:r>
              <a:rPr sz="863" b="0">
                <a:solidFill>
                  <a:srgbClr val="D8E8FF"/>
                </a:solidFill>
                <a:latin typeface="MiSans"/>
                <a:ea typeface="MiSans"/>
                <a:cs typeface="MiSans"/>
              </a:rPr>
              <a:t>10 / 13</a:t>
            </a:r>
            <a:endParaRPr sz="900"/>
          </a:p>
        </p:txBody>
      </p:sp>
    </p:spTree>
    <p:extLst>
      <p:ext uri="{BB962C8B-B14F-4D97-AF65-F5344CB8AC3E}">
        <p14:creationId xmlns:p14="http://schemas.microsoft.com/office/powerpoint/2010/main" val="6367269"/>
      </p:ext>
    </p:extLst>
  </p:cSld>
</p:sld>
</file>

<file path=ppt/slides/slide11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E7EFFB"/>
            </a:gs>
            <a:gs pos="48000">
              <a:srgbClr val="F1F5FC"/>
            </a:gs>
            <a:gs pos="100000">
              <a:srgbClr val="E9F2FF"/>
            </a:gs>
          </a:gsLst>
          <a:lin ang="168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0CB2C1A-8CB8-4767-A8A5-5248A8D9055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ad4513a23434691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6" name="reference-cover-triangle">
            <a:extLst xmlns:a="http://schemas.openxmlformats.org/drawingml/2006/main">
              <a:ext uri="{FF2B5EF4-FFF2-40B4-BE49-F238E27FC236}">
                <a16:creationId xmlns:a16="http://schemas.microsoft.com/office/drawing/2014/main" id="{BE28F450-2110-44E1-B795-CDD479B24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0" y="5905500"/>
            <a:ext cx="533400" cy="381000"/>
          </a:xfrm>
          <a:prstGeom xmlns:a="http://schemas.openxmlformats.org/drawingml/2006/main" prst="triangl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5" name="reference-cover-ring">
            <a:extLst xmlns:a="http://schemas.openxmlformats.org/drawingml/2006/main">
              <a:ext uri="{FF2B5EF4-FFF2-40B4-BE49-F238E27FC236}">
                <a16:creationId xmlns:a16="http://schemas.microsoft.com/office/drawing/2014/main" id="{FD588F1A-C12D-41CB-B96F-F851A4DD0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95250"/>
            <a:ext cx="1181100" cy="11811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" name="hd-bar">
            <a:extLst xmlns:a="http://schemas.openxmlformats.org/drawingml/2006/main">
              <a:ext uri="{FF2B5EF4-FFF2-40B4-BE49-F238E27FC236}">
                <a16:creationId xmlns:a16="http://schemas.microsoft.com/office/drawing/2014/main" id="{F2C57ED7-0292-4A1F-920D-719B2B3DF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8000"/>
            <a:ext cx="76200" cy="3048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" name="hd-title">
            <a:extLst xmlns:a="http://schemas.openxmlformats.org/drawingml/2006/main">
              <a:ext uri="{FF2B5EF4-FFF2-40B4-BE49-F238E27FC236}">
                <a16:creationId xmlns:a16="http://schemas.microsoft.com/office/drawing/2014/main" id="{EBFABD3A-8F06-43ED-AA9C-AD15404C8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19100"/>
            <a:ext cx="101346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>
              <a:defRPr sz="2200" b="1">
                <a:solidFill>
                  <a:srgbClr val="FFFFFF"/>
                </a:solidFill>
              </a:defRPr>
            </a:defPPr>
            <a:lvl1pPr>
              <a:defRPr sz="2200" b="1">
                <a:solidFill>
                  <a:srgbClr val="FFFFFF"/>
                </a:solidFill>
              </a:defRPr>
            </a:lvl1pPr>
            <a:lvl2pPr>
              <a:defRPr sz="2200" b="1">
                <a:solidFill>
                  <a:srgbClr val="FFFFFF"/>
                </a:solidFill>
              </a:defRPr>
            </a:lvl2pPr>
            <a:lvl3pPr>
              <a:defRPr sz="2200" b="1">
                <a:solidFill>
                  <a:srgbClr val="FFFFFF"/>
                </a:solidFill>
              </a:defRPr>
            </a:lvl3pPr>
            <a:lvl4pPr>
              <a:defRPr sz="2200" b="1">
                <a:solidFill>
                  <a:srgbClr val="FFFFFF"/>
                </a:solidFill>
              </a:defRPr>
            </a:lvl4pPr>
            <a:lvl5pPr>
              <a:defRPr sz="2200" b="1">
                <a:solidFill>
                  <a:srgbClr val="FFFFFF"/>
                </a:solidFill>
              </a:defRPr>
            </a:lvl5pPr>
            <a:lvl6pPr>
              <a:defRPr sz="2200" b="1">
                <a:solidFill>
                  <a:srgbClr val="FFFFFF"/>
                </a:solidFill>
              </a:defRPr>
            </a:lvl6pPr>
            <a:lvl7pPr>
              <a:defRPr sz="2200" b="1">
                <a:solidFill>
                  <a:srgbClr val="FFFFFF"/>
                </a:solidFill>
              </a:defRPr>
            </a:lvl7pPr>
            <a:lvl8pPr>
              <a:defRPr sz="2200" b="1">
                <a:solidFill>
                  <a:srgbClr val="FFFFFF"/>
                </a:solidFill>
              </a:defRPr>
            </a:lvl8pPr>
            <a:lvl9pPr>
              <a:defRPr sz="220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2200" b="1">
                <a:solidFill>
                  <a:srgbClr val="FFFFFF"/>
                </a:solidFill>
              </a:defRPr>
            </a:pPr>
            <a:r>
              <a:rPr sz="2200" b="1">
                <a:solidFill>
                  <a:srgbClr val="FFFFFF"/>
                </a:solidFill>
                <a:latin typeface="MiSans"/>
                <a:ea typeface="MiSans"/>
                <a:cs typeface="MiSans"/>
              </a:rPr>
              <a:t>商业化探索：B 端规模化进校 + C 端订阅深化</a:t>
            </a:r>
            <a:endParaRPr sz="2200"/>
          </a:p>
        </p:txBody>
      </p:sp>
      <p:sp>
        <p:nvSpPr>
          <p:cNvPr id="4" name="hd-tag">
            <a:extLst xmlns:a="http://schemas.openxmlformats.org/drawingml/2006/main">
              <a:ext uri="{FF2B5EF4-FFF2-40B4-BE49-F238E27FC236}">
                <a16:creationId xmlns:a16="http://schemas.microsoft.com/office/drawing/2014/main" id="{DB88DDA2-F678-4A8A-A81C-542A9BF80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180975"/>
            <a:ext cx="762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900" b="0">
                <a:solidFill>
                  <a:srgbClr val="CBE1FF"/>
                </a:solidFill>
                <a:latin typeface="MiSans"/>
                <a:ea typeface="MiSans"/>
                <a:cs typeface="MiSans"/>
              </a:defRPr>
            </a:defPPr>
            <a:lvl1pPr algn="l">
              <a:buNone/>
              <a:defRPr sz="975" b="0">
                <a:solidFill>
                  <a:srgbClr val="076DFC"/>
                </a:solidFill>
                <a:latin typeface="MiSans"/>
                <a:ea typeface="MiSans"/>
                <a:cs typeface="MiSans"/>
              </a:defRPr>
            </a:lvl1pPr>
            <a:lvl2pPr algn="l">
              <a:buNone/>
              <a:defRPr sz="975" b="0">
                <a:solidFill>
                  <a:srgbClr val="076DFC"/>
                </a:solidFill>
                <a:latin typeface="MiSans"/>
                <a:ea typeface="MiSans"/>
                <a:cs typeface="MiSans"/>
              </a:defRPr>
            </a:lvl2pPr>
            <a:lvl3pPr algn="l">
              <a:buNone/>
              <a:defRPr sz="975" b="0">
                <a:solidFill>
                  <a:srgbClr val="076DFC"/>
                </a:solidFill>
                <a:latin typeface="MiSans"/>
                <a:ea typeface="MiSans"/>
                <a:cs typeface="MiSans"/>
              </a:defRPr>
            </a:lvl3pPr>
            <a:lvl4pPr algn="l">
              <a:buNone/>
              <a:defRPr sz="975" b="0">
                <a:solidFill>
                  <a:srgbClr val="076DFC"/>
                </a:solidFill>
                <a:latin typeface="MiSans"/>
                <a:ea typeface="MiSans"/>
                <a:cs typeface="MiSans"/>
              </a:defRPr>
            </a:lvl4pPr>
            <a:lvl5pPr algn="l">
              <a:buNone/>
              <a:defRPr sz="975" b="0">
                <a:solidFill>
                  <a:srgbClr val="076DFC"/>
                </a:solidFill>
                <a:latin typeface="MiSans"/>
                <a:ea typeface="MiSans"/>
                <a:cs typeface="MiSans"/>
              </a:defRPr>
            </a:lvl5pPr>
            <a:lvl6pPr algn="l">
              <a:buNone/>
              <a:defRPr sz="975" b="0">
                <a:solidFill>
                  <a:srgbClr val="076DFC"/>
                </a:solidFill>
                <a:latin typeface="MiSans"/>
                <a:ea typeface="MiSans"/>
                <a:cs typeface="MiSans"/>
              </a:defRPr>
            </a:lvl6pPr>
            <a:lvl7pPr algn="l">
              <a:buNone/>
              <a:defRPr sz="975" b="0">
                <a:solidFill>
                  <a:srgbClr val="076DFC"/>
                </a:solidFill>
                <a:latin typeface="MiSans"/>
                <a:ea typeface="MiSans"/>
                <a:cs typeface="MiSans"/>
              </a:defRPr>
            </a:lvl7pPr>
            <a:lvl8pPr algn="l">
              <a:buNone/>
              <a:defRPr sz="975" b="0">
                <a:solidFill>
                  <a:srgbClr val="076DFC"/>
                </a:solidFill>
                <a:latin typeface="MiSans"/>
                <a:ea typeface="MiSans"/>
                <a:cs typeface="MiSans"/>
              </a:defRPr>
            </a:lvl8pPr>
            <a:lvl9pPr algn="l">
              <a:buNone/>
              <a:defRPr sz="975" b="0">
                <a:solidFill>
                  <a:srgbClr val="076DFC"/>
                </a:solidFill>
                <a:latin typeface="MiSans"/>
                <a:ea typeface="MiSans"/>
                <a:cs typeface="MiSans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900" b="0">
                <a:solidFill>
                  <a:srgbClr val="CBE1FF"/>
                </a:solidFill>
                <a:latin typeface="MiSans"/>
                <a:ea typeface="MiSans"/>
                <a:cs typeface="MiSans"/>
              </a:defRPr>
            </a:pPr>
            <a:r>
              <a:rPr sz="900" b="0">
                <a:solidFill>
                  <a:srgbClr val="CBE1FF"/>
                </a:solidFill>
                <a:latin typeface="MiSans"/>
                <a:ea typeface="MiSans"/>
                <a:cs typeface="MiSans"/>
              </a:rPr>
              <a:t>04 · 商业化探索</a:t>
            </a:r>
            <a:endParaRPr sz="1000"/>
          </a:p>
        </p:txBody>
      </p:sp>
      <p:sp>
        <p:nvSpPr>
          <p:cNvPr id="5" name="hd-line">
            <a:extLst xmlns:a="http://schemas.openxmlformats.org/drawingml/2006/main">
              <a:ext uri="{FF2B5EF4-FFF2-40B4-BE49-F238E27FC236}">
                <a16:creationId xmlns:a16="http://schemas.microsoft.com/office/drawing/2014/main" id="{8E05A715-A1D3-44F9-8C93-63D109EF2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90600"/>
            <a:ext cx="742950" cy="28575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6" name="b-icon">
            <a:extLst xmlns:a="http://schemas.openxmlformats.org/drawingml/2006/main">
              <a:ext uri="{FF2B5EF4-FFF2-40B4-BE49-F238E27FC236}">
                <a16:creationId xmlns:a16="http://schemas.microsoft.com/office/drawing/2014/main" id="{314A9106-2B90-4366-AF1F-A96939EF6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71600"/>
            <a:ext cx="279400" cy="279400"/>
          </a:xfrm>
          <a:custGeom xmlns:a="http://schemas.openxmlformats.org/drawingml/2006/main">
            <a:rect l="l" t="t" r="r" b="b"/>
            <a:pathLst>
              <a:path w="576" h="512">
                <a:moveTo>
                  <a:pt x="0" y="192"/>
                </a:moveTo>
                <a:cubicBezTo>
                  <a:pt x="0" y="157"/>
                  <a:pt x="29" y="128"/>
                  <a:pt x="64" y="128"/>
                </a:cubicBezTo>
                <a:lnTo>
                  <a:pt x="128" y="128"/>
                </a:lnTo>
                <a:lnTo>
                  <a:pt x="256" y="13"/>
                </a:lnTo>
                <a:cubicBezTo>
                  <a:pt x="274" y="-3"/>
                  <a:pt x="302" y="-3"/>
                  <a:pt x="320" y="13"/>
                </a:cubicBezTo>
                <a:lnTo>
                  <a:pt x="448" y="128"/>
                </a:lnTo>
                <a:lnTo>
                  <a:pt x="512" y="128"/>
                </a:lnTo>
                <a:cubicBezTo>
                  <a:pt x="547" y="128"/>
                  <a:pt x="576" y="157"/>
                  <a:pt x="576" y="192"/>
                </a:cubicBezTo>
                <a:lnTo>
                  <a:pt x="576" y="448"/>
                </a:lnTo>
                <a:cubicBezTo>
                  <a:pt x="576" y="483"/>
                  <a:pt x="547" y="512"/>
                  <a:pt x="512" y="512"/>
                </a:cubicBezTo>
                <a:lnTo>
                  <a:pt x="64" y="512"/>
                </a:lnTo>
                <a:cubicBezTo>
                  <a:pt x="29" y="512"/>
                  <a:pt x="0" y="483"/>
                  <a:pt x="0" y="448"/>
                </a:cubicBezTo>
                <a:lnTo>
                  <a:pt x="0" y="192"/>
                </a:lnTo>
                <a:close/>
                <a:moveTo>
                  <a:pt x="224" y="376"/>
                </a:moveTo>
                <a:lnTo>
                  <a:pt x="224" y="464"/>
                </a:lnTo>
                <a:lnTo>
                  <a:pt x="352" y="464"/>
                </a:lnTo>
                <a:lnTo>
                  <a:pt x="352" y="376"/>
                </a:lnTo>
                <a:cubicBezTo>
                  <a:pt x="352" y="354"/>
                  <a:pt x="334" y="336"/>
                  <a:pt x="312" y="336"/>
                </a:cubicBezTo>
                <a:lnTo>
                  <a:pt x="264" y="336"/>
                </a:lnTo>
                <a:cubicBezTo>
                  <a:pt x="242" y="336"/>
                  <a:pt x="224" y="354"/>
                  <a:pt x="224" y="376"/>
                </a:cubicBezTo>
                <a:close/>
                <a:moveTo>
                  <a:pt x="112" y="384"/>
                </a:moveTo>
                <a:cubicBezTo>
                  <a:pt x="121" y="384"/>
                  <a:pt x="128" y="377"/>
                  <a:pt x="128" y="368"/>
                </a:cubicBezTo>
                <a:lnTo>
                  <a:pt x="128" y="336"/>
                </a:lnTo>
                <a:cubicBezTo>
                  <a:pt x="128" y="327"/>
                  <a:pt x="121" y="320"/>
                  <a:pt x="112" y="320"/>
                </a:cubicBezTo>
                <a:lnTo>
                  <a:pt x="80" y="320"/>
                </a:lnTo>
                <a:cubicBezTo>
                  <a:pt x="71" y="320"/>
                  <a:pt x="64" y="327"/>
                  <a:pt x="64" y="336"/>
                </a:cubicBezTo>
                <a:lnTo>
                  <a:pt x="64" y="368"/>
                </a:lnTo>
                <a:cubicBezTo>
                  <a:pt x="64" y="377"/>
                  <a:pt x="71" y="384"/>
                  <a:pt x="80" y="384"/>
                </a:cubicBezTo>
                <a:lnTo>
                  <a:pt x="112" y="384"/>
                </a:lnTo>
                <a:close/>
                <a:moveTo>
                  <a:pt x="128" y="240"/>
                </a:moveTo>
                <a:lnTo>
                  <a:pt x="128" y="208"/>
                </a:lnTo>
                <a:cubicBezTo>
                  <a:pt x="128" y="199"/>
                  <a:pt x="121" y="192"/>
                  <a:pt x="112" y="192"/>
                </a:cubicBezTo>
                <a:lnTo>
                  <a:pt x="80" y="192"/>
                </a:lnTo>
                <a:cubicBezTo>
                  <a:pt x="71" y="192"/>
                  <a:pt x="64" y="199"/>
                  <a:pt x="64" y="208"/>
                </a:cubicBezTo>
                <a:lnTo>
                  <a:pt x="64" y="240"/>
                </a:lnTo>
                <a:cubicBezTo>
                  <a:pt x="64" y="249"/>
                  <a:pt x="71" y="256"/>
                  <a:pt x="80" y="256"/>
                </a:cubicBezTo>
                <a:lnTo>
                  <a:pt x="112" y="256"/>
                </a:lnTo>
                <a:cubicBezTo>
                  <a:pt x="121" y="256"/>
                  <a:pt x="128" y="249"/>
                  <a:pt x="128" y="240"/>
                </a:cubicBezTo>
                <a:close/>
                <a:moveTo>
                  <a:pt x="496" y="384"/>
                </a:moveTo>
                <a:cubicBezTo>
                  <a:pt x="505" y="384"/>
                  <a:pt x="512" y="377"/>
                  <a:pt x="512" y="368"/>
                </a:cubicBezTo>
                <a:lnTo>
                  <a:pt x="512" y="336"/>
                </a:lnTo>
                <a:cubicBezTo>
                  <a:pt x="512" y="327"/>
                  <a:pt x="505" y="320"/>
                  <a:pt x="496" y="320"/>
                </a:cubicBezTo>
                <a:lnTo>
                  <a:pt x="464" y="320"/>
                </a:lnTo>
                <a:cubicBezTo>
                  <a:pt x="455" y="320"/>
                  <a:pt x="448" y="327"/>
                  <a:pt x="448" y="336"/>
                </a:cubicBezTo>
                <a:lnTo>
                  <a:pt x="448" y="368"/>
                </a:lnTo>
                <a:cubicBezTo>
                  <a:pt x="448" y="377"/>
                  <a:pt x="455" y="384"/>
                  <a:pt x="464" y="384"/>
                </a:cubicBezTo>
                <a:lnTo>
                  <a:pt x="496" y="384"/>
                </a:lnTo>
                <a:close/>
                <a:moveTo>
                  <a:pt x="512" y="240"/>
                </a:moveTo>
                <a:lnTo>
                  <a:pt x="512" y="208"/>
                </a:lnTo>
                <a:cubicBezTo>
                  <a:pt x="512" y="199"/>
                  <a:pt x="505" y="192"/>
                  <a:pt x="496" y="192"/>
                </a:cubicBezTo>
                <a:lnTo>
                  <a:pt x="464" y="192"/>
                </a:lnTo>
                <a:cubicBezTo>
                  <a:pt x="455" y="192"/>
                  <a:pt x="448" y="199"/>
                  <a:pt x="448" y="208"/>
                </a:cubicBezTo>
                <a:lnTo>
                  <a:pt x="448" y="240"/>
                </a:lnTo>
                <a:cubicBezTo>
                  <a:pt x="448" y="249"/>
                  <a:pt x="455" y="256"/>
                  <a:pt x="464" y="256"/>
                </a:cubicBezTo>
                <a:lnTo>
                  <a:pt x="496" y="256"/>
                </a:lnTo>
                <a:cubicBezTo>
                  <a:pt x="505" y="256"/>
                  <a:pt x="512" y="249"/>
                  <a:pt x="512" y="240"/>
                </a:cubicBezTo>
                <a:close/>
                <a:moveTo>
                  <a:pt x="288" y="256"/>
                </a:moveTo>
                <a:cubicBezTo>
                  <a:pt x="323" y="256"/>
                  <a:pt x="352" y="227"/>
                  <a:pt x="352" y="192"/>
                </a:cubicBezTo>
                <a:cubicBezTo>
                  <a:pt x="352" y="157"/>
                  <a:pt x="323" y="128"/>
                  <a:pt x="288" y="128"/>
                </a:cubicBezTo>
                <a:cubicBezTo>
                  <a:pt x="253" y="128"/>
                  <a:pt x="224" y="157"/>
                  <a:pt x="224" y="192"/>
                </a:cubicBezTo>
                <a:cubicBezTo>
                  <a:pt x="224" y="227"/>
                  <a:pt x="253" y="256"/>
                  <a:pt x="288" y="256"/>
                </a:cubicBezTo>
                <a:close/>
              </a:path>
            </a:pathLst>
          </a:custGeom>
          <a:solidFill xmlns:a="http://schemas.openxmlformats.org/drawingml/2006/main">
            <a:srgbClr val="076DFC"/>
          </a:solidFill>
          <a:ln xmlns:a="http://schemas.openxmlformats.org/drawingml/2006/main">
            <a:noFill/>
          </a:ln>
        </p:spPr>
      </p:sp>
      <p:sp>
        <p:nvSpPr>
          <p:cNvPr id="7" name="b-title">
            <a:extLst xmlns:a="http://schemas.openxmlformats.org/drawingml/2006/main">
              <a:ext uri="{FF2B5EF4-FFF2-40B4-BE49-F238E27FC236}">
                <a16:creationId xmlns:a16="http://schemas.microsoft.com/office/drawing/2014/main" id="{C94A21B2-3A74-4403-9CAF-238D99B2C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400" y="1346200"/>
            <a:ext cx="4572000" cy="33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>
              <a:defRPr sz="1875" b="1">
                <a:solidFill>
                  <a:srgbClr val="14213D"/>
                </a:solidFill>
                <a:latin typeface="MiSans"/>
                <a:ea typeface="MiSans"/>
                <a:cs typeface="MiSans"/>
              </a:defRPr>
            </a:defPPr>
            <a:lvl1pPr>
              <a:buNone/>
              <a:defRPr sz="1875" b="1">
                <a:solidFill>
                  <a:srgbClr val="14213D"/>
                </a:solidFill>
                <a:latin typeface="MiSans"/>
                <a:ea typeface="MiSans"/>
                <a:cs typeface="MiSans"/>
              </a:defRPr>
            </a:lvl1pPr>
            <a:lvl2pPr>
              <a:buNone/>
              <a:defRPr sz="1875" b="1">
                <a:solidFill>
                  <a:srgbClr val="14213D"/>
                </a:solidFill>
                <a:latin typeface="MiSans"/>
                <a:ea typeface="MiSans"/>
                <a:cs typeface="MiSans"/>
              </a:defRPr>
            </a:lvl2pPr>
            <a:lvl3pPr>
              <a:buNone/>
              <a:defRPr sz="1875" b="1">
                <a:solidFill>
                  <a:srgbClr val="14213D"/>
                </a:solidFill>
                <a:latin typeface="MiSans"/>
                <a:ea typeface="MiSans"/>
                <a:cs typeface="MiSans"/>
              </a:defRPr>
            </a:lvl3pPr>
            <a:lvl4pPr>
              <a:buNone/>
              <a:defRPr sz="1875" b="1">
                <a:solidFill>
                  <a:srgbClr val="14213D"/>
                </a:solidFill>
                <a:latin typeface="MiSans"/>
                <a:ea typeface="MiSans"/>
                <a:cs typeface="MiSans"/>
              </a:defRPr>
            </a:lvl4pPr>
            <a:lvl5pPr>
              <a:buNone/>
              <a:defRPr sz="1875" b="1">
                <a:solidFill>
                  <a:srgbClr val="14213D"/>
                </a:solidFill>
                <a:latin typeface="MiSans"/>
                <a:ea typeface="MiSans"/>
                <a:cs typeface="MiSans"/>
              </a:defRPr>
            </a:lvl5pPr>
            <a:lvl6pPr>
              <a:buNone/>
              <a:defRPr sz="1875" b="1">
                <a:solidFill>
                  <a:srgbClr val="14213D"/>
                </a:solidFill>
                <a:latin typeface="MiSans"/>
                <a:ea typeface="MiSans"/>
                <a:cs typeface="MiSans"/>
              </a:defRPr>
            </a:lvl6pPr>
            <a:lvl7pPr>
              <a:buNone/>
              <a:defRPr sz="1875" b="1">
                <a:solidFill>
                  <a:srgbClr val="14213D"/>
                </a:solidFill>
                <a:latin typeface="MiSans"/>
                <a:ea typeface="MiSans"/>
                <a:cs typeface="MiSans"/>
              </a:defRPr>
            </a:lvl7pPr>
            <a:lvl8pPr>
              <a:buNone/>
              <a:defRPr sz="1875" b="1">
                <a:solidFill>
                  <a:srgbClr val="14213D"/>
                </a:solidFill>
                <a:latin typeface="MiSans"/>
                <a:ea typeface="MiSans"/>
                <a:cs typeface="MiSans"/>
              </a:defRPr>
            </a:lvl8pPr>
            <a:lvl9pPr>
              <a:buNone/>
              <a:defRPr sz="1875" b="1">
                <a:solidFill>
                  <a:srgbClr val="14213D"/>
                </a:solidFill>
                <a:latin typeface="MiSans"/>
                <a:ea typeface="MiSans"/>
                <a:cs typeface="MiSans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875" b="1">
                <a:solidFill>
                  <a:srgbClr val="14213D"/>
                </a:solidFill>
                <a:latin typeface="MiSans"/>
                <a:ea typeface="MiSans"/>
                <a:cs typeface="MiSans"/>
              </a:defRPr>
            </a:pPr>
            <a:r>
              <a:rPr sz="1875" b="1">
                <a:solidFill>
                  <a:srgbClr val="14213D"/>
                </a:solidFill>
                <a:latin typeface="MiSans"/>
                <a:ea typeface="MiSans"/>
                <a:cs typeface="MiSans"/>
              </a:rPr>
              <a:t>B 端 · 学校与机构</a:t>
            </a:r>
            <a:endParaRPr sz="1500"/>
          </a:p>
        </p:txBody>
      </p:sp>
      <p:sp>
        <p:nvSpPr>
          <p:cNvPr id="8" name="b-sub">
            <a:extLst xmlns:a="http://schemas.openxmlformats.org/drawingml/2006/main">
              <a:ext uri="{FF2B5EF4-FFF2-40B4-BE49-F238E27FC236}">
                <a16:creationId xmlns:a16="http://schemas.microsoft.com/office/drawing/2014/main" id="{FF25F059-1BB3-4E77-9C0F-61FD1649E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400" y="1701800"/>
            <a:ext cx="4572000" cy="20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/>
          <a:lstStyle xmlns:a="http://schemas.openxmlformats.org/drawingml/2006/main">
            <a:defPPr>
              <a:defRPr sz="1125" b="0">
                <a:solidFill>
                  <a:srgbClr val="076DFC"/>
                </a:solidFill>
                <a:latin typeface="MiSans"/>
                <a:ea typeface="MiSans"/>
                <a:cs typeface="MiSans"/>
              </a:defRPr>
            </a:defPPr>
            <a:lvl1pPr>
              <a:buNone/>
              <a:defRPr sz="1125" b="0">
                <a:solidFill>
                  <a:srgbClr val="076DFC"/>
                </a:solidFill>
                <a:latin typeface="MiSans"/>
                <a:ea typeface="MiSans"/>
                <a:cs typeface="MiSans"/>
              </a:defRPr>
            </a:lvl1pPr>
            <a:lvl2pPr>
              <a:buNone/>
              <a:defRPr sz="1125" b="0">
                <a:solidFill>
                  <a:srgbClr val="076DFC"/>
                </a:solidFill>
                <a:latin typeface="MiSans"/>
                <a:ea typeface="MiSans"/>
                <a:cs typeface="MiSans"/>
              </a:defRPr>
            </a:lvl2pPr>
            <a:lvl3pPr>
              <a:buNone/>
              <a:defRPr sz="1125" b="0">
                <a:solidFill>
                  <a:srgbClr val="076DFC"/>
                </a:solidFill>
                <a:latin typeface="MiSans"/>
                <a:ea typeface="MiSans"/>
                <a:cs typeface="MiSans"/>
              </a:defRPr>
            </a:lvl3pPr>
            <a:lvl4pPr>
              <a:buNone/>
              <a:defRPr sz="1125" b="0">
                <a:solidFill>
                  <a:srgbClr val="076DFC"/>
                </a:solidFill>
                <a:latin typeface="MiSans"/>
                <a:ea typeface="MiSans"/>
                <a:cs typeface="MiSans"/>
              </a:defRPr>
            </a:lvl4pPr>
            <a:lvl5pPr>
              <a:buNone/>
              <a:defRPr sz="1125" b="0">
                <a:solidFill>
                  <a:srgbClr val="076DFC"/>
                </a:solidFill>
                <a:latin typeface="MiSans"/>
                <a:ea typeface="MiSans"/>
                <a:cs typeface="MiSans"/>
              </a:defRPr>
            </a:lvl5pPr>
            <a:lvl6pPr>
              <a:buNone/>
              <a:defRPr sz="1125" b="0">
                <a:solidFill>
                  <a:srgbClr val="076DFC"/>
                </a:solidFill>
                <a:latin typeface="MiSans"/>
                <a:ea typeface="MiSans"/>
                <a:cs typeface="MiSans"/>
              </a:defRPr>
            </a:lvl6pPr>
            <a:lvl7pPr>
              <a:buNone/>
              <a:defRPr sz="1125" b="0">
                <a:solidFill>
                  <a:srgbClr val="076DFC"/>
                </a:solidFill>
                <a:latin typeface="MiSans"/>
                <a:ea typeface="MiSans"/>
                <a:cs typeface="MiSans"/>
              </a:defRPr>
            </a:lvl7pPr>
            <a:lvl8pPr>
              <a:buNone/>
              <a:defRPr sz="1125" b="0">
                <a:solidFill>
                  <a:srgbClr val="076DFC"/>
                </a:solidFill>
                <a:latin typeface="MiSans"/>
                <a:ea typeface="MiSans"/>
                <a:cs typeface="MiSans"/>
              </a:defRPr>
            </a:lvl8pPr>
            <a:lvl9pPr>
              <a:buNone/>
              <a:defRPr sz="1125" b="0">
                <a:solidFill>
                  <a:srgbClr val="076DFC"/>
                </a:solidFill>
                <a:latin typeface="MiSans"/>
                <a:ea typeface="MiSans"/>
                <a:cs typeface="MiSans"/>
              </a:defRPr>
            </a:lvl9pPr>
          </a:lstStyle>
          <a:p xmlns:a="http://schemas.openxmlformats.org/drawingml/2006/main">
            <a:pPr>
              <a:lnSpc>
                <a:spcPct val="120000"/>
              </a:lnSpc>
              <a:buNone/>
              <a:defRPr sz="1125" b="0">
                <a:solidFill>
                  <a:srgbClr val="076DFC"/>
                </a:solidFill>
                <a:latin typeface="MiSans"/>
                <a:ea typeface="MiSans"/>
                <a:cs typeface="MiSans"/>
              </a:defRPr>
            </a:pPr>
            <a:r>
              <a:rPr sz="1125" b="0">
                <a:solidFill>
                  <a:srgbClr val="076DFC"/>
                </a:solidFill>
                <a:latin typeface="MiSans"/>
                <a:ea typeface="MiSans"/>
                <a:cs typeface="MiSans"/>
              </a:rPr>
              <a:t>Web 端免安装，是最低的进校门槛</a:t>
            </a:r>
            <a:endParaRPr sz="1000"/>
          </a:p>
        </p:txBody>
      </p:sp>
      <p:sp>
        <p:nvSpPr>
          <p:cNvPr id="9" name="b-list">
            <a:extLst xmlns:a="http://schemas.openxmlformats.org/drawingml/2006/main">
              <a:ext uri="{FF2B5EF4-FFF2-40B4-BE49-F238E27FC236}">
                <a16:creationId xmlns:a16="http://schemas.microsoft.com/office/drawing/2014/main" id="{27FF0A32-004E-473C-8B06-E7F98D8DF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28850"/>
            <a:ext cx="5080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1275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defPPr>
            <a:lvl1pPr>
              <a:buNone/>
              <a:defRPr sz="1275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1pPr>
            <a:lvl2pPr>
              <a:buNone/>
              <a:defRPr sz="1275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2pPr>
            <a:lvl3pPr>
              <a:buNone/>
              <a:defRPr sz="1275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3pPr>
            <a:lvl4pPr>
              <a:buNone/>
              <a:defRPr sz="1275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4pPr>
            <a:lvl5pPr>
              <a:buNone/>
              <a:defRPr sz="1275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5pPr>
            <a:lvl6pPr>
              <a:buNone/>
              <a:defRPr sz="1275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6pPr>
            <a:lvl7pPr>
              <a:buNone/>
              <a:defRPr sz="1275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7pPr>
            <a:lvl8pPr>
              <a:buNone/>
              <a:defRPr sz="1275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8pPr>
            <a:lvl9pPr>
              <a:buNone/>
              <a:defRPr sz="1275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9pPr>
          </a:lstStyle>
          <a:p xmlns:a="http://schemas.openxmlformats.org/drawingml/2006/main">
            <a:pPr algn="l">
              <a:lnSpc>
                <a:spcPct val="160000"/>
              </a:lnSpc>
              <a:buNone/>
              <a:defRPr sz="1275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pPr>
            <a:r>
              <a:rPr sz="1275" b="0">
                <a:solidFill>
                  <a:srgbClr val="3E506E"/>
                </a:solidFill>
                <a:latin typeface="MiSans"/>
                <a:ea typeface="MiSans"/>
                <a:cs typeface="MiSans"/>
              </a:rPr>
              <a:t>场景</a:t>
            </a:r>
            <a:r>
              <a:rPr sz="1275" b="0">
                <a:solidFill>
                  <a:srgbClr val="3E506E"/>
                </a:solidFill>
                <a:latin typeface="MiSans"/>
                <a:ea typeface="MiSans"/>
                <a:cs typeface="MiSans"/>
              </a:rPr>
              <a:t>：书法课堂、课后服务、社团活动，机房与电子白板直接可用。</a:t>
            </a:r>
            <a:endParaRPr sz="1050"/>
          </a:p>
          <a:p xmlns:a="http://schemas.openxmlformats.org/drawingml/2006/main">
            <a:pPr algn="l">
              <a:lnSpc>
                <a:spcPct val="160000"/>
              </a:lnSpc>
              <a:buNone/>
              <a:defRPr sz="1275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pPr>
            <a:r>
              <a:rPr sz="1275" b="0">
                <a:solidFill>
                  <a:srgbClr val="3E506E"/>
                </a:solidFill>
                <a:latin typeface="MiSans"/>
                <a:ea typeface="MiSans"/>
                <a:cs typeface="MiSans"/>
              </a:rPr>
              <a:t>产品形态</a:t>
            </a:r>
            <a:r>
              <a:rPr sz="1275" b="0">
                <a:solidFill>
                  <a:srgbClr val="3E506E"/>
                </a:solidFill>
                <a:latin typeface="MiSans"/>
                <a:ea typeface="MiSans"/>
                <a:cs typeface="MiSans"/>
              </a:rPr>
              <a:t>：课程包按学期 / 按校授权，教师端查看班级练习数据。</a:t>
            </a:r>
            <a:endParaRPr sz="1050"/>
          </a:p>
          <a:p xmlns:a="http://schemas.openxmlformats.org/drawingml/2006/main">
            <a:pPr algn="l">
              <a:lnSpc>
                <a:spcPct val="160000"/>
              </a:lnSpc>
              <a:buNone/>
              <a:defRPr sz="1275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pPr>
            <a:r>
              <a:rPr sz="1275" b="0">
                <a:solidFill>
                  <a:srgbClr val="3E506E"/>
                </a:solidFill>
                <a:latin typeface="MiSans"/>
                <a:ea typeface="MiSans"/>
                <a:cs typeface="MiSans"/>
              </a:rPr>
              <a:t>当前状态</a:t>
            </a:r>
            <a:r>
              <a:rPr sz="1275" b="0">
                <a:solidFill>
                  <a:srgbClr val="3E506E"/>
                </a:solidFill>
                <a:latin typeface="MiSans"/>
                <a:ea typeface="MiSans"/>
                <a:cs typeface="MiSans"/>
              </a:rPr>
              <a:t>：双课程 Beta 已具备进校演示条件。</a:t>
            </a:r>
            <a:endParaRPr sz="1050"/>
          </a:p>
        </p:txBody>
      </p:sp>
      <p:sp>
        <p:nvSpPr>
          <p:cNvPr id="10" name="c-icon">
            <a:extLst xmlns:a="http://schemas.openxmlformats.org/drawingml/2006/main">
              <a:ext uri="{FF2B5EF4-FFF2-40B4-BE49-F238E27FC236}">
                <a16:creationId xmlns:a16="http://schemas.microsoft.com/office/drawing/2014/main" id="{8DF30C21-2241-447E-B1A6-E9E945508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6200" y="1371600"/>
            <a:ext cx="279400" cy="279400"/>
          </a:xfrm>
          <a:custGeom xmlns:a="http://schemas.openxmlformats.org/drawingml/2006/main">
            <a:rect l="l" t="t" r="r" b="b"/>
            <a:pathLst>
              <a:path w="640" h="512">
                <a:moveTo>
                  <a:pt x="286" y="304"/>
                </a:moveTo>
                <a:cubicBezTo>
                  <a:pt x="385" y="304"/>
                  <a:pt x="464" y="384"/>
                  <a:pt x="464" y="482"/>
                </a:cubicBezTo>
                <a:cubicBezTo>
                  <a:pt x="464" y="499"/>
                  <a:pt x="451" y="512"/>
                  <a:pt x="435" y="512"/>
                </a:cubicBezTo>
                <a:lnTo>
                  <a:pt x="78" y="512"/>
                </a:lnTo>
                <a:cubicBezTo>
                  <a:pt x="62" y="512"/>
                  <a:pt x="48" y="499"/>
                  <a:pt x="48" y="482"/>
                </a:cubicBezTo>
                <a:cubicBezTo>
                  <a:pt x="48" y="384"/>
                  <a:pt x="128" y="304"/>
                  <a:pt x="227" y="304"/>
                </a:cubicBezTo>
                <a:lnTo>
                  <a:pt x="286" y="304"/>
                </a:lnTo>
                <a:close/>
              </a:path>
              <a:path w="640" h="512">
                <a:moveTo>
                  <a:pt x="586" y="106"/>
                </a:moveTo>
                <a:cubicBezTo>
                  <a:pt x="594" y="95"/>
                  <a:pt x="609" y="93"/>
                  <a:pt x="619" y="101"/>
                </a:cubicBezTo>
                <a:cubicBezTo>
                  <a:pt x="630" y="108"/>
                  <a:pt x="632" y="123"/>
                  <a:pt x="625" y="134"/>
                </a:cubicBezTo>
                <a:lnTo>
                  <a:pt x="522" y="275"/>
                </a:lnTo>
                <a:cubicBezTo>
                  <a:pt x="518" y="281"/>
                  <a:pt x="511" y="284"/>
                  <a:pt x="504" y="285"/>
                </a:cubicBezTo>
                <a:cubicBezTo>
                  <a:pt x="497" y="285"/>
                  <a:pt x="490" y="283"/>
                  <a:pt x="486" y="277"/>
                </a:cubicBezTo>
                <a:lnTo>
                  <a:pt x="439" y="229"/>
                </a:lnTo>
                <a:cubicBezTo>
                  <a:pt x="430" y="220"/>
                  <a:pt x="430" y="205"/>
                  <a:pt x="440" y="195"/>
                </a:cubicBezTo>
                <a:cubicBezTo>
                  <a:pt x="449" y="186"/>
                  <a:pt x="464" y="187"/>
                  <a:pt x="474" y="196"/>
                </a:cubicBezTo>
                <a:lnTo>
                  <a:pt x="500" y="223"/>
                </a:lnTo>
                <a:lnTo>
                  <a:pt x="586" y="106"/>
                </a:lnTo>
                <a:close/>
              </a:path>
              <a:path w="640" h="512">
                <a:moveTo>
                  <a:pt x="256" y="248"/>
                </a:moveTo>
                <a:cubicBezTo>
                  <a:pt x="190" y="248"/>
                  <a:pt x="136" y="194"/>
                  <a:pt x="136" y="128"/>
                </a:cubicBezTo>
                <a:cubicBezTo>
                  <a:pt x="136" y="62"/>
                  <a:pt x="190" y="8"/>
                  <a:pt x="256" y="8"/>
                </a:cubicBezTo>
                <a:cubicBezTo>
                  <a:pt x="323" y="8"/>
                  <a:pt x="376" y="62"/>
                  <a:pt x="376" y="128"/>
                </a:cubicBezTo>
                <a:cubicBezTo>
                  <a:pt x="376" y="194"/>
                  <a:pt x="323" y="248"/>
                  <a:pt x="256" y="248"/>
                </a:cubicBezTo>
                <a:close/>
              </a:path>
            </a:pathLst>
          </a:custGeom>
          <a:solidFill xmlns:a="http://schemas.openxmlformats.org/drawingml/2006/main">
            <a:srgbClr val="076DFC"/>
          </a:solidFill>
          <a:ln xmlns:a="http://schemas.openxmlformats.org/drawingml/2006/main">
            <a:noFill/>
          </a:ln>
        </p:spPr>
      </p:sp>
      <p:sp>
        <p:nvSpPr>
          <p:cNvPr id="11" name="c-title">
            <a:extLst xmlns:a="http://schemas.openxmlformats.org/drawingml/2006/main">
              <a:ext uri="{FF2B5EF4-FFF2-40B4-BE49-F238E27FC236}">
                <a16:creationId xmlns:a16="http://schemas.microsoft.com/office/drawing/2014/main" id="{7470296E-F2F7-443E-8B00-9394BCFB5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346200"/>
            <a:ext cx="4572000" cy="33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>
              <a:defRPr sz="1875" b="1">
                <a:solidFill>
                  <a:srgbClr val="14213D"/>
                </a:solidFill>
                <a:latin typeface="MiSans"/>
                <a:ea typeface="MiSans"/>
                <a:cs typeface="MiSans"/>
              </a:defRPr>
            </a:defPPr>
            <a:lvl1pPr>
              <a:buNone/>
              <a:defRPr sz="1875" b="1">
                <a:solidFill>
                  <a:srgbClr val="14213D"/>
                </a:solidFill>
                <a:latin typeface="MiSans"/>
                <a:ea typeface="MiSans"/>
                <a:cs typeface="MiSans"/>
              </a:defRPr>
            </a:lvl1pPr>
            <a:lvl2pPr>
              <a:buNone/>
              <a:defRPr sz="1875" b="1">
                <a:solidFill>
                  <a:srgbClr val="14213D"/>
                </a:solidFill>
                <a:latin typeface="MiSans"/>
                <a:ea typeface="MiSans"/>
                <a:cs typeface="MiSans"/>
              </a:defRPr>
            </a:lvl2pPr>
            <a:lvl3pPr>
              <a:buNone/>
              <a:defRPr sz="1875" b="1">
                <a:solidFill>
                  <a:srgbClr val="14213D"/>
                </a:solidFill>
                <a:latin typeface="MiSans"/>
                <a:ea typeface="MiSans"/>
                <a:cs typeface="MiSans"/>
              </a:defRPr>
            </a:lvl3pPr>
            <a:lvl4pPr>
              <a:buNone/>
              <a:defRPr sz="1875" b="1">
                <a:solidFill>
                  <a:srgbClr val="14213D"/>
                </a:solidFill>
                <a:latin typeface="MiSans"/>
                <a:ea typeface="MiSans"/>
                <a:cs typeface="MiSans"/>
              </a:defRPr>
            </a:lvl4pPr>
            <a:lvl5pPr>
              <a:buNone/>
              <a:defRPr sz="1875" b="1">
                <a:solidFill>
                  <a:srgbClr val="14213D"/>
                </a:solidFill>
                <a:latin typeface="MiSans"/>
                <a:ea typeface="MiSans"/>
                <a:cs typeface="MiSans"/>
              </a:defRPr>
            </a:lvl5pPr>
            <a:lvl6pPr>
              <a:buNone/>
              <a:defRPr sz="1875" b="1">
                <a:solidFill>
                  <a:srgbClr val="14213D"/>
                </a:solidFill>
                <a:latin typeface="MiSans"/>
                <a:ea typeface="MiSans"/>
                <a:cs typeface="MiSans"/>
              </a:defRPr>
            </a:lvl6pPr>
            <a:lvl7pPr>
              <a:buNone/>
              <a:defRPr sz="1875" b="1">
                <a:solidFill>
                  <a:srgbClr val="14213D"/>
                </a:solidFill>
                <a:latin typeface="MiSans"/>
                <a:ea typeface="MiSans"/>
                <a:cs typeface="MiSans"/>
              </a:defRPr>
            </a:lvl7pPr>
            <a:lvl8pPr>
              <a:buNone/>
              <a:defRPr sz="1875" b="1">
                <a:solidFill>
                  <a:srgbClr val="14213D"/>
                </a:solidFill>
                <a:latin typeface="MiSans"/>
                <a:ea typeface="MiSans"/>
                <a:cs typeface="MiSans"/>
              </a:defRPr>
            </a:lvl8pPr>
            <a:lvl9pPr>
              <a:buNone/>
              <a:defRPr sz="1875" b="1">
                <a:solidFill>
                  <a:srgbClr val="14213D"/>
                </a:solidFill>
                <a:latin typeface="MiSans"/>
                <a:ea typeface="MiSans"/>
                <a:cs typeface="MiSans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875" b="1">
                <a:solidFill>
                  <a:srgbClr val="14213D"/>
                </a:solidFill>
                <a:latin typeface="MiSans"/>
                <a:ea typeface="MiSans"/>
                <a:cs typeface="MiSans"/>
              </a:defRPr>
            </a:pPr>
            <a:r>
              <a:rPr sz="1875" b="1">
                <a:solidFill>
                  <a:srgbClr val="14213D"/>
                </a:solidFill>
                <a:latin typeface="MiSans"/>
                <a:ea typeface="MiSans"/>
                <a:cs typeface="MiSans"/>
              </a:rPr>
              <a:t>C 端 · 个人练习者</a:t>
            </a:r>
            <a:endParaRPr sz="1500"/>
          </a:p>
        </p:txBody>
      </p:sp>
      <p:sp>
        <p:nvSpPr>
          <p:cNvPr id="12" name="c-sub">
            <a:extLst xmlns:a="http://schemas.openxmlformats.org/drawingml/2006/main">
              <a:ext uri="{FF2B5EF4-FFF2-40B4-BE49-F238E27FC236}">
                <a16:creationId xmlns:a16="http://schemas.microsoft.com/office/drawing/2014/main" id="{DC97066B-275C-4C5C-A47F-3D5860145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701800"/>
            <a:ext cx="4572000" cy="20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/>
          <a:lstStyle xmlns:a="http://schemas.openxmlformats.org/drawingml/2006/main">
            <a:defPPr>
              <a:defRPr sz="1125" b="0">
                <a:solidFill>
                  <a:srgbClr val="076DFC"/>
                </a:solidFill>
                <a:latin typeface="MiSans"/>
                <a:ea typeface="MiSans"/>
                <a:cs typeface="MiSans"/>
              </a:defRPr>
            </a:defPPr>
            <a:lvl1pPr>
              <a:buNone/>
              <a:defRPr sz="1125" b="0">
                <a:solidFill>
                  <a:srgbClr val="076DFC"/>
                </a:solidFill>
                <a:latin typeface="MiSans"/>
                <a:ea typeface="MiSans"/>
                <a:cs typeface="MiSans"/>
              </a:defRPr>
            </a:lvl1pPr>
            <a:lvl2pPr>
              <a:buNone/>
              <a:defRPr sz="1125" b="0">
                <a:solidFill>
                  <a:srgbClr val="076DFC"/>
                </a:solidFill>
                <a:latin typeface="MiSans"/>
                <a:ea typeface="MiSans"/>
                <a:cs typeface="MiSans"/>
              </a:defRPr>
            </a:lvl2pPr>
            <a:lvl3pPr>
              <a:buNone/>
              <a:defRPr sz="1125" b="0">
                <a:solidFill>
                  <a:srgbClr val="076DFC"/>
                </a:solidFill>
                <a:latin typeface="MiSans"/>
                <a:ea typeface="MiSans"/>
                <a:cs typeface="MiSans"/>
              </a:defRPr>
            </a:lvl3pPr>
            <a:lvl4pPr>
              <a:buNone/>
              <a:defRPr sz="1125" b="0">
                <a:solidFill>
                  <a:srgbClr val="076DFC"/>
                </a:solidFill>
                <a:latin typeface="MiSans"/>
                <a:ea typeface="MiSans"/>
                <a:cs typeface="MiSans"/>
              </a:defRPr>
            </a:lvl4pPr>
            <a:lvl5pPr>
              <a:buNone/>
              <a:defRPr sz="1125" b="0">
                <a:solidFill>
                  <a:srgbClr val="076DFC"/>
                </a:solidFill>
                <a:latin typeface="MiSans"/>
                <a:ea typeface="MiSans"/>
                <a:cs typeface="MiSans"/>
              </a:defRPr>
            </a:lvl5pPr>
            <a:lvl6pPr>
              <a:buNone/>
              <a:defRPr sz="1125" b="0">
                <a:solidFill>
                  <a:srgbClr val="076DFC"/>
                </a:solidFill>
                <a:latin typeface="MiSans"/>
                <a:ea typeface="MiSans"/>
                <a:cs typeface="MiSans"/>
              </a:defRPr>
            </a:lvl6pPr>
            <a:lvl7pPr>
              <a:buNone/>
              <a:defRPr sz="1125" b="0">
                <a:solidFill>
                  <a:srgbClr val="076DFC"/>
                </a:solidFill>
                <a:latin typeface="MiSans"/>
                <a:ea typeface="MiSans"/>
                <a:cs typeface="MiSans"/>
              </a:defRPr>
            </a:lvl7pPr>
            <a:lvl8pPr>
              <a:buNone/>
              <a:defRPr sz="1125" b="0">
                <a:solidFill>
                  <a:srgbClr val="076DFC"/>
                </a:solidFill>
                <a:latin typeface="MiSans"/>
                <a:ea typeface="MiSans"/>
                <a:cs typeface="MiSans"/>
              </a:defRPr>
            </a:lvl8pPr>
            <a:lvl9pPr>
              <a:buNone/>
              <a:defRPr sz="1125" b="0">
                <a:solidFill>
                  <a:srgbClr val="076DFC"/>
                </a:solidFill>
                <a:latin typeface="MiSans"/>
                <a:ea typeface="MiSans"/>
                <a:cs typeface="MiSans"/>
              </a:defRPr>
            </a:lvl9pPr>
          </a:lstStyle>
          <a:p xmlns:a="http://schemas.openxmlformats.org/drawingml/2006/main">
            <a:pPr>
              <a:lnSpc>
                <a:spcPct val="120000"/>
              </a:lnSpc>
              <a:buNone/>
              <a:defRPr sz="1125" b="0">
                <a:solidFill>
                  <a:srgbClr val="076DFC"/>
                </a:solidFill>
                <a:latin typeface="MiSans"/>
                <a:ea typeface="MiSans"/>
                <a:cs typeface="MiSans"/>
              </a:defRPr>
            </a:pPr>
            <a:r>
              <a:rPr sz="1125" b="0">
                <a:solidFill>
                  <a:srgbClr val="076DFC"/>
                </a:solidFill>
                <a:latin typeface="MiSans"/>
                <a:ea typeface="MiSans"/>
                <a:cs typeface="MiSans"/>
              </a:rPr>
              <a:t>iPad App 深度练习，订阅 + 课程包内购</a:t>
            </a:r>
            <a:endParaRPr sz="1000"/>
          </a:p>
        </p:txBody>
      </p:sp>
      <p:sp>
        <p:nvSpPr>
          <p:cNvPr id="13" name="c-list">
            <a:extLst xmlns:a="http://schemas.openxmlformats.org/drawingml/2006/main">
              <a:ext uri="{FF2B5EF4-FFF2-40B4-BE49-F238E27FC236}">
                <a16:creationId xmlns:a16="http://schemas.microsoft.com/office/drawing/2014/main" id="{538F5299-1124-47D5-B65E-91CE95EDA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6200" y="2228850"/>
            <a:ext cx="5080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1275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defPPr>
            <a:lvl1pPr>
              <a:buNone/>
              <a:defRPr sz="1275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1pPr>
            <a:lvl2pPr>
              <a:buNone/>
              <a:defRPr sz="1275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2pPr>
            <a:lvl3pPr>
              <a:buNone/>
              <a:defRPr sz="1275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3pPr>
            <a:lvl4pPr>
              <a:buNone/>
              <a:defRPr sz="1275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4pPr>
            <a:lvl5pPr>
              <a:buNone/>
              <a:defRPr sz="1275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5pPr>
            <a:lvl6pPr>
              <a:buNone/>
              <a:defRPr sz="1275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6pPr>
            <a:lvl7pPr>
              <a:buNone/>
              <a:defRPr sz="1275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7pPr>
            <a:lvl8pPr>
              <a:buNone/>
              <a:defRPr sz="1275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8pPr>
            <a:lvl9pPr>
              <a:buNone/>
              <a:defRPr sz="1275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9pPr>
          </a:lstStyle>
          <a:p xmlns:a="http://schemas.openxmlformats.org/drawingml/2006/main">
            <a:pPr algn="l">
              <a:lnSpc>
                <a:spcPct val="160000"/>
              </a:lnSpc>
              <a:buNone/>
              <a:defRPr sz="1275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pPr>
            <a:r>
              <a:rPr sz="1275" b="0">
                <a:solidFill>
                  <a:srgbClr val="3E506E"/>
                </a:solidFill>
                <a:latin typeface="MiSans"/>
                <a:ea typeface="MiSans"/>
                <a:cs typeface="MiSans"/>
              </a:rPr>
              <a:t>场景</a:t>
            </a:r>
            <a:r>
              <a:rPr sz="1275" b="0">
                <a:solidFill>
                  <a:srgbClr val="3E506E"/>
                </a:solidFill>
                <a:latin typeface="MiSans"/>
                <a:ea typeface="MiSans"/>
                <a:cs typeface="MiSans"/>
              </a:rPr>
              <a:t>：书法爱好者与考级人群的日常自学、纠错、复盘。</a:t>
            </a:r>
            <a:endParaRPr sz="1050"/>
          </a:p>
          <a:p xmlns:a="http://schemas.openxmlformats.org/drawingml/2006/main">
            <a:pPr algn="l">
              <a:lnSpc>
                <a:spcPct val="160000"/>
              </a:lnSpc>
              <a:buNone/>
              <a:defRPr sz="1275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pPr>
            <a:r>
              <a:rPr sz="1275" b="0">
                <a:solidFill>
                  <a:srgbClr val="3E506E"/>
                </a:solidFill>
                <a:latin typeface="MiSans"/>
                <a:ea typeface="MiSans"/>
                <a:cs typeface="MiSans"/>
              </a:rPr>
              <a:t>产品形态</a:t>
            </a:r>
            <a:r>
              <a:rPr sz="1275" b="0">
                <a:solidFill>
                  <a:srgbClr val="3E506E"/>
                </a:solidFill>
                <a:latin typeface="MiSans"/>
                <a:ea typeface="MiSans"/>
                <a:cs typeface="MiSans"/>
              </a:rPr>
              <a:t>：专业练习订阅制，碑帖课程包持续扩充。</a:t>
            </a:r>
            <a:endParaRPr sz="1050"/>
          </a:p>
          <a:p xmlns:a="http://schemas.openxmlformats.org/drawingml/2006/main">
            <a:pPr algn="l">
              <a:lnSpc>
                <a:spcPct val="160000"/>
              </a:lnSpc>
              <a:buNone/>
              <a:defRPr sz="1275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pPr>
            <a:r>
              <a:rPr sz="1275" b="0">
                <a:solidFill>
                  <a:srgbClr val="3E506E"/>
                </a:solidFill>
                <a:latin typeface="MiSans"/>
                <a:ea typeface="MiSans"/>
                <a:cs typeface="MiSans"/>
              </a:rPr>
              <a:t>当前状态</a:t>
            </a:r>
            <a:r>
              <a:rPr sz="1275" b="0">
                <a:solidFill>
                  <a:srgbClr val="3E506E"/>
                </a:solidFill>
                <a:latin typeface="MiSans"/>
                <a:ea typeface="MiSans"/>
                <a:cs typeface="MiSans"/>
              </a:rPr>
              <a:t>：App 全流程可用，具备小范围真实用户试点条件。</a:t>
            </a:r>
            <a:endParaRPr sz="1050"/>
          </a:p>
        </p:txBody>
      </p:sp>
      <p:sp>
        <p:nvSpPr>
          <p:cNvPr id="14" name="loop-line1">
            <a:extLst xmlns:a="http://schemas.openxmlformats.org/drawingml/2006/main">
              <a:ext uri="{FF2B5EF4-FFF2-40B4-BE49-F238E27FC236}">
                <a16:creationId xmlns:a16="http://schemas.microsoft.com/office/drawing/2014/main" id="{6C9CCC7C-8BAE-495A-90CA-BF707D9B0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191000"/>
            <a:ext cx="9144000" cy="12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D7EC"/>
          </a:solidFill>
          <a:ln xmlns:a="http://schemas.openxmlformats.org/drawingml/2006/main">
            <a:noFill/>
          </a:ln>
        </p:spPr>
      </p:sp>
      <p:sp>
        <p:nvSpPr>
          <p:cNvPr id="15" name="loop-b">
            <a:extLst xmlns:a="http://schemas.openxmlformats.org/drawingml/2006/main">
              <a:ext uri="{FF2B5EF4-FFF2-40B4-BE49-F238E27FC236}">
                <a16:creationId xmlns:a16="http://schemas.microsoft.com/office/drawing/2014/main" id="{10BAC23A-3F1C-4E17-8E23-6A0B9E019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4368800"/>
            <a:ext cx="2286000" cy="25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</a:pPr>
            <a:r>
              <a:rPr sz="1150" b="1">
                <a:solidFill>
                  <a:srgbClr val="0A2A6B"/>
                </a:solidFill>
                <a:latin typeface="MiSans"/>
                <a:ea typeface="MiSans"/>
                <a:cs typeface="MiSans"/>
              </a:rPr>
              <a:t>B 端进校带来规模</a:t>
            </a:r>
            <a:endParaRPr sz="1150"/>
          </a:p>
        </p:txBody>
      </p:sp>
      <p:sp>
        <p:nvSpPr>
          <p:cNvPr id="16" name="loop-arrow1">
            <a:extLst xmlns:a="http://schemas.openxmlformats.org/drawingml/2006/main">
              <a:ext uri="{FF2B5EF4-FFF2-40B4-BE49-F238E27FC236}">
                <a16:creationId xmlns:a16="http://schemas.microsoft.com/office/drawing/2014/main" id="{38E8E9B1-2861-4EAF-BC09-132612F6D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5000" y="4394200"/>
            <a:ext cx="203200" cy="203200"/>
          </a:xfrm>
          <a:custGeom xmlns:a="http://schemas.openxmlformats.org/drawingml/2006/main">
            <a:rect l="l" t="t" r="r" b="b"/>
            <a:pathLst>
              <a:path w="576" h="512">
                <a:moveTo>
                  <a:pt x="567" y="279"/>
                </a:moveTo>
                <a:cubicBezTo>
                  <a:pt x="579" y="266"/>
                  <a:pt x="579" y="246"/>
                  <a:pt x="567" y="233"/>
                </a:cubicBezTo>
                <a:lnTo>
                  <a:pt x="439" y="105"/>
                </a:lnTo>
                <a:cubicBezTo>
                  <a:pt x="426" y="93"/>
                  <a:pt x="406" y="93"/>
                  <a:pt x="393" y="105"/>
                </a:cubicBezTo>
                <a:cubicBezTo>
                  <a:pt x="381" y="118"/>
                  <a:pt x="381" y="138"/>
                  <a:pt x="393" y="151"/>
                </a:cubicBezTo>
                <a:lnTo>
                  <a:pt x="467" y="224"/>
                </a:lnTo>
                <a:lnTo>
                  <a:pt x="32" y="224"/>
                </a:lnTo>
                <a:cubicBezTo>
                  <a:pt x="14" y="224"/>
                  <a:pt x="0" y="238"/>
                  <a:pt x="0" y="256"/>
                </a:cubicBezTo>
                <a:cubicBezTo>
                  <a:pt x="0" y="274"/>
                  <a:pt x="14" y="288"/>
                  <a:pt x="32" y="288"/>
                </a:cubicBezTo>
                <a:lnTo>
                  <a:pt x="467" y="288"/>
                </a:lnTo>
                <a:lnTo>
                  <a:pt x="393" y="361"/>
                </a:lnTo>
                <a:cubicBezTo>
                  <a:pt x="381" y="374"/>
                  <a:pt x="381" y="394"/>
                  <a:pt x="393" y="407"/>
                </a:cubicBezTo>
                <a:cubicBezTo>
                  <a:pt x="406" y="419"/>
                  <a:pt x="426" y="419"/>
                  <a:pt x="439" y="407"/>
                </a:cubicBezTo>
                <a:lnTo>
                  <a:pt x="567" y="279"/>
                </a:lnTo>
                <a:close/>
              </a:path>
            </a:pathLst>
          </a:custGeom>
          <a:solidFill xmlns:a="http://schemas.openxmlformats.org/drawingml/2006/main">
            <a:srgbClr val="8B98B5"/>
          </a:solidFill>
          <a:ln xmlns:a="http://schemas.openxmlformats.org/drawingml/2006/main">
            <a:noFill/>
          </a:ln>
        </p:spPr>
      </p:sp>
      <p:sp>
        <p:nvSpPr>
          <p:cNvPr id="17" name="loop-mid">
            <a:extLst xmlns:a="http://schemas.openxmlformats.org/drawingml/2006/main">
              <a:ext uri="{FF2B5EF4-FFF2-40B4-BE49-F238E27FC236}">
                <a16:creationId xmlns:a16="http://schemas.microsoft.com/office/drawing/2014/main" id="{1B40335E-8B0E-49D2-803B-309C811C9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2200" y="4368800"/>
            <a:ext cx="2413000" cy="25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</a:pPr>
            <a:r>
              <a:rPr sz="1150" b="1">
                <a:solidFill>
                  <a:srgbClr val="0A2A6B"/>
                </a:solidFill>
                <a:latin typeface="MiSans"/>
                <a:ea typeface="MiSans"/>
                <a:cs typeface="MiSans"/>
              </a:rPr>
              <a:t>数据与口碑沉淀</a:t>
            </a:r>
            <a:endParaRPr sz="1150"/>
          </a:p>
        </p:txBody>
      </p:sp>
      <p:sp>
        <p:nvSpPr>
          <p:cNvPr id="18" name="loop-arrow2">
            <a:extLst xmlns:a="http://schemas.openxmlformats.org/drawingml/2006/main">
              <a:ext uri="{FF2B5EF4-FFF2-40B4-BE49-F238E27FC236}">
                <a16:creationId xmlns:a16="http://schemas.microsoft.com/office/drawing/2014/main" id="{D5178CF2-B23A-49A4-B31B-F48630509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9200" y="4394200"/>
            <a:ext cx="203200" cy="203200"/>
          </a:xfrm>
          <a:custGeom xmlns:a="http://schemas.openxmlformats.org/drawingml/2006/main">
            <a:rect l="l" t="t" r="r" b="b"/>
            <a:pathLst>
              <a:path w="576" h="512">
                <a:moveTo>
                  <a:pt x="567" y="279"/>
                </a:moveTo>
                <a:cubicBezTo>
                  <a:pt x="579" y="266"/>
                  <a:pt x="579" y="246"/>
                  <a:pt x="567" y="233"/>
                </a:cubicBezTo>
                <a:lnTo>
                  <a:pt x="439" y="105"/>
                </a:lnTo>
                <a:cubicBezTo>
                  <a:pt x="426" y="93"/>
                  <a:pt x="406" y="93"/>
                  <a:pt x="393" y="105"/>
                </a:cubicBezTo>
                <a:cubicBezTo>
                  <a:pt x="381" y="118"/>
                  <a:pt x="381" y="138"/>
                  <a:pt x="393" y="151"/>
                </a:cubicBezTo>
                <a:lnTo>
                  <a:pt x="467" y="224"/>
                </a:lnTo>
                <a:lnTo>
                  <a:pt x="32" y="224"/>
                </a:lnTo>
                <a:cubicBezTo>
                  <a:pt x="14" y="224"/>
                  <a:pt x="0" y="238"/>
                  <a:pt x="0" y="256"/>
                </a:cubicBezTo>
                <a:cubicBezTo>
                  <a:pt x="0" y="274"/>
                  <a:pt x="14" y="288"/>
                  <a:pt x="32" y="288"/>
                </a:cubicBezTo>
                <a:lnTo>
                  <a:pt x="467" y="288"/>
                </a:lnTo>
                <a:lnTo>
                  <a:pt x="393" y="361"/>
                </a:lnTo>
                <a:cubicBezTo>
                  <a:pt x="381" y="374"/>
                  <a:pt x="381" y="394"/>
                  <a:pt x="393" y="407"/>
                </a:cubicBezTo>
                <a:cubicBezTo>
                  <a:pt x="406" y="419"/>
                  <a:pt x="426" y="419"/>
                  <a:pt x="439" y="407"/>
                </a:cubicBezTo>
                <a:lnTo>
                  <a:pt x="567" y="279"/>
                </a:lnTo>
                <a:close/>
              </a:path>
            </a:pathLst>
          </a:custGeom>
          <a:solidFill xmlns:a="http://schemas.openxmlformats.org/drawingml/2006/main">
            <a:srgbClr val="8B98B5"/>
          </a:solidFill>
          <a:ln xmlns:a="http://schemas.openxmlformats.org/drawingml/2006/main">
            <a:noFill/>
          </a:ln>
        </p:spPr>
      </p:sp>
      <p:sp>
        <p:nvSpPr>
          <p:cNvPr id="19" name="loop-c">
            <a:extLst xmlns:a="http://schemas.openxmlformats.org/drawingml/2006/main">
              <a:ext uri="{FF2B5EF4-FFF2-40B4-BE49-F238E27FC236}">
                <a16:creationId xmlns:a16="http://schemas.microsoft.com/office/drawing/2014/main" id="{07412FD5-CC75-4EC7-A5C0-0F750B67A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4368800"/>
            <a:ext cx="2286000" cy="25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</a:pPr>
            <a:r>
              <a:rPr sz="1150" b="1">
                <a:solidFill>
                  <a:srgbClr val="0A2A6B"/>
                </a:solidFill>
                <a:latin typeface="MiSans"/>
                <a:ea typeface="MiSans"/>
                <a:cs typeface="MiSans"/>
              </a:rPr>
              <a:t>C 端订阅反哺产品</a:t>
            </a:r>
            <a:endParaRPr sz="1150"/>
          </a:p>
        </p:txBody>
      </p:sp>
      <p:sp>
        <p:nvSpPr>
          <p:cNvPr id="20" name="comp-kicker">
            <a:extLst xmlns:a="http://schemas.openxmlformats.org/drawingml/2006/main">
              <a:ext uri="{FF2B5EF4-FFF2-40B4-BE49-F238E27FC236}">
                <a16:creationId xmlns:a16="http://schemas.microsoft.com/office/drawing/2014/main" id="{509DC211-D9C1-42AD-ACE6-2472CABE9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29200"/>
            <a:ext cx="3810000" cy="20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</a:pPr>
            <a:r>
              <a:rPr sz="1050" b="1" spc="200">
                <a:solidFill>
                  <a:srgbClr val="076DFC"/>
                </a:solidFill>
                <a:latin typeface="MiSans"/>
                <a:ea typeface="MiSans"/>
                <a:cs typeface="MiSans"/>
              </a:rPr>
              <a:t>中期商业进展与合规底线</a:t>
            </a:r>
            <a:endParaRPr sz="1050"/>
          </a:p>
        </p:txBody>
      </p:sp>
      <p:sp>
        <p:nvSpPr>
          <p:cNvPr id="21" name="comp-list">
            <a:extLst xmlns:a="http://schemas.openxmlformats.org/drawingml/2006/main">
              <a:ext uri="{FF2B5EF4-FFF2-40B4-BE49-F238E27FC236}">
                <a16:creationId xmlns:a16="http://schemas.microsoft.com/office/drawing/2014/main" id="{22D78D17-C913-4ABF-B8A3-7D6326902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0860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1125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defPPr>
            <a:lvl1pPr>
              <a:buNone/>
              <a:defRPr sz="1125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1pPr>
            <a:lvl2pPr>
              <a:buNone/>
              <a:defRPr sz="1125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2pPr>
            <a:lvl3pPr>
              <a:buNone/>
              <a:defRPr sz="1125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3pPr>
            <a:lvl4pPr>
              <a:buNone/>
              <a:defRPr sz="1125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4pPr>
            <a:lvl5pPr>
              <a:buNone/>
              <a:defRPr sz="1125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5pPr>
            <a:lvl6pPr>
              <a:buNone/>
              <a:defRPr sz="1125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6pPr>
            <a:lvl7pPr>
              <a:buNone/>
              <a:defRPr sz="1125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7pPr>
            <a:lvl8pPr>
              <a:buNone/>
              <a:defRPr sz="1125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8pPr>
            <a:lvl9pPr>
              <a:buNone/>
              <a:defRPr sz="1125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9pPr>
          </a:lstStyle>
          <a:p xmlns:a="http://schemas.openxmlformats.org/drawingml/2006/main">
            <a:pPr algn="l">
              <a:lnSpc>
                <a:spcPct val="160000"/>
              </a:lnSpc>
              <a:buNone/>
              <a:defRPr sz="1125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pPr>
            <a:r>
              <a:rPr sz="1125" b="0">
                <a:solidFill>
                  <a:srgbClr val="3E506E"/>
                </a:solidFill>
                <a:latin typeface="MiSans"/>
                <a:ea typeface="MiSans"/>
                <a:cs typeface="MiSans"/>
              </a:rPr>
              <a:t>双端产品均达到可演示状态，两门 Beta 课程上线；字帖参考库采用 </a:t>
            </a:r>
            <a:r>
              <a:rPr sz="1125" b="0">
                <a:solidFill>
                  <a:srgbClr val="3E506E"/>
                </a:solidFill>
                <a:latin typeface="MiSans"/>
                <a:ea typeface="MiSans"/>
                <a:cs typeface="MiSans"/>
              </a:rPr>
              <a:t>CC-BY-NC-4.0</a:t>
            </a:r>
            <a:r>
              <a:rPr sz="1125" b="0">
                <a:solidFill>
                  <a:srgbClr val="3E506E"/>
                </a:solidFill>
                <a:latin typeface="MiSans"/>
                <a:ea typeface="MiSans"/>
                <a:cs typeface="MiSans"/>
              </a:rPr>
              <a:t> 授权数据集，并在产品内明确标注来源与 Beta 身份。</a:t>
            </a:r>
            <a:endParaRPr sz="1050"/>
          </a:p>
          <a:p xmlns:a="http://schemas.openxmlformats.org/drawingml/2006/main">
            <a:pPr algn="l">
              <a:lnSpc>
                <a:spcPct val="160000"/>
              </a:lnSpc>
              <a:buNone/>
              <a:defRPr sz="1125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pPr>
            <a:r>
              <a:rPr sz="1125" b="0">
                <a:solidFill>
                  <a:srgbClr val="3E506E"/>
                </a:solidFill>
                <a:latin typeface="MiSans"/>
                <a:ea typeface="MiSans"/>
                <a:cs typeface="MiSans"/>
              </a:rPr>
              <a:t>下一阶段重点：推进试点学校洽谈与小范围真实用户试点，用留存与付费意愿数据验证商业假设。</a:t>
            </a:r>
            <a:endParaRPr sz="1050"/>
          </a:p>
        </p:txBody>
      </p:sp>
      <p:sp>
        <p:nvSpPr>
          <p:cNvPr id="22" name="ft-line">
            <a:extLst xmlns:a="http://schemas.openxmlformats.org/drawingml/2006/main">
              <a:ext uri="{FF2B5EF4-FFF2-40B4-BE49-F238E27FC236}">
                <a16:creationId xmlns:a16="http://schemas.microsoft.com/office/drawing/2014/main" id="{3F944BE7-4F56-42DA-9EF8-EC473DD70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2400"/>
            <a:ext cx="10972800" cy="12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3" name="ft-left">
            <a:extLst xmlns:a="http://schemas.openxmlformats.org/drawingml/2006/main">
              <a:ext uri="{FF2B5EF4-FFF2-40B4-BE49-F238E27FC236}">
                <a16:creationId xmlns:a16="http://schemas.microsoft.com/office/drawing/2014/main" id="{3280446A-44D4-4DD3-ACB9-D2337FC08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8600"/>
            <a:ext cx="3048000" cy="17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/>
          <a:lstStyle xmlns:a="http://schemas.openxmlformats.org/drawingml/2006/main">
            <a:defPPr>
              <a:defRPr sz="863" b="0">
                <a:solidFill>
                  <a:srgbClr val="D8E8FF"/>
                </a:solidFill>
                <a:latin typeface="MiSans"/>
                <a:ea typeface="MiSans"/>
                <a:cs typeface="MiSans"/>
              </a:defRPr>
            </a:defPPr>
            <a:lvl1pPr>
              <a:buNone/>
              <a:defRPr sz="863" b="0">
                <a:solidFill>
                  <a:srgbClr val="7A8CA7"/>
                </a:solidFill>
                <a:latin typeface="MiSans"/>
                <a:ea typeface="MiSans"/>
                <a:cs typeface="MiSans"/>
              </a:defRPr>
            </a:lvl1pPr>
            <a:lvl2pPr>
              <a:buNone/>
              <a:defRPr sz="863" b="0">
                <a:solidFill>
                  <a:srgbClr val="7A8CA7"/>
                </a:solidFill>
                <a:latin typeface="MiSans"/>
                <a:ea typeface="MiSans"/>
                <a:cs typeface="MiSans"/>
              </a:defRPr>
            </a:lvl2pPr>
            <a:lvl3pPr>
              <a:buNone/>
              <a:defRPr sz="863" b="0">
                <a:solidFill>
                  <a:srgbClr val="7A8CA7"/>
                </a:solidFill>
                <a:latin typeface="MiSans"/>
                <a:ea typeface="MiSans"/>
                <a:cs typeface="MiSans"/>
              </a:defRPr>
            </a:lvl3pPr>
            <a:lvl4pPr>
              <a:buNone/>
              <a:defRPr sz="863" b="0">
                <a:solidFill>
                  <a:srgbClr val="7A8CA7"/>
                </a:solidFill>
                <a:latin typeface="MiSans"/>
                <a:ea typeface="MiSans"/>
                <a:cs typeface="MiSans"/>
              </a:defRPr>
            </a:lvl4pPr>
            <a:lvl5pPr>
              <a:buNone/>
              <a:defRPr sz="863" b="0">
                <a:solidFill>
                  <a:srgbClr val="7A8CA7"/>
                </a:solidFill>
                <a:latin typeface="MiSans"/>
                <a:ea typeface="MiSans"/>
                <a:cs typeface="MiSans"/>
              </a:defRPr>
            </a:lvl5pPr>
            <a:lvl6pPr>
              <a:buNone/>
              <a:defRPr sz="863" b="0">
                <a:solidFill>
                  <a:srgbClr val="7A8CA7"/>
                </a:solidFill>
                <a:latin typeface="MiSans"/>
                <a:ea typeface="MiSans"/>
                <a:cs typeface="MiSans"/>
              </a:defRPr>
            </a:lvl6pPr>
            <a:lvl7pPr>
              <a:buNone/>
              <a:defRPr sz="863" b="0">
                <a:solidFill>
                  <a:srgbClr val="7A8CA7"/>
                </a:solidFill>
                <a:latin typeface="MiSans"/>
                <a:ea typeface="MiSans"/>
                <a:cs typeface="MiSans"/>
              </a:defRPr>
            </a:lvl7pPr>
            <a:lvl8pPr>
              <a:buNone/>
              <a:defRPr sz="863" b="0">
                <a:solidFill>
                  <a:srgbClr val="7A8CA7"/>
                </a:solidFill>
                <a:latin typeface="MiSans"/>
                <a:ea typeface="MiSans"/>
                <a:cs typeface="MiSans"/>
              </a:defRPr>
            </a:lvl8pPr>
            <a:lvl9pPr>
              <a:buNone/>
              <a:defRPr sz="863" b="0">
                <a:solidFill>
                  <a:srgbClr val="7A8CA7"/>
                </a:solidFill>
                <a:latin typeface="MiSans"/>
                <a:ea typeface="MiSans"/>
                <a:cs typeface="MiSans"/>
              </a:defRPr>
            </a:lvl9pPr>
          </a:lstStyle>
          <a:p xmlns:a="http://schemas.openxmlformats.org/drawingml/2006/main">
            <a:pPr>
              <a:lnSpc>
                <a:spcPct val="120000"/>
              </a:lnSpc>
              <a:buNone/>
              <a:defRPr sz="863" b="0">
                <a:solidFill>
                  <a:srgbClr val="D8E8FF"/>
                </a:solidFill>
                <a:latin typeface="MiSans"/>
                <a:ea typeface="MiSans"/>
                <a:cs typeface="MiSans"/>
              </a:defRPr>
            </a:pPr>
            <a:r>
              <a:rPr sz="863" b="0">
                <a:solidFill>
                  <a:srgbClr val="D8E8FF"/>
                </a:solidFill>
                <a:latin typeface="MiSans"/>
                <a:ea typeface="MiSans"/>
                <a:cs typeface="MiSans"/>
              </a:rPr>
              <a:t>一笔成章 · 2026 中期汇报</a:t>
            </a:r>
            <a:endParaRPr sz="900"/>
          </a:p>
        </p:txBody>
      </p:sp>
      <p:sp>
        <p:nvSpPr>
          <p:cNvPr id="24" name="ft-page">
            <a:extLst xmlns:a="http://schemas.openxmlformats.org/drawingml/2006/main">
              <a:ext uri="{FF2B5EF4-FFF2-40B4-BE49-F238E27FC236}">
                <a16:creationId xmlns:a16="http://schemas.microsoft.com/office/drawing/2014/main" id="{8B9B0B2B-8F31-4609-93E2-D8630C1E8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6578600"/>
            <a:ext cx="914400" cy="17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>
            <a:defPPr>
              <a:defRPr sz="863" b="0">
                <a:solidFill>
                  <a:srgbClr val="D8E8FF"/>
                </a:solidFill>
                <a:latin typeface="MiSans"/>
                <a:ea typeface="MiSans"/>
                <a:cs typeface="MiSans"/>
              </a:defRPr>
            </a:defPPr>
            <a:lvl1pPr>
              <a:buNone/>
              <a:defRPr sz="863" b="0">
                <a:solidFill>
                  <a:srgbClr val="7A8CA7"/>
                </a:solidFill>
                <a:latin typeface="MiSans"/>
                <a:ea typeface="MiSans"/>
                <a:cs typeface="MiSans"/>
              </a:defRPr>
            </a:lvl1pPr>
            <a:lvl2pPr>
              <a:buNone/>
              <a:defRPr sz="863" b="0">
                <a:solidFill>
                  <a:srgbClr val="7A8CA7"/>
                </a:solidFill>
                <a:latin typeface="MiSans"/>
                <a:ea typeface="MiSans"/>
                <a:cs typeface="MiSans"/>
              </a:defRPr>
            </a:lvl2pPr>
            <a:lvl3pPr>
              <a:buNone/>
              <a:defRPr sz="863" b="0">
                <a:solidFill>
                  <a:srgbClr val="7A8CA7"/>
                </a:solidFill>
                <a:latin typeface="MiSans"/>
                <a:ea typeface="MiSans"/>
                <a:cs typeface="MiSans"/>
              </a:defRPr>
            </a:lvl3pPr>
            <a:lvl4pPr>
              <a:buNone/>
              <a:defRPr sz="863" b="0">
                <a:solidFill>
                  <a:srgbClr val="7A8CA7"/>
                </a:solidFill>
                <a:latin typeface="MiSans"/>
                <a:ea typeface="MiSans"/>
                <a:cs typeface="MiSans"/>
              </a:defRPr>
            </a:lvl4pPr>
            <a:lvl5pPr>
              <a:buNone/>
              <a:defRPr sz="863" b="0">
                <a:solidFill>
                  <a:srgbClr val="7A8CA7"/>
                </a:solidFill>
                <a:latin typeface="MiSans"/>
                <a:ea typeface="MiSans"/>
                <a:cs typeface="MiSans"/>
              </a:defRPr>
            </a:lvl5pPr>
            <a:lvl6pPr>
              <a:buNone/>
              <a:defRPr sz="863" b="0">
                <a:solidFill>
                  <a:srgbClr val="7A8CA7"/>
                </a:solidFill>
                <a:latin typeface="MiSans"/>
                <a:ea typeface="MiSans"/>
                <a:cs typeface="MiSans"/>
              </a:defRPr>
            </a:lvl6pPr>
            <a:lvl7pPr>
              <a:buNone/>
              <a:defRPr sz="863" b="0">
                <a:solidFill>
                  <a:srgbClr val="7A8CA7"/>
                </a:solidFill>
                <a:latin typeface="MiSans"/>
                <a:ea typeface="MiSans"/>
                <a:cs typeface="MiSans"/>
              </a:defRPr>
            </a:lvl7pPr>
            <a:lvl8pPr>
              <a:buNone/>
              <a:defRPr sz="863" b="0">
                <a:solidFill>
                  <a:srgbClr val="7A8CA7"/>
                </a:solidFill>
                <a:latin typeface="MiSans"/>
                <a:ea typeface="MiSans"/>
                <a:cs typeface="MiSans"/>
              </a:defRPr>
            </a:lvl8pPr>
            <a:lvl9pPr>
              <a:buNone/>
              <a:defRPr sz="863" b="0">
                <a:solidFill>
                  <a:srgbClr val="7A8CA7"/>
                </a:solidFill>
                <a:latin typeface="MiSans"/>
                <a:ea typeface="MiSans"/>
                <a:cs typeface="MiSans"/>
              </a:defRPr>
            </a:lvl9pPr>
          </a:lstStyle>
          <a:p xmlns:a="http://schemas.openxmlformats.org/drawingml/2006/main">
            <a:pPr algn="r">
              <a:lnSpc>
                <a:spcPct val="120000"/>
              </a:lnSpc>
              <a:buNone/>
              <a:defRPr sz="863" b="0">
                <a:solidFill>
                  <a:srgbClr val="D8E8FF"/>
                </a:solidFill>
                <a:latin typeface="MiSans"/>
                <a:ea typeface="MiSans"/>
                <a:cs typeface="MiSans"/>
              </a:defRPr>
            </a:pPr>
            <a:r>
              <a:rPr sz="863" b="0">
                <a:solidFill>
                  <a:srgbClr val="D8E8FF"/>
                </a:solidFill>
                <a:latin typeface="MiSans"/>
                <a:ea typeface="MiSans"/>
                <a:cs typeface="MiSans"/>
              </a:rPr>
              <a:t>11 / 13</a:t>
            </a:r>
            <a:endParaRPr sz="900"/>
          </a:p>
        </p:txBody>
      </p:sp>
    </p:spTree>
    <p:extLst>
      <p:ext uri="{BB962C8B-B14F-4D97-AF65-F5344CB8AC3E}">
        <p14:creationId xmlns:p14="http://schemas.microsoft.com/office/powerpoint/2010/main" val="1404338449"/>
      </p:ext>
    </p:extLst>
  </p:cSld>
</p:sld>
</file>

<file path=ppt/slides/slide12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E7EFFB"/>
            </a:gs>
            <a:gs pos="48000">
              <a:srgbClr val="F1F5FC"/>
            </a:gs>
            <a:gs pos="100000">
              <a:srgbClr val="E9F2FF"/>
            </a:gs>
          </a:gsLst>
          <a:lin ang="168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21EA0E1-B895-4F72-9022-348E9FD9038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bbce22d94af49f0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31" name="reference-cover-triangle">
            <a:extLst xmlns:a="http://schemas.openxmlformats.org/drawingml/2006/main">
              <a:ext uri="{FF2B5EF4-FFF2-40B4-BE49-F238E27FC236}">
                <a16:creationId xmlns:a16="http://schemas.microsoft.com/office/drawing/2014/main" id="{C09AB64D-5C5C-45C1-B268-8E65CC14C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0" y="5905500"/>
            <a:ext cx="533400" cy="381000"/>
          </a:xfrm>
          <a:prstGeom xmlns:a="http://schemas.openxmlformats.org/drawingml/2006/main" prst="triangl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0" name="reference-cover-ring">
            <a:extLst xmlns:a="http://schemas.openxmlformats.org/drawingml/2006/main">
              <a:ext uri="{FF2B5EF4-FFF2-40B4-BE49-F238E27FC236}">
                <a16:creationId xmlns:a16="http://schemas.microsoft.com/office/drawing/2014/main" id="{3751F49C-D8A2-4680-9C97-50B1D8A36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95250"/>
            <a:ext cx="1181100" cy="11811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" name="hd-bar">
            <a:extLst xmlns:a="http://schemas.openxmlformats.org/drawingml/2006/main">
              <a:ext uri="{FF2B5EF4-FFF2-40B4-BE49-F238E27FC236}">
                <a16:creationId xmlns:a16="http://schemas.microsoft.com/office/drawing/2014/main" id="{EF381A31-9DF9-46E2-A413-6DC67396D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8000"/>
            <a:ext cx="76200" cy="3048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" name="hd-title">
            <a:extLst xmlns:a="http://schemas.openxmlformats.org/drawingml/2006/main">
              <a:ext uri="{FF2B5EF4-FFF2-40B4-BE49-F238E27FC236}">
                <a16:creationId xmlns:a16="http://schemas.microsoft.com/office/drawing/2014/main" id="{49687A8D-519E-4819-85F8-A5D378DFC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19100"/>
            <a:ext cx="101346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>
              <a:defRPr sz="2200" b="1">
                <a:solidFill>
                  <a:srgbClr val="FFFFFF"/>
                </a:solidFill>
              </a:defRPr>
            </a:defPPr>
            <a:lvl1pPr>
              <a:defRPr sz="2200" b="1">
                <a:solidFill>
                  <a:srgbClr val="FFFFFF"/>
                </a:solidFill>
              </a:defRPr>
            </a:lvl1pPr>
            <a:lvl2pPr>
              <a:defRPr sz="2200" b="1">
                <a:solidFill>
                  <a:srgbClr val="FFFFFF"/>
                </a:solidFill>
              </a:defRPr>
            </a:lvl2pPr>
            <a:lvl3pPr>
              <a:defRPr sz="2200" b="1">
                <a:solidFill>
                  <a:srgbClr val="FFFFFF"/>
                </a:solidFill>
              </a:defRPr>
            </a:lvl3pPr>
            <a:lvl4pPr>
              <a:defRPr sz="2200" b="1">
                <a:solidFill>
                  <a:srgbClr val="FFFFFF"/>
                </a:solidFill>
              </a:defRPr>
            </a:lvl4pPr>
            <a:lvl5pPr>
              <a:defRPr sz="2200" b="1">
                <a:solidFill>
                  <a:srgbClr val="FFFFFF"/>
                </a:solidFill>
              </a:defRPr>
            </a:lvl5pPr>
            <a:lvl6pPr>
              <a:defRPr sz="2200" b="1">
                <a:solidFill>
                  <a:srgbClr val="FFFFFF"/>
                </a:solidFill>
              </a:defRPr>
            </a:lvl6pPr>
            <a:lvl7pPr>
              <a:defRPr sz="2200" b="1">
                <a:solidFill>
                  <a:srgbClr val="FFFFFF"/>
                </a:solidFill>
              </a:defRPr>
            </a:lvl7pPr>
            <a:lvl8pPr>
              <a:defRPr sz="2200" b="1">
                <a:solidFill>
                  <a:srgbClr val="FFFFFF"/>
                </a:solidFill>
              </a:defRPr>
            </a:lvl8pPr>
            <a:lvl9pPr>
              <a:defRPr sz="220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2200" b="1">
                <a:solidFill>
                  <a:srgbClr val="FFFFFF"/>
                </a:solidFill>
              </a:defRPr>
            </a:pPr>
            <a:r>
              <a:rPr sz="2200" b="1">
                <a:solidFill>
                  <a:srgbClr val="FFFFFF"/>
                </a:solidFill>
                <a:latin typeface="MiSans"/>
                <a:ea typeface="MiSans"/>
                <a:cs typeface="MiSans"/>
              </a:rPr>
              <a:t>下一步计划：向结题与试点冲刺</a:t>
            </a:r>
            <a:endParaRPr sz="2200"/>
          </a:p>
        </p:txBody>
      </p:sp>
      <p:sp>
        <p:nvSpPr>
          <p:cNvPr id="4" name="hd-tag">
            <a:extLst xmlns:a="http://schemas.openxmlformats.org/drawingml/2006/main">
              <a:ext uri="{FF2B5EF4-FFF2-40B4-BE49-F238E27FC236}">
                <a16:creationId xmlns:a16="http://schemas.microsoft.com/office/drawing/2014/main" id="{F9B18612-75DE-4E90-BB84-678752966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180975"/>
            <a:ext cx="762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900" b="0">
                <a:solidFill>
                  <a:srgbClr val="CBE1FF"/>
                </a:solidFill>
                <a:latin typeface="MiSans"/>
                <a:ea typeface="MiSans"/>
                <a:cs typeface="MiSans"/>
              </a:defRPr>
            </a:defPPr>
            <a:lvl1pPr algn="l">
              <a:buNone/>
              <a:defRPr sz="975" b="0">
                <a:solidFill>
                  <a:srgbClr val="076DFC"/>
                </a:solidFill>
                <a:latin typeface="MiSans"/>
                <a:ea typeface="MiSans"/>
                <a:cs typeface="MiSans"/>
              </a:defRPr>
            </a:lvl1pPr>
            <a:lvl2pPr algn="l">
              <a:buNone/>
              <a:defRPr sz="975" b="0">
                <a:solidFill>
                  <a:srgbClr val="076DFC"/>
                </a:solidFill>
                <a:latin typeface="MiSans"/>
                <a:ea typeface="MiSans"/>
                <a:cs typeface="MiSans"/>
              </a:defRPr>
            </a:lvl2pPr>
            <a:lvl3pPr algn="l">
              <a:buNone/>
              <a:defRPr sz="975" b="0">
                <a:solidFill>
                  <a:srgbClr val="076DFC"/>
                </a:solidFill>
                <a:latin typeface="MiSans"/>
                <a:ea typeface="MiSans"/>
                <a:cs typeface="MiSans"/>
              </a:defRPr>
            </a:lvl3pPr>
            <a:lvl4pPr algn="l">
              <a:buNone/>
              <a:defRPr sz="975" b="0">
                <a:solidFill>
                  <a:srgbClr val="076DFC"/>
                </a:solidFill>
                <a:latin typeface="MiSans"/>
                <a:ea typeface="MiSans"/>
                <a:cs typeface="MiSans"/>
              </a:defRPr>
            </a:lvl4pPr>
            <a:lvl5pPr algn="l">
              <a:buNone/>
              <a:defRPr sz="975" b="0">
                <a:solidFill>
                  <a:srgbClr val="076DFC"/>
                </a:solidFill>
                <a:latin typeface="MiSans"/>
                <a:ea typeface="MiSans"/>
                <a:cs typeface="MiSans"/>
              </a:defRPr>
            </a:lvl5pPr>
            <a:lvl6pPr algn="l">
              <a:buNone/>
              <a:defRPr sz="975" b="0">
                <a:solidFill>
                  <a:srgbClr val="076DFC"/>
                </a:solidFill>
                <a:latin typeface="MiSans"/>
                <a:ea typeface="MiSans"/>
                <a:cs typeface="MiSans"/>
              </a:defRPr>
            </a:lvl6pPr>
            <a:lvl7pPr algn="l">
              <a:buNone/>
              <a:defRPr sz="975" b="0">
                <a:solidFill>
                  <a:srgbClr val="076DFC"/>
                </a:solidFill>
                <a:latin typeface="MiSans"/>
                <a:ea typeface="MiSans"/>
                <a:cs typeface="MiSans"/>
              </a:defRPr>
            </a:lvl7pPr>
            <a:lvl8pPr algn="l">
              <a:buNone/>
              <a:defRPr sz="975" b="0">
                <a:solidFill>
                  <a:srgbClr val="076DFC"/>
                </a:solidFill>
                <a:latin typeface="MiSans"/>
                <a:ea typeface="MiSans"/>
                <a:cs typeface="MiSans"/>
              </a:defRPr>
            </a:lvl8pPr>
            <a:lvl9pPr algn="l">
              <a:buNone/>
              <a:defRPr sz="975" b="0">
                <a:solidFill>
                  <a:srgbClr val="076DFC"/>
                </a:solidFill>
                <a:latin typeface="MiSans"/>
                <a:ea typeface="MiSans"/>
                <a:cs typeface="MiSans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900" b="0">
                <a:solidFill>
                  <a:srgbClr val="CBE1FF"/>
                </a:solidFill>
                <a:latin typeface="MiSans"/>
                <a:ea typeface="MiSans"/>
                <a:cs typeface="MiSans"/>
              </a:defRPr>
            </a:pPr>
            <a:r>
              <a:rPr sz="900" b="0">
                <a:solidFill>
                  <a:srgbClr val="CBE1FF"/>
                </a:solidFill>
                <a:latin typeface="MiSans"/>
                <a:ea typeface="MiSans"/>
                <a:cs typeface="MiSans"/>
              </a:rPr>
              <a:t>05 · 问题与计划</a:t>
            </a:r>
            <a:endParaRPr sz="1000"/>
          </a:p>
        </p:txBody>
      </p:sp>
      <p:sp>
        <p:nvSpPr>
          <p:cNvPr id="5" name="hd-line">
            <a:extLst xmlns:a="http://schemas.openxmlformats.org/drawingml/2006/main">
              <a:ext uri="{FF2B5EF4-FFF2-40B4-BE49-F238E27FC236}">
                <a16:creationId xmlns:a16="http://schemas.microsoft.com/office/drawing/2014/main" id="{CC1FC12B-E667-48CC-95AF-79E23D86C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90600"/>
            <a:ext cx="742950" cy="28575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6" name="tl-line">
            <a:extLst xmlns:a="http://schemas.openxmlformats.org/drawingml/2006/main">
              <a:ext uri="{FF2B5EF4-FFF2-40B4-BE49-F238E27FC236}">
                <a16:creationId xmlns:a16="http://schemas.microsoft.com/office/drawing/2014/main" id="{10CE9913-5244-404D-A5E5-588F1B507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89200"/>
            <a:ext cx="10363200" cy="25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CE3F2"/>
          </a:solidFill>
          <a:ln xmlns:a="http://schemas.openxmlformats.org/drawingml/2006/main">
            <a:noFill/>
          </a:ln>
        </p:spPr>
      </p:sp>
      <p:sp>
        <p:nvSpPr>
          <p:cNvPr id="7" name="tl-dot1">
            <a:extLst xmlns:a="http://schemas.openxmlformats.org/drawingml/2006/main">
              <a:ext uri="{FF2B5EF4-FFF2-40B4-BE49-F238E27FC236}">
                <a16:creationId xmlns:a16="http://schemas.microsoft.com/office/drawing/2014/main" id="{1DC9460A-140F-4CE3-8718-3DF52B679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600" y="2400300"/>
            <a:ext cx="203200" cy="203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6DFC"/>
          </a:solidFill>
          <a:ln xmlns:a="http://schemas.openxmlformats.org/drawingml/2006/main">
            <a:noFill/>
          </a:ln>
        </p:spPr>
      </p:sp>
      <p:sp>
        <p:nvSpPr>
          <p:cNvPr id="8" name="tl-date1">
            <a:extLst xmlns:a="http://schemas.openxmlformats.org/drawingml/2006/main">
              <a:ext uri="{FF2B5EF4-FFF2-40B4-BE49-F238E27FC236}">
                <a16:creationId xmlns:a16="http://schemas.microsoft.com/office/drawing/2014/main" id="{C70ED22C-45DC-477F-8878-06AE1DD70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" y="1803400"/>
            <a:ext cx="2413000" cy="25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>
              <a:defRPr sz="1275" b="1">
                <a:solidFill>
                  <a:srgbClr val="076DFC"/>
                </a:solidFill>
                <a:latin typeface="MiSans"/>
                <a:ea typeface="MiSans"/>
                <a:cs typeface="MiSans"/>
              </a:defRPr>
            </a:defPPr>
            <a:lvl1pPr>
              <a:buNone/>
              <a:defRPr sz="1275" b="1">
                <a:solidFill>
                  <a:srgbClr val="076DFC"/>
                </a:solidFill>
                <a:latin typeface="MiSans"/>
                <a:ea typeface="MiSans"/>
                <a:cs typeface="MiSans"/>
              </a:defRPr>
            </a:lvl1pPr>
            <a:lvl2pPr>
              <a:buNone/>
              <a:defRPr sz="1275" b="1">
                <a:solidFill>
                  <a:srgbClr val="076DFC"/>
                </a:solidFill>
                <a:latin typeface="MiSans"/>
                <a:ea typeface="MiSans"/>
                <a:cs typeface="MiSans"/>
              </a:defRPr>
            </a:lvl2pPr>
            <a:lvl3pPr>
              <a:buNone/>
              <a:defRPr sz="1275" b="1">
                <a:solidFill>
                  <a:srgbClr val="076DFC"/>
                </a:solidFill>
                <a:latin typeface="MiSans"/>
                <a:ea typeface="MiSans"/>
                <a:cs typeface="MiSans"/>
              </a:defRPr>
            </a:lvl3pPr>
            <a:lvl4pPr>
              <a:buNone/>
              <a:defRPr sz="1275" b="1">
                <a:solidFill>
                  <a:srgbClr val="076DFC"/>
                </a:solidFill>
                <a:latin typeface="MiSans"/>
                <a:ea typeface="MiSans"/>
                <a:cs typeface="MiSans"/>
              </a:defRPr>
            </a:lvl4pPr>
            <a:lvl5pPr>
              <a:buNone/>
              <a:defRPr sz="1275" b="1">
                <a:solidFill>
                  <a:srgbClr val="076DFC"/>
                </a:solidFill>
                <a:latin typeface="MiSans"/>
                <a:ea typeface="MiSans"/>
                <a:cs typeface="MiSans"/>
              </a:defRPr>
            </a:lvl5pPr>
            <a:lvl6pPr>
              <a:buNone/>
              <a:defRPr sz="1275" b="1">
                <a:solidFill>
                  <a:srgbClr val="076DFC"/>
                </a:solidFill>
                <a:latin typeface="MiSans"/>
                <a:ea typeface="MiSans"/>
                <a:cs typeface="MiSans"/>
              </a:defRPr>
            </a:lvl6pPr>
            <a:lvl7pPr>
              <a:buNone/>
              <a:defRPr sz="1275" b="1">
                <a:solidFill>
                  <a:srgbClr val="076DFC"/>
                </a:solidFill>
                <a:latin typeface="MiSans"/>
                <a:ea typeface="MiSans"/>
                <a:cs typeface="MiSans"/>
              </a:defRPr>
            </a:lvl7pPr>
            <a:lvl8pPr>
              <a:buNone/>
              <a:defRPr sz="1275" b="1">
                <a:solidFill>
                  <a:srgbClr val="076DFC"/>
                </a:solidFill>
                <a:latin typeface="MiSans"/>
                <a:ea typeface="MiSans"/>
                <a:cs typeface="MiSans"/>
              </a:defRPr>
            </a:lvl8pPr>
            <a:lvl9pPr>
              <a:buNone/>
              <a:defRPr sz="1275" b="1">
                <a:solidFill>
                  <a:srgbClr val="076DFC"/>
                </a:solidFill>
                <a:latin typeface="MiSans"/>
                <a:ea typeface="MiSans"/>
                <a:cs typeface="MiSans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275" b="1">
                <a:solidFill>
                  <a:srgbClr val="076DFC"/>
                </a:solidFill>
                <a:latin typeface="MiSans"/>
                <a:ea typeface="MiSans"/>
                <a:cs typeface="MiSans"/>
              </a:defRPr>
            </a:pPr>
            <a:r>
              <a:rPr sz="1275" b="1">
                <a:solidFill>
                  <a:srgbClr val="076DFC"/>
                </a:solidFill>
                <a:latin typeface="MiSans"/>
                <a:ea typeface="MiSans"/>
                <a:cs typeface="MiSans"/>
              </a:rPr>
              <a:t>2026.11</a:t>
            </a:r>
            <a:endParaRPr sz="1250"/>
          </a:p>
        </p:txBody>
      </p:sp>
      <p:sp>
        <p:nvSpPr>
          <p:cNvPr id="9" name="tl-title1">
            <a:extLst xmlns:a="http://schemas.openxmlformats.org/drawingml/2006/main">
              <a:ext uri="{FF2B5EF4-FFF2-40B4-BE49-F238E27FC236}">
                <a16:creationId xmlns:a16="http://schemas.microsoft.com/office/drawing/2014/main" id="{9F94F843-7BF6-4FE3-9A37-48F884EBD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" y="2838450"/>
            <a:ext cx="241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/>
          <a:lstStyle xmlns:a="http://schemas.openxmlformats.org/drawingml/2006/main">
            <a:defPPr>
              <a:defRPr sz="1275" b="1">
                <a:solidFill>
                  <a:srgbClr val="14213D"/>
                </a:solidFill>
                <a:latin typeface="MiSans"/>
                <a:ea typeface="MiSans"/>
                <a:cs typeface="MiSans"/>
              </a:defRPr>
            </a:defPPr>
            <a:lvl1pPr>
              <a:buNone/>
              <a:defRPr sz="1275" b="1">
                <a:solidFill>
                  <a:srgbClr val="14213D"/>
                </a:solidFill>
                <a:latin typeface="MiSans"/>
                <a:ea typeface="MiSans"/>
                <a:cs typeface="MiSans"/>
              </a:defRPr>
            </a:lvl1pPr>
            <a:lvl2pPr>
              <a:buNone/>
              <a:defRPr sz="1275" b="1">
                <a:solidFill>
                  <a:srgbClr val="14213D"/>
                </a:solidFill>
                <a:latin typeface="MiSans"/>
                <a:ea typeface="MiSans"/>
                <a:cs typeface="MiSans"/>
              </a:defRPr>
            </a:lvl2pPr>
            <a:lvl3pPr>
              <a:buNone/>
              <a:defRPr sz="1275" b="1">
                <a:solidFill>
                  <a:srgbClr val="14213D"/>
                </a:solidFill>
                <a:latin typeface="MiSans"/>
                <a:ea typeface="MiSans"/>
                <a:cs typeface="MiSans"/>
              </a:defRPr>
            </a:lvl3pPr>
            <a:lvl4pPr>
              <a:buNone/>
              <a:defRPr sz="1275" b="1">
                <a:solidFill>
                  <a:srgbClr val="14213D"/>
                </a:solidFill>
                <a:latin typeface="MiSans"/>
                <a:ea typeface="MiSans"/>
                <a:cs typeface="MiSans"/>
              </a:defRPr>
            </a:lvl4pPr>
            <a:lvl5pPr>
              <a:buNone/>
              <a:defRPr sz="1275" b="1">
                <a:solidFill>
                  <a:srgbClr val="14213D"/>
                </a:solidFill>
                <a:latin typeface="MiSans"/>
                <a:ea typeface="MiSans"/>
                <a:cs typeface="MiSans"/>
              </a:defRPr>
            </a:lvl5pPr>
            <a:lvl6pPr>
              <a:buNone/>
              <a:defRPr sz="1275" b="1">
                <a:solidFill>
                  <a:srgbClr val="14213D"/>
                </a:solidFill>
                <a:latin typeface="MiSans"/>
                <a:ea typeface="MiSans"/>
                <a:cs typeface="MiSans"/>
              </a:defRPr>
            </a:lvl6pPr>
            <a:lvl7pPr>
              <a:buNone/>
              <a:defRPr sz="1275" b="1">
                <a:solidFill>
                  <a:srgbClr val="14213D"/>
                </a:solidFill>
                <a:latin typeface="MiSans"/>
                <a:ea typeface="MiSans"/>
                <a:cs typeface="MiSans"/>
              </a:defRPr>
            </a:lvl7pPr>
            <a:lvl8pPr>
              <a:buNone/>
              <a:defRPr sz="1275" b="1">
                <a:solidFill>
                  <a:srgbClr val="14213D"/>
                </a:solidFill>
                <a:latin typeface="MiSans"/>
                <a:ea typeface="MiSans"/>
                <a:cs typeface="MiSans"/>
              </a:defRPr>
            </a:lvl8pPr>
            <a:lvl9pPr>
              <a:buNone/>
              <a:defRPr sz="1275" b="1">
                <a:solidFill>
                  <a:srgbClr val="14213D"/>
                </a:solidFill>
                <a:latin typeface="MiSans"/>
                <a:ea typeface="MiSans"/>
                <a:cs typeface="MiSans"/>
              </a:defRPr>
            </a:lvl9pPr>
          </a:lstStyle>
          <a:p xmlns:a="http://schemas.openxmlformats.org/drawingml/2006/main">
            <a:pPr>
              <a:lnSpc>
                <a:spcPct val="120000"/>
              </a:lnSpc>
              <a:buNone/>
              <a:defRPr sz="1275" b="1">
                <a:solidFill>
                  <a:srgbClr val="14213D"/>
                </a:solidFill>
                <a:latin typeface="MiSans"/>
                <a:ea typeface="MiSans"/>
                <a:cs typeface="MiSans"/>
              </a:defRPr>
            </a:pPr>
            <a:r>
              <a:rPr sz="1275" b="1">
                <a:solidFill>
                  <a:srgbClr val="14213D"/>
                </a:solidFill>
                <a:latin typeface="MiSans"/>
                <a:ea typeface="MiSans"/>
                <a:cs typeface="MiSans"/>
              </a:rPr>
              <a:t>优化 Apple Pencil 支持</a:t>
            </a:r>
            <a:endParaRPr sz="1250" b="1">
              <a:solidFill>
                <a:srgbClr val="14213D"/>
              </a:solidFill>
              <a:latin typeface="MiSans"/>
              <a:ea typeface="MiSans"/>
              <a:cs typeface="MiSans"/>
            </a:endParaRPr>
          </a:p>
        </p:txBody>
      </p:sp>
      <p:sp>
        <p:nvSpPr>
          <p:cNvPr id="10" name="tl-desc1">
            <a:extLst xmlns:a="http://schemas.openxmlformats.org/drawingml/2006/main">
              <a:ext uri="{FF2B5EF4-FFF2-40B4-BE49-F238E27FC236}">
                <a16:creationId xmlns:a16="http://schemas.microsoft.com/office/drawing/2014/main" id="{34AAFF1A-93B7-4579-B5CB-DDAF38BD6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" y="3248025"/>
            <a:ext cx="2413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1163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defPPr>
            <a:lvl1pPr>
              <a:buNone/>
              <a:defRPr sz="1163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1pPr>
            <a:lvl2pPr>
              <a:buNone/>
              <a:defRPr sz="1163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2pPr>
            <a:lvl3pPr>
              <a:buNone/>
              <a:defRPr sz="1163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3pPr>
            <a:lvl4pPr>
              <a:buNone/>
              <a:defRPr sz="1163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4pPr>
            <a:lvl5pPr>
              <a:buNone/>
              <a:defRPr sz="1163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5pPr>
            <a:lvl6pPr>
              <a:buNone/>
              <a:defRPr sz="1163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6pPr>
            <a:lvl7pPr>
              <a:buNone/>
              <a:defRPr sz="1163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7pPr>
            <a:lvl8pPr>
              <a:buNone/>
              <a:defRPr sz="1163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8pPr>
            <a:lvl9pPr>
              <a:buNone/>
              <a:defRPr sz="1163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9pPr>
          </a:lstStyle>
          <a:p xmlns:a="http://schemas.openxmlformats.org/drawingml/2006/main">
            <a:pPr algn="l">
              <a:lnSpc>
                <a:spcPct val="155000"/>
              </a:lnSpc>
              <a:buNone/>
              <a:defRPr sz="1163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pPr>
            <a:r>
              <a:rPr sz="1163" b="0">
                <a:solidFill>
                  <a:srgbClr val="3E506E"/>
                </a:solidFill>
                <a:latin typeface="MiSans"/>
                <a:ea typeface="MiSans"/>
                <a:cs typeface="MiSans"/>
              </a:rPr>
              <a:t>软件工程与美术专业协作，优化压感表现与笔触反馈，提升接近毛笔的书写体验。</a:t>
            </a:r>
            <a:endParaRPr sz="1000" b="1">
              <a:solidFill>
                <a:srgbClr val="5B6B8C"/>
              </a:solidFill>
              <a:latin typeface="MiSans"/>
              <a:ea typeface="MiSans"/>
              <a:cs typeface="MiSans"/>
            </a:endParaRPr>
          </a:p>
        </p:txBody>
      </p:sp>
      <p:sp>
        <p:nvSpPr>
          <p:cNvPr id="11" name="tl-dot2">
            <a:extLst xmlns:a="http://schemas.openxmlformats.org/drawingml/2006/main">
              <a:ext uri="{FF2B5EF4-FFF2-40B4-BE49-F238E27FC236}">
                <a16:creationId xmlns:a16="http://schemas.microsoft.com/office/drawing/2014/main" id="{980CA1D8-EBDF-44E1-ABFE-CBA847321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400300"/>
            <a:ext cx="203200" cy="203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6DFC"/>
          </a:solidFill>
          <a:ln xmlns:a="http://schemas.openxmlformats.org/drawingml/2006/main">
            <a:noFill/>
          </a:ln>
        </p:spPr>
      </p:sp>
      <p:sp>
        <p:nvSpPr>
          <p:cNvPr id="12" name="tl-date2">
            <a:extLst xmlns:a="http://schemas.openxmlformats.org/drawingml/2006/main">
              <a:ext uri="{FF2B5EF4-FFF2-40B4-BE49-F238E27FC236}">
                <a16:creationId xmlns:a16="http://schemas.microsoft.com/office/drawing/2014/main" id="{153D1E2D-006F-47E5-8FE0-B0F2AEFCC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1803400"/>
            <a:ext cx="2413000" cy="25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>
              <a:defRPr sz="1275" b="1">
                <a:solidFill>
                  <a:srgbClr val="076DFC"/>
                </a:solidFill>
                <a:latin typeface="MiSans"/>
                <a:ea typeface="MiSans"/>
                <a:cs typeface="MiSans"/>
              </a:defRPr>
            </a:defPPr>
            <a:lvl1pPr>
              <a:buNone/>
              <a:defRPr sz="1275" b="1">
                <a:solidFill>
                  <a:srgbClr val="076DFC"/>
                </a:solidFill>
                <a:latin typeface="MiSans"/>
                <a:ea typeface="MiSans"/>
                <a:cs typeface="MiSans"/>
              </a:defRPr>
            </a:lvl1pPr>
            <a:lvl2pPr>
              <a:buNone/>
              <a:defRPr sz="1275" b="1">
                <a:solidFill>
                  <a:srgbClr val="076DFC"/>
                </a:solidFill>
                <a:latin typeface="MiSans"/>
                <a:ea typeface="MiSans"/>
                <a:cs typeface="MiSans"/>
              </a:defRPr>
            </a:lvl2pPr>
            <a:lvl3pPr>
              <a:buNone/>
              <a:defRPr sz="1275" b="1">
                <a:solidFill>
                  <a:srgbClr val="076DFC"/>
                </a:solidFill>
                <a:latin typeface="MiSans"/>
                <a:ea typeface="MiSans"/>
                <a:cs typeface="MiSans"/>
              </a:defRPr>
            </a:lvl3pPr>
            <a:lvl4pPr>
              <a:buNone/>
              <a:defRPr sz="1275" b="1">
                <a:solidFill>
                  <a:srgbClr val="076DFC"/>
                </a:solidFill>
                <a:latin typeface="MiSans"/>
                <a:ea typeface="MiSans"/>
                <a:cs typeface="MiSans"/>
              </a:defRPr>
            </a:lvl4pPr>
            <a:lvl5pPr>
              <a:buNone/>
              <a:defRPr sz="1275" b="1">
                <a:solidFill>
                  <a:srgbClr val="076DFC"/>
                </a:solidFill>
                <a:latin typeface="MiSans"/>
                <a:ea typeface="MiSans"/>
                <a:cs typeface="MiSans"/>
              </a:defRPr>
            </a:lvl5pPr>
            <a:lvl6pPr>
              <a:buNone/>
              <a:defRPr sz="1275" b="1">
                <a:solidFill>
                  <a:srgbClr val="076DFC"/>
                </a:solidFill>
                <a:latin typeface="MiSans"/>
                <a:ea typeface="MiSans"/>
                <a:cs typeface="MiSans"/>
              </a:defRPr>
            </a:lvl6pPr>
            <a:lvl7pPr>
              <a:buNone/>
              <a:defRPr sz="1275" b="1">
                <a:solidFill>
                  <a:srgbClr val="076DFC"/>
                </a:solidFill>
                <a:latin typeface="MiSans"/>
                <a:ea typeface="MiSans"/>
                <a:cs typeface="MiSans"/>
              </a:defRPr>
            </a:lvl7pPr>
            <a:lvl8pPr>
              <a:buNone/>
              <a:defRPr sz="1275" b="1">
                <a:solidFill>
                  <a:srgbClr val="076DFC"/>
                </a:solidFill>
                <a:latin typeface="MiSans"/>
                <a:ea typeface="MiSans"/>
                <a:cs typeface="MiSans"/>
              </a:defRPr>
            </a:lvl8pPr>
            <a:lvl9pPr>
              <a:buNone/>
              <a:defRPr sz="1275" b="1">
                <a:solidFill>
                  <a:srgbClr val="076DFC"/>
                </a:solidFill>
                <a:latin typeface="MiSans"/>
                <a:ea typeface="MiSans"/>
                <a:cs typeface="MiSans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275" b="1">
                <a:solidFill>
                  <a:srgbClr val="076DFC"/>
                </a:solidFill>
                <a:latin typeface="MiSans"/>
                <a:ea typeface="MiSans"/>
                <a:cs typeface="MiSans"/>
              </a:defRPr>
            </a:pPr>
            <a:r>
              <a:rPr sz="1275" b="1">
                <a:solidFill>
                  <a:srgbClr val="076DFC"/>
                </a:solidFill>
                <a:latin typeface="MiSans"/>
                <a:ea typeface="MiSans"/>
                <a:cs typeface="MiSans"/>
              </a:rPr>
              <a:t>2026.11 – 12</a:t>
            </a:r>
            <a:endParaRPr sz="1250"/>
          </a:p>
        </p:txBody>
      </p:sp>
      <p:sp>
        <p:nvSpPr>
          <p:cNvPr id="13" name="tl-title2">
            <a:extLst xmlns:a="http://schemas.openxmlformats.org/drawingml/2006/main">
              <a:ext uri="{FF2B5EF4-FFF2-40B4-BE49-F238E27FC236}">
                <a16:creationId xmlns:a16="http://schemas.microsoft.com/office/drawing/2014/main" id="{3010822F-2970-4D45-9A65-668E5915E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838450"/>
            <a:ext cx="241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</a:pPr>
            <a:r>
              <a:rPr sz="1250" b="1">
                <a:solidFill>
                  <a:srgbClr val="14213D"/>
                </a:solidFill>
                <a:latin typeface="MiSans"/>
                <a:ea typeface="MiSans"/>
                <a:cs typeface="MiSans"/>
              </a:rPr>
              <a:t>真实场景数据采集</a:t>
            </a:r>
            <a:endParaRPr sz="1250"/>
          </a:p>
        </p:txBody>
      </p:sp>
      <p:sp>
        <p:nvSpPr>
          <p:cNvPr id="14" name="tl-desc2">
            <a:extLst xmlns:a="http://schemas.openxmlformats.org/drawingml/2006/main">
              <a:ext uri="{FF2B5EF4-FFF2-40B4-BE49-F238E27FC236}">
                <a16:creationId xmlns:a16="http://schemas.microsoft.com/office/drawing/2014/main" id="{B2CAB624-DE95-422A-9850-C5563F65F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3248025"/>
            <a:ext cx="2413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1163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defPPr>
            <a:lvl1pPr>
              <a:buNone/>
              <a:defRPr sz="1163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1pPr>
            <a:lvl2pPr>
              <a:buNone/>
              <a:defRPr sz="1163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2pPr>
            <a:lvl3pPr>
              <a:buNone/>
              <a:defRPr sz="1163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3pPr>
            <a:lvl4pPr>
              <a:buNone/>
              <a:defRPr sz="1163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4pPr>
            <a:lvl5pPr>
              <a:buNone/>
              <a:defRPr sz="1163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5pPr>
            <a:lvl6pPr>
              <a:buNone/>
              <a:defRPr sz="1163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6pPr>
            <a:lvl7pPr>
              <a:buNone/>
              <a:defRPr sz="1163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7pPr>
            <a:lvl8pPr>
              <a:buNone/>
              <a:defRPr sz="1163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8pPr>
            <a:lvl9pPr>
              <a:buNone/>
              <a:defRPr sz="1163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9pPr>
          </a:lstStyle>
          <a:p xmlns:a="http://schemas.openxmlformats.org/drawingml/2006/main">
            <a:pPr algn="l">
              <a:lnSpc>
                <a:spcPct val="155000"/>
              </a:lnSpc>
              <a:buNone/>
              <a:defRPr sz="1163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pPr>
            <a:r>
              <a:rPr sz="1163" b="0">
                <a:solidFill>
                  <a:srgbClr val="3E506E"/>
                </a:solidFill>
                <a:latin typeface="MiSans"/>
                <a:ea typeface="MiSans"/>
                <a:cs typeface="MiSans"/>
              </a:rPr>
              <a:t>采样</a:t>
            </a:r>
            <a:r>
              <a:rPr sz="1163" b="0">
                <a:solidFill>
                  <a:srgbClr val="3E506E"/>
                </a:solidFill>
                <a:latin typeface="MiSans"/>
                <a:ea typeface="MiSans"/>
                <a:cs typeface="MiSans"/>
              </a:rPr>
              <a:t>新书写者数据</a:t>
            </a:r>
            <a:r>
              <a:rPr sz="1163" b="0">
                <a:solidFill>
                  <a:srgbClr val="3E506E"/>
                </a:solidFill>
                <a:latin typeface="MiSans"/>
                <a:ea typeface="MiSans"/>
                <a:cs typeface="MiSans"/>
              </a:rPr>
              <a:t>，根据反馈，迭代</a:t>
            </a:r>
            <a:r>
              <a:rPr sz="1163" b="0">
                <a:solidFill>
                  <a:srgbClr val="3E506E"/>
                </a:solidFill>
                <a:latin typeface="MiSans"/>
                <a:ea typeface="MiSans"/>
                <a:cs typeface="MiSans"/>
              </a:rPr>
              <a:t>优化</a:t>
            </a:r>
            <a:endParaRPr sz="1000" b="1">
              <a:solidFill>
                <a:srgbClr val="5B6B8C"/>
              </a:solidFill>
              <a:latin typeface="MiSans"/>
              <a:ea typeface="MiSans"/>
              <a:cs typeface="MiSans"/>
            </a:endParaRPr>
          </a:p>
        </p:txBody>
      </p:sp>
      <p:sp>
        <p:nvSpPr>
          <p:cNvPr id="15" name="tl-dot3">
            <a:extLst xmlns:a="http://schemas.openxmlformats.org/drawingml/2006/main">
              <a:ext uri="{FF2B5EF4-FFF2-40B4-BE49-F238E27FC236}">
                <a16:creationId xmlns:a16="http://schemas.microsoft.com/office/drawing/2014/main" id="{FDD72530-8777-4140-8140-7B8594615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2400" y="2400300"/>
            <a:ext cx="203200" cy="203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6DFC"/>
          </a:solidFill>
          <a:ln xmlns:a="http://schemas.openxmlformats.org/drawingml/2006/main">
            <a:noFill/>
          </a:ln>
        </p:spPr>
      </p:sp>
      <p:sp>
        <p:nvSpPr>
          <p:cNvPr id="16" name="tl-date3">
            <a:extLst xmlns:a="http://schemas.openxmlformats.org/drawingml/2006/main">
              <a:ext uri="{FF2B5EF4-FFF2-40B4-BE49-F238E27FC236}">
                <a16:creationId xmlns:a16="http://schemas.microsoft.com/office/drawing/2014/main" id="{32D4C1D7-6007-45BD-AD08-F7586B941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7600" y="1803400"/>
            <a:ext cx="2540000" cy="25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>
              <a:defRPr sz="1275" b="1">
                <a:solidFill>
                  <a:srgbClr val="076DFC"/>
                </a:solidFill>
                <a:latin typeface="MiSans"/>
                <a:ea typeface="MiSans"/>
                <a:cs typeface="MiSans"/>
              </a:defRPr>
            </a:defPPr>
            <a:lvl1pPr>
              <a:buNone/>
              <a:defRPr sz="1275" b="1">
                <a:solidFill>
                  <a:srgbClr val="076DFC"/>
                </a:solidFill>
                <a:latin typeface="MiSans"/>
                <a:ea typeface="MiSans"/>
                <a:cs typeface="MiSans"/>
              </a:defRPr>
            </a:lvl1pPr>
            <a:lvl2pPr>
              <a:buNone/>
              <a:defRPr sz="1275" b="1">
                <a:solidFill>
                  <a:srgbClr val="076DFC"/>
                </a:solidFill>
                <a:latin typeface="MiSans"/>
                <a:ea typeface="MiSans"/>
                <a:cs typeface="MiSans"/>
              </a:defRPr>
            </a:lvl2pPr>
            <a:lvl3pPr>
              <a:buNone/>
              <a:defRPr sz="1275" b="1">
                <a:solidFill>
                  <a:srgbClr val="076DFC"/>
                </a:solidFill>
                <a:latin typeface="MiSans"/>
                <a:ea typeface="MiSans"/>
                <a:cs typeface="MiSans"/>
              </a:defRPr>
            </a:lvl3pPr>
            <a:lvl4pPr>
              <a:buNone/>
              <a:defRPr sz="1275" b="1">
                <a:solidFill>
                  <a:srgbClr val="076DFC"/>
                </a:solidFill>
                <a:latin typeface="MiSans"/>
                <a:ea typeface="MiSans"/>
                <a:cs typeface="MiSans"/>
              </a:defRPr>
            </a:lvl4pPr>
            <a:lvl5pPr>
              <a:buNone/>
              <a:defRPr sz="1275" b="1">
                <a:solidFill>
                  <a:srgbClr val="076DFC"/>
                </a:solidFill>
                <a:latin typeface="MiSans"/>
                <a:ea typeface="MiSans"/>
                <a:cs typeface="MiSans"/>
              </a:defRPr>
            </a:lvl5pPr>
            <a:lvl6pPr>
              <a:buNone/>
              <a:defRPr sz="1275" b="1">
                <a:solidFill>
                  <a:srgbClr val="076DFC"/>
                </a:solidFill>
                <a:latin typeface="MiSans"/>
                <a:ea typeface="MiSans"/>
                <a:cs typeface="MiSans"/>
              </a:defRPr>
            </a:lvl6pPr>
            <a:lvl7pPr>
              <a:buNone/>
              <a:defRPr sz="1275" b="1">
                <a:solidFill>
                  <a:srgbClr val="076DFC"/>
                </a:solidFill>
                <a:latin typeface="MiSans"/>
                <a:ea typeface="MiSans"/>
                <a:cs typeface="MiSans"/>
              </a:defRPr>
            </a:lvl7pPr>
            <a:lvl8pPr>
              <a:buNone/>
              <a:defRPr sz="1275" b="1">
                <a:solidFill>
                  <a:srgbClr val="076DFC"/>
                </a:solidFill>
                <a:latin typeface="MiSans"/>
                <a:ea typeface="MiSans"/>
                <a:cs typeface="MiSans"/>
              </a:defRPr>
            </a:lvl8pPr>
            <a:lvl9pPr>
              <a:buNone/>
              <a:defRPr sz="1275" b="1">
                <a:solidFill>
                  <a:srgbClr val="076DFC"/>
                </a:solidFill>
                <a:latin typeface="MiSans"/>
                <a:ea typeface="MiSans"/>
                <a:cs typeface="MiSans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275" b="1">
                <a:solidFill>
                  <a:srgbClr val="076DFC"/>
                </a:solidFill>
                <a:latin typeface="MiSans"/>
                <a:ea typeface="MiSans"/>
                <a:cs typeface="MiSans"/>
              </a:defRPr>
            </a:pPr>
            <a:r>
              <a:rPr sz="1275" b="1">
                <a:solidFill>
                  <a:srgbClr val="076DFC"/>
                </a:solidFill>
                <a:latin typeface="MiSans"/>
                <a:ea typeface="MiSans"/>
                <a:cs typeface="MiSans"/>
              </a:rPr>
              <a:t>2026.12 – 2027.01</a:t>
            </a:r>
            <a:endParaRPr sz="1250"/>
          </a:p>
        </p:txBody>
      </p:sp>
      <p:sp>
        <p:nvSpPr>
          <p:cNvPr id="17" name="tl-title3">
            <a:extLst xmlns:a="http://schemas.openxmlformats.org/drawingml/2006/main">
              <a:ext uri="{FF2B5EF4-FFF2-40B4-BE49-F238E27FC236}">
                <a16:creationId xmlns:a16="http://schemas.microsoft.com/office/drawing/2014/main" id="{F8FA844B-B454-4DDC-A2D6-8E5485498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7600" y="2838450"/>
            <a:ext cx="241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</a:pPr>
            <a:r>
              <a:rPr sz="1250" b="1">
                <a:solidFill>
                  <a:srgbClr val="14213D"/>
                </a:solidFill>
                <a:latin typeface="MiSans"/>
                <a:ea typeface="MiSans"/>
                <a:cs typeface="MiSans"/>
              </a:rPr>
              <a:t>部署收尾</a:t>
            </a:r>
            <a:endParaRPr sz="1250"/>
          </a:p>
        </p:txBody>
      </p:sp>
      <p:sp>
        <p:nvSpPr>
          <p:cNvPr id="18" name="tl-desc3">
            <a:extLst xmlns:a="http://schemas.openxmlformats.org/drawingml/2006/main">
              <a:ext uri="{FF2B5EF4-FFF2-40B4-BE49-F238E27FC236}">
                <a16:creationId xmlns:a16="http://schemas.microsoft.com/office/drawing/2014/main" id="{39A0B2D1-A072-42E7-B830-4C3C19DCC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7600" y="3248025"/>
            <a:ext cx="2413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1163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defPPr>
            <a:lvl1pPr>
              <a:buNone/>
              <a:defRPr sz="1163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1pPr>
            <a:lvl2pPr>
              <a:buNone/>
              <a:defRPr sz="1163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2pPr>
            <a:lvl3pPr>
              <a:buNone/>
              <a:defRPr sz="1163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3pPr>
            <a:lvl4pPr>
              <a:buNone/>
              <a:defRPr sz="1163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4pPr>
            <a:lvl5pPr>
              <a:buNone/>
              <a:defRPr sz="1163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5pPr>
            <a:lvl6pPr>
              <a:buNone/>
              <a:defRPr sz="1163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6pPr>
            <a:lvl7pPr>
              <a:buNone/>
              <a:defRPr sz="1163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7pPr>
            <a:lvl8pPr>
              <a:buNone/>
              <a:defRPr sz="1163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8pPr>
            <a:lvl9pPr>
              <a:buNone/>
              <a:defRPr sz="1163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9pPr>
          </a:lstStyle>
          <a:p xmlns:a="http://schemas.openxmlformats.org/drawingml/2006/main">
            <a:pPr algn="l">
              <a:lnSpc>
                <a:spcPct val="155000"/>
              </a:lnSpc>
              <a:buNone/>
              <a:defRPr sz="1163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pPr>
            <a:r>
              <a:rPr sz="1163" b="0">
                <a:solidFill>
                  <a:srgbClr val="3E506E"/>
                </a:solidFill>
                <a:latin typeface="MiSans"/>
                <a:ea typeface="MiSans"/>
                <a:cs typeface="MiSans"/>
              </a:rPr>
              <a:t>模型服务迁移长期部署、修复 TLS。</a:t>
            </a:r>
            <a:endParaRPr sz="1000"/>
          </a:p>
        </p:txBody>
      </p:sp>
      <p:sp>
        <p:nvSpPr>
          <p:cNvPr id="19" name="tl-dot4">
            <a:extLst xmlns:a="http://schemas.openxmlformats.org/drawingml/2006/main">
              <a:ext uri="{FF2B5EF4-FFF2-40B4-BE49-F238E27FC236}">
                <a16:creationId xmlns:a16="http://schemas.microsoft.com/office/drawing/2014/main" id="{A2481CFF-CA02-449D-8745-E5116E4A1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4800" y="2400300"/>
            <a:ext cx="203200" cy="203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8EB3F"/>
          </a:solidFill>
          <a:ln xmlns:a="http://schemas.openxmlformats.org/drawingml/2006/main">
            <a:noFill/>
          </a:ln>
        </p:spPr>
      </p:sp>
      <p:sp>
        <p:nvSpPr>
          <p:cNvPr id="20" name="tl-date4">
            <a:extLst xmlns:a="http://schemas.openxmlformats.org/drawingml/2006/main">
              <a:ext uri="{FF2B5EF4-FFF2-40B4-BE49-F238E27FC236}">
                <a16:creationId xmlns:a16="http://schemas.microsoft.com/office/drawing/2014/main" id="{F16A83CB-C00F-45BE-A46D-12F75700A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0000" y="1803400"/>
            <a:ext cx="2413000" cy="25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>
              <a:defRPr sz="1275" b="1">
                <a:solidFill>
                  <a:srgbClr val="076DFC"/>
                </a:solidFill>
                <a:latin typeface="MiSans"/>
                <a:ea typeface="MiSans"/>
                <a:cs typeface="MiSans"/>
              </a:defRPr>
            </a:defPPr>
            <a:lvl1pPr>
              <a:buNone/>
              <a:defRPr sz="1275" b="1">
                <a:solidFill>
                  <a:srgbClr val="076DFC"/>
                </a:solidFill>
                <a:latin typeface="MiSans"/>
                <a:ea typeface="MiSans"/>
                <a:cs typeface="MiSans"/>
              </a:defRPr>
            </a:lvl1pPr>
            <a:lvl2pPr>
              <a:buNone/>
              <a:defRPr sz="1275" b="1">
                <a:solidFill>
                  <a:srgbClr val="076DFC"/>
                </a:solidFill>
                <a:latin typeface="MiSans"/>
                <a:ea typeface="MiSans"/>
                <a:cs typeface="MiSans"/>
              </a:defRPr>
            </a:lvl2pPr>
            <a:lvl3pPr>
              <a:buNone/>
              <a:defRPr sz="1275" b="1">
                <a:solidFill>
                  <a:srgbClr val="076DFC"/>
                </a:solidFill>
                <a:latin typeface="MiSans"/>
                <a:ea typeface="MiSans"/>
                <a:cs typeface="MiSans"/>
              </a:defRPr>
            </a:lvl3pPr>
            <a:lvl4pPr>
              <a:buNone/>
              <a:defRPr sz="1275" b="1">
                <a:solidFill>
                  <a:srgbClr val="076DFC"/>
                </a:solidFill>
                <a:latin typeface="MiSans"/>
                <a:ea typeface="MiSans"/>
                <a:cs typeface="MiSans"/>
              </a:defRPr>
            </a:lvl4pPr>
            <a:lvl5pPr>
              <a:buNone/>
              <a:defRPr sz="1275" b="1">
                <a:solidFill>
                  <a:srgbClr val="076DFC"/>
                </a:solidFill>
                <a:latin typeface="MiSans"/>
                <a:ea typeface="MiSans"/>
                <a:cs typeface="MiSans"/>
              </a:defRPr>
            </a:lvl5pPr>
            <a:lvl6pPr>
              <a:buNone/>
              <a:defRPr sz="1275" b="1">
                <a:solidFill>
                  <a:srgbClr val="076DFC"/>
                </a:solidFill>
                <a:latin typeface="MiSans"/>
                <a:ea typeface="MiSans"/>
                <a:cs typeface="MiSans"/>
              </a:defRPr>
            </a:lvl6pPr>
            <a:lvl7pPr>
              <a:buNone/>
              <a:defRPr sz="1275" b="1">
                <a:solidFill>
                  <a:srgbClr val="076DFC"/>
                </a:solidFill>
                <a:latin typeface="MiSans"/>
                <a:ea typeface="MiSans"/>
                <a:cs typeface="MiSans"/>
              </a:defRPr>
            </a:lvl7pPr>
            <a:lvl8pPr>
              <a:buNone/>
              <a:defRPr sz="1275" b="1">
                <a:solidFill>
                  <a:srgbClr val="076DFC"/>
                </a:solidFill>
                <a:latin typeface="MiSans"/>
                <a:ea typeface="MiSans"/>
                <a:cs typeface="MiSans"/>
              </a:defRPr>
            </a:lvl8pPr>
            <a:lvl9pPr>
              <a:buNone/>
              <a:defRPr sz="1275" b="1">
                <a:solidFill>
                  <a:srgbClr val="076DFC"/>
                </a:solidFill>
                <a:latin typeface="MiSans"/>
                <a:ea typeface="MiSans"/>
                <a:cs typeface="MiSans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275" b="1">
                <a:solidFill>
                  <a:srgbClr val="076DFC"/>
                </a:solidFill>
                <a:latin typeface="MiSans"/>
                <a:ea typeface="MiSans"/>
                <a:cs typeface="MiSans"/>
              </a:defRPr>
            </a:pPr>
            <a:r>
              <a:rPr sz="1275" b="1">
                <a:solidFill>
                  <a:srgbClr val="076DFC"/>
                </a:solidFill>
                <a:latin typeface="MiSans"/>
                <a:ea typeface="MiSans"/>
                <a:cs typeface="MiSans"/>
              </a:rPr>
              <a:t>2027 春 · 结题</a:t>
            </a:r>
            <a:endParaRPr sz="1250"/>
          </a:p>
        </p:txBody>
      </p:sp>
      <p:sp>
        <p:nvSpPr>
          <p:cNvPr id="21" name="tl-title4">
            <a:extLst xmlns:a="http://schemas.openxmlformats.org/drawingml/2006/main">
              <a:ext uri="{FF2B5EF4-FFF2-40B4-BE49-F238E27FC236}">
                <a16:creationId xmlns:a16="http://schemas.microsoft.com/office/drawing/2014/main" id="{D383C351-1DDB-4F6F-B56A-469CB2B85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0000" y="2838450"/>
            <a:ext cx="241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</a:pPr>
            <a:r>
              <a:rPr sz="1250" b="1">
                <a:solidFill>
                  <a:srgbClr val="14213D"/>
                </a:solidFill>
                <a:latin typeface="MiSans"/>
                <a:ea typeface="MiSans"/>
                <a:cs typeface="MiSans"/>
              </a:rPr>
              <a:t>试点与成果固化</a:t>
            </a:r>
            <a:endParaRPr sz="1250"/>
          </a:p>
        </p:txBody>
      </p:sp>
      <p:sp>
        <p:nvSpPr>
          <p:cNvPr id="22" name="tl-desc4">
            <a:extLst xmlns:a="http://schemas.openxmlformats.org/drawingml/2006/main">
              <a:ext uri="{FF2B5EF4-FFF2-40B4-BE49-F238E27FC236}">
                <a16:creationId xmlns:a16="http://schemas.microsoft.com/office/drawing/2014/main" id="{613FB5EC-51B3-4725-AC5A-4E10553B4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0000" y="3248025"/>
            <a:ext cx="2413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1163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defPPr>
            <a:lvl1pPr>
              <a:buNone/>
              <a:defRPr sz="1163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1pPr>
            <a:lvl2pPr>
              <a:buNone/>
              <a:defRPr sz="1163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2pPr>
            <a:lvl3pPr>
              <a:buNone/>
              <a:defRPr sz="1163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3pPr>
            <a:lvl4pPr>
              <a:buNone/>
              <a:defRPr sz="1163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4pPr>
            <a:lvl5pPr>
              <a:buNone/>
              <a:defRPr sz="1163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5pPr>
            <a:lvl6pPr>
              <a:buNone/>
              <a:defRPr sz="1163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6pPr>
            <a:lvl7pPr>
              <a:buNone/>
              <a:defRPr sz="1163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7pPr>
            <a:lvl8pPr>
              <a:buNone/>
              <a:defRPr sz="1163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8pPr>
            <a:lvl9pPr>
              <a:buNone/>
              <a:defRPr sz="1163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lvl9pPr>
          </a:lstStyle>
          <a:p xmlns:a="http://schemas.openxmlformats.org/drawingml/2006/main">
            <a:pPr algn="l">
              <a:lnSpc>
                <a:spcPct val="155000"/>
              </a:lnSpc>
              <a:buNone/>
              <a:defRPr sz="1163" b="0">
                <a:solidFill>
                  <a:srgbClr val="3E506E"/>
                </a:solidFill>
                <a:latin typeface="MiSans"/>
                <a:ea typeface="MiSans"/>
                <a:cs typeface="MiSans"/>
              </a:defRPr>
            </a:pPr>
            <a:r>
              <a:rPr sz="1163" b="0">
                <a:solidFill>
                  <a:srgbClr val="3E506E"/>
                </a:solidFill>
                <a:latin typeface="MiSans"/>
                <a:ea typeface="MiSans"/>
                <a:cs typeface="MiSans"/>
              </a:rPr>
              <a:t>推进附属中小学、幼儿园等学校与小范围用户试点，归档软著、结题报告和演示材料。</a:t>
            </a:r>
            <a:endParaRPr sz="1000"/>
          </a:p>
        </p:txBody>
      </p:sp>
      <p:sp>
        <p:nvSpPr>
          <p:cNvPr id="23" name="goal-band">
            <a:extLst xmlns:a="http://schemas.openxmlformats.org/drawingml/2006/main">
              <a:ext uri="{FF2B5EF4-FFF2-40B4-BE49-F238E27FC236}">
                <a16:creationId xmlns:a16="http://schemas.microsoft.com/office/drawing/2014/main" id="{6B1CF3F7-F1F0-466B-B6BE-E1AC1BEF3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38675"/>
            <a:ext cx="10972800" cy="914400"/>
          </a:xfrm>
          <a:prstGeom xmlns:a="http://schemas.openxmlformats.org/drawingml/2006/main" prst="roundRect">
            <a:avLst>
              <a:gd name="adj" fmla="val 25781"/>
            </a:avLst>
          </a:prstGeom>
          <a:solidFill xmlns:a="http://schemas.openxmlformats.org/drawingml/2006/main">
            <a:srgbClr val="076DFC"/>
          </a:solidFill>
          <a:ln xmlns:a="http://schemas.openxmlformats.org/drawingml/2006/main" w="0">
            <a:noFill/>
          </a:ln>
        </p:spPr>
      </p:sp>
      <p:sp>
        <p:nvSpPr>
          <p:cNvPr id="24" name="goal-tri">
            <a:extLst xmlns:a="http://schemas.openxmlformats.org/drawingml/2006/main">
              <a:ext uri="{FF2B5EF4-FFF2-40B4-BE49-F238E27FC236}">
                <a16:creationId xmlns:a16="http://schemas.microsoft.com/office/drawing/2014/main" id="{5C214622-F662-49B9-880F-9E0EC6618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10972800" y="4857750"/>
            <a:ext cx="552450" cy="495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A8EB3F"/>
          </a:solidFill>
          <a:ln xmlns:a="http://schemas.openxmlformats.org/drawingml/2006/main">
            <a:noFill/>
          </a:ln>
        </p:spPr>
      </p:sp>
      <p:sp>
        <p:nvSpPr>
          <p:cNvPr id="25" name="goal-text">
            <a:extLst xmlns:a="http://schemas.openxmlformats.org/drawingml/2006/main">
              <a:ext uri="{FF2B5EF4-FFF2-40B4-BE49-F238E27FC236}">
                <a16:creationId xmlns:a16="http://schemas.microsoft.com/office/drawing/2014/main" id="{3A0FD260-3F33-43DB-9B13-7B5CB0315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638675"/>
            <a:ext cx="9906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60000"/>
              </a:lnSpc>
              <a:buNone/>
            </a:pPr>
            <a:r>
              <a:rPr sz="1350" b="1">
                <a:solidFill>
                  <a:srgbClr val="FFFFFF"/>
                </a:solidFill>
                <a:latin typeface="MiSans"/>
                <a:ea typeface="MiSans"/>
                <a:cs typeface="MiSans"/>
              </a:rPr>
              <a:t>结题目标：</a:t>
            </a:r>
            <a:r>
              <a:rPr sz="1350" b="1">
                <a:solidFill>
                  <a:srgbClr val="FFFFFF"/>
                </a:solidFill>
                <a:latin typeface="MiSans"/>
                <a:ea typeface="MiSans"/>
                <a:cs typeface="MiSans"/>
              </a:rPr>
              <a:t>实现</a:t>
            </a:r>
            <a:r>
              <a:rPr sz="1350" b="1">
                <a:solidFill>
                  <a:srgbClr val="FFFFFF"/>
                </a:solidFill>
                <a:latin typeface="MiSans"/>
                <a:ea typeface="MiSans"/>
                <a:cs typeface="MiSans"/>
              </a:rPr>
              <a:t>「数据—模型—产品—验证」的完整闭环</a:t>
            </a:r>
            <a:endParaRPr sz="1350" b="1">
              <a:solidFill>
                <a:srgbClr val="FFFFFF"/>
              </a:solidFill>
              <a:latin typeface="MiSans"/>
              <a:ea typeface="MiSans"/>
              <a:cs typeface="MiSans"/>
            </a:endParaRPr>
          </a:p>
        </p:txBody>
      </p:sp>
      <p:sp>
        <p:nvSpPr>
          <p:cNvPr id="27" name="ft-line">
            <a:extLst xmlns:a="http://schemas.openxmlformats.org/drawingml/2006/main">
              <a:ext uri="{FF2B5EF4-FFF2-40B4-BE49-F238E27FC236}">
                <a16:creationId xmlns:a16="http://schemas.microsoft.com/office/drawing/2014/main" id="{0266E9F2-DEC9-4444-B9C3-C06568CCC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2400"/>
            <a:ext cx="10972800" cy="12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8" name="ft-left">
            <a:extLst xmlns:a="http://schemas.openxmlformats.org/drawingml/2006/main">
              <a:ext uri="{FF2B5EF4-FFF2-40B4-BE49-F238E27FC236}">
                <a16:creationId xmlns:a16="http://schemas.microsoft.com/office/drawing/2014/main" id="{1E8ADB91-4221-4669-8FE3-32E94A5DA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8600"/>
            <a:ext cx="3048000" cy="17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/>
          <a:lstStyle xmlns:a="http://schemas.openxmlformats.org/drawingml/2006/main">
            <a:defPPr>
              <a:defRPr sz="863" b="0">
                <a:solidFill>
                  <a:srgbClr val="D8E8FF"/>
                </a:solidFill>
                <a:latin typeface="MiSans"/>
                <a:ea typeface="MiSans"/>
                <a:cs typeface="MiSans"/>
              </a:defRPr>
            </a:defPPr>
            <a:lvl1pPr>
              <a:buNone/>
              <a:defRPr sz="863" b="0">
                <a:solidFill>
                  <a:srgbClr val="7A8CA7"/>
                </a:solidFill>
                <a:latin typeface="MiSans"/>
                <a:ea typeface="MiSans"/>
                <a:cs typeface="MiSans"/>
              </a:defRPr>
            </a:lvl1pPr>
            <a:lvl2pPr>
              <a:buNone/>
              <a:defRPr sz="863" b="0">
                <a:solidFill>
                  <a:srgbClr val="7A8CA7"/>
                </a:solidFill>
                <a:latin typeface="MiSans"/>
                <a:ea typeface="MiSans"/>
                <a:cs typeface="MiSans"/>
              </a:defRPr>
            </a:lvl2pPr>
            <a:lvl3pPr>
              <a:buNone/>
              <a:defRPr sz="863" b="0">
                <a:solidFill>
                  <a:srgbClr val="7A8CA7"/>
                </a:solidFill>
                <a:latin typeface="MiSans"/>
                <a:ea typeface="MiSans"/>
                <a:cs typeface="MiSans"/>
              </a:defRPr>
            </a:lvl3pPr>
            <a:lvl4pPr>
              <a:buNone/>
              <a:defRPr sz="863" b="0">
                <a:solidFill>
                  <a:srgbClr val="7A8CA7"/>
                </a:solidFill>
                <a:latin typeface="MiSans"/>
                <a:ea typeface="MiSans"/>
                <a:cs typeface="MiSans"/>
              </a:defRPr>
            </a:lvl4pPr>
            <a:lvl5pPr>
              <a:buNone/>
              <a:defRPr sz="863" b="0">
                <a:solidFill>
                  <a:srgbClr val="7A8CA7"/>
                </a:solidFill>
                <a:latin typeface="MiSans"/>
                <a:ea typeface="MiSans"/>
                <a:cs typeface="MiSans"/>
              </a:defRPr>
            </a:lvl5pPr>
            <a:lvl6pPr>
              <a:buNone/>
              <a:defRPr sz="863" b="0">
                <a:solidFill>
                  <a:srgbClr val="7A8CA7"/>
                </a:solidFill>
                <a:latin typeface="MiSans"/>
                <a:ea typeface="MiSans"/>
                <a:cs typeface="MiSans"/>
              </a:defRPr>
            </a:lvl6pPr>
            <a:lvl7pPr>
              <a:buNone/>
              <a:defRPr sz="863" b="0">
                <a:solidFill>
                  <a:srgbClr val="7A8CA7"/>
                </a:solidFill>
                <a:latin typeface="MiSans"/>
                <a:ea typeface="MiSans"/>
                <a:cs typeface="MiSans"/>
              </a:defRPr>
            </a:lvl7pPr>
            <a:lvl8pPr>
              <a:buNone/>
              <a:defRPr sz="863" b="0">
                <a:solidFill>
                  <a:srgbClr val="7A8CA7"/>
                </a:solidFill>
                <a:latin typeface="MiSans"/>
                <a:ea typeface="MiSans"/>
                <a:cs typeface="MiSans"/>
              </a:defRPr>
            </a:lvl8pPr>
            <a:lvl9pPr>
              <a:buNone/>
              <a:defRPr sz="863" b="0">
                <a:solidFill>
                  <a:srgbClr val="7A8CA7"/>
                </a:solidFill>
                <a:latin typeface="MiSans"/>
                <a:ea typeface="MiSans"/>
                <a:cs typeface="MiSans"/>
              </a:defRPr>
            </a:lvl9pPr>
          </a:lstStyle>
          <a:p xmlns:a="http://schemas.openxmlformats.org/drawingml/2006/main">
            <a:pPr>
              <a:lnSpc>
                <a:spcPct val="120000"/>
              </a:lnSpc>
              <a:buNone/>
              <a:defRPr sz="863" b="0">
                <a:solidFill>
                  <a:srgbClr val="D8E8FF"/>
                </a:solidFill>
                <a:latin typeface="MiSans"/>
                <a:ea typeface="MiSans"/>
                <a:cs typeface="MiSans"/>
              </a:defRPr>
            </a:pPr>
            <a:r>
              <a:rPr sz="863" b="0">
                <a:solidFill>
                  <a:srgbClr val="D8E8FF"/>
                </a:solidFill>
                <a:latin typeface="MiSans"/>
                <a:ea typeface="MiSans"/>
                <a:cs typeface="MiSans"/>
              </a:rPr>
              <a:t>一笔成章 · 2026 中期汇报</a:t>
            </a:r>
            <a:endParaRPr sz="900"/>
          </a:p>
        </p:txBody>
      </p:sp>
      <p:sp>
        <p:nvSpPr>
          <p:cNvPr id="29" name="ft-page">
            <a:extLst xmlns:a="http://schemas.openxmlformats.org/drawingml/2006/main">
              <a:ext uri="{FF2B5EF4-FFF2-40B4-BE49-F238E27FC236}">
                <a16:creationId xmlns:a16="http://schemas.microsoft.com/office/drawing/2014/main" id="{81845F3D-5239-4049-9532-5B516542A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6578600"/>
            <a:ext cx="914400" cy="17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>
            <a:defPPr>
              <a:defRPr sz="863" b="0">
                <a:solidFill>
                  <a:srgbClr val="D8E8FF"/>
                </a:solidFill>
                <a:latin typeface="MiSans"/>
                <a:ea typeface="MiSans"/>
                <a:cs typeface="MiSans"/>
              </a:defRPr>
            </a:defPPr>
            <a:lvl1pPr>
              <a:buNone/>
              <a:defRPr sz="863" b="0">
                <a:solidFill>
                  <a:srgbClr val="7A8CA7"/>
                </a:solidFill>
                <a:latin typeface="MiSans"/>
                <a:ea typeface="MiSans"/>
                <a:cs typeface="MiSans"/>
              </a:defRPr>
            </a:lvl1pPr>
            <a:lvl2pPr>
              <a:buNone/>
              <a:defRPr sz="863" b="0">
                <a:solidFill>
                  <a:srgbClr val="7A8CA7"/>
                </a:solidFill>
                <a:latin typeface="MiSans"/>
                <a:ea typeface="MiSans"/>
                <a:cs typeface="MiSans"/>
              </a:defRPr>
            </a:lvl2pPr>
            <a:lvl3pPr>
              <a:buNone/>
              <a:defRPr sz="863" b="0">
                <a:solidFill>
                  <a:srgbClr val="7A8CA7"/>
                </a:solidFill>
                <a:latin typeface="MiSans"/>
                <a:ea typeface="MiSans"/>
                <a:cs typeface="MiSans"/>
              </a:defRPr>
            </a:lvl3pPr>
            <a:lvl4pPr>
              <a:buNone/>
              <a:defRPr sz="863" b="0">
                <a:solidFill>
                  <a:srgbClr val="7A8CA7"/>
                </a:solidFill>
                <a:latin typeface="MiSans"/>
                <a:ea typeface="MiSans"/>
                <a:cs typeface="MiSans"/>
              </a:defRPr>
            </a:lvl4pPr>
            <a:lvl5pPr>
              <a:buNone/>
              <a:defRPr sz="863" b="0">
                <a:solidFill>
                  <a:srgbClr val="7A8CA7"/>
                </a:solidFill>
                <a:latin typeface="MiSans"/>
                <a:ea typeface="MiSans"/>
                <a:cs typeface="MiSans"/>
              </a:defRPr>
            </a:lvl5pPr>
            <a:lvl6pPr>
              <a:buNone/>
              <a:defRPr sz="863" b="0">
                <a:solidFill>
                  <a:srgbClr val="7A8CA7"/>
                </a:solidFill>
                <a:latin typeface="MiSans"/>
                <a:ea typeface="MiSans"/>
                <a:cs typeface="MiSans"/>
              </a:defRPr>
            </a:lvl6pPr>
            <a:lvl7pPr>
              <a:buNone/>
              <a:defRPr sz="863" b="0">
                <a:solidFill>
                  <a:srgbClr val="7A8CA7"/>
                </a:solidFill>
                <a:latin typeface="MiSans"/>
                <a:ea typeface="MiSans"/>
                <a:cs typeface="MiSans"/>
              </a:defRPr>
            </a:lvl7pPr>
            <a:lvl8pPr>
              <a:buNone/>
              <a:defRPr sz="863" b="0">
                <a:solidFill>
                  <a:srgbClr val="7A8CA7"/>
                </a:solidFill>
                <a:latin typeface="MiSans"/>
                <a:ea typeface="MiSans"/>
                <a:cs typeface="MiSans"/>
              </a:defRPr>
            </a:lvl8pPr>
            <a:lvl9pPr>
              <a:buNone/>
              <a:defRPr sz="863" b="0">
                <a:solidFill>
                  <a:srgbClr val="7A8CA7"/>
                </a:solidFill>
                <a:latin typeface="MiSans"/>
                <a:ea typeface="MiSans"/>
                <a:cs typeface="MiSans"/>
              </a:defRPr>
            </a:lvl9pPr>
          </a:lstStyle>
          <a:p xmlns:a="http://schemas.openxmlformats.org/drawingml/2006/main">
            <a:pPr algn="r">
              <a:lnSpc>
                <a:spcPct val="120000"/>
              </a:lnSpc>
              <a:buNone/>
              <a:defRPr sz="863" b="0">
                <a:solidFill>
                  <a:srgbClr val="D8E8FF"/>
                </a:solidFill>
                <a:latin typeface="MiSans"/>
                <a:ea typeface="MiSans"/>
                <a:cs typeface="MiSans"/>
              </a:defRPr>
            </a:pPr>
            <a:r>
              <a:rPr sz="863" b="0">
                <a:solidFill>
                  <a:srgbClr val="D8E8FF"/>
                </a:solidFill>
                <a:latin typeface="MiSans"/>
                <a:ea typeface="MiSans"/>
                <a:cs typeface="MiSans"/>
              </a:rPr>
              <a:t>12 / 13</a:t>
            </a:r>
            <a:endParaRPr sz="900"/>
          </a:p>
        </p:txBody>
      </p:sp>
    </p:spTree>
    <p:extLst>
      <p:ext uri="{BB962C8B-B14F-4D97-AF65-F5344CB8AC3E}">
        <p14:creationId xmlns:p14="http://schemas.microsoft.com/office/powerpoint/2010/main" val="163601844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076D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5A1C2C3-23BC-4BDB-BBFE-71182087FB1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d4f09e5d87c4453"/>
          <a:srcRect xmlns:a="http://schemas.openxmlformats.org/drawingml/2006/main" l="0" t="7816" r="0" b="781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12" name="cover-blue-photo-tone">
            <a:extLst xmlns:a="http://schemas.openxmlformats.org/drawingml/2006/main">
              <a:ext uri="{FF2B5EF4-FFF2-40B4-BE49-F238E27FC236}">
                <a16:creationId xmlns:a16="http://schemas.microsoft.com/office/drawing/2014/main" id="{631F8010-11C9-4B08-8AE3-B2AEFF4C6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6DFC">
              <a:alpha val="9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deco-tri-big">
            <a:extLst xmlns:a="http://schemas.openxmlformats.org/drawingml/2006/main">
              <a:ext uri="{FF2B5EF4-FFF2-40B4-BE49-F238E27FC236}">
                <a16:creationId xmlns:a16="http://schemas.microsoft.com/office/drawing/2014/main" id="{411F0C90-4FC2-4519-956F-73CB1C45B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200000">
            <a:off x="-762000" y="4826000"/>
            <a:ext cx="3302000" cy="25400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A8EB3F"/>
          </a:solidFill>
          <a:ln xmlns:a="http://schemas.openxmlformats.org/drawingml/2006/main">
            <a:noFill/>
          </a:ln>
        </p:spPr>
      </p:sp>
      <p:sp>
        <p:nvSpPr>
          <p:cNvPr id="3" name="deco-tri-small">
            <a:extLst xmlns:a="http://schemas.openxmlformats.org/drawingml/2006/main">
              <a:ext uri="{FF2B5EF4-FFF2-40B4-BE49-F238E27FC236}">
                <a16:creationId xmlns:a16="http://schemas.microsoft.com/office/drawing/2014/main" id="{4C630244-680C-47AA-9673-D5EC3B420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10541000" y="762000"/>
            <a:ext cx="1905000" cy="13970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A8EB3F"/>
          </a:solidFill>
          <a:ln xmlns:a="http://schemas.openxmlformats.org/drawingml/2006/main">
            <a:noFill/>
          </a:ln>
        </p:spPr>
      </p:sp>
      <p:sp>
        <p:nvSpPr>
          <p:cNvPr id="4" name="deco-circle">
            <a:extLst xmlns:a="http://schemas.openxmlformats.org/drawingml/2006/main">
              <a:ext uri="{FF2B5EF4-FFF2-40B4-BE49-F238E27FC236}">
                <a16:creationId xmlns:a16="http://schemas.microsoft.com/office/drawing/2014/main" id="{1D06CEF4-522C-4F19-B57E-8E1298A63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0000" y="4064000"/>
            <a:ext cx="2159000" cy="21590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31750">
            <a:solidFill>
              <a:srgbClr val="FFFFFF">
                <a:alpha val="60000"/>
              </a:srgbClr>
            </a:solidFill>
          </a:ln>
        </p:spPr>
      </p:sp>
      <p:sp>
        <p:nvSpPr>
          <p:cNvPr id="5" name="deco-dot">
            <a:extLst xmlns:a="http://schemas.openxmlformats.org/drawingml/2006/main">
              <a:ext uri="{FF2B5EF4-FFF2-40B4-BE49-F238E27FC236}">
                <a16:creationId xmlns:a16="http://schemas.microsoft.com/office/drawing/2014/main" id="{8F976FD2-A96C-4524-BF10-F1B1A56B6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5200" y="50546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8EB3F"/>
          </a:solidFill>
          <a:ln xmlns:a="http://schemas.openxmlformats.org/drawingml/2006/main">
            <a:noFill/>
          </a:ln>
        </p:spPr>
      </p:sp>
      <p:pic>
        <p:nvPicPr>
          <p:cNvPr id="6" name="end-char">
            <a:extLst xmlns:a="http://schemas.openxmlformats.org/drawingml/2006/main">
              <a:ext uri="{FF2B5EF4-FFF2-40B4-BE49-F238E27FC236}">
                <a16:creationId xmlns:a16="http://schemas.microsoft.com/office/drawing/2014/main" id="{D53B1FE8-F7EF-422C-AB08-1722BA2194C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fd427995df14153">
            <a:alphaModFix amt="90000"/>
          </a:blip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382000" y="1270000"/>
            <a:ext cx="1905000" cy="1905000"/>
          </a:xfrm>
          <a:prstGeom xmlns:a="http://schemas.openxmlformats.org/drawingml/2006/main" prst="roundRect">
            <a:avLst>
              <a:gd name="adj" fmla="val 8000"/>
            </a:avLst>
          </a:prstGeom>
          <a:ln xmlns:a="http://schemas.openxmlformats.org/drawingml/2006/main">
            <a:noFill/>
          </a:ln>
        </p:spPr>
      </p:pic>
      <p:sp>
        <p:nvSpPr>
          <p:cNvPr id="7" name="end-thanks">
            <a:extLst xmlns:a="http://schemas.openxmlformats.org/drawingml/2006/main">
              <a:ext uri="{FF2B5EF4-FFF2-40B4-BE49-F238E27FC236}">
                <a16:creationId xmlns:a16="http://schemas.microsoft.com/office/drawing/2014/main" id="{DA4B5656-F55D-48DC-9E34-41FD0F865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905000"/>
            <a:ext cx="7112000" cy="965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</a:pPr>
            <a:r>
              <a:rPr sz="5400" b="1" spc="600">
                <a:solidFill>
                  <a:srgbClr val="FFFFFF"/>
                </a:solidFill>
                <a:latin typeface="MiSans"/>
                <a:ea typeface="MiSans"/>
                <a:cs typeface="MiSans"/>
              </a:rPr>
              <a:t>感谢聆听</a:t>
            </a:r>
            <a:endParaRPr sz="5400"/>
          </a:p>
        </p:txBody>
      </p:sp>
      <p:sp>
        <p:nvSpPr>
          <p:cNvPr id="8" name="end-sub">
            <a:extLst xmlns:a="http://schemas.openxmlformats.org/drawingml/2006/main">
              <a:ext uri="{FF2B5EF4-FFF2-40B4-BE49-F238E27FC236}">
                <a16:creationId xmlns:a16="http://schemas.microsoft.com/office/drawing/2014/main" id="{35A01560-716C-46E8-ABED-C5AFF808B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3800" y="3048000"/>
            <a:ext cx="6604000" cy="355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</a:pPr>
            <a:r>
              <a:rPr sz="1600" b="1">
                <a:solidFill>
                  <a:srgbClr val="EAF2FF"/>
                </a:solidFill>
                <a:latin typeface="MiSans"/>
                <a:ea typeface="MiSans"/>
                <a:cs typeface="MiSans"/>
              </a:rPr>
              <a:t>恳请各位老师批评指正</a:t>
            </a:r>
            <a:endParaRPr sz="1600"/>
          </a:p>
        </p:txBody>
      </p:sp>
      <p:sp>
        <p:nvSpPr>
          <p:cNvPr id="9" name="end-tag-bg">
            <a:extLst xmlns:a="http://schemas.openxmlformats.org/drawingml/2006/main">
              <a:ext uri="{FF2B5EF4-FFF2-40B4-BE49-F238E27FC236}">
                <a16:creationId xmlns:a16="http://schemas.microsoft.com/office/drawing/2014/main" id="{A60DF3D7-D322-46BE-A95B-9420F07DF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3800" y="3759200"/>
            <a:ext cx="3175000" cy="381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A8EB3F"/>
          </a:solidFill>
          <a:ln xmlns:a="http://schemas.openxmlformats.org/drawingml/2006/main">
            <a:noFill/>
          </a:ln>
        </p:spPr>
      </p:sp>
      <p:sp>
        <p:nvSpPr>
          <p:cNvPr id="10" name="end-tag">
            <a:extLst xmlns:a="http://schemas.openxmlformats.org/drawingml/2006/main">
              <a:ext uri="{FF2B5EF4-FFF2-40B4-BE49-F238E27FC236}">
                <a16:creationId xmlns:a16="http://schemas.microsoft.com/office/drawing/2014/main" id="{AC3B2DBF-751A-462A-AB67-08AE6D17A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3800" y="3759200"/>
            <a:ext cx="317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</a:pPr>
            <a:r>
              <a:rPr sz="1250" b="1" spc="200">
                <a:solidFill>
                  <a:srgbClr val="0A2A6B"/>
                </a:solidFill>
                <a:latin typeface="MiSans"/>
                <a:ea typeface="MiSans"/>
                <a:cs typeface="MiSans"/>
              </a:rPr>
              <a:t>一笔成章 · 中期汇报 · 2026.10</a:t>
            </a:r>
            <a:endParaRPr sz="1250"/>
          </a:p>
        </p:txBody>
      </p:sp>
      <p:sp>
        <p:nvSpPr>
          <p:cNvPr id="11" name="end-info">
            <a:extLst xmlns:a="http://schemas.openxmlformats.org/drawingml/2006/main">
              <a:ext uri="{FF2B5EF4-FFF2-40B4-BE49-F238E27FC236}">
                <a16:creationId xmlns:a16="http://schemas.microsoft.com/office/drawing/2014/main" id="{6C54F18D-FB97-4BBC-8EFC-B39F2D8C0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3295" y="4521200"/>
            <a:ext cx="5842000" cy="63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80000"/>
              </a:lnSpc>
              <a:buNone/>
            </a:pPr>
            <a:r>
              <a:rPr sz="1150" b="1">
                <a:solidFill>
                  <a:srgbClr val="D6E6FF"/>
                </a:solidFill>
                <a:latin typeface="MiSans"/>
                <a:ea typeface="MiSans"/>
                <a:cs typeface="MiSans"/>
              </a:rPr>
              <a:t>汇报人：刘小凡　　指导教师：万成城</a:t>
            </a:r>
            <a:endParaRPr sz="1150"/>
          </a:p>
          <a:p xmlns:a="http://schemas.openxmlformats.org/drawingml/2006/main">
            <a:pPr algn="l">
              <a:lnSpc>
                <a:spcPct val="180000"/>
              </a:lnSpc>
              <a:buNone/>
            </a:pPr>
            <a:r>
              <a:rPr sz="1150" b="1">
                <a:solidFill>
                  <a:srgbClr val="D6E6FF"/>
                </a:solidFill>
                <a:latin typeface="MiSans"/>
                <a:ea typeface="MiSans"/>
                <a:cs typeface="MiSans"/>
              </a:rPr>
              <a:t>华东师范大学 软件工程学院</a:t>
            </a:r>
            <a:endParaRPr sz="1150"/>
          </a:p>
        </p:txBody>
      </p:sp>
    </p:spTree>
    <p:extLst>
      <p:ext uri="{BB962C8B-B14F-4D97-AF65-F5344CB8AC3E}">
        <p14:creationId xmlns:p14="http://schemas.microsoft.com/office/powerpoint/2010/main" val="17709238"/>
      </p:ext>
    </p:extLst>
  </p:cSld>
</p:sld>
</file>

<file path=ppt/theme/theme1.xml><?xml version="1.0" encoding="utf-8"?>
<a:theme xmlns:a="http://schemas.openxmlformats.org/drawingml/2006/main" name="PPTD">
  <a:themeElements>
    <a:clrScheme name="PPTD">
      <a:dk1>
        <a:srgbClr val="000000"/>
      </a:dk1>
      <a:lt1>
        <a:srgbClr val="FFFFFF"/>
      </a:lt1>
      <a:dk2>
        <a:srgbClr val="1F2937"/>
      </a:dk2>
      <a:lt2>
        <a:srgbClr val="F3F4F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PTD">
      <a:majorFont>
        <a:latin typeface="MiSans"/>
        <a:ea typeface="MiSans"/>
        <a:cs typeface="MiSans"/>
      </a:majorFont>
      <a:minorFont>
        <a:latin typeface="MiSans"/>
        <a:ea typeface="MiSans"/>
        <a:cs typeface="MiSans"/>
      </a:minorFont>
    </a:fontScheme>
    <a:fmtScheme name="PPTD">
      <a:fillStyleLst>
        <a:solidFill>
          <a:schemeClr val="accent1"/>
        </a:solidFill>
        <a:solidFill>
          <a:schemeClr val="accent2"/>
        </a:solidFill>
        <a:solidFill>
          <a:schemeClr val="accent3"/>
        </a:solidFill>
      </a:fillStyleLst>
      <a:lnStyleLst>
        <a:ln w="6350">
          <a:solidFill>
            <a:schemeClr val="accent1"/>
          </a:solidFill>
          <a:prstDash val="solid"/>
        </a:ln>
        <a:ln w="12700">
          <a:solidFill>
            <a:schemeClr val="accent1"/>
          </a:solidFill>
          <a:prstDash val="solid"/>
        </a:ln>
        <a:ln w="19050">
          <a:solidFill>
            <a:schemeClr val="accent1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lt1"/>
        </a:solidFill>
        <a:solidFill>
          <a:schemeClr val="lt2"/>
        </a:solidFill>
        <a:solidFill>
          <a:schemeClr val="dk1"/>
        </a:soli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2026-10-25T17:11:57.8690000Z</dcterms:created>
  <dcterms:modified xsi:type="dcterms:W3CDTF">2026-10-25T17:11:57.8690000Z</dcterms:modified>
</coreProperties>
</file>