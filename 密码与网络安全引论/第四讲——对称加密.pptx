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tags/tag39.xml" ContentType="application/vnd.openxmlformats-officedocument.presentationml.tags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59"/>
  </p:notesMasterIdLst>
  <p:handoutMasterIdLst>
    <p:handoutMasterId r:id="rId60"/>
  </p:handoutMasterIdLst>
  <p:sldIdLst>
    <p:sldId id="417" r:id="rId2"/>
    <p:sldId id="552" r:id="rId3"/>
    <p:sldId id="419" r:id="rId4"/>
    <p:sldId id="468" r:id="rId5"/>
    <p:sldId id="469" r:id="rId6"/>
    <p:sldId id="470" r:id="rId7"/>
    <p:sldId id="480" r:id="rId8"/>
    <p:sldId id="425" r:id="rId9"/>
    <p:sldId id="556" r:id="rId10"/>
    <p:sldId id="557" r:id="rId11"/>
    <p:sldId id="558" r:id="rId12"/>
    <p:sldId id="582" r:id="rId13"/>
    <p:sldId id="564" r:id="rId14"/>
    <p:sldId id="560" r:id="rId15"/>
    <p:sldId id="592" r:id="rId16"/>
    <p:sldId id="593" r:id="rId17"/>
    <p:sldId id="583" r:id="rId18"/>
    <p:sldId id="493" r:id="rId19"/>
    <p:sldId id="475" r:id="rId20"/>
    <p:sldId id="476" r:id="rId21"/>
    <p:sldId id="485" r:id="rId22"/>
    <p:sldId id="482" r:id="rId23"/>
    <p:sldId id="591" r:id="rId24"/>
    <p:sldId id="567" r:id="rId25"/>
    <p:sldId id="580" r:id="rId26"/>
    <p:sldId id="490" r:id="rId27"/>
    <p:sldId id="495" r:id="rId28"/>
    <p:sldId id="596" r:id="rId29"/>
    <p:sldId id="597" r:id="rId30"/>
    <p:sldId id="496" r:id="rId31"/>
    <p:sldId id="497" r:id="rId32"/>
    <p:sldId id="498" r:id="rId33"/>
    <p:sldId id="507" r:id="rId34"/>
    <p:sldId id="508" r:id="rId35"/>
    <p:sldId id="501" r:id="rId36"/>
    <p:sldId id="502" r:id="rId37"/>
    <p:sldId id="576" r:id="rId38"/>
    <p:sldId id="590" r:id="rId39"/>
    <p:sldId id="504" r:id="rId40"/>
    <p:sldId id="566" r:id="rId41"/>
    <p:sldId id="569" r:id="rId42"/>
    <p:sldId id="512" r:id="rId43"/>
    <p:sldId id="553" r:id="rId44"/>
    <p:sldId id="584" r:id="rId45"/>
    <p:sldId id="538" r:id="rId46"/>
    <p:sldId id="541" r:id="rId47"/>
    <p:sldId id="539" r:id="rId48"/>
    <p:sldId id="587" r:id="rId49"/>
    <p:sldId id="585" r:id="rId50"/>
    <p:sldId id="562" r:id="rId51"/>
    <p:sldId id="540" r:id="rId52"/>
    <p:sldId id="561" r:id="rId53"/>
    <p:sldId id="554" r:id="rId54"/>
    <p:sldId id="542" r:id="rId55"/>
    <p:sldId id="600" r:id="rId56"/>
    <p:sldId id="598" r:id="rId57"/>
    <p:sldId id="586" r:id="rId58"/>
  </p:sldIdLst>
  <p:sldSz cx="12192000" cy="6858000"/>
  <p:notesSz cx="6858000" cy="9144000"/>
  <p:custDataLst>
    <p:tags r:id="rId6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F5F5F5"/>
    <a:srgbClr val="FBF1F1"/>
    <a:srgbClr val="7F7B7B"/>
    <a:srgbClr val="C41F1F"/>
    <a:srgbClr val="C52727"/>
    <a:srgbClr val="CE6B6A"/>
    <a:srgbClr val="D8A8A6"/>
    <a:srgbClr val="B80102"/>
    <a:srgbClr val="ECEC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772" autoAdjust="0"/>
    <p:restoredTop sz="80841" autoAdjust="0"/>
  </p:normalViewPr>
  <p:slideViewPr>
    <p:cSldViewPr snapToGrid="0">
      <p:cViewPr varScale="1">
        <p:scale>
          <a:sx n="90" d="100"/>
          <a:sy n="90" d="100"/>
        </p:scale>
        <p:origin x="888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tags" Target="tags/tag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handoutMaster" Target="handoutMasters/handoutMaster1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D9B1AB-4C61-4EAA-B981-DC4B0504F26F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1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06D625-A1DC-4EBB-A646-079D2450DB9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开场：回扣第二讲的代换与置换，提出本讲问题——现代对称加密怎样用一把共享密钥保护数据。本讲先介绍对称加密的基本概念，再讲分组密码的设计基础，最后讲解 DES、AES、SM4 三个典型分组密码。长消息如何用分组密码加密（工作模式）放在下一讲。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本讲分三部分。第一部分介绍对称加密的定义、对称加密方案的形式化描述和分类，并区分分组密码算法与工作模式；第二部分介绍分组密码的设计基础，包括基本原理、混淆与扩散、轮密钥加与密钥编排，以及 Feistel 和 SPN 两种整体结构；第三部分依次讲解 DES、AES、SM4，最后对三者进行比较。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过渡页：先讲清“共享密钥”的含义和对称加密方案的定义，再区分分组密码与流密码，最后说明分组密码算法与工作模式的关系。这一节为后面阅读具体算法的结构图建立基本概念。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沿图走一遍明文→密文→明文，指认两端使用同一个 K。设问：算法公开还能安全吗？关键是密钥保密与方案可靠；顺势点出双方怎样安全取得同一密钥。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将 Gen、Enc、Dec 分别对应“生成钥匙、加锁、开锁”，带读正确性公式。强调能解回原文只说明正确，不等于安全；密钥生成也不能随意。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用“整块处理”和“生成密钥流后逐位加密”对照两条路线。让学生把 DES、AES、SM4 与 ZUC 归类。工作模式和 ZUC 在这里只需认识名称：本讲讲典型分组密码算法，工作模式与流密码在下一讲展开。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本节易混点。拆开 AES-CBC：AES 决定一个块如何变换，CBC 决定块与块如何关联。追问 AES-CTR 换了哪一层？答案是工作模式。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第二节讲分组密码的设计基础，依次是：分组密码概述与发展历程、基本原理、混淆与扩散、轮密钥加与密钥编排，以及 Feistel 和 SPN 两种整体结构，最后用一个简化的 SPN 实例演示完整的加密过程。这些内容是后面理解 DES、AES、SM4 的共同基础。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先用一句话建立固定长度分组、密钥控制变换的整体印象，再沿时间线讲理论与标准的发展。AES 于 2001 年发布为正式标准，2000 年是 Rijndael 入选；SM4 的公开与国家标准发布是两个节点。最后指出 DES、AES、SM4 是不同算法，承接下一页的共同原理。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先分清 n 位分组长度与 k 位密钥长度，两者不必相等。固定密钥后，两个不同的明文分组不能得到相同密文，否则无法唯一解密；由此解释双射。再沿下方流程图读多轮迭代，强调轮密钥由主密钥确定性扩展，并非每轮另选一把独立随机密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混淆和扩散是香农提出的两条设计原则。混淆主要依靠非线性部件（S 盒），使密钥与密文之间的关系复杂化；扩散主要依靠线性部件（置换、矩阵变换），使一个输入位影响多个输出位。二者都需要多轮迭代才能充分发挥作用，雪崩效应常用来检验扩散效果。下一页介绍密钥如何参与运算：轮密钥加与密钥编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轮密钥加是最简单的部件：把轮密钥与数据异或。异或两次就还原，所以解密时再异或一次同一个轮密钥即可。密钥编排负责把一个主密钥扩展成每一轮使用的轮密钥。编排设计不当，轮密钥之间就可能存在简单关系，导致弱密钥（例如 DES 有 4 个弱密钥）或相关密钥攻击。下方表格是后面三个算法的对照，讲到具体算法时可以翻回来对照。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Feistel 结构的思路：把分组分成左右两半，每轮保留右半，用右半和轮密钥计算 F，再把结果异或到左半，最后交换左右。看公式：L_i = R_{i−1}，R_i = L_{i−1} ⊕ F(R_{i−1}, K_i)。逆推时，新的左半就是旧的右半，所以可以重新算出同一个 F 值，再异或一次就找回旧的左半。因此 F 不需要可逆，这是 Feistel 结构最大的好处。小算例：设 L_{i−1} = 1100，F 的输出为 1010，则 R_i = 1100 ⊕ 1010 = 0110；还原时 0110 ⊕ 1010 = 1100。DES 就是 16 轮 Feistel 结构，SM4 是它的推广（四分支）。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SPN 是“代换—置换网络”：每一轮先与轮密钥异或，再经过一层并行的 S 盒（代换，负责混淆），最后经过一层线性变换（置换，负责扩散）。和 Feistel 不同，SPN 每轮都会更新整个分组，所以扩散更快；但解密时必须按相反顺序使用逆线性层和逆 S 盒，因此各部件都必须可逆。AES 就是典型的 SPN 结构，后面会看到它的字节代替、行移位、列混淆和轮密钥加分别对应这里的各层。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这个例子来自教材中的简化 SPN，参数 l = m = Nr = 4：每个 S 盒 4 位，每轮 4 个 S 盒并行，共 4 轮，分组长 16 位。这一页先介绍部件，下一页再演示加密。S 盒按十六进制查表，例如 1→4、C→5。置换 πP 把第 j+1 个 S 盒输出的第 i 位，送到下一轮第 i 个 S 盒的第 j+1 位；把 16 位排成 4×4 方阵来看就是一次转置，所以每个 S 盒的输出会分散到下一轮 4 个不同的 S 盒，这就是扩散。右栏是密钥编排：32 位主密钥按 4 位一段排开，K1 取前 16 位，之后每轮向右滑动 4 位，共得到 K1～K5 五个 16 位轮密钥。实际密码的密钥编排要复杂得多，这里只为演示结构。下方是轮结构：前 3 轮依次做轮密钥加、S 盒、置换；第 4 轮不做置换，最后再异或 K5。对照上一页的通式：u、v、w 分别是轮密钥加、S 层、线性层之后的状态，w 就是上一页的 X。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按轮演示加密。左表给出第 1 轮和第 4 轮的二进制过程，右表列出每一轮的十六进制中间值，便于核对。第 1 轮：u1 = x ⊕ K1 = 26B7 ⊕ 3A94 = 1C23；逐个半字节查 S 盒，1→4、C→5、2→D、3→1，得 v1 = 45D1；置换要按位看：把 v1 = 0100 0101 1101 0001 的四个半字节依次写成方阵的四行，按列读出得到 0010 1110 0000 0111，即 w1 = 2E07。第 2、3 轮同理：u2 = 874A，v2 = 3826，w2 = 41B8；u3 = D56E，v3 = 9FB0，w3 = E46E。第 4 轮只做轮密钥加和 S 盒：u4 = A90D，v4 = 6AE9，不做置换，最后异或 K5 得到密文 y = BCD6。末轮省去置换，是因为置换公开且不含密钥，放在最后任何人都能直接逆掉，对安全没有贡献；最后异或 K5（白化）使最后一层 S 盒的输出也受密钥保护。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第三节依次讲 DES、AES、SM4。每个算法都对照第二节的部件来看：整体结构是什么，非线性部件是什么，线性部件是什么，轮密钥怎么来。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先分清三个数：64 位分组、64 位密钥表示、56 位有效密钥。让学生数 1010101 中的 1，得出校验位应补 1；校验位不参与加密，也不增加密钥空间。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先抓主线：IP→左右各 32 位→16 轮→末轮交换→逆 IP。只追踪第一轮的左右两半；提醒 48 位轮密钥由主密钥扩展得到，轮函数 F 输出仍为 32 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先示范读表：IP 输出第 1 位取输入第 58 位，数字表示位置，不是比特值。再用逆置换说明如何恢复原序；两张表公开固定，单靠重排位置不能提供保密性。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带学生读 E 表首行 32、1、2、3、4、5，算出 101100，留给下一页继续使用。强调 32→48 靠重复选取边界位，首尾相邻，并非补入新的随机比特。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让学生逐位算 101100⊕110111，答案 011011。强调异或不进位，结果仍是 48 位；本步引入轮密钥，下一页再由 S 盒引入非线性。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本页讲 S 盒代换。沿用上一页的结果，B 的第一组 B1 = 011011 送入 S1。读表规则：6 位输入中，首尾两位 b1b6 组成行号，中间四位 b2b3b4b5 组成列号，行、列都从 0 开始编号。本例首尾两位为 01，行号为 1；中间四位为 1101，列号为 13；S1 表第 1 行第 13 列为 5，所以 S1(011011) = 5 = (0101)₂。</a:t>
            </a:r>
          </a:p>
          <a:p>
            <a:r>
              <a:t>8 个 S 盒并行工作，每个 S 盒 6 位输入、4 位输出，48 位输入压缩为 32 位输出。S 盒是 DES 中唯一的非线性部件，负责混淆；图中同时标出了 S 盒在轮函数 F 中的位置。下一页请学生自行查表练习。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课堂练习：请同学们用 S1、S2 两张表自己查。① S1(111111)：首尾两位 11 → 第 3 行；中间四位 1111 → 第 15 列。② S2(100110)：首尾两位 10 → 第 2 行；中间四位 0011 → 第 3 列。给学生 1～2 分钟，然后翻到下一页核对。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答案：① S1 第 3 行第 15 列为 13，写成二进制 1101；② S2 第 2 行第 3 列为 11，写成二进制 1011。常见错误：把行号和列号取反，或者忘记行、列都从 0 开始编号。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先带读 P 表前四项，得到 x₁₆、x₇、x₂₀、x₂₁；与 E 扩展对照，P 不重复也不丢位。再按从内到外读完整 F 公式，接回左右半部的异或；扩散需多轮配合。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讲解顺序：初始置换；分成前后 32 位 CL0、CR0；16 轮迭代；交换后作末置换 IP⁻¹。这里 CL、CR 专指解密过程的状态，以免与加密的 L、R 混淆。加密输出 C = IP⁻¹(R16 ‖ L16)，所以解密时 IP(C) = R16 ‖ L16，即 CL0 = R16、CR0 = L16。解密第一轮用 K16，得 CL1 = L16 = R15，CR1 = R16 ⊕ F(L16, K16) = L15，正好退回上一轮的状态（左右角色相反）。依此类推，16 轮后 CL16 = R0、CR16 = L0，交换得到 L0 ‖ R0，再作 IP⁻¹ 恢复明文。强调从密文开始仍然先作 IP、最后作 IP⁻¹，初始置换与末置换的顺序不颠倒。轮函数完全沿用加密的 F，无需逆 S 盒；轮密钥与加密相同，仅使用顺序相反。轮密钥如何生成在随后两页展开。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步骤索引：① 64 位主密钥含 8 个奇偶校验位；② 置换选择 1（PC-1）按表中编号选位并重排，得到 56 位；③ 分成 C0、D0 两个独立的 28 位状态；④ 第 i 轮按移位表将 Ci−1、Di−1 各自循环左移，得到 Ci、Di；⑤ 拼接 Ci ‖ Di 后由置换选择 2（PC-2）选出 48 位子密钥 Ki；⑥ 下一轮继续移动 Ci、Di，而不是移动 Ki。位编号均从输入最左位起、从 1 计数。16 轮的移位数依次为 1, 1, 2, 2, 2, 2, 2, 2, 1, 2, 2, 2, 2, 2, 2, 1，合计 28 位；每轮从连续的 C、D 状态派生一个轮密钥，共得到 K1～K16。位序示意只画出 C 分支循环左移 1 位：b1 b2 … b28 变为 b2 … b28 b1，D 分支独立执行相同规则，移出最左端的位回到本分支末尾。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步骤索引：① 从左到右、从上到下读 PC-1 表，输出的第 j 位取原 64 位主密钥中表第 j 项指定的位；② PC-1 不选每字节的第 8 位，即第 8、16、24、32、40、48、56、64 位校验位；③ PC-1 所得 56 位分为 C0 和 D0，各 28 位；④ 第 i 轮循环左移得到 Ci 和 Di 后拼成 56 位；⑤ 从左到右、从上到下读 PC-2 表，输出 48 位 Ki。PC-2 的输入位编号针对 Ci ‖ Di，而不是原始 64 位 K；表项是从 1 开始的位位置，不是比特值。16 轮都用同一张 PC-2 表处理各轮的 Ci ‖ Di。标准实例：K = 133457799BBCDFF1；PC-1 后 C0 = F0CCAAF、D0 = 556678F；首轮两半各循环左移 1 位，得 C1 = E19955F、D1 = AACCF1E；PC-2 后 K1 = 1B02EFFC7072。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回扣古典密码的穷举思路：56 位有效密钥对应 2⁵⁶ 种可能，均匀密钥下平均约试一半。区分密钥短与分组短两类限制；设问“连续加密两次能否把安全性翻倍”，引出下一页。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先对比 DES-XEX3 的前后异或与双重 DES 的两次完整加密。让学生沿图找中间相遇点：一端算 EK1(M*)，另一端算 DK2(C*)；匹配后还要用另一组明密文验证。由此引出三重 DES。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四种形式按箭头从左到右读，EDE 中间的 D 仍属于整体加密。提问：EDE2 比 EDE3 少了什么？答：少一把独立密钥，不少一次 DES 运算。密钥组合数也不能直接当作安全强度；接着转入 AES。</a:t>
            </a:r>
          </a:p>
          <a:p>
            <a:r>
              <a:t>补充 EDE 的兼容性：若 K1 = K2 = K3 = K，则 E_K(D_K(E_K(M))) = E_K(M)，三重 DES 的 EDE 配置退化为单次 DES，可用于兼容历史系统；这并不意味着今天仍推荐使用单 DES。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先记住 AES 的分组始终为 128 位，再按密钥长度对应 10、12、14 轮，避免把 AES-256 误解为 256 位分组。时间线顺带纠正：2000 年 Rijndael 入选，AES 标准于 2001 年正式发布。下一页看 AES-128 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沿图按初始轮密钥加、前九轮、末轮的顺序讲。问学生：第十轮少了哪一步？答：列混淆。初始异或不算在十轮内；这里主密钥直接作初始轮密钥，仅针对图中的 AES-128 示例。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先把 16 字节按列放进 4×4 状态，再请学生查 S 盒：00 得 63，10 得 CA。强调字节代替只改变值，不移动位置；S 盒公开且固定，非线性来自代替规则。下一步才改变字节位置。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让学生盯住第二行的 CA：循环左移后它到最右端，字节值仍是 CA。第 0 至第 3 行依次左移 0 至 3 格，移动都在各自行内；随后列混淆才能把不同位置的信息进一步扩散。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先看第一列如何由四个输入字节变成四个输出字节，再只算首个输出 5F。提醒这里的加法是异或，乘 02、03 按有限域规则，不能当普通整数乘法；其余三列按同一矩阵分别处理。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这一页只做例题。先看矩阵第一行：b0 = (02×63) ⊕ (03×53) ⊕ E0 ⊕ 8C。第一步，0x02 对应多项式 x，所以 0x02×0x63 就是 x 乘以 x^6+x^5+x+1，得到 x^7+x^6+x^2+x，对应 0xC6。第二步，0x03 对应 x+1，所以 0x03×a = xa+a = (0x02×a)⊕a；代入 a=0x53，得到 0xA6⊕0x53=0xF5。最后把四项异或，得到第一个输出字节 0x5F。强调这不是把十六进制整数做普通乘法。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用第一格 5F ⊕ D6 = 89 带学生读懂三矩阵的对应关系。轮密钥加是逐位异或，字节位置不变；同一轮密钥再异或一次即可撤销这一步。解密还要按相反顺序执行其余逆变换。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本页只讨论 AES-128。主密钥是四个 32 位字 W0 到 W3。扩展后共有 44 个字，每四个字分成一组，得到 rk0 到 rk10 共 11 个 128 位轮密钥。先指出 rk0 就是原主密钥，在正式轮运算前做初始轮密钥加；后面的十组分别用于十轮。从 i=4 开始逐字递推：每逢 i 为 4 的倍数，对前一字先做 T，再与前四字异或；其他位置直接将前一字与前四字异或。T 依次是左移一个字节、逐字节过与 AES 加密相同的 S 盒、异或对应的轮常量。轮常量的后三字节总为 00，这里列出十轮用到的首字节。按底部箭头读第一组：先由 W0 和 T1(W3) 得 W4，再依次得到 W5、W6、W7。下一页用具体主密钥逐步验算。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沿用前面轮密钥加页的 AES-128 示例主密钥：000102030405060708090A0B0C0D0E0F。先每四字节拆成 W0 到 W3。要算 W4，取 W3 的 0C 0D 0E 0F，RotWord 左移一个字节得到 0D 0E 0F 0C，逐字节经过 AES 同一个 S 盒得到 D7 AB 76 FE。这里是第一次调用 T，因此轮常量为 Rcon[1]=01 00 00 00，而不是 Rcon[4]；异或后 T1(W3)=D6 AB 76 FE，再与 W0=00 01 02 03 异或得到 W4=D6 AA 74 FD。接着三个位置不再做 T，依次得到 W5=D2 AF 72 FA、W6=DA A6 78 F1、W7=D6 AB 76 FE。强调右下表每一列对应一个字，合在一起就是第一轮密钥 rk1，与前面轮密钥加示例所用的数值一致。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SM4 最早是为无线局域网安全设计的，2006 年以 SMS4 的名称公开；2012 年成为密码行业标准 GM/T 0002—2012，2016 年成为国家标准 GB/T 32907—2016（推荐性标准），2021 年作为增补件纳入 ISO/IEC 18033-3。实际系统中，SM4 通常与 SM2、SM3 配套使用。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SM4 的三个基本参数：分组长度 128 位、密钥长度 128 位、迭代 32 轮。算法内部以 32 位的“字”为单位处理：明文分组看成 4 个字 X0～X3，主密钥也看成 4 个字 MK0～MK3。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把 SM4 和 DES 放在一起看。DES 把分组分成两半，每轮用右半算 F，异或到左半，然后左右交换。SM4 把 128 位分成 4 个 32 位字，每轮用后三个字和轮密钥算 F，异或到第一个字上，得到新字 X_{i+4}，然后整个“窗口”向后移一格。两者本质相同：被改写的部分只和 F 的输出做异或，所以 F 不需要可逆，解密时用同样的结构、把轮密钥倒过来用即可。SM4 每轮只改写四分之一，所以需要 32 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整体流程：明文分成 X0～X3 四个字。每一轮用当前四个字和一个轮密钥生成一个新字，状态窗口向后移一格。32 轮后得到 X32～X35，最后做一次反序变换 R，把四个字倒过来排，得到密文。右边是密钥扩展：主密钥 MK 生成 32 个轮密钥 rk0～rk31，加密时按顺序使用。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轮函数分四步：① 后三个字与轮密钥异或得到 A_i；② A_i 拆成 4 个字节，分别查 S 盒，这是非线性变换 τ；③ 再做线性变换 L；②③合起来叫合成置换 T；④ 把 T 的输出异或到第一个字 X_i 上，得到新字 X_{i+4}。然后丢掉 X_i，把 X_{i+4} 接到最后，进入下一轮。下面两页分别看 τ 和 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非线性变换 τ：把 32 位的 A 拆成 4 个字节，每个字节独立查 S 盒，再拼回 32 位。SM4 的 S 盒是 8 位进 8 位出，查法与 AES 相同：高 4 位为行号，低 4 位为列号。例：82 查第 8 行第 2 列得 8A。</a:t>
            </a:r>
          </a:p>
          <a:p>
            <a:r>
              <a:t>课堂练习：请学生计算 τ(8283CB69)。提示把 82、83、CB、69 四个字节分别查表，再按原顺序拼接。给学生 1～2 分钟，然后翻到下一页核对。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核对答案：四个字节分别查表，82→8A、83→D2、CB→41、69→22，按原顺序拼接得 τ(8283CB69) = 8AD24122。常见错误是把行号和列号取反。这个输入在后面国标示例的密钥扩展第一步还会出现。S 盒是 SM4 中唯一的非线性部件，负责混淆。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线性变换 L 把 32 位字 B 与它循环左移 2、10、18、24 位的结果异或在一起。看例子：B = 00000001 只有最低位是 1，循环左移 2、10、18、24 位后，这个 1 分别移到 4 个新位置，即 00000004、00000400、00040000、01000000；连同原位共 5 个 1，所以 L(00000001) = 01040405，这 5 个 1 分布在全部 4 个字节中。可见一个字节的变化经过 L 后会扩散到整个字，这就是 L 承担的扩散作用。</a:t>
            </a:r>
          </a:p>
          <a:p>
            <a:r>
              <a:t>L 是线性变换，输出只由输入及其循环移位异或得到。τ 与 L 复合得到合成置换 T(A) = L(τ(A))：τ 负责混淆，L 负责扩散。密钥扩展中使用的是另一个线性变换 L′，只循环左移 13 位和 23 位，在下一页介绍。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密钥扩展的结构和加密轮函数几乎一样：同样是四个字的窗口，每次用后三个字算一个新字。区别只有三处：参与异或的是固定参数 CK_i 而不是轮密钥；线性变换换成 L′，只左移 13 和 23 位；新生成的字 K_{i+4} 直接作为本轮的轮密钥 rk_i 输出。S 盒是同一张，实现时可以共用。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FK 是 4 个固定的字，只在初始化时和主密钥异或一次。CK 是 32 个字，每轮用一个。CK 不是随便给的数，而是有规则：第 i 个 CK 的第 j 个字节等于 (4i+j)×7 再模 256。以 CK1 为例：4、5、6、7 乘 7 得 28、35、42、49，写成十六进制是 1C、23、2A、31，所以 CK1 = 1C232A31。CK31 = 646B7279 可以同样验证。这些常量都是公开的，真正保密的只有主密钥。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SM4 解密不需要新的算法：把密文的四个字按 X35、X34、X33、X32 的顺序作为输入，轮密钥倒序使用。看解密第一轮：用 X34、X33、X32 和 rk31 算出的 T 值，与加密最后一轮完全相同，异或到 X35 上正好抵消，得到 X31。依次类推 32 轮，再反序输出，就是明文。这和 Feistel 结构“F 不必可逆”是同一个道理。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这是国标附录给出的测试数据，明文与主密钥取相同值。先看密钥扩展第一步：MK 与 FK 异或得到 K0～K3；K1、K2、K3 与 CK0 异或得 8283CB69，正是前面课堂练习的输入，τ 查表得 8AD24122，再经 L′ 得 53B37958，与 K0 异或得到 rk0 = F12186F9。再看加密第 1 轮：X1 ⊕ X2 ⊕ X3 ⊕ rk0 = F002C39E，τ 得 18E992B1，L 得 26D99622，与 X0 异或得 X4 = 27FAD345。</a:t>
            </a:r>
          </a:p>
          <a:p>
            <a:r>
              <a:t>下方表格列出各轮的轮密钥 rk_i 与新字 X_{i+4}，其余各轮按同样方法计算。32 轮后 X32～X35 = 536E4246、86B3E94F、D206965E、681EDF34，反序输出得到密文 681EDF34 D206965E 86B3E94F 536E4246。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最后把三个算法放在一起比较。前四行是参数和整体结构；中间三行对应“设计基础”中讲的部件：S 盒提供非线性，置换或矩阵变换提供扩散，密钥编排为每轮生成轮密钥。DES 和 SM4 属于 Feistel 类结构，解密直接复用加密结构；AES 是 SPN 结构，解密要用各步骤的逆变换。</a:t>
            </a:r>
          </a:p>
          <a:p>
            <a:r>
              <a:t>页面最后一句引出下一讲：分组密码一次只处理一个固定长度的分组，处理长消息时还需要规定各分组怎样组织和联系，这就是分组密码工作模式。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回扣开头的保密性目标：分组密码、流密码都离不开正确使用密钥。提醒学生，加密本身不自动提供完整性或来源认证。下一讲介绍分组密码工作模式、流密码与消息认证码：工作模式解决长消息如何用分组密码加密，流密码以 ZUC 为例，消息认证码用于保证消息的完整性并认证消息来源。留时间答疑。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78" y="1122388"/>
            <a:ext cx="9144470" cy="2387653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78" y="3602118"/>
            <a:ext cx="9144470" cy="16557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935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ags" Target="../tags/tag3.xml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4"/>
            </p:custDataLst>
          </p:nvPr>
        </p:nvSpPr>
        <p:spPr>
          <a:xfrm>
            <a:off x="-25401304" y="-25400558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>
            <p:custDataLst>
              <p:tags r:id="rId5"/>
            </p:custDataLst>
          </p:nvPr>
        </p:nvSpPr>
        <p:spPr>
          <a:xfrm>
            <a:off x="37593930" y="32258709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7" name="组合 86"/>
          <p:cNvGrpSpPr/>
          <p:nvPr userDrawn="1"/>
        </p:nvGrpSpPr>
        <p:grpSpPr>
          <a:xfrm>
            <a:off x="0" y="6385712"/>
            <a:ext cx="12192000" cy="508075"/>
            <a:chOff x="0" y="12669"/>
            <a:chExt cx="17007" cy="1008"/>
          </a:xfrm>
        </p:grpSpPr>
        <p:grpSp>
          <p:nvGrpSpPr>
            <p:cNvPr id="85" name="组合 84"/>
            <p:cNvGrpSpPr/>
            <p:nvPr userDrawn="1"/>
          </p:nvGrpSpPr>
          <p:grpSpPr>
            <a:xfrm>
              <a:off x="0" y="13021"/>
              <a:ext cx="15152" cy="585"/>
              <a:chOff x="0" y="13021"/>
              <a:chExt cx="15152" cy="585"/>
            </a:xfrm>
          </p:grpSpPr>
          <p:sp>
            <p:nvSpPr>
              <p:cNvPr id="45" name="矩形 44"/>
              <p:cNvSpPr/>
              <p:nvPr userDrawn="1"/>
            </p:nvSpPr>
            <p:spPr>
              <a:xfrm>
                <a:off x="0" y="13426"/>
                <a:ext cx="3726" cy="43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525"/>
              </a:p>
            </p:txBody>
          </p:sp>
          <p:sp>
            <p:nvSpPr>
              <p:cNvPr id="51" name="矩形 50"/>
              <p:cNvSpPr/>
              <p:nvPr userDrawn="1"/>
            </p:nvSpPr>
            <p:spPr>
              <a:xfrm>
                <a:off x="0" y="13201"/>
                <a:ext cx="3767" cy="43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525"/>
              </a:p>
            </p:txBody>
          </p:sp>
          <p:sp>
            <p:nvSpPr>
              <p:cNvPr id="57" name="矩形 56"/>
              <p:cNvSpPr/>
              <p:nvPr userDrawn="1"/>
            </p:nvSpPr>
            <p:spPr>
              <a:xfrm>
                <a:off x="0" y="13021"/>
                <a:ext cx="3788" cy="1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525"/>
              </a:p>
            </p:txBody>
          </p:sp>
          <p:sp>
            <p:nvSpPr>
              <p:cNvPr id="62" name="矩形 61"/>
              <p:cNvSpPr/>
              <p:nvPr userDrawn="1"/>
            </p:nvSpPr>
            <p:spPr>
              <a:xfrm>
                <a:off x="0" y="13313"/>
                <a:ext cx="3747" cy="43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525"/>
              </a:p>
            </p:txBody>
          </p:sp>
          <p:sp>
            <p:nvSpPr>
              <p:cNvPr id="67" name="矩形 66"/>
              <p:cNvSpPr/>
              <p:nvPr userDrawn="1"/>
            </p:nvSpPr>
            <p:spPr>
              <a:xfrm>
                <a:off x="0" y="13538"/>
                <a:ext cx="3704" cy="6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525"/>
              </a:p>
            </p:txBody>
          </p:sp>
          <p:grpSp>
            <p:nvGrpSpPr>
              <p:cNvPr id="81" name="组合 80"/>
              <p:cNvGrpSpPr/>
              <p:nvPr userDrawn="1"/>
            </p:nvGrpSpPr>
            <p:grpSpPr>
              <a:xfrm>
                <a:off x="3704" y="13021"/>
                <a:ext cx="3872" cy="585"/>
                <a:chOff x="3704" y="13021"/>
                <a:chExt cx="3872" cy="585"/>
              </a:xfrm>
            </p:grpSpPr>
            <p:sp>
              <p:nvSpPr>
                <p:cNvPr id="46" name="矩形 45"/>
                <p:cNvSpPr/>
                <p:nvPr userDrawn="1"/>
              </p:nvSpPr>
              <p:spPr>
                <a:xfrm>
                  <a:off x="3726" y="13426"/>
                  <a:ext cx="3726" cy="43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25"/>
                </a:p>
              </p:txBody>
            </p:sp>
            <p:sp>
              <p:nvSpPr>
                <p:cNvPr id="52" name="矩形 51"/>
                <p:cNvSpPr/>
                <p:nvPr userDrawn="1"/>
              </p:nvSpPr>
              <p:spPr>
                <a:xfrm>
                  <a:off x="3768" y="13201"/>
                  <a:ext cx="3767" cy="43"/>
                </a:xfrm>
                <a:prstGeom prst="rect">
                  <a:avLst/>
                </a:prstGeom>
                <a:solidFill>
                  <a:srgbClr val="D8A8A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25"/>
                </a:p>
              </p:txBody>
            </p:sp>
            <p:sp>
              <p:nvSpPr>
                <p:cNvPr id="58" name="矩形 57"/>
                <p:cNvSpPr/>
                <p:nvPr userDrawn="1"/>
              </p:nvSpPr>
              <p:spPr>
                <a:xfrm>
                  <a:off x="3788" y="13021"/>
                  <a:ext cx="3788" cy="110"/>
                </a:xfrm>
                <a:prstGeom prst="rect">
                  <a:avLst/>
                </a:prstGeom>
                <a:solidFill>
                  <a:srgbClr val="D8A8A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25"/>
                </a:p>
              </p:txBody>
            </p:sp>
            <p:sp>
              <p:nvSpPr>
                <p:cNvPr id="63" name="矩形 62"/>
                <p:cNvSpPr/>
                <p:nvPr userDrawn="1"/>
              </p:nvSpPr>
              <p:spPr>
                <a:xfrm>
                  <a:off x="3747" y="13313"/>
                  <a:ext cx="3747" cy="43"/>
                </a:xfrm>
                <a:prstGeom prst="rect">
                  <a:avLst/>
                </a:prstGeom>
                <a:solidFill>
                  <a:srgbClr val="D8A8A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25"/>
                </a:p>
              </p:txBody>
            </p:sp>
            <p:sp>
              <p:nvSpPr>
                <p:cNvPr id="68" name="矩形 67"/>
                <p:cNvSpPr/>
                <p:nvPr userDrawn="1"/>
              </p:nvSpPr>
              <p:spPr>
                <a:xfrm>
                  <a:off x="3704" y="13538"/>
                  <a:ext cx="3704" cy="68"/>
                </a:xfrm>
                <a:prstGeom prst="rect">
                  <a:avLst/>
                </a:prstGeom>
                <a:solidFill>
                  <a:srgbClr val="D8A8A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25"/>
                </a:p>
              </p:txBody>
            </p:sp>
          </p:grpSp>
          <p:grpSp>
            <p:nvGrpSpPr>
              <p:cNvPr id="82" name="组合 81"/>
              <p:cNvGrpSpPr/>
              <p:nvPr userDrawn="1"/>
            </p:nvGrpSpPr>
            <p:grpSpPr>
              <a:xfrm>
                <a:off x="7408" y="13021"/>
                <a:ext cx="3956" cy="585"/>
                <a:chOff x="7408" y="13021"/>
                <a:chExt cx="3956" cy="585"/>
              </a:xfrm>
            </p:grpSpPr>
            <p:sp>
              <p:nvSpPr>
                <p:cNvPr id="47" name="矩形 46"/>
                <p:cNvSpPr/>
                <p:nvPr userDrawn="1"/>
              </p:nvSpPr>
              <p:spPr>
                <a:xfrm>
                  <a:off x="7452" y="13426"/>
                  <a:ext cx="3726" cy="43"/>
                </a:xfrm>
                <a:prstGeom prst="rect">
                  <a:avLst/>
                </a:prstGeom>
                <a:solidFill>
                  <a:srgbClr val="CE6B6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25"/>
                </a:p>
              </p:txBody>
            </p:sp>
            <p:sp>
              <p:nvSpPr>
                <p:cNvPr id="53" name="矩形 52"/>
                <p:cNvSpPr/>
                <p:nvPr userDrawn="1"/>
              </p:nvSpPr>
              <p:spPr>
                <a:xfrm>
                  <a:off x="7535" y="13201"/>
                  <a:ext cx="3767" cy="43"/>
                </a:xfrm>
                <a:prstGeom prst="rect">
                  <a:avLst/>
                </a:prstGeom>
                <a:solidFill>
                  <a:srgbClr val="CE6B6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25"/>
                </a:p>
              </p:txBody>
            </p:sp>
            <p:sp>
              <p:nvSpPr>
                <p:cNvPr id="59" name="矩形 58"/>
                <p:cNvSpPr/>
                <p:nvPr userDrawn="1"/>
              </p:nvSpPr>
              <p:spPr>
                <a:xfrm>
                  <a:off x="7576" y="13021"/>
                  <a:ext cx="3788" cy="110"/>
                </a:xfrm>
                <a:prstGeom prst="rect">
                  <a:avLst/>
                </a:prstGeom>
                <a:solidFill>
                  <a:srgbClr val="CE6B6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25"/>
                </a:p>
              </p:txBody>
            </p:sp>
            <p:sp>
              <p:nvSpPr>
                <p:cNvPr id="64" name="矩形 63"/>
                <p:cNvSpPr/>
                <p:nvPr userDrawn="1"/>
              </p:nvSpPr>
              <p:spPr>
                <a:xfrm>
                  <a:off x="7493" y="13313"/>
                  <a:ext cx="3747" cy="43"/>
                </a:xfrm>
                <a:prstGeom prst="rect">
                  <a:avLst/>
                </a:prstGeom>
                <a:solidFill>
                  <a:srgbClr val="CE6B6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25"/>
                </a:p>
              </p:txBody>
            </p:sp>
            <p:sp>
              <p:nvSpPr>
                <p:cNvPr id="69" name="矩形 68"/>
                <p:cNvSpPr/>
                <p:nvPr userDrawn="1"/>
              </p:nvSpPr>
              <p:spPr>
                <a:xfrm>
                  <a:off x="7408" y="13538"/>
                  <a:ext cx="3704" cy="68"/>
                </a:xfrm>
                <a:prstGeom prst="rect">
                  <a:avLst/>
                </a:prstGeom>
                <a:solidFill>
                  <a:srgbClr val="CE6B6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25"/>
                </a:p>
              </p:txBody>
            </p:sp>
          </p:grpSp>
          <p:grpSp>
            <p:nvGrpSpPr>
              <p:cNvPr id="83" name="组合 82"/>
              <p:cNvGrpSpPr/>
              <p:nvPr userDrawn="1"/>
            </p:nvGrpSpPr>
            <p:grpSpPr>
              <a:xfrm>
                <a:off x="11112" y="13021"/>
                <a:ext cx="4040" cy="585"/>
                <a:chOff x="11112" y="13021"/>
                <a:chExt cx="4040" cy="585"/>
              </a:xfrm>
            </p:grpSpPr>
            <p:sp>
              <p:nvSpPr>
                <p:cNvPr id="48" name="矩形 47"/>
                <p:cNvSpPr/>
                <p:nvPr userDrawn="1"/>
              </p:nvSpPr>
              <p:spPr>
                <a:xfrm>
                  <a:off x="11178" y="13426"/>
                  <a:ext cx="3726" cy="43"/>
                </a:xfrm>
                <a:prstGeom prst="rect">
                  <a:avLst/>
                </a:prstGeom>
                <a:solidFill>
                  <a:srgbClr val="C5272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25"/>
                </a:p>
              </p:txBody>
            </p:sp>
            <p:sp>
              <p:nvSpPr>
                <p:cNvPr id="54" name="矩形 53"/>
                <p:cNvSpPr/>
                <p:nvPr userDrawn="1"/>
              </p:nvSpPr>
              <p:spPr>
                <a:xfrm>
                  <a:off x="11303" y="13201"/>
                  <a:ext cx="3767" cy="43"/>
                </a:xfrm>
                <a:prstGeom prst="rect">
                  <a:avLst/>
                </a:prstGeom>
                <a:solidFill>
                  <a:srgbClr val="C5272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25"/>
                </a:p>
              </p:txBody>
            </p:sp>
            <p:sp>
              <p:nvSpPr>
                <p:cNvPr id="60" name="矩形 59"/>
                <p:cNvSpPr/>
                <p:nvPr userDrawn="1"/>
              </p:nvSpPr>
              <p:spPr>
                <a:xfrm>
                  <a:off x="11364" y="13021"/>
                  <a:ext cx="3788" cy="110"/>
                </a:xfrm>
                <a:prstGeom prst="rect">
                  <a:avLst/>
                </a:prstGeom>
                <a:solidFill>
                  <a:srgbClr val="C5272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25"/>
                </a:p>
              </p:txBody>
            </p:sp>
            <p:sp>
              <p:nvSpPr>
                <p:cNvPr id="65" name="矩形 64"/>
                <p:cNvSpPr/>
                <p:nvPr userDrawn="1"/>
              </p:nvSpPr>
              <p:spPr>
                <a:xfrm>
                  <a:off x="11240" y="13313"/>
                  <a:ext cx="3747" cy="43"/>
                </a:xfrm>
                <a:prstGeom prst="rect">
                  <a:avLst/>
                </a:prstGeom>
                <a:solidFill>
                  <a:srgbClr val="C5272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25"/>
                </a:p>
              </p:txBody>
            </p:sp>
            <p:sp>
              <p:nvSpPr>
                <p:cNvPr id="70" name="矩形 69"/>
                <p:cNvSpPr/>
                <p:nvPr userDrawn="1"/>
              </p:nvSpPr>
              <p:spPr>
                <a:xfrm>
                  <a:off x="11112" y="13538"/>
                  <a:ext cx="3704" cy="68"/>
                </a:xfrm>
                <a:prstGeom prst="rect">
                  <a:avLst/>
                </a:prstGeom>
                <a:solidFill>
                  <a:srgbClr val="C5272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25"/>
                </a:p>
              </p:txBody>
            </p:sp>
          </p:grpSp>
        </p:grpSp>
        <p:grpSp>
          <p:nvGrpSpPr>
            <p:cNvPr id="84" name="组合 83"/>
            <p:cNvGrpSpPr/>
            <p:nvPr userDrawn="1"/>
          </p:nvGrpSpPr>
          <p:grpSpPr>
            <a:xfrm>
              <a:off x="16123" y="13081"/>
              <a:ext cx="884" cy="518"/>
              <a:chOff x="16123" y="13021"/>
              <a:chExt cx="884" cy="518"/>
            </a:xfrm>
          </p:grpSpPr>
          <p:sp>
            <p:nvSpPr>
              <p:cNvPr id="72" name="矩形 71"/>
              <p:cNvSpPr/>
              <p:nvPr userDrawn="1"/>
            </p:nvSpPr>
            <p:spPr>
              <a:xfrm>
                <a:off x="16123" y="13379"/>
                <a:ext cx="884" cy="38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525"/>
              </a:p>
            </p:txBody>
          </p:sp>
          <p:sp>
            <p:nvSpPr>
              <p:cNvPr id="73" name="矩形 72"/>
              <p:cNvSpPr/>
              <p:nvPr userDrawn="1"/>
            </p:nvSpPr>
            <p:spPr>
              <a:xfrm>
                <a:off x="16123" y="13021"/>
                <a:ext cx="884" cy="98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525"/>
              </a:p>
            </p:txBody>
          </p:sp>
          <p:sp>
            <p:nvSpPr>
              <p:cNvPr id="74" name="矩形 73"/>
              <p:cNvSpPr/>
              <p:nvPr userDrawn="1"/>
            </p:nvSpPr>
            <p:spPr>
              <a:xfrm>
                <a:off x="16123" y="13180"/>
                <a:ext cx="884" cy="38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525"/>
              </a:p>
            </p:txBody>
          </p:sp>
          <p:sp>
            <p:nvSpPr>
              <p:cNvPr id="75" name="矩形 74"/>
              <p:cNvSpPr/>
              <p:nvPr userDrawn="1"/>
            </p:nvSpPr>
            <p:spPr>
              <a:xfrm>
                <a:off x="16123" y="13280"/>
                <a:ext cx="884" cy="38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525"/>
              </a:p>
            </p:txBody>
          </p:sp>
          <p:sp>
            <p:nvSpPr>
              <p:cNvPr id="76" name="矩形 75"/>
              <p:cNvSpPr/>
              <p:nvPr userDrawn="1"/>
            </p:nvSpPr>
            <p:spPr>
              <a:xfrm>
                <a:off x="16123" y="13479"/>
                <a:ext cx="884" cy="6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525"/>
              </a:p>
            </p:txBody>
          </p:sp>
        </p:grpSp>
        <p:pic>
          <p:nvPicPr>
            <p:cNvPr id="86" name="图片 85" descr="ChatGPT Image 2026年9月7日 11_42_32"/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14612" y="12669"/>
              <a:ext cx="1682" cy="1009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ct val="15000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9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6.xml"/><Relationship Id="rId5" Type="http://schemas.openxmlformats.org/officeDocument/2006/relationships/slide" Target="slide1.xml"/><Relationship Id="rId4" Type="http://schemas.openxmlformats.org/officeDocument/2006/relationships/slide" Target="slide2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6.xml"/><Relationship Id="rId5" Type="http://schemas.openxmlformats.org/officeDocument/2006/relationships/slide" Target="slide1.xml"/><Relationship Id="rId4" Type="http://schemas.openxmlformats.org/officeDocument/2006/relationships/slide" Target="slide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6.xml"/><Relationship Id="rId5" Type="http://schemas.openxmlformats.org/officeDocument/2006/relationships/slide" Target="slide1.xml"/><Relationship Id="rId4" Type="http://schemas.openxmlformats.org/officeDocument/2006/relationships/slide" Target="slide2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6.xml"/><Relationship Id="rId5" Type="http://schemas.openxmlformats.org/officeDocument/2006/relationships/slide" Target="slide1.xml"/><Relationship Id="rId4" Type="http://schemas.openxmlformats.org/officeDocument/2006/relationships/slide" Target="slide2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6.xml"/><Relationship Id="rId5" Type="http://schemas.openxmlformats.org/officeDocument/2006/relationships/slide" Target="slide1.xml"/><Relationship Id="rId4" Type="http://schemas.openxmlformats.org/officeDocument/2006/relationships/slide" Target="slide2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tags" Target="../tags/tag11.xml"/><Relationship Id="rId3" Type="http://schemas.openxmlformats.org/officeDocument/2006/relationships/tags" Target="../tags/tag6.xml"/><Relationship Id="rId7" Type="http://schemas.openxmlformats.org/officeDocument/2006/relationships/tags" Target="../tags/tag10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1" Type="http://schemas.openxmlformats.org/officeDocument/2006/relationships/image" Target="../media/image11.png"/><Relationship Id="rId5" Type="http://schemas.openxmlformats.org/officeDocument/2006/relationships/tags" Target="../tags/tag8.xml"/><Relationship Id="rId10" Type="http://schemas.openxmlformats.org/officeDocument/2006/relationships/notesSlide" Target="../notesSlides/notesSlide32.xml"/><Relationship Id="rId4" Type="http://schemas.openxmlformats.org/officeDocument/2006/relationships/tags" Target="../tags/tag7.xml"/><Relationship Id="rId9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4.xml"/><Relationship Id="rId3" Type="http://schemas.openxmlformats.org/officeDocument/2006/relationships/tags" Target="../tags/tag14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9" Type="http://schemas.openxmlformats.org/officeDocument/2006/relationships/image" Target="../media/image1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slide" Target="slide39.xml"/><Relationship Id="rId5" Type="http://schemas.openxmlformats.org/officeDocument/2006/relationships/slide" Target="slide37.xml"/><Relationship Id="rId4" Type="http://schemas.openxmlformats.org/officeDocument/2006/relationships/slide" Target="slide3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39.xml"/><Relationship Id="rId5" Type="http://schemas.openxmlformats.org/officeDocument/2006/relationships/slide" Target="slide37.xml"/><Relationship Id="rId4" Type="http://schemas.openxmlformats.org/officeDocument/2006/relationships/slide" Target="slide3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slide" Target="slide39.xml"/><Relationship Id="rId5" Type="http://schemas.openxmlformats.org/officeDocument/2006/relationships/slide" Target="slide37.xml"/><Relationship Id="rId4" Type="http://schemas.openxmlformats.org/officeDocument/2006/relationships/slide" Target="slide3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slide" Target="slide39.xml"/><Relationship Id="rId5" Type="http://schemas.openxmlformats.org/officeDocument/2006/relationships/slide" Target="slide37.xml"/><Relationship Id="rId4" Type="http://schemas.openxmlformats.org/officeDocument/2006/relationships/slide" Target="slide3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tags" Target="../tags/tag35.xml"/><Relationship Id="rId3" Type="http://schemas.openxmlformats.org/officeDocument/2006/relationships/tags" Target="../tags/tag20.xml"/><Relationship Id="rId21" Type="http://schemas.openxmlformats.org/officeDocument/2006/relationships/tags" Target="../tags/tag38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20" Type="http://schemas.openxmlformats.org/officeDocument/2006/relationships/tags" Target="../tags/tag37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23" Type="http://schemas.openxmlformats.org/officeDocument/2006/relationships/notesSlide" Target="../notesSlides/notesSlide42.xml"/><Relationship Id="rId10" Type="http://schemas.openxmlformats.org/officeDocument/2006/relationships/tags" Target="../tags/tag27.xml"/><Relationship Id="rId19" Type="http://schemas.openxmlformats.org/officeDocument/2006/relationships/tags" Target="../tags/tag36.xml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Relationship Id="rId22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9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103120"/>
            <a:ext cx="9445752" cy="6153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4000" b="1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密码与网络安全引论</a:t>
            </a:r>
            <a:endParaRPr sz="4000" b="1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4023360" y="3291840"/>
            <a:ext cx="4142232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454146" y="5067935"/>
            <a:ext cx="5280659" cy="4572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400" b="1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400" b="1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第四讲</a:t>
            </a:r>
            <a:r>
              <a:rPr lang="en-US" sz="1400" b="1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en-US" sz="1400" b="1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对称加密</a:t>
            </a:r>
            <a:endParaRPr lang="zh-CN" altLang="en-US" sz="1400" b="1" i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062476" y="37090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华东师范大学软件工程学院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062476" y="43224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主讲人</a:t>
            </a:r>
            <a:r>
              <a:rPr lang="en-US" altLang="zh-CN"/>
              <a:t>：</a:t>
            </a:r>
            <a:r>
              <a:rPr lang="zh-CN" altLang="en-US"/>
              <a:t>张磊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1554480"/>
            <a:ext cx="731520" cy="1235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3600" b="0" i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目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2880360" y="868680"/>
            <a:ext cx="128016" cy="51206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19600" y="1990662"/>
            <a:ext cx="347472" cy="34747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 anchorCtr="0"/>
          <a:lstStyle/>
          <a:p>
            <a:pPr algn="ctr"/>
            <a:endParaRPr sz="2400"/>
          </a:p>
        </p:txBody>
      </p:sp>
      <p:sp>
        <p:nvSpPr>
          <p:cNvPr id="16" name="TextBox 15"/>
          <p:cNvSpPr txBox="1"/>
          <p:nvPr/>
        </p:nvSpPr>
        <p:spPr>
          <a:xfrm>
            <a:off x="5105400" y="1874520"/>
            <a:ext cx="6035040" cy="579755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对称</a:t>
            </a:r>
            <a:r>
              <a:rPr lang="zh-CN" sz="3600" b="1" dirty="0" smtClean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加密</a:t>
            </a:r>
            <a:r>
              <a:rPr lang="zh-CN" altLang="en-US" sz="3600" b="1" dirty="0" smtClean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简介</a:t>
            </a:r>
            <a:endParaRPr lang="zh-CN" sz="3600" b="1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419600" y="3218434"/>
            <a:ext cx="347472" cy="34747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5105400" y="3108960"/>
            <a:ext cx="6035040" cy="5664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6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分组密码设计基础</a:t>
            </a:r>
            <a:endParaRPr lang="zh-CN" altLang="en-US" sz="36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8" name="Rectangle 15"/>
          <p:cNvSpPr/>
          <p:nvPr/>
        </p:nvSpPr>
        <p:spPr>
          <a:xfrm>
            <a:off x="4419600" y="4452874"/>
            <a:ext cx="347472" cy="34747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5105400" y="4343400"/>
            <a:ext cx="6035040" cy="5664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6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典型分组密码</a:t>
            </a:r>
            <a:endParaRPr lang="zh-CN" altLang="en-US" sz="36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682235" y="2665199"/>
            <a:ext cx="5674115" cy="764195"/>
            <a:chOff x="3147" y="6401"/>
            <a:chExt cx="7915" cy="1066"/>
          </a:xfrm>
        </p:grpSpPr>
        <p:sp>
          <p:nvSpPr>
            <p:cNvPr id="3" name="文本占位符 5"/>
            <p:cNvSpPr txBox="1"/>
            <p:nvPr/>
          </p:nvSpPr>
          <p:spPr>
            <a:xfrm>
              <a:off x="4979" y="6401"/>
              <a:ext cx="6083" cy="1066"/>
            </a:xfrm>
            <a:prstGeom prst="rect">
              <a:avLst/>
            </a:prstGeom>
          </p:spPr>
          <p:txBody>
            <a:bodyPr vert="horz" wrap="square" lIns="0" tIns="0" rIns="0" bIns="0" anchor="t" anchorCtr="0">
              <a:spAutoFit/>
            </a:bodyPr>
            <a:lstStyle>
              <a:lvl1pPr mar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800" kern="1200" spc="100" baseline="0">
                  <a:solidFill>
                    <a:srgbClr val="40404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cs"/>
                  <a:sym typeface="字魂111号-金榜招牌体" panose="00000500000000000000" pitchFamily="2" charset="-122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zh-CN" sz="4965" b="1" dirty="0"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对称</a:t>
              </a:r>
              <a:r>
                <a:rPr lang="zh-CN" sz="4965" b="1" dirty="0" smtClean="0"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加密</a:t>
              </a:r>
              <a:r>
                <a:rPr lang="zh-CN" altLang="en-US" sz="4965" b="1" dirty="0" smtClean="0"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简介</a:t>
              </a:r>
              <a:endParaRPr lang="zh-CN" sz="4965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3271" y="6401"/>
              <a:ext cx="1084" cy="106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710"/>
            </a:p>
          </p:txBody>
        </p:sp>
        <p:sp>
          <p:nvSpPr>
            <p:cNvPr id="5" name="矩形 4"/>
            <p:cNvSpPr/>
            <p:nvPr/>
          </p:nvSpPr>
          <p:spPr>
            <a:xfrm>
              <a:off x="3147" y="6523"/>
              <a:ext cx="1331" cy="8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US" altLang="zh-CN" sz="3160">
                  <a:solidFill>
                    <a:prstClr val="white"/>
                  </a:solidFill>
                  <a:latin typeface="+mj-ea"/>
                  <a:ea typeface="+mj-ea"/>
                </a:rPr>
                <a:t>01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3"/>
          <p:cNvSpPr txBox="1"/>
          <p:nvPr/>
        </p:nvSpPr>
        <p:spPr>
          <a:xfrm>
            <a:off x="502920" y="828446"/>
            <a:ext cx="11155680" cy="3384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对称加密的定义</a:t>
            </a:r>
          </a:p>
        </p:txBody>
      </p:sp>
      <p:sp>
        <p:nvSpPr>
          <p:cNvPr id="11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en-US" altLang="zh-CN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</a:p>
        </p:txBody>
      </p:sp>
      <p:sp>
        <p:nvSpPr>
          <p:cNvPr id="12" name="TextBox 2"/>
          <p:cNvSpPr txBox="1"/>
          <p:nvPr/>
        </p:nvSpPr>
        <p:spPr>
          <a:xfrm>
            <a:off x="1066739" y="219050"/>
            <a:ext cx="4133088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对称加密</a:t>
            </a:r>
          </a:p>
        </p:txBody>
      </p:sp>
      <p:cxnSp>
        <p:nvCxnSpPr>
          <p:cNvPr id="13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9"/>
          <p:cNvSpPr/>
          <p:nvPr/>
        </p:nvSpPr>
        <p:spPr>
          <a:xfrm>
            <a:off x="731520" y="5767070"/>
            <a:ext cx="10789920" cy="631825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本质：</a:t>
            </a:r>
            <a:r>
              <a:rPr lang="zh-CN" altLang="en-US" b="0" i="0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加密和解密使用的是同一把密钥，只有持有相同密钥的人才能够对密文进行解密并还原为明文。这种方式确保了消息的</a:t>
            </a:r>
            <a:r>
              <a:rPr lang="en-US" altLang="zh-CN" b="0" i="0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保密性</a:t>
            </a:r>
            <a:r>
              <a:rPr lang="zh-CN" altLang="en-US" b="0" i="0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sp>
        <p:nvSpPr>
          <p:cNvPr id="4" name="Rectangle 5"/>
          <p:cNvSpPr/>
          <p:nvPr/>
        </p:nvSpPr>
        <p:spPr>
          <a:xfrm>
            <a:off x="730885" y="1365885"/>
            <a:ext cx="10790555" cy="5600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182880" rIns="13716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对称加密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是指通信双方使用同一把共享密钥，对数据进行加密和解密的密码体制。对称加密的过程如下：</a:t>
            </a:r>
          </a:p>
        </p:txBody>
      </p:sp>
      <p:sp>
        <p:nvSpPr>
          <p:cNvPr id="53" name="Rounded Rectangle 6"/>
          <p:cNvSpPr/>
          <p:nvPr/>
        </p:nvSpPr>
        <p:spPr>
          <a:xfrm>
            <a:off x="803910" y="3123565"/>
            <a:ext cx="1261872" cy="502920"/>
          </a:xfrm>
          <a:prstGeom prst="roundRect">
            <a:avLst/>
          </a:prstGeom>
          <a:solidFill>
            <a:srgbClr val="FFF7F7"/>
          </a:solidFill>
          <a:ln w="15875">
            <a:solidFill>
              <a:srgbClr val="C41F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43342"/>
                </a:solidFill>
                <a:latin typeface="微软雅黑" panose="020B0503020204020204" charset="-122"/>
              </a:rPr>
              <a:t>明文 </a:t>
            </a:r>
            <a:r>
              <a:rPr sz="1800" b="1" i="1">
                <a:solidFill>
                  <a:srgbClr val="243342"/>
                </a:solidFill>
                <a:latin typeface="Times New Roman" panose="02020603050405020304" charset="0"/>
                <a:cs typeface="Times New Roman" panose="02020603050405020304" charset="0"/>
              </a:rPr>
              <a:t>M</a:t>
            </a:r>
          </a:p>
        </p:txBody>
      </p:sp>
      <p:sp>
        <p:nvSpPr>
          <p:cNvPr id="54" name="Rounded Rectangle 7"/>
          <p:cNvSpPr/>
          <p:nvPr/>
        </p:nvSpPr>
        <p:spPr>
          <a:xfrm>
            <a:off x="3044190" y="3123565"/>
            <a:ext cx="1325880" cy="502920"/>
          </a:xfrm>
          <a:prstGeom prst="roundRect">
            <a:avLst/>
          </a:prstGeom>
          <a:solidFill>
            <a:srgbClr val="B04841"/>
          </a:solidFill>
          <a:ln w="15875">
            <a:solidFill>
              <a:srgbClr val="B04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加密算法</a:t>
            </a:r>
          </a:p>
        </p:txBody>
      </p:sp>
      <p:sp>
        <p:nvSpPr>
          <p:cNvPr id="55" name="Rounded Rectangle 8"/>
          <p:cNvSpPr/>
          <p:nvPr/>
        </p:nvSpPr>
        <p:spPr>
          <a:xfrm>
            <a:off x="5358130" y="3123565"/>
            <a:ext cx="1261872" cy="502920"/>
          </a:xfrm>
          <a:prstGeom prst="roundRect">
            <a:avLst/>
          </a:prstGeom>
          <a:solidFill>
            <a:srgbClr val="FFF7F7"/>
          </a:solidFill>
          <a:ln w="15875">
            <a:solidFill>
              <a:srgbClr val="C41F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43342"/>
                </a:solidFill>
                <a:latin typeface="微软雅黑" panose="020B0503020204020204" charset="-122"/>
              </a:rPr>
              <a:t>密文 </a:t>
            </a:r>
            <a:r>
              <a:rPr sz="1800" b="1" i="1">
                <a:solidFill>
                  <a:srgbClr val="243342"/>
                </a:solidFill>
                <a:latin typeface="Times New Roman" panose="02020603050405020304" charset="0"/>
                <a:cs typeface="Times New Roman" panose="02020603050405020304" charset="0"/>
              </a:rPr>
              <a:t>C</a:t>
            </a:r>
          </a:p>
        </p:txBody>
      </p:sp>
      <p:sp>
        <p:nvSpPr>
          <p:cNvPr id="56" name="Rounded Rectangle 9"/>
          <p:cNvSpPr/>
          <p:nvPr/>
        </p:nvSpPr>
        <p:spPr>
          <a:xfrm>
            <a:off x="7612380" y="3123565"/>
            <a:ext cx="1325880" cy="502920"/>
          </a:xfrm>
          <a:prstGeom prst="roundRect">
            <a:avLst/>
          </a:prstGeom>
          <a:solidFill>
            <a:srgbClr val="B04841"/>
          </a:solidFill>
          <a:ln w="15875">
            <a:solidFill>
              <a:srgbClr val="B04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解密算法</a:t>
            </a:r>
          </a:p>
        </p:txBody>
      </p:sp>
      <p:sp>
        <p:nvSpPr>
          <p:cNvPr id="57" name="Rounded Rectangle 10"/>
          <p:cNvSpPr/>
          <p:nvPr/>
        </p:nvSpPr>
        <p:spPr>
          <a:xfrm>
            <a:off x="9916160" y="3123565"/>
            <a:ext cx="1261872" cy="502920"/>
          </a:xfrm>
          <a:prstGeom prst="roundRect">
            <a:avLst/>
          </a:prstGeom>
          <a:solidFill>
            <a:srgbClr val="FFF7F7"/>
          </a:solidFill>
          <a:ln w="15875">
            <a:solidFill>
              <a:srgbClr val="C41F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buClrTx/>
              <a:buSzTx/>
              <a:buFontTx/>
            </a:pPr>
            <a:r>
              <a:rPr sz="1800" b="1">
                <a:solidFill>
                  <a:srgbClr val="243342"/>
                </a:solidFill>
                <a:latin typeface="微软雅黑" panose="020B0503020204020204" charset="-122"/>
              </a:rPr>
              <a:t>明文 </a:t>
            </a:r>
            <a:r>
              <a:rPr sz="1800" b="1" i="1">
                <a:solidFill>
                  <a:srgbClr val="243342"/>
                </a:solidFill>
                <a:latin typeface="Times New Roman" panose="02020603050405020304" charset="0"/>
                <a:cs typeface="Times New Roman" panose="02020603050405020304" charset="0"/>
              </a:rPr>
              <a:t>M</a:t>
            </a:r>
          </a:p>
        </p:txBody>
      </p:sp>
      <p:sp>
        <p:nvSpPr>
          <p:cNvPr id="58" name="Rounded Rectangle 11"/>
          <p:cNvSpPr/>
          <p:nvPr/>
        </p:nvSpPr>
        <p:spPr>
          <a:xfrm>
            <a:off x="3044190" y="2134235"/>
            <a:ext cx="1344295" cy="438785"/>
          </a:xfrm>
          <a:prstGeom prst="roundRect">
            <a:avLst/>
          </a:prstGeom>
          <a:solidFill>
            <a:srgbClr val="FFF7F7"/>
          </a:solidFill>
          <a:ln w="15875">
            <a:solidFill>
              <a:srgbClr val="C41F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43342"/>
                </a:solidFill>
                <a:latin typeface="微软雅黑" panose="020B0503020204020204" charset="-122"/>
              </a:rPr>
              <a:t>密钥 </a:t>
            </a:r>
            <a:r>
              <a:rPr sz="1800" b="1" i="1">
                <a:solidFill>
                  <a:srgbClr val="243342"/>
                </a:solidFill>
                <a:latin typeface="Times New Roman" panose="02020603050405020304" charset="0"/>
                <a:cs typeface="Times New Roman" panose="02020603050405020304" charset="0"/>
              </a:rPr>
              <a:t>K</a:t>
            </a:r>
          </a:p>
        </p:txBody>
      </p:sp>
      <p:sp>
        <p:nvSpPr>
          <p:cNvPr id="66" name="Shape 14"/>
          <p:cNvSpPr/>
          <p:nvPr/>
        </p:nvSpPr>
        <p:spPr>
          <a:xfrm flipV="1">
            <a:off x="2064385" y="3388360"/>
            <a:ext cx="979805" cy="635"/>
          </a:xfrm>
          <a:prstGeom prst="line">
            <a:avLst/>
          </a:prstGeom>
          <a:noFill/>
          <a:ln w="26670">
            <a:solidFill>
              <a:srgbClr val="A8504A"/>
            </a:solidFill>
            <a:prstDash val="solid"/>
            <a:tailEnd type="triangle"/>
          </a:ln>
        </p:spPr>
      </p:sp>
      <p:sp>
        <p:nvSpPr>
          <p:cNvPr id="69" name="Shape 14"/>
          <p:cNvSpPr/>
          <p:nvPr/>
        </p:nvSpPr>
        <p:spPr>
          <a:xfrm flipV="1">
            <a:off x="4370070" y="3388360"/>
            <a:ext cx="979805" cy="635"/>
          </a:xfrm>
          <a:prstGeom prst="line">
            <a:avLst/>
          </a:prstGeom>
          <a:noFill/>
          <a:ln w="26670">
            <a:solidFill>
              <a:srgbClr val="A8504A"/>
            </a:solidFill>
            <a:prstDash val="solid"/>
            <a:tailEnd type="triangle"/>
          </a:ln>
        </p:spPr>
      </p:sp>
      <p:sp>
        <p:nvSpPr>
          <p:cNvPr id="70" name="Shape 14"/>
          <p:cNvSpPr/>
          <p:nvPr/>
        </p:nvSpPr>
        <p:spPr>
          <a:xfrm flipV="1">
            <a:off x="6628130" y="3388360"/>
            <a:ext cx="979805" cy="635"/>
          </a:xfrm>
          <a:prstGeom prst="line">
            <a:avLst/>
          </a:prstGeom>
          <a:noFill/>
          <a:ln w="26670">
            <a:solidFill>
              <a:srgbClr val="A8504A"/>
            </a:solidFill>
            <a:prstDash val="solid"/>
            <a:tailEnd type="triangle"/>
          </a:ln>
        </p:spPr>
      </p:sp>
      <p:sp>
        <p:nvSpPr>
          <p:cNvPr id="72" name="Shape 14"/>
          <p:cNvSpPr/>
          <p:nvPr/>
        </p:nvSpPr>
        <p:spPr>
          <a:xfrm flipV="1">
            <a:off x="8942705" y="3387725"/>
            <a:ext cx="979805" cy="635"/>
          </a:xfrm>
          <a:prstGeom prst="line">
            <a:avLst/>
          </a:prstGeom>
          <a:noFill/>
          <a:ln w="26670">
            <a:solidFill>
              <a:srgbClr val="A8504A"/>
            </a:solidFill>
            <a:prstDash val="solid"/>
            <a:tailEnd type="triangle"/>
          </a:ln>
        </p:spPr>
      </p:sp>
      <p:sp>
        <p:nvSpPr>
          <p:cNvPr id="73" name="Shape 18"/>
          <p:cNvSpPr/>
          <p:nvPr/>
        </p:nvSpPr>
        <p:spPr>
          <a:xfrm>
            <a:off x="3707384" y="2567813"/>
            <a:ext cx="0" cy="548640"/>
          </a:xfrm>
          <a:prstGeom prst="line">
            <a:avLst/>
          </a:prstGeom>
          <a:noFill/>
          <a:ln w="22860">
            <a:solidFill>
              <a:srgbClr val="A8504A"/>
            </a:solidFill>
            <a:prstDash val="solid"/>
            <a:tailEnd type="triangle"/>
          </a:ln>
        </p:spPr>
      </p:sp>
      <p:sp>
        <p:nvSpPr>
          <p:cNvPr id="75" name="Rounded Rectangle 11"/>
          <p:cNvSpPr/>
          <p:nvPr/>
        </p:nvSpPr>
        <p:spPr>
          <a:xfrm>
            <a:off x="7593965" y="2152650"/>
            <a:ext cx="1344295" cy="438785"/>
          </a:xfrm>
          <a:prstGeom prst="roundRect">
            <a:avLst/>
          </a:prstGeom>
          <a:solidFill>
            <a:srgbClr val="FFF7F7"/>
          </a:solidFill>
          <a:ln w="15875">
            <a:solidFill>
              <a:srgbClr val="C41F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43342"/>
                </a:solidFill>
                <a:latin typeface="微软雅黑" panose="020B0503020204020204" charset="-122"/>
              </a:rPr>
              <a:t>密钥 </a:t>
            </a:r>
            <a:r>
              <a:rPr sz="1800" b="1" i="1">
                <a:solidFill>
                  <a:srgbClr val="243342"/>
                </a:solidFill>
                <a:latin typeface="Times New Roman" panose="02020603050405020304" charset="0"/>
                <a:cs typeface="Times New Roman" panose="02020603050405020304" charset="0"/>
              </a:rPr>
              <a:t>K</a:t>
            </a:r>
          </a:p>
        </p:txBody>
      </p:sp>
      <p:sp>
        <p:nvSpPr>
          <p:cNvPr id="76" name="Shape 18"/>
          <p:cNvSpPr/>
          <p:nvPr/>
        </p:nvSpPr>
        <p:spPr>
          <a:xfrm>
            <a:off x="8234299" y="2584958"/>
            <a:ext cx="0" cy="548640"/>
          </a:xfrm>
          <a:prstGeom prst="line">
            <a:avLst/>
          </a:prstGeom>
          <a:noFill/>
          <a:ln w="22860">
            <a:solidFill>
              <a:srgbClr val="A8504A"/>
            </a:solidFill>
            <a:prstDash val="solid"/>
            <a:tailEnd type="triangle"/>
          </a:ln>
        </p:spPr>
      </p:sp>
      <p:sp>
        <p:nvSpPr>
          <p:cNvPr id="3" name="Rectangle 5"/>
          <p:cNvSpPr/>
          <p:nvPr/>
        </p:nvSpPr>
        <p:spPr>
          <a:xfrm>
            <a:off x="730885" y="3989070"/>
            <a:ext cx="10790555" cy="434975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182880" rIns="137160" rtlCol="0" anchor="ctr"/>
          <a:lstStyle/>
          <a:p>
            <a:pPr indent="0"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核心特征：</a:t>
            </a:r>
            <a:r>
              <a:rPr lang="zh-CN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加密和解密过程中使用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相同的密钥</a:t>
            </a:r>
            <a:r>
              <a:rPr lang="zh-CN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，因此它也被称为共享密钥加密或单密钥加密。</a:t>
            </a:r>
            <a:endParaRPr lang="zh-CN" altLang="en-US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0885" y="4615815"/>
            <a:ext cx="10790555" cy="96012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182880" rIns="13716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基本目标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：</a:t>
            </a:r>
            <a:r>
              <a:rPr 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使攻击者在未知密钥 K 的情况下，难以从密文 </a:t>
            </a:r>
            <a:r>
              <a:rPr lang="zh-CN" i="1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C</a:t>
            </a:r>
            <a:r>
              <a:rPr 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恢复明文 </a:t>
            </a:r>
            <a:r>
              <a:rPr lang="zh-CN" i="1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M</a:t>
            </a:r>
            <a:r>
              <a:rPr 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。</a:t>
            </a:r>
          </a:p>
          <a:p>
            <a:pPr marL="0" indent="0" algn="l">
              <a:buNone/>
            </a:pPr>
            <a:r>
              <a:rPr b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优点</a:t>
            </a:r>
            <a:r>
              <a:rPr lang="zh-CN" b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：</a:t>
            </a:r>
            <a:r>
              <a:rPr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算法结构简单、运算速度快，适合加密大量数据。软硬件实现都很高效。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b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短板</a:t>
            </a:r>
            <a:r>
              <a:rPr lang="zh-CN" b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：</a:t>
            </a:r>
            <a:r>
              <a:rPr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双方必须事先持有同一把密钥。密钥的安全分发与管理是主要难点。</a:t>
            </a:r>
            <a:endParaRPr lang="zh-CN" altLang="en-US" b="1" i="0" dirty="0">
              <a:solidFill>
                <a:srgbClr val="C0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3"/>
          <p:cNvSpPr txBox="1"/>
          <p:nvPr/>
        </p:nvSpPr>
        <p:spPr>
          <a:xfrm>
            <a:off x="502920" y="828446"/>
            <a:ext cx="11155680" cy="3384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对称加密方案的定义</a:t>
            </a:r>
          </a:p>
        </p:txBody>
      </p:sp>
      <p:sp>
        <p:nvSpPr>
          <p:cNvPr id="11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en-US" altLang="zh-CN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</a:p>
        </p:txBody>
      </p:sp>
      <p:sp>
        <p:nvSpPr>
          <p:cNvPr id="12" name="TextBox 2"/>
          <p:cNvSpPr txBox="1"/>
          <p:nvPr/>
        </p:nvSpPr>
        <p:spPr>
          <a:xfrm>
            <a:off x="1066739" y="219050"/>
            <a:ext cx="4133088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对称加密</a:t>
            </a:r>
          </a:p>
        </p:txBody>
      </p:sp>
      <p:cxnSp>
        <p:nvCxnSpPr>
          <p:cNvPr id="13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9"/>
          <p:cNvSpPr/>
          <p:nvPr/>
        </p:nvSpPr>
        <p:spPr>
          <a:xfrm>
            <a:off x="731520" y="5337810"/>
            <a:ext cx="10789920" cy="1009015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lang="en-US" altLang="zh-CN" sz="2000" b="0" i="0" dirty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9"/>
          <p:cNvSpPr/>
          <p:nvPr/>
        </p:nvSpPr>
        <p:spPr>
          <a:xfrm>
            <a:off x="731520" y="1879600"/>
            <a:ext cx="10789920" cy="9144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lang="zh-CN" altLang="en-US" sz="1600" b="0" i="0" dirty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5"/>
          <p:cNvSpPr/>
          <p:nvPr/>
        </p:nvSpPr>
        <p:spPr>
          <a:xfrm>
            <a:off x="730885" y="3006725"/>
            <a:ext cx="10790555" cy="5600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182880" rIns="137160" rtlCol="0" anchor="ctr"/>
          <a:lstStyle/>
          <a:p>
            <a:pPr marL="0" algn="l"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endParaRPr lang="zh-CN" altLang="en-US" sz="1600" b="0" i="0" dirty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0885" y="3773805"/>
            <a:ext cx="10790555" cy="5600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182880" rIns="137160" rtlCol="0" anchor="ctr"/>
          <a:lstStyle/>
          <a:p>
            <a:pPr marL="0" indent="0" algn="l">
              <a:buNone/>
            </a:pPr>
            <a:endParaRPr lang="zh-CN" sz="1600" b="0" i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5"/>
          <p:cNvSpPr/>
          <p:nvPr/>
        </p:nvSpPr>
        <p:spPr>
          <a:xfrm>
            <a:off x="730885" y="4504690"/>
            <a:ext cx="10790555" cy="5600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182880" rIns="137160" rtlCol="0" anchor="ctr"/>
          <a:lstStyle/>
          <a:p>
            <a:pPr marL="0" indent="0" algn="l">
              <a:buNone/>
            </a:pPr>
            <a:endParaRPr lang="zh-CN" sz="1600" b="0" i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 10"/>
          <p:cNvSpPr/>
          <p:nvPr/>
        </p:nvSpPr>
        <p:spPr>
          <a:xfrm>
            <a:off x="2520950" y="5492750"/>
            <a:ext cx="43891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Dec(Enc(M, K), K) = M</a:t>
            </a:r>
            <a:endParaRPr lang="en-US" sz="2000" i="1" dirty="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9" name="Text 11"/>
          <p:cNvSpPr/>
          <p:nvPr/>
        </p:nvSpPr>
        <p:spPr>
          <a:xfrm>
            <a:off x="2540000" y="5942965"/>
            <a:ext cx="750506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30303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即先用密钥 </a:t>
            </a:r>
            <a:r>
              <a:rPr lang="en-US" i="1" dirty="0">
                <a:solidFill>
                  <a:srgbClr val="30303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K</a:t>
            </a:r>
            <a:r>
              <a:rPr lang="en-US" dirty="0">
                <a:solidFill>
                  <a:srgbClr val="30303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对明文 </a:t>
            </a:r>
            <a:r>
              <a:rPr lang="en-US" i="1" dirty="0">
                <a:solidFill>
                  <a:srgbClr val="30303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M</a:t>
            </a:r>
            <a:r>
              <a:rPr lang="en-US" dirty="0">
                <a:solidFill>
                  <a:srgbClr val="30303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加密，再用同一密钥 </a:t>
            </a:r>
            <a:r>
              <a:rPr lang="en-US" i="1" dirty="0">
                <a:solidFill>
                  <a:srgbClr val="30303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K</a:t>
            </a:r>
            <a:r>
              <a:rPr lang="en-US" dirty="0">
                <a:solidFill>
                  <a:srgbClr val="30303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解密，应恢复原始明文 </a:t>
            </a:r>
            <a:r>
              <a:rPr lang="en-US" i="1" dirty="0">
                <a:solidFill>
                  <a:srgbClr val="30303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M</a:t>
            </a:r>
            <a:r>
              <a:rPr lang="en-US" dirty="0">
                <a:solidFill>
                  <a:srgbClr val="30303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。</a:t>
            </a:r>
            <a:endParaRPr lang="en-US" dirty="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0" name="Text 10"/>
          <p:cNvSpPr/>
          <p:nvPr/>
        </p:nvSpPr>
        <p:spPr>
          <a:xfrm>
            <a:off x="932815" y="5505450"/>
            <a:ext cx="43891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正确性要求：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11"/>
              <p:cNvSpPr/>
              <p:nvPr/>
            </p:nvSpPr>
            <p:spPr>
              <a:xfrm>
                <a:off x="888365" y="2059940"/>
                <a:ext cx="10588625" cy="68643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indent="0" algn="l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</a:pP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定义</a:t>
                </a:r>
                <a:r>
                  <a:rPr lang="zh-CN" altLang="en-US" b="1" dirty="0">
                    <a:solidFill>
                      <a:srgbClr val="C0000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  <a:sym typeface="+mn-ea"/>
                  </a:rPr>
                  <a:t>2.3</a:t>
                </a: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  </a:t>
                </a:r>
                <a:r>
                  <a:rPr lang="zh-CN" altLang="en-US" dirty="0">
                    <a:solidFill>
                      <a:srgbClr val="404040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设明文空间为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DejaVu Math TeX Gyre" panose="02000503000000000000" charset="0"/>
                      </a:rPr>
                      <m:t>ℳ</m:t>
                    </m:r>
                  </m:oMath>
                </a14:m>
                <a:r>
                  <a:rPr lang="zh-CN" altLang="en-US" dirty="0">
                    <a:solidFill>
                      <a:srgbClr val="404040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，密钥空间为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DejaVu Math TeX Gyre" panose="02000503000000000000" charset="0"/>
                      </a:rPr>
                      <m:t>𝒦</m:t>
                    </m:r>
                  </m:oMath>
                </a14:m>
                <a:r>
                  <a:rPr lang="zh-CN" altLang="en-US" dirty="0">
                    <a:solidFill>
                      <a:srgbClr val="404040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，密文空间为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DejaVu Math TeX Gyre" panose="02000503000000000000" charset="0"/>
                      </a:rPr>
                      <m:t>𝒞</m:t>
                    </m:r>
                  </m:oMath>
                </a14:m>
                <a:r>
                  <a:rPr lang="zh-CN" altLang="en-US" dirty="0">
                    <a:solidFill>
                      <a:srgbClr val="404040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。一个对称加密方案记作 </a:t>
                </a:r>
                <a:r>
                  <a:rPr lang="en-US" b="1" dirty="0">
                    <a:solidFill>
                      <a:srgbClr val="C0000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  <a:sym typeface="+mn-ea"/>
                  </a:rPr>
                  <a:t>SE = (Gen, Enc, Dec)</a:t>
                </a:r>
                <a:r>
                  <a:rPr lang="zh-CN" altLang="en-US" dirty="0">
                    <a:solidFill>
                      <a:srgbClr val="404040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，</a:t>
                </a:r>
                <a:endParaRPr lang="zh-CN" altLang="en-US" i="0" dirty="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indent="0" algn="l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</a:pPr>
                <a:r>
                  <a:rPr lang="en-US" altLang="zh-CN" dirty="0">
                    <a:solidFill>
                      <a:srgbClr val="404040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                 </a:t>
                </a:r>
                <a:r>
                  <a:rPr lang="zh-CN" altLang="en-US" dirty="0">
                    <a:solidFill>
                      <a:srgbClr val="404040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由密钥生成、加密、解密三个算法组成</a:t>
                </a:r>
                <a:r>
                  <a:rPr lang="zh-CN" altLang="en-US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sym typeface="+mn-ea"/>
                  </a:rPr>
                  <a:t>。</a:t>
                </a:r>
                <a:endParaRPr lang="zh-CN" altLang="en-US" b="1" i="0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endParaRPr lang="en-US" dirty="0"/>
              </a:p>
            </p:txBody>
          </p:sp>
        </mc:Choice>
        <mc:Fallback xmlns="">
          <p:sp>
            <p:nvSpPr>
              <p:cNvPr id="14" name="Text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365" y="2059940"/>
                <a:ext cx="10588625" cy="686435"/>
              </a:xfrm>
              <a:prstGeom prst="rect">
                <a:avLst/>
              </a:prstGeom>
              <a:blipFill rotWithShape="1">
                <a:blip r:embed="rId3"/>
                <a:stretch>
                  <a:fillRect t="-29880" r="-1451" b="-299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/>
          <p:cNvSpPr txBox="1"/>
          <p:nvPr/>
        </p:nvSpPr>
        <p:spPr>
          <a:xfrm>
            <a:off x="737870" y="3110865"/>
            <a:ext cx="10789920" cy="3536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lang="en-US" b="1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密钥生成算法 Gen(</a:t>
            </a:r>
            <a:r>
              <a:rPr lang="en-US" b="1" i="1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param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*)：</a:t>
            </a:r>
            <a:r>
              <a:rPr lang="en-US" dirty="0">
                <a:solidFill>
                  <a:srgbClr val="30303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zh-CN" altLang="en-US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输入参数 </a:t>
            </a:r>
            <a:r>
              <a:rPr lang="zh-CN" altLang="en-US" i="1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param</a:t>
            </a:r>
            <a:r>
              <a:rPr lang="zh-CN" altLang="en-US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*，输出密钥 </a:t>
            </a:r>
            <a:r>
              <a:rPr lang="zh-CN" altLang="en-US" i="1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K</a:t>
            </a:r>
            <a:r>
              <a:rPr lang="zh-CN" altLang="en-US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。</a:t>
            </a:r>
            <a:r>
              <a:rPr lang="zh-CN" altLang="en-US" i="1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param</a:t>
            </a:r>
            <a:r>
              <a:rPr lang="zh-CN" altLang="en-US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* 表示 1 或多个参数值组成的元组。</a:t>
            </a:r>
            <a:endParaRPr lang="en-US" b="1" dirty="0">
              <a:solidFill>
                <a:srgbClr val="C0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/>
              <p:cNvSpPr txBox="1"/>
              <p:nvPr/>
            </p:nvSpPr>
            <p:spPr>
              <a:xfrm>
                <a:off x="750570" y="3878580"/>
                <a:ext cx="10789920" cy="353695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lstStyle/>
              <a:p>
                <a:pPr marL="285750" indent="-285750" algn="l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C00000"/>
                  </a:buClr>
                  <a:buFont typeface="Wingdings" panose="05000000000000000000" charset="0"/>
                  <a:buChar char=""/>
                </a:pP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pitchFamily="34" charset="-120"/>
                    <a:sym typeface="+mn-ea"/>
                  </a:rPr>
                  <a:t>加密</a:t>
                </a:r>
                <a:r>
                  <a:rPr lang="en-US" b="1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pitchFamily="34" charset="-120"/>
                    <a:sym typeface="+mn-ea"/>
                  </a:rPr>
                  <a:t>算法 </a:t>
                </a:r>
                <a:r>
                  <a:rPr lang="en-US" b="1" dirty="0">
                    <a:solidFill>
                      <a:srgbClr val="C0000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  <a:sym typeface="+mn-ea"/>
                  </a:rPr>
                  <a:t>Enc(</a:t>
                </a:r>
                <a:r>
                  <a:rPr lang="en-US" b="1" i="1" dirty="0">
                    <a:solidFill>
                      <a:srgbClr val="C0000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  <a:sym typeface="+mn-ea"/>
                  </a:rPr>
                  <a:t>M</a:t>
                </a:r>
                <a:r>
                  <a:rPr lang="en-US" b="1" dirty="0">
                    <a:solidFill>
                      <a:srgbClr val="C0000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  <a:sym typeface="+mn-ea"/>
                  </a:rPr>
                  <a:t>, </a:t>
                </a:r>
                <a:r>
                  <a:rPr lang="en-US" b="1" i="1" dirty="0">
                    <a:solidFill>
                      <a:srgbClr val="C0000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  <a:sym typeface="+mn-ea"/>
                  </a:rPr>
                  <a:t>K</a:t>
                </a:r>
                <a:r>
                  <a:rPr lang="en-US" b="1" dirty="0">
                    <a:solidFill>
                      <a:srgbClr val="C0000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  <a:sym typeface="+mn-ea"/>
                  </a:rPr>
                  <a:t>)</a:t>
                </a:r>
                <a:r>
                  <a:rPr lang="en-US" b="1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pitchFamily="34" charset="-120"/>
                    <a:sym typeface="+mn-ea"/>
                  </a:rPr>
                  <a:t>：</a:t>
                </a:r>
                <a:r>
                  <a:rPr lang="en-US" dirty="0">
                    <a:solidFill>
                      <a:srgbClr val="30303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pitchFamily="34" charset="-120"/>
                    <a:sym typeface="+mn-ea"/>
                  </a:rPr>
                  <a:t> 输入为明文 </a:t>
                </a:r>
                <a:r>
                  <a:rPr lang="en-US" i="1" dirty="0">
                    <a:solidFill>
                      <a:srgbClr val="30303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  <a:sym typeface="+mn-ea"/>
                  </a:rPr>
                  <a:t>M</a:t>
                </a:r>
                <a:r>
                  <a:rPr lang="en-US" dirty="0">
                    <a:solidFill>
                      <a:srgbClr val="30303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  <a:sym typeface="+mn-ea"/>
                  </a:rPr>
                  <a:t> ∈</a:t>
                </a:r>
                <a:r>
                  <a:rPr lang="en-US" dirty="0">
                    <a:solidFill>
                      <a:srgbClr val="30303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pitchFamily="34" charset="-12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DejaVu Math TeX Gyre" panose="02000503000000000000" charset="0"/>
                      </a:rPr>
                      <m:t>ℳ</m:t>
                    </m:r>
                  </m:oMath>
                </a14:m>
                <a:r>
                  <a:rPr lang="en-US" dirty="0">
                    <a:solidFill>
                      <a:srgbClr val="30303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pitchFamily="34" charset="-120"/>
                    <a:sym typeface="+mn-ea"/>
                  </a:rPr>
                  <a:t> 和密钥 </a:t>
                </a:r>
                <a:r>
                  <a:rPr lang="en-US" i="1" dirty="0">
                    <a:solidFill>
                      <a:srgbClr val="30303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  <a:sym typeface="+mn-ea"/>
                  </a:rPr>
                  <a:t>K</a:t>
                </a:r>
                <a:r>
                  <a:rPr lang="en-US" dirty="0">
                    <a:solidFill>
                      <a:srgbClr val="30303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  <a:sym typeface="+mn-ea"/>
                  </a:rPr>
                  <a:t> ∈</a:t>
                </a:r>
                <a:r>
                  <a:rPr lang="en-US" dirty="0">
                    <a:solidFill>
                      <a:srgbClr val="30303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pitchFamily="34" charset="-12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DejaVu Math TeX Gyre" panose="02000503000000000000" charset="0"/>
                      </a:rPr>
                      <m:t>𝒦</m:t>
                    </m:r>
                  </m:oMath>
                </a14:m>
                <a:r>
                  <a:rPr lang="en-US" dirty="0">
                    <a:solidFill>
                      <a:srgbClr val="30303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pitchFamily="34" charset="-120"/>
                    <a:sym typeface="+mn-ea"/>
                  </a:rPr>
                  <a:t>，输出为密文 </a:t>
                </a:r>
                <a:r>
                  <a:rPr lang="en-US" i="1" dirty="0">
                    <a:solidFill>
                      <a:srgbClr val="30303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  <a:sym typeface="+mn-ea"/>
                  </a:rPr>
                  <a:t>C</a:t>
                </a:r>
                <a:r>
                  <a:rPr lang="en-US" dirty="0">
                    <a:solidFill>
                      <a:srgbClr val="30303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  <a:sym typeface="+mn-ea"/>
                  </a:rPr>
                  <a:t> ∈</a:t>
                </a:r>
                <a:r>
                  <a:rPr lang="en-US" dirty="0">
                    <a:solidFill>
                      <a:srgbClr val="30303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pitchFamily="34" charset="-12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DejaVu Math TeX Gyre" panose="02000503000000000000" charset="0"/>
                      </a:rPr>
                      <m:t>𝒞</m:t>
                    </m:r>
                  </m:oMath>
                </a14:m>
                <a:r>
                  <a:rPr lang="en-US" dirty="0">
                    <a:solidFill>
                      <a:srgbClr val="30303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pitchFamily="34" charset="-120"/>
                    <a:sym typeface="+mn-ea"/>
                  </a:rPr>
                  <a:t>。</a:t>
                </a:r>
                <a:endParaRPr lang="en-US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  <a:sym typeface="+mn-ea"/>
                </a:endParaRPr>
              </a:p>
            </p:txBody>
          </p:sp>
        </mc:Choice>
        <mc:Fallback xmlns=""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570" y="3878580"/>
                <a:ext cx="10789920" cy="35369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本框 20"/>
          <p:cNvSpPr txBox="1"/>
          <p:nvPr/>
        </p:nvSpPr>
        <p:spPr>
          <a:xfrm>
            <a:off x="743585" y="4602480"/>
            <a:ext cx="10789920" cy="3536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解</a:t>
            </a:r>
            <a:r>
              <a:rPr 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密算法 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Dec(</a:t>
            </a:r>
            <a:r>
              <a:rPr lang="en-US" b="1" i="1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C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, </a:t>
            </a:r>
            <a:r>
              <a:rPr lang="en-US" b="1" i="1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K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)：</a:t>
            </a:r>
            <a:r>
              <a:rPr lang="en-US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 输入为密文 </a:t>
            </a:r>
            <a:r>
              <a:rPr lang="en-US" i="1" dirty="0">
                <a:solidFill>
                  <a:srgbClr val="30303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C</a:t>
            </a:r>
            <a:r>
              <a:rPr lang="en-US" dirty="0">
                <a:solidFill>
                  <a:srgbClr val="30303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en-US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和密钥 </a:t>
            </a:r>
            <a:r>
              <a:rPr lang="en-US" i="1" dirty="0">
                <a:solidFill>
                  <a:srgbClr val="30303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K</a:t>
            </a:r>
            <a:r>
              <a:rPr lang="en-US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，输出为明文 </a:t>
            </a:r>
            <a:r>
              <a:rPr lang="en-US" i="1" dirty="0">
                <a:solidFill>
                  <a:srgbClr val="30303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M</a:t>
            </a:r>
            <a:r>
              <a:rPr lang="en-US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。</a:t>
            </a:r>
            <a:endParaRPr lang="en-US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15" name="Rectangle 5"/>
          <p:cNvSpPr/>
          <p:nvPr/>
        </p:nvSpPr>
        <p:spPr>
          <a:xfrm>
            <a:off x="743585" y="1221740"/>
            <a:ext cx="10790555" cy="51435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182880" rIns="137160" rtlCol="0" anchor="ctr"/>
          <a:lstStyle/>
          <a:p>
            <a:pPr marL="0" algn="l"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en-US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对称加密方案</a:t>
            </a:r>
            <a:r>
              <a:rPr lang="en-US" altLang="zh-CN" b="0" i="0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b="0" i="0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是实现对称加密的具体方案。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3"/>
          <p:cNvSpPr txBox="1"/>
          <p:nvPr/>
        </p:nvSpPr>
        <p:spPr>
          <a:xfrm>
            <a:off x="502920" y="828446"/>
            <a:ext cx="11155680" cy="3384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对称加密的分类</a:t>
            </a:r>
          </a:p>
        </p:txBody>
      </p:sp>
      <p:sp>
        <p:nvSpPr>
          <p:cNvPr id="11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en-US" altLang="zh-CN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</a:p>
        </p:txBody>
      </p:sp>
      <p:sp>
        <p:nvSpPr>
          <p:cNvPr id="12" name="TextBox 2"/>
          <p:cNvSpPr txBox="1"/>
          <p:nvPr/>
        </p:nvSpPr>
        <p:spPr>
          <a:xfrm>
            <a:off x="1066739" y="219050"/>
            <a:ext cx="4133088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对称加密</a:t>
            </a:r>
          </a:p>
        </p:txBody>
      </p:sp>
      <p:cxnSp>
        <p:nvCxnSpPr>
          <p:cNvPr id="13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5"/>
          <p:cNvSpPr/>
          <p:nvPr/>
        </p:nvSpPr>
        <p:spPr>
          <a:xfrm>
            <a:off x="730885" y="1271905"/>
            <a:ext cx="10790555" cy="1015365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182880" rIns="13716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从工作方式上，</a:t>
            </a:r>
            <a:r>
              <a:rPr lang="zh-CN" altLang="en-US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对称加密主要分为</a:t>
            </a:r>
            <a:r>
              <a:rPr lang="en-US" altLang="zh-CN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分组密码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和</a:t>
            </a:r>
            <a:r>
              <a:rPr lang="en-US" altLang="zh-CN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流密码</a:t>
            </a:r>
            <a:r>
              <a:rPr lang="zh-CN" altLang="en-US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，它们都是实现对称加密的具体方案。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加密过程中，若加密算法的明文采用固定长度，则该对称加密为分组密码；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若加密算法按照明文进行逐位加密，则该对称加密为流密码（或为序列密码）。</a:t>
            </a:r>
          </a:p>
        </p:txBody>
      </p:sp>
      <p:sp>
        <p:nvSpPr>
          <p:cNvPr id="8" name="Rectangle 9"/>
          <p:cNvSpPr/>
          <p:nvPr/>
        </p:nvSpPr>
        <p:spPr>
          <a:xfrm>
            <a:off x="502920" y="5858510"/>
            <a:ext cx="11182985" cy="56007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182880" rIns="13716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课程路线：</a:t>
            </a:r>
            <a:r>
              <a:rPr lang="en-US" altLang="zh-CN" dirty="0" err="1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典型分组密码算法（DES</a:t>
            </a:r>
            <a:r>
              <a:rPr lang="en-US" alt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/ AES / SM4） → 分组密码工作模式 → 流密码与 ZUC。</a:t>
            </a:r>
            <a:endParaRPr lang="en-US" altLang="zh-CN" i="0" dirty="0">
              <a:solidFill>
                <a:srgbClr val="40404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37" name="Shape 2"/>
          <p:cNvSpPr/>
          <p:nvPr/>
        </p:nvSpPr>
        <p:spPr>
          <a:xfrm>
            <a:off x="6108510" y="2919730"/>
            <a:ext cx="0" cy="292608"/>
          </a:xfrm>
          <a:prstGeom prst="line">
            <a:avLst/>
          </a:prstGeom>
          <a:noFill/>
          <a:ln w="15875">
            <a:solidFill>
              <a:srgbClr val="9E3338"/>
            </a:solidFill>
            <a:prstDash val="solid"/>
            <a:headEnd type="none"/>
            <a:tailEnd type="none"/>
          </a:ln>
        </p:spPr>
      </p:sp>
      <p:sp>
        <p:nvSpPr>
          <p:cNvPr id="38" name="Shape 3"/>
          <p:cNvSpPr/>
          <p:nvPr/>
        </p:nvSpPr>
        <p:spPr>
          <a:xfrm>
            <a:off x="3497898" y="3212338"/>
            <a:ext cx="5193792" cy="0"/>
          </a:xfrm>
          <a:prstGeom prst="line">
            <a:avLst/>
          </a:prstGeom>
          <a:noFill/>
          <a:ln w="15875">
            <a:solidFill>
              <a:srgbClr val="9E3338"/>
            </a:solidFill>
            <a:prstDash val="solid"/>
            <a:headEnd type="none"/>
            <a:tailEnd type="none"/>
          </a:ln>
        </p:spPr>
      </p:sp>
      <p:sp>
        <p:nvSpPr>
          <p:cNvPr id="39" name="Shape 4"/>
          <p:cNvSpPr/>
          <p:nvPr/>
        </p:nvSpPr>
        <p:spPr>
          <a:xfrm>
            <a:off x="3497898" y="3212338"/>
            <a:ext cx="0" cy="301752"/>
          </a:xfrm>
          <a:prstGeom prst="line">
            <a:avLst/>
          </a:prstGeom>
          <a:noFill/>
          <a:ln w="15875">
            <a:solidFill>
              <a:srgbClr val="9E3338"/>
            </a:solidFill>
            <a:prstDash val="solid"/>
            <a:headEnd type="none"/>
            <a:tailEnd type="triangle"/>
          </a:ln>
        </p:spPr>
      </p:sp>
      <p:sp>
        <p:nvSpPr>
          <p:cNvPr id="40" name="Shape 5"/>
          <p:cNvSpPr/>
          <p:nvPr/>
        </p:nvSpPr>
        <p:spPr>
          <a:xfrm>
            <a:off x="8691690" y="3212338"/>
            <a:ext cx="0" cy="301752"/>
          </a:xfrm>
          <a:prstGeom prst="line">
            <a:avLst/>
          </a:prstGeom>
          <a:noFill/>
          <a:ln w="15875">
            <a:solidFill>
              <a:srgbClr val="9E3338"/>
            </a:solidFill>
            <a:prstDash val="solid"/>
            <a:headEnd type="none"/>
            <a:tailEnd type="triangle"/>
          </a:ln>
        </p:spPr>
      </p:sp>
      <p:sp>
        <p:nvSpPr>
          <p:cNvPr id="41" name="Shape 6"/>
          <p:cNvSpPr/>
          <p:nvPr/>
        </p:nvSpPr>
        <p:spPr>
          <a:xfrm>
            <a:off x="3497898" y="4081018"/>
            <a:ext cx="0" cy="265176"/>
          </a:xfrm>
          <a:prstGeom prst="line">
            <a:avLst/>
          </a:prstGeom>
          <a:noFill/>
          <a:ln w="15875">
            <a:solidFill>
              <a:srgbClr val="9E3338"/>
            </a:solidFill>
            <a:prstDash val="solid"/>
            <a:headEnd type="none"/>
            <a:tailEnd type="none"/>
          </a:ln>
        </p:spPr>
      </p:sp>
      <p:sp>
        <p:nvSpPr>
          <p:cNvPr id="42" name="Shape 7"/>
          <p:cNvSpPr/>
          <p:nvPr/>
        </p:nvSpPr>
        <p:spPr>
          <a:xfrm>
            <a:off x="2231454" y="4346194"/>
            <a:ext cx="2532888" cy="0"/>
          </a:xfrm>
          <a:prstGeom prst="line">
            <a:avLst/>
          </a:prstGeom>
          <a:noFill/>
          <a:ln w="15875">
            <a:solidFill>
              <a:srgbClr val="9E3338"/>
            </a:solidFill>
            <a:prstDash val="solid"/>
            <a:headEnd type="none"/>
            <a:tailEnd type="none"/>
          </a:ln>
        </p:spPr>
      </p:sp>
      <p:sp>
        <p:nvSpPr>
          <p:cNvPr id="43" name="Shape 8"/>
          <p:cNvSpPr/>
          <p:nvPr/>
        </p:nvSpPr>
        <p:spPr>
          <a:xfrm>
            <a:off x="2231454" y="4346194"/>
            <a:ext cx="0" cy="274320"/>
          </a:xfrm>
          <a:prstGeom prst="line">
            <a:avLst/>
          </a:prstGeom>
          <a:noFill/>
          <a:ln w="15875">
            <a:solidFill>
              <a:srgbClr val="9E3338"/>
            </a:solidFill>
            <a:prstDash val="solid"/>
            <a:headEnd type="none"/>
            <a:tailEnd type="triangle"/>
          </a:ln>
        </p:spPr>
      </p:sp>
      <p:sp>
        <p:nvSpPr>
          <p:cNvPr id="44" name="Shape 9"/>
          <p:cNvSpPr/>
          <p:nvPr/>
        </p:nvSpPr>
        <p:spPr>
          <a:xfrm>
            <a:off x="4764342" y="4346194"/>
            <a:ext cx="0" cy="274320"/>
          </a:xfrm>
          <a:prstGeom prst="line">
            <a:avLst/>
          </a:prstGeom>
          <a:noFill/>
          <a:ln w="15875">
            <a:solidFill>
              <a:srgbClr val="9E3338"/>
            </a:solidFill>
            <a:prstDash val="solid"/>
            <a:headEnd type="none"/>
            <a:tailEnd type="triangle"/>
          </a:ln>
        </p:spPr>
      </p:sp>
      <p:sp>
        <p:nvSpPr>
          <p:cNvPr id="45" name="Shape 10"/>
          <p:cNvSpPr/>
          <p:nvPr/>
        </p:nvSpPr>
        <p:spPr>
          <a:xfrm>
            <a:off x="8691690" y="4081018"/>
            <a:ext cx="0" cy="265176"/>
          </a:xfrm>
          <a:prstGeom prst="line">
            <a:avLst/>
          </a:prstGeom>
          <a:noFill/>
          <a:ln w="15875">
            <a:solidFill>
              <a:srgbClr val="9E3338"/>
            </a:solidFill>
            <a:prstDash val="solid"/>
            <a:headEnd type="none"/>
            <a:tailEnd type="none"/>
          </a:ln>
        </p:spPr>
      </p:sp>
      <p:sp>
        <p:nvSpPr>
          <p:cNvPr id="46" name="Shape 11"/>
          <p:cNvSpPr/>
          <p:nvPr/>
        </p:nvSpPr>
        <p:spPr>
          <a:xfrm>
            <a:off x="7489254" y="4346194"/>
            <a:ext cx="2514600" cy="0"/>
          </a:xfrm>
          <a:prstGeom prst="line">
            <a:avLst/>
          </a:prstGeom>
          <a:noFill/>
          <a:ln w="15875">
            <a:solidFill>
              <a:srgbClr val="9E3338"/>
            </a:solidFill>
            <a:prstDash val="solid"/>
            <a:headEnd type="none"/>
            <a:tailEnd type="none"/>
          </a:ln>
        </p:spPr>
      </p:sp>
      <p:sp>
        <p:nvSpPr>
          <p:cNvPr id="47" name="Shape 12"/>
          <p:cNvSpPr/>
          <p:nvPr/>
        </p:nvSpPr>
        <p:spPr>
          <a:xfrm>
            <a:off x="7489254" y="4346194"/>
            <a:ext cx="0" cy="274320"/>
          </a:xfrm>
          <a:prstGeom prst="line">
            <a:avLst/>
          </a:prstGeom>
          <a:noFill/>
          <a:ln w="15875">
            <a:solidFill>
              <a:srgbClr val="9E3338"/>
            </a:solidFill>
            <a:prstDash val="solid"/>
            <a:headEnd type="none"/>
            <a:tailEnd type="triangle"/>
          </a:ln>
        </p:spPr>
      </p:sp>
      <p:sp>
        <p:nvSpPr>
          <p:cNvPr id="48" name="Shape 13"/>
          <p:cNvSpPr/>
          <p:nvPr/>
        </p:nvSpPr>
        <p:spPr>
          <a:xfrm>
            <a:off x="10003854" y="4346194"/>
            <a:ext cx="0" cy="274320"/>
          </a:xfrm>
          <a:prstGeom prst="line">
            <a:avLst/>
          </a:prstGeom>
          <a:noFill/>
          <a:ln w="15875">
            <a:solidFill>
              <a:srgbClr val="9E3338"/>
            </a:solidFill>
            <a:prstDash val="solid"/>
            <a:headEnd type="none"/>
            <a:tailEnd type="triangle"/>
          </a:ln>
        </p:spPr>
      </p:sp>
      <p:sp>
        <p:nvSpPr>
          <p:cNvPr id="50" name="Shape 15"/>
          <p:cNvSpPr/>
          <p:nvPr/>
        </p:nvSpPr>
        <p:spPr>
          <a:xfrm>
            <a:off x="2377758" y="3514090"/>
            <a:ext cx="2240280" cy="566928"/>
          </a:xfrm>
          <a:prstGeom prst="roundRect">
            <a:avLst>
              <a:gd name="adj" fmla="val 12903"/>
            </a:avLst>
          </a:prstGeom>
          <a:solidFill>
            <a:srgbClr val="F9EEEE"/>
          </a:solidFill>
          <a:ln w="12700">
            <a:solidFill>
              <a:srgbClr val="B75A5F"/>
            </a:solidFill>
            <a:prstDash val="solid"/>
          </a:ln>
          <a:effectLst>
            <a:outerShdw blurRad="161290000" dist="645160000" algn="bl" rotWithShape="0">
              <a:srgbClr val="999999">
                <a:alpha val="0"/>
              </a:srgbClr>
            </a:outerShdw>
          </a:effectLst>
        </p:spPr>
      </p:sp>
      <p:sp>
        <p:nvSpPr>
          <p:cNvPr id="51" name="Shape 16"/>
          <p:cNvSpPr/>
          <p:nvPr/>
        </p:nvSpPr>
        <p:spPr>
          <a:xfrm>
            <a:off x="7571550" y="3514090"/>
            <a:ext cx="2240280" cy="566928"/>
          </a:xfrm>
          <a:prstGeom prst="roundRect">
            <a:avLst>
              <a:gd name="adj" fmla="val 12903"/>
            </a:avLst>
          </a:prstGeom>
          <a:solidFill>
            <a:srgbClr val="F9EEEE"/>
          </a:solidFill>
          <a:ln w="12700">
            <a:solidFill>
              <a:srgbClr val="B75A5F"/>
            </a:solidFill>
            <a:prstDash val="solid"/>
          </a:ln>
          <a:effectLst>
            <a:outerShdw algn="bl" rotWithShape="0">
              <a:srgbClr val="999999">
                <a:alpha val="0"/>
              </a:srgbClr>
            </a:outerShdw>
          </a:effectLst>
        </p:spPr>
      </p:sp>
      <p:sp>
        <p:nvSpPr>
          <p:cNvPr id="52" name="Shape 17"/>
          <p:cNvSpPr/>
          <p:nvPr/>
        </p:nvSpPr>
        <p:spPr>
          <a:xfrm>
            <a:off x="1079310" y="4620514"/>
            <a:ext cx="2304288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1430">
            <a:solidFill>
              <a:srgbClr val="C5CBD3"/>
            </a:solidFill>
            <a:prstDash val="solid"/>
          </a:ln>
          <a:effectLst>
            <a:outerShdw blurRad="12700" dist="50800" dir="2700000" algn="bl" rotWithShape="0">
              <a:srgbClr val="CCCCCC">
                <a:alpha val="10000"/>
              </a:srgbClr>
            </a:outerShdw>
          </a:effectLst>
        </p:spPr>
      </p:sp>
      <p:sp>
        <p:nvSpPr>
          <p:cNvPr id="53" name="Shape 18"/>
          <p:cNvSpPr/>
          <p:nvPr/>
        </p:nvSpPr>
        <p:spPr>
          <a:xfrm>
            <a:off x="3612198" y="4620514"/>
            <a:ext cx="2304288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1430">
            <a:solidFill>
              <a:srgbClr val="C5CBD3"/>
            </a:solidFill>
            <a:prstDash val="solid"/>
          </a:ln>
          <a:effectLst>
            <a:outerShdw blurRad="12700" dist="50800" dir="2700000" algn="bl" rotWithShape="0">
              <a:srgbClr val="CCCCCC">
                <a:alpha val="10000"/>
              </a:srgbClr>
            </a:outerShdw>
          </a:effectLst>
        </p:spPr>
      </p:sp>
      <p:sp>
        <p:nvSpPr>
          <p:cNvPr id="54" name="Shape 19"/>
          <p:cNvSpPr/>
          <p:nvPr/>
        </p:nvSpPr>
        <p:spPr>
          <a:xfrm>
            <a:off x="6337110" y="4620514"/>
            <a:ext cx="2304288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1430">
            <a:solidFill>
              <a:srgbClr val="C5CBD3"/>
            </a:solidFill>
            <a:prstDash val="solid"/>
          </a:ln>
          <a:effectLst>
            <a:outerShdw blurRad="12700" dist="50800" dir="2700000" algn="bl" rotWithShape="0">
              <a:srgbClr val="CCCCCC">
                <a:alpha val="10000"/>
              </a:srgbClr>
            </a:outerShdw>
          </a:effectLst>
        </p:spPr>
      </p:sp>
      <p:sp>
        <p:nvSpPr>
          <p:cNvPr id="55" name="Shape 20"/>
          <p:cNvSpPr/>
          <p:nvPr/>
        </p:nvSpPr>
        <p:spPr>
          <a:xfrm>
            <a:off x="8851710" y="4620514"/>
            <a:ext cx="2304288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1430">
            <a:solidFill>
              <a:srgbClr val="C5CBD3"/>
            </a:solidFill>
            <a:prstDash val="solid"/>
          </a:ln>
          <a:effectLst>
            <a:outerShdw blurRad="12700" dist="50800" dir="2700000" algn="bl" rotWithShape="0">
              <a:srgbClr val="CCCCCC">
                <a:alpha val="10000"/>
              </a:srgbClr>
            </a:outerShdw>
          </a:effectLst>
        </p:spPr>
      </p:sp>
      <p:sp>
        <p:nvSpPr>
          <p:cNvPr id="57" name="Text 22"/>
          <p:cNvSpPr/>
          <p:nvPr/>
        </p:nvSpPr>
        <p:spPr>
          <a:xfrm>
            <a:off x="2273935" y="3573145"/>
            <a:ext cx="2449195" cy="4489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algn="ctr">
              <a:buClrTx/>
              <a:buSzTx/>
              <a:buFontTx/>
              <a:buNone/>
            </a:pPr>
            <a:r>
              <a:rPr lang="en-US" b="1" dirty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分组密码</a:t>
            </a:r>
          </a:p>
          <a:p>
            <a:pPr marL="0" algn="ctr">
              <a:buClrTx/>
              <a:buSzTx/>
              <a:buFontTx/>
              <a:buNone/>
            </a:pPr>
            <a:r>
              <a:rPr lang="zh-CN" altLang="en-US" b="1" dirty="0">
                <a:solidFill>
                  <a:srgbClr val="2D2D2D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（</a:t>
            </a:r>
            <a:r>
              <a:rPr lang="en-US" altLang="zh-CN" b="1" dirty="0">
                <a:solidFill>
                  <a:srgbClr val="2D2D2D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Block Cipher</a:t>
            </a:r>
            <a:r>
              <a:rPr lang="zh-CN" altLang="en-US" b="1" dirty="0">
                <a:solidFill>
                  <a:srgbClr val="2D2D2D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）</a:t>
            </a:r>
          </a:p>
        </p:txBody>
      </p:sp>
      <p:sp>
        <p:nvSpPr>
          <p:cNvPr id="58" name="Text 23"/>
          <p:cNvSpPr/>
          <p:nvPr/>
        </p:nvSpPr>
        <p:spPr>
          <a:xfrm>
            <a:off x="7434580" y="3573780"/>
            <a:ext cx="2533015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流密码</a:t>
            </a:r>
          </a:p>
          <a:p>
            <a:pPr marL="0" indent="0" algn="ctr">
              <a:buNone/>
            </a:pPr>
            <a:r>
              <a:rPr lang="zh-CN" altLang="en-US" b="1" dirty="0">
                <a:solidFill>
                  <a:srgbClr val="2D2D2D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（Stream Cipher）</a:t>
            </a:r>
          </a:p>
        </p:txBody>
      </p:sp>
      <p:sp>
        <p:nvSpPr>
          <p:cNvPr id="59" name="Text 24"/>
          <p:cNvSpPr/>
          <p:nvPr/>
        </p:nvSpPr>
        <p:spPr>
          <a:xfrm>
            <a:off x="1207326" y="4816602"/>
            <a:ext cx="2048256" cy="58521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indent="0" algn="ctr" fontAlgn="auto">
              <a:lnSpc>
                <a:spcPct val="100000"/>
              </a:lnSpc>
              <a:buNone/>
            </a:pPr>
            <a:r>
              <a:rPr lang="en-US" b="1" dirty="0">
                <a:solidFill>
                  <a:srgbClr val="B313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典型算法：</a:t>
            </a:r>
            <a:endParaRPr 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ctr" fontAlgn="auto">
              <a:lnSpc>
                <a:spcPct val="100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DES、AES、SM4</a:t>
            </a:r>
          </a:p>
        </p:txBody>
      </p:sp>
      <p:sp>
        <p:nvSpPr>
          <p:cNvPr id="60" name="Text 25"/>
          <p:cNvSpPr/>
          <p:nvPr/>
        </p:nvSpPr>
        <p:spPr>
          <a:xfrm>
            <a:off x="3612515" y="4594860"/>
            <a:ext cx="2303780" cy="102870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indent="0" algn="ctr" fontAlgn="auto">
              <a:lnSpc>
                <a:spcPct val="100000"/>
              </a:lnSpc>
              <a:buNone/>
            </a:pPr>
            <a:r>
              <a:rPr lang="en-US" b="1" dirty="0">
                <a:solidFill>
                  <a:srgbClr val="B313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工作模式：</a:t>
            </a:r>
            <a:endParaRPr 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ctr" fontAlgn="auto">
              <a:lnSpc>
                <a:spcPct val="100000"/>
              </a:lnSpc>
              <a:buClrTx/>
              <a:buSzTx/>
              <a:buFontTx/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ECB、CBC、CFB、</a:t>
            </a:r>
          </a:p>
          <a:p>
            <a:pPr indent="0" algn="ctr" fontAlgn="auto">
              <a:lnSpc>
                <a:spcPct val="100000"/>
              </a:lnSpc>
              <a:buClrTx/>
              <a:buSzTx/>
              <a:buFontTx/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OFB、CTR、GCM</a:t>
            </a:r>
          </a:p>
        </p:txBody>
      </p:sp>
      <p:sp>
        <p:nvSpPr>
          <p:cNvPr id="2" name="Text 25"/>
          <p:cNvSpPr/>
          <p:nvPr/>
        </p:nvSpPr>
        <p:spPr>
          <a:xfrm>
            <a:off x="6337300" y="4607560"/>
            <a:ext cx="2303780" cy="102870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indent="0" algn="ctr" fontAlgn="auto">
              <a:lnSpc>
                <a:spcPct val="100000"/>
              </a:lnSpc>
              <a:buNone/>
            </a:pPr>
            <a:r>
              <a:rPr lang="zh-CN" altLang="en-US" b="1" dirty="0">
                <a:solidFill>
                  <a:srgbClr val="B313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基本思想</a:t>
            </a:r>
            <a:r>
              <a:rPr lang="en-US" b="1" dirty="0">
                <a:solidFill>
                  <a:srgbClr val="B313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ctr" fontAlgn="auto">
              <a:lnSpc>
                <a:spcPct val="100000"/>
              </a:lnSpc>
              <a:buNone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生成连续的密钥流，</a:t>
            </a:r>
          </a:p>
          <a:p>
            <a:pPr indent="0" algn="ctr" fontAlgn="auto">
              <a:lnSpc>
                <a:spcPct val="100000"/>
              </a:lnSpc>
              <a:buNone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与明文逐位加密</a:t>
            </a:r>
          </a:p>
        </p:txBody>
      </p:sp>
      <p:sp>
        <p:nvSpPr>
          <p:cNvPr id="3" name="Text 25"/>
          <p:cNvSpPr/>
          <p:nvPr/>
        </p:nvSpPr>
        <p:spPr>
          <a:xfrm>
            <a:off x="8852535" y="4598035"/>
            <a:ext cx="2303780" cy="102870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indent="0" algn="ctr" fontAlgn="auto">
              <a:lnSpc>
                <a:spcPct val="100000"/>
              </a:lnSpc>
              <a:buNone/>
            </a:pPr>
            <a:r>
              <a:rPr lang="zh-CN" altLang="en-US" b="1" dirty="0">
                <a:solidFill>
                  <a:srgbClr val="B313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典型代表</a:t>
            </a:r>
            <a:r>
              <a:rPr lang="en-US" b="1" dirty="0">
                <a:solidFill>
                  <a:srgbClr val="B313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ctr" fontAlgn="auto">
              <a:lnSpc>
                <a:spcPct val="100000"/>
              </a:lnSpc>
              <a:buClrTx/>
              <a:buSzTx/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ZUC</a:t>
            </a:r>
          </a:p>
          <a:p>
            <a:pPr indent="0" algn="ctr" fontAlgn="auto">
              <a:lnSpc>
                <a:spcPct val="100000"/>
              </a:lnSpc>
              <a:buNone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祖冲之算法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</a:p>
        </p:txBody>
      </p:sp>
      <p:sp>
        <p:nvSpPr>
          <p:cNvPr id="6" name="Shape 15"/>
          <p:cNvSpPr/>
          <p:nvPr/>
        </p:nvSpPr>
        <p:spPr>
          <a:xfrm>
            <a:off x="4988560" y="2468245"/>
            <a:ext cx="2240280" cy="442595"/>
          </a:xfrm>
          <a:prstGeom prst="roundRect">
            <a:avLst>
              <a:gd name="adj" fmla="val 12903"/>
            </a:avLst>
          </a:prstGeom>
          <a:solidFill>
            <a:srgbClr val="F9EEEE"/>
          </a:solidFill>
          <a:ln w="12700">
            <a:solidFill>
              <a:srgbClr val="B75A5F"/>
            </a:solidFill>
            <a:prstDash val="solid"/>
          </a:ln>
          <a:effectLst>
            <a:outerShdw blurRad="161290000" dist="645160000" algn="bl" rotWithShape="0">
              <a:srgbClr val="999999">
                <a:alpha val="0"/>
              </a:srgbClr>
            </a:outerShdw>
          </a:effectLst>
        </p:spPr>
        <p:txBody>
          <a:bodyPr/>
          <a:lstStyle/>
          <a:p>
            <a:pPr algn="ctr"/>
            <a:r>
              <a:rPr lang="en-US" b="1" dirty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对称加密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9"/>
          <p:cNvSpPr/>
          <p:nvPr/>
        </p:nvSpPr>
        <p:spPr>
          <a:xfrm>
            <a:off x="502920" y="5482590"/>
            <a:ext cx="11182985" cy="889000"/>
          </a:xfrm>
          <a:prstGeom prst="rect">
            <a:avLst/>
          </a:prstGeom>
          <a:solidFill>
            <a:srgbClr val="FBF1F1"/>
          </a:solidFill>
          <a:ln>
            <a:noFill/>
          </a:ln>
        </p:spPr>
        <p:txBody>
          <a:bodyPr wrap="square" lIns="182880" rIns="137160" rtlCol="0" anchor="ctr"/>
          <a:lstStyle/>
          <a:p>
            <a:pPr indent="0" algn="l" fontAlgn="auto">
              <a:lnSpc>
                <a:spcPct val="150000"/>
              </a:lnSpc>
              <a:buNone/>
            </a:pPr>
            <a:r>
              <a:rPr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示例：</a:t>
            </a:r>
            <a:r>
              <a:rPr b="1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AES-CBC</a:t>
            </a:r>
            <a:r>
              <a:rPr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=</a:t>
            </a:r>
            <a:r>
              <a:rPr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b="1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AES</a:t>
            </a:r>
            <a:r>
              <a:rPr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算法 </a:t>
            </a:r>
            <a:r>
              <a:rPr b="1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+</a:t>
            </a:r>
            <a:r>
              <a:rPr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b="1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CBC</a:t>
            </a:r>
            <a:r>
              <a:rPr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工作模式；</a:t>
            </a:r>
            <a:r>
              <a:rPr>
                <a:solidFill>
                  <a:srgbClr val="25324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>
                <a:solidFill>
                  <a:srgbClr val="253241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>
                <a:solidFill>
                  <a:srgbClr val="253241"/>
                </a:solidFill>
                <a:latin typeface="微软雅黑" panose="020B0503020204020204" charset="-122"/>
                <a:ea typeface="微软雅黑" panose="020B0503020204020204" charset="-122"/>
              </a:rPr>
              <a:t>各模式</a:t>
            </a:r>
            <a:r>
              <a:rPr lang="zh-CN">
                <a:solidFill>
                  <a:srgbClr val="253241"/>
                </a:solidFill>
                <a:latin typeface="微软雅黑" panose="020B0503020204020204" charset="-122"/>
                <a:ea typeface="微软雅黑" panose="020B0503020204020204" charset="-122"/>
              </a:rPr>
              <a:t>详情见下次课</a:t>
            </a:r>
            <a:r>
              <a:rPr>
                <a:solidFill>
                  <a:srgbClr val="253241"/>
                </a:solidFill>
                <a:latin typeface="微软雅黑" panose="020B0503020204020204" charset="-122"/>
                <a:ea typeface="微软雅黑" panose="020B0503020204020204" charset="-122"/>
              </a:rPr>
              <a:t>“分组密码工作模式”</a:t>
            </a:r>
            <a:r>
              <a:rPr lang="zh-CN">
                <a:solidFill>
                  <a:srgbClr val="253241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zh-CN">
                <a:solidFill>
                  <a:srgbClr val="25324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内容</a:t>
            </a:r>
            <a:r>
              <a:rPr>
                <a:solidFill>
                  <a:srgbClr val="253241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r>
              <a:rPr lang="zh-CN">
                <a:solidFill>
                  <a:srgbClr val="253241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</a:p>
          <a:p>
            <a:pPr indent="0" algn="l" fontAlgn="auto">
              <a:lnSpc>
                <a:spcPct val="150000"/>
              </a:lnSpc>
              <a:buNone/>
            </a:pPr>
            <a:r>
              <a:rPr>
                <a:solidFill>
                  <a:srgbClr val="253241"/>
                </a:solidFill>
                <a:latin typeface="微软雅黑" panose="020B0503020204020204" charset="-122"/>
                <a:ea typeface="微软雅黑" panose="020B0503020204020204" charset="-122"/>
              </a:rPr>
              <a:t>工作模式不是一种新的分组密码算法</a:t>
            </a:r>
            <a:r>
              <a:rPr lang="zh-CN">
                <a:solidFill>
                  <a:srgbClr val="253241"/>
                </a:solidFill>
                <a:latin typeface="微软雅黑" panose="020B0503020204020204" charset="-122"/>
                <a:ea typeface="微软雅黑" panose="020B0503020204020204" charset="-122"/>
              </a:rPr>
              <a:t>，而是组织分组密码处理长消息的方法。</a:t>
            </a:r>
          </a:p>
        </p:txBody>
      </p:sp>
      <p:sp>
        <p:nvSpPr>
          <p:cNvPr id="4" name="Rectangle 5"/>
          <p:cNvSpPr/>
          <p:nvPr/>
        </p:nvSpPr>
        <p:spPr>
          <a:xfrm>
            <a:off x="730885" y="1365885"/>
            <a:ext cx="10790555" cy="560000"/>
          </a:xfrm>
          <a:prstGeom prst="rect">
            <a:avLst/>
          </a:prstGeom>
          <a:solidFill>
            <a:srgbClr val="FBF1F1"/>
          </a:solidFill>
          <a:ln>
            <a:noFill/>
          </a:ln>
        </p:spPr>
        <p:txBody>
          <a:bodyPr wrap="square" lIns="182880" rIns="137160" rtlCol="0" anchor="ctr"/>
          <a:lstStyle/>
          <a:p>
            <a:pPr marL="0" indent="0" algn="l">
              <a:buNone/>
            </a:pPr>
            <a:r>
              <a:rPr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分组密码算法 </a:t>
            </a:r>
            <a:r>
              <a:rPr lang="zh-CN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是加密一个数据块的核心算法</a:t>
            </a:r>
            <a:r>
              <a:rPr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；工作模式 </a:t>
            </a:r>
            <a:r>
              <a:rPr lang="zh-CN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是将多个数据块连接起来的运行规则。</a:t>
            </a:r>
          </a:p>
        </p:txBody>
      </p:sp>
      <p:sp>
        <p:nvSpPr>
          <p:cNvPr id="9" name="Shape 7"/>
          <p:cNvSpPr/>
          <p:nvPr/>
        </p:nvSpPr>
        <p:spPr>
          <a:xfrm>
            <a:off x="779780" y="2305685"/>
            <a:ext cx="3246120" cy="2936875"/>
          </a:xfrm>
          <a:prstGeom prst="roundRect">
            <a:avLst>
              <a:gd name="adj" fmla="val 2909"/>
            </a:avLst>
          </a:prstGeom>
          <a:solidFill>
            <a:srgbClr val="F5F5F5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0"/>
          <p:cNvSpPr/>
          <p:nvPr/>
        </p:nvSpPr>
        <p:spPr>
          <a:xfrm>
            <a:off x="999489" y="3210814"/>
            <a:ext cx="1382203" cy="213233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b="1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典型算法</a:t>
            </a:r>
            <a:r>
              <a:rPr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en-US" sz="1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Shape 11"/>
          <p:cNvSpPr/>
          <p:nvPr/>
        </p:nvSpPr>
        <p:spPr>
          <a:xfrm>
            <a:off x="1045210" y="3585718"/>
            <a:ext cx="6400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045210" y="3677158"/>
            <a:ext cx="640080" cy="18288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sz="1700" b="1">
                <a:solidFill>
                  <a:srgbClr val="253241"/>
                </a:solidFill>
                <a:latin typeface="Times New Roman" panose="02020603050405020304"/>
                <a:ea typeface="微软雅黑" panose="020B0503020204020204" charset="-122"/>
              </a:rPr>
              <a:t>DES</a:t>
            </a:r>
            <a:endParaRPr lang="en-US" sz="1100" b="1" dirty="0">
              <a:solidFill>
                <a:srgbClr val="253241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959610" y="3585718"/>
            <a:ext cx="6400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959610" y="3677158"/>
            <a:ext cx="640080" cy="18288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sz="1700" b="1">
                <a:solidFill>
                  <a:srgbClr val="253241"/>
                </a:solidFill>
                <a:latin typeface="Times New Roman" panose="02020603050405020304"/>
                <a:ea typeface="微软雅黑" panose="020B0503020204020204" charset="-122"/>
              </a:rPr>
              <a:t>AES</a:t>
            </a:r>
            <a:endParaRPr lang="en-US" sz="1100" b="1" dirty="0">
              <a:solidFill>
                <a:srgbClr val="253241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874010" y="3585718"/>
            <a:ext cx="6400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2874010" y="3677158"/>
            <a:ext cx="640080" cy="18288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sz="1700" b="1">
                <a:solidFill>
                  <a:srgbClr val="253241"/>
                </a:solidFill>
                <a:latin typeface="Times New Roman" panose="02020603050405020304"/>
                <a:ea typeface="微软雅黑" panose="020B0503020204020204" charset="-122"/>
              </a:rPr>
              <a:t>SM4</a:t>
            </a:r>
            <a:endParaRPr lang="en-US" sz="1100" b="1" dirty="0">
              <a:solidFill>
                <a:srgbClr val="253241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99489" y="4253230"/>
            <a:ext cx="808045" cy="12376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b="1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作用</a:t>
            </a:r>
            <a:r>
              <a:rPr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en-US" sz="1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639570" y="4311650"/>
            <a:ext cx="2148840" cy="647065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dirty="0" err="1">
                <a:solidFill>
                  <a:srgbClr val="253241"/>
                </a:solidFill>
                <a:latin typeface="微软雅黑" panose="020B0503020204020204" charset="-122"/>
                <a:ea typeface="微软雅黑" panose="020B0503020204020204" charset="-122"/>
              </a:rPr>
              <a:t>规定一个固定长度明文分组，</a:t>
            </a:r>
            <a:r>
              <a:rPr dirty="0" err="1" smtClean="0">
                <a:solidFill>
                  <a:srgbClr val="253241"/>
                </a:solidFill>
                <a:latin typeface="微软雅黑" panose="020B0503020204020204" charset="-122"/>
                <a:ea typeface="微软雅黑" panose="020B0503020204020204" charset="-122"/>
              </a:rPr>
              <a:t>如何在密钥控制下变为密文分组</a:t>
            </a:r>
            <a:endParaRPr lang="en-US" sz="1600" dirty="0">
              <a:solidFill>
                <a:srgbClr val="2532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309618" y="3430270"/>
            <a:ext cx="365760" cy="50292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 fontScale="97500" lnSpcReduction="10000"/>
          </a:bodyPr>
          <a:lstStyle/>
          <a:p>
            <a:pPr marL="0" indent="0" algn="ctr">
              <a:buNone/>
            </a:pPr>
            <a:r>
              <a:rPr sz="3600" b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+</a:t>
            </a:r>
            <a:endParaRPr lang="en-US" sz="3600" dirty="0"/>
          </a:p>
        </p:txBody>
      </p:sp>
      <p:sp>
        <p:nvSpPr>
          <p:cNvPr id="22" name="Shape 20"/>
          <p:cNvSpPr/>
          <p:nvPr/>
        </p:nvSpPr>
        <p:spPr>
          <a:xfrm>
            <a:off x="4931410" y="2305685"/>
            <a:ext cx="3429000" cy="2936240"/>
          </a:xfrm>
          <a:prstGeom prst="roundRect">
            <a:avLst>
              <a:gd name="adj" fmla="val 2909"/>
            </a:avLst>
          </a:prstGeom>
          <a:solidFill>
            <a:srgbClr val="F5F5F5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5224145" y="3181985"/>
            <a:ext cx="1646555" cy="257175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常见工作模式</a:t>
            </a:r>
            <a:r>
              <a:rPr lang="zh-CN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zh-CN" sz="1600" b="1" dirty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224018" y="3585718"/>
            <a:ext cx="438912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5224018" y="3677158"/>
            <a:ext cx="438912" cy="16459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253241"/>
                </a:solidFill>
                <a:latin typeface="Times New Roman" panose="02020603050405020304"/>
                <a:ea typeface="微软雅黑" panose="020B0503020204020204" charset="-122"/>
              </a:rPr>
              <a:t>ECB</a:t>
            </a:r>
            <a:endParaRPr lang="en-US" sz="1600" b="1" dirty="0">
              <a:solidFill>
                <a:srgbClr val="253241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772658" y="3585718"/>
            <a:ext cx="438912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5772658" y="3677158"/>
            <a:ext cx="438912" cy="16459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253241"/>
                </a:solidFill>
                <a:latin typeface="Times New Roman" panose="02020603050405020304"/>
                <a:ea typeface="微软雅黑" panose="020B0503020204020204" charset="-122"/>
              </a:rPr>
              <a:t>CBC</a:t>
            </a:r>
            <a:endParaRPr lang="en-US" sz="1200" b="1" dirty="0">
              <a:solidFill>
                <a:srgbClr val="253241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321298" y="3585718"/>
            <a:ext cx="438912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321298" y="3677158"/>
            <a:ext cx="438912" cy="16459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253241"/>
                </a:solidFill>
                <a:latin typeface="Times New Roman" panose="02020603050405020304"/>
                <a:ea typeface="微软雅黑" panose="020B0503020204020204" charset="-122"/>
              </a:rPr>
              <a:t>CFB</a:t>
            </a:r>
            <a:endParaRPr lang="en-US" sz="1200" b="1" dirty="0">
              <a:solidFill>
                <a:srgbClr val="253241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869938" y="3585718"/>
            <a:ext cx="438912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869938" y="3677158"/>
            <a:ext cx="438912" cy="16459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253241"/>
                </a:solidFill>
                <a:latin typeface="Times New Roman" panose="02020603050405020304"/>
                <a:ea typeface="微软雅黑" panose="020B0503020204020204" charset="-122"/>
              </a:rPr>
              <a:t>OFB</a:t>
            </a:r>
            <a:endParaRPr lang="en-US" sz="1200" b="1" dirty="0">
              <a:solidFill>
                <a:srgbClr val="253241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418578" y="3585718"/>
            <a:ext cx="438912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7418578" y="3677158"/>
            <a:ext cx="438912" cy="16459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253241"/>
                </a:solidFill>
                <a:latin typeface="Times New Roman" panose="02020603050405020304"/>
                <a:ea typeface="微软雅黑" panose="020B0503020204020204" charset="-122"/>
              </a:rPr>
              <a:t>CTR</a:t>
            </a:r>
            <a:endParaRPr lang="en-US" sz="1200" b="1" dirty="0">
              <a:solidFill>
                <a:srgbClr val="253241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224017" y="4253229"/>
            <a:ext cx="726567" cy="268605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b="1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作用</a:t>
            </a:r>
            <a:r>
              <a:rPr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en-US" sz="1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950585" y="4275455"/>
            <a:ext cx="2278380" cy="76454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dirty="0" err="1">
                <a:solidFill>
                  <a:srgbClr val="253241"/>
                </a:solidFill>
                <a:latin typeface="微软雅黑" panose="020B0503020204020204" charset="-122"/>
                <a:ea typeface="微软雅黑" panose="020B0503020204020204" charset="-122"/>
              </a:rPr>
              <a:t>规定怎样反复调用分组密码，</a:t>
            </a:r>
            <a:r>
              <a:rPr dirty="0" err="1" smtClean="0">
                <a:solidFill>
                  <a:srgbClr val="253241"/>
                </a:solidFill>
                <a:latin typeface="微软雅黑" panose="020B0503020204020204" charset="-122"/>
                <a:ea typeface="微软雅黑" panose="020B0503020204020204" charset="-122"/>
              </a:rPr>
              <a:t>以及不同分组之间如何关联</a:t>
            </a:r>
            <a:endParaRPr lang="en-US" dirty="0">
              <a:solidFill>
                <a:srgbClr val="2532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634730" y="3430270"/>
            <a:ext cx="365760" cy="50292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 fontScale="95000" lnSpcReduction="10000"/>
          </a:bodyPr>
          <a:lstStyle/>
          <a:p>
            <a:pPr marL="0" indent="0" algn="ctr">
              <a:buNone/>
            </a:pPr>
            <a:r>
              <a:rPr sz="36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=</a:t>
            </a:r>
            <a:endParaRPr lang="en-US" sz="3600" dirty="0"/>
          </a:p>
        </p:txBody>
      </p:sp>
      <p:sp>
        <p:nvSpPr>
          <p:cNvPr id="39" name="Shape 37"/>
          <p:cNvSpPr/>
          <p:nvPr/>
        </p:nvSpPr>
        <p:spPr>
          <a:xfrm>
            <a:off x="9366250" y="2677160"/>
            <a:ext cx="2057400" cy="1938655"/>
          </a:xfrm>
          <a:prstGeom prst="roundRect">
            <a:avLst>
              <a:gd name="adj" fmla="val 3810"/>
            </a:avLst>
          </a:prstGeom>
          <a:solidFill>
            <a:srgbClr val="F5F5F5"/>
          </a:solidFill>
          <a:ln w="1524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9366250" y="2881630"/>
            <a:ext cx="2057400" cy="22860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组合后的写法</a:t>
            </a:r>
            <a:endParaRPr lang="en-US" sz="1600" b="1" dirty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9366250" y="3311398"/>
            <a:ext cx="2057400" cy="96012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Autofit/>
          </a:bodyPr>
          <a:lstStyle/>
          <a:p>
            <a:pPr indent="0" algn="ctr" fontAlgn="auto">
              <a:lnSpc>
                <a:spcPct val="100000"/>
              </a:lnSpc>
              <a:buNone/>
            </a:pPr>
            <a:r>
              <a:rPr b="1">
                <a:solidFill>
                  <a:srgbClr val="25324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AES-CBC</a:t>
            </a:r>
            <a:endParaRPr lang="en-US" dirty="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indent="0" algn="ctr" fontAlgn="auto">
              <a:lnSpc>
                <a:spcPct val="100000"/>
              </a:lnSpc>
              <a:buNone/>
            </a:pPr>
            <a:r>
              <a:rPr b="1">
                <a:solidFill>
                  <a:srgbClr val="25324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AES-CTR</a:t>
            </a:r>
            <a:endParaRPr lang="en-US" dirty="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indent="0" algn="ctr" fontAlgn="auto">
              <a:lnSpc>
                <a:spcPct val="100000"/>
              </a:lnSpc>
              <a:buNone/>
            </a:pPr>
            <a:r>
              <a:rPr b="1">
                <a:solidFill>
                  <a:srgbClr val="25324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SM4-CBC</a:t>
            </a:r>
            <a:endParaRPr lang="en-US" dirty="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indent="0" algn="ctr" fontAlgn="auto">
              <a:lnSpc>
                <a:spcPct val="100000"/>
              </a:lnSpc>
              <a:buNone/>
            </a:pPr>
            <a:r>
              <a:rPr b="1">
                <a:solidFill>
                  <a:srgbClr val="25324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DES-ECB</a:t>
            </a:r>
            <a:endParaRPr lang="en-US" sz="1600" b="1" dirty="0">
              <a:solidFill>
                <a:srgbClr val="25324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8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en-US" altLang="zh-CN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</a:p>
        </p:txBody>
      </p:sp>
      <p:sp>
        <p:nvSpPr>
          <p:cNvPr id="42" name="TextBox 2"/>
          <p:cNvSpPr txBox="1"/>
          <p:nvPr/>
        </p:nvSpPr>
        <p:spPr>
          <a:xfrm>
            <a:off x="1066739" y="219050"/>
            <a:ext cx="4133088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对称加密</a:t>
            </a:r>
          </a:p>
        </p:txBody>
      </p:sp>
      <p:sp>
        <p:nvSpPr>
          <p:cNvPr id="12" name="Rectangle 5"/>
          <p:cNvSpPr/>
          <p:nvPr/>
        </p:nvSpPr>
        <p:spPr>
          <a:xfrm>
            <a:off x="949960" y="2412365"/>
            <a:ext cx="2792730" cy="560070"/>
          </a:xfrm>
          <a:prstGeom prst="rect">
            <a:avLst/>
          </a:prstGeom>
          <a:solidFill>
            <a:srgbClr val="FBF1F1"/>
          </a:solidFill>
          <a:ln>
            <a:noFill/>
          </a:ln>
        </p:spPr>
        <p:txBody>
          <a:bodyPr wrap="square" lIns="182880" rIns="137160" rtlCol="0" anchor="ctr"/>
          <a:lstStyle/>
          <a:p>
            <a:pPr marL="0" indent="0" algn="ctr">
              <a:buNone/>
            </a:pPr>
            <a:r>
              <a:rPr>
                <a:solidFill>
                  <a:srgbClr val="25324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算法层：一个块怎么变</a:t>
            </a:r>
            <a:endParaRPr b="0" i="0">
              <a:solidFill>
                <a:srgbClr val="25324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3" name="Rectangle 5"/>
          <p:cNvSpPr/>
          <p:nvPr/>
        </p:nvSpPr>
        <p:spPr>
          <a:xfrm>
            <a:off x="5235575" y="2412365"/>
            <a:ext cx="2921000" cy="560070"/>
          </a:xfrm>
          <a:prstGeom prst="rect">
            <a:avLst/>
          </a:prstGeom>
          <a:solidFill>
            <a:srgbClr val="FBF1F1"/>
          </a:solidFill>
          <a:ln>
            <a:noFill/>
          </a:ln>
        </p:spPr>
        <p:txBody>
          <a:bodyPr wrap="square" lIns="182880" rIns="137160" rtlCol="0" anchor="ctr"/>
          <a:lstStyle/>
          <a:p>
            <a:pPr marL="0" indent="0" algn="ctr">
              <a:buNone/>
            </a:pPr>
            <a:r>
              <a:rPr>
                <a:solidFill>
                  <a:srgbClr val="25324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模式层：很多块怎么组织</a:t>
            </a:r>
            <a:endParaRPr b="0" i="0">
              <a:solidFill>
                <a:srgbClr val="25324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" name="TextBox 3"/>
          <p:cNvSpPr txBox="1"/>
          <p:nvPr/>
        </p:nvSpPr>
        <p:spPr>
          <a:xfrm>
            <a:off x="502920" y="828446"/>
            <a:ext cx="11155680" cy="3384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分组密码算法与工作模式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1993289" y="2665199"/>
            <a:ext cx="8205422" cy="764195"/>
            <a:chOff x="3147" y="6401"/>
            <a:chExt cx="11446" cy="1066"/>
          </a:xfrm>
        </p:grpSpPr>
        <p:sp>
          <p:nvSpPr>
            <p:cNvPr id="6" name="文本占位符 5"/>
            <p:cNvSpPr txBox="1"/>
            <p:nvPr/>
          </p:nvSpPr>
          <p:spPr>
            <a:xfrm>
              <a:off x="4979" y="6401"/>
              <a:ext cx="9614" cy="1066"/>
            </a:xfrm>
            <a:prstGeom prst="rect">
              <a:avLst/>
            </a:prstGeom>
          </p:spPr>
          <p:txBody>
            <a:bodyPr vert="horz" wrap="square" lIns="0" tIns="0" rIns="0" bIns="0" anchor="t" anchorCtr="0">
              <a:spAutoFit/>
            </a:bodyPr>
            <a:lstStyle>
              <a:lvl1pPr mar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800" kern="1200" spc="100" baseline="0">
                  <a:solidFill>
                    <a:srgbClr val="40404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cs"/>
                  <a:sym typeface="字魂111号-金榜招牌体" panose="00000500000000000000" pitchFamily="2" charset="-122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4965" b="1" i="0" dirty="0"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分组密码设计基础</a:t>
              </a:r>
              <a:endParaRPr lang="zh-CN" altLang="en-US" sz="4965" b="1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3271" y="6401"/>
              <a:ext cx="1084" cy="106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710" dirty="0"/>
            </a:p>
          </p:txBody>
        </p:sp>
        <p:sp>
          <p:nvSpPr>
            <p:cNvPr id="8" name="矩形 7"/>
            <p:cNvSpPr/>
            <p:nvPr/>
          </p:nvSpPr>
          <p:spPr>
            <a:xfrm>
              <a:off x="3147" y="6523"/>
              <a:ext cx="1331" cy="8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US" altLang="zh-CN" sz="3160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02</a:t>
              </a:r>
              <a:endParaRPr lang="en-US" altLang="zh-CN" sz="3160" dirty="0">
                <a:solidFill>
                  <a:prstClr val="white"/>
                </a:solidFill>
                <a:latin typeface="+mj-ea"/>
                <a:ea typeface="+mj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altLang="zh-CN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6739" y="219050"/>
            <a:ext cx="4133088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分组密码设计基础</a:t>
            </a:r>
          </a:p>
        </p:txBody>
      </p:sp>
      <p:cxnSp>
        <p:nvCxnSpPr>
          <p:cNvPr id="4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页标题"/>
          <p:cNvSpPr txBox="1"/>
          <p:nvPr/>
        </p:nvSpPr>
        <p:spPr>
          <a:xfrm>
            <a:off x="502920" y="827532"/>
            <a:ext cx="11155680" cy="393192"/>
          </a:xfrm>
          <a:prstGeom prst="rect">
            <a:avLst/>
          </a:prstGeom>
          <a:noFill/>
        </p:spPr>
        <p:txBody>
          <a:bodyPr wrap="square" lIns="18288" tIns="0" rIns="18288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分组密码概述与发展历程</a:t>
            </a:r>
            <a:endParaRPr lang="zh-CN" sz="2200" b="1" i="0">
              <a:solidFill>
                <a:srgbClr val="222222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6" name="图形_底色"/>
          <p:cNvSpPr/>
          <p:nvPr/>
        </p:nvSpPr>
        <p:spPr>
          <a:xfrm>
            <a:off x="594360" y="1389888"/>
            <a:ext cx="11018520" cy="914400"/>
          </a:xfrm>
          <a:prstGeom prst="rect">
            <a:avLst/>
          </a:prstGeom>
          <a:solidFill>
            <a:srgbClr val="FA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分组密码每次加密固定长度的比特分组。例如，</a:t>
            </a:r>
            <a:r>
              <a:rPr lang="en-US" alt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AES </a:t>
            </a:r>
            <a:r>
              <a:rPr lang="zh-CN" altLang="en-US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将 128 位明文分组作为一个整体，在密钥控制下变成 128 位密文分组——数据长度不变，内容经过加密；接收方再用同一密钥解密，恢复原文</a:t>
            </a:r>
            <a:r>
              <a:rPr 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。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正文_从设计思想到现代标准"/>
          <p:cNvSpPr txBox="1"/>
          <p:nvPr/>
        </p:nvSpPr>
        <p:spPr>
          <a:xfrm>
            <a:off x="640080" y="2468880"/>
            <a:ext cx="10789920" cy="32918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从设计思想到现代标准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50392" y="3282696"/>
            <a:ext cx="10104120" cy="0"/>
          </a:xfrm>
          <a:prstGeom prst="line">
            <a:avLst/>
          </a:prstGeom>
          <a:ln w="20320">
            <a:solidFill>
              <a:srgbClr val="C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正文_1949"/>
          <p:cNvSpPr txBox="1"/>
          <p:nvPr/>
        </p:nvSpPr>
        <p:spPr>
          <a:xfrm>
            <a:off x="594359" y="2834640"/>
            <a:ext cx="2395728" cy="413385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00" b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1949</a:t>
            </a:r>
            <a:endParaRPr lang="zh-CN" sz="1800" b="1">
              <a:solidFill>
                <a:srgbClr val="C0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723644" y="3214115"/>
            <a:ext cx="137160" cy="13716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正文_香农的设计思想"/>
          <p:cNvSpPr txBox="1"/>
          <p:nvPr/>
        </p:nvSpPr>
        <p:spPr>
          <a:xfrm>
            <a:off x="548639" y="3611880"/>
            <a:ext cx="2487168" cy="35661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香农的设计思想</a:t>
            </a:r>
          </a:p>
        </p:txBody>
      </p:sp>
      <p:sp>
        <p:nvSpPr>
          <p:cNvPr id="13" name="正文_提出混淆与扩散， 奠定现代设计基础。"/>
          <p:cNvSpPr txBox="1"/>
          <p:nvPr/>
        </p:nvSpPr>
        <p:spPr>
          <a:xfrm>
            <a:off x="512064" y="4123944"/>
            <a:ext cx="2560320" cy="619125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提出</a:t>
            </a:r>
            <a:r>
              <a:rPr lang="zh-CN" b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混淆</a:t>
            </a:r>
            <a:r>
              <a:rPr lang="zh-CN" b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与</a:t>
            </a:r>
            <a:r>
              <a:rPr lang="zh-CN" b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扩散</a:t>
            </a:r>
            <a:r>
              <a:rPr lang="zh-CN" b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，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奠定现代设计基础。</a:t>
            </a:r>
          </a:p>
        </p:txBody>
      </p:sp>
      <p:sp>
        <p:nvSpPr>
          <p:cNvPr id="14" name="正文_1977"/>
          <p:cNvSpPr txBox="1"/>
          <p:nvPr/>
        </p:nvSpPr>
        <p:spPr>
          <a:xfrm>
            <a:off x="3410712" y="2834640"/>
            <a:ext cx="2395728" cy="413385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sz="2400" b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1977</a:t>
            </a:r>
            <a:endParaRPr lang="zh-CN" sz="1800" b="1">
              <a:solidFill>
                <a:srgbClr val="C0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4539996" y="3214115"/>
            <a:ext cx="137160" cy="13716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正文_DES 成为标准"/>
          <p:cNvSpPr txBox="1"/>
          <p:nvPr/>
        </p:nvSpPr>
        <p:spPr>
          <a:xfrm>
            <a:off x="3364991" y="3611880"/>
            <a:ext cx="2487168" cy="34417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DES</a:t>
            </a:r>
            <a:r>
              <a:rPr lang="zh-CN" sz="1800" b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 成为标准</a:t>
            </a:r>
          </a:p>
        </p:txBody>
      </p:sp>
      <p:sp>
        <p:nvSpPr>
          <p:cNvPr id="17" name="正文_分组密码进入 标准化应用阶段。"/>
          <p:cNvSpPr txBox="1"/>
          <p:nvPr/>
        </p:nvSpPr>
        <p:spPr>
          <a:xfrm>
            <a:off x="3328416" y="4123944"/>
            <a:ext cx="2560320" cy="619125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推动分组密码的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标准化与广泛应用。</a:t>
            </a:r>
          </a:p>
        </p:txBody>
      </p:sp>
      <p:sp>
        <p:nvSpPr>
          <p:cNvPr id="18" name="正文_2001"/>
          <p:cNvSpPr txBox="1"/>
          <p:nvPr/>
        </p:nvSpPr>
        <p:spPr>
          <a:xfrm>
            <a:off x="6227063" y="2834640"/>
            <a:ext cx="2395728" cy="413385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sz="2400" b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2001</a:t>
            </a:r>
            <a:endParaRPr lang="zh-CN" sz="1800" b="1">
              <a:solidFill>
                <a:srgbClr val="C0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7356348" y="3214115"/>
            <a:ext cx="137160" cy="13716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正文_AES 标准发布"/>
          <p:cNvSpPr txBox="1"/>
          <p:nvPr/>
        </p:nvSpPr>
        <p:spPr>
          <a:xfrm>
            <a:off x="6181343" y="3611880"/>
            <a:ext cx="2487168" cy="34417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AES 标准发布</a:t>
            </a:r>
          </a:p>
        </p:txBody>
      </p:sp>
      <p:sp>
        <p:nvSpPr>
          <p:cNvPr id="21" name="正文_采用 Rijndael， 分组长度为"/>
          <p:cNvSpPr txBox="1"/>
          <p:nvPr/>
        </p:nvSpPr>
        <p:spPr>
          <a:xfrm>
            <a:off x="6050915" y="4123690"/>
            <a:ext cx="2654300" cy="619125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支持更长密钥，逐步接替</a:t>
            </a:r>
            <a:r>
              <a:rPr lang="en-US" altLang="zh-CN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DES</a:t>
            </a:r>
            <a:r>
              <a:rPr lang="zh-CN" altLang="en-US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，满足更高安全需求</a:t>
            </a:r>
            <a:endParaRPr lang="zh-CN" b="0">
              <a:solidFill>
                <a:srgbClr val="40404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2" name="正文_2006 / 2016"/>
          <p:cNvSpPr txBox="1"/>
          <p:nvPr/>
        </p:nvSpPr>
        <p:spPr>
          <a:xfrm>
            <a:off x="9043415" y="2834640"/>
            <a:ext cx="2395728" cy="413385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sz="2400" b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2006 / 2016</a:t>
            </a:r>
            <a:endParaRPr lang="zh-CN" sz="1800" b="1">
              <a:solidFill>
                <a:srgbClr val="C0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10172700" y="3214115"/>
            <a:ext cx="137160" cy="13716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正文_SM4 公开与国标"/>
          <p:cNvSpPr txBox="1"/>
          <p:nvPr/>
        </p:nvSpPr>
        <p:spPr>
          <a:xfrm>
            <a:off x="8997696" y="3611880"/>
            <a:ext cx="2487168" cy="34417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SM4 公开与国标</a:t>
            </a:r>
          </a:p>
        </p:txBody>
      </p:sp>
      <p:sp>
        <p:nvSpPr>
          <p:cNvPr id="25" name="正文_2006 年公开发布； 2016 年"/>
          <p:cNvSpPr txBox="1"/>
          <p:nvPr/>
        </p:nvSpPr>
        <p:spPr>
          <a:xfrm>
            <a:off x="8961119" y="4123944"/>
            <a:ext cx="2560320" cy="619125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2006 年公开发布；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2016 年成为国家标准。</a:t>
            </a:r>
          </a:p>
        </p:txBody>
      </p:sp>
      <p:sp>
        <p:nvSpPr>
          <p:cNvPr id="26" name="图形_底色"/>
          <p:cNvSpPr/>
          <p:nvPr/>
        </p:nvSpPr>
        <p:spPr>
          <a:xfrm>
            <a:off x="594360" y="5193792"/>
            <a:ext cx="11018520" cy="9692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正文_演进动力"/>
          <p:cNvSpPr txBox="1"/>
          <p:nvPr/>
        </p:nvSpPr>
        <p:spPr>
          <a:xfrm>
            <a:off x="786384" y="5349240"/>
            <a:ext cx="1280160" cy="34417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演进动力</a:t>
            </a:r>
          </a:p>
        </p:txBody>
      </p:sp>
      <p:sp>
        <p:nvSpPr>
          <p:cNvPr id="28" name="正文_计算能力与密码分析方法不断发展，推动"/>
          <p:cNvSpPr txBox="1"/>
          <p:nvPr/>
        </p:nvSpPr>
        <p:spPr>
          <a:xfrm>
            <a:off x="2194560" y="5333238"/>
            <a:ext cx="9171432" cy="619125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计算能力与密码分析方法不断发展，推动密钥长度、分组长度和内部结构持续改进；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算法设计在增强安全性的同时，还需兼顾软硬件实现效率。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altLang="zh-CN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6739" y="219050"/>
            <a:ext cx="4133088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分组密码设计基础</a:t>
            </a:r>
          </a:p>
        </p:txBody>
      </p:sp>
      <p:cxnSp>
        <p:nvCxnSpPr>
          <p:cNvPr id="4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页标题"/>
          <p:cNvSpPr txBox="1"/>
          <p:nvPr/>
        </p:nvSpPr>
        <p:spPr>
          <a:xfrm>
            <a:off x="502920" y="827532"/>
            <a:ext cx="11155680" cy="393192"/>
          </a:xfrm>
          <a:prstGeom prst="rect">
            <a:avLst/>
          </a:prstGeom>
          <a:noFill/>
        </p:spPr>
        <p:txBody>
          <a:bodyPr wrap="square" lIns="18288" tIns="0" rIns="18288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分组密码的基本原理</a:t>
            </a:r>
            <a:endParaRPr lang="zh-CN" sz="2200" b="1" i="0">
              <a:solidFill>
                <a:srgbClr val="222222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6" name="正文_① 基本参数"/>
          <p:cNvSpPr txBox="1"/>
          <p:nvPr/>
        </p:nvSpPr>
        <p:spPr>
          <a:xfrm>
            <a:off x="621792" y="1371600"/>
            <a:ext cx="2743200" cy="309245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① 基本参数</a:t>
            </a:r>
          </a:p>
        </p:txBody>
      </p:sp>
      <p:sp>
        <p:nvSpPr>
          <p:cNvPr id="7" name="正文_分组长度 n：每次处理的数据位数。密"/>
          <p:cNvSpPr txBox="1"/>
          <p:nvPr/>
        </p:nvSpPr>
        <p:spPr>
          <a:xfrm>
            <a:off x="786384" y="1801368"/>
            <a:ext cx="10744200" cy="619125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分组长度 </a:t>
            </a:r>
            <a:r>
              <a:rPr lang="zh-CN" b="0" i="1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n</a:t>
            </a:r>
            <a:r>
              <a:rPr lang="zh-CN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：分组密码算法一次处理的固定长度数据块大小，明文分组和密文分组均为</a:t>
            </a:r>
            <a:r>
              <a:rPr lang="en-US" altLang="zh-CN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en-US" altLang="zh-CN" b="0" i="1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n</a:t>
            </a:r>
            <a:r>
              <a:rPr lang="en-US" altLang="zh-CN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zh-CN" altLang="en-US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位</a:t>
            </a:r>
            <a:r>
              <a:rPr lang="zh-CN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密钥长度 </a:t>
            </a:r>
            <a:r>
              <a:rPr lang="zh-CN" b="0" i="1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k</a:t>
            </a:r>
            <a:r>
              <a:rPr lang="zh-CN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：密钥空间中密钥的长度，即密钥</a:t>
            </a:r>
            <a:r>
              <a:rPr lang="en-US" altLang="zh-CN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en-US" altLang="zh-CN" b="0" i="1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K</a:t>
            </a:r>
            <a:r>
              <a:rPr lang="en-US" altLang="zh-CN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zh-CN" altLang="en-US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的比特数</a:t>
            </a:r>
            <a:r>
              <a:rPr lang="zh-CN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，可与分组长度</a:t>
            </a:r>
            <a:r>
              <a:rPr lang="en-US" altLang="zh-CN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en-US" altLang="zh-CN" b="0" i="1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n</a:t>
            </a:r>
            <a:r>
              <a:rPr lang="en-US" altLang="zh-CN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zh-CN" altLang="en-US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相同或不同。</a:t>
            </a:r>
          </a:p>
        </p:txBody>
      </p:sp>
      <p:sp>
        <p:nvSpPr>
          <p:cNvPr id="9" name="正文_② 固定密钥下的可逆映射"/>
          <p:cNvSpPr txBox="1"/>
          <p:nvPr/>
        </p:nvSpPr>
        <p:spPr>
          <a:xfrm>
            <a:off x="621665" y="2542032"/>
            <a:ext cx="4846320" cy="309245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② 固定密钥下的可逆变换</a:t>
            </a:r>
          </a:p>
        </p:txBody>
      </p:sp>
      <p:sp>
        <p:nvSpPr>
          <p:cNvPr id="11" name="正文_每个 n 位明文对应唯一的 n 位密"/>
          <p:cNvSpPr txBox="1"/>
          <p:nvPr/>
        </p:nvSpPr>
        <p:spPr>
          <a:xfrm>
            <a:off x="795655" y="2971800"/>
            <a:ext cx="10469880" cy="967740"/>
          </a:xfrm>
          <a:prstGeom prst="rect">
            <a:avLst/>
          </a:prstGeom>
          <a:noFill/>
        </p:spPr>
        <p:txBody>
          <a:bodyPr wrap="square" lIns="18288" tIns="0" rIns="18288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固定密钥</a:t>
            </a:r>
            <a:r>
              <a:rPr lang="en-US" altLang="zh-CN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en-US" altLang="zh-CN" b="0" i="1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K</a:t>
            </a:r>
            <a:r>
              <a:rPr lang="en-US" altLang="zh-CN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zh-CN" altLang="en-US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后，加密算法：</a:t>
            </a:r>
            <a:r>
              <a:rPr lang="en-US" altLang="zh-CN" b="0" i="1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E</a:t>
            </a:r>
            <a:r>
              <a:rPr lang="en-US" altLang="zh-CN" b="0" i="1" baseline="-2500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K</a:t>
            </a:r>
            <a:r>
              <a:rPr lang="en-US" altLang="zh-CN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:{0,1}</a:t>
            </a:r>
            <a:r>
              <a:rPr lang="en-US" altLang="zh-CN" b="0" i="1" baseline="3000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n </a:t>
            </a:r>
            <a:r>
              <a:rPr lang="en-US" altLang="zh-CN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→ {0,1}</a:t>
            </a:r>
            <a:r>
              <a:rPr lang="en-US" altLang="zh-CN" b="0" i="1" baseline="3000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n</a:t>
            </a:r>
            <a:r>
              <a:rPr lang="en-US" altLang="zh-CN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zh-CN" altLang="en-US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将</a:t>
            </a:r>
            <a:r>
              <a:rPr lang="en-US" altLang="zh-CN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en-US" altLang="zh-CN" b="0" i="1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n</a:t>
            </a:r>
            <a:r>
              <a:rPr lang="en-US" altLang="zh-CN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zh-CN" altLang="en-US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位明文分组映射为唯一的</a:t>
            </a:r>
            <a:r>
              <a:rPr lang="en-US" altLang="zh-CN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en-US" altLang="zh-CN" b="0" i="1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n</a:t>
            </a:r>
            <a:r>
              <a:rPr lang="en-US" altLang="zh-CN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zh-CN" altLang="en-US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位密文分组</a:t>
            </a:r>
            <a:br>
              <a:rPr lang="zh-CN" altLang="en-US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</a:br>
            <a:r>
              <a:rPr lang="zh-CN" altLang="en-US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该映射必须满足双射性质，使解密能够恢复唯一明文。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加密：</a:t>
            </a:r>
            <a:r>
              <a:rPr lang="en-US" altLang="zh-CN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zh-CN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C</a:t>
            </a:r>
            <a:r>
              <a:rPr lang="zh-CN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= </a:t>
            </a:r>
            <a:r>
              <a:rPr lang="zh-CN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E</a:t>
            </a:r>
            <a:r>
              <a:rPr lang="zh-CN" i="1" baseline="-230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K</a:t>
            </a:r>
            <a:r>
              <a:rPr lang="en-US" altLang="zh-CN" i="1" baseline="-230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zh-CN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(</a:t>
            </a:r>
            <a:r>
              <a:rPr lang="zh-CN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M</a:t>
            </a:r>
            <a:r>
              <a:rPr lang="zh-CN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)     解密：</a:t>
            </a:r>
            <a:r>
              <a:rPr lang="en-US" altLang="zh-CN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M</a:t>
            </a:r>
            <a:r>
              <a:rPr lang="en-US" altLang="zh-CN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= </a:t>
            </a:r>
            <a:r>
              <a:rPr lang="en-US" altLang="zh-CN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D</a:t>
            </a:r>
            <a:r>
              <a:rPr lang="en-US" altLang="zh-CN" i="1" baseline="-250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K</a:t>
            </a:r>
            <a:r>
              <a:rPr lang="en-US" altLang="zh-CN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(</a:t>
            </a:r>
            <a:r>
              <a:rPr lang="en-US" altLang="zh-CN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C</a:t>
            </a:r>
            <a:r>
              <a:rPr lang="en-US" altLang="zh-CN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) = </a:t>
            </a:r>
            <a:r>
              <a:rPr lang="zh-CN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D</a:t>
            </a:r>
            <a:r>
              <a:rPr lang="zh-CN" i="1" baseline="-230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K</a:t>
            </a:r>
            <a:r>
              <a:rPr lang="zh-CN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(</a:t>
            </a:r>
            <a:r>
              <a:rPr lang="zh-CN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E</a:t>
            </a:r>
            <a:r>
              <a:rPr lang="zh-CN" i="1" baseline="-230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K</a:t>
            </a:r>
            <a:r>
              <a:rPr lang="zh-CN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(</a:t>
            </a:r>
            <a:r>
              <a:rPr lang="zh-CN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M</a:t>
            </a:r>
            <a:r>
              <a:rPr lang="zh-CN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)) </a:t>
            </a:r>
            <a:endParaRPr lang="zh-CN" b="0">
              <a:solidFill>
                <a:srgbClr val="40404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2" name="正文_③ 多轮迭代与轮密钥"/>
          <p:cNvSpPr txBox="1"/>
          <p:nvPr/>
        </p:nvSpPr>
        <p:spPr>
          <a:xfrm>
            <a:off x="621792" y="4049141"/>
            <a:ext cx="3886200" cy="309245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③ 多轮迭代与轮密钥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429000" y="4511421"/>
            <a:ext cx="0" cy="512064"/>
          </a:xfrm>
          <a:prstGeom prst="line">
            <a:avLst/>
          </a:prstGeom>
          <a:ln w="15240">
            <a:solidFill>
              <a:srgbClr val="C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正文_K{1}"/>
          <p:cNvSpPr txBox="1"/>
          <p:nvPr/>
        </p:nvSpPr>
        <p:spPr>
          <a:xfrm>
            <a:off x="3511296" y="4566285"/>
            <a:ext cx="585216" cy="309245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 i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K</a:t>
            </a:r>
            <a:r>
              <a:rPr lang="zh-CN" b="0" baseline="-2300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166360" y="4511421"/>
            <a:ext cx="0" cy="512064"/>
          </a:xfrm>
          <a:prstGeom prst="line">
            <a:avLst/>
          </a:prstGeom>
          <a:ln w="15240">
            <a:solidFill>
              <a:srgbClr val="C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正文_K{2}"/>
          <p:cNvSpPr txBox="1"/>
          <p:nvPr/>
        </p:nvSpPr>
        <p:spPr>
          <a:xfrm>
            <a:off x="5248656" y="4566285"/>
            <a:ext cx="585216" cy="309245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 i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K</a:t>
            </a:r>
            <a:r>
              <a:rPr lang="zh-CN" b="0" baseline="-2300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2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641080" y="4511421"/>
            <a:ext cx="0" cy="512064"/>
          </a:xfrm>
          <a:prstGeom prst="line">
            <a:avLst/>
          </a:prstGeom>
          <a:ln w="15240">
            <a:solidFill>
              <a:srgbClr val="C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正文_K{r}"/>
          <p:cNvSpPr txBox="1"/>
          <p:nvPr/>
        </p:nvSpPr>
        <p:spPr>
          <a:xfrm>
            <a:off x="8723376" y="4566285"/>
            <a:ext cx="585216" cy="309245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 i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K</a:t>
            </a:r>
            <a:r>
              <a:rPr lang="zh-CN" b="0" baseline="-2300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r</a:t>
            </a:r>
          </a:p>
        </p:txBody>
      </p:sp>
      <p:sp>
        <p:nvSpPr>
          <p:cNvPr id="22" name="图形_明文 M"/>
          <p:cNvSpPr/>
          <p:nvPr/>
        </p:nvSpPr>
        <p:spPr>
          <a:xfrm>
            <a:off x="861060" y="5078095"/>
            <a:ext cx="1379220" cy="492760"/>
          </a:xfrm>
          <a:prstGeom prst="rect">
            <a:avLst/>
          </a:prstGeom>
          <a:solidFill>
            <a:srgbClr val="F5F5F5"/>
          </a:solidFill>
          <a:ln w="1270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明文 </a:t>
            </a:r>
            <a:r>
              <a:rPr lang="zh-CN" b="0" i="1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M</a:t>
            </a:r>
          </a:p>
        </p:txBody>
      </p:sp>
      <p:sp>
        <p:nvSpPr>
          <p:cNvPr id="23" name="图形_第 1 轮"/>
          <p:cNvSpPr/>
          <p:nvPr/>
        </p:nvSpPr>
        <p:spPr>
          <a:xfrm>
            <a:off x="2788920" y="5080000"/>
            <a:ext cx="1193165" cy="487680"/>
          </a:xfrm>
          <a:prstGeom prst="rect">
            <a:avLst/>
          </a:prstGeom>
          <a:solidFill>
            <a:srgbClr val="FAF1F1"/>
          </a:solidFill>
          <a:ln w="1270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第 1 轮</a:t>
            </a:r>
          </a:p>
        </p:txBody>
      </p:sp>
      <p:sp>
        <p:nvSpPr>
          <p:cNvPr id="24" name="图形_第 2 轮"/>
          <p:cNvSpPr/>
          <p:nvPr/>
        </p:nvSpPr>
        <p:spPr>
          <a:xfrm>
            <a:off x="4587240" y="5078095"/>
            <a:ext cx="1127760" cy="492125"/>
          </a:xfrm>
          <a:prstGeom prst="rect">
            <a:avLst/>
          </a:prstGeom>
          <a:solidFill>
            <a:srgbClr val="FAF1F1"/>
          </a:solidFill>
          <a:ln w="1270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第 2 轮</a:t>
            </a:r>
          </a:p>
        </p:txBody>
      </p:sp>
      <p:sp>
        <p:nvSpPr>
          <p:cNvPr id="26" name="图形_密文 C"/>
          <p:cNvSpPr/>
          <p:nvPr/>
        </p:nvSpPr>
        <p:spPr>
          <a:xfrm>
            <a:off x="9966960" y="5072380"/>
            <a:ext cx="1252220" cy="495300"/>
          </a:xfrm>
          <a:prstGeom prst="rect">
            <a:avLst/>
          </a:prstGeom>
          <a:solidFill>
            <a:srgbClr val="F5F5F5"/>
          </a:solidFill>
          <a:ln w="1270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密文 </a:t>
            </a:r>
            <a:r>
              <a:rPr lang="zh-CN" b="0" i="1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240280" y="5320665"/>
            <a:ext cx="548640" cy="0"/>
          </a:xfrm>
          <a:prstGeom prst="line">
            <a:avLst/>
          </a:prstGeom>
          <a:ln w="15875">
            <a:solidFill>
              <a:srgbClr val="4040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069080" y="5320665"/>
            <a:ext cx="457200" cy="0"/>
          </a:xfrm>
          <a:prstGeom prst="line">
            <a:avLst/>
          </a:prstGeom>
          <a:ln w="15875">
            <a:solidFill>
              <a:srgbClr val="4040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06440" y="5320665"/>
            <a:ext cx="640080" cy="0"/>
          </a:xfrm>
          <a:prstGeom prst="line">
            <a:avLst/>
          </a:prstGeom>
          <a:ln w="15875">
            <a:solidFill>
              <a:srgbClr val="4040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正文_···"/>
          <p:cNvSpPr txBox="1"/>
          <p:nvPr/>
        </p:nvSpPr>
        <p:spPr>
          <a:xfrm>
            <a:off x="6492240" y="5078348"/>
            <a:ext cx="731520" cy="42976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700" b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···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260336" y="5320665"/>
            <a:ext cx="740664" cy="0"/>
          </a:xfrm>
          <a:prstGeom prst="line">
            <a:avLst/>
          </a:prstGeom>
          <a:ln w="15875">
            <a:solidFill>
              <a:srgbClr val="4040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281160" y="5320665"/>
            <a:ext cx="548640" cy="0"/>
          </a:xfrm>
          <a:prstGeom prst="line">
            <a:avLst/>
          </a:prstGeom>
          <a:ln w="15875">
            <a:solidFill>
              <a:srgbClr val="4040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正文_n 位"/>
          <p:cNvSpPr txBox="1"/>
          <p:nvPr/>
        </p:nvSpPr>
        <p:spPr>
          <a:xfrm>
            <a:off x="758952" y="5666994"/>
            <a:ext cx="1325880" cy="309245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i="1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n</a:t>
            </a:r>
            <a:r>
              <a:rPr lang="zh-CN" sz="1800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位</a:t>
            </a:r>
          </a:p>
        </p:txBody>
      </p:sp>
      <p:sp>
        <p:nvSpPr>
          <p:cNvPr id="34" name="正文_n 位"/>
          <p:cNvSpPr txBox="1"/>
          <p:nvPr/>
        </p:nvSpPr>
        <p:spPr>
          <a:xfrm>
            <a:off x="9966960" y="5672709"/>
            <a:ext cx="1280160" cy="309245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 i="1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n</a:t>
            </a:r>
            <a:r>
              <a:rPr lang="zh-CN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位</a:t>
            </a:r>
          </a:p>
        </p:txBody>
      </p:sp>
      <p:sp>
        <p:nvSpPr>
          <p:cNvPr id="35" name="正文_各轮反复组合较简单的变换，逐步形成复"/>
          <p:cNvSpPr txBox="1"/>
          <p:nvPr/>
        </p:nvSpPr>
        <p:spPr>
          <a:xfrm>
            <a:off x="2395728" y="5987288"/>
            <a:ext cx="7315200" cy="309245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通过多轮迭代，使输入数据经过多次混淆与扩散，形成安全的整体变换</a:t>
            </a:r>
          </a:p>
        </p:txBody>
      </p:sp>
      <p:sp>
        <p:nvSpPr>
          <p:cNvPr id="36" name="图形_第 2 轮"/>
          <p:cNvSpPr/>
          <p:nvPr/>
        </p:nvSpPr>
        <p:spPr>
          <a:xfrm>
            <a:off x="8077200" y="5075555"/>
            <a:ext cx="1127760" cy="492125"/>
          </a:xfrm>
          <a:prstGeom prst="rect">
            <a:avLst/>
          </a:prstGeom>
          <a:solidFill>
            <a:srgbClr val="FAF1F1"/>
          </a:solidFill>
          <a:ln w="1270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第 </a:t>
            </a:r>
            <a:r>
              <a:rPr lang="en-US" altLang="zh-CN" b="0" i="1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r</a:t>
            </a:r>
            <a:r>
              <a:rPr lang="zh-CN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轮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altLang="zh-CN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6739" y="219050"/>
            <a:ext cx="4133088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分组密码设计基础</a:t>
            </a:r>
          </a:p>
        </p:txBody>
      </p:sp>
      <p:cxnSp>
        <p:nvCxnSpPr>
          <p:cNvPr id="4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页标题"/>
          <p:cNvSpPr txBox="1"/>
          <p:nvPr/>
        </p:nvSpPr>
        <p:spPr>
          <a:xfrm>
            <a:off x="502920" y="827532"/>
            <a:ext cx="11155680" cy="393192"/>
          </a:xfrm>
          <a:prstGeom prst="rect">
            <a:avLst/>
          </a:prstGeom>
          <a:noFill/>
        </p:spPr>
        <p:txBody>
          <a:bodyPr wrap="square" lIns="18288" tIns="0" rIns="18288" bIns="0" anchor="t">
            <a:noAutofit/>
          </a:bodyPr>
          <a:lstStyle/>
          <a:p>
            <a:pPr marL="0" indent="0">
              <a:buNone/>
            </a:pPr>
            <a:r>
              <a:rPr lang="zh-CN" altLang="en-US" sz="2200" b="1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分组密码的设计思想：混淆与扩散</a:t>
            </a:r>
            <a:endParaRPr lang="zh-CN" altLang="en-US" sz="2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6" name="图形_底色"/>
          <p:cNvSpPr/>
          <p:nvPr/>
        </p:nvSpPr>
        <p:spPr>
          <a:xfrm>
            <a:off x="594360" y="1642745"/>
            <a:ext cx="5386070" cy="286067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图形_底色"/>
          <p:cNvSpPr/>
          <p:nvPr/>
        </p:nvSpPr>
        <p:spPr>
          <a:xfrm>
            <a:off x="6199505" y="1643380"/>
            <a:ext cx="5413375" cy="2860040"/>
          </a:xfrm>
          <a:prstGeom prst="rect">
            <a:avLst/>
          </a:prstGeom>
          <a:solidFill>
            <a:srgbClr val="FA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正文_① 混淆（Confusion）"/>
          <p:cNvSpPr txBox="1"/>
          <p:nvPr/>
        </p:nvSpPr>
        <p:spPr>
          <a:xfrm>
            <a:off x="877824" y="1825498"/>
            <a:ext cx="4928616" cy="309245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① 混淆（Confusion）</a:t>
            </a:r>
          </a:p>
        </p:txBody>
      </p:sp>
      <p:sp>
        <p:nvSpPr>
          <p:cNvPr id="9" name="正文_使密文统计规律与密钥之间的关系 复杂"/>
          <p:cNvSpPr txBox="1"/>
          <p:nvPr/>
        </p:nvSpPr>
        <p:spPr>
          <a:xfrm>
            <a:off x="841248" y="2299716"/>
            <a:ext cx="4828032" cy="619125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使密钥与密文之间的关系复杂化，隐藏密钥对加密结果的影响规律。</a:t>
            </a:r>
          </a:p>
        </p:txBody>
      </p:sp>
      <p:sp>
        <p:nvSpPr>
          <p:cNvPr id="10" name="正文_常见手段：非线性 S 盒"/>
          <p:cNvSpPr txBox="1"/>
          <p:nvPr/>
        </p:nvSpPr>
        <p:spPr>
          <a:xfrm>
            <a:off x="841248" y="3273552"/>
            <a:ext cx="4800600" cy="309245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常见手段：密钥混合与非线性 S 盒代换</a:t>
            </a:r>
          </a:p>
        </p:txBody>
      </p:sp>
      <p:sp>
        <p:nvSpPr>
          <p:cNvPr id="11" name="正文_将非线性代换与密钥混合结合， 避免形"/>
          <p:cNvSpPr txBox="1"/>
          <p:nvPr/>
        </p:nvSpPr>
        <p:spPr>
          <a:xfrm>
            <a:off x="841248" y="3721608"/>
            <a:ext cx="4754880" cy="619125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将密钥引入运算，再通过非线性代换，使密钥与密文之间的关系难以分析。</a:t>
            </a:r>
          </a:p>
        </p:txBody>
      </p:sp>
      <p:sp>
        <p:nvSpPr>
          <p:cNvPr id="12" name="正文_② 扩散（Diffusion）"/>
          <p:cNvSpPr txBox="1"/>
          <p:nvPr/>
        </p:nvSpPr>
        <p:spPr>
          <a:xfrm>
            <a:off x="6455537" y="1825498"/>
            <a:ext cx="4928616" cy="309245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② 扩散（Diffusion）</a:t>
            </a:r>
          </a:p>
        </p:txBody>
      </p:sp>
      <p:sp>
        <p:nvSpPr>
          <p:cNvPr id="13" name="正文_使明文的统计特征分散到多个密文 位置"/>
          <p:cNvSpPr txBox="1"/>
          <p:nvPr/>
        </p:nvSpPr>
        <p:spPr>
          <a:xfrm>
            <a:off x="6437376" y="2299716"/>
            <a:ext cx="4828032" cy="619125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</a:rPr>
              <a:t>让明文中一个位置的影响传播到多个密文位置，使明文的局部规律难以在密文中保留。</a:t>
            </a:r>
          </a:p>
        </p:txBody>
      </p:sp>
      <p:sp>
        <p:nvSpPr>
          <p:cNvPr id="14" name="正文_常见手段：重排与线性混合"/>
          <p:cNvSpPr txBox="1"/>
          <p:nvPr/>
        </p:nvSpPr>
        <p:spPr>
          <a:xfrm>
            <a:off x="6437376" y="3273552"/>
            <a:ext cx="4800600" cy="309245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</a:rPr>
              <a:t>常见手段：位置重排与线性混合</a:t>
            </a:r>
          </a:p>
        </p:txBody>
      </p:sp>
      <p:sp>
        <p:nvSpPr>
          <p:cNvPr id="15" name="正文_位置重排配合其他操作与多轮迭代， 使"/>
          <p:cNvSpPr txBox="1"/>
          <p:nvPr/>
        </p:nvSpPr>
        <p:spPr>
          <a:xfrm>
            <a:off x="6437376" y="3721608"/>
            <a:ext cx="4754880" cy="619125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</a:rPr>
              <a:t>把不同位置的数据重新组织、相互混合，并通过多轮迭代扩大影响范围。</a:t>
            </a:r>
          </a:p>
        </p:txBody>
      </p:sp>
      <p:sp>
        <p:nvSpPr>
          <p:cNvPr id="16" name="正文_协同作用：让局部变化逐轮传播"/>
          <p:cNvSpPr txBox="1"/>
          <p:nvPr/>
        </p:nvSpPr>
        <p:spPr>
          <a:xfrm>
            <a:off x="640080" y="4681728"/>
            <a:ext cx="10744200" cy="309245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</a:rPr>
              <a:t>协同作用：让局部变化逐轮传播</a:t>
            </a:r>
          </a:p>
        </p:txBody>
      </p:sp>
      <p:sp>
        <p:nvSpPr>
          <p:cNvPr id="17" name="正文_输入仅 1 位改变"/>
          <p:cNvSpPr txBox="1"/>
          <p:nvPr/>
        </p:nvSpPr>
        <p:spPr>
          <a:xfrm>
            <a:off x="877824" y="5202936"/>
            <a:ext cx="3154680" cy="309245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输入仅 1 位改变</a:t>
            </a:r>
          </a:p>
        </p:txBody>
      </p:sp>
      <p:sp>
        <p:nvSpPr>
          <p:cNvPr id="18" name="正文_多处输出受到影响"/>
          <p:cNvSpPr txBox="1"/>
          <p:nvPr/>
        </p:nvSpPr>
        <p:spPr>
          <a:xfrm>
            <a:off x="8028431" y="5202936"/>
            <a:ext cx="3182112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多处输出受到影响</a:t>
            </a:r>
          </a:p>
        </p:txBody>
      </p:sp>
      <p:sp>
        <p:nvSpPr>
          <p:cNvPr id="19" name="图形_底色"/>
          <p:cNvSpPr/>
          <p:nvPr/>
        </p:nvSpPr>
        <p:spPr>
          <a:xfrm>
            <a:off x="932688" y="5577840"/>
            <a:ext cx="22402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图形_底色"/>
          <p:cNvSpPr/>
          <p:nvPr/>
        </p:nvSpPr>
        <p:spPr>
          <a:xfrm>
            <a:off x="8147304" y="5577840"/>
            <a:ext cx="224028" cy="29260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图形_底色"/>
          <p:cNvSpPr/>
          <p:nvPr/>
        </p:nvSpPr>
        <p:spPr>
          <a:xfrm>
            <a:off x="1186891" y="5577840"/>
            <a:ext cx="22402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图形_底色"/>
          <p:cNvSpPr/>
          <p:nvPr/>
        </p:nvSpPr>
        <p:spPr>
          <a:xfrm>
            <a:off x="8401507" y="5577840"/>
            <a:ext cx="22402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图形_底色"/>
          <p:cNvSpPr/>
          <p:nvPr/>
        </p:nvSpPr>
        <p:spPr>
          <a:xfrm>
            <a:off x="1441094" y="5577840"/>
            <a:ext cx="22402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图形_底色"/>
          <p:cNvSpPr/>
          <p:nvPr/>
        </p:nvSpPr>
        <p:spPr>
          <a:xfrm>
            <a:off x="8655710" y="5577840"/>
            <a:ext cx="224028" cy="29260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图形_底色"/>
          <p:cNvSpPr/>
          <p:nvPr/>
        </p:nvSpPr>
        <p:spPr>
          <a:xfrm>
            <a:off x="1695297" y="5577840"/>
            <a:ext cx="224028" cy="29260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图形_底色"/>
          <p:cNvSpPr/>
          <p:nvPr/>
        </p:nvSpPr>
        <p:spPr>
          <a:xfrm>
            <a:off x="8909913" y="5577840"/>
            <a:ext cx="224028" cy="29260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图形_底色"/>
          <p:cNvSpPr/>
          <p:nvPr/>
        </p:nvSpPr>
        <p:spPr>
          <a:xfrm>
            <a:off x="1949500" y="5577840"/>
            <a:ext cx="22402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图形_底色"/>
          <p:cNvSpPr/>
          <p:nvPr/>
        </p:nvSpPr>
        <p:spPr>
          <a:xfrm>
            <a:off x="9164116" y="5577840"/>
            <a:ext cx="22402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图形_底色"/>
          <p:cNvSpPr/>
          <p:nvPr/>
        </p:nvSpPr>
        <p:spPr>
          <a:xfrm>
            <a:off x="2203704" y="5577840"/>
            <a:ext cx="22402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图形_底色"/>
          <p:cNvSpPr/>
          <p:nvPr/>
        </p:nvSpPr>
        <p:spPr>
          <a:xfrm>
            <a:off x="9418320" y="5577840"/>
            <a:ext cx="224028" cy="29260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图形_底色"/>
          <p:cNvSpPr/>
          <p:nvPr/>
        </p:nvSpPr>
        <p:spPr>
          <a:xfrm>
            <a:off x="2457907" y="5577840"/>
            <a:ext cx="22402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图形_底色"/>
          <p:cNvSpPr/>
          <p:nvPr/>
        </p:nvSpPr>
        <p:spPr>
          <a:xfrm>
            <a:off x="9672523" y="5577840"/>
            <a:ext cx="224028" cy="29260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图形_底色"/>
          <p:cNvSpPr/>
          <p:nvPr/>
        </p:nvSpPr>
        <p:spPr>
          <a:xfrm>
            <a:off x="2712110" y="5577840"/>
            <a:ext cx="22402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图形_底色"/>
          <p:cNvSpPr/>
          <p:nvPr/>
        </p:nvSpPr>
        <p:spPr>
          <a:xfrm>
            <a:off x="9926726" y="5577840"/>
            <a:ext cx="22402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图形_底色"/>
          <p:cNvSpPr/>
          <p:nvPr/>
        </p:nvSpPr>
        <p:spPr>
          <a:xfrm>
            <a:off x="2966313" y="5577840"/>
            <a:ext cx="22402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图形_底色"/>
          <p:cNvSpPr/>
          <p:nvPr/>
        </p:nvSpPr>
        <p:spPr>
          <a:xfrm>
            <a:off x="10180929" y="5577840"/>
            <a:ext cx="224028" cy="29260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图形_底色"/>
          <p:cNvSpPr/>
          <p:nvPr/>
        </p:nvSpPr>
        <p:spPr>
          <a:xfrm>
            <a:off x="3220516" y="5577840"/>
            <a:ext cx="22402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图形_底色"/>
          <p:cNvSpPr/>
          <p:nvPr/>
        </p:nvSpPr>
        <p:spPr>
          <a:xfrm>
            <a:off x="10435132" y="5577840"/>
            <a:ext cx="22402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图形_底色"/>
          <p:cNvSpPr/>
          <p:nvPr/>
        </p:nvSpPr>
        <p:spPr>
          <a:xfrm>
            <a:off x="3474720" y="5577840"/>
            <a:ext cx="22402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图形_底色"/>
          <p:cNvSpPr/>
          <p:nvPr/>
        </p:nvSpPr>
        <p:spPr>
          <a:xfrm>
            <a:off x="10689336" y="5577840"/>
            <a:ext cx="224028" cy="29260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图形_底色"/>
          <p:cNvSpPr/>
          <p:nvPr/>
        </p:nvSpPr>
        <p:spPr>
          <a:xfrm>
            <a:off x="3728923" y="5577840"/>
            <a:ext cx="22402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图形_底色"/>
          <p:cNvSpPr/>
          <p:nvPr/>
        </p:nvSpPr>
        <p:spPr>
          <a:xfrm>
            <a:off x="10943539" y="5577840"/>
            <a:ext cx="22402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3" name="Connector 42"/>
          <p:cNvCxnSpPr/>
          <p:nvPr/>
        </p:nvCxnSpPr>
        <p:spPr>
          <a:xfrm>
            <a:off x="4224528" y="5724144"/>
            <a:ext cx="539496" cy="0"/>
          </a:xfrm>
          <a:prstGeom prst="line">
            <a:avLst/>
          </a:prstGeom>
          <a:ln w="15875">
            <a:solidFill>
              <a:srgbClr val="4040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图形_多轮组合"/>
          <p:cNvSpPr/>
          <p:nvPr/>
        </p:nvSpPr>
        <p:spPr>
          <a:xfrm>
            <a:off x="4892040" y="5477256"/>
            <a:ext cx="2112264" cy="484632"/>
          </a:xfrm>
          <a:prstGeom prst="rect">
            <a:avLst/>
          </a:prstGeom>
          <a:solidFill>
            <a:srgbClr val="FAF1F1"/>
          </a:solidFill>
          <a:ln w="1270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多轮组合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132320" y="5724144"/>
            <a:ext cx="685800" cy="0"/>
          </a:xfrm>
          <a:prstGeom prst="line">
            <a:avLst/>
          </a:prstGeom>
          <a:ln w="15875">
            <a:solidFill>
              <a:srgbClr val="4040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正文_雪崩效应：微小输入变化引起广泛输出变"/>
          <p:cNvSpPr txBox="1"/>
          <p:nvPr/>
        </p:nvSpPr>
        <p:spPr>
          <a:xfrm>
            <a:off x="640207" y="6163056"/>
            <a:ext cx="10789920" cy="309245"/>
          </a:xfrm>
          <a:prstGeom prst="rect">
            <a:avLst/>
          </a:prstGeom>
          <a:noFill/>
        </p:spPr>
        <p:txBody>
          <a:bodyPr wrap="square" lIns="18288" tIns="0" rIns="18288" bIns="0" anchor="t">
            <a:noAutofit/>
          </a:bodyPr>
          <a:lstStyle/>
          <a:p>
            <a:pPr marL="0" indent="0">
              <a:buNone/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雪崩效应：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输入改变 1 位时，约一半的输出位随之改变，常用来检验扩散效果。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640080" y="1243330"/>
            <a:ext cx="10972800" cy="36933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>
              <a:buNone/>
            </a:pP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对应部件：混淆主要靠</a:t>
            </a: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非线性 S 盒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；扩散主要靠</a:t>
            </a: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置换、矩阵变换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等线性部件；密钥通过</a:t>
            </a: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轮密钥加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参与运算。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altLang="zh-CN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6739" y="219050"/>
            <a:ext cx="4133088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分组密码设计基础</a:t>
            </a:r>
          </a:p>
        </p:txBody>
      </p:sp>
      <p:cxnSp>
        <p:nvCxnSpPr>
          <p:cNvPr id="4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页标题"/>
          <p:cNvSpPr txBox="1"/>
          <p:nvPr/>
        </p:nvSpPr>
        <p:spPr>
          <a:xfrm>
            <a:off x="502920" y="827532"/>
            <a:ext cx="11155680" cy="393192"/>
          </a:xfrm>
          <a:prstGeom prst="rect">
            <a:avLst/>
          </a:prstGeom>
          <a:noFill/>
        </p:spPr>
        <p:txBody>
          <a:bodyPr wrap="square" lIns="18288" tIns="0" rIns="18288" bIns="0" anchor="t">
            <a:noAutofit/>
          </a:bodyPr>
          <a:lstStyle/>
          <a:p>
            <a:pPr marL="0" indent="0">
              <a:buNone/>
            </a:pPr>
            <a:r>
              <a:rPr lang="zh-CN" altLang="en-US" sz="2200" b="1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基本部件：轮密钥加与密钥编排</a:t>
            </a:r>
            <a:endParaRPr lang="zh-CN" altLang="en-US" sz="2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6" name="图形_底色"/>
          <p:cNvSpPr/>
          <p:nvPr/>
        </p:nvSpPr>
        <p:spPr>
          <a:xfrm>
            <a:off x="594360" y="1353312"/>
            <a:ext cx="5440680" cy="3017520"/>
          </a:xfrm>
          <a:prstGeom prst="rect">
            <a:avLst/>
          </a:prstGeom>
          <a:solidFill>
            <a:srgbClr val="FBF1F1"/>
          </a:solidFill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marL="0" indent="0" algn="ctr">
              <a:buNone/>
            </a:pP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1444752"/>
            <a:ext cx="512064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buNone/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① 轮密钥加：把密钥混入数据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1847088"/>
            <a:ext cx="512064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buNone/>
            </a:pP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每轮把轮密钥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K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与当前状态逐位异或。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" y="2350008"/>
            <a:ext cx="123444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r">
              <a:buNone/>
            </a:pP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状态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240280" y="233172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1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606040" y="233172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1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971800" y="233172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1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337560" y="233172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1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813048" y="233172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1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178808" y="233172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1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544568" y="233172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1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910328" y="233172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1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85800" y="2807208"/>
            <a:ext cx="123444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r">
              <a:buNone/>
            </a:pP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轮密钥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K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240280" y="278892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606040" y="278892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971800" y="278892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337560" y="278892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813048" y="278892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178808" y="278892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544568" y="278892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910328" y="2788920"/>
            <a:ext cx="365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901952" y="2807208"/>
            <a:ext cx="329184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⊕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85800" y="3374136"/>
            <a:ext cx="123444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r">
              <a:buNone/>
            </a:pP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⊕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K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240280" y="3355848"/>
            <a:ext cx="365760" cy="365760"/>
          </a:xfrm>
          <a:prstGeom prst="rect">
            <a:avLst/>
          </a:prstGeom>
          <a:solidFill>
            <a:srgbClr val="F3DFD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1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606040" y="3355848"/>
            <a:ext cx="365760" cy="365760"/>
          </a:xfrm>
          <a:prstGeom prst="rect">
            <a:avLst/>
          </a:prstGeom>
          <a:solidFill>
            <a:srgbClr val="F3DFD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1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971800" y="3355848"/>
            <a:ext cx="365760" cy="365760"/>
          </a:xfrm>
          <a:prstGeom prst="rect">
            <a:avLst/>
          </a:prstGeom>
          <a:solidFill>
            <a:srgbClr val="F3DFD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1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337560" y="3355848"/>
            <a:ext cx="365760" cy="365760"/>
          </a:xfrm>
          <a:prstGeom prst="rect">
            <a:avLst/>
          </a:prstGeom>
          <a:solidFill>
            <a:srgbClr val="F3DFD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1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813048" y="3355848"/>
            <a:ext cx="365760" cy="365760"/>
          </a:xfrm>
          <a:prstGeom prst="rect">
            <a:avLst/>
          </a:prstGeom>
          <a:solidFill>
            <a:srgbClr val="F3DFD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1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178808" y="3355848"/>
            <a:ext cx="365760" cy="365760"/>
          </a:xfrm>
          <a:prstGeom prst="rect">
            <a:avLst/>
          </a:prstGeom>
          <a:solidFill>
            <a:srgbClr val="F3DFD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1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544568" y="3355848"/>
            <a:ext cx="365760" cy="365760"/>
          </a:xfrm>
          <a:prstGeom prst="rect">
            <a:avLst/>
          </a:prstGeom>
          <a:solidFill>
            <a:srgbClr val="F3DFD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1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910328" y="3355848"/>
            <a:ext cx="365760" cy="365760"/>
          </a:xfrm>
          <a:prstGeom prst="rect">
            <a:avLst/>
          </a:prstGeom>
          <a:solidFill>
            <a:srgbClr val="F3DFD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1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37" name="Connector 36"/>
          <p:cNvCxnSpPr/>
          <p:nvPr/>
        </p:nvCxnSpPr>
        <p:spPr>
          <a:xfrm>
            <a:off x="2194560" y="3300984"/>
            <a:ext cx="3154680" cy="0"/>
          </a:xfrm>
          <a:prstGeom prst="line">
            <a:avLst/>
          </a:prstGeom>
          <a:ln w="15875">
            <a:solidFill>
              <a:srgbClr val="404040"/>
            </a:solidFill>
          </a:ln>
        </p:spPr>
      </p:cxnSp>
      <p:sp>
        <p:nvSpPr>
          <p:cNvPr id="38" name="TextBox 37"/>
          <p:cNvSpPr txBox="1"/>
          <p:nvPr/>
        </p:nvSpPr>
        <p:spPr>
          <a:xfrm>
            <a:off x="777240" y="3840480"/>
            <a:ext cx="512064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buNone/>
            </a:pP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再异或一次就还原：(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⊕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K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) ⊕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K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=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。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9" name="图形_底色"/>
          <p:cNvSpPr/>
          <p:nvPr/>
        </p:nvSpPr>
        <p:spPr>
          <a:xfrm>
            <a:off x="6172200" y="1353312"/>
            <a:ext cx="5440680" cy="3017520"/>
          </a:xfrm>
          <a:prstGeom prst="rect">
            <a:avLst/>
          </a:prstGeom>
          <a:solidFill>
            <a:srgbClr val="FBF1F1"/>
          </a:solidFill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marL="0" indent="0" algn="ctr">
              <a:buNone/>
            </a:pP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355080" y="1444752"/>
            <a:ext cx="512064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buNone/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② 密钥编排：一个主密钥 → 多个轮密钥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309360" y="2468880"/>
            <a:ext cx="11887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主密钥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K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42" name="Connector 41"/>
          <p:cNvCxnSpPr/>
          <p:nvPr/>
        </p:nvCxnSpPr>
        <p:spPr>
          <a:xfrm>
            <a:off x="7498080" y="2743200"/>
            <a:ext cx="274320" cy="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sp>
        <p:nvSpPr>
          <p:cNvPr id="43" name="Rectangle 42"/>
          <p:cNvSpPr/>
          <p:nvPr/>
        </p:nvSpPr>
        <p:spPr>
          <a:xfrm>
            <a:off x="7772400" y="2468880"/>
            <a:ext cx="1234440" cy="548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1" i="0" dirty="0">
                <a:solidFill>
                  <a:srgbClr val="FFFFFF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密钥编排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44" name="Connector 43"/>
          <p:cNvCxnSpPr/>
          <p:nvPr/>
        </p:nvCxnSpPr>
        <p:spPr>
          <a:xfrm flipV="1">
            <a:off x="9006840" y="2112264"/>
            <a:ext cx="502920" cy="630936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sp>
        <p:nvSpPr>
          <p:cNvPr id="45" name="Rectangle 44"/>
          <p:cNvSpPr/>
          <p:nvPr/>
        </p:nvSpPr>
        <p:spPr>
          <a:xfrm>
            <a:off x="9509760" y="1920240"/>
            <a:ext cx="822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K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</a:t>
            </a:r>
            <a:endParaRPr lang="zh-CN" altLang="en-US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cxnSp>
        <p:nvCxnSpPr>
          <p:cNvPr id="46" name="Connector 45"/>
          <p:cNvCxnSpPr/>
          <p:nvPr/>
        </p:nvCxnSpPr>
        <p:spPr>
          <a:xfrm>
            <a:off x="10332720" y="2112264"/>
            <a:ext cx="228600" cy="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sp>
        <p:nvSpPr>
          <p:cNvPr id="47" name="TextBox 46"/>
          <p:cNvSpPr txBox="1"/>
          <p:nvPr/>
        </p:nvSpPr>
        <p:spPr>
          <a:xfrm>
            <a:off x="10579608" y="1938528"/>
            <a:ext cx="100584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buNone/>
            </a:pP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第 1 轮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48" name="Connector 47"/>
          <p:cNvCxnSpPr/>
          <p:nvPr/>
        </p:nvCxnSpPr>
        <p:spPr>
          <a:xfrm flipV="1">
            <a:off x="9006840" y="2587752"/>
            <a:ext cx="502920" cy="155448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sp>
        <p:nvSpPr>
          <p:cNvPr id="49" name="Rectangle 48"/>
          <p:cNvSpPr/>
          <p:nvPr/>
        </p:nvSpPr>
        <p:spPr>
          <a:xfrm>
            <a:off x="9509760" y="2395728"/>
            <a:ext cx="822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K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2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50" name="Connector 49"/>
          <p:cNvCxnSpPr/>
          <p:nvPr/>
        </p:nvCxnSpPr>
        <p:spPr>
          <a:xfrm>
            <a:off x="10332720" y="2587752"/>
            <a:ext cx="228600" cy="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sp>
        <p:nvSpPr>
          <p:cNvPr id="51" name="TextBox 50"/>
          <p:cNvSpPr txBox="1"/>
          <p:nvPr/>
        </p:nvSpPr>
        <p:spPr>
          <a:xfrm>
            <a:off x="10579608" y="2414016"/>
            <a:ext cx="100584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buNone/>
            </a:pP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第 2 轮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509760" y="2825496"/>
            <a:ext cx="82296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ctr">
              <a:buNone/>
            </a:pP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⋮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53" name="Connector 52"/>
          <p:cNvCxnSpPr/>
          <p:nvPr/>
        </p:nvCxnSpPr>
        <p:spPr>
          <a:xfrm>
            <a:off x="9006840" y="2743200"/>
            <a:ext cx="502920" cy="758952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sp>
        <p:nvSpPr>
          <p:cNvPr id="54" name="Rectangle 53"/>
          <p:cNvSpPr/>
          <p:nvPr/>
        </p:nvSpPr>
        <p:spPr>
          <a:xfrm>
            <a:off x="9509760" y="3310128"/>
            <a:ext cx="822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K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r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55" name="Connector 54"/>
          <p:cNvCxnSpPr/>
          <p:nvPr/>
        </p:nvCxnSpPr>
        <p:spPr>
          <a:xfrm>
            <a:off x="10332720" y="3502152"/>
            <a:ext cx="228600" cy="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sp>
        <p:nvSpPr>
          <p:cNvPr id="56" name="TextBox 55"/>
          <p:cNvSpPr txBox="1"/>
          <p:nvPr/>
        </p:nvSpPr>
        <p:spPr>
          <a:xfrm>
            <a:off x="10579608" y="3328416"/>
            <a:ext cx="100584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buNone/>
            </a:pP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第 </a:t>
            </a: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r</a:t>
            </a: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轮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355080" y="3794760"/>
            <a:ext cx="512064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轮密钥之间不能有简单关系，否则会出现弱密钥、相关密钥等问题。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graphicFrame>
        <p:nvGraphicFramePr>
          <p:cNvPr id="58" name="三种算法对照"/>
          <p:cNvGraphicFramePr>
            <a:graphicFrameLocks noGrp="1"/>
          </p:cNvGraphicFramePr>
          <p:nvPr/>
        </p:nvGraphicFramePr>
        <p:xfrm>
          <a:off x="594360" y="4703445"/>
          <a:ext cx="11018520" cy="160934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轮密钥位数</a:t>
                      </a: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密钥编排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DES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48 位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56 位有效密钥 → 16 个 48 位轮密钥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AES-128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128 位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128 位密钥 → 11 个 128 位轮密钥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SM4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32 位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128 位密钥 → 32 个 32 位轮密钥</a:t>
                      </a: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en-US" altLang="zh-CN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739" y="219050"/>
            <a:ext cx="4133088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分组密码设计基础</a:t>
            </a:r>
          </a:p>
        </p:txBody>
      </p:sp>
      <p:cxnSp>
        <p:nvCxnSpPr>
          <p:cNvPr id="4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页标题"/>
          <p:cNvSpPr txBox="1"/>
          <p:nvPr/>
        </p:nvSpPr>
        <p:spPr>
          <a:xfrm>
            <a:off x="502920" y="827532"/>
            <a:ext cx="111556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zh-CN" altLang="en-US" sz="2200" b="1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Feistel 结构：发展简史与结构特点</a:t>
            </a:r>
            <a:endParaRPr lang="zh-CN" altLang="en-US" sz="2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10515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20 世纪 70 年代初：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Horst Feistel 在 IBM 主持设计 Lucifer 密码。</a:t>
            </a:r>
            <a:endParaRPr lang="zh-CN" altLang="en-US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0" indent="0" algn="l">
              <a:lnSpc>
                <a:spcPct val="112000"/>
              </a:lnSpc>
              <a:buNone/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1973 年：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Feistel 发表《Cryptography and Computer Privacy》，介绍这种结构的设计思想。</a:t>
            </a:r>
            <a:endParaRPr lang="zh-CN" altLang="en-US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0" indent="0" algn="l">
              <a:lnSpc>
                <a:spcPct val="112000"/>
              </a:lnSpc>
              <a:buNone/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1977 年：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DES 以 FIPS 46 发布，采用 16 轮 Feistel 结构。</a:t>
            </a:r>
            <a:endParaRPr lang="zh-CN" altLang="en-US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94360" y="2468880"/>
            <a:ext cx="11018520" cy="0"/>
          </a:xfrm>
          <a:prstGeom prst="line">
            <a:avLst/>
          </a:prstGeom>
          <a:ln w="12700">
            <a:solidFill>
              <a:srgbClr val="D7D7D7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868680" y="2560320"/>
            <a:ext cx="82296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ctr">
              <a:buNone/>
            </a:pP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L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−1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57600" y="2560320"/>
            <a:ext cx="82296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ctr">
              <a:buNone/>
            </a:pP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R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−1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40280" y="2560320"/>
            <a:ext cx="82296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ctr">
              <a:buNone/>
            </a:pPr>
            <a:r>
              <a:rPr lang="zh-CN" altLang="en-US" sz="1800" b="0" i="1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K</a:t>
            </a:r>
            <a:r>
              <a:rPr lang="zh-CN" altLang="en-US" sz="1800" b="0" i="1" baseline="-2500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1280160" y="2971800"/>
            <a:ext cx="0" cy="329184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sp>
        <p:nvSpPr>
          <p:cNvPr id="12" name="Or 11"/>
          <p:cNvSpPr/>
          <p:nvPr/>
        </p:nvSpPr>
        <p:spPr>
          <a:xfrm>
            <a:off x="1124712" y="3300984"/>
            <a:ext cx="310896" cy="310896"/>
          </a:xfrm>
          <a:prstGeom prst="flowChartOr">
            <a:avLst/>
          </a:prstGeom>
          <a:solidFill>
            <a:srgbClr val="FFFFFF"/>
          </a:solidFill>
          <a:ln w="15875">
            <a:solidFill>
              <a:srgbClr val="404040"/>
            </a:solidFill>
          </a:ln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endParaRPr lang="zh-CN" altLang="en-US" sz="10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194560" y="3209544"/>
            <a:ext cx="914400" cy="493776"/>
          </a:xfrm>
          <a:prstGeom prst="rect">
            <a:avLst/>
          </a:prstGeom>
          <a:solidFill>
            <a:srgbClr val="FBF1F1"/>
          </a:solidFill>
          <a:ln w="15875">
            <a:solidFill>
              <a:srgbClr val="C00000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F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2651760" y="2971800"/>
            <a:ext cx="0" cy="237744"/>
          </a:xfrm>
          <a:prstGeom prst="line">
            <a:avLst/>
          </a:prstGeom>
          <a:ln w="15875">
            <a:solidFill>
              <a:srgbClr val="C00000"/>
            </a:solidFill>
            <a:tailEnd type="triangle" w="med" len="med"/>
          </a:ln>
        </p:spPr>
      </p:cxnSp>
      <p:cxnSp>
        <p:nvCxnSpPr>
          <p:cNvPr id="15" name="Connector 14"/>
          <p:cNvCxnSpPr/>
          <p:nvPr/>
        </p:nvCxnSpPr>
        <p:spPr>
          <a:xfrm>
            <a:off x="4069080" y="2971800"/>
            <a:ext cx="0" cy="1051560"/>
          </a:xfrm>
          <a:prstGeom prst="line">
            <a:avLst/>
          </a:prstGeom>
          <a:ln w="15875">
            <a:solidFill>
              <a:srgbClr val="404040"/>
            </a:solidFill>
          </a:ln>
        </p:spPr>
      </p:cxnSp>
      <p:sp>
        <p:nvSpPr>
          <p:cNvPr id="16" name="Oval 15"/>
          <p:cNvSpPr/>
          <p:nvPr/>
        </p:nvSpPr>
        <p:spPr>
          <a:xfrm>
            <a:off x="4037076" y="3424428"/>
            <a:ext cx="64008" cy="64008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" name="Connector 16"/>
          <p:cNvCxnSpPr/>
          <p:nvPr/>
        </p:nvCxnSpPr>
        <p:spPr>
          <a:xfrm flipH="1">
            <a:off x="3108960" y="3456432"/>
            <a:ext cx="960120" cy="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cxnSp>
        <p:nvCxnSpPr>
          <p:cNvPr id="18" name="Connector 17"/>
          <p:cNvCxnSpPr/>
          <p:nvPr/>
        </p:nvCxnSpPr>
        <p:spPr>
          <a:xfrm flipH="1">
            <a:off x="1435608" y="3456432"/>
            <a:ext cx="758952" cy="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cxnSp>
        <p:nvCxnSpPr>
          <p:cNvPr id="19" name="Connector 18"/>
          <p:cNvCxnSpPr/>
          <p:nvPr/>
        </p:nvCxnSpPr>
        <p:spPr>
          <a:xfrm>
            <a:off x="1280160" y="3611880"/>
            <a:ext cx="0" cy="411480"/>
          </a:xfrm>
          <a:prstGeom prst="line">
            <a:avLst/>
          </a:prstGeom>
          <a:ln w="15875">
            <a:solidFill>
              <a:srgbClr val="404040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1280160" y="4023360"/>
            <a:ext cx="2788920" cy="50292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cxnSp>
        <p:nvCxnSpPr>
          <p:cNvPr id="21" name="Connector 20"/>
          <p:cNvCxnSpPr/>
          <p:nvPr/>
        </p:nvCxnSpPr>
        <p:spPr>
          <a:xfrm flipH="1">
            <a:off x="1280160" y="4023360"/>
            <a:ext cx="2788920" cy="50292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sp>
        <p:nvSpPr>
          <p:cNvPr id="22" name="TextBox 21"/>
          <p:cNvSpPr txBox="1"/>
          <p:nvPr/>
        </p:nvSpPr>
        <p:spPr>
          <a:xfrm>
            <a:off x="868680" y="4553712"/>
            <a:ext cx="82296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ctr">
              <a:buNone/>
            </a:pP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L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657600" y="4553712"/>
            <a:ext cx="82296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ctr">
              <a:buNone/>
            </a:pP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R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120640" y="2606040"/>
            <a:ext cx="6492240" cy="2286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轮更新（加密）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  <a:p>
            <a:pPr marL="0" indent="0" algn="l">
              <a:lnSpc>
                <a:spcPct val="110000"/>
              </a:lnSpc>
              <a:buNone/>
            </a:pP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L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=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R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−1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， 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R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=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L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−1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⊕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F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(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R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−1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K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)</a:t>
            </a:r>
          </a:p>
          <a:p>
            <a:pPr marL="0" indent="0" algn="l">
              <a:lnSpc>
                <a:spcPct val="110000"/>
              </a:lnSpc>
              <a:buNone/>
            </a:pP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  <a:p>
            <a:pPr marL="0" indent="0" algn="l">
              <a:lnSpc>
                <a:spcPct val="110000"/>
              </a:lnSpc>
              <a:spcBef>
                <a:spcPts val="1000"/>
              </a:spcBef>
              <a:buNone/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逆推（解密）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  <a:p>
            <a:pPr marL="0" indent="0" algn="l">
              <a:lnSpc>
                <a:spcPct val="110000"/>
              </a:lnSpc>
              <a:buNone/>
            </a:pP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R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−1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=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L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， 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L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−1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=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R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⊕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F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(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L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K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)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  <a:p>
            <a:pPr marL="0" indent="0" algn="l">
              <a:lnSpc>
                <a:spcPct val="110000"/>
              </a:lnSpc>
              <a:spcBef>
                <a:spcPts val="1000"/>
              </a:spcBef>
              <a:buNone/>
            </a:pP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逆推时只要再算一次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F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并异或，所以</a:t>
            </a: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轮函数 </a:t>
            </a:r>
            <a:r>
              <a:rPr lang="zh-CN" altLang="en-US" sz="1800" b="1" i="1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F</a:t>
            </a: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本身不必可逆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。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94360" y="5029200"/>
            <a:ext cx="11018520" cy="1261872"/>
          </a:xfrm>
          <a:prstGeom prst="rect">
            <a:avLst/>
          </a:prstGeom>
          <a:solidFill>
            <a:srgbClr val="FBF1F1"/>
          </a:solidFill>
          <a:ln>
            <a:noFill/>
          </a:ln>
        </p:spPr>
        <p:txBody>
          <a:bodyPr wrap="square" lIns="182880" tIns="36576" rIns="182880" bIns="36576" rtlCol="0" anchor="ctr">
            <a:no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单轮只改一半：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每轮只更新半个分组，需要多轮迭代才能充分扩散。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  <a:p>
            <a:pPr marL="0" indent="0" algn="l">
              <a:lnSpc>
                <a:spcPct val="112000"/>
              </a:lnSpc>
              <a:buNone/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加解密结构相同：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解密用同一结构，只需把轮密钥逆序使用。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  <a:p>
            <a:pPr marL="0" indent="0" algn="l">
              <a:lnSpc>
                <a:spcPct val="112000"/>
              </a:lnSpc>
              <a:buNone/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实现可以复用：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加密和解密可以共用同一套代码或电路。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altLang="zh-CN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6739" y="219050"/>
            <a:ext cx="4133088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分组密码设计基础</a:t>
            </a:r>
          </a:p>
        </p:txBody>
      </p:sp>
      <p:cxnSp>
        <p:nvCxnSpPr>
          <p:cNvPr id="4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页标题"/>
          <p:cNvSpPr txBox="1"/>
          <p:nvPr/>
        </p:nvSpPr>
        <p:spPr>
          <a:xfrm>
            <a:off x="502920" y="827532"/>
            <a:ext cx="11155680" cy="393192"/>
          </a:xfrm>
          <a:prstGeom prst="rect">
            <a:avLst/>
          </a:prstGeom>
          <a:noFill/>
        </p:spPr>
        <p:txBody>
          <a:bodyPr wrap="square" lIns="18288" tIns="0" rIns="18288" bIns="0" anchor="t">
            <a:noAutofit/>
          </a:bodyPr>
          <a:lstStyle/>
          <a:p>
            <a:pPr marL="0" indent="0">
              <a:buNone/>
            </a:pPr>
            <a:r>
              <a:rPr lang="zh-CN" altLang="en-US" sz="2200" b="1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SPN 结构：发展简史与结构特点</a:t>
            </a:r>
            <a:endParaRPr lang="zh-CN" altLang="en-US" sz="2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10515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1949 年：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Shannon 发表《保密系统的通信理论》，提出混淆与扩散，奠定代换—置换网络的思想基础。</a:t>
            </a:r>
            <a:endParaRPr lang="zh-CN" altLang="en-US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0" indent="0" algn="l">
              <a:lnSpc>
                <a:spcPct val="112000"/>
              </a:lnSpc>
              <a:buNone/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2001 年：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AES 以 FIPS 197 发布，采用字节代换与线性扩散构成的 SPN 结构。</a:t>
            </a:r>
            <a:endParaRPr lang="zh-CN" altLang="en-US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0" indent="0" algn="l">
              <a:lnSpc>
                <a:spcPct val="112000"/>
              </a:lnSpc>
              <a:buNone/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2007 年：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PRESENT 提出，用 4 位 S 盒和比特置换实现轻量级 SPN。</a:t>
            </a:r>
            <a:endParaRPr lang="zh-CN" altLang="en-US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94360" y="2468880"/>
            <a:ext cx="11018520" cy="0"/>
          </a:xfrm>
          <a:prstGeom prst="line">
            <a:avLst/>
          </a:prstGeom>
          <a:ln w="12700">
            <a:solidFill>
              <a:srgbClr val="D7D7D7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3557016"/>
            <a:ext cx="77724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ctr">
              <a:buNone/>
            </a:pP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−1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1325880" y="3749040"/>
            <a:ext cx="347472" cy="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sp>
        <p:nvSpPr>
          <p:cNvPr id="10" name="Or 9"/>
          <p:cNvSpPr/>
          <p:nvPr/>
        </p:nvSpPr>
        <p:spPr>
          <a:xfrm>
            <a:off x="1673352" y="3593592"/>
            <a:ext cx="310896" cy="310896"/>
          </a:xfrm>
          <a:prstGeom prst="flowChartOr">
            <a:avLst/>
          </a:prstGeom>
          <a:solidFill>
            <a:srgbClr val="FFFFFF"/>
          </a:solidFill>
          <a:ln w="15875">
            <a:solidFill>
              <a:srgbClr val="404040"/>
            </a:solidFill>
          </a:ln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endParaRPr lang="zh-CN" altLang="en-US" sz="10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17320" y="2560320"/>
            <a:ext cx="82296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ctr">
              <a:buNone/>
            </a:pPr>
            <a:r>
              <a:rPr lang="zh-CN" altLang="en-US" sz="1800" b="0" i="1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K</a:t>
            </a:r>
            <a:r>
              <a:rPr lang="zh-CN" altLang="en-US" sz="1800" b="0" i="1" baseline="-2500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1828800" y="2944368"/>
            <a:ext cx="0" cy="649224"/>
          </a:xfrm>
          <a:prstGeom prst="line">
            <a:avLst/>
          </a:prstGeom>
          <a:ln w="15875">
            <a:solidFill>
              <a:srgbClr val="C00000"/>
            </a:solidFill>
            <a:tailEnd type="triangle" w="med" len="med"/>
          </a:ln>
        </p:spPr>
      </p:cxnSp>
      <p:cxnSp>
        <p:nvCxnSpPr>
          <p:cNvPr id="13" name="Connector 12"/>
          <p:cNvCxnSpPr/>
          <p:nvPr/>
        </p:nvCxnSpPr>
        <p:spPr>
          <a:xfrm>
            <a:off x="1984248" y="3749040"/>
            <a:ext cx="256032" cy="0"/>
          </a:xfrm>
          <a:prstGeom prst="line">
            <a:avLst/>
          </a:prstGeom>
          <a:ln w="15875">
            <a:solidFill>
              <a:srgbClr val="404040"/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2240280" y="3035808"/>
            <a:ext cx="0" cy="1837944"/>
          </a:xfrm>
          <a:prstGeom prst="line">
            <a:avLst/>
          </a:prstGeom>
          <a:ln w="15875">
            <a:solidFill>
              <a:srgbClr val="404040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2240280" y="3035808"/>
            <a:ext cx="274320" cy="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sp>
        <p:nvSpPr>
          <p:cNvPr id="16" name="Rectangle 15"/>
          <p:cNvSpPr/>
          <p:nvPr/>
        </p:nvSpPr>
        <p:spPr>
          <a:xfrm>
            <a:off x="2514600" y="2834640"/>
            <a:ext cx="658368" cy="402336"/>
          </a:xfrm>
          <a:prstGeom prst="rect">
            <a:avLst/>
          </a:prstGeom>
          <a:solidFill>
            <a:srgbClr val="FBF1F1"/>
          </a:solidFill>
          <a:ln w="15875">
            <a:solidFill>
              <a:srgbClr val="C00000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S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3172968" y="3035808"/>
            <a:ext cx="347472" cy="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cxnSp>
        <p:nvCxnSpPr>
          <p:cNvPr id="18" name="Connector 17"/>
          <p:cNvCxnSpPr/>
          <p:nvPr/>
        </p:nvCxnSpPr>
        <p:spPr>
          <a:xfrm>
            <a:off x="2240280" y="3648456"/>
            <a:ext cx="274320" cy="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sp>
        <p:nvSpPr>
          <p:cNvPr id="19" name="Rectangle 18"/>
          <p:cNvSpPr/>
          <p:nvPr/>
        </p:nvSpPr>
        <p:spPr>
          <a:xfrm>
            <a:off x="2514600" y="3447288"/>
            <a:ext cx="658368" cy="402336"/>
          </a:xfrm>
          <a:prstGeom prst="rect">
            <a:avLst/>
          </a:prstGeom>
          <a:solidFill>
            <a:srgbClr val="FBF1F1"/>
          </a:solidFill>
          <a:ln w="15875">
            <a:solidFill>
              <a:srgbClr val="C00000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S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3172968" y="3648456"/>
            <a:ext cx="347472" cy="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cxnSp>
        <p:nvCxnSpPr>
          <p:cNvPr id="21" name="Connector 20"/>
          <p:cNvCxnSpPr/>
          <p:nvPr/>
        </p:nvCxnSpPr>
        <p:spPr>
          <a:xfrm>
            <a:off x="2240280" y="4261104"/>
            <a:ext cx="274320" cy="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sp>
        <p:nvSpPr>
          <p:cNvPr id="22" name="Rectangle 21"/>
          <p:cNvSpPr/>
          <p:nvPr/>
        </p:nvSpPr>
        <p:spPr>
          <a:xfrm>
            <a:off x="2514600" y="4059936"/>
            <a:ext cx="658368" cy="402336"/>
          </a:xfrm>
          <a:prstGeom prst="rect">
            <a:avLst/>
          </a:prstGeom>
          <a:solidFill>
            <a:srgbClr val="FBF1F1"/>
          </a:solidFill>
          <a:ln w="15875">
            <a:solidFill>
              <a:srgbClr val="C00000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S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3172968" y="4261104"/>
            <a:ext cx="347472" cy="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cxnSp>
        <p:nvCxnSpPr>
          <p:cNvPr id="24" name="Connector 23"/>
          <p:cNvCxnSpPr/>
          <p:nvPr/>
        </p:nvCxnSpPr>
        <p:spPr>
          <a:xfrm>
            <a:off x="2240280" y="4873752"/>
            <a:ext cx="274320" cy="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sp>
        <p:nvSpPr>
          <p:cNvPr id="25" name="Rectangle 24"/>
          <p:cNvSpPr/>
          <p:nvPr/>
        </p:nvSpPr>
        <p:spPr>
          <a:xfrm>
            <a:off x="2514600" y="4672584"/>
            <a:ext cx="658368" cy="402336"/>
          </a:xfrm>
          <a:prstGeom prst="rect">
            <a:avLst/>
          </a:prstGeom>
          <a:solidFill>
            <a:srgbClr val="FBF1F1"/>
          </a:solidFill>
          <a:ln w="15875">
            <a:solidFill>
              <a:srgbClr val="C00000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S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3172968" y="4873752"/>
            <a:ext cx="347472" cy="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sp>
        <p:nvSpPr>
          <p:cNvPr id="27" name="Rectangle 26"/>
          <p:cNvSpPr/>
          <p:nvPr/>
        </p:nvSpPr>
        <p:spPr>
          <a:xfrm>
            <a:off x="3520440" y="2761488"/>
            <a:ext cx="1143000" cy="2395728"/>
          </a:xfrm>
          <a:prstGeom prst="rect">
            <a:avLst/>
          </a:prstGeom>
          <a:solidFill>
            <a:srgbClr val="FFFFFF"/>
          </a:solidFill>
          <a:ln w="15875">
            <a:solidFill>
              <a:srgbClr val="404040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线性层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  <a:p>
            <a:pPr marL="0" indent="0" algn="ctr">
              <a:buNone/>
            </a:pP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L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4663440" y="3749040"/>
            <a:ext cx="365760" cy="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sp>
        <p:nvSpPr>
          <p:cNvPr id="29" name="TextBox 28"/>
          <p:cNvSpPr txBox="1"/>
          <p:nvPr/>
        </p:nvSpPr>
        <p:spPr>
          <a:xfrm>
            <a:off x="5029200" y="3557016"/>
            <a:ext cx="54864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buNone/>
            </a:pP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760720" y="2606040"/>
            <a:ext cx="5852160" cy="23774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一轮加密：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=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L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(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S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(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−1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⊕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K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))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  <a:p>
            <a:pPr marL="0" indent="0" algn="l">
              <a:lnSpc>
                <a:spcPct val="110000"/>
              </a:lnSpc>
              <a:spcBef>
                <a:spcPts val="800"/>
              </a:spcBef>
              <a:buNone/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一轮解密：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−1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=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S</a:t>
            </a:r>
            <a:r>
              <a:rPr lang="zh-CN" altLang="en-US" sz="1800" b="0" i="0" baseline="30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−1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(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L</a:t>
            </a:r>
            <a:r>
              <a:rPr lang="zh-CN" altLang="en-US" sz="1800" b="0" i="0" baseline="30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−1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(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)) ⊕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K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</a:p>
          <a:p>
            <a:pPr marL="0" indent="0" algn="l">
              <a:lnSpc>
                <a:spcPct val="110000"/>
              </a:lnSpc>
              <a:spcBef>
                <a:spcPts val="800"/>
              </a:spcBef>
              <a:buNone/>
            </a:pP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  <a:p>
            <a:pPr marL="0" indent="0" algn="l">
              <a:lnSpc>
                <a:spcPct val="110000"/>
              </a:lnSpc>
              <a:spcBef>
                <a:spcPts val="1000"/>
              </a:spcBef>
              <a:buNone/>
            </a:pP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S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：多个 S 盒并行，负责混淆（代换层）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  <a:p>
            <a:pPr marL="0" indent="0" algn="l">
              <a:lnSpc>
                <a:spcPct val="110000"/>
              </a:lnSpc>
              <a:buNone/>
            </a:pP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L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：可逆线性变换，负责扩散（置换层）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  <a:p>
            <a:pPr marL="0" indent="0" algn="l">
              <a:lnSpc>
                <a:spcPct val="110000"/>
              </a:lnSpc>
              <a:spcBef>
                <a:spcPts val="600"/>
              </a:spcBef>
              <a:buNone/>
            </a:pP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两层都必须可逆，否则无法解密。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94360" y="5303520"/>
            <a:ext cx="11018520" cy="1005840"/>
          </a:xfrm>
          <a:prstGeom prst="rect">
            <a:avLst/>
          </a:prstGeom>
          <a:solidFill>
            <a:srgbClr val="FBF1F1"/>
          </a:solidFill>
          <a:ln>
            <a:noFill/>
          </a:ln>
        </p:spPr>
        <p:txBody>
          <a:bodyPr wrap="square" lIns="182880" tIns="36576" rIns="182880" bIns="36576" rtlCol="0" anchor="ctr">
            <a:no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每轮更新整个分组：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扩散比 Feistel 快，效果取决于 S 盒、线性层与轮数。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  <a:p>
            <a:pPr marL="0" indent="0" algn="l">
              <a:lnSpc>
                <a:spcPct val="112000"/>
              </a:lnSpc>
              <a:buNone/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解密需要逆部件：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要用逆 S 盒和逆线性层，加解密一般不能直接共用同一电路。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altLang="zh-CN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6739" y="219050"/>
            <a:ext cx="4133088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分组密码设计基础</a:t>
            </a:r>
          </a:p>
        </p:txBody>
      </p:sp>
      <p:cxnSp>
        <p:nvCxnSpPr>
          <p:cNvPr id="4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页标题"/>
          <p:cNvSpPr txBox="1"/>
          <p:nvPr/>
        </p:nvSpPr>
        <p:spPr>
          <a:xfrm>
            <a:off x="502920" y="827532"/>
            <a:ext cx="11155680" cy="393192"/>
          </a:xfrm>
          <a:prstGeom prst="rect">
            <a:avLst/>
          </a:prstGeom>
          <a:noFill/>
        </p:spPr>
        <p:txBody>
          <a:bodyPr wrap="square" lIns="18288" tIns="0" rIns="18288" bIns="0" anchor="t">
            <a:noAutofit/>
          </a:bodyPr>
          <a:lstStyle/>
          <a:p>
            <a:pPr marL="0" indent="0">
              <a:buNone/>
            </a:pPr>
            <a:r>
              <a:rPr lang="zh-CN" altLang="en-US" sz="2200" b="1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SPN 结构：简单实例（一）参数与部件</a:t>
            </a:r>
            <a:endParaRPr lang="zh-CN" altLang="en-US" sz="2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1" name="参数"/>
          <p:cNvSpPr txBox="1"/>
          <p:nvPr/>
        </p:nvSpPr>
        <p:spPr>
          <a:xfrm>
            <a:off x="594360" y="1325880"/>
            <a:ext cx="5989320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参数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：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l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 = 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m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 = 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N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r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 = 4（S 盒位数、S 盒个数、轮数）</a:t>
            </a:r>
            <a:endParaRPr lang="zh-CN" altLang="en-US" sz="1800">
              <a:latin typeface="Times New Roman" panose="02020603050405020304"/>
              <a:ea typeface="微软雅黑" panose="020B0503020204020204" charset="-122"/>
              <a:cs typeface="Times New Roman" panose="02020603050405020304"/>
            </a:endParaRPr>
          </a:p>
        </p:txBody>
      </p:sp>
      <p:sp>
        <p:nvSpPr>
          <p:cNvPr id="22" name="S盒说明"/>
          <p:cNvSpPr txBox="1"/>
          <p:nvPr/>
        </p:nvSpPr>
        <p:spPr>
          <a:xfrm>
            <a:off x="594360" y="1810512"/>
            <a:ext cx="5989320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S 盒 </a:t>
            </a:r>
            <a:r>
              <a:rPr lang="zh-CN" altLang="en-US" sz="1800" b="1" i="1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π</a:t>
            </a:r>
            <a:r>
              <a:rPr lang="zh-CN" altLang="en-US" sz="1800" b="1" i="1" baseline="-2500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S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：4 位 → 4 位，十六进制表示</a:t>
            </a:r>
            <a:endParaRPr lang="zh-CN" altLang="en-US" sz="1800">
              <a:latin typeface="Times New Roman" panose="02020603050405020304"/>
              <a:ea typeface="微软雅黑" panose="020B0503020204020204" charset="-122"/>
              <a:cs typeface="Times New Roman" panose="02020603050405020304"/>
            </a:endParaRPr>
          </a:p>
        </p:txBody>
      </p:sp>
      <p:graphicFrame>
        <p:nvGraphicFramePr>
          <p:cNvPr id="23" name="S盒表"/>
          <p:cNvGraphicFramePr>
            <a:graphicFrameLocks noGrp="1"/>
          </p:cNvGraphicFramePr>
          <p:nvPr/>
        </p:nvGraphicFramePr>
        <p:xfrm>
          <a:off x="594360" y="2194560"/>
          <a:ext cx="5989320" cy="694944"/>
        </p:xfrm>
        <a:graphic>
          <a:graphicData uri="http://schemas.openxmlformats.org/drawingml/2006/table">
            <a:tbl>
              <a:tblPr firstRow="1"/>
              <a:tblGrid>
                <a:gridCol w="9144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1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1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71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71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71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171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171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1718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1718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1718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1718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1718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1718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17182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17182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17182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1" dirty="0">
                          <a:solidFill>
                            <a:srgbClr val="C0000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z</a:t>
                      </a:r>
                      <a:endParaRPr lang="en-US" altLang="zh-CN" sz="1800" b="1" i="1" dirty="0">
                        <a:solidFill>
                          <a:srgbClr val="C00000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 charset="0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3</a:t>
                      </a: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5</a:t>
                      </a: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7</a:t>
                      </a: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8</a:t>
                      </a: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9</a:t>
                      </a: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A</a:t>
                      </a: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B</a:t>
                      </a: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C</a:t>
                      </a: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D</a:t>
                      </a: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E</a:t>
                      </a: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F</a:t>
                      </a: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1" dirty="0">
                          <a:solidFill>
                            <a:srgbClr val="C0000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π</a:t>
                      </a:r>
                      <a:r>
                        <a:rPr lang="zh-CN" altLang="en-US" sz="1800" b="1" i="1" baseline="-25000" dirty="0">
                          <a:solidFill>
                            <a:srgbClr val="C0000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S</a:t>
                      </a: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(</a:t>
                      </a:r>
                      <a:r>
                        <a:rPr lang="zh-CN" altLang="en-US" sz="1800" b="1" i="1" dirty="0">
                          <a:solidFill>
                            <a:srgbClr val="C0000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z</a:t>
                      </a: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)</a:t>
                      </a:r>
                      <a:endParaRPr lang="zh-CN" altLang="en-US" sz="1800"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 charset="0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E</a:t>
                      </a: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4</a:t>
                      </a: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D</a:t>
                      </a: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2</a:t>
                      </a: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F</a:t>
                      </a: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B</a:t>
                      </a: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8</a:t>
                      </a: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3</a:t>
                      </a: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A</a:t>
                      </a: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6</a:t>
                      </a: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C</a:t>
                      </a: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5</a:t>
                      </a: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9</a:t>
                      </a: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7</a:t>
                      </a: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4" name="置换说明"/>
          <p:cNvSpPr txBox="1"/>
          <p:nvPr/>
        </p:nvSpPr>
        <p:spPr>
          <a:xfrm>
            <a:off x="594360" y="3090672"/>
            <a:ext cx="5989320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置换 </a:t>
            </a:r>
            <a:r>
              <a:rPr lang="zh-CN" altLang="en-US" sz="1800" b="1" i="1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π</a:t>
            </a:r>
            <a:r>
              <a:rPr lang="zh-CN" altLang="en-US" sz="1800" b="1" i="1" baseline="-2500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P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：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 + 4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j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→ 4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 + 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j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 − 3（1 ≤ 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 ≤ 4，0 ≤ 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j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 ≤ 3）</a:t>
            </a:r>
            <a:endParaRPr lang="zh-CN" altLang="en-US" sz="1800">
              <a:latin typeface="Times New Roman" panose="02020603050405020304"/>
              <a:ea typeface="微软雅黑" panose="020B0503020204020204" charset="-122"/>
              <a:cs typeface="Times New Roman" panose="02020603050405020304"/>
            </a:endParaRPr>
          </a:p>
        </p:txBody>
      </p:sp>
      <p:graphicFrame>
        <p:nvGraphicFramePr>
          <p:cNvPr id="25" name="置换表"/>
          <p:cNvGraphicFramePr>
            <a:graphicFrameLocks noGrp="1"/>
          </p:cNvGraphicFramePr>
          <p:nvPr/>
        </p:nvGraphicFramePr>
        <p:xfrm>
          <a:off x="594360" y="3474720"/>
          <a:ext cx="5989320" cy="694944"/>
        </p:xfrm>
        <a:graphic>
          <a:graphicData uri="http://schemas.openxmlformats.org/drawingml/2006/table">
            <a:tbl>
              <a:tblPr firstRow="1"/>
              <a:tblGrid>
                <a:gridCol w="9144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1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1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71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71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71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171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171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1718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1718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1718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1718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1718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1718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17182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17182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17182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1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z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7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8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10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12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13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14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15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16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1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π</a:t>
                      </a:r>
                      <a:r>
                        <a:rPr lang="zh-CN" altLang="en-US" sz="1800" b="1" i="1" baseline="-2500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P</a:t>
                      </a: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(</a:t>
                      </a:r>
                      <a:r>
                        <a:rPr lang="zh-CN" altLang="en-US" sz="1800" b="1" i="1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z</a:t>
                      </a: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)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13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10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14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7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15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8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12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16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6" name="置换含义"/>
          <p:cNvSpPr txBox="1"/>
          <p:nvPr/>
        </p:nvSpPr>
        <p:spPr>
          <a:xfrm>
            <a:off x="594360" y="4297680"/>
            <a:ext cx="5989320" cy="822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即把 16 位排成 4×4 方阵后转置：每个 S 盒的 4 个输出位分别送入下一轮 4 个不同的 S 盒。</a:t>
            </a:r>
            <a:endParaRPr lang="zh-CN" altLang="en-US" sz="1800">
              <a:latin typeface="Times New Roman" panose="02020603050405020304"/>
              <a:ea typeface="微软雅黑" panose="020B0503020204020204" charset="-122"/>
              <a:cs typeface="Times New Roman" panose="02020603050405020304"/>
            </a:endParaRPr>
          </a:p>
        </p:txBody>
      </p:sp>
      <p:cxnSp>
        <p:nvCxnSpPr>
          <p:cNvPr id="27" name="分隔线"/>
          <p:cNvCxnSpPr/>
          <p:nvPr/>
        </p:nvCxnSpPr>
        <p:spPr>
          <a:xfrm>
            <a:off x="6656832" y="1417320"/>
            <a:ext cx="0" cy="3749040"/>
          </a:xfrm>
          <a:prstGeom prst="line">
            <a:avLst/>
          </a:prstGeom>
          <a:ln w="12700">
            <a:solidFill>
              <a:srgbClr val="D7D7D7"/>
            </a:solidFill>
          </a:ln>
        </p:spPr>
      </p:cxnSp>
      <p:sp>
        <p:nvSpPr>
          <p:cNvPr id="28" name="密钥编排标题"/>
          <p:cNvSpPr txBox="1"/>
          <p:nvPr/>
        </p:nvSpPr>
        <p:spPr>
          <a:xfrm>
            <a:off x="6903720" y="1325880"/>
            <a:ext cx="4709160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密钥编排</a:t>
            </a:r>
            <a:endParaRPr lang="zh-CN" altLang="en-US" sz="1800">
              <a:latin typeface="Times New Roman" panose="02020603050405020304"/>
              <a:ea typeface="微软雅黑" panose="020B0503020204020204" charset="-122"/>
              <a:cs typeface="Times New Roman" panose="02020603050405020304"/>
            </a:endParaRPr>
          </a:p>
        </p:txBody>
      </p:sp>
      <p:sp>
        <p:nvSpPr>
          <p:cNvPr id="29" name="密钥编排说明"/>
          <p:cNvSpPr txBox="1"/>
          <p:nvPr/>
        </p:nvSpPr>
        <p:spPr>
          <a:xfrm>
            <a:off x="6903720" y="1755648"/>
            <a:ext cx="4709160" cy="822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主密钥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K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共 32 位，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K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r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取其中连续 16 位：</a:t>
            </a:r>
            <a:endParaRPr lang="zh-CN" altLang="en-US" sz="1800">
              <a:latin typeface="Times New Roman" panose="02020603050405020304"/>
              <a:ea typeface="微软雅黑" panose="020B0503020204020204" charset="-122"/>
              <a:cs typeface="Times New Roman" panose="02020603050405020304"/>
            </a:endParaRPr>
          </a:p>
          <a:p>
            <a:pPr marL="0" indent="0" algn="l">
              <a:lnSpc>
                <a:spcPct val="112000"/>
              </a:lnSpc>
              <a:buNone/>
            </a:pP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从第 4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r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 − 3 位开始，逐轮右移 4 位。</a:t>
            </a:r>
            <a:endParaRPr lang="zh-CN" altLang="en-US" sz="1800">
              <a:latin typeface="Times New Roman" panose="02020603050405020304"/>
              <a:ea typeface="微软雅黑" panose="020B0503020204020204" charset="-122"/>
              <a:cs typeface="Times New Roman" panose="02020603050405020304"/>
            </a:endParaRPr>
          </a:p>
        </p:txBody>
      </p:sp>
      <p:sp>
        <p:nvSpPr>
          <p:cNvPr id="30" name="密钥半字节1"/>
          <p:cNvSpPr/>
          <p:nvPr/>
        </p:nvSpPr>
        <p:spPr>
          <a:xfrm>
            <a:off x="7063740" y="2670048"/>
            <a:ext cx="5486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0011</a:t>
            </a:r>
            <a:endParaRPr lang="zh-CN" altLang="en-US" sz="1800">
              <a:latin typeface="Times New Roman" panose="02020603050405020304"/>
              <a:ea typeface="微软雅黑" panose="020B0503020204020204" charset="-122"/>
              <a:cs typeface="Times New Roman" panose="02020603050405020304"/>
            </a:endParaRPr>
          </a:p>
        </p:txBody>
      </p:sp>
      <p:sp>
        <p:nvSpPr>
          <p:cNvPr id="31" name="密钥半字节2"/>
          <p:cNvSpPr/>
          <p:nvPr/>
        </p:nvSpPr>
        <p:spPr>
          <a:xfrm>
            <a:off x="7612380" y="2670048"/>
            <a:ext cx="5486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1010</a:t>
            </a:r>
            <a:endParaRPr lang="zh-CN" altLang="en-US" sz="1800">
              <a:latin typeface="Times New Roman" panose="02020603050405020304"/>
              <a:ea typeface="微软雅黑" panose="020B0503020204020204" charset="-122"/>
              <a:cs typeface="Times New Roman" panose="02020603050405020304"/>
            </a:endParaRPr>
          </a:p>
        </p:txBody>
      </p:sp>
      <p:sp>
        <p:nvSpPr>
          <p:cNvPr id="32" name="密钥半字节3"/>
          <p:cNvSpPr/>
          <p:nvPr/>
        </p:nvSpPr>
        <p:spPr>
          <a:xfrm>
            <a:off x="8161020" y="2670048"/>
            <a:ext cx="5486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1001</a:t>
            </a:r>
            <a:endParaRPr lang="zh-CN" altLang="en-US" sz="1800">
              <a:latin typeface="Times New Roman" panose="02020603050405020304"/>
              <a:ea typeface="微软雅黑" panose="020B0503020204020204" charset="-122"/>
              <a:cs typeface="Times New Roman" panose="02020603050405020304"/>
            </a:endParaRPr>
          </a:p>
        </p:txBody>
      </p:sp>
      <p:sp>
        <p:nvSpPr>
          <p:cNvPr id="33" name="密钥半字节4"/>
          <p:cNvSpPr/>
          <p:nvPr/>
        </p:nvSpPr>
        <p:spPr>
          <a:xfrm>
            <a:off x="8709660" y="2670048"/>
            <a:ext cx="5486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0100</a:t>
            </a:r>
            <a:endParaRPr lang="zh-CN" altLang="en-US" sz="1800">
              <a:latin typeface="Times New Roman" panose="02020603050405020304"/>
              <a:ea typeface="微软雅黑" panose="020B0503020204020204" charset="-122"/>
              <a:cs typeface="Times New Roman" panose="02020603050405020304"/>
            </a:endParaRPr>
          </a:p>
        </p:txBody>
      </p:sp>
      <p:sp>
        <p:nvSpPr>
          <p:cNvPr id="34" name="密钥半字节5"/>
          <p:cNvSpPr/>
          <p:nvPr/>
        </p:nvSpPr>
        <p:spPr>
          <a:xfrm>
            <a:off x="9258300" y="2670048"/>
            <a:ext cx="5486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1101</a:t>
            </a:r>
            <a:endParaRPr lang="zh-CN" altLang="en-US" sz="1800">
              <a:latin typeface="Times New Roman" panose="02020603050405020304"/>
              <a:ea typeface="微软雅黑" panose="020B0503020204020204" charset="-122"/>
              <a:cs typeface="Times New Roman" panose="02020603050405020304"/>
            </a:endParaRPr>
          </a:p>
        </p:txBody>
      </p:sp>
      <p:sp>
        <p:nvSpPr>
          <p:cNvPr id="35" name="密钥半字节6"/>
          <p:cNvSpPr/>
          <p:nvPr/>
        </p:nvSpPr>
        <p:spPr>
          <a:xfrm>
            <a:off x="9806940" y="2670048"/>
            <a:ext cx="5486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0110</a:t>
            </a:r>
            <a:endParaRPr lang="zh-CN" altLang="en-US" sz="1800">
              <a:latin typeface="Times New Roman" panose="02020603050405020304"/>
              <a:ea typeface="微软雅黑" panose="020B0503020204020204" charset="-122"/>
              <a:cs typeface="Times New Roman" panose="02020603050405020304"/>
            </a:endParaRPr>
          </a:p>
        </p:txBody>
      </p:sp>
      <p:sp>
        <p:nvSpPr>
          <p:cNvPr id="36" name="密钥半字节7"/>
          <p:cNvSpPr/>
          <p:nvPr/>
        </p:nvSpPr>
        <p:spPr>
          <a:xfrm>
            <a:off x="10355580" y="2670048"/>
            <a:ext cx="5486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0011</a:t>
            </a:r>
            <a:endParaRPr lang="zh-CN" altLang="en-US" sz="1800">
              <a:latin typeface="Times New Roman" panose="02020603050405020304"/>
              <a:ea typeface="微软雅黑" panose="020B0503020204020204" charset="-122"/>
              <a:cs typeface="Times New Roman" panose="02020603050405020304"/>
            </a:endParaRPr>
          </a:p>
        </p:txBody>
      </p:sp>
      <p:sp>
        <p:nvSpPr>
          <p:cNvPr id="37" name="密钥半字节8"/>
          <p:cNvSpPr/>
          <p:nvPr/>
        </p:nvSpPr>
        <p:spPr>
          <a:xfrm>
            <a:off x="10904220" y="2670048"/>
            <a:ext cx="5486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1111</a:t>
            </a:r>
            <a:endParaRPr lang="zh-CN" altLang="en-US" sz="1800">
              <a:latin typeface="Times New Roman" panose="02020603050405020304"/>
              <a:ea typeface="微软雅黑" panose="020B0503020204020204" charset="-122"/>
              <a:cs typeface="Times New Roman" panose="02020603050405020304"/>
            </a:endParaRPr>
          </a:p>
        </p:txBody>
      </p:sp>
      <p:sp>
        <p:nvSpPr>
          <p:cNvPr id="38" name="轮密钥1"/>
          <p:cNvSpPr/>
          <p:nvPr/>
        </p:nvSpPr>
        <p:spPr>
          <a:xfrm>
            <a:off x="7063740" y="3163824"/>
            <a:ext cx="2194560" cy="310896"/>
          </a:xfrm>
          <a:prstGeom prst="rect">
            <a:avLst/>
          </a:prstGeom>
          <a:solidFill>
            <a:srgbClr val="F3DFD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K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 = 3A94</a:t>
            </a:r>
            <a:endParaRPr lang="zh-CN" altLang="en-US" sz="1800">
              <a:latin typeface="Times New Roman" panose="02020603050405020304"/>
              <a:ea typeface="微软雅黑" panose="020B0503020204020204" charset="-122"/>
              <a:cs typeface="Times New Roman" panose="02020603050405020304"/>
            </a:endParaRPr>
          </a:p>
        </p:txBody>
      </p:sp>
      <p:sp>
        <p:nvSpPr>
          <p:cNvPr id="39" name="轮密钥2"/>
          <p:cNvSpPr/>
          <p:nvPr/>
        </p:nvSpPr>
        <p:spPr>
          <a:xfrm>
            <a:off x="7612380" y="3529584"/>
            <a:ext cx="2194560" cy="310896"/>
          </a:xfrm>
          <a:prstGeom prst="rect">
            <a:avLst/>
          </a:prstGeom>
          <a:solidFill>
            <a:srgbClr val="F3DFD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K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2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 = A94D</a:t>
            </a:r>
            <a:endParaRPr lang="zh-CN" altLang="en-US" sz="1800">
              <a:latin typeface="Times New Roman" panose="02020603050405020304"/>
              <a:ea typeface="微软雅黑" panose="020B0503020204020204" charset="-122"/>
              <a:cs typeface="Times New Roman" panose="02020603050405020304"/>
            </a:endParaRPr>
          </a:p>
        </p:txBody>
      </p:sp>
      <p:sp>
        <p:nvSpPr>
          <p:cNvPr id="40" name="轮密钥3"/>
          <p:cNvSpPr/>
          <p:nvPr/>
        </p:nvSpPr>
        <p:spPr>
          <a:xfrm>
            <a:off x="8161020" y="3895344"/>
            <a:ext cx="2194560" cy="310896"/>
          </a:xfrm>
          <a:prstGeom prst="rect">
            <a:avLst/>
          </a:prstGeom>
          <a:solidFill>
            <a:srgbClr val="F3DFD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K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 = 94D6</a:t>
            </a:r>
            <a:endParaRPr lang="zh-CN" altLang="en-US" sz="1800">
              <a:latin typeface="Times New Roman" panose="02020603050405020304"/>
              <a:ea typeface="微软雅黑" panose="020B0503020204020204" charset="-122"/>
              <a:cs typeface="Times New Roman" panose="02020603050405020304"/>
            </a:endParaRPr>
          </a:p>
        </p:txBody>
      </p:sp>
      <p:sp>
        <p:nvSpPr>
          <p:cNvPr id="41" name="轮密钥4"/>
          <p:cNvSpPr/>
          <p:nvPr/>
        </p:nvSpPr>
        <p:spPr>
          <a:xfrm>
            <a:off x="8709660" y="4261104"/>
            <a:ext cx="2194560" cy="310896"/>
          </a:xfrm>
          <a:prstGeom prst="rect">
            <a:avLst/>
          </a:prstGeom>
          <a:solidFill>
            <a:srgbClr val="F3DFD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K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4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 = 4D63</a:t>
            </a:r>
            <a:endParaRPr lang="zh-CN" altLang="en-US" sz="1800">
              <a:latin typeface="Times New Roman" panose="02020603050405020304"/>
              <a:ea typeface="微软雅黑" panose="020B0503020204020204" charset="-122"/>
              <a:cs typeface="Times New Roman" panose="02020603050405020304"/>
            </a:endParaRPr>
          </a:p>
        </p:txBody>
      </p:sp>
      <p:sp>
        <p:nvSpPr>
          <p:cNvPr id="42" name="轮密钥5"/>
          <p:cNvSpPr/>
          <p:nvPr/>
        </p:nvSpPr>
        <p:spPr>
          <a:xfrm>
            <a:off x="9258300" y="4626864"/>
            <a:ext cx="2194560" cy="310896"/>
          </a:xfrm>
          <a:prstGeom prst="rect">
            <a:avLst/>
          </a:prstGeom>
          <a:solidFill>
            <a:srgbClr val="F3DFD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K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5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 = D63F</a:t>
            </a:r>
            <a:endParaRPr lang="zh-CN" altLang="en-US" sz="1800">
              <a:latin typeface="Times New Roman" panose="02020603050405020304"/>
              <a:ea typeface="微软雅黑" panose="020B0503020204020204" charset="-122"/>
              <a:cs typeface="Times New Roman" panose="02020603050405020304"/>
            </a:endParaRPr>
          </a:p>
        </p:txBody>
      </p:sp>
      <p:sp>
        <p:nvSpPr>
          <p:cNvPr id="43" name="轮结构"/>
          <p:cNvSpPr/>
          <p:nvPr/>
        </p:nvSpPr>
        <p:spPr>
          <a:xfrm>
            <a:off x="594360" y="5349240"/>
            <a:ext cx="11018520" cy="914400"/>
          </a:xfrm>
          <a:prstGeom prst="rect">
            <a:avLst/>
          </a:prstGeom>
          <a:solidFill>
            <a:srgbClr val="FBF1F1"/>
          </a:solidFill>
          <a:ln>
            <a:noFill/>
          </a:ln>
        </p:spPr>
        <p:txBody>
          <a:bodyPr wrap="square" lIns="164592" tIns="82296" rIns="164592" bIns="82296" rtlCol="0" anchor="ctr">
            <a:no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第 1–3 轮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：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u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r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 = 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w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r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−1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 ⊕ 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K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r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，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v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r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 = 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π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S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(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u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r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)，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w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r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 = 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π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P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(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v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r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)，其中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w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 = 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endParaRPr lang="zh-CN" altLang="en-US" sz="1800">
              <a:latin typeface="Times New Roman" panose="02020603050405020304"/>
              <a:ea typeface="微软雅黑" panose="020B0503020204020204" charset="-122"/>
              <a:cs typeface="Times New Roman" panose="02020603050405020304"/>
            </a:endParaRPr>
          </a:p>
          <a:p>
            <a:pPr marL="0" indent="0" algn="l">
              <a:lnSpc>
                <a:spcPct val="112000"/>
              </a:lnSpc>
              <a:spcBef>
                <a:spcPts val="200"/>
              </a:spcBef>
              <a:buNone/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第 4 轮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：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u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4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 = 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w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 ⊕ 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K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4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，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v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4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 = 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π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S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(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u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4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)，不做置换，输出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y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 = 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v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4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 ⊕ 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K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5</a:t>
            </a:r>
            <a:endParaRPr lang="zh-CN" altLang="en-US" sz="1800">
              <a:latin typeface="Times New Roman" panose="02020603050405020304"/>
              <a:ea typeface="微软雅黑" panose="020B0503020204020204" charset="-122"/>
              <a:cs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altLang="zh-CN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6739" y="219050"/>
            <a:ext cx="4133088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分组密码设计基础</a:t>
            </a:r>
          </a:p>
        </p:txBody>
      </p:sp>
      <p:cxnSp>
        <p:nvCxnSpPr>
          <p:cNvPr id="4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页标题"/>
          <p:cNvSpPr txBox="1"/>
          <p:nvPr/>
        </p:nvSpPr>
        <p:spPr>
          <a:xfrm>
            <a:off x="502920" y="827532"/>
            <a:ext cx="11155680" cy="393192"/>
          </a:xfrm>
          <a:prstGeom prst="rect">
            <a:avLst/>
          </a:prstGeom>
          <a:noFill/>
        </p:spPr>
        <p:txBody>
          <a:bodyPr wrap="square" lIns="18288" tIns="0" rIns="18288" bIns="0" anchor="t">
            <a:noAutofit/>
          </a:bodyPr>
          <a:lstStyle/>
          <a:p>
            <a:pPr marL="0" indent="0">
              <a:buNone/>
            </a:pPr>
            <a:r>
              <a:rPr lang="zh-CN" altLang="en-US" sz="2200" b="1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SPN 结构：简单实例（二）加密过程</a:t>
            </a:r>
            <a:endParaRPr lang="zh-CN" altLang="en-US" sz="2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1" name="输入"/>
          <p:cNvSpPr txBox="1"/>
          <p:nvPr/>
        </p:nvSpPr>
        <p:spPr>
          <a:xfrm>
            <a:off x="594360" y="1325880"/>
            <a:ext cx="11018520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输入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：明文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 = 0010 0110 1011 0111，密钥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K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 = 0011 1010 1001 0100 1101 0110 0011 1111</a:t>
            </a:r>
            <a:endParaRPr lang="zh-CN" altLang="en-US" sz="1800">
              <a:latin typeface="Times New Roman" panose="02020603050405020304"/>
              <a:ea typeface="微软雅黑" panose="020B0503020204020204" charset="-122"/>
              <a:cs typeface="Times New Roman" panose="02020603050405020304"/>
            </a:endParaRPr>
          </a:p>
        </p:txBody>
      </p:sp>
      <p:graphicFrame>
        <p:nvGraphicFramePr>
          <p:cNvPr id="22" name="加密过程表"/>
          <p:cNvGraphicFramePr>
            <a:graphicFrameLocks noGrp="1"/>
          </p:cNvGraphicFramePr>
          <p:nvPr/>
        </p:nvGraphicFramePr>
        <p:xfrm>
          <a:off x="594360" y="1874520"/>
          <a:ext cx="5669280" cy="4169664"/>
        </p:xfrm>
        <a:graphic>
          <a:graphicData uri="http://schemas.openxmlformats.org/drawingml/2006/table">
            <a:tbl>
              <a:tblPr firstRow="1"/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800" b="0" i="1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x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109728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0010  0110  1011  0111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800" b="0" i="1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K</a:t>
                      </a:r>
                      <a:r>
                        <a:rPr lang="zh-CN" altLang="en-US" sz="1800" b="0" i="0" baseline="-2500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109728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0011  1010  1001  0100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800" b="0" i="1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u</a:t>
                      </a:r>
                      <a:r>
                        <a:rPr lang="zh-CN" altLang="en-US" sz="1800" b="0" i="0" baseline="-2500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</a:t>
                      </a: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 = </a:t>
                      </a:r>
                      <a:r>
                        <a:rPr lang="zh-CN" altLang="en-US" sz="1800" b="0" i="1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x</a:t>
                      </a: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 ⊕ </a:t>
                      </a:r>
                      <a:r>
                        <a:rPr lang="zh-CN" altLang="en-US" sz="1800" b="0" i="1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K</a:t>
                      </a:r>
                      <a:r>
                        <a:rPr lang="zh-CN" altLang="en-US" sz="1800" b="0" i="0" baseline="-2500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109728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0001  1100  0010  0011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800" b="0" i="1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v</a:t>
                      </a:r>
                      <a:r>
                        <a:rPr lang="zh-CN" altLang="en-US" sz="1800" b="0" i="0" baseline="-2500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</a:t>
                      </a: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 = </a:t>
                      </a:r>
                      <a:r>
                        <a:rPr lang="zh-CN" altLang="en-US" sz="1800" b="0" i="1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π</a:t>
                      </a:r>
                      <a:r>
                        <a:rPr lang="zh-CN" altLang="en-US" sz="1800" b="0" i="1" baseline="-2500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S</a:t>
                      </a: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(</a:t>
                      </a:r>
                      <a:r>
                        <a:rPr lang="zh-CN" altLang="en-US" sz="1800" b="0" i="1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u</a:t>
                      </a:r>
                      <a:r>
                        <a:rPr lang="zh-CN" altLang="en-US" sz="1800" b="0" i="0" baseline="-2500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</a:t>
                      </a: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)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109728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0100  0101  1101  0001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800" b="0" i="1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w</a:t>
                      </a:r>
                      <a:r>
                        <a:rPr lang="zh-CN" altLang="en-US" sz="1800" b="0" i="0" baseline="-2500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</a:t>
                      </a: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 = </a:t>
                      </a:r>
                      <a:r>
                        <a:rPr lang="zh-CN" altLang="en-US" sz="1800" b="0" i="1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π</a:t>
                      </a:r>
                      <a:r>
                        <a:rPr lang="zh-CN" altLang="en-US" sz="1800" b="0" i="1" baseline="-2500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P</a:t>
                      </a: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(</a:t>
                      </a:r>
                      <a:r>
                        <a:rPr lang="zh-CN" altLang="en-US" sz="1800" b="0" i="1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v</a:t>
                      </a:r>
                      <a:r>
                        <a:rPr lang="zh-CN" altLang="en-US" sz="1800" b="0" i="0" baseline="-2500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</a:t>
                      </a: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)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109728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0010  1110  0000  0111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800" b="0" i="0" dirty="0">
                          <a:solidFill>
                            <a:srgbClr val="7F7F7F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⋮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109728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7F7F7F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（第 2、3 轮同理）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800" b="0" i="1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w</a:t>
                      </a:r>
                      <a:r>
                        <a:rPr lang="zh-CN" altLang="en-US" sz="1800" b="0" i="0" baseline="-2500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109728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1110  0100  0110  1110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800" b="0" i="1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K</a:t>
                      </a:r>
                      <a:r>
                        <a:rPr lang="zh-CN" altLang="en-US" sz="1800" b="0" i="0" baseline="-2500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109728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0100  1101  0110  0011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800" b="0" i="1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u</a:t>
                      </a:r>
                      <a:r>
                        <a:rPr lang="zh-CN" altLang="en-US" sz="1800" b="0" i="0" baseline="-2500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</a:t>
                      </a: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 = </a:t>
                      </a:r>
                      <a:r>
                        <a:rPr lang="zh-CN" altLang="en-US" sz="1800" b="0" i="1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w</a:t>
                      </a:r>
                      <a:r>
                        <a:rPr lang="zh-CN" altLang="en-US" sz="1800" b="0" i="0" baseline="-2500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</a:t>
                      </a: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 ⊕ </a:t>
                      </a:r>
                      <a:r>
                        <a:rPr lang="zh-CN" altLang="en-US" sz="1800" b="0" i="1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K</a:t>
                      </a:r>
                      <a:r>
                        <a:rPr lang="zh-CN" altLang="en-US" sz="1800" b="0" i="0" baseline="-2500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109728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1010  1001  0000  1101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800" b="0" i="1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v</a:t>
                      </a:r>
                      <a:r>
                        <a:rPr lang="zh-CN" altLang="en-US" sz="1800" b="0" i="0" baseline="-2500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</a:t>
                      </a: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 = </a:t>
                      </a:r>
                      <a:r>
                        <a:rPr lang="zh-CN" altLang="en-US" sz="1800" b="0" i="1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π</a:t>
                      </a:r>
                      <a:r>
                        <a:rPr lang="zh-CN" altLang="en-US" sz="1800" b="0" i="1" baseline="-2500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S</a:t>
                      </a: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(</a:t>
                      </a:r>
                      <a:r>
                        <a:rPr lang="zh-CN" altLang="en-US" sz="1800" b="0" i="1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u</a:t>
                      </a:r>
                      <a:r>
                        <a:rPr lang="zh-CN" altLang="en-US" sz="1800" b="0" i="0" baseline="-2500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</a:t>
                      </a: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)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109728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0110  1010  1110  1001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800" b="0" i="1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K</a:t>
                      </a:r>
                      <a:r>
                        <a:rPr lang="zh-CN" altLang="en-US" sz="1800" b="0" i="0" baseline="-2500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109728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1101  0110  0011  1111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800" b="1" i="1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y</a:t>
                      </a:r>
                      <a:r>
                        <a:rPr lang="zh-CN" altLang="en-US" sz="1800" b="1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 = </a:t>
                      </a:r>
                      <a:r>
                        <a:rPr lang="zh-CN" altLang="en-US" sz="1800" b="1" i="1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v</a:t>
                      </a:r>
                      <a:r>
                        <a:rPr lang="zh-CN" altLang="en-US" sz="1800" b="1" i="0" baseline="-2500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</a:t>
                      </a:r>
                      <a:r>
                        <a:rPr lang="zh-CN" altLang="en-US" sz="1800" b="1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 ⊕ </a:t>
                      </a:r>
                      <a:r>
                        <a:rPr lang="zh-CN" altLang="en-US" sz="1800" b="1" i="1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K</a:t>
                      </a:r>
                      <a:r>
                        <a:rPr lang="zh-CN" altLang="en-US" sz="1800" b="1" i="0" baseline="-2500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109728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3DF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1011  1100  1101  0110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3DF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cxnSp>
        <p:nvCxnSpPr>
          <p:cNvPr id="23" name="分隔线"/>
          <p:cNvCxnSpPr/>
          <p:nvPr/>
        </p:nvCxnSpPr>
        <p:spPr>
          <a:xfrm>
            <a:off x="6656832" y="1874520"/>
            <a:ext cx="0" cy="4169664"/>
          </a:xfrm>
          <a:prstGeom prst="line">
            <a:avLst/>
          </a:prstGeom>
          <a:ln w="12700">
            <a:solidFill>
              <a:srgbClr val="D7D7D7"/>
            </a:solidFill>
          </a:ln>
        </p:spPr>
      </p:cxnSp>
      <p:sp>
        <p:nvSpPr>
          <p:cNvPr id="24" name="各轮标题"/>
          <p:cNvSpPr txBox="1"/>
          <p:nvPr/>
        </p:nvSpPr>
        <p:spPr>
          <a:xfrm>
            <a:off x="6903720" y="1874520"/>
            <a:ext cx="4709160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各轮中间值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（十六进制）</a:t>
            </a:r>
            <a:endParaRPr lang="zh-CN" altLang="en-US" sz="1800">
              <a:latin typeface="Times New Roman" panose="02020603050405020304"/>
              <a:ea typeface="微软雅黑" panose="020B0503020204020204" charset="-122"/>
              <a:cs typeface="Times New Roman" panose="02020603050405020304"/>
            </a:endParaRPr>
          </a:p>
        </p:txBody>
      </p:sp>
      <p:graphicFrame>
        <p:nvGraphicFramePr>
          <p:cNvPr id="25" name="各轮中间值"/>
          <p:cNvGraphicFramePr>
            <a:graphicFrameLocks noGrp="1"/>
          </p:cNvGraphicFramePr>
          <p:nvPr/>
        </p:nvGraphicFramePr>
        <p:xfrm>
          <a:off x="6903720" y="2331720"/>
          <a:ext cx="4709160" cy="1828800"/>
        </p:xfrm>
        <a:graphic>
          <a:graphicData uri="http://schemas.openxmlformats.org/drawingml/2006/table">
            <a:tbl>
              <a:tblPr firstRow="1"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0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01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01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01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1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r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1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K</a:t>
                      </a:r>
                      <a:r>
                        <a:rPr lang="zh-CN" altLang="en-US" sz="1800" b="1" i="1" baseline="-2500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r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1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u</a:t>
                      </a:r>
                      <a:r>
                        <a:rPr lang="zh-CN" altLang="en-US" sz="1800" b="1" i="1" baseline="-2500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r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1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v</a:t>
                      </a:r>
                      <a:r>
                        <a:rPr lang="zh-CN" altLang="en-US" sz="1800" b="1" i="1" baseline="-2500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r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1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w</a:t>
                      </a:r>
                      <a:r>
                        <a:rPr lang="zh-CN" altLang="en-US" sz="1800" b="1" i="1" baseline="-2500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r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3A94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1C23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45D1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2E07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A94D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874A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3826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41B8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94D6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D56E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9FB0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E46E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4D63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A90D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6AE9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7F7F7F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—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输出"/>
          <p:cNvSpPr txBox="1"/>
          <p:nvPr/>
        </p:nvSpPr>
        <p:spPr>
          <a:xfrm>
            <a:off x="6903720" y="4270248"/>
            <a:ext cx="4709160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密文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y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 = 6AE9 ⊕ D63F = </a:t>
            </a:r>
            <a:r>
              <a:rPr lang="zh-CN" altLang="en-US" sz="1800" b="1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BCD6</a:t>
            </a:r>
            <a:endParaRPr lang="zh-CN" altLang="en-US" sz="1800">
              <a:latin typeface="Times New Roman" panose="02020603050405020304"/>
              <a:ea typeface="微软雅黑" panose="020B0503020204020204" charset="-122"/>
              <a:cs typeface="Times New Roman" panose="02020603050405020304"/>
            </a:endParaRPr>
          </a:p>
        </p:txBody>
      </p:sp>
      <p:sp>
        <p:nvSpPr>
          <p:cNvPr id="27" name="读表提示"/>
          <p:cNvSpPr/>
          <p:nvPr/>
        </p:nvSpPr>
        <p:spPr>
          <a:xfrm>
            <a:off x="6903720" y="4818888"/>
            <a:ext cx="4709160" cy="1225296"/>
          </a:xfrm>
          <a:prstGeom prst="rect">
            <a:avLst/>
          </a:prstGeom>
          <a:solidFill>
            <a:srgbClr val="FBF1F1"/>
          </a:solidFill>
          <a:ln>
            <a:noFill/>
          </a:ln>
        </p:spPr>
        <p:txBody>
          <a:bodyPr wrap="square" lIns="137160" tIns="68580" rIns="137160" bIns="68580" rtlCol="0" anchor="ctr">
            <a:no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读表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：S 盒逐个半字节查表，如 1C23 → 45D1；置换把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v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的 4 个半字节看作 4×4 方阵的 4 行，按列读出即得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w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。</a:t>
            </a:r>
            <a:endParaRPr lang="zh-CN" altLang="en-US" sz="1800">
              <a:latin typeface="Times New Roman" panose="02020603050405020304"/>
              <a:ea typeface="微软雅黑" panose="020B0503020204020204" charset="-122"/>
              <a:cs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649235" y="2665199"/>
            <a:ext cx="6893529" cy="764195"/>
            <a:chOff x="3147" y="6401"/>
            <a:chExt cx="9616" cy="1066"/>
          </a:xfrm>
        </p:grpSpPr>
        <p:sp>
          <p:nvSpPr>
            <p:cNvPr id="6" name="文本占位符 5"/>
            <p:cNvSpPr txBox="1"/>
            <p:nvPr/>
          </p:nvSpPr>
          <p:spPr>
            <a:xfrm>
              <a:off x="4979" y="6401"/>
              <a:ext cx="7784" cy="1066"/>
            </a:xfrm>
            <a:prstGeom prst="rect">
              <a:avLst/>
            </a:prstGeom>
          </p:spPr>
          <p:txBody>
            <a:bodyPr vert="horz" wrap="square" lIns="0" tIns="0" rIns="0" bIns="0" anchor="t" anchorCtr="0">
              <a:spAutoFit/>
            </a:bodyPr>
            <a:lstStyle>
              <a:lvl1pPr mar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800" kern="1200" spc="100" baseline="0">
                  <a:solidFill>
                    <a:srgbClr val="40404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cs"/>
                  <a:sym typeface="字魂111号-金榜招牌体" panose="00000500000000000000" pitchFamily="2" charset="-122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4965" b="1" i="0" dirty="0"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典型分组密码</a:t>
              </a:r>
              <a:endParaRPr lang="zh-CN" altLang="en-US" sz="4965" b="1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3271" y="6401"/>
              <a:ext cx="1084" cy="106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710" dirty="0"/>
            </a:p>
          </p:txBody>
        </p:sp>
        <p:sp>
          <p:nvSpPr>
            <p:cNvPr id="8" name="矩形 7"/>
            <p:cNvSpPr/>
            <p:nvPr/>
          </p:nvSpPr>
          <p:spPr>
            <a:xfrm>
              <a:off x="3147" y="6523"/>
              <a:ext cx="1331" cy="8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US" altLang="zh-CN" sz="3160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03</a:t>
              </a:r>
              <a:endParaRPr lang="en-US" altLang="zh-CN" sz="3160" dirty="0">
                <a:solidFill>
                  <a:prstClr val="white"/>
                </a:solidFill>
                <a:latin typeface="+mj-ea"/>
                <a:ea typeface="+mj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3"/>
          <p:cNvSpPr txBox="1"/>
          <p:nvPr/>
        </p:nvSpPr>
        <p:spPr>
          <a:xfrm>
            <a:off x="502920" y="828446"/>
            <a:ext cx="11155680" cy="3384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zh-CN" altLang="en-US" sz="2200" b="1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DES 概述</a:t>
            </a:r>
            <a:endParaRPr lang="zh-CN" altLang="en-US" sz="2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1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en-US" altLang="zh-CN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</a:p>
        </p:txBody>
      </p:sp>
      <p:sp>
        <p:nvSpPr>
          <p:cNvPr id="12" name="TextBox 2"/>
          <p:cNvSpPr txBox="1"/>
          <p:nvPr/>
        </p:nvSpPr>
        <p:spPr>
          <a:xfrm>
            <a:off x="1066739" y="219050"/>
            <a:ext cx="4133088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典型分组密码</a:t>
            </a:r>
          </a:p>
        </p:txBody>
      </p:sp>
      <p:cxnSp>
        <p:nvCxnSpPr>
          <p:cNvPr id="13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5"/>
          <p:cNvSpPr/>
          <p:nvPr/>
        </p:nvSpPr>
        <p:spPr>
          <a:xfrm>
            <a:off x="731520" y="1319530"/>
            <a:ext cx="10790555" cy="82296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182880" rIns="13716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DES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（Data Encryption Standard，数据加密标准）由 IBM 设计，1977 年由美国国家标准局（NBS，现 NIST）发布为 FIPS 46，分组长度为 64 bit。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693920"/>
            <a:ext cx="4510405" cy="1390650"/>
          </a:xfrm>
          <a:prstGeom prst="rect">
            <a:avLst/>
          </a:prstGeom>
        </p:spPr>
      </p:pic>
      <p:sp>
        <p:nvSpPr>
          <p:cNvPr id="15" name="Rectangle 5"/>
          <p:cNvSpPr/>
          <p:nvPr/>
        </p:nvSpPr>
        <p:spPr>
          <a:xfrm>
            <a:off x="5419090" y="4559300"/>
            <a:ext cx="6085840" cy="1740535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182880" rIns="137160" rtlCol="0" anchor="ctr"/>
          <a:lstStyle/>
          <a:p>
            <a:pPr indent="0" algn="l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DES </a:t>
            </a:r>
            <a:r>
              <a:rPr lang="zh-CN" altLang="en-US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密钥中的</a:t>
            </a:r>
            <a:r>
              <a:rPr lang="en-US" alt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zh-CN" altLang="en-US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8</a:t>
            </a:r>
            <a:r>
              <a:rPr lang="en-US" alt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zh-CN" altLang="en-US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个校验位采用</a:t>
            </a:r>
            <a:r>
              <a:rPr lang="en-US" alt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奇校验</a:t>
            </a:r>
            <a:r>
              <a:rPr lang="zh-CN" altLang="en-US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，每</a:t>
            </a:r>
            <a:r>
              <a:rPr lang="en-US" alt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8 </a:t>
            </a:r>
            <a:r>
              <a:rPr lang="zh-CN" altLang="en-US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位中</a:t>
            </a:r>
            <a:r>
              <a:rPr lang="en-US" alt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1 </a:t>
            </a:r>
            <a:r>
              <a:rPr lang="zh-CN" altLang="en-US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的个数为奇数，通过调整最低位，使这 8 位中</a:t>
            </a:r>
            <a:r>
              <a:rPr lang="en-US" alt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zh-CN" altLang="en-US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1</a:t>
            </a:r>
            <a:r>
              <a:rPr lang="en-US" alt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zh-CN" altLang="en-US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的总数为奇数。</a:t>
            </a:r>
          </a:p>
          <a:p>
            <a:pPr indent="0"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奇偶校验位仅用于检测传输错误，不参与</a:t>
            </a:r>
            <a:r>
              <a:rPr lang="en-US" alt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DES </a:t>
            </a:r>
            <a:r>
              <a:rPr lang="zh-CN" altLang="en-US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加密运算。</a:t>
            </a:r>
          </a:p>
          <a:p>
            <a:pPr indent="0" algn="l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srgbClr val="40404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indent="0"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示例（如左图）:</a:t>
            </a:r>
            <a:r>
              <a:rPr lang="en-US" alt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zh-CN" altLang="en-US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前</a:t>
            </a:r>
            <a:r>
              <a:rPr lang="en-US" alt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zh-CN" altLang="en-US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7</a:t>
            </a:r>
            <a:r>
              <a:rPr lang="en-US" alt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zh-CN" altLang="en-US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位</a:t>
            </a:r>
            <a:r>
              <a:rPr lang="en-US" alt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zh-CN" altLang="en-US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1010101</a:t>
            </a:r>
            <a:r>
              <a:rPr lang="en-US" alt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zh-CN" altLang="en-US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中有</a:t>
            </a:r>
            <a:r>
              <a:rPr lang="en-US" alt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zh-CN" altLang="en-US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4</a:t>
            </a:r>
            <a:r>
              <a:rPr lang="en-US" alt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zh-CN" altLang="en-US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个</a:t>
            </a:r>
            <a:r>
              <a:rPr lang="en-US" alt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zh-CN" altLang="en-US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1(为偶数)，因此校验位设为</a:t>
            </a:r>
            <a:r>
              <a:rPr lang="en-US" alt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zh-CN" altLang="en-US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1，使</a:t>
            </a:r>
            <a:r>
              <a:rPr lang="en-US" alt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zh-CN" altLang="en-US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10101011</a:t>
            </a:r>
            <a:r>
              <a:rPr lang="en-US" alt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zh-CN" altLang="en-US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中共有</a:t>
            </a:r>
            <a:r>
              <a:rPr lang="en-US" alt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zh-CN" altLang="en-US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5</a:t>
            </a:r>
            <a:r>
              <a:rPr lang="en-US" alt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zh-CN" altLang="en-US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个</a:t>
            </a:r>
            <a:r>
              <a:rPr lang="en-US" alt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zh-CN" altLang="en-US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1，满足奇校验</a:t>
            </a:r>
            <a:r>
              <a:rPr lang="zh-CN" altLang="en-US" sz="160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7"/>
              <p:cNvSpPr/>
              <p:nvPr/>
            </p:nvSpPr>
            <p:spPr>
              <a:xfrm>
                <a:off x="737870" y="2465070"/>
                <a:ext cx="3474720" cy="1554480"/>
              </a:xfrm>
              <a:prstGeom prst="rect">
                <a:avLst/>
              </a:prstGeom>
              <a:solidFill>
                <a:srgbClr val="FBF1F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37160" rIns="137160" rtlCol="0" anchor="ctr"/>
              <a:lstStyle/>
              <a:p>
                <a:pPr algn="l">
                  <a:spcBef>
                    <a:spcPts val="0"/>
                  </a:spcBef>
                  <a:spcAft>
                    <a:spcPts val="300"/>
                  </a:spcAft>
                </a:pPr>
                <a:r>
                  <a:rPr lang="zh-CN" altLang="en-US" sz="2000" b="1" i="0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① 分组长度：</a:t>
                </a:r>
              </a:p>
              <a:p>
                <a:pPr algn="l">
                  <a:spcBef>
                    <a:spcPts val="0"/>
                  </a:spcBef>
                  <a:spcAft>
                    <a:spcPts val="300"/>
                  </a:spcAft>
                </a:pPr>
                <a:r>
                  <a:rPr lang="en-US" altLang="zh-CN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64 </a:t>
                </a:r>
                <a:r>
                  <a:rPr lang="zh-CN" altLang="en-US" b="0" i="0" dirty="0">
                    <a:solidFill>
                      <a:srgbClr val="40404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比特。</a:t>
                </a:r>
                <a:r>
                  <a:rPr lang="zh-CN" altLang="en-US">
                    <a:solidFill>
                      <a:srgbClr val="40404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明文空间</a:t>
                </a:r>
                <a:r>
                  <a:rPr lang="zh-CN" altLang="en-US" dirty="0">
                    <a:solidFill>
                      <a:srgbClr val="404040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DejaVu Math TeX Gyre" panose="02000503000000000000" charset="0"/>
                      </a:rPr>
                      <m:t>ℳ</m:t>
                    </m:r>
                    <m:r>
                      <a:rPr i="1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  <a:sym typeface="+mn-ea"/>
                      </a:rPr>
                      <m:t> </m:t>
                    </m:r>
                  </m:oMath>
                </a14:m>
                <a:r>
                  <a:rPr lang="zh-CN" altLang="en-US">
                    <a:solidFill>
                      <a:srgbClr val="40404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和密文空间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DejaVu Math TeX Gyre" panose="02000503000000000000" charset="0"/>
                      </a:rPr>
                      <m:t> </m:t>
                    </m:r>
                    <m:r>
                      <a:rPr lang="en-US" i="1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DejaVu Math TeX Gyre" panose="02000503000000000000" charset="0"/>
                      </a:rPr>
                      <m:t>𝒞</m:t>
                    </m:r>
                  </m:oMath>
                </a14:m>
                <a:r>
                  <a:rPr lang="en-US" altLang="zh-CN">
                    <a:solidFill>
                      <a:srgbClr val="40404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 </a:t>
                </a:r>
                <a:r>
                  <a:rPr lang="zh-CN" altLang="en-US">
                    <a:solidFill>
                      <a:srgbClr val="40404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都是</a:t>
                </a:r>
                <a:r>
                  <a:rPr lang="zh-CN" altLang="en-US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  <a:sym typeface="+mn-ea"/>
                  </a:rPr>
                  <a:t> {0,1}</a:t>
                </a:r>
                <a:r>
                  <a:rPr lang="zh-CN" altLang="en-US" baseline="3000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  <a:sym typeface="+mn-ea"/>
                  </a:rPr>
                  <a:t>64</a:t>
                </a:r>
                <a:r>
                  <a:rPr lang="zh-CN" altLang="en-US">
                    <a:solidFill>
                      <a:srgbClr val="40404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 </a:t>
                </a:r>
                <a:endParaRPr lang="zh-CN" altLang="en-US" b="0" i="0" dirty="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mc:Choice>
        <mc:Fallback xmlns="">
          <p:sp>
            <p:nvSpPr>
              <p:cNvPr id="1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870" y="2465070"/>
                <a:ext cx="3474720" cy="155448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8"/>
          <p:cNvSpPr/>
          <p:nvPr/>
        </p:nvSpPr>
        <p:spPr>
          <a:xfrm>
            <a:off x="4392295" y="2465070"/>
            <a:ext cx="3474720" cy="155448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② 密钥长度：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en-US" altLang="zh-CN" b="0" i="0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64 </a:t>
            </a:r>
            <a:r>
              <a:rPr lang="zh-CN" altLang="en-US" b="0" i="0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比特。</a:t>
            </a:r>
            <a:r>
              <a:rPr lang="zh-CN" altLang="en-US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第</a:t>
            </a:r>
            <a:r>
              <a:rPr lang="en-US" alt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zh-CN" altLang="en-US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8、16、24、32、40、48、56 和 64 位是</a:t>
            </a:r>
            <a:r>
              <a:rPr lang="en-US" alt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奇偶校验位</a:t>
            </a:r>
            <a:endParaRPr lang="zh-CN" altLang="en-US" b="0" i="0" dirty="0">
              <a:solidFill>
                <a:srgbClr val="40404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9"/>
              <p:cNvSpPr/>
              <p:nvPr/>
            </p:nvSpPr>
            <p:spPr>
              <a:xfrm>
                <a:off x="8049895" y="2465070"/>
                <a:ext cx="3474720" cy="1554480"/>
              </a:xfrm>
              <a:prstGeom prst="rect">
                <a:avLst/>
              </a:prstGeom>
              <a:solidFill>
                <a:srgbClr val="FBF1F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37160" rIns="137160" rtlCol="0" anchor="ctr"/>
              <a:lstStyle/>
              <a:p>
                <a:pPr algn="l">
                  <a:spcBef>
                    <a:spcPts val="0"/>
                  </a:spcBef>
                  <a:spcAft>
                    <a:spcPts val="300"/>
                  </a:spcAft>
                </a:pPr>
                <a:r>
                  <a:rPr lang="zh-CN" altLang="en-US" sz="2000" b="1" i="0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③ 密钥空间：</a:t>
                </a:r>
              </a:p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  <a:sym typeface="+mn-ea"/>
                  </a:rPr>
                  <a:t>有效密钥长度为</a:t>
                </a:r>
                <a:r>
                  <a:rPr lang="en-US" altLang="zh-CN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  <a:sym typeface="+mn-ea"/>
                  </a:rPr>
                  <a:t> 56 </a:t>
                </a:r>
                <a:r>
                  <a:rPr lang="zh-CN" altLang="en-US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  <a:sym typeface="+mn-ea"/>
                  </a:rPr>
                  <a:t>比特，故</a:t>
                </a:r>
                <a:r>
                  <a:rPr lang="zh-CN" altLang="en-US">
                    <a:solidFill>
                      <a:srgbClr val="40404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密钥空间</a:t>
                </a:r>
                <a14:m>
                  <m:oMath xmlns:m="http://schemas.openxmlformats.org/officeDocument/2006/math">
                    <m:r>
                      <a:rPr lang="en-US" altLang="zh-CN" i="1" dirty="0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  <a:sym typeface="+mn-ea"/>
                      </a:rPr>
                      <m:t> </m:t>
                    </m:r>
                    <m:r>
                      <a:rPr lang="en-US" i="1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DejaVu Math TeX Gyre" panose="02000503000000000000" charset="0"/>
                      </a:rPr>
                      <m:t>𝒦</m:t>
                    </m:r>
                    <m:r>
                      <a:rPr lang="en-US" i="1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DejaVu Math TeX Gyre" panose="02000503000000000000" charset="0"/>
                      </a:rPr>
                      <m:t> </m:t>
                    </m:r>
                  </m:oMath>
                </a14:m>
                <a:r>
                  <a:rPr lang="zh-CN" altLang="en-US">
                    <a:solidFill>
                      <a:srgbClr val="40404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为 </a:t>
                </a:r>
                <a:r>
                  <a:rPr lang="zh-CN" altLang="en-US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  <a:sym typeface="+mn-ea"/>
                  </a:rPr>
                  <a:t>{0,1}</a:t>
                </a:r>
                <a:r>
                  <a:rPr lang="en-US" altLang="zh-CN" baseline="3000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  <a:sym typeface="+mn-ea"/>
                  </a:rPr>
                  <a:t>56</a:t>
                </a:r>
                <a:endParaRPr lang="zh-CN" altLang="en-US" b="0" i="0" dirty="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mc:Choice>
        <mc:Fallback xmlns="">
          <p:sp>
            <p:nvSpPr>
              <p:cNvPr id="2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9895" y="2465070"/>
                <a:ext cx="3474720" cy="155448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3"/>
          <p:cNvSpPr txBox="1"/>
          <p:nvPr/>
        </p:nvSpPr>
        <p:spPr>
          <a:xfrm>
            <a:off x="502920" y="828446"/>
            <a:ext cx="11155680" cy="3384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i="0" dirty="0">
                <a:solidFill>
                  <a:srgbClr val="333333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DES </a:t>
            </a:r>
            <a:r>
              <a:rPr lang="zh-CN" altLang="en-US" sz="2200" b="1" i="0" dirty="0">
                <a:solidFill>
                  <a:srgbClr val="333333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的加密算法流程</a:t>
            </a:r>
          </a:p>
        </p:txBody>
      </p:sp>
      <p:sp>
        <p:nvSpPr>
          <p:cNvPr id="11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en-US" altLang="zh-CN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</a:p>
        </p:txBody>
      </p:sp>
      <p:sp>
        <p:nvSpPr>
          <p:cNvPr id="12" name="TextBox 2"/>
          <p:cNvSpPr txBox="1"/>
          <p:nvPr/>
        </p:nvSpPr>
        <p:spPr>
          <a:xfrm>
            <a:off x="1066739" y="219050"/>
            <a:ext cx="4133088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典型分组密码</a:t>
            </a:r>
          </a:p>
        </p:txBody>
      </p:sp>
      <p:cxnSp>
        <p:nvCxnSpPr>
          <p:cNvPr id="13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4641850" y="810260"/>
                <a:ext cx="7044055" cy="5602605"/>
              </a:xfrm>
              <a:prstGeom prst="rect">
                <a:avLst/>
              </a:prstGeom>
              <a:solidFill>
                <a:srgbClr val="F5F5F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64592" tIns="54864" rIns="164592" bIns="54864" rtlCol="0" anchor="t"/>
              <a:lstStyle/>
              <a:p>
                <a:pPr algn="l">
                  <a:lnSpc>
                    <a:spcPct val="112000"/>
                  </a:lnSpc>
                  <a:spcBef>
                    <a:spcPts val="0"/>
                  </a:spcBef>
                  <a:spcAft>
                    <a:spcPts val="500"/>
                  </a:spcAft>
                </a:pPr>
                <a:r>
                  <a:rPr lang="zh-CN" b="1" i="0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加密算法的大致流程：</a:t>
                </a:r>
              </a:p>
              <a:p>
                <a:pPr algn="l">
                  <a:lnSpc>
                    <a:spcPct val="118000"/>
                  </a:lnSpc>
                  <a:spcBef>
                    <a:spcPts val="0"/>
                  </a:spcBef>
                  <a:spcAft>
                    <a:spcPts val="400"/>
                  </a:spcAft>
                </a:pPr>
                <a:r>
                  <a:rPr lang="en-US" altLang="zh-CN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Enc(</a:t>
                </a:r>
                <a:r>
                  <a:rPr lang="en-US" altLang="zh-CN" b="0" i="1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M</a:t>
                </a:r>
                <a:r>
                  <a:rPr lang="en-US" altLang="zh-CN" b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,</a:t>
                </a:r>
                <a:r>
                  <a:rPr lang="en-US" altLang="zh-CN" b="0" i="1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 K</a:t>
                </a:r>
                <a:r>
                  <a:rPr lang="en-US" altLang="zh-CN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) </a:t>
                </a:r>
                <a:r>
                  <a:rPr lang="zh-CN" altLang="en-US" b="0" i="0" dirty="0">
                    <a:solidFill>
                      <a:srgbClr val="40404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算法：该算法输入为明文</a:t>
                </a:r>
                <a:r>
                  <a:rPr lang="en-US" altLang="zh-CN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 </a:t>
                </a:r>
                <a:r>
                  <a:rPr lang="en-US" altLang="zh-CN" b="0" i="1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M</a:t>
                </a:r>
                <a:r>
                  <a:rPr lang="en-US" altLang="zh-CN" b="0" i="0" dirty="0">
                    <a:solidFill>
                      <a:srgbClr val="40404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∈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DejaVu Math TeX Gyre" panose="02000503000000000000" charset="0"/>
                      </a:rPr>
                      <m:t>ℳ</m:t>
                    </m:r>
                  </m:oMath>
                </a14:m>
                <a:r>
                  <a:rPr lang="en-US" altLang="zh-CN" b="0" i="0" dirty="0">
                    <a:solidFill>
                      <a:srgbClr val="40404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</a:t>
                </a:r>
                <a:r>
                  <a:rPr lang="zh-CN" altLang="en-US" b="0" i="0" dirty="0">
                    <a:solidFill>
                      <a:srgbClr val="40404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和密钥</a:t>
                </a:r>
                <a:r>
                  <a:rPr lang="en-US" altLang="zh-CN" b="0" i="0" dirty="0">
                    <a:solidFill>
                      <a:srgbClr val="40404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</a:t>
                </a:r>
                <a:r>
                  <a:rPr lang="en-US" altLang="zh-CN" b="0" i="1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K</a:t>
                </a:r>
                <a:r>
                  <a:rPr lang="en-US" altLang="zh-CN" b="0" i="0" dirty="0">
                    <a:solidFill>
                      <a:srgbClr val="40404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∈</a:t>
                </a:r>
                <a:r>
                  <a:rPr lang="en-US" altLang="zh-CN" dirty="0">
                    <a:solidFill>
                      <a:srgbClr val="40404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DejaVu Math TeX Gyre" panose="02000503000000000000" charset="0"/>
                      </a:rPr>
                      <m:t>𝒦</m:t>
                    </m:r>
                  </m:oMath>
                </a14:m>
                <a:r>
                  <a:rPr lang="en-US" altLang="en-US" b="0" i="0" dirty="0">
                    <a:solidFill>
                      <a:srgbClr val="40404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。</a:t>
                </a:r>
                <a:r>
                  <a:rPr lang="zh-CN" altLang="en-US" b="0" i="0" dirty="0">
                    <a:solidFill>
                      <a:srgbClr val="40404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明文在执行以下操作后转换为密文。</a:t>
                </a:r>
              </a:p>
              <a:p>
                <a:pPr algn="l">
                  <a:lnSpc>
                    <a:spcPct val="118000"/>
                  </a:lnSpc>
                  <a:spcBef>
                    <a:spcPts val="0"/>
                  </a:spcBef>
                  <a:spcAft>
                    <a:spcPts val="400"/>
                  </a:spcAft>
                </a:pPr>
                <a:r>
                  <a:rPr lang="zh-CN" altLang="en-US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（1）对 </a:t>
                </a:r>
                <a:r>
                  <a:rPr lang="en-US" altLang="zh-CN" b="0" i="1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M</a:t>
                </a:r>
                <a:r>
                  <a:rPr lang="en-US" altLang="zh-CN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 </a:t>
                </a:r>
                <a:r>
                  <a:rPr lang="zh-CN" altLang="en-US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进行</a:t>
                </a:r>
                <a:r>
                  <a:rPr lang="en-US" altLang="zh-CN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 </a:t>
                </a:r>
                <a:r>
                  <a:rPr lang="zh-CN" b="1" i="0" dirty="0">
                    <a:solidFill>
                      <a:srgbClr val="C0000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IP</a:t>
                </a:r>
                <a:r>
                  <a:rPr lang="en-US" altLang="zh-CN" b="1" i="0" dirty="0">
                    <a:solidFill>
                      <a:srgbClr val="C0000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 </a:t>
                </a:r>
                <a:r>
                  <a:rPr lang="zh-CN" b="1" i="0" dirty="0">
                    <a:solidFill>
                      <a:srgbClr val="C0000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初始置换</a:t>
                </a:r>
                <a:r>
                  <a:rPr lang="en-US" altLang="zh-CN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，</a:t>
                </a:r>
                <a:r>
                  <a:rPr lang="zh-CN" altLang="en-US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将 64 比特的明文按位置换，得到一个 64 比特消息</a:t>
                </a:r>
                <a:r>
                  <a:rPr lang="en-US" altLang="zh-CN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 </a:t>
                </a:r>
                <a:r>
                  <a:rPr lang="en-US" altLang="zh-CN" b="0" i="1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M</a:t>
                </a:r>
                <a:r>
                  <a:rPr lang="en-US" altLang="zh-CN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′。</a:t>
                </a:r>
              </a:p>
              <a:p>
                <a:pPr algn="l">
                  <a:lnSpc>
                    <a:spcPct val="118000"/>
                  </a:lnSpc>
                  <a:spcBef>
                    <a:spcPts val="0"/>
                  </a:spcBef>
                  <a:spcAft>
                    <a:spcPts val="400"/>
                  </a:spcAft>
                </a:pPr>
                <a:r>
                  <a:rPr lang="zh-CN" altLang="en-US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（2）将</a:t>
                </a:r>
                <a:r>
                  <a:rPr lang="en-US" altLang="zh-CN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 </a:t>
                </a:r>
                <a:r>
                  <a:rPr lang="en-US" altLang="zh-CN" b="0" i="1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M</a:t>
                </a:r>
                <a:r>
                  <a:rPr lang="en-US" altLang="zh-CN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′ </a:t>
                </a:r>
                <a:r>
                  <a:rPr lang="zh-CN" altLang="en-US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分为左右两部分 </a:t>
                </a:r>
                <a:r>
                  <a:rPr lang="en-US" altLang="zh-CN" b="0" i="1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L</a:t>
                </a:r>
                <a:r>
                  <a:rPr lang="en-US" altLang="zh-CN" b="0" i="0" baseline="-2500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0</a:t>
                </a:r>
                <a:r>
                  <a:rPr lang="en-US" altLang="zh-CN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 </a:t>
                </a:r>
                <a:r>
                  <a:rPr lang="zh-CN" altLang="en-US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与 </a:t>
                </a:r>
                <a:r>
                  <a:rPr lang="en-US" altLang="zh-CN" b="0" i="1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R</a:t>
                </a:r>
                <a:r>
                  <a:rPr lang="en-US" altLang="zh-CN" b="0" i="0" baseline="-2500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0</a:t>
                </a:r>
                <a:r>
                  <a:rPr lang="en-US" altLang="zh-CN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，</a:t>
                </a:r>
                <a:r>
                  <a:rPr lang="zh-CN" altLang="en-US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分别为</a:t>
                </a:r>
                <a:r>
                  <a:rPr lang="en-US" altLang="zh-CN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 </a:t>
                </a:r>
                <a:r>
                  <a:rPr lang="en-US" altLang="zh-CN" b="0" i="1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M</a:t>
                </a:r>
                <a:r>
                  <a:rPr lang="en-US" altLang="zh-CN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′ </a:t>
                </a:r>
                <a:r>
                  <a:rPr lang="zh-CN" altLang="en-US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的前</a:t>
                </a:r>
                <a:r>
                  <a:rPr lang="en-US" altLang="zh-CN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 </a:t>
                </a:r>
                <a:r>
                  <a:rPr lang="zh-CN" altLang="en-US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32</a:t>
                </a:r>
                <a:r>
                  <a:rPr lang="en-US" altLang="zh-CN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 </a:t>
                </a:r>
                <a:r>
                  <a:rPr lang="zh-CN" altLang="en-US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比特和后</a:t>
                </a:r>
                <a:r>
                  <a:rPr lang="en-US" altLang="zh-CN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 </a:t>
                </a:r>
                <a:r>
                  <a:rPr lang="zh-CN" altLang="en-US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32</a:t>
                </a:r>
                <a:r>
                  <a:rPr lang="en-US" altLang="zh-CN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 </a:t>
                </a:r>
                <a:r>
                  <a:rPr lang="zh-CN" altLang="en-US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比特。</a:t>
                </a:r>
              </a:p>
              <a:p>
                <a:pPr algn="l">
                  <a:lnSpc>
                    <a:spcPct val="118000"/>
                  </a:lnSpc>
                  <a:spcBef>
                    <a:spcPts val="0"/>
                  </a:spcBef>
                  <a:spcAft>
                    <a:spcPts val="400"/>
                  </a:spcAft>
                </a:pPr>
                <a:r>
                  <a:rPr lang="zh-CN" altLang="en-US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（3）对 </a:t>
                </a:r>
                <a:r>
                  <a:rPr lang="en-US" altLang="zh-CN" b="0" i="1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L</a:t>
                </a:r>
                <a:r>
                  <a:rPr lang="en-US" altLang="zh-CN" b="0" i="0" baseline="-2500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0</a:t>
                </a:r>
                <a:r>
                  <a:rPr lang="en-US" altLang="zh-CN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 </a:t>
                </a:r>
                <a:r>
                  <a:rPr lang="zh-CN" altLang="en-US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和 </a:t>
                </a:r>
                <a:r>
                  <a:rPr lang="en-US" altLang="zh-CN" b="0" i="1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R</a:t>
                </a:r>
                <a:r>
                  <a:rPr lang="en-US" altLang="zh-CN" b="0" i="0" baseline="-2500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0</a:t>
                </a:r>
                <a:r>
                  <a:rPr lang="en-US" altLang="zh-CN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 </a:t>
                </a:r>
                <a:r>
                  <a:rPr lang="zh-CN" altLang="en-US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进行 16 轮迭代运算，最终在 </a:t>
                </a:r>
                <a:r>
                  <a:rPr lang="zh-CN" b="1" i="0" dirty="0">
                    <a:solidFill>
                      <a:srgbClr val="C0000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轮函数 </a:t>
                </a:r>
                <a:r>
                  <a:rPr lang="zh-CN" b="1" i="1" dirty="0">
                    <a:solidFill>
                      <a:srgbClr val="C0000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F</a:t>
                </a:r>
                <a:r>
                  <a:rPr lang="zh-CN" b="1" i="0" dirty="0">
                    <a:solidFill>
                      <a:srgbClr val="C0000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 </a:t>
                </a:r>
                <a:r>
                  <a:rPr lang="zh-CN" altLang="en-US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的作用下得到 </a:t>
                </a:r>
                <a:r>
                  <a:rPr lang="en-US" altLang="zh-CN" b="0" i="1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L</a:t>
                </a:r>
                <a:r>
                  <a:rPr lang="en-US" altLang="zh-CN" b="0" i="0" baseline="-2500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16</a:t>
                </a:r>
                <a:r>
                  <a:rPr lang="en-US" altLang="zh-CN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 </a:t>
                </a:r>
                <a:r>
                  <a:rPr lang="zh-CN" altLang="en-US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和 </a:t>
                </a:r>
                <a:r>
                  <a:rPr lang="en-US" altLang="zh-CN" b="0" i="1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R</a:t>
                </a:r>
                <a:r>
                  <a:rPr lang="en-US" altLang="zh-CN" b="0" i="0" baseline="-2500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16</a:t>
                </a:r>
                <a:r>
                  <a:rPr lang="en-US" altLang="zh-CN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 。</a:t>
                </a:r>
                <a:r>
                  <a:rPr lang="zh-CN" altLang="en-US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每轮迭代运算过程如下。</a:t>
                </a:r>
              </a:p>
              <a:p>
                <a:pPr algn="ctr">
                  <a:lnSpc>
                    <a:spcPct val="118000"/>
                  </a:lnSpc>
                  <a:spcBef>
                    <a:spcPts val="0"/>
                  </a:spcBef>
                  <a:spcAft>
                    <a:spcPts val="400"/>
                  </a:spcAft>
                </a:pPr>
                <a:r>
                  <a:rPr lang="en-US" altLang="zh-CN" b="0" i="1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L</a:t>
                </a:r>
                <a:r>
                  <a:rPr lang="en-US" altLang="zh-CN" b="0" i="0" baseline="-2500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n</a:t>
                </a:r>
                <a:r>
                  <a:rPr lang="en-US" altLang="zh-CN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 = </a:t>
                </a:r>
                <a:r>
                  <a:rPr lang="en-US" altLang="zh-CN" b="0" i="1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R</a:t>
                </a:r>
                <a:r>
                  <a:rPr lang="en-US" altLang="zh-CN" b="0" i="0" baseline="-2500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n-1</a:t>
                </a:r>
                <a:r>
                  <a:rPr lang="en-US" altLang="zh-CN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 </a:t>
                </a:r>
                <a:r>
                  <a:rPr lang="zh-CN" altLang="en-US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，</a:t>
                </a:r>
                <a:r>
                  <a:rPr lang="en-US" altLang="zh-CN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 </a:t>
                </a:r>
                <a:r>
                  <a:rPr lang="en-US" altLang="zh-CN" b="0" i="1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R</a:t>
                </a:r>
                <a:r>
                  <a:rPr lang="en-US" altLang="zh-CN" b="0" i="0" baseline="-2500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n</a:t>
                </a:r>
                <a:r>
                  <a:rPr lang="en-US" altLang="zh-CN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 = </a:t>
                </a:r>
                <a:r>
                  <a:rPr lang="en-US" altLang="zh-CN" b="0" i="1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L</a:t>
                </a:r>
                <a:r>
                  <a:rPr lang="en-US" altLang="zh-CN" b="0" i="0" baseline="-2500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n-1</a:t>
                </a:r>
                <a:r>
                  <a:rPr lang="en-US" altLang="zh-CN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 ⊕ </a:t>
                </a:r>
                <a:r>
                  <a:rPr lang="en-US" altLang="zh-CN" b="0" i="1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F</a:t>
                </a:r>
                <a:r>
                  <a:rPr lang="en-US" altLang="zh-CN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(</a:t>
                </a:r>
                <a:r>
                  <a:rPr lang="en-US" altLang="zh-CN" b="0" i="1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R</a:t>
                </a:r>
                <a:r>
                  <a:rPr lang="en-US" altLang="zh-CN" b="0" i="0" baseline="-2500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n-1</a:t>
                </a:r>
                <a:r>
                  <a:rPr lang="en-US" altLang="zh-CN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, </a:t>
                </a:r>
                <a:r>
                  <a:rPr lang="en-US" altLang="zh-CN" b="0" i="1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K</a:t>
                </a:r>
                <a:r>
                  <a:rPr lang="en-US" altLang="zh-CN" b="0" i="0" baseline="-2500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i</a:t>
                </a:r>
                <a:r>
                  <a:rPr lang="en-US" altLang="zh-CN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)</a:t>
                </a:r>
              </a:p>
              <a:p>
                <a:pPr algn="l">
                  <a:lnSpc>
                    <a:spcPct val="118000"/>
                  </a:lnSpc>
                  <a:spcBef>
                    <a:spcPts val="0"/>
                  </a:spcBef>
                  <a:spcAft>
                    <a:spcPts val="400"/>
                  </a:spcAft>
                </a:pPr>
                <a:r>
                  <a:rPr lang="zh-CN" altLang="en-US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这里的 </a:t>
                </a:r>
                <a:r>
                  <a:rPr lang="en-US" altLang="zh-CN" b="0" i="1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K</a:t>
                </a:r>
                <a:r>
                  <a:rPr lang="en-US" altLang="zh-CN" b="0" i="0" baseline="-2500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i</a:t>
                </a:r>
                <a:r>
                  <a:rPr lang="en-US" altLang="zh-CN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 </a:t>
                </a:r>
                <a:r>
                  <a:rPr lang="zh-CN" altLang="en-US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是基于密钥 </a:t>
                </a:r>
                <a:r>
                  <a:rPr lang="en-US" altLang="zh-CN" b="0" i="1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K</a:t>
                </a:r>
                <a:r>
                  <a:rPr lang="en-US" altLang="zh-CN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 </a:t>
                </a:r>
                <a:r>
                  <a:rPr lang="zh-CN" altLang="en-US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和密钥扩展算法生成的第 </a:t>
                </a:r>
                <a:r>
                  <a:rPr lang="en-US" altLang="zh-CN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n </a:t>
                </a:r>
                <a:r>
                  <a:rPr lang="zh-CN" altLang="en-US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轮迭代时所使用的 48 比特密钥，也叫轮密钥；</a:t>
                </a:r>
              </a:p>
              <a:p>
                <a:pPr algn="l">
                  <a:lnSpc>
                    <a:spcPct val="118000"/>
                  </a:lnSpc>
                  <a:spcBef>
                    <a:spcPts val="0"/>
                  </a:spcBef>
                  <a:spcAft>
                    <a:spcPts val="400"/>
                  </a:spcAft>
                </a:pPr>
                <a:r>
                  <a:rPr lang="zh-CN" altLang="en-US" b="1" i="0" dirty="0">
                    <a:solidFill>
                      <a:srgbClr val="C0000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轮函数 </a:t>
                </a:r>
                <a:r>
                  <a:rPr lang="zh-CN" altLang="en-US" b="1" i="1" dirty="0">
                    <a:solidFill>
                      <a:srgbClr val="C0000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F</a:t>
                </a:r>
                <a:r>
                  <a:rPr lang="en-US" altLang="zh-CN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 </a:t>
                </a:r>
                <a:r>
                  <a:rPr lang="zh-CN" altLang="en-US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是由</a:t>
                </a:r>
                <a:r>
                  <a:rPr lang="en-US" altLang="zh-CN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 </a:t>
                </a:r>
                <a:r>
                  <a:rPr lang="en-US" altLang="zh-CN" b="1" i="0" dirty="0">
                    <a:solidFill>
                      <a:srgbClr val="C0000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E </a:t>
                </a:r>
                <a:r>
                  <a:rPr lang="zh-CN" altLang="en-US" b="1" i="0" dirty="0">
                    <a:solidFill>
                      <a:srgbClr val="C0000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扩展</a:t>
                </a:r>
                <a:r>
                  <a:rPr lang="zh-CN" altLang="en-US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、</a:t>
                </a:r>
                <a:r>
                  <a:rPr lang="zh-CN" b="1" i="0" dirty="0">
                    <a:solidFill>
                      <a:srgbClr val="C0000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与子密钥异或</a:t>
                </a:r>
                <a:r>
                  <a:rPr lang="zh-CN" altLang="en-US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、</a:t>
                </a:r>
                <a:r>
                  <a:rPr lang="zh-CN" b="1" i="0" dirty="0">
                    <a:solidFill>
                      <a:srgbClr val="C0000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S 盒代换</a:t>
                </a:r>
                <a:r>
                  <a:rPr lang="en-US" altLang="zh-CN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 </a:t>
                </a:r>
                <a:r>
                  <a:rPr lang="zh-CN" altLang="en-US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和 </a:t>
                </a:r>
                <a:r>
                  <a:rPr lang="zh-CN" b="1" i="0" dirty="0">
                    <a:solidFill>
                      <a:srgbClr val="C0000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P 盒置换</a:t>
                </a:r>
                <a:r>
                  <a:rPr lang="en-US" altLang="zh-CN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 </a:t>
                </a:r>
                <a:r>
                  <a:rPr lang="zh-CN" altLang="en-US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4 部分运算构成的函数，其输入是 </a:t>
                </a:r>
                <a:r>
                  <a:rPr lang="en-US" altLang="zh-CN" b="0" i="1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R</a:t>
                </a:r>
                <a:r>
                  <a:rPr lang="en-US" altLang="zh-CN" b="0" i="0" baseline="-2500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n−1</a:t>
                </a:r>
                <a:r>
                  <a:rPr lang="en-US" altLang="zh-CN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 </a:t>
                </a:r>
                <a:r>
                  <a:rPr lang="zh-CN" altLang="en-US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和</a:t>
                </a:r>
                <a:r>
                  <a:rPr lang="en-US" altLang="zh-CN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 </a:t>
                </a:r>
                <a:r>
                  <a:rPr lang="en-US" altLang="zh-CN" i="1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  <a:sym typeface="+mn-ea"/>
                  </a:rPr>
                  <a:t>K</a:t>
                </a:r>
                <a:r>
                  <a:rPr lang="en-US" altLang="zh-CN" baseline="-2500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  <a:sym typeface="+mn-ea"/>
                  </a:rPr>
                  <a:t>i </a:t>
                </a:r>
                <a:r>
                  <a:rPr lang="en-US" altLang="zh-CN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，</a:t>
                </a:r>
                <a:r>
                  <a:rPr lang="zh-CN" altLang="en-US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输出为一个 32 比特的值。</a:t>
                </a:r>
              </a:p>
              <a:p>
                <a:pPr algn="l">
                  <a:lnSpc>
                    <a:spcPct val="118000"/>
                  </a:lnSpc>
                  <a:spcBef>
                    <a:spcPts val="0"/>
                  </a:spcBef>
                  <a:spcAft>
                    <a:spcPts val="400"/>
                  </a:spcAft>
                </a:pPr>
                <a:r>
                  <a:rPr lang="zh-CN" altLang="en-US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（4）将 </a:t>
                </a:r>
                <a:r>
                  <a:rPr lang="en-US" altLang="zh-CN" b="0" i="1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L</a:t>
                </a:r>
                <a:r>
                  <a:rPr lang="en-US" altLang="zh-CN" b="0" i="0" baseline="-2500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16</a:t>
                </a:r>
                <a:r>
                  <a:rPr lang="en-US" altLang="zh-CN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 </a:t>
                </a:r>
                <a:r>
                  <a:rPr lang="zh-CN" altLang="en-US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和 </a:t>
                </a:r>
                <a:r>
                  <a:rPr lang="en-US" altLang="zh-CN" b="0" i="1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R</a:t>
                </a:r>
                <a:r>
                  <a:rPr lang="en-US" altLang="zh-CN" b="0" i="0" baseline="-2500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16</a:t>
                </a:r>
                <a:r>
                  <a:rPr lang="en-US" altLang="zh-CN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 </a:t>
                </a:r>
                <a:r>
                  <a:rPr lang="zh-CN" altLang="en-US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进行左右交换，得到 </a:t>
                </a:r>
                <a:r>
                  <a:rPr lang="en-US" altLang="zh-CN" b="0" i="1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R</a:t>
                </a:r>
                <a:r>
                  <a:rPr lang="en-US" altLang="zh-CN" b="0" i="0" baseline="-2500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16</a:t>
                </a:r>
                <a:r>
                  <a:rPr lang="en-US" altLang="zh-CN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 ‖ </a:t>
                </a:r>
                <a:r>
                  <a:rPr lang="en-US" altLang="zh-CN" b="0" i="1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L</a:t>
                </a:r>
                <a:r>
                  <a:rPr lang="en-US" altLang="zh-CN" b="0" i="0" baseline="-2500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16 </a:t>
                </a:r>
                <a:r>
                  <a:rPr lang="en-US" altLang="zh-CN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。</a:t>
                </a:r>
                <a:r>
                  <a:rPr lang="zh-CN" altLang="en-US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对该值进行</a:t>
                </a:r>
                <a:r>
                  <a:rPr lang="en-US" altLang="zh-CN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 </a:t>
                </a:r>
                <a:r>
                  <a:rPr lang="zh-CN" b="1" i="0" dirty="0">
                    <a:solidFill>
                      <a:srgbClr val="C0000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IP</a:t>
                </a:r>
                <a:r>
                  <a:rPr lang="zh-CN" b="1" i="0" baseline="30000" dirty="0">
                    <a:solidFill>
                      <a:srgbClr val="C0000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-1</a:t>
                </a:r>
                <a:r>
                  <a:rPr lang="en-US" altLang="zh-CN" b="1" i="0" baseline="30000" dirty="0">
                    <a:solidFill>
                      <a:srgbClr val="C0000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 </a:t>
                </a:r>
                <a:r>
                  <a:rPr lang="zh-CN" altLang="en-US" b="1" dirty="0">
                    <a:solidFill>
                      <a:srgbClr val="C0000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末</a:t>
                </a:r>
                <a:r>
                  <a:rPr lang="zh-CN" b="1" i="0" dirty="0">
                    <a:solidFill>
                      <a:srgbClr val="C0000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置换</a:t>
                </a:r>
                <a:r>
                  <a:rPr lang="zh-CN" altLang="en-US" b="1" i="0" dirty="0">
                    <a:solidFill>
                      <a:srgbClr val="C0000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（逆初始置换）</a:t>
                </a:r>
                <a:r>
                  <a:rPr lang="en-US" altLang="zh-CN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，</a:t>
                </a:r>
                <a:r>
                  <a:rPr lang="zh-CN" altLang="en-US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得到密文</a:t>
                </a:r>
                <a:r>
                  <a:rPr lang="en-US" altLang="zh-CN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 </a:t>
                </a:r>
                <a:r>
                  <a:rPr lang="en-US" altLang="zh-CN" b="0" i="1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C</a:t>
                </a:r>
                <a:r>
                  <a:rPr lang="en-US" altLang="zh-CN" b="0" i="0" dirty="0">
                    <a:solidFill>
                      <a:srgbClr val="40404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。</a:t>
                </a:r>
                <a:endParaRPr b="0" i="0" dirty="0">
                  <a:solidFill>
                    <a:srgbClr val="404040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1850" y="810260"/>
                <a:ext cx="7044055" cy="5602605"/>
              </a:xfrm>
              <a:prstGeom prst="rect">
                <a:avLst/>
              </a:prstGeom>
              <a:blipFill rotWithShape="1">
                <a:blip r:embed="rId3"/>
                <a:stretch>
                  <a:fillRect b="-465"/>
                </a:stretch>
              </a:blip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269365"/>
            <a:ext cx="3952875" cy="50114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3"/>
          <p:cNvSpPr txBox="1"/>
          <p:nvPr/>
        </p:nvSpPr>
        <p:spPr>
          <a:xfrm>
            <a:off x="502920" y="828446"/>
            <a:ext cx="11155680" cy="3384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i="0" dirty="0">
                <a:solidFill>
                  <a:srgbClr val="333333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IP </a:t>
            </a:r>
            <a:r>
              <a:rPr lang="zh-CN" altLang="en-US" sz="2200" b="1" i="0" dirty="0">
                <a:solidFill>
                  <a:srgbClr val="333333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置换（</a:t>
            </a:r>
            <a:r>
              <a:rPr lang="en-US" altLang="zh-CN" sz="2200" b="1" i="0" dirty="0">
                <a:solidFill>
                  <a:srgbClr val="333333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Initial Permutation</a:t>
            </a:r>
            <a:r>
              <a:rPr lang="zh-CN" altLang="en-US" sz="2200" b="1" i="0" dirty="0">
                <a:solidFill>
                  <a:srgbClr val="333333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）与</a:t>
            </a:r>
            <a:r>
              <a:rPr lang="en-US" altLang="zh-CN" sz="2200" b="1" i="0" dirty="0">
                <a:solidFill>
                  <a:srgbClr val="333333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IP</a:t>
            </a:r>
            <a:r>
              <a:rPr lang="en-US" altLang="zh-CN" sz="2200" b="1" i="0" baseline="30000" dirty="0">
                <a:solidFill>
                  <a:srgbClr val="333333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-1 </a:t>
            </a:r>
            <a:r>
              <a:rPr lang="zh-CN" altLang="en-US" sz="2200" b="1" i="0" dirty="0">
                <a:solidFill>
                  <a:srgbClr val="333333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末置换（</a:t>
            </a:r>
            <a:r>
              <a:rPr lang="en-US" altLang="zh-CN" sz="2200" b="1" i="0" dirty="0">
                <a:solidFill>
                  <a:srgbClr val="333333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Final Permutation</a:t>
            </a:r>
            <a:r>
              <a:rPr lang="zh-CN" altLang="en-US" sz="2200" b="1" i="0" dirty="0">
                <a:solidFill>
                  <a:srgbClr val="333333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）</a:t>
            </a:r>
            <a:endParaRPr lang="en-US" altLang="zh-CN" sz="2200" b="1" i="0" dirty="0">
              <a:solidFill>
                <a:srgbClr val="333333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1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en-US" altLang="zh-CN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</a:p>
        </p:txBody>
      </p:sp>
      <p:sp>
        <p:nvSpPr>
          <p:cNvPr id="12" name="TextBox 2"/>
          <p:cNvSpPr txBox="1"/>
          <p:nvPr/>
        </p:nvSpPr>
        <p:spPr>
          <a:xfrm>
            <a:off x="1066739" y="219050"/>
            <a:ext cx="4133088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典型分组密码</a:t>
            </a:r>
          </a:p>
        </p:txBody>
      </p:sp>
      <p:cxnSp>
        <p:nvCxnSpPr>
          <p:cNvPr id="13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5"/>
          <p:cNvSpPr/>
          <p:nvPr/>
        </p:nvSpPr>
        <p:spPr>
          <a:xfrm>
            <a:off x="730885" y="1365885"/>
            <a:ext cx="10790555" cy="5600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182880" rIns="13716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IP 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置换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zh-CN" altLang="en-US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是按照左表的置换规则，将原来的</a:t>
            </a:r>
            <a:r>
              <a:rPr lang="en-US" alt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64 </a:t>
            </a:r>
            <a:r>
              <a:rPr lang="zh-CN" altLang="en-US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位二进制位重新排序。</a:t>
            </a:r>
          </a:p>
        </p:txBody>
      </p:sp>
      <p:sp>
        <p:nvSpPr>
          <p:cNvPr id="3" name="Rectangle 5"/>
          <p:cNvSpPr/>
          <p:nvPr/>
        </p:nvSpPr>
        <p:spPr>
          <a:xfrm>
            <a:off x="730885" y="2082800"/>
            <a:ext cx="10790555" cy="5600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182880" rIns="13716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IP</a:t>
            </a:r>
            <a:r>
              <a:rPr lang="en-US" altLang="zh-CN" b="1" baseline="30000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-1 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末置换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zh-CN" altLang="en-US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是按照右表的置换规则，将原来的</a:t>
            </a:r>
            <a:r>
              <a:rPr lang="en-US" alt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64 </a:t>
            </a:r>
            <a:r>
              <a:rPr lang="zh-CN" altLang="en-US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位二进制位重新排序。</a:t>
            </a:r>
            <a:endParaRPr lang="zh-CN" altLang="en-US" b="1" dirty="0">
              <a:solidFill>
                <a:srgbClr val="C0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7" name="Rectangle 5"/>
          <p:cNvSpPr/>
          <p:nvPr/>
        </p:nvSpPr>
        <p:spPr>
          <a:xfrm>
            <a:off x="731520" y="2820670"/>
            <a:ext cx="10790555" cy="5600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182880" rIns="13716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二者关系：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zh-CN" altLang="en-US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对任意</a:t>
            </a:r>
            <a:r>
              <a:rPr lang="en-US" alt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64 bit </a:t>
            </a:r>
            <a:r>
              <a:rPr lang="zh-CN" altLang="en-US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分组</a:t>
            </a:r>
            <a:r>
              <a:rPr lang="en-US" alt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i="1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X</a:t>
            </a:r>
            <a:r>
              <a:rPr lang="zh-CN" altLang="en-US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，都有</a:t>
            </a:r>
            <a:r>
              <a:rPr lang="en-US" alt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IP</a:t>
            </a:r>
            <a:r>
              <a:rPr lang="en-US" altLang="zh-CN" baseline="30000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-1</a:t>
            </a:r>
            <a:r>
              <a:rPr lang="en-US" alt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(IP(</a:t>
            </a:r>
            <a:r>
              <a:rPr lang="en-US" altLang="zh-CN" i="1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X</a:t>
            </a:r>
            <a:r>
              <a:rPr lang="en-US" alt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)) = </a:t>
            </a:r>
            <a:r>
              <a:rPr lang="en-US" altLang="zh-CN" i="1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X</a:t>
            </a:r>
          </a:p>
        </p:txBody>
      </p:sp>
      <p:graphicFrame>
        <p:nvGraphicFramePr>
          <p:cNvPr id="24" name="IP初始置换表_可编辑"/>
          <p:cNvGraphicFramePr>
            <a:graphicFrameLocks noGrp="1"/>
          </p:cNvGraphicFramePr>
          <p:nvPr/>
        </p:nvGraphicFramePr>
        <p:xfrm>
          <a:off x="726440" y="3558540"/>
          <a:ext cx="5204460" cy="2682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05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05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05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05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05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05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05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05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240">
                <a:tc gridSpan="8">
                  <a:txBody>
                    <a:bodyPr/>
                    <a:lstStyle/>
                    <a:p>
                      <a:pPr algn="ctr"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Initial Permutation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58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50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42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34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26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18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10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2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60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52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44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36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28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20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12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4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62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54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46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38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30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22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14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6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64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56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48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40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32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24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16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8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57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49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41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33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25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17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9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59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51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43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35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27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19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11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3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61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53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45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37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29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21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13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5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63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55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47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39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31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23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15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7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25" name="IP逆置换表_可编辑"/>
          <p:cNvGraphicFramePr>
            <a:graphicFrameLocks noGrp="1"/>
          </p:cNvGraphicFramePr>
          <p:nvPr/>
        </p:nvGraphicFramePr>
        <p:xfrm>
          <a:off x="6317615" y="3558540"/>
          <a:ext cx="5204460" cy="2682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05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05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05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05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05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05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05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05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240">
                <a:tc gridSpan="8">
                  <a:txBody>
                    <a:bodyPr/>
                    <a:lstStyle/>
                    <a:p>
                      <a:pPr algn="ctr"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Final Permutation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40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8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48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16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56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24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64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32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39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7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47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15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55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23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63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31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38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6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46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14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54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22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62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30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37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5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45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13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53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21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61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29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36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4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44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12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52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20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60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28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35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3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43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11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51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19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59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27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34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2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42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10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50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18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58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26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33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41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9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49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17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57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25</a:t>
                      </a:r>
                    </a:p>
                  </a:txBody>
                  <a:tcPr marL="12700" marR="12700" marT="12700" marB="12700" anchor="ctr">
                    <a:lnL w="8890">
                      <a:solidFill>
                        <a:srgbClr val="777777"/>
                      </a:solidFill>
                      <a:prstDash val="solid"/>
                    </a:lnL>
                    <a:lnR w="8890">
                      <a:solidFill>
                        <a:srgbClr val="777777"/>
                      </a:solidFill>
                      <a:prstDash val="solid"/>
                    </a:lnR>
                    <a:lnT w="8890">
                      <a:solidFill>
                        <a:srgbClr val="777777"/>
                      </a:solidFill>
                      <a:prstDash val="solid"/>
                    </a:lnT>
                    <a:lnB w="8890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en-US" altLang="zh-CN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</a:p>
        </p:txBody>
      </p:sp>
      <p:sp>
        <p:nvSpPr>
          <p:cNvPr id="12" name="TextBox 2"/>
          <p:cNvSpPr txBox="1"/>
          <p:nvPr/>
        </p:nvSpPr>
        <p:spPr>
          <a:xfrm>
            <a:off x="1066739" y="219050"/>
            <a:ext cx="4133088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典型分组密码</a:t>
            </a:r>
          </a:p>
        </p:txBody>
      </p:sp>
      <p:cxnSp>
        <p:nvCxnSpPr>
          <p:cNvPr id="13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页标题"/>
          <p:cNvSpPr txBox="1"/>
          <p:nvPr/>
        </p:nvSpPr>
        <p:spPr>
          <a:xfrm>
            <a:off x="502920" y="827532"/>
            <a:ext cx="11155680" cy="384048"/>
          </a:xfrm>
          <a:prstGeom prst="rect">
            <a:avLst/>
          </a:prstGeom>
          <a:noFill/>
        </p:spPr>
        <p:txBody>
          <a:bodyPr wrap="square" lIns="13716" tIns="0" rIns="13716" bIns="0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 i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DES 轮函数 </a:t>
            </a:r>
            <a:r>
              <a:rPr lang="zh-CN" sz="2200" b="1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</a:t>
            </a:r>
            <a:r>
              <a:rPr lang="zh-CN" sz="2200" b="1" i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（1/4）—— 扩展置换 E</a:t>
            </a:r>
          </a:p>
        </p:txBody>
      </p:sp>
      <p:sp>
        <p:nvSpPr>
          <p:cNvPr id="15" name="流程导航_1">
            <a:hlinkClick r:id="rId3" action="ppaction://hlinksldjump"/>
          </p:cNvPr>
          <p:cNvSpPr/>
          <p:nvPr/>
        </p:nvSpPr>
        <p:spPr>
          <a:xfrm>
            <a:off x="731520" y="1344168"/>
            <a:ext cx="2660904" cy="374904"/>
          </a:xfrm>
          <a:prstGeom prst="chevron">
            <a:avLst>
              <a:gd name="adj" fmla="val 14000"/>
            </a:avLst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46304" bIns="0" rtlCol="0" anchor="ctr">
            <a:noAutofit/>
          </a:bodyPr>
          <a:lstStyle/>
          <a:p>
            <a:pPr algn="ctr"/>
            <a:r>
              <a:rPr lang="zh-CN" sz="1800" b="1" i="0">
                <a:solidFill>
                  <a:srgbClr val="FFFF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E 扩展</a:t>
            </a:r>
          </a:p>
        </p:txBody>
      </p:sp>
      <p:sp>
        <p:nvSpPr>
          <p:cNvPr id="16" name="流程导航_2">
            <a:hlinkClick r:id="rId4" action="ppaction://hlinksldjump"/>
          </p:cNvPr>
          <p:cNvSpPr/>
          <p:nvPr/>
        </p:nvSpPr>
        <p:spPr>
          <a:xfrm>
            <a:off x="3442715" y="1344168"/>
            <a:ext cx="2660904" cy="374904"/>
          </a:xfrm>
          <a:prstGeom prst="chevron">
            <a:avLst>
              <a:gd name="adj" fmla="val 14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46304" bIns="0" rtlCol="0" anchor="ctr">
            <a:noAutofit/>
          </a:bodyPr>
          <a:lstStyle/>
          <a:p>
            <a:pPr algn="ctr"/>
            <a:r>
              <a:rPr lang="zh-CN" sz="1800" b="0" i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与子密钥异或</a:t>
            </a:r>
          </a:p>
        </p:txBody>
      </p:sp>
      <p:sp>
        <p:nvSpPr>
          <p:cNvPr id="17" name="流程导航_3">
            <a:hlinkClick r:id="rId5" action="ppaction://hlinksldjump"/>
          </p:cNvPr>
          <p:cNvSpPr/>
          <p:nvPr/>
        </p:nvSpPr>
        <p:spPr>
          <a:xfrm>
            <a:off x="6153912" y="1344168"/>
            <a:ext cx="2660904" cy="374904"/>
          </a:xfrm>
          <a:prstGeom prst="chevron">
            <a:avLst>
              <a:gd name="adj" fmla="val 14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46304" bIns="0" rtlCol="0" anchor="ctr">
            <a:noAutofit/>
          </a:bodyPr>
          <a:lstStyle/>
          <a:p>
            <a:pPr algn="ctr"/>
            <a:r>
              <a:rPr lang="zh-CN" sz="1800" b="0" i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 盒代换</a:t>
            </a:r>
          </a:p>
        </p:txBody>
      </p:sp>
      <p:sp>
        <p:nvSpPr>
          <p:cNvPr id="18" name="流程导航_4">
            <a:hlinkClick r:id="rId6" action="ppaction://hlinksldjump"/>
          </p:cNvPr>
          <p:cNvSpPr/>
          <p:nvPr/>
        </p:nvSpPr>
        <p:spPr>
          <a:xfrm>
            <a:off x="8865108" y="1344168"/>
            <a:ext cx="2660904" cy="374904"/>
          </a:xfrm>
          <a:prstGeom prst="chevron">
            <a:avLst>
              <a:gd name="adj" fmla="val 14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46304" bIns="0" rtlCol="0" anchor="ctr">
            <a:noAutofit/>
          </a:bodyPr>
          <a:lstStyle/>
          <a:p>
            <a:pPr algn="ctr"/>
            <a:r>
              <a:rPr lang="zh-CN" sz="1800" b="0" i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P 盒置换</a:t>
            </a:r>
          </a:p>
        </p:txBody>
      </p:sp>
      <p:sp>
        <p:nvSpPr>
          <p:cNvPr id="19" name="内容底色_1"/>
          <p:cNvSpPr/>
          <p:nvPr/>
        </p:nvSpPr>
        <p:spPr>
          <a:xfrm>
            <a:off x="6918960" y="2580005"/>
            <a:ext cx="4593590" cy="266573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b="1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E 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扩展表的读法</a:t>
            </a:r>
            <a:r>
              <a:rPr 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：</a:t>
            </a:r>
          </a:p>
          <a:p>
            <a:pPr algn="l"/>
            <a:endParaRPr lang="zh-CN" dirty="0">
              <a:solidFill>
                <a:srgbClr val="40404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algn="l"/>
            <a:r>
              <a:rPr 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表中数字是输入位的序号，我们把 32 位分成 8 组，每组 4 位；</a:t>
            </a:r>
          </a:p>
          <a:p>
            <a:pPr algn="l"/>
            <a:endParaRPr lang="zh-CN" dirty="0">
              <a:solidFill>
                <a:srgbClr val="40404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algn="l"/>
            <a:r>
              <a:rPr 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每组左、右各补一个相邻位，形成 6 位。第 32 位与第 1 位按首尾相邻处理。</a:t>
            </a:r>
          </a:p>
          <a:p>
            <a:pPr algn="l"/>
            <a:endParaRPr lang="zh-CN" dirty="0">
              <a:solidFill>
                <a:srgbClr val="40404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algn="l"/>
            <a:r>
              <a:rPr lang="zh-CN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第一组：(</a:t>
            </a:r>
            <a:r>
              <a:rPr lang="zh-CN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r</a:t>
            </a:r>
            <a:r>
              <a:rPr lang="zh-CN" baseline="-23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1</a:t>
            </a:r>
            <a:r>
              <a:rPr lang="zh-CN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zh-CN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r</a:t>
            </a:r>
            <a:r>
              <a:rPr lang="zh-CN" baseline="-23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2</a:t>
            </a:r>
            <a:r>
              <a:rPr lang="zh-CN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zh-CN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r</a:t>
            </a:r>
            <a:r>
              <a:rPr lang="zh-CN" baseline="-23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3</a:t>
            </a:r>
            <a:r>
              <a:rPr lang="zh-CN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zh-CN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r</a:t>
            </a:r>
            <a:r>
              <a:rPr lang="zh-CN" baseline="-23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4</a:t>
            </a:r>
            <a:r>
              <a:rPr lang="zh-CN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) → (</a:t>
            </a:r>
            <a:r>
              <a:rPr lang="zh-CN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r</a:t>
            </a:r>
            <a:r>
              <a:rPr lang="zh-CN" baseline="-23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32</a:t>
            </a:r>
            <a:r>
              <a:rPr lang="zh-CN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zh-CN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r</a:t>
            </a:r>
            <a:r>
              <a:rPr lang="zh-CN" baseline="-23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1</a:t>
            </a:r>
            <a:r>
              <a:rPr lang="zh-CN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zh-CN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r</a:t>
            </a:r>
            <a:r>
              <a:rPr lang="zh-CN" baseline="-23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2</a:t>
            </a:r>
            <a:r>
              <a:rPr lang="zh-CN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zh-CN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r</a:t>
            </a:r>
            <a:r>
              <a:rPr lang="zh-CN" baseline="-23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3</a:t>
            </a:r>
            <a:r>
              <a:rPr lang="zh-CN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zh-CN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r</a:t>
            </a:r>
            <a:r>
              <a:rPr lang="zh-CN" baseline="-23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4</a:t>
            </a:r>
            <a:r>
              <a:rPr lang="zh-CN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zh-CN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r</a:t>
            </a:r>
            <a:r>
              <a:rPr lang="zh-CN" baseline="-23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5</a:t>
            </a:r>
            <a:r>
              <a:rPr lang="zh-CN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)</a:t>
            </a:r>
            <a:endParaRPr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内容底色_2"/>
          <p:cNvSpPr/>
          <p:nvPr/>
        </p:nvSpPr>
        <p:spPr>
          <a:xfrm>
            <a:off x="731520" y="5687568"/>
            <a:ext cx="10780776" cy="612648"/>
          </a:xfrm>
          <a:prstGeom prst="rect">
            <a:avLst/>
          </a:prstGeom>
          <a:solidFill>
            <a:srgbClr val="FB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正文_11"/>
          <p:cNvSpPr txBox="1"/>
          <p:nvPr/>
        </p:nvSpPr>
        <p:spPr>
          <a:xfrm>
            <a:off x="731520" y="1947672"/>
            <a:ext cx="10780776" cy="411480"/>
          </a:xfrm>
          <a:prstGeom prst="rect">
            <a:avLst/>
          </a:prstGeom>
          <a:noFill/>
        </p:spPr>
        <p:txBody>
          <a:bodyPr wrap="square" lIns="13716" tIns="0" rIns="13716" bIns="0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 i="0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扩展置换：</a:t>
            </a:r>
            <a:r>
              <a:rPr lang="zh-CN" b="0" i="0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按 E 表将 </a:t>
            </a:r>
            <a:r>
              <a:rPr lang="zh-CN" b="0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R</a:t>
            </a:r>
            <a:r>
              <a:rPr lang="zh-CN" b="0" i="1" baseline="-23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i−1</a:t>
            </a:r>
            <a:r>
              <a:rPr lang="zh-CN" b="0" i="0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从 32 位扩展为 48 位，与 48 位子密钥等长。</a:t>
            </a:r>
          </a:p>
        </p:txBody>
      </p:sp>
      <p:sp>
        <p:nvSpPr>
          <p:cNvPr id="26" name="正文_16"/>
          <p:cNvSpPr txBox="1"/>
          <p:nvPr/>
        </p:nvSpPr>
        <p:spPr>
          <a:xfrm>
            <a:off x="914400" y="5815584"/>
            <a:ext cx="10415016" cy="393192"/>
          </a:xfrm>
          <a:prstGeom prst="rect">
            <a:avLst/>
          </a:prstGeom>
          <a:noFill/>
        </p:spPr>
        <p:txBody>
          <a:bodyPr wrap="square" lIns="13716" tIns="0" rIns="13716" bIns="0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 i="0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首行示例：</a:t>
            </a:r>
            <a:r>
              <a:rPr lang="zh-CN" b="0" i="0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若 </a:t>
            </a:r>
            <a:r>
              <a:rPr lang="zh-CN" b="0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r</a:t>
            </a:r>
            <a:r>
              <a:rPr lang="zh-CN" b="0" i="0" baseline="-23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32</a:t>
            </a:r>
            <a:r>
              <a:rPr lang="zh-CN" b="0" i="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=1</a:t>
            </a:r>
            <a:r>
              <a:rPr lang="zh-CN" b="0" i="0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，</a:t>
            </a:r>
            <a:r>
              <a:rPr lang="zh-CN" b="0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r</a:t>
            </a:r>
            <a:r>
              <a:rPr lang="zh-CN" b="0" i="0" baseline="-23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</a:t>
            </a:r>
            <a:r>
              <a:rPr lang="zh-CN" b="0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r</a:t>
            </a:r>
            <a:r>
              <a:rPr lang="zh-CN" b="0" i="0" baseline="-23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2</a:t>
            </a:r>
            <a:r>
              <a:rPr lang="zh-CN" b="0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r</a:t>
            </a:r>
            <a:r>
              <a:rPr lang="zh-CN" b="0" i="0" baseline="-23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3</a:t>
            </a:r>
            <a:r>
              <a:rPr lang="zh-CN" b="0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r</a:t>
            </a:r>
            <a:r>
              <a:rPr lang="zh-CN" b="0" i="0" baseline="-23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4</a:t>
            </a:r>
            <a:r>
              <a:rPr lang="zh-CN" b="0" i="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=0110</a:t>
            </a:r>
            <a:r>
              <a:rPr lang="zh-CN" b="0" i="0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，</a:t>
            </a:r>
            <a:r>
              <a:rPr lang="zh-CN" b="0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r</a:t>
            </a:r>
            <a:r>
              <a:rPr lang="zh-CN" b="0" i="0" baseline="-23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5</a:t>
            </a:r>
            <a:r>
              <a:rPr lang="zh-CN" b="0" i="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=0</a:t>
            </a:r>
            <a:r>
              <a:rPr lang="zh-CN" b="0" i="0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，则首行输出为 </a:t>
            </a:r>
            <a:r>
              <a:rPr lang="zh-CN" b="0" i="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101100</a:t>
            </a:r>
            <a:r>
              <a:rPr lang="zh-CN" b="0" i="0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。</a:t>
            </a:r>
          </a:p>
        </p:txBody>
      </p:sp>
      <p:sp>
        <p:nvSpPr>
          <p:cNvPr id="29" name="Shape 27"/>
          <p:cNvSpPr/>
          <p:nvPr/>
        </p:nvSpPr>
        <p:spPr>
          <a:xfrm>
            <a:off x="731520" y="2585720"/>
            <a:ext cx="5495290" cy="310515"/>
          </a:xfrm>
          <a:prstGeom prst="roundRect">
            <a:avLst>
              <a:gd name="adj" fmla="val 15789"/>
            </a:avLst>
          </a:prstGeom>
          <a:solidFill>
            <a:srgbClr val="F9DADA"/>
          </a:solidFill>
          <a:ln w="12700">
            <a:solidFill>
              <a:srgbClr val="F9DA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9775" y="2640330"/>
            <a:ext cx="5697220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E 扩展表（32 bit → 48 bit）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31" name="Table 0"/>
          <p:cNvGraphicFramePr>
            <a:graphicFrameLocks noGrp="1"/>
          </p:cNvGraphicFramePr>
          <p:nvPr/>
        </p:nvGraphicFramePr>
        <p:xfrm>
          <a:off x="740283" y="3097657"/>
          <a:ext cx="5486400" cy="2487168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86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32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2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3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4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5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6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4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5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6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7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8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9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6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8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9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10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11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12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13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6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12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13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14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15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16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17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6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16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17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18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19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20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21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6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20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21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22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23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24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25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6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24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25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26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27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28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29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86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28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29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30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31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32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en-US" altLang="zh-CN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</a:p>
        </p:txBody>
      </p:sp>
      <p:sp>
        <p:nvSpPr>
          <p:cNvPr id="12" name="TextBox 2"/>
          <p:cNvSpPr txBox="1"/>
          <p:nvPr/>
        </p:nvSpPr>
        <p:spPr>
          <a:xfrm>
            <a:off x="1066739" y="219050"/>
            <a:ext cx="4133088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典型分组密码</a:t>
            </a:r>
          </a:p>
        </p:txBody>
      </p:sp>
      <p:cxnSp>
        <p:nvCxnSpPr>
          <p:cNvPr id="13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页标题"/>
          <p:cNvSpPr txBox="1"/>
          <p:nvPr/>
        </p:nvSpPr>
        <p:spPr>
          <a:xfrm>
            <a:off x="502920" y="827532"/>
            <a:ext cx="11155680" cy="384048"/>
          </a:xfrm>
          <a:prstGeom prst="rect">
            <a:avLst/>
          </a:prstGeom>
          <a:noFill/>
        </p:spPr>
        <p:txBody>
          <a:bodyPr wrap="square" lIns="13716" tIns="0" rIns="13716" bIns="0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 i="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DES 轮函数 </a:t>
            </a:r>
            <a:r>
              <a:rPr lang="zh-CN" sz="2200" b="1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</a:t>
            </a:r>
            <a:r>
              <a:rPr lang="zh-CN" sz="2200" b="1" i="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（2/4）—— 与子密钥异或</a:t>
            </a:r>
          </a:p>
        </p:txBody>
      </p:sp>
      <p:sp>
        <p:nvSpPr>
          <p:cNvPr id="15" name="流程导航_1">
            <a:hlinkClick r:id="rId3" action="ppaction://hlinksldjump"/>
          </p:cNvPr>
          <p:cNvSpPr/>
          <p:nvPr/>
        </p:nvSpPr>
        <p:spPr>
          <a:xfrm>
            <a:off x="731520" y="1344168"/>
            <a:ext cx="2660904" cy="374904"/>
          </a:xfrm>
          <a:prstGeom prst="chevron">
            <a:avLst>
              <a:gd name="adj" fmla="val 14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46304" bIns="0" rtlCol="0" anchor="ctr">
            <a:noAutofit/>
          </a:bodyPr>
          <a:lstStyle/>
          <a:p>
            <a:pPr algn="ctr"/>
            <a:r>
              <a:rPr lang="zh-CN" sz="1800" b="0" i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E 扩展</a:t>
            </a:r>
          </a:p>
        </p:txBody>
      </p:sp>
      <p:sp>
        <p:nvSpPr>
          <p:cNvPr id="16" name="流程导航_2">
            <a:hlinkClick r:id="rId4" action="ppaction://hlinksldjump"/>
          </p:cNvPr>
          <p:cNvSpPr/>
          <p:nvPr/>
        </p:nvSpPr>
        <p:spPr>
          <a:xfrm>
            <a:off x="3442715" y="1344168"/>
            <a:ext cx="2660904" cy="374904"/>
          </a:xfrm>
          <a:prstGeom prst="chevron">
            <a:avLst>
              <a:gd name="adj" fmla="val 14000"/>
            </a:avLst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46304" bIns="0" rtlCol="0" anchor="ctr">
            <a:noAutofit/>
          </a:bodyPr>
          <a:lstStyle/>
          <a:p>
            <a:pPr algn="ctr"/>
            <a:r>
              <a:rPr lang="zh-CN" sz="1800" b="1" i="0">
                <a:solidFill>
                  <a:srgbClr val="FFFFFF"/>
                </a:solidFill>
                <a:latin typeface="Times New Roman" panose="02020603050405020304" charset="0"/>
                <a:ea typeface="微软雅黑" panose="020B0503020204020204" charset="-122"/>
              </a:rPr>
              <a:t>与子密钥异或</a:t>
            </a:r>
          </a:p>
        </p:txBody>
      </p:sp>
      <p:sp>
        <p:nvSpPr>
          <p:cNvPr id="17" name="流程导航_3">
            <a:hlinkClick r:id="rId5" action="ppaction://hlinksldjump"/>
          </p:cNvPr>
          <p:cNvSpPr/>
          <p:nvPr/>
        </p:nvSpPr>
        <p:spPr>
          <a:xfrm>
            <a:off x="6153912" y="1344168"/>
            <a:ext cx="2660904" cy="374904"/>
          </a:xfrm>
          <a:prstGeom prst="chevron">
            <a:avLst>
              <a:gd name="adj" fmla="val 14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46304" bIns="0" rtlCol="0" anchor="ctr">
            <a:noAutofit/>
          </a:bodyPr>
          <a:lstStyle/>
          <a:p>
            <a:pPr algn="ctr"/>
            <a:r>
              <a:rPr lang="zh-CN" sz="1800" b="0" i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 盒代换</a:t>
            </a:r>
          </a:p>
        </p:txBody>
      </p:sp>
      <p:sp>
        <p:nvSpPr>
          <p:cNvPr id="18" name="流程导航_4">
            <a:hlinkClick r:id="rId6" action="ppaction://hlinksldjump"/>
          </p:cNvPr>
          <p:cNvSpPr/>
          <p:nvPr/>
        </p:nvSpPr>
        <p:spPr>
          <a:xfrm>
            <a:off x="8865108" y="1344168"/>
            <a:ext cx="2660904" cy="374904"/>
          </a:xfrm>
          <a:prstGeom prst="chevron">
            <a:avLst>
              <a:gd name="adj" fmla="val 14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46304" bIns="0" rtlCol="0" anchor="ctr">
            <a:noAutofit/>
          </a:bodyPr>
          <a:lstStyle/>
          <a:p>
            <a:pPr algn="ctr"/>
            <a:r>
              <a:rPr lang="zh-CN" sz="1800" b="0" i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P 盒置换</a:t>
            </a:r>
          </a:p>
        </p:txBody>
      </p:sp>
      <p:sp>
        <p:nvSpPr>
          <p:cNvPr id="20" name="公式_10"/>
          <p:cNvSpPr txBox="1"/>
          <p:nvPr/>
        </p:nvSpPr>
        <p:spPr>
          <a:xfrm>
            <a:off x="502920" y="2696210"/>
            <a:ext cx="11022965" cy="438785"/>
          </a:xfrm>
          <a:prstGeom prst="rect">
            <a:avLst/>
          </a:prstGeom>
          <a:noFill/>
        </p:spPr>
        <p:txBody>
          <a:bodyPr wrap="square" lIns="13716" tIns="0" rIns="13716" bIns="0">
            <a:noAutofit/>
          </a:bodyPr>
          <a:lstStyle/>
          <a:p>
            <a:pPr algn="ctr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B</a:t>
            </a:r>
            <a:r>
              <a:rPr lang="zh-CN" sz="1800" b="0" i="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= </a:t>
            </a:r>
            <a:r>
              <a:rPr lang="zh-CN" sz="1800" b="0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E</a:t>
            </a:r>
            <a:r>
              <a:rPr lang="zh-CN" sz="1800" b="0" i="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(</a:t>
            </a:r>
            <a:r>
              <a:rPr lang="zh-CN" sz="1800" b="0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R</a:t>
            </a:r>
            <a:r>
              <a:rPr lang="zh-CN" sz="1800" b="0" i="1" baseline="-23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i−1</a:t>
            </a:r>
            <a:r>
              <a:rPr lang="zh-CN" sz="1800" b="0" i="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) ⊕ </a:t>
            </a:r>
            <a:r>
              <a:rPr lang="zh-CN" sz="1800" b="0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K</a:t>
            </a:r>
            <a:r>
              <a:rPr lang="zh-CN" sz="1800" b="0" i="1" baseline="-23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</a:t>
            </a:r>
          </a:p>
        </p:txBody>
      </p:sp>
      <p:sp>
        <p:nvSpPr>
          <p:cNvPr id="23" name="公式_13"/>
          <p:cNvSpPr/>
          <p:nvPr/>
        </p:nvSpPr>
        <p:spPr>
          <a:xfrm>
            <a:off x="530225" y="4404995"/>
            <a:ext cx="11155680" cy="103378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09728" tIns="0" rIns="146304" bIns="0" numCol="1" spcCol="0" rtlCol="0" fromWordArt="0" anchor="ctr" anchorCtr="0" forceAA="0" compatLnSpc="1">
            <a:noAutofit/>
          </a:bodyPr>
          <a:lstStyle/>
          <a:p>
            <a:pPr indent="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例：</a:t>
            </a:r>
            <a:r>
              <a:rPr 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沿用上一页的第一组 101100，设子密钥对应的前 6 位为 110111：</a:t>
            </a:r>
            <a:endParaRPr lang="zh-CN" sz="1800" b="0" i="0" dirty="0">
              <a:solidFill>
                <a:srgbClr val="22222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indent="0" algn="ct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101100 ⊕ 110111 = 011011</a:t>
            </a:r>
            <a:endParaRPr lang="zh-CN" sz="1800" dirty="0">
              <a:solidFill>
                <a:srgbClr val="40404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5" name="内容底色_2"/>
          <p:cNvSpPr/>
          <p:nvPr/>
        </p:nvSpPr>
        <p:spPr>
          <a:xfrm>
            <a:off x="502920" y="3290570"/>
            <a:ext cx="11155680" cy="89027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09728" tIns="0" rIns="146304" bIns="0" numCol="1" spcCol="0" rtlCol="0" fromWordArt="0" anchor="ctr" anchorCtr="0" forceAA="0" compatLnSpc="1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异或规则：</a:t>
            </a:r>
            <a:r>
              <a:rPr 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对应两位相同得 0，不同得 1。</a:t>
            </a:r>
          </a:p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子密钥由主密钥经密钥的置换和循环左移生成，每轮使用对应的 </a:t>
            </a:r>
            <a:r>
              <a:rPr lang="zh-CN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K</a:t>
            </a:r>
            <a:r>
              <a:rPr lang="zh-CN" i="1" baseline="-23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</a:t>
            </a:r>
            <a:r>
              <a:rPr 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。</a:t>
            </a:r>
          </a:p>
        </p:txBody>
      </p:sp>
      <p:sp>
        <p:nvSpPr>
          <p:cNvPr id="6" name="内容底色_2"/>
          <p:cNvSpPr/>
          <p:nvPr/>
        </p:nvSpPr>
        <p:spPr>
          <a:xfrm>
            <a:off x="502920" y="5590540"/>
            <a:ext cx="11155680" cy="772795"/>
          </a:xfrm>
          <a:prstGeom prst="rect">
            <a:avLst/>
          </a:prstGeom>
          <a:solidFill>
            <a:srgbClr val="FB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作用：</a:t>
            </a:r>
            <a:r>
              <a:rPr 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完成数据与子密钥的混合，使每一轮的结果都受到子密钥的影响。</a:t>
            </a:r>
          </a:p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          </a:t>
            </a:r>
            <a:r>
              <a:rPr 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所得结果 </a:t>
            </a:r>
            <a:r>
              <a:rPr lang="zh-CN" i="1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B</a:t>
            </a:r>
            <a:r>
              <a:rPr 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按顺序分成 8 个 6 位组，分别送入下一步的 8 个 S 盒。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02920" y="2041525"/>
            <a:ext cx="11182985" cy="6070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endParaRPr lang="zh-CN" altLang="en-US">
              <a:solidFill>
                <a:srgbClr val="40404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9" name="内容底色_1"/>
          <p:cNvSpPr/>
          <p:nvPr/>
        </p:nvSpPr>
        <p:spPr>
          <a:xfrm>
            <a:off x="503555" y="1910715"/>
            <a:ext cx="11182350" cy="584835"/>
          </a:xfrm>
          <a:prstGeom prst="rect">
            <a:avLst/>
          </a:prstGeom>
          <a:solidFill>
            <a:srgbClr val="FB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b="1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运算方法：</a:t>
            </a:r>
            <a:r>
              <a:rPr 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将</a:t>
            </a:r>
            <a:r>
              <a:rPr lang="en-US" alt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E </a:t>
            </a:r>
            <a:r>
              <a:rPr 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扩展的 48 位结果 </a:t>
            </a:r>
            <a:r>
              <a:rPr lang="zh-CN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E</a:t>
            </a:r>
            <a:r>
              <a:rPr lang="zh-CN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(</a:t>
            </a:r>
            <a:r>
              <a:rPr lang="zh-CN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R</a:t>
            </a:r>
            <a:r>
              <a:rPr lang="zh-CN" i="1" baseline="-23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i−1</a:t>
            </a:r>
            <a:r>
              <a:rPr lang="zh-CN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)</a:t>
            </a:r>
            <a:r>
              <a:rPr 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与本轮的 48 位子密钥 </a:t>
            </a:r>
            <a:r>
              <a:rPr lang="zh-CN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K</a:t>
            </a:r>
            <a:r>
              <a:rPr lang="zh-CN" i="1" baseline="-23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</a:t>
            </a:r>
            <a:r>
              <a:rPr 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对应逐位异或，得到 48 位结果 </a:t>
            </a:r>
            <a:r>
              <a:rPr lang="zh-CN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B</a:t>
            </a:r>
            <a:r>
              <a:rPr 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en-US" altLang="zh-CN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</a:p>
        </p:txBody>
      </p:sp>
      <p:sp>
        <p:nvSpPr>
          <p:cNvPr id="12" name="TextBox 2"/>
          <p:cNvSpPr txBox="1"/>
          <p:nvPr/>
        </p:nvSpPr>
        <p:spPr>
          <a:xfrm>
            <a:off x="1066739" y="219050"/>
            <a:ext cx="4133088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典型分组密码</a:t>
            </a:r>
          </a:p>
        </p:txBody>
      </p:sp>
      <p:cxnSp>
        <p:nvCxnSpPr>
          <p:cNvPr id="13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页标题"/>
          <p:cNvSpPr txBox="1"/>
          <p:nvPr/>
        </p:nvSpPr>
        <p:spPr>
          <a:xfrm>
            <a:off x="502920" y="827532"/>
            <a:ext cx="11155680" cy="384048"/>
          </a:xfrm>
          <a:prstGeom prst="rect">
            <a:avLst/>
          </a:prstGeom>
          <a:noFill/>
        </p:spPr>
        <p:txBody>
          <a:bodyPr wrap="square" lIns="13716" tIns="0" rIns="13716" bIns="0">
            <a:noAutofit/>
          </a:bodyPr>
          <a:lstStyle/>
          <a:p>
            <a:pPr marL="0" indent="0">
              <a:buNone/>
            </a:pPr>
            <a:r>
              <a:rPr lang="zh-CN" altLang="en-US" sz="2200" b="1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DES 轮函数 F（3/4）—— S 盒代换</a:t>
            </a:r>
            <a:endParaRPr lang="zh-CN" altLang="en-US" sz="2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5" name="流程导航_1"/>
          <p:cNvSpPr/>
          <p:nvPr/>
        </p:nvSpPr>
        <p:spPr>
          <a:xfrm>
            <a:off x="731520" y="1344168"/>
            <a:ext cx="2660904" cy="374904"/>
          </a:xfrm>
          <a:prstGeom prst="chevron">
            <a:avLst>
              <a:gd name="adj" fmla="val 14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46304" bIns="0" rtlCol="0" anchor="ctr">
            <a:noAutofit/>
          </a:bodyPr>
          <a:lstStyle/>
          <a:p>
            <a:pPr algn="ctr"/>
            <a:r>
              <a:rPr lang="zh-CN" sz="1800" b="0" i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E 扩展</a:t>
            </a:r>
          </a:p>
        </p:txBody>
      </p:sp>
      <p:sp>
        <p:nvSpPr>
          <p:cNvPr id="16" name="流程导航_2"/>
          <p:cNvSpPr/>
          <p:nvPr/>
        </p:nvSpPr>
        <p:spPr>
          <a:xfrm>
            <a:off x="3442715" y="1344168"/>
            <a:ext cx="2660904" cy="374904"/>
          </a:xfrm>
          <a:prstGeom prst="chevron">
            <a:avLst>
              <a:gd name="adj" fmla="val 14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46304" bIns="0" rtlCol="0" anchor="ctr">
            <a:noAutofit/>
          </a:bodyPr>
          <a:lstStyle/>
          <a:p>
            <a:pPr algn="ctr"/>
            <a:r>
              <a:rPr lang="zh-CN" sz="1800" b="0" i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与子密钥异或</a:t>
            </a:r>
          </a:p>
        </p:txBody>
      </p:sp>
      <p:sp>
        <p:nvSpPr>
          <p:cNvPr id="17" name="流程导航_3"/>
          <p:cNvSpPr/>
          <p:nvPr/>
        </p:nvSpPr>
        <p:spPr>
          <a:xfrm>
            <a:off x="6153912" y="1344168"/>
            <a:ext cx="2660904" cy="374904"/>
          </a:xfrm>
          <a:prstGeom prst="chevron">
            <a:avLst>
              <a:gd name="adj" fmla="val 14000"/>
            </a:avLst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46304" bIns="0" rtlCol="0" anchor="ctr">
            <a:noAutofit/>
          </a:bodyPr>
          <a:lstStyle/>
          <a:p>
            <a:pPr algn="ctr"/>
            <a:r>
              <a:rPr lang="zh-CN" sz="1800" b="1" i="0">
                <a:solidFill>
                  <a:srgbClr val="FFFF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 盒代换</a:t>
            </a:r>
          </a:p>
        </p:txBody>
      </p:sp>
      <p:sp>
        <p:nvSpPr>
          <p:cNvPr id="18" name="流程导航_4"/>
          <p:cNvSpPr/>
          <p:nvPr/>
        </p:nvSpPr>
        <p:spPr>
          <a:xfrm>
            <a:off x="8865108" y="1344168"/>
            <a:ext cx="2660904" cy="374904"/>
          </a:xfrm>
          <a:prstGeom prst="chevron">
            <a:avLst>
              <a:gd name="adj" fmla="val 14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46304" bIns="0" rtlCol="0" anchor="ctr">
            <a:noAutofit/>
          </a:bodyPr>
          <a:lstStyle/>
          <a:p>
            <a:pPr algn="ctr"/>
            <a:r>
              <a:rPr lang="zh-CN" sz="1800" b="0" i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P 盒置换</a:t>
            </a:r>
          </a:p>
        </p:txBody>
      </p:sp>
      <p:sp>
        <p:nvSpPr>
          <p:cNvPr id="19" name="图形_底色"/>
          <p:cNvSpPr/>
          <p:nvPr/>
        </p:nvSpPr>
        <p:spPr>
          <a:xfrm>
            <a:off x="502920" y="1874520"/>
            <a:ext cx="4343400" cy="4434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marL="0" indent="0" algn="ctr">
              <a:buNone/>
            </a:pP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0080" y="1920240"/>
            <a:ext cx="406908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ctr">
              <a:buNone/>
            </a:pPr>
            <a:r>
              <a:rPr lang="zh-CN" altLang="en-US" sz="1800" b="1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S 盒在轮函数 </a:t>
            </a:r>
            <a:r>
              <a:rPr lang="zh-CN" altLang="en-US" sz="1800" b="1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F</a:t>
            </a:r>
            <a:r>
              <a:rPr lang="zh-CN" altLang="en-US" sz="1800" b="1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中的位置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0080" y="2267712"/>
            <a:ext cx="406908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ctr">
              <a:buNone/>
            </a:pP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R</a:t>
            </a:r>
            <a:r>
              <a:rPr lang="zh-CN" altLang="en-US" sz="16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6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−1</a:t>
            </a: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（32 位）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2670048" y="2578608"/>
            <a:ext cx="0" cy="164592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sp>
        <p:nvSpPr>
          <p:cNvPr id="23" name="Rectangle 22"/>
          <p:cNvSpPr/>
          <p:nvPr/>
        </p:nvSpPr>
        <p:spPr>
          <a:xfrm>
            <a:off x="731520" y="2743200"/>
            <a:ext cx="3886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扩展置换 E：32 位 → 48 位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24" name="Connector 23"/>
          <p:cNvCxnSpPr/>
          <p:nvPr/>
        </p:nvCxnSpPr>
        <p:spPr>
          <a:xfrm flipH="1">
            <a:off x="941832" y="3456432"/>
            <a:ext cx="3858768" cy="0"/>
          </a:xfrm>
          <a:prstGeom prst="line">
            <a:avLst/>
          </a:prstGeom>
          <a:ln w="12700">
            <a:solidFill>
              <a:srgbClr val="C00000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4443984" y="3127248"/>
            <a:ext cx="384048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ctr">
              <a:buNone/>
            </a:pPr>
            <a:r>
              <a:rPr lang="zh-CN" altLang="en-US" sz="1600" b="0" i="1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K</a:t>
            </a:r>
            <a:r>
              <a:rPr lang="zh-CN" altLang="en-US" sz="1600" b="0" i="1" baseline="-2500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941832" y="3127248"/>
            <a:ext cx="0" cy="219456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sp>
        <p:nvSpPr>
          <p:cNvPr id="27" name="Or 26"/>
          <p:cNvSpPr/>
          <p:nvPr/>
        </p:nvSpPr>
        <p:spPr>
          <a:xfrm>
            <a:off x="832104" y="3346704"/>
            <a:ext cx="219456" cy="219456"/>
          </a:xfrm>
          <a:prstGeom prst="flowChartOr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endParaRPr lang="zh-CN" altLang="en-US" sz="10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941832" y="3566160"/>
            <a:ext cx="0" cy="347472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sp>
        <p:nvSpPr>
          <p:cNvPr id="29" name="Rectangle 28"/>
          <p:cNvSpPr/>
          <p:nvPr/>
        </p:nvSpPr>
        <p:spPr>
          <a:xfrm>
            <a:off x="731520" y="3913632"/>
            <a:ext cx="420624" cy="43891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0" i="1" dirty="0">
                <a:solidFill>
                  <a:srgbClr val="FFFFFF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S</a:t>
            </a:r>
            <a:r>
              <a:rPr lang="zh-CN" altLang="en-US" sz="1600" b="0" i="0" baseline="-25000" dirty="0">
                <a:solidFill>
                  <a:srgbClr val="FFFFFF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941832" y="4352544"/>
            <a:ext cx="0" cy="292608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cxnSp>
        <p:nvCxnSpPr>
          <p:cNvPr id="31" name="Connector 30"/>
          <p:cNvCxnSpPr/>
          <p:nvPr/>
        </p:nvCxnSpPr>
        <p:spPr>
          <a:xfrm>
            <a:off x="1431036" y="3127248"/>
            <a:ext cx="0" cy="219456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sp>
        <p:nvSpPr>
          <p:cNvPr id="32" name="Or 31"/>
          <p:cNvSpPr/>
          <p:nvPr/>
        </p:nvSpPr>
        <p:spPr>
          <a:xfrm>
            <a:off x="1321308" y="3346704"/>
            <a:ext cx="219456" cy="219456"/>
          </a:xfrm>
          <a:prstGeom prst="flowChartOr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endParaRPr lang="zh-CN" altLang="en-US" sz="10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1431036" y="3566160"/>
            <a:ext cx="0" cy="347472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sp>
        <p:nvSpPr>
          <p:cNvPr id="34" name="Rectangle 33"/>
          <p:cNvSpPr/>
          <p:nvPr/>
        </p:nvSpPr>
        <p:spPr>
          <a:xfrm>
            <a:off x="1220724" y="3913632"/>
            <a:ext cx="420624" cy="438912"/>
          </a:xfrm>
          <a:prstGeom prst="rect">
            <a:avLst/>
          </a:prstGeom>
          <a:solidFill>
            <a:srgbClr val="FBF1F1"/>
          </a:solidFill>
          <a:ln w="12700">
            <a:solidFill>
              <a:srgbClr val="C0000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0" i="1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S</a:t>
            </a:r>
            <a:r>
              <a:rPr lang="zh-CN" altLang="en-US" sz="1600" b="0" i="0" baseline="-25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2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1431036" y="4352544"/>
            <a:ext cx="0" cy="292608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cxnSp>
        <p:nvCxnSpPr>
          <p:cNvPr id="36" name="Connector 35"/>
          <p:cNvCxnSpPr/>
          <p:nvPr/>
        </p:nvCxnSpPr>
        <p:spPr>
          <a:xfrm>
            <a:off x="1920240" y="3127248"/>
            <a:ext cx="0" cy="219456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sp>
        <p:nvSpPr>
          <p:cNvPr id="37" name="Or 36"/>
          <p:cNvSpPr/>
          <p:nvPr/>
        </p:nvSpPr>
        <p:spPr>
          <a:xfrm>
            <a:off x="1810512" y="3346704"/>
            <a:ext cx="219456" cy="219456"/>
          </a:xfrm>
          <a:prstGeom prst="flowChartOr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endParaRPr lang="zh-CN" altLang="en-US" sz="10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1920240" y="3566160"/>
            <a:ext cx="0" cy="347472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sp>
        <p:nvSpPr>
          <p:cNvPr id="39" name="Rectangle 38"/>
          <p:cNvSpPr/>
          <p:nvPr/>
        </p:nvSpPr>
        <p:spPr>
          <a:xfrm>
            <a:off x="1709928" y="3913632"/>
            <a:ext cx="420624" cy="438912"/>
          </a:xfrm>
          <a:prstGeom prst="rect">
            <a:avLst/>
          </a:prstGeom>
          <a:solidFill>
            <a:srgbClr val="FBF1F1"/>
          </a:solidFill>
          <a:ln w="12700">
            <a:solidFill>
              <a:srgbClr val="C0000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0" i="1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S</a:t>
            </a:r>
            <a:r>
              <a:rPr lang="zh-CN" altLang="en-US" sz="1600" b="0" i="0" baseline="-25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1920240" y="4352544"/>
            <a:ext cx="0" cy="292608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cxnSp>
        <p:nvCxnSpPr>
          <p:cNvPr id="41" name="Connector 40"/>
          <p:cNvCxnSpPr/>
          <p:nvPr/>
        </p:nvCxnSpPr>
        <p:spPr>
          <a:xfrm>
            <a:off x="2409444" y="3127248"/>
            <a:ext cx="0" cy="219456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sp>
        <p:nvSpPr>
          <p:cNvPr id="42" name="Or 41"/>
          <p:cNvSpPr/>
          <p:nvPr/>
        </p:nvSpPr>
        <p:spPr>
          <a:xfrm>
            <a:off x="2299716" y="3346704"/>
            <a:ext cx="219456" cy="219456"/>
          </a:xfrm>
          <a:prstGeom prst="flowChartOr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endParaRPr lang="zh-CN" altLang="en-US" sz="10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43" name="Connector 42"/>
          <p:cNvCxnSpPr/>
          <p:nvPr/>
        </p:nvCxnSpPr>
        <p:spPr>
          <a:xfrm>
            <a:off x="2409444" y="3566160"/>
            <a:ext cx="0" cy="347472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sp>
        <p:nvSpPr>
          <p:cNvPr id="44" name="Rectangle 43"/>
          <p:cNvSpPr/>
          <p:nvPr/>
        </p:nvSpPr>
        <p:spPr>
          <a:xfrm>
            <a:off x="2199132" y="3913632"/>
            <a:ext cx="420624" cy="438912"/>
          </a:xfrm>
          <a:prstGeom prst="rect">
            <a:avLst/>
          </a:prstGeom>
          <a:solidFill>
            <a:srgbClr val="FBF1F1"/>
          </a:solidFill>
          <a:ln w="12700">
            <a:solidFill>
              <a:srgbClr val="C0000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0" i="1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S</a:t>
            </a:r>
            <a:r>
              <a:rPr lang="zh-CN" altLang="en-US" sz="1600" b="0" i="0" baseline="-25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4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45" name="Connector 44"/>
          <p:cNvCxnSpPr/>
          <p:nvPr/>
        </p:nvCxnSpPr>
        <p:spPr>
          <a:xfrm>
            <a:off x="2409444" y="4352544"/>
            <a:ext cx="0" cy="292608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cxnSp>
        <p:nvCxnSpPr>
          <p:cNvPr id="46" name="Connector 45"/>
          <p:cNvCxnSpPr/>
          <p:nvPr/>
        </p:nvCxnSpPr>
        <p:spPr>
          <a:xfrm>
            <a:off x="2898648" y="3127248"/>
            <a:ext cx="0" cy="219456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sp>
        <p:nvSpPr>
          <p:cNvPr id="47" name="Or 46"/>
          <p:cNvSpPr/>
          <p:nvPr/>
        </p:nvSpPr>
        <p:spPr>
          <a:xfrm>
            <a:off x="2788920" y="3346704"/>
            <a:ext cx="219456" cy="219456"/>
          </a:xfrm>
          <a:prstGeom prst="flowChartOr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endParaRPr lang="zh-CN" altLang="en-US" sz="10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48" name="Connector 47"/>
          <p:cNvCxnSpPr/>
          <p:nvPr/>
        </p:nvCxnSpPr>
        <p:spPr>
          <a:xfrm>
            <a:off x="2898648" y="3566160"/>
            <a:ext cx="0" cy="347472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sp>
        <p:nvSpPr>
          <p:cNvPr id="49" name="Rectangle 48"/>
          <p:cNvSpPr/>
          <p:nvPr/>
        </p:nvSpPr>
        <p:spPr>
          <a:xfrm>
            <a:off x="2688336" y="3913632"/>
            <a:ext cx="420624" cy="438912"/>
          </a:xfrm>
          <a:prstGeom prst="rect">
            <a:avLst/>
          </a:prstGeom>
          <a:solidFill>
            <a:srgbClr val="FBF1F1"/>
          </a:solidFill>
          <a:ln w="12700">
            <a:solidFill>
              <a:srgbClr val="C0000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0" i="1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S</a:t>
            </a:r>
            <a:r>
              <a:rPr lang="zh-CN" altLang="en-US" sz="1600" b="0" i="0" baseline="-25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5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50" name="Connector 49"/>
          <p:cNvCxnSpPr/>
          <p:nvPr/>
        </p:nvCxnSpPr>
        <p:spPr>
          <a:xfrm>
            <a:off x="2898648" y="4352544"/>
            <a:ext cx="0" cy="292608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cxnSp>
        <p:nvCxnSpPr>
          <p:cNvPr id="51" name="Connector 50"/>
          <p:cNvCxnSpPr/>
          <p:nvPr/>
        </p:nvCxnSpPr>
        <p:spPr>
          <a:xfrm>
            <a:off x="3387852" y="3127248"/>
            <a:ext cx="0" cy="219456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sp>
        <p:nvSpPr>
          <p:cNvPr id="52" name="Or 51"/>
          <p:cNvSpPr/>
          <p:nvPr/>
        </p:nvSpPr>
        <p:spPr>
          <a:xfrm>
            <a:off x="3278124" y="3346704"/>
            <a:ext cx="219456" cy="219456"/>
          </a:xfrm>
          <a:prstGeom prst="flowChartOr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endParaRPr lang="zh-CN" altLang="en-US" sz="10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53" name="Connector 52"/>
          <p:cNvCxnSpPr/>
          <p:nvPr/>
        </p:nvCxnSpPr>
        <p:spPr>
          <a:xfrm>
            <a:off x="3387852" y="3566160"/>
            <a:ext cx="0" cy="347472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sp>
        <p:nvSpPr>
          <p:cNvPr id="54" name="Rectangle 53"/>
          <p:cNvSpPr/>
          <p:nvPr/>
        </p:nvSpPr>
        <p:spPr>
          <a:xfrm>
            <a:off x="3177540" y="3913632"/>
            <a:ext cx="420624" cy="438912"/>
          </a:xfrm>
          <a:prstGeom prst="rect">
            <a:avLst/>
          </a:prstGeom>
          <a:solidFill>
            <a:srgbClr val="FBF1F1"/>
          </a:solidFill>
          <a:ln w="12700">
            <a:solidFill>
              <a:srgbClr val="C0000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0" i="1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S</a:t>
            </a:r>
            <a:r>
              <a:rPr lang="zh-CN" altLang="en-US" sz="1600" b="0" i="0" baseline="-25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6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55" name="Connector 54"/>
          <p:cNvCxnSpPr/>
          <p:nvPr/>
        </p:nvCxnSpPr>
        <p:spPr>
          <a:xfrm>
            <a:off x="3387852" y="4352544"/>
            <a:ext cx="0" cy="292608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cxnSp>
        <p:nvCxnSpPr>
          <p:cNvPr id="56" name="Connector 55"/>
          <p:cNvCxnSpPr/>
          <p:nvPr/>
        </p:nvCxnSpPr>
        <p:spPr>
          <a:xfrm>
            <a:off x="3877056" y="3127248"/>
            <a:ext cx="0" cy="219456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sp>
        <p:nvSpPr>
          <p:cNvPr id="57" name="Or 56"/>
          <p:cNvSpPr/>
          <p:nvPr/>
        </p:nvSpPr>
        <p:spPr>
          <a:xfrm>
            <a:off x="3767328" y="3346704"/>
            <a:ext cx="219456" cy="219456"/>
          </a:xfrm>
          <a:prstGeom prst="flowChartOr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endParaRPr lang="zh-CN" altLang="en-US" sz="10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58" name="Connector 57"/>
          <p:cNvCxnSpPr/>
          <p:nvPr/>
        </p:nvCxnSpPr>
        <p:spPr>
          <a:xfrm>
            <a:off x="3877056" y="3566160"/>
            <a:ext cx="0" cy="347472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sp>
        <p:nvSpPr>
          <p:cNvPr id="59" name="Rectangle 58"/>
          <p:cNvSpPr/>
          <p:nvPr/>
        </p:nvSpPr>
        <p:spPr>
          <a:xfrm>
            <a:off x="3666744" y="3913632"/>
            <a:ext cx="420624" cy="438912"/>
          </a:xfrm>
          <a:prstGeom prst="rect">
            <a:avLst/>
          </a:prstGeom>
          <a:solidFill>
            <a:srgbClr val="FBF1F1"/>
          </a:solidFill>
          <a:ln w="12700">
            <a:solidFill>
              <a:srgbClr val="C0000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0" i="1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S</a:t>
            </a:r>
            <a:r>
              <a:rPr lang="zh-CN" altLang="en-US" sz="1600" b="0" i="0" baseline="-25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7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60" name="Connector 59"/>
          <p:cNvCxnSpPr/>
          <p:nvPr/>
        </p:nvCxnSpPr>
        <p:spPr>
          <a:xfrm>
            <a:off x="3877056" y="4352544"/>
            <a:ext cx="0" cy="292608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cxnSp>
        <p:nvCxnSpPr>
          <p:cNvPr id="61" name="Connector 60"/>
          <p:cNvCxnSpPr/>
          <p:nvPr/>
        </p:nvCxnSpPr>
        <p:spPr>
          <a:xfrm>
            <a:off x="4366260" y="3127248"/>
            <a:ext cx="0" cy="219456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sp>
        <p:nvSpPr>
          <p:cNvPr id="62" name="Or 61"/>
          <p:cNvSpPr/>
          <p:nvPr/>
        </p:nvSpPr>
        <p:spPr>
          <a:xfrm>
            <a:off x="4256532" y="3346704"/>
            <a:ext cx="219456" cy="219456"/>
          </a:xfrm>
          <a:prstGeom prst="flowChartOr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endParaRPr lang="zh-CN" altLang="en-US" sz="10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63" name="Connector 62"/>
          <p:cNvCxnSpPr/>
          <p:nvPr/>
        </p:nvCxnSpPr>
        <p:spPr>
          <a:xfrm>
            <a:off x="4366260" y="3566160"/>
            <a:ext cx="0" cy="347472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sp>
        <p:nvSpPr>
          <p:cNvPr id="64" name="Rectangle 63"/>
          <p:cNvSpPr/>
          <p:nvPr/>
        </p:nvSpPr>
        <p:spPr>
          <a:xfrm>
            <a:off x="4155948" y="3913632"/>
            <a:ext cx="420624" cy="438912"/>
          </a:xfrm>
          <a:prstGeom prst="rect">
            <a:avLst/>
          </a:prstGeom>
          <a:solidFill>
            <a:srgbClr val="FBF1F1"/>
          </a:solidFill>
          <a:ln w="12700">
            <a:solidFill>
              <a:srgbClr val="C0000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0" i="1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S</a:t>
            </a:r>
            <a:r>
              <a:rPr lang="zh-CN" altLang="en-US" sz="1600" b="0" i="0" baseline="-25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8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65" name="Connector 64"/>
          <p:cNvCxnSpPr/>
          <p:nvPr/>
        </p:nvCxnSpPr>
        <p:spPr>
          <a:xfrm>
            <a:off x="4366260" y="4352544"/>
            <a:ext cx="0" cy="292608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sp>
        <p:nvSpPr>
          <p:cNvPr id="66" name="TextBox 65"/>
          <p:cNvSpPr txBox="1"/>
          <p:nvPr/>
        </p:nvSpPr>
        <p:spPr>
          <a:xfrm>
            <a:off x="566928" y="4005072"/>
            <a:ext cx="1828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buNone/>
            </a:pPr>
            <a:endParaRPr lang="zh-CN" altLang="en-US" sz="10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731520" y="4645152"/>
            <a:ext cx="3886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置换 P：32 位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68" name="Connector 67"/>
          <p:cNvCxnSpPr/>
          <p:nvPr/>
        </p:nvCxnSpPr>
        <p:spPr>
          <a:xfrm>
            <a:off x="2670048" y="5029200"/>
            <a:ext cx="0" cy="164592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sp>
        <p:nvSpPr>
          <p:cNvPr id="69" name="TextBox 68"/>
          <p:cNvSpPr txBox="1"/>
          <p:nvPr/>
        </p:nvSpPr>
        <p:spPr>
          <a:xfrm>
            <a:off x="640080" y="5193792"/>
            <a:ext cx="406908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ctr">
              <a:buNone/>
            </a:pP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输出 32 位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40080" y="5559552"/>
            <a:ext cx="406908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8 个 S 盒并行工作：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每个 6 位进、4 位出，48 位 → 32 位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676656" y="3858768"/>
            <a:ext cx="530352" cy="548640"/>
          </a:xfrm>
          <a:prstGeom prst="rect">
            <a:avLst/>
          </a:prstGeom>
          <a:noFill/>
          <a:ln w="15875">
            <a:solidFill>
              <a:srgbClr val="C00000"/>
            </a:solidFill>
            <a:prstDash val="dash"/>
          </a:ln>
        </p:spPr>
        <p:txBody>
          <a:bodyPr wrap="square" lIns="73152" tIns="27432" rIns="73152" bIns="27432" rtlCol="0" anchor="ctr">
            <a:noAutofit/>
          </a:bodyPr>
          <a:lstStyle/>
          <a:p>
            <a:pPr marL="0" indent="0" algn="ctr">
              <a:buNone/>
            </a:pP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graphicFrame>
        <p:nvGraphicFramePr>
          <p:cNvPr id="88" name="DES S1 查找表"/>
          <p:cNvGraphicFramePr>
            <a:graphicFrameLocks noGrp="1"/>
          </p:cNvGraphicFramePr>
          <p:nvPr/>
        </p:nvGraphicFramePr>
        <p:xfrm>
          <a:off x="5212080" y="4160520"/>
          <a:ext cx="6428232" cy="13258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3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3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03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03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03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03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03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7033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7033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7033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7033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7033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7033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70332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70332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70332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1" i="1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S</a:t>
                      </a:r>
                      <a:r>
                        <a:rPr lang="zh-CN" altLang="en-US" sz="1400" b="1" i="0" baseline="-2500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7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8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10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11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12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13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14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15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14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13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15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11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8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10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12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7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15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7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14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13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10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12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11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1" i="0" dirty="0">
                          <a:solidFill>
                            <a:srgbClr val="FFFFFF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8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14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8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13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11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15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12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7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10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15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12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8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7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11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14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10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13</a:t>
                      </a:r>
                      <a:endParaRPr lang="zh-CN" altLang="en-US" sz="14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9" name="TextBox 88"/>
          <p:cNvSpPr txBox="1"/>
          <p:nvPr/>
        </p:nvSpPr>
        <p:spPr>
          <a:xfrm>
            <a:off x="5212080" y="5577840"/>
            <a:ext cx="6446520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marL="0" indent="0" algn="l">
              <a:buNone/>
            </a:pP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交叉处为 5，所以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S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(011011) = 5 = </a:t>
            </a: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(0101)</a:t>
            </a:r>
            <a:r>
              <a:rPr lang="zh-CN" altLang="en-US" sz="1800" b="1" i="0" baseline="-2500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2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。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212080" y="5989320"/>
            <a:ext cx="644652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buNone/>
            </a:pPr>
            <a:r>
              <a:rPr lang="zh-CN" altLang="en-US" sz="1600" b="0" i="0" dirty="0">
                <a:solidFill>
                  <a:srgbClr val="7F7F7F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（表中数值为十进制，行、列都从 0 开始编号）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5212080" y="1901952"/>
            <a:ext cx="64008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buNone/>
            </a:pPr>
            <a:r>
              <a:rPr lang="en-US" altLang="zh-CN" sz="1800" b="1" i="0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6 </a:t>
            </a: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进</a:t>
            </a:r>
            <a:r>
              <a:rPr lang="en-US" altLang="zh-CN" sz="1800" b="1" i="0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4 </a:t>
            </a: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出（图示）</a:t>
            </a:r>
            <a:endParaRPr lang="zh-CN" altLang="en-US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92" name="S盒输入输出图底色"/>
          <p:cNvSpPr/>
          <p:nvPr/>
        </p:nvSpPr>
        <p:spPr>
          <a:xfrm>
            <a:off x="5212080" y="2240280"/>
            <a:ext cx="3246120" cy="167259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marL="0" indent="0" algn="ctr">
              <a:buNone/>
            </a:pP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93" name="可编辑S盒"/>
          <p:cNvSpPr/>
          <p:nvPr/>
        </p:nvSpPr>
        <p:spPr>
          <a:xfrm>
            <a:off x="5989320" y="2816352"/>
            <a:ext cx="1682496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2600" b="0" i="1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</a:t>
            </a:r>
            <a:r>
              <a:rPr lang="zh-CN" altLang="en-US" sz="2600" b="0" i="1" baseline="-25000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</a:t>
            </a:r>
            <a:endParaRPr lang="zh-CN" altLang="en-US" sz="26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5998464" y="2350008"/>
            <a:ext cx="36576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b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2</a:t>
            </a:r>
            <a:endParaRPr lang="zh-CN" altLang="en-US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cxnSp>
        <p:nvCxnSpPr>
          <p:cNvPr id="95" name="Connector 94"/>
          <p:cNvCxnSpPr/>
          <p:nvPr/>
        </p:nvCxnSpPr>
        <p:spPr>
          <a:xfrm>
            <a:off x="6181344" y="2642616"/>
            <a:ext cx="0" cy="146304"/>
          </a:xfrm>
          <a:prstGeom prst="line">
            <a:avLst/>
          </a:prstGeom>
          <a:ln w="12700">
            <a:solidFill>
              <a:srgbClr val="7F7F7F"/>
            </a:solidFill>
            <a:tailEnd type="triangle" w="med" len="med"/>
          </a:ln>
        </p:spPr>
      </p:cxnSp>
      <p:sp>
        <p:nvSpPr>
          <p:cNvPr id="96" name="TextBox 95"/>
          <p:cNvSpPr txBox="1"/>
          <p:nvPr/>
        </p:nvSpPr>
        <p:spPr>
          <a:xfrm>
            <a:off x="6428232" y="2350008"/>
            <a:ext cx="36576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b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97" name="Connector 96"/>
          <p:cNvCxnSpPr/>
          <p:nvPr/>
        </p:nvCxnSpPr>
        <p:spPr>
          <a:xfrm>
            <a:off x="6611112" y="2642616"/>
            <a:ext cx="0" cy="146304"/>
          </a:xfrm>
          <a:prstGeom prst="line">
            <a:avLst/>
          </a:prstGeom>
          <a:ln w="12700">
            <a:solidFill>
              <a:srgbClr val="7F7F7F"/>
            </a:solidFill>
            <a:tailEnd type="triangle" w="med" len="med"/>
          </a:ln>
        </p:spPr>
      </p:cxnSp>
      <p:sp>
        <p:nvSpPr>
          <p:cNvPr id="98" name="TextBox 97"/>
          <p:cNvSpPr txBox="1"/>
          <p:nvPr/>
        </p:nvSpPr>
        <p:spPr>
          <a:xfrm>
            <a:off x="6858000" y="2350008"/>
            <a:ext cx="36576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b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4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99" name="Connector 98"/>
          <p:cNvCxnSpPr/>
          <p:nvPr/>
        </p:nvCxnSpPr>
        <p:spPr>
          <a:xfrm>
            <a:off x="7040880" y="2642616"/>
            <a:ext cx="0" cy="146304"/>
          </a:xfrm>
          <a:prstGeom prst="line">
            <a:avLst/>
          </a:prstGeom>
          <a:ln w="12700">
            <a:solidFill>
              <a:srgbClr val="7F7F7F"/>
            </a:solidFill>
            <a:tailEnd type="triangle" w="med" len="med"/>
          </a:ln>
        </p:spPr>
      </p:cxnSp>
      <p:sp>
        <p:nvSpPr>
          <p:cNvPr id="100" name="TextBox 99"/>
          <p:cNvSpPr txBox="1"/>
          <p:nvPr/>
        </p:nvSpPr>
        <p:spPr>
          <a:xfrm>
            <a:off x="7287768" y="2350008"/>
            <a:ext cx="36576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b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5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101" name="Connector 100"/>
          <p:cNvCxnSpPr/>
          <p:nvPr/>
        </p:nvCxnSpPr>
        <p:spPr>
          <a:xfrm>
            <a:off x="7470648" y="2642616"/>
            <a:ext cx="0" cy="146304"/>
          </a:xfrm>
          <a:prstGeom prst="line">
            <a:avLst/>
          </a:prstGeom>
          <a:ln w="12700">
            <a:solidFill>
              <a:srgbClr val="7F7F7F"/>
            </a:solidFill>
            <a:tailEnd type="triangle" w="med" len="med"/>
          </a:ln>
        </p:spPr>
      </p:cxnSp>
      <p:sp>
        <p:nvSpPr>
          <p:cNvPr id="102" name="TextBox 101"/>
          <p:cNvSpPr txBox="1"/>
          <p:nvPr/>
        </p:nvSpPr>
        <p:spPr>
          <a:xfrm>
            <a:off x="5385816" y="2798064"/>
            <a:ext cx="429768" cy="2834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b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103" name="Connector 102"/>
          <p:cNvCxnSpPr/>
          <p:nvPr/>
        </p:nvCxnSpPr>
        <p:spPr>
          <a:xfrm>
            <a:off x="5797296" y="2944368"/>
            <a:ext cx="164592" cy="0"/>
          </a:xfrm>
          <a:prstGeom prst="line">
            <a:avLst/>
          </a:prstGeom>
          <a:ln w="12700">
            <a:solidFill>
              <a:srgbClr val="7F7F7F"/>
            </a:solidFill>
            <a:tailEnd type="triangle" w="med" len="med"/>
          </a:ln>
        </p:spPr>
      </p:cxnSp>
      <p:sp>
        <p:nvSpPr>
          <p:cNvPr id="104" name="TextBox 103"/>
          <p:cNvSpPr txBox="1"/>
          <p:nvPr/>
        </p:nvSpPr>
        <p:spPr>
          <a:xfrm>
            <a:off x="5385816" y="3044952"/>
            <a:ext cx="429768" cy="2834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b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6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105" name="Connector 104"/>
          <p:cNvCxnSpPr/>
          <p:nvPr/>
        </p:nvCxnSpPr>
        <p:spPr>
          <a:xfrm>
            <a:off x="5797296" y="3191256"/>
            <a:ext cx="164592" cy="0"/>
          </a:xfrm>
          <a:prstGeom prst="line">
            <a:avLst/>
          </a:prstGeom>
          <a:ln w="12700">
            <a:solidFill>
              <a:srgbClr val="7F7F7F"/>
            </a:solidFill>
            <a:tailEnd type="triangle" w="med" len="med"/>
          </a:ln>
        </p:spPr>
      </p:cxnSp>
      <p:cxnSp>
        <p:nvCxnSpPr>
          <p:cNvPr id="106" name="Connector 105"/>
          <p:cNvCxnSpPr/>
          <p:nvPr/>
        </p:nvCxnSpPr>
        <p:spPr>
          <a:xfrm>
            <a:off x="6190488" y="3337560"/>
            <a:ext cx="0" cy="237744"/>
          </a:xfrm>
          <a:prstGeom prst="line">
            <a:avLst/>
          </a:prstGeom>
          <a:ln w="12700">
            <a:solidFill>
              <a:srgbClr val="7F7F7F"/>
            </a:solidFill>
            <a:tailEnd type="triangle" w="med" len="med"/>
          </a:ln>
        </p:spPr>
      </p:cxnSp>
      <p:cxnSp>
        <p:nvCxnSpPr>
          <p:cNvPr id="107" name="Connector 106"/>
          <p:cNvCxnSpPr/>
          <p:nvPr/>
        </p:nvCxnSpPr>
        <p:spPr>
          <a:xfrm>
            <a:off x="6611112" y="3337560"/>
            <a:ext cx="0" cy="237744"/>
          </a:xfrm>
          <a:prstGeom prst="line">
            <a:avLst/>
          </a:prstGeom>
          <a:ln w="12700">
            <a:solidFill>
              <a:srgbClr val="7F7F7F"/>
            </a:solidFill>
            <a:tailEnd type="triangle" w="med" len="med"/>
          </a:ln>
        </p:spPr>
      </p:cxnSp>
      <p:cxnSp>
        <p:nvCxnSpPr>
          <p:cNvPr id="108" name="Connector 107"/>
          <p:cNvCxnSpPr/>
          <p:nvPr/>
        </p:nvCxnSpPr>
        <p:spPr>
          <a:xfrm>
            <a:off x="7031736" y="3337560"/>
            <a:ext cx="0" cy="237744"/>
          </a:xfrm>
          <a:prstGeom prst="line">
            <a:avLst/>
          </a:prstGeom>
          <a:ln w="12700">
            <a:solidFill>
              <a:srgbClr val="7F7F7F"/>
            </a:solidFill>
            <a:tailEnd type="triangle" w="med" len="med"/>
          </a:ln>
        </p:spPr>
      </p:cxnSp>
      <p:cxnSp>
        <p:nvCxnSpPr>
          <p:cNvPr id="109" name="Connector 108"/>
          <p:cNvCxnSpPr/>
          <p:nvPr/>
        </p:nvCxnSpPr>
        <p:spPr>
          <a:xfrm>
            <a:off x="7452360" y="3337560"/>
            <a:ext cx="0" cy="237744"/>
          </a:xfrm>
          <a:prstGeom prst="line">
            <a:avLst/>
          </a:prstGeom>
          <a:ln w="12700">
            <a:solidFill>
              <a:srgbClr val="7F7F7F"/>
            </a:solidFill>
            <a:tailEnd type="triangle" w="med" len="med"/>
          </a:ln>
        </p:spPr>
      </p:cxnSp>
      <p:sp>
        <p:nvSpPr>
          <p:cNvPr id="111" name="4比特输出文字"/>
          <p:cNvSpPr txBox="1"/>
          <p:nvPr/>
        </p:nvSpPr>
        <p:spPr>
          <a:xfrm>
            <a:off x="5971032" y="3657600"/>
            <a:ext cx="173736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4 比特输出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12" name="S盒示例底色"/>
          <p:cNvSpPr/>
          <p:nvPr/>
        </p:nvSpPr>
        <p:spPr>
          <a:xfrm>
            <a:off x="8622665" y="2240280"/>
            <a:ext cx="2990215" cy="167259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marL="0" indent="0" algn="ctr">
              <a:buNone/>
            </a:pP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8778240" y="2281428"/>
            <a:ext cx="2688336" cy="2834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buNone/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例：</a:t>
            </a:r>
            <a:r>
              <a:rPr lang="zh-CN" altLang="en-US" sz="1800" b="1" i="1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B</a:t>
            </a:r>
            <a:r>
              <a:rPr lang="zh-CN" altLang="en-US" sz="1800" b="1" i="0" baseline="-2500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</a:t>
            </a: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= 011011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8777986" y="3363722"/>
            <a:ext cx="2688336" cy="2834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ctr">
              <a:buNone/>
            </a:pP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行号：</a:t>
            </a:r>
            <a:r>
              <a:rPr lang="zh-CN" altLang="en-US" sz="1600" b="0" i="0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(01)</a:t>
            </a:r>
            <a:r>
              <a:rPr lang="zh-CN" altLang="en-US" sz="1600" b="0" i="0" baseline="-25000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2</a:t>
            </a:r>
            <a:r>
              <a:rPr lang="zh-CN" altLang="en-US" sz="1600" b="0" i="0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= 1</a:t>
            </a:r>
          </a:p>
          <a:p>
            <a:pPr marL="0" indent="0" algn="ctr">
              <a:buNone/>
            </a:pPr>
            <a:r>
              <a:rPr lang="zh-CN" altLang="en-US" sz="16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列号：</a:t>
            </a:r>
            <a:r>
              <a:rPr lang="zh-CN" altLang="en-US" sz="1600" dirty="0">
                <a:solidFill>
                  <a:srgbClr val="1F4E79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(1101)</a:t>
            </a:r>
            <a:r>
              <a:rPr lang="zh-CN" altLang="en-US" sz="1600" baseline="-25000" dirty="0">
                <a:solidFill>
                  <a:srgbClr val="1F4E79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2</a:t>
            </a:r>
            <a:r>
              <a:rPr lang="zh-CN" altLang="en-US" sz="1600" dirty="0">
                <a:solidFill>
                  <a:srgbClr val="1F4E79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 = 13</a:t>
            </a:r>
            <a:endParaRPr lang="zh-CN" altLang="en-US" sz="16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86" name="Rectangle 74"/>
          <p:cNvSpPr/>
          <p:nvPr/>
        </p:nvSpPr>
        <p:spPr>
          <a:xfrm>
            <a:off x="8843645" y="2992755"/>
            <a:ext cx="289560" cy="314325"/>
          </a:xfrm>
          <a:prstGeom prst="rect">
            <a:avLst/>
          </a:prstGeom>
          <a:solidFill>
            <a:srgbClr val="FBE3E3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87" name="Rectangle 75"/>
          <p:cNvSpPr/>
          <p:nvPr/>
        </p:nvSpPr>
        <p:spPr>
          <a:xfrm>
            <a:off x="9246235" y="2992755"/>
            <a:ext cx="289560" cy="314325"/>
          </a:xfrm>
          <a:prstGeom prst="rect">
            <a:avLst/>
          </a:prstGeom>
          <a:solidFill>
            <a:srgbClr val="DCE6F2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1" i="0" dirty="0">
                <a:solidFill>
                  <a:srgbClr val="1F4E79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88" name="Rectangle 76"/>
          <p:cNvSpPr/>
          <p:nvPr/>
        </p:nvSpPr>
        <p:spPr>
          <a:xfrm>
            <a:off x="9648190" y="2992755"/>
            <a:ext cx="289560" cy="314325"/>
          </a:xfrm>
          <a:prstGeom prst="rect">
            <a:avLst/>
          </a:prstGeom>
          <a:solidFill>
            <a:srgbClr val="DCE6F2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1" i="0" dirty="0">
                <a:solidFill>
                  <a:srgbClr val="1F4E79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89" name="Rectangle 77"/>
          <p:cNvSpPr/>
          <p:nvPr/>
        </p:nvSpPr>
        <p:spPr>
          <a:xfrm>
            <a:off x="10050780" y="2992755"/>
            <a:ext cx="289560" cy="314325"/>
          </a:xfrm>
          <a:prstGeom prst="rect">
            <a:avLst/>
          </a:prstGeom>
          <a:solidFill>
            <a:srgbClr val="DCE6F2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1" i="0" dirty="0">
                <a:solidFill>
                  <a:srgbClr val="1F4E79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90" name="Rectangle 78"/>
          <p:cNvSpPr/>
          <p:nvPr/>
        </p:nvSpPr>
        <p:spPr>
          <a:xfrm>
            <a:off x="10452735" y="2992755"/>
            <a:ext cx="289560" cy="314325"/>
          </a:xfrm>
          <a:prstGeom prst="rect">
            <a:avLst/>
          </a:prstGeom>
          <a:solidFill>
            <a:srgbClr val="DCE6F2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1" i="0" dirty="0">
                <a:solidFill>
                  <a:srgbClr val="1F4E79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91" name="Rectangle 79"/>
          <p:cNvSpPr/>
          <p:nvPr/>
        </p:nvSpPr>
        <p:spPr>
          <a:xfrm>
            <a:off x="10855325" y="2992755"/>
            <a:ext cx="289560" cy="314325"/>
          </a:xfrm>
          <a:prstGeom prst="rect">
            <a:avLst/>
          </a:prstGeom>
          <a:solidFill>
            <a:srgbClr val="FBE3E3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92" name="TextBox 80"/>
          <p:cNvSpPr txBox="1"/>
          <p:nvPr/>
        </p:nvSpPr>
        <p:spPr>
          <a:xfrm>
            <a:off x="8843645" y="2642870"/>
            <a:ext cx="289560" cy="2432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ctr">
              <a:buNone/>
            </a:pP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b</a:t>
            </a:r>
            <a:r>
              <a:rPr lang="zh-CN" altLang="en-US" sz="16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93" name="TextBox 81"/>
          <p:cNvSpPr txBox="1"/>
          <p:nvPr/>
        </p:nvSpPr>
        <p:spPr>
          <a:xfrm>
            <a:off x="9246235" y="2642870"/>
            <a:ext cx="289560" cy="2432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ctr">
              <a:buNone/>
            </a:pP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b</a:t>
            </a:r>
            <a:r>
              <a:rPr lang="zh-CN" altLang="en-US" sz="16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2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94" name="TextBox 82"/>
          <p:cNvSpPr txBox="1"/>
          <p:nvPr/>
        </p:nvSpPr>
        <p:spPr>
          <a:xfrm>
            <a:off x="9648190" y="2642870"/>
            <a:ext cx="289560" cy="2432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ctr">
              <a:buNone/>
            </a:pP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b</a:t>
            </a:r>
            <a:r>
              <a:rPr lang="zh-CN" altLang="en-US" sz="16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95" name="TextBox 83"/>
          <p:cNvSpPr txBox="1"/>
          <p:nvPr/>
        </p:nvSpPr>
        <p:spPr>
          <a:xfrm>
            <a:off x="10050780" y="2642870"/>
            <a:ext cx="289560" cy="2432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ctr">
              <a:buNone/>
            </a:pP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b</a:t>
            </a:r>
            <a:r>
              <a:rPr lang="zh-CN" altLang="en-US" sz="16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4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96" name="TextBox 84"/>
          <p:cNvSpPr txBox="1"/>
          <p:nvPr/>
        </p:nvSpPr>
        <p:spPr>
          <a:xfrm>
            <a:off x="10452735" y="2642870"/>
            <a:ext cx="289560" cy="2432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ctr">
              <a:buNone/>
            </a:pP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b</a:t>
            </a:r>
            <a:r>
              <a:rPr lang="zh-CN" altLang="en-US" sz="16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5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97" name="TextBox 85"/>
          <p:cNvSpPr txBox="1"/>
          <p:nvPr/>
        </p:nvSpPr>
        <p:spPr>
          <a:xfrm>
            <a:off x="10855325" y="2642870"/>
            <a:ext cx="289560" cy="2432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ctr">
              <a:buNone/>
            </a:pP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b</a:t>
            </a:r>
            <a:r>
              <a:rPr lang="zh-CN" altLang="en-US" sz="16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6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en-US" altLang="zh-CN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739" y="219050"/>
            <a:ext cx="4133088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典型分组密码</a:t>
            </a:r>
          </a:p>
        </p:txBody>
      </p:sp>
      <p:cxnSp>
        <p:nvCxnSpPr>
          <p:cNvPr id="4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页标题"/>
          <p:cNvSpPr txBox="1"/>
          <p:nvPr/>
        </p:nvSpPr>
        <p:spPr>
          <a:xfrm>
            <a:off x="502920" y="827532"/>
            <a:ext cx="111556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zh-CN" altLang="en-US" sz="2200" b="1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DES 轮函数 F（3/4）—— S 盒代换</a:t>
            </a:r>
          </a:p>
        </p:txBody>
      </p:sp>
      <p:sp>
        <p:nvSpPr>
          <p:cNvPr id="6" name="流程导航_1">
            <a:hlinkClick r:id="rId3" action="ppaction://hlinksldjump"/>
          </p:cNvPr>
          <p:cNvSpPr/>
          <p:nvPr/>
        </p:nvSpPr>
        <p:spPr>
          <a:xfrm>
            <a:off x="731520" y="1344168"/>
            <a:ext cx="2660904" cy="374904"/>
          </a:xfrm>
          <a:prstGeom prst="chevron">
            <a:avLst>
              <a:gd name="adj" fmla="val 14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46304" bIns="0" rtlCol="0" anchor="ctr">
            <a:noAutofit/>
          </a:bodyPr>
          <a:lstStyle/>
          <a:p>
            <a:pPr algn="ctr"/>
            <a:r>
              <a:rPr lang="zh-CN" sz="1800" b="0" i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E 扩展</a:t>
            </a:r>
          </a:p>
        </p:txBody>
      </p:sp>
      <p:sp>
        <p:nvSpPr>
          <p:cNvPr id="7" name="流程导航_2">
            <a:hlinkClick r:id="rId4" action="ppaction://hlinksldjump"/>
          </p:cNvPr>
          <p:cNvSpPr/>
          <p:nvPr/>
        </p:nvSpPr>
        <p:spPr>
          <a:xfrm>
            <a:off x="3442715" y="1344168"/>
            <a:ext cx="2660904" cy="374904"/>
          </a:xfrm>
          <a:prstGeom prst="chevron">
            <a:avLst>
              <a:gd name="adj" fmla="val 14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46304" bIns="0" rtlCol="0" anchor="ctr">
            <a:noAutofit/>
          </a:bodyPr>
          <a:lstStyle/>
          <a:p>
            <a:pPr algn="ctr"/>
            <a:r>
              <a:rPr lang="zh-CN" sz="1800" b="0" i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与子密钥异或</a:t>
            </a:r>
          </a:p>
        </p:txBody>
      </p:sp>
      <p:sp>
        <p:nvSpPr>
          <p:cNvPr id="8" name="流程导航_3">
            <a:hlinkClick r:id="rId5" action="ppaction://hlinksldjump"/>
          </p:cNvPr>
          <p:cNvSpPr/>
          <p:nvPr/>
        </p:nvSpPr>
        <p:spPr>
          <a:xfrm>
            <a:off x="6153912" y="1344168"/>
            <a:ext cx="2660904" cy="374904"/>
          </a:xfrm>
          <a:prstGeom prst="chevron">
            <a:avLst>
              <a:gd name="adj" fmla="val 14000"/>
            </a:avLst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46304" bIns="0" rtlCol="0" anchor="ctr">
            <a:noAutofit/>
          </a:bodyPr>
          <a:lstStyle/>
          <a:p>
            <a:pPr algn="ctr"/>
            <a:r>
              <a:rPr lang="zh-CN" sz="1800" b="1" i="0">
                <a:solidFill>
                  <a:srgbClr val="FFFF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 盒代换</a:t>
            </a:r>
          </a:p>
        </p:txBody>
      </p:sp>
      <p:sp>
        <p:nvSpPr>
          <p:cNvPr id="9" name="流程导航_4">
            <a:hlinkClick r:id="rId6" action="ppaction://hlinksldjump"/>
          </p:cNvPr>
          <p:cNvSpPr/>
          <p:nvPr/>
        </p:nvSpPr>
        <p:spPr>
          <a:xfrm>
            <a:off x="8865108" y="1344168"/>
            <a:ext cx="2660904" cy="374904"/>
          </a:xfrm>
          <a:prstGeom prst="chevron">
            <a:avLst>
              <a:gd name="adj" fmla="val 14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46304" bIns="0" rtlCol="0" anchor="ctr">
            <a:noAutofit/>
          </a:bodyPr>
          <a:lstStyle/>
          <a:p>
            <a:pPr algn="ctr"/>
            <a:r>
              <a:rPr lang="zh-CN" sz="1800" b="0" i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P 盒置换</a:t>
            </a:r>
          </a:p>
        </p:txBody>
      </p:sp>
      <p:graphicFrame>
        <p:nvGraphicFramePr>
          <p:cNvPr id="10" name="DES S1 查找表"/>
          <p:cNvGraphicFramePr>
            <a:graphicFrameLocks noGrp="1"/>
          </p:cNvGraphicFramePr>
          <p:nvPr/>
        </p:nvGraphicFramePr>
        <p:xfrm>
          <a:off x="502920" y="1874520"/>
          <a:ext cx="10972800" cy="15544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1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S</a:t>
                      </a:r>
                      <a:r>
                        <a:rPr lang="zh-CN" altLang="en-US" sz="1800" b="1" i="0" baseline="-2500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7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8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10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12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13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14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15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14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13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15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8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10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12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7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15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7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14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13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10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12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8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14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8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13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15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12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7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10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15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12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8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7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14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10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13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" name="DES S2 查找表"/>
          <p:cNvGraphicFramePr>
            <a:graphicFrameLocks noGrp="1"/>
          </p:cNvGraphicFramePr>
          <p:nvPr/>
        </p:nvGraphicFramePr>
        <p:xfrm>
          <a:off x="502920" y="3611880"/>
          <a:ext cx="10972800" cy="15544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1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S</a:t>
                      </a:r>
                      <a:r>
                        <a:rPr lang="zh-CN" altLang="en-US" sz="1800" b="1" i="0" baseline="-2500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7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8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10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12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13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14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15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15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8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14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7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13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12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10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13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7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15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8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14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12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10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14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7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10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13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8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12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15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13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8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10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15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7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12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14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02920" y="5349240"/>
            <a:ext cx="11155680" cy="932688"/>
          </a:xfrm>
          <a:prstGeom prst="rect">
            <a:avLst/>
          </a:prstGeom>
          <a:solidFill>
            <a:srgbClr val="FBF1F1"/>
          </a:solidFill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marL="0" indent="0" algn="ctr">
              <a:buNone/>
            </a:pP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5800" y="5394960"/>
            <a:ext cx="1234440" cy="8229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marL="0" indent="0" algn="l">
              <a:buNone/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试一试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920240" y="5394960"/>
            <a:ext cx="9601200" cy="8412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b="0" i="0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① </a:t>
            </a:r>
            <a:r>
              <a:rPr lang="zh-CN" altLang="en-US" b="0" i="1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</a:t>
            </a:r>
            <a:r>
              <a:rPr lang="zh-CN" altLang="en-US" b="0" i="0" baseline="-25000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</a:t>
            </a:r>
            <a:r>
              <a:rPr lang="zh-CN" altLang="en-US" b="0" i="0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(111111) = ________        ② </a:t>
            </a:r>
            <a:r>
              <a:rPr lang="zh-CN" altLang="en-US" b="0" i="1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</a:t>
            </a:r>
            <a:r>
              <a:rPr lang="zh-CN" altLang="en-US" b="0" i="0" baseline="-25000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2</a:t>
            </a:r>
            <a:r>
              <a:rPr lang="zh-CN" altLang="en-US" b="0" i="0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(100110) = ________</a:t>
            </a:r>
            <a:endParaRPr lang="zh-CN" altLang="en-US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0" indent="0" algn="l">
              <a:lnSpc>
                <a:spcPct val="110000"/>
              </a:lnSpc>
              <a:buNone/>
            </a:pPr>
            <a:r>
              <a:rPr lang="zh-CN" altLang="en-US" b="0" i="0" dirty="0">
                <a:solidFill>
                  <a:srgbClr val="7F7F7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提示：首尾两位定行，中间四位定列；结果写成 4 位二进制。</a:t>
            </a:r>
            <a:endParaRPr lang="zh-CN" altLang="en-US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en-US" altLang="zh-CN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739" y="219050"/>
            <a:ext cx="4133088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典型分组密码</a:t>
            </a:r>
          </a:p>
        </p:txBody>
      </p:sp>
      <p:cxnSp>
        <p:nvCxnSpPr>
          <p:cNvPr id="4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页标题"/>
          <p:cNvSpPr txBox="1"/>
          <p:nvPr/>
        </p:nvSpPr>
        <p:spPr>
          <a:xfrm>
            <a:off x="502920" y="827532"/>
            <a:ext cx="111556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zh-CN" altLang="en-US" sz="2200" b="1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DES 轮函数 F（3/4）—— S 盒代换</a:t>
            </a:r>
          </a:p>
        </p:txBody>
      </p:sp>
      <p:sp>
        <p:nvSpPr>
          <p:cNvPr id="6" name="流程导航_1">
            <a:hlinkClick r:id="rId3" action="ppaction://hlinksldjump"/>
          </p:cNvPr>
          <p:cNvSpPr/>
          <p:nvPr/>
        </p:nvSpPr>
        <p:spPr>
          <a:xfrm>
            <a:off x="731520" y="1344168"/>
            <a:ext cx="2660904" cy="374904"/>
          </a:xfrm>
          <a:prstGeom prst="chevron">
            <a:avLst>
              <a:gd name="adj" fmla="val 14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46304" bIns="0" rtlCol="0" anchor="ctr">
            <a:noAutofit/>
          </a:bodyPr>
          <a:lstStyle/>
          <a:p>
            <a:pPr algn="ctr"/>
            <a:r>
              <a:rPr lang="zh-CN" sz="1800" b="0" i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E 扩展</a:t>
            </a:r>
          </a:p>
        </p:txBody>
      </p:sp>
      <p:sp>
        <p:nvSpPr>
          <p:cNvPr id="7" name="流程导航_2">
            <a:hlinkClick r:id="rId4" action="ppaction://hlinksldjump"/>
          </p:cNvPr>
          <p:cNvSpPr/>
          <p:nvPr/>
        </p:nvSpPr>
        <p:spPr>
          <a:xfrm>
            <a:off x="3442715" y="1344168"/>
            <a:ext cx="2660904" cy="374904"/>
          </a:xfrm>
          <a:prstGeom prst="chevron">
            <a:avLst>
              <a:gd name="adj" fmla="val 14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46304" bIns="0" rtlCol="0" anchor="ctr">
            <a:noAutofit/>
          </a:bodyPr>
          <a:lstStyle/>
          <a:p>
            <a:pPr algn="ctr"/>
            <a:r>
              <a:rPr lang="zh-CN" sz="1800" b="0" i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与子密钥异或</a:t>
            </a:r>
          </a:p>
        </p:txBody>
      </p:sp>
      <p:sp>
        <p:nvSpPr>
          <p:cNvPr id="8" name="流程导航_3">
            <a:hlinkClick r:id="rId5" action="ppaction://hlinksldjump"/>
          </p:cNvPr>
          <p:cNvSpPr/>
          <p:nvPr/>
        </p:nvSpPr>
        <p:spPr>
          <a:xfrm>
            <a:off x="6153912" y="1344168"/>
            <a:ext cx="2660904" cy="374904"/>
          </a:xfrm>
          <a:prstGeom prst="chevron">
            <a:avLst>
              <a:gd name="adj" fmla="val 14000"/>
            </a:avLst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46304" bIns="0" rtlCol="0" anchor="ctr">
            <a:noAutofit/>
          </a:bodyPr>
          <a:lstStyle/>
          <a:p>
            <a:pPr algn="ctr"/>
            <a:r>
              <a:rPr lang="zh-CN" sz="1800" b="1" i="0">
                <a:solidFill>
                  <a:srgbClr val="FFFF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 盒代换</a:t>
            </a:r>
          </a:p>
        </p:txBody>
      </p:sp>
      <p:sp>
        <p:nvSpPr>
          <p:cNvPr id="9" name="流程导航_4">
            <a:hlinkClick r:id="rId6" action="ppaction://hlinksldjump"/>
          </p:cNvPr>
          <p:cNvSpPr/>
          <p:nvPr/>
        </p:nvSpPr>
        <p:spPr>
          <a:xfrm>
            <a:off x="8865108" y="1344168"/>
            <a:ext cx="2660904" cy="374904"/>
          </a:xfrm>
          <a:prstGeom prst="chevron">
            <a:avLst>
              <a:gd name="adj" fmla="val 14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46304" bIns="0" rtlCol="0" anchor="ctr">
            <a:noAutofit/>
          </a:bodyPr>
          <a:lstStyle/>
          <a:p>
            <a:pPr algn="ctr"/>
            <a:r>
              <a:rPr lang="zh-CN" sz="1800" b="0" i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P 盒置换</a:t>
            </a:r>
          </a:p>
        </p:txBody>
      </p:sp>
      <p:graphicFrame>
        <p:nvGraphicFramePr>
          <p:cNvPr id="10" name="DES S1 查找表"/>
          <p:cNvGraphicFramePr>
            <a:graphicFrameLocks noGrp="1"/>
          </p:cNvGraphicFramePr>
          <p:nvPr/>
        </p:nvGraphicFramePr>
        <p:xfrm>
          <a:off x="502920" y="1874520"/>
          <a:ext cx="10972800" cy="15544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1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S</a:t>
                      </a:r>
                      <a:r>
                        <a:rPr lang="zh-CN" altLang="en-US" sz="1800" b="1" i="0" baseline="-2500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7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8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10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12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13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14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15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14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13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15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8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10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12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7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15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7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14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13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10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12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8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14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8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13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15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12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7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10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15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12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8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7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14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10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FFFFFF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13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" name="DES S2 查找表"/>
          <p:cNvGraphicFramePr>
            <a:graphicFrameLocks noGrp="1"/>
          </p:cNvGraphicFramePr>
          <p:nvPr/>
        </p:nvGraphicFramePr>
        <p:xfrm>
          <a:off x="502920" y="3611880"/>
          <a:ext cx="10972800" cy="15544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1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S</a:t>
                      </a:r>
                      <a:r>
                        <a:rPr lang="zh-CN" altLang="en-US" sz="1800" b="1" i="0" baseline="-2500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7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8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10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12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13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14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15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15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8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14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7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13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12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10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13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7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15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8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14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12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10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14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7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FFFFFF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10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13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8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12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15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13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8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10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15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7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12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14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02920" y="5349240"/>
            <a:ext cx="11155680" cy="932688"/>
          </a:xfrm>
          <a:prstGeom prst="rect">
            <a:avLst/>
          </a:prstGeom>
          <a:solidFill>
            <a:srgbClr val="FBF1F1"/>
          </a:solidFill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marL="0" indent="0" algn="ctr">
              <a:buNone/>
            </a:pP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5800" y="5394960"/>
            <a:ext cx="1234440" cy="8229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marL="0" indent="0" algn="l">
              <a:buNone/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答案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920240" y="5394960"/>
            <a:ext cx="9601200" cy="8412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① </a:t>
            </a:r>
            <a:r>
              <a:rPr lang="zh-CN" altLang="en-US" sz="1800" b="0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</a:t>
            </a:r>
            <a:r>
              <a:rPr lang="zh-CN" altLang="en-US" sz="1800" b="0" i="0" dirty="0">
                <a:solidFill>
                  <a:srgbClr val="1F4E79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1111</a:t>
            </a:r>
            <a:r>
              <a:rPr lang="zh-CN" altLang="en-US" sz="1800" b="0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：行 (11)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2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= 3，列 (1111)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2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= 15 → 13，即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S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(111111) = </a:t>
            </a: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1101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② </a:t>
            </a:r>
            <a:r>
              <a:rPr lang="zh-CN" altLang="en-US" sz="1800" b="0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</a:t>
            </a:r>
            <a:r>
              <a:rPr lang="zh-CN" altLang="en-US" sz="1800" b="0" i="0" dirty="0">
                <a:solidFill>
                  <a:srgbClr val="1F4E79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0011</a:t>
            </a:r>
            <a:r>
              <a:rPr lang="zh-CN" altLang="en-US" sz="1800" b="0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：行 (10)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2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= 2，列 (0011)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2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= 3 → 11，即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S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2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(100110) = </a:t>
            </a: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1011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en-US" altLang="zh-CN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</a:p>
        </p:txBody>
      </p:sp>
      <p:sp>
        <p:nvSpPr>
          <p:cNvPr id="12" name="TextBox 2"/>
          <p:cNvSpPr txBox="1"/>
          <p:nvPr/>
        </p:nvSpPr>
        <p:spPr>
          <a:xfrm>
            <a:off x="1066739" y="219050"/>
            <a:ext cx="4133088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典型分组密码</a:t>
            </a:r>
          </a:p>
        </p:txBody>
      </p:sp>
      <p:cxnSp>
        <p:nvCxnSpPr>
          <p:cNvPr id="13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页标题"/>
          <p:cNvSpPr txBox="1"/>
          <p:nvPr/>
        </p:nvSpPr>
        <p:spPr>
          <a:xfrm>
            <a:off x="502920" y="827532"/>
            <a:ext cx="11155680" cy="384048"/>
          </a:xfrm>
          <a:prstGeom prst="rect">
            <a:avLst/>
          </a:prstGeom>
          <a:noFill/>
        </p:spPr>
        <p:txBody>
          <a:bodyPr wrap="square" lIns="13716" tIns="0" rIns="13716" bIns="0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 i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DES 轮函数 F（4/4）—— P 置换</a:t>
            </a:r>
          </a:p>
        </p:txBody>
      </p:sp>
      <p:sp>
        <p:nvSpPr>
          <p:cNvPr id="15" name="流程导航_1">
            <a:hlinkClick r:id="rId3" action="ppaction://hlinksldjump"/>
          </p:cNvPr>
          <p:cNvSpPr/>
          <p:nvPr/>
        </p:nvSpPr>
        <p:spPr>
          <a:xfrm>
            <a:off x="731520" y="1344168"/>
            <a:ext cx="2660904" cy="374904"/>
          </a:xfrm>
          <a:prstGeom prst="chevron">
            <a:avLst>
              <a:gd name="adj" fmla="val 14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46304" bIns="0" rtlCol="0" anchor="ctr">
            <a:noAutofit/>
          </a:bodyPr>
          <a:lstStyle/>
          <a:p>
            <a:pPr algn="ctr"/>
            <a:r>
              <a:rPr lang="zh-CN" sz="1800" b="0" i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E 扩展</a:t>
            </a:r>
          </a:p>
        </p:txBody>
      </p:sp>
      <p:sp>
        <p:nvSpPr>
          <p:cNvPr id="16" name="流程导航_2">
            <a:hlinkClick r:id="rId4" action="ppaction://hlinksldjump"/>
          </p:cNvPr>
          <p:cNvSpPr/>
          <p:nvPr/>
        </p:nvSpPr>
        <p:spPr>
          <a:xfrm>
            <a:off x="3442715" y="1344168"/>
            <a:ext cx="2660904" cy="374904"/>
          </a:xfrm>
          <a:prstGeom prst="chevron">
            <a:avLst>
              <a:gd name="adj" fmla="val 14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46304" bIns="0" rtlCol="0" anchor="ctr">
            <a:noAutofit/>
          </a:bodyPr>
          <a:lstStyle/>
          <a:p>
            <a:pPr algn="ctr"/>
            <a:r>
              <a:rPr lang="zh-CN" sz="1800" b="0" i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与子密钥异或</a:t>
            </a:r>
          </a:p>
        </p:txBody>
      </p:sp>
      <p:sp>
        <p:nvSpPr>
          <p:cNvPr id="17" name="流程导航_3">
            <a:hlinkClick r:id="rId5" action="ppaction://hlinksldjump"/>
          </p:cNvPr>
          <p:cNvSpPr/>
          <p:nvPr/>
        </p:nvSpPr>
        <p:spPr>
          <a:xfrm>
            <a:off x="6153912" y="1344168"/>
            <a:ext cx="2660904" cy="374904"/>
          </a:xfrm>
          <a:prstGeom prst="chevron">
            <a:avLst>
              <a:gd name="adj" fmla="val 14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46304" bIns="0" rtlCol="0" anchor="ctr">
            <a:noAutofit/>
          </a:bodyPr>
          <a:lstStyle/>
          <a:p>
            <a:pPr algn="ctr"/>
            <a:r>
              <a:rPr lang="zh-CN" sz="1800" b="0" i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 盒代换</a:t>
            </a:r>
          </a:p>
        </p:txBody>
      </p:sp>
      <p:sp>
        <p:nvSpPr>
          <p:cNvPr id="18" name="流程导航_4">
            <a:hlinkClick r:id="rId6" action="ppaction://hlinksldjump"/>
          </p:cNvPr>
          <p:cNvSpPr/>
          <p:nvPr/>
        </p:nvSpPr>
        <p:spPr>
          <a:xfrm>
            <a:off x="8865108" y="1344168"/>
            <a:ext cx="2660904" cy="374904"/>
          </a:xfrm>
          <a:prstGeom prst="chevron">
            <a:avLst>
              <a:gd name="adj" fmla="val 14000"/>
            </a:avLst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46304" bIns="0" rtlCol="0" anchor="ctr">
            <a:noAutofit/>
          </a:bodyPr>
          <a:lstStyle/>
          <a:p>
            <a:pPr algn="ctr"/>
            <a:r>
              <a:rPr lang="zh-CN" sz="1800" b="1" i="0">
                <a:solidFill>
                  <a:srgbClr val="FFFF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P 盒置换</a:t>
            </a:r>
          </a:p>
        </p:txBody>
      </p:sp>
      <p:sp>
        <p:nvSpPr>
          <p:cNvPr id="19" name="内容底色_1"/>
          <p:cNvSpPr/>
          <p:nvPr/>
        </p:nvSpPr>
        <p:spPr>
          <a:xfrm>
            <a:off x="6459855" y="2701925"/>
            <a:ext cx="5198745" cy="217233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与</a:t>
            </a:r>
            <a:r>
              <a:rPr lang="en-US" alt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IP </a:t>
            </a:r>
            <a:r>
              <a:rPr lang="zh-CN" altLang="en-US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置换类似，按照</a:t>
            </a:r>
            <a:r>
              <a:rPr lang="en-US" alt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zh-CN" altLang="en-US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左边</a:t>
            </a:r>
            <a:r>
              <a:rPr lang="en-US" alt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P </a:t>
            </a:r>
            <a:r>
              <a:rPr lang="zh-CN" altLang="en-US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置换表的置换规则，将原来的</a:t>
            </a:r>
            <a:r>
              <a:rPr lang="en-US" alt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32 </a:t>
            </a:r>
            <a:r>
              <a:rPr lang="zh-CN" altLang="en-US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位二进制位重新排序。</a:t>
            </a:r>
            <a:r>
              <a:rPr 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如左图，输出前 4 位变成：</a:t>
            </a:r>
            <a:r>
              <a:rPr lang="zh-CN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x</a:t>
            </a:r>
            <a:r>
              <a:rPr lang="zh-CN" baseline="-23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16</a:t>
            </a:r>
            <a:r>
              <a:rPr lang="zh-CN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 </a:t>
            </a:r>
            <a:r>
              <a:rPr lang="zh-CN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x</a:t>
            </a:r>
            <a:r>
              <a:rPr lang="zh-CN" baseline="-23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7</a:t>
            </a:r>
            <a:r>
              <a:rPr lang="zh-CN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 </a:t>
            </a:r>
            <a:r>
              <a:rPr lang="zh-CN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x</a:t>
            </a:r>
            <a:r>
              <a:rPr lang="zh-CN" baseline="-23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20</a:t>
            </a:r>
            <a:r>
              <a:rPr lang="zh-CN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 </a:t>
            </a:r>
            <a:r>
              <a:rPr lang="zh-CN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x</a:t>
            </a:r>
            <a:r>
              <a:rPr lang="zh-CN" baseline="-23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21</a:t>
            </a:r>
            <a:endParaRPr lang="zh-CN" b="1" dirty="0">
              <a:solidFill>
                <a:srgbClr val="C0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作用</a:t>
            </a:r>
            <a:r>
              <a:rPr 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：</a:t>
            </a:r>
            <a:r>
              <a:rPr lang="en-US" dirty="0">
                <a:solidFill>
                  <a:srgbClr val="25313D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打散相邻 bit 的位置，使 S 盒输出进一步扩散，为下一轮提供更均匀的输入</a:t>
            </a:r>
            <a:r>
              <a:rPr lang="zh-CN" altLang="en-US" dirty="0">
                <a:solidFill>
                  <a:srgbClr val="25313D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，</a:t>
            </a:r>
            <a:r>
              <a:rPr 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使局部变化逐轮传播。</a:t>
            </a:r>
            <a:endParaRPr lang="zh-CN" altLang="en-US" dirty="0">
              <a:solidFill>
                <a:srgbClr val="25313D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20" name="内容底色_2"/>
          <p:cNvSpPr/>
          <p:nvPr/>
        </p:nvSpPr>
        <p:spPr>
          <a:xfrm>
            <a:off x="502285" y="5188585"/>
            <a:ext cx="11182985" cy="1189355"/>
          </a:xfrm>
          <a:prstGeom prst="rect">
            <a:avLst/>
          </a:prstGeom>
          <a:solidFill>
            <a:srgbClr val="FB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完整轮函数：</a:t>
            </a:r>
            <a:r>
              <a:rPr lang="zh-CN" sz="1800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F</a:t>
            </a:r>
            <a:r>
              <a:rPr lang="zh-CN" sz="18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(</a:t>
            </a:r>
            <a:r>
              <a:rPr lang="zh-CN" sz="1800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R</a:t>
            </a:r>
            <a:r>
              <a:rPr lang="zh-CN" sz="1800" i="1" baseline="-23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i−1</a:t>
            </a:r>
            <a:r>
              <a:rPr lang="zh-CN" sz="18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,</a:t>
            </a:r>
            <a:r>
              <a:rPr lang="zh-CN" sz="1800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K</a:t>
            </a:r>
            <a:r>
              <a:rPr lang="zh-CN" sz="1800" i="1" baseline="-23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</a:t>
            </a:r>
            <a:r>
              <a:rPr lang="zh-CN" sz="18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)</a:t>
            </a:r>
            <a:r>
              <a:rPr lang="en-US" altLang="zh-CN" sz="18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zh-CN" sz="18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=</a:t>
            </a:r>
            <a:r>
              <a:rPr lang="en-US" altLang="zh-CN" sz="18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zh-CN" sz="1800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P</a:t>
            </a:r>
            <a:r>
              <a:rPr lang="zh-CN" sz="18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(</a:t>
            </a:r>
            <a:r>
              <a:rPr lang="zh-CN" sz="1800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S</a:t>
            </a:r>
            <a:r>
              <a:rPr lang="zh-CN" sz="18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(</a:t>
            </a:r>
            <a:r>
              <a:rPr lang="zh-CN" sz="1800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E</a:t>
            </a:r>
            <a:r>
              <a:rPr lang="zh-CN" sz="18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(</a:t>
            </a:r>
            <a:r>
              <a:rPr lang="zh-CN" sz="1800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R</a:t>
            </a:r>
            <a:r>
              <a:rPr lang="zh-CN" sz="1800" i="1" baseline="-23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i−1</a:t>
            </a:r>
            <a:r>
              <a:rPr lang="zh-CN" sz="18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)</a:t>
            </a:r>
            <a:r>
              <a:rPr lang="en-US" altLang="zh-CN" sz="18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zh-CN" sz="18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⊕</a:t>
            </a:r>
            <a:r>
              <a:rPr lang="en-US" altLang="zh-CN" sz="18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zh-CN" sz="1800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K</a:t>
            </a:r>
            <a:r>
              <a:rPr lang="zh-CN" sz="1800" i="1" baseline="-23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</a:t>
            </a:r>
            <a:r>
              <a:rPr lang="zh-CN" sz="18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))</a:t>
            </a: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接回主流程：</a:t>
            </a:r>
            <a:r>
              <a:rPr lang="zh-CN" sz="1800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R</a:t>
            </a:r>
            <a:r>
              <a:rPr lang="zh-CN" sz="1800" i="1" baseline="-23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</a:t>
            </a:r>
            <a:r>
              <a:rPr lang="zh-CN" sz="18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=</a:t>
            </a:r>
            <a:r>
              <a:rPr lang="zh-CN" sz="1800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L</a:t>
            </a:r>
            <a:r>
              <a:rPr lang="zh-CN" sz="1800" i="1" baseline="-23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i−1</a:t>
            </a:r>
            <a:r>
              <a:rPr lang="en-US" altLang="zh-CN" sz="1800" i="1" baseline="-23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zh-CN" sz="18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⊕</a:t>
            </a:r>
            <a:r>
              <a:rPr lang="en-US" altLang="zh-CN" sz="18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zh-CN" sz="1800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F</a:t>
            </a:r>
            <a:r>
              <a:rPr lang="zh-CN" sz="18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(</a:t>
            </a:r>
            <a:r>
              <a:rPr lang="zh-CN" sz="1800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R</a:t>
            </a:r>
            <a:r>
              <a:rPr lang="zh-CN" sz="1800" i="1" baseline="-23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i−1</a:t>
            </a:r>
            <a:r>
              <a:rPr lang="zh-CN" sz="18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,</a:t>
            </a:r>
            <a:r>
              <a:rPr lang="zh-CN" sz="1800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K</a:t>
            </a:r>
            <a:r>
              <a:rPr lang="zh-CN" sz="1800" i="1" baseline="-23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</a:t>
            </a:r>
            <a:r>
              <a:rPr lang="zh-CN" sz="18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)</a:t>
            </a:r>
            <a:endParaRPr sz="1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内容底色_1"/>
          <p:cNvSpPr/>
          <p:nvPr/>
        </p:nvSpPr>
        <p:spPr>
          <a:xfrm>
            <a:off x="476250" y="1903730"/>
            <a:ext cx="11182350" cy="526415"/>
          </a:xfrm>
          <a:prstGeom prst="rect">
            <a:avLst/>
          </a:prstGeom>
          <a:solidFill>
            <a:srgbClr val="FB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置换方法：</a:t>
            </a:r>
            <a:r>
              <a:rPr 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对 S 盒的 32 位输出进行位置重排，位数与各比特取值不变。</a:t>
            </a:r>
          </a:p>
        </p:txBody>
      </p:sp>
      <p:sp>
        <p:nvSpPr>
          <p:cNvPr id="3" name="Shape 14"/>
          <p:cNvSpPr/>
          <p:nvPr/>
        </p:nvSpPr>
        <p:spPr>
          <a:xfrm>
            <a:off x="948690" y="2701925"/>
            <a:ext cx="4707890" cy="379730"/>
          </a:xfrm>
          <a:prstGeom prst="roundRect">
            <a:avLst>
              <a:gd name="adj" fmla="val 15789"/>
            </a:avLst>
          </a:prstGeom>
          <a:solidFill>
            <a:srgbClr val="F9DADA"/>
          </a:solidFill>
          <a:ln w="12700">
            <a:solidFill>
              <a:srgbClr val="F9DADA"/>
            </a:solidFill>
            <a:prstDash val="solid"/>
          </a:ln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P 置换表（32 bit → 32 bit）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948055" y="3370580"/>
          <a:ext cx="4709160" cy="1508760"/>
        </p:xfrm>
        <a:graphic>
          <a:graphicData uri="http://schemas.openxmlformats.org/drawingml/2006/table">
            <a:tbl>
              <a:tblPr/>
              <a:tblGrid>
                <a:gridCol w="588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86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86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86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86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86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86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886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71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16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7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20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21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29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12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28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17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15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23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26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5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18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31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10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2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8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24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14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32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27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3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9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19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13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30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6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22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11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4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25</a:t>
                      </a:r>
                      <a:endParaRPr lang="en-US" sz="180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18288" marR="18288" marT="18288" marB="18288" anchor="ctr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en-US" altLang="zh-CN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739" y="219050"/>
            <a:ext cx="4133088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典型分组密码</a:t>
            </a:r>
          </a:p>
        </p:txBody>
      </p:sp>
      <p:cxnSp>
        <p:nvCxnSpPr>
          <p:cNvPr id="4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页标题"/>
          <p:cNvSpPr txBox="1"/>
          <p:nvPr/>
        </p:nvSpPr>
        <p:spPr>
          <a:xfrm>
            <a:off x="502920" y="827532"/>
            <a:ext cx="111556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zh-CN" altLang="en-US" sz="2200" b="1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DES 的解密算法</a:t>
            </a:r>
            <a:endParaRPr lang="zh-CN" altLang="en-US" sz="2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6" name="文本_输入：64 位密文 C 与主密钥 K。先生成 K{1}～"/>
          <p:cNvSpPr txBox="1"/>
          <p:nvPr/>
        </p:nvSpPr>
        <p:spPr>
          <a:xfrm>
            <a:off x="508000" y="1384300"/>
            <a:ext cx="11176000" cy="393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zh-CN" b="0">
              <a:solidFill>
                <a:srgbClr val="40404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7" name="文本_密文 C（64 位）"/>
          <p:cNvSpPr txBox="1"/>
          <p:nvPr/>
        </p:nvSpPr>
        <p:spPr>
          <a:xfrm>
            <a:off x="660400" y="1968500"/>
            <a:ext cx="2667000" cy="342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密文 </a:t>
            </a:r>
            <a:r>
              <a:rPr lang="zh-CN" b="0" i="1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C</a:t>
            </a:r>
            <a:r>
              <a:rPr lang="zh-CN" b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（64 位）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93900" y="2349500"/>
            <a:ext cx="0" cy="203200"/>
          </a:xfrm>
          <a:prstGeom prst="line">
            <a:avLst/>
          </a:prstGeom>
          <a:ln w="16510">
            <a:solidFill>
              <a:srgbClr val="4040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图形_初始置换 IP"/>
          <p:cNvSpPr/>
          <p:nvPr/>
        </p:nvSpPr>
        <p:spPr>
          <a:xfrm>
            <a:off x="889000" y="2552700"/>
            <a:ext cx="2209800" cy="444500"/>
          </a:xfrm>
          <a:prstGeom prst="rect">
            <a:avLst/>
          </a:prstGeom>
          <a:solidFill>
            <a:srgbClr val="F5F5F5"/>
          </a:solidFill>
          <a:ln w="1016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0" rIns="38100" bIns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初始置换 IP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93900" y="2997200"/>
            <a:ext cx="0" cy="203200"/>
          </a:xfrm>
          <a:prstGeom prst="line">
            <a:avLst/>
          </a:prstGeom>
          <a:ln w="16510">
            <a:solidFill>
              <a:srgbClr val="4040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图形_CL{0}  ∥  CR{0}"/>
          <p:cNvSpPr/>
          <p:nvPr/>
        </p:nvSpPr>
        <p:spPr>
          <a:xfrm>
            <a:off x="584200" y="3200400"/>
            <a:ext cx="2819400" cy="457200"/>
          </a:xfrm>
          <a:prstGeom prst="rect">
            <a:avLst/>
          </a:prstGeom>
          <a:solidFill>
            <a:srgbClr val="EFF5F7"/>
          </a:solidFill>
          <a:ln w="1016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0" rIns="38100" bIns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 i="1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CL</a:t>
            </a:r>
            <a:r>
              <a:rPr lang="zh-CN" b="0" baseline="-25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0</a:t>
            </a:r>
            <a:r>
              <a:rPr lang="zh-CN" b="0" i="1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  </a:t>
            </a:r>
            <a:r>
              <a:rPr lang="zh-CN" b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∥</a:t>
            </a:r>
            <a:r>
              <a:rPr lang="zh-CN" b="0" i="1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  CR</a:t>
            </a:r>
            <a:r>
              <a:rPr lang="zh-CN" b="0" baseline="-25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993900" y="3657600"/>
            <a:ext cx="0" cy="203200"/>
          </a:xfrm>
          <a:prstGeom prst="line">
            <a:avLst/>
          </a:prstGeom>
          <a:ln w="16510">
            <a:solidFill>
              <a:srgbClr val="4040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图形_16 轮迭代&#10;K{16} → ··· →"/>
          <p:cNvSpPr/>
          <p:nvPr/>
        </p:nvSpPr>
        <p:spPr>
          <a:xfrm>
            <a:off x="584200" y="3860800"/>
            <a:ext cx="2819400" cy="825500"/>
          </a:xfrm>
          <a:prstGeom prst="rect">
            <a:avLst/>
          </a:prstGeom>
          <a:solidFill>
            <a:srgbClr val="FAF1F1"/>
          </a:solidFill>
          <a:ln w="1016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0" rIns="38100" bIns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16 轮迭代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 i="1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K</a:t>
            </a:r>
            <a:r>
              <a:rPr lang="zh-CN" b="0" baseline="-22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16</a:t>
            </a:r>
            <a:r>
              <a:rPr lang="zh-CN" b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 → ··· → </a:t>
            </a:r>
            <a:r>
              <a:rPr lang="zh-CN" b="0" i="1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K</a:t>
            </a:r>
            <a:r>
              <a:rPr lang="zh-CN" b="0" baseline="-22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93900" y="4686300"/>
            <a:ext cx="0" cy="203200"/>
          </a:xfrm>
          <a:prstGeom prst="line">
            <a:avLst/>
          </a:prstGeom>
          <a:ln w="16510">
            <a:solidFill>
              <a:srgbClr val="4040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图形_交换：CR{16} ∥ CL{16}"/>
          <p:cNvSpPr/>
          <p:nvPr/>
        </p:nvSpPr>
        <p:spPr>
          <a:xfrm>
            <a:off x="584200" y="4889500"/>
            <a:ext cx="2819400" cy="457200"/>
          </a:xfrm>
          <a:prstGeom prst="rect">
            <a:avLst/>
          </a:prstGeom>
          <a:solidFill>
            <a:srgbClr val="F5F5F5"/>
          </a:solidFill>
          <a:ln w="1016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0" rIns="38100" bIns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交换：</a:t>
            </a:r>
            <a:r>
              <a:rPr lang="zh-CN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CR</a:t>
            </a:r>
            <a:r>
              <a:rPr lang="zh-CN" b="0" baseline="-22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16</a:t>
            </a:r>
            <a:r>
              <a:rPr lang="zh-CN" b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 ∥ </a:t>
            </a:r>
            <a:r>
              <a:rPr lang="zh-CN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CL</a:t>
            </a:r>
            <a:r>
              <a:rPr lang="zh-CN" b="0" baseline="-22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16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993900" y="5346700"/>
            <a:ext cx="0" cy="203200"/>
          </a:xfrm>
          <a:prstGeom prst="line">
            <a:avLst/>
          </a:prstGeom>
          <a:ln w="16510">
            <a:solidFill>
              <a:srgbClr val="4040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图形_末置换 IP^{−1}"/>
          <p:cNvSpPr/>
          <p:nvPr/>
        </p:nvSpPr>
        <p:spPr>
          <a:xfrm>
            <a:off x="889000" y="5549900"/>
            <a:ext cx="2209800" cy="444500"/>
          </a:xfrm>
          <a:prstGeom prst="rect">
            <a:avLst/>
          </a:prstGeom>
          <a:solidFill>
            <a:srgbClr val="F5F5F5"/>
          </a:solidFill>
          <a:ln w="1016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0" rIns="38100" bIns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末置换 IP</a:t>
            </a:r>
            <a:r>
              <a:rPr lang="zh-CN" b="0" baseline="2800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−1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993900" y="5994400"/>
            <a:ext cx="0" cy="152400"/>
          </a:xfrm>
          <a:prstGeom prst="line">
            <a:avLst/>
          </a:prstGeom>
          <a:ln w="16510">
            <a:solidFill>
              <a:srgbClr val="4040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文本_明文 M"/>
          <p:cNvSpPr txBox="1"/>
          <p:nvPr/>
        </p:nvSpPr>
        <p:spPr>
          <a:xfrm>
            <a:off x="850900" y="6146800"/>
            <a:ext cx="2298700" cy="317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明文 </a:t>
            </a:r>
            <a:r>
              <a:rPr lang="zh-CN" b="1" i="1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M</a:t>
            </a:r>
          </a:p>
        </p:txBody>
      </p:sp>
      <p:sp>
        <p:nvSpPr>
          <p:cNvPr id="20" name="文本_① 初始置换"/>
          <p:cNvSpPr txBox="1"/>
          <p:nvPr/>
        </p:nvSpPr>
        <p:spPr>
          <a:xfrm>
            <a:off x="3937000" y="1968500"/>
            <a:ext cx="29972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① 初始置换</a:t>
            </a:r>
          </a:p>
        </p:txBody>
      </p:sp>
      <p:sp>
        <p:nvSpPr>
          <p:cNvPr id="21" name="文本_C′ = IP(C)"/>
          <p:cNvSpPr txBox="1"/>
          <p:nvPr/>
        </p:nvSpPr>
        <p:spPr>
          <a:xfrm>
            <a:off x="7112000" y="1943100"/>
            <a:ext cx="4521200" cy="368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</a:t>
            </a:r>
            <a:r>
              <a:rPr lang="zh-CN" sz="1800" b="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′ = IP(</a:t>
            </a:r>
            <a:r>
              <a:rPr lang="zh-CN" sz="1800" b="0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</a:t>
            </a:r>
            <a:r>
              <a:rPr lang="zh-CN" sz="1800" b="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)</a:t>
            </a:r>
          </a:p>
        </p:txBody>
      </p:sp>
      <p:sp>
        <p:nvSpPr>
          <p:cNvPr id="22" name="文本_② 分成左右两半"/>
          <p:cNvSpPr txBox="1"/>
          <p:nvPr/>
        </p:nvSpPr>
        <p:spPr>
          <a:xfrm>
            <a:off x="3937000" y="2540000"/>
            <a:ext cx="32004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② 分成左右两半</a:t>
            </a:r>
          </a:p>
        </p:txBody>
      </p:sp>
      <p:sp>
        <p:nvSpPr>
          <p:cNvPr id="23" name="文本_C′ = CL{0} ∥ CR{0}，各 32 位"/>
          <p:cNvSpPr txBox="1"/>
          <p:nvPr/>
        </p:nvSpPr>
        <p:spPr>
          <a:xfrm>
            <a:off x="7112000" y="2527300"/>
            <a:ext cx="45212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</a:t>
            </a:r>
            <a:r>
              <a:rPr lang="zh-CN" sz="1800" b="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′ = </a:t>
            </a:r>
            <a:r>
              <a:rPr lang="zh-CN" sz="1800" b="0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CL</a:t>
            </a:r>
            <a:r>
              <a:rPr lang="zh-CN" sz="1800" b="0" baseline="-22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0</a:t>
            </a:r>
            <a:r>
              <a:rPr lang="zh-CN" sz="1800" b="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∥ </a:t>
            </a:r>
            <a:r>
              <a:rPr lang="zh-CN" sz="1800" b="0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CR</a:t>
            </a:r>
            <a:r>
              <a:rPr lang="zh-CN" sz="1800" b="0" baseline="-22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0</a:t>
            </a:r>
            <a:r>
              <a:rPr lang="zh-CN" sz="1800" b="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，各 32 位</a:t>
            </a:r>
          </a:p>
        </p:txBody>
      </p:sp>
      <p:sp>
        <p:nvSpPr>
          <p:cNvPr id="24" name="图形_背景"/>
          <p:cNvSpPr/>
          <p:nvPr/>
        </p:nvSpPr>
        <p:spPr>
          <a:xfrm>
            <a:off x="3821430" y="3073400"/>
            <a:ext cx="7848600" cy="1700530"/>
          </a:xfrm>
          <a:prstGeom prst="rect">
            <a:avLst/>
          </a:prstGeom>
          <a:solidFill>
            <a:srgbClr val="FA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文本_③ 执行 16 轮（i = 1, …, 16）"/>
          <p:cNvSpPr txBox="1"/>
          <p:nvPr/>
        </p:nvSpPr>
        <p:spPr>
          <a:xfrm>
            <a:off x="3937000" y="3187700"/>
            <a:ext cx="7366000" cy="368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③ 执行 16 轮（</a:t>
            </a:r>
            <a:r>
              <a:rPr lang="zh-CN" b="1" i="1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</a:t>
            </a:r>
            <a:r>
              <a:rPr lang="zh-CN" b="1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= 1, …, 16）</a:t>
            </a:r>
          </a:p>
        </p:txBody>
      </p:sp>
      <p:sp>
        <p:nvSpPr>
          <p:cNvPr id="26" name="文本_CL{i} = CR{i−1}"/>
          <p:cNvSpPr txBox="1"/>
          <p:nvPr/>
        </p:nvSpPr>
        <p:spPr>
          <a:xfrm>
            <a:off x="4114800" y="3708400"/>
            <a:ext cx="73025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CL</a:t>
            </a:r>
            <a:r>
              <a:rPr lang="zh-CN" sz="1800" b="0" i="1" baseline="-22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</a:t>
            </a:r>
            <a:r>
              <a:rPr lang="zh-CN" sz="1800" b="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= </a:t>
            </a:r>
            <a:r>
              <a:rPr lang="zh-CN" sz="1800" b="0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CR</a:t>
            </a:r>
            <a:r>
              <a:rPr lang="zh-CN" sz="1800" b="0" i="1" baseline="-22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</a:t>
            </a:r>
            <a:r>
              <a:rPr lang="zh-CN" sz="1800" b="0" baseline="-22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−1</a:t>
            </a:r>
          </a:p>
        </p:txBody>
      </p:sp>
      <p:sp>
        <p:nvSpPr>
          <p:cNvPr id="27" name="文本_CR{i} = CL{i−1} ⊕ F(CR{i−1},"/>
          <p:cNvSpPr txBox="1"/>
          <p:nvPr/>
        </p:nvSpPr>
        <p:spPr>
          <a:xfrm>
            <a:off x="4114800" y="4229100"/>
            <a:ext cx="73025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CR</a:t>
            </a:r>
            <a:r>
              <a:rPr lang="zh-CN" sz="1800" b="0" i="1" baseline="-22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</a:t>
            </a:r>
            <a:r>
              <a:rPr lang="zh-CN" sz="1800" b="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= </a:t>
            </a:r>
            <a:r>
              <a:rPr lang="zh-CN" sz="1800" b="0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CL</a:t>
            </a:r>
            <a:r>
              <a:rPr lang="zh-CN" sz="1800" b="0" i="1" baseline="-22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</a:t>
            </a:r>
            <a:r>
              <a:rPr lang="zh-CN" sz="1800" b="0" baseline="-22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−1</a:t>
            </a:r>
            <a:r>
              <a:rPr lang="zh-CN" sz="1800" b="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⊕ </a:t>
            </a:r>
            <a:r>
              <a:rPr lang="zh-CN" sz="1800" b="0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</a:t>
            </a:r>
            <a:r>
              <a:rPr lang="zh-CN" sz="1800" b="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(</a:t>
            </a:r>
            <a:r>
              <a:rPr lang="zh-CN" sz="1800" b="0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CR</a:t>
            </a:r>
            <a:r>
              <a:rPr lang="zh-CN" sz="1800" b="0" i="1" baseline="-22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</a:t>
            </a:r>
            <a:r>
              <a:rPr lang="zh-CN" sz="1800" b="0" baseline="-22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−1</a:t>
            </a:r>
            <a:r>
              <a:rPr lang="zh-CN" sz="1800" b="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, </a:t>
            </a:r>
            <a:r>
              <a:rPr lang="zh-CN" sz="1800" b="0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K</a:t>
            </a:r>
            <a:r>
              <a:rPr lang="zh-CN" sz="1800" b="0" baseline="-22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17−</a:t>
            </a:r>
            <a:r>
              <a:rPr lang="zh-CN" sz="1800" b="0" i="1" baseline="-22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</a:t>
            </a:r>
            <a:r>
              <a:rPr lang="zh-CN" sz="1800" b="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)</a:t>
            </a:r>
          </a:p>
        </p:txBody>
      </p:sp>
      <p:sp>
        <p:nvSpPr>
          <p:cNvPr id="28" name="文本_④ 交换两半，再做末置换"/>
          <p:cNvSpPr txBox="1"/>
          <p:nvPr/>
        </p:nvSpPr>
        <p:spPr>
          <a:xfrm>
            <a:off x="3937000" y="4991735"/>
            <a:ext cx="75438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④ 交换两半，再做末置换</a:t>
            </a:r>
          </a:p>
        </p:txBody>
      </p:sp>
      <p:sp>
        <p:nvSpPr>
          <p:cNvPr id="29" name="文本_M = IP^{−1}(CR{16} ∥ CL{16})"/>
          <p:cNvSpPr txBox="1"/>
          <p:nvPr/>
        </p:nvSpPr>
        <p:spPr>
          <a:xfrm>
            <a:off x="4127500" y="5487035"/>
            <a:ext cx="7340600" cy="44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M</a:t>
            </a:r>
            <a:r>
              <a:rPr lang="zh-CN" sz="1800" b="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= IP</a:t>
            </a:r>
            <a:r>
              <a:rPr lang="zh-CN" sz="1800" b="0" baseline="28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−1</a:t>
            </a:r>
            <a:r>
              <a:rPr lang="zh-CN" sz="1800" b="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(</a:t>
            </a:r>
            <a:r>
              <a:rPr lang="zh-CN" sz="1800" b="0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CR</a:t>
            </a:r>
            <a:r>
              <a:rPr lang="zh-CN" sz="1800" b="0" baseline="-22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16</a:t>
            </a:r>
            <a:r>
              <a:rPr lang="zh-CN" sz="1800" b="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∥ </a:t>
            </a:r>
            <a:r>
              <a:rPr lang="zh-CN" sz="1800" b="0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CL</a:t>
            </a:r>
            <a:r>
              <a:rPr lang="zh-CN" sz="1800" b="0" baseline="-22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16</a:t>
            </a:r>
            <a:r>
              <a:rPr lang="zh-CN" sz="1800" b="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)</a:t>
            </a:r>
          </a:p>
        </p:txBody>
      </p:sp>
      <p:sp>
        <p:nvSpPr>
          <p:cNvPr id="30" name="文本_首轮用 K{16}，末轮用 K{1}；每轮仍使用同一个 "/>
          <p:cNvSpPr txBox="1"/>
          <p:nvPr/>
        </p:nvSpPr>
        <p:spPr>
          <a:xfrm>
            <a:off x="3937000" y="6045835"/>
            <a:ext cx="76835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首轮用 </a:t>
            </a:r>
            <a:r>
              <a:rPr lang="zh-CN" b="0" i="1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K</a:t>
            </a:r>
            <a:r>
              <a:rPr lang="zh-CN" b="0" baseline="-22000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16</a:t>
            </a:r>
            <a:r>
              <a:rPr lang="zh-CN" b="0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，末轮用 </a:t>
            </a:r>
            <a:r>
              <a:rPr lang="zh-CN" b="0" i="1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K</a:t>
            </a:r>
            <a:r>
              <a:rPr lang="zh-CN" b="0" baseline="-22000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</a:t>
            </a:r>
            <a:r>
              <a:rPr lang="zh-CN" b="0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；每轮仍使用同一个 </a:t>
            </a:r>
            <a:r>
              <a:rPr lang="zh-CN" b="0" i="1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</a:t>
            </a:r>
            <a:r>
              <a:rPr lang="zh-CN" b="0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，无需逆 S 盒。</a:t>
            </a:r>
          </a:p>
        </p:txBody>
      </p:sp>
      <p:sp>
        <p:nvSpPr>
          <p:cNvPr id="31" name="内容底色_1"/>
          <p:cNvSpPr/>
          <p:nvPr/>
        </p:nvSpPr>
        <p:spPr>
          <a:xfrm>
            <a:off x="508000" y="1308735"/>
            <a:ext cx="11182350" cy="526415"/>
          </a:xfrm>
          <a:prstGeom prst="rect">
            <a:avLst/>
          </a:prstGeom>
          <a:solidFill>
            <a:srgbClr val="FB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输入</a:t>
            </a:r>
            <a:r>
              <a:rPr 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：64 位密文 </a:t>
            </a:r>
            <a:r>
              <a:rPr lang="zh-CN" i="1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C</a:t>
            </a:r>
            <a:r>
              <a:rPr 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与主密钥 </a:t>
            </a:r>
            <a:r>
              <a:rPr lang="zh-CN" i="1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K</a:t>
            </a:r>
            <a:r>
              <a:rPr 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。先生成 </a:t>
            </a:r>
            <a:r>
              <a:rPr lang="zh-CN" i="1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K</a:t>
            </a:r>
            <a:r>
              <a:rPr lang="zh-CN" baseline="-25000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1</a:t>
            </a:r>
            <a:r>
              <a:rPr 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～</a:t>
            </a:r>
            <a:r>
              <a:rPr lang="zh-CN" i="1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K</a:t>
            </a:r>
            <a:r>
              <a:rPr lang="zh-CN" baseline="-25000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16</a:t>
            </a:r>
            <a:r>
              <a:rPr 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，解密时按相反顺序使用。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en-US" altLang="zh-CN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739" y="219050"/>
            <a:ext cx="4133088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典型分组密码</a:t>
            </a:r>
          </a:p>
        </p:txBody>
      </p:sp>
      <p:cxnSp>
        <p:nvCxnSpPr>
          <p:cNvPr id="4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页标题"/>
          <p:cNvSpPr txBox="1"/>
          <p:nvPr/>
        </p:nvSpPr>
        <p:spPr>
          <a:xfrm>
            <a:off x="502920" y="827532"/>
            <a:ext cx="111556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zh-CN" altLang="en-US" sz="2200" b="1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DES 密钥扩展（一）：轮密钥的生成流程</a:t>
            </a:r>
            <a:endParaRPr lang="zh-CN" altLang="en-US" sz="2200">
              <a:latin typeface="Times New Roman" panose="02020603050405020304"/>
              <a:ea typeface="微软雅黑" panose="020B0503020204020204" charset="-122"/>
            </a:endParaRPr>
          </a:p>
        </p:txBody>
      </p:sp>
      <p:graphicFrame>
        <p:nvGraphicFramePr>
          <p:cNvPr id="26" name="DES 16轮循环左移表"/>
          <p:cNvGraphicFramePr>
            <a:graphicFrameLocks noGrp="1"/>
          </p:cNvGraphicFramePr>
          <p:nvPr/>
        </p:nvGraphicFramePr>
        <p:xfrm>
          <a:off x="5806440" y="1709928"/>
          <a:ext cx="587044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8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68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68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68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689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689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689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689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2689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2689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2689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2689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2689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2689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26898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轮次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>
                          <a:solidFill>
                            <a:srgbClr val="C0000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A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>
                          <a:solidFill>
                            <a:srgbClr val="C0000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A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5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 dirty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6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7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8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>
                          <a:solidFill>
                            <a:srgbClr val="C0000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9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A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>
                          <a:solidFill>
                            <a:srgbClr val="C0000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16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A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位移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>
                          <a:solidFill>
                            <a:srgbClr val="C0000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A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>
                          <a:solidFill>
                            <a:srgbClr val="C0000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A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>
                          <a:solidFill>
                            <a:srgbClr val="C0000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A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 dirty="0">
                          <a:solidFill>
                            <a:srgbClr val="C0000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A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8" name="图形_b{1}"/>
          <p:cNvSpPr/>
          <p:nvPr/>
        </p:nvSpPr>
        <p:spPr>
          <a:xfrm>
            <a:off x="5805225" y="2978658"/>
            <a:ext cx="455497" cy="530352"/>
          </a:xfrm>
          <a:prstGeom prst="rect">
            <a:avLst/>
          </a:prstGeom>
          <a:solidFill>
            <a:srgbClr val="FAF1F1"/>
          </a:solidFill>
          <a:ln w="1016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b</a:t>
            </a:r>
            <a:r>
              <a:rPr lang="zh-CN" sz="1800" i="1" baseline="-220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</a:t>
            </a:r>
          </a:p>
        </p:txBody>
      </p:sp>
      <p:sp>
        <p:nvSpPr>
          <p:cNvPr id="29" name="图形_b{2}  b{3}  …  b{28}"/>
          <p:cNvSpPr/>
          <p:nvPr/>
        </p:nvSpPr>
        <p:spPr>
          <a:xfrm>
            <a:off x="6260722" y="2978658"/>
            <a:ext cx="2125653" cy="530352"/>
          </a:xfrm>
          <a:prstGeom prst="rect">
            <a:avLst/>
          </a:prstGeom>
          <a:solidFill>
            <a:srgbClr val="F5F5F5"/>
          </a:solidFill>
          <a:ln w="1016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b</a:t>
            </a:r>
            <a:r>
              <a:rPr lang="zh-CN" sz="1800" i="1" baseline="-220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2</a:t>
            </a:r>
            <a:r>
              <a:rPr lang="zh-CN" sz="1800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 b</a:t>
            </a:r>
            <a:r>
              <a:rPr lang="zh-CN" sz="1800" i="1" baseline="-220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3</a:t>
            </a:r>
            <a:r>
              <a:rPr lang="zh-CN" sz="1800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 …  b</a:t>
            </a:r>
            <a:r>
              <a:rPr lang="zh-CN" sz="1800" i="1" baseline="-220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28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523025" y="3243834"/>
            <a:ext cx="440313" cy="0"/>
          </a:xfrm>
          <a:prstGeom prst="line">
            <a:avLst/>
          </a:prstGeom>
          <a:ln w="22860">
            <a:solidFill>
              <a:srgbClr val="C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图形_b{2}  b{3}  …  b{28}"/>
          <p:cNvSpPr/>
          <p:nvPr/>
        </p:nvSpPr>
        <p:spPr>
          <a:xfrm>
            <a:off x="9099988" y="2978658"/>
            <a:ext cx="2125653" cy="530352"/>
          </a:xfrm>
          <a:prstGeom prst="rect">
            <a:avLst/>
          </a:prstGeom>
          <a:solidFill>
            <a:srgbClr val="F5F5F5"/>
          </a:solidFill>
          <a:ln w="1016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b</a:t>
            </a:r>
            <a:r>
              <a:rPr lang="zh-CN" sz="1800" i="1" baseline="-220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2</a:t>
            </a:r>
            <a:r>
              <a:rPr lang="zh-CN" sz="1800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 b</a:t>
            </a:r>
            <a:r>
              <a:rPr lang="zh-CN" sz="1800" i="1" baseline="-220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3</a:t>
            </a:r>
            <a:r>
              <a:rPr lang="zh-CN" sz="1800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 …  b</a:t>
            </a:r>
            <a:r>
              <a:rPr lang="zh-CN" sz="1800" i="1" baseline="-220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28</a:t>
            </a:r>
          </a:p>
        </p:txBody>
      </p:sp>
      <p:sp>
        <p:nvSpPr>
          <p:cNvPr id="32" name="图形_b{1}"/>
          <p:cNvSpPr/>
          <p:nvPr/>
        </p:nvSpPr>
        <p:spPr>
          <a:xfrm>
            <a:off x="11225642" y="2978658"/>
            <a:ext cx="455497" cy="530352"/>
          </a:xfrm>
          <a:prstGeom prst="rect">
            <a:avLst/>
          </a:prstGeom>
          <a:solidFill>
            <a:srgbClr val="FAF1F1"/>
          </a:solidFill>
          <a:ln w="1016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b</a:t>
            </a:r>
            <a:r>
              <a:rPr lang="zh-CN" sz="1800" i="1" baseline="-220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</a:t>
            </a:r>
          </a:p>
        </p:txBody>
      </p:sp>
      <p:sp>
        <p:nvSpPr>
          <p:cNvPr id="33" name="文本_循环左移说明"/>
          <p:cNvSpPr txBox="1"/>
          <p:nvPr/>
        </p:nvSpPr>
        <p:spPr>
          <a:xfrm>
            <a:off x="5806440" y="3667887"/>
            <a:ext cx="587044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移出的 b</a:t>
            </a:r>
            <a:r>
              <a:rPr lang="zh-CN" baseline="-2200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</a:t>
            </a:r>
            <a:r>
              <a:rPr 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回到末尾；D 分支同样独立循环左移。</a:t>
            </a:r>
          </a:p>
        </p:txBody>
      </p:sp>
      <p:sp>
        <p:nvSpPr>
          <p:cNvPr id="1001" name="流程_主密钥"/>
          <p:cNvSpPr/>
          <p:nvPr/>
        </p:nvSpPr>
        <p:spPr>
          <a:xfrm>
            <a:off x="512064" y="1325880"/>
            <a:ext cx="3840480" cy="585216"/>
          </a:xfrm>
          <a:prstGeom prst="rect">
            <a:avLst/>
          </a:prstGeom>
          <a:solidFill>
            <a:srgbClr val="F5F5F5"/>
          </a:solidFill>
          <a:ln w="10160">
            <a:solidFill>
              <a:srgbClr val="B8B8B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主密钥 </a:t>
            </a:r>
            <a:r>
              <a:rPr lang="zh-CN" sz="1800" b="1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K</a:t>
            </a:r>
            <a:r>
              <a:rPr lang="zh-CN" sz="1800" b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（64 位）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56 位密钥 ＋ 8 位奇偶校验位</a:t>
            </a:r>
          </a:p>
        </p:txBody>
      </p:sp>
      <p:sp>
        <p:nvSpPr>
          <p:cNvPr id="1002" name="流程_置换选择1"/>
          <p:cNvSpPr/>
          <p:nvPr/>
        </p:nvSpPr>
        <p:spPr>
          <a:xfrm>
            <a:off x="512064" y="2148840"/>
            <a:ext cx="3840480" cy="585216"/>
          </a:xfrm>
          <a:prstGeom prst="rect">
            <a:avLst/>
          </a:prstGeom>
          <a:solidFill>
            <a:srgbClr val="F5F5F5"/>
          </a:solidFill>
          <a:ln w="10160">
            <a:solidFill>
              <a:srgbClr val="C0000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置换选择 1（Permuted Choice 1）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64 位 → 56 位：去掉 8 位校验位</a:t>
            </a:r>
          </a:p>
        </p:txBody>
      </p:sp>
      <p:sp>
        <p:nvSpPr>
          <p:cNvPr id="1003" name="流程_C0"/>
          <p:cNvSpPr/>
          <p:nvPr/>
        </p:nvSpPr>
        <p:spPr>
          <a:xfrm>
            <a:off x="512064" y="2971800"/>
            <a:ext cx="1792224" cy="585216"/>
          </a:xfrm>
          <a:prstGeom prst="rect">
            <a:avLst/>
          </a:prstGeom>
          <a:solidFill>
            <a:srgbClr val="F5F5F5"/>
          </a:solidFill>
          <a:ln w="10160">
            <a:solidFill>
              <a:srgbClr val="B8B8B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</a:t>
            </a:r>
            <a:r>
              <a:rPr lang="en-US" altLang="zh-CN" sz="1800" b="1" i="1" baseline="-220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</a:t>
            </a:r>
            <a:r>
              <a:rPr lang="en-US" altLang="zh-CN" sz="1800" b="1" baseline="-220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-1</a:t>
            </a:r>
            <a:r>
              <a:rPr lang="zh-CN" sz="1800" b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（28 位）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 </a:t>
            </a:r>
            <a:r>
              <a:rPr lang="en-US" altLang="zh-CN" sz="16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= 1 </a:t>
            </a:r>
            <a:r>
              <a:rPr lang="zh-CN" altLang="en-US" sz="16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时为</a:t>
            </a:r>
            <a:r>
              <a:rPr lang="en-US" altLang="zh-CN" sz="16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1600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C</a:t>
            </a:r>
            <a:r>
              <a:rPr lang="en-US" altLang="zh-CN" sz="1600" baseline="-250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0</a:t>
            </a:r>
          </a:p>
        </p:txBody>
      </p:sp>
      <p:sp>
        <p:nvSpPr>
          <p:cNvPr id="1004" name="流程_D0"/>
          <p:cNvSpPr/>
          <p:nvPr/>
        </p:nvSpPr>
        <p:spPr>
          <a:xfrm>
            <a:off x="2560320" y="2971800"/>
            <a:ext cx="1792224" cy="585216"/>
          </a:xfrm>
          <a:prstGeom prst="rect">
            <a:avLst/>
          </a:prstGeom>
          <a:solidFill>
            <a:srgbClr val="F5F5F5"/>
          </a:solidFill>
          <a:ln w="10160">
            <a:solidFill>
              <a:srgbClr val="B8B8B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D</a:t>
            </a:r>
            <a:r>
              <a:rPr lang="en-US" altLang="zh-CN" sz="1800" b="1" i="1" baseline="-220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</a:t>
            </a:r>
            <a:r>
              <a:rPr lang="en-US" altLang="zh-CN" sz="1800" b="1" baseline="-220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-1</a:t>
            </a:r>
            <a:r>
              <a:rPr lang="zh-CN" sz="1800" b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（28 位）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 </a:t>
            </a:r>
            <a:r>
              <a:rPr lang="en-US" altLang="zh-CN" sz="16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= 1 </a:t>
            </a:r>
            <a:r>
              <a:rPr lang="zh-CN" altLang="en-US" sz="16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时为</a:t>
            </a:r>
            <a:r>
              <a:rPr lang="en-US" altLang="zh-CN" sz="16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1600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D</a:t>
            </a:r>
            <a:r>
              <a:rPr lang="en-US" altLang="zh-CN" sz="1600" baseline="-250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0</a:t>
            </a:r>
            <a:endParaRPr lang="zh-CN" sz="1600">
              <a:solidFill>
                <a:srgbClr val="40404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005" name="流程_Ci"/>
          <p:cNvSpPr/>
          <p:nvPr/>
        </p:nvSpPr>
        <p:spPr>
          <a:xfrm>
            <a:off x="512064" y="3909060"/>
            <a:ext cx="1792224" cy="585216"/>
          </a:xfrm>
          <a:prstGeom prst="rect">
            <a:avLst/>
          </a:prstGeom>
          <a:solidFill>
            <a:srgbClr val="F5F5F5"/>
          </a:solidFill>
          <a:ln w="10160">
            <a:solidFill>
              <a:srgbClr val="B8B8B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</a:t>
            </a:r>
            <a:r>
              <a:rPr lang="en-US" altLang="zh-CN" sz="1800" b="1" i="1" baseline="-220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</a:t>
            </a:r>
            <a:r>
              <a:rPr lang="zh-CN" sz="1800" b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（28 位）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 </a:t>
            </a:r>
            <a:r>
              <a:rPr lang="en-US" altLang="zh-CN" sz="16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= 1 </a:t>
            </a:r>
            <a:r>
              <a:rPr lang="zh-CN" altLang="en-US" sz="16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时为</a:t>
            </a:r>
            <a:r>
              <a:rPr lang="en-US" altLang="zh-CN" sz="16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1600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C</a:t>
            </a:r>
            <a:r>
              <a:rPr lang="en-US" altLang="zh-CN" sz="1600" baseline="-250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1</a:t>
            </a:r>
            <a:endParaRPr lang="zh-CN" sz="1600">
              <a:solidFill>
                <a:srgbClr val="40404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006" name="流程_Di"/>
          <p:cNvSpPr/>
          <p:nvPr/>
        </p:nvSpPr>
        <p:spPr>
          <a:xfrm>
            <a:off x="2560320" y="3909060"/>
            <a:ext cx="1792224" cy="585216"/>
          </a:xfrm>
          <a:prstGeom prst="rect">
            <a:avLst/>
          </a:prstGeom>
          <a:solidFill>
            <a:srgbClr val="F5F5F5"/>
          </a:solidFill>
          <a:ln w="10160">
            <a:solidFill>
              <a:srgbClr val="B8B8B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D</a:t>
            </a:r>
            <a:r>
              <a:rPr lang="en-US" altLang="zh-CN" sz="1800" b="1" i="1" baseline="-250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</a:t>
            </a:r>
            <a:r>
              <a:rPr lang="zh-CN" sz="1800" b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（28 位）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 </a:t>
            </a:r>
            <a:r>
              <a:rPr lang="en-US" altLang="zh-CN" sz="16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= 1 </a:t>
            </a:r>
            <a:r>
              <a:rPr lang="zh-CN" altLang="en-US" sz="16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时为</a:t>
            </a:r>
            <a:r>
              <a:rPr lang="en-US" altLang="zh-CN" sz="16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1600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D</a:t>
            </a:r>
            <a:r>
              <a:rPr lang="en-US" altLang="zh-CN" sz="1600" baseline="-250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1</a:t>
            </a:r>
            <a:endParaRPr lang="zh-CN" sz="1600">
              <a:solidFill>
                <a:srgbClr val="40404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007" name="流程_置换选择2"/>
          <p:cNvSpPr/>
          <p:nvPr/>
        </p:nvSpPr>
        <p:spPr>
          <a:xfrm>
            <a:off x="512064" y="4732020"/>
            <a:ext cx="3840480" cy="585216"/>
          </a:xfrm>
          <a:prstGeom prst="rect">
            <a:avLst/>
          </a:prstGeom>
          <a:solidFill>
            <a:srgbClr val="F5F5F5"/>
          </a:solidFill>
          <a:ln w="10160">
            <a:solidFill>
              <a:srgbClr val="C0000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置换选择 2（Permuted Choice 2）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i="1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</a:t>
            </a:r>
            <a:r>
              <a:rPr lang="zh-CN" sz="1600" i="1" baseline="-2200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</a:t>
            </a:r>
            <a:r>
              <a:rPr lang="zh-CN" sz="160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‖D</a:t>
            </a:r>
            <a:r>
              <a:rPr lang="zh-CN" sz="1600" i="1" baseline="-2200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</a:t>
            </a:r>
            <a:r>
              <a:rPr lang="zh-CN" sz="160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合成 56 位 → 48 位</a:t>
            </a:r>
          </a:p>
        </p:txBody>
      </p:sp>
      <p:sp>
        <p:nvSpPr>
          <p:cNvPr id="1008" name="流程_Ki"/>
          <p:cNvSpPr/>
          <p:nvPr/>
        </p:nvSpPr>
        <p:spPr>
          <a:xfrm>
            <a:off x="511810" y="5555615"/>
            <a:ext cx="3840480" cy="470535"/>
          </a:xfrm>
          <a:prstGeom prst="rect">
            <a:avLst/>
          </a:prstGeom>
          <a:solidFill>
            <a:srgbClr val="F5F5F5"/>
          </a:solidFill>
          <a:ln w="10160">
            <a:solidFill>
              <a:srgbClr val="B8B8B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K</a:t>
            </a:r>
            <a:r>
              <a:rPr lang="zh-CN" sz="1800" b="1" i="1" baseline="-220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</a:t>
            </a:r>
            <a:r>
              <a:rPr lang="zh-CN" sz="1800" b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（48 位）＝第 </a:t>
            </a:r>
            <a:r>
              <a:rPr lang="zh-CN" sz="1800" b="1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</a:t>
            </a:r>
            <a:r>
              <a:rPr lang="zh-CN" sz="1800" b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轮的轮密钥</a:t>
            </a:r>
          </a:p>
        </p:txBody>
      </p:sp>
      <p:cxnSp>
        <p:nvCxnSpPr>
          <p:cNvPr id="1009" name="箭头_K_PC1"/>
          <p:cNvCxnSpPr/>
          <p:nvPr/>
        </p:nvCxnSpPr>
        <p:spPr>
          <a:xfrm>
            <a:off x="2432304" y="1911095"/>
            <a:ext cx="0" cy="237744"/>
          </a:xfrm>
          <a:prstGeom prst="line">
            <a:avLst/>
          </a:prstGeom>
          <a:ln w="20320">
            <a:solidFill>
              <a:srgbClr val="C00000"/>
            </a:solidFill>
            <a:tailEnd type="triangle" w="sm" len="sm"/>
          </a:ln>
        </p:spPr>
      </p:cxnSp>
      <p:cxnSp>
        <p:nvCxnSpPr>
          <p:cNvPr id="1010" name="箭头_PC1_CD"/>
          <p:cNvCxnSpPr/>
          <p:nvPr/>
        </p:nvCxnSpPr>
        <p:spPr>
          <a:xfrm>
            <a:off x="1408176" y="2734056"/>
            <a:ext cx="0" cy="237744"/>
          </a:xfrm>
          <a:prstGeom prst="line">
            <a:avLst/>
          </a:prstGeom>
          <a:ln w="20320">
            <a:solidFill>
              <a:srgbClr val="C00000"/>
            </a:solidFill>
            <a:tailEnd type="triangle" w="sm" len="sm"/>
          </a:ln>
        </p:spPr>
      </p:cxnSp>
      <p:cxnSp>
        <p:nvCxnSpPr>
          <p:cNvPr id="1011" name="箭头_CD_CDi"/>
          <p:cNvCxnSpPr>
            <a:endCxn id="1005" idx="0"/>
          </p:cNvCxnSpPr>
          <p:nvPr/>
        </p:nvCxnSpPr>
        <p:spPr>
          <a:xfrm flipH="1">
            <a:off x="1407541" y="3557016"/>
            <a:ext cx="635" cy="351790"/>
          </a:xfrm>
          <a:prstGeom prst="line">
            <a:avLst/>
          </a:prstGeom>
          <a:ln w="20320">
            <a:solidFill>
              <a:srgbClr val="C00000"/>
            </a:solidFill>
            <a:tailEnd type="triangle" w="sm" len="sm"/>
          </a:ln>
        </p:spPr>
      </p:cxnSp>
      <p:cxnSp>
        <p:nvCxnSpPr>
          <p:cNvPr id="1012" name="箭头_CDi_PC2"/>
          <p:cNvCxnSpPr/>
          <p:nvPr/>
        </p:nvCxnSpPr>
        <p:spPr>
          <a:xfrm>
            <a:off x="1408176" y="4494276"/>
            <a:ext cx="0" cy="237744"/>
          </a:xfrm>
          <a:prstGeom prst="line">
            <a:avLst/>
          </a:prstGeom>
          <a:ln w="20320">
            <a:solidFill>
              <a:srgbClr val="C00000"/>
            </a:solidFill>
            <a:tailEnd type="triangle" w="sm" len="sm"/>
          </a:ln>
        </p:spPr>
      </p:cxnSp>
      <p:cxnSp>
        <p:nvCxnSpPr>
          <p:cNvPr id="1013" name="箭头_PC1_CD"/>
          <p:cNvCxnSpPr/>
          <p:nvPr/>
        </p:nvCxnSpPr>
        <p:spPr>
          <a:xfrm>
            <a:off x="3456432" y="2734056"/>
            <a:ext cx="0" cy="237744"/>
          </a:xfrm>
          <a:prstGeom prst="line">
            <a:avLst/>
          </a:prstGeom>
          <a:ln w="20320">
            <a:solidFill>
              <a:srgbClr val="C00000"/>
            </a:solidFill>
            <a:tailEnd type="triangle" w="sm" len="sm"/>
          </a:ln>
        </p:spPr>
      </p:cxnSp>
      <p:cxnSp>
        <p:nvCxnSpPr>
          <p:cNvPr id="1014" name="箭头_CD_CDi"/>
          <p:cNvCxnSpPr>
            <a:endCxn id="1006" idx="0"/>
          </p:cNvCxnSpPr>
          <p:nvPr/>
        </p:nvCxnSpPr>
        <p:spPr>
          <a:xfrm>
            <a:off x="3456432" y="3557016"/>
            <a:ext cx="0" cy="351790"/>
          </a:xfrm>
          <a:prstGeom prst="line">
            <a:avLst/>
          </a:prstGeom>
          <a:ln w="20320">
            <a:solidFill>
              <a:srgbClr val="C00000"/>
            </a:solidFill>
            <a:tailEnd type="triangle" w="sm" len="sm"/>
          </a:ln>
        </p:spPr>
      </p:cxnSp>
      <p:cxnSp>
        <p:nvCxnSpPr>
          <p:cNvPr id="1015" name="箭头_CDi_PC2"/>
          <p:cNvCxnSpPr/>
          <p:nvPr/>
        </p:nvCxnSpPr>
        <p:spPr>
          <a:xfrm>
            <a:off x="3456432" y="4494276"/>
            <a:ext cx="0" cy="237744"/>
          </a:xfrm>
          <a:prstGeom prst="line">
            <a:avLst/>
          </a:prstGeom>
          <a:ln w="20320">
            <a:solidFill>
              <a:srgbClr val="C00000"/>
            </a:solidFill>
            <a:tailEnd type="triangle" w="sm" len="sm"/>
          </a:ln>
        </p:spPr>
      </p:cxnSp>
      <p:cxnSp>
        <p:nvCxnSpPr>
          <p:cNvPr id="1016" name="箭头_PC2_Ki"/>
          <p:cNvCxnSpPr/>
          <p:nvPr/>
        </p:nvCxnSpPr>
        <p:spPr>
          <a:xfrm>
            <a:off x="2432304" y="5317236"/>
            <a:ext cx="0" cy="237744"/>
          </a:xfrm>
          <a:prstGeom prst="line">
            <a:avLst/>
          </a:prstGeom>
          <a:ln w="20320">
            <a:solidFill>
              <a:srgbClr val="C00000"/>
            </a:solidFill>
            <a:tailEnd type="triangle" w="sm" len="sm"/>
          </a:ln>
        </p:spPr>
      </p:cxnSp>
      <p:sp>
        <p:nvSpPr>
          <p:cNvPr id="1017" name="回路箭头_重复16轮"/>
          <p:cNvSpPr/>
          <p:nvPr/>
        </p:nvSpPr>
        <p:spPr>
          <a:xfrm>
            <a:off x="4352290" y="3209290"/>
            <a:ext cx="455930" cy="1068705"/>
          </a:xfrm>
          <a:custGeom>
            <a:avLst/>
            <a:gdLst/>
            <a:ahLst/>
            <a:cxnLst/>
            <a:rect l="0" t="0" r="20000" b="2400"/>
            <a:pathLst>
              <a:path w="20000" h="2400" fill="none">
                <a:moveTo>
                  <a:pt x="0" y="2400"/>
                </a:moveTo>
                <a:cubicBezTo>
                  <a:pt x="20000" y="2400"/>
                  <a:pt x="20000" y="0"/>
                  <a:pt x="0" y="0"/>
                </a:cubicBezTo>
              </a:path>
            </a:pathLst>
          </a:custGeom>
          <a:noFill/>
          <a:ln w="20320" cap="rnd">
            <a:solidFill>
              <a:srgbClr val="C00000"/>
            </a:solidFill>
            <a:tailEnd type="triangle" w="sm" len="sm"/>
          </a:ln>
        </p:spPr>
        <p:txBody>
          <a:bodyPr rtlCol="0"/>
          <a:lstStyle/>
          <a:p>
            <a:pPr algn="ctr"/>
            <a:endParaRPr/>
          </a:p>
        </p:txBody>
      </p:sp>
      <p:sp>
        <p:nvSpPr>
          <p:cNvPr id="1018" name="标注_重复16轮"/>
          <p:cNvSpPr txBox="1"/>
          <p:nvPr/>
        </p:nvSpPr>
        <p:spPr>
          <a:xfrm>
            <a:off x="4659630" y="3434715"/>
            <a:ext cx="1108075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重复 16 轮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 i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</a:t>
            </a:r>
            <a:r>
              <a:rPr lang="zh-CN" sz="1600" b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= 1</a:t>
            </a:r>
            <a:r>
              <a:rPr lang="en-US" altLang="zh-CN" sz="1600" b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,2,</a:t>
            </a:r>
            <a:r>
              <a:rPr lang="zh-CN" sz="1600" b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…</a:t>
            </a:r>
            <a:r>
              <a:rPr lang="en-US" altLang="zh-CN" sz="1600" b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,</a:t>
            </a:r>
            <a:r>
              <a:rPr lang="zh-CN" sz="1600" b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16</a:t>
            </a:r>
          </a:p>
        </p:txBody>
      </p:sp>
      <p:sp>
        <p:nvSpPr>
          <p:cNvPr id="1019" name="文本_密钥循环左移位数"/>
          <p:cNvSpPr txBox="1"/>
          <p:nvPr/>
        </p:nvSpPr>
        <p:spPr>
          <a:xfrm>
            <a:off x="5806440" y="1325880"/>
            <a:ext cx="587044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密钥循环左移位数 </a:t>
            </a:r>
            <a:r>
              <a:rPr lang="zh-CN" sz="1800" b="1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</a:t>
            </a:r>
            <a:r>
              <a:rPr lang="zh-CN" sz="1800" b="1" i="1" baseline="-220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</a:t>
            </a:r>
          </a:p>
        </p:txBody>
      </p:sp>
      <p:sp>
        <p:nvSpPr>
          <p:cNvPr id="1020" name="文本_循环左移示意"/>
          <p:cNvSpPr txBox="1"/>
          <p:nvPr/>
        </p:nvSpPr>
        <p:spPr>
          <a:xfrm>
            <a:off x="5806440" y="2594610"/>
            <a:ext cx="587044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28 位循环左移 1 位（以 C 分支为例）</a:t>
            </a:r>
          </a:p>
        </p:txBody>
      </p:sp>
      <p:sp>
        <p:nvSpPr>
          <p:cNvPr id="1021" name="图形_要点底"/>
          <p:cNvSpPr/>
          <p:nvPr/>
        </p:nvSpPr>
        <p:spPr>
          <a:xfrm>
            <a:off x="5806440" y="4105910"/>
            <a:ext cx="5878830" cy="1856105"/>
          </a:xfrm>
          <a:prstGeom prst="rect">
            <a:avLst/>
          </a:prstGeom>
          <a:solidFill>
            <a:srgbClr val="F5F5F5"/>
          </a:solidFill>
          <a:ln w="10160">
            <a:solidFill>
              <a:srgbClr val="B8B8B8"/>
            </a:solidFill>
          </a:ln>
        </p:spPr>
        <p:txBody>
          <a:bodyPr wrap="square" lIns="110000" tIns="110000" rIns="110000" bIns="11000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置换选择 1：</a:t>
            </a:r>
            <a:r>
              <a:rPr lang="zh-CN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64 位 → 56 位，去掉 8 个奇偶校验位；前 28 位为 C</a:t>
            </a:r>
            <a:r>
              <a:rPr lang="zh-CN" baseline="-220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0</a:t>
            </a:r>
            <a:r>
              <a:rPr lang="zh-CN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、后 28 位为 D</a:t>
            </a:r>
            <a:r>
              <a:rPr lang="zh-CN" baseline="-220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0</a:t>
            </a:r>
            <a:r>
              <a:rPr lang="zh-CN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置换选择 2：</a:t>
            </a:r>
            <a:r>
              <a:rPr lang="zh-CN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56 位 → 48 位，即第 </a:t>
            </a:r>
            <a:r>
              <a:rPr lang="zh-CN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</a:t>
            </a:r>
            <a:r>
              <a:rPr lang="zh-CN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轮的轮密钥 K</a:t>
            </a:r>
            <a:r>
              <a:rPr lang="zh-CN" i="1" baseline="-220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</a:t>
            </a:r>
            <a:r>
              <a:rPr lang="zh-CN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K</a:t>
            </a:r>
            <a:r>
              <a:rPr lang="zh-CN" i="1" baseline="-220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</a:t>
            </a:r>
            <a:r>
              <a:rPr lang="zh-CN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只用于第 </a:t>
            </a:r>
            <a:r>
              <a:rPr lang="zh-CN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</a:t>
            </a:r>
            <a:r>
              <a:rPr lang="zh-CN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轮的轮函数 F，不回到移位链上。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共 16 轮，产生 K</a:t>
            </a:r>
            <a:r>
              <a:rPr lang="zh-CN" baseline="-220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</a:t>
            </a:r>
            <a:r>
              <a:rPr lang="zh-CN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～K</a:t>
            </a:r>
            <a:r>
              <a:rPr lang="zh-CN" baseline="-220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16</a:t>
            </a:r>
            <a:r>
              <a:rPr lang="zh-CN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共 16 个 48 位轮密钥。</a:t>
            </a:r>
          </a:p>
        </p:txBody>
      </p:sp>
      <p:sp>
        <p:nvSpPr>
          <p:cNvPr id="1022" name="文本_轮次推进"/>
          <p:cNvSpPr txBox="1"/>
          <p:nvPr/>
        </p:nvSpPr>
        <p:spPr>
          <a:xfrm>
            <a:off x="512064" y="6126480"/>
            <a:ext cx="1117396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第 1 轮：C</a:t>
            </a:r>
            <a:r>
              <a:rPr lang="zh-CN" baseline="-2200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0</a:t>
            </a:r>
            <a:r>
              <a:rPr 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,D</a:t>
            </a:r>
            <a:r>
              <a:rPr lang="zh-CN" baseline="-2200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0</a:t>
            </a:r>
            <a:r>
              <a:rPr 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→ C</a:t>
            </a:r>
            <a:r>
              <a:rPr lang="zh-CN" baseline="-2200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</a:t>
            </a:r>
            <a:r>
              <a:rPr 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,D</a:t>
            </a:r>
            <a:r>
              <a:rPr lang="zh-CN" baseline="-2200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</a:t>
            </a:r>
            <a:r>
              <a:rPr 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；第 2 轮：C</a:t>
            </a:r>
            <a:r>
              <a:rPr lang="zh-CN" baseline="-2200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</a:t>
            </a:r>
            <a:r>
              <a:rPr 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,D</a:t>
            </a:r>
            <a:r>
              <a:rPr lang="zh-CN" baseline="-2200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</a:t>
            </a:r>
            <a:r>
              <a:rPr 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→ C</a:t>
            </a:r>
            <a:r>
              <a:rPr lang="zh-CN" baseline="-2200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2</a:t>
            </a:r>
            <a:r>
              <a:rPr 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,D</a:t>
            </a:r>
            <a:r>
              <a:rPr lang="zh-CN" baseline="-2200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2</a:t>
            </a:r>
            <a:r>
              <a:rPr 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；⋯⋯；第 16 轮：C</a:t>
            </a:r>
            <a:r>
              <a:rPr lang="zh-CN" baseline="-2200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15</a:t>
            </a:r>
            <a:r>
              <a:rPr 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,D</a:t>
            </a:r>
            <a:r>
              <a:rPr lang="zh-CN" baseline="-2200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15</a:t>
            </a:r>
            <a:r>
              <a:rPr 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→ C</a:t>
            </a:r>
            <a:r>
              <a:rPr lang="zh-CN" baseline="-2200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16</a:t>
            </a:r>
            <a:r>
              <a:rPr 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,D</a:t>
            </a:r>
            <a:r>
              <a:rPr lang="zh-CN" baseline="-2200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16</a:t>
            </a:r>
            <a:r>
              <a:rPr 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11810" y="3559175"/>
            <a:ext cx="3839845" cy="3670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各自循环左移 </a:t>
            </a:r>
            <a:r>
              <a:rPr lang="zh-CN" sz="1600" b="1" i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s</a:t>
            </a:r>
            <a:r>
              <a:rPr lang="zh-CN" sz="1600" b="1" i="1" baseline="-2200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</a:t>
            </a:r>
            <a:r>
              <a:rPr lang="zh-CN" sz="1600" b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位</a:t>
            </a:r>
            <a:endParaRPr lang="zh-CN" altLang="en-US" sz="1600" b="1">
              <a:solidFill>
                <a:srgbClr val="C0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en-US" altLang="zh-CN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739" y="219050"/>
            <a:ext cx="4133088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典型分组密码</a:t>
            </a:r>
          </a:p>
        </p:txBody>
      </p:sp>
      <p:cxnSp>
        <p:nvCxnSpPr>
          <p:cNvPr id="4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页标题"/>
          <p:cNvSpPr txBox="1"/>
          <p:nvPr/>
        </p:nvSpPr>
        <p:spPr>
          <a:xfrm>
            <a:off x="502920" y="827532"/>
            <a:ext cx="111556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zh-CN" altLang="en-US" sz="2200" b="1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DES 密钥扩展（二）：置换表与首轮算例</a:t>
            </a:r>
            <a:endParaRPr lang="zh-CN" altLang="en-US" sz="2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6" name="文本_置换选择1说明"/>
          <p:cNvSpPr txBox="1"/>
          <p:nvPr/>
        </p:nvSpPr>
        <p:spPr>
          <a:xfrm>
            <a:off x="512064" y="1243584"/>
            <a:ext cx="5084064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置换选择 1（PC</a:t>
            </a:r>
            <a:r>
              <a:rPr lang="en-US" altLang="zh-CN" sz="1800" b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-</a:t>
            </a:r>
            <a:r>
              <a:rPr lang="zh-CN" sz="1800" b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64 位 → 56 位</a:t>
            </a:r>
            <a:r>
              <a:rPr lang="zh-CN" sz="160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，去掉第 8、16、…、64 位八位校验位</a:t>
            </a:r>
          </a:p>
        </p:txBody>
      </p:sp>
      <p:sp>
        <p:nvSpPr>
          <p:cNvPr id="7" name="文本_置换选择2说明"/>
          <p:cNvSpPr txBox="1"/>
          <p:nvPr/>
        </p:nvSpPr>
        <p:spPr>
          <a:xfrm>
            <a:off x="6345936" y="1243584"/>
            <a:ext cx="5330952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置换选择 2（</a:t>
            </a:r>
            <a:r>
              <a:rPr lang="en-US" altLang="zh-CN" sz="1800" b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P</a:t>
            </a:r>
            <a:r>
              <a:rPr lang="zh-CN" sz="1800" b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</a:t>
            </a:r>
            <a:r>
              <a:rPr lang="en-US" altLang="zh-CN" sz="1800" b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-</a:t>
            </a:r>
            <a:r>
              <a:rPr lang="zh-CN" sz="1800" b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2）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56 位 → 48 位，</a:t>
            </a:r>
            <a:r>
              <a:rPr lang="zh-CN" sz="160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去掉第 9、18、22、25、35、38、43、54 位</a:t>
            </a:r>
          </a:p>
        </p:txBody>
      </p:sp>
      <p:graphicFrame>
        <p:nvGraphicFramePr>
          <p:cNvPr id="8" name="DES PC-1 标准选位表（8行7列）"/>
          <p:cNvGraphicFramePr>
            <a:graphicFrameLocks noGrp="1"/>
          </p:cNvGraphicFramePr>
          <p:nvPr/>
        </p:nvGraphicFramePr>
        <p:xfrm>
          <a:off x="512064" y="1883664"/>
          <a:ext cx="5079998" cy="288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5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5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5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5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5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5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5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1188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57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49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41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33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25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9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58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50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42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34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26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18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59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51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43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35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27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19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60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52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44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36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63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55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47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39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31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23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7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62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54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46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38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30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22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6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61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53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45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37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29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21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5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28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dirty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" name="DES PC-2 标准选位表（8行6列）"/>
          <p:cNvGraphicFramePr>
            <a:graphicFrameLocks noGrp="1"/>
          </p:cNvGraphicFramePr>
          <p:nvPr/>
        </p:nvGraphicFramePr>
        <p:xfrm>
          <a:off x="6345936" y="1883664"/>
          <a:ext cx="5334000" cy="288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1188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24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5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28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6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21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dirty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23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19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26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8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16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7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27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41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52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31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37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47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55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30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40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51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45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33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48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44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49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39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56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34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53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46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42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50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36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29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dirty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32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文本_表中数字表示输入位编号，而非比特值。PC-1 开头取原密"/>
          <p:cNvSpPr txBox="1"/>
          <p:nvPr/>
        </p:nvSpPr>
        <p:spPr>
          <a:xfrm>
            <a:off x="511810" y="4869180"/>
            <a:ext cx="11174095" cy="61849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置换选择 1 的输出按行读出 56 位：前 28 位为 C</a:t>
            </a:r>
            <a:r>
              <a:rPr lang="zh-CN" baseline="-2200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0</a:t>
            </a:r>
            <a:r>
              <a:rPr 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、后 28 位为 D</a:t>
            </a:r>
            <a:r>
              <a:rPr lang="zh-CN" baseline="-2200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0</a:t>
            </a:r>
            <a:r>
              <a:rPr 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置换选择 2 从 C</a:t>
            </a:r>
            <a:r>
              <a:rPr lang="zh-CN" i="1" baseline="-2200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</a:t>
            </a:r>
            <a:r>
              <a:rPr 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‖D</a:t>
            </a:r>
            <a:r>
              <a:rPr lang="zh-CN" i="1" baseline="-2200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</a:t>
            </a:r>
            <a:r>
              <a:rPr 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的 56 位中选出 48 位，即第 </a:t>
            </a:r>
            <a:r>
              <a:rPr lang="zh-CN" i="1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</a:t>
            </a:r>
            <a:r>
              <a:rPr 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轮的轮密钥 K</a:t>
            </a:r>
            <a:r>
              <a:rPr lang="zh-CN" i="1" baseline="-2200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</a:t>
            </a:r>
            <a:r>
              <a:rPr 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。</a:t>
            </a:r>
            <a:endParaRPr lang="zh-CN">
              <a:solidFill>
                <a:srgbClr val="40404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2" name="文本_十六进制实例说明"/>
          <p:cNvSpPr txBox="1"/>
          <p:nvPr/>
        </p:nvSpPr>
        <p:spPr>
          <a:xfrm>
            <a:off x="512064" y="5538978"/>
            <a:ext cx="11173968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例：第一轮，当</a:t>
            </a:r>
            <a:r>
              <a:rPr lang="en-US" altLang="zh-CN" b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en-US" altLang="zh-CN" b="1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</a:t>
            </a:r>
            <a:r>
              <a:rPr lang="en-US" altLang="zh-CN" b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= 1</a:t>
            </a:r>
            <a:r>
              <a:rPr lang="zh-CN" altLang="en-US" b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时，生成流程如下：</a:t>
            </a:r>
          </a:p>
        </p:txBody>
      </p:sp>
      <p:sp>
        <p:nvSpPr>
          <p:cNvPr id="13" name="算例节点1"/>
          <p:cNvSpPr/>
          <p:nvPr/>
        </p:nvSpPr>
        <p:spPr>
          <a:xfrm>
            <a:off x="512064" y="5845302"/>
            <a:ext cx="2487168" cy="548640"/>
          </a:xfrm>
          <a:prstGeom prst="rect">
            <a:avLst/>
          </a:prstGeom>
          <a:solidFill>
            <a:srgbClr val="F5F5F5"/>
          </a:solidFill>
          <a:ln w="10160">
            <a:solidFill>
              <a:srgbClr val="B8B8B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主密钥 </a:t>
            </a:r>
            <a:r>
              <a:rPr lang="zh-CN" sz="1600" b="1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K</a:t>
            </a:r>
            <a:r>
              <a:rPr lang="zh-CN" sz="1600" b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（64 位）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133457799BBCDFF1</a:t>
            </a:r>
          </a:p>
        </p:txBody>
      </p:sp>
      <p:sp>
        <p:nvSpPr>
          <p:cNvPr id="14" name="算例节点2"/>
          <p:cNvSpPr/>
          <p:nvPr/>
        </p:nvSpPr>
        <p:spPr>
          <a:xfrm>
            <a:off x="3410712" y="5845302"/>
            <a:ext cx="2487168" cy="548640"/>
          </a:xfrm>
          <a:prstGeom prst="rect">
            <a:avLst/>
          </a:prstGeom>
          <a:solidFill>
            <a:srgbClr val="F5F5F5"/>
          </a:solidFill>
          <a:ln w="10160">
            <a:solidFill>
              <a:srgbClr val="B8B8B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PC-1 → </a:t>
            </a:r>
            <a:r>
              <a:rPr lang="zh-CN" sz="1600" b="1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</a:t>
            </a:r>
            <a:r>
              <a:rPr lang="zh-CN" sz="1600" b="1" baseline="-220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0</a:t>
            </a:r>
            <a:r>
              <a:rPr lang="zh-CN" sz="1600" b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‖ </a:t>
            </a:r>
            <a:r>
              <a:rPr lang="zh-CN" sz="1600" b="1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D</a:t>
            </a:r>
            <a:r>
              <a:rPr lang="zh-CN" sz="1600" b="1" baseline="-220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0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F0CCAAF ‖ 556678F</a:t>
            </a:r>
          </a:p>
        </p:txBody>
      </p:sp>
      <p:sp>
        <p:nvSpPr>
          <p:cNvPr id="15" name="算例节点3"/>
          <p:cNvSpPr/>
          <p:nvPr/>
        </p:nvSpPr>
        <p:spPr>
          <a:xfrm>
            <a:off x="6309360" y="5845302"/>
            <a:ext cx="2487168" cy="548640"/>
          </a:xfrm>
          <a:prstGeom prst="rect">
            <a:avLst/>
          </a:prstGeom>
          <a:solidFill>
            <a:srgbClr val="F5F5F5"/>
          </a:solidFill>
          <a:ln w="10160">
            <a:solidFill>
              <a:srgbClr val="B8B8B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循环左移 1 位 → </a:t>
            </a:r>
            <a:r>
              <a:rPr lang="zh-CN" sz="1600" b="1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</a:t>
            </a:r>
            <a:r>
              <a:rPr lang="zh-CN" sz="1600" b="1" baseline="-220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</a:t>
            </a:r>
            <a:r>
              <a:rPr lang="zh-CN" sz="1600" b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‖ </a:t>
            </a:r>
            <a:r>
              <a:rPr lang="zh-CN" sz="1600" b="1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D</a:t>
            </a:r>
            <a:r>
              <a:rPr lang="zh-CN" sz="1600" b="1" baseline="-220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E19955F ‖ AACCF1E</a:t>
            </a:r>
          </a:p>
        </p:txBody>
      </p:sp>
      <p:sp>
        <p:nvSpPr>
          <p:cNvPr id="16" name="算例节点4"/>
          <p:cNvSpPr/>
          <p:nvPr/>
        </p:nvSpPr>
        <p:spPr>
          <a:xfrm>
            <a:off x="9208008" y="5845302"/>
            <a:ext cx="2487168" cy="548640"/>
          </a:xfrm>
          <a:prstGeom prst="rect">
            <a:avLst/>
          </a:prstGeom>
          <a:solidFill>
            <a:srgbClr val="F5F5F5"/>
          </a:solidFill>
          <a:ln w="10160">
            <a:solidFill>
              <a:srgbClr val="B8B8B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PC-2 → </a:t>
            </a:r>
            <a:r>
              <a:rPr lang="zh-CN" sz="1600" b="1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K</a:t>
            </a:r>
            <a:r>
              <a:rPr lang="zh-CN" sz="1600" b="1" baseline="-220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</a:t>
            </a:r>
            <a:r>
              <a:rPr lang="zh-CN" sz="1600" b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（48 位）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1B02EFFC7072</a:t>
            </a:r>
          </a:p>
        </p:txBody>
      </p:sp>
      <p:cxnSp>
        <p:nvCxnSpPr>
          <p:cNvPr id="17" name="算例箭头1"/>
          <p:cNvCxnSpPr/>
          <p:nvPr/>
        </p:nvCxnSpPr>
        <p:spPr>
          <a:xfrm>
            <a:off x="2999232" y="6119622"/>
            <a:ext cx="411479" cy="0"/>
          </a:xfrm>
          <a:prstGeom prst="line">
            <a:avLst/>
          </a:prstGeom>
          <a:ln w="20320">
            <a:solidFill>
              <a:srgbClr val="C00000"/>
            </a:solidFill>
            <a:tailEnd type="triangle" w="sm" len="sm"/>
          </a:ln>
        </p:spPr>
      </p:cxnSp>
      <p:cxnSp>
        <p:nvCxnSpPr>
          <p:cNvPr id="18" name="算例箭头2"/>
          <p:cNvCxnSpPr/>
          <p:nvPr/>
        </p:nvCxnSpPr>
        <p:spPr>
          <a:xfrm>
            <a:off x="5897880" y="6119622"/>
            <a:ext cx="411480" cy="0"/>
          </a:xfrm>
          <a:prstGeom prst="line">
            <a:avLst/>
          </a:prstGeom>
          <a:ln w="20320">
            <a:solidFill>
              <a:srgbClr val="C00000"/>
            </a:solidFill>
            <a:tailEnd type="triangle" w="sm" len="sm"/>
          </a:ln>
        </p:spPr>
      </p:cxnSp>
      <p:cxnSp>
        <p:nvCxnSpPr>
          <p:cNvPr id="19" name="算例箭头3"/>
          <p:cNvCxnSpPr/>
          <p:nvPr/>
        </p:nvCxnSpPr>
        <p:spPr>
          <a:xfrm>
            <a:off x="8796528" y="6119622"/>
            <a:ext cx="411479" cy="0"/>
          </a:xfrm>
          <a:prstGeom prst="line">
            <a:avLst/>
          </a:prstGeom>
          <a:ln w="20320">
            <a:solidFill>
              <a:srgbClr val="C00000"/>
            </a:solidFill>
            <a:tailEnd type="triangle" w="sm" len="sm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en-US" altLang="zh-CN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</a:p>
        </p:txBody>
      </p:sp>
      <p:sp>
        <p:nvSpPr>
          <p:cNvPr id="12" name="TextBox 2"/>
          <p:cNvSpPr txBox="1"/>
          <p:nvPr/>
        </p:nvSpPr>
        <p:spPr>
          <a:xfrm>
            <a:off x="1066739" y="219050"/>
            <a:ext cx="4133088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典型分组密码</a:t>
            </a:r>
          </a:p>
        </p:txBody>
      </p:sp>
      <p:cxnSp>
        <p:nvCxnSpPr>
          <p:cNvPr id="13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页标题"/>
          <p:cNvSpPr txBox="1"/>
          <p:nvPr/>
        </p:nvSpPr>
        <p:spPr>
          <a:xfrm>
            <a:off x="502920" y="827532"/>
            <a:ext cx="1115568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 i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DES 的密钥空间与安全限制</a:t>
            </a:r>
          </a:p>
        </p:txBody>
      </p:sp>
      <p:sp>
        <p:nvSpPr>
          <p:cNvPr id="15" name="内容底色_5"/>
          <p:cNvSpPr/>
          <p:nvPr/>
        </p:nvSpPr>
        <p:spPr>
          <a:xfrm>
            <a:off x="502920" y="1380744"/>
            <a:ext cx="11183112" cy="832104"/>
          </a:xfrm>
          <a:prstGeom prst="rect">
            <a:avLst/>
          </a:prstGeom>
          <a:solidFill>
            <a:srgbClr val="FB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有效密钥：</a:t>
            </a:r>
            <a:r>
              <a:rPr 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DES 的 64 位密钥表示中，只有 56 位参与加密，另外 8 位用于奇偶校验。</a:t>
            </a:r>
            <a:br>
              <a:rPr 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</a:br>
            <a:r>
              <a:rPr 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校验位由其余位确定，不会增加密钥空间。</a:t>
            </a:r>
          </a:p>
        </p:txBody>
      </p:sp>
      <p:sp>
        <p:nvSpPr>
          <p:cNvPr id="16" name="内容底色_6"/>
          <p:cNvSpPr/>
          <p:nvPr/>
        </p:nvSpPr>
        <p:spPr>
          <a:xfrm>
            <a:off x="502920" y="4800600"/>
            <a:ext cx="11183112" cy="8412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分组限制：</a:t>
            </a:r>
            <a:r>
              <a:rPr lang="zh-CN" altLang="en-US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64 位分组偏短，在一些工作模式下，同一密钥处理大量数据会增加安全风险，限制可安全加密的数据量。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内容底色_7"/>
          <p:cNvSpPr/>
          <p:nvPr/>
        </p:nvSpPr>
        <p:spPr>
          <a:xfrm>
            <a:off x="502920" y="5852160"/>
            <a:ext cx="11183112" cy="484632"/>
          </a:xfrm>
          <a:prstGeom prst="rect">
            <a:avLst/>
          </a:prstGeom>
          <a:solidFill>
            <a:srgbClr val="FB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进一步思考：</a:t>
            </a:r>
            <a:r>
              <a:rPr lang="zh-CN" altLang="en-US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如果使用不同密钥，连续执行多次 </a:t>
            </a:r>
            <a:r>
              <a:rPr lang="en-US" alt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DES，</a:t>
            </a:r>
            <a:r>
              <a:rPr lang="zh-CN" altLang="en-US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能否提高加密的安全性？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公式_9"/>
              <p:cNvSpPr txBox="1"/>
              <p:nvPr/>
            </p:nvSpPr>
            <p:spPr>
              <a:xfrm>
                <a:off x="502920" y="2417445"/>
                <a:ext cx="11184255" cy="567055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noAutofit/>
              </a:bodyPr>
              <a:lstStyle/>
              <a:p>
                <a:pPr algn="ctr">
                  <a:lnSpc>
                    <a:spcPts val="36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800">
                    <a:solidFill>
                      <a:srgbClr val="333333"/>
                    </a:solidFill>
                    <a:latin typeface="Cambria Math" panose="02040503050406030204"/>
                    <a:ea typeface="微软雅黑" panose="020B0503020204020204" charset="-122"/>
                    <a:sym typeface="+mn-ea"/>
                  </a:rPr>
                  <a:t>|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DejaVu Math TeX Gyre" panose="02000503000000000000" charset="0"/>
                      </a:rPr>
                      <m:t>𝒦</m:t>
                    </m:r>
                  </m:oMath>
                </a14:m>
                <a:r>
                  <a:rPr sz="2800">
                    <a:solidFill>
                      <a:srgbClr val="333333"/>
                    </a:solidFill>
                    <a:latin typeface="Cambria Math" panose="02040503050406030204"/>
                    <a:ea typeface="微软雅黑" panose="020B0503020204020204" charset="-122"/>
                    <a:sym typeface="+mn-ea"/>
                  </a:rPr>
                  <a:t>|</a:t>
                </a:r>
                <a:r>
                  <a:rPr lang="en-US" sz="2800">
                    <a:solidFill>
                      <a:srgbClr val="333333"/>
                    </a:solidFill>
                    <a:latin typeface="Cambria Math" panose="02040503050406030204"/>
                    <a:ea typeface="微软雅黑" panose="020B0503020204020204" charset="-122"/>
                    <a:sym typeface="+mn-ea"/>
                  </a:rPr>
                  <a:t> </a:t>
                </a:r>
                <a:r>
                  <a:rPr lang="en-US" altLang="zh-CN" sz="2800" b="0" i="0">
                    <a:solidFill>
                      <a:srgbClr val="222222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= </a:t>
                </a:r>
                <a:r>
                  <a:rPr lang="zh-CN" sz="2800" b="0" i="0">
                    <a:solidFill>
                      <a:srgbClr val="222222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2</a:t>
                </a:r>
                <a:r>
                  <a:rPr lang="zh-CN" sz="2800" b="0" i="0" baseline="41000">
                    <a:solidFill>
                      <a:srgbClr val="222222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56</a:t>
                </a:r>
                <a:r>
                  <a:rPr lang="zh-CN" sz="2800" b="0" i="0">
                    <a:solidFill>
                      <a:srgbClr val="222222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 ≈ 7.2 × 10</a:t>
                </a:r>
                <a:r>
                  <a:rPr lang="zh-CN" sz="2800" b="0" i="0" baseline="41000">
                    <a:solidFill>
                      <a:srgbClr val="222222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16</a:t>
                </a:r>
              </a:p>
            </p:txBody>
          </p:sp>
        </mc:Choice>
        <mc:Fallback xmlns="">
          <p:sp>
            <p:nvSpPr>
              <p:cNvPr id="19" name="公式_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2417445"/>
                <a:ext cx="11184255" cy="567055"/>
              </a:xfrm>
              <a:prstGeom prst="rect">
                <a:avLst/>
              </a:prstGeom>
              <a:blipFill rotWithShape="1">
                <a:blip r:embed="rId3"/>
                <a:stretch>
                  <a:fillRect t="-235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正文_10"/>
          <p:cNvSpPr txBox="1"/>
          <p:nvPr/>
        </p:nvSpPr>
        <p:spPr>
          <a:xfrm>
            <a:off x="503555" y="3140710"/>
            <a:ext cx="11183620" cy="685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 i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穷举代价：</a:t>
            </a:r>
            <a:r>
              <a:rPr lang="zh-CN" b="0" i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逐一尝试候选密钥，最坏约需 </a:t>
            </a:r>
            <a:r>
              <a:rPr lang="zh-CN" b="0" i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2</a:t>
            </a:r>
            <a:r>
              <a:rPr lang="zh-CN" b="0" i="0" baseline="410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56</a:t>
            </a:r>
            <a:r>
              <a:rPr lang="zh-CN" b="0" i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次；若密钥均匀随机选取，且搜索不重复，平均约需尝试 </a:t>
            </a:r>
            <a:r>
              <a:rPr lang="zh-CN" b="0" i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2</a:t>
            </a:r>
            <a:r>
              <a:rPr lang="zh-CN" b="0" i="0" baseline="410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55</a:t>
            </a:r>
            <a:r>
              <a:rPr lang="zh-CN" b="0" i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个候选密钥。</a:t>
            </a:r>
          </a:p>
        </p:txBody>
      </p:sp>
      <p:sp>
        <p:nvSpPr>
          <p:cNvPr id="21" name="正文_11"/>
          <p:cNvSpPr txBox="1"/>
          <p:nvPr/>
        </p:nvSpPr>
        <p:spPr>
          <a:xfrm>
            <a:off x="502920" y="3982720"/>
            <a:ext cx="11183620" cy="6889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 i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主要局限：</a:t>
            </a:r>
            <a:r>
              <a:rPr lang="zh-CN" b="0" i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56 位有效密钥过短，</a:t>
            </a:r>
            <a:r>
              <a:rPr lang="zh-CN" altLang="en-US" b="0" i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攻击者最多尝试</a:t>
            </a:r>
            <a:r>
              <a:rPr lang="en-US" altLang="zh-CN" b="0" i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zh-CN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2</a:t>
            </a:r>
            <a:r>
              <a:rPr lang="zh-CN" baseline="410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56</a:t>
            </a:r>
            <a:r>
              <a:rPr lang="en-US" altLang="zh-CN" b="0" i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zh-CN" altLang="en-US" b="0" i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个候选密钥便可以得到密钥。同时专用硬件与并行计算已使穷举破解成为现实，</a:t>
            </a:r>
            <a:r>
              <a:rPr lang="en-US" altLang="zh-CN" b="0" i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DES </a:t>
            </a:r>
            <a:r>
              <a:rPr lang="zh-CN" altLang="en-US" b="0" i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已不适合现代安全需求。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en-US" altLang="zh-CN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</a:p>
        </p:txBody>
      </p:sp>
      <p:sp>
        <p:nvSpPr>
          <p:cNvPr id="12" name="TextBox 2"/>
          <p:cNvSpPr txBox="1"/>
          <p:nvPr/>
        </p:nvSpPr>
        <p:spPr>
          <a:xfrm>
            <a:off x="1066739" y="219050"/>
            <a:ext cx="4133088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典型分组密码</a:t>
            </a:r>
          </a:p>
        </p:txBody>
      </p:sp>
      <p:cxnSp>
        <p:nvCxnSpPr>
          <p:cNvPr id="13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页标题"/>
          <p:cNvSpPr txBox="1"/>
          <p:nvPr/>
        </p:nvSpPr>
        <p:spPr>
          <a:xfrm>
            <a:off x="502920" y="827532"/>
            <a:ext cx="1115568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zh-CN" altLang="en-US" sz="2200" b="1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多重 DES（一）：DES-XEX3 与双重 DES</a:t>
            </a:r>
            <a:endParaRPr lang="zh-CN" altLang="en-US" sz="2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5" name="内容底色_5"/>
          <p:cNvSpPr/>
          <p:nvPr/>
        </p:nvSpPr>
        <p:spPr>
          <a:xfrm>
            <a:off x="502920" y="1312545"/>
            <a:ext cx="11270615" cy="775970"/>
          </a:xfrm>
          <a:prstGeom prst="rect">
            <a:avLst/>
          </a:prstGeom>
          <a:solidFill>
            <a:srgbClr val="FB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DES-XEX3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是加密前先对明文按位与第一个密钥异或，随后用第二个密钥进行</a:t>
            </a:r>
            <a:r>
              <a:rPr lang="en-US" alt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DES</a:t>
            </a:r>
            <a:r>
              <a:rPr lang="en-US" alt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加密，最后对输出按位与第三个密钥异或。</a:t>
            </a:r>
            <a:r>
              <a:rPr lang="zh-CN" b="1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双重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DES</a:t>
            </a:r>
            <a:r>
              <a:rPr 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则是用两把独立的 56 位有效密钥 </a:t>
            </a:r>
            <a:r>
              <a:rPr lang="zh-CN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K</a:t>
            </a:r>
            <a:r>
              <a:rPr lang="zh-CN" baseline="-23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1</a:t>
            </a:r>
            <a:r>
              <a:rPr 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、</a:t>
            </a:r>
            <a:r>
              <a:rPr lang="zh-CN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K</a:t>
            </a:r>
            <a:r>
              <a:rPr lang="zh-CN" baseline="-23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2</a:t>
            </a:r>
            <a:r>
              <a:rPr 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，对 64 位明文连续执行两次 DES。</a:t>
            </a:r>
            <a:endParaRPr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内容底色_6"/>
          <p:cNvSpPr/>
          <p:nvPr/>
        </p:nvSpPr>
        <p:spPr>
          <a:xfrm>
            <a:off x="6601968" y="2620137"/>
            <a:ext cx="5084064" cy="3154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内容底色_7"/>
          <p:cNvSpPr/>
          <p:nvPr/>
        </p:nvSpPr>
        <p:spPr>
          <a:xfrm>
            <a:off x="502920" y="5873750"/>
            <a:ext cx="11269980" cy="624840"/>
          </a:xfrm>
          <a:prstGeom prst="rect">
            <a:avLst/>
          </a:prstGeom>
          <a:solidFill>
            <a:srgbClr val="FB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b="1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安全局限：</a:t>
            </a:r>
            <a:r>
              <a:rPr dirty="0" err="1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双重</a:t>
            </a:r>
            <a:r>
              <a:rPr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DES </a:t>
            </a:r>
            <a:r>
              <a:rPr dirty="0" err="1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的安全性受到</a:t>
            </a:r>
            <a:r>
              <a:rPr dirty="0" err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中间相遇攻击</a:t>
            </a:r>
            <a:r>
              <a:rPr dirty="0" err="1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的威胁，这使其安全性</a:t>
            </a:r>
            <a:r>
              <a:rPr 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达不到预期的</a:t>
            </a:r>
            <a:r>
              <a:rPr lang="en-US" alt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112</a:t>
            </a:r>
            <a:r>
              <a:rPr lang="zh-CN" altLang="en-US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位安全强度，</a:t>
            </a:r>
            <a:r>
              <a:rPr dirty="0" err="1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与单一密钥长度为</a:t>
            </a:r>
            <a:r>
              <a:rPr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56 </a:t>
            </a:r>
            <a:r>
              <a:rPr dirty="0" err="1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比特的</a:t>
            </a:r>
            <a:r>
              <a:rPr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DES </a:t>
            </a:r>
            <a:r>
              <a:rPr dirty="0" err="1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相近</a:t>
            </a:r>
            <a:r>
              <a:rPr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。</a:t>
            </a:r>
            <a:r>
              <a:rPr lang="zh-CN" altLang="en-US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为了抵御中间相遇攻击，三重 </a:t>
            </a:r>
            <a:r>
              <a:rPr lang="en-US" alt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DES </a:t>
            </a:r>
            <a:r>
              <a:rPr lang="zh-CN" altLang="en-US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被提出。</a:t>
            </a:r>
          </a:p>
        </p:txBody>
      </p:sp>
      <p:sp>
        <p:nvSpPr>
          <p:cNvPr id="19" name="正文_9"/>
          <p:cNvSpPr txBox="1"/>
          <p:nvPr/>
        </p:nvSpPr>
        <p:spPr>
          <a:xfrm>
            <a:off x="6793992" y="2684907"/>
            <a:ext cx="4700016" cy="32918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加密与解密</a:t>
            </a:r>
          </a:p>
        </p:txBody>
      </p:sp>
      <p:sp>
        <p:nvSpPr>
          <p:cNvPr id="20" name="正文_10"/>
          <p:cNvSpPr txBox="1"/>
          <p:nvPr/>
        </p:nvSpPr>
        <p:spPr>
          <a:xfrm>
            <a:off x="6793992" y="3177921"/>
            <a:ext cx="4700016" cy="3383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 i="0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加密：</a:t>
            </a:r>
            <a:r>
              <a:rPr lang="zh-CN" b="0" i="0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先用 </a:t>
            </a:r>
            <a:r>
              <a:rPr lang="zh-CN" b="0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K</a:t>
            </a:r>
            <a:r>
              <a:rPr lang="zh-CN" b="0" i="0" baseline="-23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</a:t>
            </a:r>
            <a:r>
              <a:rPr lang="zh-CN" b="0" i="0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，再用 </a:t>
            </a:r>
            <a:r>
              <a:rPr lang="zh-CN" b="0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K</a:t>
            </a:r>
            <a:r>
              <a:rPr lang="zh-CN" b="0" i="0" baseline="-23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2</a:t>
            </a:r>
            <a:r>
              <a:rPr lang="zh-CN" b="0" i="0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。</a:t>
            </a:r>
          </a:p>
        </p:txBody>
      </p:sp>
      <p:sp>
        <p:nvSpPr>
          <p:cNvPr id="21" name="公式_11"/>
          <p:cNvSpPr txBox="1"/>
          <p:nvPr/>
        </p:nvSpPr>
        <p:spPr>
          <a:xfrm>
            <a:off x="6793992" y="3552825"/>
            <a:ext cx="4700016" cy="39319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</a:t>
            </a:r>
            <a:r>
              <a:rPr lang="en-US" altLang="zh-CN" sz="1800" b="0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zh-CN" sz="1800" b="0" i="0" baseline="410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*</a:t>
            </a:r>
            <a:r>
              <a:rPr lang="zh-CN" sz="1800" b="0" i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= </a:t>
            </a:r>
            <a:r>
              <a:rPr lang="zh-CN" sz="1800" b="0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E</a:t>
            </a:r>
            <a:r>
              <a:rPr lang="zh-CN" sz="1800" b="0" i="1" baseline="-230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K</a:t>
            </a:r>
            <a:r>
              <a:rPr lang="zh-CN" sz="1800" b="0" i="0" baseline="-540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2</a:t>
            </a:r>
            <a:r>
              <a:rPr lang="zh-CN" sz="1800" b="0" i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(</a:t>
            </a:r>
            <a:r>
              <a:rPr lang="zh-CN" sz="1800" b="0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E</a:t>
            </a:r>
            <a:r>
              <a:rPr lang="zh-CN" sz="1800" b="0" i="1" baseline="-230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K</a:t>
            </a:r>
            <a:r>
              <a:rPr lang="zh-CN" sz="1800" b="0" i="0" baseline="-540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</a:t>
            </a:r>
            <a:r>
              <a:rPr lang="zh-CN" sz="1800" b="0" i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(</a:t>
            </a:r>
            <a:r>
              <a:rPr lang="zh-CN" sz="1800" b="0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M</a:t>
            </a:r>
            <a:r>
              <a:rPr lang="en-US" altLang="zh-CN" sz="1800" b="0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zh-CN" sz="1800" b="0" i="0" baseline="410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*</a:t>
            </a:r>
            <a:r>
              <a:rPr lang="zh-CN" sz="1800" b="0" i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))</a:t>
            </a:r>
          </a:p>
        </p:txBody>
      </p:sp>
      <p:sp>
        <p:nvSpPr>
          <p:cNvPr id="22" name="正文_12"/>
          <p:cNvSpPr txBox="1"/>
          <p:nvPr/>
        </p:nvSpPr>
        <p:spPr>
          <a:xfrm>
            <a:off x="6793992" y="4074032"/>
            <a:ext cx="4700016" cy="3383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 i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解密：</a:t>
            </a:r>
            <a:r>
              <a:rPr lang="zh-CN" b="0" i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先用 </a:t>
            </a:r>
            <a:r>
              <a:rPr lang="zh-CN" b="0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K</a:t>
            </a:r>
            <a:r>
              <a:rPr lang="zh-CN" b="0" i="0" baseline="-230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2</a:t>
            </a:r>
            <a:r>
              <a:rPr lang="zh-CN" b="0" i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，再用 </a:t>
            </a:r>
            <a:r>
              <a:rPr lang="zh-CN" b="0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K</a:t>
            </a:r>
            <a:r>
              <a:rPr lang="zh-CN" b="0" i="0" baseline="-230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</a:t>
            </a:r>
            <a:r>
              <a:rPr lang="zh-CN" b="0" i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。</a:t>
            </a:r>
          </a:p>
        </p:txBody>
      </p:sp>
      <p:sp>
        <p:nvSpPr>
          <p:cNvPr id="23" name="公式_13"/>
          <p:cNvSpPr txBox="1"/>
          <p:nvPr/>
        </p:nvSpPr>
        <p:spPr>
          <a:xfrm>
            <a:off x="6793992" y="4448936"/>
            <a:ext cx="4700016" cy="39319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M</a:t>
            </a:r>
            <a:r>
              <a:rPr lang="en-US" altLang="zh-CN" sz="1800" b="0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zh-CN" sz="1800" b="0" i="0" baseline="410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*</a:t>
            </a:r>
            <a:r>
              <a:rPr lang="zh-CN" sz="1800" b="0" i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= </a:t>
            </a:r>
            <a:r>
              <a:rPr lang="zh-CN" sz="1800" b="0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D</a:t>
            </a:r>
            <a:r>
              <a:rPr lang="zh-CN" sz="1800" b="0" i="1" baseline="-230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K</a:t>
            </a:r>
            <a:r>
              <a:rPr lang="zh-CN" sz="1800" b="0" i="0" baseline="-540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</a:t>
            </a:r>
            <a:r>
              <a:rPr lang="zh-CN" sz="1800" b="0" i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(</a:t>
            </a:r>
            <a:r>
              <a:rPr lang="zh-CN" sz="1800" b="0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D</a:t>
            </a:r>
            <a:r>
              <a:rPr lang="zh-CN" sz="1800" b="0" i="1" baseline="-230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K</a:t>
            </a:r>
            <a:r>
              <a:rPr lang="zh-CN" sz="1800" b="0" i="0" baseline="-540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2</a:t>
            </a:r>
            <a:r>
              <a:rPr lang="zh-CN" sz="1800" b="0" i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(</a:t>
            </a:r>
            <a:r>
              <a:rPr lang="zh-CN" sz="1800" b="0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</a:t>
            </a:r>
            <a:r>
              <a:rPr lang="en-US" altLang="zh-CN" sz="1800" b="0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zh-CN" sz="1800" b="0" i="0" baseline="410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*</a:t>
            </a:r>
            <a:r>
              <a:rPr lang="zh-CN" sz="1800" b="0" i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))</a:t>
            </a:r>
          </a:p>
        </p:txBody>
      </p:sp>
      <p:sp>
        <p:nvSpPr>
          <p:cNvPr id="24" name="正文_14"/>
          <p:cNvSpPr txBox="1"/>
          <p:nvPr/>
        </p:nvSpPr>
        <p:spPr>
          <a:xfrm>
            <a:off x="6793992" y="4970145"/>
            <a:ext cx="4700016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 i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相遇条件：</a:t>
            </a:r>
          </a:p>
        </p:txBody>
      </p:sp>
      <p:sp>
        <p:nvSpPr>
          <p:cNvPr id="25" name="公式_15"/>
          <p:cNvSpPr txBox="1"/>
          <p:nvPr/>
        </p:nvSpPr>
        <p:spPr>
          <a:xfrm>
            <a:off x="6793992" y="5354193"/>
            <a:ext cx="4700016" cy="39319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E</a:t>
            </a:r>
            <a:r>
              <a:rPr lang="zh-CN" sz="1800" b="0" i="1" baseline="-230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K</a:t>
            </a:r>
            <a:r>
              <a:rPr lang="zh-CN" sz="1800" b="0" i="0" baseline="-540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</a:t>
            </a:r>
            <a:r>
              <a:rPr lang="zh-CN" sz="1800" b="0" i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(</a:t>
            </a:r>
            <a:r>
              <a:rPr lang="zh-CN" sz="1800" b="0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M</a:t>
            </a:r>
            <a:r>
              <a:rPr lang="en-US" altLang="zh-CN" sz="1800" b="0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zh-CN" sz="1800" b="0" i="0" baseline="410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*</a:t>
            </a:r>
            <a:r>
              <a:rPr lang="zh-CN" sz="1800" b="0" i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) = </a:t>
            </a:r>
            <a:r>
              <a:rPr lang="zh-CN" sz="1800" b="0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D</a:t>
            </a:r>
            <a:r>
              <a:rPr lang="zh-CN" sz="1800" b="0" i="1" baseline="-230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K</a:t>
            </a:r>
            <a:r>
              <a:rPr lang="zh-CN" sz="1800" b="0" i="0" baseline="-540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2</a:t>
            </a:r>
            <a:r>
              <a:rPr lang="zh-CN" sz="1800" b="0" i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(</a:t>
            </a:r>
            <a:r>
              <a:rPr lang="zh-CN" sz="1800" b="0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</a:t>
            </a:r>
            <a:r>
              <a:rPr lang="en-US" altLang="zh-CN" sz="1800" b="0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zh-CN" sz="1800" b="0" i="0" baseline="410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*</a:t>
            </a:r>
            <a:r>
              <a:rPr lang="zh-CN" sz="1800" b="0" i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)</a:t>
            </a:r>
          </a:p>
        </p:txBody>
      </p:sp>
      <p:sp>
        <p:nvSpPr>
          <p:cNvPr id="26" name="正文_16"/>
          <p:cNvSpPr txBox="1"/>
          <p:nvPr/>
        </p:nvSpPr>
        <p:spPr>
          <a:xfrm>
            <a:off x="502920" y="5443220"/>
            <a:ext cx="5083810" cy="3073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 i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  双重 DES 的加密与解密</a:t>
            </a:r>
          </a:p>
        </p:txBody>
      </p:sp>
      <p:pic>
        <p:nvPicPr>
          <p:cNvPr id="28" name="教材插图_double_des.png" descr="double_d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630170"/>
            <a:ext cx="5243830" cy="281241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02920" y="2153285"/>
            <a:ext cx="11270615" cy="4114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记 </a:t>
            </a:r>
            <a:r>
              <a:rPr lang="zh-CN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E</a:t>
            </a:r>
            <a:r>
              <a:rPr lang="zh-CN" i="1" baseline="-23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K</a:t>
            </a:r>
            <a:r>
              <a:rPr 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、</a:t>
            </a:r>
            <a:r>
              <a:rPr lang="zh-CN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D</a:t>
            </a:r>
            <a:r>
              <a:rPr lang="zh-CN" i="1" baseline="-23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K</a:t>
            </a:r>
            <a:r>
              <a:rPr 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为图中的 Enc、Dec，每次均为一次完整的 DES 加密或解密。</a:t>
            </a:r>
            <a:endParaRPr lang="zh-CN" altLang="en-US" dirty="0">
              <a:solidFill>
                <a:srgbClr val="40404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en-US" altLang="zh-CN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</a:p>
        </p:txBody>
      </p:sp>
      <p:sp>
        <p:nvSpPr>
          <p:cNvPr id="12" name="TextBox 2"/>
          <p:cNvSpPr txBox="1"/>
          <p:nvPr/>
        </p:nvSpPr>
        <p:spPr>
          <a:xfrm>
            <a:off x="1066739" y="219050"/>
            <a:ext cx="4133088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典型分组密码</a:t>
            </a:r>
          </a:p>
        </p:txBody>
      </p:sp>
      <p:cxnSp>
        <p:nvCxnSpPr>
          <p:cNvPr id="13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页标题"/>
          <p:cNvSpPr txBox="1"/>
          <p:nvPr/>
        </p:nvSpPr>
        <p:spPr>
          <a:xfrm>
            <a:off x="502920" y="827532"/>
            <a:ext cx="1115568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zh-CN" altLang="en-US" sz="2200" b="1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多重 DES（二）：三重 DES</a:t>
            </a:r>
            <a:endParaRPr lang="zh-CN" altLang="en-US" sz="2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5" name="内容底色_5"/>
          <p:cNvSpPr/>
          <p:nvPr/>
        </p:nvSpPr>
        <p:spPr>
          <a:xfrm>
            <a:off x="502920" y="1371600"/>
            <a:ext cx="11183112" cy="722376"/>
          </a:xfrm>
          <a:prstGeom prst="rect">
            <a:avLst/>
          </a:prstGeom>
          <a:solidFill>
            <a:srgbClr val="FB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三重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DES</a:t>
            </a:r>
            <a:r>
              <a:rPr lang="zh-CN" b="1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：</a:t>
            </a:r>
            <a:r>
              <a:rPr 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连续调用三次完整的 DES。三密钥配置使用独立的 </a:t>
            </a:r>
            <a:r>
              <a:rPr lang="zh-CN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K</a:t>
            </a:r>
            <a:r>
              <a:rPr lang="zh-CN" baseline="-23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1</a:t>
            </a:r>
            <a:r>
              <a:rPr 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、</a:t>
            </a:r>
            <a:r>
              <a:rPr lang="zh-CN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K</a:t>
            </a:r>
            <a:r>
              <a:rPr lang="zh-CN" baseline="-23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2</a:t>
            </a:r>
            <a:r>
              <a:rPr 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、</a:t>
            </a:r>
            <a:r>
              <a:rPr lang="zh-CN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K</a:t>
            </a:r>
            <a:r>
              <a:rPr lang="zh-CN" baseline="-23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3</a:t>
            </a:r>
            <a:r>
              <a:rPr 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；</a:t>
            </a:r>
          </a:p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若令 </a:t>
            </a:r>
            <a:r>
              <a:rPr lang="zh-CN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K</a:t>
            </a:r>
            <a:r>
              <a:rPr lang="zh-CN" baseline="-23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3</a:t>
            </a:r>
            <a:r>
              <a:rPr lang="zh-CN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=</a:t>
            </a:r>
            <a:r>
              <a:rPr lang="zh-CN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K</a:t>
            </a:r>
            <a:r>
              <a:rPr lang="zh-CN" baseline="-23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1</a:t>
            </a:r>
            <a:r>
              <a:rPr 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，则只需两把独立密钥，得到 EEE2 与 EDE2。</a:t>
            </a:r>
            <a:endParaRPr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内容底色_6"/>
          <p:cNvSpPr/>
          <p:nvPr/>
        </p:nvSpPr>
        <p:spPr>
          <a:xfrm>
            <a:off x="502920" y="2231136"/>
            <a:ext cx="4434840" cy="31729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内容底色_7"/>
          <p:cNvSpPr/>
          <p:nvPr/>
        </p:nvSpPr>
        <p:spPr>
          <a:xfrm>
            <a:off x="502920" y="5616956"/>
            <a:ext cx="11183112" cy="777240"/>
          </a:xfrm>
          <a:prstGeom prst="rect">
            <a:avLst/>
          </a:prstGeom>
          <a:solidFill>
            <a:srgbClr val="FB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密钥与局限：</a:t>
            </a:r>
            <a:r>
              <a:rPr 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三密钥／两密钥共有 </a:t>
            </a:r>
            <a:r>
              <a:rPr lang="zh-CN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2</a:t>
            </a:r>
            <a:r>
              <a:rPr lang="zh-CN" baseline="41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168</a:t>
            </a:r>
            <a:r>
              <a:rPr 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／</a:t>
            </a:r>
            <a:r>
              <a:rPr lang="zh-CN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2</a:t>
            </a:r>
            <a:r>
              <a:rPr lang="zh-CN" baseline="41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112</a:t>
            </a:r>
            <a:r>
              <a:rPr 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种组合，但组合数不直接等同安全强度；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仍需三次 DES 运算，分组仍为 64 位。三重 DES 是历史上的过渡方案，下面转入 AES。</a:t>
            </a:r>
            <a:endParaRPr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正文_9"/>
          <p:cNvSpPr txBox="1"/>
          <p:nvPr/>
        </p:nvSpPr>
        <p:spPr>
          <a:xfrm>
            <a:off x="713232" y="2395728"/>
            <a:ext cx="4005072" cy="32918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四种形式（按执行顺序）</a:t>
            </a:r>
          </a:p>
        </p:txBody>
      </p:sp>
      <p:sp>
        <p:nvSpPr>
          <p:cNvPr id="20" name="正文_10"/>
          <p:cNvSpPr txBox="1"/>
          <p:nvPr>
            <p:custDataLst>
              <p:tags r:id="rId1"/>
            </p:custDataLst>
          </p:nvPr>
        </p:nvSpPr>
        <p:spPr>
          <a:xfrm>
            <a:off x="713232" y="2916936"/>
            <a:ext cx="914400" cy="35661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 i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EEE3</a:t>
            </a:r>
          </a:p>
        </p:txBody>
      </p:sp>
      <p:sp>
        <p:nvSpPr>
          <p:cNvPr id="21" name="公式_11"/>
          <p:cNvSpPr txBox="1"/>
          <p:nvPr>
            <p:custDataLst>
              <p:tags r:id="rId2"/>
            </p:custDataLst>
          </p:nvPr>
        </p:nvSpPr>
        <p:spPr>
          <a:xfrm>
            <a:off x="1728216" y="2898648"/>
            <a:ext cx="2990088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E</a:t>
            </a:r>
            <a:r>
              <a:rPr lang="zh-CN" sz="1555" b="0" i="1" baseline="-23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K</a:t>
            </a:r>
            <a:r>
              <a:rPr lang="zh-CN" sz="1150" b="0" i="0" baseline="-54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</a:t>
            </a:r>
            <a:r>
              <a:rPr lang="zh-CN" sz="1800" b="0" i="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→ </a:t>
            </a:r>
            <a:r>
              <a:rPr lang="zh-CN" sz="1800" b="0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E</a:t>
            </a:r>
            <a:r>
              <a:rPr lang="zh-CN" sz="1555" b="0" i="1" baseline="-23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K</a:t>
            </a:r>
            <a:r>
              <a:rPr lang="zh-CN" sz="1150" b="0" i="0" baseline="-54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2</a:t>
            </a:r>
            <a:r>
              <a:rPr lang="zh-CN" sz="1800" b="0" i="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→ </a:t>
            </a:r>
            <a:r>
              <a:rPr lang="zh-CN" sz="1800" b="0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E</a:t>
            </a:r>
            <a:r>
              <a:rPr lang="zh-CN" sz="1555" b="0" i="1" baseline="-23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K</a:t>
            </a:r>
            <a:r>
              <a:rPr lang="zh-CN" sz="1150" b="0" i="0" baseline="-54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3</a:t>
            </a:r>
          </a:p>
        </p:txBody>
      </p:sp>
      <p:sp>
        <p:nvSpPr>
          <p:cNvPr id="22" name="正文_12"/>
          <p:cNvSpPr txBox="1"/>
          <p:nvPr>
            <p:custDataLst>
              <p:tags r:id="rId3"/>
            </p:custDataLst>
          </p:nvPr>
        </p:nvSpPr>
        <p:spPr>
          <a:xfrm>
            <a:off x="713232" y="3383280"/>
            <a:ext cx="914400" cy="35661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 i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EDE3</a:t>
            </a:r>
          </a:p>
        </p:txBody>
      </p:sp>
      <p:sp>
        <p:nvSpPr>
          <p:cNvPr id="23" name="公式_13"/>
          <p:cNvSpPr txBox="1"/>
          <p:nvPr>
            <p:custDataLst>
              <p:tags r:id="rId4"/>
            </p:custDataLst>
          </p:nvPr>
        </p:nvSpPr>
        <p:spPr>
          <a:xfrm>
            <a:off x="1728216" y="3364992"/>
            <a:ext cx="2990088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i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E</a:t>
            </a:r>
            <a:r>
              <a:rPr lang="zh-CN" sz="1555" b="0" i="1" baseline="-2300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K</a:t>
            </a:r>
            <a:r>
              <a:rPr lang="zh-CN" sz="1150" b="0" i="0" baseline="-5400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1</a:t>
            </a:r>
            <a:r>
              <a:rPr lang="zh-CN" sz="1800" b="0" i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 → </a:t>
            </a:r>
            <a:r>
              <a:rPr lang="zh-CN" sz="1800" b="0" i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D</a:t>
            </a:r>
            <a:r>
              <a:rPr lang="zh-CN" sz="1555" b="0" i="1" baseline="-2300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K</a:t>
            </a:r>
            <a:r>
              <a:rPr lang="zh-CN" sz="1150" b="0" i="0" baseline="-5400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2</a:t>
            </a:r>
            <a:r>
              <a:rPr lang="zh-CN" sz="1800" b="0" i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 → </a:t>
            </a:r>
            <a:r>
              <a:rPr lang="zh-CN" sz="1800" b="0" i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E</a:t>
            </a:r>
            <a:r>
              <a:rPr lang="zh-CN" sz="1555" b="0" i="1" baseline="-2300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K</a:t>
            </a:r>
            <a:r>
              <a:rPr lang="zh-CN" sz="1150" b="0" i="0" baseline="-5400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3</a:t>
            </a:r>
          </a:p>
        </p:txBody>
      </p:sp>
      <p:sp>
        <p:nvSpPr>
          <p:cNvPr id="24" name="正文_14"/>
          <p:cNvSpPr txBox="1"/>
          <p:nvPr>
            <p:custDataLst>
              <p:tags r:id="rId5"/>
            </p:custDataLst>
          </p:nvPr>
        </p:nvSpPr>
        <p:spPr>
          <a:xfrm>
            <a:off x="713232" y="3849624"/>
            <a:ext cx="914400" cy="35661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 i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EEE2</a:t>
            </a:r>
          </a:p>
        </p:txBody>
      </p:sp>
      <p:sp>
        <p:nvSpPr>
          <p:cNvPr id="25" name="公式_15"/>
          <p:cNvSpPr txBox="1"/>
          <p:nvPr>
            <p:custDataLst>
              <p:tags r:id="rId6"/>
            </p:custDataLst>
          </p:nvPr>
        </p:nvSpPr>
        <p:spPr>
          <a:xfrm>
            <a:off x="1728216" y="3831336"/>
            <a:ext cx="2990088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i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E</a:t>
            </a:r>
            <a:r>
              <a:rPr lang="zh-CN" sz="1555" b="0" i="1" baseline="-2300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K</a:t>
            </a:r>
            <a:r>
              <a:rPr lang="zh-CN" sz="1150" b="0" i="0" baseline="-5400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1</a:t>
            </a:r>
            <a:r>
              <a:rPr lang="zh-CN" sz="1800" b="0" i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 → </a:t>
            </a:r>
            <a:r>
              <a:rPr lang="zh-CN" sz="1800" b="0" i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E</a:t>
            </a:r>
            <a:r>
              <a:rPr lang="zh-CN" sz="1555" b="0" i="1" baseline="-2300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K</a:t>
            </a:r>
            <a:r>
              <a:rPr lang="zh-CN" sz="1150" b="0" i="0" baseline="-5400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2</a:t>
            </a:r>
            <a:r>
              <a:rPr lang="zh-CN" sz="1800" b="0" i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 → </a:t>
            </a:r>
            <a:r>
              <a:rPr lang="zh-CN" sz="1800" b="0" i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E</a:t>
            </a:r>
            <a:r>
              <a:rPr lang="zh-CN" sz="1555" b="0" i="1" baseline="-2300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K</a:t>
            </a:r>
            <a:r>
              <a:rPr lang="zh-CN" sz="1150" b="0" i="0" baseline="-5400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1</a:t>
            </a:r>
          </a:p>
        </p:txBody>
      </p:sp>
      <p:sp>
        <p:nvSpPr>
          <p:cNvPr id="26" name="正文_16"/>
          <p:cNvSpPr txBox="1"/>
          <p:nvPr>
            <p:custDataLst>
              <p:tags r:id="rId7"/>
            </p:custDataLst>
          </p:nvPr>
        </p:nvSpPr>
        <p:spPr>
          <a:xfrm>
            <a:off x="713232" y="4315968"/>
            <a:ext cx="914400" cy="35661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 i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EDE2</a:t>
            </a:r>
          </a:p>
        </p:txBody>
      </p:sp>
      <p:sp>
        <p:nvSpPr>
          <p:cNvPr id="27" name="公式_17"/>
          <p:cNvSpPr txBox="1"/>
          <p:nvPr>
            <p:custDataLst>
              <p:tags r:id="rId8"/>
            </p:custDataLst>
          </p:nvPr>
        </p:nvSpPr>
        <p:spPr>
          <a:xfrm>
            <a:off x="1728216" y="4297680"/>
            <a:ext cx="2990088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i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E</a:t>
            </a:r>
            <a:r>
              <a:rPr lang="zh-CN" sz="1555" b="0" i="1" baseline="-2300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K</a:t>
            </a:r>
            <a:r>
              <a:rPr lang="zh-CN" sz="1150" b="0" i="0" baseline="-5400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1</a:t>
            </a:r>
            <a:r>
              <a:rPr lang="zh-CN" sz="1800" b="0" i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 → </a:t>
            </a:r>
            <a:r>
              <a:rPr lang="zh-CN" sz="1800" b="0" i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D</a:t>
            </a:r>
            <a:r>
              <a:rPr lang="zh-CN" sz="1555" b="0" i="1" baseline="-2300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K</a:t>
            </a:r>
            <a:r>
              <a:rPr lang="zh-CN" sz="1150" b="0" i="0" baseline="-5400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2</a:t>
            </a:r>
            <a:r>
              <a:rPr lang="zh-CN" sz="1800" b="0" i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 → </a:t>
            </a:r>
            <a:r>
              <a:rPr lang="zh-CN" sz="1800" b="0" i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E</a:t>
            </a:r>
            <a:r>
              <a:rPr lang="zh-CN" sz="1555" b="0" i="1" baseline="-2300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K</a:t>
            </a:r>
            <a:r>
              <a:rPr lang="zh-CN" sz="1150" b="0" i="0" baseline="-5400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1</a:t>
            </a:r>
          </a:p>
        </p:txBody>
      </p:sp>
      <p:sp>
        <p:nvSpPr>
          <p:cNvPr id="28" name="正文_18"/>
          <p:cNvSpPr txBox="1"/>
          <p:nvPr/>
        </p:nvSpPr>
        <p:spPr>
          <a:xfrm>
            <a:off x="713232" y="4818888"/>
            <a:ext cx="4005072" cy="5303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 i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3 / 2 表示独立密钥的数量；</a:t>
            </a:r>
            <a:br>
              <a:rPr lang="zh-CN" b="0" i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</a:br>
            <a:r>
              <a:rPr lang="zh-CN" b="0" i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E / D 分别对应图中的 Enc / Dec。</a:t>
            </a:r>
          </a:p>
        </p:txBody>
      </p:sp>
      <p:sp>
        <p:nvSpPr>
          <p:cNvPr id="29" name="正文_19"/>
          <p:cNvSpPr txBox="1"/>
          <p:nvPr/>
        </p:nvSpPr>
        <p:spPr>
          <a:xfrm>
            <a:off x="5157216" y="2249424"/>
            <a:ext cx="6492240" cy="3108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 i="0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DES-EDE2 模式</a:t>
            </a:r>
            <a:r>
              <a:rPr lang="zh-CN" b="0" i="0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（上：加密；下：解密）</a:t>
            </a:r>
          </a:p>
        </p:txBody>
      </p:sp>
      <p:pic>
        <p:nvPicPr>
          <p:cNvPr id="31" name="教材插图_ede2.png" descr="ede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67114" y="2587752"/>
            <a:ext cx="5672952" cy="2463800"/>
          </a:xfrm>
          <a:prstGeom prst="rect">
            <a:avLst/>
          </a:prstGeom>
        </p:spPr>
      </p:pic>
      <p:sp>
        <p:nvSpPr>
          <p:cNvPr id="32" name="文本_兼容性：三把密钥相同时，EDE 退化为单次 DES。"/>
          <p:cNvSpPr txBox="1"/>
          <p:nvPr/>
        </p:nvSpPr>
        <p:spPr>
          <a:xfrm>
            <a:off x="5181600" y="5156200"/>
            <a:ext cx="6477000" cy="317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兼容性：三把密钥相同时，EDE 退化为单次 DES。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en-US" altLang="zh-CN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</a:p>
        </p:txBody>
      </p:sp>
      <p:sp>
        <p:nvSpPr>
          <p:cNvPr id="12" name="TextBox 2"/>
          <p:cNvSpPr txBox="1"/>
          <p:nvPr/>
        </p:nvSpPr>
        <p:spPr>
          <a:xfrm>
            <a:off x="1066739" y="219050"/>
            <a:ext cx="4133088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典型分组密码</a:t>
            </a:r>
          </a:p>
        </p:txBody>
      </p:sp>
      <p:cxnSp>
        <p:nvCxnSpPr>
          <p:cNvPr id="13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页标题"/>
          <p:cNvSpPr txBox="1"/>
          <p:nvPr/>
        </p:nvSpPr>
        <p:spPr>
          <a:xfrm>
            <a:off x="502920" y="827532"/>
            <a:ext cx="1115568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zh-CN" altLang="en-US" sz="2200" b="1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AES 概述</a:t>
            </a:r>
            <a:endParaRPr lang="zh-CN" altLang="en-US" sz="2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5" name="正文_5"/>
          <p:cNvSpPr txBox="1"/>
          <p:nvPr/>
        </p:nvSpPr>
        <p:spPr>
          <a:xfrm>
            <a:off x="502285" y="1426210"/>
            <a:ext cx="11182985" cy="75882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AES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（Advanced Encryption Standard，高级加密标准）以 Rijndael 算法为基础，2001 年由 NIST 发布为 FIPS 197，采用 SPN 结构，以字节为单位处理数据。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6" name="内容底色_6"/>
          <p:cNvSpPr/>
          <p:nvPr/>
        </p:nvSpPr>
        <p:spPr>
          <a:xfrm>
            <a:off x="502920" y="2496312"/>
            <a:ext cx="11183112" cy="630936"/>
          </a:xfrm>
          <a:prstGeom prst="rect">
            <a:avLst/>
          </a:prstGeom>
          <a:solidFill>
            <a:srgbClr val="FB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分组长度：</a:t>
            </a:r>
            <a:r>
              <a:rPr 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输入的明文分组和输出的密文分组均为 128 位，即 16 字节。</a:t>
            </a:r>
            <a:endParaRPr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正文_8"/>
          <p:cNvSpPr txBox="1"/>
          <p:nvPr/>
        </p:nvSpPr>
        <p:spPr>
          <a:xfrm>
            <a:off x="502920" y="3382645"/>
            <a:ext cx="11182350" cy="46926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AES 根据密钥长度分为三种：</a:t>
            </a:r>
          </a:p>
        </p:txBody>
      </p:sp>
      <p:graphicFrame>
        <p:nvGraphicFramePr>
          <p:cNvPr id="19" name="可编辑表格_9"/>
          <p:cNvGraphicFramePr>
            <a:graphicFrameLocks noGrp="1"/>
          </p:cNvGraphicFramePr>
          <p:nvPr/>
        </p:nvGraphicFramePr>
        <p:xfrm>
          <a:off x="1005840" y="3941063"/>
          <a:ext cx="9985248" cy="16824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28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84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8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 i="0">
                          <a:solidFill>
                            <a:srgbClr val="C0000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算法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 i="0">
                          <a:solidFill>
                            <a:srgbClr val="C0000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密钥长度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 i="0">
                          <a:solidFill>
                            <a:srgbClr val="C0000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迭代轮数 </a:t>
                      </a:r>
                      <a:r>
                        <a:rPr lang="zh-CN" sz="1800" b="1" i="1">
                          <a:solidFill>
                            <a:srgbClr val="C0000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r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B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AES-128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128 位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10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 dirty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AES-192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192 位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12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AES-256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256 位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 dirty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14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正文_10"/>
          <p:cNvSpPr txBox="1"/>
          <p:nvPr/>
        </p:nvSpPr>
        <p:spPr>
          <a:xfrm>
            <a:off x="685800" y="5989320"/>
            <a:ext cx="10817352" cy="3749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 i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下面以 AES-128 为例，说明加密的整体流程及每轮操作。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en-US" altLang="zh-CN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</a:p>
        </p:txBody>
      </p:sp>
      <p:sp>
        <p:nvSpPr>
          <p:cNvPr id="12" name="TextBox 2"/>
          <p:cNvSpPr txBox="1"/>
          <p:nvPr/>
        </p:nvSpPr>
        <p:spPr>
          <a:xfrm>
            <a:off x="1066739" y="219050"/>
            <a:ext cx="4133088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典型分组密码</a:t>
            </a:r>
          </a:p>
        </p:txBody>
      </p:sp>
      <p:cxnSp>
        <p:nvCxnSpPr>
          <p:cNvPr id="13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页标题"/>
          <p:cNvSpPr txBox="1"/>
          <p:nvPr/>
        </p:nvSpPr>
        <p:spPr>
          <a:xfrm>
            <a:off x="502920" y="827532"/>
            <a:ext cx="1115568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 i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AES 的加密流程（以 AES-128 为例）</a:t>
            </a:r>
          </a:p>
        </p:txBody>
      </p:sp>
      <p:sp>
        <p:nvSpPr>
          <p:cNvPr id="16" name="内容底色_6"/>
          <p:cNvSpPr/>
          <p:nvPr/>
        </p:nvSpPr>
        <p:spPr>
          <a:xfrm>
            <a:off x="3193301" y="4053050"/>
            <a:ext cx="330000" cy="16811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正文_7"/>
          <p:cNvSpPr txBox="1"/>
          <p:nvPr/>
        </p:nvSpPr>
        <p:spPr>
          <a:xfrm>
            <a:off x="3143490" y="4059276"/>
            <a:ext cx="448301" cy="2194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 i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rk</a:t>
            </a:r>
            <a:r>
              <a:rPr lang="zh-CN" sz="1075" b="0" i="1" baseline="-2300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i</a:t>
            </a:r>
          </a:p>
        </p:txBody>
      </p:sp>
      <p:sp>
        <p:nvSpPr>
          <p:cNvPr id="19" name="正文_9"/>
          <p:cNvSpPr txBox="1"/>
          <p:nvPr>
            <p:custDataLst>
              <p:tags r:id="rId1"/>
            </p:custDataLst>
          </p:nvPr>
        </p:nvSpPr>
        <p:spPr>
          <a:xfrm>
            <a:off x="4773168" y="1967103"/>
            <a:ext cx="6583680" cy="32918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i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① 初始轮密钥加</a:t>
            </a:r>
          </a:p>
        </p:txBody>
      </p:sp>
      <p:sp>
        <p:nvSpPr>
          <p:cNvPr id="20" name="正文_10"/>
          <p:cNvSpPr txBox="1"/>
          <p:nvPr>
            <p:custDataLst>
              <p:tags r:id="rId2"/>
            </p:custDataLst>
          </p:nvPr>
        </p:nvSpPr>
        <p:spPr>
          <a:xfrm>
            <a:off x="4773168" y="2387727"/>
            <a:ext cx="6583680" cy="7132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 i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明文先与初始轮密钥按位异或。</a:t>
            </a:r>
            <a:br>
              <a:rPr lang="zh-CN" b="0" i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</a:br>
            <a:r>
              <a:rPr lang="zh-CN" b="0" i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本例中，初始轮密钥就是主密钥 </a:t>
            </a:r>
            <a:r>
              <a:rPr lang="zh-CN" b="0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K</a:t>
            </a:r>
            <a:r>
              <a:rPr lang="zh-CN" b="0" i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。</a:t>
            </a:r>
          </a:p>
        </p:txBody>
      </p:sp>
      <p:sp>
        <p:nvSpPr>
          <p:cNvPr id="21" name="正文_11"/>
          <p:cNvSpPr txBox="1"/>
          <p:nvPr>
            <p:custDataLst>
              <p:tags r:id="rId3"/>
            </p:custDataLst>
          </p:nvPr>
        </p:nvSpPr>
        <p:spPr>
          <a:xfrm>
            <a:off x="4773168" y="3265551"/>
            <a:ext cx="6583680" cy="32918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i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② 第 1～9 轮：循环运算，执行四个操作</a:t>
            </a:r>
          </a:p>
        </p:txBody>
      </p:sp>
      <p:sp>
        <p:nvSpPr>
          <p:cNvPr id="22" name="正文_12"/>
          <p:cNvSpPr txBox="1"/>
          <p:nvPr>
            <p:custDataLst>
              <p:tags r:id="rId4"/>
            </p:custDataLst>
          </p:nvPr>
        </p:nvSpPr>
        <p:spPr>
          <a:xfrm>
            <a:off x="4773168" y="3686175"/>
            <a:ext cx="6583680" cy="7132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i="0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字节代替</a:t>
            </a:r>
            <a:r>
              <a:rPr lang="zh-CN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 → </a:t>
            </a:r>
            <a:r>
              <a:rPr lang="zh-CN" altLang="en-US" b="1" i="0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行移位 </a:t>
            </a:r>
            <a:r>
              <a:rPr lang="zh-CN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→ </a:t>
            </a:r>
            <a:r>
              <a:rPr lang="zh-CN" altLang="en-US" b="1" i="0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列混淆</a:t>
            </a:r>
            <a:r>
              <a:rPr lang="zh-CN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 → </a:t>
            </a:r>
            <a:r>
              <a:rPr lang="zh-CN" altLang="en-US" b="1" i="0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轮密钥加</a:t>
            </a:r>
            <a:r>
              <a:rPr lang="zh-CN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。</a:t>
            </a:r>
            <a:br>
              <a:rPr lang="zh-CN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</a:br>
            <a:r>
              <a:rPr lang="zh-CN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每轮的输出作为下一轮的输入。</a:t>
            </a:r>
          </a:p>
        </p:txBody>
      </p:sp>
      <p:sp>
        <p:nvSpPr>
          <p:cNvPr id="23" name="正文_13"/>
          <p:cNvSpPr txBox="1"/>
          <p:nvPr>
            <p:custDataLst>
              <p:tags r:id="rId5"/>
            </p:custDataLst>
          </p:nvPr>
        </p:nvSpPr>
        <p:spPr>
          <a:xfrm>
            <a:off x="4773168" y="4554855"/>
            <a:ext cx="6583680" cy="32918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i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③ 第 10 轮：三个操作，没有列混淆</a:t>
            </a:r>
          </a:p>
        </p:txBody>
      </p:sp>
      <p:sp>
        <p:nvSpPr>
          <p:cNvPr id="24" name="正文_14"/>
          <p:cNvSpPr txBox="1"/>
          <p:nvPr>
            <p:custDataLst>
              <p:tags r:id="rId6"/>
            </p:custDataLst>
          </p:nvPr>
        </p:nvSpPr>
        <p:spPr>
          <a:xfrm>
            <a:off x="4773168" y="4975479"/>
            <a:ext cx="6583680" cy="7132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字节代替 → 行移位 → 轮密钥加。</a:t>
            </a:r>
            <a:br>
              <a:rPr lang="zh-CN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</a:br>
            <a:r>
              <a:rPr lang="zh-CN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最后得到一个 128 位密文分组。</a:t>
            </a:r>
          </a:p>
        </p:txBody>
      </p:sp>
      <p:sp>
        <p:nvSpPr>
          <p:cNvPr id="25" name="内容底色_15"/>
          <p:cNvSpPr/>
          <p:nvPr/>
        </p:nvSpPr>
        <p:spPr>
          <a:xfrm>
            <a:off x="4586605" y="5820410"/>
            <a:ext cx="7099300" cy="51181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四个步骤处理的是同一个 128 位分组，每一步的输出直接交给下一步。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" y="1356360"/>
            <a:ext cx="3422650" cy="5135245"/>
          </a:xfrm>
          <a:prstGeom prst="rect">
            <a:avLst/>
          </a:prstGeom>
        </p:spPr>
      </p:pic>
      <p:sp>
        <p:nvSpPr>
          <p:cNvPr id="5" name="内容底色_8"/>
          <p:cNvSpPr/>
          <p:nvPr/>
        </p:nvSpPr>
        <p:spPr>
          <a:xfrm>
            <a:off x="4587240" y="1316990"/>
            <a:ext cx="7098665" cy="514985"/>
          </a:xfrm>
          <a:prstGeom prst="rect">
            <a:avLst/>
          </a:prstGeom>
          <a:solidFill>
            <a:srgbClr val="FB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左图以 AES-128 为例，主密钥</a:t>
            </a:r>
            <a:r>
              <a:rPr lang="en-US" alt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128 </a:t>
            </a:r>
            <a:r>
              <a:rPr lang="zh-CN" altLang="en-US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位，</a:t>
            </a:r>
            <a:r>
              <a:rPr 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轮数 </a:t>
            </a:r>
            <a:r>
              <a:rPr lang="zh-CN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r</a:t>
            </a:r>
            <a:r>
              <a:rPr lang="zh-CN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=10</a:t>
            </a:r>
            <a:r>
              <a:rPr 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en-US" altLang="zh-CN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</a:p>
        </p:txBody>
      </p:sp>
      <p:sp>
        <p:nvSpPr>
          <p:cNvPr id="12" name="TextBox 2"/>
          <p:cNvSpPr txBox="1"/>
          <p:nvPr/>
        </p:nvSpPr>
        <p:spPr>
          <a:xfrm>
            <a:off x="1066739" y="219050"/>
            <a:ext cx="4133088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典型分组密码</a:t>
            </a:r>
          </a:p>
        </p:txBody>
      </p:sp>
      <p:cxnSp>
        <p:nvCxnSpPr>
          <p:cNvPr id="13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页标题"/>
          <p:cNvSpPr txBox="1"/>
          <p:nvPr/>
        </p:nvSpPr>
        <p:spPr>
          <a:xfrm>
            <a:off x="502920" y="827532"/>
            <a:ext cx="1115568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 i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AES 轮变换（1/4）—— 字节代替 SubBytes</a:t>
            </a:r>
          </a:p>
        </p:txBody>
      </p:sp>
      <p:sp>
        <p:nvSpPr>
          <p:cNvPr id="15" name="内容底色_5">
            <a:hlinkClick r:id="rId3" action="ppaction://hlinksldjump"/>
          </p:cNvPr>
          <p:cNvSpPr/>
          <p:nvPr/>
        </p:nvSpPr>
        <p:spPr>
          <a:xfrm>
            <a:off x="502920" y="1353312"/>
            <a:ext cx="2679192" cy="393192"/>
          </a:xfrm>
          <a:prstGeom prst="rect">
            <a:avLst/>
          </a:prstGeom>
          <a:solidFill>
            <a:srgbClr val="F3D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正文_6">
            <a:hlinkClick r:id="rId3" action="ppaction://hlinksldjump"/>
          </p:cNvPr>
          <p:cNvSpPr txBox="1"/>
          <p:nvPr/>
        </p:nvSpPr>
        <p:spPr>
          <a:xfrm>
            <a:off x="502920" y="1399032"/>
            <a:ext cx="2679192" cy="3017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i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字节代替</a:t>
            </a:r>
          </a:p>
        </p:txBody>
      </p:sp>
      <p:sp>
        <p:nvSpPr>
          <p:cNvPr id="17" name="内容底色_7">
            <a:hlinkClick r:id="rId4" action="ppaction://hlinksldjump"/>
          </p:cNvPr>
          <p:cNvSpPr/>
          <p:nvPr/>
        </p:nvSpPr>
        <p:spPr>
          <a:xfrm>
            <a:off x="3337560" y="1353312"/>
            <a:ext cx="2679192" cy="3931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正文_8">
            <a:hlinkClick r:id="rId4" action="ppaction://hlinksldjump"/>
          </p:cNvPr>
          <p:cNvSpPr txBox="1"/>
          <p:nvPr/>
        </p:nvSpPr>
        <p:spPr>
          <a:xfrm>
            <a:off x="3337560" y="1399032"/>
            <a:ext cx="2679192" cy="3017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行移位</a:t>
            </a:r>
          </a:p>
        </p:txBody>
      </p:sp>
      <p:sp>
        <p:nvSpPr>
          <p:cNvPr id="19" name="内容底色_9">
            <a:hlinkClick r:id="rId5" action="ppaction://hlinksldjump"/>
          </p:cNvPr>
          <p:cNvSpPr/>
          <p:nvPr/>
        </p:nvSpPr>
        <p:spPr>
          <a:xfrm>
            <a:off x="6172200" y="1353312"/>
            <a:ext cx="2679192" cy="3931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正文_10">
            <a:hlinkClick r:id="rId5" action="ppaction://hlinksldjump"/>
          </p:cNvPr>
          <p:cNvSpPr txBox="1"/>
          <p:nvPr/>
        </p:nvSpPr>
        <p:spPr>
          <a:xfrm>
            <a:off x="6172200" y="1399032"/>
            <a:ext cx="2679192" cy="3017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i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列混淆</a:t>
            </a:r>
          </a:p>
        </p:txBody>
      </p:sp>
      <p:sp>
        <p:nvSpPr>
          <p:cNvPr id="21" name="内容底色_11">
            <a:hlinkClick r:id="rId6" action="ppaction://hlinksldjump"/>
          </p:cNvPr>
          <p:cNvSpPr/>
          <p:nvPr/>
        </p:nvSpPr>
        <p:spPr>
          <a:xfrm>
            <a:off x="9006840" y="1353312"/>
            <a:ext cx="2679192" cy="3931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正文_12">
            <a:hlinkClick r:id="rId6" action="ppaction://hlinksldjump"/>
          </p:cNvPr>
          <p:cNvSpPr txBox="1"/>
          <p:nvPr/>
        </p:nvSpPr>
        <p:spPr>
          <a:xfrm>
            <a:off x="9006840" y="1399032"/>
            <a:ext cx="2679192" cy="3017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i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轮密钥加</a:t>
            </a:r>
          </a:p>
        </p:txBody>
      </p:sp>
      <p:sp>
        <p:nvSpPr>
          <p:cNvPr id="23" name="正文_13"/>
          <p:cNvSpPr txBox="1"/>
          <p:nvPr/>
        </p:nvSpPr>
        <p:spPr>
          <a:xfrm>
            <a:off x="685800" y="1924050"/>
            <a:ext cx="10817225" cy="11252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indent="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我们通常把 128 位数据看作 16 个字节，</a:t>
            </a:r>
            <a:r>
              <a:rPr lang="zh-CN" b="1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按列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排成 4×4 字节矩阵，叫做</a:t>
            </a:r>
            <a:r>
              <a:rPr lang="en-US" alt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zh-CN" b="1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状态</a:t>
            </a:r>
            <a:r>
              <a:rPr 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（State），每格 1 字节。</a:t>
            </a: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 i="0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代替方法：</a:t>
            </a:r>
            <a:r>
              <a:rPr lang="zh-CN" b="0" i="0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16 个字节分别查同一张固定 S 盒：高 4 位选行，低 4 位选列。</a:t>
            </a: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例：下图中的字节 10，高 4 位 1 作行号，低 4 位 0 作列号，查 S 盒得 CA，即 10 → CA。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5" name="正文_15"/>
          <p:cNvSpPr txBox="1"/>
          <p:nvPr/>
        </p:nvSpPr>
        <p:spPr>
          <a:xfrm>
            <a:off x="822960" y="3412998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i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初始轮密钥加后</a:t>
            </a:r>
          </a:p>
        </p:txBody>
      </p:sp>
      <p:sp>
        <p:nvSpPr>
          <p:cNvPr id="26" name="正文_16"/>
          <p:cNvSpPr txBox="1"/>
          <p:nvPr/>
        </p:nvSpPr>
        <p:spPr>
          <a:xfrm>
            <a:off x="8339327" y="3412998"/>
            <a:ext cx="3200400" cy="32918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i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字节代替后</a:t>
            </a:r>
          </a:p>
        </p:txBody>
      </p:sp>
      <p:graphicFrame>
        <p:nvGraphicFramePr>
          <p:cNvPr id="27" name="可编辑表格_17"/>
          <p:cNvGraphicFramePr>
            <a:graphicFrameLocks noGrp="1"/>
          </p:cNvGraphicFramePr>
          <p:nvPr/>
        </p:nvGraphicFramePr>
        <p:xfrm>
          <a:off x="822960" y="3824477"/>
          <a:ext cx="2880360" cy="1783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0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5770"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00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40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 dirty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80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C0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10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50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90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D0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20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60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A0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E0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30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70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B0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 dirty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F0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8" name="可编辑表格_18"/>
          <p:cNvGraphicFramePr>
            <a:graphicFrameLocks noGrp="1"/>
          </p:cNvGraphicFramePr>
          <p:nvPr/>
        </p:nvGraphicFramePr>
        <p:xfrm>
          <a:off x="8339327" y="3824477"/>
          <a:ext cx="2880360" cy="1783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0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5770"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 dirty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63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09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CD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BA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CA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53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60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70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B7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D0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E0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E1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04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51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E7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 dirty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8C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" name="正文_19"/>
          <p:cNvSpPr txBox="1"/>
          <p:nvPr/>
        </p:nvSpPr>
        <p:spPr>
          <a:xfrm>
            <a:off x="4261104" y="3441573"/>
            <a:ext cx="3657600" cy="32918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205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 i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S 盒节选（行、列均从 0 开始）</a:t>
            </a:r>
          </a:p>
        </p:txBody>
      </p:sp>
      <p:graphicFrame>
        <p:nvGraphicFramePr>
          <p:cNvPr id="30" name="可编辑表格_20"/>
          <p:cNvGraphicFramePr>
            <a:graphicFrameLocks noGrp="1"/>
          </p:cNvGraphicFramePr>
          <p:nvPr/>
        </p:nvGraphicFramePr>
        <p:xfrm>
          <a:off x="4261104" y="3853052"/>
          <a:ext cx="3611880" cy="1234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23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3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3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23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23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 i="0">
                          <a:solidFill>
                            <a:srgbClr val="C0000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行/列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 i="0" dirty="0">
                          <a:solidFill>
                            <a:srgbClr val="C0000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 i="0">
                          <a:solidFill>
                            <a:srgbClr val="C0000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 i="0">
                          <a:solidFill>
                            <a:srgbClr val="C0000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2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 i="0">
                          <a:solidFill>
                            <a:srgbClr val="C0000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3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B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63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7C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77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7B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CA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82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C9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 dirty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7D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1" name="正文_21"/>
          <p:cNvSpPr txBox="1"/>
          <p:nvPr/>
        </p:nvSpPr>
        <p:spPr>
          <a:xfrm>
            <a:off x="4261104" y="5261229"/>
            <a:ext cx="3657600" cy="35661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i="0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00 → 63；10 → CA</a:t>
            </a:r>
          </a:p>
        </p:txBody>
      </p:sp>
      <p:sp>
        <p:nvSpPr>
          <p:cNvPr id="32" name="内容底色_22"/>
          <p:cNvSpPr/>
          <p:nvPr/>
        </p:nvSpPr>
        <p:spPr>
          <a:xfrm>
            <a:off x="502920" y="5989955"/>
            <a:ext cx="11182985" cy="380365"/>
          </a:xfrm>
          <a:prstGeom prst="rect">
            <a:avLst/>
          </a:prstGeom>
          <a:solidFill>
            <a:srgbClr val="FB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作用：</a:t>
            </a:r>
            <a:r>
              <a:rPr 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改变字节的值，引入非线性；代替过程中字节所在的位置保持不变。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en-US" altLang="zh-CN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</a:p>
        </p:txBody>
      </p:sp>
      <p:sp>
        <p:nvSpPr>
          <p:cNvPr id="12" name="TextBox 2"/>
          <p:cNvSpPr txBox="1"/>
          <p:nvPr/>
        </p:nvSpPr>
        <p:spPr>
          <a:xfrm>
            <a:off x="1066739" y="219050"/>
            <a:ext cx="4133088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典型分组密码</a:t>
            </a:r>
          </a:p>
        </p:txBody>
      </p:sp>
      <p:cxnSp>
        <p:nvCxnSpPr>
          <p:cNvPr id="13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页标题"/>
          <p:cNvSpPr txBox="1"/>
          <p:nvPr/>
        </p:nvSpPr>
        <p:spPr>
          <a:xfrm>
            <a:off x="502920" y="827532"/>
            <a:ext cx="1115568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AES 轮变换（2/4）—— 行移位 ShiftRows</a:t>
            </a:r>
          </a:p>
        </p:txBody>
      </p:sp>
      <p:sp>
        <p:nvSpPr>
          <p:cNvPr id="15" name="内容底色_5">
            <a:hlinkClick r:id="rId3" action="ppaction://hlinksldjump"/>
          </p:cNvPr>
          <p:cNvSpPr/>
          <p:nvPr/>
        </p:nvSpPr>
        <p:spPr>
          <a:xfrm>
            <a:off x="502920" y="1353312"/>
            <a:ext cx="2679192" cy="3931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正文_6">
            <a:hlinkClick r:id="rId3" action="ppaction://hlinksldjump"/>
          </p:cNvPr>
          <p:cNvSpPr txBox="1"/>
          <p:nvPr/>
        </p:nvSpPr>
        <p:spPr>
          <a:xfrm>
            <a:off x="502920" y="1399032"/>
            <a:ext cx="2679192" cy="3017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i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字节代替</a:t>
            </a:r>
          </a:p>
        </p:txBody>
      </p:sp>
      <p:sp>
        <p:nvSpPr>
          <p:cNvPr id="17" name="内容底色_7">
            <a:hlinkClick r:id="rId4" action="ppaction://hlinksldjump"/>
          </p:cNvPr>
          <p:cNvSpPr/>
          <p:nvPr/>
        </p:nvSpPr>
        <p:spPr>
          <a:xfrm>
            <a:off x="3337560" y="1353312"/>
            <a:ext cx="2679192" cy="393192"/>
          </a:xfrm>
          <a:prstGeom prst="rect">
            <a:avLst/>
          </a:prstGeom>
          <a:solidFill>
            <a:srgbClr val="F3D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正文_8">
            <a:hlinkClick r:id="rId4" action="ppaction://hlinksldjump"/>
          </p:cNvPr>
          <p:cNvSpPr txBox="1"/>
          <p:nvPr/>
        </p:nvSpPr>
        <p:spPr>
          <a:xfrm>
            <a:off x="3337560" y="1399032"/>
            <a:ext cx="2679192" cy="3017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i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行移位</a:t>
            </a:r>
          </a:p>
        </p:txBody>
      </p:sp>
      <p:sp>
        <p:nvSpPr>
          <p:cNvPr id="19" name="内容底色_9">
            <a:hlinkClick r:id="rId5" action="ppaction://hlinksldjump"/>
          </p:cNvPr>
          <p:cNvSpPr/>
          <p:nvPr/>
        </p:nvSpPr>
        <p:spPr>
          <a:xfrm>
            <a:off x="6172200" y="1353312"/>
            <a:ext cx="2679192" cy="3931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正文_10">
            <a:hlinkClick r:id="rId5" action="ppaction://hlinksldjump"/>
          </p:cNvPr>
          <p:cNvSpPr txBox="1"/>
          <p:nvPr/>
        </p:nvSpPr>
        <p:spPr>
          <a:xfrm>
            <a:off x="6172200" y="1399032"/>
            <a:ext cx="2679192" cy="3017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i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列混淆</a:t>
            </a:r>
          </a:p>
        </p:txBody>
      </p:sp>
      <p:sp>
        <p:nvSpPr>
          <p:cNvPr id="21" name="内容底色_11">
            <a:hlinkClick r:id="rId6" action="ppaction://hlinksldjump"/>
          </p:cNvPr>
          <p:cNvSpPr/>
          <p:nvPr/>
        </p:nvSpPr>
        <p:spPr>
          <a:xfrm>
            <a:off x="9006840" y="1353312"/>
            <a:ext cx="2679192" cy="3931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正文_12">
            <a:hlinkClick r:id="rId6" action="ppaction://hlinksldjump"/>
          </p:cNvPr>
          <p:cNvSpPr txBox="1"/>
          <p:nvPr/>
        </p:nvSpPr>
        <p:spPr>
          <a:xfrm>
            <a:off x="9006840" y="1399032"/>
            <a:ext cx="2679192" cy="3017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i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轮密钥加</a:t>
            </a:r>
          </a:p>
        </p:txBody>
      </p:sp>
      <p:sp>
        <p:nvSpPr>
          <p:cNvPr id="23" name="正文_13"/>
          <p:cNvSpPr txBox="1"/>
          <p:nvPr/>
        </p:nvSpPr>
        <p:spPr>
          <a:xfrm>
            <a:off x="685800" y="1947672"/>
            <a:ext cx="10817352" cy="70408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 i="0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移位方法：</a:t>
            </a:r>
            <a:r>
              <a:rPr lang="zh-CN" b="0" i="0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第 0、1、2、3 行分别循环左移 0、1、2、3 个字节。</a:t>
            </a:r>
            <a:br>
              <a:rPr lang="zh-CN" b="0" i="0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</a:br>
            <a:r>
              <a:rPr lang="zh-CN" b="0" i="0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移出左端的字节回到右端；字节的值不变，只改变它所在的列。</a:t>
            </a:r>
          </a:p>
        </p:txBody>
      </p:sp>
      <p:sp>
        <p:nvSpPr>
          <p:cNvPr id="24" name="正文_14"/>
          <p:cNvSpPr txBox="1"/>
          <p:nvPr/>
        </p:nvSpPr>
        <p:spPr>
          <a:xfrm>
            <a:off x="914400" y="3008376"/>
            <a:ext cx="3200400" cy="32918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 i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行移位前</a:t>
            </a:r>
          </a:p>
        </p:txBody>
      </p:sp>
      <p:sp>
        <p:nvSpPr>
          <p:cNvPr id="25" name="正文_15"/>
          <p:cNvSpPr txBox="1"/>
          <p:nvPr/>
        </p:nvSpPr>
        <p:spPr>
          <a:xfrm>
            <a:off x="8229600" y="3008376"/>
            <a:ext cx="3200400" cy="32918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i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行移位后</a:t>
            </a:r>
          </a:p>
        </p:txBody>
      </p:sp>
      <p:graphicFrame>
        <p:nvGraphicFramePr>
          <p:cNvPr id="26" name="可编辑表格_16"/>
          <p:cNvGraphicFramePr>
            <a:graphicFrameLocks noGrp="1"/>
          </p:cNvGraphicFramePr>
          <p:nvPr/>
        </p:nvGraphicFramePr>
        <p:xfrm>
          <a:off x="914400" y="3474720"/>
          <a:ext cx="3063240" cy="19751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5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58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58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58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 dirty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63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09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CD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BA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CA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53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 dirty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60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70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B7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D0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E0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E1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B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04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3E5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 dirty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51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3E5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E7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3E5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 dirty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8C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3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7" name="可编辑表格_17"/>
          <p:cNvGraphicFramePr>
            <a:graphicFrameLocks noGrp="1"/>
          </p:cNvGraphicFramePr>
          <p:nvPr/>
        </p:nvGraphicFramePr>
        <p:xfrm>
          <a:off x="8229600" y="3474720"/>
          <a:ext cx="3063240" cy="19751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5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58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58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58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 dirty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63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09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CD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BA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53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60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70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CA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E0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 dirty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E1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B7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D0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B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8C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3E5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04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3E5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51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3E5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 dirty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E7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3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" name="正文_18"/>
          <p:cNvSpPr txBox="1"/>
          <p:nvPr/>
        </p:nvSpPr>
        <p:spPr>
          <a:xfrm>
            <a:off x="4434840" y="3575304"/>
            <a:ext cx="3337560" cy="3108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 i="0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第 0 行：不移动 →</a:t>
            </a:r>
          </a:p>
        </p:txBody>
      </p:sp>
      <p:sp>
        <p:nvSpPr>
          <p:cNvPr id="29" name="正文_19"/>
          <p:cNvSpPr txBox="1"/>
          <p:nvPr/>
        </p:nvSpPr>
        <p:spPr>
          <a:xfrm>
            <a:off x="4434840" y="4069080"/>
            <a:ext cx="3337560" cy="3108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 i="0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第 1 行：左移 1 字节 →</a:t>
            </a:r>
          </a:p>
        </p:txBody>
      </p:sp>
      <p:sp>
        <p:nvSpPr>
          <p:cNvPr id="30" name="正文_20"/>
          <p:cNvSpPr txBox="1"/>
          <p:nvPr/>
        </p:nvSpPr>
        <p:spPr>
          <a:xfrm>
            <a:off x="4434840" y="4562856"/>
            <a:ext cx="3337560" cy="3108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 i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第 2 行：左移 2 字节 →</a:t>
            </a:r>
          </a:p>
        </p:txBody>
      </p:sp>
      <p:sp>
        <p:nvSpPr>
          <p:cNvPr id="31" name="正文_21"/>
          <p:cNvSpPr txBox="1"/>
          <p:nvPr/>
        </p:nvSpPr>
        <p:spPr>
          <a:xfrm>
            <a:off x="4434840" y="5056632"/>
            <a:ext cx="3337560" cy="3108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 i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第 3 行：左移 3 字节 →</a:t>
            </a:r>
          </a:p>
        </p:txBody>
      </p:sp>
      <p:sp>
        <p:nvSpPr>
          <p:cNvPr id="32" name="内容底色_22"/>
          <p:cNvSpPr/>
          <p:nvPr/>
        </p:nvSpPr>
        <p:spPr>
          <a:xfrm>
            <a:off x="502920" y="5742432"/>
            <a:ext cx="11183112" cy="685800"/>
          </a:xfrm>
          <a:prstGeom prst="rect">
            <a:avLst/>
          </a:prstGeom>
          <a:solidFill>
            <a:srgbClr val="FB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正文_23"/>
          <p:cNvSpPr txBox="1"/>
          <p:nvPr/>
        </p:nvSpPr>
        <p:spPr>
          <a:xfrm>
            <a:off x="685800" y="5824728"/>
            <a:ext cx="10817352" cy="5943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作用：</a:t>
            </a:r>
            <a:r>
              <a:rPr lang="zh-CN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把原来同一列的字节分散到不同列，为下一步列混淆提供跨列扩散。</a:t>
            </a:r>
            <a:br>
              <a:rPr lang="zh-CN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</a:br>
            <a:r>
              <a:rPr lang="zh-CN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逆行移位则让各行分别循环右移 0、1、2、3 个字节。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en-US" altLang="zh-CN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</a:p>
        </p:txBody>
      </p:sp>
      <p:sp>
        <p:nvSpPr>
          <p:cNvPr id="12" name="TextBox 2"/>
          <p:cNvSpPr txBox="1"/>
          <p:nvPr/>
        </p:nvSpPr>
        <p:spPr>
          <a:xfrm>
            <a:off x="1066739" y="219050"/>
            <a:ext cx="4133088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典型分组密码</a:t>
            </a:r>
          </a:p>
        </p:txBody>
      </p:sp>
      <p:cxnSp>
        <p:nvCxnSpPr>
          <p:cNvPr id="13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页标题"/>
          <p:cNvSpPr txBox="1"/>
          <p:nvPr/>
        </p:nvSpPr>
        <p:spPr>
          <a:xfrm>
            <a:off x="502920" y="827532"/>
            <a:ext cx="1115568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 i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AES 轮变换（3/4）—— 列混淆 MixColumns</a:t>
            </a:r>
          </a:p>
        </p:txBody>
      </p:sp>
      <p:sp>
        <p:nvSpPr>
          <p:cNvPr id="15" name="内容底色_5">
            <a:hlinkClick r:id="rId3" action="ppaction://hlinksldjump"/>
          </p:cNvPr>
          <p:cNvSpPr/>
          <p:nvPr/>
        </p:nvSpPr>
        <p:spPr>
          <a:xfrm>
            <a:off x="502920" y="1353312"/>
            <a:ext cx="2679192" cy="3931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正文_6">
            <a:hlinkClick r:id="rId3" action="ppaction://hlinksldjump"/>
          </p:cNvPr>
          <p:cNvSpPr txBox="1"/>
          <p:nvPr/>
        </p:nvSpPr>
        <p:spPr>
          <a:xfrm>
            <a:off x="502920" y="1399032"/>
            <a:ext cx="2679192" cy="3017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i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字节代替</a:t>
            </a:r>
          </a:p>
        </p:txBody>
      </p:sp>
      <p:sp>
        <p:nvSpPr>
          <p:cNvPr id="17" name="内容底色_7">
            <a:hlinkClick r:id="rId4" action="ppaction://hlinksldjump"/>
          </p:cNvPr>
          <p:cNvSpPr/>
          <p:nvPr/>
        </p:nvSpPr>
        <p:spPr>
          <a:xfrm>
            <a:off x="3337560" y="1353312"/>
            <a:ext cx="2679192" cy="3931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正文_8">
            <a:hlinkClick r:id="rId4" action="ppaction://hlinksldjump"/>
          </p:cNvPr>
          <p:cNvSpPr txBox="1"/>
          <p:nvPr/>
        </p:nvSpPr>
        <p:spPr>
          <a:xfrm>
            <a:off x="3337560" y="1399032"/>
            <a:ext cx="2679192" cy="3017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i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行移位</a:t>
            </a:r>
          </a:p>
        </p:txBody>
      </p:sp>
      <p:sp>
        <p:nvSpPr>
          <p:cNvPr id="19" name="内容底色_9">
            <a:hlinkClick r:id="rId5" action="ppaction://hlinksldjump"/>
          </p:cNvPr>
          <p:cNvSpPr/>
          <p:nvPr/>
        </p:nvSpPr>
        <p:spPr>
          <a:xfrm>
            <a:off x="6172200" y="1353312"/>
            <a:ext cx="2679192" cy="393192"/>
          </a:xfrm>
          <a:prstGeom prst="rect">
            <a:avLst/>
          </a:prstGeom>
          <a:solidFill>
            <a:srgbClr val="F3D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正文_10">
            <a:hlinkClick r:id="rId5" action="ppaction://hlinksldjump"/>
          </p:cNvPr>
          <p:cNvSpPr txBox="1"/>
          <p:nvPr/>
        </p:nvSpPr>
        <p:spPr>
          <a:xfrm>
            <a:off x="6172200" y="1399032"/>
            <a:ext cx="2679192" cy="3017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i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列混淆</a:t>
            </a:r>
          </a:p>
        </p:txBody>
      </p:sp>
      <p:sp>
        <p:nvSpPr>
          <p:cNvPr id="21" name="内容底色_11">
            <a:hlinkClick r:id="rId6" action="ppaction://hlinksldjump"/>
          </p:cNvPr>
          <p:cNvSpPr/>
          <p:nvPr/>
        </p:nvSpPr>
        <p:spPr>
          <a:xfrm>
            <a:off x="9006840" y="1353312"/>
            <a:ext cx="2679192" cy="3931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正文_12">
            <a:hlinkClick r:id="rId6" action="ppaction://hlinksldjump"/>
          </p:cNvPr>
          <p:cNvSpPr txBox="1"/>
          <p:nvPr/>
        </p:nvSpPr>
        <p:spPr>
          <a:xfrm>
            <a:off x="9006840" y="1399032"/>
            <a:ext cx="2679192" cy="3017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i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轮密钥加</a:t>
            </a:r>
          </a:p>
        </p:txBody>
      </p:sp>
      <p:sp>
        <p:nvSpPr>
          <p:cNvPr id="23" name="正文_13"/>
          <p:cNvSpPr txBox="1"/>
          <p:nvPr/>
        </p:nvSpPr>
        <p:spPr>
          <a:xfrm>
            <a:off x="685800" y="1915922"/>
            <a:ext cx="10817352" cy="70408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 i="0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混淆方法：</a:t>
            </a:r>
            <a:r>
              <a:rPr lang="zh-CN" b="0" i="0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对每一列的 4 个字节做固定线性变换，得到新的 4 个字节；四列分别处理。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运算在 </a:t>
            </a:r>
            <a:r>
              <a:rPr lang="zh-CN" i="1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GF</a:t>
            </a:r>
            <a:r>
              <a:rPr lang="zh-CN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(2</a:t>
            </a:r>
            <a:r>
              <a:rPr lang="zh-CN" baseline="41000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8</a:t>
            </a:r>
            <a:r>
              <a:rPr lang="zh-CN" dirty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)</a:t>
            </a:r>
            <a:r>
              <a:rPr 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= </a:t>
            </a:r>
            <a:r>
              <a:rPr lang="en-US" altLang="zh-CN" i="1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GF</a:t>
            </a:r>
            <a:r>
              <a:rPr lang="en-US" alt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(2)[</a:t>
            </a:r>
            <a:r>
              <a:rPr lang="en-US" altLang="zh-CN" i="1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x</a:t>
            </a:r>
            <a:r>
              <a:rPr lang="en-US" alt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]/(</a:t>
            </a:r>
            <a:r>
              <a:rPr lang="en-US" altLang="zh-CN" i="1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x</a:t>
            </a:r>
            <a:r>
              <a:rPr lang="en-US" altLang="zh-CN" baseline="-25000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8</a:t>
            </a:r>
            <a:r>
              <a:rPr lang="en-US" alt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+</a:t>
            </a:r>
            <a:r>
              <a:rPr lang="en-US" altLang="zh-CN" i="1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x</a:t>
            </a:r>
            <a:r>
              <a:rPr lang="en-US" altLang="zh-CN" baseline="-25000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4</a:t>
            </a:r>
            <a:r>
              <a:rPr lang="en-US" alt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+</a:t>
            </a:r>
            <a:r>
              <a:rPr lang="en-US" altLang="zh-CN" i="1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x</a:t>
            </a:r>
            <a:r>
              <a:rPr lang="en-US" altLang="zh-CN" baseline="-25000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3</a:t>
            </a:r>
            <a:r>
              <a:rPr lang="en-US" alt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+</a:t>
            </a:r>
            <a:r>
              <a:rPr lang="en-US" altLang="zh-CN" i="1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x</a:t>
            </a:r>
            <a:r>
              <a:rPr lang="en-US" alt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+1) </a:t>
            </a:r>
            <a:r>
              <a:rPr 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中进行：加法是异或，乘法是</a:t>
            </a:r>
            <a:r>
              <a:rPr lang="zh-CN" altLang="en-US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进行多项式相乘。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规则如下</a:t>
            </a:r>
            <a:r>
              <a:rPr lang="zh-CN" altLang="en-US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：</a:t>
            </a:r>
            <a:endParaRPr lang="zh-CN" altLang="en-US" dirty="0">
              <a:solidFill>
                <a:srgbClr val="40404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4" name="正文_14"/>
          <p:cNvSpPr txBox="1"/>
          <p:nvPr/>
        </p:nvSpPr>
        <p:spPr>
          <a:xfrm>
            <a:off x="731520" y="3748913"/>
            <a:ext cx="2743200" cy="32918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固定系数矩阵（</a:t>
            </a: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左</a:t>
            </a:r>
            <a:r>
              <a:rPr lang="zh-CN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乘状态）</a:t>
            </a:r>
          </a:p>
        </p:txBody>
      </p:sp>
      <p:sp>
        <p:nvSpPr>
          <p:cNvPr id="25" name="正文_15"/>
          <p:cNvSpPr txBox="1"/>
          <p:nvPr/>
        </p:nvSpPr>
        <p:spPr>
          <a:xfrm>
            <a:off x="3657345" y="3748913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状态的</a:t>
            </a:r>
            <a:r>
              <a:rPr lang="zh-CN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第一列</a:t>
            </a:r>
          </a:p>
        </p:txBody>
      </p:sp>
      <p:graphicFrame>
        <p:nvGraphicFramePr>
          <p:cNvPr id="26" name="可编辑表格_16"/>
          <p:cNvGraphicFramePr>
            <a:graphicFrameLocks noGrp="1"/>
          </p:cNvGraphicFramePr>
          <p:nvPr/>
        </p:nvGraphicFramePr>
        <p:xfrm>
          <a:off x="731520" y="4196969"/>
          <a:ext cx="2304288" cy="175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6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02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03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 dirty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01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 dirty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01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B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01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02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03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01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01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01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02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03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03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01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01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 dirty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02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" name="正文_17"/>
          <p:cNvSpPr txBox="1"/>
          <p:nvPr/>
        </p:nvSpPr>
        <p:spPr>
          <a:xfrm>
            <a:off x="3108960" y="4855337"/>
            <a:ext cx="502920" cy="4114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ts val="34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00" b="0" i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×</a:t>
            </a:r>
          </a:p>
        </p:txBody>
      </p:sp>
      <p:graphicFrame>
        <p:nvGraphicFramePr>
          <p:cNvPr id="28" name="可编辑表格_18"/>
          <p:cNvGraphicFramePr>
            <a:graphicFrameLocks noGrp="1"/>
          </p:cNvGraphicFramePr>
          <p:nvPr/>
        </p:nvGraphicFramePr>
        <p:xfrm>
          <a:off x="3657600" y="4196969"/>
          <a:ext cx="786384" cy="175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863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 dirty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63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B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53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B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E0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B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 dirty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8C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B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" name="正文_19"/>
          <p:cNvSpPr txBox="1"/>
          <p:nvPr/>
        </p:nvSpPr>
        <p:spPr>
          <a:xfrm>
            <a:off x="4498848" y="4855337"/>
            <a:ext cx="502920" cy="4114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ts val="34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00" b="0" i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=</a:t>
            </a:r>
          </a:p>
        </p:txBody>
      </p:sp>
      <p:graphicFrame>
        <p:nvGraphicFramePr>
          <p:cNvPr id="30" name="可编辑表格_20"/>
          <p:cNvGraphicFramePr>
            <a:graphicFrameLocks noGrp="1"/>
          </p:cNvGraphicFramePr>
          <p:nvPr/>
        </p:nvGraphicFramePr>
        <p:xfrm>
          <a:off x="5065776" y="4196969"/>
          <a:ext cx="786384" cy="175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863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 dirty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5F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B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72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B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64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B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 dirty="0">
                          <a:solidFill>
                            <a:srgbClr val="40404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15</a:t>
                      </a: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B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" name="内容底色_21"/>
          <p:cNvSpPr/>
          <p:nvPr/>
        </p:nvSpPr>
        <p:spPr>
          <a:xfrm>
            <a:off x="6409944" y="3721481"/>
            <a:ext cx="5276088" cy="22219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正文_22"/>
          <p:cNvSpPr txBox="1"/>
          <p:nvPr/>
        </p:nvSpPr>
        <p:spPr>
          <a:xfrm>
            <a:off x="6592824" y="3826637"/>
            <a:ext cx="4910328" cy="32918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 i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第一个输出字节如何得到：</a:t>
            </a:r>
          </a:p>
        </p:txBody>
      </p:sp>
      <p:sp>
        <p:nvSpPr>
          <p:cNvPr id="33" name="正文_23"/>
          <p:cNvSpPr txBox="1"/>
          <p:nvPr/>
        </p:nvSpPr>
        <p:spPr>
          <a:xfrm>
            <a:off x="6592570" y="4213860"/>
            <a:ext cx="4910455" cy="41084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i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(02×63) ⊕ (03</a:t>
            </a:r>
            <a:r>
              <a:rPr lang="zh-CN" sz="180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×</a:t>
            </a:r>
            <a:r>
              <a:rPr lang="zh-CN" sz="1800" b="0" i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53) ⊕ </a:t>
            </a:r>
            <a:r>
              <a:rPr lang="en-US" altLang="zh-CN" sz="1800" b="0" i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(01</a:t>
            </a:r>
            <a:r>
              <a:rPr 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×</a:t>
            </a:r>
            <a:r>
              <a:rPr lang="zh-CN" sz="1800" b="0" i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E0</a:t>
            </a:r>
            <a:r>
              <a:rPr lang="en-US" altLang="zh-CN" sz="1800" b="0" i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)</a:t>
            </a:r>
            <a:r>
              <a:rPr lang="zh-CN" sz="1800" b="0" i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⊕ </a:t>
            </a:r>
            <a:r>
              <a:rPr lang="en-US" altLang="zh-CN" sz="1800" b="0" i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(01</a:t>
            </a:r>
            <a:r>
              <a:rPr 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×</a:t>
            </a:r>
            <a:r>
              <a:rPr lang="zh-CN" sz="1800" b="0" i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8C</a:t>
            </a:r>
            <a:r>
              <a:rPr lang="en-US" altLang="zh-CN" sz="1800" b="0" i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) </a:t>
            </a:r>
            <a:r>
              <a:rPr lang="zh-CN" sz="1800" b="0" i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= 5F</a:t>
            </a: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endParaRPr lang="zh-CN" sz="1800" b="0" i="0">
              <a:solidFill>
                <a:srgbClr val="40404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endParaRPr lang="zh-CN" sz="1800" b="0" i="0">
              <a:solidFill>
                <a:srgbClr val="40404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35" name="正文_25"/>
          <p:cNvSpPr txBox="1"/>
          <p:nvPr/>
        </p:nvSpPr>
        <p:spPr>
          <a:xfrm>
            <a:off x="685800" y="6093460"/>
            <a:ext cx="10817352" cy="32918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 i="0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作用：</a:t>
            </a:r>
            <a:r>
              <a:rPr lang="zh-CN" b="0" i="0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每个输出字节都依赖同一列的 4 个输入字节，与行移位共同实现扩散。</a:t>
            </a:r>
          </a:p>
        </p:txBody>
      </p:sp>
      <p:sp>
        <p:nvSpPr>
          <p:cNvPr id="5" name="内容底色_26"/>
          <p:cNvSpPr/>
          <p:nvPr/>
        </p:nvSpPr>
        <p:spPr>
          <a:xfrm>
            <a:off x="685800" y="2645537"/>
            <a:ext cx="11000232" cy="915670"/>
          </a:xfrm>
          <a:prstGeom prst="rect">
            <a:avLst/>
          </a:prstGeom>
          <a:solidFill>
            <a:srgbClr val="FB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l">
              <a:buNone/>
            </a:pPr>
            <a:r>
              <a:rPr lang="zh-CN" altLang="en-US" b="1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① 一个字节就是一个多项式：</a:t>
            </a:r>
            <a:r>
              <a:rPr lang="zh-CN" altLang="en-US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8 个比特依次作为 </a:t>
            </a:r>
            <a:r>
              <a:rPr lang="zh-CN" altLang="en-US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x</a:t>
            </a:r>
            <a:r>
              <a:rPr lang="zh-CN" altLang="en-US" baseline="30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7</a:t>
            </a:r>
            <a:r>
              <a:rPr lang="zh-CN" altLang="en-US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～</a:t>
            </a:r>
            <a:r>
              <a:rPr lang="zh-CN" altLang="en-US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x</a:t>
            </a:r>
            <a:r>
              <a:rPr lang="zh-CN" altLang="en-US" baseline="30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0</a:t>
            </a:r>
            <a:r>
              <a:rPr lang="zh-CN" altLang="en-US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 的系数，例如</a:t>
            </a:r>
            <a:r>
              <a:rPr lang="en-US" altLang="zh-CN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 </a:t>
            </a:r>
            <a:r>
              <a:rPr lang="zh-CN" altLang="en-US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0x63 = 0110 0011 = </a:t>
            </a:r>
            <a:r>
              <a:rPr lang="zh-CN" altLang="en-US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x</a:t>
            </a:r>
            <a:r>
              <a:rPr lang="zh-CN" altLang="en-US" baseline="30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6</a:t>
            </a:r>
            <a:r>
              <a:rPr lang="zh-CN" altLang="en-US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 + </a:t>
            </a:r>
            <a:r>
              <a:rPr lang="zh-CN" altLang="en-US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x</a:t>
            </a:r>
            <a:r>
              <a:rPr lang="zh-CN" altLang="en-US" baseline="30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5</a:t>
            </a:r>
            <a:r>
              <a:rPr lang="zh-CN" altLang="en-US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 + </a:t>
            </a:r>
            <a:r>
              <a:rPr lang="zh-CN" altLang="en-US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x</a:t>
            </a:r>
            <a:r>
              <a:rPr lang="zh-CN" altLang="en-US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 + 1</a:t>
            </a:r>
            <a:r>
              <a:rPr 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。</a:t>
            </a:r>
          </a:p>
          <a:p>
            <a:pPr marL="0" indent="0" algn="l">
              <a:buNone/>
            </a:pPr>
            <a:r>
              <a:rPr lang="zh-CN" altLang="en-US" b="1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② 加法是异或：</a:t>
            </a:r>
            <a:r>
              <a:rPr lang="zh-CN" altLang="en-US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多项式加法对应按位异或。</a:t>
            </a:r>
          </a:p>
          <a:p>
            <a:pPr marL="0" indent="0" algn="l">
              <a:buNone/>
            </a:pPr>
            <a:r>
              <a:rPr lang="zh-CN" altLang="en-US" b="1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③ 乘法是多项式乘法：</a:t>
            </a:r>
            <a:r>
              <a:rPr lang="zh-CN" altLang="en-US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先进行多项式相乘，再模 </a:t>
            </a:r>
            <a:r>
              <a:rPr lang="zh-CN" altLang="en-US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m</a:t>
            </a:r>
            <a:r>
              <a:rPr lang="zh-CN" altLang="en-US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(</a:t>
            </a:r>
            <a:r>
              <a:rPr lang="zh-CN" altLang="en-US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x</a:t>
            </a:r>
            <a:r>
              <a:rPr lang="zh-CN" altLang="en-US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)=</a:t>
            </a:r>
            <a:r>
              <a:rPr lang="zh-CN" altLang="en-US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x</a:t>
            </a:r>
            <a:r>
              <a:rPr lang="zh-CN" altLang="en-US" baseline="30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8</a:t>
            </a:r>
            <a:r>
              <a:rPr lang="zh-CN" altLang="en-US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+</a:t>
            </a:r>
            <a:r>
              <a:rPr lang="zh-CN" altLang="en-US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x</a:t>
            </a:r>
            <a:r>
              <a:rPr lang="zh-CN" altLang="en-US" baseline="30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4</a:t>
            </a:r>
            <a:r>
              <a:rPr lang="zh-CN" altLang="en-US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+</a:t>
            </a:r>
            <a:r>
              <a:rPr lang="zh-CN" altLang="en-US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x</a:t>
            </a:r>
            <a:r>
              <a:rPr lang="zh-CN" altLang="en-US" baseline="30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3</a:t>
            </a:r>
            <a:r>
              <a:rPr lang="zh-CN" altLang="en-US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+</a:t>
            </a:r>
            <a:r>
              <a:rPr lang="zh-CN" altLang="en-US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x</a:t>
            </a:r>
            <a:r>
              <a:rPr lang="zh-CN" altLang="en-US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+1，保证结果仍能用 1 个字节表示。</a:t>
            </a:r>
            <a:endParaRPr lang="zh-CN" dirty="0">
              <a:solidFill>
                <a:srgbClr val="40404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23990" y="4624705"/>
            <a:ext cx="5093335" cy="12712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同理，后三个字节：</a:t>
            </a:r>
            <a:endParaRPr lang="zh-CN" b="0" i="0">
              <a:solidFill>
                <a:srgbClr val="40404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(0</a:t>
            </a:r>
            <a:r>
              <a:rPr lang="en-US" alt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1</a:t>
            </a:r>
            <a:r>
              <a:rPr 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×63) ⊕ (0</a:t>
            </a:r>
            <a:r>
              <a:rPr lang="en-US" alt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2</a:t>
            </a:r>
            <a:r>
              <a:rPr 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×53) ⊕ </a:t>
            </a:r>
            <a:r>
              <a:rPr lang="en-US" alt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(03</a:t>
            </a:r>
            <a:r>
              <a:rPr 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×E0</a:t>
            </a:r>
            <a:r>
              <a:rPr lang="en-US" alt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)</a:t>
            </a:r>
            <a:r>
              <a:rPr 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⊕ </a:t>
            </a:r>
            <a:r>
              <a:rPr lang="en-US" alt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(01</a:t>
            </a:r>
            <a:r>
              <a:rPr 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×8C</a:t>
            </a:r>
            <a:r>
              <a:rPr lang="en-US" alt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) </a:t>
            </a:r>
            <a:r>
              <a:rPr 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= </a:t>
            </a:r>
            <a:r>
              <a:rPr lang="en-US" alt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72</a:t>
            </a:r>
            <a:endParaRPr lang="zh-CN" b="0" i="0">
              <a:solidFill>
                <a:srgbClr val="40404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(0</a:t>
            </a:r>
            <a:r>
              <a:rPr lang="en-US" alt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1</a:t>
            </a:r>
            <a:r>
              <a:rPr 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×63) ⊕ (0</a:t>
            </a:r>
            <a:r>
              <a:rPr lang="en-US" alt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1</a:t>
            </a:r>
            <a:r>
              <a:rPr 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×53) ⊕ </a:t>
            </a:r>
            <a:r>
              <a:rPr lang="en-US" alt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(02</a:t>
            </a:r>
            <a:r>
              <a:rPr 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×E0</a:t>
            </a:r>
            <a:r>
              <a:rPr lang="en-US" alt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)</a:t>
            </a:r>
            <a:r>
              <a:rPr 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⊕ </a:t>
            </a:r>
            <a:r>
              <a:rPr lang="en-US" alt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(03</a:t>
            </a:r>
            <a:r>
              <a:rPr 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×8C</a:t>
            </a:r>
            <a:r>
              <a:rPr lang="en-US" alt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) </a:t>
            </a:r>
            <a:r>
              <a:rPr 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= </a:t>
            </a:r>
            <a:r>
              <a:rPr lang="en-US" alt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64</a:t>
            </a:r>
            <a:endParaRPr lang="zh-CN" b="0" i="0">
              <a:solidFill>
                <a:srgbClr val="40404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(0</a:t>
            </a:r>
            <a:r>
              <a:rPr lang="en-US" alt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3</a:t>
            </a:r>
            <a:r>
              <a:rPr 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×63) ⊕ (0</a:t>
            </a:r>
            <a:r>
              <a:rPr lang="en-US" alt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1</a:t>
            </a:r>
            <a:r>
              <a:rPr 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×53) ⊕ </a:t>
            </a:r>
            <a:r>
              <a:rPr lang="en-US" alt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(01</a:t>
            </a:r>
            <a:r>
              <a:rPr 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×E0</a:t>
            </a:r>
            <a:r>
              <a:rPr lang="en-US" alt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)</a:t>
            </a:r>
            <a:r>
              <a:rPr 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⊕ </a:t>
            </a:r>
            <a:r>
              <a:rPr lang="en-US" alt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(02</a:t>
            </a:r>
            <a:r>
              <a:rPr 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×8C</a:t>
            </a:r>
            <a:r>
              <a:rPr lang="en-US" alt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) </a:t>
            </a:r>
            <a:r>
              <a:rPr 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= </a:t>
            </a:r>
            <a:r>
              <a:rPr lang="en-US" alt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en-US" altLang="zh-CN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</a:p>
        </p:txBody>
      </p:sp>
      <p:sp>
        <p:nvSpPr>
          <p:cNvPr id="12" name="TextBox 2"/>
          <p:cNvSpPr txBox="1"/>
          <p:nvPr/>
        </p:nvSpPr>
        <p:spPr>
          <a:xfrm>
            <a:off x="1066739" y="219050"/>
            <a:ext cx="4133088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典型分组密码</a:t>
            </a:r>
          </a:p>
        </p:txBody>
      </p:sp>
      <p:cxnSp>
        <p:nvCxnSpPr>
          <p:cNvPr id="13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页标题"/>
          <p:cNvSpPr txBox="1"/>
          <p:nvPr/>
        </p:nvSpPr>
        <p:spPr>
          <a:xfrm>
            <a:off x="502920" y="827532"/>
            <a:ext cx="1115568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sym typeface="+mn-ea"/>
              </a:rPr>
              <a:t>AES 轮变换（3/4）—— 列混淆 MixColumns</a:t>
            </a:r>
            <a:endParaRPr lang="zh-CN" altLang="en-US" sz="2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5" name="内容底色_5"/>
          <p:cNvSpPr/>
          <p:nvPr/>
        </p:nvSpPr>
        <p:spPr>
          <a:xfrm>
            <a:off x="502920" y="1353312"/>
            <a:ext cx="2679192" cy="3931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正文_6"/>
          <p:cNvSpPr txBox="1"/>
          <p:nvPr/>
        </p:nvSpPr>
        <p:spPr>
          <a:xfrm>
            <a:off x="502920" y="1399032"/>
            <a:ext cx="2679192" cy="3017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i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字节代替</a:t>
            </a:r>
          </a:p>
        </p:txBody>
      </p:sp>
      <p:sp>
        <p:nvSpPr>
          <p:cNvPr id="17" name="内容底色_7"/>
          <p:cNvSpPr/>
          <p:nvPr/>
        </p:nvSpPr>
        <p:spPr>
          <a:xfrm>
            <a:off x="3337560" y="1353312"/>
            <a:ext cx="2679192" cy="3931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正文_8"/>
          <p:cNvSpPr txBox="1"/>
          <p:nvPr/>
        </p:nvSpPr>
        <p:spPr>
          <a:xfrm>
            <a:off x="3337560" y="1399032"/>
            <a:ext cx="2679192" cy="3017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i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行移位</a:t>
            </a:r>
          </a:p>
        </p:txBody>
      </p:sp>
      <p:sp>
        <p:nvSpPr>
          <p:cNvPr id="19" name="内容底色_9"/>
          <p:cNvSpPr/>
          <p:nvPr/>
        </p:nvSpPr>
        <p:spPr>
          <a:xfrm>
            <a:off x="6172200" y="1353312"/>
            <a:ext cx="2679192" cy="393192"/>
          </a:xfrm>
          <a:prstGeom prst="rect">
            <a:avLst/>
          </a:prstGeom>
          <a:solidFill>
            <a:srgbClr val="F3D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正文_10"/>
          <p:cNvSpPr txBox="1"/>
          <p:nvPr/>
        </p:nvSpPr>
        <p:spPr>
          <a:xfrm>
            <a:off x="6172200" y="1399032"/>
            <a:ext cx="2679192" cy="3017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i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列混淆</a:t>
            </a:r>
          </a:p>
        </p:txBody>
      </p:sp>
      <p:sp>
        <p:nvSpPr>
          <p:cNvPr id="21" name="内容底色_11"/>
          <p:cNvSpPr/>
          <p:nvPr/>
        </p:nvSpPr>
        <p:spPr>
          <a:xfrm>
            <a:off x="9006840" y="1353312"/>
            <a:ext cx="2679192" cy="3931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正文_12"/>
          <p:cNvSpPr txBox="1"/>
          <p:nvPr/>
        </p:nvSpPr>
        <p:spPr>
          <a:xfrm>
            <a:off x="9006840" y="1399032"/>
            <a:ext cx="2679192" cy="3017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i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轮密钥加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1874520"/>
            <a:ext cx="10908792" cy="493776"/>
          </a:xfrm>
          <a:prstGeom prst="rect">
            <a:avLst/>
          </a:prstGeom>
          <a:solidFill>
            <a:srgbClr val="FBF1F1"/>
          </a:solidFill>
          <a:ln>
            <a:noFill/>
          </a:ln>
        </p:spPr>
        <p:txBody>
          <a:bodyPr wrap="square" lIns="128016" tIns="27432" rIns="91440" bIns="27432" rtlCol="0" anchor="ctr">
            <a:noAutofit/>
          </a:bodyPr>
          <a:lstStyle/>
          <a:p>
            <a:pPr marL="0" indent="0" algn="l">
              <a:buNone/>
            </a:pPr>
            <a:r>
              <a:rPr lang="zh-CN" altLang="en-US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根据多项式相乘的规则，容易得出：</a:t>
            </a:r>
            <a:r>
              <a:rPr lang="en-US" alt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01</a:t>
            </a:r>
            <a:r>
              <a:rPr lang="zh-CN" altLang="en-US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×</a:t>
            </a:r>
            <a:r>
              <a:rPr lang="en-US" altLang="zh-CN" i="1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a</a:t>
            </a:r>
            <a:r>
              <a:rPr lang="en-US" alt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= </a:t>
            </a:r>
            <a:r>
              <a:rPr lang="en-US" altLang="zh-CN" i="1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a</a:t>
            </a:r>
            <a:r>
              <a:rPr lang="en-US" altLang="zh-CN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, </a:t>
            </a:r>
            <a:r>
              <a:rPr lang="zh-CN" altLang="en-US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(03×</a:t>
            </a:r>
            <a:r>
              <a:rPr lang="zh-CN" altLang="en-US" i="1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a</a:t>
            </a:r>
            <a:r>
              <a:rPr lang="zh-CN" altLang="en-US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) = (</a:t>
            </a:r>
            <a:r>
              <a:rPr lang="zh-CN" altLang="en-US" i="1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x</a:t>
            </a:r>
            <a:r>
              <a:rPr lang="zh-CN" altLang="en-US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+1)</a:t>
            </a:r>
            <a:r>
              <a:rPr lang="zh-CN" altLang="en-US" i="1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a</a:t>
            </a:r>
            <a:r>
              <a:rPr lang="zh-CN" altLang="en-US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= </a:t>
            </a:r>
            <a:r>
              <a:rPr lang="zh-CN" altLang="en-US" i="1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xa</a:t>
            </a:r>
            <a:r>
              <a:rPr lang="zh-CN" altLang="en-US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+ </a:t>
            </a:r>
            <a:r>
              <a:rPr lang="zh-CN" altLang="en-US" i="1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a</a:t>
            </a:r>
            <a:r>
              <a:rPr lang="zh-CN" altLang="en-US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= (02×</a:t>
            </a:r>
            <a:r>
              <a:rPr lang="zh-CN" altLang="en-US" i="1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a</a:t>
            </a:r>
            <a:r>
              <a:rPr lang="zh-CN" altLang="en-US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) ⊕ </a:t>
            </a:r>
            <a:r>
              <a:rPr lang="zh-CN" altLang="en-US" i="1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a</a:t>
            </a:r>
            <a:endParaRPr lang="zh-CN" altLang="en-US" sz="1800" b="0" i="0" dirty="0">
              <a:solidFill>
                <a:srgbClr val="40404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40664" y="3326130"/>
            <a:ext cx="457200" cy="365760"/>
          </a:xfrm>
          <a:prstGeom prst="rect">
            <a:avLst/>
          </a:prstGeom>
          <a:solidFill>
            <a:srgbClr val="FBF1F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0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02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197864" y="3326130"/>
            <a:ext cx="457200" cy="365760"/>
          </a:xfrm>
          <a:prstGeom prst="rect">
            <a:avLst/>
          </a:prstGeom>
          <a:solidFill>
            <a:srgbClr val="FBF1F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0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03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655064" y="3326130"/>
            <a:ext cx="457200" cy="365760"/>
          </a:xfrm>
          <a:prstGeom prst="rect">
            <a:avLst/>
          </a:prstGeom>
          <a:solidFill>
            <a:srgbClr val="FBF1F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0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01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112264" y="3326130"/>
            <a:ext cx="457200" cy="365760"/>
          </a:xfrm>
          <a:prstGeom prst="rect">
            <a:avLst/>
          </a:prstGeom>
          <a:solidFill>
            <a:srgbClr val="FBF1F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0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01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40664" y="369189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0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01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197864" y="369189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0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02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655064" y="369189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0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03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112264" y="369189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0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01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40664" y="405765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0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01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197864" y="405765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0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01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1655064" y="405765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0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02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112264" y="405765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0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03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740664" y="442341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0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03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1197864" y="442341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0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01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1655064" y="442341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0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01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2112264" y="442341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0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02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41" name="Connector 40"/>
          <p:cNvCxnSpPr/>
          <p:nvPr/>
        </p:nvCxnSpPr>
        <p:spPr>
          <a:xfrm>
            <a:off x="685800" y="3326130"/>
            <a:ext cx="0" cy="1463040"/>
          </a:xfrm>
          <a:prstGeom prst="line">
            <a:avLst/>
          </a:prstGeom>
          <a:ln w="19050">
            <a:solidFill>
              <a:srgbClr val="404040"/>
            </a:solidFill>
          </a:ln>
        </p:spPr>
      </p:cxnSp>
      <p:cxnSp>
        <p:nvCxnSpPr>
          <p:cNvPr id="42" name="Connector 41"/>
          <p:cNvCxnSpPr/>
          <p:nvPr/>
        </p:nvCxnSpPr>
        <p:spPr>
          <a:xfrm>
            <a:off x="685800" y="3326130"/>
            <a:ext cx="73152" cy="0"/>
          </a:xfrm>
          <a:prstGeom prst="line">
            <a:avLst/>
          </a:prstGeom>
          <a:ln w="19050">
            <a:solidFill>
              <a:srgbClr val="404040"/>
            </a:solidFill>
          </a:ln>
        </p:spPr>
      </p:cxnSp>
      <p:cxnSp>
        <p:nvCxnSpPr>
          <p:cNvPr id="43" name="Connector 42"/>
          <p:cNvCxnSpPr/>
          <p:nvPr/>
        </p:nvCxnSpPr>
        <p:spPr>
          <a:xfrm>
            <a:off x="685800" y="4789170"/>
            <a:ext cx="73152" cy="0"/>
          </a:xfrm>
          <a:prstGeom prst="line">
            <a:avLst/>
          </a:prstGeom>
          <a:ln w="19050">
            <a:solidFill>
              <a:srgbClr val="404040"/>
            </a:solidFill>
          </a:ln>
        </p:spPr>
      </p:cxnSp>
      <p:cxnSp>
        <p:nvCxnSpPr>
          <p:cNvPr id="44" name="Connector 43"/>
          <p:cNvCxnSpPr/>
          <p:nvPr/>
        </p:nvCxnSpPr>
        <p:spPr>
          <a:xfrm>
            <a:off x="2624328" y="3326130"/>
            <a:ext cx="0" cy="1463040"/>
          </a:xfrm>
          <a:prstGeom prst="line">
            <a:avLst/>
          </a:prstGeom>
          <a:ln w="19050">
            <a:solidFill>
              <a:srgbClr val="404040"/>
            </a:solidFill>
          </a:ln>
        </p:spPr>
      </p:cxnSp>
      <p:cxnSp>
        <p:nvCxnSpPr>
          <p:cNvPr id="45" name="Connector 44"/>
          <p:cNvCxnSpPr/>
          <p:nvPr/>
        </p:nvCxnSpPr>
        <p:spPr>
          <a:xfrm flipH="1">
            <a:off x="2551176" y="3326130"/>
            <a:ext cx="73152" cy="0"/>
          </a:xfrm>
          <a:prstGeom prst="line">
            <a:avLst/>
          </a:prstGeom>
          <a:ln w="19050">
            <a:solidFill>
              <a:srgbClr val="404040"/>
            </a:solidFill>
          </a:ln>
        </p:spPr>
      </p:cxnSp>
      <p:cxnSp>
        <p:nvCxnSpPr>
          <p:cNvPr id="46" name="Connector 45"/>
          <p:cNvCxnSpPr/>
          <p:nvPr/>
        </p:nvCxnSpPr>
        <p:spPr>
          <a:xfrm flipH="1">
            <a:off x="2551176" y="4789170"/>
            <a:ext cx="73152" cy="0"/>
          </a:xfrm>
          <a:prstGeom prst="line">
            <a:avLst/>
          </a:prstGeom>
          <a:ln w="19050">
            <a:solidFill>
              <a:srgbClr val="404040"/>
            </a:solidFill>
          </a:ln>
        </p:spPr>
      </p:cxnSp>
      <p:sp>
        <p:nvSpPr>
          <p:cNvPr id="47" name="TextBox 46"/>
          <p:cNvSpPr txBox="1"/>
          <p:nvPr/>
        </p:nvSpPr>
        <p:spPr>
          <a:xfrm>
            <a:off x="2633472" y="3810762"/>
            <a:ext cx="301752" cy="3931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marL="0" indent="0" algn="ctr">
              <a:buNone/>
            </a:pPr>
            <a:r>
              <a:rPr lang="zh-CN" altLang="en-US" sz="2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×</a:t>
            </a:r>
            <a:endParaRPr lang="zh-CN" altLang="en-US" sz="2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2980944" y="3326130"/>
            <a:ext cx="512064" cy="365760"/>
          </a:xfrm>
          <a:prstGeom prst="rect">
            <a:avLst/>
          </a:prstGeom>
          <a:solidFill>
            <a:srgbClr val="FBF1F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0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63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2980944" y="3691890"/>
            <a:ext cx="512064" cy="365760"/>
          </a:xfrm>
          <a:prstGeom prst="rect">
            <a:avLst/>
          </a:prstGeom>
          <a:solidFill>
            <a:srgbClr val="FBF1F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0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53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2980944" y="4057650"/>
            <a:ext cx="512064" cy="365760"/>
          </a:xfrm>
          <a:prstGeom prst="rect">
            <a:avLst/>
          </a:prstGeom>
          <a:solidFill>
            <a:srgbClr val="FBF1F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0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E0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2980944" y="4423410"/>
            <a:ext cx="512064" cy="365760"/>
          </a:xfrm>
          <a:prstGeom prst="rect">
            <a:avLst/>
          </a:prstGeom>
          <a:solidFill>
            <a:srgbClr val="FBF1F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0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8C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52" name="Connector 51"/>
          <p:cNvCxnSpPr/>
          <p:nvPr/>
        </p:nvCxnSpPr>
        <p:spPr>
          <a:xfrm>
            <a:off x="2926080" y="3326130"/>
            <a:ext cx="0" cy="1463040"/>
          </a:xfrm>
          <a:prstGeom prst="line">
            <a:avLst/>
          </a:prstGeom>
          <a:ln w="19050">
            <a:solidFill>
              <a:srgbClr val="404040"/>
            </a:solidFill>
          </a:ln>
        </p:spPr>
      </p:cxnSp>
      <p:cxnSp>
        <p:nvCxnSpPr>
          <p:cNvPr id="53" name="Connector 52"/>
          <p:cNvCxnSpPr/>
          <p:nvPr/>
        </p:nvCxnSpPr>
        <p:spPr>
          <a:xfrm>
            <a:off x="2926080" y="3326130"/>
            <a:ext cx="73152" cy="0"/>
          </a:xfrm>
          <a:prstGeom prst="line">
            <a:avLst/>
          </a:prstGeom>
          <a:ln w="19050">
            <a:solidFill>
              <a:srgbClr val="404040"/>
            </a:solidFill>
          </a:ln>
        </p:spPr>
      </p:cxnSp>
      <p:cxnSp>
        <p:nvCxnSpPr>
          <p:cNvPr id="54" name="Connector 53"/>
          <p:cNvCxnSpPr/>
          <p:nvPr/>
        </p:nvCxnSpPr>
        <p:spPr>
          <a:xfrm>
            <a:off x="2926080" y="4789170"/>
            <a:ext cx="73152" cy="0"/>
          </a:xfrm>
          <a:prstGeom prst="line">
            <a:avLst/>
          </a:prstGeom>
          <a:ln w="19050">
            <a:solidFill>
              <a:srgbClr val="404040"/>
            </a:solidFill>
          </a:ln>
        </p:spPr>
      </p:cxnSp>
      <p:cxnSp>
        <p:nvCxnSpPr>
          <p:cNvPr id="55" name="Connector 54"/>
          <p:cNvCxnSpPr/>
          <p:nvPr/>
        </p:nvCxnSpPr>
        <p:spPr>
          <a:xfrm>
            <a:off x="3547872" y="3326130"/>
            <a:ext cx="0" cy="1463040"/>
          </a:xfrm>
          <a:prstGeom prst="line">
            <a:avLst/>
          </a:prstGeom>
          <a:ln w="19050">
            <a:solidFill>
              <a:srgbClr val="404040"/>
            </a:solidFill>
          </a:ln>
        </p:spPr>
      </p:cxnSp>
      <p:cxnSp>
        <p:nvCxnSpPr>
          <p:cNvPr id="56" name="Connector 55"/>
          <p:cNvCxnSpPr/>
          <p:nvPr/>
        </p:nvCxnSpPr>
        <p:spPr>
          <a:xfrm flipH="1">
            <a:off x="3474720" y="3326130"/>
            <a:ext cx="73152" cy="0"/>
          </a:xfrm>
          <a:prstGeom prst="line">
            <a:avLst/>
          </a:prstGeom>
          <a:ln w="19050">
            <a:solidFill>
              <a:srgbClr val="404040"/>
            </a:solidFill>
          </a:ln>
        </p:spPr>
      </p:cxnSp>
      <p:cxnSp>
        <p:nvCxnSpPr>
          <p:cNvPr id="57" name="Connector 56"/>
          <p:cNvCxnSpPr/>
          <p:nvPr/>
        </p:nvCxnSpPr>
        <p:spPr>
          <a:xfrm flipH="1">
            <a:off x="3474720" y="4789170"/>
            <a:ext cx="73152" cy="0"/>
          </a:xfrm>
          <a:prstGeom prst="line">
            <a:avLst/>
          </a:prstGeom>
          <a:ln w="19050">
            <a:solidFill>
              <a:srgbClr val="404040"/>
            </a:solidFill>
          </a:ln>
        </p:spPr>
      </p:cxnSp>
      <p:sp>
        <p:nvSpPr>
          <p:cNvPr id="58" name="TextBox 57"/>
          <p:cNvSpPr txBox="1"/>
          <p:nvPr/>
        </p:nvSpPr>
        <p:spPr>
          <a:xfrm>
            <a:off x="3566160" y="3810762"/>
            <a:ext cx="301752" cy="3931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marL="0" indent="0" algn="ctr">
              <a:buNone/>
            </a:pPr>
            <a:r>
              <a:rPr lang="zh-CN" altLang="en-US" sz="2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=</a:t>
            </a:r>
            <a:endParaRPr lang="zh-CN" altLang="en-US" sz="2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3941064" y="3326130"/>
            <a:ext cx="512064" cy="365760"/>
          </a:xfrm>
          <a:prstGeom prst="rect">
            <a:avLst/>
          </a:prstGeom>
          <a:solidFill>
            <a:srgbClr val="FBF1F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5F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3941064" y="3691890"/>
            <a:ext cx="51206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1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72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3941064" y="4057650"/>
            <a:ext cx="51206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1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64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3941064" y="4423410"/>
            <a:ext cx="51206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1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15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63" name="Connector 62"/>
          <p:cNvCxnSpPr/>
          <p:nvPr/>
        </p:nvCxnSpPr>
        <p:spPr>
          <a:xfrm>
            <a:off x="3886200" y="3326130"/>
            <a:ext cx="0" cy="1463040"/>
          </a:xfrm>
          <a:prstGeom prst="line">
            <a:avLst/>
          </a:prstGeom>
          <a:ln w="19050">
            <a:solidFill>
              <a:srgbClr val="404040"/>
            </a:solidFill>
          </a:ln>
        </p:spPr>
      </p:cxnSp>
      <p:cxnSp>
        <p:nvCxnSpPr>
          <p:cNvPr id="64" name="Connector 63"/>
          <p:cNvCxnSpPr/>
          <p:nvPr/>
        </p:nvCxnSpPr>
        <p:spPr>
          <a:xfrm>
            <a:off x="3886200" y="3326130"/>
            <a:ext cx="73152" cy="0"/>
          </a:xfrm>
          <a:prstGeom prst="line">
            <a:avLst/>
          </a:prstGeom>
          <a:ln w="19050">
            <a:solidFill>
              <a:srgbClr val="404040"/>
            </a:solidFill>
          </a:ln>
        </p:spPr>
      </p:cxnSp>
      <p:cxnSp>
        <p:nvCxnSpPr>
          <p:cNvPr id="65" name="Connector 64"/>
          <p:cNvCxnSpPr/>
          <p:nvPr/>
        </p:nvCxnSpPr>
        <p:spPr>
          <a:xfrm>
            <a:off x="3886200" y="4789170"/>
            <a:ext cx="73152" cy="0"/>
          </a:xfrm>
          <a:prstGeom prst="line">
            <a:avLst/>
          </a:prstGeom>
          <a:ln w="19050">
            <a:solidFill>
              <a:srgbClr val="404040"/>
            </a:solidFill>
          </a:ln>
        </p:spPr>
      </p:cxnSp>
      <p:cxnSp>
        <p:nvCxnSpPr>
          <p:cNvPr id="66" name="Connector 65"/>
          <p:cNvCxnSpPr/>
          <p:nvPr/>
        </p:nvCxnSpPr>
        <p:spPr>
          <a:xfrm>
            <a:off x="4507992" y="3326130"/>
            <a:ext cx="0" cy="1463040"/>
          </a:xfrm>
          <a:prstGeom prst="line">
            <a:avLst/>
          </a:prstGeom>
          <a:ln w="19050">
            <a:solidFill>
              <a:srgbClr val="404040"/>
            </a:solidFill>
          </a:ln>
        </p:spPr>
      </p:cxnSp>
      <p:cxnSp>
        <p:nvCxnSpPr>
          <p:cNvPr id="67" name="Connector 66"/>
          <p:cNvCxnSpPr/>
          <p:nvPr/>
        </p:nvCxnSpPr>
        <p:spPr>
          <a:xfrm flipH="1">
            <a:off x="4434840" y="3326130"/>
            <a:ext cx="73152" cy="0"/>
          </a:xfrm>
          <a:prstGeom prst="line">
            <a:avLst/>
          </a:prstGeom>
          <a:ln w="19050">
            <a:solidFill>
              <a:srgbClr val="404040"/>
            </a:solidFill>
          </a:ln>
        </p:spPr>
      </p:cxnSp>
      <p:cxnSp>
        <p:nvCxnSpPr>
          <p:cNvPr id="68" name="Connector 67"/>
          <p:cNvCxnSpPr/>
          <p:nvPr/>
        </p:nvCxnSpPr>
        <p:spPr>
          <a:xfrm flipH="1">
            <a:off x="4434840" y="4789170"/>
            <a:ext cx="73152" cy="0"/>
          </a:xfrm>
          <a:prstGeom prst="line">
            <a:avLst/>
          </a:prstGeom>
          <a:ln w="19050">
            <a:solidFill>
              <a:srgbClr val="404040"/>
            </a:solidFill>
          </a:ln>
        </p:spPr>
      </p:cxnSp>
      <p:sp>
        <p:nvSpPr>
          <p:cNvPr id="69" name="TextBox 68"/>
          <p:cNvSpPr txBox="1"/>
          <p:nvPr/>
        </p:nvSpPr>
        <p:spPr>
          <a:xfrm>
            <a:off x="639953" y="2578862"/>
            <a:ext cx="4096512" cy="3383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buNone/>
            </a:pPr>
            <a:r>
              <a:rPr lang="zh-CN" altLang="en-US" sz="180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第一个输出字节</a:t>
            </a:r>
            <a:r>
              <a:rPr lang="zh-CN" altLang="en-US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详细计算过程：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58368" y="4927473"/>
            <a:ext cx="4096512" cy="7589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b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= (02×63) ⊕ (03×53)</a:t>
            </a:r>
            <a:r>
              <a:rPr lang="en-US" altLang="zh-CN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⊕ E0 ⊕ 8C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  <a:p>
            <a:pPr marL="0" indent="0" algn="ctr">
              <a:buNone/>
            </a:pP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= C6 ⊕ F5 ⊕ E0 ⊕ 8C = </a:t>
            </a: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5F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640715" y="5992495"/>
            <a:ext cx="4004945" cy="274320"/>
          </a:xfrm>
          <a:prstGeom prst="rect">
            <a:avLst/>
          </a:prstGeom>
          <a:solidFill>
            <a:srgbClr val="FBF1F1"/>
          </a:solidFill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矩阵内均为十六进制；加法均为异或。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72" name="例题步骤1"/>
          <p:cNvSpPr/>
          <p:nvPr/>
        </p:nvSpPr>
        <p:spPr>
          <a:xfrm>
            <a:off x="4965065" y="2578735"/>
            <a:ext cx="6583680" cy="152590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marL="0" indent="0" algn="l">
              <a:buNone/>
            </a:pPr>
            <a:r>
              <a:rPr lang="zh-CN" altLang="en-US" b="1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① 02 × 63：02 对应 </a:t>
            </a:r>
            <a:r>
              <a:rPr lang="zh-CN" altLang="en-US" b="1" i="1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x</a:t>
            </a:r>
          </a:p>
          <a:p>
            <a:pPr marL="0" indent="0" algn="l">
              <a:buNone/>
            </a:pPr>
            <a:endParaRPr lang="zh-CN" altLang="en-US" b="1" i="1" dirty="0">
              <a:solidFill>
                <a:srgbClr val="C00000"/>
              </a:solidFill>
              <a:latin typeface="Times New Roman" panose="02020603050405020304"/>
              <a:ea typeface="微软雅黑" panose="020B0503020204020204" charset="-122"/>
              <a:cs typeface="Times New Roman" panose="02020603050405020304"/>
              <a:sym typeface="+mn-ea"/>
            </a:endParaRPr>
          </a:p>
          <a:p>
            <a:pPr marL="0" indent="0" algn="l">
              <a:buNone/>
            </a:pPr>
            <a:r>
              <a:rPr lang="zh-CN" altLang="en-US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63 = </a:t>
            </a:r>
            <a:r>
              <a:rPr lang="zh-CN" altLang="en-US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x</a:t>
            </a:r>
            <a:r>
              <a:rPr lang="zh-CN" altLang="en-US" baseline="30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6</a:t>
            </a:r>
            <a:r>
              <a:rPr lang="zh-CN" altLang="en-US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 + </a:t>
            </a:r>
            <a:r>
              <a:rPr lang="zh-CN" altLang="en-US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x</a:t>
            </a:r>
            <a:r>
              <a:rPr lang="zh-CN" altLang="en-US" baseline="30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5</a:t>
            </a:r>
            <a:r>
              <a:rPr lang="zh-CN" altLang="en-US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 + </a:t>
            </a:r>
            <a:r>
              <a:rPr lang="zh-CN" altLang="en-US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x</a:t>
            </a:r>
            <a:r>
              <a:rPr lang="zh-CN" altLang="en-US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 + 1</a:t>
            </a:r>
          </a:p>
          <a:p>
            <a:pPr marL="0" indent="0" algn="l">
              <a:buNone/>
            </a:pPr>
            <a:r>
              <a:rPr lang="zh-CN" altLang="en-US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x</a:t>
            </a:r>
            <a:r>
              <a:rPr lang="zh-CN" altLang="en-US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(</a:t>
            </a:r>
            <a:r>
              <a:rPr lang="zh-CN" altLang="en-US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x</a:t>
            </a:r>
            <a:r>
              <a:rPr lang="zh-CN" altLang="en-US" baseline="30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6</a:t>
            </a:r>
            <a:r>
              <a:rPr lang="zh-CN" altLang="en-US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+</a:t>
            </a:r>
            <a:r>
              <a:rPr lang="zh-CN" altLang="en-US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x</a:t>
            </a:r>
            <a:r>
              <a:rPr lang="zh-CN" altLang="en-US" baseline="30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5</a:t>
            </a:r>
            <a:r>
              <a:rPr lang="zh-CN" altLang="en-US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+</a:t>
            </a:r>
            <a:r>
              <a:rPr lang="zh-CN" altLang="en-US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x</a:t>
            </a:r>
            <a:r>
              <a:rPr lang="zh-CN" altLang="en-US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+1) = </a:t>
            </a:r>
            <a:r>
              <a:rPr lang="zh-CN" altLang="en-US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x</a:t>
            </a:r>
            <a:r>
              <a:rPr lang="zh-CN" altLang="en-US" baseline="30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7</a:t>
            </a:r>
            <a:r>
              <a:rPr lang="zh-CN" altLang="en-US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+</a:t>
            </a:r>
            <a:r>
              <a:rPr lang="zh-CN" altLang="en-US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x</a:t>
            </a:r>
            <a:r>
              <a:rPr lang="zh-CN" altLang="en-US" baseline="30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6</a:t>
            </a:r>
            <a:r>
              <a:rPr lang="zh-CN" altLang="en-US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+</a:t>
            </a:r>
            <a:r>
              <a:rPr lang="zh-CN" altLang="en-US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x</a:t>
            </a:r>
            <a:r>
              <a:rPr lang="zh-CN" altLang="en-US" baseline="30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2</a:t>
            </a:r>
            <a:r>
              <a:rPr lang="zh-CN" altLang="en-US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+</a:t>
            </a:r>
            <a:r>
              <a:rPr lang="zh-CN" altLang="en-US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x</a:t>
            </a:r>
            <a:r>
              <a:rPr lang="zh-CN" altLang="en-US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 = 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C6</a:t>
            </a:r>
            <a:endParaRPr lang="zh-CN" altLang="en-US">
              <a:latin typeface="Times New Roman" panose="02020603050405020304"/>
              <a:ea typeface="微软雅黑" panose="020B0503020204020204" charset="-122"/>
            </a:endParaRPr>
          </a:p>
          <a:p>
            <a:pPr marL="0" indent="0" algn="l">
              <a:buNone/>
            </a:pPr>
            <a:r>
              <a:rPr lang="zh-CN" altLang="en-US" b="1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C6</a:t>
            </a:r>
            <a:r>
              <a:rPr lang="zh-CN" altLang="en-US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 mod </a:t>
            </a:r>
            <a:r>
              <a:rPr lang="zh-CN" altLang="en-US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m</a:t>
            </a:r>
            <a:r>
              <a:rPr lang="zh-CN" altLang="en-US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(</a:t>
            </a:r>
            <a:r>
              <a:rPr lang="zh-CN" altLang="en-US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x</a:t>
            </a:r>
            <a:r>
              <a:rPr lang="zh-CN" altLang="en-US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) = 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C6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76" name="例题步骤2"/>
          <p:cNvSpPr/>
          <p:nvPr/>
        </p:nvSpPr>
        <p:spPr>
          <a:xfrm>
            <a:off x="4965065" y="4246245"/>
            <a:ext cx="6583680" cy="13684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marL="0" indent="0" algn="l">
              <a:buNone/>
            </a:pPr>
            <a:r>
              <a:rPr lang="zh-CN" altLang="en-US" b="1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② 03 × 53：03 对应 </a:t>
            </a:r>
            <a:r>
              <a:rPr lang="zh-CN" altLang="en-US" b="1" i="1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x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 + 1</a:t>
            </a:r>
          </a:p>
          <a:p>
            <a:pPr marL="0" indent="0" algn="l">
              <a:buNone/>
            </a:pPr>
            <a:endParaRPr lang="zh-CN" altLang="en-US" b="1" dirty="0">
              <a:solidFill>
                <a:srgbClr val="C00000"/>
              </a:solidFill>
              <a:latin typeface="Times New Roman" panose="02020603050405020304"/>
              <a:ea typeface="微软雅黑" panose="020B0503020204020204" charset="-122"/>
              <a:cs typeface="Times New Roman" panose="02020603050405020304"/>
              <a:sym typeface="+mn-ea"/>
            </a:endParaRPr>
          </a:p>
          <a:p>
            <a:pPr marL="0" indent="0" algn="l">
              <a:buNone/>
            </a:pPr>
            <a:r>
              <a:rPr lang="zh-CN" altLang="en-US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03×53 = </a:t>
            </a:r>
            <a:r>
              <a:rPr lang="en-US" altLang="zh-CN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02</a:t>
            </a:r>
            <a:r>
              <a:rPr lang="zh-CN" altLang="en-US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×</a:t>
            </a:r>
            <a:r>
              <a:rPr lang="en-US" altLang="zh-CN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53 </a:t>
            </a:r>
            <a:r>
              <a:rPr lang="zh-CN" altLang="en-US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⊕</a:t>
            </a:r>
            <a:r>
              <a:rPr lang="en-US" altLang="zh-CN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 53 = </a:t>
            </a:r>
            <a:r>
              <a:rPr lang="zh-CN" altLang="en-US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A6 ⊕ 53 = 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F5</a:t>
            </a:r>
          </a:p>
          <a:p>
            <a:pPr marL="0" indent="0" algn="l">
              <a:buNone/>
            </a:pP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80" name="例题步骤3"/>
          <p:cNvSpPr/>
          <p:nvPr/>
        </p:nvSpPr>
        <p:spPr>
          <a:xfrm>
            <a:off x="4965192" y="5742432"/>
            <a:ext cx="6583680" cy="539496"/>
          </a:xfrm>
          <a:prstGeom prst="rect">
            <a:avLst/>
          </a:prstGeom>
          <a:solidFill>
            <a:srgbClr val="FBF1F1"/>
          </a:solidFill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marL="0" indent="0" algn="l">
              <a:buNone/>
            </a:pPr>
            <a:r>
              <a:rPr lang="zh-CN" altLang="en-US" b="1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③ 相加（异或）：</a:t>
            </a:r>
            <a:r>
              <a:rPr lang="zh-CN" altLang="en-US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C6 ⊕ F5 ⊕ E0 ⊕ 8C = 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5F</a:t>
            </a:r>
            <a:endParaRPr lang="zh-CN" altLang="en-US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en-US" altLang="zh-CN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</a:p>
        </p:txBody>
      </p:sp>
      <p:sp>
        <p:nvSpPr>
          <p:cNvPr id="12" name="TextBox 2"/>
          <p:cNvSpPr txBox="1"/>
          <p:nvPr/>
        </p:nvSpPr>
        <p:spPr>
          <a:xfrm>
            <a:off x="1066739" y="219050"/>
            <a:ext cx="4133088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典型分组密码</a:t>
            </a:r>
          </a:p>
        </p:txBody>
      </p:sp>
      <p:cxnSp>
        <p:nvCxnSpPr>
          <p:cNvPr id="13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页标题"/>
          <p:cNvSpPr txBox="1"/>
          <p:nvPr/>
        </p:nvSpPr>
        <p:spPr>
          <a:xfrm>
            <a:off x="502920" y="827532"/>
            <a:ext cx="1115568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 i="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AES 轮变换（4/4）—— 轮密钥加 AddRoundKey</a:t>
            </a:r>
          </a:p>
        </p:txBody>
      </p:sp>
      <p:sp>
        <p:nvSpPr>
          <p:cNvPr id="15" name="内容底色_5">
            <a:hlinkClick r:id="rId3" action="ppaction://hlinksldjump"/>
          </p:cNvPr>
          <p:cNvSpPr/>
          <p:nvPr/>
        </p:nvSpPr>
        <p:spPr>
          <a:xfrm>
            <a:off x="502920" y="1353312"/>
            <a:ext cx="2679192" cy="3931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正文_6">
            <a:hlinkClick r:id="rId3" action="ppaction://hlinksldjump"/>
          </p:cNvPr>
          <p:cNvSpPr txBox="1"/>
          <p:nvPr/>
        </p:nvSpPr>
        <p:spPr>
          <a:xfrm>
            <a:off x="502920" y="1399032"/>
            <a:ext cx="2679192" cy="3017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i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字节代替</a:t>
            </a:r>
          </a:p>
        </p:txBody>
      </p:sp>
      <p:sp>
        <p:nvSpPr>
          <p:cNvPr id="17" name="内容底色_7">
            <a:hlinkClick r:id="rId4" action="ppaction://hlinksldjump"/>
          </p:cNvPr>
          <p:cNvSpPr/>
          <p:nvPr/>
        </p:nvSpPr>
        <p:spPr>
          <a:xfrm>
            <a:off x="3337560" y="1353312"/>
            <a:ext cx="2679192" cy="3931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正文_8">
            <a:hlinkClick r:id="rId4" action="ppaction://hlinksldjump"/>
          </p:cNvPr>
          <p:cNvSpPr txBox="1"/>
          <p:nvPr/>
        </p:nvSpPr>
        <p:spPr>
          <a:xfrm>
            <a:off x="3337560" y="1399032"/>
            <a:ext cx="2679192" cy="3017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i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行移位</a:t>
            </a:r>
          </a:p>
        </p:txBody>
      </p:sp>
      <p:sp>
        <p:nvSpPr>
          <p:cNvPr id="19" name="内容底色_9">
            <a:hlinkClick r:id="rId5" action="ppaction://hlinksldjump"/>
          </p:cNvPr>
          <p:cNvSpPr/>
          <p:nvPr/>
        </p:nvSpPr>
        <p:spPr>
          <a:xfrm>
            <a:off x="6172200" y="1353312"/>
            <a:ext cx="2679192" cy="3931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正文_10">
            <a:hlinkClick r:id="rId5" action="ppaction://hlinksldjump"/>
          </p:cNvPr>
          <p:cNvSpPr txBox="1"/>
          <p:nvPr/>
        </p:nvSpPr>
        <p:spPr>
          <a:xfrm>
            <a:off x="6172200" y="1399032"/>
            <a:ext cx="2679192" cy="3017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i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列混淆</a:t>
            </a:r>
          </a:p>
        </p:txBody>
      </p:sp>
      <p:sp>
        <p:nvSpPr>
          <p:cNvPr id="21" name="内容底色_11">
            <a:hlinkClick r:id="rId6" action="ppaction://hlinksldjump"/>
          </p:cNvPr>
          <p:cNvSpPr/>
          <p:nvPr/>
        </p:nvSpPr>
        <p:spPr>
          <a:xfrm>
            <a:off x="9006840" y="1353312"/>
            <a:ext cx="2679192" cy="393192"/>
          </a:xfrm>
          <a:prstGeom prst="rect">
            <a:avLst/>
          </a:prstGeom>
          <a:solidFill>
            <a:srgbClr val="F3D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正文_12">
            <a:hlinkClick r:id="rId6" action="ppaction://hlinksldjump"/>
          </p:cNvPr>
          <p:cNvSpPr txBox="1"/>
          <p:nvPr/>
        </p:nvSpPr>
        <p:spPr>
          <a:xfrm>
            <a:off x="9006840" y="1399032"/>
            <a:ext cx="2679192" cy="3017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i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轮密钥加</a:t>
            </a:r>
          </a:p>
        </p:txBody>
      </p:sp>
      <p:sp>
        <p:nvSpPr>
          <p:cNvPr id="23" name="正文_13"/>
          <p:cNvSpPr txBox="1"/>
          <p:nvPr/>
        </p:nvSpPr>
        <p:spPr>
          <a:xfrm>
            <a:off x="685800" y="1887347"/>
            <a:ext cx="10817352" cy="70408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 i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运算方法：</a:t>
            </a:r>
            <a:r>
              <a:rPr lang="zh-CN" b="0" i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当前 128 位状态与本轮 128 位轮密钥，对应字节逐位异或。</a:t>
            </a:r>
            <a:br>
              <a:rPr lang="zh-CN" b="0" i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</a:br>
            <a:r>
              <a:rPr lang="zh-CN" b="0" i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轮密钥加不改变字节的位置；它将密钥的影响引入状态。</a:t>
            </a:r>
          </a:p>
        </p:txBody>
      </p:sp>
      <p:sp>
        <p:nvSpPr>
          <p:cNvPr id="24" name="正文_14"/>
          <p:cNvSpPr txBox="1"/>
          <p:nvPr/>
        </p:nvSpPr>
        <p:spPr>
          <a:xfrm>
            <a:off x="758952" y="2920619"/>
            <a:ext cx="3063240" cy="32918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 i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列混淆后的状态</a:t>
            </a:r>
          </a:p>
        </p:txBody>
      </p:sp>
      <p:sp>
        <p:nvSpPr>
          <p:cNvPr id="25" name="正文_15"/>
          <p:cNvSpPr txBox="1"/>
          <p:nvPr/>
        </p:nvSpPr>
        <p:spPr>
          <a:xfrm>
            <a:off x="4681728" y="2920619"/>
            <a:ext cx="3063240" cy="32918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 i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第一轮轮密钥 </a:t>
            </a:r>
            <a:r>
              <a:rPr lang="zh-CN" b="1" i="1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rk</a:t>
            </a:r>
            <a:r>
              <a:rPr lang="zh-CN" b="1" i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₁</a:t>
            </a:r>
          </a:p>
        </p:txBody>
      </p:sp>
      <p:sp>
        <p:nvSpPr>
          <p:cNvPr id="26" name="正文_16"/>
          <p:cNvSpPr txBox="1"/>
          <p:nvPr/>
        </p:nvSpPr>
        <p:spPr>
          <a:xfrm>
            <a:off x="8595360" y="2920619"/>
            <a:ext cx="3063240" cy="32918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i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第一轮输出状态</a:t>
            </a:r>
          </a:p>
        </p:txBody>
      </p:sp>
      <p:graphicFrame>
        <p:nvGraphicFramePr>
          <p:cNvPr id="27" name="可编辑表格_17"/>
          <p:cNvGraphicFramePr>
            <a:graphicFrameLocks noGrp="1"/>
          </p:cNvGraphicFramePr>
          <p:nvPr/>
        </p:nvGraphicFramePr>
        <p:xfrm>
          <a:off x="758952" y="3377819"/>
          <a:ext cx="2834640" cy="19385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08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8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8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86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5F</a:t>
                      </a:r>
                      <a:endParaRPr lang="zh-CN" sz="1800" b="0" i="0">
                        <a:solidFill>
                          <a:srgbClr val="404040"/>
                        </a:solidFill>
                        <a:latin typeface="Consolas" panose="020B0609020204030204"/>
                        <a:ea typeface="微软雅黑" panose="020B0503020204020204" charset="-122"/>
                      </a:endParaRP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57</a:t>
                      </a:r>
                      <a:endParaRPr lang="zh-CN" sz="1800" b="0" i="0">
                        <a:solidFill>
                          <a:srgbClr val="404040"/>
                        </a:solidFill>
                        <a:latin typeface="Consolas" panose="020B0609020204030204"/>
                        <a:ea typeface="微软雅黑" panose="020B0503020204020204" charset="-122"/>
                      </a:endParaRP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F7</a:t>
                      </a:r>
                      <a:endParaRPr lang="zh-CN" sz="1800" b="0" i="0">
                        <a:solidFill>
                          <a:srgbClr val="404040"/>
                        </a:solidFill>
                        <a:latin typeface="Consolas" panose="020B0609020204030204"/>
                        <a:ea typeface="微软雅黑" panose="020B0503020204020204" charset="-122"/>
                      </a:endParaRP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1D</a:t>
                      </a:r>
                      <a:endParaRPr lang="zh-CN" sz="1800" b="0" i="0">
                        <a:solidFill>
                          <a:srgbClr val="404040"/>
                        </a:solidFill>
                        <a:latin typeface="Consolas" panose="020B0609020204030204"/>
                        <a:ea typeface="微软雅黑" panose="020B0503020204020204" charset="-122"/>
                      </a:endParaRP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72</a:t>
                      </a:r>
                      <a:endParaRPr lang="zh-CN" sz="1800" b="0" i="0">
                        <a:solidFill>
                          <a:srgbClr val="404040"/>
                        </a:solidFill>
                        <a:latin typeface="Consolas" panose="020B0609020204030204"/>
                        <a:ea typeface="微软雅黑" panose="020B0503020204020204" charset="-122"/>
                      </a:endParaRP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F5</a:t>
                      </a:r>
                      <a:endParaRPr lang="zh-CN" sz="1800" b="0" i="0">
                        <a:solidFill>
                          <a:srgbClr val="404040"/>
                        </a:solidFill>
                        <a:latin typeface="Consolas" panose="020B0609020204030204"/>
                        <a:ea typeface="微软雅黑" panose="020B0503020204020204" charset="-122"/>
                      </a:endParaRP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BE</a:t>
                      </a:r>
                      <a:endParaRPr lang="zh-CN" sz="1800" b="0" i="0">
                        <a:solidFill>
                          <a:srgbClr val="404040"/>
                        </a:solidFill>
                        <a:latin typeface="Consolas" panose="020B0609020204030204"/>
                        <a:ea typeface="微软雅黑" panose="020B0503020204020204" charset="-122"/>
                      </a:endParaRP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B9</a:t>
                      </a:r>
                      <a:endParaRPr lang="zh-CN" sz="1800" b="0" i="0">
                        <a:solidFill>
                          <a:srgbClr val="404040"/>
                        </a:solidFill>
                        <a:latin typeface="Consolas" panose="020B0609020204030204"/>
                        <a:ea typeface="微软雅黑" panose="020B0503020204020204" charset="-122"/>
                      </a:endParaRP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64</a:t>
                      </a:r>
                      <a:endParaRPr lang="zh-CN" sz="1800" b="0" i="0">
                        <a:solidFill>
                          <a:srgbClr val="404040"/>
                        </a:solidFill>
                        <a:latin typeface="Consolas" panose="020B0609020204030204"/>
                        <a:ea typeface="微软雅黑" panose="020B0503020204020204" charset="-122"/>
                      </a:endParaRP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BC</a:t>
                      </a:r>
                      <a:endParaRPr lang="zh-CN" sz="1800" b="0" i="0">
                        <a:solidFill>
                          <a:srgbClr val="404040"/>
                        </a:solidFill>
                        <a:latin typeface="Consolas" panose="020B0609020204030204"/>
                        <a:ea typeface="微软雅黑" panose="020B0503020204020204" charset="-122"/>
                      </a:endParaRP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3B</a:t>
                      </a:r>
                      <a:endParaRPr lang="zh-CN" sz="1800" b="0" i="0">
                        <a:solidFill>
                          <a:srgbClr val="404040"/>
                        </a:solidFill>
                        <a:latin typeface="Consolas" panose="020B0609020204030204"/>
                        <a:ea typeface="微软雅黑" panose="020B0503020204020204" charset="-122"/>
                      </a:endParaRP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F9</a:t>
                      </a:r>
                      <a:endParaRPr lang="zh-CN" sz="1800" b="0" i="0">
                        <a:solidFill>
                          <a:srgbClr val="404040"/>
                        </a:solidFill>
                        <a:latin typeface="Consolas" panose="020B0609020204030204"/>
                        <a:ea typeface="微软雅黑" panose="020B0503020204020204" charset="-122"/>
                      </a:endParaRP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15</a:t>
                      </a:r>
                      <a:endParaRPr lang="zh-CN" sz="1800" b="0" i="0">
                        <a:solidFill>
                          <a:srgbClr val="404040"/>
                        </a:solidFill>
                        <a:latin typeface="Consolas" panose="020B0609020204030204"/>
                        <a:ea typeface="微软雅黑" panose="020B0503020204020204" charset="-122"/>
                      </a:endParaRP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92</a:t>
                      </a:r>
                      <a:endParaRPr lang="zh-CN" sz="1800" b="0" i="0">
                        <a:solidFill>
                          <a:srgbClr val="404040"/>
                        </a:solidFill>
                        <a:latin typeface="Consolas" panose="020B0609020204030204"/>
                        <a:ea typeface="微软雅黑" panose="020B0503020204020204" charset="-122"/>
                      </a:endParaRP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29</a:t>
                      </a:r>
                      <a:endParaRPr lang="zh-CN" sz="1800" b="0" i="0">
                        <a:solidFill>
                          <a:srgbClr val="404040"/>
                        </a:solidFill>
                        <a:latin typeface="Consolas" panose="020B0609020204030204"/>
                        <a:ea typeface="微软雅黑" panose="020B0503020204020204" charset="-122"/>
                      </a:endParaRP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1A</a:t>
                      </a:r>
                      <a:endParaRPr lang="zh-CN" sz="1800" b="0" i="0">
                        <a:solidFill>
                          <a:srgbClr val="404040"/>
                        </a:solidFill>
                        <a:latin typeface="Consolas" panose="020B0609020204030204"/>
                        <a:ea typeface="微软雅黑" panose="020B0503020204020204" charset="-122"/>
                      </a:endParaRP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8" name="可编辑表格_18"/>
          <p:cNvGraphicFramePr>
            <a:graphicFrameLocks noGrp="1"/>
          </p:cNvGraphicFramePr>
          <p:nvPr/>
        </p:nvGraphicFramePr>
        <p:xfrm>
          <a:off x="4681728" y="3377819"/>
          <a:ext cx="2834640" cy="19385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08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8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8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86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D6</a:t>
                      </a:r>
                      <a:endParaRPr lang="zh-CN" sz="1800" b="0" i="0">
                        <a:solidFill>
                          <a:srgbClr val="404040"/>
                        </a:solidFill>
                        <a:latin typeface="Consolas" panose="020B0609020204030204"/>
                        <a:ea typeface="微软雅黑" panose="020B0503020204020204" charset="-122"/>
                      </a:endParaRP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D2</a:t>
                      </a:r>
                      <a:endParaRPr lang="zh-CN" sz="1800" b="0" i="0">
                        <a:solidFill>
                          <a:srgbClr val="404040"/>
                        </a:solidFill>
                        <a:latin typeface="Consolas" panose="020B0609020204030204"/>
                        <a:ea typeface="微软雅黑" panose="020B0503020204020204" charset="-122"/>
                      </a:endParaRP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DA</a:t>
                      </a:r>
                      <a:endParaRPr lang="zh-CN" sz="1800" b="0" i="0">
                        <a:solidFill>
                          <a:srgbClr val="404040"/>
                        </a:solidFill>
                        <a:latin typeface="Consolas" panose="020B0609020204030204"/>
                        <a:ea typeface="微软雅黑" panose="020B0503020204020204" charset="-122"/>
                      </a:endParaRP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D6</a:t>
                      </a:r>
                      <a:endParaRPr lang="zh-CN" sz="1800" b="0" i="0">
                        <a:solidFill>
                          <a:srgbClr val="404040"/>
                        </a:solidFill>
                        <a:latin typeface="Consolas" panose="020B0609020204030204"/>
                        <a:ea typeface="微软雅黑" panose="020B0503020204020204" charset="-122"/>
                      </a:endParaRP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AA</a:t>
                      </a:r>
                      <a:endParaRPr lang="zh-CN" sz="1800" b="0" i="0">
                        <a:solidFill>
                          <a:srgbClr val="404040"/>
                        </a:solidFill>
                        <a:latin typeface="Consolas" panose="020B0609020204030204"/>
                        <a:ea typeface="微软雅黑" panose="020B0503020204020204" charset="-122"/>
                      </a:endParaRP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AF</a:t>
                      </a:r>
                      <a:endParaRPr lang="zh-CN" sz="1800" b="0" i="0">
                        <a:solidFill>
                          <a:srgbClr val="404040"/>
                        </a:solidFill>
                        <a:latin typeface="Consolas" panose="020B0609020204030204"/>
                        <a:ea typeface="微软雅黑" panose="020B0503020204020204" charset="-122"/>
                      </a:endParaRP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A6</a:t>
                      </a:r>
                      <a:endParaRPr lang="zh-CN" sz="1800" b="0" i="0">
                        <a:solidFill>
                          <a:srgbClr val="404040"/>
                        </a:solidFill>
                        <a:latin typeface="Consolas" panose="020B0609020204030204"/>
                        <a:ea typeface="微软雅黑" panose="020B0503020204020204" charset="-122"/>
                      </a:endParaRP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AB</a:t>
                      </a:r>
                      <a:endParaRPr lang="zh-CN" sz="1800" b="0" i="0">
                        <a:solidFill>
                          <a:srgbClr val="404040"/>
                        </a:solidFill>
                        <a:latin typeface="Consolas" panose="020B0609020204030204"/>
                        <a:ea typeface="微软雅黑" panose="020B0503020204020204" charset="-122"/>
                      </a:endParaRP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74</a:t>
                      </a:r>
                      <a:endParaRPr lang="zh-CN" sz="1800" b="0" i="0">
                        <a:solidFill>
                          <a:srgbClr val="404040"/>
                        </a:solidFill>
                        <a:latin typeface="Consolas" panose="020B0609020204030204"/>
                        <a:ea typeface="微软雅黑" panose="020B0503020204020204" charset="-122"/>
                      </a:endParaRP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72</a:t>
                      </a:r>
                      <a:endParaRPr lang="zh-CN" sz="1800" b="0" i="0">
                        <a:solidFill>
                          <a:srgbClr val="404040"/>
                        </a:solidFill>
                        <a:latin typeface="Consolas" panose="020B0609020204030204"/>
                        <a:ea typeface="微软雅黑" panose="020B0503020204020204" charset="-122"/>
                      </a:endParaRP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78</a:t>
                      </a:r>
                      <a:endParaRPr lang="zh-CN" sz="1800" b="0" i="0">
                        <a:solidFill>
                          <a:srgbClr val="404040"/>
                        </a:solidFill>
                        <a:latin typeface="Consolas" panose="020B0609020204030204"/>
                        <a:ea typeface="微软雅黑" panose="020B0503020204020204" charset="-122"/>
                      </a:endParaRP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76</a:t>
                      </a:r>
                      <a:endParaRPr lang="zh-CN" sz="1800" b="0" i="0">
                        <a:solidFill>
                          <a:srgbClr val="404040"/>
                        </a:solidFill>
                        <a:latin typeface="Consolas" panose="020B0609020204030204"/>
                        <a:ea typeface="微软雅黑" panose="020B0503020204020204" charset="-122"/>
                      </a:endParaRP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FD</a:t>
                      </a:r>
                      <a:endParaRPr lang="zh-CN" sz="1800" b="0" i="0">
                        <a:solidFill>
                          <a:srgbClr val="404040"/>
                        </a:solidFill>
                        <a:latin typeface="Consolas" panose="020B0609020204030204"/>
                        <a:ea typeface="微软雅黑" panose="020B0503020204020204" charset="-122"/>
                      </a:endParaRP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FA</a:t>
                      </a:r>
                      <a:endParaRPr lang="zh-CN" sz="1800" b="0" i="0">
                        <a:solidFill>
                          <a:srgbClr val="404040"/>
                        </a:solidFill>
                        <a:latin typeface="Consolas" panose="020B0609020204030204"/>
                        <a:ea typeface="微软雅黑" panose="020B0503020204020204" charset="-122"/>
                      </a:endParaRP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F1</a:t>
                      </a:r>
                      <a:endParaRPr lang="zh-CN" sz="1800" b="0" i="0">
                        <a:solidFill>
                          <a:srgbClr val="404040"/>
                        </a:solidFill>
                        <a:latin typeface="Consolas" panose="020B0609020204030204"/>
                        <a:ea typeface="微软雅黑" panose="020B0503020204020204" charset="-122"/>
                      </a:endParaRP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FE</a:t>
                      </a:r>
                      <a:endParaRPr lang="zh-CN" sz="1800" b="0" i="0">
                        <a:solidFill>
                          <a:srgbClr val="404040"/>
                        </a:solidFill>
                        <a:latin typeface="Consolas" panose="020B0609020204030204"/>
                        <a:ea typeface="微软雅黑" panose="020B0503020204020204" charset="-122"/>
                      </a:endParaRP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9" name="可编辑表格_19"/>
          <p:cNvGraphicFramePr>
            <a:graphicFrameLocks noGrp="1"/>
          </p:cNvGraphicFramePr>
          <p:nvPr/>
        </p:nvGraphicFramePr>
        <p:xfrm>
          <a:off x="8595360" y="3377819"/>
          <a:ext cx="2834640" cy="19385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08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8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8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86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89</a:t>
                      </a:r>
                      <a:endParaRPr lang="zh-CN" sz="1800" b="0" i="0">
                        <a:solidFill>
                          <a:srgbClr val="404040"/>
                        </a:solidFill>
                        <a:latin typeface="Consolas" panose="020B0609020204030204"/>
                        <a:ea typeface="微软雅黑" panose="020B0503020204020204" charset="-122"/>
                      </a:endParaRP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85</a:t>
                      </a:r>
                      <a:endParaRPr lang="zh-CN" sz="1800" b="0" i="0">
                        <a:solidFill>
                          <a:srgbClr val="404040"/>
                        </a:solidFill>
                        <a:latin typeface="Consolas" panose="020B0609020204030204"/>
                        <a:ea typeface="微软雅黑" panose="020B0503020204020204" charset="-122"/>
                      </a:endParaRP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2D</a:t>
                      </a:r>
                      <a:endParaRPr lang="zh-CN" sz="1800" b="0" i="0">
                        <a:solidFill>
                          <a:srgbClr val="404040"/>
                        </a:solidFill>
                        <a:latin typeface="Consolas" panose="020B0609020204030204"/>
                        <a:ea typeface="微软雅黑" panose="020B0503020204020204" charset="-122"/>
                      </a:endParaRP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CB</a:t>
                      </a:r>
                      <a:endParaRPr lang="zh-CN" sz="1800" b="0" i="0">
                        <a:solidFill>
                          <a:srgbClr val="404040"/>
                        </a:solidFill>
                        <a:latin typeface="Consolas" panose="020B0609020204030204"/>
                        <a:ea typeface="微软雅黑" panose="020B0503020204020204" charset="-122"/>
                      </a:endParaRP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D8</a:t>
                      </a:r>
                      <a:endParaRPr lang="zh-CN" sz="1800" b="0" i="0">
                        <a:solidFill>
                          <a:srgbClr val="404040"/>
                        </a:solidFill>
                        <a:latin typeface="Consolas" panose="020B0609020204030204"/>
                        <a:ea typeface="微软雅黑" panose="020B0503020204020204" charset="-122"/>
                      </a:endParaRP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5A</a:t>
                      </a:r>
                      <a:endParaRPr lang="zh-CN" sz="1800" b="0" i="0">
                        <a:solidFill>
                          <a:srgbClr val="404040"/>
                        </a:solidFill>
                        <a:latin typeface="Consolas" panose="020B0609020204030204"/>
                        <a:ea typeface="微软雅黑" panose="020B0503020204020204" charset="-122"/>
                      </a:endParaRP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18</a:t>
                      </a:r>
                      <a:endParaRPr lang="zh-CN" sz="1800" b="0" i="0">
                        <a:solidFill>
                          <a:srgbClr val="404040"/>
                        </a:solidFill>
                        <a:latin typeface="Consolas" panose="020B0609020204030204"/>
                        <a:ea typeface="微软雅黑" panose="020B0503020204020204" charset="-122"/>
                      </a:endParaRP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12</a:t>
                      </a:r>
                      <a:endParaRPr lang="zh-CN" sz="1800" b="0" i="0">
                        <a:solidFill>
                          <a:srgbClr val="404040"/>
                        </a:solidFill>
                        <a:latin typeface="Consolas" panose="020B0609020204030204"/>
                        <a:ea typeface="微软雅黑" panose="020B0503020204020204" charset="-122"/>
                      </a:endParaRP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10</a:t>
                      </a:r>
                      <a:endParaRPr lang="zh-CN" sz="1800" b="0" i="0">
                        <a:solidFill>
                          <a:srgbClr val="404040"/>
                        </a:solidFill>
                        <a:latin typeface="Consolas" panose="020B0609020204030204"/>
                        <a:ea typeface="微软雅黑" panose="020B0503020204020204" charset="-122"/>
                      </a:endParaRP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CE</a:t>
                      </a:r>
                      <a:endParaRPr lang="zh-CN" sz="1800" b="0" i="0">
                        <a:solidFill>
                          <a:srgbClr val="404040"/>
                        </a:solidFill>
                        <a:latin typeface="Consolas" panose="020B0609020204030204"/>
                        <a:ea typeface="微软雅黑" panose="020B0503020204020204" charset="-122"/>
                      </a:endParaRP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43</a:t>
                      </a:r>
                      <a:endParaRPr lang="zh-CN" sz="1800" b="0" i="0">
                        <a:solidFill>
                          <a:srgbClr val="404040"/>
                        </a:solidFill>
                        <a:latin typeface="Consolas" panose="020B0609020204030204"/>
                        <a:ea typeface="微软雅黑" panose="020B0503020204020204" charset="-122"/>
                      </a:endParaRP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8F</a:t>
                      </a:r>
                      <a:endParaRPr lang="zh-CN" sz="1800" b="0" i="0">
                        <a:solidFill>
                          <a:srgbClr val="404040"/>
                        </a:solidFill>
                        <a:latin typeface="Consolas" panose="020B0609020204030204"/>
                        <a:ea typeface="微软雅黑" panose="020B0503020204020204" charset="-122"/>
                      </a:endParaRP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E8</a:t>
                      </a:r>
                      <a:endParaRPr lang="zh-CN" sz="1800" b="0" i="0">
                        <a:solidFill>
                          <a:srgbClr val="404040"/>
                        </a:solidFill>
                        <a:latin typeface="Consolas" panose="020B0609020204030204"/>
                        <a:ea typeface="微软雅黑" panose="020B0503020204020204" charset="-122"/>
                      </a:endParaRP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68</a:t>
                      </a:r>
                      <a:endParaRPr lang="zh-CN" sz="1800" b="0" i="0">
                        <a:solidFill>
                          <a:srgbClr val="404040"/>
                        </a:solidFill>
                        <a:latin typeface="Consolas" panose="020B0609020204030204"/>
                        <a:ea typeface="微软雅黑" panose="020B0503020204020204" charset="-122"/>
                      </a:endParaRP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D8</a:t>
                      </a:r>
                      <a:endParaRPr lang="zh-CN" sz="1800" b="0" i="0">
                        <a:solidFill>
                          <a:srgbClr val="404040"/>
                        </a:solidFill>
                        <a:latin typeface="Consolas" panose="020B0609020204030204"/>
                        <a:ea typeface="微软雅黑" panose="020B0503020204020204" charset="-122"/>
                      </a:endParaRP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E4</a:t>
                      </a:r>
                      <a:endParaRPr lang="zh-CN" sz="1800" b="0" i="0">
                        <a:solidFill>
                          <a:srgbClr val="404040"/>
                        </a:solidFill>
                        <a:latin typeface="Consolas" panose="020B0609020204030204"/>
                        <a:ea typeface="微软雅黑" panose="020B0503020204020204" charset="-122"/>
                      </a:endParaRPr>
                    </a:p>
                  </a:txBody>
                  <a:tcPr marL="32004" marR="32004" marT="0" marB="0" anchor="ctr">
                    <a:lnL w="6350">
                      <a:solidFill>
                        <a:srgbClr val="D7D7D7"/>
                      </a:solidFill>
                    </a:lnL>
                    <a:lnR w="6350">
                      <a:solidFill>
                        <a:srgbClr val="D7D7D7"/>
                      </a:solidFill>
                    </a:lnR>
                    <a:lnT w="6350">
                      <a:solidFill>
                        <a:srgbClr val="D7D7D7"/>
                      </a:solidFill>
                    </a:lnT>
                    <a:lnB w="6350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" name="正文_20"/>
          <p:cNvSpPr txBox="1"/>
          <p:nvPr/>
        </p:nvSpPr>
        <p:spPr>
          <a:xfrm>
            <a:off x="3721608" y="4091051"/>
            <a:ext cx="786384" cy="5120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ts val="38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200" b="0" i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⊕</a:t>
            </a:r>
          </a:p>
        </p:txBody>
      </p:sp>
      <p:sp>
        <p:nvSpPr>
          <p:cNvPr id="31" name="正文_21"/>
          <p:cNvSpPr txBox="1"/>
          <p:nvPr/>
        </p:nvSpPr>
        <p:spPr>
          <a:xfrm>
            <a:off x="7635240" y="4091051"/>
            <a:ext cx="786384" cy="5120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ts val="38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200" b="0" i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=</a:t>
            </a:r>
          </a:p>
        </p:txBody>
      </p:sp>
      <p:sp>
        <p:nvSpPr>
          <p:cNvPr id="2" name="内容底色_18"/>
          <p:cNvSpPr/>
          <p:nvPr/>
        </p:nvSpPr>
        <p:spPr>
          <a:xfrm>
            <a:off x="502920" y="5431790"/>
            <a:ext cx="11182985" cy="968375"/>
          </a:xfrm>
          <a:prstGeom prst="rect">
            <a:avLst/>
          </a:prstGeom>
          <a:solidFill>
            <a:srgbClr val="FB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AES 解密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沿加密流程反向还原，使用对应的逆操作，并将轮密钥逆序使用。</a:t>
            </a:r>
            <a:br>
              <a:rPr 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</a:br>
            <a:r>
              <a:rPr 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轮密钥加仍执行异或：与同一轮密钥再异或一次，即可恢复之前的数据。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en-US" altLang="zh-CN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739" y="219050"/>
            <a:ext cx="4133088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典型分组密码</a:t>
            </a:r>
          </a:p>
        </p:txBody>
      </p:sp>
      <p:cxnSp>
        <p:nvCxnSpPr>
          <p:cNvPr id="4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页标题"/>
          <p:cNvSpPr txBox="1"/>
          <p:nvPr/>
        </p:nvSpPr>
        <p:spPr>
          <a:xfrm>
            <a:off x="502920" y="827532"/>
            <a:ext cx="111556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zh-CN" altLang="en-US" sz="2200" b="1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AES-128 密钥扩展（一）：递推规则</a:t>
            </a:r>
            <a:endParaRPr lang="zh-CN" altLang="en-US" sz="2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6" name="文本_AES-128：主密钥 128 bit = 4 个初始字"/>
          <p:cNvSpPr txBox="1"/>
          <p:nvPr/>
        </p:nvSpPr>
        <p:spPr>
          <a:xfrm>
            <a:off x="533400" y="1331595"/>
            <a:ext cx="11112500" cy="368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AES-128：主密钥 128 bit = 4 个初始字（</a:t>
            </a:r>
            <a:r>
              <a:rPr lang="zh-CN" b="1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W</a:t>
            </a:r>
            <a:r>
              <a:rPr lang="zh-CN" b="1" baseline="-220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0</a:t>
            </a:r>
            <a:r>
              <a:rPr lang="zh-CN" b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～</a:t>
            </a:r>
            <a:r>
              <a:rPr lang="zh-CN" b="1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W</a:t>
            </a:r>
            <a:r>
              <a:rPr lang="zh-CN" b="1" baseline="-22000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3</a:t>
            </a:r>
            <a:r>
              <a:rPr lang="zh-CN" b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），每字 32 bit</a:t>
            </a:r>
          </a:p>
        </p:txBody>
      </p:sp>
      <p:sp>
        <p:nvSpPr>
          <p:cNvPr id="7" name="文本_扩展得到 44 个字 W{0}～W{43}；每连续 4 "/>
          <p:cNvSpPr txBox="1"/>
          <p:nvPr/>
        </p:nvSpPr>
        <p:spPr>
          <a:xfrm>
            <a:off x="533400" y="1762760"/>
            <a:ext cx="11112500" cy="342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扩展得到 44 个字 </a:t>
            </a:r>
            <a:r>
              <a:rPr lang="zh-CN" b="0" i="1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W</a:t>
            </a:r>
            <a:r>
              <a:rPr lang="zh-CN" b="0" baseline="-2200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0</a:t>
            </a:r>
            <a:r>
              <a:rPr lang="zh-CN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～</a:t>
            </a:r>
            <a:r>
              <a:rPr lang="zh-CN" b="0" i="1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W</a:t>
            </a:r>
            <a:r>
              <a:rPr lang="zh-CN" b="0" baseline="-2200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43</a:t>
            </a:r>
            <a:r>
              <a:rPr lang="zh-CN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；每连续 4 个字组成一个 128 bit 轮密钥。</a:t>
            </a:r>
          </a:p>
        </p:txBody>
      </p:sp>
      <p:sp>
        <p:nvSpPr>
          <p:cNvPr id="8" name="文本_字的递推（4 ≤ i ≤ 43）"/>
          <p:cNvSpPr txBox="1"/>
          <p:nvPr/>
        </p:nvSpPr>
        <p:spPr>
          <a:xfrm>
            <a:off x="533400" y="2235835"/>
            <a:ext cx="5080000" cy="317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字的递推（4 ≤ </a:t>
            </a:r>
            <a:r>
              <a:rPr lang="zh-CN" b="1" i="1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i</a:t>
            </a:r>
            <a:r>
              <a:rPr lang="zh-CN" b="1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 ≤ 43）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533400" y="2613025"/>
            <a:ext cx="6696075" cy="3810"/>
          </a:xfrm>
          <a:prstGeom prst="line">
            <a:avLst/>
          </a:prstGeom>
          <a:ln w="11430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本_i 是 4 的倍数"/>
          <p:cNvSpPr txBox="1"/>
          <p:nvPr/>
        </p:nvSpPr>
        <p:spPr>
          <a:xfrm>
            <a:off x="596900" y="2731135"/>
            <a:ext cx="2451100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 i="1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i</a:t>
            </a:r>
            <a:r>
              <a:rPr lang="zh-CN" b="1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 是 4 的倍数</a:t>
            </a:r>
          </a:p>
        </p:txBody>
      </p:sp>
      <p:sp>
        <p:nvSpPr>
          <p:cNvPr id="11" name="文本_W{i} = W{i−4} ⊕ T{i/4}(W{i−1"/>
          <p:cNvSpPr txBox="1"/>
          <p:nvPr/>
        </p:nvSpPr>
        <p:spPr>
          <a:xfrm>
            <a:off x="3263900" y="2718435"/>
            <a:ext cx="82550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i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W</a:t>
            </a:r>
            <a:r>
              <a:rPr lang="zh-CN" sz="1800" b="1" i="1" baseline="-2200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i</a:t>
            </a:r>
            <a:r>
              <a:rPr lang="zh-CN" sz="1800" b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 = </a:t>
            </a:r>
            <a:r>
              <a:rPr lang="zh-CN" sz="1800" b="1" i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W</a:t>
            </a:r>
            <a:r>
              <a:rPr lang="zh-CN" sz="1800" b="1" i="1" baseline="-2200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i</a:t>
            </a:r>
            <a:r>
              <a:rPr lang="zh-CN" sz="1800" b="1" baseline="-2200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−4</a:t>
            </a:r>
            <a:r>
              <a:rPr lang="zh-CN" sz="1800" b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 ⊕ </a:t>
            </a:r>
            <a:r>
              <a:rPr lang="zh-CN" sz="1800" b="1" i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T</a:t>
            </a:r>
            <a:r>
              <a:rPr lang="zh-CN" sz="1800" b="1" i="1" baseline="-2200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i</a:t>
            </a:r>
            <a:r>
              <a:rPr lang="zh-CN" sz="1800" b="1" baseline="-2200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/4</a:t>
            </a:r>
            <a:r>
              <a:rPr lang="zh-CN" sz="1800" b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(</a:t>
            </a:r>
            <a:r>
              <a:rPr lang="zh-CN" sz="1800" b="1" i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W</a:t>
            </a:r>
            <a:r>
              <a:rPr lang="zh-CN" sz="1800" b="1" i="1" baseline="-2200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i</a:t>
            </a:r>
            <a:r>
              <a:rPr lang="zh-CN" sz="1800" b="1" baseline="-2200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−1</a:t>
            </a:r>
            <a:r>
              <a:rPr lang="zh-CN" sz="1800" b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)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533400" y="3179445"/>
            <a:ext cx="6696075" cy="17780"/>
          </a:xfrm>
          <a:prstGeom prst="line">
            <a:avLst/>
          </a:prstGeom>
          <a:ln w="11430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本_其余位置"/>
          <p:cNvSpPr txBox="1"/>
          <p:nvPr/>
        </p:nvSpPr>
        <p:spPr>
          <a:xfrm>
            <a:off x="596900" y="3298825"/>
            <a:ext cx="2451100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i="1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i</a:t>
            </a:r>
            <a:r>
              <a:rPr lang="en-US" altLang="zh-CN" b="1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 </a:t>
            </a:r>
            <a:r>
              <a:rPr lang="zh-CN" altLang="en-US" b="1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不是</a:t>
            </a:r>
            <a:r>
              <a:rPr lang="en-US" altLang="zh-CN" b="1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 4 </a:t>
            </a:r>
            <a:r>
              <a:rPr lang="zh-CN" altLang="en-US" b="1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的倍数</a:t>
            </a:r>
          </a:p>
        </p:txBody>
      </p:sp>
      <p:sp>
        <p:nvSpPr>
          <p:cNvPr id="14" name="文本_W{i} = W{i−4} ⊕ W{i−1}"/>
          <p:cNvSpPr txBox="1"/>
          <p:nvPr/>
        </p:nvSpPr>
        <p:spPr>
          <a:xfrm>
            <a:off x="3263900" y="3286125"/>
            <a:ext cx="82550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i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W</a:t>
            </a:r>
            <a:r>
              <a:rPr lang="zh-CN" sz="1800" b="1" i="1" baseline="-2200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i</a:t>
            </a:r>
            <a:r>
              <a:rPr lang="zh-CN" sz="1800" b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 = </a:t>
            </a:r>
            <a:r>
              <a:rPr lang="zh-CN" sz="1800" b="1" i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W</a:t>
            </a:r>
            <a:r>
              <a:rPr lang="zh-CN" sz="1800" b="1" i="1" baseline="-2200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i</a:t>
            </a:r>
            <a:r>
              <a:rPr lang="zh-CN" sz="1800" b="1" baseline="-2200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−4</a:t>
            </a:r>
            <a:r>
              <a:rPr lang="zh-CN" sz="1800" b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 ⊕ </a:t>
            </a:r>
            <a:r>
              <a:rPr lang="zh-CN" sz="1800" b="1" i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W</a:t>
            </a:r>
            <a:r>
              <a:rPr lang="zh-CN" sz="1800" b="1" i="1" baseline="-2200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i</a:t>
            </a:r>
            <a:r>
              <a:rPr lang="zh-CN" sz="1800" b="1" baseline="-2200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−1</a:t>
            </a:r>
          </a:p>
        </p:txBody>
      </p:sp>
      <p:sp>
        <p:nvSpPr>
          <p:cNvPr id="15" name="文本_T{j}：RotWord（循环左移 1 字节） → Su"/>
          <p:cNvSpPr txBox="1"/>
          <p:nvPr/>
        </p:nvSpPr>
        <p:spPr>
          <a:xfrm>
            <a:off x="546100" y="3835400"/>
            <a:ext cx="110998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T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j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：RotWord（循环左移 1 字节）→ SubWord（逐字节查 AES 的 S 盒）→ ⊕ Rcon[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j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]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6" name="文本_Rcon[j] = (RC[j], 00, 00, 00"/>
          <p:cNvSpPr txBox="1"/>
          <p:nvPr/>
        </p:nvSpPr>
        <p:spPr>
          <a:xfrm>
            <a:off x="546100" y="4272280"/>
            <a:ext cx="11099800" cy="317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Rcon[</a:t>
            </a:r>
            <a:r>
              <a:rPr lang="zh-CN" b="0" i="1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j</a:t>
            </a:r>
            <a:r>
              <a:rPr lang="zh-CN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] = (</a:t>
            </a:r>
            <a:r>
              <a:rPr lang="zh-CN" b="0" i="1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RC</a:t>
            </a:r>
            <a:r>
              <a:rPr lang="zh-CN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[</a:t>
            </a:r>
            <a:r>
              <a:rPr lang="zh-CN" b="0" i="1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j</a:t>
            </a:r>
            <a:r>
              <a:rPr lang="zh-CN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], 00, 00, 00)，首字节如下（十六进制）：</a:t>
            </a:r>
          </a:p>
        </p:txBody>
      </p:sp>
      <p:graphicFrame>
        <p:nvGraphicFramePr>
          <p:cNvPr id="17" name="AES-128轮常量首字节表"/>
          <p:cNvGraphicFramePr>
            <a:graphicFrameLocks noGrp="1"/>
          </p:cNvGraphicFramePr>
          <p:nvPr/>
        </p:nvGraphicFramePr>
        <p:xfrm>
          <a:off x="546100" y="4686300"/>
          <a:ext cx="11099800" cy="603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9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90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90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90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090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0907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0090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j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1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2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3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4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5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6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7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8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9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10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1">
                          <a:solidFill>
                            <a:srgbClr val="222222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RC</a:t>
                      </a: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[</a:t>
                      </a:r>
                      <a:r>
                        <a:rPr lang="zh-CN" sz="1800" b="0" i="1">
                          <a:solidFill>
                            <a:srgbClr val="222222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j</a:t>
                      </a: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]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01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02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04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08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10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20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40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80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1B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36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" name="文本_首组新字的依赖顺序"/>
          <p:cNvSpPr txBox="1"/>
          <p:nvPr/>
        </p:nvSpPr>
        <p:spPr>
          <a:xfrm>
            <a:off x="546100" y="5324348"/>
            <a:ext cx="4889500" cy="317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首组新字的依赖顺序</a:t>
            </a:r>
          </a:p>
        </p:txBody>
      </p:sp>
      <p:sp>
        <p:nvSpPr>
          <p:cNvPr id="19" name="文本_W{4} = W{0} ⊕ T{1}(W{3})"/>
          <p:cNvSpPr txBox="1"/>
          <p:nvPr/>
        </p:nvSpPr>
        <p:spPr>
          <a:xfrm>
            <a:off x="546100" y="5692648"/>
            <a:ext cx="25654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 i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W</a:t>
            </a:r>
            <a:r>
              <a:rPr lang="zh-CN" b="1" baseline="-2200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4</a:t>
            </a:r>
            <a:r>
              <a:rPr lang="zh-CN" b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 = </a:t>
            </a:r>
            <a:r>
              <a:rPr lang="zh-CN" b="1" i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W</a:t>
            </a:r>
            <a:r>
              <a:rPr lang="zh-CN" b="1" baseline="-2200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0</a:t>
            </a:r>
            <a:r>
              <a:rPr lang="zh-CN" b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 ⊕ </a:t>
            </a:r>
            <a:r>
              <a:rPr lang="zh-CN" b="1" i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T</a:t>
            </a:r>
            <a:r>
              <a:rPr lang="zh-CN" b="1" baseline="-2200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1</a:t>
            </a:r>
            <a:r>
              <a:rPr lang="zh-CN" b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(</a:t>
            </a:r>
            <a:r>
              <a:rPr lang="zh-CN" b="1" i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W</a:t>
            </a:r>
            <a:r>
              <a:rPr lang="zh-CN" b="1" baseline="-2200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3</a:t>
            </a:r>
            <a:r>
              <a:rPr lang="zh-CN" b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)</a:t>
            </a:r>
          </a:p>
        </p:txBody>
      </p:sp>
      <p:sp>
        <p:nvSpPr>
          <p:cNvPr id="20" name="文本_W{5} = W{1} ⊕ W{4}"/>
          <p:cNvSpPr txBox="1"/>
          <p:nvPr/>
        </p:nvSpPr>
        <p:spPr>
          <a:xfrm>
            <a:off x="3403600" y="5692648"/>
            <a:ext cx="25654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 i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W</a:t>
            </a:r>
            <a:r>
              <a:rPr lang="zh-CN" b="1" baseline="-2200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5</a:t>
            </a:r>
            <a:r>
              <a:rPr lang="zh-CN" b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 = </a:t>
            </a:r>
            <a:r>
              <a:rPr lang="zh-CN" b="1" i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W</a:t>
            </a:r>
            <a:r>
              <a:rPr lang="zh-CN" b="1" baseline="-2200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1</a:t>
            </a:r>
            <a:r>
              <a:rPr lang="zh-CN" b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 ⊕ </a:t>
            </a:r>
            <a:r>
              <a:rPr lang="zh-CN" b="1" i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W</a:t>
            </a:r>
            <a:r>
              <a:rPr lang="zh-CN" b="1" baseline="-2200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4</a:t>
            </a:r>
          </a:p>
        </p:txBody>
      </p:sp>
      <p:sp>
        <p:nvSpPr>
          <p:cNvPr id="21" name="文本_W{6} = W{2} ⊕ W{5}"/>
          <p:cNvSpPr txBox="1"/>
          <p:nvPr/>
        </p:nvSpPr>
        <p:spPr>
          <a:xfrm>
            <a:off x="6261100" y="5692648"/>
            <a:ext cx="25654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 i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W</a:t>
            </a:r>
            <a:r>
              <a:rPr lang="zh-CN" b="1" baseline="-2200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6</a:t>
            </a:r>
            <a:r>
              <a:rPr lang="zh-CN" b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 = </a:t>
            </a:r>
            <a:r>
              <a:rPr lang="zh-CN" b="1" i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W</a:t>
            </a:r>
            <a:r>
              <a:rPr lang="zh-CN" b="1" baseline="-2200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2</a:t>
            </a:r>
            <a:r>
              <a:rPr lang="zh-CN" b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 ⊕ </a:t>
            </a:r>
            <a:r>
              <a:rPr lang="zh-CN" b="1" i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W</a:t>
            </a:r>
            <a:r>
              <a:rPr lang="zh-CN" b="1" baseline="-2200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5</a:t>
            </a:r>
          </a:p>
        </p:txBody>
      </p:sp>
      <p:sp>
        <p:nvSpPr>
          <p:cNvPr id="22" name="文本_W{7} = W{3} ⊕ W{6}"/>
          <p:cNvSpPr txBox="1"/>
          <p:nvPr/>
        </p:nvSpPr>
        <p:spPr>
          <a:xfrm>
            <a:off x="9118600" y="5692648"/>
            <a:ext cx="25654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 i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W</a:t>
            </a:r>
            <a:r>
              <a:rPr lang="zh-CN" b="1" baseline="-2200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7</a:t>
            </a:r>
            <a:r>
              <a:rPr lang="zh-CN" b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 = </a:t>
            </a:r>
            <a:r>
              <a:rPr lang="zh-CN" b="1" i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W</a:t>
            </a:r>
            <a:r>
              <a:rPr lang="zh-CN" b="1" baseline="-2200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3</a:t>
            </a:r>
            <a:r>
              <a:rPr lang="zh-CN" b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 ⊕ </a:t>
            </a:r>
            <a:r>
              <a:rPr lang="zh-CN" b="1" i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W</a:t>
            </a:r>
            <a:r>
              <a:rPr lang="zh-CN" b="1" baseline="-2200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6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62300" y="5857748"/>
            <a:ext cx="177800" cy="0"/>
          </a:xfrm>
          <a:prstGeom prst="line">
            <a:avLst/>
          </a:prstGeom>
          <a:ln w="16510">
            <a:solidFill>
              <a:srgbClr val="C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019800" y="5857748"/>
            <a:ext cx="177800" cy="0"/>
          </a:xfrm>
          <a:prstGeom prst="line">
            <a:avLst/>
          </a:prstGeom>
          <a:ln w="16510">
            <a:solidFill>
              <a:srgbClr val="C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877300" y="5857748"/>
            <a:ext cx="177800" cy="0"/>
          </a:xfrm>
          <a:prstGeom prst="line">
            <a:avLst/>
          </a:prstGeom>
          <a:ln w="16510">
            <a:solidFill>
              <a:srgbClr val="C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文本_rk{0} = (W{0}～W{3}) 是主密钥，用于初"/>
          <p:cNvSpPr txBox="1"/>
          <p:nvPr/>
        </p:nvSpPr>
        <p:spPr>
          <a:xfrm>
            <a:off x="546100" y="6006084"/>
            <a:ext cx="11099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rk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= (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W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～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W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) 就是主密钥，用于初始轮密钥加；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rk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= (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W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4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～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W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7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)，依此类推直到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rk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10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。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en-US" altLang="zh-CN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739" y="219050"/>
            <a:ext cx="4133088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典型分组密码</a:t>
            </a:r>
          </a:p>
        </p:txBody>
      </p:sp>
      <p:cxnSp>
        <p:nvCxnSpPr>
          <p:cNvPr id="4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页标题"/>
          <p:cNvSpPr txBox="1"/>
          <p:nvPr/>
        </p:nvSpPr>
        <p:spPr>
          <a:xfrm>
            <a:off x="502920" y="827532"/>
            <a:ext cx="111556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zh-CN" altLang="en-US" sz="2200" b="1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AES-128 密钥扩展（二）：计算第一轮轮密钥</a:t>
            </a:r>
            <a:endParaRPr lang="zh-CN" altLang="en-US" sz="2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6" name="文本_主密钥 K = 00010203040506070809"/>
          <p:cNvSpPr txBox="1"/>
          <p:nvPr/>
        </p:nvSpPr>
        <p:spPr>
          <a:xfrm>
            <a:off x="533400" y="1373505"/>
            <a:ext cx="111125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主密钥 </a:t>
            </a:r>
            <a:r>
              <a:rPr lang="zh-CN" sz="1800" b="1" i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K</a:t>
            </a:r>
            <a:r>
              <a:rPr lang="zh-CN" sz="1800" b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= 000102030405060708090A0B0C0D0E0F（以下均为十六进制）</a:t>
            </a:r>
          </a:p>
        </p:txBody>
      </p:sp>
      <p:sp>
        <p:nvSpPr>
          <p:cNvPr id="7" name="文本_W{0} = 00010203"/>
          <p:cNvSpPr txBox="1"/>
          <p:nvPr/>
        </p:nvSpPr>
        <p:spPr>
          <a:xfrm>
            <a:off x="546100" y="1879600"/>
            <a:ext cx="2654300" cy="342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 i="1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W</a:t>
            </a:r>
            <a:r>
              <a:rPr lang="zh-CN" b="0" baseline="-2200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0</a:t>
            </a:r>
            <a:r>
              <a:rPr lang="zh-CN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= 00010203</a:t>
            </a:r>
          </a:p>
        </p:txBody>
      </p:sp>
      <p:sp>
        <p:nvSpPr>
          <p:cNvPr id="8" name="文本_W{1} = 04050607"/>
          <p:cNvSpPr txBox="1"/>
          <p:nvPr/>
        </p:nvSpPr>
        <p:spPr>
          <a:xfrm>
            <a:off x="3365500" y="1879600"/>
            <a:ext cx="2654300" cy="342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 i="1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W</a:t>
            </a:r>
            <a:r>
              <a:rPr lang="zh-CN" b="0" baseline="-2200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</a:t>
            </a:r>
            <a:r>
              <a:rPr lang="zh-CN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= 04050607</a:t>
            </a:r>
          </a:p>
        </p:txBody>
      </p:sp>
      <p:sp>
        <p:nvSpPr>
          <p:cNvPr id="9" name="文本_W{2} = 08090A0B"/>
          <p:cNvSpPr txBox="1"/>
          <p:nvPr/>
        </p:nvSpPr>
        <p:spPr>
          <a:xfrm>
            <a:off x="6184900" y="1879600"/>
            <a:ext cx="2654300" cy="342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 i="1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W</a:t>
            </a:r>
            <a:r>
              <a:rPr lang="zh-CN" b="0" baseline="-2200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2</a:t>
            </a:r>
            <a:r>
              <a:rPr lang="zh-CN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= 08090A0B</a:t>
            </a:r>
          </a:p>
        </p:txBody>
      </p:sp>
      <p:sp>
        <p:nvSpPr>
          <p:cNvPr id="10" name="文本_W{3} = 0C0D0E0F"/>
          <p:cNvSpPr txBox="1"/>
          <p:nvPr/>
        </p:nvSpPr>
        <p:spPr>
          <a:xfrm>
            <a:off x="9004300" y="1879600"/>
            <a:ext cx="2654300" cy="342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 i="1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W</a:t>
            </a:r>
            <a:r>
              <a:rPr lang="zh-CN" b="0" baseline="-2200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3</a:t>
            </a:r>
            <a:r>
              <a:rPr lang="zh-CN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= 0C0D0E0F</a:t>
            </a:r>
          </a:p>
        </p:txBody>
      </p:sp>
      <p:sp>
        <p:nvSpPr>
          <p:cNvPr id="11" name="文本_先算特殊位置 W{4}"/>
          <p:cNvSpPr txBox="1"/>
          <p:nvPr/>
        </p:nvSpPr>
        <p:spPr>
          <a:xfrm>
            <a:off x="546100" y="2451100"/>
            <a:ext cx="5715000" cy="317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先算特殊位置 </a:t>
            </a:r>
            <a:r>
              <a:rPr lang="zh-CN" sz="1800" b="1" i="1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W</a:t>
            </a:r>
            <a:r>
              <a:rPr lang="zh-CN" sz="1370" b="1" baseline="-2200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4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6100" y="2819400"/>
            <a:ext cx="5765800" cy="0"/>
          </a:xfrm>
          <a:prstGeom prst="line">
            <a:avLst/>
          </a:prstGeom>
          <a:ln w="11430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本_输入 W{3}"/>
          <p:cNvSpPr txBox="1"/>
          <p:nvPr/>
        </p:nvSpPr>
        <p:spPr>
          <a:xfrm>
            <a:off x="622300" y="2971800"/>
            <a:ext cx="20320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输入 </a:t>
            </a:r>
            <a:r>
              <a:rPr lang="zh-CN" sz="1800" b="0" i="1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W</a:t>
            </a:r>
            <a:r>
              <a:rPr lang="zh-CN" sz="1295" b="0" baseline="-2200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3</a:t>
            </a:r>
          </a:p>
        </p:txBody>
      </p:sp>
      <p:sp>
        <p:nvSpPr>
          <p:cNvPr id="14" name="文本_0C 0D 0E 0F"/>
          <p:cNvSpPr txBox="1"/>
          <p:nvPr/>
        </p:nvSpPr>
        <p:spPr>
          <a:xfrm>
            <a:off x="2705100" y="2971800"/>
            <a:ext cx="35306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0C 0D 0E 0F</a:t>
            </a:r>
          </a:p>
        </p:txBody>
      </p:sp>
      <p:sp>
        <p:nvSpPr>
          <p:cNvPr id="15" name="文本_RotWord"/>
          <p:cNvSpPr txBox="1"/>
          <p:nvPr/>
        </p:nvSpPr>
        <p:spPr>
          <a:xfrm>
            <a:off x="622300" y="3352800"/>
            <a:ext cx="20320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RotWord</a:t>
            </a:r>
          </a:p>
        </p:txBody>
      </p:sp>
      <p:sp>
        <p:nvSpPr>
          <p:cNvPr id="16" name="文本_0D 0E 0F 0C"/>
          <p:cNvSpPr txBox="1"/>
          <p:nvPr/>
        </p:nvSpPr>
        <p:spPr>
          <a:xfrm>
            <a:off x="2705100" y="3352800"/>
            <a:ext cx="35306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0D 0E 0F 0C</a:t>
            </a:r>
          </a:p>
        </p:txBody>
      </p:sp>
      <p:sp>
        <p:nvSpPr>
          <p:cNvPr id="17" name="文本_SubWord"/>
          <p:cNvSpPr txBox="1"/>
          <p:nvPr/>
        </p:nvSpPr>
        <p:spPr>
          <a:xfrm>
            <a:off x="622300" y="3733800"/>
            <a:ext cx="20320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SubWord</a:t>
            </a:r>
          </a:p>
        </p:txBody>
      </p:sp>
      <p:sp>
        <p:nvSpPr>
          <p:cNvPr id="18" name="文本_D7 AB 76 FE"/>
          <p:cNvSpPr txBox="1"/>
          <p:nvPr/>
        </p:nvSpPr>
        <p:spPr>
          <a:xfrm>
            <a:off x="2705100" y="3733800"/>
            <a:ext cx="35306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D7 AB 76 FE</a:t>
            </a:r>
          </a:p>
        </p:txBody>
      </p:sp>
      <p:sp>
        <p:nvSpPr>
          <p:cNvPr id="19" name="文本_⊕ Rcon[1]"/>
          <p:cNvSpPr txBox="1"/>
          <p:nvPr/>
        </p:nvSpPr>
        <p:spPr>
          <a:xfrm>
            <a:off x="622300" y="4114800"/>
            <a:ext cx="20320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⊕ Rcon[1]</a:t>
            </a:r>
          </a:p>
        </p:txBody>
      </p:sp>
      <p:sp>
        <p:nvSpPr>
          <p:cNvPr id="20" name="文本_01 00 00 00"/>
          <p:cNvSpPr txBox="1"/>
          <p:nvPr/>
        </p:nvSpPr>
        <p:spPr>
          <a:xfrm>
            <a:off x="2705100" y="4114800"/>
            <a:ext cx="35306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01 00 00 00</a:t>
            </a:r>
          </a:p>
        </p:txBody>
      </p:sp>
      <p:sp>
        <p:nvSpPr>
          <p:cNvPr id="21" name="文本_T{1}(W{3})"/>
          <p:cNvSpPr txBox="1"/>
          <p:nvPr/>
        </p:nvSpPr>
        <p:spPr>
          <a:xfrm>
            <a:off x="622300" y="4495800"/>
            <a:ext cx="20320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i="1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T</a:t>
            </a:r>
            <a:r>
              <a:rPr lang="zh-CN" sz="1295" b="1" baseline="-2200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1</a:t>
            </a:r>
            <a:r>
              <a:rPr lang="zh-CN" sz="1800" b="1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(</a:t>
            </a:r>
            <a:r>
              <a:rPr lang="zh-CN" sz="1800" b="1" i="1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W</a:t>
            </a:r>
            <a:r>
              <a:rPr lang="zh-CN" sz="1295" b="1" baseline="-2200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3</a:t>
            </a:r>
            <a:r>
              <a:rPr lang="zh-CN" sz="1800" b="1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)</a:t>
            </a:r>
          </a:p>
        </p:txBody>
      </p:sp>
      <p:sp>
        <p:nvSpPr>
          <p:cNvPr id="22" name="文本_D6 AB 76 FE"/>
          <p:cNvSpPr txBox="1"/>
          <p:nvPr/>
        </p:nvSpPr>
        <p:spPr>
          <a:xfrm>
            <a:off x="2705100" y="4495800"/>
            <a:ext cx="35306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D6 AB 76 FE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6100" y="4902200"/>
            <a:ext cx="5765800" cy="0"/>
          </a:xfrm>
          <a:prstGeom prst="line">
            <a:avLst/>
          </a:prstGeom>
          <a:ln w="11430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文本_W{4} = W{0} ⊕ T{1}(W{3})"/>
          <p:cNvSpPr txBox="1"/>
          <p:nvPr/>
        </p:nvSpPr>
        <p:spPr>
          <a:xfrm>
            <a:off x="622300" y="5069840"/>
            <a:ext cx="4647565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i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W</a:t>
            </a:r>
            <a:r>
              <a:rPr lang="zh-CN" sz="1800" b="1" baseline="-2200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4</a:t>
            </a:r>
            <a:r>
              <a:rPr lang="zh-CN" sz="1800" b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 = </a:t>
            </a:r>
            <a:r>
              <a:rPr lang="zh-CN" sz="1800" b="1" i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W</a:t>
            </a:r>
            <a:r>
              <a:rPr lang="zh-CN" sz="1800" b="1" baseline="-2200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0</a:t>
            </a:r>
            <a:r>
              <a:rPr lang="zh-CN" sz="1800" b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 ⊕ </a:t>
            </a:r>
            <a:r>
              <a:rPr lang="zh-CN" sz="1800" b="1" i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T</a:t>
            </a:r>
            <a:r>
              <a:rPr lang="zh-CN" sz="1800" b="1" baseline="-2200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1</a:t>
            </a:r>
            <a:r>
              <a:rPr lang="zh-CN" sz="1800" b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(</a:t>
            </a:r>
            <a:r>
              <a:rPr lang="zh-CN" sz="1800" b="1" i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W</a:t>
            </a:r>
            <a:r>
              <a:rPr lang="zh-CN" sz="1800" b="1" baseline="-2200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3</a:t>
            </a:r>
            <a:r>
              <a:rPr lang="zh-CN" sz="1800" b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)</a:t>
            </a:r>
            <a:r>
              <a:rPr lang="en-US" altLang="zh-CN" sz="1800" b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    </a:t>
            </a:r>
            <a:r>
              <a:rPr lang="zh-CN" sz="1800" b="1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sym typeface="+mn-ea"/>
              </a:rPr>
              <a:t>= </a:t>
            </a:r>
            <a:r>
              <a:rPr lang="en-US" altLang="zh-CN" sz="1800" b="1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sym typeface="+mn-ea"/>
              </a:rPr>
              <a:t>   </a:t>
            </a:r>
            <a:r>
              <a:rPr lang="zh-CN" sz="1800" b="1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sym typeface="+mn-ea"/>
              </a:rPr>
              <a:t>D6 AA 74 FD</a:t>
            </a:r>
            <a:endParaRPr lang="zh-CN" sz="1800" b="1">
              <a:solidFill>
                <a:srgbClr val="222222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6" name="文本_再逐字异或"/>
          <p:cNvSpPr txBox="1"/>
          <p:nvPr/>
        </p:nvSpPr>
        <p:spPr>
          <a:xfrm>
            <a:off x="6794500" y="2451100"/>
            <a:ext cx="4826000" cy="317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再逐字异或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794500" y="2819400"/>
            <a:ext cx="4851400" cy="0"/>
          </a:xfrm>
          <a:prstGeom prst="line">
            <a:avLst/>
          </a:prstGeom>
          <a:ln w="11430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文本_W{5} = W{1} ⊕ W{4} = D2 AF 7"/>
          <p:cNvSpPr txBox="1"/>
          <p:nvPr/>
        </p:nvSpPr>
        <p:spPr>
          <a:xfrm>
            <a:off x="6845300" y="3022600"/>
            <a:ext cx="4762500" cy="368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i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W</a:t>
            </a:r>
            <a:r>
              <a:rPr lang="zh-CN" sz="1295" b="0" baseline="-2200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5</a:t>
            </a:r>
            <a:r>
              <a:rPr lang="zh-CN" sz="1800" b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 = </a:t>
            </a:r>
            <a:r>
              <a:rPr lang="zh-CN" sz="1800" b="0" i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W</a:t>
            </a:r>
            <a:r>
              <a:rPr lang="zh-CN" sz="1295" b="0" baseline="-2200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1</a:t>
            </a:r>
            <a:r>
              <a:rPr lang="zh-CN" sz="1800" b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 ⊕ </a:t>
            </a:r>
            <a:r>
              <a:rPr lang="zh-CN" sz="1800" b="0" i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W</a:t>
            </a:r>
            <a:r>
              <a:rPr lang="zh-CN" sz="1295" b="0" baseline="-2200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4</a:t>
            </a:r>
            <a:r>
              <a:rPr lang="zh-CN" sz="1800" b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 = D2 AF 72 FA</a:t>
            </a:r>
          </a:p>
        </p:txBody>
      </p:sp>
      <p:sp>
        <p:nvSpPr>
          <p:cNvPr id="29" name="文本_W{6} = W{2} ⊕ W{5} = DA A6 7"/>
          <p:cNvSpPr txBox="1"/>
          <p:nvPr/>
        </p:nvSpPr>
        <p:spPr>
          <a:xfrm>
            <a:off x="6845300" y="3479800"/>
            <a:ext cx="4762500" cy="368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i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W</a:t>
            </a:r>
            <a:r>
              <a:rPr lang="zh-CN" sz="1295" b="0" baseline="-2200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6</a:t>
            </a:r>
            <a:r>
              <a:rPr lang="zh-CN" sz="1800" b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 = </a:t>
            </a:r>
            <a:r>
              <a:rPr lang="zh-CN" sz="1800" b="0" i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W</a:t>
            </a:r>
            <a:r>
              <a:rPr lang="zh-CN" sz="1295" b="0" baseline="-2200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2</a:t>
            </a:r>
            <a:r>
              <a:rPr lang="zh-CN" sz="1800" b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 ⊕ </a:t>
            </a:r>
            <a:r>
              <a:rPr lang="zh-CN" sz="1800" b="0" i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W</a:t>
            </a:r>
            <a:r>
              <a:rPr lang="zh-CN" sz="1295" b="0" baseline="-2200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5</a:t>
            </a:r>
            <a:r>
              <a:rPr lang="zh-CN" sz="1800" b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 = DA A6 78 F1</a:t>
            </a:r>
          </a:p>
        </p:txBody>
      </p:sp>
      <p:sp>
        <p:nvSpPr>
          <p:cNvPr id="30" name="文本_W{7} = W{3} ⊕ W{6} = D6 AB 7"/>
          <p:cNvSpPr txBox="1"/>
          <p:nvPr/>
        </p:nvSpPr>
        <p:spPr>
          <a:xfrm>
            <a:off x="6845300" y="3937000"/>
            <a:ext cx="4762500" cy="368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i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W</a:t>
            </a:r>
            <a:r>
              <a:rPr lang="zh-CN" sz="1295" b="0" baseline="-2200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7</a:t>
            </a:r>
            <a:r>
              <a:rPr lang="zh-CN" sz="1800" b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 = </a:t>
            </a:r>
            <a:r>
              <a:rPr lang="zh-CN" sz="1800" b="0" i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W</a:t>
            </a:r>
            <a:r>
              <a:rPr lang="zh-CN" sz="1295" b="0" baseline="-2200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3</a:t>
            </a:r>
            <a:r>
              <a:rPr lang="zh-CN" sz="1800" b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 ⊕ </a:t>
            </a:r>
            <a:r>
              <a:rPr lang="zh-CN" sz="1800" b="0" i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W</a:t>
            </a:r>
            <a:r>
              <a:rPr lang="zh-CN" sz="1295" b="0" baseline="-2200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6</a:t>
            </a:r>
            <a:r>
              <a:rPr lang="zh-CN" sz="1800" b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 = D6 AB 76 FE</a:t>
            </a:r>
          </a:p>
        </p:txBody>
      </p:sp>
      <p:sp>
        <p:nvSpPr>
          <p:cNvPr id="31" name="文本_rk{1} = (W{4}～W{7})：按列组成轮密钥矩"/>
          <p:cNvSpPr txBox="1"/>
          <p:nvPr/>
        </p:nvSpPr>
        <p:spPr>
          <a:xfrm>
            <a:off x="6794500" y="4495800"/>
            <a:ext cx="48514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 i="1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rk</a:t>
            </a:r>
            <a:r>
              <a:rPr lang="zh-CN" b="1" baseline="-2200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1</a:t>
            </a:r>
            <a:r>
              <a:rPr lang="zh-CN" b="1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 = (</a:t>
            </a:r>
            <a:r>
              <a:rPr lang="zh-CN" b="1" i="1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W</a:t>
            </a:r>
            <a:r>
              <a:rPr lang="zh-CN" b="1" baseline="-2200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4</a:t>
            </a:r>
            <a:r>
              <a:rPr lang="zh-CN" b="1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～</a:t>
            </a:r>
            <a:r>
              <a:rPr lang="zh-CN" b="1" i="1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W</a:t>
            </a:r>
            <a:r>
              <a:rPr lang="zh-CN" b="1" baseline="-2200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7</a:t>
            </a:r>
            <a:r>
              <a:rPr lang="zh-CN" b="1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)：按列组成轮密钥矩阵</a:t>
            </a:r>
          </a:p>
        </p:txBody>
      </p:sp>
      <p:graphicFrame>
        <p:nvGraphicFramePr>
          <p:cNvPr id="32" name="AES-128第一轮密钥字节矩阵"/>
          <p:cNvGraphicFramePr>
            <a:graphicFrameLocks noGrp="1"/>
          </p:cNvGraphicFramePr>
          <p:nvPr/>
        </p:nvGraphicFramePr>
        <p:xfrm>
          <a:off x="7035800" y="4914900"/>
          <a:ext cx="436880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448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1">
                          <a:solidFill>
                            <a:srgbClr val="222222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W</a:t>
                      </a:r>
                      <a:r>
                        <a:rPr lang="zh-CN" sz="1800" b="0" baseline="-22000">
                          <a:solidFill>
                            <a:srgbClr val="222222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4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1">
                          <a:solidFill>
                            <a:srgbClr val="222222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W</a:t>
                      </a:r>
                      <a:r>
                        <a:rPr lang="zh-CN" sz="1800" b="0" baseline="-22000">
                          <a:solidFill>
                            <a:srgbClr val="222222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5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1">
                          <a:solidFill>
                            <a:srgbClr val="222222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W</a:t>
                      </a:r>
                      <a:r>
                        <a:rPr lang="zh-CN" sz="1800" b="0" baseline="-22000">
                          <a:solidFill>
                            <a:srgbClr val="222222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6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1">
                          <a:solidFill>
                            <a:srgbClr val="222222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W</a:t>
                      </a:r>
                      <a:r>
                        <a:rPr lang="zh-CN" sz="1800" b="0" baseline="-22000">
                          <a:solidFill>
                            <a:srgbClr val="222222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7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D6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D2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DA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D6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AA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AF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A6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AB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74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72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78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76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FD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FA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F1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FE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3" name="文本_因此 rk{1} = D6AA74FDD2AF72FAD"/>
          <p:cNvSpPr txBox="1"/>
          <p:nvPr/>
        </p:nvSpPr>
        <p:spPr>
          <a:xfrm>
            <a:off x="546100" y="5732780"/>
            <a:ext cx="60833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因此 </a:t>
            </a:r>
            <a:r>
              <a:rPr lang="zh-CN" b="0" i="1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rk</a:t>
            </a:r>
            <a:r>
              <a:rPr lang="zh-CN" b="0" baseline="-2200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1</a:t>
            </a:r>
            <a:r>
              <a:rPr lang="zh-CN" b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 = D6AA74FDD2AF72FADAA678F1D6AB76FE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zh-CN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6739" y="219050"/>
            <a:ext cx="4133088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典型分组密码</a:t>
            </a:r>
          </a:p>
        </p:txBody>
      </p:sp>
      <p:cxnSp>
        <p:nvCxnSpPr>
          <p:cNvPr id="4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页标题"/>
          <p:cNvSpPr txBox="1"/>
          <p:nvPr/>
        </p:nvSpPr>
        <p:spPr>
          <a:xfrm>
            <a:off x="502920" y="827532"/>
            <a:ext cx="11155680" cy="3931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zh-CN" altLang="en-US" sz="2200" b="1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SM4 的发展与应用</a:t>
            </a:r>
            <a:endParaRPr lang="zh-CN" altLang="en-US" sz="2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6" name="文本_SM4 早期面向无线局域网安全应用，公开时称 SMS4。"/>
          <p:cNvSpPr txBox="1"/>
          <p:nvPr/>
        </p:nvSpPr>
        <p:spPr>
          <a:xfrm>
            <a:off x="685800" y="1422400"/>
            <a:ext cx="10820400" cy="736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SM4 早期面向无线局域网安全应用，公开时称 SMS4。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此后，算法逐步形成行业、国家和国际层面的标准规范。</a:t>
            </a:r>
          </a:p>
        </p:txBody>
      </p:sp>
      <p:cxnSp>
        <p:nvCxnSpPr>
          <p:cNvPr id="7" name="Connector 6"/>
          <p:cNvCxnSpPr/>
          <p:nvPr>
            <p:custDataLst>
              <p:tags r:id="rId1"/>
            </p:custDataLst>
          </p:nvPr>
        </p:nvCxnSpPr>
        <p:spPr>
          <a:xfrm>
            <a:off x="1143000" y="2730500"/>
            <a:ext cx="9906000" cy="0"/>
          </a:xfrm>
          <a:prstGeom prst="line">
            <a:avLst/>
          </a:prstGeom>
          <a:ln w="25400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_2006"/>
          <p:cNvSpPr txBox="1"/>
          <p:nvPr>
            <p:custDataLst>
              <p:tags r:id="rId2"/>
            </p:custDataLst>
          </p:nvPr>
        </p:nvSpPr>
        <p:spPr>
          <a:xfrm>
            <a:off x="685800" y="2197100"/>
            <a:ext cx="2590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2006</a:t>
            </a:r>
          </a:p>
        </p:txBody>
      </p:sp>
      <p:sp>
        <p:nvSpPr>
          <p:cNvPr id="9" name="Oval 8"/>
          <p:cNvSpPr/>
          <p:nvPr>
            <p:custDataLst>
              <p:tags r:id="rId3"/>
            </p:custDataLst>
          </p:nvPr>
        </p:nvSpPr>
        <p:spPr>
          <a:xfrm>
            <a:off x="1924050" y="2673350"/>
            <a:ext cx="114300" cy="1143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图形_背景"/>
          <p:cNvSpPr/>
          <p:nvPr>
            <p:custDataLst>
              <p:tags r:id="rId4"/>
            </p:custDataLst>
          </p:nvPr>
        </p:nvSpPr>
        <p:spPr>
          <a:xfrm>
            <a:off x="685800" y="3009900"/>
            <a:ext cx="2590800" cy="1701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文本_公开算法文本"/>
          <p:cNvSpPr txBox="1"/>
          <p:nvPr>
            <p:custDataLst>
              <p:tags r:id="rId5"/>
            </p:custDataLst>
          </p:nvPr>
        </p:nvSpPr>
        <p:spPr>
          <a:xfrm>
            <a:off x="787400" y="3187700"/>
            <a:ext cx="23876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公开算法文本</a:t>
            </a:r>
          </a:p>
        </p:txBody>
      </p:sp>
      <p:sp>
        <p:nvSpPr>
          <p:cNvPr id="12" name="文本_公布 SMS4 算法， 便于公开研究和实现。"/>
          <p:cNvSpPr txBox="1"/>
          <p:nvPr>
            <p:custDataLst>
              <p:tags r:id="rId6"/>
            </p:custDataLst>
          </p:nvPr>
        </p:nvSpPr>
        <p:spPr>
          <a:xfrm>
            <a:off x="812800" y="3721100"/>
            <a:ext cx="233680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公布 SMS4 算法，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便于公开研究和实现。</a:t>
            </a:r>
          </a:p>
        </p:txBody>
      </p:sp>
      <p:sp>
        <p:nvSpPr>
          <p:cNvPr id="13" name="文本_2012"/>
          <p:cNvSpPr txBox="1"/>
          <p:nvPr>
            <p:custDataLst>
              <p:tags r:id="rId7"/>
            </p:custDataLst>
          </p:nvPr>
        </p:nvSpPr>
        <p:spPr>
          <a:xfrm>
            <a:off x="3429000" y="2197100"/>
            <a:ext cx="2590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2012</a:t>
            </a:r>
          </a:p>
        </p:txBody>
      </p:sp>
      <p:sp>
        <p:nvSpPr>
          <p:cNvPr id="14" name="Oval 13"/>
          <p:cNvSpPr/>
          <p:nvPr>
            <p:custDataLst>
              <p:tags r:id="rId8"/>
            </p:custDataLst>
          </p:nvPr>
        </p:nvSpPr>
        <p:spPr>
          <a:xfrm>
            <a:off x="4667250" y="2673350"/>
            <a:ext cx="114300" cy="1143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图形_背景"/>
          <p:cNvSpPr/>
          <p:nvPr>
            <p:custDataLst>
              <p:tags r:id="rId9"/>
            </p:custDataLst>
          </p:nvPr>
        </p:nvSpPr>
        <p:spPr>
          <a:xfrm>
            <a:off x="3429000" y="3009900"/>
            <a:ext cx="2590800" cy="1701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文本_形成行业标准"/>
          <p:cNvSpPr txBox="1"/>
          <p:nvPr>
            <p:custDataLst>
              <p:tags r:id="rId10"/>
            </p:custDataLst>
          </p:nvPr>
        </p:nvSpPr>
        <p:spPr>
          <a:xfrm>
            <a:off x="3530600" y="3187700"/>
            <a:ext cx="23876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形成行业标准</a:t>
            </a:r>
          </a:p>
        </p:txBody>
      </p:sp>
      <p:sp>
        <p:nvSpPr>
          <p:cNvPr id="17" name="文本_GM/T 0002—2012 《SM4 分组密码算法》"/>
          <p:cNvSpPr txBox="1"/>
          <p:nvPr>
            <p:custDataLst>
              <p:tags r:id="rId11"/>
            </p:custDataLst>
          </p:nvPr>
        </p:nvSpPr>
        <p:spPr>
          <a:xfrm>
            <a:off x="3556000" y="3721100"/>
            <a:ext cx="233680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GM/T 0002—2012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《SM4 分组密码算法》</a:t>
            </a:r>
          </a:p>
        </p:txBody>
      </p:sp>
      <p:sp>
        <p:nvSpPr>
          <p:cNvPr id="18" name="文本_2016"/>
          <p:cNvSpPr txBox="1"/>
          <p:nvPr>
            <p:custDataLst>
              <p:tags r:id="rId12"/>
            </p:custDataLst>
          </p:nvPr>
        </p:nvSpPr>
        <p:spPr>
          <a:xfrm>
            <a:off x="6172200" y="2197100"/>
            <a:ext cx="2590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2016</a:t>
            </a:r>
          </a:p>
        </p:txBody>
      </p:sp>
      <p:sp>
        <p:nvSpPr>
          <p:cNvPr id="19" name="Oval 18"/>
          <p:cNvSpPr/>
          <p:nvPr>
            <p:custDataLst>
              <p:tags r:id="rId13"/>
            </p:custDataLst>
          </p:nvPr>
        </p:nvSpPr>
        <p:spPr>
          <a:xfrm>
            <a:off x="7410450" y="2673350"/>
            <a:ext cx="114300" cy="1143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图形_背景"/>
          <p:cNvSpPr/>
          <p:nvPr>
            <p:custDataLst>
              <p:tags r:id="rId14"/>
            </p:custDataLst>
          </p:nvPr>
        </p:nvSpPr>
        <p:spPr>
          <a:xfrm>
            <a:off x="6172200" y="3009900"/>
            <a:ext cx="2590800" cy="1701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文本_发布国家标准"/>
          <p:cNvSpPr txBox="1"/>
          <p:nvPr>
            <p:custDataLst>
              <p:tags r:id="rId15"/>
            </p:custDataLst>
          </p:nvPr>
        </p:nvSpPr>
        <p:spPr>
          <a:xfrm>
            <a:off x="6273800" y="3187700"/>
            <a:ext cx="23876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发布国家标准</a:t>
            </a:r>
          </a:p>
        </p:txBody>
      </p:sp>
      <p:sp>
        <p:nvSpPr>
          <p:cNvPr id="22" name="文本_GB/T 32907—2016 2017 年 3 月实施"/>
          <p:cNvSpPr txBox="1"/>
          <p:nvPr>
            <p:custDataLst>
              <p:tags r:id="rId16"/>
            </p:custDataLst>
          </p:nvPr>
        </p:nvSpPr>
        <p:spPr>
          <a:xfrm>
            <a:off x="6299200" y="3721100"/>
            <a:ext cx="233680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GB/T 32907—2016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2017 年 3 月实施。</a:t>
            </a:r>
          </a:p>
        </p:txBody>
      </p:sp>
      <p:sp>
        <p:nvSpPr>
          <p:cNvPr id="23" name="文本_2021"/>
          <p:cNvSpPr txBox="1"/>
          <p:nvPr>
            <p:custDataLst>
              <p:tags r:id="rId17"/>
            </p:custDataLst>
          </p:nvPr>
        </p:nvSpPr>
        <p:spPr>
          <a:xfrm>
            <a:off x="8915400" y="2197100"/>
            <a:ext cx="2590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2021</a:t>
            </a:r>
          </a:p>
        </p:txBody>
      </p:sp>
      <p:sp>
        <p:nvSpPr>
          <p:cNvPr id="24" name="Oval 23"/>
          <p:cNvSpPr/>
          <p:nvPr>
            <p:custDataLst>
              <p:tags r:id="rId18"/>
            </p:custDataLst>
          </p:nvPr>
        </p:nvSpPr>
        <p:spPr>
          <a:xfrm>
            <a:off x="10153650" y="2673350"/>
            <a:ext cx="114300" cy="1143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图形_背景"/>
          <p:cNvSpPr/>
          <p:nvPr>
            <p:custDataLst>
              <p:tags r:id="rId19"/>
            </p:custDataLst>
          </p:nvPr>
        </p:nvSpPr>
        <p:spPr>
          <a:xfrm>
            <a:off x="8915400" y="3009900"/>
            <a:ext cx="2590800" cy="1701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文本_纳入国际标准"/>
          <p:cNvSpPr txBox="1"/>
          <p:nvPr>
            <p:custDataLst>
              <p:tags r:id="rId20"/>
            </p:custDataLst>
          </p:nvPr>
        </p:nvSpPr>
        <p:spPr>
          <a:xfrm>
            <a:off x="9017000" y="3187700"/>
            <a:ext cx="23876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纳入国际标准</a:t>
            </a:r>
          </a:p>
        </p:txBody>
      </p:sp>
      <p:sp>
        <p:nvSpPr>
          <p:cNvPr id="27" name="文本_作为 SM4 增补件纳入 ISO/IEC 18033-3"/>
          <p:cNvSpPr txBox="1"/>
          <p:nvPr>
            <p:custDataLst>
              <p:tags r:id="rId21"/>
            </p:custDataLst>
          </p:nvPr>
        </p:nvSpPr>
        <p:spPr>
          <a:xfrm>
            <a:off x="9042400" y="3721100"/>
            <a:ext cx="233680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作为 SM4 增补件纳入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ISO/IEC 18033-3。</a:t>
            </a:r>
          </a:p>
        </p:txBody>
      </p:sp>
      <p:sp>
        <p:nvSpPr>
          <p:cNvPr id="28" name="图形_背景"/>
          <p:cNvSpPr/>
          <p:nvPr/>
        </p:nvSpPr>
        <p:spPr>
          <a:xfrm>
            <a:off x="685800" y="5593080"/>
            <a:ext cx="10820400" cy="800100"/>
          </a:xfrm>
          <a:prstGeom prst="rect">
            <a:avLst/>
          </a:prstGeom>
          <a:solidFill>
            <a:srgbClr val="FA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配套使用：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SM4 常与 SM2（公钥密码）、SM3（杂凑算法）一起使用：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SM4 负责大量数据的加密，SM2 负责密钥交换和数字签名，SM3 负责完整性校验。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1" name="文本_2006 年指算法公开；国家标准为推荐性标准，具体使用要"/>
          <p:cNvSpPr txBox="1"/>
          <p:nvPr/>
        </p:nvSpPr>
        <p:spPr>
          <a:xfrm>
            <a:off x="685800" y="4853940"/>
            <a:ext cx="10820400" cy="73723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应用：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SM4 是我国商用密码体系中的分组密码算法，广泛用于无线局域网、金融支付、移动通信、政务和云服务等领域的数据加密。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zh-CN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6739" y="219050"/>
            <a:ext cx="4133088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典型分组密码</a:t>
            </a:r>
          </a:p>
        </p:txBody>
      </p:sp>
      <p:cxnSp>
        <p:nvCxnSpPr>
          <p:cNvPr id="4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页标题"/>
          <p:cNvSpPr txBox="1"/>
          <p:nvPr/>
        </p:nvSpPr>
        <p:spPr>
          <a:xfrm>
            <a:off x="502920" y="827532"/>
            <a:ext cx="11155680" cy="3931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zh-CN" altLang="en-US" sz="2200" b="1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SM4 算法概述</a:t>
            </a:r>
            <a:endParaRPr lang="zh-CN" altLang="en-US" sz="2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6" name="文本_SM4 是对称分组密码：在主密钥控制下，将一个 128 "/>
          <p:cNvSpPr txBox="1"/>
          <p:nvPr/>
        </p:nvSpPr>
        <p:spPr>
          <a:xfrm>
            <a:off x="685800" y="1384300"/>
            <a:ext cx="10820400" cy="698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SM4</a:t>
            </a:r>
            <a:r>
              <a:rPr lang="zh-CN" b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是对称分组密码：在主密钥控制下，将一个 128 bit 明文分组变换为一个 128 bit 密文分组。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每次用一个密钥，加密一个固定长度的明文分组。</a:t>
            </a:r>
            <a:endParaRPr lang="zh-CN" b="0">
              <a:solidFill>
                <a:srgbClr val="40404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7" name="图形_背景"/>
          <p:cNvSpPr/>
          <p:nvPr/>
        </p:nvSpPr>
        <p:spPr>
          <a:xfrm>
            <a:off x="685800" y="2298700"/>
            <a:ext cx="3403600" cy="8509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文本_分组长度"/>
          <p:cNvSpPr txBox="1"/>
          <p:nvPr/>
        </p:nvSpPr>
        <p:spPr>
          <a:xfrm>
            <a:off x="800100" y="2400300"/>
            <a:ext cx="3175000" cy="317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分组长度</a:t>
            </a:r>
          </a:p>
        </p:txBody>
      </p:sp>
      <p:sp>
        <p:nvSpPr>
          <p:cNvPr id="9" name="文本_128 bit"/>
          <p:cNvSpPr txBox="1"/>
          <p:nvPr/>
        </p:nvSpPr>
        <p:spPr>
          <a:xfrm>
            <a:off x="800100" y="2743200"/>
            <a:ext cx="3175000" cy="368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128 bit</a:t>
            </a:r>
          </a:p>
        </p:txBody>
      </p:sp>
      <p:sp>
        <p:nvSpPr>
          <p:cNvPr id="10" name="图形_背景"/>
          <p:cNvSpPr/>
          <p:nvPr/>
        </p:nvSpPr>
        <p:spPr>
          <a:xfrm>
            <a:off x="4394200" y="2298700"/>
            <a:ext cx="3403600" cy="8509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文本_主密钥长度"/>
          <p:cNvSpPr txBox="1"/>
          <p:nvPr/>
        </p:nvSpPr>
        <p:spPr>
          <a:xfrm>
            <a:off x="4508500" y="2400300"/>
            <a:ext cx="3175000" cy="317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主密钥长度</a:t>
            </a:r>
          </a:p>
        </p:txBody>
      </p:sp>
      <p:sp>
        <p:nvSpPr>
          <p:cNvPr id="12" name="文本_128 bit"/>
          <p:cNvSpPr txBox="1"/>
          <p:nvPr/>
        </p:nvSpPr>
        <p:spPr>
          <a:xfrm>
            <a:off x="4508500" y="2743200"/>
            <a:ext cx="3175000" cy="368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128 bit</a:t>
            </a:r>
          </a:p>
        </p:txBody>
      </p:sp>
      <p:sp>
        <p:nvSpPr>
          <p:cNvPr id="13" name="图形_背景"/>
          <p:cNvSpPr/>
          <p:nvPr/>
        </p:nvSpPr>
        <p:spPr>
          <a:xfrm>
            <a:off x="8102600" y="2298700"/>
            <a:ext cx="3403600" cy="8509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文本_迭代轮数"/>
          <p:cNvSpPr txBox="1"/>
          <p:nvPr/>
        </p:nvSpPr>
        <p:spPr>
          <a:xfrm>
            <a:off x="8216900" y="2400300"/>
            <a:ext cx="3175000" cy="317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迭代轮数</a:t>
            </a:r>
          </a:p>
        </p:txBody>
      </p:sp>
      <p:sp>
        <p:nvSpPr>
          <p:cNvPr id="15" name="文本_32 轮"/>
          <p:cNvSpPr txBox="1"/>
          <p:nvPr/>
        </p:nvSpPr>
        <p:spPr>
          <a:xfrm>
            <a:off x="8216900" y="2743200"/>
            <a:ext cx="3175000" cy="368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</a:rPr>
              <a:t>32 轮</a:t>
            </a:r>
          </a:p>
        </p:txBody>
      </p:sp>
      <p:sp>
        <p:nvSpPr>
          <p:cNvPr id="16" name="文本_字（word）：在 SM4 中，指长度为 32 bit "/>
          <p:cNvSpPr txBox="1"/>
          <p:nvPr/>
        </p:nvSpPr>
        <p:spPr>
          <a:xfrm>
            <a:off x="685800" y="3429000"/>
            <a:ext cx="10820400" cy="393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字（word）：</a:t>
            </a:r>
            <a:r>
              <a:rPr 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在 SM4 中，指长度为 32 bit 的比特串。</a:t>
            </a:r>
          </a:p>
        </p:txBody>
      </p:sp>
      <p:sp>
        <p:nvSpPr>
          <p:cNvPr id="17" name="图形_X{0}  ·  32 bit"/>
          <p:cNvSpPr/>
          <p:nvPr/>
        </p:nvSpPr>
        <p:spPr>
          <a:xfrm>
            <a:off x="1219200" y="4038600"/>
            <a:ext cx="2438400" cy="647700"/>
          </a:xfrm>
          <a:prstGeom prst="rect">
            <a:avLst/>
          </a:prstGeom>
          <a:solidFill>
            <a:srgbClr val="FAF1F1"/>
          </a:solidFill>
          <a:ln w="1016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0" rIns="38100" bIns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i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X</a:t>
            </a:r>
            <a:r>
              <a:rPr lang="zh-CN" sz="1800" b="0" baseline="-2200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0</a:t>
            </a:r>
            <a:r>
              <a:rPr lang="zh-CN" sz="1800" b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  ·  32 bit</a:t>
            </a:r>
          </a:p>
        </p:txBody>
      </p:sp>
      <p:sp>
        <p:nvSpPr>
          <p:cNvPr id="18" name="图形_X{1}  ·  32 bit"/>
          <p:cNvSpPr/>
          <p:nvPr/>
        </p:nvSpPr>
        <p:spPr>
          <a:xfrm>
            <a:off x="3657600" y="4038600"/>
            <a:ext cx="2438400" cy="647700"/>
          </a:xfrm>
          <a:prstGeom prst="rect">
            <a:avLst/>
          </a:prstGeom>
          <a:solidFill>
            <a:srgbClr val="FAF1F1"/>
          </a:solidFill>
          <a:ln w="1016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0" rIns="38100" bIns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i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X</a:t>
            </a:r>
            <a:r>
              <a:rPr lang="zh-CN" sz="1800" b="0" baseline="-2200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1</a:t>
            </a:r>
            <a:r>
              <a:rPr lang="zh-CN" sz="1800" b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  ·  32 bit</a:t>
            </a:r>
          </a:p>
        </p:txBody>
      </p:sp>
      <p:sp>
        <p:nvSpPr>
          <p:cNvPr id="19" name="图形_X{2}  ·  32 bit"/>
          <p:cNvSpPr/>
          <p:nvPr/>
        </p:nvSpPr>
        <p:spPr>
          <a:xfrm>
            <a:off x="6096000" y="4038600"/>
            <a:ext cx="2438400" cy="647700"/>
          </a:xfrm>
          <a:prstGeom prst="rect">
            <a:avLst/>
          </a:prstGeom>
          <a:solidFill>
            <a:srgbClr val="FAF1F1"/>
          </a:solidFill>
          <a:ln w="1016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0" rIns="38100" bIns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i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X</a:t>
            </a:r>
            <a:r>
              <a:rPr lang="zh-CN" sz="1800" b="0" baseline="-2200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2</a:t>
            </a:r>
            <a:r>
              <a:rPr lang="zh-CN" sz="1800" b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  ·  32 bit</a:t>
            </a:r>
          </a:p>
        </p:txBody>
      </p:sp>
      <p:sp>
        <p:nvSpPr>
          <p:cNvPr id="20" name="图形_X{3}  ·  32 bit"/>
          <p:cNvSpPr/>
          <p:nvPr/>
        </p:nvSpPr>
        <p:spPr>
          <a:xfrm>
            <a:off x="8534400" y="4038600"/>
            <a:ext cx="2438400" cy="647700"/>
          </a:xfrm>
          <a:prstGeom prst="rect">
            <a:avLst/>
          </a:prstGeom>
          <a:solidFill>
            <a:srgbClr val="FAF1F1"/>
          </a:solidFill>
          <a:ln w="1016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0" rIns="38100" bIns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i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X</a:t>
            </a:r>
            <a:r>
              <a:rPr lang="zh-CN" sz="1800" b="0" baseline="-2200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3</a:t>
            </a:r>
            <a:r>
              <a:rPr lang="zh-CN" sz="1800" b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  ·  32 bit</a:t>
            </a:r>
          </a:p>
        </p:txBody>
      </p:sp>
      <p:sp>
        <p:nvSpPr>
          <p:cNvPr id="21" name="文本_明文分组：X = X{0} ‖ X{1} ‖ X{2} "/>
          <p:cNvSpPr txBox="1"/>
          <p:nvPr/>
        </p:nvSpPr>
        <p:spPr>
          <a:xfrm>
            <a:off x="685800" y="4889500"/>
            <a:ext cx="10820400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明文分组：</a:t>
            </a:r>
            <a:r>
              <a:rPr lang="zh-CN" sz="1800" b="0" i="1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X</a:t>
            </a:r>
            <a:r>
              <a:rPr lang="zh-CN" sz="1800" b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 = </a:t>
            </a:r>
            <a:r>
              <a:rPr lang="zh-CN" sz="1800" b="0" i="1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X</a:t>
            </a:r>
            <a:r>
              <a:rPr lang="zh-CN" sz="1800" b="0" baseline="-2200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0</a:t>
            </a:r>
            <a:r>
              <a:rPr lang="zh-CN" sz="1800" b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 ‖ </a:t>
            </a:r>
            <a:r>
              <a:rPr lang="zh-CN" sz="1800" b="0" i="1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X</a:t>
            </a:r>
            <a:r>
              <a:rPr lang="zh-CN" sz="1800" b="0" baseline="-2200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1</a:t>
            </a:r>
            <a:r>
              <a:rPr lang="zh-CN" sz="1800" b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 ‖ </a:t>
            </a:r>
            <a:r>
              <a:rPr lang="zh-CN" sz="1800" b="0" i="1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X</a:t>
            </a:r>
            <a:r>
              <a:rPr lang="zh-CN" sz="1800" b="0" baseline="-2200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2</a:t>
            </a:r>
            <a:r>
              <a:rPr lang="zh-CN" sz="1800" b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 ‖ </a:t>
            </a:r>
            <a:r>
              <a:rPr lang="zh-CN" sz="1800" b="0" i="1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X</a:t>
            </a:r>
            <a:r>
              <a:rPr lang="zh-CN" sz="1800" b="0" baseline="-2200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3</a:t>
            </a:r>
            <a:r>
              <a:rPr lang="zh-CN" sz="1800" b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，‖ 表示按顺序拼接。</a:t>
            </a:r>
          </a:p>
        </p:txBody>
      </p:sp>
      <p:sp>
        <p:nvSpPr>
          <p:cNvPr id="22" name="图形_背景"/>
          <p:cNvSpPr/>
          <p:nvPr/>
        </p:nvSpPr>
        <p:spPr>
          <a:xfrm>
            <a:off x="685800" y="5524500"/>
            <a:ext cx="10820400" cy="787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文本_1 word = 32 bit = 4 byte；1 个"/>
          <p:cNvSpPr txBox="1"/>
          <p:nvPr/>
        </p:nvSpPr>
        <p:spPr>
          <a:xfrm>
            <a:off x="850900" y="5638800"/>
            <a:ext cx="10490200" cy="660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1 word = 32 bit = 4 byte；1 个分组 = 4 words = 16 bytes。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主密钥也分成四个字：</a:t>
            </a:r>
            <a:r>
              <a:rPr lang="zh-CN" b="0" i="1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MK</a:t>
            </a:r>
            <a:r>
              <a:rPr lang="zh-CN" b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 = </a:t>
            </a:r>
            <a:r>
              <a:rPr lang="zh-CN" b="0" i="1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MK</a:t>
            </a:r>
            <a:r>
              <a:rPr lang="zh-CN" b="0" baseline="-2200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0</a:t>
            </a:r>
            <a:r>
              <a:rPr lang="zh-CN" b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 ‖ </a:t>
            </a:r>
            <a:r>
              <a:rPr lang="zh-CN" b="0" i="1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MK</a:t>
            </a:r>
            <a:r>
              <a:rPr lang="zh-CN" b="0" baseline="-2200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1</a:t>
            </a:r>
            <a:r>
              <a:rPr lang="zh-CN" b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 ‖ </a:t>
            </a:r>
            <a:r>
              <a:rPr lang="zh-CN" b="0" i="1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MK</a:t>
            </a:r>
            <a:r>
              <a:rPr lang="zh-CN" b="0" baseline="-2200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2</a:t>
            </a:r>
            <a:r>
              <a:rPr lang="zh-CN" b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 ‖ </a:t>
            </a:r>
            <a:r>
              <a:rPr lang="zh-CN" b="0" i="1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MK</a:t>
            </a:r>
            <a:r>
              <a:rPr lang="zh-CN" b="0" baseline="-2200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3</a:t>
            </a:r>
            <a:r>
              <a:rPr lang="zh-CN" b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zh-CN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6739" y="219050"/>
            <a:ext cx="4133088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典型分组密码</a:t>
            </a:r>
          </a:p>
        </p:txBody>
      </p:sp>
      <p:cxnSp>
        <p:nvCxnSpPr>
          <p:cNvPr id="4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页标题"/>
          <p:cNvSpPr txBox="1"/>
          <p:nvPr/>
        </p:nvSpPr>
        <p:spPr>
          <a:xfrm>
            <a:off x="502920" y="827532"/>
            <a:ext cx="11155680" cy="3931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zh-CN" altLang="en-US" sz="2200" b="1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SM4 的整体结构：从 Feistel 到四分支广义 Feistel</a:t>
            </a:r>
            <a:endParaRPr lang="zh-CN" altLang="en-US" sz="2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6" name="图形_底色"/>
          <p:cNvSpPr/>
          <p:nvPr/>
        </p:nvSpPr>
        <p:spPr>
          <a:xfrm>
            <a:off x="594360" y="1353312"/>
            <a:ext cx="5440680" cy="3886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marL="0" indent="0" algn="ctr">
              <a:buNone/>
            </a:pP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7" name="图形_底色"/>
          <p:cNvSpPr/>
          <p:nvPr/>
        </p:nvSpPr>
        <p:spPr>
          <a:xfrm>
            <a:off x="6172200" y="1353312"/>
            <a:ext cx="5440680" cy="3886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marL="0" indent="0" algn="ctr">
              <a:buNone/>
            </a:pP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512064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buNone/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DES：两分支 Feistel（每轮改写一半）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355080" y="1417320"/>
            <a:ext cx="512064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buNone/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SM4：四分支广义 Feistel（每轮改写一个字）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4069080" y="2386584"/>
            <a:ext cx="0" cy="1225296"/>
          </a:xfrm>
          <a:prstGeom prst="line">
            <a:avLst/>
          </a:prstGeom>
          <a:ln w="15875">
            <a:solidFill>
              <a:srgbClr val="404040"/>
            </a:solidFill>
          </a:ln>
        </p:spPr>
      </p:cxnSp>
      <p:cxnSp>
        <p:nvCxnSpPr>
          <p:cNvPr id="11" name="Connector 10"/>
          <p:cNvCxnSpPr/>
          <p:nvPr/>
        </p:nvCxnSpPr>
        <p:spPr>
          <a:xfrm flipH="1">
            <a:off x="1783080" y="3611880"/>
            <a:ext cx="2286000" cy="54864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cxnSp>
        <p:nvCxnSpPr>
          <p:cNvPr id="12" name="Connector 11"/>
          <p:cNvCxnSpPr/>
          <p:nvPr/>
        </p:nvCxnSpPr>
        <p:spPr>
          <a:xfrm>
            <a:off x="1783080" y="2386584"/>
            <a:ext cx="0" cy="521208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cxnSp>
        <p:nvCxnSpPr>
          <p:cNvPr id="13" name="Connector 12"/>
          <p:cNvCxnSpPr/>
          <p:nvPr/>
        </p:nvCxnSpPr>
        <p:spPr>
          <a:xfrm>
            <a:off x="1783080" y="3200400"/>
            <a:ext cx="0" cy="411480"/>
          </a:xfrm>
          <a:prstGeom prst="line">
            <a:avLst/>
          </a:prstGeom>
          <a:ln w="15875">
            <a:solidFill>
              <a:srgbClr val="404040"/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1783080" y="3611880"/>
            <a:ext cx="2286000" cy="54864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sp>
        <p:nvSpPr>
          <p:cNvPr id="15" name="Rectangle 14"/>
          <p:cNvSpPr/>
          <p:nvPr/>
        </p:nvSpPr>
        <p:spPr>
          <a:xfrm>
            <a:off x="960120" y="1965960"/>
            <a:ext cx="1645920" cy="420624"/>
          </a:xfrm>
          <a:prstGeom prst="rect">
            <a:avLst/>
          </a:prstGeom>
          <a:solidFill>
            <a:srgbClr val="F3DFDF"/>
          </a:solidFill>
          <a:ln w="15875">
            <a:solidFill>
              <a:srgbClr val="C0000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0" i="1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L</a:t>
            </a:r>
            <a:r>
              <a:rPr lang="zh-CN" altLang="en-US" sz="1800" b="0" i="1" baseline="-25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baseline="-25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−1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246120" y="1965960"/>
            <a:ext cx="16459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0" i="1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R</a:t>
            </a:r>
            <a:r>
              <a:rPr lang="zh-CN" altLang="en-US" sz="1800" b="0" i="1" baseline="-25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baseline="-25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−1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566160" y="2852928"/>
            <a:ext cx="1005840" cy="402336"/>
          </a:xfrm>
          <a:prstGeom prst="rect">
            <a:avLst/>
          </a:prstGeom>
          <a:solidFill>
            <a:srgbClr val="FBF1F1"/>
          </a:solidFill>
          <a:ln w="15875">
            <a:solidFill>
              <a:srgbClr val="C00000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F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 flipH="1">
            <a:off x="1929384" y="3054096"/>
            <a:ext cx="1636776" cy="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sp>
        <p:nvSpPr>
          <p:cNvPr id="19" name="Or 18"/>
          <p:cNvSpPr/>
          <p:nvPr/>
        </p:nvSpPr>
        <p:spPr>
          <a:xfrm>
            <a:off x="1636776" y="2907792"/>
            <a:ext cx="292608" cy="292608"/>
          </a:xfrm>
          <a:prstGeom prst="flowChartOr">
            <a:avLst/>
          </a:prstGeom>
          <a:solidFill>
            <a:srgbClr val="FFFFFF"/>
          </a:solidFill>
          <a:ln w="15875">
            <a:solidFill>
              <a:srgbClr val="404040"/>
            </a:solidFill>
          </a:ln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endParaRPr lang="zh-CN" altLang="en-US" sz="10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20" name="Connector 19"/>
          <p:cNvCxnSpPr/>
          <p:nvPr/>
        </p:nvCxnSpPr>
        <p:spPr>
          <a:xfrm flipH="1">
            <a:off x="4572000" y="3054096"/>
            <a:ext cx="1143000" cy="0"/>
          </a:xfrm>
          <a:prstGeom prst="line">
            <a:avLst/>
          </a:prstGeom>
          <a:ln w="15875">
            <a:solidFill>
              <a:srgbClr val="C00000"/>
            </a:solidFill>
            <a:tailEnd type="triangle" w="med" len="med"/>
          </a:ln>
        </p:spPr>
      </p:cxnSp>
      <p:sp>
        <p:nvSpPr>
          <p:cNvPr id="21" name="TextBox 20"/>
          <p:cNvSpPr txBox="1"/>
          <p:nvPr/>
        </p:nvSpPr>
        <p:spPr>
          <a:xfrm>
            <a:off x="4983480" y="2670048"/>
            <a:ext cx="73152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ctr">
              <a:buNone/>
            </a:pPr>
            <a:r>
              <a:rPr lang="zh-CN" altLang="en-US" sz="1800" b="0" i="1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K</a:t>
            </a:r>
            <a:r>
              <a:rPr lang="zh-CN" altLang="en-US" sz="1800" b="0" i="1" baseline="-2500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960120" y="4160520"/>
            <a:ext cx="16459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0" i="1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L</a:t>
            </a:r>
            <a:r>
              <a:rPr lang="zh-CN" altLang="en-US" sz="1800" b="0" i="1" baseline="-25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246120" y="4160520"/>
            <a:ext cx="1645920" cy="420624"/>
          </a:xfrm>
          <a:prstGeom prst="rect">
            <a:avLst/>
          </a:prstGeom>
          <a:solidFill>
            <a:srgbClr val="F3DFDF"/>
          </a:solidFill>
          <a:ln w="15875">
            <a:solidFill>
              <a:srgbClr val="C0000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0" i="1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R</a:t>
            </a:r>
            <a:r>
              <a:rPr lang="zh-CN" altLang="en-US" sz="1800" b="0" i="1" baseline="-25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77240" y="4681728"/>
            <a:ext cx="512064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ctr">
              <a:buNone/>
            </a:pP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R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=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L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−1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⊕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F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(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R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−1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K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)，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L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=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R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−1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8302752" y="2386584"/>
            <a:ext cx="0" cy="1225296"/>
          </a:xfrm>
          <a:prstGeom prst="line">
            <a:avLst/>
          </a:prstGeom>
          <a:ln w="15875">
            <a:solidFill>
              <a:srgbClr val="404040"/>
            </a:solidFill>
          </a:ln>
        </p:spPr>
      </p:cxnSp>
      <p:cxnSp>
        <p:nvCxnSpPr>
          <p:cNvPr id="26" name="Connector 25"/>
          <p:cNvCxnSpPr/>
          <p:nvPr/>
        </p:nvCxnSpPr>
        <p:spPr>
          <a:xfrm flipH="1">
            <a:off x="7086600" y="3611880"/>
            <a:ext cx="1216152" cy="54864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cxnSp>
        <p:nvCxnSpPr>
          <p:cNvPr id="27" name="Connector 26"/>
          <p:cNvCxnSpPr/>
          <p:nvPr/>
        </p:nvCxnSpPr>
        <p:spPr>
          <a:xfrm>
            <a:off x="9518904" y="2386584"/>
            <a:ext cx="0" cy="1225296"/>
          </a:xfrm>
          <a:prstGeom prst="line">
            <a:avLst/>
          </a:prstGeom>
          <a:ln w="15875">
            <a:solidFill>
              <a:srgbClr val="404040"/>
            </a:solidFill>
          </a:ln>
        </p:spPr>
      </p:cxnSp>
      <p:cxnSp>
        <p:nvCxnSpPr>
          <p:cNvPr id="28" name="Connector 27"/>
          <p:cNvCxnSpPr/>
          <p:nvPr/>
        </p:nvCxnSpPr>
        <p:spPr>
          <a:xfrm flipH="1">
            <a:off x="8302752" y="3611880"/>
            <a:ext cx="1216152" cy="54864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cxnSp>
        <p:nvCxnSpPr>
          <p:cNvPr id="29" name="Connector 28"/>
          <p:cNvCxnSpPr/>
          <p:nvPr/>
        </p:nvCxnSpPr>
        <p:spPr>
          <a:xfrm>
            <a:off x="10735056" y="2386584"/>
            <a:ext cx="0" cy="1225296"/>
          </a:xfrm>
          <a:prstGeom prst="line">
            <a:avLst/>
          </a:prstGeom>
          <a:ln w="15875">
            <a:solidFill>
              <a:srgbClr val="404040"/>
            </a:solidFill>
          </a:ln>
        </p:spPr>
      </p:cxnSp>
      <p:cxnSp>
        <p:nvCxnSpPr>
          <p:cNvPr id="30" name="Connector 29"/>
          <p:cNvCxnSpPr/>
          <p:nvPr/>
        </p:nvCxnSpPr>
        <p:spPr>
          <a:xfrm flipH="1">
            <a:off x="9518904" y="3611880"/>
            <a:ext cx="1216152" cy="54864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cxnSp>
        <p:nvCxnSpPr>
          <p:cNvPr id="31" name="Connector 30"/>
          <p:cNvCxnSpPr/>
          <p:nvPr/>
        </p:nvCxnSpPr>
        <p:spPr>
          <a:xfrm>
            <a:off x="7086600" y="2386584"/>
            <a:ext cx="0" cy="521208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cxnSp>
        <p:nvCxnSpPr>
          <p:cNvPr id="32" name="Connector 31"/>
          <p:cNvCxnSpPr/>
          <p:nvPr/>
        </p:nvCxnSpPr>
        <p:spPr>
          <a:xfrm>
            <a:off x="7086600" y="3200400"/>
            <a:ext cx="0" cy="411480"/>
          </a:xfrm>
          <a:prstGeom prst="line">
            <a:avLst/>
          </a:prstGeom>
          <a:ln w="15875">
            <a:solidFill>
              <a:srgbClr val="404040"/>
            </a:solidFill>
          </a:ln>
        </p:spPr>
      </p:cxnSp>
      <p:cxnSp>
        <p:nvCxnSpPr>
          <p:cNvPr id="33" name="Connector 32"/>
          <p:cNvCxnSpPr/>
          <p:nvPr/>
        </p:nvCxnSpPr>
        <p:spPr>
          <a:xfrm>
            <a:off x="7086600" y="3611880"/>
            <a:ext cx="3648456" cy="54864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sp>
        <p:nvSpPr>
          <p:cNvPr id="34" name="Rectangle 33"/>
          <p:cNvSpPr/>
          <p:nvPr/>
        </p:nvSpPr>
        <p:spPr>
          <a:xfrm>
            <a:off x="6537960" y="1965960"/>
            <a:ext cx="1097280" cy="420624"/>
          </a:xfrm>
          <a:prstGeom prst="rect">
            <a:avLst/>
          </a:prstGeom>
          <a:solidFill>
            <a:srgbClr val="F3DFDF"/>
          </a:solidFill>
          <a:ln w="15875">
            <a:solidFill>
              <a:srgbClr val="C0000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0" i="1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1" baseline="-25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754112" y="1965960"/>
            <a:ext cx="10972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0" i="1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1" baseline="-25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baseline="-25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+1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8970264" y="1965960"/>
            <a:ext cx="10972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0" i="1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1" baseline="-25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baseline="-25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+2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0186416" y="1965960"/>
            <a:ext cx="10972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0" i="1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1" baseline="-25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baseline="-25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+3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7799832" y="2852928"/>
            <a:ext cx="3438144" cy="402336"/>
          </a:xfrm>
          <a:prstGeom prst="rect">
            <a:avLst/>
          </a:prstGeom>
          <a:solidFill>
            <a:srgbClr val="FBF1F1"/>
          </a:solidFill>
          <a:ln w="15875">
            <a:solidFill>
              <a:srgbClr val="C00000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F</a:t>
            </a: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：由后三个字和 </a:t>
            </a: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rk</a:t>
            </a:r>
            <a:r>
              <a:rPr lang="zh-CN" altLang="en-US" sz="16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计算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39" name="Connector 38"/>
          <p:cNvCxnSpPr/>
          <p:nvPr/>
        </p:nvCxnSpPr>
        <p:spPr>
          <a:xfrm flipH="1">
            <a:off x="7232904" y="3054096"/>
            <a:ext cx="566928" cy="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sp>
        <p:nvSpPr>
          <p:cNvPr id="40" name="Or 39"/>
          <p:cNvSpPr/>
          <p:nvPr/>
        </p:nvSpPr>
        <p:spPr>
          <a:xfrm>
            <a:off x="6940296" y="2907792"/>
            <a:ext cx="292608" cy="292608"/>
          </a:xfrm>
          <a:prstGeom prst="flowChartOr">
            <a:avLst/>
          </a:prstGeom>
          <a:solidFill>
            <a:srgbClr val="FFFFFF"/>
          </a:solidFill>
          <a:ln w="15875">
            <a:solidFill>
              <a:srgbClr val="404040"/>
            </a:solidFill>
          </a:ln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endParaRPr lang="zh-CN" altLang="en-US" sz="10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927080" y="2450592"/>
            <a:ext cx="64008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ctr">
              <a:buNone/>
            </a:pPr>
            <a:r>
              <a:rPr lang="zh-CN" altLang="en-US" sz="1800" b="0" i="1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rk</a:t>
            </a:r>
            <a:r>
              <a:rPr lang="zh-CN" altLang="en-US" sz="1800" b="0" i="1" baseline="-2500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42" name="Connector 41"/>
          <p:cNvCxnSpPr/>
          <p:nvPr/>
        </p:nvCxnSpPr>
        <p:spPr>
          <a:xfrm>
            <a:off x="11247120" y="2761488"/>
            <a:ext cx="0" cy="91440"/>
          </a:xfrm>
          <a:prstGeom prst="line">
            <a:avLst/>
          </a:prstGeom>
          <a:ln w="15875">
            <a:solidFill>
              <a:srgbClr val="C00000"/>
            </a:solidFill>
            <a:tailEnd type="triangle" w="med" len="med"/>
          </a:ln>
        </p:spPr>
      </p:cxnSp>
      <p:sp>
        <p:nvSpPr>
          <p:cNvPr id="43" name="Rectangle 42"/>
          <p:cNvSpPr/>
          <p:nvPr/>
        </p:nvSpPr>
        <p:spPr>
          <a:xfrm>
            <a:off x="6537960" y="4160520"/>
            <a:ext cx="10972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0" i="1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1" baseline="-25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baseline="-25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+1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7754112" y="4160520"/>
            <a:ext cx="10972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0" i="1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1" baseline="-25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baseline="-25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+2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8970264" y="4160520"/>
            <a:ext cx="10972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0" i="1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1" baseline="-25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baseline="-25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+3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10186416" y="4160520"/>
            <a:ext cx="1097280" cy="420624"/>
          </a:xfrm>
          <a:prstGeom prst="rect">
            <a:avLst/>
          </a:prstGeom>
          <a:solidFill>
            <a:srgbClr val="F3DFDF"/>
          </a:solidFill>
          <a:ln w="15875">
            <a:solidFill>
              <a:srgbClr val="C0000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0" i="1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1" baseline="-25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baseline="-25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+4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355080" y="4681728"/>
            <a:ext cx="512064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ctr">
              <a:buNone/>
            </a:pP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+4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=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⊕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F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(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+1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+2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+3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rk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)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594360" y="5376672"/>
            <a:ext cx="11018520" cy="914400"/>
          </a:xfrm>
          <a:prstGeom prst="rect">
            <a:avLst/>
          </a:prstGeom>
          <a:solidFill>
            <a:srgbClr val="FBF1F1"/>
          </a:solidFill>
          <a:ln>
            <a:noFill/>
          </a:ln>
        </p:spPr>
        <p:txBody>
          <a:bodyPr wrap="square" lIns="182880" tIns="36576" rIns="182880" bIns="36576" rtlCol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相同：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被改写的部分只与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F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的输出异或，所以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F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不必可逆；解密用同一结构，轮密钥逆序使用。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  <a:p>
            <a:pPr marL="0" indent="0" algn="l">
              <a:lnSpc>
                <a:spcPct val="110000"/>
              </a:lnSpc>
              <a:buNone/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不同：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SM4 每轮只改写 1 个字（DES 改写一半），每个字要多轮才被更新到，所以轮数更多：32 轮。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zh-CN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2"/>
          <p:cNvSpPr txBox="1"/>
          <p:nvPr/>
        </p:nvSpPr>
        <p:spPr>
          <a:xfrm>
            <a:off x="1066739" y="219050"/>
            <a:ext cx="4133088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典型分组密码</a:t>
            </a:r>
          </a:p>
        </p:txBody>
      </p:sp>
      <p:cxnSp>
        <p:nvCxnSpPr>
          <p:cNvPr id="13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页标题"/>
          <p:cNvSpPr txBox="1"/>
          <p:nvPr/>
        </p:nvSpPr>
        <p:spPr>
          <a:xfrm>
            <a:off x="502920" y="827532"/>
            <a:ext cx="11155680" cy="39319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zh-CN" altLang="en-US" sz="2200" b="1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SM4 的加密算法流程</a:t>
            </a:r>
            <a:endParaRPr lang="zh-CN" altLang="en-US" sz="2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8640" y="1435608"/>
            <a:ext cx="118872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r">
              <a:buNone/>
            </a:pP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明文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783080" y="1417320"/>
            <a:ext cx="8686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0" i="1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600" b="0" i="0" baseline="-25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715768" y="1417320"/>
            <a:ext cx="8686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0" i="1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600" b="0" i="0" baseline="-25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648456" y="1417320"/>
            <a:ext cx="8686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0" i="1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600" b="0" i="0" baseline="-25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2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581144" y="1417320"/>
            <a:ext cx="8686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0" i="1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600" b="0" i="0" baseline="-25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" y="2212848"/>
            <a:ext cx="118872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r">
              <a:buNone/>
            </a:pP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第 1 轮后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783080" y="2194560"/>
            <a:ext cx="8686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0" i="1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600" b="0" i="0" baseline="-25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715768" y="2194560"/>
            <a:ext cx="8686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0" i="1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600" b="0" i="0" baseline="-25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2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648456" y="2194560"/>
            <a:ext cx="8686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0" i="1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600" b="0" i="0" baseline="-25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581144" y="2194560"/>
            <a:ext cx="868680" cy="365760"/>
          </a:xfrm>
          <a:prstGeom prst="rect">
            <a:avLst/>
          </a:prstGeom>
          <a:solidFill>
            <a:srgbClr val="F3DFDF"/>
          </a:solidFill>
          <a:ln w="15875">
            <a:solidFill>
              <a:srgbClr val="C0000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0" i="1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600" b="0" i="0" baseline="-25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4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8640" y="2990088"/>
            <a:ext cx="118872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r">
              <a:buNone/>
            </a:pP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第 2 轮后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783080" y="2971800"/>
            <a:ext cx="8686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0" i="1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600" b="0" i="0" baseline="-25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2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715768" y="2971800"/>
            <a:ext cx="8686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0" i="1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600" b="0" i="0" baseline="-25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648456" y="2971800"/>
            <a:ext cx="8686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0" i="1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600" b="0" i="0" baseline="-25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4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581144" y="2971800"/>
            <a:ext cx="868680" cy="365760"/>
          </a:xfrm>
          <a:prstGeom prst="rect">
            <a:avLst/>
          </a:prstGeom>
          <a:solidFill>
            <a:srgbClr val="F3DFDF"/>
          </a:solidFill>
          <a:ln w="15875">
            <a:solidFill>
              <a:srgbClr val="C0000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0" i="1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600" b="0" i="0" baseline="-25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5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8640" y="4087368"/>
            <a:ext cx="118872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r">
              <a:buNone/>
            </a:pP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第 32 轮后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783080" y="4069080"/>
            <a:ext cx="8686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0" i="1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600" b="0" i="0" baseline="-25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32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715768" y="4069080"/>
            <a:ext cx="8686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0" i="1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600" b="0" i="0" baseline="-25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33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648456" y="4069080"/>
            <a:ext cx="8686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0" i="1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600" b="0" i="0" baseline="-25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34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581144" y="4069080"/>
            <a:ext cx="868680" cy="365760"/>
          </a:xfrm>
          <a:prstGeom prst="rect">
            <a:avLst/>
          </a:prstGeom>
          <a:solidFill>
            <a:srgbClr val="F3DFDF"/>
          </a:solidFill>
          <a:ln w="15875">
            <a:solidFill>
              <a:srgbClr val="C0000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0" i="1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600" b="0" i="0" baseline="-25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35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48640" y="4956048"/>
            <a:ext cx="118872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r">
              <a:buNone/>
            </a:pP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密文 </a:t>
            </a: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C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783080" y="4937760"/>
            <a:ext cx="8686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0" i="1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600" b="0" i="0" baseline="-25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35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715768" y="4937760"/>
            <a:ext cx="8686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0" i="1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600" b="0" i="0" baseline="-25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34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648456" y="4937760"/>
            <a:ext cx="8686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0" i="1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600" b="0" i="0" baseline="-25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33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581144" y="4937760"/>
            <a:ext cx="8686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0" i="1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600" b="0" i="0" baseline="-25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32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3616452" y="1801368"/>
            <a:ext cx="0" cy="374904"/>
          </a:xfrm>
          <a:prstGeom prst="line">
            <a:avLst/>
          </a:prstGeom>
          <a:ln w="15875">
            <a:solidFill>
              <a:srgbClr val="C00000"/>
            </a:solidFill>
            <a:tailEnd type="triangle" w="med" len="med"/>
          </a:ln>
        </p:spPr>
      </p:cxnSp>
      <p:sp>
        <p:nvSpPr>
          <p:cNvPr id="41" name="TextBox 40"/>
          <p:cNvSpPr txBox="1"/>
          <p:nvPr/>
        </p:nvSpPr>
        <p:spPr>
          <a:xfrm>
            <a:off x="5577840" y="1801368"/>
            <a:ext cx="274320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buNone/>
            </a:pP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第 0 轮：</a:t>
            </a: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F</a:t>
            </a: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，用 </a:t>
            </a: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rk</a:t>
            </a:r>
            <a:r>
              <a:rPr lang="zh-CN" altLang="en-US" sz="16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42" name="Connector 41"/>
          <p:cNvCxnSpPr/>
          <p:nvPr/>
        </p:nvCxnSpPr>
        <p:spPr>
          <a:xfrm>
            <a:off x="3616452" y="2578608"/>
            <a:ext cx="0" cy="374904"/>
          </a:xfrm>
          <a:prstGeom prst="line">
            <a:avLst/>
          </a:prstGeom>
          <a:ln w="15875">
            <a:solidFill>
              <a:srgbClr val="C00000"/>
            </a:solidFill>
            <a:tailEnd type="triangle" w="med" len="med"/>
          </a:ln>
        </p:spPr>
      </p:cxnSp>
      <p:sp>
        <p:nvSpPr>
          <p:cNvPr id="43" name="TextBox 42"/>
          <p:cNvSpPr txBox="1"/>
          <p:nvPr/>
        </p:nvSpPr>
        <p:spPr>
          <a:xfrm>
            <a:off x="5577840" y="2578608"/>
            <a:ext cx="274320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buNone/>
            </a:pP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第 1 轮：</a:t>
            </a: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F</a:t>
            </a: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，用 </a:t>
            </a: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rk</a:t>
            </a:r>
            <a:r>
              <a:rPr lang="zh-CN" altLang="en-US" sz="16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3616452" y="4453128"/>
            <a:ext cx="0" cy="466344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sp>
        <p:nvSpPr>
          <p:cNvPr id="45" name="TextBox 44"/>
          <p:cNvSpPr txBox="1"/>
          <p:nvPr/>
        </p:nvSpPr>
        <p:spPr>
          <a:xfrm>
            <a:off x="5577840" y="4453128"/>
            <a:ext cx="274320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buNone/>
            </a:pP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反序变换 </a:t>
            </a: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R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250692" y="3364992"/>
            <a:ext cx="73152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ctr">
              <a:buNone/>
            </a:pPr>
            <a:r>
              <a:rPr lang="zh-CN" altLang="en-US" sz="20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⋮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577840" y="3456432"/>
            <a:ext cx="29260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buNone/>
            </a:pP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共 32 轮，依次用 </a:t>
            </a: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rk</a:t>
            </a:r>
            <a:r>
              <a:rPr lang="zh-CN" altLang="en-US" sz="16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2</a:t>
            </a: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～ </a:t>
            </a: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rk</a:t>
            </a:r>
            <a:r>
              <a:rPr lang="zh-CN" altLang="en-US" sz="16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31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8915400" y="1417320"/>
            <a:ext cx="2697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主密钥 </a:t>
            </a: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MK</a:t>
            </a: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（128 位）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49" name="Connector 48"/>
          <p:cNvCxnSpPr/>
          <p:nvPr/>
        </p:nvCxnSpPr>
        <p:spPr>
          <a:xfrm>
            <a:off x="10259568" y="1920240"/>
            <a:ext cx="0" cy="32004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sp>
        <p:nvSpPr>
          <p:cNvPr id="50" name="Rectangle 49"/>
          <p:cNvSpPr/>
          <p:nvPr/>
        </p:nvSpPr>
        <p:spPr>
          <a:xfrm>
            <a:off x="8915400" y="2240280"/>
            <a:ext cx="2697480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1" i="0" dirty="0">
                <a:solidFill>
                  <a:srgbClr val="FFFFFF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密钥扩展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51" name="Connector 50"/>
          <p:cNvCxnSpPr/>
          <p:nvPr/>
        </p:nvCxnSpPr>
        <p:spPr>
          <a:xfrm>
            <a:off x="10259568" y="2743200"/>
            <a:ext cx="0" cy="32004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sp>
        <p:nvSpPr>
          <p:cNvPr id="52" name="Rectangle 51"/>
          <p:cNvSpPr/>
          <p:nvPr/>
        </p:nvSpPr>
        <p:spPr>
          <a:xfrm>
            <a:off x="8915400" y="3063240"/>
            <a:ext cx="2697480" cy="731520"/>
          </a:xfrm>
          <a:prstGeom prst="rect">
            <a:avLst/>
          </a:prstGeom>
          <a:solidFill>
            <a:srgbClr val="FBF1F1"/>
          </a:solidFill>
          <a:ln w="12700">
            <a:solidFill>
              <a:srgbClr val="C00000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rk</a:t>
            </a:r>
            <a:r>
              <a:rPr lang="zh-CN" altLang="en-US" sz="16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 </a:t>
            </a: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rk</a:t>
            </a:r>
            <a:r>
              <a:rPr lang="zh-CN" altLang="en-US" sz="16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</a:t>
            </a: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 …, </a:t>
            </a: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rk</a:t>
            </a:r>
            <a:r>
              <a:rPr lang="zh-CN" altLang="en-US" sz="16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31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  <a:p>
            <a:pPr marL="0" indent="0" algn="ctr">
              <a:buNone/>
            </a:pP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32 个 32 位轮密钥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53" name="Connector 52"/>
          <p:cNvCxnSpPr/>
          <p:nvPr/>
        </p:nvCxnSpPr>
        <p:spPr>
          <a:xfrm flipH="1">
            <a:off x="8321040" y="3429000"/>
            <a:ext cx="594360" cy="0"/>
          </a:xfrm>
          <a:prstGeom prst="line">
            <a:avLst/>
          </a:prstGeom>
          <a:ln w="15875">
            <a:solidFill>
              <a:srgbClr val="C00000"/>
            </a:solidFill>
            <a:prstDash val="dash"/>
            <a:tailEnd type="triangle" w="med" len="med"/>
          </a:ln>
        </p:spPr>
      </p:cxnSp>
      <p:sp>
        <p:nvSpPr>
          <p:cNvPr id="54" name="TextBox 53"/>
          <p:cNvSpPr txBox="1"/>
          <p:nvPr/>
        </p:nvSpPr>
        <p:spPr>
          <a:xfrm>
            <a:off x="8778240" y="3931920"/>
            <a:ext cx="2926080" cy="822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1600" b="0" i="0" dirty="0">
                <a:solidFill>
                  <a:srgbClr val="595959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每轮用一个轮密钥，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zh-CN" altLang="en-US" sz="1600" b="0" i="0" dirty="0">
                <a:solidFill>
                  <a:srgbClr val="595959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按 </a:t>
            </a:r>
            <a:r>
              <a:rPr lang="zh-CN" altLang="en-US" sz="1600" b="0" i="1" dirty="0">
                <a:solidFill>
                  <a:srgbClr val="595959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rk</a:t>
            </a:r>
            <a:r>
              <a:rPr lang="zh-CN" altLang="en-US" sz="1600" b="0" i="0" baseline="-25000" dirty="0">
                <a:solidFill>
                  <a:srgbClr val="595959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r>
              <a:rPr lang="zh-CN" altLang="en-US" sz="1600" b="0" i="0" dirty="0">
                <a:solidFill>
                  <a:srgbClr val="595959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→ </a:t>
            </a:r>
            <a:r>
              <a:rPr lang="zh-CN" altLang="en-US" sz="1600" b="0" i="1" dirty="0">
                <a:solidFill>
                  <a:srgbClr val="595959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rk</a:t>
            </a:r>
            <a:r>
              <a:rPr lang="zh-CN" altLang="en-US" sz="1600" b="0" i="0" baseline="-25000" dirty="0">
                <a:solidFill>
                  <a:srgbClr val="595959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31</a:t>
            </a:r>
            <a:r>
              <a:rPr lang="zh-CN" altLang="en-US" sz="1600" b="0" i="0" dirty="0">
                <a:solidFill>
                  <a:srgbClr val="595959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的顺序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594360" y="5486400"/>
            <a:ext cx="11018520" cy="8046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182880" tIns="27432" rIns="182880" bIns="27432" rtlCol="0" anchor="ctr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迭代：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+4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=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F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(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+1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+2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+3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rk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)，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= 0, 1, …, 31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  <a:p>
            <a:pPr marL="0" indent="0" algn="l">
              <a:lnSpc>
                <a:spcPct val="105000"/>
              </a:lnSpc>
              <a:buNone/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反序输出：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C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= (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35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34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33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32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)，只调换四个字的顺序，字内部的比特不变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zh-CN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6739" y="219050"/>
            <a:ext cx="4133088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典型分组密码</a:t>
            </a:r>
          </a:p>
        </p:txBody>
      </p:sp>
      <p:cxnSp>
        <p:nvCxnSpPr>
          <p:cNvPr id="4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页标题"/>
          <p:cNvSpPr txBox="1"/>
          <p:nvPr/>
        </p:nvSpPr>
        <p:spPr>
          <a:xfrm>
            <a:off x="502920" y="827532"/>
            <a:ext cx="11155680" cy="3931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zh-CN" altLang="en-US" sz="2200" b="1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SM4 轮函数 F：一轮生成一个新字</a:t>
            </a:r>
            <a:endParaRPr lang="zh-CN" altLang="en-US" sz="22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2697480" y="1819656"/>
            <a:ext cx="0" cy="374904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cxnSp>
        <p:nvCxnSpPr>
          <p:cNvPr id="7" name="Connector 6"/>
          <p:cNvCxnSpPr/>
          <p:nvPr/>
        </p:nvCxnSpPr>
        <p:spPr>
          <a:xfrm>
            <a:off x="4023360" y="1819656"/>
            <a:ext cx="0" cy="374904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cxnSp>
        <p:nvCxnSpPr>
          <p:cNvPr id="8" name="Connector 7"/>
          <p:cNvCxnSpPr/>
          <p:nvPr/>
        </p:nvCxnSpPr>
        <p:spPr>
          <a:xfrm>
            <a:off x="5349240" y="1819656"/>
            <a:ext cx="0" cy="374904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cxnSp>
        <p:nvCxnSpPr>
          <p:cNvPr id="9" name="Connector 8"/>
          <p:cNvCxnSpPr/>
          <p:nvPr/>
        </p:nvCxnSpPr>
        <p:spPr>
          <a:xfrm>
            <a:off x="1371600" y="1819656"/>
            <a:ext cx="0" cy="2999232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sp>
        <p:nvSpPr>
          <p:cNvPr id="10" name="Rectangle 9"/>
          <p:cNvSpPr/>
          <p:nvPr/>
        </p:nvSpPr>
        <p:spPr>
          <a:xfrm>
            <a:off x="777240" y="1417320"/>
            <a:ext cx="1188720" cy="402336"/>
          </a:xfrm>
          <a:prstGeom prst="rect">
            <a:avLst/>
          </a:prstGeom>
          <a:solidFill>
            <a:srgbClr val="F3DFDF"/>
          </a:solidFill>
          <a:ln w="15875">
            <a:solidFill>
              <a:srgbClr val="C0000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0" i="1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1" baseline="-25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103120" y="1417320"/>
            <a:ext cx="11887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0" i="1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1" baseline="-25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baseline="-25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+1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429000" y="1417320"/>
            <a:ext cx="11887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0" i="1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1" baseline="-25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baseline="-25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+2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754880" y="1417320"/>
            <a:ext cx="11887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0" i="1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1" baseline="-25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baseline="-25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+3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103120" y="2194560"/>
            <a:ext cx="3840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① 异或：</a:t>
            </a: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6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6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+1</a:t>
            </a: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⊕ </a:t>
            </a: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6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6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+2</a:t>
            </a: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⊕ </a:t>
            </a: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6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6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+3</a:t>
            </a: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⊕ </a:t>
            </a: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rk</a:t>
            </a:r>
            <a:r>
              <a:rPr lang="zh-CN" altLang="en-US" sz="16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989320" y="1810512"/>
            <a:ext cx="73152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ctr">
              <a:buNone/>
            </a:pPr>
            <a:r>
              <a:rPr lang="zh-CN" altLang="en-US" sz="1800" b="0" i="1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rk</a:t>
            </a:r>
            <a:r>
              <a:rPr lang="zh-CN" altLang="en-US" sz="1800" b="0" i="1" baseline="-2500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6355080" y="2139696"/>
            <a:ext cx="0" cy="256032"/>
          </a:xfrm>
          <a:prstGeom prst="line">
            <a:avLst/>
          </a:prstGeom>
          <a:ln w="15875">
            <a:solidFill>
              <a:srgbClr val="C00000"/>
            </a:solidFill>
          </a:ln>
        </p:spPr>
      </p:cxnSp>
      <p:cxnSp>
        <p:nvCxnSpPr>
          <p:cNvPr id="17" name="Connector 16"/>
          <p:cNvCxnSpPr/>
          <p:nvPr/>
        </p:nvCxnSpPr>
        <p:spPr>
          <a:xfrm flipH="1">
            <a:off x="5943600" y="2395728"/>
            <a:ext cx="411480" cy="0"/>
          </a:xfrm>
          <a:prstGeom prst="line">
            <a:avLst/>
          </a:prstGeom>
          <a:ln w="15875">
            <a:solidFill>
              <a:srgbClr val="C00000"/>
            </a:solidFill>
            <a:tailEnd type="triangle" w="med" len="med"/>
          </a:ln>
        </p:spPr>
      </p:cxnSp>
      <p:cxnSp>
        <p:nvCxnSpPr>
          <p:cNvPr id="18" name="Connector 17"/>
          <p:cNvCxnSpPr/>
          <p:nvPr/>
        </p:nvCxnSpPr>
        <p:spPr>
          <a:xfrm>
            <a:off x="4023360" y="2596896"/>
            <a:ext cx="0" cy="374904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sp>
        <p:nvSpPr>
          <p:cNvPr id="19" name="TextBox 18"/>
          <p:cNvSpPr txBox="1"/>
          <p:nvPr/>
        </p:nvSpPr>
        <p:spPr>
          <a:xfrm>
            <a:off x="4096512" y="2633472"/>
            <a:ext cx="146304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buNone/>
            </a:pP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A</a:t>
            </a:r>
            <a:r>
              <a:rPr lang="zh-CN" altLang="en-US" sz="16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（32 位）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011680" y="2971800"/>
            <a:ext cx="4023360" cy="1572768"/>
          </a:xfrm>
          <a:prstGeom prst="rect">
            <a:avLst/>
          </a:prstGeom>
          <a:solidFill>
            <a:srgbClr val="FBF1F1"/>
          </a:solidFill>
          <a:ln w="12700">
            <a:solidFill>
              <a:srgbClr val="C00000"/>
            </a:solidFill>
            <a:prstDash val="dash"/>
          </a:ln>
        </p:spPr>
        <p:txBody>
          <a:bodyPr wrap="square" lIns="73152" tIns="27432" rIns="73152" bIns="27432" rtlCol="0" anchor="ctr">
            <a:noAutofit/>
          </a:bodyPr>
          <a:lstStyle/>
          <a:p>
            <a:pPr marL="0" indent="0" algn="ctr">
              <a:buNone/>
            </a:pP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053328" y="3017520"/>
            <a:ext cx="114300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16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合成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zh-CN" altLang="en-US" sz="16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置换 </a:t>
            </a:r>
            <a:r>
              <a:rPr lang="zh-CN" altLang="en-US" sz="1600" b="1" i="1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T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240280" y="3090672"/>
            <a:ext cx="56692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S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240024" y="3090672"/>
            <a:ext cx="56692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S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239768" y="3090672"/>
            <a:ext cx="56692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S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239512" y="3090672"/>
            <a:ext cx="56692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S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057400" y="3474720"/>
            <a:ext cx="39319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ctr">
              <a:buNone/>
            </a:pP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② 非线性变换 </a:t>
            </a: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τ</a:t>
            </a: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：4 个 S 盒并行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4023360" y="3785616"/>
            <a:ext cx="0" cy="237744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sp>
        <p:nvSpPr>
          <p:cNvPr id="28" name="Rectangle 27"/>
          <p:cNvSpPr/>
          <p:nvPr/>
        </p:nvSpPr>
        <p:spPr>
          <a:xfrm>
            <a:off x="2240280" y="4023360"/>
            <a:ext cx="35661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③ 线性变换 </a:t>
            </a: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L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4023360" y="4425696"/>
            <a:ext cx="0" cy="539496"/>
          </a:xfrm>
          <a:prstGeom prst="line">
            <a:avLst/>
          </a:prstGeom>
          <a:ln w="15875">
            <a:solidFill>
              <a:srgbClr val="404040"/>
            </a:solidFill>
          </a:ln>
        </p:spPr>
      </p:cxnSp>
      <p:sp>
        <p:nvSpPr>
          <p:cNvPr id="30" name="TextBox 29"/>
          <p:cNvSpPr txBox="1"/>
          <p:nvPr/>
        </p:nvSpPr>
        <p:spPr>
          <a:xfrm>
            <a:off x="4096512" y="4572000"/>
            <a:ext cx="16459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buNone/>
            </a:pP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B</a:t>
            </a:r>
            <a:r>
              <a:rPr lang="zh-CN" altLang="en-US" sz="16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= </a:t>
            </a: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T</a:t>
            </a: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(</a:t>
            </a: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A</a:t>
            </a:r>
            <a:r>
              <a:rPr lang="zh-CN" altLang="en-US" sz="16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)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 flipH="1">
            <a:off x="1517904" y="4965192"/>
            <a:ext cx="2505456" cy="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sp>
        <p:nvSpPr>
          <p:cNvPr id="32" name="Or 31"/>
          <p:cNvSpPr/>
          <p:nvPr/>
        </p:nvSpPr>
        <p:spPr>
          <a:xfrm>
            <a:off x="1225296" y="4818888"/>
            <a:ext cx="292608" cy="292608"/>
          </a:xfrm>
          <a:prstGeom prst="flowChartOr">
            <a:avLst/>
          </a:prstGeom>
          <a:solidFill>
            <a:srgbClr val="FFFFFF"/>
          </a:solidFill>
          <a:ln w="15875">
            <a:solidFill>
              <a:srgbClr val="404040"/>
            </a:solidFill>
          </a:ln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endParaRPr lang="zh-CN" altLang="en-US" sz="10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600200" y="4617720"/>
            <a:ext cx="146304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buNone/>
            </a:pP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④ 异或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1371600" y="5111496"/>
            <a:ext cx="0" cy="356616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sp>
        <p:nvSpPr>
          <p:cNvPr id="35" name="Rectangle 34"/>
          <p:cNvSpPr/>
          <p:nvPr/>
        </p:nvSpPr>
        <p:spPr>
          <a:xfrm>
            <a:off x="777240" y="5468112"/>
            <a:ext cx="1188720" cy="402336"/>
          </a:xfrm>
          <a:prstGeom prst="rect">
            <a:avLst/>
          </a:prstGeom>
          <a:solidFill>
            <a:srgbClr val="F3DFDF"/>
          </a:solidFill>
          <a:ln w="15875">
            <a:solidFill>
              <a:srgbClr val="C0000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0" i="1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1" baseline="-25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baseline="-25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+4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057400" y="5495544"/>
            <a:ext cx="402336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buNone/>
            </a:pPr>
            <a:r>
              <a:rPr lang="zh-CN" altLang="en-US" sz="1600" b="0" i="0" dirty="0">
                <a:solidFill>
                  <a:srgbClr val="595959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新字，接到状态的最后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360920" y="1417320"/>
            <a:ext cx="4297680" cy="32918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一轮的计算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A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=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+1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⊕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+2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⊕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+3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⊕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rk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B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=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T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(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A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) =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L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(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τ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(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A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))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+4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=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⊕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B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  <a:p>
            <a:pPr marL="0" indent="0" algn="l">
              <a:lnSpc>
                <a:spcPct val="115000"/>
              </a:lnSpc>
              <a:spcBef>
                <a:spcPts val="1400"/>
              </a:spcBef>
              <a:buNone/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状态更新（窗口右移一格）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(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+1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+2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+3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)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→ (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+1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+2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+3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+4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)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7360920" y="4846320"/>
            <a:ext cx="4251960" cy="10241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182880" tIns="27432" rIns="182880" bIns="27432" rtlCol="0" anchor="ctr">
            <a:noAutofit/>
          </a:bodyPr>
          <a:lstStyle/>
          <a:p>
            <a:pPr marL="0" indent="0" algn="l">
              <a:buNone/>
            </a:pP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+1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、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+2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、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+3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原样保留，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  <a:p>
            <a:pPr marL="0" indent="0" algn="l">
              <a:buNone/>
            </a:pP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只有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被新字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+4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替换。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zh-CN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2"/>
          <p:cNvSpPr txBox="1"/>
          <p:nvPr/>
        </p:nvSpPr>
        <p:spPr>
          <a:xfrm>
            <a:off x="1066739" y="219050"/>
            <a:ext cx="4133088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典型分组密码</a:t>
            </a:r>
          </a:p>
        </p:txBody>
      </p:sp>
      <p:cxnSp>
        <p:nvCxnSpPr>
          <p:cNvPr id="13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页标题"/>
          <p:cNvSpPr txBox="1"/>
          <p:nvPr/>
        </p:nvSpPr>
        <p:spPr>
          <a:xfrm>
            <a:off x="502920" y="827532"/>
            <a:ext cx="11155680" cy="39319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zh-CN" altLang="en-US" sz="2200" b="1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合成置换 T（一）：非线性变换 τ 与 S 盒</a:t>
            </a:r>
            <a:endParaRPr lang="zh-CN" altLang="en-US" sz="2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94360" y="1371600"/>
            <a:ext cx="420624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buNone/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32 位按字节拆开，各查一次 S 盒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4360" y="1810512"/>
            <a:ext cx="420624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ctr">
              <a:buNone/>
            </a:pP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A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= (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a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a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a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2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a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)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31520" y="2176272"/>
            <a:ext cx="8686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a</a:t>
            </a:r>
            <a:r>
              <a:rPr lang="zh-CN" altLang="en-US" sz="16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1165860" y="2542032"/>
            <a:ext cx="0" cy="219456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sp>
        <p:nvSpPr>
          <p:cNvPr id="19" name="Rectangle 18"/>
          <p:cNvSpPr/>
          <p:nvPr/>
        </p:nvSpPr>
        <p:spPr>
          <a:xfrm>
            <a:off x="731520" y="2761488"/>
            <a:ext cx="868680" cy="402336"/>
          </a:xfrm>
          <a:prstGeom prst="rect">
            <a:avLst/>
          </a:prstGeom>
          <a:solidFill>
            <a:srgbClr val="FBF1F1"/>
          </a:solidFill>
          <a:ln w="12700">
            <a:solidFill>
              <a:srgbClr val="C0000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Sbox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1165860" y="3163824"/>
            <a:ext cx="0" cy="219456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sp>
        <p:nvSpPr>
          <p:cNvPr id="21" name="Rectangle 20"/>
          <p:cNvSpPr/>
          <p:nvPr/>
        </p:nvSpPr>
        <p:spPr>
          <a:xfrm>
            <a:off x="731520" y="3383280"/>
            <a:ext cx="8686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b</a:t>
            </a:r>
            <a:r>
              <a:rPr lang="zh-CN" altLang="en-US" sz="16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737360" y="2176272"/>
            <a:ext cx="8686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a</a:t>
            </a:r>
            <a:r>
              <a:rPr lang="zh-CN" altLang="en-US" sz="16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2171700" y="2542032"/>
            <a:ext cx="0" cy="219456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sp>
        <p:nvSpPr>
          <p:cNvPr id="24" name="Rectangle 23"/>
          <p:cNvSpPr/>
          <p:nvPr/>
        </p:nvSpPr>
        <p:spPr>
          <a:xfrm>
            <a:off x="1737360" y="2761488"/>
            <a:ext cx="868680" cy="402336"/>
          </a:xfrm>
          <a:prstGeom prst="rect">
            <a:avLst/>
          </a:prstGeom>
          <a:solidFill>
            <a:srgbClr val="FBF1F1"/>
          </a:solidFill>
          <a:ln w="12700">
            <a:solidFill>
              <a:srgbClr val="C0000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Sbox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2171700" y="3163824"/>
            <a:ext cx="0" cy="219456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sp>
        <p:nvSpPr>
          <p:cNvPr id="26" name="Rectangle 25"/>
          <p:cNvSpPr/>
          <p:nvPr/>
        </p:nvSpPr>
        <p:spPr>
          <a:xfrm>
            <a:off x="1737360" y="3383280"/>
            <a:ext cx="8686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b</a:t>
            </a:r>
            <a:r>
              <a:rPr lang="zh-CN" altLang="en-US" sz="16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743200" y="2176272"/>
            <a:ext cx="8686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a</a:t>
            </a:r>
            <a:r>
              <a:rPr lang="zh-CN" altLang="en-US" sz="16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2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3177540" y="2542032"/>
            <a:ext cx="0" cy="219456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sp>
        <p:nvSpPr>
          <p:cNvPr id="29" name="Rectangle 28"/>
          <p:cNvSpPr/>
          <p:nvPr/>
        </p:nvSpPr>
        <p:spPr>
          <a:xfrm>
            <a:off x="2743200" y="2761488"/>
            <a:ext cx="868680" cy="402336"/>
          </a:xfrm>
          <a:prstGeom prst="rect">
            <a:avLst/>
          </a:prstGeom>
          <a:solidFill>
            <a:srgbClr val="FBF1F1"/>
          </a:solidFill>
          <a:ln w="12700">
            <a:solidFill>
              <a:srgbClr val="C0000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Sbox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3177540" y="3163824"/>
            <a:ext cx="0" cy="219456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sp>
        <p:nvSpPr>
          <p:cNvPr id="31" name="Rectangle 30"/>
          <p:cNvSpPr/>
          <p:nvPr/>
        </p:nvSpPr>
        <p:spPr>
          <a:xfrm>
            <a:off x="2743200" y="3383280"/>
            <a:ext cx="8686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b</a:t>
            </a:r>
            <a:r>
              <a:rPr lang="zh-CN" altLang="en-US" sz="16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2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749040" y="2176272"/>
            <a:ext cx="8686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a</a:t>
            </a:r>
            <a:r>
              <a:rPr lang="zh-CN" altLang="en-US" sz="16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4183380" y="2542032"/>
            <a:ext cx="0" cy="219456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sp>
        <p:nvSpPr>
          <p:cNvPr id="34" name="Rectangle 33"/>
          <p:cNvSpPr/>
          <p:nvPr/>
        </p:nvSpPr>
        <p:spPr>
          <a:xfrm>
            <a:off x="3749040" y="2761488"/>
            <a:ext cx="868680" cy="402336"/>
          </a:xfrm>
          <a:prstGeom prst="rect">
            <a:avLst/>
          </a:prstGeom>
          <a:solidFill>
            <a:srgbClr val="FBF1F1"/>
          </a:solidFill>
          <a:ln w="12700">
            <a:solidFill>
              <a:srgbClr val="C0000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Sbox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4183380" y="3163824"/>
            <a:ext cx="0" cy="219456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sp>
        <p:nvSpPr>
          <p:cNvPr id="36" name="Rectangle 35"/>
          <p:cNvSpPr/>
          <p:nvPr/>
        </p:nvSpPr>
        <p:spPr>
          <a:xfrm>
            <a:off x="3749040" y="3383280"/>
            <a:ext cx="8686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b</a:t>
            </a:r>
            <a:r>
              <a:rPr lang="zh-CN" altLang="en-US" sz="16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94360" y="3785616"/>
            <a:ext cx="420624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ctr">
              <a:buNone/>
            </a:pP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B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=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τ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(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A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) = (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b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b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b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2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b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)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94360" y="4206240"/>
            <a:ext cx="4206240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b</a:t>
            </a:r>
            <a:r>
              <a:rPr lang="zh-CN" altLang="en-US" sz="16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j</a:t>
            </a: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= Sbox(</a:t>
            </a: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a</a:t>
            </a:r>
            <a:r>
              <a:rPr lang="zh-CN" altLang="en-US" sz="16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j</a:t>
            </a: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)：高 4 位定行，低 4 位定列，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  <a:p>
            <a:pPr marL="0" indent="0" algn="l">
              <a:lnSpc>
                <a:spcPct val="105000"/>
              </a:lnSpc>
              <a:buNone/>
            </a:pP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8 位进、8 位出，4 个 S 盒是同一张表。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94360" y="4956048"/>
            <a:ext cx="4206240" cy="502920"/>
          </a:xfrm>
          <a:prstGeom prst="rect">
            <a:avLst/>
          </a:prstGeom>
          <a:solidFill>
            <a:srgbClr val="FBF1F1"/>
          </a:solidFill>
          <a:ln>
            <a:noFill/>
          </a:ln>
        </p:spPr>
        <p:txBody>
          <a:bodyPr wrap="square" lIns="137160" tIns="0" rIns="91440" bIns="0" rtlCol="0" anchor="ctr">
            <a:noAutofit/>
          </a:bodyPr>
          <a:lstStyle/>
          <a:p>
            <a:pPr marL="0" indent="0" algn="l">
              <a:buNone/>
            </a:pP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例：82 → 第 8 行第 2 列 → </a:t>
            </a: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8A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94360" y="5550408"/>
            <a:ext cx="4206240" cy="731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137160" tIns="0" rIns="9144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16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试一试：</a:t>
            </a: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τ</a:t>
            </a: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(8283CB69) = ?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graphicFrame>
        <p:nvGraphicFramePr>
          <p:cNvPr id="41" name="SM4 S盒"/>
          <p:cNvGraphicFramePr>
            <a:graphicFrameLocks noGrp="1"/>
          </p:cNvGraphicFramePr>
          <p:nvPr/>
        </p:nvGraphicFramePr>
        <p:xfrm>
          <a:off x="4983480" y="1371600"/>
          <a:ext cx="6627568" cy="46634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3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13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13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13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13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13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91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9136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9136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9136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9136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9136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9136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9136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91363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91363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7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8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A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B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C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D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E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F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D6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90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E9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FE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CC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E1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3D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B7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16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B6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14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C2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28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FB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2C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05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2B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67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9A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76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2A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BE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04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C3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AA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44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13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26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49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86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06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99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9C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42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50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F4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91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EF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98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7A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33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54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0B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43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ED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CF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AC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62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E4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B3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1C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A9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C9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08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E8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95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80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DF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94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FA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75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8F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3F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A6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47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07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A7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FC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F3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73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17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BA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83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59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3C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19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E6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85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4F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A8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68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6B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81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B2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71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64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DA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8B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F8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EB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0F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4B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70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56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9D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35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1E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24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0E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5E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63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58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D1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A2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25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22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7C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3B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01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21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78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87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7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D4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00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46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57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9F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D3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27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52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4C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36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02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E7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A0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C4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C8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9E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8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EA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BF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FFFFFF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8A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D2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40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C7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38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B5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A3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F7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F2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CE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F9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61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15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A1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E0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AE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5D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A4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9B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34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1A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55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AD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93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32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30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F5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8C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B1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E3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A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1D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F6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E2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2E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82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66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CA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60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C0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29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23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AB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0D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53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4E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6F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B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D5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DB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37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45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DE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FD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8E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2F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03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FF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6A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72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6D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6C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5B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51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C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8D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1B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AF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92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BB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DD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BC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7F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11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D9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5C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41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1F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10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5A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D8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D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0A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C1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31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88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A5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CD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7B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BD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2D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74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D0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12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B8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E5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B4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B0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E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89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69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97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4A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0C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96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77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7E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65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B9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F1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09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C5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6E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C6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84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F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18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F0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7D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EC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3A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DC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4D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20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79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EE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5F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3E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D7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CB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39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48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zh-CN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2"/>
          <p:cNvSpPr txBox="1"/>
          <p:nvPr/>
        </p:nvSpPr>
        <p:spPr>
          <a:xfrm>
            <a:off x="1066739" y="219050"/>
            <a:ext cx="4133088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典型分组密码</a:t>
            </a:r>
          </a:p>
        </p:txBody>
      </p:sp>
      <p:cxnSp>
        <p:nvCxnSpPr>
          <p:cNvPr id="13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页标题"/>
          <p:cNvSpPr txBox="1"/>
          <p:nvPr/>
        </p:nvSpPr>
        <p:spPr>
          <a:xfrm>
            <a:off x="502920" y="827532"/>
            <a:ext cx="11155680" cy="39319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zh-CN" altLang="en-US" sz="2200" b="1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合成置换 T（一）：非线性变换 τ 与 S 盒</a:t>
            </a:r>
            <a:endParaRPr lang="zh-CN" altLang="en-US" sz="2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94360" y="1371600"/>
            <a:ext cx="420624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buNone/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32 位按字节拆开，各查一次 S 盒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4360" y="1810512"/>
            <a:ext cx="420624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ctr">
              <a:buNone/>
            </a:pP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A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= (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a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a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a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2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a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)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31520" y="2176272"/>
            <a:ext cx="8686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a</a:t>
            </a:r>
            <a:r>
              <a:rPr lang="zh-CN" altLang="en-US" sz="16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1165860" y="2542032"/>
            <a:ext cx="0" cy="219456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sp>
        <p:nvSpPr>
          <p:cNvPr id="19" name="Rectangle 18"/>
          <p:cNvSpPr/>
          <p:nvPr/>
        </p:nvSpPr>
        <p:spPr>
          <a:xfrm>
            <a:off x="731520" y="2761488"/>
            <a:ext cx="868680" cy="402336"/>
          </a:xfrm>
          <a:prstGeom prst="rect">
            <a:avLst/>
          </a:prstGeom>
          <a:solidFill>
            <a:srgbClr val="FBF1F1"/>
          </a:solidFill>
          <a:ln w="12700">
            <a:solidFill>
              <a:srgbClr val="C0000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Sbox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1165860" y="3163824"/>
            <a:ext cx="0" cy="219456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sp>
        <p:nvSpPr>
          <p:cNvPr id="21" name="Rectangle 20"/>
          <p:cNvSpPr/>
          <p:nvPr/>
        </p:nvSpPr>
        <p:spPr>
          <a:xfrm>
            <a:off x="731520" y="3383280"/>
            <a:ext cx="8686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b</a:t>
            </a:r>
            <a:r>
              <a:rPr lang="zh-CN" altLang="en-US" sz="16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737360" y="2176272"/>
            <a:ext cx="8686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a</a:t>
            </a:r>
            <a:r>
              <a:rPr lang="zh-CN" altLang="en-US" sz="16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2171700" y="2542032"/>
            <a:ext cx="0" cy="219456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sp>
        <p:nvSpPr>
          <p:cNvPr id="24" name="Rectangle 23"/>
          <p:cNvSpPr/>
          <p:nvPr/>
        </p:nvSpPr>
        <p:spPr>
          <a:xfrm>
            <a:off x="1737360" y="2761488"/>
            <a:ext cx="868680" cy="402336"/>
          </a:xfrm>
          <a:prstGeom prst="rect">
            <a:avLst/>
          </a:prstGeom>
          <a:solidFill>
            <a:srgbClr val="FBF1F1"/>
          </a:solidFill>
          <a:ln w="12700">
            <a:solidFill>
              <a:srgbClr val="C0000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Sbox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2171700" y="3163824"/>
            <a:ext cx="0" cy="219456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sp>
        <p:nvSpPr>
          <p:cNvPr id="26" name="Rectangle 25"/>
          <p:cNvSpPr/>
          <p:nvPr/>
        </p:nvSpPr>
        <p:spPr>
          <a:xfrm>
            <a:off x="1737360" y="3383280"/>
            <a:ext cx="8686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b</a:t>
            </a:r>
            <a:r>
              <a:rPr lang="zh-CN" altLang="en-US" sz="16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743200" y="2176272"/>
            <a:ext cx="8686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a</a:t>
            </a:r>
            <a:r>
              <a:rPr lang="zh-CN" altLang="en-US" sz="16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2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3177540" y="2542032"/>
            <a:ext cx="0" cy="219456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sp>
        <p:nvSpPr>
          <p:cNvPr id="29" name="Rectangle 28"/>
          <p:cNvSpPr/>
          <p:nvPr/>
        </p:nvSpPr>
        <p:spPr>
          <a:xfrm>
            <a:off x="2743200" y="2761488"/>
            <a:ext cx="868680" cy="402336"/>
          </a:xfrm>
          <a:prstGeom prst="rect">
            <a:avLst/>
          </a:prstGeom>
          <a:solidFill>
            <a:srgbClr val="FBF1F1"/>
          </a:solidFill>
          <a:ln w="12700">
            <a:solidFill>
              <a:srgbClr val="C0000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Sbox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3177540" y="3163824"/>
            <a:ext cx="0" cy="219456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sp>
        <p:nvSpPr>
          <p:cNvPr id="31" name="Rectangle 30"/>
          <p:cNvSpPr/>
          <p:nvPr/>
        </p:nvSpPr>
        <p:spPr>
          <a:xfrm>
            <a:off x="2743200" y="3383280"/>
            <a:ext cx="8686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b</a:t>
            </a:r>
            <a:r>
              <a:rPr lang="zh-CN" altLang="en-US" sz="16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2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749040" y="2176272"/>
            <a:ext cx="8686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a</a:t>
            </a:r>
            <a:r>
              <a:rPr lang="zh-CN" altLang="en-US" sz="16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4183380" y="2542032"/>
            <a:ext cx="0" cy="219456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sp>
        <p:nvSpPr>
          <p:cNvPr id="34" name="Rectangle 33"/>
          <p:cNvSpPr/>
          <p:nvPr/>
        </p:nvSpPr>
        <p:spPr>
          <a:xfrm>
            <a:off x="3749040" y="2761488"/>
            <a:ext cx="868680" cy="402336"/>
          </a:xfrm>
          <a:prstGeom prst="rect">
            <a:avLst/>
          </a:prstGeom>
          <a:solidFill>
            <a:srgbClr val="FBF1F1"/>
          </a:solidFill>
          <a:ln w="12700">
            <a:solidFill>
              <a:srgbClr val="C0000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Sbox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4183380" y="3163824"/>
            <a:ext cx="0" cy="219456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sp>
        <p:nvSpPr>
          <p:cNvPr id="36" name="Rectangle 35"/>
          <p:cNvSpPr/>
          <p:nvPr/>
        </p:nvSpPr>
        <p:spPr>
          <a:xfrm>
            <a:off x="3749040" y="3383280"/>
            <a:ext cx="8686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b</a:t>
            </a:r>
            <a:r>
              <a:rPr lang="zh-CN" altLang="en-US" sz="16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94360" y="3785616"/>
            <a:ext cx="420624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ctr">
              <a:buNone/>
            </a:pP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B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=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τ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(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A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) = (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b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b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b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2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b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)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94360" y="4206240"/>
            <a:ext cx="4206240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b</a:t>
            </a:r>
            <a:r>
              <a:rPr lang="zh-CN" altLang="en-US" sz="16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j</a:t>
            </a: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= Sbox(</a:t>
            </a: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a</a:t>
            </a:r>
            <a:r>
              <a:rPr lang="zh-CN" altLang="en-US" sz="16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j</a:t>
            </a: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)：高 4 位定行，低 4 位定列，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  <a:p>
            <a:pPr marL="0" indent="0" algn="l">
              <a:lnSpc>
                <a:spcPct val="105000"/>
              </a:lnSpc>
              <a:buNone/>
            </a:pP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8 位进、8 位出，4 个 S 盒是同一张表。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94360" y="4956048"/>
            <a:ext cx="4206240" cy="502920"/>
          </a:xfrm>
          <a:prstGeom prst="rect">
            <a:avLst/>
          </a:prstGeom>
          <a:solidFill>
            <a:srgbClr val="FBF1F1"/>
          </a:solidFill>
          <a:ln>
            <a:noFill/>
          </a:ln>
        </p:spPr>
        <p:txBody>
          <a:bodyPr wrap="square" lIns="137160" tIns="0" rIns="91440" bIns="0" rtlCol="0" anchor="ctr">
            <a:noAutofit/>
          </a:bodyPr>
          <a:lstStyle/>
          <a:p>
            <a:pPr marL="0" indent="0" algn="l">
              <a:buNone/>
            </a:pP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例：82 → 第 8 行第 2 列 → </a:t>
            </a: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8A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94360" y="5550408"/>
            <a:ext cx="4206240" cy="731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137160" tIns="0" rIns="9144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16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试一试：</a:t>
            </a: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τ</a:t>
            </a: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(8283CB69) = </a:t>
            </a:r>
            <a:r>
              <a:rPr lang="zh-CN" altLang="en-US" sz="16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  <a:sym typeface="+mn-ea"/>
              </a:rPr>
              <a:t>8AD24122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graphicFrame>
        <p:nvGraphicFramePr>
          <p:cNvPr id="41" name="SM4 S盒"/>
          <p:cNvGraphicFramePr>
            <a:graphicFrameLocks noGrp="1"/>
          </p:cNvGraphicFramePr>
          <p:nvPr/>
        </p:nvGraphicFramePr>
        <p:xfrm>
          <a:off x="4983480" y="1371600"/>
          <a:ext cx="6627568" cy="46634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3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13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13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13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13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13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91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9136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9136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9136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9136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9136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9136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9136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91363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91363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7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8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A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B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C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D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E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F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D6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90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E9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FE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CC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E1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3D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B7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16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B6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14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C2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28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FB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2C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05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2B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67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9A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76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2A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BE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04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C3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AA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44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13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26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49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86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06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99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9C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42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50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F4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91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EF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98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7A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33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54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0B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43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ED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CF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AC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62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E4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B3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1C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A9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C9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08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E8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95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80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DF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94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FA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75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8F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3F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A6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47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07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A7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FC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F3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73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17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BA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83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59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3C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19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E6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85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4F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A8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68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6B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81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B2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71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64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DA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8B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F8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EB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0F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4B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70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56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9D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35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1E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24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0E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5E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63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58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D1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A2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25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22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7C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3B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01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21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78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87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7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D4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00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46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57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9F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D3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27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52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4C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36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02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E7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A0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C4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C8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9E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8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EA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BF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FFFFFF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8A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D2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40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C7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38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B5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A3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F7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F2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CE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F9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61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15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A1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E0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AE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5D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A4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9B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34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1A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55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AD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93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32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30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F5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8C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B1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E3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A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1D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F6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E2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2E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82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66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CA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60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C0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29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23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AB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0D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53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4E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6F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B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D5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DB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37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45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DE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FD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8E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2F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03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FF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6A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72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6D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6C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5B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51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C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8D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1B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AF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92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BB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DD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BC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7F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11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D9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5C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41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1F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10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5A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D8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D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0A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C1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31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88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A5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CD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7B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BD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2D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74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D0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12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B8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E5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B4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B0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E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89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69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97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4A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0C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96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77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7E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65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B9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F1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09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C5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6E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C6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84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F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18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F0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7D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EC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3A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DC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4D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20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79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EE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5F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3E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D7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CB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39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48</a:t>
                      </a:r>
                      <a:endParaRPr lang="zh-CN" altLang="en-US" sz="12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zh-CN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6739" y="219050"/>
            <a:ext cx="4133088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典型分组密码</a:t>
            </a:r>
          </a:p>
        </p:txBody>
      </p:sp>
      <p:cxnSp>
        <p:nvCxnSpPr>
          <p:cNvPr id="4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页标题"/>
          <p:cNvSpPr txBox="1"/>
          <p:nvPr/>
        </p:nvSpPr>
        <p:spPr>
          <a:xfrm>
            <a:off x="502920" y="827532"/>
            <a:ext cx="11155680" cy="3931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zh-CN" altLang="en-US" sz="2200" b="1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合成置换 T（二）：线性变换 L</a:t>
            </a:r>
            <a:endParaRPr lang="zh-CN" altLang="en-US" sz="2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353312"/>
            <a:ext cx="11018520" cy="566928"/>
          </a:xfrm>
          <a:prstGeom prst="rect">
            <a:avLst/>
          </a:prstGeom>
          <a:solidFill>
            <a:srgbClr val="FBF1F1"/>
          </a:solidFill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L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(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B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) =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B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⊕ (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B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</a:t>
            </a:r>
            <a:r>
              <a:rPr lang="zh-CN" altLang="en-US" sz="1800" b="0" i="0" dirty="0">
                <a:solidFill>
                  <a:srgbClr val="404040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  <a:sym typeface="Cambria Math" panose="02040503050406030204"/>
              </a:rPr>
              <a:t>⋘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2) ⊕ (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B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</a:t>
            </a:r>
            <a:r>
              <a:rPr lang="zh-CN" altLang="en-US" sz="1800" b="0" i="0" dirty="0">
                <a:solidFill>
                  <a:srgbClr val="404040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  <a:sym typeface="Cambria Math" panose="02040503050406030204"/>
              </a:rPr>
              <a:t>⋘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10) ⊕ (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B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</a:t>
            </a:r>
            <a:r>
              <a:rPr lang="zh-CN" altLang="en-US" sz="1800" b="0" i="0" dirty="0">
                <a:solidFill>
                  <a:srgbClr val="404040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  <a:sym typeface="Cambria Math" panose="02040503050406030204"/>
              </a:rPr>
              <a:t>⋘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18) ⊕ (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B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</a:t>
            </a:r>
            <a:r>
              <a:rPr lang="zh-CN" altLang="en-US" sz="1800" b="0" i="0" dirty="0">
                <a:solidFill>
                  <a:srgbClr val="404040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  <a:sym typeface="Cambria Math" panose="02040503050406030204"/>
              </a:rPr>
              <a:t>⋘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24)       （</a:t>
            </a:r>
            <a:r>
              <a:rPr lang="zh-CN" altLang="en-US" sz="1800" b="0" i="0" dirty="0">
                <a:solidFill>
                  <a:srgbClr val="404040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  <a:sym typeface="Cambria Math" panose="02040503050406030204"/>
              </a:rPr>
              <a:t>⋘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k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：32 位循环左移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k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位）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2029968"/>
            <a:ext cx="1097280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buNone/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直观例子：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B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= 00000001（只有最低位是 1），看它经过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L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后变成什么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2468880"/>
            <a:ext cx="109728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r">
              <a:buNone/>
            </a:pP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B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645920" y="2487168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911096" y="2487168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176272" y="2487168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441448" y="2487168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06624" y="2487168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971800" y="2487168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236976" y="2487168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502152" y="2487168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831336" y="2487168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096512" y="2487168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361688" y="2487168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626864" y="2487168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892040" y="2487168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157216" y="2487168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422392" y="2487168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687568" y="2487168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016752" y="2487168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281928" y="2487168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547104" y="2487168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812280" y="2487168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077456" y="2487168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342632" y="2487168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607808" y="2487168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7872984" y="2487168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202168" y="2487168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467344" y="2487168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732520" y="2487168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8997696" y="2487168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9262872" y="2487168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9528048" y="2487168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9793224" y="2487168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10058400" y="2487168"/>
            <a:ext cx="265176" cy="274320"/>
          </a:xfrm>
          <a:prstGeom prst="rect">
            <a:avLst/>
          </a:prstGeom>
          <a:solidFill>
            <a:srgbClr val="C00000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FFFFFF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433304" y="2468880"/>
            <a:ext cx="114300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buNone/>
            </a:pP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00000001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02920" y="2798064"/>
            <a:ext cx="109728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r">
              <a:buNone/>
            </a:pP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B</a:t>
            </a: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</a:t>
            </a:r>
            <a:r>
              <a:rPr lang="zh-CN" altLang="en-US" sz="1600" b="0" i="0" dirty="0">
                <a:solidFill>
                  <a:srgbClr val="404040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  <a:sym typeface="Cambria Math" panose="02040503050406030204"/>
              </a:rPr>
              <a:t>⋘</a:t>
            </a: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2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1645920" y="2816352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1911096" y="2816352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76272" y="2816352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2441448" y="2816352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2706624" y="2816352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2971800" y="2816352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3236976" y="2816352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3502152" y="2816352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3831336" y="2816352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4096512" y="2816352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4361688" y="2816352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4626864" y="2816352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4892040" y="2816352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5157216" y="2816352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5422392" y="2816352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5687568" y="2816352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6016752" y="2816352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6281928" y="2816352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547104" y="2816352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6812280" y="2816352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7077456" y="2816352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7342632" y="2816352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7607808" y="2816352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7872984" y="2816352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8202168" y="2816352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8467344" y="2816352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8732520" y="2816352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8997696" y="2816352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9262872" y="2816352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9528048" y="2816352"/>
            <a:ext cx="265176" cy="274320"/>
          </a:xfrm>
          <a:prstGeom prst="rect">
            <a:avLst/>
          </a:prstGeom>
          <a:solidFill>
            <a:srgbClr val="C00000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FFFFFF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9793224" y="2816352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10058400" y="2816352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0433304" y="2798064"/>
            <a:ext cx="114300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buNone/>
            </a:pP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00000004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502920" y="3127248"/>
            <a:ext cx="109728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r">
              <a:buNone/>
            </a:pP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B</a:t>
            </a: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</a:t>
            </a:r>
            <a:r>
              <a:rPr lang="zh-CN" altLang="en-US" sz="1600" b="0" i="0" dirty="0">
                <a:solidFill>
                  <a:srgbClr val="404040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  <a:sym typeface="Cambria Math" panose="02040503050406030204"/>
              </a:rPr>
              <a:t>⋘</a:t>
            </a: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10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1645920" y="3145536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1911096" y="3145536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2176272" y="3145536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2441448" y="3145536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2706624" y="3145536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2971800" y="3145536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3236976" y="3145536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3502152" y="3145536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3831336" y="3145536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4096512" y="3145536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4361688" y="3145536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4626864" y="3145536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4892040" y="3145536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5157216" y="3145536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5422392" y="3145536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5687568" y="3145536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6016752" y="3145536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6281928" y="3145536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6547104" y="3145536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6812280" y="3145536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7077456" y="3145536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7342632" y="3145536"/>
            <a:ext cx="265176" cy="274320"/>
          </a:xfrm>
          <a:prstGeom prst="rect">
            <a:avLst/>
          </a:prstGeom>
          <a:solidFill>
            <a:srgbClr val="C00000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FFFFFF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99" name="Rectangle 98"/>
          <p:cNvSpPr/>
          <p:nvPr/>
        </p:nvSpPr>
        <p:spPr>
          <a:xfrm>
            <a:off x="7607808" y="3145536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7872984" y="3145536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8202168" y="3145536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02" name="Rectangle 101"/>
          <p:cNvSpPr/>
          <p:nvPr/>
        </p:nvSpPr>
        <p:spPr>
          <a:xfrm>
            <a:off x="8467344" y="3145536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8732520" y="3145536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8997696" y="3145536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05" name="Rectangle 104"/>
          <p:cNvSpPr/>
          <p:nvPr/>
        </p:nvSpPr>
        <p:spPr>
          <a:xfrm>
            <a:off x="9262872" y="3145536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06" name="Rectangle 105"/>
          <p:cNvSpPr/>
          <p:nvPr/>
        </p:nvSpPr>
        <p:spPr>
          <a:xfrm>
            <a:off x="9528048" y="3145536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07" name="Rectangle 106"/>
          <p:cNvSpPr/>
          <p:nvPr/>
        </p:nvSpPr>
        <p:spPr>
          <a:xfrm>
            <a:off x="9793224" y="3145536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10058400" y="3145536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10433304" y="3127248"/>
            <a:ext cx="114300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buNone/>
            </a:pP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00000400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502920" y="3456432"/>
            <a:ext cx="109728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r">
              <a:buNone/>
            </a:pP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B</a:t>
            </a: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</a:t>
            </a:r>
            <a:r>
              <a:rPr lang="zh-CN" altLang="en-US" sz="1600" b="0" i="0" dirty="0">
                <a:solidFill>
                  <a:srgbClr val="404040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  <a:sym typeface="Cambria Math" panose="02040503050406030204"/>
              </a:rPr>
              <a:t>⋘</a:t>
            </a: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18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1645920" y="3474720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1911096" y="3474720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2176272" y="3474720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14" name="Rectangle 113"/>
          <p:cNvSpPr/>
          <p:nvPr/>
        </p:nvSpPr>
        <p:spPr>
          <a:xfrm>
            <a:off x="2441448" y="3474720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2706624" y="3474720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16" name="Rectangle 115"/>
          <p:cNvSpPr/>
          <p:nvPr/>
        </p:nvSpPr>
        <p:spPr>
          <a:xfrm>
            <a:off x="2971800" y="3474720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17" name="Rectangle 116"/>
          <p:cNvSpPr/>
          <p:nvPr/>
        </p:nvSpPr>
        <p:spPr>
          <a:xfrm>
            <a:off x="3236976" y="3474720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18" name="Rectangle 117"/>
          <p:cNvSpPr/>
          <p:nvPr/>
        </p:nvSpPr>
        <p:spPr>
          <a:xfrm>
            <a:off x="3502152" y="3474720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19" name="Rectangle 118"/>
          <p:cNvSpPr/>
          <p:nvPr/>
        </p:nvSpPr>
        <p:spPr>
          <a:xfrm>
            <a:off x="3831336" y="3474720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20" name="Rectangle 119"/>
          <p:cNvSpPr/>
          <p:nvPr/>
        </p:nvSpPr>
        <p:spPr>
          <a:xfrm>
            <a:off x="4096512" y="3474720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21" name="Rectangle 120"/>
          <p:cNvSpPr/>
          <p:nvPr/>
        </p:nvSpPr>
        <p:spPr>
          <a:xfrm>
            <a:off x="4361688" y="3474720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22" name="Rectangle 121"/>
          <p:cNvSpPr/>
          <p:nvPr/>
        </p:nvSpPr>
        <p:spPr>
          <a:xfrm>
            <a:off x="4626864" y="3474720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23" name="Rectangle 122"/>
          <p:cNvSpPr/>
          <p:nvPr/>
        </p:nvSpPr>
        <p:spPr>
          <a:xfrm>
            <a:off x="4892040" y="3474720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24" name="Rectangle 123"/>
          <p:cNvSpPr/>
          <p:nvPr/>
        </p:nvSpPr>
        <p:spPr>
          <a:xfrm>
            <a:off x="5157216" y="3474720"/>
            <a:ext cx="265176" cy="274320"/>
          </a:xfrm>
          <a:prstGeom prst="rect">
            <a:avLst/>
          </a:prstGeom>
          <a:solidFill>
            <a:srgbClr val="C00000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FFFFFF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25" name="Rectangle 124"/>
          <p:cNvSpPr/>
          <p:nvPr/>
        </p:nvSpPr>
        <p:spPr>
          <a:xfrm>
            <a:off x="5422392" y="3474720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26" name="Rectangle 125"/>
          <p:cNvSpPr/>
          <p:nvPr/>
        </p:nvSpPr>
        <p:spPr>
          <a:xfrm>
            <a:off x="5687568" y="3474720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27" name="Rectangle 126"/>
          <p:cNvSpPr/>
          <p:nvPr/>
        </p:nvSpPr>
        <p:spPr>
          <a:xfrm>
            <a:off x="6016752" y="3474720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6281928" y="3474720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29" name="Rectangle 128"/>
          <p:cNvSpPr/>
          <p:nvPr/>
        </p:nvSpPr>
        <p:spPr>
          <a:xfrm>
            <a:off x="6547104" y="3474720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30" name="Rectangle 129"/>
          <p:cNvSpPr/>
          <p:nvPr/>
        </p:nvSpPr>
        <p:spPr>
          <a:xfrm>
            <a:off x="6812280" y="3474720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31" name="Rectangle 130"/>
          <p:cNvSpPr/>
          <p:nvPr/>
        </p:nvSpPr>
        <p:spPr>
          <a:xfrm>
            <a:off x="7077456" y="3474720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7342632" y="3474720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33" name="Rectangle 132"/>
          <p:cNvSpPr/>
          <p:nvPr/>
        </p:nvSpPr>
        <p:spPr>
          <a:xfrm>
            <a:off x="7607808" y="3474720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34" name="Rectangle 133"/>
          <p:cNvSpPr/>
          <p:nvPr/>
        </p:nvSpPr>
        <p:spPr>
          <a:xfrm>
            <a:off x="7872984" y="3474720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35" name="Rectangle 134"/>
          <p:cNvSpPr/>
          <p:nvPr/>
        </p:nvSpPr>
        <p:spPr>
          <a:xfrm>
            <a:off x="8202168" y="3474720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36" name="Rectangle 135"/>
          <p:cNvSpPr/>
          <p:nvPr/>
        </p:nvSpPr>
        <p:spPr>
          <a:xfrm>
            <a:off x="8467344" y="3474720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37" name="Rectangle 136"/>
          <p:cNvSpPr/>
          <p:nvPr/>
        </p:nvSpPr>
        <p:spPr>
          <a:xfrm>
            <a:off x="8732520" y="3474720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38" name="Rectangle 137"/>
          <p:cNvSpPr/>
          <p:nvPr/>
        </p:nvSpPr>
        <p:spPr>
          <a:xfrm>
            <a:off x="8997696" y="3474720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39" name="Rectangle 138"/>
          <p:cNvSpPr/>
          <p:nvPr/>
        </p:nvSpPr>
        <p:spPr>
          <a:xfrm>
            <a:off x="9262872" y="3474720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9528048" y="3474720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9793224" y="3474720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10058400" y="3474720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10433304" y="3456432"/>
            <a:ext cx="114300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buNone/>
            </a:pP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00040000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502920" y="3785616"/>
            <a:ext cx="109728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r">
              <a:buNone/>
            </a:pP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B</a:t>
            </a: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</a:t>
            </a:r>
            <a:r>
              <a:rPr lang="zh-CN" altLang="en-US" sz="1600" b="0" i="0" dirty="0">
                <a:solidFill>
                  <a:srgbClr val="404040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  <a:sym typeface="Cambria Math" panose="02040503050406030204"/>
              </a:rPr>
              <a:t>⋘</a:t>
            </a: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24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45" name="Rectangle 144"/>
          <p:cNvSpPr/>
          <p:nvPr/>
        </p:nvSpPr>
        <p:spPr>
          <a:xfrm>
            <a:off x="1645920" y="3803904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46" name="Rectangle 145"/>
          <p:cNvSpPr/>
          <p:nvPr/>
        </p:nvSpPr>
        <p:spPr>
          <a:xfrm>
            <a:off x="1911096" y="3803904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47" name="Rectangle 146"/>
          <p:cNvSpPr/>
          <p:nvPr/>
        </p:nvSpPr>
        <p:spPr>
          <a:xfrm>
            <a:off x="2176272" y="3803904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48" name="Rectangle 147"/>
          <p:cNvSpPr/>
          <p:nvPr/>
        </p:nvSpPr>
        <p:spPr>
          <a:xfrm>
            <a:off x="2441448" y="3803904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49" name="Rectangle 148"/>
          <p:cNvSpPr/>
          <p:nvPr/>
        </p:nvSpPr>
        <p:spPr>
          <a:xfrm>
            <a:off x="2706624" y="3803904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50" name="Rectangle 149"/>
          <p:cNvSpPr/>
          <p:nvPr/>
        </p:nvSpPr>
        <p:spPr>
          <a:xfrm>
            <a:off x="2971800" y="3803904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51" name="Rectangle 150"/>
          <p:cNvSpPr/>
          <p:nvPr/>
        </p:nvSpPr>
        <p:spPr>
          <a:xfrm>
            <a:off x="3236976" y="3803904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52" name="Rectangle 151"/>
          <p:cNvSpPr/>
          <p:nvPr/>
        </p:nvSpPr>
        <p:spPr>
          <a:xfrm>
            <a:off x="3502152" y="3803904"/>
            <a:ext cx="265176" cy="274320"/>
          </a:xfrm>
          <a:prstGeom prst="rect">
            <a:avLst/>
          </a:prstGeom>
          <a:solidFill>
            <a:srgbClr val="C00000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FFFFFF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53" name="Rectangle 152"/>
          <p:cNvSpPr/>
          <p:nvPr/>
        </p:nvSpPr>
        <p:spPr>
          <a:xfrm>
            <a:off x="3831336" y="3803904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54" name="Rectangle 153"/>
          <p:cNvSpPr/>
          <p:nvPr/>
        </p:nvSpPr>
        <p:spPr>
          <a:xfrm>
            <a:off x="4096512" y="3803904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55" name="Rectangle 154"/>
          <p:cNvSpPr/>
          <p:nvPr/>
        </p:nvSpPr>
        <p:spPr>
          <a:xfrm>
            <a:off x="4361688" y="3803904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56" name="Rectangle 155"/>
          <p:cNvSpPr/>
          <p:nvPr/>
        </p:nvSpPr>
        <p:spPr>
          <a:xfrm>
            <a:off x="4626864" y="3803904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57" name="Rectangle 156"/>
          <p:cNvSpPr/>
          <p:nvPr/>
        </p:nvSpPr>
        <p:spPr>
          <a:xfrm>
            <a:off x="4892040" y="3803904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58" name="Rectangle 157"/>
          <p:cNvSpPr/>
          <p:nvPr/>
        </p:nvSpPr>
        <p:spPr>
          <a:xfrm>
            <a:off x="5157216" y="3803904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59" name="Rectangle 158"/>
          <p:cNvSpPr/>
          <p:nvPr/>
        </p:nvSpPr>
        <p:spPr>
          <a:xfrm>
            <a:off x="5422392" y="3803904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60" name="Rectangle 159"/>
          <p:cNvSpPr/>
          <p:nvPr/>
        </p:nvSpPr>
        <p:spPr>
          <a:xfrm>
            <a:off x="5687568" y="3803904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61" name="Rectangle 160"/>
          <p:cNvSpPr/>
          <p:nvPr/>
        </p:nvSpPr>
        <p:spPr>
          <a:xfrm>
            <a:off x="6016752" y="3803904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62" name="Rectangle 161"/>
          <p:cNvSpPr/>
          <p:nvPr/>
        </p:nvSpPr>
        <p:spPr>
          <a:xfrm>
            <a:off x="6281928" y="3803904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63" name="Rectangle 162"/>
          <p:cNvSpPr/>
          <p:nvPr/>
        </p:nvSpPr>
        <p:spPr>
          <a:xfrm>
            <a:off x="6547104" y="3803904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64" name="Rectangle 163"/>
          <p:cNvSpPr/>
          <p:nvPr/>
        </p:nvSpPr>
        <p:spPr>
          <a:xfrm>
            <a:off x="6812280" y="3803904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65" name="Rectangle 164"/>
          <p:cNvSpPr/>
          <p:nvPr/>
        </p:nvSpPr>
        <p:spPr>
          <a:xfrm>
            <a:off x="7077456" y="3803904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66" name="Rectangle 165"/>
          <p:cNvSpPr/>
          <p:nvPr/>
        </p:nvSpPr>
        <p:spPr>
          <a:xfrm>
            <a:off x="7342632" y="3803904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67" name="Rectangle 166"/>
          <p:cNvSpPr/>
          <p:nvPr/>
        </p:nvSpPr>
        <p:spPr>
          <a:xfrm>
            <a:off x="7607808" y="3803904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68" name="Rectangle 167"/>
          <p:cNvSpPr/>
          <p:nvPr/>
        </p:nvSpPr>
        <p:spPr>
          <a:xfrm>
            <a:off x="7872984" y="3803904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69" name="Rectangle 168"/>
          <p:cNvSpPr/>
          <p:nvPr/>
        </p:nvSpPr>
        <p:spPr>
          <a:xfrm>
            <a:off x="8202168" y="3803904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70" name="Rectangle 169"/>
          <p:cNvSpPr/>
          <p:nvPr/>
        </p:nvSpPr>
        <p:spPr>
          <a:xfrm>
            <a:off x="8467344" y="3803904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71" name="Rectangle 170"/>
          <p:cNvSpPr/>
          <p:nvPr/>
        </p:nvSpPr>
        <p:spPr>
          <a:xfrm>
            <a:off x="8732520" y="3803904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72" name="Rectangle 171"/>
          <p:cNvSpPr/>
          <p:nvPr/>
        </p:nvSpPr>
        <p:spPr>
          <a:xfrm>
            <a:off x="8997696" y="3803904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73" name="Rectangle 172"/>
          <p:cNvSpPr/>
          <p:nvPr/>
        </p:nvSpPr>
        <p:spPr>
          <a:xfrm>
            <a:off x="9262872" y="3803904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74" name="Rectangle 173"/>
          <p:cNvSpPr/>
          <p:nvPr/>
        </p:nvSpPr>
        <p:spPr>
          <a:xfrm>
            <a:off x="9528048" y="3803904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75" name="Rectangle 174"/>
          <p:cNvSpPr/>
          <p:nvPr/>
        </p:nvSpPr>
        <p:spPr>
          <a:xfrm>
            <a:off x="9793224" y="3803904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76" name="Rectangle 175"/>
          <p:cNvSpPr/>
          <p:nvPr/>
        </p:nvSpPr>
        <p:spPr>
          <a:xfrm>
            <a:off x="10058400" y="3803904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0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77" name="TextBox 176"/>
          <p:cNvSpPr txBox="1"/>
          <p:nvPr/>
        </p:nvSpPr>
        <p:spPr>
          <a:xfrm>
            <a:off x="10433304" y="3785616"/>
            <a:ext cx="114300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buNone/>
            </a:pP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01000000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502920" y="4242816"/>
            <a:ext cx="109728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r">
              <a:buNone/>
            </a:pP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L</a:t>
            </a: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(</a:t>
            </a: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B</a:t>
            </a: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)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79" name="Rectangle 178"/>
          <p:cNvSpPr/>
          <p:nvPr/>
        </p:nvSpPr>
        <p:spPr>
          <a:xfrm>
            <a:off x="1645920" y="4261104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1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80" name="Rectangle 179"/>
          <p:cNvSpPr/>
          <p:nvPr/>
        </p:nvSpPr>
        <p:spPr>
          <a:xfrm>
            <a:off x="1911096" y="4261104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1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81" name="Rectangle 180"/>
          <p:cNvSpPr/>
          <p:nvPr/>
        </p:nvSpPr>
        <p:spPr>
          <a:xfrm>
            <a:off x="2176272" y="4261104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1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82" name="Rectangle 181"/>
          <p:cNvSpPr/>
          <p:nvPr/>
        </p:nvSpPr>
        <p:spPr>
          <a:xfrm>
            <a:off x="2441448" y="4261104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1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83" name="Rectangle 182"/>
          <p:cNvSpPr/>
          <p:nvPr/>
        </p:nvSpPr>
        <p:spPr>
          <a:xfrm>
            <a:off x="2706624" y="4261104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1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84" name="Rectangle 183"/>
          <p:cNvSpPr/>
          <p:nvPr/>
        </p:nvSpPr>
        <p:spPr>
          <a:xfrm>
            <a:off x="2971800" y="4261104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1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85" name="Rectangle 184"/>
          <p:cNvSpPr/>
          <p:nvPr/>
        </p:nvSpPr>
        <p:spPr>
          <a:xfrm>
            <a:off x="3236976" y="4261104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1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86" name="Rectangle 185"/>
          <p:cNvSpPr/>
          <p:nvPr/>
        </p:nvSpPr>
        <p:spPr>
          <a:xfrm>
            <a:off x="3502152" y="4261104"/>
            <a:ext cx="265176" cy="274320"/>
          </a:xfrm>
          <a:prstGeom prst="rect">
            <a:avLst/>
          </a:prstGeom>
          <a:solidFill>
            <a:srgbClr val="C00000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1" i="0" dirty="0">
                <a:solidFill>
                  <a:srgbClr val="FFFFFF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87" name="Rectangle 186"/>
          <p:cNvSpPr/>
          <p:nvPr/>
        </p:nvSpPr>
        <p:spPr>
          <a:xfrm>
            <a:off x="3831336" y="4261104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1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88" name="Rectangle 187"/>
          <p:cNvSpPr/>
          <p:nvPr/>
        </p:nvSpPr>
        <p:spPr>
          <a:xfrm>
            <a:off x="4096512" y="4261104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1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89" name="Rectangle 188"/>
          <p:cNvSpPr/>
          <p:nvPr/>
        </p:nvSpPr>
        <p:spPr>
          <a:xfrm>
            <a:off x="4361688" y="4261104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1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90" name="Rectangle 189"/>
          <p:cNvSpPr/>
          <p:nvPr/>
        </p:nvSpPr>
        <p:spPr>
          <a:xfrm>
            <a:off x="4626864" y="4261104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1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91" name="Rectangle 190"/>
          <p:cNvSpPr/>
          <p:nvPr/>
        </p:nvSpPr>
        <p:spPr>
          <a:xfrm>
            <a:off x="4892040" y="4261104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1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92" name="Rectangle 191"/>
          <p:cNvSpPr/>
          <p:nvPr/>
        </p:nvSpPr>
        <p:spPr>
          <a:xfrm>
            <a:off x="5157216" y="4261104"/>
            <a:ext cx="265176" cy="274320"/>
          </a:xfrm>
          <a:prstGeom prst="rect">
            <a:avLst/>
          </a:prstGeom>
          <a:solidFill>
            <a:srgbClr val="C00000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1" i="0" dirty="0">
                <a:solidFill>
                  <a:srgbClr val="FFFFFF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93" name="Rectangle 192"/>
          <p:cNvSpPr/>
          <p:nvPr/>
        </p:nvSpPr>
        <p:spPr>
          <a:xfrm>
            <a:off x="5422392" y="4261104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1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94" name="Rectangle 193"/>
          <p:cNvSpPr/>
          <p:nvPr/>
        </p:nvSpPr>
        <p:spPr>
          <a:xfrm>
            <a:off x="5687568" y="4261104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1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95" name="Rectangle 194"/>
          <p:cNvSpPr/>
          <p:nvPr/>
        </p:nvSpPr>
        <p:spPr>
          <a:xfrm>
            <a:off x="6016752" y="4261104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1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96" name="Rectangle 195"/>
          <p:cNvSpPr/>
          <p:nvPr/>
        </p:nvSpPr>
        <p:spPr>
          <a:xfrm>
            <a:off x="6281928" y="4261104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1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97" name="Rectangle 196"/>
          <p:cNvSpPr/>
          <p:nvPr/>
        </p:nvSpPr>
        <p:spPr>
          <a:xfrm>
            <a:off x="6547104" y="4261104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1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98" name="Rectangle 197"/>
          <p:cNvSpPr/>
          <p:nvPr/>
        </p:nvSpPr>
        <p:spPr>
          <a:xfrm>
            <a:off x="6812280" y="4261104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1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99" name="Rectangle 198"/>
          <p:cNvSpPr/>
          <p:nvPr/>
        </p:nvSpPr>
        <p:spPr>
          <a:xfrm>
            <a:off x="7077456" y="4261104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1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00" name="Rectangle 199"/>
          <p:cNvSpPr/>
          <p:nvPr/>
        </p:nvSpPr>
        <p:spPr>
          <a:xfrm>
            <a:off x="7342632" y="4261104"/>
            <a:ext cx="265176" cy="274320"/>
          </a:xfrm>
          <a:prstGeom prst="rect">
            <a:avLst/>
          </a:prstGeom>
          <a:solidFill>
            <a:srgbClr val="C00000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1" i="0" dirty="0">
                <a:solidFill>
                  <a:srgbClr val="FFFFFF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01" name="Rectangle 200"/>
          <p:cNvSpPr/>
          <p:nvPr/>
        </p:nvSpPr>
        <p:spPr>
          <a:xfrm>
            <a:off x="7607808" y="4261104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1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02" name="Rectangle 201"/>
          <p:cNvSpPr/>
          <p:nvPr/>
        </p:nvSpPr>
        <p:spPr>
          <a:xfrm>
            <a:off x="7872984" y="4261104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1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03" name="Rectangle 202"/>
          <p:cNvSpPr/>
          <p:nvPr/>
        </p:nvSpPr>
        <p:spPr>
          <a:xfrm>
            <a:off x="8202168" y="4261104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1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04" name="Rectangle 203"/>
          <p:cNvSpPr/>
          <p:nvPr/>
        </p:nvSpPr>
        <p:spPr>
          <a:xfrm>
            <a:off x="8467344" y="4261104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1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05" name="Rectangle 204"/>
          <p:cNvSpPr/>
          <p:nvPr/>
        </p:nvSpPr>
        <p:spPr>
          <a:xfrm>
            <a:off x="8732520" y="4261104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1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06" name="Rectangle 205"/>
          <p:cNvSpPr/>
          <p:nvPr/>
        </p:nvSpPr>
        <p:spPr>
          <a:xfrm>
            <a:off x="8997696" y="4261104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1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07" name="Rectangle 206"/>
          <p:cNvSpPr/>
          <p:nvPr/>
        </p:nvSpPr>
        <p:spPr>
          <a:xfrm>
            <a:off x="9262872" y="4261104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1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08" name="Rectangle 207"/>
          <p:cNvSpPr/>
          <p:nvPr/>
        </p:nvSpPr>
        <p:spPr>
          <a:xfrm>
            <a:off x="9528048" y="4261104"/>
            <a:ext cx="265176" cy="274320"/>
          </a:xfrm>
          <a:prstGeom prst="rect">
            <a:avLst/>
          </a:prstGeom>
          <a:solidFill>
            <a:srgbClr val="C00000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1" i="0" dirty="0">
                <a:solidFill>
                  <a:srgbClr val="FFFFFF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09" name="Rectangle 208"/>
          <p:cNvSpPr/>
          <p:nvPr/>
        </p:nvSpPr>
        <p:spPr>
          <a:xfrm>
            <a:off x="9793224" y="4261104"/>
            <a:ext cx="265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1" i="0" dirty="0">
                <a:solidFill>
                  <a:srgbClr val="A6A6A6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10" name="Rectangle 209"/>
          <p:cNvSpPr/>
          <p:nvPr/>
        </p:nvSpPr>
        <p:spPr>
          <a:xfrm>
            <a:off x="10058400" y="4261104"/>
            <a:ext cx="265176" cy="274320"/>
          </a:xfrm>
          <a:prstGeom prst="rect">
            <a:avLst/>
          </a:prstGeom>
          <a:solidFill>
            <a:srgbClr val="C00000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1" i="0" dirty="0">
                <a:solidFill>
                  <a:srgbClr val="FFFFFF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</a:t>
            </a:r>
            <a:endParaRPr lang="zh-CN" altLang="en-US" sz="1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11" name="TextBox 210"/>
          <p:cNvSpPr txBox="1"/>
          <p:nvPr/>
        </p:nvSpPr>
        <p:spPr>
          <a:xfrm>
            <a:off x="10433304" y="4242816"/>
            <a:ext cx="114300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buNone/>
            </a:pPr>
            <a:r>
              <a:rPr lang="zh-CN" altLang="en-US" sz="16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01040405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212" name="Connector 211"/>
          <p:cNvCxnSpPr/>
          <p:nvPr/>
        </p:nvCxnSpPr>
        <p:spPr>
          <a:xfrm>
            <a:off x="1645920" y="4178808"/>
            <a:ext cx="8677656" cy="0"/>
          </a:xfrm>
          <a:prstGeom prst="line">
            <a:avLst/>
          </a:prstGeom>
          <a:ln w="12700">
            <a:solidFill>
              <a:srgbClr val="404040"/>
            </a:solidFill>
          </a:ln>
        </p:spPr>
      </p:cxnSp>
      <p:sp>
        <p:nvSpPr>
          <p:cNvPr id="213" name="TextBox 212"/>
          <p:cNvSpPr txBox="1"/>
          <p:nvPr/>
        </p:nvSpPr>
        <p:spPr>
          <a:xfrm>
            <a:off x="594360" y="4709160"/>
            <a:ext cx="11018520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输入只有 </a:t>
            </a: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个比特为 1，输出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L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(00000001) = 01040405 有 </a:t>
            </a: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5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个比特为 1，分布在全部 4 个字节里——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  <a:p>
            <a:pPr marL="0" indent="0" algn="l">
              <a:lnSpc>
                <a:spcPct val="108000"/>
              </a:lnSpc>
              <a:buNone/>
            </a:pP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一个字节的变化会扩散到整个字，这就是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L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负责的</a:t>
            </a: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扩散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。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14" name="Rectangle 213"/>
          <p:cNvSpPr/>
          <p:nvPr/>
        </p:nvSpPr>
        <p:spPr>
          <a:xfrm>
            <a:off x="594360" y="5480685"/>
            <a:ext cx="11018520" cy="8412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182880" tIns="27432" rIns="182880" bIns="27432" rtlCol="0" anchor="ctr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zh-CN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L 是线性变换：输出由输入与其若干次循环左移的结果异或而成。</a:t>
            </a:r>
            <a:endParaRPr lang="zh-CN">
              <a:solidFill>
                <a:srgbClr val="40404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0" indent="0" algn="l">
              <a:lnSpc>
                <a:spcPct val="108000"/>
              </a:lnSpc>
              <a:buNone/>
            </a:pP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与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τ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复合得到合成置换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T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(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A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) =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L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(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τ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(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A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))：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τ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负责混淆，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L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负责扩散。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zh-CN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6739" y="219050"/>
            <a:ext cx="4133088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典型分组密码</a:t>
            </a:r>
          </a:p>
        </p:txBody>
      </p:sp>
      <p:cxnSp>
        <p:nvCxnSpPr>
          <p:cNvPr id="4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页标题"/>
          <p:cNvSpPr txBox="1"/>
          <p:nvPr/>
        </p:nvSpPr>
        <p:spPr>
          <a:xfrm>
            <a:off x="502920" y="827532"/>
            <a:ext cx="11155680" cy="3931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zh-CN" altLang="en-US" sz="2200" b="1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SM4 密钥扩展：从主密钥到 32 个轮密钥</a:t>
            </a:r>
            <a:endParaRPr lang="zh-CN" altLang="en-US" sz="2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353312"/>
            <a:ext cx="11018520" cy="1572768"/>
          </a:xfrm>
          <a:prstGeom prst="rect">
            <a:avLst/>
          </a:prstGeom>
          <a:solidFill>
            <a:srgbClr val="FBF1F1"/>
          </a:solidFill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marL="0" indent="0" algn="ctr">
              <a:buNone/>
            </a:pP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98480" cy="14813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① 初始化：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主密钥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MK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= (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MK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MK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MK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2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MK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) 与固定参数异或：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K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j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=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MK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j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⊕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FK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j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，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j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= 0, 1, 2, 3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  <a:p>
            <a:pPr marL="0" indent="0" algn="l">
              <a:lnSpc>
                <a:spcPct val="110000"/>
              </a:lnSpc>
              <a:spcBef>
                <a:spcPts val="800"/>
              </a:spcBef>
              <a:buNone/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② 迭代 32 次：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rk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=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K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+4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=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K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⊕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T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′(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K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+1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⊕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K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+2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⊕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K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+3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⊕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CK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)，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= 0, 1, …, 31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  <a:p>
            <a:pPr marL="0" indent="0" algn="l">
              <a:lnSpc>
                <a:spcPct val="110000"/>
              </a:lnSpc>
              <a:spcBef>
                <a:spcPts val="800"/>
              </a:spcBef>
              <a:buNone/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③ 变换 </a:t>
            </a:r>
            <a:r>
              <a:rPr lang="zh-CN" altLang="en-US" sz="1800" b="1" i="1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T</a:t>
            </a: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′：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T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′(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A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) =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L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′(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τ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(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A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))，S 盒与加密相同；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L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′(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B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) =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B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⊕ (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B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</a:t>
            </a:r>
            <a:r>
              <a:rPr lang="zh-CN" altLang="en-US" sz="1800" b="0" i="0" dirty="0">
                <a:solidFill>
                  <a:srgbClr val="404040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  <a:sym typeface="Cambria Math" panose="02040503050406030204"/>
              </a:rPr>
              <a:t>⋘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13) ⊕ (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B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</a:t>
            </a:r>
            <a:r>
              <a:rPr lang="zh-CN" altLang="en-US" sz="1800" b="0" i="0" dirty="0">
                <a:solidFill>
                  <a:srgbClr val="404040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  <a:sym typeface="Cambria Math" panose="02040503050406030204"/>
              </a:rPr>
              <a:t>⋘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23)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3090672"/>
            <a:ext cx="1097280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buNone/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和轮函数对照：结构相同，只有三处不同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graphicFrame>
        <p:nvGraphicFramePr>
          <p:cNvPr id="9" name="轮函数与密钥扩展对照"/>
          <p:cNvGraphicFramePr>
            <a:graphicFrameLocks noGrp="1"/>
          </p:cNvGraphicFramePr>
          <p:nvPr/>
        </p:nvGraphicFramePr>
        <p:xfrm>
          <a:off x="594360" y="3520440"/>
          <a:ext cx="11018520" cy="252374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对比项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轮函数（加密）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密钥扩展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输入的四个字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1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X</a:t>
                      </a:r>
                      <a:r>
                        <a:rPr lang="zh-CN" altLang="en-US" sz="1800" b="0" i="1" baseline="-2500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i</a:t>
                      </a: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, </a:t>
                      </a:r>
                      <a:r>
                        <a:rPr lang="zh-CN" altLang="en-US" sz="1800" b="0" i="1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X</a:t>
                      </a:r>
                      <a:r>
                        <a:rPr lang="zh-CN" altLang="en-US" sz="1800" b="0" i="1" baseline="-2500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i</a:t>
                      </a:r>
                      <a:r>
                        <a:rPr lang="zh-CN" altLang="en-US" sz="1800" b="0" i="0" baseline="-2500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+1</a:t>
                      </a: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, </a:t>
                      </a:r>
                      <a:r>
                        <a:rPr lang="zh-CN" altLang="en-US" sz="1800" b="0" i="1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X</a:t>
                      </a:r>
                      <a:r>
                        <a:rPr lang="zh-CN" altLang="en-US" sz="1800" b="0" i="1" baseline="-2500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i</a:t>
                      </a:r>
                      <a:r>
                        <a:rPr lang="zh-CN" altLang="en-US" sz="1800" b="0" i="0" baseline="-2500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+2</a:t>
                      </a: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, </a:t>
                      </a:r>
                      <a:r>
                        <a:rPr lang="zh-CN" altLang="en-US" sz="1800" b="0" i="1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X</a:t>
                      </a:r>
                      <a:r>
                        <a:rPr lang="zh-CN" altLang="en-US" sz="1800" b="0" i="1" baseline="-2500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i</a:t>
                      </a:r>
                      <a:r>
                        <a:rPr lang="zh-CN" altLang="en-US" sz="1800" b="0" i="0" baseline="-2500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+3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1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K</a:t>
                      </a:r>
                      <a:r>
                        <a:rPr lang="zh-CN" altLang="en-US" sz="1800" b="0" i="1" baseline="-2500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i</a:t>
                      </a: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, </a:t>
                      </a:r>
                      <a:r>
                        <a:rPr lang="zh-CN" altLang="en-US" sz="1800" b="0" i="1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K</a:t>
                      </a:r>
                      <a:r>
                        <a:rPr lang="zh-CN" altLang="en-US" sz="1800" b="0" i="1" baseline="-2500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i</a:t>
                      </a:r>
                      <a:r>
                        <a:rPr lang="zh-CN" altLang="en-US" sz="1800" b="0" i="0" baseline="-2500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+1</a:t>
                      </a: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, </a:t>
                      </a:r>
                      <a:r>
                        <a:rPr lang="zh-CN" altLang="en-US" sz="1800" b="0" i="1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K</a:t>
                      </a:r>
                      <a:r>
                        <a:rPr lang="zh-CN" altLang="en-US" sz="1800" b="0" i="1" baseline="-2500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i</a:t>
                      </a:r>
                      <a:r>
                        <a:rPr lang="zh-CN" altLang="en-US" sz="1800" b="0" i="0" baseline="-2500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+2</a:t>
                      </a: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, </a:t>
                      </a:r>
                      <a:r>
                        <a:rPr lang="zh-CN" altLang="en-US" sz="1800" b="0" i="1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K</a:t>
                      </a:r>
                      <a:r>
                        <a:rPr lang="zh-CN" altLang="en-US" sz="1800" b="0" i="1" baseline="-2500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i</a:t>
                      </a:r>
                      <a:r>
                        <a:rPr lang="zh-CN" altLang="en-US" sz="1800" b="0" i="0" baseline="-2500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+3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参与异或的量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轮密钥 </a:t>
                      </a:r>
                      <a:r>
                        <a:rPr lang="zh-CN" altLang="en-US" sz="1800" b="0" i="1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rk</a:t>
                      </a:r>
                      <a:r>
                        <a:rPr lang="zh-CN" altLang="en-US" sz="1800" b="0" i="1" baseline="-2500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i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固定参数 </a:t>
                      </a:r>
                      <a:r>
                        <a:rPr lang="zh-CN" altLang="en-US" sz="1800" b="0" i="1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CK</a:t>
                      </a:r>
                      <a:r>
                        <a:rPr lang="zh-CN" altLang="en-US" sz="1800" b="0" i="1" baseline="-2500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i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线性变换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1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L</a:t>
                      </a: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：左移 2、10、18、24 位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1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L</a:t>
                      </a:r>
                      <a:r>
                        <a:rPr lang="zh-CN" altLang="en-US" sz="1800" b="0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′：左移 13、23 位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非线性变换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1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τ</a:t>
                      </a: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（同一张 S 盒）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1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τ</a:t>
                      </a: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（同一张 S 盒）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新生成的字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1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X</a:t>
                      </a:r>
                      <a:r>
                        <a:rPr lang="zh-CN" altLang="en-US" sz="1800" b="0" i="1" baseline="-2500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i</a:t>
                      </a:r>
                      <a:r>
                        <a:rPr lang="zh-CN" altLang="en-US" sz="1800" b="0" i="0" baseline="-2500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+4</a:t>
                      </a: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，下一轮的输入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1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K</a:t>
                      </a:r>
                      <a:r>
                        <a:rPr lang="zh-CN" altLang="en-US" sz="1800" b="0" i="1" baseline="-2500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i</a:t>
                      </a:r>
                      <a:r>
                        <a:rPr lang="zh-CN" altLang="en-US" sz="1800" b="0" i="0" baseline="-2500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+4</a:t>
                      </a:r>
                      <a:r>
                        <a:rPr lang="zh-CN" altLang="en-US" sz="1800" b="0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，就是轮密钥 </a:t>
                      </a:r>
                      <a:r>
                        <a:rPr lang="zh-CN" altLang="en-US" sz="1800" b="0" i="1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rk</a:t>
                      </a:r>
                      <a:r>
                        <a:rPr lang="zh-CN" altLang="en-US" sz="1800" b="0" i="1" baseline="-2500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i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zh-CN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6739" y="219050"/>
            <a:ext cx="4133088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典型分组密码</a:t>
            </a:r>
          </a:p>
        </p:txBody>
      </p:sp>
      <p:cxnSp>
        <p:nvCxnSpPr>
          <p:cNvPr id="4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页标题"/>
          <p:cNvSpPr txBox="1"/>
          <p:nvPr/>
        </p:nvSpPr>
        <p:spPr>
          <a:xfrm>
            <a:off x="502920" y="827532"/>
            <a:ext cx="11155680" cy="3931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zh-CN" altLang="en-US" sz="2200" b="1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密钥扩展的固定参数 FK 与 CK</a:t>
            </a:r>
            <a:endParaRPr lang="zh-CN" altLang="en-US" sz="2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493776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buNone/>
            </a:pPr>
            <a:r>
              <a:rPr lang="zh-CN" altLang="en-US" sz="1800" b="1" i="1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FK</a:t>
            </a: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：初始化用的 4 个字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graphicFrame>
        <p:nvGraphicFramePr>
          <p:cNvPr id="7" name="FK表"/>
          <p:cNvGraphicFramePr>
            <a:graphicFrameLocks noGrp="1"/>
          </p:cNvGraphicFramePr>
          <p:nvPr/>
        </p:nvGraphicFramePr>
        <p:xfrm>
          <a:off x="594360" y="1810512"/>
          <a:ext cx="3840480" cy="160934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1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FK</a:t>
                      </a:r>
                      <a:r>
                        <a:rPr lang="zh-CN" altLang="en-US" sz="1800" b="1" i="0" baseline="-2500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A3B1BAC6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1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FK</a:t>
                      </a:r>
                      <a:r>
                        <a:rPr lang="zh-CN" altLang="en-US" sz="1800" b="1" i="0" baseline="-2500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56AA3350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1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FK</a:t>
                      </a:r>
                      <a:r>
                        <a:rPr lang="zh-CN" altLang="en-US" sz="1800" b="1" i="0" baseline="-2500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677D9197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1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FK</a:t>
                      </a:r>
                      <a:r>
                        <a:rPr lang="zh-CN" altLang="en-US" sz="1800" b="1" i="0" baseline="-2500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B27022DC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4195" y="3890010"/>
            <a:ext cx="484632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altLang="zh-CN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FK 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只在第一步使用：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  <a:p>
            <a:pPr marL="0" indent="0" algn="l">
              <a:lnSpc>
                <a:spcPct val="105000"/>
              </a:lnSpc>
              <a:buNone/>
            </a:pP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K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j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=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MK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j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⊕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FK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j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（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j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= 0</a:t>
            </a:r>
            <a:r>
              <a:rPr lang="en-US" altLang="zh-CN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 1, 2, 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3）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806440" y="1371600"/>
            <a:ext cx="585216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buNone/>
            </a:pPr>
            <a:r>
              <a:rPr lang="zh-CN" altLang="en-US" sz="1800" b="1" i="1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CK</a:t>
            </a: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：32 个字，每轮用一个，遵循以下生成规则：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806440" y="1810512"/>
            <a:ext cx="5806440" cy="868680"/>
          </a:xfrm>
          <a:prstGeom prst="rect">
            <a:avLst/>
          </a:prstGeom>
          <a:solidFill>
            <a:srgbClr val="FBF1F1"/>
          </a:solidFill>
          <a:ln>
            <a:noFill/>
          </a:ln>
        </p:spPr>
        <p:txBody>
          <a:bodyPr wrap="square" lIns="182880" tIns="27432" rIns="91440" bIns="27432" rtlCol="0" anchor="ctr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CK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= (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ck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,0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ck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,1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ck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,2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ck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,3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)，每个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ck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j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是一个字节：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  <a:p>
            <a:pPr marL="0" indent="0" algn="l">
              <a:lnSpc>
                <a:spcPct val="108000"/>
              </a:lnSpc>
              <a:buNone/>
            </a:pP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ck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j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= (4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+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j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) × 7  mod  256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806440" y="2743200"/>
            <a:ext cx="585216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buNone/>
            </a:pP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例：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CK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（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i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= 1）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graphicFrame>
        <p:nvGraphicFramePr>
          <p:cNvPr id="12" name="CK1推导"/>
          <p:cNvGraphicFramePr>
            <a:graphicFrameLocks noGrp="1"/>
          </p:cNvGraphicFramePr>
          <p:nvPr/>
        </p:nvGraphicFramePr>
        <p:xfrm>
          <a:off x="5806440" y="3108960"/>
          <a:ext cx="5806440" cy="16459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1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j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</a:t>
                      </a:r>
                      <a:r>
                        <a:rPr lang="zh-CN" altLang="en-US" sz="1800" b="1" i="1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i</a:t>
                      </a: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 + </a:t>
                      </a:r>
                      <a:r>
                        <a:rPr lang="zh-CN" altLang="en-US" sz="1800" b="1" i="1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j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× 7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mod 256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十六进制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28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28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1C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35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35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23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42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42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2A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7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49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49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806440" y="4800600"/>
            <a:ext cx="5852160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所以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CK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= </a:t>
            </a: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1C232A31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；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同理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CK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= 00070E15，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CK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31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= 646B7279。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94360" y="5486400"/>
            <a:ext cx="11018520" cy="7863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182880" tIns="27432" rIns="182880" bIns="27432" rtlCol="0" anchor="ctr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FK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、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CK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都是公开常量，作用是让密钥扩展的各轮互不相同，避免轮密钥之间出现简单关系；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  <a:p>
            <a:pPr marL="0" indent="0" algn="l">
              <a:lnSpc>
                <a:spcPct val="105000"/>
              </a:lnSpc>
              <a:buNone/>
            </a:pP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需要保密的只有主密钥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MK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。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zh-CN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6739" y="219050"/>
            <a:ext cx="4133088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典型分组密码</a:t>
            </a:r>
          </a:p>
        </p:txBody>
      </p:sp>
      <p:cxnSp>
        <p:nvCxnSpPr>
          <p:cNvPr id="4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页标题"/>
          <p:cNvSpPr txBox="1"/>
          <p:nvPr/>
        </p:nvSpPr>
        <p:spPr>
          <a:xfrm>
            <a:off x="502920" y="827532"/>
            <a:ext cx="11155680" cy="3931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zh-CN" altLang="en-US" sz="2200" b="1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SM4 的解密算法</a:t>
            </a:r>
            <a:endParaRPr lang="zh-CN" altLang="en-US" sz="2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1101852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buNone/>
            </a:pP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解密与加密用</a:t>
            </a: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同一个算法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，只是轮密钥倒过来用：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rk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31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rk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30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 …,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rk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。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7" name="图形_底色"/>
          <p:cNvSpPr/>
          <p:nvPr/>
        </p:nvSpPr>
        <p:spPr>
          <a:xfrm>
            <a:off x="594360" y="1828800"/>
            <a:ext cx="5486400" cy="3429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marL="0" indent="0" algn="ctr">
              <a:buNone/>
            </a:pP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1874520"/>
            <a:ext cx="512064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buNone/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解密第 1 轮：还原 </a:t>
            </a:r>
            <a:r>
              <a:rPr lang="zh-CN" altLang="en-US" sz="1800" b="1" i="1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1" i="0" baseline="-2500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31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2267712"/>
            <a:ext cx="512064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buNone/>
            </a:pPr>
            <a:r>
              <a:rPr lang="zh-CN" altLang="en-US" sz="1600" b="0" i="0" dirty="0">
                <a:solidFill>
                  <a:srgbClr val="595959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输入密文（四个字）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68680" y="2606040"/>
            <a:ext cx="1143000" cy="402336"/>
          </a:xfrm>
          <a:prstGeom prst="rect">
            <a:avLst/>
          </a:prstGeom>
          <a:solidFill>
            <a:srgbClr val="F3DFDF"/>
          </a:solidFill>
          <a:ln w="15875">
            <a:solidFill>
              <a:srgbClr val="C0000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0" i="1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0" baseline="-25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35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148840" y="2606040"/>
            <a:ext cx="11430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0" i="1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0" baseline="-25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34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429000" y="2606040"/>
            <a:ext cx="11430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0" i="1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0" baseline="-25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33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709160" y="2606040"/>
            <a:ext cx="11430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0" i="1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0" baseline="-25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32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148840" y="3310128"/>
            <a:ext cx="3703320" cy="438912"/>
          </a:xfrm>
          <a:prstGeom prst="rect">
            <a:avLst/>
          </a:prstGeom>
          <a:solidFill>
            <a:srgbClr val="FBF1F1"/>
          </a:solidFill>
          <a:ln w="12700">
            <a:solidFill>
              <a:srgbClr val="C00000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T</a:t>
            </a: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(</a:t>
            </a: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6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34</a:t>
            </a: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⊕ </a:t>
            </a: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6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33</a:t>
            </a: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⊕ </a:t>
            </a: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6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32</a:t>
            </a: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⊕ </a:t>
            </a: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rk</a:t>
            </a:r>
            <a:r>
              <a:rPr lang="zh-CN" altLang="en-US" sz="16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31</a:t>
            </a: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)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2720340" y="3008376"/>
            <a:ext cx="0" cy="301752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cxnSp>
        <p:nvCxnSpPr>
          <p:cNvPr id="16" name="Connector 15"/>
          <p:cNvCxnSpPr/>
          <p:nvPr/>
        </p:nvCxnSpPr>
        <p:spPr>
          <a:xfrm>
            <a:off x="4000500" y="3008376"/>
            <a:ext cx="0" cy="301752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cxnSp>
        <p:nvCxnSpPr>
          <p:cNvPr id="17" name="Connector 16"/>
          <p:cNvCxnSpPr/>
          <p:nvPr/>
        </p:nvCxnSpPr>
        <p:spPr>
          <a:xfrm>
            <a:off x="5280660" y="3008376"/>
            <a:ext cx="0" cy="301752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cxnSp>
        <p:nvCxnSpPr>
          <p:cNvPr id="18" name="Connector 17"/>
          <p:cNvCxnSpPr/>
          <p:nvPr/>
        </p:nvCxnSpPr>
        <p:spPr>
          <a:xfrm>
            <a:off x="1440180" y="3008376"/>
            <a:ext cx="0" cy="374904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cxnSp>
        <p:nvCxnSpPr>
          <p:cNvPr id="19" name="Connector 18"/>
          <p:cNvCxnSpPr/>
          <p:nvPr/>
        </p:nvCxnSpPr>
        <p:spPr>
          <a:xfrm flipH="1">
            <a:off x="1586484" y="3529584"/>
            <a:ext cx="562356" cy="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sp>
        <p:nvSpPr>
          <p:cNvPr id="20" name="Or 19"/>
          <p:cNvSpPr/>
          <p:nvPr/>
        </p:nvSpPr>
        <p:spPr>
          <a:xfrm>
            <a:off x="1293876" y="3383280"/>
            <a:ext cx="292608" cy="292608"/>
          </a:xfrm>
          <a:prstGeom prst="flowChartOr">
            <a:avLst/>
          </a:prstGeom>
          <a:solidFill>
            <a:srgbClr val="FFFFFF"/>
          </a:solidFill>
          <a:ln w="15875">
            <a:solidFill>
              <a:srgbClr val="404040"/>
            </a:solidFill>
          </a:ln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endParaRPr lang="zh-CN" altLang="en-US" sz="1000"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1440180" y="3675888"/>
            <a:ext cx="0" cy="393192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</p:cxnSp>
      <p:sp>
        <p:nvSpPr>
          <p:cNvPr id="22" name="Rectangle 21"/>
          <p:cNvSpPr/>
          <p:nvPr/>
        </p:nvSpPr>
        <p:spPr>
          <a:xfrm>
            <a:off x="868680" y="4069080"/>
            <a:ext cx="1143000" cy="402336"/>
          </a:xfrm>
          <a:prstGeom prst="rect">
            <a:avLst/>
          </a:prstGeom>
          <a:solidFill>
            <a:srgbClr val="F3DFDF"/>
          </a:solidFill>
          <a:ln w="15875">
            <a:solidFill>
              <a:srgbClr val="C0000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0" i="1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0" baseline="-2500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31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148840" y="4069080"/>
            <a:ext cx="11430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0" i="1" dirty="0">
                <a:solidFill>
                  <a:srgbClr val="9A9A9A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0" baseline="-25000" dirty="0">
                <a:solidFill>
                  <a:srgbClr val="9A9A9A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34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429000" y="4069080"/>
            <a:ext cx="11430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0" i="1" dirty="0">
                <a:solidFill>
                  <a:srgbClr val="9A9A9A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0" baseline="-25000" dirty="0">
                <a:solidFill>
                  <a:srgbClr val="9A9A9A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33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709160" y="4069080"/>
            <a:ext cx="11430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0" i="1" dirty="0">
                <a:solidFill>
                  <a:srgbClr val="9A9A9A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0" baseline="-25000" dirty="0">
                <a:solidFill>
                  <a:srgbClr val="9A9A9A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32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77240" y="4572000"/>
            <a:ext cx="521208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得到的新字正是 </a:t>
            </a: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6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31</a:t>
            </a: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；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继续 32 轮，就能倒推回 </a:t>
            </a: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6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 </a:t>
            </a: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6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</a:t>
            </a: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 </a:t>
            </a: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6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2</a:t>
            </a: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 </a:t>
            </a:r>
            <a:r>
              <a:rPr lang="zh-CN" altLang="en-US" sz="16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6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</a:t>
            </a:r>
            <a:r>
              <a:rPr lang="zh-CN" altLang="en-US" sz="16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。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309360" y="1828800"/>
            <a:ext cx="5349240" cy="34747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① 输入：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  <a:p>
            <a:pPr marL="0" indent="0" algn="l">
              <a:lnSpc>
                <a:spcPct val="110000"/>
              </a:lnSpc>
              <a:buNone/>
            </a:pP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(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Y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Y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Y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2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Y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) = (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35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34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33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32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)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  <a:p>
            <a:pPr marL="0" indent="0" algn="l">
              <a:lnSpc>
                <a:spcPct val="110000"/>
              </a:lnSpc>
              <a:spcBef>
                <a:spcPts val="1000"/>
              </a:spcBef>
              <a:buNone/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② 迭代 32 轮（</a:t>
            </a:r>
            <a:r>
              <a:rPr lang="zh-CN" altLang="en-US" sz="1800" b="1" i="1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j</a:t>
            </a: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= 0, 1, …, 31）：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  <a:p>
            <a:pPr marL="0" indent="0" algn="l">
              <a:lnSpc>
                <a:spcPct val="110000"/>
              </a:lnSpc>
              <a:buNone/>
            </a:pP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Y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j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+4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=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Y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j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⊕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T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(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Y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j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+1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⊕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Y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j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+2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⊕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Y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j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+3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⊕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rk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31−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j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)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  <a:p>
            <a:pPr marL="0" indent="0" algn="l">
              <a:lnSpc>
                <a:spcPct val="110000"/>
              </a:lnSpc>
              <a:spcBef>
                <a:spcPts val="1000"/>
              </a:spcBef>
              <a:buNone/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③ 反序输出明文：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  <a:p>
            <a:pPr marL="0" indent="0" algn="l">
              <a:lnSpc>
                <a:spcPct val="110000"/>
              </a:lnSpc>
              <a:buNone/>
            </a:pP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(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Y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35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Y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34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Y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33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Y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32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) = (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2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)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94360" y="5394960"/>
            <a:ext cx="11018520" cy="896112"/>
          </a:xfrm>
          <a:prstGeom prst="rect">
            <a:avLst/>
          </a:prstGeom>
          <a:solidFill>
            <a:srgbClr val="FBF1F1"/>
          </a:solidFill>
          <a:ln>
            <a:noFill/>
          </a:ln>
        </p:spPr>
        <p:txBody>
          <a:bodyPr wrap="square" lIns="182880" tIns="27432" rIns="182880" bIns="27432" rtlCol="0" anchor="ctr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为什么能还原？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加密最后一轮是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35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=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31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⊕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T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(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32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⊕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33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⊕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34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⊕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rk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31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)，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  <a:p>
            <a:pPr marL="0" indent="0" algn="l">
              <a:lnSpc>
                <a:spcPct val="105000"/>
              </a:lnSpc>
              <a:buNone/>
            </a:pP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解密用同样的三个字和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rk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31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重新算出同一个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T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值，再异或一次就抵消，得到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31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，不需要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T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可逆。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zh-CN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6739" y="219050"/>
            <a:ext cx="4133088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典型分组密码</a:t>
            </a:r>
          </a:p>
        </p:txBody>
      </p:sp>
      <p:cxnSp>
        <p:nvCxnSpPr>
          <p:cNvPr id="4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页标题"/>
          <p:cNvSpPr txBox="1"/>
          <p:nvPr/>
        </p:nvSpPr>
        <p:spPr>
          <a:xfrm>
            <a:off x="502920" y="827532"/>
            <a:ext cx="11155680" cy="3931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zh-CN" altLang="en-US" sz="2200" b="1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SM4 加密示例（国标测试数据）</a:t>
            </a:r>
            <a:endParaRPr lang="zh-CN" altLang="en-US" sz="2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1335024"/>
            <a:ext cx="11018520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明文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= 主密钥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MK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= 01234567 89ABCDEF FEDCBA98 76543210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  <a:p>
            <a:pPr marL="0" indent="0" algn="l">
              <a:lnSpc>
                <a:spcPct val="105000"/>
              </a:lnSpc>
              <a:buNone/>
            </a:pPr>
            <a:r>
              <a:rPr lang="zh-CN" altLang="en-US" sz="1600" b="0" i="0" dirty="0">
                <a:solidFill>
                  <a:srgbClr val="7F7F7F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（GB/T 32907—2016 附录中的示例，明文与密钥取值相同；以下均为十六进制）</a:t>
            </a:r>
            <a:endParaRPr lang="zh-CN" altLang="en-US" sz="16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7" name="图形_底色"/>
          <p:cNvSpPr/>
          <p:nvPr/>
        </p:nvSpPr>
        <p:spPr>
          <a:xfrm>
            <a:off x="594360" y="2057400"/>
            <a:ext cx="5440680" cy="2377440"/>
          </a:xfrm>
          <a:prstGeom prst="rect">
            <a:avLst/>
          </a:prstGeom>
          <a:solidFill>
            <a:srgbClr val="FBF1F1"/>
          </a:solidFill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marL="0" indent="0" algn="ctr">
              <a:buNone/>
            </a:pP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8" name="图形_底色"/>
          <p:cNvSpPr/>
          <p:nvPr/>
        </p:nvSpPr>
        <p:spPr>
          <a:xfrm>
            <a:off x="6172200" y="2057400"/>
            <a:ext cx="5440680" cy="2377440"/>
          </a:xfrm>
          <a:prstGeom prst="rect">
            <a:avLst/>
          </a:prstGeom>
          <a:solidFill>
            <a:srgbClr val="FBF1F1"/>
          </a:solidFill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marL="0" indent="0" algn="ctr">
              <a:buNone/>
            </a:pP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5120640" cy="2286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① 密钥扩展：求 </a:t>
            </a:r>
            <a:r>
              <a:rPr lang="zh-CN" altLang="en-US" sz="1800" b="1" i="1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rk</a:t>
            </a:r>
            <a:r>
              <a:rPr lang="zh-CN" altLang="en-US" sz="1800" b="1" i="0" baseline="-2500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  <a:p>
            <a:pPr marL="0" indent="0" algn="l">
              <a:lnSpc>
                <a:spcPct val="108000"/>
              </a:lnSpc>
              <a:buNone/>
            </a:pP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K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～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K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=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MK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⊕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FK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  <a:p>
            <a:pPr marL="0" indent="0" algn="l">
              <a:lnSpc>
                <a:spcPct val="108000"/>
              </a:lnSpc>
              <a:buNone/>
            </a:pP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= A292FFA1 DF01FEBF 99A12B0F C42410CC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  <a:p>
            <a:pPr marL="0" indent="0" algn="l">
              <a:lnSpc>
                <a:spcPct val="108000"/>
              </a:lnSpc>
              <a:buNone/>
            </a:pP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K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⊕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K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2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⊕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K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⊕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CK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= 8283CB69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  <a:p>
            <a:pPr marL="0" indent="0" algn="l">
              <a:lnSpc>
                <a:spcPct val="108000"/>
              </a:lnSpc>
              <a:buNone/>
            </a:pP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→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τ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→ 8AD24122 →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L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′ → 53B37958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  <a:p>
            <a:pPr marL="0" indent="0" algn="l">
              <a:lnSpc>
                <a:spcPct val="108000"/>
              </a:lnSpc>
              <a:buNone/>
            </a:pP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rk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=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K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⊕ 53B37958 = </a:t>
            </a: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F12186F9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55080" y="2103120"/>
            <a:ext cx="5120640" cy="2286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② 加密第 1 轮：求 </a:t>
            </a:r>
            <a:r>
              <a:rPr lang="zh-CN" altLang="en-US" sz="1800" b="1" i="1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1" i="0" baseline="-2500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4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  <a:p>
            <a:pPr marL="0" indent="0" algn="l">
              <a:lnSpc>
                <a:spcPct val="108000"/>
              </a:lnSpc>
              <a:buNone/>
            </a:pP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1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⊕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2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⊕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⊕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rk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= F002C39E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  <a:p>
            <a:pPr marL="0" indent="0" algn="l">
              <a:lnSpc>
                <a:spcPct val="108000"/>
              </a:lnSpc>
              <a:buNone/>
            </a:pP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→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τ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→ 18E992B1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  <a:p>
            <a:pPr marL="0" indent="0" algn="l">
              <a:lnSpc>
                <a:spcPct val="108000"/>
              </a:lnSpc>
              <a:buNone/>
            </a:pP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→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L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→ 26D99622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  <a:p>
            <a:pPr marL="0" indent="0" algn="l">
              <a:lnSpc>
                <a:spcPct val="108000"/>
              </a:lnSpc>
              <a:buNone/>
            </a:pP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4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=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0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⊕ 26D99622 = </a:t>
            </a: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27FAD345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  <p:graphicFrame>
        <p:nvGraphicFramePr>
          <p:cNvPr id="11" name="SM4逐轮结果"/>
          <p:cNvGraphicFramePr>
            <a:graphicFrameLocks noGrp="1"/>
          </p:cNvGraphicFramePr>
          <p:nvPr/>
        </p:nvGraphicFramePr>
        <p:xfrm>
          <a:off x="594360" y="4572000"/>
          <a:ext cx="11018520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轮 </a:t>
                      </a:r>
                      <a:r>
                        <a:rPr lang="zh-CN" altLang="en-US" sz="1800" b="1" i="1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i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⋯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30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1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rk</a:t>
                      </a:r>
                      <a:r>
                        <a:rPr lang="zh-CN" altLang="en-US" sz="1800" b="1" i="1" baseline="-2500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i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F12186F9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41662B61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5A6AB19A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⋯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01CF72E5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9124A012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1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X</a:t>
                      </a:r>
                      <a:r>
                        <a:rPr lang="zh-CN" altLang="en-US" sz="1800" b="1" i="1" baseline="-2500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i</a:t>
                      </a:r>
                      <a:r>
                        <a:rPr lang="zh-CN" altLang="en-US" sz="1800" b="1" i="0" baseline="-2500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+4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27FAD345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A18B4CB2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11C1E22A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⋯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D206965E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681EDF34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94360" y="5760720"/>
            <a:ext cx="11018520" cy="512064"/>
          </a:xfrm>
          <a:prstGeom prst="rect">
            <a:avLst/>
          </a:prstGeom>
          <a:solidFill>
            <a:srgbClr val="FBF1F1"/>
          </a:solidFill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密文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C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 = (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35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34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33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, 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X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32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) = </a:t>
            </a: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681EDF34 D206965E 86B3E94F 536E4246</a:t>
            </a:r>
            <a:endParaRPr lang="zh-CN" altLang="en-US" sz="1800">
              <a:latin typeface="Times New Roman" panose="020206030504050203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zh-CN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2"/>
          <p:cNvSpPr txBox="1"/>
          <p:nvPr/>
        </p:nvSpPr>
        <p:spPr>
          <a:xfrm>
            <a:off x="1066739" y="219050"/>
            <a:ext cx="4133088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典型分组密码</a:t>
            </a:r>
          </a:p>
        </p:txBody>
      </p:sp>
      <p:cxnSp>
        <p:nvCxnSpPr>
          <p:cNvPr id="13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页标题"/>
          <p:cNvSpPr txBox="1"/>
          <p:nvPr/>
        </p:nvSpPr>
        <p:spPr>
          <a:xfrm>
            <a:off x="502920" y="827532"/>
            <a:ext cx="11155680" cy="39319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zh-CN" altLang="en-US" sz="2200" b="1" i="0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cs typeface="Times New Roman" panose="02020603050405020304"/>
              </a:rPr>
              <a:t>DES、AES 与 SM4 的比较</a:t>
            </a:r>
            <a:endParaRPr lang="zh-CN" altLang="en-US" sz="2200"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5" name="正文_5"/>
          <p:cNvSpPr txBox="1"/>
          <p:nvPr/>
        </p:nvSpPr>
        <p:spPr>
          <a:xfrm>
            <a:off x="685800" y="1380744"/>
            <a:ext cx="10817352" cy="4297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 i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</a:rPr>
              <a:t>三种算法都以固定长度的分组为单位，但密钥长度、内部结构和解密方式不同。</a:t>
            </a:r>
          </a:p>
        </p:txBody>
      </p:sp>
      <p:sp>
        <p:nvSpPr>
          <p:cNvPr id="17" name="内容底色_7"/>
          <p:cNvSpPr/>
          <p:nvPr/>
        </p:nvSpPr>
        <p:spPr>
          <a:xfrm>
            <a:off x="502920" y="5989320"/>
            <a:ext cx="11183112" cy="4297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正文_8"/>
          <p:cNvSpPr txBox="1"/>
          <p:nvPr/>
        </p:nvSpPr>
        <p:spPr>
          <a:xfrm>
            <a:off x="685800" y="6062472"/>
            <a:ext cx="10817352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 i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处理长消息时，还需要规定各分组怎样组织和联系——分组密码工作模式。</a:t>
            </a:r>
          </a:p>
        </p:txBody>
      </p:sp>
      <p:graphicFrame>
        <p:nvGraphicFramePr>
          <p:cNvPr id="19" name="三种算法比较"/>
          <p:cNvGraphicFramePr>
            <a:graphicFrameLocks noGrp="1"/>
          </p:cNvGraphicFramePr>
          <p:nvPr/>
        </p:nvGraphicFramePr>
        <p:xfrm>
          <a:off x="594360" y="1847088"/>
          <a:ext cx="11018520" cy="386791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比较项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DES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AES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SM4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分组长度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64 位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128 位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128 位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密钥长度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64 位（有效 56 位）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128 / 192 / 256 位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128 位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轮数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16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10 / 12 / 14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32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整体结构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Feistel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SPN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四分支广义 Feistel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非线性部件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8 个 S 盒（6 位 → 4 位）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S 盒（8 位 → 8 位）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S 盒（8 位 → 8 位）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线性部件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E 扩展、P 置换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行移位、列混淆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线性变换 </a:t>
                      </a:r>
                      <a:r>
                        <a:rPr lang="zh-CN" altLang="en-US" sz="1800" b="0" i="1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L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密钥编排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PC-1、循环左移、PC-2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RotWord、SubWord、Rcon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1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FK</a:t>
                      </a: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、</a:t>
                      </a:r>
                      <a:r>
                        <a:rPr lang="zh-CN" altLang="en-US" sz="1800" b="0" i="1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CK</a:t>
                      </a: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、</a:t>
                      </a:r>
                      <a:r>
                        <a:rPr lang="zh-CN" altLang="en-US" sz="1800" b="0" i="1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T</a:t>
                      </a: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′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i="0" dirty="0">
                          <a:solidFill>
                            <a:srgbClr val="C0000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解密方式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同一结构，轮密钥逆序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用逆变换，轮密钥逆序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0" i="0" dirty="0">
                          <a:solidFill>
                            <a:srgbClr val="404040"/>
                          </a:solidFill>
                          <a:latin typeface="Times New Roman" panose="02020603050405020304"/>
                          <a:ea typeface="微软雅黑" panose="020B0503020204020204" charset="-122"/>
                          <a:cs typeface="Times New Roman" panose="02020603050405020304"/>
                        </a:rPr>
                        <a:t>同一结构，轮密钥逆序</a:t>
                      </a:r>
                      <a:endParaRPr lang="zh-CN" altLang="en-US" sz="1800"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18288" marR="18288" marT="0" marB="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altLang="zh-CN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页标题"/>
          <p:cNvSpPr txBox="1"/>
          <p:nvPr/>
        </p:nvSpPr>
        <p:spPr>
          <a:xfrm>
            <a:off x="502920" y="827532"/>
            <a:ext cx="11155680" cy="3931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zh-CN" altLang="en-US" sz="2200" b="1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课程</a:t>
            </a:r>
            <a:r>
              <a:rPr lang="zh-CN" altLang="en-US" sz="2200" b="1" dirty="0" smtClean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作业</a:t>
            </a:r>
            <a:r>
              <a:rPr lang="zh-CN" sz="2200" b="1" dirty="0" smtClean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1</a:t>
            </a:r>
            <a:r>
              <a:rPr lang="zh-CN" sz="2200" b="1" dirty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：AES 第一轮轮密钥</a:t>
            </a:r>
            <a:endParaRPr lang="zh-CN" sz="2200" b="1" i="0" dirty="0">
              <a:solidFill>
                <a:srgbClr val="222222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6" name="文本_假设有128比特的AES密钥，用十六进制表示为："/>
          <p:cNvSpPr txBox="1"/>
          <p:nvPr/>
        </p:nvSpPr>
        <p:spPr>
          <a:xfrm>
            <a:off x="469900" y="1322070"/>
            <a:ext cx="6908800" cy="342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假设有</a:t>
            </a:r>
            <a:r>
              <a:rPr lang="en-US" altLang="zh-CN" b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 </a:t>
            </a:r>
            <a:r>
              <a:rPr lang="zh-CN" b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128</a:t>
            </a:r>
            <a:r>
              <a:rPr lang="en-US" altLang="zh-CN" b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 </a:t>
            </a:r>
            <a:r>
              <a:rPr lang="zh-CN" b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比特的</a:t>
            </a:r>
            <a:r>
              <a:rPr lang="en-US" altLang="zh-CN" b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 </a:t>
            </a:r>
            <a:r>
              <a:rPr lang="zh-CN" b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AES</a:t>
            </a:r>
            <a:r>
              <a:rPr lang="en-US" altLang="zh-CN" b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 </a:t>
            </a:r>
            <a:r>
              <a:rPr lang="zh-CN" b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密钥，用十六进制表示，如右图状态所示：</a:t>
            </a:r>
          </a:p>
        </p:txBody>
      </p:sp>
      <p:sp>
        <p:nvSpPr>
          <p:cNvPr id="8" name="文本_用到的 S 盒如下："/>
          <p:cNvSpPr txBox="1"/>
          <p:nvPr/>
        </p:nvSpPr>
        <p:spPr>
          <a:xfrm>
            <a:off x="469900" y="1740535"/>
            <a:ext cx="69215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用到的 S 盒如下：</a:t>
            </a:r>
          </a:p>
        </p:txBody>
      </p:sp>
      <p:graphicFrame>
        <p:nvGraphicFramePr>
          <p:cNvPr id="9" name="AES S盒_原生可编辑"/>
          <p:cNvGraphicFramePr>
            <a:graphicFrameLocks noGrp="1"/>
          </p:cNvGraphicFramePr>
          <p:nvPr/>
        </p:nvGraphicFramePr>
        <p:xfrm>
          <a:off x="469900" y="2108200"/>
          <a:ext cx="6908800" cy="3989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1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x / y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1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1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1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1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2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1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3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1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4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1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5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1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6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1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7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1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8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1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9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1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A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1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B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1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C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1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D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1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E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1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F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1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63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7C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77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7B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F2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6B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6F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C5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30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01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67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2B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FE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D7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AB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76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1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1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CA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82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C9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7D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FA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59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47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F0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AD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D4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A2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AF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9C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A4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72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C0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1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2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B7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FD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93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26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36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3F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F7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CC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34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A5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E5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F1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71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D8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31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15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1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3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04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C7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23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C3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18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96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05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9A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07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12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80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E2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EB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27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B2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75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1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4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09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83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2C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1A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1B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6E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5A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A0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52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3B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D6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B3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29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E3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2F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84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1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5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53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D1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00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ED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20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FC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B1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5B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6A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CB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BE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39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4A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4C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58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CF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1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6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D0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EF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AA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FB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43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4D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33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85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45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F9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02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7F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50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3C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9F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A8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1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7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51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A3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40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8F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92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9D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38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F5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BC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B6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DA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21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10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FF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F3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D2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1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8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CD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0C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13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EC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5F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97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44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17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C4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A7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7E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3D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64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5D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19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73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1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9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60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81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4F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DC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22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2A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90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88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46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EE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B8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14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DE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5E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0B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DB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1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A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E0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32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3A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0A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49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06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24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5C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C2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D3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AC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62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91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95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E4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79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1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B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E7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C8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37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6D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8D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D5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4E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A9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6C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56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F4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EA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65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7A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AE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08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1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C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BA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78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25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2E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1C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A6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B4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C6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E8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DD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74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1F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4B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BD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8B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8A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1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D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70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3E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B5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66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48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03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F6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0E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61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35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57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B9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86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C1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1D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9E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1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E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E1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F8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98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11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69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D9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8E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94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9B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1E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87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E9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CE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55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28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DF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1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F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8C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A1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89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0D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BF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E6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42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68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41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99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2D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0F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B0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54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BB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>
                          <a:solidFill>
                            <a:srgbClr val="222222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16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10" name="图形_背景"/>
          <p:cNvSpPr/>
          <p:nvPr/>
        </p:nvSpPr>
        <p:spPr>
          <a:xfrm>
            <a:off x="7877810" y="5389880"/>
            <a:ext cx="3870325" cy="463550"/>
          </a:xfrm>
          <a:prstGeom prst="rect">
            <a:avLst/>
          </a:prstGeom>
          <a:solidFill>
            <a:srgbClr val="FA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  <a:sym typeface="+mn-ea"/>
              </a:rPr>
              <a:t>求第一轮的轮密钥。</a:t>
            </a:r>
          </a:p>
        </p:txBody>
      </p:sp>
      <p:sp>
        <p:nvSpPr>
          <p:cNvPr id="12" name="文本_用到的常数 Rcon 如下："/>
          <p:cNvSpPr txBox="1"/>
          <p:nvPr/>
        </p:nvSpPr>
        <p:spPr>
          <a:xfrm>
            <a:off x="7875905" y="3161030"/>
            <a:ext cx="3870325" cy="292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>
                <a:solidFill>
                  <a:srgbClr val="222222"/>
                </a:solidFill>
                <a:latin typeface="Times New Roman" panose="02020603050405020304"/>
                <a:ea typeface="微软雅黑" panose="020B0503020204020204" charset="-122"/>
              </a:rPr>
              <a:t>用到的常数 Rcon 如下：</a:t>
            </a:r>
          </a:p>
        </p:txBody>
      </p:sp>
      <p:sp>
        <p:nvSpPr>
          <p:cNvPr id="13" name="文本_Rcon[j] = (rc{j}, 00, 00, 00"/>
          <p:cNvSpPr txBox="1"/>
          <p:nvPr/>
        </p:nvSpPr>
        <p:spPr>
          <a:xfrm>
            <a:off x="7875905" y="3500755"/>
            <a:ext cx="3870325" cy="342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Rcon[</a:t>
            </a:r>
            <a:r>
              <a:rPr lang="zh-CN" b="0" i="1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j</a:t>
            </a:r>
            <a:r>
              <a:rPr lang="zh-CN" b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] = (</a:t>
            </a:r>
            <a:r>
              <a:rPr lang="en-US" altLang="zh-CN" b="0" i="1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RC</a:t>
            </a:r>
            <a:r>
              <a:rPr lang="zh-CN" b="0" i="1" baseline="-2200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j</a:t>
            </a:r>
            <a:r>
              <a:rPr lang="zh-CN" b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, 00, 00, 00)</a:t>
            </a:r>
          </a:p>
        </p:txBody>
      </p:sp>
      <p:graphicFrame>
        <p:nvGraphicFramePr>
          <p:cNvPr id="14" name="AES Rcon常数_已补齐首轮"/>
          <p:cNvGraphicFramePr>
            <a:graphicFrameLocks noGrp="1"/>
          </p:cNvGraphicFramePr>
          <p:nvPr/>
        </p:nvGraphicFramePr>
        <p:xfrm>
          <a:off x="7875905" y="4017010"/>
          <a:ext cx="3813810" cy="603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67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7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67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7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67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467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4671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4671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4671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7305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 i="1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j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1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5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6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7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8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9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800" b="0" i="1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RC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01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02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04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08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40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80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1B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222222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36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C5C5C5"/>
                      </a:solidFill>
                      <a:prstDash val="solid"/>
                    </a:lnL>
                    <a:lnR w="6350">
                      <a:solidFill>
                        <a:srgbClr val="C5C5C5"/>
                      </a:solidFill>
                      <a:prstDash val="solid"/>
                    </a:lnR>
                    <a:lnT w="6350">
                      <a:solidFill>
                        <a:srgbClr val="C5C5C5"/>
                      </a:solidFill>
                      <a:prstDash val="solid"/>
                    </a:lnT>
                    <a:lnB w="6350">
                      <a:solidFill>
                        <a:srgbClr val="C5C5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文本_各项均以十六进制表示。"/>
          <p:cNvSpPr txBox="1"/>
          <p:nvPr/>
        </p:nvSpPr>
        <p:spPr>
          <a:xfrm>
            <a:off x="7881620" y="4761865"/>
            <a:ext cx="3870325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各项均以十六进制表示。</a:t>
            </a:r>
          </a:p>
        </p:txBody>
      </p:sp>
      <p:sp>
        <p:nvSpPr>
          <p:cNvPr id="19" name="TextBox 2"/>
          <p:cNvSpPr txBox="1"/>
          <p:nvPr/>
        </p:nvSpPr>
        <p:spPr>
          <a:xfrm>
            <a:off x="1066739" y="219050"/>
            <a:ext cx="4133088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分组密码</a:t>
            </a:r>
          </a:p>
        </p:txBody>
      </p:sp>
      <p:graphicFrame>
        <p:nvGraphicFramePr>
          <p:cNvPr id="20" name="表格 19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85402387"/>
              </p:ext>
            </p:extLst>
          </p:nvPr>
        </p:nvGraphicFramePr>
        <p:xfrm>
          <a:off x="7875905" y="1209675"/>
          <a:ext cx="3355340" cy="1729740"/>
        </p:xfrm>
        <a:graphic>
          <a:graphicData uri="http://schemas.openxmlformats.org/drawingml/2006/table">
            <a:tbl>
              <a:tblPr/>
              <a:tblGrid>
                <a:gridCol w="824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3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2435">
                <a:tc>
                  <a:txBody>
                    <a:bodyPr/>
                    <a:lstStyle/>
                    <a:p>
                      <a:pPr marL="3048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smtClean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A1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38100" marR="38100" marT="76200" marB="762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048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B5</a:t>
                      </a:r>
                    </a:p>
                  </a:txBody>
                  <a:tcPr marL="38100" marR="38100" marT="76200" marB="762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048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94</a:t>
                      </a:r>
                    </a:p>
                  </a:txBody>
                  <a:tcPr marL="38100" marR="38100" marT="76200" marB="762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048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D0</a:t>
                      </a:r>
                    </a:p>
                  </a:txBody>
                  <a:tcPr marL="38100" marR="38100" marT="76200" marB="762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435">
                <a:tc>
                  <a:txBody>
                    <a:bodyPr/>
                    <a:lstStyle/>
                    <a:p>
                      <a:pPr marL="3048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2E</a:t>
                      </a:r>
                    </a:p>
                  </a:txBody>
                  <a:tcPr marL="38100" marR="38100" marT="76200" marB="762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048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3A</a:t>
                      </a:r>
                    </a:p>
                  </a:txBody>
                  <a:tcPr marL="38100" marR="38100" marT="76200" marB="762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048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25</a:t>
                      </a:r>
                    </a:p>
                  </a:txBody>
                  <a:tcPr marL="38100" marR="38100" marT="76200" marB="762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048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44</a:t>
                      </a:r>
                    </a:p>
                  </a:txBody>
                  <a:tcPr marL="38100" marR="38100" marT="76200" marB="762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435">
                <a:tc>
                  <a:txBody>
                    <a:bodyPr/>
                    <a:lstStyle/>
                    <a:p>
                      <a:pPr marL="3048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F3</a:t>
                      </a:r>
                    </a:p>
                  </a:txBody>
                  <a:tcPr marL="38100" marR="38100" marT="76200" marB="762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048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5B</a:t>
                      </a:r>
                    </a:p>
                  </a:txBody>
                  <a:tcPr marL="38100" marR="38100" marT="76200" marB="762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048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17</a:t>
                      </a:r>
                    </a:p>
                  </a:txBody>
                  <a:tcPr marL="38100" marR="38100" marT="76200" marB="762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048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52</a:t>
                      </a:r>
                    </a:p>
                  </a:txBody>
                  <a:tcPr marL="38100" marR="38100" marT="76200" marB="762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435">
                <a:tc>
                  <a:txBody>
                    <a:bodyPr/>
                    <a:lstStyle/>
                    <a:p>
                      <a:pPr marL="3048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A0</a:t>
                      </a:r>
                    </a:p>
                  </a:txBody>
                  <a:tcPr marL="38100" marR="38100" marT="76200" marB="762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048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7D</a:t>
                      </a:r>
                    </a:p>
                  </a:txBody>
                  <a:tcPr marL="38100" marR="38100" marT="76200" marB="762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048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C9</a:t>
                      </a:r>
                    </a:p>
                  </a:txBody>
                  <a:tcPr marL="38100" marR="38100" marT="76200" marB="762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048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21</a:t>
                      </a:r>
                    </a:p>
                  </a:txBody>
                  <a:tcPr marL="38100" marR="38100" marT="76200" marB="762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zh-CN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页标题"/>
          <p:cNvSpPr txBox="1"/>
          <p:nvPr/>
        </p:nvSpPr>
        <p:spPr>
          <a:xfrm>
            <a:off x="502920" y="827532"/>
            <a:ext cx="11155680" cy="3931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zh-CN" altLang="en-US" sz="2200" b="1" dirty="0">
                <a:solidFill>
                  <a:srgbClr val="333333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课程</a:t>
            </a:r>
            <a:r>
              <a:rPr lang="zh-CN" altLang="en-US" sz="2200" b="1" dirty="0" smtClean="0">
                <a:solidFill>
                  <a:srgbClr val="333333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作业</a:t>
            </a:r>
            <a:r>
              <a:rPr lang="zh-CN" altLang="en-US" sz="2200" b="1" i="0" dirty="0" smtClean="0">
                <a:solidFill>
                  <a:srgbClr val="333333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2</a:t>
            </a:r>
            <a:r>
              <a:rPr lang="zh-CN" altLang="en-US" sz="2200" b="1" i="0" dirty="0">
                <a:solidFill>
                  <a:srgbClr val="333333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：轮密钥的对称性与选择明文攻击</a:t>
            </a:r>
          </a:p>
        </p:txBody>
      </p:sp>
      <p:sp>
        <p:nvSpPr>
          <p:cNvPr id="6" name="TextBox 2"/>
          <p:cNvSpPr txBox="1"/>
          <p:nvPr/>
        </p:nvSpPr>
        <p:spPr>
          <a:xfrm>
            <a:off x="1066739" y="219050"/>
            <a:ext cx="4133088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i="0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典型分组密码</a:t>
            </a:r>
          </a:p>
        </p:txBody>
      </p:sp>
      <p:sp>
        <p:nvSpPr>
          <p:cNvPr id="7" name="图形_背景"/>
          <p:cNvSpPr/>
          <p:nvPr/>
        </p:nvSpPr>
        <p:spPr>
          <a:xfrm>
            <a:off x="502920" y="1408176"/>
            <a:ext cx="11210544" cy="868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27432" rIns="137160" bIns="27432" rtlCol="0" anchor="ctr">
            <a:noAutofit/>
          </a:bodyPr>
          <a:lstStyle/>
          <a:p>
            <a:pPr marL="0" indent="0">
              <a:buNone/>
            </a:pP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设某个 SM4 变体的轮函数和反序变换 R 都与 SM4 相同，但密钥扩展有缺陷：对任意主密钥，生成的轮密钥都满足 rk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31−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= rk</a:t>
            </a:r>
            <a:r>
              <a:rPr lang="zh-CN" altLang="en-US" sz="1800" b="0" i="1" baseline="-25000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（</a:t>
            </a:r>
            <a:r>
              <a:rPr lang="zh-CN" altLang="en-US" sz="1800" b="0" i="1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= 0, 1, …, 15），即轮密钥序列前后对称。</a:t>
            </a:r>
          </a:p>
        </p:txBody>
      </p:sp>
      <p:sp>
        <p:nvSpPr>
          <p:cNvPr id="8" name="TextBox 23"/>
          <p:cNvSpPr txBox="1"/>
          <p:nvPr/>
        </p:nvSpPr>
        <p:spPr>
          <a:xfrm>
            <a:off x="558165" y="2465070"/>
            <a:ext cx="11155045" cy="38227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indent="0" algn="l" fontAlgn="auto">
              <a:lnSpc>
                <a:spcPct val="100000"/>
              </a:lnSpc>
              <a:spcBef>
                <a:spcPts val="1600"/>
              </a:spcBef>
              <a:buNone/>
            </a:pP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(1) 证明：对这个变体，同一密钥下的加密算法与解密算法完全相同；</a:t>
            </a:r>
          </a:p>
          <a:p>
            <a:pPr indent="0" algn="l" fontAlgn="auto">
              <a:lnSpc>
                <a:spcPct val="100000"/>
              </a:lnSpc>
              <a:spcBef>
                <a:spcPts val="1600"/>
              </a:spcBef>
              <a:buNone/>
            </a:pPr>
            <a:endParaRPr lang="zh-CN" altLang="en-US" sz="1800" b="0" i="0" dirty="0">
              <a:solidFill>
                <a:srgbClr val="40404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indent="0" algn="l" fontAlgn="auto">
              <a:lnSpc>
                <a:spcPct val="100000"/>
              </a:lnSpc>
              <a:spcBef>
                <a:spcPts val="1600"/>
              </a:spcBef>
              <a:buNone/>
            </a:pPr>
            <a:endParaRPr lang="zh-CN" altLang="en-US" sz="1800" b="0" i="0" dirty="0">
              <a:solidFill>
                <a:srgbClr val="40404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indent="0" algn="l" fontAlgn="auto">
              <a:lnSpc>
                <a:spcPct val="100000"/>
              </a:lnSpc>
              <a:spcBef>
                <a:spcPts val="1600"/>
              </a:spcBef>
              <a:buNone/>
            </a:pPr>
            <a:endParaRPr lang="zh-CN" altLang="en-US" sz="1800" b="0" i="0" dirty="0">
              <a:solidFill>
                <a:srgbClr val="40404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0" name="内容底色_6"/>
          <p:cNvSpPr/>
          <p:nvPr/>
        </p:nvSpPr>
        <p:spPr>
          <a:xfrm>
            <a:off x="594360" y="5653278"/>
            <a:ext cx="11018520" cy="731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i="0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提示：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SM4 的解密与加密是同一个算法，只是轮密钥按 rk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31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, rk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30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, …, rk</a:t>
            </a:r>
            <a:r>
              <a:rPr lang="zh-CN" altLang="en-US" sz="1800" b="0" i="0" baseline="-25000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0</a:t>
            </a:r>
            <a:r>
              <a:rPr lang="zh-CN" altLang="en-US" sz="1800" b="0" i="0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的顺序使用。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40080" y="4270375"/>
            <a:ext cx="1101852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 fontAlgn="auto">
              <a:lnSpc>
                <a:spcPct val="100000"/>
              </a:lnSpc>
              <a:spcBef>
                <a:spcPts val="1600"/>
              </a:spcBef>
              <a:buNone/>
            </a:pPr>
            <a:r>
              <a:rPr lang="zh-CN" altLang="en-US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(2) 攻击者截获一段密文 </a:t>
            </a:r>
            <a:r>
              <a:rPr lang="zh-CN" altLang="en-US" i="1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C</a:t>
            </a:r>
            <a:r>
              <a:rPr lang="zh-CN" altLang="en-US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，并且可以让系统对他选定的任意明文进行加密（选择明文攻击）。他怎样只提交一次加密请求，就得到 </a:t>
            </a:r>
            <a:r>
              <a:rPr lang="zh-CN" altLang="en-US" i="1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C</a:t>
            </a:r>
            <a:r>
              <a:rPr lang="zh-CN" altLang="en-US" dirty="0">
                <a:solidFill>
                  <a:srgbClr val="40404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对应的明文？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710180"/>
            <a:ext cx="944575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谢谢！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85cdf94d-2bb2-4b04-838a-86a44d3bd643"/>
  <p:tag name="COMMONDATA" val="eyJoZGlkIjoiN2NjMGRiN2MwMWUxOGQyNjI2NjFhOWNlNjA1ZDYyOT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XEDSHAPES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XEDSHAPES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0.4,&quot;left&quot;:56.160000000000004,&quot;top&quot;:228.24,&quot;width&quot;:315.36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0.4,&quot;left&quot;:56.160000000000004,&quot;top&quot;:228.24,&quot;width&quot;:315.36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0.4,&quot;left&quot;:56.160000000000004,&quot;top&quot;:228.24,&quot;width&quot;:315.36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0.4,&quot;left&quot;:56.160000000000004,&quot;top&quot;:228.24,&quot;width&quot;:315.36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0.4,&quot;left&quot;:56.160000000000004,&quot;top&quot;:228.24,&quot;width&quot;:315.36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0.4,&quot;left&quot;:56.160000000000004,&quot;top&quot;:228.24,&quot;width&quot;:315.36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0.4,&quot;left&quot;:56.160000000000004,&quot;top&quot;:228.24,&quot;width&quot;:315.36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0.4,&quot;left&quot;:56.160000000000004,&quot;top&quot;:228.24,&quot;width&quot;:315.36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3.04,&quot;left&quot;:375.84000000000003,&quot;top&quot;:154.89000000000001,&quot;width&quot;:518.4000000000002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3.04,&quot;left&quot;:375.84000000000003,&quot;top&quot;:154.89000000000001,&quot;width&quot;:518.4000000000002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3.04,&quot;left&quot;:375.84000000000003,&quot;top&quot;:154.89000000000001,&quot;width&quot;:518.4000000000002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3.04,&quot;left&quot;:375.84000000000003,&quot;top&quot;:154.89000000000001,&quot;width&quot;:518.4000000000002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3.04,&quot;left&quot;:375.84000000000003,&quot;top&quot;:154.89000000000001,&quot;width&quot;:518.4000000000002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3.04,&quot;left&quot;:375.84000000000003,&quot;top&quot;:154.89000000000001,&quot;width&quot;:518.4000000000002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8,&quot;left&quot;:54,&quot;top&quot;:179,&quot;width&quot;:852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8,&quot;left&quot;:54,&quot;top&quot;:179,&quot;width&quot;:852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8,&quot;left&quot;:54,&quot;top&quot;:179,&quot;width&quot;:852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8,&quot;left&quot;:54,&quot;top&quot;:179,&quot;width&quot;:852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8,&quot;left&quot;:54,&quot;top&quot;:179,&quot;width&quot;:852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8,&quot;left&quot;:54,&quot;top&quot;:179,&quot;width&quot;:852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8,&quot;left&quot;:54,&quot;top&quot;:179,&quot;width&quot;:852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8,&quot;left&quot;:54,&quot;top&quot;:179,&quot;width&quot;:852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8,&quot;left&quot;:54,&quot;top&quot;:179,&quot;width&quot;:852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8,&quot;left&quot;:54,&quot;top&quot;:179,&quot;width&quot;:852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8,&quot;left&quot;:54,&quot;top&quot;:179,&quot;width&quot;:852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8,&quot;left&quot;:54,&quot;top&quot;:179,&quot;width&quot;:852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8,&quot;left&quot;:54,&quot;top&quot;:179,&quot;width&quot;:852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8,&quot;left&quot;:54,&quot;top&quot;:179,&quot;width&quot;:852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8,&quot;left&quot;:54,&quot;top&quot;:179,&quot;width&quot;:852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8,&quot;left&quot;:54,&quot;top&quot;:179,&quot;width&quot;:852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8,&quot;left&quot;:54,&quot;top&quot;:179,&quot;width&quot;:852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8,&quot;left&quot;:54,&quot;top&quot;:179,&quot;width&quot;:852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8,&quot;left&quot;:54,&quot;top&quot;:179,&quot;width&quot;:852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8,&quot;left&quot;:54,&quot;top&quot;:179,&quot;width&quot;:852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8,&quot;left&quot;:54,&quot;top&quot;:179,&quot;width&quot;:852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73*136"/>
  <p:tag name="TABLE_ENDDRAG_RECT" val="628*66*273*136"/>
</p:tagLst>
</file>

<file path=ppt/theme/theme1.xml><?xml version="1.0" encoding="utf-8"?>
<a:theme xmlns:a="http://schemas.openxmlformats.org/drawingml/2006/main" name="主题1">
  <a:themeElements>
    <a:clrScheme name="Calligraphy">
      <a:dk1>
        <a:sysClr val="windowText" lastClr="000000"/>
      </a:dk1>
      <a:lt1>
        <a:sysClr val="window" lastClr="FFFFFF"/>
      </a:lt1>
      <a:dk2>
        <a:srgbClr val="411401"/>
      </a:dk2>
      <a:lt2>
        <a:srgbClr val="FFE6E6"/>
      </a:lt2>
      <a:accent1>
        <a:srgbClr val="A24A48"/>
      </a:accent1>
      <a:accent2>
        <a:srgbClr val="B2935C"/>
      </a:accent2>
      <a:accent3>
        <a:srgbClr val="6A9A9A"/>
      </a:accent3>
      <a:accent4>
        <a:srgbClr val="B2B787"/>
      </a:accent4>
      <a:accent5>
        <a:srgbClr val="91644B"/>
      </a:accent5>
      <a:accent6>
        <a:srgbClr val="654A76"/>
      </a:accent6>
      <a:hlink>
        <a:srgbClr val="00A800"/>
      </a:hlink>
      <a:folHlink>
        <a:srgbClr val="FF00FF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113</TotalTime>
  <Words>14592</Words>
  <Application>Microsoft Office PowerPoint</Application>
  <PresentationFormat>宽屏</PresentationFormat>
  <Paragraphs>3378</Paragraphs>
  <Slides>57</Slides>
  <Notes>57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57</vt:i4>
      </vt:variant>
    </vt:vector>
  </HeadingPairs>
  <TitlesOfParts>
    <vt:vector size="71" baseType="lpstr">
      <vt:lpstr>DejaVu Math TeX Gyre</vt:lpstr>
      <vt:lpstr>Noto Sans CJK SC</vt:lpstr>
      <vt:lpstr>等线</vt:lpstr>
      <vt:lpstr>宋体</vt:lpstr>
      <vt:lpstr>微软雅黑</vt:lpstr>
      <vt:lpstr>字魂111号-金榜招牌体</vt:lpstr>
      <vt:lpstr>Arial</vt:lpstr>
      <vt:lpstr>Arial Black</vt:lpstr>
      <vt:lpstr>Calibri</vt:lpstr>
      <vt:lpstr>Cambria Math</vt:lpstr>
      <vt:lpstr>Consolas</vt:lpstr>
      <vt:lpstr>Times New Roman</vt:lpstr>
      <vt:lpstr>Wingdings</vt:lpstr>
      <vt:lpstr>主题1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吴鸿轩</dc:creator>
  <cp:lastModifiedBy>Windows 用户</cp:lastModifiedBy>
  <cp:revision>1017</cp:revision>
  <dcterms:created xsi:type="dcterms:W3CDTF">2026-09-15T01:57:00Z</dcterms:created>
  <dcterms:modified xsi:type="dcterms:W3CDTF">2026-10-11T05:27:06Z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4D4EE38577A540A0A0ECBA541E2D237C_13</vt:lpwstr>
  </property>
  <property fmtid="{D5CDD505-2E9C-101B-9397-08002B2CF9AE}" pid="3" name="KSOProductBuildVer">
    <vt:lpwstr>2052-12.1.0.28505</vt:lpwstr>
  </property>
</Properties>
</file>