
<file path=[Content_Types].xml><?xml version="1.0" encoding="utf-8"?>
<Types xmlns="http://schemas.openxmlformats.org/package/2006/content-types">
  <Default Extension="xml" ContentType="application/vnd.openxmlformats-package.core-properties+xml"/>
  <Default Extension="dat" ContentType="application/x-fontdata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9781dbe550f54998" /><Relationship Type="http://schemas.openxmlformats.org/officeDocument/2006/relationships/extended-properties" Target="/docProps/app.xml" Id="R0e34bde045bb4d54" /><Relationship Type="http://schemas.openxmlformats.org/officeDocument/2006/relationships/officeDocument" Target="/ppt/presentation.xml" Id="Rac01138322c84384" /></Relationships>
</file>

<file path=ppt/presentation.xml><?xml version="1.0" encoding="utf-8"?>
<p:presentation xmlns:p="http://schemas.openxmlformats.org/presentationml/2006/main" embedTrueTypeFonts="1" saveSubsetFonts="1">
  <p:sldMasterIdLst>
    <p:sldMasterId xmlns:r="http://schemas.openxmlformats.org/officeDocument/2006/relationships" id="2147483648" r:id="Re5ea8727093c418d"/>
  </p:sldMasterIdLst>
  <p:notesMasterIdLst>
    <p:notesMasterId xmlns:r="http://schemas.openxmlformats.org/officeDocument/2006/relationships" r:id="R6018679b43734b80"/>
  </p:notesMasterIdLst>
  <p:sldIdLst>
    <p:sldId xmlns:r="http://schemas.openxmlformats.org/officeDocument/2006/relationships" id="256" r:id="Rb6df1072acc54977"/>
    <p:sldId xmlns:r="http://schemas.openxmlformats.org/officeDocument/2006/relationships" id="257" r:id="R2ee784a387d342e6"/>
    <p:sldId xmlns:r="http://schemas.openxmlformats.org/officeDocument/2006/relationships" id="258" r:id="R8aa4ba6741ec4f8d"/>
    <p:sldId xmlns:r="http://schemas.openxmlformats.org/officeDocument/2006/relationships" id="259" r:id="R7680964f5fcc4658"/>
    <p:sldId xmlns:r="http://schemas.openxmlformats.org/officeDocument/2006/relationships" id="260" r:id="R117c7219242d4216"/>
    <p:sldId xmlns:r="http://schemas.openxmlformats.org/officeDocument/2006/relationships" id="261" r:id="Ree85ad3f36244844"/>
    <p:sldId xmlns:r="http://schemas.openxmlformats.org/officeDocument/2006/relationships" id="262" r:id="R59fe5882d8024e67"/>
    <p:sldId xmlns:r="http://schemas.openxmlformats.org/officeDocument/2006/relationships" id="263" r:id="Ra288c1678c4e475e"/>
    <p:sldId xmlns:r="http://schemas.openxmlformats.org/officeDocument/2006/relationships" id="264" r:id="R9a6869be46bd4545"/>
    <p:sldId xmlns:r="http://schemas.openxmlformats.org/officeDocument/2006/relationships" id="265" r:id="R0781dc5e302e4ee9"/>
    <p:sldId xmlns:r="http://schemas.openxmlformats.org/officeDocument/2006/relationships" id="266" r:id="R56f6e97838c54e88"/>
    <p:sldId xmlns:r="http://schemas.openxmlformats.org/officeDocument/2006/relationships" id="267" r:id="R75e3505e25be4a30"/>
    <p:sldId xmlns:r="http://schemas.openxmlformats.org/officeDocument/2006/relationships" id="268" r:id="R7fc587e9983b4425"/>
  </p:sldIdLst>
  <p:sldSz cx="12192000" cy="6858000"/>
  <p:notesSz cx="6858000" cy="9144000"/>
  <p:embeddedFontLst>
    <p:embeddedFont>
      <p:font typeface="MiSans"/>
      <p:regular xmlns:r="http://schemas.openxmlformats.org/officeDocument/2006/relationships" r:id="R652016494c824d0d"/>
    </p:embeddedFont>
  </p:embeddedFontLst>
  <p:defaultTextStyle>
    <a:lvl1pPr xmlns:a="http://schemas.openxmlformats.org/drawingml/2006/main" marL="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1pPr>
    <a:lvl2pPr xmlns:a="http://schemas.openxmlformats.org/drawingml/2006/main" marL="4572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2pPr>
    <a:lvl3pPr xmlns:a="http://schemas.openxmlformats.org/drawingml/2006/main" marL="9144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3pPr>
    <a:lvl4pPr xmlns:a="http://schemas.openxmlformats.org/drawingml/2006/main" marL="13716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4pPr>
    <a:lvl5pPr xmlns:a="http://schemas.openxmlformats.org/drawingml/2006/main" marL="18288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5pPr>
    <a:lvl6pPr xmlns:a="http://schemas.openxmlformats.org/drawingml/2006/main" marL="22860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6pPr>
    <a:lvl7pPr xmlns:a="http://schemas.openxmlformats.org/drawingml/2006/main" marL="27432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7pPr>
    <a:lvl8pPr xmlns:a="http://schemas.openxmlformats.org/drawingml/2006/main" marL="32004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8pPr>
    <a:lvl9pPr xmlns:a="http://schemas.openxmlformats.org/drawingml/2006/main" marL="36576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slideViewPr>
    <p:cSldViewPr snapToGrid="0" snapToObjects="1">
      <p:cViewPr>
        <p:scale>
          <a:sx xmlns:a="http://schemas.openxmlformats.org/drawingml/2006/main" n="1" d="1"/>
          <a:sy xmlns:a="http://schemas.openxmlformats.org/drawingml/2006/main" n="1" d="1"/>
        </p:scale>
        <p:origin x="0" y="0"/>
      </p:cViewPr>
      <p:guideLst/>
    </p:cSldViewPr>
  </p:slide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e4721da4092f46af" /><Relationship Type="http://schemas.openxmlformats.org/officeDocument/2006/relationships/slideMaster" Target="/ppt/slideMasters/slideMaster1.xml" Id="Re5ea8727093c418d" /><Relationship Type="http://schemas.openxmlformats.org/officeDocument/2006/relationships/notesMaster" Target="/ppt/notesMasters/notesMaster1.xml" Id="R6018679b43734b80" /><Relationship Type="http://schemas.openxmlformats.org/officeDocument/2006/relationships/presProps" Target="/ppt/presProps.xml" Id="R53968d30f42c494f" /><Relationship Type="http://schemas.openxmlformats.org/officeDocument/2006/relationships/viewProps" Target="/ppt/viewProps.xml" Id="R9c27ba937d1f4067" /><Relationship Type="http://schemas.openxmlformats.org/officeDocument/2006/relationships/tableStyles" Target="/ppt/tableStyles.xml" Id="Reb99f6a7cad4444c" /><Relationship Type="http://schemas.openxmlformats.org/officeDocument/2006/relationships/font" Target="/ppt/fonts/font.dat" Id="R652016494c824d0d" /><Relationship Type="http://schemas.openxmlformats.org/officeDocument/2006/relationships/slide" Target="/ppt/slides/slide1.xml" Id="Rb6df1072acc54977" /><Relationship Type="http://schemas.openxmlformats.org/officeDocument/2006/relationships/slide" Target="/ppt/slides/slide2.xml" Id="R2ee784a387d342e6" /><Relationship Type="http://schemas.openxmlformats.org/officeDocument/2006/relationships/slide" Target="/ppt/slides/slide3.xml" Id="R8aa4ba6741ec4f8d" /><Relationship Type="http://schemas.openxmlformats.org/officeDocument/2006/relationships/slide" Target="/ppt/slides/slide4.xml" Id="R7680964f5fcc4658" /><Relationship Type="http://schemas.openxmlformats.org/officeDocument/2006/relationships/slide" Target="/ppt/slides/slide5.xml" Id="R117c7219242d4216" /><Relationship Type="http://schemas.openxmlformats.org/officeDocument/2006/relationships/slide" Target="/ppt/slides/slide6.xml" Id="Ree85ad3f36244844" /><Relationship Type="http://schemas.openxmlformats.org/officeDocument/2006/relationships/slide" Target="/ppt/slides/slide7.xml" Id="R59fe5882d8024e67" /><Relationship Type="http://schemas.openxmlformats.org/officeDocument/2006/relationships/slide" Target="/ppt/slides/slide8.xml" Id="Ra288c1678c4e475e" /><Relationship Type="http://schemas.openxmlformats.org/officeDocument/2006/relationships/slide" Target="/ppt/slides/slide9.xml" Id="R9a6869be46bd4545" /><Relationship Type="http://schemas.openxmlformats.org/officeDocument/2006/relationships/slide" Target="/ppt/slides/slide10.xml" Id="R0781dc5e302e4ee9" /><Relationship Type="http://schemas.openxmlformats.org/officeDocument/2006/relationships/slide" Target="/ppt/slides/slide11.xml" Id="R56f6e97838c54e88" /><Relationship Type="http://schemas.openxmlformats.org/officeDocument/2006/relationships/slide" Target="/ppt/slides/slide12.xml" Id="R75e3505e25be4a30" /><Relationship Type="http://schemas.openxmlformats.org/officeDocument/2006/relationships/slide" Target="/ppt/slides/slide13.xml" Id="R7fc587e9983b4425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102ca71fc497437a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PPTD">
  <a:themeElements>
    <a:clrScheme name="PPTD">
      <a:dk1>
        <a:srgbClr val="000000"/>
      </a:dk1>
      <a:lt1>
        <a:srgbClr val="FFFFFF"/>
      </a:lt1>
      <a:dk2>
        <a:srgbClr val="1F2937"/>
      </a:dk2>
      <a:lt2>
        <a:srgbClr val="F3F4F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PPTD">
      <a:majorFont>
        <a:latin typeface="MiSans"/>
        <a:ea typeface="MiSans"/>
        <a:cs typeface="MiSans"/>
      </a:majorFont>
      <a:minorFont>
        <a:latin typeface="MiSans"/>
        <a:ea typeface="MiSans"/>
        <a:cs typeface="MiSans"/>
      </a:minorFont>
    </a:fontScheme>
    <a:fmtScheme name="PPTD">
      <a:fillStyleLst>
        <a:solidFill>
          <a:schemeClr val="accent1"/>
        </a:solidFill>
        <a:solidFill>
          <a:schemeClr val="accent2"/>
        </a:solidFill>
        <a:solidFill>
          <a:schemeClr val="accent3"/>
        </a:solidFill>
      </a:fillStyleLst>
      <a:lnStyleLst>
        <a:ln w="6350">
          <a:solidFill>
            <a:schemeClr val="accent1"/>
          </a:solidFill>
          <a:prstDash val="solid"/>
        </a:ln>
        <a:ln w="12700">
          <a:solidFill>
            <a:schemeClr val="accent1"/>
          </a:solidFill>
          <a:prstDash val="solid"/>
        </a:ln>
        <a:ln w="19050">
          <a:solidFill>
            <a:schemeClr val="accent1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lt1"/>
        </a:solidFill>
        <a:solidFill>
          <a:schemeClr val="lt2"/>
        </a:solidFill>
        <a:solidFill>
          <a:schemeClr val="dk1"/>
        </a:soli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d640d9475a644e08" /><Relationship Type="http://schemas.openxmlformats.org/officeDocument/2006/relationships/notesMaster" Target="/ppt/notesMasters/notesMaster1.xml" Id="R2cfb1344f57c4325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c6423e26eab54c1e" /><Relationship Type="http://schemas.openxmlformats.org/officeDocument/2006/relationships/notesMaster" Target="/ppt/notesMasters/notesMaster1.xml" Id="Re7be67b965034e59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291587b21b6947fa" /><Relationship Type="http://schemas.openxmlformats.org/officeDocument/2006/relationships/notesMaster" Target="/ppt/notesMasters/notesMaster1.xml" Id="R32e8aece3e76485e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30b609bd95a64d74" /><Relationship Type="http://schemas.openxmlformats.org/officeDocument/2006/relationships/notesMaster" Target="/ppt/notesMasters/notesMaster1.xml" Id="Rbb12082660764018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9c3d0b6684d84977" /><Relationship Type="http://schemas.openxmlformats.org/officeDocument/2006/relationships/notesMaster" Target="/ppt/notesMasters/notesMaster1.xml" Id="R35d8d648bde44320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be3a6b3de79c4280" /><Relationship Type="http://schemas.openxmlformats.org/officeDocument/2006/relationships/notesMaster" Target="/ppt/notesMasters/notesMaster1.xml" Id="R85eab5d43478411a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e79e5944370842bb" /><Relationship Type="http://schemas.openxmlformats.org/officeDocument/2006/relationships/notesMaster" Target="/ppt/notesMasters/notesMaster1.xml" Id="R7b5e5abf82f5447d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e4bbec68b2e742dc" /><Relationship Type="http://schemas.openxmlformats.org/officeDocument/2006/relationships/notesMaster" Target="/ppt/notesMasters/notesMaster1.xml" Id="R7257187171694bf5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69480312c5a0447d" /><Relationship Type="http://schemas.openxmlformats.org/officeDocument/2006/relationships/notesMaster" Target="/ppt/notesMasters/notesMaster1.xml" Id="R0069c339a4dd40b2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545b187cc7814bbc" /><Relationship Type="http://schemas.openxmlformats.org/officeDocument/2006/relationships/notesMaster" Target="/ppt/notesMasters/notesMaster1.xml" Id="Re2ce7ddbc3fc4bcc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0aed13ac0cbd4474" /><Relationship Type="http://schemas.openxmlformats.org/officeDocument/2006/relationships/notesMaster" Target="/ppt/notesMasters/notesMaster1.xml" Id="Rc3d684a8d4e24aa1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d67cc1fb5aa54898" /><Relationship Type="http://schemas.openxmlformats.org/officeDocument/2006/relationships/notesMaster" Target="/ppt/notesMasters/notesMaster1.xml" Id="R23581a44c15a41c0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2b04cc8d3f884079" /><Relationship Type="http://schemas.openxmlformats.org/officeDocument/2006/relationships/notesMaster" Target="/ppt/notesMasters/notesMaster1.xml" Id="Redde0ec1ede143c7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原稿内容留存</a:t>
            </a:r>
          </a:p>
          <a:p xmlns:a="http://schemas.openxmlformats.org/drawingml/2006/main">
            <a:r>
              <a:t>华东师范大学 · 本科生创新训练培育项目（创业训练类）</a:t>
            </a:r>
          </a:p>
          <a:p xmlns:a="http://schemas.openxmlformats.org/drawingml/2006/main">
            <a:r>
              <a:t>一笔成章</a:t>
            </a:r>
          </a:p>
          <a:p xmlns:a="http://schemas.openxmlformats.org/drawingml/2006/main">
            <a:r>
              <a:t>基于视觉模型的全场景汉字书法智能反馈系统</a:t>
            </a:r>
          </a:p>
          <a:p xmlns:a="http://schemas.openxmlformats.org/drawingml/2006/main">
            <a:r>
              <a:t>中期汇报</a:t>
            </a:r>
          </a:p>
          <a:p xmlns:a="http://schemas.openxmlformats.org/drawingml/2006/main">
            <a:r>
              <a:t>汇报人：刘小凡（软件工程学院）　　指导教师：万成城</a:t>
            </a:r>
          </a:p>
          <a:p xmlns:a="http://schemas.openxmlformats.org/drawingml/2006/main">
            <a:r>
              <a:t>2026 年 10 月</a:t>
            </a:r>
          </a:p>
          <a:p xmlns:a="http://schemas.openxmlformats.org/drawingml/2006/main">
            <a:r>
              <a:t>iPad 端 AI 分析结果实拍：参考结构匹配度 + 四图对照 + 点评建议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原稿内容留存</a:t>
            </a:r>
          </a:p>
          <a:p xmlns:a="http://schemas.openxmlformats.org/drawingml/2006/main">
            <a:r>
              <a:t>项目简介：核心功能与用户画像</a:t>
            </a:r>
          </a:p>
          <a:p xmlns:a="http://schemas.openxmlformats.org/drawingml/2006/main">
            <a:r>
              <a:t>01 · 项目背景与意义</a:t>
            </a:r>
          </a:p>
          <a:p xmlns:a="http://schemas.openxmlformats.org/drawingml/2006/main">
            <a:r>
              <a:t>「一笔成章」是面向汉字书写与书法练习的</a:t>
            </a:r>
          </a:p>
          <a:p xmlns:a="http://schemas.openxmlformats.org/drawingml/2006/main">
            <a:r>
              <a:t>全场景智能反馈系统</a:t>
            </a:r>
          </a:p>
          <a:p xmlns:a="http://schemas.openxmlformats.org/drawingml/2006/main">
            <a:r>
              <a:t>：通过平板搭配压感笔实时书写并即时点评，或拍照上传练字作品进行整体评估，为每一次练习提供量化的结构评分与可解释的修改建议。</a:t>
            </a:r>
          </a:p>
          <a:p xmlns:a="http://schemas.openxmlformats.org/drawingml/2006/main">
            <a:r>
              <a:t>平台构建「专业 App 深度练习 + Web 端规模化覆盖」的双平台生态，让练字更高效、有趣、便捷。</a:t>
            </a:r>
          </a:p>
          <a:p xmlns:a="http://schemas.openxmlformats.org/drawingml/2006/main">
            <a:r>
              <a:t>核心功能</a:t>
            </a:r>
          </a:p>
          <a:p xmlns:a="http://schemas.openxmlformats.org/drawingml/2006/main">
            <a:r>
              <a:t>实时书写 AI 点评：压感笔书写，即时分析</a:t>
            </a:r>
          </a:p>
          <a:p xmlns:a="http://schemas.openxmlformats.org/drawingml/2006/main">
            <a:r>
              <a:t>拍照评估：上传练字作品，整体结构诊断</a:t>
            </a:r>
          </a:p>
          <a:p xmlns:a="http://schemas.openxmlformats.org/drawingml/2006/main">
            <a:r>
              <a:t>参考结构匹配度：与名家范字量化对照</a:t>
            </a:r>
          </a:p>
          <a:p xmlns:a="http://schemas.openxmlformats.org/drawingml/2006/main">
            <a:r>
              <a:t>课程字库 + 个性化修改建议，定位到局部</a:t>
            </a:r>
          </a:p>
          <a:p xmlns:a="http://schemas.openxmlformats.org/drawingml/2006/main">
            <a:r>
              <a:t>iPad 端首页：今日一字 · 学习概览 · 评分趋势</a:t>
            </a:r>
          </a:p>
          <a:p xmlns:a="http://schemas.openxmlformats.org/drawingml/2006/main">
            <a:r>
              <a:t>用户画像</a:t>
            </a:r>
          </a:p>
          <a:p xmlns:a="http://schemas.openxmlformats.org/drawingml/2006/main">
            <a:r>
              <a:t>核心群体 · 6–18 岁 K12 学生</a:t>
            </a:r>
          </a:p>
          <a:p xmlns:a="http://schemas.openxmlformats.org/drawingml/2006/main">
            <a:r>
              <a:t>约 60%</a:t>
            </a:r>
          </a:p>
          <a:p xmlns:a="http://schemas.openxmlformats.org/drawingml/2006/main">
            <a:r>
              <a:t>需求：考级通关、课业要求</a:t>
            </a:r>
          </a:p>
          <a:p xmlns:a="http://schemas.openxmlformats.org/drawingml/2006/main">
            <a:r>
              <a:t>重要群体 · 18–25 岁大学生</a:t>
            </a:r>
          </a:p>
          <a:p xmlns:a="http://schemas.openxmlformats.org/drawingml/2006/main">
            <a:r>
              <a:t>约 25%</a:t>
            </a:r>
          </a:p>
          <a:p xmlns:a="http://schemas.openxmlformats.org/drawingml/2006/main">
            <a:r>
              <a:t>需求：素养提升、技能精进</a:t>
            </a:r>
          </a:p>
          <a:p xmlns:a="http://schemas.openxmlformats.org/drawingml/2006/main">
            <a:r>
              <a:t>潜力群体 · 25 岁以上爱好者与职场人</a:t>
            </a:r>
          </a:p>
          <a:p xmlns:a="http://schemas.openxmlformats.org/drawingml/2006/main">
            <a:r>
              <a:t>约 15%</a:t>
            </a:r>
          </a:p>
          <a:p xmlns:a="http://schemas.openxmlformats.org/drawingml/2006/main">
            <a:r>
              <a:t>需求：修身养性、兴趣深耕</a:t>
            </a:r>
          </a:p>
          <a:p xmlns:a="http://schemas.openxmlformats.org/drawingml/2006/main">
            <a:r>
              <a:t>一笔成章 · 2026 中期汇报</a:t>
            </a:r>
          </a:p>
          <a:p xmlns:a="http://schemas.openxmlformats.org/drawingml/2006/main">
            <a:r>
              <a:t>02 / 14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原稿内容留存</a:t>
            </a:r>
          </a:p>
          <a:p xmlns:a="http://schemas.openxmlformats.org/drawingml/2006/main">
            <a:r>
              <a:t>项目背景：政策、市场与书写方式的变革</a:t>
            </a:r>
          </a:p>
          <a:p xmlns:a="http://schemas.openxmlformats.org/drawingml/2006/main">
            <a:r>
              <a:t>01 · 项目背景与意义</a:t>
            </a:r>
          </a:p>
          <a:p xmlns:a="http://schemas.openxmlformats.org/drawingml/2006/main">
            <a:r>
              <a:t>01</a:t>
            </a:r>
          </a:p>
          <a:p xmlns:a="http://schemas.openxmlformats.org/drawingml/2006/main">
            <a:r>
              <a:t>政策支持</a:t>
            </a:r>
          </a:p>
          <a:p xmlns:a="http://schemas.openxmlformats.org/drawingml/2006/main">
            <a:r>
              <a:t>教育部《中小学书法教育指导纲要》将书法纳入中小学教学体系；新时代学校美育建设持续推进，「双减」落地后，课后服务对优质书法素质教育内容的需求持续增长。</a:t>
            </a:r>
          </a:p>
          <a:p xmlns:a="http://schemas.openxmlformats.org/drawingml/2006/main">
            <a:r>
              <a:t>02</a:t>
            </a:r>
          </a:p>
          <a:p xmlns:a="http://schemas.openxmlformats.org/drawingml/2006/main">
            <a:r>
              <a:t>家长群体对书法的重视</a:t>
            </a:r>
          </a:p>
          <a:p xmlns:a="http://schemas.openxmlformats.org/drawingml/2006/main">
            <a:r>
              <a:t>家长普遍认可书法在传承传统文化、涵养孩子专注力与审美素养中的核心价值，主动将其纳入综合素质培养体系，并直接转化为实际消费行为——从筛选专业课程、购置笔墨工具，到稳定的学期预算投入。</a:t>
            </a:r>
          </a:p>
          <a:p xmlns:a="http://schemas.openxmlformats.org/drawingml/2006/main">
            <a:r>
              <a:t>41.58%</a:t>
            </a:r>
          </a:p>
          <a:p xmlns:a="http://schemas.openxmlformats.org/drawingml/2006/main">
            <a:r>
              <a:t>愿意投入 1000–3000 元/学期</a:t>
            </a:r>
          </a:p>
          <a:p xmlns:a="http://schemas.openxmlformats.org/drawingml/2006/main">
            <a:r>
              <a:t>11.88%</a:t>
            </a:r>
          </a:p>
          <a:p xmlns:a="http://schemas.openxmlformats.org/drawingml/2006/main">
            <a:r>
              <a:t>愿意投入 5000 元以上/学期</a:t>
            </a:r>
          </a:p>
          <a:p xmlns:a="http://schemas.openxmlformats.org/drawingml/2006/main">
            <a:r>
              <a:t>03</a:t>
            </a:r>
          </a:p>
          <a:p xmlns:a="http://schemas.openxmlformats.org/drawingml/2006/main">
            <a:r>
              <a:t>无纸化学习成为趋势</a:t>
            </a:r>
          </a:p>
          <a:p xmlns:a="http://schemas.openxmlformats.org/drawingml/2006/main">
            <a:r>
              <a:t>随着平板与手写笔硬件价格降低，越来越多学生选择无纸化学习，高校中尤为突出。「电子纸」作为全新的书写介质，用户初次上手难以适应书写体验，想写出一手好字同样需要练习；无纸化同时减少纸张消耗，是未来书写介质发展的一大趋势。</a:t>
            </a:r>
          </a:p>
          <a:p xmlns:a="http://schemas.openxmlformats.org/drawingml/2006/main">
            <a:r>
              <a:t>政策有导向、家庭有预算、介质在变革——</a:t>
            </a:r>
          </a:p>
          <a:p xmlns:a="http://schemas.openxmlformats.org/drawingml/2006/main">
            <a:r>
              <a:t>智能书法反馈的需求窗口已经打开</a:t>
            </a:r>
          </a:p>
          <a:p xmlns:a="http://schemas.openxmlformats.org/drawingml/2006/main">
            <a:r>
              <a:t>。</a:t>
            </a:r>
          </a:p>
          <a:p xmlns:a="http://schemas.openxmlformats.org/drawingml/2006/main">
            <a:r>
              <a:t>一笔成章 · 2026 中期汇报</a:t>
            </a:r>
          </a:p>
          <a:p xmlns:a="http://schemas.openxmlformats.org/drawingml/2006/main">
            <a:r>
              <a:t>03 / 14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原稿内容留存</a:t>
            </a:r>
          </a:p>
          <a:p xmlns:a="http://schemas.openxmlformats.org/drawingml/2006/main">
            <a:r>
              <a:t>市场痛点：软件供给跟不上硬件与需求</a:t>
            </a:r>
          </a:p>
          <a:p xmlns:a="http://schemas.openxmlformats.org/drawingml/2006/main">
            <a:r>
              <a:t>01 · 项目背景与意义</a:t>
            </a:r>
          </a:p>
          <a:p xmlns:a="http://schemas.openxmlformats.org/drawingml/2006/main">
            <a:r>
              <a:t>现有书法软件的不足</a:t>
            </a:r>
          </a:p>
          <a:p xmlns:a="http://schemas.openxmlformats.org/drawingml/2006/main">
            <a:r>
              <a:t>市面书法练习软件</a:t>
            </a:r>
          </a:p>
          <a:p xmlns:a="http://schemas.openxmlformats.org/drawingml/2006/main">
            <a:r>
              <a:t>几乎全部局限于提供字帖进行临摹或分享</a:t>
            </a:r>
          </a:p>
          <a:p xmlns:a="http://schemas.openxmlformats.org/drawingml/2006/main">
            <a:r>
              <a:t>，缺乏对练习者的指导性功能。</a:t>
            </a:r>
          </a:p>
          <a:p xmlns:a="http://schemas.openxmlformats.org/drawingml/2006/main">
            <a:r>
              <a:t>主流手写笔已支持 </a:t>
            </a:r>
          </a:p>
          <a:p xmlns:a="http://schemas.openxmlformats.org/drawingml/2006/main">
            <a:r>
              <a:t>4096 级压感</a:t>
            </a:r>
          </a:p>
          <a:p xmlns:a="http://schemas.openxmlformats.org/drawingml/2006/main">
            <a:r>
              <a:t>，但软件功能未能跟进硬件进步，丰富的书写数据被白白浪费。</a:t>
            </a:r>
          </a:p>
          <a:p xmlns:a="http://schemas.openxmlformats.org/drawingml/2006/main">
            <a:r>
              <a:t>传导到练习者身上，是三个长期未被解决的痛点</a:t>
            </a:r>
          </a:p>
          <a:p xmlns:a="http://schemas.openxmlformats.org/drawingml/2006/main">
            <a:r>
              <a:t>反馈滞后</a:t>
            </a:r>
          </a:p>
          <a:p xmlns:a="http://schemas.openxmlformats.org/drawingml/2006/main">
            <a:r>
              <a:t>传统课堂一对多，作业批改周期长，问题笔画得不到及时纠正，错误写法反复固化。</a:t>
            </a:r>
          </a:p>
          <a:p xmlns:a="http://schemas.openxmlformats.org/drawingml/2006/main">
            <a:r>
              <a:t>评价主观</a:t>
            </a:r>
          </a:p>
          <a:p xmlns:a="http://schemas.openxmlformats.org/drawingml/2006/main">
            <a:r>
              <a:t>缺少可量化的结构标准，「写得好不好」长期依赖个人感觉，练习者无法自我判断。</a:t>
            </a:r>
          </a:p>
          <a:p xmlns:a="http://schemas.openxmlformats.org/drawingml/2006/main">
            <a:r>
              <a:t>练习静态</a:t>
            </a:r>
          </a:p>
          <a:p xmlns:a="http://schemas.openxmlformats.org/drawingml/2006/main">
            <a:r>
              <a:t>字帖只能临摹对照，无法针对个人问题给出具体修改路径，练习效率低、容易放弃。</a:t>
            </a:r>
          </a:p>
          <a:p xmlns:a="http://schemas.openxmlformats.org/drawingml/2006/main">
            <a:r>
              <a:t>我们的回答</a:t>
            </a:r>
          </a:p>
          <a:p xmlns:a="http://schemas.openxmlformats.org/drawingml/2006/main">
            <a:r>
              <a:t>以视觉模型为核心，把「</a:t>
            </a:r>
          </a:p>
          <a:p xmlns:a="http://schemas.openxmlformats.org/drawingml/2006/main">
            <a:r>
              <a:t>即时反馈、量化标准、个性化路径</a:t>
            </a:r>
          </a:p>
          <a:p xmlns:a="http://schemas.openxmlformats.org/drawingml/2006/main">
            <a:r>
              <a:t>」三件事一次做透：书写完成即出结构评分，分数公式公开可解释，修改建议定位到具体局部区域。</a:t>
            </a:r>
          </a:p>
          <a:p xmlns:a="http://schemas.openxmlformats.org/drawingml/2006/main">
            <a:r>
              <a:t>一笔成章 · 2026 中期汇报</a:t>
            </a:r>
          </a:p>
          <a:p xmlns:a="http://schemas.openxmlformats.org/drawingml/2006/main">
            <a:r>
              <a:t>04 / 14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原稿内容留存</a:t>
            </a:r>
          </a:p>
          <a:p xmlns:a="http://schemas.openxmlformats.org/drawingml/2006/main">
            <a:r>
              <a:t>迭代逻辑：</a:t>
            </a:r>
          </a:p>
          <a:p xmlns:a="http://schemas.openxmlformats.org/drawingml/2006/main">
            <a:r>
              <a:t>以往</a:t>
            </a:r>
          </a:p>
          <a:p xmlns:a="http://schemas.openxmlformats.org/drawingml/2006/main">
            <a:r>
              <a:t>的局限，今年的解法</a:t>
            </a:r>
          </a:p>
          <a:p xmlns:a="http://schemas.openxmlformats.org/drawingml/2006/main">
            <a:r>
              <a:t>01 · 项目背景与意义</a:t>
            </a:r>
          </a:p>
          <a:p xmlns:a="http://schemas.openxmlformats.org/drawingml/2006/main">
            <a:r>
              <a:t>往昔</a:t>
            </a:r>
          </a:p>
          <a:p xmlns:a="http://schemas.openxmlformats.org/drawingml/2006/main">
            <a:r>
              <a:t>成果的局限</a:t>
            </a:r>
          </a:p>
          <a:p xmlns:a="http://schemas.openxmlformats.org/drawingml/2006/main">
            <a:r>
              <a:t>今年的解法</a:t>
            </a:r>
          </a:p>
          <a:p xmlns:a="http://schemas.openxmlformats.org/drawingml/2006/main">
            <a:r>
              <a:t>验证证据</a:t>
            </a:r>
          </a:p>
          <a:p xmlns:a="http://schemas.openxmlformats.org/drawingml/2006/main">
            <a:r>
              <a:t>评估口径自定</a:t>
            </a:r>
          </a:p>
          <a:p xmlns:a="http://schemas.openxmlformats.org/drawingml/2006/main">
            <a:r>
              <a:t>：U-Net 自定义准确率约 85.2%，难以横向比较</a:t>
            </a:r>
          </a:p>
          <a:p xmlns:a="http://schemas.openxmlformats.org/drawingml/2006/main">
            <a:r>
              <a:t>统一六通道 schema，采用 Dice / IoU / 关键点 F1 / 边界 F1 标准指标体系</a:t>
            </a:r>
          </a:p>
          <a:p xmlns:a="http://schemas.openxmlformats.org/drawingml/2006/main">
            <a:r>
              <a:t>U-Net 可信基线 0.891；B2 标准划分 Macro Dice 0.958</a:t>
            </a:r>
          </a:p>
          <a:p xmlns:a="http://schemas.openxmlformats.org/drawingml/2006/main">
            <a:r>
              <a:t>数据治理缺失</a:t>
            </a:r>
          </a:p>
          <a:p xmlns:a="http://schemas.openxmlformats.org/drawingml/2006/main">
            <a:r>
              <a:t>：标注一度遗失，划分混入错配与重复样本</a:t>
            </a:r>
          </a:p>
          <a:p xmlns:a="http://schemas.openxmlformats.org/drawingml/2006/main">
            <a:r>
              <a:t>840 份原始 GT 全量找回逐份校验；语义 QC 剔除 12 错配 + 59 重复</a:t>
            </a:r>
          </a:p>
          <a:p xmlns:a="http://schemas.openxmlformats.org/drawingml/2006/main">
            <a:r>
              <a:t>769 个洁净独立样本，划分冻结并 SHA-256 留档</a:t>
            </a:r>
          </a:p>
          <a:p xmlns:a="http://schemas.openxmlformats.org/drawingml/2006/main">
            <a:r>
              <a:t>泛化能力未知</a:t>
            </a:r>
          </a:p>
          <a:p xmlns:a="http://schemas.openxmlformats.org/drawingml/2006/main">
            <a:r>
              <a:t>：训练与测试同字出现，高分不等于能评新字</a:t>
            </a:r>
          </a:p>
          <a:p xmlns:a="http://schemas.openxmlformats.org/drawingml/2006/main">
            <a:r>
              <a:t>字符隔离的 character-disjoint 划分，三模型公平比较</a:t>
            </a:r>
          </a:p>
          <a:p xmlns:a="http://schemas.openxmlformats.org/drawingml/2006/main">
            <a:r>
              <a:t>未见字 Dice 0.887，三模型中下降最小（7.2 pp）</a:t>
            </a:r>
          </a:p>
          <a:p xmlns:a="http://schemas.openxmlformats.org/drawingml/2006/main">
            <a:r>
              <a:t>评分不透明</a:t>
            </a:r>
          </a:p>
          <a:p xmlns:a="http://schemas.openxmlformats.org/drawingml/2006/main">
            <a:r>
              <a:t>：整体点评打分，依据无法向用户解释</a:t>
            </a:r>
          </a:p>
          <a:p xmlns:a="http://schemas.openxmlformats.org/drawingml/2006/main">
            <a:r>
              <a:t>受限对齐 + 公式公开的参考结构匹配度，建议逐条对应证据</a:t>
            </a:r>
          </a:p>
          <a:p xmlns:a="http://schemas.openxmlformats.org/drawingml/2006/main">
            <a:r>
              <a:t>经受控扰动、对齐消融与人工盲评三重验证</a:t>
            </a:r>
          </a:p>
          <a:p xmlns:a="http://schemas.openxmlformats.org/drawingml/2006/main">
            <a:r>
              <a:t>往昔</a:t>
            </a:r>
          </a:p>
          <a:p xmlns:a="http://schemas.openxmlformats.org/drawingml/2006/main">
            <a:r>
              <a:t>的采集链路与标签生成逻辑仍是今年数据资产的基础——</a:t>
            </a:r>
          </a:p>
          <a:p xmlns:a="http://schemas.openxmlformats.org/drawingml/2006/main">
            <a:r>
              <a:t>迭代不是推翻，而是在原有地基上接续建设</a:t>
            </a:r>
          </a:p>
          <a:p xmlns:a="http://schemas.openxmlformats.org/drawingml/2006/main">
            <a:r>
              <a:t>。</a:t>
            </a:r>
          </a:p>
          <a:p xmlns:a="http://schemas.openxmlformats.org/drawingml/2006/main">
            <a:r>
              <a:t>一笔成章 · 2026 中期汇报</a:t>
            </a:r>
          </a:p>
          <a:p xmlns:a="http://schemas.openxmlformats.org/drawingml/2006/main">
            <a:r>
              <a:t>05 / 14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原稿内容留存</a:t>
            </a:r>
          </a:p>
          <a:p xmlns:a="http://schemas.openxmlformats.org/drawingml/2006/main">
            <a:r>
              <a:t>中期总览：从数据到产品的完整闭环已经打通</a:t>
            </a:r>
          </a:p>
          <a:p xmlns:a="http://schemas.openxmlformats.org/drawingml/2006/main">
            <a:r>
              <a:t>02 · 中期核心进展</a:t>
            </a:r>
          </a:p>
          <a:p xmlns:a="http://schemas.openxmlformats.org/drawingml/2006/main">
            <a:r>
              <a:t>STEP 1</a:t>
            </a:r>
          </a:p>
          <a:p xmlns:a="http://schemas.openxmlformats.org/drawingml/2006/main">
            <a:r>
              <a:t>数据恢复与 QC</a:t>
            </a:r>
          </a:p>
          <a:p xmlns:a="http://schemas.openxmlformats.org/drawingml/2006/main">
            <a:r>
              <a:t>840 份 GT 找回校验，769 个洁净样本</a:t>
            </a:r>
          </a:p>
          <a:p xmlns:a="http://schemas.openxmlformats.org/drawingml/2006/main">
            <a:r>
              <a:t>已完成</a:t>
            </a:r>
          </a:p>
          <a:p xmlns:a="http://schemas.openxmlformats.org/drawingml/2006/main">
            <a:r>
              <a:t>STEP 2</a:t>
            </a:r>
          </a:p>
          <a:p xmlns:a="http://schemas.openxmlformats.org/drawingml/2006/main">
            <a:r>
              <a:t>U-Net 可信基线</a:t>
            </a:r>
          </a:p>
          <a:p xmlns:a="http://schemas.openxmlformats.org/drawingml/2006/main">
            <a:r>
              <a:t>统一数据与评测框架下重测基线</a:t>
            </a:r>
          </a:p>
          <a:p xmlns:a="http://schemas.openxmlformats.org/drawingml/2006/main">
            <a:r>
              <a:t>已完成</a:t>
            </a:r>
          </a:p>
          <a:p xmlns:a="http://schemas.openxmlformats.org/drawingml/2006/main">
            <a:r>
              <a:t>STEP 3</a:t>
            </a:r>
          </a:p>
          <a:p xmlns:a="http://schemas.openxmlformats.org/drawingml/2006/main">
            <a:r>
              <a:t>B2 模型冻结</a:t>
            </a:r>
          </a:p>
          <a:p xmlns:a="http://schemas.openxmlformats.org/drawingml/2006/main">
            <a:r>
              <a:t>SegFormer-B2 阈值与模型卡留档</a:t>
            </a:r>
          </a:p>
          <a:p xmlns:a="http://schemas.openxmlformats.org/drawingml/2006/main">
            <a:r>
              <a:t>已完成</a:t>
            </a:r>
          </a:p>
          <a:p xmlns:a="http://schemas.openxmlformats.org/drawingml/2006/main">
            <a:r>
              <a:t>STEP 4</a:t>
            </a:r>
          </a:p>
          <a:p xmlns:a="http://schemas.openxmlformats.org/drawingml/2006/main">
            <a:r>
              <a:t>对齐与结构评分</a:t>
            </a:r>
          </a:p>
          <a:p xmlns:a="http://schemas.openxmlformats.org/drawingml/2006/main">
            <a:r>
              <a:t>受限对齐 + 参考结构匹配度</a:t>
            </a:r>
          </a:p>
          <a:p xmlns:a="http://schemas.openxmlformats.org/drawingml/2006/main">
            <a:r>
              <a:t>已完成</a:t>
            </a:r>
          </a:p>
          <a:p xmlns:a="http://schemas.openxmlformats.org/drawingml/2006/main">
            <a:r>
              <a:t>STEP 5</a:t>
            </a:r>
          </a:p>
          <a:p xmlns:a="http://schemas.openxmlformats.org/drawingml/2006/main">
            <a:r>
              <a:t>规则 + LLM 反馈</a:t>
            </a:r>
          </a:p>
          <a:p xmlns:a="http://schemas.openxmlformats.org/drawingml/2006/main">
            <a:r>
              <a:t>证据驱动建议，LLM 只润色</a:t>
            </a:r>
          </a:p>
          <a:p xmlns:a="http://schemas.openxmlformats.org/drawingml/2006/main">
            <a:r>
              <a:t>已完成</a:t>
            </a:r>
          </a:p>
          <a:p xmlns:a="http://schemas.openxmlformats.org/drawingml/2006/main">
            <a:r>
              <a:t>STEP 6</a:t>
            </a:r>
          </a:p>
          <a:p xmlns:a="http://schemas.openxmlformats.org/drawingml/2006/main">
            <a:r>
              <a:t>双端真实联调</a:t>
            </a:r>
          </a:p>
          <a:p xmlns:a="http://schemas.openxmlformats.org/drawingml/2006/main">
            <a:r>
              <a:t>Web 与 App 打通模型</a:t>
            </a:r>
          </a:p>
          <a:p xmlns:a="http://schemas.openxmlformats.org/drawingml/2006/main">
            <a:r>
              <a:t>已完成</a:t>
            </a:r>
          </a:p>
          <a:p xmlns:a="http://schemas.openxmlformats.org/drawingml/2006/main">
            <a:r>
              <a:t>关键数字 · 截至 2026 年 10 月</a:t>
            </a:r>
          </a:p>
          <a:p xmlns:a="http://schemas.openxmlformats.org/drawingml/2006/main">
            <a:r>
              <a:t>840</a:t>
            </a:r>
          </a:p>
          <a:p xmlns:a="http://schemas.openxmlformats.org/drawingml/2006/main">
            <a:r>
              <a:t>份六通道原始 GT 全量找回并逐份校验</a:t>
            </a:r>
          </a:p>
          <a:p xmlns:a="http://schemas.openxmlformats.org/drawingml/2006/main">
            <a:r>
              <a:t>769</a:t>
            </a:r>
          </a:p>
          <a:p xmlns:a="http://schemas.openxmlformats.org/drawingml/2006/main">
            <a:r>
              <a:t>个 QC-clean 独立样本，剔除错配与重复</a:t>
            </a:r>
          </a:p>
          <a:p xmlns:a="http://schemas.openxmlformats.org/drawingml/2006/main">
            <a:r>
              <a:t>0.963</a:t>
            </a:r>
          </a:p>
          <a:p xmlns:a="http://schemas.openxmlformats.org/drawingml/2006/main">
            <a:r>
              <a:t>标准划分 Macro Dice，分割精度最佳</a:t>
            </a:r>
          </a:p>
          <a:p xmlns:a="http://schemas.openxmlformats.org/drawingml/2006/main">
            <a:r>
              <a:t>2×100</a:t>
            </a:r>
          </a:p>
          <a:p xmlns:a="http://schemas.openxmlformats.org/drawingml/2006/main">
            <a:r>
              <a:t>欧阳询楷书 + 王羲之行书课程字（Beta）</a:t>
            </a:r>
          </a:p>
          <a:p xmlns:a="http://schemas.openxmlformats.org/drawingml/2006/main">
            <a:r>
              <a:t>18</a:t>
            </a:r>
          </a:p>
          <a:p xmlns:a="http://schemas.openxmlformats.org/drawingml/2006/main">
            <a:r>
              <a:t>组正式基准实验：3 模型 × 2 划分 × 3 种子</a:t>
            </a:r>
          </a:p>
          <a:p xmlns:a="http://schemas.openxmlformats.org/drawingml/2006/main">
            <a:r>
              <a:t>立项时承诺的「</a:t>
            </a:r>
          </a:p>
          <a:p xmlns:a="http://schemas.openxmlformats.org/drawingml/2006/main">
            <a:r>
              <a:t>数据 → 模型 → 评分 → 反馈 → 双端应用</a:t>
            </a:r>
          </a:p>
          <a:p xmlns:a="http://schemas.openxmlformats.org/drawingml/2006/main">
            <a:r>
              <a:t>」主链路已全部落地，</a:t>
            </a:r>
          </a:p>
          <a:p xmlns:a="http://schemas.openxmlformats.org/drawingml/2006/main">
            <a:r>
              <a:t>论文与真实场景验证</a:t>
            </a:r>
          </a:p>
          <a:p xmlns:a="http://schemas.openxmlformats.org/drawingml/2006/main">
            <a:r>
              <a:t>进入收尾阶段。</a:t>
            </a:r>
          </a:p>
          <a:p xmlns:a="http://schemas.openxmlformats.org/drawingml/2006/main">
            <a:r>
              <a:t>一笔成章 · 2026 中期汇报</a:t>
            </a:r>
          </a:p>
          <a:p xmlns:a="http://schemas.openxmlformats.org/drawingml/2006/main">
            <a:r>
              <a:t>06 / 14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原稿内容留存</a:t>
            </a:r>
          </a:p>
          <a:p xmlns:a="http://schemas.openxmlformats.org/drawingml/2006/main">
            <a:r>
              <a:t>核心进展 ① 数据治理与笔画结构分割模型</a:t>
            </a:r>
          </a:p>
          <a:p xmlns:a="http://schemas.openxmlformats.org/drawingml/2006/main">
            <a:r>
              <a:t>02 · 中期核心进展</a:t>
            </a:r>
          </a:p>
          <a:p xmlns:a="http://schemas.openxmlformats.org/drawingml/2006/main">
            <a:r>
              <a:t>六通道结构表示</a:t>
            </a:r>
          </a:p>
          <a:p xmlns:a="http://schemas.openxmlformats.org/drawingml/2006/main">
            <a:r>
              <a:t>横、竖、左斜、右斜、复合五方向 + 关键点通道，允许交叉区域重叠激活，笔画不再被强行切开。</a:t>
            </a:r>
          </a:p>
          <a:p xmlns:a="http://schemas.openxmlformats.org/drawingml/2006/main">
            <a:r>
              <a:t>数据资产抢救与治理</a:t>
            </a:r>
          </a:p>
          <a:p xmlns:a="http://schemas.openxmlformats.org/drawingml/2006/main">
            <a:r>
              <a:t>从旧项目归档找回 840 份原始标注并逐份校验；语义 QC 再剔除 12 个错配、59 个重复，形成 769 个洁净独立样本与冻结划分。</a:t>
            </a:r>
          </a:p>
          <a:p xmlns:a="http://schemas.openxmlformats.org/drawingml/2006/main">
            <a:r>
              <a:t>三模型公平比较</a:t>
            </a:r>
          </a:p>
          <a:p xmlns:a="http://schemas.openxmlformats.org/drawingml/2006/main">
            <a:r>
              <a:t>U-Net / DeepLabV3+ / SegFormer-B2，两种划分、三个随机种子，18 组正式训练全部完成、哈希留档。</a:t>
            </a:r>
          </a:p>
          <a:p xmlns:a="http://schemas.openxmlformats.org/drawingml/2006/main">
            <a:r>
              <a:t>模型</a:t>
            </a:r>
          </a:p>
          <a:p xmlns:a="http://schemas.openxmlformats.org/drawingml/2006/main">
            <a:r>
              <a:t>标准划分 Dice</a:t>
            </a:r>
          </a:p>
          <a:p xmlns:a="http://schemas.openxmlformats.org/drawingml/2006/main">
            <a:r>
              <a:t>未见字 Dice</a:t>
            </a:r>
          </a:p>
          <a:p xmlns:a="http://schemas.openxmlformats.org/drawingml/2006/main">
            <a:r>
              <a:t>精度下降</a:t>
            </a:r>
          </a:p>
          <a:p xmlns:a="http://schemas.openxmlformats.org/drawingml/2006/main">
            <a:r>
              <a:t>U-Net</a:t>
            </a:r>
          </a:p>
          <a:p xmlns:a="http://schemas.openxmlformats.org/drawingml/2006/main">
            <a:r>
              <a:t>0.920</a:t>
            </a:r>
          </a:p>
          <a:p xmlns:a="http://schemas.openxmlformats.org/drawingml/2006/main">
            <a:r>
              <a:t>0.826</a:t>
            </a:r>
          </a:p>
          <a:p xmlns:a="http://schemas.openxmlformats.org/drawingml/2006/main">
            <a:r>
              <a:t>9.4 pp</a:t>
            </a:r>
          </a:p>
          <a:p xmlns:a="http://schemas.openxmlformats.org/drawingml/2006/main">
            <a:r>
              <a:t>DeepLabV3+</a:t>
            </a:r>
          </a:p>
          <a:p xmlns:a="http://schemas.openxmlformats.org/drawingml/2006/main">
            <a:r>
              <a:t>0.963</a:t>
            </a:r>
          </a:p>
          <a:p xmlns:a="http://schemas.openxmlformats.org/drawingml/2006/main">
            <a:r>
              <a:t>0.866</a:t>
            </a:r>
          </a:p>
          <a:p xmlns:a="http://schemas.openxmlformats.org/drawingml/2006/main">
            <a:r>
              <a:t>9.7 pp</a:t>
            </a:r>
          </a:p>
          <a:p xmlns:a="http://schemas.openxmlformats.org/drawingml/2006/main">
            <a:r>
              <a:t>SegFormer-B2</a:t>
            </a:r>
          </a:p>
          <a:p xmlns:a="http://schemas.openxmlformats.org/drawingml/2006/main">
            <a:r>
              <a:t>0.958</a:t>
            </a:r>
          </a:p>
          <a:p xmlns:a="http://schemas.openxmlformats.org/drawingml/2006/main">
            <a:r>
              <a:t>0.887</a:t>
            </a:r>
          </a:p>
          <a:p xmlns:a="http://schemas.openxmlformats.org/drawingml/2006/main">
            <a:r>
              <a:t>7.2 pp</a:t>
            </a:r>
          </a:p>
          <a:p xmlns:a="http://schemas.openxmlformats.org/drawingml/2006/main">
            <a:r>
              <a:t>三次种子均值；未见字 = character-disjoint 字符隔离划分</a:t>
            </a:r>
          </a:p>
          <a:p xmlns:a="http://schemas.openxmlformats.org/drawingml/2006/main">
            <a:r>
              <a:t>交叉、端点稀疏与未见字场景下三模型分割对比（论文 Fig.4，列为输入 / GT / 三模型输出）</a:t>
            </a:r>
          </a:p>
          <a:p xmlns:a="http://schemas.openxmlformats.org/drawingml/2006/main">
            <a:r>
              <a:t>标准划分 DeepLabV3+ 最优；</a:t>
            </a:r>
          </a:p>
          <a:p xmlns:a="http://schemas.openxmlformats.org/drawingml/2006/main">
            <a:r>
              <a:t>面对从未见过的汉字，SegFormer-B2 精度最高、下降最小</a:t>
            </a:r>
          </a:p>
          <a:p xmlns:a="http://schemas.openxmlformats.org/drawingml/2006/main">
            <a:r>
              <a:t>，因此被选为线上冻结模型 segformer-b2-v1。</a:t>
            </a:r>
          </a:p>
          <a:p xmlns:a="http://schemas.openxmlformats.org/drawingml/2006/main">
            <a:r>
              <a:t>一笔成章 · 2026 中期汇报</a:t>
            </a:r>
          </a:p>
          <a:p xmlns:a="http://schemas.openxmlformats.org/drawingml/2006/main">
            <a:r>
              <a:t>07 / 14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原稿内容留存</a:t>
            </a:r>
          </a:p>
          <a:p xmlns:a="http://schemas.openxmlformats.org/drawingml/2006/main">
            <a:r>
              <a:t>核心进展 ② 参考条件化结构评分与可解释反馈</a:t>
            </a:r>
          </a:p>
          <a:p xmlns:a="http://schemas.openxmlformats.org/drawingml/2006/main">
            <a:r>
              <a:t>02 · 中期核心进展</a:t>
            </a:r>
          </a:p>
          <a:p xmlns:a="http://schemas.openxmlformats.org/drawingml/2006/main">
            <a:r>
              <a:t>参考条件化结构评估流水线：同字参照 → 笔画解析 → 受限对齐 → 空间与方向证据 → 可审计输出（论文 Fig.1）</a:t>
            </a:r>
          </a:p>
          <a:p xmlns:a="http://schemas.openxmlformats.org/drawingml/2006/main">
            <a:r>
              <a:t>评分如何产生</a:t>
            </a:r>
          </a:p>
          <a:p xmlns:a="http://schemas.openxmlformats.org/drawingml/2006/main">
            <a:r>
              <a:t>参考结构匹配度 = 0.55×方向Dice + 0.25×墨迹IoU + 0.20×关键点F1</a:t>
            </a:r>
          </a:p>
          <a:p xmlns:a="http://schemas.openxmlformats.org/drawingml/2006/main">
            <a:r>
              <a:t>受限对齐</a:t>
            </a:r>
          </a:p>
          <a:p xmlns:a="http://schemas.openxmlformats.org/drawingml/2006/main">
            <a:r>
              <a:t>：仅允许平移、0.80–1.20 等比缩放、±3° 旋转，禁止为了高分扭曲用户字。</a:t>
            </a:r>
          </a:p>
          <a:p xmlns:a="http://schemas.openxmlformats.org/drawingml/2006/main">
            <a:r>
              <a:t>反馈边界</a:t>
            </a:r>
          </a:p>
          <a:p xmlns:a="http://schemas.openxmlformats.org/drawingml/2006/main">
            <a:r>
              <a:t>：规则建议始终可用、逐条对应证据；DeepSeek 只把证据润色成自然语言，不能改分数、不能虚构笔顺。</a:t>
            </a:r>
          </a:p>
          <a:p xmlns:a="http://schemas.openxmlformats.org/drawingml/2006/main">
            <a:r>
              <a:t>书写完成即触发 AI 分析（iPad 端实拍）</a:t>
            </a:r>
          </a:p>
          <a:p xmlns:a="http://schemas.openxmlformats.org/drawingml/2006/main">
            <a:r>
              <a:t>一笔成章 · 2026 中期汇报</a:t>
            </a:r>
          </a:p>
          <a:p xmlns:a="http://schemas.openxmlformats.org/drawingml/2006/main">
            <a:r>
              <a:t>08 / 14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原稿内容留存</a:t>
            </a:r>
          </a:p>
          <a:p xmlns:a="http://schemas.openxmlformats.org/drawingml/2006/main">
            <a:r>
              <a:t>核心进展 ③ 双平台产品落地：Web + iPad</a:t>
            </a:r>
          </a:p>
          <a:p xmlns:a="http://schemas.openxmlformats.org/drawingml/2006/main">
            <a:r>
              <a:t>02 · 中期核心进展</a:t>
            </a:r>
          </a:p>
          <a:p xmlns:a="http://schemas.openxmlformats.org/drawingml/2006/main">
            <a:r>
              <a:t>Web 端 · onestroke.cn</a:t>
            </a:r>
          </a:p>
          <a:p xmlns:a="http://schemas.openxmlformats.org/drawingml/2006/main">
            <a:r>
              <a:t>免安装进校：浏览器即用，</a:t>
            </a:r>
          </a:p>
          <a:p xmlns:a="http://schemas.openxmlformats.org/drawingml/2006/main">
            <a:r>
              <a:t>适配学校机房与电子白板，进校门槛低。</a:t>
            </a:r>
          </a:p>
          <a:p xmlns:a="http://schemas.openxmlformats.org/drawingml/2006/main">
            <a:r>
              <a:t>两门 Beta 课程</a:t>
            </a:r>
          </a:p>
          <a:p xmlns:a="http://schemas.openxmlformats.org/drawingml/2006/main">
            <a:r>
              <a:t>：欧阳询楷书 100 字 / 王羲之行书 100 字，参考字取自 Calli-Tongji 授权字库。</a:t>
            </a:r>
          </a:p>
          <a:p xmlns:a="http://schemas.openxmlformats.org/drawingml/2006/main">
            <a:r>
              <a:t>模型服务链路</a:t>
            </a:r>
          </a:p>
          <a:p xmlns:a="http://schemas.openxmlformats.org/drawingml/2006/main">
            <a:r>
              <a:t>：Java 后端 → GPU 模型服务，已完成真实联调。</a:t>
            </a:r>
          </a:p>
          <a:p xmlns:a="http://schemas.openxmlformats.org/drawingml/2006/main">
            <a:r>
              <a:t>Web 端课程练习页截图（待补充）</a:t>
            </a:r>
          </a:p>
          <a:p xmlns:a="http://schemas.openxmlformats.org/drawingml/2006/main">
            <a:r>
              <a:t>建议截图：课程选择页或练习结果页</a:t>
            </a:r>
          </a:p>
          <a:p xmlns:a="http://schemas.openxmlformats.org/drawingml/2006/main">
            <a:r>
              <a:t>iPad 端 · 一笔成章 App</a:t>
            </a:r>
          </a:p>
          <a:p xmlns:a="http://schemas.openxmlformats.org/drawingml/2006/main">
            <a:r>
              <a:t>课程字库（100 字练习包）</a:t>
            </a:r>
          </a:p>
          <a:p xmlns:a="http://schemas.openxmlformats.org/drawingml/2006/main">
            <a:r>
              <a:t>练习统计与打卡</a:t>
            </a:r>
          </a:p>
          <a:p xmlns:a="http://schemas.openxmlformats.org/drawingml/2006/main">
            <a:r>
              <a:t>深度练习闭环</a:t>
            </a:r>
          </a:p>
          <a:p xmlns:a="http://schemas.openxmlformats.org/drawingml/2006/main">
            <a:r>
              <a:t>：压感笔书写 → 参考字对照 → AI 分析 → 点评建议，一站完成。</a:t>
            </a:r>
          </a:p>
          <a:p xmlns:a="http://schemas.openxmlformats.org/drawingml/2006/main">
            <a:r>
              <a:t>学习数据沉淀</a:t>
            </a:r>
          </a:p>
          <a:p xmlns:a="http://schemas.openxmlformats.org/drawingml/2006/main">
            <a:r>
              <a:t>：打卡、练习次数、评分趋势全程记录，形成个人练习档案。</a:t>
            </a:r>
          </a:p>
          <a:p xmlns:a="http://schemas.openxmlformats.org/drawingml/2006/main">
            <a:r>
              <a:t>四图对照点评</a:t>
            </a:r>
          </a:p>
          <a:p xmlns:a="http://schemas.openxmlformats.org/drawingml/2006/main">
            <a:r>
              <a:t>：参考字 / 我的书写 / 分割叠图 / 对齐示意并排呈现，问题定位到局部区域。</a:t>
            </a:r>
          </a:p>
          <a:p xmlns:a="http://schemas.openxmlformats.org/drawingml/2006/main">
            <a:r>
              <a:t>双端均已达到</a:t>
            </a:r>
          </a:p>
          <a:p xmlns:a="http://schemas.openxmlformats.org/drawingml/2006/main">
            <a:r>
              <a:t>可现场演示</a:t>
            </a:r>
          </a:p>
          <a:p xmlns:a="http://schemas.openxmlformats.org/drawingml/2006/main">
            <a:r>
              <a:t>状态，练习数据与模型分析真实联通。</a:t>
            </a:r>
          </a:p>
          <a:p xmlns:a="http://schemas.openxmlformats.org/drawingml/2006/main">
            <a:r>
              <a:t>一笔成章 · 2026 中期汇报</a:t>
            </a:r>
          </a:p>
          <a:p xmlns:a="http://schemas.openxmlformats.org/drawingml/2006/main">
            <a:r>
              <a:t>09 / 14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原稿内容留存</a:t>
            </a:r>
          </a:p>
          <a:p xmlns:a="http://schemas.openxmlformats.org/drawingml/2006/main">
            <a:r>
              <a:t>成果与学术验证</a:t>
            </a:r>
          </a:p>
          <a:p xmlns:a="http://schemas.openxmlformats.org/drawingml/2006/main">
            <a:r>
              <a:t>03 · 成果与学术验证</a:t>
            </a:r>
          </a:p>
          <a:p xmlns:a="http://schemas.openxmlformats.org/drawingml/2006/main">
            <a:r>
              <a:t>学术论文在审 · IJDAR</a:t>
            </a:r>
          </a:p>
          <a:p xmlns:a="http://schemas.openxmlformats.org/drawingml/2006/main">
            <a:r>
              <a:t>（International Journal on Document Analysis and Recognition，已完成两轮修订：2026-09-05 / 09-17）</a:t>
            </a:r>
          </a:p>
          <a:p xmlns:a="http://schemas.openxmlformats.org/drawingml/2006/main">
            <a:r>
              <a:t>Reference-Conditioned Multi-Label Stroke Structure Analysis for Low-Resource Chinese Calligraphy Practice · 主稿 20 页 + 补充材料</a:t>
            </a:r>
          </a:p>
          <a:p xmlns:a="http://schemas.openxmlformats.org/drawingml/2006/main">
            <a:r>
              <a:t>软件著作权申请中</a:t>
            </a:r>
          </a:p>
          <a:p xmlns:a="http://schemas.openxmlformats.org/drawingml/2006/main">
            <a:r>
              <a:t>：「一笔成章」汉字书法智能反馈系统（iPad 端 + Web 平台）</a:t>
            </a:r>
          </a:p>
          <a:p xmlns:a="http://schemas.openxmlformats.org/drawingml/2006/main">
            <a:r>
              <a:t>学术验证 · 三组关键证据</a:t>
            </a:r>
          </a:p>
          <a:p xmlns:a="http://schemas.openxmlformats.org/drawingml/2006/main">
            <a:r>
              <a:t>E1</a:t>
            </a:r>
          </a:p>
          <a:p xmlns:a="http://schemas.openxmlformats.org/drawingml/2006/main">
            <a:r>
              <a:t>受控扰动实验</a:t>
            </a:r>
          </a:p>
          <a:p xmlns:a="http://schemas.openxmlformats.org/drawingml/2006/main">
            <a:r>
              <a:t>：平移罚分≈0 被对齐完全吸收，结构性破坏随严重度单调降分，分数语义符合设计预期。</a:t>
            </a:r>
          </a:p>
          <a:p xmlns:a="http://schemas.openxmlformats.org/drawingml/2006/main">
            <a:r>
              <a:t>E2</a:t>
            </a:r>
          </a:p>
          <a:p xmlns:a="http://schemas.openxmlformats.org/drawingml/2006/main">
            <a:r>
              <a:t>对齐消融</a:t>
            </a:r>
          </a:p>
          <a:p xmlns:a="http://schemas.openxmlformats.org/drawingml/2006/main">
            <a:r>
              <a:t>：受限对齐使无关变换罚分降低 30.1 分（95% CI [29.5, 30.7]），结构敏感性同步提升。</a:t>
            </a:r>
          </a:p>
          <a:p xmlns:a="http://schemas.openxmlformats.org/drawingml/2006/main">
            <a:r>
              <a:t>E3</a:t>
            </a:r>
          </a:p>
          <a:p xmlns:a="http://schemas.openxmlformats.org/drawingml/2006/main">
            <a:r>
              <a:t>人工盲评验证</a:t>
            </a:r>
          </a:p>
          <a:p xmlns:a="http://schemas.openxmlformats.org/drawingml/2006/main">
            <a:r>
              <a:t>：3 位盲评者 × 150 对同字实例，评分与人判断 Spearman ρ=0.297，coverage-aware 修正后 0.429；评价者间 ICC(2,k)=0.709。</a:t>
            </a:r>
          </a:p>
          <a:p xmlns:a="http://schemas.openxmlformats.org/drawingml/2006/main">
            <a:r>
              <a:t>工程与数据成果</a:t>
            </a:r>
          </a:p>
          <a:p xmlns:a="http://schemas.openxmlformats.org/drawingml/2006/main">
            <a:r>
              <a:t>模型冻结发布</a:t>
            </a:r>
          </a:p>
          <a:p xmlns:a="http://schemas.openxmlformats.org/drawingml/2006/main">
            <a:r>
              <a:t>：segformer-b2-v1，阈值、模型卡、哈希全量留档，18 组正式基准完成审计。</a:t>
            </a:r>
          </a:p>
          <a:p xmlns:a="http://schemas.openxmlformats.org/drawingml/2006/main">
            <a:r>
              <a:t>数据资产固化</a:t>
            </a:r>
          </a:p>
          <a:p xmlns:a="http://schemas.openxmlformats.org/drawingml/2006/main">
            <a:r>
              <a:t>：840 份 GT 找回校验，769 个 QC-clean 样本与字符级冻结划分。</a:t>
            </a:r>
          </a:p>
          <a:p xmlns:a="http://schemas.openxmlformats.org/drawingml/2006/main">
            <a:r>
              <a:t>双端真实落地</a:t>
            </a:r>
          </a:p>
          <a:p xmlns:a="http://schemas.openxmlformats.org/drawingml/2006/main">
            <a:r>
              <a:t>：onestroke.cn 两门 100 字课程包（Beta）+ iPad App 练习全流程，模型联调通过。</a:t>
            </a:r>
          </a:p>
          <a:p xmlns:a="http://schemas.openxmlformats.org/drawingml/2006/main">
            <a:r>
              <a:t>工程质量</a:t>
            </a:r>
          </a:p>
          <a:p xmlns:a="http://schemas.openxmlformats.org/drawingml/2006/main">
            <a:r>
              <a:t>：104 项自动化测试通过，数据—模型—论文全链路可复现、可审计。</a:t>
            </a:r>
          </a:p>
          <a:p xmlns:a="http://schemas.openxmlformats.org/drawingml/2006/main">
            <a:r>
              <a:t>一笔成章 · 2026 中期汇报</a:t>
            </a:r>
          </a:p>
          <a:p xmlns:a="http://schemas.openxmlformats.org/drawingml/2006/main">
            <a:r>
              <a:t>10 / 14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原稿内容留存</a:t>
            </a:r>
          </a:p>
          <a:p xmlns:a="http://schemas.openxmlformats.org/drawingml/2006/main">
            <a:r>
              <a:t>商业化探索：B 端规模化进校 + C 端订阅深化</a:t>
            </a:r>
          </a:p>
          <a:p xmlns:a="http://schemas.openxmlformats.org/drawingml/2006/main">
            <a:r>
              <a:t>04 · 商业化探索</a:t>
            </a:r>
          </a:p>
          <a:p xmlns:a="http://schemas.openxmlformats.org/drawingml/2006/main">
            <a:r>
              <a:t>B 端 · 学校与机构</a:t>
            </a:r>
          </a:p>
          <a:p xmlns:a="http://schemas.openxmlformats.org/drawingml/2006/main">
            <a:r>
              <a:t>Web 端免安装，是最低的进校门槛</a:t>
            </a:r>
          </a:p>
          <a:p xmlns:a="http://schemas.openxmlformats.org/drawingml/2006/main">
            <a:r>
              <a:t>场景</a:t>
            </a:r>
          </a:p>
          <a:p xmlns:a="http://schemas.openxmlformats.org/drawingml/2006/main">
            <a:r>
              <a:t>：书法课堂、课后服务、社团活动，机房与电子白板直接可用。</a:t>
            </a:r>
          </a:p>
          <a:p xmlns:a="http://schemas.openxmlformats.org/drawingml/2006/main">
            <a:r>
              <a:t>产品形态</a:t>
            </a:r>
          </a:p>
          <a:p xmlns:a="http://schemas.openxmlformats.org/drawingml/2006/main">
            <a:r>
              <a:t>：课程包按学期 / 按校授权，教师端查看班级练习数据。</a:t>
            </a:r>
          </a:p>
          <a:p xmlns:a="http://schemas.openxmlformats.org/drawingml/2006/main">
            <a:r>
              <a:t>当前状态</a:t>
            </a:r>
          </a:p>
          <a:p xmlns:a="http://schemas.openxmlformats.org/drawingml/2006/main">
            <a:r>
              <a:t>：双课程 Beta 已具备进校演示条件。</a:t>
            </a:r>
          </a:p>
          <a:p xmlns:a="http://schemas.openxmlformats.org/drawingml/2006/main">
            <a:r>
              <a:t>C 端 · 个人练习者</a:t>
            </a:r>
          </a:p>
          <a:p xmlns:a="http://schemas.openxmlformats.org/drawingml/2006/main">
            <a:r>
              <a:t>iPad App 深度练习，订阅 + 课程包内购</a:t>
            </a:r>
          </a:p>
          <a:p xmlns:a="http://schemas.openxmlformats.org/drawingml/2006/main">
            <a:r>
              <a:t>场景</a:t>
            </a:r>
          </a:p>
          <a:p xmlns:a="http://schemas.openxmlformats.org/drawingml/2006/main">
            <a:r>
              <a:t>：书法爱好者与考级人群的日常自学、纠错、复盘。</a:t>
            </a:r>
          </a:p>
          <a:p xmlns:a="http://schemas.openxmlformats.org/drawingml/2006/main">
            <a:r>
              <a:t>产品形态</a:t>
            </a:r>
          </a:p>
          <a:p xmlns:a="http://schemas.openxmlformats.org/drawingml/2006/main">
            <a:r>
              <a:t>：专业练习订阅制，碑帖课程包持续扩充。</a:t>
            </a:r>
          </a:p>
          <a:p xmlns:a="http://schemas.openxmlformats.org/drawingml/2006/main">
            <a:r>
              <a:t>当前状态</a:t>
            </a:r>
          </a:p>
          <a:p xmlns:a="http://schemas.openxmlformats.org/drawingml/2006/main">
            <a:r>
              <a:t>：App 全流程可用，具备小范围真实用户试点条件。</a:t>
            </a:r>
          </a:p>
          <a:p xmlns:a="http://schemas.openxmlformats.org/drawingml/2006/main">
            <a:r>
              <a:t>B 端进校带来规模</a:t>
            </a:r>
          </a:p>
          <a:p xmlns:a="http://schemas.openxmlformats.org/drawingml/2006/main">
            <a:r>
              <a:t>数据与口碑沉淀</a:t>
            </a:r>
          </a:p>
          <a:p xmlns:a="http://schemas.openxmlformats.org/drawingml/2006/main">
            <a:r>
              <a:t>C 端订阅反哺产品</a:t>
            </a:r>
          </a:p>
          <a:p xmlns:a="http://schemas.openxmlformats.org/drawingml/2006/main">
            <a:r>
              <a:t>中期商业进展与合规底线</a:t>
            </a:r>
          </a:p>
          <a:p xmlns:a="http://schemas.openxmlformats.org/drawingml/2006/main">
            <a:r>
              <a:t>双端产品均达到可演示状态，两门 Beta 课程上线；字帖参考库采用 </a:t>
            </a:r>
          </a:p>
          <a:p xmlns:a="http://schemas.openxmlformats.org/drawingml/2006/main">
            <a:r>
              <a:t>CC-BY-NC-4.0</a:t>
            </a:r>
          </a:p>
          <a:p xmlns:a="http://schemas.openxmlformats.org/drawingml/2006/main">
            <a:r>
              <a:t> 授权数据集，并在产品内明确标注来源与 Beta 身份。</a:t>
            </a:r>
          </a:p>
          <a:p xmlns:a="http://schemas.openxmlformats.org/drawingml/2006/main">
            <a:r>
              <a:t>下一阶段重点：推进试点学校洽谈与小范围真实用户试点，用留存与付费意愿数据验证商业假设。</a:t>
            </a:r>
          </a:p>
          <a:p xmlns:a="http://schemas.openxmlformats.org/drawingml/2006/main">
            <a:r>
              <a:t>一笔成章 · 2026 中期汇报</a:t>
            </a:r>
          </a:p>
          <a:p xmlns:a="http://schemas.openxmlformats.org/drawingml/2006/main">
            <a:r>
              <a:t>11 / 14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原稿内容留存</a:t>
            </a:r>
          </a:p>
          <a:p xmlns:a="http://schemas.openxmlformats.org/drawingml/2006/main">
            <a:r>
              <a:t>下一步计划：向结题与试点冲刺</a:t>
            </a:r>
          </a:p>
          <a:p xmlns:a="http://schemas.openxmlformats.org/drawingml/2006/main">
            <a:r>
              <a:t>05 · 问题与计划</a:t>
            </a:r>
          </a:p>
          <a:p xmlns:a="http://schemas.openxmlformats.org/drawingml/2006/main">
            <a:r>
              <a:t>2026.11</a:t>
            </a:r>
          </a:p>
          <a:p xmlns:a="http://schemas.openxmlformats.org/drawingml/2006/main">
            <a:r>
              <a:t>优化对Apple Pencil的支持</a:t>
            </a:r>
          </a:p>
          <a:p xmlns:a="http://schemas.openxmlformats.org/drawingml/2006/main">
            <a:r>
              <a:t>软件工程专业和美术专业学生充分交流合作，充分发挥</a:t>
            </a:r>
          </a:p>
          <a:p xmlns:a="http://schemas.openxmlformats.org/drawingml/2006/main">
            <a:r>
              <a:t>Apple Pencil 4096</a:t>
            </a:r>
          </a:p>
          <a:p xmlns:a="http://schemas.openxmlformats.org/drawingml/2006/main">
            <a:r>
              <a:t>级压感视力，使其近似于毛笔</a:t>
            </a:r>
          </a:p>
          <a:p xmlns:a="http://schemas.openxmlformats.org/drawingml/2006/main">
            <a:r>
              <a:t>体验</a:t>
            </a:r>
          </a:p>
          <a:p xmlns:a="http://schemas.openxmlformats.org/drawingml/2006/main">
            <a:r>
              <a:t>2026.11 – 12</a:t>
            </a:r>
          </a:p>
          <a:p xmlns:a="http://schemas.openxmlformats.org/drawingml/2006/main">
            <a:r>
              <a:t>真实场景数据采集</a:t>
            </a:r>
          </a:p>
          <a:p xmlns:a="http://schemas.openxmlformats.org/drawingml/2006/main">
            <a:r>
              <a:t>采样</a:t>
            </a:r>
          </a:p>
          <a:p xmlns:a="http://schemas.openxmlformats.org/drawingml/2006/main">
            <a:r>
              <a:t>新书写者数据</a:t>
            </a:r>
          </a:p>
          <a:p xmlns:a="http://schemas.openxmlformats.org/drawingml/2006/main">
            <a:r>
              <a:t>，根据反馈，迭代</a:t>
            </a:r>
          </a:p>
          <a:p xmlns:a="http://schemas.openxmlformats.org/drawingml/2006/main">
            <a:r>
              <a:t>优化</a:t>
            </a:r>
          </a:p>
          <a:p xmlns:a="http://schemas.openxmlformats.org/drawingml/2006/main">
            <a:r>
              <a:t>2026.12 – 2027.01</a:t>
            </a:r>
          </a:p>
          <a:p xmlns:a="http://schemas.openxmlformats.org/drawingml/2006/main">
            <a:r>
              <a:t>部署收尾</a:t>
            </a:r>
          </a:p>
          <a:p xmlns:a="http://schemas.openxmlformats.org/drawingml/2006/main">
            <a:r>
              <a:t>模型服务迁移长期部署、修复 TLS。</a:t>
            </a:r>
          </a:p>
          <a:p xmlns:a="http://schemas.openxmlformats.org/drawingml/2006/main">
            <a:r>
              <a:t>2027 春 · 结题</a:t>
            </a:r>
          </a:p>
          <a:p xmlns:a="http://schemas.openxmlformats.org/drawingml/2006/main">
            <a:r>
              <a:t>试点与成果固化</a:t>
            </a:r>
          </a:p>
          <a:p xmlns:a="http://schemas.openxmlformats.org/drawingml/2006/main">
            <a:r>
              <a:t>试点学校</a:t>
            </a:r>
          </a:p>
          <a:p xmlns:a="http://schemas.openxmlformats.org/drawingml/2006/main">
            <a:r>
              <a:t>（如华东师范大学附属中小学、</a:t>
            </a:r>
          </a:p>
          <a:p xmlns:a="http://schemas.openxmlformats.org/drawingml/2006/main">
            <a:r>
              <a:t>幼儿园）</a:t>
            </a:r>
          </a:p>
          <a:p xmlns:a="http://schemas.openxmlformats.org/drawingml/2006/main">
            <a:r>
              <a:t>与小范围用户试点；软著、结题报告与演示材料归档。</a:t>
            </a:r>
          </a:p>
          <a:p xmlns:a="http://schemas.openxmlformats.org/drawingml/2006/main">
            <a:r>
              <a:t>结题目标：</a:t>
            </a:r>
          </a:p>
          <a:p xmlns:a="http://schemas.openxmlformats.org/drawingml/2006/main">
            <a:r>
              <a:t>实现</a:t>
            </a:r>
          </a:p>
          <a:p xmlns:a="http://schemas.openxmlformats.org/drawingml/2006/main">
            <a:r>
              <a:t>「数据—模型—产品—验证」的完整闭环</a:t>
            </a:r>
          </a:p>
          <a:p xmlns:a="http://schemas.openxmlformats.org/drawingml/2006/main">
            <a:r>
              <a:t>一笔成章 · 2026 中期汇报</a:t>
            </a:r>
          </a:p>
          <a:p xmlns:a="http://schemas.openxmlformats.org/drawingml/2006/main">
            <a:r>
              <a:t>13 / 14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原稿内容留存</a:t>
            </a:r>
          </a:p>
          <a:p xmlns:a="http://schemas.openxmlformats.org/drawingml/2006/main">
            <a:r>
              <a:t>感谢聆听</a:t>
            </a:r>
          </a:p>
          <a:p xmlns:a="http://schemas.openxmlformats.org/drawingml/2006/main">
            <a:r>
              <a:t>恳请各位老师批评指正</a:t>
            </a:r>
          </a:p>
          <a:p xmlns:a="http://schemas.openxmlformats.org/drawingml/2006/main">
            <a:r>
              <a:t>一笔成章 · 中期汇报 · 2026.10</a:t>
            </a:r>
          </a:p>
          <a:p xmlns:a="http://schemas.openxmlformats.org/drawingml/2006/main">
            <a:r>
              <a:t>汇报人：刘小凡　　指导教师：万成城</a:t>
            </a:r>
          </a:p>
          <a:p xmlns:a="http://schemas.openxmlformats.org/drawingml/2006/main">
            <a:r>
              <a:t>华东师范大学 软件工程学院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057264f21af4ab9" /></Relationships>
</file>

<file path=ppt/slideLayouts/slideLayout1.xml><?xml version="1.0" encoding="utf-8"?>
<p:sldLayout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01be7d011a5f4287" /><Relationship Type="http://schemas.openxmlformats.org/officeDocument/2006/relationships/slideLayout" Target="/ppt/slideLayouts/slideLayout1.xml" Id="R62e3921d35184296" /></Relationships>
</file>

<file path=ppt/slideMasters/slideMaster1.xml><?xml version="1.0" encoding="utf-8"?>
<p:sld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62e3921d35184296"/>
  </p:sldLayoutIdLst>
</p:sldMaster>
</file>

<file path=ppt/slideMasters/theme/theme2.xml><?xml version="1.0" encoding="utf-8"?>
<a:theme xmlns:a="http://schemas.openxmlformats.org/drawingml/2006/main" name="PPTD">
  <a:themeElements>
    <a:clrScheme name="PPTD">
      <a:dk1>
        <a:srgbClr val="000000"/>
      </a:dk1>
      <a:lt1>
        <a:srgbClr val="FFFFFF"/>
      </a:lt1>
      <a:dk2>
        <a:srgbClr val="1F2937"/>
      </a:dk2>
      <a:lt2>
        <a:srgbClr val="F3F4F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PPTD">
      <a:majorFont>
        <a:latin typeface="MiSans"/>
        <a:ea typeface="MiSans"/>
        <a:cs typeface="MiSans"/>
      </a:majorFont>
      <a:minorFont>
        <a:latin typeface="MiSans"/>
        <a:ea typeface="MiSans"/>
        <a:cs typeface="MiSans"/>
      </a:minorFont>
    </a:fontScheme>
    <a:fmtScheme name="PPTD">
      <a:fillStyleLst>
        <a:solidFill>
          <a:schemeClr val="accent1"/>
        </a:solidFill>
        <a:solidFill>
          <a:schemeClr val="accent2"/>
        </a:solidFill>
        <a:solidFill>
          <a:schemeClr val="accent3"/>
        </a:solidFill>
      </a:fillStyleLst>
      <a:lnStyleLst>
        <a:ln w="6350">
          <a:solidFill>
            <a:schemeClr val="accent1"/>
          </a:solidFill>
          <a:prstDash val="solid"/>
        </a:ln>
        <a:ln w="12700">
          <a:solidFill>
            <a:schemeClr val="accent1"/>
          </a:solidFill>
          <a:prstDash val="solid"/>
        </a:ln>
        <a:ln w="19050">
          <a:solidFill>
            <a:schemeClr val="accent1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lt1"/>
        </a:solidFill>
        <a:solidFill>
          <a:schemeClr val="lt2"/>
        </a:solidFill>
        <a:solidFill>
          <a:schemeClr val="dk1"/>
        </a:soli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719f69c5b7f40be" /><Relationship Type="http://schemas.openxmlformats.org/officeDocument/2006/relationships/image" Target="/ppt/media/image.png" Id="Rf0d3ed8b23364403" /><Relationship Type="http://schemas.openxmlformats.org/officeDocument/2006/relationships/notesSlide" Target="/ppt/notesSlides/notesSlide1.xml" Id="Rd977db82626343e6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50407df097b40d0" /><Relationship Type="http://schemas.openxmlformats.org/officeDocument/2006/relationships/image" Target="/ppt/media/image2.png" Id="Ra0591399d7114489" /><Relationship Type="http://schemas.openxmlformats.org/officeDocument/2006/relationships/notesSlide" Target="/ppt/notesSlides/notesSlide2.xml" Id="Re0884de6b6dd403a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538f99af6c14334" /><Relationship Type="http://schemas.openxmlformats.org/officeDocument/2006/relationships/notesSlide" Target="/ppt/notesSlides/notesSlide3.xml" Id="R97f4386dd29042ba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cf8e7a188cc4793" /><Relationship Type="http://schemas.openxmlformats.org/officeDocument/2006/relationships/notesSlide" Target="/ppt/notesSlides/notesSlide4.xml" Id="R804804be09b34584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be5bccf86ee4ac4" /><Relationship Type="http://schemas.openxmlformats.org/officeDocument/2006/relationships/notesSlide" Target="/ppt/notesSlides/notesSlide5.xml" Id="R4c9e033f656f4b5e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c495c0e0b3844da" /><Relationship Type="http://schemas.openxmlformats.org/officeDocument/2006/relationships/notesSlide" Target="/ppt/notesSlides/notesSlide6.xml" Id="R653a5ed98f9547d9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b31a876c8d84566" /><Relationship Type="http://schemas.openxmlformats.org/officeDocument/2006/relationships/image" Target="/ppt/media/image3.png" Id="Rebab69a14df440e8" /><Relationship Type="http://schemas.openxmlformats.org/officeDocument/2006/relationships/notesSlide" Target="/ppt/notesSlides/notesSlide7.xml" Id="Rba9656d379ca4900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83c3bd509e04548" /><Relationship Type="http://schemas.openxmlformats.org/officeDocument/2006/relationships/image" Target="/ppt/media/image4.png" Id="Rb18c4d8d4fff4be0" /><Relationship Type="http://schemas.openxmlformats.org/officeDocument/2006/relationships/image" Target="/ppt/media/image5.png" Id="Rf89b5d1152ec4ff3" /><Relationship Type="http://schemas.openxmlformats.org/officeDocument/2006/relationships/notesSlide" Target="/ppt/notesSlides/notesSlide8.xml" Id="Rab013b605ea847a3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ff1d5c66e7a4c7e" /><Relationship Type="http://schemas.openxmlformats.org/officeDocument/2006/relationships/image" Target="/ppt/media/image6.png" Id="R796c0753debd437e" /><Relationship Type="http://schemas.openxmlformats.org/officeDocument/2006/relationships/image" Target="/ppt/media/image7.png" Id="R955ebf898b8e4671" /><Relationship Type="http://schemas.openxmlformats.org/officeDocument/2006/relationships/notesSlide" Target="/ppt/notesSlides/notesSlide9.xml" Id="R39a49fc32b8e44c3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49530971a8c4b42" /><Relationship Type="http://schemas.openxmlformats.org/officeDocument/2006/relationships/notesSlide" Target="/ppt/notesSlides/notesSlide10.xml" Id="Rd836961ef6704fcc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4453635f3cf4872" /><Relationship Type="http://schemas.openxmlformats.org/officeDocument/2006/relationships/notesSlide" Target="/ppt/notesSlides/notesSlide11.xml" Id="R322730afcfeb454b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5c6f86b149d4ef0" /><Relationship Type="http://schemas.openxmlformats.org/officeDocument/2006/relationships/notesSlide" Target="/ppt/notesSlides/notesSlide12.xml" Id="Ra1fd717cc2164282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f11c8e713974d80" /><Relationship Type="http://schemas.openxmlformats.org/officeDocument/2006/relationships/image" Target="/ppt/media/image8.png" Id="Rdf6a351428034168" /><Relationship Type="http://schemas.openxmlformats.org/officeDocument/2006/relationships/notesSlide" Target="/ppt/notesSlides/notesSlide13.xml" Id="R0211794ffc034951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143E5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2" name="cover-img">
            <a:extLst xmlns:a="http://schemas.openxmlformats.org/drawingml/2006/main">
              <a:ext uri="{FF2B5EF4-FFF2-40B4-BE49-F238E27FC236}">
                <a16:creationId xmlns:a16="http://schemas.microsoft.com/office/drawing/2014/main" id="{B37F50EC-01CA-48F3-89A1-912EF4F70D94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0d3ed8b23364403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905625" y="2057400"/>
            <a:ext cx="4857750" cy="339090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sp>
        <p:nvSpPr>
          <p:cNvPr id="13" name="footer">
            <a:extLst xmlns:a="http://schemas.openxmlformats.org/drawingml/2006/main">
              <a:ext uri="{FF2B5EF4-FFF2-40B4-BE49-F238E27FC236}">
                <a16:creationId xmlns:a16="http://schemas.microsoft.com/office/drawing/2014/main" id="{D4130391-3F9E-47A1-AC88-797187CA0C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05575"/>
            <a:ext cx="6667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125" b="0">
                <a:solidFill>
                  <a:srgbClr val="9EBFCB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125" b="0">
                <a:solidFill>
                  <a:srgbClr val="9EBFCB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125" b="0">
                <a:solidFill>
                  <a:srgbClr val="9EBFCB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125" b="0">
                <a:solidFill>
                  <a:srgbClr val="9EBFCB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125" b="0">
                <a:solidFill>
                  <a:srgbClr val="9EBFCB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125" b="0">
                <a:solidFill>
                  <a:srgbClr val="9EBFCB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125" b="0">
                <a:solidFill>
                  <a:srgbClr val="9EBFCB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125" b="0">
                <a:solidFill>
                  <a:srgbClr val="9EBFCB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125" b="0">
                <a:solidFill>
                  <a:srgbClr val="9EBFCB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125" b="0">
                <a:solidFill>
                  <a:srgbClr val="9EBFCB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lnSpc>
                <a:spcPct val="118000"/>
              </a:lnSpc>
              <a:buNone/>
              <a:defRPr sz="1125" b="0">
                <a:solidFill>
                  <a:srgbClr val="9EBFC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9EBFCB"/>
                </a:solidFill>
                <a:latin typeface="Microsoft YaHei"/>
                <a:ea typeface="Microsoft YaHei"/>
                <a:cs typeface="Microsoft YaHei"/>
              </a:rPr>
              <a:t>一笔成章  /  中期汇报</a:t>
            </a:r>
          </a:p>
        </p:txBody>
      </p:sp>
      <p:sp>
        <p:nvSpPr>
          <p:cNvPr id="14" name="page-number">
            <a:extLst xmlns:a="http://schemas.openxmlformats.org/drawingml/2006/main">
              <a:ext uri="{FF2B5EF4-FFF2-40B4-BE49-F238E27FC236}">
                <a16:creationId xmlns:a16="http://schemas.microsoft.com/office/drawing/2014/main" id="{19629249-90F8-40C7-BB75-CE1422AE22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6486525"/>
            <a:ext cx="8191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200" b="0">
                <a:solidFill>
                  <a:srgbClr val="9EBFCB"/>
                </a:solidFill>
                <a:latin typeface="Microsoft YaHei"/>
                <a:ea typeface="Microsoft YaHei"/>
                <a:cs typeface="Microsoft YaHei"/>
              </a:defRPr>
            </a:defPPr>
            <a:lvl1pPr algn="r">
              <a:defRPr sz="1200" b="0">
                <a:solidFill>
                  <a:srgbClr val="9EBFCB"/>
                </a:solidFill>
                <a:latin typeface="Microsoft YaHei"/>
                <a:ea typeface="Microsoft YaHei"/>
                <a:cs typeface="Microsoft YaHei"/>
              </a:defRPr>
            </a:lvl1pPr>
            <a:lvl2pPr algn="r">
              <a:defRPr sz="1200" b="0">
                <a:solidFill>
                  <a:srgbClr val="9EBFCB"/>
                </a:solidFill>
                <a:latin typeface="Microsoft YaHei"/>
                <a:ea typeface="Microsoft YaHei"/>
                <a:cs typeface="Microsoft YaHei"/>
              </a:defRPr>
            </a:lvl2pPr>
            <a:lvl3pPr algn="r">
              <a:defRPr sz="1200" b="0">
                <a:solidFill>
                  <a:srgbClr val="9EBFCB"/>
                </a:solidFill>
                <a:latin typeface="Microsoft YaHei"/>
                <a:ea typeface="Microsoft YaHei"/>
                <a:cs typeface="Microsoft YaHei"/>
              </a:defRPr>
            </a:lvl3pPr>
            <a:lvl4pPr algn="r">
              <a:defRPr sz="1200" b="0">
                <a:solidFill>
                  <a:srgbClr val="9EBFCB"/>
                </a:solidFill>
                <a:latin typeface="Microsoft YaHei"/>
                <a:ea typeface="Microsoft YaHei"/>
                <a:cs typeface="Microsoft YaHei"/>
              </a:defRPr>
            </a:lvl4pPr>
            <a:lvl5pPr algn="r">
              <a:defRPr sz="1200" b="0">
                <a:solidFill>
                  <a:srgbClr val="9EBFCB"/>
                </a:solidFill>
                <a:latin typeface="Microsoft YaHei"/>
                <a:ea typeface="Microsoft YaHei"/>
                <a:cs typeface="Microsoft YaHei"/>
              </a:defRPr>
            </a:lvl5pPr>
            <a:lvl6pPr algn="r">
              <a:defRPr sz="1200" b="0">
                <a:solidFill>
                  <a:srgbClr val="9EBFCB"/>
                </a:solidFill>
                <a:latin typeface="Microsoft YaHei"/>
                <a:ea typeface="Microsoft YaHei"/>
                <a:cs typeface="Microsoft YaHei"/>
              </a:defRPr>
            </a:lvl6pPr>
            <a:lvl7pPr algn="r">
              <a:defRPr sz="1200" b="0">
                <a:solidFill>
                  <a:srgbClr val="9EBFCB"/>
                </a:solidFill>
                <a:latin typeface="Microsoft YaHei"/>
                <a:ea typeface="Microsoft YaHei"/>
                <a:cs typeface="Microsoft YaHei"/>
              </a:defRPr>
            </a:lvl7pPr>
            <a:lvl8pPr algn="r">
              <a:defRPr sz="1200" b="0">
                <a:solidFill>
                  <a:srgbClr val="9EBFCB"/>
                </a:solidFill>
                <a:latin typeface="Microsoft YaHei"/>
                <a:ea typeface="Microsoft YaHei"/>
                <a:cs typeface="Microsoft YaHei"/>
              </a:defRPr>
            </a:lvl8pPr>
            <a:lvl9pPr algn="r">
              <a:defRPr sz="1200" b="0">
                <a:solidFill>
                  <a:srgbClr val="9EBFCB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r">
              <a:lnSpc>
                <a:spcPct val="118000"/>
              </a:lnSpc>
              <a:buNone/>
              <a:defRPr sz="1200" b="0">
                <a:solidFill>
                  <a:srgbClr val="9EBFC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9EBFCB"/>
                </a:solidFill>
                <a:latin typeface="Microsoft YaHei"/>
                <a:ea typeface="Microsoft YaHei"/>
                <a:cs typeface="Microsoft YaHei"/>
              </a:rPr>
              <a:t>01 / 13</a:t>
            </a:r>
          </a:p>
        </p:txBody>
      </p:sp>
      <p:sp>
        <p:nvSpPr>
          <p:cNvPr id="15" name="text">
            <a:extLst xmlns:a="http://schemas.openxmlformats.org/drawingml/2006/main">
              <a:ext uri="{FF2B5EF4-FFF2-40B4-BE49-F238E27FC236}">
                <a16:creationId xmlns:a16="http://schemas.microsoft.com/office/drawing/2014/main" id="{BAB86D44-6889-449D-BE76-3E894E54B8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6191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00" b="1">
                <a:solidFill>
                  <a:srgbClr val="D7E7EE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800" b="1">
                <a:solidFill>
                  <a:srgbClr val="D7E7EE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800" b="1">
                <a:solidFill>
                  <a:srgbClr val="D7E7EE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800" b="1">
                <a:solidFill>
                  <a:srgbClr val="D7E7EE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800" b="1">
                <a:solidFill>
                  <a:srgbClr val="D7E7EE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800" b="1">
                <a:solidFill>
                  <a:srgbClr val="D7E7EE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800" b="1">
                <a:solidFill>
                  <a:srgbClr val="D7E7EE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800" b="1">
                <a:solidFill>
                  <a:srgbClr val="D7E7EE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800" b="1">
                <a:solidFill>
                  <a:srgbClr val="D7E7EE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800" b="1">
                <a:solidFill>
                  <a:srgbClr val="D7E7EE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lnSpc>
                <a:spcPct val="118000"/>
              </a:lnSpc>
              <a:buNone/>
              <a:defRPr sz="1800" b="1">
                <a:solidFill>
                  <a:srgbClr val="D7E7E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D7E7EE"/>
                </a:solidFill>
                <a:latin typeface="Microsoft YaHei"/>
                <a:ea typeface="Microsoft YaHei"/>
                <a:cs typeface="Microsoft YaHei"/>
              </a:rPr>
              <a:t>华东师范大学</a:t>
            </a:r>
          </a:p>
        </p:txBody>
      </p:sp>
      <p:sp>
        <p:nvSpPr>
          <p:cNvPr id="16" name="text">
            <a:extLst xmlns:a="http://schemas.openxmlformats.org/drawingml/2006/main">
              <a:ext uri="{FF2B5EF4-FFF2-40B4-BE49-F238E27FC236}">
                <a16:creationId xmlns:a16="http://schemas.microsoft.com/office/drawing/2014/main" id="{6CA4AA28-A1E4-43A2-8EA4-1463CDA877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04875"/>
            <a:ext cx="7143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425" b="0">
                <a:solidFill>
                  <a:srgbClr val="D7E7EE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425" b="0">
                <a:solidFill>
                  <a:srgbClr val="D7E7EE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425" b="0">
                <a:solidFill>
                  <a:srgbClr val="D7E7EE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425" b="0">
                <a:solidFill>
                  <a:srgbClr val="D7E7EE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425" b="0">
                <a:solidFill>
                  <a:srgbClr val="D7E7EE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425" b="0">
                <a:solidFill>
                  <a:srgbClr val="D7E7EE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425" b="0">
                <a:solidFill>
                  <a:srgbClr val="D7E7EE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425" b="0">
                <a:solidFill>
                  <a:srgbClr val="D7E7EE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425" b="0">
                <a:solidFill>
                  <a:srgbClr val="D7E7EE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425" b="0">
                <a:solidFill>
                  <a:srgbClr val="D7E7EE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lnSpc>
                <a:spcPct val="118000"/>
              </a:lnSpc>
              <a:buNone/>
              <a:defRPr sz="1425" b="0">
                <a:solidFill>
                  <a:srgbClr val="D7E7E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D7E7EE"/>
                </a:solidFill>
                <a:latin typeface="Microsoft YaHei"/>
                <a:ea typeface="Microsoft YaHei"/>
                <a:cs typeface="Microsoft YaHei"/>
              </a:rPr>
              <a:t>本科生创新训练培育项目（创业训练类）</a:t>
            </a:r>
          </a:p>
        </p:txBody>
      </p:sp>
      <p:sp>
        <p:nvSpPr>
          <p:cNvPr id="17" name="cover-title">
            <a:extLst xmlns:a="http://schemas.openxmlformats.org/drawingml/2006/main">
              <a:ext uri="{FF2B5EF4-FFF2-40B4-BE49-F238E27FC236}">
                <a16:creationId xmlns:a16="http://schemas.microsoft.com/office/drawing/2014/main" id="{AD8051A5-2412-4413-90A7-3B2BE18781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38350"/>
            <a:ext cx="619125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63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63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63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63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63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63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63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63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63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63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lnSpc>
                <a:spcPct val="118000"/>
              </a:lnSpc>
              <a:buNone/>
              <a:defRPr sz="63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3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一笔成章</a:t>
            </a:r>
          </a:p>
        </p:txBody>
      </p:sp>
      <p:sp>
        <p:nvSpPr>
          <p:cNvPr id="18" name="text">
            <a:extLst xmlns:a="http://schemas.openxmlformats.org/drawingml/2006/main">
              <a:ext uri="{FF2B5EF4-FFF2-40B4-BE49-F238E27FC236}">
                <a16:creationId xmlns:a16="http://schemas.microsoft.com/office/drawing/2014/main" id="{7E1923A9-1FC5-4316-ADA6-0BD976B927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295650"/>
            <a:ext cx="5905500" cy="1009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2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2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2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2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2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2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2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2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2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2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lnSpc>
                <a:spcPct val="118000"/>
              </a:lnSpc>
              <a:buNone/>
              <a:defRPr sz="22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基于视觉模型的全场景</a:t>
            </a:r>
          </a:p>
          <a:p xmlns:a="http://schemas.openxmlformats.org/drawingml/2006/main">
            <a:pPr algn="l">
              <a:lnSpc>
                <a:spcPct val="118000"/>
              </a:lnSpc>
              <a:buNone/>
              <a:defRPr sz="22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汉字书法智能反馈系统</a:t>
            </a:r>
          </a:p>
        </p:txBody>
      </p:sp>
      <p:sp>
        <p:nvSpPr>
          <p:cNvPr id="19" name="text">
            <a:extLst xmlns:a="http://schemas.openxmlformats.org/drawingml/2006/main">
              <a:ext uri="{FF2B5EF4-FFF2-40B4-BE49-F238E27FC236}">
                <a16:creationId xmlns:a16="http://schemas.microsoft.com/office/drawing/2014/main" id="{445D1C8E-576A-4CB1-A538-E6405AD6BF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648200"/>
            <a:ext cx="5905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00" b="1">
                <a:solidFill>
                  <a:srgbClr val="BDE3B1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100" b="1">
                <a:solidFill>
                  <a:srgbClr val="BDE3B1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100" b="1">
                <a:solidFill>
                  <a:srgbClr val="BDE3B1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100" b="1">
                <a:solidFill>
                  <a:srgbClr val="BDE3B1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100" b="1">
                <a:solidFill>
                  <a:srgbClr val="BDE3B1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100" b="1">
                <a:solidFill>
                  <a:srgbClr val="BDE3B1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100" b="1">
                <a:solidFill>
                  <a:srgbClr val="BDE3B1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100" b="1">
                <a:solidFill>
                  <a:srgbClr val="BDE3B1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100" b="1">
                <a:solidFill>
                  <a:srgbClr val="BDE3B1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100" b="1">
                <a:solidFill>
                  <a:srgbClr val="BDE3B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lnSpc>
                <a:spcPct val="118000"/>
              </a:lnSpc>
              <a:buNone/>
              <a:defRPr sz="2100" b="1">
                <a:solidFill>
                  <a:srgbClr val="BDE3B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BDE3B1"/>
                </a:solidFill>
                <a:latin typeface="Microsoft YaHei"/>
                <a:ea typeface="Microsoft YaHei"/>
                <a:cs typeface="Microsoft YaHei"/>
              </a:rPr>
              <a:t>中期汇报   2026.10</a:t>
            </a:r>
          </a:p>
        </p:txBody>
      </p:sp>
      <p:sp>
        <p:nvSpPr>
          <p:cNvPr id="20" name="text">
            <a:extLst xmlns:a="http://schemas.openxmlformats.org/drawingml/2006/main">
              <a:ext uri="{FF2B5EF4-FFF2-40B4-BE49-F238E27FC236}">
                <a16:creationId xmlns:a16="http://schemas.microsoft.com/office/drawing/2014/main" id="{B0101210-2DC9-4671-84F2-62AA8B3228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438775"/>
            <a:ext cx="62865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75" b="0">
                <a:solidFill>
                  <a:srgbClr val="D7E7EE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575" b="0">
                <a:solidFill>
                  <a:srgbClr val="D7E7EE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575" b="0">
                <a:solidFill>
                  <a:srgbClr val="D7E7EE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575" b="0">
                <a:solidFill>
                  <a:srgbClr val="D7E7EE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575" b="0">
                <a:solidFill>
                  <a:srgbClr val="D7E7EE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575" b="0">
                <a:solidFill>
                  <a:srgbClr val="D7E7EE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575" b="0">
                <a:solidFill>
                  <a:srgbClr val="D7E7EE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575" b="0">
                <a:solidFill>
                  <a:srgbClr val="D7E7EE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575" b="0">
                <a:solidFill>
                  <a:srgbClr val="D7E7EE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575" b="0">
                <a:solidFill>
                  <a:srgbClr val="D7E7EE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lnSpc>
                <a:spcPct val="118000"/>
              </a:lnSpc>
              <a:buNone/>
              <a:defRPr sz="1575" b="0">
                <a:solidFill>
                  <a:srgbClr val="D7E7E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D7E7EE"/>
                </a:solidFill>
                <a:latin typeface="Microsoft YaHei"/>
                <a:ea typeface="Microsoft YaHei"/>
                <a:cs typeface="Microsoft YaHei"/>
              </a:rPr>
              <a:t>汇报人  刘小凡（软件工程学院）</a:t>
            </a:r>
          </a:p>
          <a:p xmlns:a="http://schemas.openxmlformats.org/drawingml/2006/main">
            <a:pPr algn="l">
              <a:lnSpc>
                <a:spcPct val="118000"/>
              </a:lnSpc>
              <a:buNone/>
              <a:defRPr sz="1575" b="0">
                <a:solidFill>
                  <a:srgbClr val="D7E7E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D7E7EE"/>
                </a:solidFill>
                <a:latin typeface="Microsoft YaHei"/>
                <a:ea typeface="Microsoft YaHei"/>
                <a:cs typeface="Microsoft YaHei"/>
              </a:rPr>
              <a:t>指导教师  万成城</a:t>
            </a:r>
          </a:p>
        </p:txBody>
      </p:sp>
      <p:sp>
        <p:nvSpPr>
          <p:cNvPr id="21" name="image-caption">
            <a:extLst xmlns:a="http://schemas.openxmlformats.org/drawingml/2006/main">
              <a:ext uri="{FF2B5EF4-FFF2-40B4-BE49-F238E27FC236}">
                <a16:creationId xmlns:a16="http://schemas.microsoft.com/office/drawing/2014/main" id="{A594BEBB-D6E8-4F47-9B59-F029A31715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5610225"/>
            <a:ext cx="3810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ctr">
              <a:defRPr sz="1350" b="0">
                <a:solidFill>
                  <a:srgbClr val="D7E7EE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350" b="0">
                <a:solidFill>
                  <a:srgbClr val="D7E7EE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350" b="0">
                <a:solidFill>
                  <a:srgbClr val="D7E7EE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350" b="0">
                <a:solidFill>
                  <a:srgbClr val="D7E7EE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350" b="0">
                <a:solidFill>
                  <a:srgbClr val="D7E7EE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350" b="0">
                <a:solidFill>
                  <a:srgbClr val="D7E7EE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350" b="0">
                <a:solidFill>
                  <a:srgbClr val="D7E7EE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350" b="0">
                <a:solidFill>
                  <a:srgbClr val="D7E7EE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350" b="0">
                <a:solidFill>
                  <a:srgbClr val="D7E7EE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350" b="0">
                <a:solidFill>
                  <a:srgbClr val="D7E7EE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lnSpc>
                <a:spcPct val="118000"/>
              </a:lnSpc>
              <a:buNone/>
              <a:defRPr sz="1350" b="0">
                <a:solidFill>
                  <a:srgbClr val="D7E7E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D7E7EE"/>
                </a:solidFill>
                <a:latin typeface="Microsoft YaHei"/>
                <a:ea typeface="Microsoft YaHei"/>
                <a:cs typeface="Microsoft YaHei"/>
              </a:rPr>
              <a:t>iPad 端 AI 分析实拍</a:t>
            </a:r>
          </a:p>
        </p:txBody>
      </p:sp>
    </p:spTree>
    <p:extLst>
      <p:ext uri="{BB962C8B-B14F-4D97-AF65-F5344CB8AC3E}">
        <p14:creationId xmlns:p14="http://schemas.microsoft.com/office/powerpoint/2010/main" val="1552353567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DFEEE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6" name="shot-home">
            <a:extLst xmlns:a="http://schemas.openxmlformats.org/drawingml/2006/main">
              <a:ext uri="{FF2B5EF4-FFF2-40B4-BE49-F238E27FC236}">
                <a16:creationId xmlns:a16="http://schemas.microsoft.com/office/drawing/2014/main" id="{E3932C7B-62A8-4ACA-B66A-83C2FD87FF8D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0591399d7114489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019925" y="1219200"/>
            <a:ext cx="4495800" cy="314325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sp>
        <p:nvSpPr>
          <p:cNvPr id="17" name="slide-title">
            <a:extLst xmlns:a="http://schemas.openxmlformats.org/drawingml/2006/main">
              <a:ext uri="{FF2B5EF4-FFF2-40B4-BE49-F238E27FC236}">
                <a16:creationId xmlns:a16="http://schemas.microsoft.com/office/drawing/2014/main" id="{921FCF15-124E-491B-9821-DD9BD071E6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97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000" b="1">
                <a:solidFill>
                  <a:srgbClr val="16394B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3000" b="1">
                <a:solidFill>
                  <a:srgbClr val="16394B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3000" b="1">
                <a:solidFill>
                  <a:srgbClr val="16394B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3000" b="1">
                <a:solidFill>
                  <a:srgbClr val="16394B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3000" b="1">
                <a:solidFill>
                  <a:srgbClr val="16394B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3000" b="1">
                <a:solidFill>
                  <a:srgbClr val="16394B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3000" b="1">
                <a:solidFill>
                  <a:srgbClr val="16394B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3000" b="1">
                <a:solidFill>
                  <a:srgbClr val="16394B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3000" b="1">
                <a:solidFill>
                  <a:srgbClr val="16394B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3000" b="1">
                <a:solidFill>
                  <a:srgbClr val="16394B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lnSpc>
                <a:spcPct val="118000"/>
              </a:lnSpc>
              <a:buNone/>
              <a:defRPr sz="3000" b="1">
                <a:solidFill>
                  <a:srgbClr val="16394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000" b="1">
                <a:solidFill>
                  <a:srgbClr val="16394B"/>
                </a:solidFill>
                <a:latin typeface="Microsoft YaHei"/>
                <a:ea typeface="Microsoft YaHei"/>
                <a:cs typeface="Microsoft YaHei"/>
              </a:rPr>
              <a:t>项目简介：核心功能与用户画像</a:t>
            </a:r>
          </a:p>
        </p:txBody>
      </p:sp>
      <p:sp>
        <p:nvSpPr>
          <p:cNvPr id="18" name="footer">
            <a:extLst xmlns:a="http://schemas.openxmlformats.org/drawingml/2006/main">
              <a:ext uri="{FF2B5EF4-FFF2-40B4-BE49-F238E27FC236}">
                <a16:creationId xmlns:a16="http://schemas.microsoft.com/office/drawing/2014/main" id="{DAE653C8-BEFB-4E15-B45F-EA3ABCFC15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05575"/>
            <a:ext cx="6667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125" b="0">
                <a:solidFill>
                  <a:srgbClr val="66818E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125" b="0">
                <a:solidFill>
                  <a:srgbClr val="66818E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125" b="0">
                <a:solidFill>
                  <a:srgbClr val="66818E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125" b="0">
                <a:solidFill>
                  <a:srgbClr val="66818E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125" b="0">
                <a:solidFill>
                  <a:srgbClr val="66818E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125" b="0">
                <a:solidFill>
                  <a:srgbClr val="66818E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125" b="0">
                <a:solidFill>
                  <a:srgbClr val="66818E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125" b="0">
                <a:solidFill>
                  <a:srgbClr val="66818E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125" b="0">
                <a:solidFill>
                  <a:srgbClr val="66818E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125" b="0">
                <a:solidFill>
                  <a:srgbClr val="66818E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lnSpc>
                <a:spcPct val="118000"/>
              </a:lnSpc>
              <a:buNone/>
              <a:defRPr sz="1125" b="0">
                <a:solidFill>
                  <a:srgbClr val="66818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66818E"/>
                </a:solidFill>
                <a:latin typeface="Microsoft YaHei"/>
                <a:ea typeface="Microsoft YaHei"/>
                <a:cs typeface="Microsoft YaHei"/>
              </a:rPr>
              <a:t>一笔成章  /  中期汇报</a:t>
            </a:r>
          </a:p>
        </p:txBody>
      </p:sp>
      <p:sp>
        <p:nvSpPr>
          <p:cNvPr id="19" name="page-number">
            <a:extLst xmlns:a="http://schemas.openxmlformats.org/drawingml/2006/main">
              <a:ext uri="{FF2B5EF4-FFF2-40B4-BE49-F238E27FC236}">
                <a16:creationId xmlns:a16="http://schemas.microsoft.com/office/drawing/2014/main" id="{D0382F32-3489-499C-9966-644132E296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6486525"/>
            <a:ext cx="8191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200" b="0">
                <a:solidFill>
                  <a:srgbClr val="66818E"/>
                </a:solidFill>
                <a:latin typeface="Microsoft YaHei"/>
                <a:ea typeface="Microsoft YaHei"/>
                <a:cs typeface="Microsoft YaHei"/>
              </a:defRPr>
            </a:defPPr>
            <a:lvl1pPr algn="r">
              <a:defRPr sz="1200" b="0">
                <a:solidFill>
                  <a:srgbClr val="66818E"/>
                </a:solidFill>
                <a:latin typeface="Microsoft YaHei"/>
                <a:ea typeface="Microsoft YaHei"/>
                <a:cs typeface="Microsoft YaHei"/>
              </a:defRPr>
            </a:lvl1pPr>
            <a:lvl2pPr algn="r">
              <a:defRPr sz="1200" b="0">
                <a:solidFill>
                  <a:srgbClr val="66818E"/>
                </a:solidFill>
                <a:latin typeface="Microsoft YaHei"/>
                <a:ea typeface="Microsoft YaHei"/>
                <a:cs typeface="Microsoft YaHei"/>
              </a:defRPr>
            </a:lvl2pPr>
            <a:lvl3pPr algn="r">
              <a:defRPr sz="1200" b="0">
                <a:solidFill>
                  <a:srgbClr val="66818E"/>
                </a:solidFill>
                <a:latin typeface="Microsoft YaHei"/>
                <a:ea typeface="Microsoft YaHei"/>
                <a:cs typeface="Microsoft YaHei"/>
              </a:defRPr>
            </a:lvl3pPr>
            <a:lvl4pPr algn="r">
              <a:defRPr sz="1200" b="0">
                <a:solidFill>
                  <a:srgbClr val="66818E"/>
                </a:solidFill>
                <a:latin typeface="Microsoft YaHei"/>
                <a:ea typeface="Microsoft YaHei"/>
                <a:cs typeface="Microsoft YaHei"/>
              </a:defRPr>
            </a:lvl4pPr>
            <a:lvl5pPr algn="r">
              <a:defRPr sz="1200" b="0">
                <a:solidFill>
                  <a:srgbClr val="66818E"/>
                </a:solidFill>
                <a:latin typeface="Microsoft YaHei"/>
                <a:ea typeface="Microsoft YaHei"/>
                <a:cs typeface="Microsoft YaHei"/>
              </a:defRPr>
            </a:lvl5pPr>
            <a:lvl6pPr algn="r">
              <a:defRPr sz="1200" b="0">
                <a:solidFill>
                  <a:srgbClr val="66818E"/>
                </a:solidFill>
                <a:latin typeface="Microsoft YaHei"/>
                <a:ea typeface="Microsoft YaHei"/>
                <a:cs typeface="Microsoft YaHei"/>
              </a:defRPr>
            </a:lvl6pPr>
            <a:lvl7pPr algn="r">
              <a:defRPr sz="1200" b="0">
                <a:solidFill>
                  <a:srgbClr val="66818E"/>
                </a:solidFill>
                <a:latin typeface="Microsoft YaHei"/>
                <a:ea typeface="Microsoft YaHei"/>
                <a:cs typeface="Microsoft YaHei"/>
              </a:defRPr>
            </a:lvl7pPr>
            <a:lvl8pPr algn="r">
              <a:defRPr sz="1200" b="0">
                <a:solidFill>
                  <a:srgbClr val="66818E"/>
                </a:solidFill>
                <a:latin typeface="Microsoft YaHei"/>
                <a:ea typeface="Microsoft YaHei"/>
                <a:cs typeface="Microsoft YaHei"/>
              </a:defRPr>
            </a:lvl8pPr>
            <a:lvl9pPr algn="r">
              <a:defRPr sz="1200" b="0">
                <a:solidFill>
                  <a:srgbClr val="66818E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r">
              <a:lnSpc>
                <a:spcPct val="118000"/>
              </a:lnSpc>
              <a:buNone/>
              <a:defRPr sz="1200" b="0">
                <a:solidFill>
                  <a:srgbClr val="66818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66818E"/>
                </a:solidFill>
                <a:latin typeface="Microsoft YaHei"/>
                <a:ea typeface="Microsoft YaHei"/>
                <a:cs typeface="Microsoft YaHei"/>
              </a:rPr>
              <a:t>02 / 13</a:t>
            </a:r>
          </a:p>
        </p:txBody>
      </p:sp>
      <p:sp>
        <p:nvSpPr>
          <p:cNvPr id="20" name="text">
            <a:extLst xmlns:a="http://schemas.openxmlformats.org/drawingml/2006/main">
              <a:ext uri="{FF2B5EF4-FFF2-40B4-BE49-F238E27FC236}">
                <a16:creationId xmlns:a16="http://schemas.microsoft.com/office/drawing/2014/main" id="{B70A2B19-987D-409C-A359-C27C5B4818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62075"/>
            <a:ext cx="581025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550" b="1">
                <a:solidFill>
                  <a:srgbClr val="16394B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550" b="1">
                <a:solidFill>
                  <a:srgbClr val="16394B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550" b="1">
                <a:solidFill>
                  <a:srgbClr val="16394B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550" b="1">
                <a:solidFill>
                  <a:srgbClr val="16394B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550" b="1">
                <a:solidFill>
                  <a:srgbClr val="16394B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550" b="1">
                <a:solidFill>
                  <a:srgbClr val="16394B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550" b="1">
                <a:solidFill>
                  <a:srgbClr val="16394B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550" b="1">
                <a:solidFill>
                  <a:srgbClr val="16394B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550" b="1">
                <a:solidFill>
                  <a:srgbClr val="16394B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550" b="1">
                <a:solidFill>
                  <a:srgbClr val="16394B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lnSpc>
                <a:spcPct val="118000"/>
              </a:lnSpc>
              <a:buNone/>
              <a:defRPr sz="2550" b="1">
                <a:solidFill>
                  <a:srgbClr val="16394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16394B"/>
                </a:solidFill>
                <a:latin typeface="Microsoft YaHei"/>
                <a:ea typeface="Microsoft YaHei"/>
                <a:cs typeface="Microsoft YaHei"/>
              </a:rPr>
              <a:t>面向汉字书写与书法练习的</a:t>
            </a:r>
          </a:p>
          <a:p xmlns:a="http://schemas.openxmlformats.org/drawingml/2006/main">
            <a:pPr algn="l">
              <a:lnSpc>
                <a:spcPct val="118000"/>
              </a:lnSpc>
              <a:buNone/>
              <a:defRPr sz="2550" b="1">
                <a:solidFill>
                  <a:srgbClr val="16394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16394B"/>
                </a:solidFill>
                <a:latin typeface="Microsoft YaHei"/>
                <a:ea typeface="Microsoft YaHei"/>
                <a:cs typeface="Microsoft YaHei"/>
              </a:rPr>
              <a:t>全场景智能反馈系统</a:t>
            </a:r>
          </a:p>
        </p:txBody>
      </p:sp>
      <p:sp>
        <p:nvSpPr>
          <p:cNvPr id="21" name="text">
            <a:extLst xmlns:a="http://schemas.openxmlformats.org/drawingml/2006/main">
              <a:ext uri="{FF2B5EF4-FFF2-40B4-BE49-F238E27FC236}">
                <a16:creationId xmlns:a16="http://schemas.microsoft.com/office/drawing/2014/main" id="{C0F751BA-BF82-4CA7-BB26-4DB4C1767A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00300"/>
            <a:ext cx="57912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50" b="0">
                <a:solidFill>
                  <a:srgbClr val="365567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650" b="0">
                <a:solidFill>
                  <a:srgbClr val="365567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650" b="0">
                <a:solidFill>
                  <a:srgbClr val="365567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650" b="0">
                <a:solidFill>
                  <a:srgbClr val="365567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650" b="0">
                <a:solidFill>
                  <a:srgbClr val="365567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650" b="0">
                <a:solidFill>
                  <a:srgbClr val="365567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650" b="0">
                <a:solidFill>
                  <a:srgbClr val="365567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650" b="0">
                <a:solidFill>
                  <a:srgbClr val="365567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650" b="0">
                <a:solidFill>
                  <a:srgbClr val="365567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650" b="0">
                <a:solidFill>
                  <a:srgbClr val="36556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lnSpc>
                <a:spcPct val="118000"/>
              </a:lnSpc>
              <a:buNone/>
              <a:defRPr sz="1650" b="0">
                <a:solidFill>
                  <a:srgbClr val="36556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365567"/>
                </a:solidFill>
                <a:latin typeface="Microsoft YaHei"/>
                <a:ea typeface="Microsoft YaHei"/>
                <a:cs typeface="Microsoft YaHei"/>
              </a:rPr>
              <a:t>压感笔实时书写，或拍照上传作品。</a:t>
            </a:r>
          </a:p>
          <a:p xmlns:a="http://schemas.openxmlformats.org/drawingml/2006/main">
            <a:pPr algn="l">
              <a:lnSpc>
                <a:spcPct val="118000"/>
              </a:lnSpc>
              <a:buNone/>
              <a:defRPr sz="1650" b="0">
                <a:solidFill>
                  <a:srgbClr val="36556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365567"/>
                </a:solidFill>
                <a:latin typeface="Microsoft YaHei"/>
                <a:ea typeface="Microsoft YaHei"/>
                <a:cs typeface="Microsoft YaHei"/>
              </a:rPr>
              <a:t>每次练习获得量化结构评分与局部修改建议。</a:t>
            </a:r>
          </a:p>
        </p:txBody>
      </p:sp>
      <p:sp>
        <p:nvSpPr>
          <p:cNvPr id="22" name="text">
            <a:extLst xmlns:a="http://schemas.openxmlformats.org/drawingml/2006/main">
              <a:ext uri="{FF2B5EF4-FFF2-40B4-BE49-F238E27FC236}">
                <a16:creationId xmlns:a16="http://schemas.microsoft.com/office/drawing/2014/main" id="{C6D63D93-3B22-4B8B-9A2F-0A8CD2DB88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19475"/>
            <a:ext cx="576262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950" b="1">
                <a:solidFill>
                  <a:srgbClr val="087C78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950" b="1">
                <a:solidFill>
                  <a:srgbClr val="087C78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950" b="1">
                <a:solidFill>
                  <a:srgbClr val="087C78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950" b="1">
                <a:solidFill>
                  <a:srgbClr val="087C78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950" b="1">
                <a:solidFill>
                  <a:srgbClr val="087C78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950" b="1">
                <a:solidFill>
                  <a:srgbClr val="087C78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950" b="1">
                <a:solidFill>
                  <a:srgbClr val="087C78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950" b="1">
                <a:solidFill>
                  <a:srgbClr val="087C78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950" b="1">
                <a:solidFill>
                  <a:srgbClr val="087C78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950" b="1">
                <a:solidFill>
                  <a:srgbClr val="087C7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lnSpc>
                <a:spcPct val="118000"/>
              </a:lnSpc>
              <a:buNone/>
              <a:defRPr sz="1950" b="1">
                <a:solidFill>
                  <a:srgbClr val="087C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>
                <a:solidFill>
                  <a:srgbClr val="087C78"/>
                </a:solidFill>
                <a:latin typeface="Microsoft YaHei"/>
                <a:ea typeface="Microsoft YaHei"/>
                <a:cs typeface="Microsoft YaHei"/>
              </a:rPr>
              <a:t>实时书写与拍照评估</a:t>
            </a:r>
          </a:p>
        </p:txBody>
      </p:sp>
      <p:sp>
        <p:nvSpPr>
          <p:cNvPr id="23" name="text">
            <a:extLst xmlns:a="http://schemas.openxmlformats.org/drawingml/2006/main">
              <a:ext uri="{FF2B5EF4-FFF2-40B4-BE49-F238E27FC236}">
                <a16:creationId xmlns:a16="http://schemas.microsoft.com/office/drawing/2014/main" id="{01E78DF3-3203-41DC-8881-D889E36071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76675"/>
            <a:ext cx="5762625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50" b="0">
                <a:solidFill>
                  <a:srgbClr val="365567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650" b="0">
                <a:solidFill>
                  <a:srgbClr val="365567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650" b="0">
                <a:solidFill>
                  <a:srgbClr val="365567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650" b="0">
                <a:solidFill>
                  <a:srgbClr val="365567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650" b="0">
                <a:solidFill>
                  <a:srgbClr val="365567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650" b="0">
                <a:solidFill>
                  <a:srgbClr val="365567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650" b="0">
                <a:solidFill>
                  <a:srgbClr val="365567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650" b="0">
                <a:solidFill>
                  <a:srgbClr val="365567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650" b="0">
                <a:solidFill>
                  <a:srgbClr val="365567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650" b="0">
                <a:solidFill>
                  <a:srgbClr val="36556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lnSpc>
                <a:spcPct val="118000"/>
              </a:lnSpc>
              <a:buNone/>
              <a:defRPr sz="1650" b="0">
                <a:solidFill>
                  <a:srgbClr val="36556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365567"/>
                </a:solidFill>
                <a:latin typeface="Microsoft YaHei"/>
                <a:ea typeface="Microsoft YaHei"/>
                <a:cs typeface="Microsoft YaHei"/>
              </a:rPr>
              <a:t>压感笔书写后即时分析；</a:t>
            </a:r>
          </a:p>
          <a:p xmlns:a="http://schemas.openxmlformats.org/drawingml/2006/main">
            <a:pPr algn="l">
              <a:lnSpc>
                <a:spcPct val="118000"/>
              </a:lnSpc>
              <a:buNone/>
              <a:defRPr sz="1650" b="0">
                <a:solidFill>
                  <a:srgbClr val="36556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365567"/>
                </a:solidFill>
                <a:latin typeface="Microsoft YaHei"/>
                <a:ea typeface="Microsoft YaHei"/>
                <a:cs typeface="Microsoft YaHei"/>
              </a:rPr>
              <a:t>上传练字作品，诊断整体结构。</a:t>
            </a:r>
          </a:p>
        </p:txBody>
      </p:sp>
      <p:sp>
        <p:nvSpPr>
          <p:cNvPr id="24" name="text">
            <a:extLst xmlns:a="http://schemas.openxmlformats.org/drawingml/2006/main">
              <a:ext uri="{FF2B5EF4-FFF2-40B4-BE49-F238E27FC236}">
                <a16:creationId xmlns:a16="http://schemas.microsoft.com/office/drawing/2014/main" id="{75699553-42E9-4604-A29F-6A7D3E8C72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791075"/>
            <a:ext cx="576262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950" b="1">
                <a:solidFill>
                  <a:srgbClr val="087C78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950" b="1">
                <a:solidFill>
                  <a:srgbClr val="087C78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950" b="1">
                <a:solidFill>
                  <a:srgbClr val="087C78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950" b="1">
                <a:solidFill>
                  <a:srgbClr val="087C78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950" b="1">
                <a:solidFill>
                  <a:srgbClr val="087C78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950" b="1">
                <a:solidFill>
                  <a:srgbClr val="087C78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950" b="1">
                <a:solidFill>
                  <a:srgbClr val="087C78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950" b="1">
                <a:solidFill>
                  <a:srgbClr val="087C78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950" b="1">
                <a:solidFill>
                  <a:srgbClr val="087C78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950" b="1">
                <a:solidFill>
                  <a:srgbClr val="087C7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lnSpc>
                <a:spcPct val="118000"/>
              </a:lnSpc>
              <a:buNone/>
              <a:defRPr sz="1950" b="1">
                <a:solidFill>
                  <a:srgbClr val="087C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>
                <a:solidFill>
                  <a:srgbClr val="087C78"/>
                </a:solidFill>
                <a:latin typeface="Microsoft YaHei"/>
                <a:ea typeface="Microsoft YaHei"/>
                <a:cs typeface="Microsoft YaHei"/>
              </a:rPr>
              <a:t>参考结构匹配与课程练习</a:t>
            </a:r>
          </a:p>
        </p:txBody>
      </p:sp>
      <p:sp>
        <p:nvSpPr>
          <p:cNvPr id="25" name="text">
            <a:extLst xmlns:a="http://schemas.openxmlformats.org/drawingml/2006/main">
              <a:ext uri="{FF2B5EF4-FFF2-40B4-BE49-F238E27FC236}">
                <a16:creationId xmlns:a16="http://schemas.microsoft.com/office/drawing/2014/main" id="{0068AEC9-9D94-4F4B-8EAB-9F84D7BD04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248275"/>
            <a:ext cx="5762625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50" b="0">
                <a:solidFill>
                  <a:srgbClr val="365567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650" b="0">
                <a:solidFill>
                  <a:srgbClr val="365567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650" b="0">
                <a:solidFill>
                  <a:srgbClr val="365567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650" b="0">
                <a:solidFill>
                  <a:srgbClr val="365567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650" b="0">
                <a:solidFill>
                  <a:srgbClr val="365567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650" b="0">
                <a:solidFill>
                  <a:srgbClr val="365567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650" b="0">
                <a:solidFill>
                  <a:srgbClr val="365567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650" b="0">
                <a:solidFill>
                  <a:srgbClr val="365567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650" b="0">
                <a:solidFill>
                  <a:srgbClr val="365567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650" b="0">
                <a:solidFill>
                  <a:srgbClr val="36556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lnSpc>
                <a:spcPct val="118000"/>
              </a:lnSpc>
              <a:buNone/>
              <a:defRPr sz="1650" b="0">
                <a:solidFill>
                  <a:srgbClr val="36556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365567"/>
                </a:solidFill>
                <a:latin typeface="Microsoft YaHei"/>
                <a:ea typeface="Microsoft YaHei"/>
                <a:cs typeface="Microsoft YaHei"/>
              </a:rPr>
              <a:t>与名家范字量化对照，结合课程字库，</a:t>
            </a:r>
          </a:p>
          <a:p xmlns:a="http://schemas.openxmlformats.org/drawingml/2006/main">
            <a:pPr algn="l">
              <a:lnSpc>
                <a:spcPct val="118000"/>
              </a:lnSpc>
              <a:buNone/>
              <a:defRPr sz="1650" b="0">
                <a:solidFill>
                  <a:srgbClr val="36556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365567"/>
                </a:solidFill>
                <a:latin typeface="Microsoft YaHei"/>
                <a:ea typeface="Microsoft YaHei"/>
                <a:cs typeface="Microsoft YaHei"/>
              </a:rPr>
              <a:t>给出可解释、定位到局部的修改建议。</a:t>
            </a:r>
          </a:p>
        </p:txBody>
      </p:sp>
      <p:sp>
        <p:nvSpPr>
          <p:cNvPr id="26" name="text">
            <a:extLst xmlns:a="http://schemas.openxmlformats.org/drawingml/2006/main">
              <a:ext uri="{FF2B5EF4-FFF2-40B4-BE49-F238E27FC236}">
                <a16:creationId xmlns:a16="http://schemas.microsoft.com/office/drawing/2014/main" id="{AF4E5356-BBAF-4E3C-92E5-8FE5B7ABFB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72300" y="4467225"/>
            <a:ext cx="4572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1">
                <a:solidFill>
                  <a:srgbClr val="087C78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725" b="1">
                <a:solidFill>
                  <a:srgbClr val="087C78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725" b="1">
                <a:solidFill>
                  <a:srgbClr val="087C78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725" b="1">
                <a:solidFill>
                  <a:srgbClr val="087C78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725" b="1">
                <a:solidFill>
                  <a:srgbClr val="087C78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725" b="1">
                <a:solidFill>
                  <a:srgbClr val="087C78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725" b="1">
                <a:solidFill>
                  <a:srgbClr val="087C78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725" b="1">
                <a:solidFill>
                  <a:srgbClr val="087C78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725" b="1">
                <a:solidFill>
                  <a:srgbClr val="087C78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725" b="1">
                <a:solidFill>
                  <a:srgbClr val="087C7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lnSpc>
                <a:spcPct val="118000"/>
              </a:lnSpc>
              <a:buNone/>
              <a:defRPr sz="1725" b="1">
                <a:solidFill>
                  <a:srgbClr val="087C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087C78"/>
                </a:solidFill>
                <a:latin typeface="Microsoft YaHei"/>
                <a:ea typeface="Microsoft YaHei"/>
                <a:cs typeface="Microsoft YaHei"/>
              </a:rPr>
              <a:t>iPad 深度练习  +  Web 规模化覆盖</a:t>
            </a:r>
          </a:p>
        </p:txBody>
      </p:sp>
      <p:sp>
        <p:nvSpPr>
          <p:cNvPr id="27" name="text">
            <a:extLst xmlns:a="http://schemas.openxmlformats.org/drawingml/2006/main">
              <a:ext uri="{FF2B5EF4-FFF2-40B4-BE49-F238E27FC236}">
                <a16:creationId xmlns:a16="http://schemas.microsoft.com/office/drawing/2014/main" id="{68539D00-8B0B-45B8-ADFF-B5FD610390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00875" y="5010150"/>
            <a:ext cx="14668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700" b="1">
                <a:solidFill>
                  <a:srgbClr val="143E5A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700" b="1">
                <a:solidFill>
                  <a:srgbClr val="143E5A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700" b="1">
                <a:solidFill>
                  <a:srgbClr val="143E5A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700" b="1">
                <a:solidFill>
                  <a:srgbClr val="143E5A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700" b="1">
                <a:solidFill>
                  <a:srgbClr val="143E5A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700" b="1">
                <a:solidFill>
                  <a:srgbClr val="143E5A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700" b="1">
                <a:solidFill>
                  <a:srgbClr val="143E5A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700" b="1">
                <a:solidFill>
                  <a:srgbClr val="143E5A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700" b="1">
                <a:solidFill>
                  <a:srgbClr val="143E5A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700" b="1">
                <a:solidFill>
                  <a:srgbClr val="143E5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lnSpc>
                <a:spcPct val="118000"/>
              </a:lnSpc>
              <a:buNone/>
              <a:defRPr sz="2700" b="1">
                <a:solidFill>
                  <a:srgbClr val="143E5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700" b="1">
                <a:solidFill>
                  <a:srgbClr val="143E5A"/>
                </a:solidFill>
                <a:latin typeface="Microsoft YaHei"/>
                <a:ea typeface="Microsoft YaHei"/>
                <a:cs typeface="Microsoft YaHei"/>
              </a:rPr>
              <a:t>约 60%</a:t>
            </a:r>
          </a:p>
        </p:txBody>
      </p:sp>
      <p:sp>
        <p:nvSpPr>
          <p:cNvPr id="28" name="text">
            <a:extLst xmlns:a="http://schemas.openxmlformats.org/drawingml/2006/main">
              <a:ext uri="{FF2B5EF4-FFF2-40B4-BE49-F238E27FC236}">
                <a16:creationId xmlns:a16="http://schemas.microsoft.com/office/drawing/2014/main" id="{9B72BED0-0630-48F4-B882-04D3C4026C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00875" y="5553075"/>
            <a:ext cx="147637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350" b="1">
                <a:solidFill>
                  <a:srgbClr val="16394B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350" b="1">
                <a:solidFill>
                  <a:srgbClr val="16394B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350" b="1">
                <a:solidFill>
                  <a:srgbClr val="16394B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350" b="1">
                <a:solidFill>
                  <a:srgbClr val="16394B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350" b="1">
                <a:solidFill>
                  <a:srgbClr val="16394B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350" b="1">
                <a:solidFill>
                  <a:srgbClr val="16394B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350" b="1">
                <a:solidFill>
                  <a:srgbClr val="16394B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350" b="1">
                <a:solidFill>
                  <a:srgbClr val="16394B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350" b="1">
                <a:solidFill>
                  <a:srgbClr val="16394B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350" b="1">
                <a:solidFill>
                  <a:srgbClr val="16394B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lnSpc>
                <a:spcPct val="118000"/>
              </a:lnSpc>
              <a:buNone/>
              <a:defRPr sz="1350" b="1">
                <a:solidFill>
                  <a:srgbClr val="16394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16394B"/>
                </a:solidFill>
                <a:latin typeface="Microsoft YaHei"/>
                <a:ea typeface="Microsoft YaHei"/>
                <a:cs typeface="Microsoft YaHei"/>
              </a:rPr>
              <a:t>6–18 岁</a:t>
            </a:r>
          </a:p>
        </p:txBody>
      </p:sp>
      <p:sp>
        <p:nvSpPr>
          <p:cNvPr id="29" name="text">
            <a:extLst xmlns:a="http://schemas.openxmlformats.org/drawingml/2006/main">
              <a:ext uri="{FF2B5EF4-FFF2-40B4-BE49-F238E27FC236}">
                <a16:creationId xmlns:a16="http://schemas.microsoft.com/office/drawing/2014/main" id="{5946971E-8D4A-4FAC-9C2C-F7CB5B21CC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00875" y="5857875"/>
            <a:ext cx="147637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75" b="0">
                <a:solidFill>
                  <a:srgbClr val="365567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275" b="0">
                <a:solidFill>
                  <a:srgbClr val="365567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275" b="0">
                <a:solidFill>
                  <a:srgbClr val="365567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275" b="0">
                <a:solidFill>
                  <a:srgbClr val="365567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275" b="0">
                <a:solidFill>
                  <a:srgbClr val="365567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275" b="0">
                <a:solidFill>
                  <a:srgbClr val="365567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275" b="0">
                <a:solidFill>
                  <a:srgbClr val="365567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275" b="0">
                <a:solidFill>
                  <a:srgbClr val="365567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275" b="0">
                <a:solidFill>
                  <a:srgbClr val="365567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275" b="0">
                <a:solidFill>
                  <a:srgbClr val="36556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lnSpc>
                <a:spcPct val="118000"/>
              </a:lnSpc>
              <a:buNone/>
              <a:defRPr sz="1275" b="0">
                <a:solidFill>
                  <a:srgbClr val="36556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365567"/>
                </a:solidFill>
                <a:latin typeface="Microsoft YaHei"/>
                <a:ea typeface="Microsoft YaHei"/>
                <a:cs typeface="Microsoft YaHei"/>
              </a:rPr>
              <a:t>K12 学生</a:t>
            </a:r>
          </a:p>
          <a:p xmlns:a="http://schemas.openxmlformats.org/drawingml/2006/main">
            <a:pPr algn="l">
              <a:lnSpc>
                <a:spcPct val="118000"/>
              </a:lnSpc>
              <a:buNone/>
              <a:defRPr sz="1275" b="0">
                <a:solidFill>
                  <a:srgbClr val="36556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365567"/>
                </a:solidFill>
                <a:latin typeface="Microsoft YaHei"/>
                <a:ea typeface="Microsoft YaHei"/>
                <a:cs typeface="Microsoft YaHei"/>
              </a:rPr>
              <a:t>考级与课业</a:t>
            </a:r>
          </a:p>
        </p:txBody>
      </p:sp>
      <p:sp>
        <p:nvSpPr>
          <p:cNvPr id="30" name="text">
            <a:extLst xmlns:a="http://schemas.openxmlformats.org/drawingml/2006/main">
              <a:ext uri="{FF2B5EF4-FFF2-40B4-BE49-F238E27FC236}">
                <a16:creationId xmlns:a16="http://schemas.microsoft.com/office/drawing/2014/main" id="{8E7ACC44-C0B5-4662-8999-15A4D7EB37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5010150"/>
            <a:ext cx="14668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700" b="1">
                <a:solidFill>
                  <a:srgbClr val="143E5A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700" b="1">
                <a:solidFill>
                  <a:srgbClr val="143E5A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700" b="1">
                <a:solidFill>
                  <a:srgbClr val="143E5A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700" b="1">
                <a:solidFill>
                  <a:srgbClr val="143E5A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700" b="1">
                <a:solidFill>
                  <a:srgbClr val="143E5A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700" b="1">
                <a:solidFill>
                  <a:srgbClr val="143E5A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700" b="1">
                <a:solidFill>
                  <a:srgbClr val="143E5A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700" b="1">
                <a:solidFill>
                  <a:srgbClr val="143E5A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700" b="1">
                <a:solidFill>
                  <a:srgbClr val="143E5A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700" b="1">
                <a:solidFill>
                  <a:srgbClr val="143E5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lnSpc>
                <a:spcPct val="118000"/>
              </a:lnSpc>
              <a:buNone/>
              <a:defRPr sz="2700" b="1">
                <a:solidFill>
                  <a:srgbClr val="143E5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700" b="1">
                <a:solidFill>
                  <a:srgbClr val="143E5A"/>
                </a:solidFill>
                <a:latin typeface="Microsoft YaHei"/>
                <a:ea typeface="Microsoft YaHei"/>
                <a:cs typeface="Microsoft YaHei"/>
              </a:rPr>
              <a:t>约 25%</a:t>
            </a:r>
          </a:p>
        </p:txBody>
      </p:sp>
      <p:sp>
        <p:nvSpPr>
          <p:cNvPr id="31" name="text">
            <a:extLst xmlns:a="http://schemas.openxmlformats.org/drawingml/2006/main">
              <a:ext uri="{FF2B5EF4-FFF2-40B4-BE49-F238E27FC236}">
                <a16:creationId xmlns:a16="http://schemas.microsoft.com/office/drawing/2014/main" id="{7865A35D-CFBF-4E28-BAA1-737513B095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5553075"/>
            <a:ext cx="147637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350" b="1">
                <a:solidFill>
                  <a:srgbClr val="16394B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350" b="1">
                <a:solidFill>
                  <a:srgbClr val="16394B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350" b="1">
                <a:solidFill>
                  <a:srgbClr val="16394B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350" b="1">
                <a:solidFill>
                  <a:srgbClr val="16394B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350" b="1">
                <a:solidFill>
                  <a:srgbClr val="16394B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350" b="1">
                <a:solidFill>
                  <a:srgbClr val="16394B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350" b="1">
                <a:solidFill>
                  <a:srgbClr val="16394B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350" b="1">
                <a:solidFill>
                  <a:srgbClr val="16394B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350" b="1">
                <a:solidFill>
                  <a:srgbClr val="16394B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350" b="1">
                <a:solidFill>
                  <a:srgbClr val="16394B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lnSpc>
                <a:spcPct val="118000"/>
              </a:lnSpc>
              <a:buNone/>
              <a:defRPr sz="1350" b="1">
                <a:solidFill>
                  <a:srgbClr val="16394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16394B"/>
                </a:solidFill>
                <a:latin typeface="Microsoft YaHei"/>
                <a:ea typeface="Microsoft YaHei"/>
                <a:cs typeface="Microsoft YaHei"/>
              </a:rPr>
              <a:t>18–25 岁</a:t>
            </a:r>
          </a:p>
        </p:txBody>
      </p:sp>
      <p:sp>
        <p:nvSpPr>
          <p:cNvPr id="32" name="text">
            <a:extLst xmlns:a="http://schemas.openxmlformats.org/drawingml/2006/main">
              <a:ext uri="{FF2B5EF4-FFF2-40B4-BE49-F238E27FC236}">
                <a16:creationId xmlns:a16="http://schemas.microsoft.com/office/drawing/2014/main" id="{9E1D8840-D837-4881-AC1F-66EE2AEDCE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5857875"/>
            <a:ext cx="147637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75" b="0">
                <a:solidFill>
                  <a:srgbClr val="365567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275" b="0">
                <a:solidFill>
                  <a:srgbClr val="365567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275" b="0">
                <a:solidFill>
                  <a:srgbClr val="365567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275" b="0">
                <a:solidFill>
                  <a:srgbClr val="365567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275" b="0">
                <a:solidFill>
                  <a:srgbClr val="365567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275" b="0">
                <a:solidFill>
                  <a:srgbClr val="365567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275" b="0">
                <a:solidFill>
                  <a:srgbClr val="365567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275" b="0">
                <a:solidFill>
                  <a:srgbClr val="365567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275" b="0">
                <a:solidFill>
                  <a:srgbClr val="365567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275" b="0">
                <a:solidFill>
                  <a:srgbClr val="36556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lnSpc>
                <a:spcPct val="118000"/>
              </a:lnSpc>
              <a:buNone/>
              <a:defRPr sz="1275" b="0">
                <a:solidFill>
                  <a:srgbClr val="36556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365567"/>
                </a:solidFill>
                <a:latin typeface="Microsoft YaHei"/>
                <a:ea typeface="Microsoft YaHei"/>
                <a:cs typeface="Microsoft YaHei"/>
              </a:rPr>
              <a:t>大学生</a:t>
            </a:r>
          </a:p>
          <a:p xmlns:a="http://schemas.openxmlformats.org/drawingml/2006/main">
            <a:pPr algn="l">
              <a:lnSpc>
                <a:spcPct val="118000"/>
              </a:lnSpc>
              <a:buNone/>
              <a:defRPr sz="1275" b="0">
                <a:solidFill>
                  <a:srgbClr val="36556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365567"/>
                </a:solidFill>
                <a:latin typeface="Microsoft YaHei"/>
                <a:ea typeface="Microsoft YaHei"/>
                <a:cs typeface="Microsoft YaHei"/>
              </a:rPr>
              <a:t>素养与技能</a:t>
            </a:r>
          </a:p>
        </p:txBody>
      </p:sp>
      <p:sp>
        <p:nvSpPr>
          <p:cNvPr id="33" name="text">
            <a:extLst xmlns:a="http://schemas.openxmlformats.org/drawingml/2006/main">
              <a:ext uri="{FF2B5EF4-FFF2-40B4-BE49-F238E27FC236}">
                <a16:creationId xmlns:a16="http://schemas.microsoft.com/office/drawing/2014/main" id="{573CD32E-5DB0-41BC-94DB-DB868A79BE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44125" y="5010150"/>
            <a:ext cx="14668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700" b="1">
                <a:solidFill>
                  <a:srgbClr val="143E5A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700" b="1">
                <a:solidFill>
                  <a:srgbClr val="143E5A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700" b="1">
                <a:solidFill>
                  <a:srgbClr val="143E5A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700" b="1">
                <a:solidFill>
                  <a:srgbClr val="143E5A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700" b="1">
                <a:solidFill>
                  <a:srgbClr val="143E5A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700" b="1">
                <a:solidFill>
                  <a:srgbClr val="143E5A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700" b="1">
                <a:solidFill>
                  <a:srgbClr val="143E5A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700" b="1">
                <a:solidFill>
                  <a:srgbClr val="143E5A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700" b="1">
                <a:solidFill>
                  <a:srgbClr val="143E5A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700" b="1">
                <a:solidFill>
                  <a:srgbClr val="143E5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lnSpc>
                <a:spcPct val="118000"/>
              </a:lnSpc>
              <a:buNone/>
              <a:defRPr sz="2700" b="1">
                <a:solidFill>
                  <a:srgbClr val="143E5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700" b="1">
                <a:solidFill>
                  <a:srgbClr val="143E5A"/>
                </a:solidFill>
                <a:latin typeface="Microsoft YaHei"/>
                <a:ea typeface="Microsoft YaHei"/>
                <a:cs typeface="Microsoft YaHei"/>
              </a:rPr>
              <a:t>约 15%</a:t>
            </a:r>
          </a:p>
        </p:txBody>
      </p:sp>
      <p:sp>
        <p:nvSpPr>
          <p:cNvPr id="34" name="text">
            <a:extLst xmlns:a="http://schemas.openxmlformats.org/drawingml/2006/main">
              <a:ext uri="{FF2B5EF4-FFF2-40B4-BE49-F238E27FC236}">
                <a16:creationId xmlns:a16="http://schemas.microsoft.com/office/drawing/2014/main" id="{4F24DABB-9A7A-420E-986D-C993955611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44125" y="5553075"/>
            <a:ext cx="147637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350" b="1">
                <a:solidFill>
                  <a:srgbClr val="16394B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350" b="1">
                <a:solidFill>
                  <a:srgbClr val="16394B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350" b="1">
                <a:solidFill>
                  <a:srgbClr val="16394B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350" b="1">
                <a:solidFill>
                  <a:srgbClr val="16394B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350" b="1">
                <a:solidFill>
                  <a:srgbClr val="16394B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350" b="1">
                <a:solidFill>
                  <a:srgbClr val="16394B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350" b="1">
                <a:solidFill>
                  <a:srgbClr val="16394B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350" b="1">
                <a:solidFill>
                  <a:srgbClr val="16394B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350" b="1">
                <a:solidFill>
                  <a:srgbClr val="16394B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350" b="1">
                <a:solidFill>
                  <a:srgbClr val="16394B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lnSpc>
                <a:spcPct val="118000"/>
              </a:lnSpc>
              <a:buNone/>
              <a:defRPr sz="1350" b="1">
                <a:solidFill>
                  <a:srgbClr val="16394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16394B"/>
                </a:solidFill>
                <a:latin typeface="Microsoft YaHei"/>
                <a:ea typeface="Microsoft YaHei"/>
                <a:cs typeface="Microsoft YaHei"/>
              </a:rPr>
              <a:t>25 岁以上</a:t>
            </a:r>
          </a:p>
        </p:txBody>
      </p:sp>
      <p:sp>
        <p:nvSpPr>
          <p:cNvPr id="35" name="text">
            <a:extLst xmlns:a="http://schemas.openxmlformats.org/drawingml/2006/main">
              <a:ext uri="{FF2B5EF4-FFF2-40B4-BE49-F238E27FC236}">
                <a16:creationId xmlns:a16="http://schemas.microsoft.com/office/drawing/2014/main" id="{63CA7FEB-AD27-44A9-BBA0-F3898865AE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44125" y="5857875"/>
            <a:ext cx="147637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75" b="0">
                <a:solidFill>
                  <a:srgbClr val="365567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275" b="0">
                <a:solidFill>
                  <a:srgbClr val="365567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275" b="0">
                <a:solidFill>
                  <a:srgbClr val="365567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275" b="0">
                <a:solidFill>
                  <a:srgbClr val="365567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275" b="0">
                <a:solidFill>
                  <a:srgbClr val="365567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275" b="0">
                <a:solidFill>
                  <a:srgbClr val="365567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275" b="0">
                <a:solidFill>
                  <a:srgbClr val="365567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275" b="0">
                <a:solidFill>
                  <a:srgbClr val="365567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275" b="0">
                <a:solidFill>
                  <a:srgbClr val="365567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275" b="0">
                <a:solidFill>
                  <a:srgbClr val="36556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lnSpc>
                <a:spcPct val="118000"/>
              </a:lnSpc>
              <a:buNone/>
              <a:defRPr sz="1275" b="0">
                <a:solidFill>
                  <a:srgbClr val="36556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365567"/>
                </a:solidFill>
                <a:latin typeface="Microsoft YaHei"/>
                <a:ea typeface="Microsoft YaHei"/>
                <a:cs typeface="Microsoft YaHei"/>
              </a:rPr>
              <a:t>爱好者 / 职场人</a:t>
            </a:r>
          </a:p>
          <a:p xmlns:a="http://schemas.openxmlformats.org/drawingml/2006/main">
            <a:pPr algn="l">
              <a:lnSpc>
                <a:spcPct val="118000"/>
              </a:lnSpc>
              <a:buNone/>
              <a:defRPr sz="1275" b="0">
                <a:solidFill>
                  <a:srgbClr val="36556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365567"/>
                </a:solidFill>
                <a:latin typeface="Microsoft YaHei"/>
                <a:ea typeface="Microsoft YaHei"/>
                <a:cs typeface="Microsoft YaHei"/>
              </a:rPr>
              <a:t>兴趣与修养</a:t>
            </a:r>
          </a:p>
        </p:txBody>
      </p:sp>
    </p:spTree>
    <p:extLst>
      <p:ext uri="{BB962C8B-B14F-4D97-AF65-F5344CB8AC3E}">
        <p14:creationId xmlns:p14="http://schemas.microsoft.com/office/powerpoint/2010/main" val="671086469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DBEAF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slide-title">
            <a:extLst xmlns:a="http://schemas.openxmlformats.org/drawingml/2006/main">
              <a:ext uri="{FF2B5EF4-FFF2-40B4-BE49-F238E27FC236}">
                <a16:creationId xmlns:a16="http://schemas.microsoft.com/office/drawing/2014/main" id="{4A1D4124-E820-46AD-8EE6-EB63130C64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97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000" b="1">
                <a:solidFill>
                  <a:srgbClr val="16394B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3000" b="1">
                <a:solidFill>
                  <a:srgbClr val="16394B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3000" b="1">
                <a:solidFill>
                  <a:srgbClr val="16394B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3000" b="1">
                <a:solidFill>
                  <a:srgbClr val="16394B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3000" b="1">
                <a:solidFill>
                  <a:srgbClr val="16394B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3000" b="1">
                <a:solidFill>
                  <a:srgbClr val="16394B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3000" b="1">
                <a:solidFill>
                  <a:srgbClr val="16394B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3000" b="1">
                <a:solidFill>
                  <a:srgbClr val="16394B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3000" b="1">
                <a:solidFill>
                  <a:srgbClr val="16394B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3000" b="1">
                <a:solidFill>
                  <a:srgbClr val="16394B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lnSpc>
                <a:spcPct val="118000"/>
              </a:lnSpc>
              <a:buNone/>
              <a:defRPr sz="3000" b="1">
                <a:solidFill>
                  <a:srgbClr val="16394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000" b="1">
                <a:solidFill>
                  <a:srgbClr val="16394B"/>
                </a:solidFill>
                <a:latin typeface="Microsoft YaHei"/>
                <a:ea typeface="Microsoft YaHei"/>
                <a:cs typeface="Microsoft YaHei"/>
              </a:rPr>
              <a:t>项目背景：政策、市场与书写方式</a:t>
            </a:r>
          </a:p>
        </p:txBody>
      </p:sp>
      <p:sp>
        <p:nvSpPr>
          <p:cNvPr id="2" name="footer">
            <a:extLst xmlns:a="http://schemas.openxmlformats.org/drawingml/2006/main">
              <a:ext uri="{FF2B5EF4-FFF2-40B4-BE49-F238E27FC236}">
                <a16:creationId xmlns:a16="http://schemas.microsoft.com/office/drawing/2014/main" id="{91A0453A-F5A7-4FCC-9CE2-644A029D9B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05575"/>
            <a:ext cx="6667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125" b="0">
                <a:solidFill>
                  <a:srgbClr val="66818E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125" b="0">
                <a:solidFill>
                  <a:srgbClr val="66818E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125" b="0">
                <a:solidFill>
                  <a:srgbClr val="66818E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125" b="0">
                <a:solidFill>
                  <a:srgbClr val="66818E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125" b="0">
                <a:solidFill>
                  <a:srgbClr val="66818E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125" b="0">
                <a:solidFill>
                  <a:srgbClr val="66818E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125" b="0">
                <a:solidFill>
                  <a:srgbClr val="66818E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125" b="0">
                <a:solidFill>
                  <a:srgbClr val="66818E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125" b="0">
                <a:solidFill>
                  <a:srgbClr val="66818E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125" b="0">
                <a:solidFill>
                  <a:srgbClr val="66818E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lnSpc>
                <a:spcPct val="118000"/>
              </a:lnSpc>
              <a:buNone/>
              <a:defRPr sz="1125" b="0">
                <a:solidFill>
                  <a:srgbClr val="66818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66818E"/>
                </a:solidFill>
                <a:latin typeface="Microsoft YaHei"/>
                <a:ea typeface="Microsoft YaHei"/>
                <a:cs typeface="Microsoft YaHei"/>
              </a:rPr>
              <a:t>一笔成章  /  中期汇报</a:t>
            </a:r>
          </a:p>
        </p:txBody>
      </p:sp>
      <p:sp>
        <p:nvSpPr>
          <p:cNvPr id="3" name="page-number">
            <a:extLst xmlns:a="http://schemas.openxmlformats.org/drawingml/2006/main">
              <a:ext uri="{FF2B5EF4-FFF2-40B4-BE49-F238E27FC236}">
                <a16:creationId xmlns:a16="http://schemas.microsoft.com/office/drawing/2014/main" id="{524DD1F9-C24A-4E40-A2D0-330CBFDF6E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6486525"/>
            <a:ext cx="8191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200" b="0">
                <a:solidFill>
                  <a:srgbClr val="66818E"/>
                </a:solidFill>
                <a:latin typeface="Microsoft YaHei"/>
                <a:ea typeface="Microsoft YaHei"/>
                <a:cs typeface="Microsoft YaHei"/>
              </a:defRPr>
            </a:defPPr>
            <a:lvl1pPr algn="r">
              <a:defRPr sz="1200" b="0">
                <a:solidFill>
                  <a:srgbClr val="66818E"/>
                </a:solidFill>
                <a:latin typeface="Microsoft YaHei"/>
                <a:ea typeface="Microsoft YaHei"/>
                <a:cs typeface="Microsoft YaHei"/>
              </a:defRPr>
            </a:lvl1pPr>
            <a:lvl2pPr algn="r">
              <a:defRPr sz="1200" b="0">
                <a:solidFill>
                  <a:srgbClr val="66818E"/>
                </a:solidFill>
                <a:latin typeface="Microsoft YaHei"/>
                <a:ea typeface="Microsoft YaHei"/>
                <a:cs typeface="Microsoft YaHei"/>
              </a:defRPr>
            </a:lvl2pPr>
            <a:lvl3pPr algn="r">
              <a:defRPr sz="1200" b="0">
                <a:solidFill>
                  <a:srgbClr val="66818E"/>
                </a:solidFill>
                <a:latin typeface="Microsoft YaHei"/>
                <a:ea typeface="Microsoft YaHei"/>
                <a:cs typeface="Microsoft YaHei"/>
              </a:defRPr>
            </a:lvl3pPr>
            <a:lvl4pPr algn="r">
              <a:defRPr sz="1200" b="0">
                <a:solidFill>
                  <a:srgbClr val="66818E"/>
                </a:solidFill>
                <a:latin typeface="Microsoft YaHei"/>
                <a:ea typeface="Microsoft YaHei"/>
                <a:cs typeface="Microsoft YaHei"/>
              </a:defRPr>
            </a:lvl4pPr>
            <a:lvl5pPr algn="r">
              <a:defRPr sz="1200" b="0">
                <a:solidFill>
                  <a:srgbClr val="66818E"/>
                </a:solidFill>
                <a:latin typeface="Microsoft YaHei"/>
                <a:ea typeface="Microsoft YaHei"/>
                <a:cs typeface="Microsoft YaHei"/>
              </a:defRPr>
            </a:lvl5pPr>
            <a:lvl6pPr algn="r">
              <a:defRPr sz="1200" b="0">
                <a:solidFill>
                  <a:srgbClr val="66818E"/>
                </a:solidFill>
                <a:latin typeface="Microsoft YaHei"/>
                <a:ea typeface="Microsoft YaHei"/>
                <a:cs typeface="Microsoft YaHei"/>
              </a:defRPr>
            </a:lvl6pPr>
            <a:lvl7pPr algn="r">
              <a:defRPr sz="1200" b="0">
                <a:solidFill>
                  <a:srgbClr val="66818E"/>
                </a:solidFill>
                <a:latin typeface="Microsoft YaHei"/>
                <a:ea typeface="Microsoft YaHei"/>
                <a:cs typeface="Microsoft YaHei"/>
              </a:defRPr>
            </a:lvl7pPr>
            <a:lvl8pPr algn="r">
              <a:defRPr sz="1200" b="0">
                <a:solidFill>
                  <a:srgbClr val="66818E"/>
                </a:solidFill>
                <a:latin typeface="Microsoft YaHei"/>
                <a:ea typeface="Microsoft YaHei"/>
                <a:cs typeface="Microsoft YaHei"/>
              </a:defRPr>
            </a:lvl8pPr>
            <a:lvl9pPr algn="r">
              <a:defRPr sz="1200" b="0">
                <a:solidFill>
                  <a:srgbClr val="66818E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r">
              <a:lnSpc>
                <a:spcPct val="118000"/>
              </a:lnSpc>
              <a:buNone/>
              <a:defRPr sz="1200" b="0">
                <a:solidFill>
                  <a:srgbClr val="66818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66818E"/>
                </a:solidFill>
                <a:latin typeface="Microsoft YaHei"/>
                <a:ea typeface="Microsoft YaHei"/>
                <a:cs typeface="Microsoft YaHei"/>
              </a:rPr>
              <a:t>03 / 13</a:t>
            </a:r>
          </a:p>
        </p:txBody>
      </p:sp>
      <p:sp>
        <p:nvSpPr>
          <p:cNvPr id="4" name="text">
            <a:extLst xmlns:a="http://schemas.openxmlformats.org/drawingml/2006/main">
              <a:ext uri="{FF2B5EF4-FFF2-40B4-BE49-F238E27FC236}">
                <a16:creationId xmlns:a16="http://schemas.microsoft.com/office/drawing/2014/main" id="{A7918053-F06D-49B4-BE30-24E9023E50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38275"/>
            <a:ext cx="300037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4050" b="1">
                <a:solidFill>
                  <a:srgbClr val="087C78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4050" b="1">
                <a:solidFill>
                  <a:srgbClr val="087C78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4050" b="1">
                <a:solidFill>
                  <a:srgbClr val="087C78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4050" b="1">
                <a:solidFill>
                  <a:srgbClr val="087C78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4050" b="1">
                <a:solidFill>
                  <a:srgbClr val="087C78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4050" b="1">
                <a:solidFill>
                  <a:srgbClr val="087C78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4050" b="1">
                <a:solidFill>
                  <a:srgbClr val="087C78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4050" b="1">
                <a:solidFill>
                  <a:srgbClr val="087C78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4050" b="1">
                <a:solidFill>
                  <a:srgbClr val="087C78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4050" b="1">
                <a:solidFill>
                  <a:srgbClr val="087C7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lnSpc>
                <a:spcPct val="118000"/>
              </a:lnSpc>
              <a:buNone/>
              <a:defRPr sz="4050" b="1">
                <a:solidFill>
                  <a:srgbClr val="087C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4050" b="1">
                <a:solidFill>
                  <a:srgbClr val="087C78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  <p:sp>
        <p:nvSpPr>
          <p:cNvPr id="5" name="text">
            <a:extLst xmlns:a="http://schemas.openxmlformats.org/drawingml/2006/main">
              <a:ext uri="{FF2B5EF4-FFF2-40B4-BE49-F238E27FC236}">
                <a16:creationId xmlns:a16="http://schemas.microsoft.com/office/drawing/2014/main" id="{CA205FF9-C331-402F-8109-832D249234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38375"/>
            <a:ext cx="314325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250" b="1">
                <a:solidFill>
                  <a:srgbClr val="16394B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250" b="1">
                <a:solidFill>
                  <a:srgbClr val="16394B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250" b="1">
                <a:solidFill>
                  <a:srgbClr val="16394B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250" b="1">
                <a:solidFill>
                  <a:srgbClr val="16394B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250" b="1">
                <a:solidFill>
                  <a:srgbClr val="16394B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250" b="1">
                <a:solidFill>
                  <a:srgbClr val="16394B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250" b="1">
                <a:solidFill>
                  <a:srgbClr val="16394B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250" b="1">
                <a:solidFill>
                  <a:srgbClr val="16394B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250" b="1">
                <a:solidFill>
                  <a:srgbClr val="16394B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250" b="1">
                <a:solidFill>
                  <a:srgbClr val="16394B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lnSpc>
                <a:spcPct val="118000"/>
              </a:lnSpc>
              <a:buNone/>
              <a:defRPr sz="2250" b="1">
                <a:solidFill>
                  <a:srgbClr val="16394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16394B"/>
                </a:solidFill>
                <a:latin typeface="Microsoft YaHei"/>
                <a:ea typeface="Microsoft YaHei"/>
                <a:cs typeface="Microsoft YaHei"/>
              </a:rPr>
              <a:t>政策支持</a:t>
            </a:r>
          </a:p>
        </p:txBody>
      </p:sp>
      <p:sp>
        <p:nvSpPr>
          <p:cNvPr id="6" name="text">
            <a:extLst xmlns:a="http://schemas.openxmlformats.org/drawingml/2006/main">
              <a:ext uri="{FF2B5EF4-FFF2-40B4-BE49-F238E27FC236}">
                <a16:creationId xmlns:a16="http://schemas.microsoft.com/office/drawing/2014/main" id="{1AE92321-B15C-4444-85B8-A5C2449E7D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1438275"/>
            <a:ext cx="300037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4050" b="1">
                <a:solidFill>
                  <a:srgbClr val="087C78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4050" b="1">
                <a:solidFill>
                  <a:srgbClr val="087C78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4050" b="1">
                <a:solidFill>
                  <a:srgbClr val="087C78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4050" b="1">
                <a:solidFill>
                  <a:srgbClr val="087C78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4050" b="1">
                <a:solidFill>
                  <a:srgbClr val="087C78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4050" b="1">
                <a:solidFill>
                  <a:srgbClr val="087C78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4050" b="1">
                <a:solidFill>
                  <a:srgbClr val="087C78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4050" b="1">
                <a:solidFill>
                  <a:srgbClr val="087C78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4050" b="1">
                <a:solidFill>
                  <a:srgbClr val="087C78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4050" b="1">
                <a:solidFill>
                  <a:srgbClr val="087C7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lnSpc>
                <a:spcPct val="118000"/>
              </a:lnSpc>
              <a:buNone/>
              <a:defRPr sz="4050" b="1">
                <a:solidFill>
                  <a:srgbClr val="087C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4050" b="1">
                <a:solidFill>
                  <a:srgbClr val="087C78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7" name="text">
            <a:extLst xmlns:a="http://schemas.openxmlformats.org/drawingml/2006/main">
              <a:ext uri="{FF2B5EF4-FFF2-40B4-BE49-F238E27FC236}">
                <a16:creationId xmlns:a16="http://schemas.microsoft.com/office/drawing/2014/main" id="{F3D83795-59BF-4F90-95D4-D3D9EA70B4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2238375"/>
            <a:ext cx="314325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250" b="1">
                <a:solidFill>
                  <a:srgbClr val="16394B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250" b="1">
                <a:solidFill>
                  <a:srgbClr val="16394B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250" b="1">
                <a:solidFill>
                  <a:srgbClr val="16394B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250" b="1">
                <a:solidFill>
                  <a:srgbClr val="16394B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250" b="1">
                <a:solidFill>
                  <a:srgbClr val="16394B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250" b="1">
                <a:solidFill>
                  <a:srgbClr val="16394B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250" b="1">
                <a:solidFill>
                  <a:srgbClr val="16394B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250" b="1">
                <a:solidFill>
                  <a:srgbClr val="16394B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250" b="1">
                <a:solidFill>
                  <a:srgbClr val="16394B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250" b="1">
                <a:solidFill>
                  <a:srgbClr val="16394B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lnSpc>
                <a:spcPct val="118000"/>
              </a:lnSpc>
              <a:buNone/>
              <a:defRPr sz="2250" b="1">
                <a:solidFill>
                  <a:srgbClr val="16394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16394B"/>
                </a:solidFill>
                <a:latin typeface="Microsoft YaHei"/>
                <a:ea typeface="Microsoft YaHei"/>
                <a:cs typeface="Microsoft YaHei"/>
              </a:rPr>
              <a:t>家庭投入</a:t>
            </a:r>
          </a:p>
        </p:txBody>
      </p:sp>
      <p:sp>
        <p:nvSpPr>
          <p:cNvPr id="8" name="text">
            <a:extLst xmlns:a="http://schemas.openxmlformats.org/drawingml/2006/main">
              <a:ext uri="{FF2B5EF4-FFF2-40B4-BE49-F238E27FC236}">
                <a16:creationId xmlns:a16="http://schemas.microsoft.com/office/drawing/2014/main" id="{ED075442-060D-4555-B5B5-AC4F8F433F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1438275"/>
            <a:ext cx="300037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4050" b="1">
                <a:solidFill>
                  <a:srgbClr val="087C78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4050" b="1">
                <a:solidFill>
                  <a:srgbClr val="087C78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4050" b="1">
                <a:solidFill>
                  <a:srgbClr val="087C78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4050" b="1">
                <a:solidFill>
                  <a:srgbClr val="087C78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4050" b="1">
                <a:solidFill>
                  <a:srgbClr val="087C78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4050" b="1">
                <a:solidFill>
                  <a:srgbClr val="087C78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4050" b="1">
                <a:solidFill>
                  <a:srgbClr val="087C78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4050" b="1">
                <a:solidFill>
                  <a:srgbClr val="087C78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4050" b="1">
                <a:solidFill>
                  <a:srgbClr val="087C78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4050" b="1">
                <a:solidFill>
                  <a:srgbClr val="087C7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lnSpc>
                <a:spcPct val="118000"/>
              </a:lnSpc>
              <a:buNone/>
              <a:defRPr sz="4050" b="1">
                <a:solidFill>
                  <a:srgbClr val="087C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4050" b="1">
                <a:solidFill>
                  <a:srgbClr val="087C78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  <p:sp>
        <p:nvSpPr>
          <p:cNvPr id="9" name="text">
            <a:extLst xmlns:a="http://schemas.openxmlformats.org/drawingml/2006/main">
              <a:ext uri="{FF2B5EF4-FFF2-40B4-BE49-F238E27FC236}">
                <a16:creationId xmlns:a16="http://schemas.microsoft.com/office/drawing/2014/main" id="{2CF7BEBF-0514-4474-9521-7BAA34C2D0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2238375"/>
            <a:ext cx="314325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250" b="1">
                <a:solidFill>
                  <a:srgbClr val="16394B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250" b="1">
                <a:solidFill>
                  <a:srgbClr val="16394B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250" b="1">
                <a:solidFill>
                  <a:srgbClr val="16394B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250" b="1">
                <a:solidFill>
                  <a:srgbClr val="16394B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250" b="1">
                <a:solidFill>
                  <a:srgbClr val="16394B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250" b="1">
                <a:solidFill>
                  <a:srgbClr val="16394B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250" b="1">
                <a:solidFill>
                  <a:srgbClr val="16394B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250" b="1">
                <a:solidFill>
                  <a:srgbClr val="16394B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250" b="1">
                <a:solidFill>
                  <a:srgbClr val="16394B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250" b="1">
                <a:solidFill>
                  <a:srgbClr val="16394B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lnSpc>
                <a:spcPct val="118000"/>
              </a:lnSpc>
              <a:buNone/>
              <a:defRPr sz="2250" b="1">
                <a:solidFill>
                  <a:srgbClr val="16394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16394B"/>
                </a:solidFill>
                <a:latin typeface="Microsoft YaHei"/>
                <a:ea typeface="Microsoft YaHei"/>
                <a:cs typeface="Microsoft YaHei"/>
              </a:rPr>
              <a:t>无纸化学习</a:t>
            </a:r>
          </a:p>
        </p:txBody>
      </p:sp>
      <p:sp>
        <p:nvSpPr>
          <p:cNvPr id="10" name="text">
            <a:extLst xmlns:a="http://schemas.openxmlformats.org/drawingml/2006/main">
              <a:ext uri="{FF2B5EF4-FFF2-40B4-BE49-F238E27FC236}">
                <a16:creationId xmlns:a16="http://schemas.microsoft.com/office/drawing/2014/main" id="{144125BA-AAC8-446C-B0BE-BC5E0565FE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47975"/>
            <a:ext cx="3286125" cy="2381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50" b="0">
                <a:solidFill>
                  <a:srgbClr val="365567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650" b="0">
                <a:solidFill>
                  <a:srgbClr val="365567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650" b="0">
                <a:solidFill>
                  <a:srgbClr val="365567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650" b="0">
                <a:solidFill>
                  <a:srgbClr val="365567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650" b="0">
                <a:solidFill>
                  <a:srgbClr val="365567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650" b="0">
                <a:solidFill>
                  <a:srgbClr val="365567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650" b="0">
                <a:solidFill>
                  <a:srgbClr val="365567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650" b="0">
                <a:solidFill>
                  <a:srgbClr val="365567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650" b="0">
                <a:solidFill>
                  <a:srgbClr val="365567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650" b="0">
                <a:solidFill>
                  <a:srgbClr val="36556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lnSpc>
                <a:spcPct val="118000"/>
              </a:lnSpc>
              <a:buNone/>
              <a:defRPr sz="1650" b="0">
                <a:solidFill>
                  <a:srgbClr val="36556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365567"/>
                </a:solidFill>
                <a:latin typeface="Microsoft YaHei"/>
                <a:ea typeface="Microsoft YaHei"/>
                <a:cs typeface="Microsoft YaHei"/>
              </a:rPr>
              <a:t>《中小学书法教育指导纲要》</a:t>
            </a:r>
          </a:p>
          <a:p xmlns:a="http://schemas.openxmlformats.org/drawingml/2006/main">
            <a:pPr algn="l">
              <a:lnSpc>
                <a:spcPct val="118000"/>
              </a:lnSpc>
              <a:buNone/>
              <a:defRPr sz="1650" b="0">
                <a:solidFill>
                  <a:srgbClr val="36556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365567"/>
                </a:solidFill>
                <a:latin typeface="Microsoft YaHei"/>
                <a:ea typeface="Microsoft YaHei"/>
                <a:cs typeface="Microsoft YaHei"/>
              </a:rPr>
              <a:t>将书法纳入中小学教学体系。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lnSpc>
                <a:spcPct val="118000"/>
              </a:lnSpc>
              <a:buNone/>
              <a:defRPr sz="1650" b="0">
                <a:solidFill>
                  <a:srgbClr val="36556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365567"/>
                </a:solidFill>
                <a:latin typeface="Microsoft YaHei"/>
                <a:ea typeface="Microsoft YaHei"/>
                <a:cs typeface="Microsoft YaHei"/>
              </a:rPr>
              <a:t>“双减”后的课后服务</a:t>
            </a:r>
          </a:p>
          <a:p xmlns:a="http://schemas.openxmlformats.org/drawingml/2006/main">
            <a:pPr algn="l">
              <a:lnSpc>
                <a:spcPct val="118000"/>
              </a:lnSpc>
              <a:buNone/>
              <a:defRPr sz="1650" b="0">
                <a:solidFill>
                  <a:srgbClr val="36556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365567"/>
                </a:solidFill>
                <a:latin typeface="Microsoft YaHei"/>
                <a:ea typeface="Microsoft YaHei"/>
                <a:cs typeface="Microsoft YaHei"/>
              </a:rPr>
              <a:t>与学校美育建设，持续需要</a:t>
            </a:r>
          </a:p>
          <a:p xmlns:a="http://schemas.openxmlformats.org/drawingml/2006/main">
            <a:pPr algn="l">
              <a:lnSpc>
                <a:spcPct val="118000"/>
              </a:lnSpc>
              <a:buNone/>
              <a:defRPr sz="1650" b="0">
                <a:solidFill>
                  <a:srgbClr val="36556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365567"/>
                </a:solidFill>
                <a:latin typeface="Microsoft YaHei"/>
                <a:ea typeface="Microsoft YaHei"/>
                <a:cs typeface="Microsoft YaHei"/>
              </a:rPr>
              <a:t>优质书法教育内容。</a:t>
            </a:r>
          </a:p>
        </p:txBody>
      </p:sp>
      <p:sp>
        <p:nvSpPr>
          <p:cNvPr id="11" name="text">
            <a:extLst xmlns:a="http://schemas.openxmlformats.org/drawingml/2006/main">
              <a:ext uri="{FF2B5EF4-FFF2-40B4-BE49-F238E27FC236}">
                <a16:creationId xmlns:a16="http://schemas.microsoft.com/office/drawing/2014/main" id="{59522E81-2C0B-4783-9380-D5ADDC2C8D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2847975"/>
            <a:ext cx="3286125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50" b="0">
                <a:solidFill>
                  <a:srgbClr val="365567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650" b="0">
                <a:solidFill>
                  <a:srgbClr val="365567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650" b="0">
                <a:solidFill>
                  <a:srgbClr val="365567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650" b="0">
                <a:solidFill>
                  <a:srgbClr val="365567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650" b="0">
                <a:solidFill>
                  <a:srgbClr val="365567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650" b="0">
                <a:solidFill>
                  <a:srgbClr val="365567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650" b="0">
                <a:solidFill>
                  <a:srgbClr val="365567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650" b="0">
                <a:solidFill>
                  <a:srgbClr val="365567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650" b="0">
                <a:solidFill>
                  <a:srgbClr val="365567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650" b="0">
                <a:solidFill>
                  <a:srgbClr val="36556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lnSpc>
                <a:spcPct val="118000"/>
              </a:lnSpc>
              <a:buNone/>
              <a:defRPr sz="1650" b="0">
                <a:solidFill>
                  <a:srgbClr val="36556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365567"/>
                </a:solidFill>
                <a:latin typeface="Microsoft YaHei"/>
                <a:ea typeface="Microsoft YaHei"/>
                <a:cs typeface="Microsoft YaHei"/>
              </a:rPr>
              <a:t>家长重视传统文化、专注力与</a:t>
            </a:r>
          </a:p>
          <a:p xmlns:a="http://schemas.openxmlformats.org/drawingml/2006/main">
            <a:pPr algn="l">
              <a:lnSpc>
                <a:spcPct val="118000"/>
              </a:lnSpc>
              <a:buNone/>
              <a:defRPr sz="1650" b="0">
                <a:solidFill>
                  <a:srgbClr val="36556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365567"/>
                </a:solidFill>
                <a:latin typeface="Microsoft YaHei"/>
                <a:ea typeface="Microsoft YaHei"/>
                <a:cs typeface="Microsoft YaHei"/>
              </a:rPr>
              <a:t>审美素养，并为课程和工具投入</a:t>
            </a:r>
          </a:p>
          <a:p xmlns:a="http://schemas.openxmlformats.org/drawingml/2006/main">
            <a:pPr algn="l">
              <a:lnSpc>
                <a:spcPct val="118000"/>
              </a:lnSpc>
              <a:buNone/>
              <a:defRPr sz="1650" b="0">
                <a:solidFill>
                  <a:srgbClr val="36556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365567"/>
                </a:solidFill>
                <a:latin typeface="Microsoft YaHei"/>
                <a:ea typeface="Microsoft YaHei"/>
                <a:cs typeface="Microsoft YaHei"/>
              </a:rPr>
              <a:t>稳定的学期预算。</a:t>
            </a:r>
          </a:p>
        </p:txBody>
      </p:sp>
      <p:sp>
        <p:nvSpPr>
          <p:cNvPr id="12" name="text">
            <a:extLst xmlns:a="http://schemas.openxmlformats.org/drawingml/2006/main">
              <a:ext uri="{FF2B5EF4-FFF2-40B4-BE49-F238E27FC236}">
                <a16:creationId xmlns:a16="http://schemas.microsoft.com/office/drawing/2014/main" id="{7CF2D792-D34D-437E-823A-CB1A6D0EB5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4105275"/>
            <a:ext cx="3286125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450" b="1">
                <a:solidFill>
                  <a:srgbClr val="143E5A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3450" b="1">
                <a:solidFill>
                  <a:srgbClr val="143E5A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3450" b="1">
                <a:solidFill>
                  <a:srgbClr val="143E5A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3450" b="1">
                <a:solidFill>
                  <a:srgbClr val="143E5A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3450" b="1">
                <a:solidFill>
                  <a:srgbClr val="143E5A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3450" b="1">
                <a:solidFill>
                  <a:srgbClr val="143E5A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3450" b="1">
                <a:solidFill>
                  <a:srgbClr val="143E5A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3450" b="1">
                <a:solidFill>
                  <a:srgbClr val="143E5A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3450" b="1">
                <a:solidFill>
                  <a:srgbClr val="143E5A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3450" b="1">
                <a:solidFill>
                  <a:srgbClr val="143E5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lnSpc>
                <a:spcPct val="118000"/>
              </a:lnSpc>
              <a:buNone/>
              <a:defRPr sz="3450" b="1">
                <a:solidFill>
                  <a:srgbClr val="143E5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450" b="1">
                <a:solidFill>
                  <a:srgbClr val="143E5A"/>
                </a:solidFill>
                <a:latin typeface="Microsoft YaHei"/>
                <a:ea typeface="Microsoft YaHei"/>
                <a:cs typeface="Microsoft YaHei"/>
              </a:rPr>
              <a:t>41.58%</a:t>
            </a:r>
          </a:p>
        </p:txBody>
      </p:sp>
      <p:sp>
        <p:nvSpPr>
          <p:cNvPr id="13" name="text">
            <a:extLst xmlns:a="http://schemas.openxmlformats.org/drawingml/2006/main">
              <a:ext uri="{FF2B5EF4-FFF2-40B4-BE49-F238E27FC236}">
                <a16:creationId xmlns:a16="http://schemas.microsoft.com/office/drawing/2014/main" id="{872335FC-8E2F-4BD4-A540-5FA74BFB5B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4733925"/>
            <a:ext cx="33813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00" b="0">
                <a:solidFill>
                  <a:srgbClr val="365567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500" b="0">
                <a:solidFill>
                  <a:srgbClr val="365567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500" b="0">
                <a:solidFill>
                  <a:srgbClr val="365567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500" b="0">
                <a:solidFill>
                  <a:srgbClr val="365567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500" b="0">
                <a:solidFill>
                  <a:srgbClr val="365567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500" b="0">
                <a:solidFill>
                  <a:srgbClr val="365567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500" b="0">
                <a:solidFill>
                  <a:srgbClr val="365567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500" b="0">
                <a:solidFill>
                  <a:srgbClr val="365567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500" b="0">
                <a:solidFill>
                  <a:srgbClr val="365567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500" b="0">
                <a:solidFill>
                  <a:srgbClr val="36556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lnSpc>
                <a:spcPct val="118000"/>
              </a:lnSpc>
              <a:buNone/>
              <a:defRPr sz="1500" b="0">
                <a:solidFill>
                  <a:srgbClr val="36556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365567"/>
                </a:solidFill>
                <a:latin typeface="Microsoft YaHei"/>
                <a:ea typeface="Microsoft YaHei"/>
                <a:cs typeface="Microsoft YaHei"/>
              </a:rPr>
              <a:t>愿投入 1000–3000 元 / 学期</a:t>
            </a:r>
          </a:p>
        </p:txBody>
      </p:sp>
      <p:sp>
        <p:nvSpPr>
          <p:cNvPr id="14" name="text">
            <a:extLst xmlns:a="http://schemas.openxmlformats.org/drawingml/2006/main">
              <a:ext uri="{FF2B5EF4-FFF2-40B4-BE49-F238E27FC236}">
                <a16:creationId xmlns:a16="http://schemas.microsoft.com/office/drawing/2014/main" id="{DA081447-3064-4E13-94D2-C1FBEE049A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5200650"/>
            <a:ext cx="3286125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550" b="1">
                <a:solidFill>
                  <a:srgbClr val="087C78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550" b="1">
                <a:solidFill>
                  <a:srgbClr val="087C78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550" b="1">
                <a:solidFill>
                  <a:srgbClr val="087C78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550" b="1">
                <a:solidFill>
                  <a:srgbClr val="087C78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550" b="1">
                <a:solidFill>
                  <a:srgbClr val="087C78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550" b="1">
                <a:solidFill>
                  <a:srgbClr val="087C78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550" b="1">
                <a:solidFill>
                  <a:srgbClr val="087C78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550" b="1">
                <a:solidFill>
                  <a:srgbClr val="087C78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550" b="1">
                <a:solidFill>
                  <a:srgbClr val="087C78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550" b="1">
                <a:solidFill>
                  <a:srgbClr val="087C7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lnSpc>
                <a:spcPct val="118000"/>
              </a:lnSpc>
              <a:buNone/>
              <a:defRPr sz="2550" b="1">
                <a:solidFill>
                  <a:srgbClr val="087C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087C78"/>
                </a:solidFill>
                <a:latin typeface="Microsoft YaHei"/>
                <a:ea typeface="Microsoft YaHei"/>
                <a:cs typeface="Microsoft YaHei"/>
              </a:rPr>
              <a:t>11.88%</a:t>
            </a:r>
          </a:p>
        </p:txBody>
      </p:sp>
      <p:sp>
        <p:nvSpPr>
          <p:cNvPr id="15" name="text">
            <a:extLst xmlns:a="http://schemas.openxmlformats.org/drawingml/2006/main">
              <a:ext uri="{FF2B5EF4-FFF2-40B4-BE49-F238E27FC236}">
                <a16:creationId xmlns:a16="http://schemas.microsoft.com/office/drawing/2014/main" id="{F0126CF9-0435-42CF-9992-BA3204CE6A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5619750"/>
            <a:ext cx="33813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00" b="0">
                <a:solidFill>
                  <a:srgbClr val="365567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500" b="0">
                <a:solidFill>
                  <a:srgbClr val="365567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500" b="0">
                <a:solidFill>
                  <a:srgbClr val="365567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500" b="0">
                <a:solidFill>
                  <a:srgbClr val="365567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500" b="0">
                <a:solidFill>
                  <a:srgbClr val="365567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500" b="0">
                <a:solidFill>
                  <a:srgbClr val="365567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500" b="0">
                <a:solidFill>
                  <a:srgbClr val="365567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500" b="0">
                <a:solidFill>
                  <a:srgbClr val="365567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500" b="0">
                <a:solidFill>
                  <a:srgbClr val="365567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500" b="0">
                <a:solidFill>
                  <a:srgbClr val="36556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lnSpc>
                <a:spcPct val="118000"/>
              </a:lnSpc>
              <a:buNone/>
              <a:defRPr sz="1500" b="0">
                <a:solidFill>
                  <a:srgbClr val="36556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365567"/>
                </a:solidFill>
                <a:latin typeface="Microsoft YaHei"/>
                <a:ea typeface="Microsoft YaHei"/>
                <a:cs typeface="Microsoft YaHei"/>
              </a:rPr>
              <a:t>愿投入 5000 元以上 / 学期</a:t>
            </a:r>
          </a:p>
        </p:txBody>
      </p:sp>
      <p:sp>
        <p:nvSpPr>
          <p:cNvPr id="16" name="text">
            <a:extLst xmlns:a="http://schemas.openxmlformats.org/drawingml/2006/main">
              <a:ext uri="{FF2B5EF4-FFF2-40B4-BE49-F238E27FC236}">
                <a16:creationId xmlns:a16="http://schemas.microsoft.com/office/drawing/2014/main" id="{7D061706-276F-413B-A02D-F8BB0A97A0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2847975"/>
            <a:ext cx="3333750" cy="2381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50" b="0">
                <a:solidFill>
                  <a:srgbClr val="365567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650" b="0">
                <a:solidFill>
                  <a:srgbClr val="365567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650" b="0">
                <a:solidFill>
                  <a:srgbClr val="365567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650" b="0">
                <a:solidFill>
                  <a:srgbClr val="365567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650" b="0">
                <a:solidFill>
                  <a:srgbClr val="365567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650" b="0">
                <a:solidFill>
                  <a:srgbClr val="365567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650" b="0">
                <a:solidFill>
                  <a:srgbClr val="365567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650" b="0">
                <a:solidFill>
                  <a:srgbClr val="365567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650" b="0">
                <a:solidFill>
                  <a:srgbClr val="365567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650" b="0">
                <a:solidFill>
                  <a:srgbClr val="36556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lnSpc>
                <a:spcPct val="118000"/>
              </a:lnSpc>
              <a:buNone/>
              <a:defRPr sz="1650" b="0">
                <a:solidFill>
                  <a:srgbClr val="36556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365567"/>
                </a:solidFill>
                <a:latin typeface="Microsoft YaHei"/>
                <a:ea typeface="Microsoft YaHei"/>
                <a:cs typeface="Microsoft YaHei"/>
              </a:rPr>
              <a:t>平板与手写笔逐步普及，</a:t>
            </a:r>
          </a:p>
          <a:p xmlns:a="http://schemas.openxmlformats.org/drawingml/2006/main">
            <a:pPr algn="l">
              <a:lnSpc>
                <a:spcPct val="118000"/>
              </a:lnSpc>
              <a:buNone/>
              <a:defRPr sz="1650" b="0">
                <a:solidFill>
                  <a:srgbClr val="36556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365567"/>
                </a:solidFill>
                <a:latin typeface="Microsoft YaHei"/>
                <a:ea typeface="Microsoft YaHei"/>
                <a:cs typeface="Microsoft YaHei"/>
              </a:rPr>
              <a:t>高校无纸化学习尤其突出。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lnSpc>
                <a:spcPct val="118000"/>
              </a:lnSpc>
              <a:buNone/>
              <a:defRPr sz="1650" b="0">
                <a:solidFill>
                  <a:srgbClr val="36556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365567"/>
                </a:solidFill>
                <a:latin typeface="Microsoft YaHei"/>
                <a:ea typeface="Microsoft YaHei"/>
                <a:cs typeface="Microsoft YaHei"/>
              </a:rPr>
              <a:t>书写介质改变后，用户仍需练习</a:t>
            </a:r>
          </a:p>
          <a:p xmlns:a="http://schemas.openxmlformats.org/drawingml/2006/main">
            <a:pPr algn="l">
              <a:lnSpc>
                <a:spcPct val="118000"/>
              </a:lnSpc>
              <a:buNone/>
              <a:defRPr sz="1650" b="0">
                <a:solidFill>
                  <a:srgbClr val="36556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365567"/>
                </a:solidFill>
                <a:latin typeface="Microsoft YaHei"/>
                <a:ea typeface="Microsoft YaHei"/>
                <a:cs typeface="Microsoft YaHei"/>
              </a:rPr>
              <a:t>以适应书写体验；电子纸也有助于</a:t>
            </a:r>
          </a:p>
          <a:p xmlns:a="http://schemas.openxmlformats.org/drawingml/2006/main">
            <a:pPr algn="l">
              <a:lnSpc>
                <a:spcPct val="118000"/>
              </a:lnSpc>
              <a:buNone/>
              <a:defRPr sz="1650" b="0">
                <a:solidFill>
                  <a:srgbClr val="36556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365567"/>
                </a:solidFill>
                <a:latin typeface="Microsoft YaHei"/>
                <a:ea typeface="Microsoft YaHei"/>
                <a:cs typeface="Microsoft YaHei"/>
              </a:rPr>
              <a:t>减少纸张消耗。</a:t>
            </a:r>
          </a:p>
        </p:txBody>
      </p:sp>
      <p:sp>
        <p:nvSpPr>
          <p:cNvPr id="17" name="text">
            <a:extLst xmlns:a="http://schemas.openxmlformats.org/drawingml/2006/main">
              <a:ext uri="{FF2B5EF4-FFF2-40B4-BE49-F238E27FC236}">
                <a16:creationId xmlns:a16="http://schemas.microsoft.com/office/drawing/2014/main" id="{39EDF174-26CC-433A-9E7A-8E54E65DA2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62650"/>
            <a:ext cx="109728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950" b="1">
                <a:solidFill>
                  <a:srgbClr val="16394B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950" b="1">
                <a:solidFill>
                  <a:srgbClr val="16394B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950" b="1">
                <a:solidFill>
                  <a:srgbClr val="16394B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950" b="1">
                <a:solidFill>
                  <a:srgbClr val="16394B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950" b="1">
                <a:solidFill>
                  <a:srgbClr val="16394B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950" b="1">
                <a:solidFill>
                  <a:srgbClr val="16394B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950" b="1">
                <a:solidFill>
                  <a:srgbClr val="16394B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950" b="1">
                <a:solidFill>
                  <a:srgbClr val="16394B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950" b="1">
                <a:solidFill>
                  <a:srgbClr val="16394B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950" b="1">
                <a:solidFill>
                  <a:srgbClr val="16394B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lnSpc>
                <a:spcPct val="118000"/>
              </a:lnSpc>
              <a:buNone/>
              <a:defRPr sz="1950" b="1">
                <a:solidFill>
                  <a:srgbClr val="16394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>
                <a:solidFill>
                  <a:srgbClr val="16394B"/>
                </a:solidFill>
                <a:latin typeface="Microsoft YaHei"/>
                <a:ea typeface="Microsoft YaHei"/>
                <a:cs typeface="Microsoft YaHei"/>
              </a:rPr>
              <a:t>政策、家庭需求与书写介质的变化，共同带来智能反馈需求</a:t>
            </a:r>
          </a:p>
        </p:txBody>
      </p:sp>
    </p:spTree>
    <p:extLst>
      <p:ext uri="{BB962C8B-B14F-4D97-AF65-F5344CB8AC3E}">
        <p14:creationId xmlns:p14="http://schemas.microsoft.com/office/powerpoint/2010/main" val="1524173890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15545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slide-title">
            <a:extLst xmlns:a="http://schemas.openxmlformats.org/drawingml/2006/main">
              <a:ext uri="{FF2B5EF4-FFF2-40B4-BE49-F238E27FC236}">
                <a16:creationId xmlns:a16="http://schemas.microsoft.com/office/drawing/2014/main" id="{5A6C2F6B-2FB3-4B69-B465-D72F0FA52B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97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0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30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30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30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30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30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30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30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30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30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lnSpc>
                <a:spcPct val="118000"/>
              </a:lnSpc>
              <a:buNone/>
              <a:defRPr sz="30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0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市场痛点：软件供给跟不上硬件与需求</a:t>
            </a:r>
          </a:p>
        </p:txBody>
      </p:sp>
      <p:sp>
        <p:nvSpPr>
          <p:cNvPr id="2" name="footer">
            <a:extLst xmlns:a="http://schemas.openxmlformats.org/drawingml/2006/main">
              <a:ext uri="{FF2B5EF4-FFF2-40B4-BE49-F238E27FC236}">
                <a16:creationId xmlns:a16="http://schemas.microsoft.com/office/drawing/2014/main" id="{5E0340D5-5576-42F5-9C57-0FA2DCF108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05575"/>
            <a:ext cx="6667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125" b="0">
                <a:solidFill>
                  <a:srgbClr val="9EBFCB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125" b="0">
                <a:solidFill>
                  <a:srgbClr val="9EBFCB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125" b="0">
                <a:solidFill>
                  <a:srgbClr val="9EBFCB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125" b="0">
                <a:solidFill>
                  <a:srgbClr val="9EBFCB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125" b="0">
                <a:solidFill>
                  <a:srgbClr val="9EBFCB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125" b="0">
                <a:solidFill>
                  <a:srgbClr val="9EBFCB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125" b="0">
                <a:solidFill>
                  <a:srgbClr val="9EBFCB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125" b="0">
                <a:solidFill>
                  <a:srgbClr val="9EBFCB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125" b="0">
                <a:solidFill>
                  <a:srgbClr val="9EBFCB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125" b="0">
                <a:solidFill>
                  <a:srgbClr val="9EBFCB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lnSpc>
                <a:spcPct val="118000"/>
              </a:lnSpc>
              <a:buNone/>
              <a:defRPr sz="1125" b="0">
                <a:solidFill>
                  <a:srgbClr val="9EBFC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9EBFCB"/>
                </a:solidFill>
                <a:latin typeface="Microsoft YaHei"/>
                <a:ea typeface="Microsoft YaHei"/>
                <a:cs typeface="Microsoft YaHei"/>
              </a:rPr>
              <a:t>一笔成章  /  中期汇报</a:t>
            </a:r>
          </a:p>
        </p:txBody>
      </p:sp>
      <p:sp>
        <p:nvSpPr>
          <p:cNvPr id="3" name="page-number">
            <a:extLst xmlns:a="http://schemas.openxmlformats.org/drawingml/2006/main">
              <a:ext uri="{FF2B5EF4-FFF2-40B4-BE49-F238E27FC236}">
                <a16:creationId xmlns:a16="http://schemas.microsoft.com/office/drawing/2014/main" id="{903B3BB9-9E64-4589-9BBF-4521C815BC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6486525"/>
            <a:ext cx="8191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200" b="0">
                <a:solidFill>
                  <a:srgbClr val="9EBFCB"/>
                </a:solidFill>
                <a:latin typeface="Microsoft YaHei"/>
                <a:ea typeface="Microsoft YaHei"/>
                <a:cs typeface="Microsoft YaHei"/>
              </a:defRPr>
            </a:defPPr>
            <a:lvl1pPr algn="r">
              <a:defRPr sz="1200" b="0">
                <a:solidFill>
                  <a:srgbClr val="9EBFCB"/>
                </a:solidFill>
                <a:latin typeface="Microsoft YaHei"/>
                <a:ea typeface="Microsoft YaHei"/>
                <a:cs typeface="Microsoft YaHei"/>
              </a:defRPr>
            </a:lvl1pPr>
            <a:lvl2pPr algn="r">
              <a:defRPr sz="1200" b="0">
                <a:solidFill>
                  <a:srgbClr val="9EBFCB"/>
                </a:solidFill>
                <a:latin typeface="Microsoft YaHei"/>
                <a:ea typeface="Microsoft YaHei"/>
                <a:cs typeface="Microsoft YaHei"/>
              </a:defRPr>
            </a:lvl2pPr>
            <a:lvl3pPr algn="r">
              <a:defRPr sz="1200" b="0">
                <a:solidFill>
                  <a:srgbClr val="9EBFCB"/>
                </a:solidFill>
                <a:latin typeface="Microsoft YaHei"/>
                <a:ea typeface="Microsoft YaHei"/>
                <a:cs typeface="Microsoft YaHei"/>
              </a:defRPr>
            </a:lvl3pPr>
            <a:lvl4pPr algn="r">
              <a:defRPr sz="1200" b="0">
                <a:solidFill>
                  <a:srgbClr val="9EBFCB"/>
                </a:solidFill>
                <a:latin typeface="Microsoft YaHei"/>
                <a:ea typeface="Microsoft YaHei"/>
                <a:cs typeface="Microsoft YaHei"/>
              </a:defRPr>
            </a:lvl4pPr>
            <a:lvl5pPr algn="r">
              <a:defRPr sz="1200" b="0">
                <a:solidFill>
                  <a:srgbClr val="9EBFCB"/>
                </a:solidFill>
                <a:latin typeface="Microsoft YaHei"/>
                <a:ea typeface="Microsoft YaHei"/>
                <a:cs typeface="Microsoft YaHei"/>
              </a:defRPr>
            </a:lvl5pPr>
            <a:lvl6pPr algn="r">
              <a:defRPr sz="1200" b="0">
                <a:solidFill>
                  <a:srgbClr val="9EBFCB"/>
                </a:solidFill>
                <a:latin typeface="Microsoft YaHei"/>
                <a:ea typeface="Microsoft YaHei"/>
                <a:cs typeface="Microsoft YaHei"/>
              </a:defRPr>
            </a:lvl6pPr>
            <a:lvl7pPr algn="r">
              <a:defRPr sz="1200" b="0">
                <a:solidFill>
                  <a:srgbClr val="9EBFCB"/>
                </a:solidFill>
                <a:latin typeface="Microsoft YaHei"/>
                <a:ea typeface="Microsoft YaHei"/>
                <a:cs typeface="Microsoft YaHei"/>
              </a:defRPr>
            </a:lvl7pPr>
            <a:lvl8pPr algn="r">
              <a:defRPr sz="1200" b="0">
                <a:solidFill>
                  <a:srgbClr val="9EBFCB"/>
                </a:solidFill>
                <a:latin typeface="Microsoft YaHei"/>
                <a:ea typeface="Microsoft YaHei"/>
                <a:cs typeface="Microsoft YaHei"/>
              </a:defRPr>
            </a:lvl8pPr>
            <a:lvl9pPr algn="r">
              <a:defRPr sz="1200" b="0">
                <a:solidFill>
                  <a:srgbClr val="9EBFCB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r">
              <a:lnSpc>
                <a:spcPct val="118000"/>
              </a:lnSpc>
              <a:buNone/>
              <a:defRPr sz="1200" b="0">
                <a:solidFill>
                  <a:srgbClr val="9EBFC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9EBFCB"/>
                </a:solidFill>
                <a:latin typeface="Microsoft YaHei"/>
                <a:ea typeface="Microsoft YaHei"/>
                <a:cs typeface="Microsoft YaHei"/>
              </a:rPr>
              <a:t>04 / 13</a:t>
            </a:r>
          </a:p>
        </p:txBody>
      </p:sp>
      <p:sp>
        <p:nvSpPr>
          <p:cNvPr id="4" name="text">
            <a:extLst xmlns:a="http://schemas.openxmlformats.org/drawingml/2006/main">
              <a:ext uri="{FF2B5EF4-FFF2-40B4-BE49-F238E27FC236}">
                <a16:creationId xmlns:a16="http://schemas.microsoft.com/office/drawing/2014/main" id="{DFA1D5A8-141B-455A-8ECC-33BA0A4272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09700"/>
            <a:ext cx="109728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950" b="0">
                <a:solidFill>
                  <a:srgbClr val="D7E7EE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950" b="0">
                <a:solidFill>
                  <a:srgbClr val="D7E7EE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950" b="0">
                <a:solidFill>
                  <a:srgbClr val="D7E7EE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950" b="0">
                <a:solidFill>
                  <a:srgbClr val="D7E7EE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950" b="0">
                <a:solidFill>
                  <a:srgbClr val="D7E7EE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950" b="0">
                <a:solidFill>
                  <a:srgbClr val="D7E7EE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950" b="0">
                <a:solidFill>
                  <a:srgbClr val="D7E7EE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950" b="0">
                <a:solidFill>
                  <a:srgbClr val="D7E7EE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950" b="0">
                <a:solidFill>
                  <a:srgbClr val="D7E7EE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950" b="0">
                <a:solidFill>
                  <a:srgbClr val="D7E7EE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lnSpc>
                <a:spcPct val="118000"/>
              </a:lnSpc>
              <a:buNone/>
              <a:defRPr sz="1950" b="0">
                <a:solidFill>
                  <a:srgbClr val="D7E7E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D7E7EE"/>
                </a:solidFill>
                <a:latin typeface="Microsoft YaHei"/>
                <a:ea typeface="Microsoft YaHei"/>
                <a:cs typeface="Microsoft YaHei"/>
              </a:rPr>
              <a:t>现有软件多停留在字帖临摹与分享，练习指导不足。</a:t>
            </a:r>
          </a:p>
          <a:p xmlns:a="http://schemas.openxmlformats.org/drawingml/2006/main">
            <a:pPr algn="l">
              <a:lnSpc>
                <a:spcPct val="118000"/>
              </a:lnSpc>
              <a:buNone/>
              <a:defRPr sz="1950" b="0">
                <a:solidFill>
                  <a:srgbClr val="D7E7E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D7E7EE"/>
                </a:solidFill>
                <a:latin typeface="Microsoft YaHei"/>
                <a:ea typeface="Microsoft YaHei"/>
                <a:cs typeface="Microsoft YaHei"/>
              </a:rPr>
              <a:t>手写笔已有 4096 级压感，丰富书写数据仍未得到充分利用。</a:t>
            </a:r>
          </a:p>
        </p:txBody>
      </p:sp>
      <p:sp>
        <p:nvSpPr>
          <p:cNvPr id="5" name="text">
            <a:extLst xmlns:a="http://schemas.openxmlformats.org/drawingml/2006/main">
              <a:ext uri="{FF2B5EF4-FFF2-40B4-BE49-F238E27FC236}">
                <a16:creationId xmlns:a16="http://schemas.microsoft.com/office/drawing/2014/main" id="{4179F6E6-8427-44E1-8E63-433C77340C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0"/>
            <a:ext cx="3333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325" b="1">
                <a:solidFill>
                  <a:srgbClr val="BDE3B1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325" b="1">
                <a:solidFill>
                  <a:srgbClr val="BDE3B1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325" b="1">
                <a:solidFill>
                  <a:srgbClr val="BDE3B1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325" b="1">
                <a:solidFill>
                  <a:srgbClr val="BDE3B1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325" b="1">
                <a:solidFill>
                  <a:srgbClr val="BDE3B1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325" b="1">
                <a:solidFill>
                  <a:srgbClr val="BDE3B1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325" b="1">
                <a:solidFill>
                  <a:srgbClr val="BDE3B1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325" b="1">
                <a:solidFill>
                  <a:srgbClr val="BDE3B1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325" b="1">
                <a:solidFill>
                  <a:srgbClr val="BDE3B1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325" b="1">
                <a:solidFill>
                  <a:srgbClr val="BDE3B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lnSpc>
                <a:spcPct val="118000"/>
              </a:lnSpc>
              <a:buNone/>
              <a:defRPr sz="2325" b="1">
                <a:solidFill>
                  <a:srgbClr val="BDE3B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BDE3B1"/>
                </a:solidFill>
                <a:latin typeface="Microsoft YaHei"/>
                <a:ea typeface="Microsoft YaHei"/>
                <a:cs typeface="Microsoft YaHei"/>
              </a:rPr>
              <a:t>反馈滞后</a:t>
            </a:r>
          </a:p>
        </p:txBody>
      </p:sp>
      <p:sp>
        <p:nvSpPr>
          <p:cNvPr id="6" name="text">
            <a:extLst xmlns:a="http://schemas.openxmlformats.org/drawingml/2006/main">
              <a:ext uri="{FF2B5EF4-FFF2-40B4-BE49-F238E27FC236}">
                <a16:creationId xmlns:a16="http://schemas.microsoft.com/office/drawing/2014/main" id="{5848CC56-8AD8-4CEF-A272-D509C0E024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314700"/>
            <a:ext cx="3333750" cy="1200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D7E7EE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725" b="0">
                <a:solidFill>
                  <a:srgbClr val="D7E7EE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725" b="0">
                <a:solidFill>
                  <a:srgbClr val="D7E7EE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725" b="0">
                <a:solidFill>
                  <a:srgbClr val="D7E7EE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725" b="0">
                <a:solidFill>
                  <a:srgbClr val="D7E7EE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725" b="0">
                <a:solidFill>
                  <a:srgbClr val="D7E7EE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725" b="0">
                <a:solidFill>
                  <a:srgbClr val="D7E7EE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725" b="0">
                <a:solidFill>
                  <a:srgbClr val="D7E7EE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725" b="0">
                <a:solidFill>
                  <a:srgbClr val="D7E7EE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725" b="0">
                <a:solidFill>
                  <a:srgbClr val="D7E7EE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lnSpc>
                <a:spcPct val="118000"/>
              </a:lnSpc>
              <a:buNone/>
              <a:defRPr sz="1725" b="0">
                <a:solidFill>
                  <a:srgbClr val="D7E7E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D7E7EE"/>
                </a:solidFill>
                <a:latin typeface="Microsoft YaHei"/>
                <a:ea typeface="Microsoft YaHei"/>
                <a:cs typeface="Microsoft YaHei"/>
              </a:rPr>
              <a:t>一对多课堂批改周期长，</a:t>
            </a:r>
          </a:p>
          <a:p xmlns:a="http://schemas.openxmlformats.org/drawingml/2006/main">
            <a:pPr algn="l">
              <a:lnSpc>
                <a:spcPct val="118000"/>
              </a:lnSpc>
              <a:buNone/>
              <a:defRPr sz="1725" b="0">
                <a:solidFill>
                  <a:srgbClr val="D7E7E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D7E7EE"/>
                </a:solidFill>
                <a:latin typeface="Microsoft YaHei"/>
                <a:ea typeface="Microsoft YaHei"/>
                <a:cs typeface="Microsoft YaHei"/>
              </a:rPr>
              <a:t>问题笔画难以及时纠正，</a:t>
            </a:r>
          </a:p>
          <a:p xmlns:a="http://schemas.openxmlformats.org/drawingml/2006/main">
            <a:pPr algn="l">
              <a:lnSpc>
                <a:spcPct val="118000"/>
              </a:lnSpc>
              <a:buNone/>
              <a:defRPr sz="1725" b="0">
                <a:solidFill>
                  <a:srgbClr val="D7E7E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D7E7EE"/>
                </a:solidFill>
                <a:latin typeface="Microsoft YaHei"/>
                <a:ea typeface="Microsoft YaHei"/>
                <a:cs typeface="Microsoft YaHei"/>
              </a:rPr>
              <a:t>错误写法反复固化。</a:t>
            </a:r>
          </a:p>
        </p:txBody>
      </p:sp>
      <p:sp>
        <p:nvSpPr>
          <p:cNvPr id="7" name="text">
            <a:extLst xmlns:a="http://schemas.openxmlformats.org/drawingml/2006/main">
              <a:ext uri="{FF2B5EF4-FFF2-40B4-BE49-F238E27FC236}">
                <a16:creationId xmlns:a16="http://schemas.microsoft.com/office/drawing/2014/main" id="{79106400-201F-456F-9BB3-352BE89E1A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2857500"/>
            <a:ext cx="3333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325" b="1">
                <a:solidFill>
                  <a:srgbClr val="BDE3B1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325" b="1">
                <a:solidFill>
                  <a:srgbClr val="BDE3B1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325" b="1">
                <a:solidFill>
                  <a:srgbClr val="BDE3B1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325" b="1">
                <a:solidFill>
                  <a:srgbClr val="BDE3B1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325" b="1">
                <a:solidFill>
                  <a:srgbClr val="BDE3B1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325" b="1">
                <a:solidFill>
                  <a:srgbClr val="BDE3B1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325" b="1">
                <a:solidFill>
                  <a:srgbClr val="BDE3B1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325" b="1">
                <a:solidFill>
                  <a:srgbClr val="BDE3B1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325" b="1">
                <a:solidFill>
                  <a:srgbClr val="BDE3B1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325" b="1">
                <a:solidFill>
                  <a:srgbClr val="BDE3B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lnSpc>
                <a:spcPct val="118000"/>
              </a:lnSpc>
              <a:buNone/>
              <a:defRPr sz="2325" b="1">
                <a:solidFill>
                  <a:srgbClr val="BDE3B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BDE3B1"/>
                </a:solidFill>
                <a:latin typeface="Microsoft YaHei"/>
                <a:ea typeface="Microsoft YaHei"/>
                <a:cs typeface="Microsoft YaHei"/>
              </a:rPr>
              <a:t>评价主观</a:t>
            </a:r>
          </a:p>
        </p:txBody>
      </p:sp>
      <p:sp>
        <p:nvSpPr>
          <p:cNvPr id="8" name="text">
            <a:extLst xmlns:a="http://schemas.openxmlformats.org/drawingml/2006/main">
              <a:ext uri="{FF2B5EF4-FFF2-40B4-BE49-F238E27FC236}">
                <a16:creationId xmlns:a16="http://schemas.microsoft.com/office/drawing/2014/main" id="{817C4804-F1B8-4C4B-B786-7456B386EE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3314700"/>
            <a:ext cx="3333750" cy="1200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D7E7EE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725" b="0">
                <a:solidFill>
                  <a:srgbClr val="D7E7EE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725" b="0">
                <a:solidFill>
                  <a:srgbClr val="D7E7EE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725" b="0">
                <a:solidFill>
                  <a:srgbClr val="D7E7EE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725" b="0">
                <a:solidFill>
                  <a:srgbClr val="D7E7EE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725" b="0">
                <a:solidFill>
                  <a:srgbClr val="D7E7EE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725" b="0">
                <a:solidFill>
                  <a:srgbClr val="D7E7EE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725" b="0">
                <a:solidFill>
                  <a:srgbClr val="D7E7EE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725" b="0">
                <a:solidFill>
                  <a:srgbClr val="D7E7EE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725" b="0">
                <a:solidFill>
                  <a:srgbClr val="D7E7EE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lnSpc>
                <a:spcPct val="118000"/>
              </a:lnSpc>
              <a:buNone/>
              <a:defRPr sz="1725" b="0">
                <a:solidFill>
                  <a:srgbClr val="D7E7E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D7E7EE"/>
                </a:solidFill>
                <a:latin typeface="Microsoft YaHei"/>
                <a:ea typeface="Microsoft YaHei"/>
                <a:cs typeface="Microsoft YaHei"/>
              </a:rPr>
              <a:t>缺少可量化的结构标准，</a:t>
            </a:r>
          </a:p>
          <a:p xmlns:a="http://schemas.openxmlformats.org/drawingml/2006/main">
            <a:pPr algn="l">
              <a:lnSpc>
                <a:spcPct val="118000"/>
              </a:lnSpc>
              <a:buNone/>
              <a:defRPr sz="1725" b="0">
                <a:solidFill>
                  <a:srgbClr val="D7E7E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D7E7EE"/>
                </a:solidFill>
                <a:latin typeface="Microsoft YaHei"/>
                <a:ea typeface="Microsoft YaHei"/>
                <a:cs typeface="Microsoft YaHei"/>
              </a:rPr>
              <a:t>“写得好不好”依赖感觉，</a:t>
            </a:r>
          </a:p>
          <a:p xmlns:a="http://schemas.openxmlformats.org/drawingml/2006/main">
            <a:pPr algn="l">
              <a:lnSpc>
                <a:spcPct val="118000"/>
              </a:lnSpc>
              <a:buNone/>
              <a:defRPr sz="1725" b="0">
                <a:solidFill>
                  <a:srgbClr val="D7E7E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D7E7EE"/>
                </a:solidFill>
                <a:latin typeface="Microsoft YaHei"/>
                <a:ea typeface="Microsoft YaHei"/>
                <a:cs typeface="Microsoft YaHei"/>
              </a:rPr>
              <a:t>练习者难以独立判断。</a:t>
            </a:r>
          </a:p>
        </p:txBody>
      </p:sp>
      <p:sp>
        <p:nvSpPr>
          <p:cNvPr id="9" name="text">
            <a:extLst xmlns:a="http://schemas.openxmlformats.org/drawingml/2006/main">
              <a:ext uri="{FF2B5EF4-FFF2-40B4-BE49-F238E27FC236}">
                <a16:creationId xmlns:a16="http://schemas.microsoft.com/office/drawing/2014/main" id="{C0F47FE5-11F9-4E65-948B-17B7D2C68E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2857500"/>
            <a:ext cx="3333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325" b="1">
                <a:solidFill>
                  <a:srgbClr val="BDE3B1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325" b="1">
                <a:solidFill>
                  <a:srgbClr val="BDE3B1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325" b="1">
                <a:solidFill>
                  <a:srgbClr val="BDE3B1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325" b="1">
                <a:solidFill>
                  <a:srgbClr val="BDE3B1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325" b="1">
                <a:solidFill>
                  <a:srgbClr val="BDE3B1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325" b="1">
                <a:solidFill>
                  <a:srgbClr val="BDE3B1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325" b="1">
                <a:solidFill>
                  <a:srgbClr val="BDE3B1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325" b="1">
                <a:solidFill>
                  <a:srgbClr val="BDE3B1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325" b="1">
                <a:solidFill>
                  <a:srgbClr val="BDE3B1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325" b="1">
                <a:solidFill>
                  <a:srgbClr val="BDE3B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lnSpc>
                <a:spcPct val="118000"/>
              </a:lnSpc>
              <a:buNone/>
              <a:defRPr sz="2325" b="1">
                <a:solidFill>
                  <a:srgbClr val="BDE3B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BDE3B1"/>
                </a:solidFill>
                <a:latin typeface="Microsoft YaHei"/>
                <a:ea typeface="Microsoft YaHei"/>
                <a:cs typeface="Microsoft YaHei"/>
              </a:rPr>
              <a:t>练习静态</a:t>
            </a:r>
          </a:p>
        </p:txBody>
      </p:sp>
      <p:sp>
        <p:nvSpPr>
          <p:cNvPr id="10" name="text">
            <a:extLst xmlns:a="http://schemas.openxmlformats.org/drawingml/2006/main">
              <a:ext uri="{FF2B5EF4-FFF2-40B4-BE49-F238E27FC236}">
                <a16:creationId xmlns:a16="http://schemas.microsoft.com/office/drawing/2014/main" id="{A1FEF922-CE4A-487B-80D1-DD515A8287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3314700"/>
            <a:ext cx="3333750" cy="1200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D7E7EE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725" b="0">
                <a:solidFill>
                  <a:srgbClr val="D7E7EE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725" b="0">
                <a:solidFill>
                  <a:srgbClr val="D7E7EE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725" b="0">
                <a:solidFill>
                  <a:srgbClr val="D7E7EE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725" b="0">
                <a:solidFill>
                  <a:srgbClr val="D7E7EE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725" b="0">
                <a:solidFill>
                  <a:srgbClr val="D7E7EE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725" b="0">
                <a:solidFill>
                  <a:srgbClr val="D7E7EE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725" b="0">
                <a:solidFill>
                  <a:srgbClr val="D7E7EE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725" b="0">
                <a:solidFill>
                  <a:srgbClr val="D7E7EE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725" b="0">
                <a:solidFill>
                  <a:srgbClr val="D7E7EE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lnSpc>
                <a:spcPct val="118000"/>
              </a:lnSpc>
              <a:buNone/>
              <a:defRPr sz="1725" b="0">
                <a:solidFill>
                  <a:srgbClr val="D7E7E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D7E7EE"/>
                </a:solidFill>
                <a:latin typeface="Microsoft YaHei"/>
                <a:ea typeface="Microsoft YaHei"/>
                <a:cs typeface="Microsoft YaHei"/>
              </a:rPr>
              <a:t>字帖只能临摹对照，</a:t>
            </a:r>
          </a:p>
          <a:p xmlns:a="http://schemas.openxmlformats.org/drawingml/2006/main">
            <a:pPr algn="l">
              <a:lnSpc>
                <a:spcPct val="118000"/>
              </a:lnSpc>
              <a:buNone/>
              <a:defRPr sz="1725" b="0">
                <a:solidFill>
                  <a:srgbClr val="D7E7E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D7E7EE"/>
                </a:solidFill>
                <a:latin typeface="Microsoft YaHei"/>
                <a:ea typeface="Microsoft YaHei"/>
                <a:cs typeface="Microsoft YaHei"/>
              </a:rPr>
              <a:t>缺少针对个人问题的修改路径，</a:t>
            </a:r>
          </a:p>
          <a:p xmlns:a="http://schemas.openxmlformats.org/drawingml/2006/main">
            <a:pPr algn="l">
              <a:lnSpc>
                <a:spcPct val="118000"/>
              </a:lnSpc>
              <a:buNone/>
              <a:defRPr sz="1725" b="0">
                <a:solidFill>
                  <a:srgbClr val="D7E7E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D7E7EE"/>
                </a:solidFill>
                <a:latin typeface="Microsoft YaHei"/>
                <a:ea typeface="Microsoft YaHei"/>
                <a:cs typeface="Microsoft YaHei"/>
              </a:rPr>
              <a:t>练习效率低、容易放弃。</a:t>
            </a:r>
          </a:p>
        </p:txBody>
      </p:sp>
      <p:sp>
        <p:nvSpPr>
          <p:cNvPr id="11" name="text">
            <a:extLst xmlns:a="http://schemas.openxmlformats.org/drawingml/2006/main">
              <a:ext uri="{FF2B5EF4-FFF2-40B4-BE49-F238E27FC236}">
                <a16:creationId xmlns:a16="http://schemas.microsoft.com/office/drawing/2014/main" id="{6D8961BA-F7ED-46CD-9E15-B09B0633BD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076825"/>
            <a:ext cx="109728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00" b="1">
                <a:solidFill>
                  <a:srgbClr val="BDE3B1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800" b="1">
                <a:solidFill>
                  <a:srgbClr val="BDE3B1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800" b="1">
                <a:solidFill>
                  <a:srgbClr val="BDE3B1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800" b="1">
                <a:solidFill>
                  <a:srgbClr val="BDE3B1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800" b="1">
                <a:solidFill>
                  <a:srgbClr val="BDE3B1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800" b="1">
                <a:solidFill>
                  <a:srgbClr val="BDE3B1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800" b="1">
                <a:solidFill>
                  <a:srgbClr val="BDE3B1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800" b="1">
                <a:solidFill>
                  <a:srgbClr val="BDE3B1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800" b="1">
                <a:solidFill>
                  <a:srgbClr val="BDE3B1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800" b="1">
                <a:solidFill>
                  <a:srgbClr val="BDE3B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lnSpc>
                <a:spcPct val="118000"/>
              </a:lnSpc>
              <a:buNone/>
              <a:defRPr sz="1800" b="1">
                <a:solidFill>
                  <a:srgbClr val="BDE3B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BDE3B1"/>
                </a:solidFill>
                <a:latin typeface="Microsoft YaHei"/>
                <a:ea typeface="Microsoft YaHei"/>
                <a:cs typeface="Microsoft YaHei"/>
              </a:rPr>
              <a:t>视觉模型带来的练习反馈</a:t>
            </a:r>
          </a:p>
        </p:txBody>
      </p:sp>
      <p:sp>
        <p:nvSpPr>
          <p:cNvPr id="12" name="text">
            <a:extLst xmlns:a="http://schemas.openxmlformats.org/drawingml/2006/main">
              <a:ext uri="{FF2B5EF4-FFF2-40B4-BE49-F238E27FC236}">
                <a16:creationId xmlns:a16="http://schemas.microsoft.com/office/drawing/2014/main" id="{2402631E-6ECC-4F53-9C3C-A2ABB32991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81650"/>
            <a:ext cx="109728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5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5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5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5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5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5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5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5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5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5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lnSpc>
                <a:spcPct val="118000"/>
              </a:lnSpc>
              <a:buNone/>
              <a:defRPr sz="25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即时结构评分，公开量化标准，给出局部修改路径</a:t>
            </a:r>
          </a:p>
        </p:txBody>
      </p:sp>
    </p:spTree>
    <p:extLst>
      <p:ext uri="{BB962C8B-B14F-4D97-AF65-F5344CB8AC3E}">
        <p14:creationId xmlns:p14="http://schemas.microsoft.com/office/powerpoint/2010/main" val="592803260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DFEEE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graphicFrame>
        <p:nvGraphicFramePr>
          <p:cNvPr id="6" name="iter-table">
            <a:extLst xmlns:a="http://schemas.openxmlformats.org/drawingml/2006/main">
              <a:ext uri="{FF2B5EF4-FFF2-40B4-BE49-F238E27FC236}">
                <a16:creationId xmlns:a16="http://schemas.microsoft.com/office/drawing/2014/main" id="{D38FEAF0-F813-43F6-B34F-52348FCB73A8}"/>
              </a:ext>
            </a:extLst>
          </p:cNvPr>
          <p:cNvGraphicFramePr/>
          <p:nvPr/>
        </p:nvGraphicFramePr>
        <p:xfrm>
          <a:off xmlns:a="http://schemas.openxmlformats.org/drawingml/2006/main" x="609600" y="1362075"/>
          <a:ext xmlns:a="http://schemas.openxmlformats.org/drawingml/2006/main" cx="10972800" cy="4686300"/>
        </p:xfrm>
        <a:graphic xmlns:a="http://schemas.openxmlformats.org/drawingml/2006/main">
          <a:graphicData uri="http://schemas.openxmlformats.org/drawingml/2006/table">
            <a:tbl>
              <a:tblPr firstRow="0" firstCol="0" lastCol="0" bandRow="0"/>
              <a:tblGrid>
                <a:gridCol w="3429000"/>
                <a:gridCol w="4210050"/>
                <a:gridCol w="3333750"/>
              </a:tblGrid>
              <a:tr h="495300">
                <a:tc>
                  <a:txBody>
                    <a:bodyPr wrap="square" lIns="114300" tIns="114300" rIns="114300" bIns="114300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buNone/>
                      </a:pPr>
                      <a:r>
                        <a:rPr sz="15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以往局限</a:t>
                      </a:r>
                      <a:endParaRPr sz="1100" b="1">
                        <a:solidFill>
                          <a:srgbClr val="FFFFFF"/>
                        </a:solidFill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91440" marR="91440" marT="45720" marB="45720" anchor="ctr">
                    <a:lnL w="6668">
                      <a:solidFill>
                        <a:srgbClr val="A7C1C7"/>
                      </a:solidFill>
                      <a:prstDash val="solid"/>
                    </a:lnL>
                    <a:lnR w="6668">
                      <a:solidFill>
                        <a:srgbClr val="A7C1C7"/>
                      </a:solidFill>
                      <a:prstDash val="solid"/>
                    </a:lnR>
                    <a:lnT w="6668">
                      <a:solidFill>
                        <a:srgbClr val="A7C1C7"/>
                      </a:solidFill>
                      <a:prstDash val="solid"/>
                    </a:lnT>
                    <a:lnB w="6668">
                      <a:solidFill>
                        <a:srgbClr val="A7C1C7"/>
                      </a:solidFill>
                      <a:prstDash val="solid"/>
                    </a:lnB>
                    <a:solidFill>
                      <a:srgbClr val="143E5A"/>
                    </a:solidFill>
                  </a:tcPr>
                </a:tc>
                <a:tc>
                  <a:txBody>
                    <a:bodyPr wrap="square" lIns="114300" tIns="114300" rIns="114300" bIns="114300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buNone/>
                      </a:pPr>
                      <a:r>
                        <a:rPr sz="15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今年的解决方案</a:t>
                      </a:r>
                      <a:endParaRPr sz="1100" b="1">
                        <a:solidFill>
                          <a:srgbClr val="FFFFFF"/>
                        </a:solidFill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91440" marR="91440" marT="45720" marB="45720" anchor="ctr">
                    <a:lnL>
                      <a:noFill/>
                    </a:lnL>
                    <a:lnR w="6668">
                      <a:solidFill>
                        <a:srgbClr val="A7C1C7"/>
                      </a:solidFill>
                      <a:prstDash val="solid"/>
                    </a:lnR>
                    <a:lnT w="6668">
                      <a:solidFill>
                        <a:srgbClr val="A7C1C7"/>
                      </a:solidFill>
                      <a:prstDash val="solid"/>
                    </a:lnT>
                    <a:lnB w="6668">
                      <a:solidFill>
                        <a:srgbClr val="A7C1C7"/>
                      </a:solidFill>
                      <a:prstDash val="solid"/>
                    </a:lnB>
                    <a:solidFill>
                      <a:srgbClr val="143E5A"/>
                    </a:solidFill>
                  </a:tcPr>
                </a:tc>
                <a:tc>
                  <a:txBody>
                    <a:bodyPr wrap="square" lIns="114300" tIns="114300" rIns="114300" bIns="114300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buNone/>
                      </a:pPr>
                      <a:r>
                        <a:rPr sz="15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验证证据</a:t>
                      </a:r>
                      <a:endParaRPr sz="1100" b="1">
                        <a:solidFill>
                          <a:srgbClr val="FFFFFF"/>
                        </a:solidFill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91440" marR="91440" marT="45720" marB="45720" anchor="ctr">
                    <a:lnL>
                      <a:noFill/>
                    </a:lnL>
                    <a:lnR w="6668">
                      <a:solidFill>
                        <a:srgbClr val="A7C1C7"/>
                      </a:solidFill>
                      <a:prstDash val="solid"/>
                    </a:lnR>
                    <a:lnT w="6668">
                      <a:solidFill>
                        <a:srgbClr val="A7C1C7"/>
                      </a:solidFill>
                      <a:prstDash val="solid"/>
                    </a:lnT>
                    <a:lnB w="6668">
                      <a:solidFill>
                        <a:srgbClr val="A7C1C7"/>
                      </a:solidFill>
                      <a:prstDash val="solid"/>
                    </a:lnB>
                    <a:solidFill>
                      <a:srgbClr val="143E5A"/>
                    </a:solidFill>
                  </a:tcPr>
                </a:tc>
              </a:tr>
              <a:tr h="1047750">
                <a:tc>
                  <a:txBody>
                    <a:bodyPr wrap="square" lIns="114300" tIns="114300" rIns="114300" bIns="114300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buNone/>
                      </a:pPr>
                      <a:r>
                        <a:rPr sz="1575" b="0">
                          <a:solidFill>
                            <a:srgbClr val="16394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评估口径自定</a:t>
                      </a:r>
                      <a:endParaRPr sz="1100" b="1">
                        <a:solidFill>
                          <a:srgbClr val="14213D"/>
                        </a:solidFill>
                        <a:latin typeface="Times New Roman"/>
                        <a:ea typeface="Times New Roman"/>
                        <a:cs typeface="Times New Roman"/>
                      </a:endParaRPr>
                    </a:p>
                    <a:p>
                      <a:pPr algn="l">
                        <a:lnSpc>
                          <a:spcPct val="110000"/>
                        </a:lnSpc>
                        <a:buNone/>
                      </a:pPr>
                      <a:r>
                        <a:rPr sz="1575" b="0">
                          <a:solidFill>
                            <a:srgbClr val="16394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U-Net 自定义准确率约 85.2%，</a:t>
                      </a:r>
                      <a:endParaRPr sz="1100" b="1">
                        <a:solidFill>
                          <a:srgbClr val="14213D"/>
                        </a:solidFill>
                        <a:latin typeface="Times New Roman"/>
                        <a:ea typeface="Times New Roman"/>
                        <a:cs typeface="Times New Roman"/>
                      </a:endParaRPr>
                    </a:p>
                    <a:p>
                      <a:pPr algn="l">
                        <a:lnSpc>
                          <a:spcPct val="110000"/>
                        </a:lnSpc>
                        <a:buNone/>
                      </a:pPr>
                      <a:r>
                        <a:rPr sz="1575" b="0">
                          <a:solidFill>
                            <a:srgbClr val="16394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难以横向比较</a:t>
                      </a:r>
                      <a:endParaRPr sz="1100" b="1">
                        <a:solidFill>
                          <a:srgbClr val="14213D"/>
                        </a:solidFill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91440" marR="91440" marT="45720" marB="45720" anchor="ctr">
                    <a:lnL w="6668">
                      <a:solidFill>
                        <a:srgbClr val="A7C1C7"/>
                      </a:solidFill>
                      <a:prstDash val="solid"/>
                    </a:lnL>
                    <a:lnR w="6668">
                      <a:solidFill>
                        <a:srgbClr val="A7C1C7"/>
                      </a:solidFill>
                      <a:prstDash val="solid"/>
                    </a:lnR>
                    <a:lnT>
                      <a:noFill/>
                    </a:lnT>
                    <a:lnB w="6668">
                      <a:solidFill>
                        <a:srgbClr val="A7C1C7"/>
                      </a:solidFill>
                      <a:prstDash val="solid"/>
                    </a:lnB>
                    <a:solidFill>
                      <a:srgbClr val="EDF5F0"/>
                    </a:solidFill>
                  </a:tcPr>
                </a:tc>
                <a:tc>
                  <a:txBody>
                    <a:bodyPr wrap="square" lIns="114300" tIns="114300" rIns="114300" bIns="114300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buNone/>
                      </a:pPr>
                      <a:r>
                        <a:rPr sz="1575" b="0">
                          <a:solidFill>
                            <a:srgbClr val="16394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统一六通道 schema</a:t>
                      </a:r>
                      <a:endParaRPr sz="1100" b="1">
                        <a:solidFill>
                          <a:srgbClr val="14213D"/>
                        </a:solidFill>
                        <a:latin typeface="Times New Roman"/>
                        <a:ea typeface="Times New Roman"/>
                        <a:cs typeface="Times New Roman"/>
                      </a:endParaRPr>
                    </a:p>
                    <a:p>
                      <a:pPr algn="l">
                        <a:lnSpc>
                          <a:spcPct val="110000"/>
                        </a:lnSpc>
                        <a:buNone/>
                      </a:pPr>
                      <a:r>
                        <a:rPr sz="1575" b="0">
                          <a:solidFill>
                            <a:srgbClr val="16394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采用 Dice、IoU、关键点 F1、</a:t>
                      </a:r>
                      <a:endParaRPr sz="1100" b="1">
                        <a:solidFill>
                          <a:srgbClr val="14213D"/>
                        </a:solidFill>
                        <a:latin typeface="Times New Roman"/>
                        <a:ea typeface="Times New Roman"/>
                        <a:cs typeface="Times New Roman"/>
                      </a:endParaRPr>
                    </a:p>
                    <a:p>
                      <a:pPr algn="l">
                        <a:lnSpc>
                          <a:spcPct val="110000"/>
                        </a:lnSpc>
                        <a:buNone/>
                      </a:pPr>
                      <a:r>
                        <a:rPr sz="1575" b="0">
                          <a:solidFill>
                            <a:srgbClr val="16394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边界 F1 标准指标</a:t>
                      </a:r>
                      <a:endParaRPr sz="1100" b="1">
                        <a:solidFill>
                          <a:srgbClr val="14213D"/>
                        </a:solidFill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91440" marR="91440" marT="45720" marB="45720" anchor="ctr">
                    <a:lnL>
                      <a:noFill/>
                    </a:lnL>
                    <a:lnR w="6668">
                      <a:solidFill>
                        <a:srgbClr val="A7C1C7"/>
                      </a:solidFill>
                      <a:prstDash val="solid"/>
                    </a:lnR>
                    <a:lnT>
                      <a:noFill/>
                    </a:lnT>
                    <a:lnB w="6668">
                      <a:solidFill>
                        <a:srgbClr val="A7C1C7"/>
                      </a:solidFill>
                      <a:prstDash val="solid"/>
                    </a:lnB>
                    <a:solidFill>
                      <a:srgbClr val="EDF5F0"/>
                    </a:solidFill>
                  </a:tcPr>
                </a:tc>
                <a:tc>
                  <a:txBody>
                    <a:bodyPr wrap="square" lIns="114300" tIns="114300" rIns="114300" bIns="114300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buNone/>
                      </a:pPr>
                      <a:r>
                        <a:rPr sz="1575" b="0">
                          <a:solidFill>
                            <a:srgbClr val="16394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U-Net 可信基线 0.891</a:t>
                      </a:r>
                      <a:endParaRPr sz="1100" b="1">
                        <a:solidFill>
                          <a:srgbClr val="14213D"/>
                        </a:solidFill>
                        <a:latin typeface="Times New Roman"/>
                        <a:ea typeface="Times New Roman"/>
                        <a:cs typeface="Times New Roman"/>
                      </a:endParaRPr>
                    </a:p>
                    <a:p>
                      <a:pPr algn="l">
                        <a:lnSpc>
                          <a:spcPct val="110000"/>
                        </a:lnSpc>
                        <a:buNone/>
                      </a:pPr>
                      <a:r>
                        <a:rPr sz="1575" b="0">
                          <a:solidFill>
                            <a:srgbClr val="16394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B2 标准划分</a:t>
                      </a:r>
                      <a:endParaRPr sz="1100" b="1">
                        <a:solidFill>
                          <a:srgbClr val="14213D"/>
                        </a:solidFill>
                        <a:latin typeface="Times New Roman"/>
                        <a:ea typeface="Times New Roman"/>
                        <a:cs typeface="Times New Roman"/>
                      </a:endParaRPr>
                    </a:p>
                    <a:p>
                      <a:pPr algn="l">
                        <a:lnSpc>
                          <a:spcPct val="110000"/>
                        </a:lnSpc>
                        <a:buNone/>
                      </a:pPr>
                      <a:r>
                        <a:rPr sz="1575" b="0">
                          <a:solidFill>
                            <a:srgbClr val="16394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Macro Dice 0.958</a:t>
                      </a:r>
                      <a:endParaRPr sz="1100" b="1">
                        <a:solidFill>
                          <a:srgbClr val="14213D"/>
                        </a:solidFill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91440" marR="91440" marT="45720" marB="45720" anchor="ctr">
                    <a:lnL>
                      <a:noFill/>
                    </a:lnL>
                    <a:lnR w="6668">
                      <a:solidFill>
                        <a:srgbClr val="A7C1C7"/>
                      </a:solidFill>
                      <a:prstDash val="solid"/>
                    </a:lnR>
                    <a:lnT>
                      <a:noFill/>
                    </a:lnT>
                    <a:lnB w="6668">
                      <a:solidFill>
                        <a:srgbClr val="A7C1C7"/>
                      </a:solidFill>
                      <a:prstDash val="solid"/>
                    </a:lnB>
                    <a:solidFill>
                      <a:srgbClr val="EDF5F0"/>
                    </a:solidFill>
                  </a:tcPr>
                </a:tc>
              </a:tr>
              <a:tr h="1047750">
                <a:tc>
                  <a:txBody>
                    <a:bodyPr wrap="square" lIns="114300" tIns="114300" rIns="114300" bIns="114300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buNone/>
                      </a:pPr>
                      <a:r>
                        <a:rPr sz="1575" b="0">
                          <a:solidFill>
                            <a:srgbClr val="16394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数据治理缺失</a:t>
                      </a:r>
                      <a:endParaRPr sz="1100" b="1">
                        <a:solidFill>
                          <a:srgbClr val="14213D"/>
                        </a:solidFill>
                        <a:latin typeface="Times New Roman"/>
                        <a:ea typeface="Times New Roman"/>
                        <a:cs typeface="Times New Roman"/>
                      </a:endParaRPr>
                    </a:p>
                    <a:p>
                      <a:pPr algn="l">
                        <a:lnSpc>
                          <a:spcPct val="110000"/>
                        </a:lnSpc>
                        <a:buNone/>
                      </a:pPr>
                      <a:r>
                        <a:rPr sz="1575" b="0">
                          <a:solidFill>
                            <a:srgbClr val="16394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标注遗失，划分混入</a:t>
                      </a:r>
                      <a:endParaRPr sz="1100" b="1">
                        <a:solidFill>
                          <a:srgbClr val="14213D"/>
                        </a:solidFill>
                        <a:latin typeface="Times New Roman"/>
                        <a:ea typeface="Times New Roman"/>
                        <a:cs typeface="Times New Roman"/>
                      </a:endParaRPr>
                    </a:p>
                    <a:p>
                      <a:pPr algn="l">
                        <a:lnSpc>
                          <a:spcPct val="110000"/>
                        </a:lnSpc>
                        <a:buNone/>
                      </a:pPr>
                      <a:r>
                        <a:rPr sz="1575" b="0">
                          <a:solidFill>
                            <a:srgbClr val="16394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错配与重复样本</a:t>
                      </a:r>
                      <a:endParaRPr sz="1100" b="1">
                        <a:solidFill>
                          <a:srgbClr val="14213D"/>
                        </a:solidFill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91440" marR="91440" marT="45720" marB="45720" anchor="ctr">
                    <a:lnL w="6668">
                      <a:solidFill>
                        <a:srgbClr val="A7C1C7"/>
                      </a:solidFill>
                      <a:prstDash val="solid"/>
                    </a:lnL>
                    <a:lnR w="6668">
                      <a:solidFill>
                        <a:srgbClr val="A7C1C7"/>
                      </a:solidFill>
                      <a:prstDash val="solid"/>
                    </a:lnR>
                    <a:lnT>
                      <a:noFill/>
                    </a:lnT>
                    <a:lnB w="6668">
                      <a:solidFill>
                        <a:srgbClr val="A7C1C7"/>
                      </a:solidFill>
                      <a:prstDash val="solid"/>
                    </a:lnB>
                    <a:solidFill>
                      <a:srgbClr val="DFEEE5"/>
                    </a:solidFill>
                  </a:tcPr>
                </a:tc>
                <a:tc>
                  <a:txBody>
                    <a:bodyPr wrap="square" lIns="114300" tIns="114300" rIns="114300" bIns="114300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buNone/>
                      </a:pPr>
                      <a:r>
                        <a:rPr sz="1575" b="0">
                          <a:solidFill>
                            <a:srgbClr val="16394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840 份原始 GT 全量找回校验</a:t>
                      </a:r>
                      <a:endParaRPr sz="1100" b="1">
                        <a:solidFill>
                          <a:srgbClr val="14213D"/>
                        </a:solidFill>
                        <a:latin typeface="Times New Roman"/>
                        <a:ea typeface="Times New Roman"/>
                        <a:cs typeface="Times New Roman"/>
                      </a:endParaRPr>
                    </a:p>
                    <a:p>
                      <a:pPr algn="l">
                        <a:lnSpc>
                          <a:spcPct val="110000"/>
                        </a:lnSpc>
                        <a:buNone/>
                      </a:pPr>
                      <a:r>
                        <a:rPr sz="1575" b="0">
                          <a:solidFill>
                            <a:srgbClr val="16394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语义 QC 剔除 12 个错配</a:t>
                      </a:r>
                      <a:endParaRPr sz="1100" b="1">
                        <a:solidFill>
                          <a:srgbClr val="14213D"/>
                        </a:solidFill>
                        <a:latin typeface="Times New Roman"/>
                        <a:ea typeface="Times New Roman"/>
                        <a:cs typeface="Times New Roman"/>
                      </a:endParaRPr>
                    </a:p>
                    <a:p>
                      <a:pPr algn="l">
                        <a:lnSpc>
                          <a:spcPct val="110000"/>
                        </a:lnSpc>
                        <a:buNone/>
                      </a:pPr>
                      <a:r>
                        <a:rPr sz="1575" b="0">
                          <a:solidFill>
                            <a:srgbClr val="16394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与 59 个重复</a:t>
                      </a:r>
                      <a:endParaRPr sz="1100" b="1">
                        <a:solidFill>
                          <a:srgbClr val="14213D"/>
                        </a:solidFill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91440" marR="91440" marT="45720" marB="45720" anchor="ctr">
                    <a:lnL>
                      <a:noFill/>
                    </a:lnL>
                    <a:lnR w="6668">
                      <a:solidFill>
                        <a:srgbClr val="A7C1C7"/>
                      </a:solidFill>
                      <a:prstDash val="solid"/>
                    </a:lnR>
                    <a:lnT>
                      <a:noFill/>
                    </a:lnT>
                    <a:lnB w="6668">
                      <a:solidFill>
                        <a:srgbClr val="A7C1C7"/>
                      </a:solidFill>
                      <a:prstDash val="solid"/>
                    </a:lnB>
                    <a:solidFill>
                      <a:srgbClr val="DFEEE5"/>
                    </a:solidFill>
                  </a:tcPr>
                </a:tc>
                <a:tc>
                  <a:txBody>
                    <a:bodyPr wrap="square" lIns="114300" tIns="114300" rIns="114300" bIns="114300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buNone/>
                      </a:pPr>
                      <a:r>
                        <a:rPr sz="1575" b="0">
                          <a:solidFill>
                            <a:srgbClr val="16394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769 个洁净独立样本</a:t>
                      </a:r>
                      <a:endParaRPr sz="1100" b="1">
                        <a:solidFill>
                          <a:srgbClr val="14213D"/>
                        </a:solidFill>
                        <a:latin typeface="Times New Roman"/>
                        <a:ea typeface="Times New Roman"/>
                        <a:cs typeface="Times New Roman"/>
                      </a:endParaRPr>
                    </a:p>
                    <a:p>
                      <a:pPr algn="l">
                        <a:lnSpc>
                          <a:spcPct val="110000"/>
                        </a:lnSpc>
                        <a:buNone/>
                      </a:pPr>
                      <a:r>
                        <a:rPr sz="1575" b="0">
                          <a:solidFill>
                            <a:srgbClr val="16394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划分冻结，SHA-256 留档</a:t>
                      </a:r>
                      <a:endParaRPr sz="1100" b="1">
                        <a:solidFill>
                          <a:srgbClr val="14213D"/>
                        </a:solidFill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91440" marR="91440" marT="45720" marB="45720" anchor="ctr">
                    <a:lnL>
                      <a:noFill/>
                    </a:lnL>
                    <a:lnR w="6668">
                      <a:solidFill>
                        <a:srgbClr val="A7C1C7"/>
                      </a:solidFill>
                      <a:prstDash val="solid"/>
                    </a:lnR>
                    <a:lnT>
                      <a:noFill/>
                    </a:lnT>
                    <a:lnB w="6668">
                      <a:solidFill>
                        <a:srgbClr val="A7C1C7"/>
                      </a:solidFill>
                      <a:prstDash val="solid"/>
                    </a:lnB>
                    <a:solidFill>
                      <a:srgbClr val="DFEEE5"/>
                    </a:solidFill>
                  </a:tcPr>
                </a:tc>
              </a:tr>
              <a:tr h="1047750">
                <a:tc>
                  <a:txBody>
                    <a:bodyPr wrap="square" lIns="114300" tIns="114300" rIns="114300" bIns="114300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buNone/>
                      </a:pPr>
                      <a:r>
                        <a:rPr sz="1575" b="0">
                          <a:solidFill>
                            <a:srgbClr val="16394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泛化能力未知</a:t>
                      </a:r>
                      <a:endParaRPr sz="1100" b="1">
                        <a:solidFill>
                          <a:srgbClr val="14213D"/>
                        </a:solidFill>
                        <a:latin typeface="Times New Roman"/>
                        <a:ea typeface="Times New Roman"/>
                        <a:cs typeface="Times New Roman"/>
                      </a:endParaRPr>
                    </a:p>
                    <a:p>
                      <a:pPr algn="l">
                        <a:lnSpc>
                          <a:spcPct val="110000"/>
                        </a:lnSpc>
                        <a:buNone/>
                      </a:pPr>
                      <a:r>
                        <a:rPr sz="1575" b="0">
                          <a:solidFill>
                            <a:srgbClr val="16394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训练与测试出现同字，</a:t>
                      </a:r>
                      <a:endParaRPr sz="1100" b="1">
                        <a:solidFill>
                          <a:srgbClr val="14213D"/>
                        </a:solidFill>
                        <a:latin typeface="Times New Roman"/>
                        <a:ea typeface="Times New Roman"/>
                        <a:cs typeface="Times New Roman"/>
                      </a:endParaRPr>
                    </a:p>
                    <a:p>
                      <a:pPr algn="l">
                        <a:lnSpc>
                          <a:spcPct val="110000"/>
                        </a:lnSpc>
                        <a:buNone/>
                      </a:pPr>
                      <a:r>
                        <a:rPr sz="1575" b="0">
                          <a:solidFill>
                            <a:srgbClr val="16394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难以判断新字表现</a:t>
                      </a:r>
                      <a:endParaRPr sz="1100" b="1">
                        <a:solidFill>
                          <a:srgbClr val="14213D"/>
                        </a:solidFill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91440" marR="91440" marT="45720" marB="45720" anchor="ctr">
                    <a:lnL w="6668">
                      <a:solidFill>
                        <a:srgbClr val="A7C1C7"/>
                      </a:solidFill>
                      <a:prstDash val="solid"/>
                    </a:lnL>
                    <a:lnR w="6668">
                      <a:solidFill>
                        <a:srgbClr val="A7C1C7"/>
                      </a:solidFill>
                      <a:prstDash val="solid"/>
                    </a:lnR>
                    <a:lnT>
                      <a:noFill/>
                    </a:lnT>
                    <a:lnB w="6668">
                      <a:solidFill>
                        <a:srgbClr val="A7C1C7"/>
                      </a:solidFill>
                      <a:prstDash val="solid"/>
                    </a:lnB>
                    <a:solidFill>
                      <a:srgbClr val="EDF5F0"/>
                    </a:solidFill>
                  </a:tcPr>
                </a:tc>
                <a:tc>
                  <a:txBody>
                    <a:bodyPr wrap="square" lIns="114300" tIns="114300" rIns="114300" bIns="114300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buNone/>
                      </a:pPr>
                      <a:r>
                        <a:rPr sz="1575" b="0">
                          <a:solidFill>
                            <a:srgbClr val="16394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character-disjoint 字符隔离划分</a:t>
                      </a:r>
                      <a:endParaRPr sz="1100" b="1">
                        <a:solidFill>
                          <a:srgbClr val="14213D"/>
                        </a:solidFill>
                        <a:latin typeface="Times New Roman"/>
                        <a:ea typeface="Times New Roman"/>
                        <a:cs typeface="Times New Roman"/>
                      </a:endParaRPr>
                    </a:p>
                    <a:p>
                      <a:pPr algn="l">
                        <a:lnSpc>
                          <a:spcPct val="110000"/>
                        </a:lnSpc>
                        <a:buNone/>
                      </a:pPr>
                      <a:r>
                        <a:rPr sz="1575" b="0">
                          <a:solidFill>
                            <a:srgbClr val="16394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三模型公平比较</a:t>
                      </a:r>
                      <a:endParaRPr sz="1100" b="1">
                        <a:solidFill>
                          <a:srgbClr val="14213D"/>
                        </a:solidFill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91440" marR="91440" marT="45720" marB="45720" anchor="ctr">
                    <a:lnL>
                      <a:noFill/>
                    </a:lnL>
                    <a:lnR w="6668">
                      <a:solidFill>
                        <a:srgbClr val="A7C1C7"/>
                      </a:solidFill>
                      <a:prstDash val="solid"/>
                    </a:lnR>
                    <a:lnT>
                      <a:noFill/>
                    </a:lnT>
                    <a:lnB w="6668">
                      <a:solidFill>
                        <a:srgbClr val="A7C1C7"/>
                      </a:solidFill>
                      <a:prstDash val="solid"/>
                    </a:lnB>
                    <a:solidFill>
                      <a:srgbClr val="EDF5F0"/>
                    </a:solidFill>
                  </a:tcPr>
                </a:tc>
                <a:tc>
                  <a:txBody>
                    <a:bodyPr wrap="square" lIns="114300" tIns="114300" rIns="114300" bIns="114300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buNone/>
                      </a:pPr>
                      <a:r>
                        <a:rPr sz="1575" b="0">
                          <a:solidFill>
                            <a:srgbClr val="16394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未见字 Dice 0.887</a:t>
                      </a:r>
                      <a:endParaRPr sz="1100" b="1">
                        <a:solidFill>
                          <a:srgbClr val="14213D"/>
                        </a:solidFill>
                        <a:latin typeface="Times New Roman"/>
                        <a:ea typeface="Times New Roman"/>
                        <a:cs typeface="Times New Roman"/>
                      </a:endParaRPr>
                    </a:p>
                    <a:p>
                      <a:pPr algn="l">
                        <a:lnSpc>
                          <a:spcPct val="110000"/>
                        </a:lnSpc>
                        <a:buNone/>
                      </a:pPr>
                      <a:r>
                        <a:rPr sz="1575" b="0">
                          <a:solidFill>
                            <a:srgbClr val="16394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三模型中下降最小：7.2 pp</a:t>
                      </a:r>
                      <a:endParaRPr sz="1100" b="1">
                        <a:solidFill>
                          <a:srgbClr val="14213D"/>
                        </a:solidFill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91440" marR="91440" marT="45720" marB="45720" anchor="ctr">
                    <a:lnL>
                      <a:noFill/>
                    </a:lnL>
                    <a:lnR w="6668">
                      <a:solidFill>
                        <a:srgbClr val="A7C1C7"/>
                      </a:solidFill>
                      <a:prstDash val="solid"/>
                    </a:lnR>
                    <a:lnT>
                      <a:noFill/>
                    </a:lnT>
                    <a:lnB w="6668">
                      <a:solidFill>
                        <a:srgbClr val="A7C1C7"/>
                      </a:solidFill>
                      <a:prstDash val="solid"/>
                    </a:lnB>
                    <a:solidFill>
                      <a:srgbClr val="EDF5F0"/>
                    </a:solidFill>
                  </a:tcPr>
                </a:tc>
              </a:tr>
              <a:tr h="1047750">
                <a:tc>
                  <a:txBody>
                    <a:bodyPr wrap="square" lIns="114300" tIns="114300" rIns="114300" bIns="114300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buNone/>
                      </a:pPr>
                      <a:r>
                        <a:rPr sz="1575" b="0">
                          <a:solidFill>
                            <a:srgbClr val="16394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评分不透明</a:t>
                      </a:r>
                      <a:endParaRPr sz="1100" b="1">
                        <a:solidFill>
                          <a:srgbClr val="14213D"/>
                        </a:solidFill>
                        <a:latin typeface="Times New Roman"/>
                        <a:ea typeface="Times New Roman"/>
                        <a:cs typeface="Times New Roman"/>
                      </a:endParaRPr>
                    </a:p>
                    <a:p>
                      <a:pPr algn="l">
                        <a:lnSpc>
                          <a:spcPct val="110000"/>
                        </a:lnSpc>
                        <a:buNone/>
                      </a:pPr>
                      <a:r>
                        <a:rPr sz="1575" b="0">
                          <a:solidFill>
                            <a:srgbClr val="16394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整体点评打分，</a:t>
                      </a:r>
                      <a:endParaRPr sz="1100" b="1">
                        <a:solidFill>
                          <a:srgbClr val="14213D"/>
                        </a:solidFill>
                        <a:latin typeface="Times New Roman"/>
                        <a:ea typeface="Times New Roman"/>
                        <a:cs typeface="Times New Roman"/>
                      </a:endParaRPr>
                    </a:p>
                    <a:p>
                      <a:pPr algn="l">
                        <a:lnSpc>
                          <a:spcPct val="110000"/>
                        </a:lnSpc>
                        <a:buNone/>
                      </a:pPr>
                      <a:r>
                        <a:rPr sz="1575" b="0">
                          <a:solidFill>
                            <a:srgbClr val="16394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难向用户解释依据</a:t>
                      </a:r>
                      <a:endParaRPr sz="1100" b="1">
                        <a:solidFill>
                          <a:srgbClr val="14213D"/>
                        </a:solidFill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91440" marR="91440" marT="45720" marB="45720" anchor="ctr">
                    <a:lnL w="6668">
                      <a:solidFill>
                        <a:srgbClr val="A7C1C7"/>
                      </a:solidFill>
                      <a:prstDash val="solid"/>
                    </a:lnL>
                    <a:lnR w="6668">
                      <a:solidFill>
                        <a:srgbClr val="A7C1C7"/>
                      </a:solidFill>
                      <a:prstDash val="solid"/>
                    </a:lnR>
                    <a:lnT>
                      <a:noFill/>
                    </a:lnT>
                    <a:lnB w="6668">
                      <a:solidFill>
                        <a:srgbClr val="A7C1C7"/>
                      </a:solidFill>
                      <a:prstDash val="solid"/>
                    </a:lnB>
                    <a:solidFill>
                      <a:srgbClr val="DFEEE5"/>
                    </a:solidFill>
                  </a:tcPr>
                </a:tc>
                <a:tc>
                  <a:txBody>
                    <a:bodyPr wrap="square" lIns="114300" tIns="114300" rIns="114300" bIns="114300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buNone/>
                      </a:pPr>
                      <a:r>
                        <a:rPr sz="1575" b="0">
                          <a:solidFill>
                            <a:srgbClr val="16394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受限对齐与公开评分公式</a:t>
                      </a:r>
                      <a:endParaRPr sz="1100" b="1">
                        <a:solidFill>
                          <a:srgbClr val="14213D"/>
                        </a:solidFill>
                        <a:latin typeface="Times New Roman"/>
                        <a:ea typeface="Times New Roman"/>
                        <a:cs typeface="Times New Roman"/>
                      </a:endParaRPr>
                    </a:p>
                    <a:p>
                      <a:pPr algn="l">
                        <a:lnSpc>
                          <a:spcPct val="110000"/>
                        </a:lnSpc>
                        <a:buNone/>
                      </a:pPr>
                      <a:r>
                        <a:rPr sz="1575" b="0">
                          <a:solidFill>
                            <a:srgbClr val="16394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修改建议逐条对应证据</a:t>
                      </a:r>
                      <a:endParaRPr sz="1100" b="1">
                        <a:solidFill>
                          <a:srgbClr val="14213D"/>
                        </a:solidFill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91440" marR="91440" marT="45720" marB="45720" anchor="ctr">
                    <a:lnL>
                      <a:noFill/>
                    </a:lnL>
                    <a:lnR w="6668">
                      <a:solidFill>
                        <a:srgbClr val="A7C1C7"/>
                      </a:solidFill>
                      <a:prstDash val="solid"/>
                    </a:lnR>
                    <a:lnT>
                      <a:noFill/>
                    </a:lnT>
                    <a:lnB w="6668">
                      <a:solidFill>
                        <a:srgbClr val="A7C1C7"/>
                      </a:solidFill>
                      <a:prstDash val="solid"/>
                    </a:lnB>
                    <a:solidFill>
                      <a:srgbClr val="DFEEE5"/>
                    </a:solidFill>
                  </a:tcPr>
                </a:tc>
                <a:tc>
                  <a:txBody>
                    <a:bodyPr wrap="square" lIns="114300" tIns="114300" rIns="114300" bIns="114300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buNone/>
                      </a:pPr>
                      <a:r>
                        <a:rPr sz="1575" b="0">
                          <a:solidFill>
                            <a:srgbClr val="16394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受控扰动、对齐消融</a:t>
                      </a:r>
                      <a:endParaRPr sz="1100" b="1">
                        <a:solidFill>
                          <a:srgbClr val="14213D"/>
                        </a:solidFill>
                        <a:latin typeface="Times New Roman"/>
                        <a:ea typeface="Times New Roman"/>
                        <a:cs typeface="Times New Roman"/>
                      </a:endParaRPr>
                    </a:p>
                    <a:p>
                      <a:pPr algn="l">
                        <a:lnSpc>
                          <a:spcPct val="110000"/>
                        </a:lnSpc>
                        <a:buNone/>
                      </a:pPr>
                      <a:r>
                        <a:rPr sz="1575" b="0">
                          <a:solidFill>
                            <a:srgbClr val="16394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人工盲评三重验证</a:t>
                      </a:r>
                      <a:endParaRPr sz="1100" b="1">
                        <a:solidFill>
                          <a:srgbClr val="14213D"/>
                        </a:solidFill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91440" marR="91440" marT="45720" marB="45720" anchor="ctr">
                    <a:lnL>
                      <a:noFill/>
                    </a:lnL>
                    <a:lnR w="6668">
                      <a:solidFill>
                        <a:srgbClr val="A7C1C7"/>
                      </a:solidFill>
                      <a:prstDash val="solid"/>
                    </a:lnR>
                    <a:lnT>
                      <a:noFill/>
                    </a:lnT>
                    <a:lnB w="6668">
                      <a:solidFill>
                        <a:srgbClr val="A7C1C7"/>
                      </a:solidFill>
                      <a:prstDash val="solid"/>
                    </a:lnB>
                    <a:solidFill>
                      <a:srgbClr val="DFEEE5"/>
                    </a:solidFill>
                  </a:tcPr>
                </a:tc>
              </a:tr>
            </a:tbl>
          </a:graphicData>
        </a:graphic>
      </p:graphicFrame>
      <p:sp>
        <p:nvSpPr>
          <p:cNvPr id="7" name="slide-title">
            <a:extLst xmlns:a="http://schemas.openxmlformats.org/drawingml/2006/main">
              <a:ext uri="{FF2B5EF4-FFF2-40B4-BE49-F238E27FC236}">
                <a16:creationId xmlns:a16="http://schemas.microsoft.com/office/drawing/2014/main" id="{1A4179FF-7BCB-4ED9-92E4-55582843C5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97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000" b="1">
                <a:solidFill>
                  <a:srgbClr val="16394B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3000" b="1">
                <a:solidFill>
                  <a:srgbClr val="16394B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3000" b="1">
                <a:solidFill>
                  <a:srgbClr val="16394B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3000" b="1">
                <a:solidFill>
                  <a:srgbClr val="16394B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3000" b="1">
                <a:solidFill>
                  <a:srgbClr val="16394B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3000" b="1">
                <a:solidFill>
                  <a:srgbClr val="16394B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3000" b="1">
                <a:solidFill>
                  <a:srgbClr val="16394B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3000" b="1">
                <a:solidFill>
                  <a:srgbClr val="16394B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3000" b="1">
                <a:solidFill>
                  <a:srgbClr val="16394B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3000" b="1">
                <a:solidFill>
                  <a:srgbClr val="16394B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lnSpc>
                <a:spcPct val="118000"/>
              </a:lnSpc>
              <a:buNone/>
              <a:defRPr sz="3000" b="1">
                <a:solidFill>
                  <a:srgbClr val="16394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000" b="1">
                <a:solidFill>
                  <a:srgbClr val="16394B"/>
                </a:solidFill>
                <a:latin typeface="Microsoft YaHei"/>
                <a:ea typeface="Microsoft YaHei"/>
                <a:cs typeface="Microsoft YaHei"/>
              </a:rPr>
              <a:t>迭代逻辑：以往局限与今年的解决方案</a:t>
            </a:r>
          </a:p>
        </p:txBody>
      </p:sp>
      <p:sp>
        <p:nvSpPr>
          <p:cNvPr id="8" name="footer">
            <a:extLst xmlns:a="http://schemas.openxmlformats.org/drawingml/2006/main">
              <a:ext uri="{FF2B5EF4-FFF2-40B4-BE49-F238E27FC236}">
                <a16:creationId xmlns:a16="http://schemas.microsoft.com/office/drawing/2014/main" id="{ED5BD716-BD2F-495A-B524-2A8963DB67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05575"/>
            <a:ext cx="6667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125" b="0">
                <a:solidFill>
                  <a:srgbClr val="66818E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125" b="0">
                <a:solidFill>
                  <a:srgbClr val="66818E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125" b="0">
                <a:solidFill>
                  <a:srgbClr val="66818E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125" b="0">
                <a:solidFill>
                  <a:srgbClr val="66818E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125" b="0">
                <a:solidFill>
                  <a:srgbClr val="66818E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125" b="0">
                <a:solidFill>
                  <a:srgbClr val="66818E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125" b="0">
                <a:solidFill>
                  <a:srgbClr val="66818E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125" b="0">
                <a:solidFill>
                  <a:srgbClr val="66818E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125" b="0">
                <a:solidFill>
                  <a:srgbClr val="66818E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125" b="0">
                <a:solidFill>
                  <a:srgbClr val="66818E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lnSpc>
                <a:spcPct val="118000"/>
              </a:lnSpc>
              <a:buNone/>
              <a:defRPr sz="1125" b="0">
                <a:solidFill>
                  <a:srgbClr val="66818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66818E"/>
                </a:solidFill>
                <a:latin typeface="Microsoft YaHei"/>
                <a:ea typeface="Microsoft YaHei"/>
                <a:cs typeface="Microsoft YaHei"/>
              </a:rPr>
              <a:t>一笔成章  /  中期汇报</a:t>
            </a:r>
          </a:p>
        </p:txBody>
      </p:sp>
      <p:sp>
        <p:nvSpPr>
          <p:cNvPr id="9" name="page-number">
            <a:extLst xmlns:a="http://schemas.openxmlformats.org/drawingml/2006/main">
              <a:ext uri="{FF2B5EF4-FFF2-40B4-BE49-F238E27FC236}">
                <a16:creationId xmlns:a16="http://schemas.microsoft.com/office/drawing/2014/main" id="{75BEFF15-0FBE-4260-B2DB-85732C4CB1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6486525"/>
            <a:ext cx="8191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200" b="0">
                <a:solidFill>
                  <a:srgbClr val="66818E"/>
                </a:solidFill>
                <a:latin typeface="Microsoft YaHei"/>
                <a:ea typeface="Microsoft YaHei"/>
                <a:cs typeface="Microsoft YaHei"/>
              </a:defRPr>
            </a:defPPr>
            <a:lvl1pPr algn="r">
              <a:defRPr sz="1200" b="0">
                <a:solidFill>
                  <a:srgbClr val="66818E"/>
                </a:solidFill>
                <a:latin typeface="Microsoft YaHei"/>
                <a:ea typeface="Microsoft YaHei"/>
                <a:cs typeface="Microsoft YaHei"/>
              </a:defRPr>
            </a:lvl1pPr>
            <a:lvl2pPr algn="r">
              <a:defRPr sz="1200" b="0">
                <a:solidFill>
                  <a:srgbClr val="66818E"/>
                </a:solidFill>
                <a:latin typeface="Microsoft YaHei"/>
                <a:ea typeface="Microsoft YaHei"/>
                <a:cs typeface="Microsoft YaHei"/>
              </a:defRPr>
            </a:lvl2pPr>
            <a:lvl3pPr algn="r">
              <a:defRPr sz="1200" b="0">
                <a:solidFill>
                  <a:srgbClr val="66818E"/>
                </a:solidFill>
                <a:latin typeface="Microsoft YaHei"/>
                <a:ea typeface="Microsoft YaHei"/>
                <a:cs typeface="Microsoft YaHei"/>
              </a:defRPr>
            </a:lvl3pPr>
            <a:lvl4pPr algn="r">
              <a:defRPr sz="1200" b="0">
                <a:solidFill>
                  <a:srgbClr val="66818E"/>
                </a:solidFill>
                <a:latin typeface="Microsoft YaHei"/>
                <a:ea typeface="Microsoft YaHei"/>
                <a:cs typeface="Microsoft YaHei"/>
              </a:defRPr>
            </a:lvl4pPr>
            <a:lvl5pPr algn="r">
              <a:defRPr sz="1200" b="0">
                <a:solidFill>
                  <a:srgbClr val="66818E"/>
                </a:solidFill>
                <a:latin typeface="Microsoft YaHei"/>
                <a:ea typeface="Microsoft YaHei"/>
                <a:cs typeface="Microsoft YaHei"/>
              </a:defRPr>
            </a:lvl5pPr>
            <a:lvl6pPr algn="r">
              <a:defRPr sz="1200" b="0">
                <a:solidFill>
                  <a:srgbClr val="66818E"/>
                </a:solidFill>
                <a:latin typeface="Microsoft YaHei"/>
                <a:ea typeface="Microsoft YaHei"/>
                <a:cs typeface="Microsoft YaHei"/>
              </a:defRPr>
            </a:lvl6pPr>
            <a:lvl7pPr algn="r">
              <a:defRPr sz="1200" b="0">
                <a:solidFill>
                  <a:srgbClr val="66818E"/>
                </a:solidFill>
                <a:latin typeface="Microsoft YaHei"/>
                <a:ea typeface="Microsoft YaHei"/>
                <a:cs typeface="Microsoft YaHei"/>
              </a:defRPr>
            </a:lvl7pPr>
            <a:lvl8pPr algn="r">
              <a:defRPr sz="1200" b="0">
                <a:solidFill>
                  <a:srgbClr val="66818E"/>
                </a:solidFill>
                <a:latin typeface="Microsoft YaHei"/>
                <a:ea typeface="Microsoft YaHei"/>
                <a:cs typeface="Microsoft YaHei"/>
              </a:defRPr>
            </a:lvl8pPr>
            <a:lvl9pPr algn="r">
              <a:defRPr sz="1200" b="0">
                <a:solidFill>
                  <a:srgbClr val="66818E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r">
              <a:lnSpc>
                <a:spcPct val="118000"/>
              </a:lnSpc>
              <a:buNone/>
              <a:defRPr sz="1200" b="0">
                <a:solidFill>
                  <a:srgbClr val="66818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66818E"/>
                </a:solidFill>
                <a:latin typeface="Microsoft YaHei"/>
                <a:ea typeface="Microsoft YaHei"/>
                <a:cs typeface="Microsoft YaHei"/>
              </a:rPr>
              <a:t>05 / 13</a:t>
            </a:r>
          </a:p>
        </p:txBody>
      </p:sp>
      <p:sp>
        <p:nvSpPr>
          <p:cNvPr id="10" name="text">
            <a:extLst xmlns:a="http://schemas.openxmlformats.org/drawingml/2006/main">
              <a:ext uri="{FF2B5EF4-FFF2-40B4-BE49-F238E27FC236}">
                <a16:creationId xmlns:a16="http://schemas.microsoft.com/office/drawing/2014/main" id="{37C93BB0-F673-468B-856C-4AD66CC15C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57900"/>
            <a:ext cx="109728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00" b="1">
                <a:solidFill>
                  <a:srgbClr val="087C78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800" b="1">
                <a:solidFill>
                  <a:srgbClr val="087C78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800" b="1">
                <a:solidFill>
                  <a:srgbClr val="087C78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800" b="1">
                <a:solidFill>
                  <a:srgbClr val="087C78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800" b="1">
                <a:solidFill>
                  <a:srgbClr val="087C78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800" b="1">
                <a:solidFill>
                  <a:srgbClr val="087C78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800" b="1">
                <a:solidFill>
                  <a:srgbClr val="087C78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800" b="1">
                <a:solidFill>
                  <a:srgbClr val="087C78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800" b="1">
                <a:solidFill>
                  <a:srgbClr val="087C78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800" b="1">
                <a:solidFill>
                  <a:srgbClr val="087C7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lnSpc>
                <a:spcPct val="118000"/>
              </a:lnSpc>
              <a:buNone/>
              <a:defRPr sz="1800" b="1">
                <a:solidFill>
                  <a:srgbClr val="087C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087C78"/>
                </a:solidFill>
                <a:latin typeface="Microsoft YaHei"/>
                <a:ea typeface="Microsoft YaHei"/>
                <a:cs typeface="Microsoft YaHei"/>
              </a:rPr>
              <a:t>沿用既有采集链路与标签逻辑，持续完善数据资产和评估体系</a:t>
            </a:r>
          </a:p>
        </p:txBody>
      </p:sp>
    </p:spTree>
    <p:extLst>
      <p:ext uri="{BB962C8B-B14F-4D97-AF65-F5344CB8AC3E}">
        <p14:creationId xmlns:p14="http://schemas.microsoft.com/office/powerpoint/2010/main" val="1495447616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143E5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4" name="slide-title">
            <a:extLst xmlns:a="http://schemas.openxmlformats.org/drawingml/2006/main">
              <a:ext uri="{FF2B5EF4-FFF2-40B4-BE49-F238E27FC236}">
                <a16:creationId xmlns:a16="http://schemas.microsoft.com/office/drawing/2014/main" id="{6EFF1B97-40EF-4D59-9652-DEF975F094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97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0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30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30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30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30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30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30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30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30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30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lnSpc>
                <a:spcPct val="118000"/>
              </a:lnSpc>
              <a:buNone/>
              <a:defRPr sz="30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0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中期总览：主链路已经打通</a:t>
            </a:r>
          </a:p>
        </p:txBody>
      </p:sp>
      <p:sp>
        <p:nvSpPr>
          <p:cNvPr id="2" name="footer">
            <a:extLst xmlns:a="http://schemas.openxmlformats.org/drawingml/2006/main">
              <a:ext uri="{FF2B5EF4-FFF2-40B4-BE49-F238E27FC236}">
                <a16:creationId xmlns:a16="http://schemas.microsoft.com/office/drawing/2014/main" id="{C9558151-2486-4FCC-8661-440753EA6A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05575"/>
            <a:ext cx="6667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125" b="0">
                <a:solidFill>
                  <a:srgbClr val="9EBFCB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125" b="0">
                <a:solidFill>
                  <a:srgbClr val="9EBFCB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125" b="0">
                <a:solidFill>
                  <a:srgbClr val="9EBFCB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125" b="0">
                <a:solidFill>
                  <a:srgbClr val="9EBFCB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125" b="0">
                <a:solidFill>
                  <a:srgbClr val="9EBFCB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125" b="0">
                <a:solidFill>
                  <a:srgbClr val="9EBFCB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125" b="0">
                <a:solidFill>
                  <a:srgbClr val="9EBFCB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125" b="0">
                <a:solidFill>
                  <a:srgbClr val="9EBFCB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125" b="0">
                <a:solidFill>
                  <a:srgbClr val="9EBFCB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125" b="0">
                <a:solidFill>
                  <a:srgbClr val="9EBFCB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lnSpc>
                <a:spcPct val="118000"/>
              </a:lnSpc>
              <a:buNone/>
              <a:defRPr sz="1125" b="0">
                <a:solidFill>
                  <a:srgbClr val="9EBFC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9EBFCB"/>
                </a:solidFill>
                <a:latin typeface="Microsoft YaHei"/>
                <a:ea typeface="Microsoft YaHei"/>
                <a:cs typeface="Microsoft YaHei"/>
              </a:rPr>
              <a:t>一笔成章  /  中期汇报</a:t>
            </a:r>
          </a:p>
        </p:txBody>
      </p:sp>
      <p:sp>
        <p:nvSpPr>
          <p:cNvPr id="3" name="page-number">
            <a:extLst xmlns:a="http://schemas.openxmlformats.org/drawingml/2006/main">
              <a:ext uri="{FF2B5EF4-FFF2-40B4-BE49-F238E27FC236}">
                <a16:creationId xmlns:a16="http://schemas.microsoft.com/office/drawing/2014/main" id="{D1BDA638-EFB6-4010-A336-E80E6FDD18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6486525"/>
            <a:ext cx="8191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200" b="0">
                <a:solidFill>
                  <a:srgbClr val="9EBFCB"/>
                </a:solidFill>
                <a:latin typeface="Microsoft YaHei"/>
                <a:ea typeface="Microsoft YaHei"/>
                <a:cs typeface="Microsoft YaHei"/>
              </a:defRPr>
            </a:defPPr>
            <a:lvl1pPr algn="r">
              <a:defRPr sz="1200" b="0">
                <a:solidFill>
                  <a:srgbClr val="9EBFCB"/>
                </a:solidFill>
                <a:latin typeface="Microsoft YaHei"/>
                <a:ea typeface="Microsoft YaHei"/>
                <a:cs typeface="Microsoft YaHei"/>
              </a:defRPr>
            </a:lvl1pPr>
            <a:lvl2pPr algn="r">
              <a:defRPr sz="1200" b="0">
                <a:solidFill>
                  <a:srgbClr val="9EBFCB"/>
                </a:solidFill>
                <a:latin typeface="Microsoft YaHei"/>
                <a:ea typeface="Microsoft YaHei"/>
                <a:cs typeface="Microsoft YaHei"/>
              </a:defRPr>
            </a:lvl2pPr>
            <a:lvl3pPr algn="r">
              <a:defRPr sz="1200" b="0">
                <a:solidFill>
                  <a:srgbClr val="9EBFCB"/>
                </a:solidFill>
                <a:latin typeface="Microsoft YaHei"/>
                <a:ea typeface="Microsoft YaHei"/>
                <a:cs typeface="Microsoft YaHei"/>
              </a:defRPr>
            </a:lvl3pPr>
            <a:lvl4pPr algn="r">
              <a:defRPr sz="1200" b="0">
                <a:solidFill>
                  <a:srgbClr val="9EBFCB"/>
                </a:solidFill>
                <a:latin typeface="Microsoft YaHei"/>
                <a:ea typeface="Microsoft YaHei"/>
                <a:cs typeface="Microsoft YaHei"/>
              </a:defRPr>
            </a:lvl4pPr>
            <a:lvl5pPr algn="r">
              <a:defRPr sz="1200" b="0">
                <a:solidFill>
                  <a:srgbClr val="9EBFCB"/>
                </a:solidFill>
                <a:latin typeface="Microsoft YaHei"/>
                <a:ea typeface="Microsoft YaHei"/>
                <a:cs typeface="Microsoft YaHei"/>
              </a:defRPr>
            </a:lvl5pPr>
            <a:lvl6pPr algn="r">
              <a:defRPr sz="1200" b="0">
                <a:solidFill>
                  <a:srgbClr val="9EBFCB"/>
                </a:solidFill>
                <a:latin typeface="Microsoft YaHei"/>
                <a:ea typeface="Microsoft YaHei"/>
                <a:cs typeface="Microsoft YaHei"/>
              </a:defRPr>
            </a:lvl6pPr>
            <a:lvl7pPr algn="r">
              <a:defRPr sz="1200" b="0">
                <a:solidFill>
                  <a:srgbClr val="9EBFCB"/>
                </a:solidFill>
                <a:latin typeface="Microsoft YaHei"/>
                <a:ea typeface="Microsoft YaHei"/>
                <a:cs typeface="Microsoft YaHei"/>
              </a:defRPr>
            </a:lvl7pPr>
            <a:lvl8pPr algn="r">
              <a:defRPr sz="1200" b="0">
                <a:solidFill>
                  <a:srgbClr val="9EBFCB"/>
                </a:solidFill>
                <a:latin typeface="Microsoft YaHei"/>
                <a:ea typeface="Microsoft YaHei"/>
                <a:cs typeface="Microsoft YaHei"/>
              </a:defRPr>
            </a:lvl8pPr>
            <a:lvl9pPr algn="r">
              <a:defRPr sz="1200" b="0">
                <a:solidFill>
                  <a:srgbClr val="9EBFCB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r">
              <a:lnSpc>
                <a:spcPct val="118000"/>
              </a:lnSpc>
              <a:buNone/>
              <a:defRPr sz="1200" b="0">
                <a:solidFill>
                  <a:srgbClr val="9EBFC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9EBFCB"/>
                </a:solidFill>
                <a:latin typeface="Microsoft YaHei"/>
                <a:ea typeface="Microsoft YaHei"/>
                <a:cs typeface="Microsoft YaHei"/>
              </a:rPr>
              <a:t>06 / 13</a:t>
            </a:r>
          </a:p>
        </p:txBody>
      </p:sp>
      <p:sp>
        <p:nvSpPr>
          <p:cNvPr id="4" name="text">
            <a:extLst xmlns:a="http://schemas.openxmlformats.org/drawingml/2006/main">
              <a:ext uri="{FF2B5EF4-FFF2-40B4-BE49-F238E27FC236}">
                <a16:creationId xmlns:a16="http://schemas.microsoft.com/office/drawing/2014/main" id="{8F4F5461-18D6-4F40-A4CE-08A067E5E5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71575"/>
            <a:ext cx="109728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D7E7EE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875" b="0">
                <a:solidFill>
                  <a:srgbClr val="D7E7EE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875" b="0">
                <a:solidFill>
                  <a:srgbClr val="D7E7EE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875" b="0">
                <a:solidFill>
                  <a:srgbClr val="D7E7EE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875" b="0">
                <a:solidFill>
                  <a:srgbClr val="D7E7EE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875" b="0">
                <a:solidFill>
                  <a:srgbClr val="D7E7EE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875" b="0">
                <a:solidFill>
                  <a:srgbClr val="D7E7EE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875" b="0">
                <a:solidFill>
                  <a:srgbClr val="D7E7EE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875" b="0">
                <a:solidFill>
                  <a:srgbClr val="D7E7EE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875" b="0">
                <a:solidFill>
                  <a:srgbClr val="D7E7EE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lnSpc>
                <a:spcPct val="118000"/>
              </a:lnSpc>
              <a:buNone/>
              <a:defRPr sz="1875" b="0">
                <a:solidFill>
                  <a:srgbClr val="D7E7E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D7E7EE"/>
                </a:solidFill>
                <a:latin typeface="Microsoft YaHei"/>
                <a:ea typeface="Microsoft YaHei"/>
                <a:cs typeface="Microsoft YaHei"/>
              </a:rPr>
              <a:t>六个环节均已完成，论文与真实场景验证进入收尾阶段</a:t>
            </a:r>
          </a:p>
        </p:txBody>
      </p:sp>
      <p:sp>
        <p:nvSpPr>
          <p:cNvPr id="5" name="text">
            <a:extLst xmlns:a="http://schemas.openxmlformats.org/drawingml/2006/main">
              <a:ext uri="{FF2B5EF4-FFF2-40B4-BE49-F238E27FC236}">
                <a16:creationId xmlns:a16="http://schemas.microsoft.com/office/drawing/2014/main" id="{E61F685D-4275-4097-9D58-54F81000D2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71675"/>
            <a:ext cx="1666875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625" b="1">
                <a:solidFill>
                  <a:srgbClr val="BDE3B1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625" b="1">
                <a:solidFill>
                  <a:srgbClr val="BDE3B1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625" b="1">
                <a:solidFill>
                  <a:srgbClr val="BDE3B1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625" b="1">
                <a:solidFill>
                  <a:srgbClr val="BDE3B1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625" b="1">
                <a:solidFill>
                  <a:srgbClr val="BDE3B1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625" b="1">
                <a:solidFill>
                  <a:srgbClr val="BDE3B1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625" b="1">
                <a:solidFill>
                  <a:srgbClr val="BDE3B1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625" b="1">
                <a:solidFill>
                  <a:srgbClr val="BDE3B1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625" b="1">
                <a:solidFill>
                  <a:srgbClr val="BDE3B1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625" b="1">
                <a:solidFill>
                  <a:srgbClr val="BDE3B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lnSpc>
                <a:spcPct val="118000"/>
              </a:lnSpc>
              <a:buNone/>
              <a:defRPr sz="2625" b="1">
                <a:solidFill>
                  <a:srgbClr val="BDE3B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625" b="1">
                <a:solidFill>
                  <a:srgbClr val="BDE3B1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  <p:sp>
        <p:nvSpPr>
          <p:cNvPr id="6" name="text">
            <a:extLst xmlns:a="http://schemas.openxmlformats.org/drawingml/2006/main">
              <a:ext uri="{FF2B5EF4-FFF2-40B4-BE49-F238E27FC236}">
                <a16:creationId xmlns:a16="http://schemas.microsoft.com/office/drawing/2014/main" id="{A1F02EF0-C134-482B-9558-52ABBC3EF7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562225"/>
            <a:ext cx="168592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9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9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9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9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9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9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9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9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9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9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lnSpc>
                <a:spcPct val="118000"/>
              </a:lnSpc>
              <a:buNone/>
              <a:defRPr sz="19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数据恢复</a:t>
            </a:r>
          </a:p>
        </p:txBody>
      </p:sp>
      <p:sp>
        <p:nvSpPr>
          <p:cNvPr id="7" name="text">
            <a:extLst xmlns:a="http://schemas.openxmlformats.org/drawingml/2006/main">
              <a:ext uri="{FF2B5EF4-FFF2-40B4-BE49-F238E27FC236}">
                <a16:creationId xmlns:a16="http://schemas.microsoft.com/office/drawing/2014/main" id="{6F165742-02F9-4051-ADF0-174AB16FB4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57525"/>
            <a:ext cx="1685925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00" b="0">
                <a:solidFill>
                  <a:srgbClr val="D7E7EE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500" b="0">
                <a:solidFill>
                  <a:srgbClr val="D7E7EE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500" b="0">
                <a:solidFill>
                  <a:srgbClr val="D7E7EE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500" b="0">
                <a:solidFill>
                  <a:srgbClr val="D7E7EE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500" b="0">
                <a:solidFill>
                  <a:srgbClr val="D7E7EE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500" b="0">
                <a:solidFill>
                  <a:srgbClr val="D7E7EE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500" b="0">
                <a:solidFill>
                  <a:srgbClr val="D7E7EE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500" b="0">
                <a:solidFill>
                  <a:srgbClr val="D7E7EE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500" b="0">
                <a:solidFill>
                  <a:srgbClr val="D7E7EE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500" b="0">
                <a:solidFill>
                  <a:srgbClr val="D7E7EE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lnSpc>
                <a:spcPct val="118000"/>
              </a:lnSpc>
              <a:buNone/>
              <a:defRPr sz="1500" b="0">
                <a:solidFill>
                  <a:srgbClr val="D7E7E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D7E7EE"/>
                </a:solidFill>
                <a:latin typeface="Microsoft YaHei"/>
                <a:ea typeface="Microsoft YaHei"/>
                <a:cs typeface="Microsoft YaHei"/>
              </a:rPr>
              <a:t>840 份 GT 校验</a:t>
            </a:r>
          </a:p>
          <a:p xmlns:a="http://schemas.openxmlformats.org/drawingml/2006/main">
            <a:pPr algn="l">
              <a:lnSpc>
                <a:spcPct val="118000"/>
              </a:lnSpc>
              <a:buNone/>
              <a:defRPr sz="1500" b="0">
                <a:solidFill>
                  <a:srgbClr val="D7E7E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D7E7EE"/>
                </a:solidFill>
                <a:latin typeface="Microsoft YaHei"/>
                <a:ea typeface="Microsoft YaHei"/>
                <a:cs typeface="Microsoft YaHei"/>
              </a:rPr>
              <a:t>语义 QC 清洗</a:t>
            </a:r>
          </a:p>
        </p:txBody>
      </p:sp>
      <p:sp>
        <p:nvSpPr>
          <p:cNvPr id="8" name="text">
            <a:extLst xmlns:a="http://schemas.openxmlformats.org/drawingml/2006/main">
              <a:ext uri="{FF2B5EF4-FFF2-40B4-BE49-F238E27FC236}">
                <a16:creationId xmlns:a16="http://schemas.microsoft.com/office/drawing/2014/main" id="{6B393271-11AE-4B2C-8F7E-27E74A7869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57450" y="1971675"/>
            <a:ext cx="1666875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625" b="1">
                <a:solidFill>
                  <a:srgbClr val="BDE3B1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625" b="1">
                <a:solidFill>
                  <a:srgbClr val="BDE3B1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625" b="1">
                <a:solidFill>
                  <a:srgbClr val="BDE3B1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625" b="1">
                <a:solidFill>
                  <a:srgbClr val="BDE3B1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625" b="1">
                <a:solidFill>
                  <a:srgbClr val="BDE3B1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625" b="1">
                <a:solidFill>
                  <a:srgbClr val="BDE3B1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625" b="1">
                <a:solidFill>
                  <a:srgbClr val="BDE3B1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625" b="1">
                <a:solidFill>
                  <a:srgbClr val="BDE3B1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625" b="1">
                <a:solidFill>
                  <a:srgbClr val="BDE3B1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625" b="1">
                <a:solidFill>
                  <a:srgbClr val="BDE3B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lnSpc>
                <a:spcPct val="118000"/>
              </a:lnSpc>
              <a:buNone/>
              <a:defRPr sz="2625" b="1">
                <a:solidFill>
                  <a:srgbClr val="BDE3B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625" b="1">
                <a:solidFill>
                  <a:srgbClr val="BDE3B1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9" name="text">
            <a:extLst xmlns:a="http://schemas.openxmlformats.org/drawingml/2006/main">
              <a:ext uri="{FF2B5EF4-FFF2-40B4-BE49-F238E27FC236}">
                <a16:creationId xmlns:a16="http://schemas.microsoft.com/office/drawing/2014/main" id="{CE388341-EEAB-4F60-9350-1DCC47530E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57450" y="2562225"/>
            <a:ext cx="168592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9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9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9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9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9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9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9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9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9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9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lnSpc>
                <a:spcPct val="118000"/>
              </a:lnSpc>
              <a:buNone/>
              <a:defRPr sz="19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可信基线</a:t>
            </a:r>
          </a:p>
        </p:txBody>
      </p:sp>
      <p:sp>
        <p:nvSpPr>
          <p:cNvPr id="10" name="text">
            <a:extLst xmlns:a="http://schemas.openxmlformats.org/drawingml/2006/main">
              <a:ext uri="{FF2B5EF4-FFF2-40B4-BE49-F238E27FC236}">
                <a16:creationId xmlns:a16="http://schemas.microsoft.com/office/drawing/2014/main" id="{24C02797-DEA7-4B91-8532-A317DCAF92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57450" y="3057525"/>
            <a:ext cx="1685925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00" b="0">
                <a:solidFill>
                  <a:srgbClr val="D7E7EE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500" b="0">
                <a:solidFill>
                  <a:srgbClr val="D7E7EE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500" b="0">
                <a:solidFill>
                  <a:srgbClr val="D7E7EE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500" b="0">
                <a:solidFill>
                  <a:srgbClr val="D7E7EE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500" b="0">
                <a:solidFill>
                  <a:srgbClr val="D7E7EE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500" b="0">
                <a:solidFill>
                  <a:srgbClr val="D7E7EE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500" b="0">
                <a:solidFill>
                  <a:srgbClr val="D7E7EE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500" b="0">
                <a:solidFill>
                  <a:srgbClr val="D7E7EE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500" b="0">
                <a:solidFill>
                  <a:srgbClr val="D7E7EE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500" b="0">
                <a:solidFill>
                  <a:srgbClr val="D7E7EE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lnSpc>
                <a:spcPct val="118000"/>
              </a:lnSpc>
              <a:buNone/>
              <a:defRPr sz="1500" b="0">
                <a:solidFill>
                  <a:srgbClr val="D7E7E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D7E7EE"/>
                </a:solidFill>
                <a:latin typeface="Microsoft YaHei"/>
                <a:ea typeface="Microsoft YaHei"/>
                <a:cs typeface="Microsoft YaHei"/>
              </a:rPr>
              <a:t>U-Net 重测</a:t>
            </a:r>
          </a:p>
          <a:p xmlns:a="http://schemas.openxmlformats.org/drawingml/2006/main">
            <a:pPr algn="l">
              <a:lnSpc>
                <a:spcPct val="118000"/>
              </a:lnSpc>
              <a:buNone/>
              <a:defRPr sz="1500" b="0">
                <a:solidFill>
                  <a:srgbClr val="D7E7E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D7E7EE"/>
                </a:solidFill>
                <a:latin typeface="Microsoft YaHei"/>
                <a:ea typeface="Microsoft YaHei"/>
                <a:cs typeface="Microsoft YaHei"/>
              </a:rPr>
              <a:t>统一评测框架</a:t>
            </a:r>
          </a:p>
        </p:txBody>
      </p:sp>
      <p:sp>
        <p:nvSpPr>
          <p:cNvPr id="11" name="text">
            <a:extLst xmlns:a="http://schemas.openxmlformats.org/drawingml/2006/main">
              <a:ext uri="{FF2B5EF4-FFF2-40B4-BE49-F238E27FC236}">
                <a16:creationId xmlns:a16="http://schemas.microsoft.com/office/drawing/2014/main" id="{89A20F3D-DEA8-4CAF-9932-94DE644C37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1971675"/>
            <a:ext cx="1666875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625" b="1">
                <a:solidFill>
                  <a:srgbClr val="BDE3B1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625" b="1">
                <a:solidFill>
                  <a:srgbClr val="BDE3B1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625" b="1">
                <a:solidFill>
                  <a:srgbClr val="BDE3B1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625" b="1">
                <a:solidFill>
                  <a:srgbClr val="BDE3B1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625" b="1">
                <a:solidFill>
                  <a:srgbClr val="BDE3B1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625" b="1">
                <a:solidFill>
                  <a:srgbClr val="BDE3B1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625" b="1">
                <a:solidFill>
                  <a:srgbClr val="BDE3B1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625" b="1">
                <a:solidFill>
                  <a:srgbClr val="BDE3B1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625" b="1">
                <a:solidFill>
                  <a:srgbClr val="BDE3B1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625" b="1">
                <a:solidFill>
                  <a:srgbClr val="BDE3B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lnSpc>
                <a:spcPct val="118000"/>
              </a:lnSpc>
              <a:buNone/>
              <a:defRPr sz="2625" b="1">
                <a:solidFill>
                  <a:srgbClr val="BDE3B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625" b="1">
                <a:solidFill>
                  <a:srgbClr val="BDE3B1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  <p:sp>
        <p:nvSpPr>
          <p:cNvPr id="12" name="text">
            <a:extLst xmlns:a="http://schemas.openxmlformats.org/drawingml/2006/main">
              <a:ext uri="{FF2B5EF4-FFF2-40B4-BE49-F238E27FC236}">
                <a16:creationId xmlns:a16="http://schemas.microsoft.com/office/drawing/2014/main" id="{F2697181-331F-468C-A1F1-91CD7C995B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2562225"/>
            <a:ext cx="168592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9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9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9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9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9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9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9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9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9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9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lnSpc>
                <a:spcPct val="118000"/>
              </a:lnSpc>
              <a:buNone/>
              <a:defRPr sz="19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模型冻结</a:t>
            </a:r>
          </a:p>
        </p:txBody>
      </p:sp>
      <p:sp>
        <p:nvSpPr>
          <p:cNvPr id="13" name="text">
            <a:extLst xmlns:a="http://schemas.openxmlformats.org/drawingml/2006/main">
              <a:ext uri="{FF2B5EF4-FFF2-40B4-BE49-F238E27FC236}">
                <a16:creationId xmlns:a16="http://schemas.microsoft.com/office/drawing/2014/main" id="{A96D848F-7EC4-4918-A9A2-27E4D23255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3057525"/>
            <a:ext cx="1685925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00" b="0">
                <a:solidFill>
                  <a:srgbClr val="D7E7EE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500" b="0">
                <a:solidFill>
                  <a:srgbClr val="D7E7EE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500" b="0">
                <a:solidFill>
                  <a:srgbClr val="D7E7EE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500" b="0">
                <a:solidFill>
                  <a:srgbClr val="D7E7EE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500" b="0">
                <a:solidFill>
                  <a:srgbClr val="D7E7EE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500" b="0">
                <a:solidFill>
                  <a:srgbClr val="D7E7EE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500" b="0">
                <a:solidFill>
                  <a:srgbClr val="D7E7EE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500" b="0">
                <a:solidFill>
                  <a:srgbClr val="D7E7EE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500" b="0">
                <a:solidFill>
                  <a:srgbClr val="D7E7EE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500" b="0">
                <a:solidFill>
                  <a:srgbClr val="D7E7EE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lnSpc>
                <a:spcPct val="118000"/>
              </a:lnSpc>
              <a:buNone/>
              <a:defRPr sz="1500" b="0">
                <a:solidFill>
                  <a:srgbClr val="D7E7E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D7E7EE"/>
                </a:solidFill>
                <a:latin typeface="Microsoft YaHei"/>
                <a:ea typeface="Microsoft YaHei"/>
                <a:cs typeface="Microsoft YaHei"/>
              </a:rPr>
              <a:t>SegFormer-B2</a:t>
            </a:r>
          </a:p>
          <a:p xmlns:a="http://schemas.openxmlformats.org/drawingml/2006/main">
            <a:pPr algn="l">
              <a:lnSpc>
                <a:spcPct val="118000"/>
              </a:lnSpc>
              <a:buNone/>
              <a:defRPr sz="1500" b="0">
                <a:solidFill>
                  <a:srgbClr val="D7E7E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D7E7EE"/>
                </a:solidFill>
                <a:latin typeface="Microsoft YaHei"/>
                <a:ea typeface="Microsoft YaHei"/>
                <a:cs typeface="Microsoft YaHei"/>
              </a:rPr>
              <a:t>阈值、模型卡归档</a:t>
            </a:r>
          </a:p>
        </p:txBody>
      </p:sp>
      <p:sp>
        <p:nvSpPr>
          <p:cNvPr id="14" name="text">
            <a:extLst xmlns:a="http://schemas.openxmlformats.org/drawingml/2006/main">
              <a:ext uri="{FF2B5EF4-FFF2-40B4-BE49-F238E27FC236}">
                <a16:creationId xmlns:a16="http://schemas.microsoft.com/office/drawing/2014/main" id="{5B9CCFE8-46AC-48BE-9401-5AD13D3482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1971675"/>
            <a:ext cx="1666875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625" b="1">
                <a:solidFill>
                  <a:srgbClr val="BDE3B1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625" b="1">
                <a:solidFill>
                  <a:srgbClr val="BDE3B1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625" b="1">
                <a:solidFill>
                  <a:srgbClr val="BDE3B1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625" b="1">
                <a:solidFill>
                  <a:srgbClr val="BDE3B1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625" b="1">
                <a:solidFill>
                  <a:srgbClr val="BDE3B1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625" b="1">
                <a:solidFill>
                  <a:srgbClr val="BDE3B1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625" b="1">
                <a:solidFill>
                  <a:srgbClr val="BDE3B1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625" b="1">
                <a:solidFill>
                  <a:srgbClr val="BDE3B1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625" b="1">
                <a:solidFill>
                  <a:srgbClr val="BDE3B1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625" b="1">
                <a:solidFill>
                  <a:srgbClr val="BDE3B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lnSpc>
                <a:spcPct val="118000"/>
              </a:lnSpc>
              <a:buNone/>
              <a:defRPr sz="2625" b="1">
                <a:solidFill>
                  <a:srgbClr val="BDE3B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625" b="1">
                <a:solidFill>
                  <a:srgbClr val="BDE3B1"/>
                </a:solidFill>
                <a:latin typeface="Microsoft YaHei"/>
                <a:ea typeface="Microsoft YaHei"/>
                <a:cs typeface="Microsoft YaHei"/>
              </a:rPr>
              <a:t>04</a:t>
            </a:r>
          </a:p>
        </p:txBody>
      </p:sp>
      <p:sp>
        <p:nvSpPr>
          <p:cNvPr id="15" name="text">
            <a:extLst xmlns:a="http://schemas.openxmlformats.org/drawingml/2006/main">
              <a:ext uri="{FF2B5EF4-FFF2-40B4-BE49-F238E27FC236}">
                <a16:creationId xmlns:a16="http://schemas.microsoft.com/office/drawing/2014/main" id="{328CE706-8715-40D3-B478-D0F3A51AEC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2562225"/>
            <a:ext cx="168592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9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9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9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9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9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9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9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9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9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9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lnSpc>
                <a:spcPct val="118000"/>
              </a:lnSpc>
              <a:buNone/>
              <a:defRPr sz="19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结构评分</a:t>
            </a:r>
          </a:p>
        </p:txBody>
      </p:sp>
      <p:sp>
        <p:nvSpPr>
          <p:cNvPr id="16" name="text">
            <a:extLst xmlns:a="http://schemas.openxmlformats.org/drawingml/2006/main">
              <a:ext uri="{FF2B5EF4-FFF2-40B4-BE49-F238E27FC236}">
                <a16:creationId xmlns:a16="http://schemas.microsoft.com/office/drawing/2014/main" id="{5E2C1C2B-85CB-4DED-B000-08F4D1D77B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3057525"/>
            <a:ext cx="1685925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00" b="0">
                <a:solidFill>
                  <a:srgbClr val="D7E7EE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500" b="0">
                <a:solidFill>
                  <a:srgbClr val="D7E7EE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500" b="0">
                <a:solidFill>
                  <a:srgbClr val="D7E7EE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500" b="0">
                <a:solidFill>
                  <a:srgbClr val="D7E7EE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500" b="0">
                <a:solidFill>
                  <a:srgbClr val="D7E7EE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500" b="0">
                <a:solidFill>
                  <a:srgbClr val="D7E7EE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500" b="0">
                <a:solidFill>
                  <a:srgbClr val="D7E7EE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500" b="0">
                <a:solidFill>
                  <a:srgbClr val="D7E7EE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500" b="0">
                <a:solidFill>
                  <a:srgbClr val="D7E7EE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500" b="0">
                <a:solidFill>
                  <a:srgbClr val="D7E7EE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lnSpc>
                <a:spcPct val="118000"/>
              </a:lnSpc>
              <a:buNone/>
              <a:defRPr sz="1500" b="0">
                <a:solidFill>
                  <a:srgbClr val="D7E7E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D7E7EE"/>
                </a:solidFill>
                <a:latin typeface="Microsoft YaHei"/>
                <a:ea typeface="Microsoft YaHei"/>
                <a:cs typeface="Microsoft YaHei"/>
              </a:rPr>
              <a:t>受限对齐</a:t>
            </a:r>
          </a:p>
          <a:p xmlns:a="http://schemas.openxmlformats.org/drawingml/2006/main">
            <a:pPr algn="l">
              <a:lnSpc>
                <a:spcPct val="118000"/>
              </a:lnSpc>
              <a:buNone/>
              <a:defRPr sz="1500" b="0">
                <a:solidFill>
                  <a:srgbClr val="D7E7E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D7E7EE"/>
                </a:solidFill>
                <a:latin typeface="Microsoft YaHei"/>
                <a:ea typeface="Microsoft YaHei"/>
                <a:cs typeface="Microsoft YaHei"/>
              </a:rPr>
              <a:t>参考结构匹配度</a:t>
            </a:r>
          </a:p>
        </p:txBody>
      </p:sp>
      <p:sp>
        <p:nvSpPr>
          <p:cNvPr id="17" name="text">
            <a:extLst xmlns:a="http://schemas.openxmlformats.org/drawingml/2006/main">
              <a:ext uri="{FF2B5EF4-FFF2-40B4-BE49-F238E27FC236}">
                <a16:creationId xmlns:a16="http://schemas.microsoft.com/office/drawing/2014/main" id="{1E6B1EDB-6C5D-42CE-8EC4-DCB12E83AB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1971675"/>
            <a:ext cx="1666875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625" b="1">
                <a:solidFill>
                  <a:srgbClr val="BDE3B1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625" b="1">
                <a:solidFill>
                  <a:srgbClr val="BDE3B1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625" b="1">
                <a:solidFill>
                  <a:srgbClr val="BDE3B1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625" b="1">
                <a:solidFill>
                  <a:srgbClr val="BDE3B1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625" b="1">
                <a:solidFill>
                  <a:srgbClr val="BDE3B1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625" b="1">
                <a:solidFill>
                  <a:srgbClr val="BDE3B1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625" b="1">
                <a:solidFill>
                  <a:srgbClr val="BDE3B1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625" b="1">
                <a:solidFill>
                  <a:srgbClr val="BDE3B1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625" b="1">
                <a:solidFill>
                  <a:srgbClr val="BDE3B1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625" b="1">
                <a:solidFill>
                  <a:srgbClr val="BDE3B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lnSpc>
                <a:spcPct val="118000"/>
              </a:lnSpc>
              <a:buNone/>
              <a:defRPr sz="2625" b="1">
                <a:solidFill>
                  <a:srgbClr val="BDE3B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625" b="1">
                <a:solidFill>
                  <a:srgbClr val="BDE3B1"/>
                </a:solidFill>
                <a:latin typeface="Microsoft YaHei"/>
                <a:ea typeface="Microsoft YaHei"/>
                <a:cs typeface="Microsoft YaHei"/>
              </a:rPr>
              <a:t>05</a:t>
            </a:r>
          </a:p>
        </p:txBody>
      </p:sp>
      <p:sp>
        <p:nvSpPr>
          <p:cNvPr id="18" name="text">
            <a:extLst xmlns:a="http://schemas.openxmlformats.org/drawingml/2006/main">
              <a:ext uri="{FF2B5EF4-FFF2-40B4-BE49-F238E27FC236}">
                <a16:creationId xmlns:a16="http://schemas.microsoft.com/office/drawing/2014/main" id="{EB529A29-E0C6-49A1-82E8-49EAA6E173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2562225"/>
            <a:ext cx="168592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9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9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9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9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9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9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9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9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9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9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lnSpc>
                <a:spcPct val="118000"/>
              </a:lnSpc>
              <a:buNone/>
              <a:defRPr sz="19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点评反馈</a:t>
            </a:r>
          </a:p>
        </p:txBody>
      </p:sp>
      <p:sp>
        <p:nvSpPr>
          <p:cNvPr id="19" name="text">
            <a:extLst xmlns:a="http://schemas.openxmlformats.org/drawingml/2006/main">
              <a:ext uri="{FF2B5EF4-FFF2-40B4-BE49-F238E27FC236}">
                <a16:creationId xmlns:a16="http://schemas.microsoft.com/office/drawing/2014/main" id="{CBFE55C4-9303-4232-9255-5965BB5CDC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3057525"/>
            <a:ext cx="1685925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00" b="0">
                <a:solidFill>
                  <a:srgbClr val="D7E7EE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500" b="0">
                <a:solidFill>
                  <a:srgbClr val="D7E7EE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500" b="0">
                <a:solidFill>
                  <a:srgbClr val="D7E7EE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500" b="0">
                <a:solidFill>
                  <a:srgbClr val="D7E7EE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500" b="0">
                <a:solidFill>
                  <a:srgbClr val="D7E7EE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500" b="0">
                <a:solidFill>
                  <a:srgbClr val="D7E7EE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500" b="0">
                <a:solidFill>
                  <a:srgbClr val="D7E7EE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500" b="0">
                <a:solidFill>
                  <a:srgbClr val="D7E7EE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500" b="0">
                <a:solidFill>
                  <a:srgbClr val="D7E7EE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500" b="0">
                <a:solidFill>
                  <a:srgbClr val="D7E7EE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lnSpc>
                <a:spcPct val="118000"/>
              </a:lnSpc>
              <a:buNone/>
              <a:defRPr sz="1500" b="0">
                <a:solidFill>
                  <a:srgbClr val="D7E7E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D7E7EE"/>
                </a:solidFill>
                <a:latin typeface="Microsoft YaHei"/>
                <a:ea typeface="Microsoft YaHei"/>
                <a:cs typeface="Microsoft YaHei"/>
              </a:rPr>
              <a:t>规则驱动建议</a:t>
            </a:r>
          </a:p>
          <a:p xmlns:a="http://schemas.openxmlformats.org/drawingml/2006/main">
            <a:pPr algn="l">
              <a:lnSpc>
                <a:spcPct val="118000"/>
              </a:lnSpc>
              <a:buNone/>
              <a:defRPr sz="1500" b="0">
                <a:solidFill>
                  <a:srgbClr val="D7E7E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D7E7EE"/>
                </a:solidFill>
                <a:latin typeface="Microsoft YaHei"/>
                <a:ea typeface="Microsoft YaHei"/>
                <a:cs typeface="Microsoft YaHei"/>
              </a:rPr>
              <a:t>LLM 润色</a:t>
            </a:r>
          </a:p>
        </p:txBody>
      </p:sp>
      <p:sp>
        <p:nvSpPr>
          <p:cNvPr id="20" name="text">
            <a:extLst xmlns:a="http://schemas.openxmlformats.org/drawingml/2006/main">
              <a:ext uri="{FF2B5EF4-FFF2-40B4-BE49-F238E27FC236}">
                <a16:creationId xmlns:a16="http://schemas.microsoft.com/office/drawing/2014/main" id="{54BA0353-79DB-4012-AFF3-B28EA6FE73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48850" y="1971675"/>
            <a:ext cx="1666875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625" b="1">
                <a:solidFill>
                  <a:srgbClr val="BDE3B1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625" b="1">
                <a:solidFill>
                  <a:srgbClr val="BDE3B1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625" b="1">
                <a:solidFill>
                  <a:srgbClr val="BDE3B1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625" b="1">
                <a:solidFill>
                  <a:srgbClr val="BDE3B1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625" b="1">
                <a:solidFill>
                  <a:srgbClr val="BDE3B1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625" b="1">
                <a:solidFill>
                  <a:srgbClr val="BDE3B1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625" b="1">
                <a:solidFill>
                  <a:srgbClr val="BDE3B1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625" b="1">
                <a:solidFill>
                  <a:srgbClr val="BDE3B1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625" b="1">
                <a:solidFill>
                  <a:srgbClr val="BDE3B1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625" b="1">
                <a:solidFill>
                  <a:srgbClr val="BDE3B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lnSpc>
                <a:spcPct val="118000"/>
              </a:lnSpc>
              <a:buNone/>
              <a:defRPr sz="2625" b="1">
                <a:solidFill>
                  <a:srgbClr val="BDE3B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625" b="1">
                <a:solidFill>
                  <a:srgbClr val="BDE3B1"/>
                </a:solidFill>
                <a:latin typeface="Microsoft YaHei"/>
                <a:ea typeface="Microsoft YaHei"/>
                <a:cs typeface="Microsoft YaHei"/>
              </a:rPr>
              <a:t>06</a:t>
            </a:r>
          </a:p>
        </p:txBody>
      </p:sp>
      <p:sp>
        <p:nvSpPr>
          <p:cNvPr id="21" name="text">
            <a:extLst xmlns:a="http://schemas.openxmlformats.org/drawingml/2006/main">
              <a:ext uri="{FF2B5EF4-FFF2-40B4-BE49-F238E27FC236}">
                <a16:creationId xmlns:a16="http://schemas.microsoft.com/office/drawing/2014/main" id="{12ADB7D0-4417-43FA-B733-E6EA00669F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48850" y="2562225"/>
            <a:ext cx="168592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9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9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9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9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9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9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9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9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9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9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lnSpc>
                <a:spcPct val="118000"/>
              </a:lnSpc>
              <a:buNone/>
              <a:defRPr sz="19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双端联调</a:t>
            </a:r>
          </a:p>
        </p:txBody>
      </p:sp>
      <p:sp>
        <p:nvSpPr>
          <p:cNvPr id="22" name="text">
            <a:extLst xmlns:a="http://schemas.openxmlformats.org/drawingml/2006/main">
              <a:ext uri="{FF2B5EF4-FFF2-40B4-BE49-F238E27FC236}">
                <a16:creationId xmlns:a16="http://schemas.microsoft.com/office/drawing/2014/main" id="{FB75CF72-9E13-43D0-BC5D-4483780809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48850" y="3057525"/>
            <a:ext cx="1685925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00" b="0">
                <a:solidFill>
                  <a:srgbClr val="D7E7EE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500" b="0">
                <a:solidFill>
                  <a:srgbClr val="D7E7EE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500" b="0">
                <a:solidFill>
                  <a:srgbClr val="D7E7EE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500" b="0">
                <a:solidFill>
                  <a:srgbClr val="D7E7EE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500" b="0">
                <a:solidFill>
                  <a:srgbClr val="D7E7EE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500" b="0">
                <a:solidFill>
                  <a:srgbClr val="D7E7EE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500" b="0">
                <a:solidFill>
                  <a:srgbClr val="D7E7EE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500" b="0">
                <a:solidFill>
                  <a:srgbClr val="D7E7EE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500" b="0">
                <a:solidFill>
                  <a:srgbClr val="D7E7EE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500" b="0">
                <a:solidFill>
                  <a:srgbClr val="D7E7EE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lnSpc>
                <a:spcPct val="118000"/>
              </a:lnSpc>
              <a:buNone/>
              <a:defRPr sz="1500" b="0">
                <a:solidFill>
                  <a:srgbClr val="D7E7E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D7E7EE"/>
                </a:solidFill>
                <a:latin typeface="Microsoft YaHei"/>
                <a:ea typeface="Microsoft YaHei"/>
                <a:cs typeface="Microsoft YaHei"/>
              </a:rPr>
              <a:t>Web 与 iPad</a:t>
            </a:r>
          </a:p>
          <a:p xmlns:a="http://schemas.openxmlformats.org/drawingml/2006/main">
            <a:pPr algn="l">
              <a:lnSpc>
                <a:spcPct val="118000"/>
              </a:lnSpc>
              <a:buNone/>
              <a:defRPr sz="1500" b="0">
                <a:solidFill>
                  <a:srgbClr val="D7E7E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D7E7EE"/>
                </a:solidFill>
                <a:latin typeface="Microsoft YaHei"/>
                <a:ea typeface="Microsoft YaHei"/>
                <a:cs typeface="Microsoft YaHei"/>
              </a:rPr>
              <a:t>真实调用模型</a:t>
            </a:r>
          </a:p>
        </p:txBody>
      </p:sp>
      <p:sp>
        <p:nvSpPr>
          <p:cNvPr id="23" name="text">
            <a:extLst xmlns:a="http://schemas.openxmlformats.org/drawingml/2006/main">
              <a:ext uri="{FF2B5EF4-FFF2-40B4-BE49-F238E27FC236}">
                <a16:creationId xmlns:a16="http://schemas.microsoft.com/office/drawing/2014/main" id="{C66104F0-73A0-4FE7-9216-A10C51F413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52900"/>
            <a:ext cx="109728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00" b="0">
                <a:solidFill>
                  <a:srgbClr val="D7E7EE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500" b="0">
                <a:solidFill>
                  <a:srgbClr val="D7E7EE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500" b="0">
                <a:solidFill>
                  <a:srgbClr val="D7E7EE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500" b="0">
                <a:solidFill>
                  <a:srgbClr val="D7E7EE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500" b="0">
                <a:solidFill>
                  <a:srgbClr val="D7E7EE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500" b="0">
                <a:solidFill>
                  <a:srgbClr val="D7E7EE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500" b="0">
                <a:solidFill>
                  <a:srgbClr val="D7E7EE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500" b="0">
                <a:solidFill>
                  <a:srgbClr val="D7E7EE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500" b="0">
                <a:solidFill>
                  <a:srgbClr val="D7E7EE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500" b="0">
                <a:solidFill>
                  <a:srgbClr val="D7E7EE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lnSpc>
                <a:spcPct val="118000"/>
              </a:lnSpc>
              <a:buNone/>
              <a:defRPr sz="1500" b="0">
                <a:solidFill>
                  <a:srgbClr val="D7E7E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D7E7EE"/>
                </a:solidFill>
                <a:latin typeface="Microsoft YaHei"/>
                <a:ea typeface="Microsoft YaHei"/>
                <a:cs typeface="Microsoft YaHei"/>
              </a:rPr>
              <a:t>关键数字   截至 2026 年 10 月</a:t>
            </a:r>
          </a:p>
        </p:txBody>
      </p:sp>
      <p:sp>
        <p:nvSpPr>
          <p:cNvPr id="24" name="text">
            <a:extLst xmlns:a="http://schemas.openxmlformats.org/drawingml/2006/main">
              <a:ext uri="{FF2B5EF4-FFF2-40B4-BE49-F238E27FC236}">
                <a16:creationId xmlns:a16="http://schemas.microsoft.com/office/drawing/2014/main" id="{7ECA99CC-CCE5-4980-BC20-8A5D5BAA21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705350"/>
            <a:ext cx="20955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4125" b="1">
                <a:solidFill>
                  <a:srgbClr val="BDE3B1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4125" b="1">
                <a:solidFill>
                  <a:srgbClr val="BDE3B1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4125" b="1">
                <a:solidFill>
                  <a:srgbClr val="BDE3B1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4125" b="1">
                <a:solidFill>
                  <a:srgbClr val="BDE3B1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4125" b="1">
                <a:solidFill>
                  <a:srgbClr val="BDE3B1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4125" b="1">
                <a:solidFill>
                  <a:srgbClr val="BDE3B1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4125" b="1">
                <a:solidFill>
                  <a:srgbClr val="BDE3B1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4125" b="1">
                <a:solidFill>
                  <a:srgbClr val="BDE3B1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4125" b="1">
                <a:solidFill>
                  <a:srgbClr val="BDE3B1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4125" b="1">
                <a:solidFill>
                  <a:srgbClr val="BDE3B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lnSpc>
                <a:spcPct val="118000"/>
              </a:lnSpc>
              <a:buNone/>
              <a:defRPr sz="4125" b="1">
                <a:solidFill>
                  <a:srgbClr val="BDE3B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4125" b="1">
                <a:solidFill>
                  <a:srgbClr val="BDE3B1"/>
                </a:solidFill>
                <a:latin typeface="Microsoft YaHei"/>
                <a:ea typeface="Microsoft YaHei"/>
                <a:cs typeface="Microsoft YaHei"/>
              </a:rPr>
              <a:t>840</a:t>
            </a:r>
          </a:p>
        </p:txBody>
      </p:sp>
      <p:sp>
        <p:nvSpPr>
          <p:cNvPr id="25" name="text">
            <a:extLst xmlns:a="http://schemas.openxmlformats.org/drawingml/2006/main">
              <a:ext uri="{FF2B5EF4-FFF2-40B4-BE49-F238E27FC236}">
                <a16:creationId xmlns:a16="http://schemas.microsoft.com/office/drawing/2014/main" id="{0792D8F5-D82A-4E8C-BAB2-883CF722F9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34025"/>
            <a:ext cx="214312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00" b="0">
                <a:solidFill>
                  <a:srgbClr val="D7E7EE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500" b="0">
                <a:solidFill>
                  <a:srgbClr val="D7E7EE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500" b="0">
                <a:solidFill>
                  <a:srgbClr val="D7E7EE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500" b="0">
                <a:solidFill>
                  <a:srgbClr val="D7E7EE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500" b="0">
                <a:solidFill>
                  <a:srgbClr val="D7E7EE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500" b="0">
                <a:solidFill>
                  <a:srgbClr val="D7E7EE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500" b="0">
                <a:solidFill>
                  <a:srgbClr val="D7E7EE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500" b="0">
                <a:solidFill>
                  <a:srgbClr val="D7E7EE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500" b="0">
                <a:solidFill>
                  <a:srgbClr val="D7E7EE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500" b="0">
                <a:solidFill>
                  <a:srgbClr val="D7E7EE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lnSpc>
                <a:spcPct val="118000"/>
              </a:lnSpc>
              <a:buNone/>
              <a:defRPr sz="1500" b="0">
                <a:solidFill>
                  <a:srgbClr val="D7E7E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D7E7EE"/>
                </a:solidFill>
                <a:latin typeface="Microsoft YaHei"/>
                <a:ea typeface="Microsoft YaHei"/>
                <a:cs typeface="Microsoft YaHei"/>
              </a:rPr>
              <a:t>份原始 GT</a:t>
            </a:r>
          </a:p>
          <a:p xmlns:a="http://schemas.openxmlformats.org/drawingml/2006/main">
            <a:pPr algn="l">
              <a:lnSpc>
                <a:spcPct val="118000"/>
              </a:lnSpc>
              <a:buNone/>
              <a:defRPr sz="1500" b="0">
                <a:solidFill>
                  <a:srgbClr val="D7E7E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D7E7EE"/>
                </a:solidFill>
                <a:latin typeface="Microsoft YaHei"/>
                <a:ea typeface="Microsoft YaHei"/>
                <a:cs typeface="Microsoft YaHei"/>
              </a:rPr>
              <a:t>全量找回校验</a:t>
            </a:r>
          </a:p>
        </p:txBody>
      </p:sp>
      <p:sp>
        <p:nvSpPr>
          <p:cNvPr id="26" name="text">
            <a:extLst xmlns:a="http://schemas.openxmlformats.org/drawingml/2006/main">
              <a:ext uri="{FF2B5EF4-FFF2-40B4-BE49-F238E27FC236}">
                <a16:creationId xmlns:a16="http://schemas.microsoft.com/office/drawing/2014/main" id="{652E0714-136E-41D2-ADEC-B4BC2D5B91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67025" y="4705350"/>
            <a:ext cx="20955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4125" b="1">
                <a:solidFill>
                  <a:srgbClr val="BDE3B1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4125" b="1">
                <a:solidFill>
                  <a:srgbClr val="BDE3B1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4125" b="1">
                <a:solidFill>
                  <a:srgbClr val="BDE3B1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4125" b="1">
                <a:solidFill>
                  <a:srgbClr val="BDE3B1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4125" b="1">
                <a:solidFill>
                  <a:srgbClr val="BDE3B1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4125" b="1">
                <a:solidFill>
                  <a:srgbClr val="BDE3B1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4125" b="1">
                <a:solidFill>
                  <a:srgbClr val="BDE3B1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4125" b="1">
                <a:solidFill>
                  <a:srgbClr val="BDE3B1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4125" b="1">
                <a:solidFill>
                  <a:srgbClr val="BDE3B1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4125" b="1">
                <a:solidFill>
                  <a:srgbClr val="BDE3B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lnSpc>
                <a:spcPct val="118000"/>
              </a:lnSpc>
              <a:buNone/>
              <a:defRPr sz="4125" b="1">
                <a:solidFill>
                  <a:srgbClr val="BDE3B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4125" b="1">
                <a:solidFill>
                  <a:srgbClr val="BDE3B1"/>
                </a:solidFill>
                <a:latin typeface="Microsoft YaHei"/>
                <a:ea typeface="Microsoft YaHei"/>
                <a:cs typeface="Microsoft YaHei"/>
              </a:rPr>
              <a:t>769</a:t>
            </a:r>
          </a:p>
        </p:txBody>
      </p:sp>
      <p:sp>
        <p:nvSpPr>
          <p:cNvPr id="27" name="text">
            <a:extLst xmlns:a="http://schemas.openxmlformats.org/drawingml/2006/main">
              <a:ext uri="{FF2B5EF4-FFF2-40B4-BE49-F238E27FC236}">
                <a16:creationId xmlns:a16="http://schemas.microsoft.com/office/drawing/2014/main" id="{1027A2DB-7764-4453-939A-20729C0E6E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67025" y="5534025"/>
            <a:ext cx="214312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00" b="0">
                <a:solidFill>
                  <a:srgbClr val="D7E7EE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500" b="0">
                <a:solidFill>
                  <a:srgbClr val="D7E7EE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500" b="0">
                <a:solidFill>
                  <a:srgbClr val="D7E7EE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500" b="0">
                <a:solidFill>
                  <a:srgbClr val="D7E7EE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500" b="0">
                <a:solidFill>
                  <a:srgbClr val="D7E7EE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500" b="0">
                <a:solidFill>
                  <a:srgbClr val="D7E7EE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500" b="0">
                <a:solidFill>
                  <a:srgbClr val="D7E7EE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500" b="0">
                <a:solidFill>
                  <a:srgbClr val="D7E7EE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500" b="0">
                <a:solidFill>
                  <a:srgbClr val="D7E7EE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500" b="0">
                <a:solidFill>
                  <a:srgbClr val="D7E7EE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lnSpc>
                <a:spcPct val="118000"/>
              </a:lnSpc>
              <a:buNone/>
              <a:defRPr sz="1500" b="0">
                <a:solidFill>
                  <a:srgbClr val="D7E7E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D7E7EE"/>
                </a:solidFill>
                <a:latin typeface="Microsoft YaHei"/>
                <a:ea typeface="Microsoft YaHei"/>
                <a:cs typeface="Microsoft YaHei"/>
              </a:rPr>
              <a:t>个 QC-clean</a:t>
            </a:r>
          </a:p>
          <a:p xmlns:a="http://schemas.openxmlformats.org/drawingml/2006/main">
            <a:pPr algn="l">
              <a:lnSpc>
                <a:spcPct val="118000"/>
              </a:lnSpc>
              <a:buNone/>
              <a:defRPr sz="1500" b="0">
                <a:solidFill>
                  <a:srgbClr val="D7E7E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D7E7EE"/>
                </a:solidFill>
                <a:latin typeface="Microsoft YaHei"/>
                <a:ea typeface="Microsoft YaHei"/>
                <a:cs typeface="Microsoft YaHei"/>
              </a:rPr>
              <a:t>洁净独立样本</a:t>
            </a:r>
          </a:p>
        </p:txBody>
      </p:sp>
      <p:sp>
        <p:nvSpPr>
          <p:cNvPr id="28" name="text">
            <a:extLst xmlns:a="http://schemas.openxmlformats.org/drawingml/2006/main">
              <a:ext uri="{FF2B5EF4-FFF2-40B4-BE49-F238E27FC236}">
                <a16:creationId xmlns:a16="http://schemas.microsoft.com/office/drawing/2014/main" id="{02E70457-EDCF-4E7F-AF7D-308B36D945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4450" y="4705350"/>
            <a:ext cx="20955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4125" b="1">
                <a:solidFill>
                  <a:srgbClr val="BDE3B1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4125" b="1">
                <a:solidFill>
                  <a:srgbClr val="BDE3B1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4125" b="1">
                <a:solidFill>
                  <a:srgbClr val="BDE3B1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4125" b="1">
                <a:solidFill>
                  <a:srgbClr val="BDE3B1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4125" b="1">
                <a:solidFill>
                  <a:srgbClr val="BDE3B1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4125" b="1">
                <a:solidFill>
                  <a:srgbClr val="BDE3B1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4125" b="1">
                <a:solidFill>
                  <a:srgbClr val="BDE3B1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4125" b="1">
                <a:solidFill>
                  <a:srgbClr val="BDE3B1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4125" b="1">
                <a:solidFill>
                  <a:srgbClr val="BDE3B1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4125" b="1">
                <a:solidFill>
                  <a:srgbClr val="BDE3B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lnSpc>
                <a:spcPct val="118000"/>
              </a:lnSpc>
              <a:buNone/>
              <a:defRPr sz="4125" b="1">
                <a:solidFill>
                  <a:srgbClr val="BDE3B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4125" b="1">
                <a:solidFill>
                  <a:srgbClr val="BDE3B1"/>
                </a:solidFill>
                <a:latin typeface="Microsoft YaHei"/>
                <a:ea typeface="Microsoft YaHei"/>
                <a:cs typeface="Microsoft YaHei"/>
              </a:rPr>
              <a:t>0.963</a:t>
            </a:r>
          </a:p>
        </p:txBody>
      </p:sp>
      <p:sp>
        <p:nvSpPr>
          <p:cNvPr id="29" name="text">
            <a:extLst xmlns:a="http://schemas.openxmlformats.org/drawingml/2006/main">
              <a:ext uri="{FF2B5EF4-FFF2-40B4-BE49-F238E27FC236}">
                <a16:creationId xmlns:a16="http://schemas.microsoft.com/office/drawing/2014/main" id="{BC811B17-55A1-4718-A45C-903C80BBC4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4450" y="5534025"/>
            <a:ext cx="214312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00" b="0">
                <a:solidFill>
                  <a:srgbClr val="D7E7EE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500" b="0">
                <a:solidFill>
                  <a:srgbClr val="D7E7EE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500" b="0">
                <a:solidFill>
                  <a:srgbClr val="D7E7EE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500" b="0">
                <a:solidFill>
                  <a:srgbClr val="D7E7EE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500" b="0">
                <a:solidFill>
                  <a:srgbClr val="D7E7EE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500" b="0">
                <a:solidFill>
                  <a:srgbClr val="D7E7EE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500" b="0">
                <a:solidFill>
                  <a:srgbClr val="D7E7EE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500" b="0">
                <a:solidFill>
                  <a:srgbClr val="D7E7EE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500" b="0">
                <a:solidFill>
                  <a:srgbClr val="D7E7EE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500" b="0">
                <a:solidFill>
                  <a:srgbClr val="D7E7EE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lnSpc>
                <a:spcPct val="118000"/>
              </a:lnSpc>
              <a:buNone/>
              <a:defRPr sz="1500" b="0">
                <a:solidFill>
                  <a:srgbClr val="D7E7E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D7E7EE"/>
                </a:solidFill>
                <a:latin typeface="Microsoft YaHei"/>
                <a:ea typeface="Microsoft YaHei"/>
                <a:cs typeface="Microsoft YaHei"/>
              </a:rPr>
              <a:t>标准划分最佳 Dice</a:t>
            </a:r>
          </a:p>
          <a:p xmlns:a="http://schemas.openxmlformats.org/drawingml/2006/main">
            <a:pPr algn="l">
              <a:lnSpc>
                <a:spcPct val="118000"/>
              </a:lnSpc>
              <a:buNone/>
              <a:defRPr sz="1500" b="0">
                <a:solidFill>
                  <a:srgbClr val="D7E7E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D7E7EE"/>
                </a:solidFill>
                <a:latin typeface="Microsoft YaHei"/>
                <a:ea typeface="Microsoft YaHei"/>
                <a:cs typeface="Microsoft YaHei"/>
              </a:rPr>
              <a:t>DeepLabV3+</a:t>
            </a:r>
          </a:p>
        </p:txBody>
      </p:sp>
      <p:sp>
        <p:nvSpPr>
          <p:cNvPr id="30" name="text">
            <a:extLst xmlns:a="http://schemas.openxmlformats.org/drawingml/2006/main">
              <a:ext uri="{FF2B5EF4-FFF2-40B4-BE49-F238E27FC236}">
                <a16:creationId xmlns:a16="http://schemas.microsoft.com/office/drawing/2014/main" id="{8B24E6E0-B8D6-480B-A696-4554ABB5D0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81875" y="4705350"/>
            <a:ext cx="20955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4125" b="1">
                <a:solidFill>
                  <a:srgbClr val="BDE3B1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4125" b="1">
                <a:solidFill>
                  <a:srgbClr val="BDE3B1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4125" b="1">
                <a:solidFill>
                  <a:srgbClr val="BDE3B1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4125" b="1">
                <a:solidFill>
                  <a:srgbClr val="BDE3B1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4125" b="1">
                <a:solidFill>
                  <a:srgbClr val="BDE3B1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4125" b="1">
                <a:solidFill>
                  <a:srgbClr val="BDE3B1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4125" b="1">
                <a:solidFill>
                  <a:srgbClr val="BDE3B1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4125" b="1">
                <a:solidFill>
                  <a:srgbClr val="BDE3B1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4125" b="1">
                <a:solidFill>
                  <a:srgbClr val="BDE3B1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4125" b="1">
                <a:solidFill>
                  <a:srgbClr val="BDE3B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lnSpc>
                <a:spcPct val="118000"/>
              </a:lnSpc>
              <a:buNone/>
              <a:defRPr sz="4125" b="1">
                <a:solidFill>
                  <a:srgbClr val="BDE3B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4125" b="1">
                <a:solidFill>
                  <a:srgbClr val="BDE3B1"/>
                </a:solidFill>
                <a:latin typeface="Microsoft YaHei"/>
                <a:ea typeface="Microsoft YaHei"/>
                <a:cs typeface="Microsoft YaHei"/>
              </a:rPr>
              <a:t>2×100</a:t>
            </a:r>
          </a:p>
        </p:txBody>
      </p:sp>
      <p:sp>
        <p:nvSpPr>
          <p:cNvPr id="31" name="text">
            <a:extLst xmlns:a="http://schemas.openxmlformats.org/drawingml/2006/main">
              <a:ext uri="{FF2B5EF4-FFF2-40B4-BE49-F238E27FC236}">
                <a16:creationId xmlns:a16="http://schemas.microsoft.com/office/drawing/2014/main" id="{0890C9CE-AB2C-4CF8-A0F3-E9EB2193B5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81875" y="5534025"/>
            <a:ext cx="214312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00" b="0">
                <a:solidFill>
                  <a:srgbClr val="D7E7EE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500" b="0">
                <a:solidFill>
                  <a:srgbClr val="D7E7EE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500" b="0">
                <a:solidFill>
                  <a:srgbClr val="D7E7EE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500" b="0">
                <a:solidFill>
                  <a:srgbClr val="D7E7EE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500" b="0">
                <a:solidFill>
                  <a:srgbClr val="D7E7EE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500" b="0">
                <a:solidFill>
                  <a:srgbClr val="D7E7EE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500" b="0">
                <a:solidFill>
                  <a:srgbClr val="D7E7EE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500" b="0">
                <a:solidFill>
                  <a:srgbClr val="D7E7EE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500" b="0">
                <a:solidFill>
                  <a:srgbClr val="D7E7EE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500" b="0">
                <a:solidFill>
                  <a:srgbClr val="D7E7EE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lnSpc>
                <a:spcPct val="118000"/>
              </a:lnSpc>
              <a:buNone/>
              <a:defRPr sz="1500" b="0">
                <a:solidFill>
                  <a:srgbClr val="D7E7E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D7E7EE"/>
                </a:solidFill>
                <a:latin typeface="Microsoft YaHei"/>
                <a:ea typeface="Microsoft YaHei"/>
                <a:cs typeface="Microsoft YaHei"/>
              </a:rPr>
              <a:t>欧楷与王羲之行书</a:t>
            </a:r>
          </a:p>
          <a:p xmlns:a="http://schemas.openxmlformats.org/drawingml/2006/main">
            <a:pPr algn="l">
              <a:lnSpc>
                <a:spcPct val="118000"/>
              </a:lnSpc>
              <a:buNone/>
              <a:defRPr sz="1500" b="0">
                <a:solidFill>
                  <a:srgbClr val="D7E7E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D7E7EE"/>
                </a:solidFill>
                <a:latin typeface="Microsoft YaHei"/>
                <a:ea typeface="Microsoft YaHei"/>
                <a:cs typeface="Microsoft YaHei"/>
              </a:rPr>
              <a:t>课程字（Beta）</a:t>
            </a:r>
          </a:p>
        </p:txBody>
      </p:sp>
      <p:sp>
        <p:nvSpPr>
          <p:cNvPr id="32" name="text">
            <a:extLst xmlns:a="http://schemas.openxmlformats.org/drawingml/2006/main">
              <a:ext uri="{FF2B5EF4-FFF2-40B4-BE49-F238E27FC236}">
                <a16:creationId xmlns:a16="http://schemas.microsoft.com/office/drawing/2014/main" id="{6673485A-9B0B-4186-97CF-8D8B643044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4705350"/>
            <a:ext cx="20955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4125" b="1">
                <a:solidFill>
                  <a:srgbClr val="BDE3B1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4125" b="1">
                <a:solidFill>
                  <a:srgbClr val="BDE3B1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4125" b="1">
                <a:solidFill>
                  <a:srgbClr val="BDE3B1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4125" b="1">
                <a:solidFill>
                  <a:srgbClr val="BDE3B1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4125" b="1">
                <a:solidFill>
                  <a:srgbClr val="BDE3B1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4125" b="1">
                <a:solidFill>
                  <a:srgbClr val="BDE3B1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4125" b="1">
                <a:solidFill>
                  <a:srgbClr val="BDE3B1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4125" b="1">
                <a:solidFill>
                  <a:srgbClr val="BDE3B1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4125" b="1">
                <a:solidFill>
                  <a:srgbClr val="BDE3B1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4125" b="1">
                <a:solidFill>
                  <a:srgbClr val="BDE3B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lnSpc>
                <a:spcPct val="118000"/>
              </a:lnSpc>
              <a:buNone/>
              <a:defRPr sz="4125" b="1">
                <a:solidFill>
                  <a:srgbClr val="BDE3B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4125" b="1">
                <a:solidFill>
                  <a:srgbClr val="BDE3B1"/>
                </a:solidFill>
                <a:latin typeface="Microsoft YaHei"/>
                <a:ea typeface="Microsoft YaHei"/>
                <a:cs typeface="Microsoft YaHei"/>
              </a:rPr>
              <a:t>18</a:t>
            </a:r>
          </a:p>
        </p:txBody>
      </p:sp>
      <p:sp>
        <p:nvSpPr>
          <p:cNvPr id="33" name="text">
            <a:extLst xmlns:a="http://schemas.openxmlformats.org/drawingml/2006/main">
              <a:ext uri="{FF2B5EF4-FFF2-40B4-BE49-F238E27FC236}">
                <a16:creationId xmlns:a16="http://schemas.microsoft.com/office/drawing/2014/main" id="{F9AD68E5-8F46-4557-82D7-A4CBA307C8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5534025"/>
            <a:ext cx="214312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00" b="0">
                <a:solidFill>
                  <a:srgbClr val="D7E7EE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500" b="0">
                <a:solidFill>
                  <a:srgbClr val="D7E7EE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500" b="0">
                <a:solidFill>
                  <a:srgbClr val="D7E7EE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500" b="0">
                <a:solidFill>
                  <a:srgbClr val="D7E7EE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500" b="0">
                <a:solidFill>
                  <a:srgbClr val="D7E7EE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500" b="0">
                <a:solidFill>
                  <a:srgbClr val="D7E7EE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500" b="0">
                <a:solidFill>
                  <a:srgbClr val="D7E7EE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500" b="0">
                <a:solidFill>
                  <a:srgbClr val="D7E7EE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500" b="0">
                <a:solidFill>
                  <a:srgbClr val="D7E7EE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500" b="0">
                <a:solidFill>
                  <a:srgbClr val="D7E7EE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lnSpc>
                <a:spcPct val="118000"/>
              </a:lnSpc>
              <a:buNone/>
              <a:defRPr sz="1500" b="0">
                <a:solidFill>
                  <a:srgbClr val="D7E7E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D7E7EE"/>
                </a:solidFill>
                <a:latin typeface="Microsoft YaHei"/>
                <a:ea typeface="Microsoft YaHei"/>
                <a:cs typeface="Microsoft YaHei"/>
              </a:rPr>
              <a:t>组基准实验</a:t>
            </a:r>
          </a:p>
          <a:p xmlns:a="http://schemas.openxmlformats.org/drawingml/2006/main">
            <a:pPr algn="l">
              <a:lnSpc>
                <a:spcPct val="118000"/>
              </a:lnSpc>
              <a:buNone/>
              <a:defRPr sz="1500" b="0">
                <a:solidFill>
                  <a:srgbClr val="D7E7E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D7E7EE"/>
                </a:solidFill>
                <a:latin typeface="Microsoft YaHei"/>
                <a:ea typeface="Microsoft YaHei"/>
                <a:cs typeface="Microsoft YaHei"/>
              </a:rPr>
              <a:t>三模型、两划分、三种子</a:t>
            </a:r>
          </a:p>
        </p:txBody>
      </p:sp>
    </p:spTree>
    <p:extLst>
      <p:ext uri="{BB962C8B-B14F-4D97-AF65-F5344CB8AC3E}">
        <p14:creationId xmlns:p14="http://schemas.microsoft.com/office/powerpoint/2010/main" val="1357594196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E6EFF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graphicFrame>
        <p:nvGraphicFramePr>
          <p:cNvPr id="15" name="model-table">
            <a:extLst xmlns:a="http://schemas.openxmlformats.org/drawingml/2006/main">
              <a:ext uri="{FF2B5EF4-FFF2-40B4-BE49-F238E27FC236}">
                <a16:creationId xmlns:a16="http://schemas.microsoft.com/office/drawing/2014/main" id="{0934B5B9-425E-4FDA-9267-910959EF6881}"/>
              </a:ext>
            </a:extLst>
          </p:cNvPr>
          <p:cNvGraphicFramePr/>
          <p:nvPr/>
        </p:nvGraphicFramePr>
        <p:xfrm>
          <a:off xmlns:a="http://schemas.openxmlformats.org/drawingml/2006/main" x="609600" y="4171950"/>
          <a:ext xmlns:a="http://schemas.openxmlformats.org/drawingml/2006/main" cx="5410200" cy="1809750"/>
        </p:xfrm>
        <a:graphic xmlns:a="http://schemas.openxmlformats.org/drawingml/2006/main">
          <a:graphicData uri="http://schemas.openxmlformats.org/drawingml/2006/table">
            <a:tbl>
              <a:tblPr firstRow="0" firstCol="0" lastCol="0" bandRow="0"/>
              <a:tblGrid>
                <a:gridCol w="1752600"/>
                <a:gridCol w="1181100"/>
                <a:gridCol w="1362075"/>
                <a:gridCol w="1114425"/>
              </a:tblGrid>
              <a:tr h="409575">
                <a:tc>
                  <a:txBody>
                    <a:bodyPr wrap="square" lIns="114300" tIns="114300" rIns="114300" bIns="114300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buNone/>
                      </a:pPr>
                      <a:r>
                        <a:rPr sz="15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模型</a:t>
                      </a:r>
                      <a:endParaRPr sz="1100" b="1">
                        <a:solidFill>
                          <a:srgbClr val="FFFFFF"/>
                        </a:solidFill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91440" marR="91440" marT="45720" marB="45720" anchor="ctr">
                    <a:lnL w="6668">
                      <a:solidFill>
                        <a:srgbClr val="A7C1C7"/>
                      </a:solidFill>
                      <a:prstDash val="solid"/>
                    </a:lnL>
                    <a:lnR w="6668">
                      <a:solidFill>
                        <a:srgbClr val="A7C1C7"/>
                      </a:solidFill>
                      <a:prstDash val="solid"/>
                    </a:lnR>
                    <a:lnT w="6668">
                      <a:solidFill>
                        <a:srgbClr val="A7C1C7"/>
                      </a:solidFill>
                      <a:prstDash val="solid"/>
                    </a:lnT>
                    <a:lnB w="6668">
                      <a:solidFill>
                        <a:srgbClr val="A7C1C7"/>
                      </a:solidFill>
                      <a:prstDash val="solid"/>
                    </a:lnB>
                    <a:solidFill>
                      <a:srgbClr val="143E5A"/>
                    </a:solidFill>
                  </a:tcPr>
                </a:tc>
                <a:tc>
                  <a:txBody>
                    <a:bodyPr wrap="square" lIns="114300" tIns="114300" rIns="114300" bIns="114300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buNone/>
                      </a:pPr>
                      <a:r>
                        <a:rPr sz="15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标准 Dice</a:t>
                      </a:r>
                      <a:endParaRPr sz="1100" b="1">
                        <a:solidFill>
                          <a:srgbClr val="FFFFFF"/>
                        </a:solidFill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91440" marR="91440" marT="45720" marB="45720" anchor="ctr">
                    <a:lnL>
                      <a:noFill/>
                    </a:lnL>
                    <a:lnR w="6668">
                      <a:solidFill>
                        <a:srgbClr val="A7C1C7"/>
                      </a:solidFill>
                      <a:prstDash val="solid"/>
                    </a:lnR>
                    <a:lnT w="6668">
                      <a:solidFill>
                        <a:srgbClr val="A7C1C7"/>
                      </a:solidFill>
                      <a:prstDash val="solid"/>
                    </a:lnT>
                    <a:lnB w="6668">
                      <a:solidFill>
                        <a:srgbClr val="A7C1C7"/>
                      </a:solidFill>
                      <a:prstDash val="solid"/>
                    </a:lnB>
                    <a:solidFill>
                      <a:srgbClr val="143E5A"/>
                    </a:solidFill>
                  </a:tcPr>
                </a:tc>
                <a:tc>
                  <a:txBody>
                    <a:bodyPr wrap="square" lIns="114300" tIns="114300" rIns="114300" bIns="114300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buNone/>
                      </a:pPr>
                      <a:r>
                        <a:rPr sz="15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未见字 Dice</a:t>
                      </a:r>
                      <a:endParaRPr sz="1100" b="1">
                        <a:solidFill>
                          <a:srgbClr val="FFFFFF"/>
                        </a:solidFill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91440" marR="91440" marT="45720" marB="45720" anchor="ctr">
                    <a:lnL>
                      <a:noFill/>
                    </a:lnL>
                    <a:lnR w="6668">
                      <a:solidFill>
                        <a:srgbClr val="A7C1C7"/>
                      </a:solidFill>
                      <a:prstDash val="solid"/>
                    </a:lnR>
                    <a:lnT w="6668">
                      <a:solidFill>
                        <a:srgbClr val="A7C1C7"/>
                      </a:solidFill>
                      <a:prstDash val="solid"/>
                    </a:lnT>
                    <a:lnB w="6668">
                      <a:solidFill>
                        <a:srgbClr val="A7C1C7"/>
                      </a:solidFill>
                      <a:prstDash val="solid"/>
                    </a:lnB>
                    <a:solidFill>
                      <a:srgbClr val="143E5A"/>
                    </a:solidFill>
                  </a:tcPr>
                </a:tc>
                <a:tc>
                  <a:txBody>
                    <a:bodyPr wrap="square" lIns="114300" tIns="114300" rIns="114300" bIns="114300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buNone/>
                      </a:pPr>
                      <a:r>
                        <a:rPr sz="15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下降</a:t>
                      </a:r>
                      <a:endParaRPr sz="1100" b="1">
                        <a:solidFill>
                          <a:srgbClr val="FFFFFF"/>
                        </a:solidFill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91440" marR="91440" marT="45720" marB="45720" anchor="ctr">
                    <a:lnL>
                      <a:noFill/>
                    </a:lnL>
                    <a:lnR w="6668">
                      <a:solidFill>
                        <a:srgbClr val="A7C1C7"/>
                      </a:solidFill>
                      <a:prstDash val="solid"/>
                    </a:lnR>
                    <a:lnT w="6668">
                      <a:solidFill>
                        <a:srgbClr val="A7C1C7"/>
                      </a:solidFill>
                      <a:prstDash val="solid"/>
                    </a:lnT>
                    <a:lnB w="6668">
                      <a:solidFill>
                        <a:srgbClr val="A7C1C7"/>
                      </a:solidFill>
                      <a:prstDash val="solid"/>
                    </a:lnB>
                    <a:solidFill>
                      <a:srgbClr val="143E5A"/>
                    </a:solidFill>
                  </a:tcPr>
                </a:tc>
              </a:tr>
              <a:tr h="466725">
                <a:tc>
                  <a:txBody>
                    <a:bodyPr wrap="square" lIns="114300" tIns="114300" rIns="114300" bIns="114300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buNone/>
                      </a:pPr>
                      <a:r>
                        <a:rPr sz="1500" b="0">
                          <a:solidFill>
                            <a:srgbClr val="16394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U-Net</a:t>
                      </a:r>
                      <a:endParaRPr sz="1100" b="1">
                        <a:solidFill>
                          <a:srgbClr val="14213D"/>
                        </a:solidFill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91440" marR="91440" marT="45720" marB="45720" anchor="ctr">
                    <a:lnL w="6668">
                      <a:solidFill>
                        <a:srgbClr val="A7C1C7"/>
                      </a:solidFill>
                      <a:prstDash val="solid"/>
                    </a:lnL>
                    <a:lnR w="6668">
                      <a:solidFill>
                        <a:srgbClr val="A7C1C7"/>
                      </a:solidFill>
                      <a:prstDash val="solid"/>
                    </a:lnR>
                    <a:lnT>
                      <a:noFill/>
                    </a:lnT>
                    <a:lnB w="6668">
                      <a:solidFill>
                        <a:srgbClr val="A7C1C7"/>
                      </a:solidFill>
                      <a:prstDash val="solid"/>
                    </a:lnB>
                    <a:solidFill>
                      <a:srgbClr val="EDF5F0"/>
                    </a:solidFill>
                  </a:tcPr>
                </a:tc>
                <a:tc>
                  <a:txBody>
                    <a:bodyPr wrap="square" lIns="114300" tIns="114300" rIns="114300" bIns="114300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buNone/>
                      </a:pPr>
                      <a:r>
                        <a:rPr sz="1500" b="0">
                          <a:solidFill>
                            <a:srgbClr val="16394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0.920</a:t>
                      </a:r>
                      <a:endParaRPr sz="1100" b="1">
                        <a:solidFill>
                          <a:srgbClr val="14213D"/>
                        </a:solidFill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91440" marR="91440" marT="45720" marB="45720" anchor="ctr">
                    <a:lnL>
                      <a:noFill/>
                    </a:lnL>
                    <a:lnR w="6668">
                      <a:solidFill>
                        <a:srgbClr val="A7C1C7"/>
                      </a:solidFill>
                      <a:prstDash val="solid"/>
                    </a:lnR>
                    <a:lnT>
                      <a:noFill/>
                    </a:lnT>
                    <a:lnB w="6668">
                      <a:solidFill>
                        <a:srgbClr val="A7C1C7"/>
                      </a:solidFill>
                      <a:prstDash val="solid"/>
                    </a:lnB>
                    <a:solidFill>
                      <a:srgbClr val="EDF5F0"/>
                    </a:solidFill>
                  </a:tcPr>
                </a:tc>
                <a:tc>
                  <a:txBody>
                    <a:bodyPr wrap="square" lIns="114300" tIns="114300" rIns="114300" bIns="114300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buNone/>
                      </a:pPr>
                      <a:r>
                        <a:rPr sz="1500" b="0">
                          <a:solidFill>
                            <a:srgbClr val="16394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0.826</a:t>
                      </a:r>
                      <a:endParaRPr sz="1100" b="1">
                        <a:solidFill>
                          <a:srgbClr val="14213D"/>
                        </a:solidFill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91440" marR="91440" marT="45720" marB="45720" anchor="ctr">
                    <a:lnL>
                      <a:noFill/>
                    </a:lnL>
                    <a:lnR w="6668">
                      <a:solidFill>
                        <a:srgbClr val="A7C1C7"/>
                      </a:solidFill>
                      <a:prstDash val="solid"/>
                    </a:lnR>
                    <a:lnT>
                      <a:noFill/>
                    </a:lnT>
                    <a:lnB w="6668">
                      <a:solidFill>
                        <a:srgbClr val="A7C1C7"/>
                      </a:solidFill>
                      <a:prstDash val="solid"/>
                    </a:lnB>
                    <a:solidFill>
                      <a:srgbClr val="EDF5F0"/>
                    </a:solidFill>
                  </a:tcPr>
                </a:tc>
                <a:tc>
                  <a:txBody>
                    <a:bodyPr wrap="square" lIns="114300" tIns="114300" rIns="114300" bIns="114300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buNone/>
                      </a:pPr>
                      <a:r>
                        <a:rPr sz="1500" b="0">
                          <a:solidFill>
                            <a:srgbClr val="16394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9.4 pp</a:t>
                      </a:r>
                      <a:endParaRPr sz="1100" b="1">
                        <a:solidFill>
                          <a:srgbClr val="14213D"/>
                        </a:solidFill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91440" marR="91440" marT="45720" marB="45720" anchor="ctr">
                    <a:lnL>
                      <a:noFill/>
                    </a:lnL>
                    <a:lnR w="6668">
                      <a:solidFill>
                        <a:srgbClr val="A7C1C7"/>
                      </a:solidFill>
                      <a:prstDash val="solid"/>
                    </a:lnR>
                    <a:lnT>
                      <a:noFill/>
                    </a:lnT>
                    <a:lnB w="6668">
                      <a:solidFill>
                        <a:srgbClr val="A7C1C7"/>
                      </a:solidFill>
                      <a:prstDash val="solid"/>
                    </a:lnB>
                    <a:solidFill>
                      <a:srgbClr val="EDF5F0"/>
                    </a:solidFill>
                  </a:tcPr>
                </a:tc>
              </a:tr>
              <a:tr h="466725">
                <a:tc>
                  <a:txBody>
                    <a:bodyPr wrap="square" lIns="114300" tIns="114300" rIns="114300" bIns="114300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buNone/>
                      </a:pPr>
                      <a:r>
                        <a:rPr sz="1500" b="0">
                          <a:solidFill>
                            <a:srgbClr val="16394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DeepLabV3+</a:t>
                      </a:r>
                      <a:endParaRPr sz="1100" b="1">
                        <a:solidFill>
                          <a:srgbClr val="14213D"/>
                        </a:solidFill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91440" marR="91440" marT="45720" marB="45720" anchor="ctr">
                    <a:lnL w="6668">
                      <a:solidFill>
                        <a:srgbClr val="A7C1C7"/>
                      </a:solidFill>
                      <a:prstDash val="solid"/>
                    </a:lnL>
                    <a:lnR w="6668">
                      <a:solidFill>
                        <a:srgbClr val="A7C1C7"/>
                      </a:solidFill>
                      <a:prstDash val="solid"/>
                    </a:lnR>
                    <a:lnT>
                      <a:noFill/>
                    </a:lnT>
                    <a:lnB w="6668">
                      <a:solidFill>
                        <a:srgbClr val="A7C1C7"/>
                      </a:solidFill>
                      <a:prstDash val="solid"/>
                    </a:lnB>
                    <a:solidFill>
                      <a:srgbClr val="DFEEE5"/>
                    </a:solidFill>
                  </a:tcPr>
                </a:tc>
                <a:tc>
                  <a:txBody>
                    <a:bodyPr wrap="square" lIns="114300" tIns="114300" rIns="114300" bIns="114300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buNone/>
                      </a:pPr>
                      <a:r>
                        <a:rPr sz="1500" b="0">
                          <a:solidFill>
                            <a:srgbClr val="16394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0.963</a:t>
                      </a:r>
                      <a:endParaRPr sz="1100" b="1">
                        <a:solidFill>
                          <a:srgbClr val="14213D"/>
                        </a:solidFill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91440" marR="91440" marT="45720" marB="45720" anchor="ctr">
                    <a:lnL>
                      <a:noFill/>
                    </a:lnL>
                    <a:lnR w="6668">
                      <a:solidFill>
                        <a:srgbClr val="A7C1C7"/>
                      </a:solidFill>
                      <a:prstDash val="solid"/>
                    </a:lnR>
                    <a:lnT>
                      <a:noFill/>
                    </a:lnT>
                    <a:lnB w="6668">
                      <a:solidFill>
                        <a:srgbClr val="A7C1C7"/>
                      </a:solidFill>
                      <a:prstDash val="solid"/>
                    </a:lnB>
                    <a:solidFill>
                      <a:srgbClr val="DFEEE5"/>
                    </a:solidFill>
                  </a:tcPr>
                </a:tc>
                <a:tc>
                  <a:txBody>
                    <a:bodyPr wrap="square" lIns="114300" tIns="114300" rIns="114300" bIns="114300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buNone/>
                      </a:pPr>
                      <a:r>
                        <a:rPr sz="1500" b="0">
                          <a:solidFill>
                            <a:srgbClr val="16394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0.866</a:t>
                      </a:r>
                      <a:endParaRPr sz="1100" b="1">
                        <a:solidFill>
                          <a:srgbClr val="14213D"/>
                        </a:solidFill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91440" marR="91440" marT="45720" marB="45720" anchor="ctr">
                    <a:lnL>
                      <a:noFill/>
                    </a:lnL>
                    <a:lnR w="6668">
                      <a:solidFill>
                        <a:srgbClr val="A7C1C7"/>
                      </a:solidFill>
                      <a:prstDash val="solid"/>
                    </a:lnR>
                    <a:lnT>
                      <a:noFill/>
                    </a:lnT>
                    <a:lnB w="6668">
                      <a:solidFill>
                        <a:srgbClr val="A7C1C7"/>
                      </a:solidFill>
                      <a:prstDash val="solid"/>
                    </a:lnB>
                    <a:solidFill>
                      <a:srgbClr val="DFEEE5"/>
                    </a:solidFill>
                  </a:tcPr>
                </a:tc>
                <a:tc>
                  <a:txBody>
                    <a:bodyPr wrap="square" lIns="114300" tIns="114300" rIns="114300" bIns="114300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buNone/>
                      </a:pPr>
                      <a:r>
                        <a:rPr sz="1500" b="0">
                          <a:solidFill>
                            <a:srgbClr val="16394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9.7 pp</a:t>
                      </a:r>
                      <a:endParaRPr sz="1100" b="1">
                        <a:solidFill>
                          <a:srgbClr val="14213D"/>
                        </a:solidFill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91440" marR="91440" marT="45720" marB="45720" anchor="ctr">
                    <a:lnL>
                      <a:noFill/>
                    </a:lnL>
                    <a:lnR w="6668">
                      <a:solidFill>
                        <a:srgbClr val="A7C1C7"/>
                      </a:solidFill>
                      <a:prstDash val="solid"/>
                    </a:lnR>
                    <a:lnT>
                      <a:noFill/>
                    </a:lnT>
                    <a:lnB w="6668">
                      <a:solidFill>
                        <a:srgbClr val="A7C1C7"/>
                      </a:solidFill>
                      <a:prstDash val="solid"/>
                    </a:lnB>
                    <a:solidFill>
                      <a:srgbClr val="DFEEE5"/>
                    </a:solidFill>
                  </a:tcPr>
                </a:tc>
              </a:tr>
              <a:tr h="466725">
                <a:tc>
                  <a:txBody>
                    <a:bodyPr wrap="square" lIns="114300" tIns="114300" rIns="114300" bIns="114300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buNone/>
                      </a:pPr>
                      <a:r>
                        <a:rPr sz="1500" b="1">
                          <a:solidFill>
                            <a:srgbClr val="16394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SegFormer-B2</a:t>
                      </a:r>
                      <a:endParaRPr sz="1100" b="1">
                        <a:solidFill>
                          <a:srgbClr val="14213D"/>
                        </a:solidFill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91440" marR="91440" marT="45720" marB="45720" anchor="ctr">
                    <a:lnL w="6668">
                      <a:solidFill>
                        <a:srgbClr val="A7C1C7"/>
                      </a:solidFill>
                      <a:prstDash val="solid"/>
                    </a:lnL>
                    <a:lnR w="6668">
                      <a:solidFill>
                        <a:srgbClr val="A7C1C7"/>
                      </a:solidFill>
                      <a:prstDash val="solid"/>
                    </a:lnR>
                    <a:lnT>
                      <a:noFill/>
                    </a:lnT>
                    <a:lnB w="6668">
                      <a:solidFill>
                        <a:srgbClr val="A7C1C7"/>
                      </a:solidFill>
                      <a:prstDash val="solid"/>
                    </a:lnB>
                    <a:solidFill>
                      <a:srgbClr val="C7E4D7"/>
                    </a:solidFill>
                  </a:tcPr>
                </a:tc>
                <a:tc>
                  <a:txBody>
                    <a:bodyPr wrap="square" lIns="114300" tIns="114300" rIns="114300" bIns="114300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buNone/>
                      </a:pPr>
                      <a:r>
                        <a:rPr sz="1500" b="1">
                          <a:solidFill>
                            <a:srgbClr val="16394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0.958</a:t>
                      </a:r>
                      <a:endParaRPr sz="1100" b="1">
                        <a:solidFill>
                          <a:srgbClr val="14213D"/>
                        </a:solidFill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91440" marR="91440" marT="45720" marB="45720" anchor="ctr">
                    <a:lnL>
                      <a:noFill/>
                    </a:lnL>
                    <a:lnR w="6668">
                      <a:solidFill>
                        <a:srgbClr val="A7C1C7"/>
                      </a:solidFill>
                      <a:prstDash val="solid"/>
                    </a:lnR>
                    <a:lnT>
                      <a:noFill/>
                    </a:lnT>
                    <a:lnB w="6668">
                      <a:solidFill>
                        <a:srgbClr val="A7C1C7"/>
                      </a:solidFill>
                      <a:prstDash val="solid"/>
                    </a:lnB>
                    <a:solidFill>
                      <a:srgbClr val="C7E4D7"/>
                    </a:solidFill>
                  </a:tcPr>
                </a:tc>
                <a:tc>
                  <a:txBody>
                    <a:bodyPr wrap="square" lIns="114300" tIns="114300" rIns="114300" bIns="114300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buNone/>
                      </a:pPr>
                      <a:r>
                        <a:rPr sz="1500" b="1">
                          <a:solidFill>
                            <a:srgbClr val="16394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0.887</a:t>
                      </a:r>
                      <a:endParaRPr sz="1100" b="1">
                        <a:solidFill>
                          <a:srgbClr val="076DFC"/>
                        </a:solidFill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91440" marR="91440" marT="45720" marB="45720" anchor="ctr">
                    <a:lnL>
                      <a:noFill/>
                    </a:lnL>
                    <a:lnR w="6668">
                      <a:solidFill>
                        <a:srgbClr val="A7C1C7"/>
                      </a:solidFill>
                      <a:prstDash val="solid"/>
                    </a:lnR>
                    <a:lnT>
                      <a:noFill/>
                    </a:lnT>
                    <a:lnB w="6668">
                      <a:solidFill>
                        <a:srgbClr val="A7C1C7"/>
                      </a:solidFill>
                      <a:prstDash val="solid"/>
                    </a:lnB>
                    <a:solidFill>
                      <a:srgbClr val="C7E4D7"/>
                    </a:solidFill>
                  </a:tcPr>
                </a:tc>
                <a:tc>
                  <a:txBody>
                    <a:bodyPr wrap="square" lIns="114300" tIns="114300" rIns="114300" bIns="114300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buNone/>
                      </a:pPr>
                      <a:r>
                        <a:rPr sz="1500" b="1">
                          <a:solidFill>
                            <a:srgbClr val="16394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7.2 pp</a:t>
                      </a:r>
                      <a:endParaRPr sz="1100" b="1">
                        <a:solidFill>
                          <a:srgbClr val="076DFC"/>
                        </a:solidFill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91440" marR="91440" marT="45720" marB="45720" anchor="ctr">
                    <a:lnL>
                      <a:noFill/>
                    </a:lnL>
                    <a:lnR w="6668">
                      <a:solidFill>
                        <a:srgbClr val="A7C1C7"/>
                      </a:solidFill>
                      <a:prstDash val="solid"/>
                    </a:lnR>
                    <a:lnT>
                      <a:noFill/>
                    </a:lnT>
                    <a:lnB w="6668">
                      <a:solidFill>
                        <a:srgbClr val="A7C1C7"/>
                      </a:solidFill>
                      <a:prstDash val="solid"/>
                    </a:lnB>
                    <a:solidFill>
                      <a:srgbClr val="C7E4D7"/>
                    </a:solidFill>
                  </a:tcPr>
                </a:tc>
              </a:tr>
            </a:tbl>
          </a:graphicData>
        </a:graphic>
      </p:graphicFrame>
      <p:pic>
        <p:nvPicPr>
          <p:cNvPr id="17" name="seg-fig">
            <a:extLst xmlns:a="http://schemas.openxmlformats.org/drawingml/2006/main">
              <a:ext uri="{FF2B5EF4-FFF2-40B4-BE49-F238E27FC236}">
                <a16:creationId xmlns:a16="http://schemas.microsoft.com/office/drawing/2014/main" id="{DC779000-28C4-4172-BF23-750886473C18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bab69a14df440e8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419850" y="1352550"/>
            <a:ext cx="5162550" cy="327660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sp>
        <p:nvSpPr>
          <p:cNvPr id="18" name="slide-title">
            <a:extLst xmlns:a="http://schemas.openxmlformats.org/drawingml/2006/main">
              <a:ext uri="{FF2B5EF4-FFF2-40B4-BE49-F238E27FC236}">
                <a16:creationId xmlns:a16="http://schemas.microsoft.com/office/drawing/2014/main" id="{6F54AE71-D6A5-4F15-8448-54C7FBD869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97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000" b="1">
                <a:solidFill>
                  <a:srgbClr val="16394B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3000" b="1">
                <a:solidFill>
                  <a:srgbClr val="16394B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3000" b="1">
                <a:solidFill>
                  <a:srgbClr val="16394B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3000" b="1">
                <a:solidFill>
                  <a:srgbClr val="16394B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3000" b="1">
                <a:solidFill>
                  <a:srgbClr val="16394B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3000" b="1">
                <a:solidFill>
                  <a:srgbClr val="16394B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3000" b="1">
                <a:solidFill>
                  <a:srgbClr val="16394B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3000" b="1">
                <a:solidFill>
                  <a:srgbClr val="16394B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3000" b="1">
                <a:solidFill>
                  <a:srgbClr val="16394B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3000" b="1">
                <a:solidFill>
                  <a:srgbClr val="16394B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lnSpc>
                <a:spcPct val="118000"/>
              </a:lnSpc>
              <a:buNone/>
              <a:defRPr sz="3000" b="1">
                <a:solidFill>
                  <a:srgbClr val="16394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000" b="1">
                <a:solidFill>
                  <a:srgbClr val="16394B"/>
                </a:solidFill>
                <a:latin typeface="Microsoft YaHei"/>
                <a:ea typeface="Microsoft YaHei"/>
                <a:cs typeface="Microsoft YaHei"/>
              </a:rPr>
              <a:t>核心进展 ① 数据治理与笔画结构分割</a:t>
            </a:r>
          </a:p>
        </p:txBody>
      </p:sp>
      <p:sp>
        <p:nvSpPr>
          <p:cNvPr id="19" name="footer">
            <a:extLst xmlns:a="http://schemas.openxmlformats.org/drawingml/2006/main">
              <a:ext uri="{FF2B5EF4-FFF2-40B4-BE49-F238E27FC236}">
                <a16:creationId xmlns:a16="http://schemas.microsoft.com/office/drawing/2014/main" id="{385F0804-464C-4962-B61B-0FFD78B5A4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05575"/>
            <a:ext cx="6667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125" b="0">
                <a:solidFill>
                  <a:srgbClr val="66818E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125" b="0">
                <a:solidFill>
                  <a:srgbClr val="66818E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125" b="0">
                <a:solidFill>
                  <a:srgbClr val="66818E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125" b="0">
                <a:solidFill>
                  <a:srgbClr val="66818E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125" b="0">
                <a:solidFill>
                  <a:srgbClr val="66818E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125" b="0">
                <a:solidFill>
                  <a:srgbClr val="66818E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125" b="0">
                <a:solidFill>
                  <a:srgbClr val="66818E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125" b="0">
                <a:solidFill>
                  <a:srgbClr val="66818E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125" b="0">
                <a:solidFill>
                  <a:srgbClr val="66818E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125" b="0">
                <a:solidFill>
                  <a:srgbClr val="66818E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lnSpc>
                <a:spcPct val="118000"/>
              </a:lnSpc>
              <a:buNone/>
              <a:defRPr sz="1125" b="0">
                <a:solidFill>
                  <a:srgbClr val="66818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66818E"/>
                </a:solidFill>
                <a:latin typeface="Microsoft YaHei"/>
                <a:ea typeface="Microsoft YaHei"/>
                <a:cs typeface="Microsoft YaHei"/>
              </a:rPr>
              <a:t>一笔成章  /  中期汇报</a:t>
            </a:r>
          </a:p>
        </p:txBody>
      </p:sp>
      <p:sp>
        <p:nvSpPr>
          <p:cNvPr id="20" name="page-number">
            <a:extLst xmlns:a="http://schemas.openxmlformats.org/drawingml/2006/main">
              <a:ext uri="{FF2B5EF4-FFF2-40B4-BE49-F238E27FC236}">
                <a16:creationId xmlns:a16="http://schemas.microsoft.com/office/drawing/2014/main" id="{BE062606-1C83-40AA-9741-839C65AC16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6486525"/>
            <a:ext cx="8191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200" b="0">
                <a:solidFill>
                  <a:srgbClr val="66818E"/>
                </a:solidFill>
                <a:latin typeface="Microsoft YaHei"/>
                <a:ea typeface="Microsoft YaHei"/>
                <a:cs typeface="Microsoft YaHei"/>
              </a:defRPr>
            </a:defPPr>
            <a:lvl1pPr algn="r">
              <a:defRPr sz="1200" b="0">
                <a:solidFill>
                  <a:srgbClr val="66818E"/>
                </a:solidFill>
                <a:latin typeface="Microsoft YaHei"/>
                <a:ea typeface="Microsoft YaHei"/>
                <a:cs typeface="Microsoft YaHei"/>
              </a:defRPr>
            </a:lvl1pPr>
            <a:lvl2pPr algn="r">
              <a:defRPr sz="1200" b="0">
                <a:solidFill>
                  <a:srgbClr val="66818E"/>
                </a:solidFill>
                <a:latin typeface="Microsoft YaHei"/>
                <a:ea typeface="Microsoft YaHei"/>
                <a:cs typeface="Microsoft YaHei"/>
              </a:defRPr>
            </a:lvl2pPr>
            <a:lvl3pPr algn="r">
              <a:defRPr sz="1200" b="0">
                <a:solidFill>
                  <a:srgbClr val="66818E"/>
                </a:solidFill>
                <a:latin typeface="Microsoft YaHei"/>
                <a:ea typeface="Microsoft YaHei"/>
                <a:cs typeface="Microsoft YaHei"/>
              </a:defRPr>
            </a:lvl3pPr>
            <a:lvl4pPr algn="r">
              <a:defRPr sz="1200" b="0">
                <a:solidFill>
                  <a:srgbClr val="66818E"/>
                </a:solidFill>
                <a:latin typeface="Microsoft YaHei"/>
                <a:ea typeface="Microsoft YaHei"/>
                <a:cs typeface="Microsoft YaHei"/>
              </a:defRPr>
            </a:lvl4pPr>
            <a:lvl5pPr algn="r">
              <a:defRPr sz="1200" b="0">
                <a:solidFill>
                  <a:srgbClr val="66818E"/>
                </a:solidFill>
                <a:latin typeface="Microsoft YaHei"/>
                <a:ea typeface="Microsoft YaHei"/>
                <a:cs typeface="Microsoft YaHei"/>
              </a:defRPr>
            </a:lvl5pPr>
            <a:lvl6pPr algn="r">
              <a:defRPr sz="1200" b="0">
                <a:solidFill>
                  <a:srgbClr val="66818E"/>
                </a:solidFill>
                <a:latin typeface="Microsoft YaHei"/>
                <a:ea typeface="Microsoft YaHei"/>
                <a:cs typeface="Microsoft YaHei"/>
              </a:defRPr>
            </a:lvl6pPr>
            <a:lvl7pPr algn="r">
              <a:defRPr sz="1200" b="0">
                <a:solidFill>
                  <a:srgbClr val="66818E"/>
                </a:solidFill>
                <a:latin typeface="Microsoft YaHei"/>
                <a:ea typeface="Microsoft YaHei"/>
                <a:cs typeface="Microsoft YaHei"/>
              </a:defRPr>
            </a:lvl7pPr>
            <a:lvl8pPr algn="r">
              <a:defRPr sz="1200" b="0">
                <a:solidFill>
                  <a:srgbClr val="66818E"/>
                </a:solidFill>
                <a:latin typeface="Microsoft YaHei"/>
                <a:ea typeface="Microsoft YaHei"/>
                <a:cs typeface="Microsoft YaHei"/>
              </a:defRPr>
            </a:lvl8pPr>
            <a:lvl9pPr algn="r">
              <a:defRPr sz="1200" b="0">
                <a:solidFill>
                  <a:srgbClr val="66818E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r">
              <a:lnSpc>
                <a:spcPct val="118000"/>
              </a:lnSpc>
              <a:buNone/>
              <a:defRPr sz="1200" b="0">
                <a:solidFill>
                  <a:srgbClr val="66818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66818E"/>
                </a:solidFill>
                <a:latin typeface="Microsoft YaHei"/>
                <a:ea typeface="Microsoft YaHei"/>
                <a:cs typeface="Microsoft YaHei"/>
              </a:rPr>
              <a:t>07 / 13</a:t>
            </a:r>
          </a:p>
        </p:txBody>
      </p:sp>
      <p:sp>
        <p:nvSpPr>
          <p:cNvPr id="21" name="text">
            <a:extLst xmlns:a="http://schemas.openxmlformats.org/drawingml/2006/main">
              <a:ext uri="{FF2B5EF4-FFF2-40B4-BE49-F238E27FC236}">
                <a16:creationId xmlns:a16="http://schemas.microsoft.com/office/drawing/2014/main" id="{4AE18C3A-0638-4F18-A613-50D38DBFE1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62075"/>
            <a:ext cx="5429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1">
                <a:solidFill>
                  <a:srgbClr val="087C78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875" b="1">
                <a:solidFill>
                  <a:srgbClr val="087C78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875" b="1">
                <a:solidFill>
                  <a:srgbClr val="087C78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875" b="1">
                <a:solidFill>
                  <a:srgbClr val="087C78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875" b="1">
                <a:solidFill>
                  <a:srgbClr val="087C78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875" b="1">
                <a:solidFill>
                  <a:srgbClr val="087C78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875" b="1">
                <a:solidFill>
                  <a:srgbClr val="087C78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875" b="1">
                <a:solidFill>
                  <a:srgbClr val="087C78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875" b="1">
                <a:solidFill>
                  <a:srgbClr val="087C78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875" b="1">
                <a:solidFill>
                  <a:srgbClr val="087C7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lnSpc>
                <a:spcPct val="118000"/>
              </a:lnSpc>
              <a:buNone/>
              <a:defRPr sz="1875" b="1">
                <a:solidFill>
                  <a:srgbClr val="087C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087C78"/>
                </a:solidFill>
                <a:latin typeface="Microsoft YaHei"/>
                <a:ea typeface="Microsoft YaHei"/>
                <a:cs typeface="Microsoft YaHei"/>
              </a:rPr>
              <a:t>六通道结构表示</a:t>
            </a:r>
          </a:p>
        </p:txBody>
      </p:sp>
      <p:sp>
        <p:nvSpPr>
          <p:cNvPr id="22" name="text">
            <a:extLst xmlns:a="http://schemas.openxmlformats.org/drawingml/2006/main">
              <a:ext uri="{FF2B5EF4-FFF2-40B4-BE49-F238E27FC236}">
                <a16:creationId xmlns:a16="http://schemas.microsoft.com/office/drawing/2014/main" id="{BDC6D11E-6C2E-4579-920E-7B72D65D83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19275"/>
            <a:ext cx="5429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75" b="0">
                <a:solidFill>
                  <a:srgbClr val="365567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575" b="0">
                <a:solidFill>
                  <a:srgbClr val="365567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575" b="0">
                <a:solidFill>
                  <a:srgbClr val="365567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575" b="0">
                <a:solidFill>
                  <a:srgbClr val="365567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575" b="0">
                <a:solidFill>
                  <a:srgbClr val="365567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575" b="0">
                <a:solidFill>
                  <a:srgbClr val="365567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575" b="0">
                <a:solidFill>
                  <a:srgbClr val="365567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575" b="0">
                <a:solidFill>
                  <a:srgbClr val="365567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575" b="0">
                <a:solidFill>
                  <a:srgbClr val="365567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575" b="0">
                <a:solidFill>
                  <a:srgbClr val="36556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lnSpc>
                <a:spcPct val="118000"/>
              </a:lnSpc>
              <a:buNone/>
              <a:defRPr sz="1575" b="0">
                <a:solidFill>
                  <a:srgbClr val="36556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365567"/>
                </a:solidFill>
                <a:latin typeface="Microsoft YaHei"/>
                <a:ea typeface="Microsoft YaHei"/>
                <a:cs typeface="Microsoft YaHei"/>
              </a:rPr>
              <a:t>横、竖、左斜、右斜、复合五方向与关键点；</a:t>
            </a:r>
          </a:p>
          <a:p xmlns:a="http://schemas.openxmlformats.org/drawingml/2006/main">
            <a:pPr algn="l">
              <a:lnSpc>
                <a:spcPct val="118000"/>
              </a:lnSpc>
              <a:buNone/>
              <a:defRPr sz="1575" b="0">
                <a:solidFill>
                  <a:srgbClr val="36556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365567"/>
                </a:solidFill>
                <a:latin typeface="Microsoft YaHei"/>
                <a:ea typeface="Microsoft YaHei"/>
                <a:cs typeface="Microsoft YaHei"/>
              </a:rPr>
              <a:t>允许交叉区域重叠激活，保留完整笔画。</a:t>
            </a:r>
          </a:p>
        </p:txBody>
      </p:sp>
      <p:sp>
        <p:nvSpPr>
          <p:cNvPr id="23" name="text">
            <a:extLst xmlns:a="http://schemas.openxmlformats.org/drawingml/2006/main">
              <a:ext uri="{FF2B5EF4-FFF2-40B4-BE49-F238E27FC236}">
                <a16:creationId xmlns:a16="http://schemas.microsoft.com/office/drawing/2014/main" id="{27E457CE-F2F2-4ED4-BB12-A0F10B9E3A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505075"/>
            <a:ext cx="5429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1">
                <a:solidFill>
                  <a:srgbClr val="087C78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875" b="1">
                <a:solidFill>
                  <a:srgbClr val="087C78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875" b="1">
                <a:solidFill>
                  <a:srgbClr val="087C78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875" b="1">
                <a:solidFill>
                  <a:srgbClr val="087C78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875" b="1">
                <a:solidFill>
                  <a:srgbClr val="087C78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875" b="1">
                <a:solidFill>
                  <a:srgbClr val="087C78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875" b="1">
                <a:solidFill>
                  <a:srgbClr val="087C78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875" b="1">
                <a:solidFill>
                  <a:srgbClr val="087C78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875" b="1">
                <a:solidFill>
                  <a:srgbClr val="087C78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875" b="1">
                <a:solidFill>
                  <a:srgbClr val="087C7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lnSpc>
                <a:spcPct val="118000"/>
              </a:lnSpc>
              <a:buNone/>
              <a:defRPr sz="1875" b="1">
                <a:solidFill>
                  <a:srgbClr val="087C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087C78"/>
                </a:solidFill>
                <a:latin typeface="Microsoft YaHei"/>
                <a:ea typeface="Microsoft YaHei"/>
                <a:cs typeface="Microsoft YaHei"/>
              </a:rPr>
              <a:t>769 个洁净独立样本</a:t>
            </a:r>
          </a:p>
        </p:txBody>
      </p:sp>
      <p:sp>
        <p:nvSpPr>
          <p:cNvPr id="24" name="text">
            <a:extLst xmlns:a="http://schemas.openxmlformats.org/drawingml/2006/main">
              <a:ext uri="{FF2B5EF4-FFF2-40B4-BE49-F238E27FC236}">
                <a16:creationId xmlns:a16="http://schemas.microsoft.com/office/drawing/2014/main" id="{A34FE10B-19BE-4329-89C5-338023A200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962275"/>
            <a:ext cx="54292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75" b="0">
                <a:solidFill>
                  <a:srgbClr val="365567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575" b="0">
                <a:solidFill>
                  <a:srgbClr val="365567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575" b="0">
                <a:solidFill>
                  <a:srgbClr val="365567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575" b="0">
                <a:solidFill>
                  <a:srgbClr val="365567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575" b="0">
                <a:solidFill>
                  <a:srgbClr val="365567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575" b="0">
                <a:solidFill>
                  <a:srgbClr val="365567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575" b="0">
                <a:solidFill>
                  <a:srgbClr val="365567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575" b="0">
                <a:solidFill>
                  <a:srgbClr val="365567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575" b="0">
                <a:solidFill>
                  <a:srgbClr val="365567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575" b="0">
                <a:solidFill>
                  <a:srgbClr val="36556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lnSpc>
                <a:spcPct val="118000"/>
              </a:lnSpc>
              <a:buNone/>
              <a:defRPr sz="1575" b="0">
                <a:solidFill>
                  <a:srgbClr val="36556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365567"/>
                </a:solidFill>
                <a:latin typeface="Microsoft YaHei"/>
                <a:ea typeface="Microsoft YaHei"/>
                <a:cs typeface="Microsoft YaHei"/>
              </a:rPr>
              <a:t>840 份 GT 校验后，剔除 12 个错配与 59 个重复；</a:t>
            </a:r>
          </a:p>
          <a:p xmlns:a="http://schemas.openxmlformats.org/drawingml/2006/main">
            <a:pPr algn="l">
              <a:lnSpc>
                <a:spcPct val="118000"/>
              </a:lnSpc>
              <a:buNone/>
              <a:defRPr sz="1575" b="0">
                <a:solidFill>
                  <a:srgbClr val="36556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365567"/>
                </a:solidFill>
                <a:latin typeface="Microsoft YaHei"/>
                <a:ea typeface="Microsoft YaHei"/>
                <a:cs typeface="Microsoft YaHei"/>
              </a:rPr>
              <a:t>数据与划分冻结。</a:t>
            </a:r>
          </a:p>
        </p:txBody>
      </p:sp>
      <p:sp>
        <p:nvSpPr>
          <p:cNvPr id="25" name="text">
            <a:extLst xmlns:a="http://schemas.openxmlformats.org/drawingml/2006/main">
              <a:ext uri="{FF2B5EF4-FFF2-40B4-BE49-F238E27FC236}">
                <a16:creationId xmlns:a16="http://schemas.microsoft.com/office/drawing/2014/main" id="{1345788E-2992-4E6F-81A2-B3A018CC6D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67125"/>
            <a:ext cx="5429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75" b="1">
                <a:solidFill>
                  <a:srgbClr val="365567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575" b="1">
                <a:solidFill>
                  <a:srgbClr val="365567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575" b="1">
                <a:solidFill>
                  <a:srgbClr val="365567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575" b="1">
                <a:solidFill>
                  <a:srgbClr val="365567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575" b="1">
                <a:solidFill>
                  <a:srgbClr val="365567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575" b="1">
                <a:solidFill>
                  <a:srgbClr val="365567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575" b="1">
                <a:solidFill>
                  <a:srgbClr val="365567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575" b="1">
                <a:solidFill>
                  <a:srgbClr val="365567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575" b="1">
                <a:solidFill>
                  <a:srgbClr val="365567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575" b="1">
                <a:solidFill>
                  <a:srgbClr val="36556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lnSpc>
                <a:spcPct val="118000"/>
              </a:lnSpc>
              <a:buNone/>
              <a:defRPr sz="1575" b="1">
                <a:solidFill>
                  <a:srgbClr val="36556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365567"/>
                </a:solidFill>
                <a:latin typeface="Microsoft YaHei"/>
                <a:ea typeface="Microsoft YaHei"/>
                <a:cs typeface="Microsoft YaHei"/>
              </a:rPr>
              <a:t>3 模型 × 2 划分 × 3 随机种子，共 18 组训练</a:t>
            </a:r>
          </a:p>
        </p:txBody>
      </p:sp>
      <p:sp>
        <p:nvSpPr>
          <p:cNvPr id="26" name="text">
            <a:extLst xmlns:a="http://schemas.openxmlformats.org/drawingml/2006/main">
              <a:ext uri="{FF2B5EF4-FFF2-40B4-BE49-F238E27FC236}">
                <a16:creationId xmlns:a16="http://schemas.microsoft.com/office/drawing/2014/main" id="{8D7130EE-D78C-4F9A-A1E6-1822324E12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24575"/>
            <a:ext cx="55721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00" b="0">
                <a:solidFill>
                  <a:srgbClr val="66818E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200" b="0">
                <a:solidFill>
                  <a:srgbClr val="66818E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200" b="0">
                <a:solidFill>
                  <a:srgbClr val="66818E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200" b="0">
                <a:solidFill>
                  <a:srgbClr val="66818E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200" b="0">
                <a:solidFill>
                  <a:srgbClr val="66818E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200" b="0">
                <a:solidFill>
                  <a:srgbClr val="66818E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200" b="0">
                <a:solidFill>
                  <a:srgbClr val="66818E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200" b="0">
                <a:solidFill>
                  <a:srgbClr val="66818E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200" b="0">
                <a:solidFill>
                  <a:srgbClr val="66818E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200" b="0">
                <a:solidFill>
                  <a:srgbClr val="66818E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lnSpc>
                <a:spcPct val="118000"/>
              </a:lnSpc>
              <a:buNone/>
              <a:defRPr sz="1200" b="0">
                <a:solidFill>
                  <a:srgbClr val="66818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66818E"/>
                </a:solidFill>
                <a:latin typeface="Microsoft YaHei"/>
                <a:ea typeface="Microsoft YaHei"/>
                <a:cs typeface="Microsoft YaHei"/>
              </a:rPr>
              <a:t>三次种子均值；未见字采用 character-disjoint 字符隔离划分</a:t>
            </a:r>
          </a:p>
        </p:txBody>
      </p:sp>
      <p:sp>
        <p:nvSpPr>
          <p:cNvPr id="27" name="text">
            <a:extLst xmlns:a="http://schemas.openxmlformats.org/drawingml/2006/main">
              <a:ext uri="{FF2B5EF4-FFF2-40B4-BE49-F238E27FC236}">
                <a16:creationId xmlns:a16="http://schemas.microsoft.com/office/drawing/2014/main" id="{AEB70216-B216-490B-B246-CF62C38075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4752975"/>
            <a:ext cx="51625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350" b="0">
                <a:solidFill>
                  <a:srgbClr val="66818E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350" b="0">
                <a:solidFill>
                  <a:srgbClr val="66818E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350" b="0">
                <a:solidFill>
                  <a:srgbClr val="66818E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350" b="0">
                <a:solidFill>
                  <a:srgbClr val="66818E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350" b="0">
                <a:solidFill>
                  <a:srgbClr val="66818E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350" b="0">
                <a:solidFill>
                  <a:srgbClr val="66818E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350" b="0">
                <a:solidFill>
                  <a:srgbClr val="66818E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350" b="0">
                <a:solidFill>
                  <a:srgbClr val="66818E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350" b="0">
                <a:solidFill>
                  <a:srgbClr val="66818E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350" b="0">
                <a:solidFill>
                  <a:srgbClr val="66818E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lnSpc>
                <a:spcPct val="118000"/>
              </a:lnSpc>
              <a:buNone/>
              <a:defRPr sz="1350" b="0">
                <a:solidFill>
                  <a:srgbClr val="66818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66818E"/>
                </a:solidFill>
                <a:latin typeface="Microsoft YaHei"/>
                <a:ea typeface="Microsoft YaHei"/>
                <a:cs typeface="Microsoft YaHei"/>
              </a:rPr>
              <a:t>论文 Fig.4：输入、GT 与三模型输出</a:t>
            </a:r>
          </a:p>
          <a:p xmlns:a="http://schemas.openxmlformats.org/drawingml/2006/main">
            <a:pPr algn="l">
              <a:lnSpc>
                <a:spcPct val="118000"/>
              </a:lnSpc>
              <a:buNone/>
              <a:defRPr sz="1350" b="0">
                <a:solidFill>
                  <a:srgbClr val="66818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66818E"/>
                </a:solidFill>
                <a:latin typeface="Microsoft YaHei"/>
                <a:ea typeface="Microsoft YaHei"/>
                <a:cs typeface="Microsoft YaHei"/>
              </a:rPr>
              <a:t>交叉、端点稀疏和未见字场景的分割比较</a:t>
            </a:r>
          </a:p>
        </p:txBody>
      </p:sp>
      <p:sp>
        <p:nvSpPr>
          <p:cNvPr id="28" name="text">
            <a:extLst xmlns:a="http://schemas.openxmlformats.org/drawingml/2006/main">
              <a:ext uri="{FF2B5EF4-FFF2-40B4-BE49-F238E27FC236}">
                <a16:creationId xmlns:a16="http://schemas.microsoft.com/office/drawing/2014/main" id="{EE1E6CDC-48A9-4AAA-A37B-36E56A1553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5467350"/>
            <a:ext cx="51625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950" b="1">
                <a:solidFill>
                  <a:srgbClr val="087C78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950" b="1">
                <a:solidFill>
                  <a:srgbClr val="087C78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950" b="1">
                <a:solidFill>
                  <a:srgbClr val="087C78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950" b="1">
                <a:solidFill>
                  <a:srgbClr val="087C78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950" b="1">
                <a:solidFill>
                  <a:srgbClr val="087C78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950" b="1">
                <a:solidFill>
                  <a:srgbClr val="087C78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950" b="1">
                <a:solidFill>
                  <a:srgbClr val="087C78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950" b="1">
                <a:solidFill>
                  <a:srgbClr val="087C78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950" b="1">
                <a:solidFill>
                  <a:srgbClr val="087C78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950" b="1">
                <a:solidFill>
                  <a:srgbClr val="087C7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lnSpc>
                <a:spcPct val="118000"/>
              </a:lnSpc>
              <a:buNone/>
              <a:defRPr sz="1950" b="1">
                <a:solidFill>
                  <a:srgbClr val="087C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>
                <a:solidFill>
                  <a:srgbClr val="087C78"/>
                </a:solidFill>
                <a:latin typeface="Microsoft YaHei"/>
                <a:ea typeface="Microsoft YaHei"/>
                <a:cs typeface="Microsoft YaHei"/>
              </a:rPr>
              <a:t>SegFormer-B2 的未见字表现最佳</a:t>
            </a:r>
          </a:p>
        </p:txBody>
      </p:sp>
      <p:sp>
        <p:nvSpPr>
          <p:cNvPr id="29" name="text">
            <a:extLst xmlns:a="http://schemas.openxmlformats.org/drawingml/2006/main">
              <a:ext uri="{FF2B5EF4-FFF2-40B4-BE49-F238E27FC236}">
                <a16:creationId xmlns:a16="http://schemas.microsoft.com/office/drawing/2014/main" id="{7C43FF49-C8CF-405E-80CE-832638E875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5924550"/>
            <a:ext cx="51625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00" b="0">
                <a:solidFill>
                  <a:srgbClr val="365567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500" b="0">
                <a:solidFill>
                  <a:srgbClr val="365567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500" b="0">
                <a:solidFill>
                  <a:srgbClr val="365567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500" b="0">
                <a:solidFill>
                  <a:srgbClr val="365567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500" b="0">
                <a:solidFill>
                  <a:srgbClr val="365567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500" b="0">
                <a:solidFill>
                  <a:srgbClr val="365567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500" b="0">
                <a:solidFill>
                  <a:srgbClr val="365567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500" b="0">
                <a:solidFill>
                  <a:srgbClr val="365567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500" b="0">
                <a:solidFill>
                  <a:srgbClr val="365567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500" b="0">
                <a:solidFill>
                  <a:srgbClr val="36556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lnSpc>
                <a:spcPct val="118000"/>
              </a:lnSpc>
              <a:buNone/>
              <a:defRPr sz="1500" b="0">
                <a:solidFill>
                  <a:srgbClr val="36556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365567"/>
                </a:solidFill>
                <a:latin typeface="Microsoft YaHei"/>
                <a:ea typeface="Microsoft YaHei"/>
                <a:cs typeface="Microsoft YaHei"/>
              </a:rPr>
              <a:t>精度下降最小，选为线上冻结模型 segformer-b2-v1。</a:t>
            </a:r>
          </a:p>
        </p:txBody>
      </p:sp>
    </p:spTree>
    <p:extLst>
      <p:ext uri="{BB962C8B-B14F-4D97-AF65-F5344CB8AC3E}">
        <p14:creationId xmlns:p14="http://schemas.microsoft.com/office/powerpoint/2010/main" val="2008035324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DFEEE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6" name="pipe-fig">
            <a:extLst xmlns:a="http://schemas.openxmlformats.org/drawingml/2006/main">
              <a:ext uri="{FF2B5EF4-FFF2-40B4-BE49-F238E27FC236}">
                <a16:creationId xmlns:a16="http://schemas.microsoft.com/office/drawing/2014/main" id="{5E814EDD-CB75-4FD0-9EF0-1251C07D060C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18c4d8d4fff4be0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09600" y="1266825"/>
            <a:ext cx="10972800" cy="2981325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pic>
        <p:nvPicPr>
          <p:cNvPr id="12" name="shot-practice">
            <a:extLst xmlns:a="http://schemas.openxmlformats.org/drawingml/2006/main">
              <a:ext uri="{FF2B5EF4-FFF2-40B4-BE49-F238E27FC236}">
                <a16:creationId xmlns:a16="http://schemas.microsoft.com/office/drawing/2014/main" id="{A2A03ABC-4AAF-4BCE-9725-495F478CD8B8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89b5d1152ec4ff3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9105900" y="4762500"/>
            <a:ext cx="2476500" cy="173355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sp>
        <p:nvSpPr>
          <p:cNvPr id="13" name="slide-title">
            <a:extLst xmlns:a="http://schemas.openxmlformats.org/drawingml/2006/main">
              <a:ext uri="{FF2B5EF4-FFF2-40B4-BE49-F238E27FC236}">
                <a16:creationId xmlns:a16="http://schemas.microsoft.com/office/drawing/2014/main" id="{462033B2-563D-43BD-A451-4FB8B8F10F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97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000" b="1">
                <a:solidFill>
                  <a:srgbClr val="16394B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3000" b="1">
                <a:solidFill>
                  <a:srgbClr val="16394B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3000" b="1">
                <a:solidFill>
                  <a:srgbClr val="16394B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3000" b="1">
                <a:solidFill>
                  <a:srgbClr val="16394B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3000" b="1">
                <a:solidFill>
                  <a:srgbClr val="16394B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3000" b="1">
                <a:solidFill>
                  <a:srgbClr val="16394B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3000" b="1">
                <a:solidFill>
                  <a:srgbClr val="16394B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3000" b="1">
                <a:solidFill>
                  <a:srgbClr val="16394B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3000" b="1">
                <a:solidFill>
                  <a:srgbClr val="16394B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3000" b="1">
                <a:solidFill>
                  <a:srgbClr val="16394B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lnSpc>
                <a:spcPct val="118000"/>
              </a:lnSpc>
              <a:buNone/>
              <a:defRPr sz="3000" b="1">
                <a:solidFill>
                  <a:srgbClr val="16394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000" b="1">
                <a:solidFill>
                  <a:srgbClr val="16394B"/>
                </a:solidFill>
                <a:latin typeface="Microsoft YaHei"/>
                <a:ea typeface="Microsoft YaHei"/>
                <a:cs typeface="Microsoft YaHei"/>
              </a:rPr>
              <a:t>核心进展 ② 结构评分与可解释反馈</a:t>
            </a:r>
          </a:p>
        </p:txBody>
      </p:sp>
      <p:sp>
        <p:nvSpPr>
          <p:cNvPr id="14" name="footer">
            <a:extLst xmlns:a="http://schemas.openxmlformats.org/drawingml/2006/main">
              <a:ext uri="{FF2B5EF4-FFF2-40B4-BE49-F238E27FC236}">
                <a16:creationId xmlns:a16="http://schemas.microsoft.com/office/drawing/2014/main" id="{429F8231-6E69-4575-9066-70E9DB8DFE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05575"/>
            <a:ext cx="6667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125" b="0">
                <a:solidFill>
                  <a:srgbClr val="66818E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125" b="0">
                <a:solidFill>
                  <a:srgbClr val="66818E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125" b="0">
                <a:solidFill>
                  <a:srgbClr val="66818E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125" b="0">
                <a:solidFill>
                  <a:srgbClr val="66818E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125" b="0">
                <a:solidFill>
                  <a:srgbClr val="66818E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125" b="0">
                <a:solidFill>
                  <a:srgbClr val="66818E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125" b="0">
                <a:solidFill>
                  <a:srgbClr val="66818E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125" b="0">
                <a:solidFill>
                  <a:srgbClr val="66818E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125" b="0">
                <a:solidFill>
                  <a:srgbClr val="66818E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125" b="0">
                <a:solidFill>
                  <a:srgbClr val="66818E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lnSpc>
                <a:spcPct val="118000"/>
              </a:lnSpc>
              <a:buNone/>
              <a:defRPr sz="1125" b="0">
                <a:solidFill>
                  <a:srgbClr val="66818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66818E"/>
                </a:solidFill>
                <a:latin typeface="Microsoft YaHei"/>
                <a:ea typeface="Microsoft YaHei"/>
                <a:cs typeface="Microsoft YaHei"/>
              </a:rPr>
              <a:t>一笔成章  /  中期汇报</a:t>
            </a:r>
          </a:p>
        </p:txBody>
      </p:sp>
      <p:sp>
        <p:nvSpPr>
          <p:cNvPr id="15" name="page-number">
            <a:extLst xmlns:a="http://schemas.openxmlformats.org/drawingml/2006/main">
              <a:ext uri="{FF2B5EF4-FFF2-40B4-BE49-F238E27FC236}">
                <a16:creationId xmlns:a16="http://schemas.microsoft.com/office/drawing/2014/main" id="{00D1155F-6E89-4627-9F1A-13CAE954E3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6486525"/>
            <a:ext cx="8191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200" b="0">
                <a:solidFill>
                  <a:srgbClr val="66818E"/>
                </a:solidFill>
                <a:latin typeface="Microsoft YaHei"/>
                <a:ea typeface="Microsoft YaHei"/>
                <a:cs typeface="Microsoft YaHei"/>
              </a:defRPr>
            </a:defPPr>
            <a:lvl1pPr algn="r">
              <a:defRPr sz="1200" b="0">
                <a:solidFill>
                  <a:srgbClr val="66818E"/>
                </a:solidFill>
                <a:latin typeface="Microsoft YaHei"/>
                <a:ea typeface="Microsoft YaHei"/>
                <a:cs typeface="Microsoft YaHei"/>
              </a:defRPr>
            </a:lvl1pPr>
            <a:lvl2pPr algn="r">
              <a:defRPr sz="1200" b="0">
                <a:solidFill>
                  <a:srgbClr val="66818E"/>
                </a:solidFill>
                <a:latin typeface="Microsoft YaHei"/>
                <a:ea typeface="Microsoft YaHei"/>
                <a:cs typeface="Microsoft YaHei"/>
              </a:defRPr>
            </a:lvl2pPr>
            <a:lvl3pPr algn="r">
              <a:defRPr sz="1200" b="0">
                <a:solidFill>
                  <a:srgbClr val="66818E"/>
                </a:solidFill>
                <a:latin typeface="Microsoft YaHei"/>
                <a:ea typeface="Microsoft YaHei"/>
                <a:cs typeface="Microsoft YaHei"/>
              </a:defRPr>
            </a:lvl3pPr>
            <a:lvl4pPr algn="r">
              <a:defRPr sz="1200" b="0">
                <a:solidFill>
                  <a:srgbClr val="66818E"/>
                </a:solidFill>
                <a:latin typeface="Microsoft YaHei"/>
                <a:ea typeface="Microsoft YaHei"/>
                <a:cs typeface="Microsoft YaHei"/>
              </a:defRPr>
            </a:lvl4pPr>
            <a:lvl5pPr algn="r">
              <a:defRPr sz="1200" b="0">
                <a:solidFill>
                  <a:srgbClr val="66818E"/>
                </a:solidFill>
                <a:latin typeface="Microsoft YaHei"/>
                <a:ea typeface="Microsoft YaHei"/>
                <a:cs typeface="Microsoft YaHei"/>
              </a:defRPr>
            </a:lvl5pPr>
            <a:lvl6pPr algn="r">
              <a:defRPr sz="1200" b="0">
                <a:solidFill>
                  <a:srgbClr val="66818E"/>
                </a:solidFill>
                <a:latin typeface="Microsoft YaHei"/>
                <a:ea typeface="Microsoft YaHei"/>
                <a:cs typeface="Microsoft YaHei"/>
              </a:defRPr>
            </a:lvl6pPr>
            <a:lvl7pPr algn="r">
              <a:defRPr sz="1200" b="0">
                <a:solidFill>
                  <a:srgbClr val="66818E"/>
                </a:solidFill>
                <a:latin typeface="Microsoft YaHei"/>
                <a:ea typeface="Microsoft YaHei"/>
                <a:cs typeface="Microsoft YaHei"/>
              </a:defRPr>
            </a:lvl7pPr>
            <a:lvl8pPr algn="r">
              <a:defRPr sz="1200" b="0">
                <a:solidFill>
                  <a:srgbClr val="66818E"/>
                </a:solidFill>
                <a:latin typeface="Microsoft YaHei"/>
                <a:ea typeface="Microsoft YaHei"/>
                <a:cs typeface="Microsoft YaHei"/>
              </a:defRPr>
            </a:lvl8pPr>
            <a:lvl9pPr algn="r">
              <a:defRPr sz="1200" b="0">
                <a:solidFill>
                  <a:srgbClr val="66818E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r">
              <a:lnSpc>
                <a:spcPct val="118000"/>
              </a:lnSpc>
              <a:buNone/>
              <a:defRPr sz="1200" b="0">
                <a:solidFill>
                  <a:srgbClr val="66818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66818E"/>
                </a:solidFill>
                <a:latin typeface="Microsoft YaHei"/>
                <a:ea typeface="Microsoft YaHei"/>
                <a:cs typeface="Microsoft YaHei"/>
              </a:rPr>
              <a:t>08 / 13</a:t>
            </a:r>
          </a:p>
        </p:txBody>
      </p:sp>
      <p:sp>
        <p:nvSpPr>
          <p:cNvPr id="16" name="text">
            <a:extLst xmlns:a="http://schemas.openxmlformats.org/drawingml/2006/main">
              <a:ext uri="{FF2B5EF4-FFF2-40B4-BE49-F238E27FC236}">
                <a16:creationId xmlns:a16="http://schemas.microsoft.com/office/drawing/2014/main" id="{6D8F6778-FABF-4B09-A0C3-EC7AD683B5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343400"/>
            <a:ext cx="1097280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350" b="0">
                <a:solidFill>
                  <a:srgbClr val="66818E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350" b="0">
                <a:solidFill>
                  <a:srgbClr val="66818E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350" b="0">
                <a:solidFill>
                  <a:srgbClr val="66818E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350" b="0">
                <a:solidFill>
                  <a:srgbClr val="66818E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350" b="0">
                <a:solidFill>
                  <a:srgbClr val="66818E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350" b="0">
                <a:solidFill>
                  <a:srgbClr val="66818E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350" b="0">
                <a:solidFill>
                  <a:srgbClr val="66818E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350" b="0">
                <a:solidFill>
                  <a:srgbClr val="66818E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350" b="0">
                <a:solidFill>
                  <a:srgbClr val="66818E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350" b="0">
                <a:solidFill>
                  <a:srgbClr val="66818E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lnSpc>
                <a:spcPct val="118000"/>
              </a:lnSpc>
              <a:buNone/>
              <a:defRPr sz="1350" b="0">
                <a:solidFill>
                  <a:srgbClr val="66818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66818E"/>
                </a:solidFill>
                <a:latin typeface="Microsoft YaHei"/>
                <a:ea typeface="Microsoft YaHei"/>
                <a:cs typeface="Microsoft YaHei"/>
              </a:rPr>
              <a:t>论文 Fig.1：同字参照、笔画解析、受限对齐、空间与方向证据、可审计输出</a:t>
            </a:r>
          </a:p>
        </p:txBody>
      </p:sp>
      <p:sp>
        <p:nvSpPr>
          <p:cNvPr id="17" name="text">
            <a:extLst xmlns:a="http://schemas.openxmlformats.org/drawingml/2006/main">
              <a:ext uri="{FF2B5EF4-FFF2-40B4-BE49-F238E27FC236}">
                <a16:creationId xmlns:a16="http://schemas.microsoft.com/office/drawing/2014/main" id="{A52CD9C8-0D0C-4D68-869B-DB2F2A017E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810125"/>
            <a:ext cx="75247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1">
                <a:solidFill>
                  <a:srgbClr val="087C78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875" b="1">
                <a:solidFill>
                  <a:srgbClr val="087C78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875" b="1">
                <a:solidFill>
                  <a:srgbClr val="087C78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875" b="1">
                <a:solidFill>
                  <a:srgbClr val="087C78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875" b="1">
                <a:solidFill>
                  <a:srgbClr val="087C78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875" b="1">
                <a:solidFill>
                  <a:srgbClr val="087C78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875" b="1">
                <a:solidFill>
                  <a:srgbClr val="087C78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875" b="1">
                <a:solidFill>
                  <a:srgbClr val="087C78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875" b="1">
                <a:solidFill>
                  <a:srgbClr val="087C78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875" b="1">
                <a:solidFill>
                  <a:srgbClr val="087C7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lnSpc>
                <a:spcPct val="118000"/>
              </a:lnSpc>
              <a:buNone/>
              <a:defRPr sz="1875" b="1">
                <a:solidFill>
                  <a:srgbClr val="087C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087C78"/>
                </a:solidFill>
                <a:latin typeface="Microsoft YaHei"/>
                <a:ea typeface="Microsoft YaHei"/>
                <a:cs typeface="Microsoft YaHei"/>
              </a:rPr>
              <a:t>参考结构匹配度 =</a:t>
            </a:r>
          </a:p>
        </p:txBody>
      </p:sp>
      <p:sp>
        <p:nvSpPr>
          <p:cNvPr id="18" name="text">
            <a:extLst xmlns:a="http://schemas.openxmlformats.org/drawingml/2006/main">
              <a:ext uri="{FF2B5EF4-FFF2-40B4-BE49-F238E27FC236}">
                <a16:creationId xmlns:a16="http://schemas.microsoft.com/office/drawing/2014/main" id="{394AD179-518F-4ADC-AEC8-C93B0DED65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219700"/>
            <a:ext cx="7667625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950" b="1">
                <a:solidFill>
                  <a:srgbClr val="16394B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950" b="1">
                <a:solidFill>
                  <a:srgbClr val="16394B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950" b="1">
                <a:solidFill>
                  <a:srgbClr val="16394B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950" b="1">
                <a:solidFill>
                  <a:srgbClr val="16394B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950" b="1">
                <a:solidFill>
                  <a:srgbClr val="16394B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950" b="1">
                <a:solidFill>
                  <a:srgbClr val="16394B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950" b="1">
                <a:solidFill>
                  <a:srgbClr val="16394B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950" b="1">
                <a:solidFill>
                  <a:srgbClr val="16394B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950" b="1">
                <a:solidFill>
                  <a:srgbClr val="16394B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950" b="1">
                <a:solidFill>
                  <a:srgbClr val="16394B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lnSpc>
                <a:spcPct val="118000"/>
              </a:lnSpc>
              <a:buNone/>
              <a:defRPr sz="1950" b="1">
                <a:solidFill>
                  <a:srgbClr val="16394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>
                <a:solidFill>
                  <a:srgbClr val="16394B"/>
                </a:solidFill>
                <a:latin typeface="Microsoft YaHei"/>
                <a:ea typeface="Microsoft YaHei"/>
                <a:cs typeface="Microsoft YaHei"/>
              </a:rPr>
              <a:t>0.55×方向 Dice + 0.25×墨迹 IoU + 0.20×关键点 F1</a:t>
            </a:r>
          </a:p>
        </p:txBody>
      </p:sp>
      <p:sp>
        <p:nvSpPr>
          <p:cNvPr id="19" name="text">
            <a:extLst xmlns:a="http://schemas.openxmlformats.org/drawingml/2006/main">
              <a:ext uri="{FF2B5EF4-FFF2-40B4-BE49-F238E27FC236}">
                <a16:creationId xmlns:a16="http://schemas.microsoft.com/office/drawing/2014/main" id="{D072CB34-BACA-4BC8-821B-02E29EE12B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743575"/>
            <a:ext cx="7667625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00" b="0">
                <a:solidFill>
                  <a:srgbClr val="365567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500" b="0">
                <a:solidFill>
                  <a:srgbClr val="365567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500" b="0">
                <a:solidFill>
                  <a:srgbClr val="365567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500" b="0">
                <a:solidFill>
                  <a:srgbClr val="365567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500" b="0">
                <a:solidFill>
                  <a:srgbClr val="365567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500" b="0">
                <a:solidFill>
                  <a:srgbClr val="365567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500" b="0">
                <a:solidFill>
                  <a:srgbClr val="365567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500" b="0">
                <a:solidFill>
                  <a:srgbClr val="365567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500" b="0">
                <a:solidFill>
                  <a:srgbClr val="365567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500" b="0">
                <a:solidFill>
                  <a:srgbClr val="36556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lnSpc>
                <a:spcPct val="118000"/>
              </a:lnSpc>
              <a:buNone/>
              <a:defRPr sz="1500" b="0">
                <a:solidFill>
                  <a:srgbClr val="36556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365567"/>
                </a:solidFill>
                <a:latin typeface="Microsoft YaHei"/>
                <a:ea typeface="Microsoft YaHei"/>
                <a:cs typeface="Microsoft YaHei"/>
              </a:rPr>
              <a:t>仅允许平移、0.80–1.20 等比缩放、±3° 旋转。</a:t>
            </a:r>
          </a:p>
          <a:p xmlns:a="http://schemas.openxmlformats.org/drawingml/2006/main">
            <a:pPr algn="l">
              <a:lnSpc>
                <a:spcPct val="118000"/>
              </a:lnSpc>
              <a:buNone/>
              <a:defRPr sz="1500" b="0">
                <a:solidFill>
                  <a:srgbClr val="36556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365567"/>
                </a:solidFill>
                <a:latin typeface="Microsoft YaHei"/>
                <a:ea typeface="Microsoft YaHei"/>
                <a:cs typeface="Microsoft YaHei"/>
              </a:rPr>
              <a:t>规则建议逐条对应证据；DeepSeek 润色语言，不能改分或虚构笔顺。</a:t>
            </a:r>
          </a:p>
        </p:txBody>
      </p:sp>
    </p:spTree>
    <p:extLst>
      <p:ext uri="{BB962C8B-B14F-4D97-AF65-F5344CB8AC3E}">
        <p14:creationId xmlns:p14="http://schemas.microsoft.com/office/powerpoint/2010/main" val="772825618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DBEAF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6" name="shot-course">
            <a:extLst xmlns:a="http://schemas.openxmlformats.org/drawingml/2006/main">
              <a:ext uri="{FF2B5EF4-FFF2-40B4-BE49-F238E27FC236}">
                <a16:creationId xmlns:a16="http://schemas.microsoft.com/office/drawing/2014/main" id="{7AF8982A-230A-4B58-A4A9-82DC9BF99A88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96c0753debd437e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172200" y="2171700"/>
            <a:ext cx="2695575" cy="188595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pic>
        <p:nvPicPr>
          <p:cNvPr id="18" name="shot-stats">
            <a:extLst xmlns:a="http://schemas.openxmlformats.org/drawingml/2006/main">
              <a:ext uri="{FF2B5EF4-FFF2-40B4-BE49-F238E27FC236}">
                <a16:creationId xmlns:a16="http://schemas.microsoft.com/office/drawing/2014/main" id="{BA96CB50-C75B-4C64-ABA0-5E3492299196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55ebf898b8e4671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9010650" y="2171700"/>
            <a:ext cx="2695575" cy="188595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sp>
        <p:nvSpPr>
          <p:cNvPr id="19" name="slide-title">
            <a:extLst xmlns:a="http://schemas.openxmlformats.org/drawingml/2006/main">
              <a:ext uri="{FF2B5EF4-FFF2-40B4-BE49-F238E27FC236}">
                <a16:creationId xmlns:a16="http://schemas.microsoft.com/office/drawing/2014/main" id="{137580AF-0981-464B-9ED8-EE636D8741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97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000" b="1">
                <a:solidFill>
                  <a:srgbClr val="16394B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3000" b="1">
                <a:solidFill>
                  <a:srgbClr val="16394B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3000" b="1">
                <a:solidFill>
                  <a:srgbClr val="16394B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3000" b="1">
                <a:solidFill>
                  <a:srgbClr val="16394B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3000" b="1">
                <a:solidFill>
                  <a:srgbClr val="16394B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3000" b="1">
                <a:solidFill>
                  <a:srgbClr val="16394B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3000" b="1">
                <a:solidFill>
                  <a:srgbClr val="16394B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3000" b="1">
                <a:solidFill>
                  <a:srgbClr val="16394B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3000" b="1">
                <a:solidFill>
                  <a:srgbClr val="16394B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3000" b="1">
                <a:solidFill>
                  <a:srgbClr val="16394B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lnSpc>
                <a:spcPct val="118000"/>
              </a:lnSpc>
              <a:buNone/>
              <a:defRPr sz="3000" b="1">
                <a:solidFill>
                  <a:srgbClr val="16394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000" b="1">
                <a:solidFill>
                  <a:srgbClr val="16394B"/>
                </a:solidFill>
                <a:latin typeface="Microsoft YaHei"/>
                <a:ea typeface="Microsoft YaHei"/>
                <a:cs typeface="Microsoft YaHei"/>
              </a:rPr>
              <a:t>核心进展 ③ 双平台产品落地</a:t>
            </a:r>
          </a:p>
        </p:txBody>
      </p:sp>
      <p:sp>
        <p:nvSpPr>
          <p:cNvPr id="20" name="footer">
            <a:extLst xmlns:a="http://schemas.openxmlformats.org/drawingml/2006/main">
              <a:ext uri="{FF2B5EF4-FFF2-40B4-BE49-F238E27FC236}">
                <a16:creationId xmlns:a16="http://schemas.microsoft.com/office/drawing/2014/main" id="{D8203DD2-962B-4CD0-A7BA-DF7CA3AE6F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05575"/>
            <a:ext cx="6667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125" b="0">
                <a:solidFill>
                  <a:srgbClr val="66818E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125" b="0">
                <a:solidFill>
                  <a:srgbClr val="66818E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125" b="0">
                <a:solidFill>
                  <a:srgbClr val="66818E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125" b="0">
                <a:solidFill>
                  <a:srgbClr val="66818E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125" b="0">
                <a:solidFill>
                  <a:srgbClr val="66818E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125" b="0">
                <a:solidFill>
                  <a:srgbClr val="66818E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125" b="0">
                <a:solidFill>
                  <a:srgbClr val="66818E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125" b="0">
                <a:solidFill>
                  <a:srgbClr val="66818E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125" b="0">
                <a:solidFill>
                  <a:srgbClr val="66818E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125" b="0">
                <a:solidFill>
                  <a:srgbClr val="66818E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lnSpc>
                <a:spcPct val="118000"/>
              </a:lnSpc>
              <a:buNone/>
              <a:defRPr sz="1125" b="0">
                <a:solidFill>
                  <a:srgbClr val="66818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66818E"/>
                </a:solidFill>
                <a:latin typeface="Microsoft YaHei"/>
                <a:ea typeface="Microsoft YaHei"/>
                <a:cs typeface="Microsoft YaHei"/>
              </a:rPr>
              <a:t>一笔成章  /  中期汇报</a:t>
            </a:r>
          </a:p>
        </p:txBody>
      </p:sp>
      <p:sp>
        <p:nvSpPr>
          <p:cNvPr id="21" name="page-number">
            <a:extLst xmlns:a="http://schemas.openxmlformats.org/drawingml/2006/main">
              <a:ext uri="{FF2B5EF4-FFF2-40B4-BE49-F238E27FC236}">
                <a16:creationId xmlns:a16="http://schemas.microsoft.com/office/drawing/2014/main" id="{84DF267A-9062-4F99-BDA8-0C584805E4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6486525"/>
            <a:ext cx="8191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200" b="0">
                <a:solidFill>
                  <a:srgbClr val="66818E"/>
                </a:solidFill>
                <a:latin typeface="Microsoft YaHei"/>
                <a:ea typeface="Microsoft YaHei"/>
                <a:cs typeface="Microsoft YaHei"/>
              </a:defRPr>
            </a:defPPr>
            <a:lvl1pPr algn="r">
              <a:defRPr sz="1200" b="0">
                <a:solidFill>
                  <a:srgbClr val="66818E"/>
                </a:solidFill>
                <a:latin typeface="Microsoft YaHei"/>
                <a:ea typeface="Microsoft YaHei"/>
                <a:cs typeface="Microsoft YaHei"/>
              </a:defRPr>
            </a:lvl1pPr>
            <a:lvl2pPr algn="r">
              <a:defRPr sz="1200" b="0">
                <a:solidFill>
                  <a:srgbClr val="66818E"/>
                </a:solidFill>
                <a:latin typeface="Microsoft YaHei"/>
                <a:ea typeface="Microsoft YaHei"/>
                <a:cs typeface="Microsoft YaHei"/>
              </a:defRPr>
            </a:lvl2pPr>
            <a:lvl3pPr algn="r">
              <a:defRPr sz="1200" b="0">
                <a:solidFill>
                  <a:srgbClr val="66818E"/>
                </a:solidFill>
                <a:latin typeface="Microsoft YaHei"/>
                <a:ea typeface="Microsoft YaHei"/>
                <a:cs typeface="Microsoft YaHei"/>
              </a:defRPr>
            </a:lvl3pPr>
            <a:lvl4pPr algn="r">
              <a:defRPr sz="1200" b="0">
                <a:solidFill>
                  <a:srgbClr val="66818E"/>
                </a:solidFill>
                <a:latin typeface="Microsoft YaHei"/>
                <a:ea typeface="Microsoft YaHei"/>
                <a:cs typeface="Microsoft YaHei"/>
              </a:defRPr>
            </a:lvl4pPr>
            <a:lvl5pPr algn="r">
              <a:defRPr sz="1200" b="0">
                <a:solidFill>
                  <a:srgbClr val="66818E"/>
                </a:solidFill>
                <a:latin typeface="Microsoft YaHei"/>
                <a:ea typeface="Microsoft YaHei"/>
                <a:cs typeface="Microsoft YaHei"/>
              </a:defRPr>
            </a:lvl5pPr>
            <a:lvl6pPr algn="r">
              <a:defRPr sz="1200" b="0">
                <a:solidFill>
                  <a:srgbClr val="66818E"/>
                </a:solidFill>
                <a:latin typeface="Microsoft YaHei"/>
                <a:ea typeface="Microsoft YaHei"/>
                <a:cs typeface="Microsoft YaHei"/>
              </a:defRPr>
            </a:lvl6pPr>
            <a:lvl7pPr algn="r">
              <a:defRPr sz="1200" b="0">
                <a:solidFill>
                  <a:srgbClr val="66818E"/>
                </a:solidFill>
                <a:latin typeface="Microsoft YaHei"/>
                <a:ea typeface="Microsoft YaHei"/>
                <a:cs typeface="Microsoft YaHei"/>
              </a:defRPr>
            </a:lvl7pPr>
            <a:lvl8pPr algn="r">
              <a:defRPr sz="1200" b="0">
                <a:solidFill>
                  <a:srgbClr val="66818E"/>
                </a:solidFill>
                <a:latin typeface="Microsoft YaHei"/>
                <a:ea typeface="Microsoft YaHei"/>
                <a:cs typeface="Microsoft YaHei"/>
              </a:defRPr>
            </a:lvl8pPr>
            <a:lvl9pPr algn="r">
              <a:defRPr sz="1200" b="0">
                <a:solidFill>
                  <a:srgbClr val="66818E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r">
              <a:lnSpc>
                <a:spcPct val="118000"/>
              </a:lnSpc>
              <a:buNone/>
              <a:defRPr sz="1200" b="0">
                <a:solidFill>
                  <a:srgbClr val="66818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66818E"/>
                </a:solidFill>
                <a:latin typeface="Microsoft YaHei"/>
                <a:ea typeface="Microsoft YaHei"/>
                <a:cs typeface="Microsoft YaHei"/>
              </a:rPr>
              <a:t>09 / 13</a:t>
            </a:r>
          </a:p>
        </p:txBody>
      </p:sp>
      <p:sp>
        <p:nvSpPr>
          <p:cNvPr id="22" name="text">
            <a:extLst xmlns:a="http://schemas.openxmlformats.org/drawingml/2006/main">
              <a:ext uri="{FF2B5EF4-FFF2-40B4-BE49-F238E27FC236}">
                <a16:creationId xmlns:a16="http://schemas.microsoft.com/office/drawing/2014/main" id="{A6899BE5-56EE-432A-B880-FF9EBACE2A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19225"/>
            <a:ext cx="47625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600" b="1">
                <a:solidFill>
                  <a:srgbClr val="143E5A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3600" b="1">
                <a:solidFill>
                  <a:srgbClr val="143E5A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3600" b="1">
                <a:solidFill>
                  <a:srgbClr val="143E5A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3600" b="1">
                <a:solidFill>
                  <a:srgbClr val="143E5A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3600" b="1">
                <a:solidFill>
                  <a:srgbClr val="143E5A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3600" b="1">
                <a:solidFill>
                  <a:srgbClr val="143E5A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3600" b="1">
                <a:solidFill>
                  <a:srgbClr val="143E5A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3600" b="1">
                <a:solidFill>
                  <a:srgbClr val="143E5A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3600" b="1">
                <a:solidFill>
                  <a:srgbClr val="143E5A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3600" b="1">
                <a:solidFill>
                  <a:srgbClr val="143E5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lnSpc>
                <a:spcPct val="118000"/>
              </a:lnSpc>
              <a:buNone/>
              <a:defRPr sz="3600" b="1">
                <a:solidFill>
                  <a:srgbClr val="143E5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600" b="1">
                <a:solidFill>
                  <a:srgbClr val="143E5A"/>
                </a:solidFill>
                <a:latin typeface="Microsoft YaHei"/>
                <a:ea typeface="Microsoft YaHei"/>
                <a:cs typeface="Microsoft YaHei"/>
              </a:rPr>
              <a:t>Web</a:t>
            </a:r>
          </a:p>
        </p:txBody>
      </p:sp>
      <p:sp>
        <p:nvSpPr>
          <p:cNvPr id="23" name="text">
            <a:extLst xmlns:a="http://schemas.openxmlformats.org/drawingml/2006/main">
              <a:ext uri="{FF2B5EF4-FFF2-40B4-BE49-F238E27FC236}">
                <a16:creationId xmlns:a16="http://schemas.microsoft.com/office/drawing/2014/main" id="{4B5594CC-19B4-4616-BB2A-0FBB7079AA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114550"/>
            <a:ext cx="4762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250" b="1">
                <a:solidFill>
                  <a:srgbClr val="087C78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250" b="1">
                <a:solidFill>
                  <a:srgbClr val="087C78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250" b="1">
                <a:solidFill>
                  <a:srgbClr val="087C78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250" b="1">
                <a:solidFill>
                  <a:srgbClr val="087C78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250" b="1">
                <a:solidFill>
                  <a:srgbClr val="087C78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250" b="1">
                <a:solidFill>
                  <a:srgbClr val="087C78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250" b="1">
                <a:solidFill>
                  <a:srgbClr val="087C78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250" b="1">
                <a:solidFill>
                  <a:srgbClr val="087C78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250" b="1">
                <a:solidFill>
                  <a:srgbClr val="087C78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250" b="1">
                <a:solidFill>
                  <a:srgbClr val="087C7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lnSpc>
                <a:spcPct val="118000"/>
              </a:lnSpc>
              <a:buNone/>
              <a:defRPr sz="2250" b="1">
                <a:solidFill>
                  <a:srgbClr val="087C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087C78"/>
                </a:solidFill>
                <a:latin typeface="Microsoft YaHei"/>
                <a:ea typeface="Microsoft YaHei"/>
                <a:cs typeface="Microsoft YaHei"/>
              </a:rPr>
              <a:t>onestroke.cn</a:t>
            </a:r>
          </a:p>
        </p:txBody>
      </p:sp>
      <p:sp>
        <p:nvSpPr>
          <p:cNvPr id="24" name="text">
            <a:extLst xmlns:a="http://schemas.openxmlformats.org/drawingml/2006/main">
              <a:ext uri="{FF2B5EF4-FFF2-40B4-BE49-F238E27FC236}">
                <a16:creationId xmlns:a16="http://schemas.microsoft.com/office/drawing/2014/main" id="{C59E1370-4C29-4EAF-A68E-FDD99941A6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19400"/>
            <a:ext cx="4762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950" b="1">
                <a:solidFill>
                  <a:srgbClr val="087C78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950" b="1">
                <a:solidFill>
                  <a:srgbClr val="087C78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950" b="1">
                <a:solidFill>
                  <a:srgbClr val="087C78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950" b="1">
                <a:solidFill>
                  <a:srgbClr val="087C78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950" b="1">
                <a:solidFill>
                  <a:srgbClr val="087C78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950" b="1">
                <a:solidFill>
                  <a:srgbClr val="087C78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950" b="1">
                <a:solidFill>
                  <a:srgbClr val="087C78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950" b="1">
                <a:solidFill>
                  <a:srgbClr val="087C78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950" b="1">
                <a:solidFill>
                  <a:srgbClr val="087C78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950" b="1">
                <a:solidFill>
                  <a:srgbClr val="087C7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lnSpc>
                <a:spcPct val="118000"/>
              </a:lnSpc>
              <a:buNone/>
              <a:defRPr sz="1950" b="1">
                <a:solidFill>
                  <a:srgbClr val="087C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>
                <a:solidFill>
                  <a:srgbClr val="087C78"/>
                </a:solidFill>
                <a:latin typeface="Microsoft YaHei"/>
                <a:ea typeface="Microsoft YaHei"/>
                <a:cs typeface="Microsoft YaHei"/>
              </a:rPr>
              <a:t>浏览器即用</a:t>
            </a:r>
          </a:p>
        </p:txBody>
      </p:sp>
      <p:sp>
        <p:nvSpPr>
          <p:cNvPr id="25" name="text">
            <a:extLst xmlns:a="http://schemas.openxmlformats.org/drawingml/2006/main">
              <a:ext uri="{FF2B5EF4-FFF2-40B4-BE49-F238E27FC236}">
                <a16:creationId xmlns:a16="http://schemas.microsoft.com/office/drawing/2014/main" id="{D638F976-56CA-49CD-B9EA-5765FF64CE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76600"/>
            <a:ext cx="47625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50" b="0">
                <a:solidFill>
                  <a:srgbClr val="365567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650" b="0">
                <a:solidFill>
                  <a:srgbClr val="365567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650" b="0">
                <a:solidFill>
                  <a:srgbClr val="365567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650" b="0">
                <a:solidFill>
                  <a:srgbClr val="365567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650" b="0">
                <a:solidFill>
                  <a:srgbClr val="365567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650" b="0">
                <a:solidFill>
                  <a:srgbClr val="365567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650" b="0">
                <a:solidFill>
                  <a:srgbClr val="365567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650" b="0">
                <a:solidFill>
                  <a:srgbClr val="365567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650" b="0">
                <a:solidFill>
                  <a:srgbClr val="365567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650" b="0">
                <a:solidFill>
                  <a:srgbClr val="36556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lnSpc>
                <a:spcPct val="118000"/>
              </a:lnSpc>
              <a:buNone/>
              <a:defRPr sz="1650" b="0">
                <a:solidFill>
                  <a:srgbClr val="36556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365567"/>
                </a:solidFill>
                <a:latin typeface="Microsoft YaHei"/>
                <a:ea typeface="Microsoft YaHei"/>
                <a:cs typeface="Microsoft YaHei"/>
              </a:rPr>
              <a:t>免安装，适配学校机房与电子白板，</a:t>
            </a:r>
          </a:p>
          <a:p xmlns:a="http://schemas.openxmlformats.org/drawingml/2006/main">
            <a:pPr algn="l">
              <a:lnSpc>
                <a:spcPct val="118000"/>
              </a:lnSpc>
              <a:buNone/>
              <a:defRPr sz="1650" b="0">
                <a:solidFill>
                  <a:srgbClr val="36556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365567"/>
                </a:solidFill>
                <a:latin typeface="Microsoft YaHei"/>
                <a:ea typeface="Microsoft YaHei"/>
                <a:cs typeface="Microsoft YaHei"/>
              </a:rPr>
              <a:t>降低进校门槛。</a:t>
            </a:r>
          </a:p>
        </p:txBody>
      </p:sp>
      <p:sp>
        <p:nvSpPr>
          <p:cNvPr id="26" name="text">
            <a:extLst xmlns:a="http://schemas.openxmlformats.org/drawingml/2006/main">
              <a:ext uri="{FF2B5EF4-FFF2-40B4-BE49-F238E27FC236}">
                <a16:creationId xmlns:a16="http://schemas.microsoft.com/office/drawing/2014/main" id="{06C80216-64FD-448C-B495-7AE9D8E6FA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29075"/>
            <a:ext cx="4762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950" b="1">
                <a:solidFill>
                  <a:srgbClr val="087C78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950" b="1">
                <a:solidFill>
                  <a:srgbClr val="087C78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950" b="1">
                <a:solidFill>
                  <a:srgbClr val="087C78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950" b="1">
                <a:solidFill>
                  <a:srgbClr val="087C78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950" b="1">
                <a:solidFill>
                  <a:srgbClr val="087C78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950" b="1">
                <a:solidFill>
                  <a:srgbClr val="087C78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950" b="1">
                <a:solidFill>
                  <a:srgbClr val="087C78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950" b="1">
                <a:solidFill>
                  <a:srgbClr val="087C78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950" b="1">
                <a:solidFill>
                  <a:srgbClr val="087C78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950" b="1">
                <a:solidFill>
                  <a:srgbClr val="087C7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lnSpc>
                <a:spcPct val="118000"/>
              </a:lnSpc>
              <a:buNone/>
              <a:defRPr sz="1950" b="1">
                <a:solidFill>
                  <a:srgbClr val="087C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>
                <a:solidFill>
                  <a:srgbClr val="087C78"/>
                </a:solidFill>
                <a:latin typeface="Microsoft YaHei"/>
                <a:ea typeface="Microsoft YaHei"/>
                <a:cs typeface="Microsoft YaHei"/>
              </a:rPr>
              <a:t>两门 100 字 Beta 课程</a:t>
            </a:r>
          </a:p>
        </p:txBody>
      </p:sp>
      <p:sp>
        <p:nvSpPr>
          <p:cNvPr id="27" name="text">
            <a:extLst xmlns:a="http://schemas.openxmlformats.org/drawingml/2006/main">
              <a:ext uri="{FF2B5EF4-FFF2-40B4-BE49-F238E27FC236}">
                <a16:creationId xmlns:a16="http://schemas.microsoft.com/office/drawing/2014/main" id="{64B577E4-9CA7-4AB2-B9FC-7ED4F80AC1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486275"/>
            <a:ext cx="47625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50" b="0">
                <a:solidFill>
                  <a:srgbClr val="365567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650" b="0">
                <a:solidFill>
                  <a:srgbClr val="365567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650" b="0">
                <a:solidFill>
                  <a:srgbClr val="365567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650" b="0">
                <a:solidFill>
                  <a:srgbClr val="365567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650" b="0">
                <a:solidFill>
                  <a:srgbClr val="365567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650" b="0">
                <a:solidFill>
                  <a:srgbClr val="365567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650" b="0">
                <a:solidFill>
                  <a:srgbClr val="365567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650" b="0">
                <a:solidFill>
                  <a:srgbClr val="365567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650" b="0">
                <a:solidFill>
                  <a:srgbClr val="365567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650" b="0">
                <a:solidFill>
                  <a:srgbClr val="36556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lnSpc>
                <a:spcPct val="118000"/>
              </a:lnSpc>
              <a:buNone/>
              <a:defRPr sz="1650" b="0">
                <a:solidFill>
                  <a:srgbClr val="36556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365567"/>
                </a:solidFill>
                <a:latin typeface="Microsoft YaHei"/>
                <a:ea typeface="Microsoft YaHei"/>
                <a:cs typeface="Microsoft YaHei"/>
              </a:rPr>
              <a:t>欧阳询楷书、王羲之行书；</a:t>
            </a:r>
          </a:p>
          <a:p xmlns:a="http://schemas.openxmlformats.org/drawingml/2006/main">
            <a:pPr algn="l">
              <a:lnSpc>
                <a:spcPct val="118000"/>
              </a:lnSpc>
              <a:buNone/>
              <a:defRPr sz="1650" b="0">
                <a:solidFill>
                  <a:srgbClr val="36556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365567"/>
                </a:solidFill>
                <a:latin typeface="Microsoft YaHei"/>
                <a:ea typeface="Microsoft YaHei"/>
                <a:cs typeface="Microsoft YaHei"/>
              </a:rPr>
              <a:t>参考字取自 Calli-Tongji 授权字库。</a:t>
            </a:r>
          </a:p>
        </p:txBody>
      </p:sp>
      <p:sp>
        <p:nvSpPr>
          <p:cNvPr id="28" name="text">
            <a:extLst xmlns:a="http://schemas.openxmlformats.org/drawingml/2006/main">
              <a:ext uri="{FF2B5EF4-FFF2-40B4-BE49-F238E27FC236}">
                <a16:creationId xmlns:a16="http://schemas.microsoft.com/office/drawing/2014/main" id="{5243CFFC-4A76-4C62-83B1-8A20B19272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410200"/>
            <a:ext cx="4762500" cy="638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00" b="1">
                <a:solidFill>
                  <a:srgbClr val="16394B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800" b="1">
                <a:solidFill>
                  <a:srgbClr val="16394B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800" b="1">
                <a:solidFill>
                  <a:srgbClr val="16394B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800" b="1">
                <a:solidFill>
                  <a:srgbClr val="16394B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800" b="1">
                <a:solidFill>
                  <a:srgbClr val="16394B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800" b="1">
                <a:solidFill>
                  <a:srgbClr val="16394B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800" b="1">
                <a:solidFill>
                  <a:srgbClr val="16394B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800" b="1">
                <a:solidFill>
                  <a:srgbClr val="16394B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800" b="1">
                <a:solidFill>
                  <a:srgbClr val="16394B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800" b="1">
                <a:solidFill>
                  <a:srgbClr val="16394B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lnSpc>
                <a:spcPct val="118000"/>
              </a:lnSpc>
              <a:buNone/>
              <a:defRPr sz="1800" b="1">
                <a:solidFill>
                  <a:srgbClr val="16394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16394B"/>
                </a:solidFill>
                <a:latin typeface="Microsoft YaHei"/>
                <a:ea typeface="Microsoft YaHei"/>
                <a:cs typeface="Microsoft YaHei"/>
              </a:rPr>
              <a:t>Java 后端已与 GPU 模型服务完成真实联调。</a:t>
            </a:r>
          </a:p>
        </p:txBody>
      </p:sp>
      <p:sp>
        <p:nvSpPr>
          <p:cNvPr id="29" name="text">
            <a:extLst xmlns:a="http://schemas.openxmlformats.org/drawingml/2006/main">
              <a:ext uri="{FF2B5EF4-FFF2-40B4-BE49-F238E27FC236}">
                <a16:creationId xmlns:a16="http://schemas.microsoft.com/office/drawing/2014/main" id="{139262CC-8AD2-4D2D-B5C1-43CFE31CB3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15075" y="1419225"/>
            <a:ext cx="5267325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600" b="1">
                <a:solidFill>
                  <a:srgbClr val="143E5A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3600" b="1">
                <a:solidFill>
                  <a:srgbClr val="143E5A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3600" b="1">
                <a:solidFill>
                  <a:srgbClr val="143E5A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3600" b="1">
                <a:solidFill>
                  <a:srgbClr val="143E5A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3600" b="1">
                <a:solidFill>
                  <a:srgbClr val="143E5A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3600" b="1">
                <a:solidFill>
                  <a:srgbClr val="143E5A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3600" b="1">
                <a:solidFill>
                  <a:srgbClr val="143E5A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3600" b="1">
                <a:solidFill>
                  <a:srgbClr val="143E5A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3600" b="1">
                <a:solidFill>
                  <a:srgbClr val="143E5A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3600" b="1">
                <a:solidFill>
                  <a:srgbClr val="143E5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lnSpc>
                <a:spcPct val="118000"/>
              </a:lnSpc>
              <a:buNone/>
              <a:defRPr sz="3600" b="1">
                <a:solidFill>
                  <a:srgbClr val="143E5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600" b="1">
                <a:solidFill>
                  <a:srgbClr val="143E5A"/>
                </a:solidFill>
                <a:latin typeface="Microsoft YaHei"/>
                <a:ea typeface="Microsoft YaHei"/>
                <a:cs typeface="Microsoft YaHei"/>
              </a:rPr>
              <a:t>iPad App</a:t>
            </a:r>
          </a:p>
        </p:txBody>
      </p:sp>
      <p:sp>
        <p:nvSpPr>
          <p:cNvPr id="30" name="caption">
            <a:extLst xmlns:a="http://schemas.openxmlformats.org/drawingml/2006/main">
              <a:ext uri="{FF2B5EF4-FFF2-40B4-BE49-F238E27FC236}">
                <a16:creationId xmlns:a16="http://schemas.microsoft.com/office/drawing/2014/main" id="{57F8679F-EE27-4CE2-826F-5AF4E1DF72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15075" y="4086225"/>
            <a:ext cx="252412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75" b="0">
                <a:solidFill>
                  <a:srgbClr val="66818E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275" b="0">
                <a:solidFill>
                  <a:srgbClr val="66818E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275" b="0">
                <a:solidFill>
                  <a:srgbClr val="66818E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275" b="0">
                <a:solidFill>
                  <a:srgbClr val="66818E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275" b="0">
                <a:solidFill>
                  <a:srgbClr val="66818E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275" b="0">
                <a:solidFill>
                  <a:srgbClr val="66818E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275" b="0">
                <a:solidFill>
                  <a:srgbClr val="66818E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275" b="0">
                <a:solidFill>
                  <a:srgbClr val="66818E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275" b="0">
                <a:solidFill>
                  <a:srgbClr val="66818E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275" b="0">
                <a:solidFill>
                  <a:srgbClr val="66818E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lnSpc>
                <a:spcPct val="118000"/>
              </a:lnSpc>
              <a:buNone/>
              <a:defRPr sz="1275" b="0">
                <a:solidFill>
                  <a:srgbClr val="66818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66818E"/>
                </a:solidFill>
                <a:latin typeface="Microsoft YaHei"/>
                <a:ea typeface="Microsoft YaHei"/>
                <a:cs typeface="Microsoft YaHei"/>
              </a:rPr>
              <a:t>100 字课程练习包</a:t>
            </a:r>
          </a:p>
        </p:txBody>
      </p:sp>
      <p:sp>
        <p:nvSpPr>
          <p:cNvPr id="31" name="caption">
            <a:extLst xmlns:a="http://schemas.openxmlformats.org/drawingml/2006/main">
              <a:ext uri="{FF2B5EF4-FFF2-40B4-BE49-F238E27FC236}">
                <a16:creationId xmlns:a16="http://schemas.microsoft.com/office/drawing/2014/main" id="{815AB85C-0F09-4556-8A46-FD1B1B4216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63050" y="4086225"/>
            <a:ext cx="24193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75" b="0">
                <a:solidFill>
                  <a:srgbClr val="66818E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275" b="0">
                <a:solidFill>
                  <a:srgbClr val="66818E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275" b="0">
                <a:solidFill>
                  <a:srgbClr val="66818E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275" b="0">
                <a:solidFill>
                  <a:srgbClr val="66818E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275" b="0">
                <a:solidFill>
                  <a:srgbClr val="66818E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275" b="0">
                <a:solidFill>
                  <a:srgbClr val="66818E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275" b="0">
                <a:solidFill>
                  <a:srgbClr val="66818E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275" b="0">
                <a:solidFill>
                  <a:srgbClr val="66818E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275" b="0">
                <a:solidFill>
                  <a:srgbClr val="66818E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275" b="0">
                <a:solidFill>
                  <a:srgbClr val="66818E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lnSpc>
                <a:spcPct val="118000"/>
              </a:lnSpc>
              <a:buNone/>
              <a:defRPr sz="1275" b="0">
                <a:solidFill>
                  <a:srgbClr val="66818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66818E"/>
                </a:solidFill>
                <a:latin typeface="Microsoft YaHei"/>
                <a:ea typeface="Microsoft YaHei"/>
                <a:cs typeface="Microsoft YaHei"/>
              </a:rPr>
              <a:t>练习统计与打卡</a:t>
            </a:r>
          </a:p>
        </p:txBody>
      </p:sp>
      <p:sp>
        <p:nvSpPr>
          <p:cNvPr id="32" name="text">
            <a:extLst xmlns:a="http://schemas.openxmlformats.org/drawingml/2006/main">
              <a:ext uri="{FF2B5EF4-FFF2-40B4-BE49-F238E27FC236}">
                <a16:creationId xmlns:a16="http://schemas.microsoft.com/office/drawing/2014/main" id="{62F2E4F8-1FE5-418A-A4DE-2FDA336470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15075" y="4572000"/>
            <a:ext cx="5267325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50" b="0">
                <a:solidFill>
                  <a:srgbClr val="365567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650" b="0">
                <a:solidFill>
                  <a:srgbClr val="365567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650" b="0">
                <a:solidFill>
                  <a:srgbClr val="365567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650" b="0">
                <a:solidFill>
                  <a:srgbClr val="365567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650" b="0">
                <a:solidFill>
                  <a:srgbClr val="365567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650" b="0">
                <a:solidFill>
                  <a:srgbClr val="365567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650" b="0">
                <a:solidFill>
                  <a:srgbClr val="365567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650" b="0">
                <a:solidFill>
                  <a:srgbClr val="365567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650" b="0">
                <a:solidFill>
                  <a:srgbClr val="365567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650" b="0">
                <a:solidFill>
                  <a:srgbClr val="36556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lnSpc>
                <a:spcPct val="118000"/>
              </a:lnSpc>
              <a:buNone/>
              <a:defRPr sz="1650" b="0">
                <a:solidFill>
                  <a:srgbClr val="36556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365567"/>
                </a:solidFill>
                <a:latin typeface="Microsoft YaHei"/>
                <a:ea typeface="Microsoft YaHei"/>
                <a:cs typeface="Microsoft YaHei"/>
              </a:rPr>
              <a:t>压感笔书写、参考字对照、AI 分析与点评建议，</a:t>
            </a:r>
          </a:p>
          <a:p xmlns:a="http://schemas.openxmlformats.org/drawingml/2006/main">
            <a:pPr algn="l">
              <a:lnSpc>
                <a:spcPct val="118000"/>
              </a:lnSpc>
              <a:buNone/>
              <a:defRPr sz="1650" b="0">
                <a:solidFill>
                  <a:srgbClr val="36556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365567"/>
                </a:solidFill>
                <a:latin typeface="Microsoft YaHei"/>
                <a:ea typeface="Microsoft YaHei"/>
                <a:cs typeface="Microsoft YaHei"/>
              </a:rPr>
              <a:t>形成完整练习流程。</a:t>
            </a:r>
          </a:p>
        </p:txBody>
      </p:sp>
      <p:sp>
        <p:nvSpPr>
          <p:cNvPr id="33" name="text">
            <a:extLst xmlns:a="http://schemas.openxmlformats.org/drawingml/2006/main">
              <a:ext uri="{FF2B5EF4-FFF2-40B4-BE49-F238E27FC236}">
                <a16:creationId xmlns:a16="http://schemas.microsoft.com/office/drawing/2014/main" id="{E1C0AE56-1A5C-42B0-B702-4BF3518957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15075" y="5391150"/>
            <a:ext cx="5267325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50" b="0">
                <a:solidFill>
                  <a:srgbClr val="365567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650" b="0">
                <a:solidFill>
                  <a:srgbClr val="365567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650" b="0">
                <a:solidFill>
                  <a:srgbClr val="365567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650" b="0">
                <a:solidFill>
                  <a:srgbClr val="365567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650" b="0">
                <a:solidFill>
                  <a:srgbClr val="365567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650" b="0">
                <a:solidFill>
                  <a:srgbClr val="365567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650" b="0">
                <a:solidFill>
                  <a:srgbClr val="365567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650" b="0">
                <a:solidFill>
                  <a:srgbClr val="365567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650" b="0">
                <a:solidFill>
                  <a:srgbClr val="365567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650" b="0">
                <a:solidFill>
                  <a:srgbClr val="36556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lnSpc>
                <a:spcPct val="118000"/>
              </a:lnSpc>
              <a:buNone/>
              <a:defRPr sz="1650" b="0">
                <a:solidFill>
                  <a:srgbClr val="36556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365567"/>
                </a:solidFill>
                <a:latin typeface="Microsoft YaHei"/>
                <a:ea typeface="Microsoft YaHei"/>
                <a:cs typeface="Microsoft YaHei"/>
              </a:rPr>
              <a:t>打卡、练习次数与评分趋势沉淀为个人档案。</a:t>
            </a:r>
          </a:p>
          <a:p xmlns:a="http://schemas.openxmlformats.org/drawingml/2006/main">
            <a:pPr algn="l">
              <a:lnSpc>
                <a:spcPct val="118000"/>
              </a:lnSpc>
              <a:buNone/>
              <a:defRPr sz="1650" b="0">
                <a:solidFill>
                  <a:srgbClr val="36556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365567"/>
                </a:solidFill>
                <a:latin typeface="Microsoft YaHei"/>
                <a:ea typeface="Microsoft YaHei"/>
                <a:cs typeface="Microsoft YaHei"/>
              </a:rPr>
              <a:t>参考字、我的书写、分割叠图、对齐示意四图对照。</a:t>
            </a:r>
          </a:p>
        </p:txBody>
      </p:sp>
      <p:sp>
        <p:nvSpPr>
          <p:cNvPr id="34" name="text">
            <a:extLst xmlns:a="http://schemas.openxmlformats.org/drawingml/2006/main">
              <a:ext uri="{FF2B5EF4-FFF2-40B4-BE49-F238E27FC236}">
                <a16:creationId xmlns:a16="http://schemas.microsoft.com/office/drawing/2014/main" id="{5066C799-1D40-476D-866C-E2EBC4533A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15075" y="6105525"/>
            <a:ext cx="526732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00" b="1">
                <a:solidFill>
                  <a:srgbClr val="087C78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800" b="1">
                <a:solidFill>
                  <a:srgbClr val="087C78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800" b="1">
                <a:solidFill>
                  <a:srgbClr val="087C78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800" b="1">
                <a:solidFill>
                  <a:srgbClr val="087C78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800" b="1">
                <a:solidFill>
                  <a:srgbClr val="087C78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800" b="1">
                <a:solidFill>
                  <a:srgbClr val="087C78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800" b="1">
                <a:solidFill>
                  <a:srgbClr val="087C78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800" b="1">
                <a:solidFill>
                  <a:srgbClr val="087C78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800" b="1">
                <a:solidFill>
                  <a:srgbClr val="087C78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800" b="1">
                <a:solidFill>
                  <a:srgbClr val="087C7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lnSpc>
                <a:spcPct val="118000"/>
              </a:lnSpc>
              <a:buNone/>
              <a:defRPr sz="1800" b="1">
                <a:solidFill>
                  <a:srgbClr val="087C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087C78"/>
                </a:solidFill>
                <a:latin typeface="Microsoft YaHei"/>
                <a:ea typeface="Microsoft YaHei"/>
                <a:cs typeface="Microsoft YaHei"/>
              </a:rPr>
              <a:t>双端已具备现场演示条件</a:t>
            </a:r>
          </a:p>
        </p:txBody>
      </p:sp>
    </p:spTree>
    <p:extLst>
      <p:ext uri="{BB962C8B-B14F-4D97-AF65-F5344CB8AC3E}">
        <p14:creationId xmlns:p14="http://schemas.microsoft.com/office/powerpoint/2010/main" val="1374440719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143E5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slide-title">
            <a:extLst xmlns:a="http://schemas.openxmlformats.org/drawingml/2006/main">
              <a:ext uri="{FF2B5EF4-FFF2-40B4-BE49-F238E27FC236}">
                <a16:creationId xmlns:a16="http://schemas.microsoft.com/office/drawing/2014/main" id="{835DCF23-421E-42C1-80D3-830EB6CE5F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97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0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30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30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30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30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30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30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30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30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30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lnSpc>
                <a:spcPct val="118000"/>
              </a:lnSpc>
              <a:buNone/>
              <a:defRPr sz="30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0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成果与学术验证</a:t>
            </a:r>
          </a:p>
        </p:txBody>
      </p:sp>
      <p:sp>
        <p:nvSpPr>
          <p:cNvPr id="2" name="footer">
            <a:extLst xmlns:a="http://schemas.openxmlformats.org/drawingml/2006/main">
              <a:ext uri="{FF2B5EF4-FFF2-40B4-BE49-F238E27FC236}">
                <a16:creationId xmlns:a16="http://schemas.microsoft.com/office/drawing/2014/main" id="{13A40058-83FE-4178-A38B-8953DC4E24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05575"/>
            <a:ext cx="6667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125" b="0">
                <a:solidFill>
                  <a:srgbClr val="9EBFCB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125" b="0">
                <a:solidFill>
                  <a:srgbClr val="9EBFCB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125" b="0">
                <a:solidFill>
                  <a:srgbClr val="9EBFCB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125" b="0">
                <a:solidFill>
                  <a:srgbClr val="9EBFCB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125" b="0">
                <a:solidFill>
                  <a:srgbClr val="9EBFCB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125" b="0">
                <a:solidFill>
                  <a:srgbClr val="9EBFCB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125" b="0">
                <a:solidFill>
                  <a:srgbClr val="9EBFCB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125" b="0">
                <a:solidFill>
                  <a:srgbClr val="9EBFCB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125" b="0">
                <a:solidFill>
                  <a:srgbClr val="9EBFCB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125" b="0">
                <a:solidFill>
                  <a:srgbClr val="9EBFCB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lnSpc>
                <a:spcPct val="118000"/>
              </a:lnSpc>
              <a:buNone/>
              <a:defRPr sz="1125" b="0">
                <a:solidFill>
                  <a:srgbClr val="9EBFC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9EBFCB"/>
                </a:solidFill>
                <a:latin typeface="Microsoft YaHei"/>
                <a:ea typeface="Microsoft YaHei"/>
                <a:cs typeface="Microsoft YaHei"/>
              </a:rPr>
              <a:t>一笔成章  /  中期汇报</a:t>
            </a:r>
          </a:p>
        </p:txBody>
      </p:sp>
      <p:sp>
        <p:nvSpPr>
          <p:cNvPr id="3" name="page-number">
            <a:extLst xmlns:a="http://schemas.openxmlformats.org/drawingml/2006/main">
              <a:ext uri="{FF2B5EF4-FFF2-40B4-BE49-F238E27FC236}">
                <a16:creationId xmlns:a16="http://schemas.microsoft.com/office/drawing/2014/main" id="{55637419-A893-4522-A78C-9213986232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6486525"/>
            <a:ext cx="8191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200" b="0">
                <a:solidFill>
                  <a:srgbClr val="9EBFCB"/>
                </a:solidFill>
                <a:latin typeface="Microsoft YaHei"/>
                <a:ea typeface="Microsoft YaHei"/>
                <a:cs typeface="Microsoft YaHei"/>
              </a:defRPr>
            </a:defPPr>
            <a:lvl1pPr algn="r">
              <a:defRPr sz="1200" b="0">
                <a:solidFill>
                  <a:srgbClr val="9EBFCB"/>
                </a:solidFill>
                <a:latin typeface="Microsoft YaHei"/>
                <a:ea typeface="Microsoft YaHei"/>
                <a:cs typeface="Microsoft YaHei"/>
              </a:defRPr>
            </a:lvl1pPr>
            <a:lvl2pPr algn="r">
              <a:defRPr sz="1200" b="0">
                <a:solidFill>
                  <a:srgbClr val="9EBFCB"/>
                </a:solidFill>
                <a:latin typeface="Microsoft YaHei"/>
                <a:ea typeface="Microsoft YaHei"/>
                <a:cs typeface="Microsoft YaHei"/>
              </a:defRPr>
            </a:lvl2pPr>
            <a:lvl3pPr algn="r">
              <a:defRPr sz="1200" b="0">
                <a:solidFill>
                  <a:srgbClr val="9EBFCB"/>
                </a:solidFill>
                <a:latin typeface="Microsoft YaHei"/>
                <a:ea typeface="Microsoft YaHei"/>
                <a:cs typeface="Microsoft YaHei"/>
              </a:defRPr>
            </a:lvl3pPr>
            <a:lvl4pPr algn="r">
              <a:defRPr sz="1200" b="0">
                <a:solidFill>
                  <a:srgbClr val="9EBFCB"/>
                </a:solidFill>
                <a:latin typeface="Microsoft YaHei"/>
                <a:ea typeface="Microsoft YaHei"/>
                <a:cs typeface="Microsoft YaHei"/>
              </a:defRPr>
            </a:lvl4pPr>
            <a:lvl5pPr algn="r">
              <a:defRPr sz="1200" b="0">
                <a:solidFill>
                  <a:srgbClr val="9EBFCB"/>
                </a:solidFill>
                <a:latin typeface="Microsoft YaHei"/>
                <a:ea typeface="Microsoft YaHei"/>
                <a:cs typeface="Microsoft YaHei"/>
              </a:defRPr>
            </a:lvl5pPr>
            <a:lvl6pPr algn="r">
              <a:defRPr sz="1200" b="0">
                <a:solidFill>
                  <a:srgbClr val="9EBFCB"/>
                </a:solidFill>
                <a:latin typeface="Microsoft YaHei"/>
                <a:ea typeface="Microsoft YaHei"/>
                <a:cs typeface="Microsoft YaHei"/>
              </a:defRPr>
            </a:lvl6pPr>
            <a:lvl7pPr algn="r">
              <a:defRPr sz="1200" b="0">
                <a:solidFill>
                  <a:srgbClr val="9EBFCB"/>
                </a:solidFill>
                <a:latin typeface="Microsoft YaHei"/>
                <a:ea typeface="Microsoft YaHei"/>
                <a:cs typeface="Microsoft YaHei"/>
              </a:defRPr>
            </a:lvl7pPr>
            <a:lvl8pPr algn="r">
              <a:defRPr sz="1200" b="0">
                <a:solidFill>
                  <a:srgbClr val="9EBFCB"/>
                </a:solidFill>
                <a:latin typeface="Microsoft YaHei"/>
                <a:ea typeface="Microsoft YaHei"/>
                <a:cs typeface="Microsoft YaHei"/>
              </a:defRPr>
            </a:lvl8pPr>
            <a:lvl9pPr algn="r">
              <a:defRPr sz="1200" b="0">
                <a:solidFill>
                  <a:srgbClr val="9EBFCB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r">
              <a:lnSpc>
                <a:spcPct val="118000"/>
              </a:lnSpc>
              <a:buNone/>
              <a:defRPr sz="1200" b="0">
                <a:solidFill>
                  <a:srgbClr val="9EBFC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9EBFCB"/>
                </a:solidFill>
                <a:latin typeface="Microsoft YaHei"/>
                <a:ea typeface="Microsoft YaHei"/>
                <a:cs typeface="Microsoft YaHei"/>
              </a:rPr>
              <a:t>10 / 13</a:t>
            </a:r>
          </a:p>
        </p:txBody>
      </p:sp>
      <p:sp>
        <p:nvSpPr>
          <p:cNvPr id="4" name="text">
            <a:extLst xmlns:a="http://schemas.openxmlformats.org/drawingml/2006/main">
              <a:ext uri="{FF2B5EF4-FFF2-40B4-BE49-F238E27FC236}">
                <a16:creationId xmlns:a16="http://schemas.microsoft.com/office/drawing/2014/main" id="{3727F71B-F2EE-41CC-BC44-E4912A5B2D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90650"/>
            <a:ext cx="5000625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400" b="1">
                <a:solidFill>
                  <a:srgbClr val="BDE3B1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400" b="1">
                <a:solidFill>
                  <a:srgbClr val="BDE3B1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400" b="1">
                <a:solidFill>
                  <a:srgbClr val="BDE3B1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400" b="1">
                <a:solidFill>
                  <a:srgbClr val="BDE3B1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400" b="1">
                <a:solidFill>
                  <a:srgbClr val="BDE3B1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400" b="1">
                <a:solidFill>
                  <a:srgbClr val="BDE3B1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400" b="1">
                <a:solidFill>
                  <a:srgbClr val="BDE3B1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400" b="1">
                <a:solidFill>
                  <a:srgbClr val="BDE3B1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400" b="1">
                <a:solidFill>
                  <a:srgbClr val="BDE3B1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400" b="1">
                <a:solidFill>
                  <a:srgbClr val="BDE3B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lnSpc>
                <a:spcPct val="118000"/>
              </a:lnSpc>
              <a:buNone/>
              <a:defRPr sz="2400" b="1">
                <a:solidFill>
                  <a:srgbClr val="BDE3B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BDE3B1"/>
                </a:solidFill>
                <a:latin typeface="Microsoft YaHei"/>
                <a:ea typeface="Microsoft YaHei"/>
                <a:cs typeface="Microsoft YaHei"/>
              </a:rPr>
              <a:t>IJDAR 论文在审</a:t>
            </a:r>
          </a:p>
        </p:txBody>
      </p:sp>
      <p:sp>
        <p:nvSpPr>
          <p:cNvPr id="5" name="text">
            <a:extLst xmlns:a="http://schemas.openxmlformats.org/drawingml/2006/main">
              <a:ext uri="{FF2B5EF4-FFF2-40B4-BE49-F238E27FC236}">
                <a16:creationId xmlns:a16="http://schemas.microsoft.com/office/drawing/2014/main" id="{9DF54E0D-254F-45DE-9BD6-743803B57E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71675"/>
            <a:ext cx="5000625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425" b="0">
                <a:solidFill>
                  <a:srgbClr val="D7E7EE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425" b="0">
                <a:solidFill>
                  <a:srgbClr val="D7E7EE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425" b="0">
                <a:solidFill>
                  <a:srgbClr val="D7E7EE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425" b="0">
                <a:solidFill>
                  <a:srgbClr val="D7E7EE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425" b="0">
                <a:solidFill>
                  <a:srgbClr val="D7E7EE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425" b="0">
                <a:solidFill>
                  <a:srgbClr val="D7E7EE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425" b="0">
                <a:solidFill>
                  <a:srgbClr val="D7E7EE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425" b="0">
                <a:solidFill>
                  <a:srgbClr val="D7E7EE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425" b="0">
                <a:solidFill>
                  <a:srgbClr val="D7E7EE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425" b="0">
                <a:solidFill>
                  <a:srgbClr val="D7E7EE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lnSpc>
                <a:spcPct val="118000"/>
              </a:lnSpc>
              <a:buNone/>
              <a:defRPr sz="1425" b="0">
                <a:solidFill>
                  <a:srgbClr val="D7E7E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D7E7EE"/>
                </a:solidFill>
                <a:latin typeface="Microsoft YaHei"/>
                <a:ea typeface="Microsoft YaHei"/>
                <a:cs typeface="Microsoft YaHei"/>
              </a:rPr>
              <a:t>International Journal on Document Analysis and Recognition</a:t>
            </a:r>
          </a:p>
        </p:txBody>
      </p:sp>
      <p:sp>
        <p:nvSpPr>
          <p:cNvPr id="6" name="text">
            <a:extLst xmlns:a="http://schemas.openxmlformats.org/drawingml/2006/main">
              <a:ext uri="{FF2B5EF4-FFF2-40B4-BE49-F238E27FC236}">
                <a16:creationId xmlns:a16="http://schemas.microsoft.com/office/drawing/2014/main" id="{46BE6B5E-383E-4C54-AB27-8A82C53BA7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581275"/>
            <a:ext cx="5000625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75" b="0">
                <a:solidFill>
                  <a:srgbClr val="D7E7EE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575" b="0">
                <a:solidFill>
                  <a:srgbClr val="D7E7EE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575" b="0">
                <a:solidFill>
                  <a:srgbClr val="D7E7EE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575" b="0">
                <a:solidFill>
                  <a:srgbClr val="D7E7EE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575" b="0">
                <a:solidFill>
                  <a:srgbClr val="D7E7EE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575" b="0">
                <a:solidFill>
                  <a:srgbClr val="D7E7EE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575" b="0">
                <a:solidFill>
                  <a:srgbClr val="D7E7EE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575" b="0">
                <a:solidFill>
                  <a:srgbClr val="D7E7EE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575" b="0">
                <a:solidFill>
                  <a:srgbClr val="D7E7EE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575" b="0">
                <a:solidFill>
                  <a:srgbClr val="D7E7EE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lnSpc>
                <a:spcPct val="118000"/>
              </a:lnSpc>
              <a:buNone/>
              <a:defRPr sz="1575" b="0">
                <a:solidFill>
                  <a:srgbClr val="D7E7E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D7E7EE"/>
                </a:solidFill>
                <a:latin typeface="Microsoft YaHei"/>
                <a:ea typeface="Microsoft YaHei"/>
                <a:cs typeface="Microsoft YaHei"/>
              </a:rPr>
              <a:t>已完成两轮修订：2026-09-05 / 09-17</a:t>
            </a:r>
          </a:p>
          <a:p xmlns:a="http://schemas.openxmlformats.org/drawingml/2006/main">
            <a:pPr algn="l">
              <a:lnSpc>
                <a:spcPct val="118000"/>
              </a:lnSpc>
              <a:buNone/>
              <a:defRPr sz="1575" b="0">
                <a:solidFill>
                  <a:srgbClr val="D7E7E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D7E7EE"/>
                </a:solidFill>
                <a:latin typeface="Microsoft YaHei"/>
                <a:ea typeface="Microsoft YaHei"/>
                <a:cs typeface="Microsoft YaHei"/>
              </a:rPr>
              <a:t>主稿 20 页与补充材料</a:t>
            </a:r>
          </a:p>
        </p:txBody>
      </p:sp>
      <p:sp>
        <p:nvSpPr>
          <p:cNvPr id="7" name="text">
            <a:extLst xmlns:a="http://schemas.openxmlformats.org/drawingml/2006/main">
              <a:ext uri="{FF2B5EF4-FFF2-40B4-BE49-F238E27FC236}">
                <a16:creationId xmlns:a16="http://schemas.microsoft.com/office/drawing/2014/main" id="{260DFACC-41D9-428E-8EDE-26C0DCCB00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343275"/>
            <a:ext cx="5000625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350" b="0">
                <a:solidFill>
                  <a:srgbClr val="D7E7EE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350" b="0">
                <a:solidFill>
                  <a:srgbClr val="D7E7EE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350" b="0">
                <a:solidFill>
                  <a:srgbClr val="D7E7EE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350" b="0">
                <a:solidFill>
                  <a:srgbClr val="D7E7EE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350" b="0">
                <a:solidFill>
                  <a:srgbClr val="D7E7EE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350" b="0">
                <a:solidFill>
                  <a:srgbClr val="D7E7EE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350" b="0">
                <a:solidFill>
                  <a:srgbClr val="D7E7EE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350" b="0">
                <a:solidFill>
                  <a:srgbClr val="D7E7EE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350" b="0">
                <a:solidFill>
                  <a:srgbClr val="D7E7EE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350" b="0">
                <a:solidFill>
                  <a:srgbClr val="D7E7EE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lnSpc>
                <a:spcPct val="118000"/>
              </a:lnSpc>
              <a:buNone/>
              <a:defRPr sz="1350" b="0">
                <a:solidFill>
                  <a:srgbClr val="D7E7E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D7E7EE"/>
                </a:solidFill>
                <a:latin typeface="Microsoft YaHei"/>
                <a:ea typeface="Microsoft YaHei"/>
                <a:cs typeface="Microsoft YaHei"/>
              </a:rPr>
              <a:t>Reference-Conditioned Multi-Label Stroke Structure Analysis for Low-Resource Chinese Calligraphy Practice</a:t>
            </a:r>
          </a:p>
        </p:txBody>
      </p:sp>
      <p:sp>
        <p:nvSpPr>
          <p:cNvPr id="8" name="text">
            <a:extLst xmlns:a="http://schemas.openxmlformats.org/drawingml/2006/main">
              <a:ext uri="{FF2B5EF4-FFF2-40B4-BE49-F238E27FC236}">
                <a16:creationId xmlns:a16="http://schemas.microsoft.com/office/drawing/2014/main" id="{9148FF40-6EF5-4B60-8B8A-066FF4CCF1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381500"/>
            <a:ext cx="5000625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00" b="1">
                <a:solidFill>
                  <a:srgbClr val="BDE3B1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100" b="1">
                <a:solidFill>
                  <a:srgbClr val="BDE3B1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100" b="1">
                <a:solidFill>
                  <a:srgbClr val="BDE3B1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100" b="1">
                <a:solidFill>
                  <a:srgbClr val="BDE3B1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100" b="1">
                <a:solidFill>
                  <a:srgbClr val="BDE3B1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100" b="1">
                <a:solidFill>
                  <a:srgbClr val="BDE3B1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100" b="1">
                <a:solidFill>
                  <a:srgbClr val="BDE3B1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100" b="1">
                <a:solidFill>
                  <a:srgbClr val="BDE3B1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100" b="1">
                <a:solidFill>
                  <a:srgbClr val="BDE3B1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100" b="1">
                <a:solidFill>
                  <a:srgbClr val="BDE3B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lnSpc>
                <a:spcPct val="118000"/>
              </a:lnSpc>
              <a:buNone/>
              <a:defRPr sz="2100" b="1">
                <a:solidFill>
                  <a:srgbClr val="BDE3B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BDE3B1"/>
                </a:solidFill>
                <a:latin typeface="Microsoft YaHei"/>
                <a:ea typeface="Microsoft YaHei"/>
                <a:cs typeface="Microsoft YaHei"/>
              </a:rPr>
              <a:t>软件著作权申请中</a:t>
            </a:r>
          </a:p>
        </p:txBody>
      </p:sp>
      <p:sp>
        <p:nvSpPr>
          <p:cNvPr id="9" name="text">
            <a:extLst xmlns:a="http://schemas.openxmlformats.org/drawingml/2006/main">
              <a:ext uri="{FF2B5EF4-FFF2-40B4-BE49-F238E27FC236}">
                <a16:creationId xmlns:a16="http://schemas.microsoft.com/office/drawing/2014/main" id="{2194FBB9-CE65-4E8C-8D60-69CCE2157A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857750"/>
            <a:ext cx="5000625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75" b="0">
                <a:solidFill>
                  <a:srgbClr val="D7E7EE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575" b="0">
                <a:solidFill>
                  <a:srgbClr val="D7E7EE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575" b="0">
                <a:solidFill>
                  <a:srgbClr val="D7E7EE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575" b="0">
                <a:solidFill>
                  <a:srgbClr val="D7E7EE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575" b="0">
                <a:solidFill>
                  <a:srgbClr val="D7E7EE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575" b="0">
                <a:solidFill>
                  <a:srgbClr val="D7E7EE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575" b="0">
                <a:solidFill>
                  <a:srgbClr val="D7E7EE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575" b="0">
                <a:solidFill>
                  <a:srgbClr val="D7E7EE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575" b="0">
                <a:solidFill>
                  <a:srgbClr val="D7E7EE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575" b="0">
                <a:solidFill>
                  <a:srgbClr val="D7E7EE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lnSpc>
                <a:spcPct val="118000"/>
              </a:lnSpc>
              <a:buNone/>
              <a:defRPr sz="1575" b="0">
                <a:solidFill>
                  <a:srgbClr val="D7E7E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D7E7EE"/>
                </a:solidFill>
                <a:latin typeface="Microsoft YaHei"/>
                <a:ea typeface="Microsoft YaHei"/>
                <a:cs typeface="Microsoft YaHei"/>
              </a:rPr>
              <a:t>“一笔成章”汉字书法智能反馈系统</a:t>
            </a:r>
          </a:p>
          <a:p xmlns:a="http://schemas.openxmlformats.org/drawingml/2006/main">
            <a:pPr algn="l">
              <a:lnSpc>
                <a:spcPct val="118000"/>
              </a:lnSpc>
              <a:buNone/>
              <a:defRPr sz="1575" b="0">
                <a:solidFill>
                  <a:srgbClr val="D7E7E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D7E7EE"/>
                </a:solidFill>
                <a:latin typeface="Microsoft YaHei"/>
                <a:ea typeface="Microsoft YaHei"/>
                <a:cs typeface="Microsoft YaHei"/>
              </a:rPr>
              <a:t>iPad 端与 Web 平台</a:t>
            </a:r>
          </a:p>
        </p:txBody>
      </p:sp>
      <p:sp>
        <p:nvSpPr>
          <p:cNvPr id="10" name="text">
            <a:extLst xmlns:a="http://schemas.openxmlformats.org/drawingml/2006/main">
              <a:ext uri="{FF2B5EF4-FFF2-40B4-BE49-F238E27FC236}">
                <a16:creationId xmlns:a16="http://schemas.microsoft.com/office/drawing/2014/main" id="{D8FC948F-0B44-4B4F-B37B-96D9D41413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791200"/>
            <a:ext cx="5000625" cy="600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7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7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7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7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7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7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7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7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7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lnSpc>
                <a:spcPct val="118000"/>
              </a:lnSpc>
              <a:buNone/>
              <a:defRPr sz="17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18 组基准已审计，104 项自动化测试通过</a:t>
            </a:r>
          </a:p>
        </p:txBody>
      </p:sp>
      <p:sp>
        <p:nvSpPr>
          <p:cNvPr id="11" name="text">
            <a:extLst xmlns:a="http://schemas.openxmlformats.org/drawingml/2006/main">
              <a:ext uri="{FF2B5EF4-FFF2-40B4-BE49-F238E27FC236}">
                <a16:creationId xmlns:a16="http://schemas.microsoft.com/office/drawing/2014/main" id="{480029E5-796C-4A31-9EA9-86D259A7A4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15075" y="1390650"/>
            <a:ext cx="526732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1">
                <a:solidFill>
                  <a:srgbClr val="BDE3B1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025" b="1">
                <a:solidFill>
                  <a:srgbClr val="BDE3B1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025" b="1">
                <a:solidFill>
                  <a:srgbClr val="BDE3B1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025" b="1">
                <a:solidFill>
                  <a:srgbClr val="BDE3B1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025" b="1">
                <a:solidFill>
                  <a:srgbClr val="BDE3B1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025" b="1">
                <a:solidFill>
                  <a:srgbClr val="BDE3B1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025" b="1">
                <a:solidFill>
                  <a:srgbClr val="BDE3B1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025" b="1">
                <a:solidFill>
                  <a:srgbClr val="BDE3B1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025" b="1">
                <a:solidFill>
                  <a:srgbClr val="BDE3B1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025" b="1">
                <a:solidFill>
                  <a:srgbClr val="BDE3B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lnSpc>
                <a:spcPct val="118000"/>
              </a:lnSpc>
              <a:buNone/>
              <a:defRPr sz="2025" b="1">
                <a:solidFill>
                  <a:srgbClr val="BDE3B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BDE3B1"/>
                </a:solidFill>
                <a:latin typeface="Microsoft YaHei"/>
                <a:ea typeface="Microsoft YaHei"/>
                <a:cs typeface="Microsoft YaHei"/>
              </a:rPr>
              <a:t>E1  受控扰动实验</a:t>
            </a:r>
          </a:p>
        </p:txBody>
      </p:sp>
      <p:sp>
        <p:nvSpPr>
          <p:cNvPr id="12" name="text">
            <a:extLst xmlns:a="http://schemas.openxmlformats.org/drawingml/2006/main">
              <a:ext uri="{FF2B5EF4-FFF2-40B4-BE49-F238E27FC236}">
                <a16:creationId xmlns:a16="http://schemas.microsoft.com/office/drawing/2014/main" id="{69BAD887-A836-4313-9B71-2554E8884C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15075" y="1885950"/>
            <a:ext cx="5267325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50" b="0">
                <a:solidFill>
                  <a:srgbClr val="D7E7EE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650" b="0">
                <a:solidFill>
                  <a:srgbClr val="D7E7EE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650" b="0">
                <a:solidFill>
                  <a:srgbClr val="D7E7EE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650" b="0">
                <a:solidFill>
                  <a:srgbClr val="D7E7EE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650" b="0">
                <a:solidFill>
                  <a:srgbClr val="D7E7EE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650" b="0">
                <a:solidFill>
                  <a:srgbClr val="D7E7EE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650" b="0">
                <a:solidFill>
                  <a:srgbClr val="D7E7EE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650" b="0">
                <a:solidFill>
                  <a:srgbClr val="D7E7EE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650" b="0">
                <a:solidFill>
                  <a:srgbClr val="D7E7EE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650" b="0">
                <a:solidFill>
                  <a:srgbClr val="D7E7EE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lnSpc>
                <a:spcPct val="118000"/>
              </a:lnSpc>
              <a:buNone/>
              <a:defRPr sz="1650" b="0">
                <a:solidFill>
                  <a:srgbClr val="D7E7E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D7E7EE"/>
                </a:solidFill>
                <a:latin typeface="Microsoft YaHei"/>
                <a:ea typeface="Microsoft YaHei"/>
                <a:cs typeface="Microsoft YaHei"/>
              </a:rPr>
              <a:t>平移罚分约为 0，对齐吸收无关位移。</a:t>
            </a:r>
          </a:p>
          <a:p xmlns:a="http://schemas.openxmlformats.org/drawingml/2006/main">
            <a:pPr algn="l">
              <a:lnSpc>
                <a:spcPct val="118000"/>
              </a:lnSpc>
              <a:buNone/>
              <a:defRPr sz="1650" b="0">
                <a:solidFill>
                  <a:srgbClr val="D7E7E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D7E7EE"/>
                </a:solidFill>
                <a:latin typeface="Microsoft YaHei"/>
                <a:ea typeface="Microsoft YaHei"/>
                <a:cs typeface="Microsoft YaHei"/>
              </a:rPr>
              <a:t>结构破坏越严重，评分越低。</a:t>
            </a:r>
          </a:p>
        </p:txBody>
      </p:sp>
      <p:sp>
        <p:nvSpPr>
          <p:cNvPr id="13" name="text">
            <a:extLst xmlns:a="http://schemas.openxmlformats.org/drawingml/2006/main">
              <a:ext uri="{FF2B5EF4-FFF2-40B4-BE49-F238E27FC236}">
                <a16:creationId xmlns:a16="http://schemas.microsoft.com/office/drawing/2014/main" id="{006C354F-50C9-4222-A96D-88DDE5C13A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15075" y="2905125"/>
            <a:ext cx="526732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1">
                <a:solidFill>
                  <a:srgbClr val="BDE3B1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025" b="1">
                <a:solidFill>
                  <a:srgbClr val="BDE3B1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025" b="1">
                <a:solidFill>
                  <a:srgbClr val="BDE3B1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025" b="1">
                <a:solidFill>
                  <a:srgbClr val="BDE3B1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025" b="1">
                <a:solidFill>
                  <a:srgbClr val="BDE3B1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025" b="1">
                <a:solidFill>
                  <a:srgbClr val="BDE3B1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025" b="1">
                <a:solidFill>
                  <a:srgbClr val="BDE3B1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025" b="1">
                <a:solidFill>
                  <a:srgbClr val="BDE3B1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025" b="1">
                <a:solidFill>
                  <a:srgbClr val="BDE3B1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025" b="1">
                <a:solidFill>
                  <a:srgbClr val="BDE3B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lnSpc>
                <a:spcPct val="118000"/>
              </a:lnSpc>
              <a:buNone/>
              <a:defRPr sz="2025" b="1">
                <a:solidFill>
                  <a:srgbClr val="BDE3B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BDE3B1"/>
                </a:solidFill>
                <a:latin typeface="Microsoft YaHei"/>
                <a:ea typeface="Microsoft YaHei"/>
                <a:cs typeface="Microsoft YaHei"/>
              </a:rPr>
              <a:t>E2  对齐消融</a:t>
            </a:r>
          </a:p>
        </p:txBody>
      </p:sp>
      <p:sp>
        <p:nvSpPr>
          <p:cNvPr id="14" name="text">
            <a:extLst xmlns:a="http://schemas.openxmlformats.org/drawingml/2006/main">
              <a:ext uri="{FF2B5EF4-FFF2-40B4-BE49-F238E27FC236}">
                <a16:creationId xmlns:a16="http://schemas.microsoft.com/office/drawing/2014/main" id="{C1C7DDFE-4FE7-434E-85E4-A43154BB45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15075" y="3400425"/>
            <a:ext cx="5267325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50" b="0">
                <a:solidFill>
                  <a:srgbClr val="D7E7EE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650" b="0">
                <a:solidFill>
                  <a:srgbClr val="D7E7EE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650" b="0">
                <a:solidFill>
                  <a:srgbClr val="D7E7EE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650" b="0">
                <a:solidFill>
                  <a:srgbClr val="D7E7EE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650" b="0">
                <a:solidFill>
                  <a:srgbClr val="D7E7EE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650" b="0">
                <a:solidFill>
                  <a:srgbClr val="D7E7EE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650" b="0">
                <a:solidFill>
                  <a:srgbClr val="D7E7EE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650" b="0">
                <a:solidFill>
                  <a:srgbClr val="D7E7EE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650" b="0">
                <a:solidFill>
                  <a:srgbClr val="D7E7EE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650" b="0">
                <a:solidFill>
                  <a:srgbClr val="D7E7EE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lnSpc>
                <a:spcPct val="118000"/>
              </a:lnSpc>
              <a:buNone/>
              <a:defRPr sz="1650" b="0">
                <a:solidFill>
                  <a:srgbClr val="D7E7E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D7E7EE"/>
                </a:solidFill>
                <a:latin typeface="Microsoft YaHei"/>
                <a:ea typeface="Microsoft YaHei"/>
                <a:cs typeface="Microsoft YaHei"/>
              </a:rPr>
              <a:t>无关变换罚分降低 30.1 分，结构敏感性提升。</a:t>
            </a:r>
          </a:p>
          <a:p xmlns:a="http://schemas.openxmlformats.org/drawingml/2006/main">
            <a:pPr algn="l">
              <a:lnSpc>
                <a:spcPct val="118000"/>
              </a:lnSpc>
              <a:buNone/>
              <a:defRPr sz="1650" b="0">
                <a:solidFill>
                  <a:srgbClr val="D7E7E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D7E7EE"/>
                </a:solidFill>
                <a:latin typeface="Microsoft YaHei"/>
                <a:ea typeface="Microsoft YaHei"/>
                <a:cs typeface="Microsoft YaHei"/>
              </a:rPr>
              <a:t>95% CI [29.5, 30.7]</a:t>
            </a:r>
          </a:p>
        </p:txBody>
      </p:sp>
      <p:sp>
        <p:nvSpPr>
          <p:cNvPr id="15" name="text">
            <a:extLst xmlns:a="http://schemas.openxmlformats.org/drawingml/2006/main">
              <a:ext uri="{FF2B5EF4-FFF2-40B4-BE49-F238E27FC236}">
                <a16:creationId xmlns:a16="http://schemas.microsoft.com/office/drawing/2014/main" id="{F4573DE7-DBB6-47E8-A6C3-CB70FBA771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15075" y="4419600"/>
            <a:ext cx="526732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1">
                <a:solidFill>
                  <a:srgbClr val="BDE3B1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025" b="1">
                <a:solidFill>
                  <a:srgbClr val="BDE3B1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025" b="1">
                <a:solidFill>
                  <a:srgbClr val="BDE3B1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025" b="1">
                <a:solidFill>
                  <a:srgbClr val="BDE3B1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025" b="1">
                <a:solidFill>
                  <a:srgbClr val="BDE3B1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025" b="1">
                <a:solidFill>
                  <a:srgbClr val="BDE3B1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025" b="1">
                <a:solidFill>
                  <a:srgbClr val="BDE3B1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025" b="1">
                <a:solidFill>
                  <a:srgbClr val="BDE3B1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025" b="1">
                <a:solidFill>
                  <a:srgbClr val="BDE3B1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025" b="1">
                <a:solidFill>
                  <a:srgbClr val="BDE3B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lnSpc>
                <a:spcPct val="118000"/>
              </a:lnSpc>
              <a:buNone/>
              <a:defRPr sz="2025" b="1">
                <a:solidFill>
                  <a:srgbClr val="BDE3B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BDE3B1"/>
                </a:solidFill>
                <a:latin typeface="Microsoft YaHei"/>
                <a:ea typeface="Microsoft YaHei"/>
                <a:cs typeface="Microsoft YaHei"/>
              </a:rPr>
              <a:t>E3  人工盲评验证</a:t>
            </a:r>
          </a:p>
        </p:txBody>
      </p:sp>
      <p:sp>
        <p:nvSpPr>
          <p:cNvPr id="16" name="text">
            <a:extLst xmlns:a="http://schemas.openxmlformats.org/drawingml/2006/main">
              <a:ext uri="{FF2B5EF4-FFF2-40B4-BE49-F238E27FC236}">
                <a16:creationId xmlns:a16="http://schemas.microsoft.com/office/drawing/2014/main" id="{39F02281-532B-4D25-8311-9C38FACC29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15075" y="4914900"/>
            <a:ext cx="5267325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50" b="0">
                <a:solidFill>
                  <a:srgbClr val="D7E7EE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650" b="0">
                <a:solidFill>
                  <a:srgbClr val="D7E7EE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650" b="0">
                <a:solidFill>
                  <a:srgbClr val="D7E7EE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650" b="0">
                <a:solidFill>
                  <a:srgbClr val="D7E7EE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650" b="0">
                <a:solidFill>
                  <a:srgbClr val="D7E7EE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650" b="0">
                <a:solidFill>
                  <a:srgbClr val="D7E7EE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650" b="0">
                <a:solidFill>
                  <a:srgbClr val="D7E7EE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650" b="0">
                <a:solidFill>
                  <a:srgbClr val="D7E7EE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650" b="0">
                <a:solidFill>
                  <a:srgbClr val="D7E7EE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650" b="0">
                <a:solidFill>
                  <a:srgbClr val="D7E7EE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lnSpc>
                <a:spcPct val="118000"/>
              </a:lnSpc>
              <a:buNone/>
              <a:defRPr sz="1650" b="0">
                <a:solidFill>
                  <a:srgbClr val="D7E7E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D7E7EE"/>
                </a:solidFill>
                <a:latin typeface="Microsoft YaHei"/>
                <a:ea typeface="Microsoft YaHei"/>
                <a:cs typeface="Microsoft YaHei"/>
              </a:rPr>
              <a:t>3 位盲评者 × 150 对同字实例。</a:t>
            </a:r>
          </a:p>
          <a:p xmlns:a="http://schemas.openxmlformats.org/drawingml/2006/main">
            <a:pPr algn="l">
              <a:lnSpc>
                <a:spcPct val="118000"/>
              </a:lnSpc>
              <a:buNone/>
              <a:defRPr sz="1650" b="0">
                <a:solidFill>
                  <a:srgbClr val="D7E7E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D7E7EE"/>
                </a:solidFill>
                <a:latin typeface="Microsoft YaHei"/>
                <a:ea typeface="Microsoft YaHei"/>
                <a:cs typeface="Microsoft YaHei"/>
              </a:rPr>
              <a:t>Spearman ρ=0.297，coverage-aware 修正后 0.429。</a:t>
            </a:r>
          </a:p>
          <a:p xmlns:a="http://schemas.openxmlformats.org/drawingml/2006/main">
            <a:pPr algn="l">
              <a:lnSpc>
                <a:spcPct val="118000"/>
              </a:lnSpc>
              <a:buNone/>
              <a:defRPr sz="1650" b="0">
                <a:solidFill>
                  <a:srgbClr val="D7E7E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D7E7EE"/>
                </a:solidFill>
                <a:latin typeface="Microsoft YaHei"/>
                <a:ea typeface="Microsoft YaHei"/>
                <a:cs typeface="Microsoft YaHei"/>
              </a:rPr>
              <a:t>评价者间 ICC(2,k)=0.709。</a:t>
            </a:r>
          </a:p>
        </p:txBody>
      </p:sp>
    </p:spTree>
    <p:extLst>
      <p:ext uri="{BB962C8B-B14F-4D97-AF65-F5344CB8AC3E}">
        <p14:creationId xmlns:p14="http://schemas.microsoft.com/office/powerpoint/2010/main" val="1112059770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DFEEE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slide-title">
            <a:extLst xmlns:a="http://schemas.openxmlformats.org/drawingml/2006/main">
              <a:ext uri="{FF2B5EF4-FFF2-40B4-BE49-F238E27FC236}">
                <a16:creationId xmlns:a16="http://schemas.microsoft.com/office/drawing/2014/main" id="{2C888FEA-4DF0-4CD8-8F9E-15C3BA9111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97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000" b="1">
                <a:solidFill>
                  <a:srgbClr val="16394B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3000" b="1">
                <a:solidFill>
                  <a:srgbClr val="16394B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3000" b="1">
                <a:solidFill>
                  <a:srgbClr val="16394B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3000" b="1">
                <a:solidFill>
                  <a:srgbClr val="16394B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3000" b="1">
                <a:solidFill>
                  <a:srgbClr val="16394B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3000" b="1">
                <a:solidFill>
                  <a:srgbClr val="16394B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3000" b="1">
                <a:solidFill>
                  <a:srgbClr val="16394B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3000" b="1">
                <a:solidFill>
                  <a:srgbClr val="16394B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3000" b="1">
                <a:solidFill>
                  <a:srgbClr val="16394B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3000" b="1">
                <a:solidFill>
                  <a:srgbClr val="16394B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lnSpc>
                <a:spcPct val="118000"/>
              </a:lnSpc>
              <a:buNone/>
              <a:defRPr sz="3000" b="1">
                <a:solidFill>
                  <a:srgbClr val="16394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000" b="1">
                <a:solidFill>
                  <a:srgbClr val="16394B"/>
                </a:solidFill>
                <a:latin typeface="Microsoft YaHei"/>
                <a:ea typeface="Microsoft YaHei"/>
                <a:cs typeface="Microsoft YaHei"/>
              </a:rPr>
              <a:t>商业化探索：学校进校与个人订阅</a:t>
            </a:r>
          </a:p>
        </p:txBody>
      </p:sp>
      <p:sp>
        <p:nvSpPr>
          <p:cNvPr id="2" name="footer">
            <a:extLst xmlns:a="http://schemas.openxmlformats.org/drawingml/2006/main">
              <a:ext uri="{FF2B5EF4-FFF2-40B4-BE49-F238E27FC236}">
                <a16:creationId xmlns:a16="http://schemas.microsoft.com/office/drawing/2014/main" id="{5BA0D162-9364-4E78-8F48-FFAB96B684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05575"/>
            <a:ext cx="6667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125" b="0">
                <a:solidFill>
                  <a:srgbClr val="66818E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125" b="0">
                <a:solidFill>
                  <a:srgbClr val="66818E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125" b="0">
                <a:solidFill>
                  <a:srgbClr val="66818E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125" b="0">
                <a:solidFill>
                  <a:srgbClr val="66818E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125" b="0">
                <a:solidFill>
                  <a:srgbClr val="66818E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125" b="0">
                <a:solidFill>
                  <a:srgbClr val="66818E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125" b="0">
                <a:solidFill>
                  <a:srgbClr val="66818E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125" b="0">
                <a:solidFill>
                  <a:srgbClr val="66818E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125" b="0">
                <a:solidFill>
                  <a:srgbClr val="66818E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125" b="0">
                <a:solidFill>
                  <a:srgbClr val="66818E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lnSpc>
                <a:spcPct val="118000"/>
              </a:lnSpc>
              <a:buNone/>
              <a:defRPr sz="1125" b="0">
                <a:solidFill>
                  <a:srgbClr val="66818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66818E"/>
                </a:solidFill>
                <a:latin typeface="Microsoft YaHei"/>
                <a:ea typeface="Microsoft YaHei"/>
                <a:cs typeface="Microsoft YaHei"/>
              </a:rPr>
              <a:t>一笔成章  /  中期汇报</a:t>
            </a:r>
          </a:p>
        </p:txBody>
      </p:sp>
      <p:sp>
        <p:nvSpPr>
          <p:cNvPr id="3" name="page-number">
            <a:extLst xmlns:a="http://schemas.openxmlformats.org/drawingml/2006/main">
              <a:ext uri="{FF2B5EF4-FFF2-40B4-BE49-F238E27FC236}">
                <a16:creationId xmlns:a16="http://schemas.microsoft.com/office/drawing/2014/main" id="{AF31D88C-6AB6-4616-A109-B7154EC9B5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6486525"/>
            <a:ext cx="8191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200" b="0">
                <a:solidFill>
                  <a:srgbClr val="66818E"/>
                </a:solidFill>
                <a:latin typeface="Microsoft YaHei"/>
                <a:ea typeface="Microsoft YaHei"/>
                <a:cs typeface="Microsoft YaHei"/>
              </a:defRPr>
            </a:defPPr>
            <a:lvl1pPr algn="r">
              <a:defRPr sz="1200" b="0">
                <a:solidFill>
                  <a:srgbClr val="66818E"/>
                </a:solidFill>
                <a:latin typeface="Microsoft YaHei"/>
                <a:ea typeface="Microsoft YaHei"/>
                <a:cs typeface="Microsoft YaHei"/>
              </a:defRPr>
            </a:lvl1pPr>
            <a:lvl2pPr algn="r">
              <a:defRPr sz="1200" b="0">
                <a:solidFill>
                  <a:srgbClr val="66818E"/>
                </a:solidFill>
                <a:latin typeface="Microsoft YaHei"/>
                <a:ea typeface="Microsoft YaHei"/>
                <a:cs typeface="Microsoft YaHei"/>
              </a:defRPr>
            </a:lvl2pPr>
            <a:lvl3pPr algn="r">
              <a:defRPr sz="1200" b="0">
                <a:solidFill>
                  <a:srgbClr val="66818E"/>
                </a:solidFill>
                <a:latin typeface="Microsoft YaHei"/>
                <a:ea typeface="Microsoft YaHei"/>
                <a:cs typeface="Microsoft YaHei"/>
              </a:defRPr>
            </a:lvl3pPr>
            <a:lvl4pPr algn="r">
              <a:defRPr sz="1200" b="0">
                <a:solidFill>
                  <a:srgbClr val="66818E"/>
                </a:solidFill>
                <a:latin typeface="Microsoft YaHei"/>
                <a:ea typeface="Microsoft YaHei"/>
                <a:cs typeface="Microsoft YaHei"/>
              </a:defRPr>
            </a:lvl4pPr>
            <a:lvl5pPr algn="r">
              <a:defRPr sz="1200" b="0">
                <a:solidFill>
                  <a:srgbClr val="66818E"/>
                </a:solidFill>
                <a:latin typeface="Microsoft YaHei"/>
                <a:ea typeface="Microsoft YaHei"/>
                <a:cs typeface="Microsoft YaHei"/>
              </a:defRPr>
            </a:lvl5pPr>
            <a:lvl6pPr algn="r">
              <a:defRPr sz="1200" b="0">
                <a:solidFill>
                  <a:srgbClr val="66818E"/>
                </a:solidFill>
                <a:latin typeface="Microsoft YaHei"/>
                <a:ea typeface="Microsoft YaHei"/>
                <a:cs typeface="Microsoft YaHei"/>
              </a:defRPr>
            </a:lvl6pPr>
            <a:lvl7pPr algn="r">
              <a:defRPr sz="1200" b="0">
                <a:solidFill>
                  <a:srgbClr val="66818E"/>
                </a:solidFill>
                <a:latin typeface="Microsoft YaHei"/>
                <a:ea typeface="Microsoft YaHei"/>
                <a:cs typeface="Microsoft YaHei"/>
              </a:defRPr>
            </a:lvl7pPr>
            <a:lvl8pPr algn="r">
              <a:defRPr sz="1200" b="0">
                <a:solidFill>
                  <a:srgbClr val="66818E"/>
                </a:solidFill>
                <a:latin typeface="Microsoft YaHei"/>
                <a:ea typeface="Microsoft YaHei"/>
                <a:cs typeface="Microsoft YaHei"/>
              </a:defRPr>
            </a:lvl8pPr>
            <a:lvl9pPr algn="r">
              <a:defRPr sz="1200" b="0">
                <a:solidFill>
                  <a:srgbClr val="66818E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r">
              <a:lnSpc>
                <a:spcPct val="118000"/>
              </a:lnSpc>
              <a:buNone/>
              <a:defRPr sz="1200" b="0">
                <a:solidFill>
                  <a:srgbClr val="66818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66818E"/>
                </a:solidFill>
                <a:latin typeface="Microsoft YaHei"/>
                <a:ea typeface="Microsoft YaHei"/>
                <a:cs typeface="Microsoft YaHei"/>
              </a:rPr>
              <a:t>11 / 13</a:t>
            </a:r>
          </a:p>
        </p:txBody>
      </p:sp>
      <p:sp>
        <p:nvSpPr>
          <p:cNvPr id="4" name="text">
            <a:extLst xmlns:a="http://schemas.openxmlformats.org/drawingml/2006/main">
              <a:ext uri="{FF2B5EF4-FFF2-40B4-BE49-F238E27FC236}">
                <a16:creationId xmlns:a16="http://schemas.microsoft.com/office/drawing/2014/main" id="{24054FAC-E4F4-49E6-BEE6-3846C7F838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81125"/>
            <a:ext cx="5143500" cy="638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600" b="1">
                <a:solidFill>
                  <a:srgbClr val="143E5A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3600" b="1">
                <a:solidFill>
                  <a:srgbClr val="143E5A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3600" b="1">
                <a:solidFill>
                  <a:srgbClr val="143E5A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3600" b="1">
                <a:solidFill>
                  <a:srgbClr val="143E5A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3600" b="1">
                <a:solidFill>
                  <a:srgbClr val="143E5A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3600" b="1">
                <a:solidFill>
                  <a:srgbClr val="143E5A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3600" b="1">
                <a:solidFill>
                  <a:srgbClr val="143E5A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3600" b="1">
                <a:solidFill>
                  <a:srgbClr val="143E5A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3600" b="1">
                <a:solidFill>
                  <a:srgbClr val="143E5A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3600" b="1">
                <a:solidFill>
                  <a:srgbClr val="143E5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lnSpc>
                <a:spcPct val="118000"/>
              </a:lnSpc>
              <a:buNone/>
              <a:defRPr sz="3600" b="1">
                <a:solidFill>
                  <a:srgbClr val="143E5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600" b="1">
                <a:solidFill>
                  <a:srgbClr val="143E5A"/>
                </a:solidFill>
                <a:latin typeface="Microsoft YaHei"/>
                <a:ea typeface="Microsoft YaHei"/>
                <a:cs typeface="Microsoft YaHei"/>
              </a:rPr>
              <a:t>B 端</a:t>
            </a:r>
          </a:p>
        </p:txBody>
      </p:sp>
      <p:sp>
        <p:nvSpPr>
          <p:cNvPr id="5" name="text">
            <a:extLst xmlns:a="http://schemas.openxmlformats.org/drawingml/2006/main">
              <a:ext uri="{FF2B5EF4-FFF2-40B4-BE49-F238E27FC236}">
                <a16:creationId xmlns:a16="http://schemas.microsoft.com/office/drawing/2014/main" id="{33026994-3BEF-42B1-875E-A2E3DB38ED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105025"/>
            <a:ext cx="5143500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250" b="1">
                <a:solidFill>
                  <a:srgbClr val="087C78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250" b="1">
                <a:solidFill>
                  <a:srgbClr val="087C78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250" b="1">
                <a:solidFill>
                  <a:srgbClr val="087C78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250" b="1">
                <a:solidFill>
                  <a:srgbClr val="087C78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250" b="1">
                <a:solidFill>
                  <a:srgbClr val="087C78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250" b="1">
                <a:solidFill>
                  <a:srgbClr val="087C78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250" b="1">
                <a:solidFill>
                  <a:srgbClr val="087C78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250" b="1">
                <a:solidFill>
                  <a:srgbClr val="087C78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250" b="1">
                <a:solidFill>
                  <a:srgbClr val="087C78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250" b="1">
                <a:solidFill>
                  <a:srgbClr val="087C7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lnSpc>
                <a:spcPct val="118000"/>
              </a:lnSpc>
              <a:buNone/>
              <a:defRPr sz="2250" b="1">
                <a:solidFill>
                  <a:srgbClr val="087C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087C78"/>
                </a:solidFill>
                <a:latin typeface="Microsoft YaHei"/>
                <a:ea typeface="Microsoft YaHei"/>
                <a:cs typeface="Microsoft YaHei"/>
              </a:rPr>
              <a:t>学校与机构</a:t>
            </a:r>
          </a:p>
        </p:txBody>
      </p:sp>
      <p:sp>
        <p:nvSpPr>
          <p:cNvPr id="6" name="text">
            <a:extLst xmlns:a="http://schemas.openxmlformats.org/drawingml/2006/main">
              <a:ext uri="{FF2B5EF4-FFF2-40B4-BE49-F238E27FC236}">
                <a16:creationId xmlns:a16="http://schemas.microsoft.com/office/drawing/2014/main" id="{3F98DEF2-E694-4E93-8991-8618DA4616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95575"/>
            <a:ext cx="50482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365567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725" b="0">
                <a:solidFill>
                  <a:srgbClr val="365567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725" b="0">
                <a:solidFill>
                  <a:srgbClr val="365567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725" b="0">
                <a:solidFill>
                  <a:srgbClr val="365567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725" b="0">
                <a:solidFill>
                  <a:srgbClr val="365567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725" b="0">
                <a:solidFill>
                  <a:srgbClr val="365567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725" b="0">
                <a:solidFill>
                  <a:srgbClr val="365567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725" b="0">
                <a:solidFill>
                  <a:srgbClr val="365567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725" b="0">
                <a:solidFill>
                  <a:srgbClr val="365567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725" b="0">
                <a:solidFill>
                  <a:srgbClr val="36556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lnSpc>
                <a:spcPct val="118000"/>
              </a:lnSpc>
              <a:buNone/>
              <a:defRPr sz="1725" b="0">
                <a:solidFill>
                  <a:srgbClr val="36556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365567"/>
                </a:solidFill>
                <a:latin typeface="Microsoft YaHei"/>
                <a:ea typeface="Microsoft YaHei"/>
                <a:cs typeface="Microsoft YaHei"/>
              </a:rPr>
              <a:t>Web 免安装，适配书法课堂、课后服务与社团。</a:t>
            </a:r>
          </a:p>
          <a:p xmlns:a="http://schemas.openxmlformats.org/drawingml/2006/main">
            <a:pPr algn="l">
              <a:lnSpc>
                <a:spcPct val="118000"/>
              </a:lnSpc>
              <a:buNone/>
              <a:defRPr sz="1725" b="0">
                <a:solidFill>
                  <a:srgbClr val="36556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365567"/>
                </a:solidFill>
                <a:latin typeface="Microsoft YaHei"/>
                <a:ea typeface="Microsoft YaHei"/>
                <a:cs typeface="Microsoft YaHei"/>
              </a:rPr>
              <a:t>机房与电子白板可直接使用。</a:t>
            </a:r>
          </a:p>
        </p:txBody>
      </p:sp>
      <p:sp>
        <p:nvSpPr>
          <p:cNvPr id="7" name="text">
            <a:extLst xmlns:a="http://schemas.openxmlformats.org/drawingml/2006/main">
              <a:ext uri="{FF2B5EF4-FFF2-40B4-BE49-F238E27FC236}">
                <a16:creationId xmlns:a16="http://schemas.microsoft.com/office/drawing/2014/main" id="{B06519D4-758D-4D74-85DA-91C469CB6F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29025"/>
            <a:ext cx="50482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365567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725" b="0">
                <a:solidFill>
                  <a:srgbClr val="365567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725" b="0">
                <a:solidFill>
                  <a:srgbClr val="365567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725" b="0">
                <a:solidFill>
                  <a:srgbClr val="365567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725" b="0">
                <a:solidFill>
                  <a:srgbClr val="365567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725" b="0">
                <a:solidFill>
                  <a:srgbClr val="365567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725" b="0">
                <a:solidFill>
                  <a:srgbClr val="365567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725" b="0">
                <a:solidFill>
                  <a:srgbClr val="365567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725" b="0">
                <a:solidFill>
                  <a:srgbClr val="365567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725" b="0">
                <a:solidFill>
                  <a:srgbClr val="36556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lnSpc>
                <a:spcPct val="118000"/>
              </a:lnSpc>
              <a:buNone/>
              <a:defRPr sz="1725" b="0">
                <a:solidFill>
                  <a:srgbClr val="36556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365567"/>
                </a:solidFill>
                <a:latin typeface="Microsoft YaHei"/>
                <a:ea typeface="Microsoft YaHei"/>
                <a:cs typeface="Microsoft YaHei"/>
              </a:rPr>
              <a:t>课程包按学期 / 按校授权。</a:t>
            </a:r>
          </a:p>
          <a:p xmlns:a="http://schemas.openxmlformats.org/drawingml/2006/main">
            <a:pPr algn="l">
              <a:lnSpc>
                <a:spcPct val="118000"/>
              </a:lnSpc>
              <a:buNone/>
              <a:defRPr sz="1725" b="0">
                <a:solidFill>
                  <a:srgbClr val="36556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365567"/>
                </a:solidFill>
                <a:latin typeface="Microsoft YaHei"/>
                <a:ea typeface="Microsoft YaHei"/>
                <a:cs typeface="Microsoft YaHei"/>
              </a:rPr>
              <a:t>教师端查看班级练习数据。</a:t>
            </a:r>
          </a:p>
        </p:txBody>
      </p:sp>
      <p:sp>
        <p:nvSpPr>
          <p:cNvPr id="8" name="text">
            <a:extLst xmlns:a="http://schemas.openxmlformats.org/drawingml/2006/main">
              <a:ext uri="{FF2B5EF4-FFF2-40B4-BE49-F238E27FC236}">
                <a16:creationId xmlns:a16="http://schemas.microsoft.com/office/drawing/2014/main" id="{EE330B32-597F-40CA-B881-33E81A4D36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52950"/>
            <a:ext cx="5048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1">
                <a:solidFill>
                  <a:srgbClr val="16394B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725" b="1">
                <a:solidFill>
                  <a:srgbClr val="16394B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725" b="1">
                <a:solidFill>
                  <a:srgbClr val="16394B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725" b="1">
                <a:solidFill>
                  <a:srgbClr val="16394B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725" b="1">
                <a:solidFill>
                  <a:srgbClr val="16394B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725" b="1">
                <a:solidFill>
                  <a:srgbClr val="16394B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725" b="1">
                <a:solidFill>
                  <a:srgbClr val="16394B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725" b="1">
                <a:solidFill>
                  <a:srgbClr val="16394B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725" b="1">
                <a:solidFill>
                  <a:srgbClr val="16394B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725" b="1">
                <a:solidFill>
                  <a:srgbClr val="16394B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lnSpc>
                <a:spcPct val="118000"/>
              </a:lnSpc>
              <a:buNone/>
              <a:defRPr sz="1725" b="1">
                <a:solidFill>
                  <a:srgbClr val="16394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16394B"/>
                </a:solidFill>
                <a:latin typeface="Microsoft YaHei"/>
                <a:ea typeface="Microsoft YaHei"/>
                <a:cs typeface="Microsoft YaHei"/>
              </a:rPr>
              <a:t>双课程 Beta 已具备进校演示条件。</a:t>
            </a:r>
          </a:p>
        </p:txBody>
      </p:sp>
      <p:sp>
        <p:nvSpPr>
          <p:cNvPr id="9" name="text">
            <a:extLst xmlns:a="http://schemas.openxmlformats.org/drawingml/2006/main">
              <a:ext uri="{FF2B5EF4-FFF2-40B4-BE49-F238E27FC236}">
                <a16:creationId xmlns:a16="http://schemas.microsoft.com/office/drawing/2014/main" id="{4F164AE5-7770-4A9A-BFAE-20C71798D8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15075" y="1381125"/>
            <a:ext cx="5267325" cy="638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600" b="1">
                <a:solidFill>
                  <a:srgbClr val="143E5A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3600" b="1">
                <a:solidFill>
                  <a:srgbClr val="143E5A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3600" b="1">
                <a:solidFill>
                  <a:srgbClr val="143E5A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3600" b="1">
                <a:solidFill>
                  <a:srgbClr val="143E5A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3600" b="1">
                <a:solidFill>
                  <a:srgbClr val="143E5A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3600" b="1">
                <a:solidFill>
                  <a:srgbClr val="143E5A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3600" b="1">
                <a:solidFill>
                  <a:srgbClr val="143E5A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3600" b="1">
                <a:solidFill>
                  <a:srgbClr val="143E5A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3600" b="1">
                <a:solidFill>
                  <a:srgbClr val="143E5A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3600" b="1">
                <a:solidFill>
                  <a:srgbClr val="143E5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lnSpc>
                <a:spcPct val="118000"/>
              </a:lnSpc>
              <a:buNone/>
              <a:defRPr sz="3600" b="1">
                <a:solidFill>
                  <a:srgbClr val="143E5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600" b="1">
                <a:solidFill>
                  <a:srgbClr val="143E5A"/>
                </a:solidFill>
                <a:latin typeface="Microsoft YaHei"/>
                <a:ea typeface="Microsoft YaHei"/>
                <a:cs typeface="Microsoft YaHei"/>
              </a:rPr>
              <a:t>C 端</a:t>
            </a:r>
          </a:p>
        </p:txBody>
      </p:sp>
      <p:sp>
        <p:nvSpPr>
          <p:cNvPr id="10" name="text">
            <a:extLst xmlns:a="http://schemas.openxmlformats.org/drawingml/2006/main">
              <a:ext uri="{FF2B5EF4-FFF2-40B4-BE49-F238E27FC236}">
                <a16:creationId xmlns:a16="http://schemas.microsoft.com/office/drawing/2014/main" id="{35792203-D219-4369-9115-88A672E583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15075" y="2105025"/>
            <a:ext cx="5267325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250" b="1">
                <a:solidFill>
                  <a:srgbClr val="087C78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250" b="1">
                <a:solidFill>
                  <a:srgbClr val="087C78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250" b="1">
                <a:solidFill>
                  <a:srgbClr val="087C78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250" b="1">
                <a:solidFill>
                  <a:srgbClr val="087C78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250" b="1">
                <a:solidFill>
                  <a:srgbClr val="087C78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250" b="1">
                <a:solidFill>
                  <a:srgbClr val="087C78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250" b="1">
                <a:solidFill>
                  <a:srgbClr val="087C78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250" b="1">
                <a:solidFill>
                  <a:srgbClr val="087C78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250" b="1">
                <a:solidFill>
                  <a:srgbClr val="087C78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250" b="1">
                <a:solidFill>
                  <a:srgbClr val="087C7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lnSpc>
                <a:spcPct val="118000"/>
              </a:lnSpc>
              <a:buNone/>
              <a:defRPr sz="2250" b="1">
                <a:solidFill>
                  <a:srgbClr val="087C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087C78"/>
                </a:solidFill>
                <a:latin typeface="Microsoft YaHei"/>
                <a:ea typeface="Microsoft YaHei"/>
                <a:cs typeface="Microsoft YaHei"/>
              </a:rPr>
              <a:t>个人练习者</a:t>
            </a:r>
          </a:p>
        </p:txBody>
      </p:sp>
      <p:sp>
        <p:nvSpPr>
          <p:cNvPr id="11" name="text">
            <a:extLst xmlns:a="http://schemas.openxmlformats.org/drawingml/2006/main">
              <a:ext uri="{FF2B5EF4-FFF2-40B4-BE49-F238E27FC236}">
                <a16:creationId xmlns:a16="http://schemas.microsoft.com/office/drawing/2014/main" id="{98EE8DD0-AEB3-4673-AD7C-4C57FBA264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15075" y="2695575"/>
            <a:ext cx="5267325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365567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725" b="0">
                <a:solidFill>
                  <a:srgbClr val="365567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725" b="0">
                <a:solidFill>
                  <a:srgbClr val="365567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725" b="0">
                <a:solidFill>
                  <a:srgbClr val="365567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725" b="0">
                <a:solidFill>
                  <a:srgbClr val="365567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725" b="0">
                <a:solidFill>
                  <a:srgbClr val="365567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725" b="0">
                <a:solidFill>
                  <a:srgbClr val="365567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725" b="0">
                <a:solidFill>
                  <a:srgbClr val="365567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725" b="0">
                <a:solidFill>
                  <a:srgbClr val="365567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725" b="0">
                <a:solidFill>
                  <a:srgbClr val="36556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lnSpc>
                <a:spcPct val="118000"/>
              </a:lnSpc>
              <a:buNone/>
              <a:defRPr sz="1725" b="0">
                <a:solidFill>
                  <a:srgbClr val="36556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365567"/>
                </a:solidFill>
                <a:latin typeface="Microsoft YaHei"/>
                <a:ea typeface="Microsoft YaHei"/>
                <a:cs typeface="Microsoft YaHei"/>
              </a:rPr>
              <a:t>iPad App 支持日常自学、纠错与复盘。</a:t>
            </a:r>
          </a:p>
          <a:p xmlns:a="http://schemas.openxmlformats.org/drawingml/2006/main">
            <a:pPr algn="l">
              <a:lnSpc>
                <a:spcPct val="118000"/>
              </a:lnSpc>
              <a:buNone/>
              <a:defRPr sz="1725" b="0">
                <a:solidFill>
                  <a:srgbClr val="36556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365567"/>
                </a:solidFill>
                <a:latin typeface="Microsoft YaHei"/>
                <a:ea typeface="Microsoft YaHei"/>
                <a:cs typeface="Microsoft YaHei"/>
              </a:rPr>
              <a:t>服务书法爱好者和考级人群。</a:t>
            </a:r>
          </a:p>
        </p:txBody>
      </p:sp>
      <p:sp>
        <p:nvSpPr>
          <p:cNvPr id="12" name="text">
            <a:extLst xmlns:a="http://schemas.openxmlformats.org/drawingml/2006/main">
              <a:ext uri="{FF2B5EF4-FFF2-40B4-BE49-F238E27FC236}">
                <a16:creationId xmlns:a16="http://schemas.microsoft.com/office/drawing/2014/main" id="{7A4DAD61-D8AD-454C-863E-DA3B91B56B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15075" y="3629025"/>
            <a:ext cx="5267325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365567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725" b="0">
                <a:solidFill>
                  <a:srgbClr val="365567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725" b="0">
                <a:solidFill>
                  <a:srgbClr val="365567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725" b="0">
                <a:solidFill>
                  <a:srgbClr val="365567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725" b="0">
                <a:solidFill>
                  <a:srgbClr val="365567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725" b="0">
                <a:solidFill>
                  <a:srgbClr val="365567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725" b="0">
                <a:solidFill>
                  <a:srgbClr val="365567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725" b="0">
                <a:solidFill>
                  <a:srgbClr val="365567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725" b="0">
                <a:solidFill>
                  <a:srgbClr val="365567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725" b="0">
                <a:solidFill>
                  <a:srgbClr val="36556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lnSpc>
                <a:spcPct val="118000"/>
              </a:lnSpc>
              <a:buNone/>
              <a:defRPr sz="1725" b="0">
                <a:solidFill>
                  <a:srgbClr val="36556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365567"/>
                </a:solidFill>
                <a:latin typeface="Microsoft YaHei"/>
                <a:ea typeface="Microsoft YaHei"/>
                <a:cs typeface="Microsoft YaHei"/>
              </a:rPr>
              <a:t>专业练习订阅与课程包内购，</a:t>
            </a:r>
          </a:p>
          <a:p xmlns:a="http://schemas.openxmlformats.org/drawingml/2006/main">
            <a:pPr algn="l">
              <a:lnSpc>
                <a:spcPct val="118000"/>
              </a:lnSpc>
              <a:buNone/>
              <a:defRPr sz="1725" b="0">
                <a:solidFill>
                  <a:srgbClr val="36556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365567"/>
                </a:solidFill>
                <a:latin typeface="Microsoft YaHei"/>
                <a:ea typeface="Microsoft YaHei"/>
                <a:cs typeface="Microsoft YaHei"/>
              </a:rPr>
              <a:t>持续扩充碑帖课程。</a:t>
            </a:r>
          </a:p>
        </p:txBody>
      </p:sp>
      <p:sp>
        <p:nvSpPr>
          <p:cNvPr id="13" name="text">
            <a:extLst xmlns:a="http://schemas.openxmlformats.org/drawingml/2006/main">
              <a:ext uri="{FF2B5EF4-FFF2-40B4-BE49-F238E27FC236}">
                <a16:creationId xmlns:a16="http://schemas.microsoft.com/office/drawing/2014/main" id="{C540F907-C99A-47BE-ABED-FEC2DC5EB3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15075" y="4552950"/>
            <a:ext cx="526732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1">
                <a:solidFill>
                  <a:srgbClr val="16394B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725" b="1">
                <a:solidFill>
                  <a:srgbClr val="16394B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725" b="1">
                <a:solidFill>
                  <a:srgbClr val="16394B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725" b="1">
                <a:solidFill>
                  <a:srgbClr val="16394B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725" b="1">
                <a:solidFill>
                  <a:srgbClr val="16394B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725" b="1">
                <a:solidFill>
                  <a:srgbClr val="16394B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725" b="1">
                <a:solidFill>
                  <a:srgbClr val="16394B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725" b="1">
                <a:solidFill>
                  <a:srgbClr val="16394B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725" b="1">
                <a:solidFill>
                  <a:srgbClr val="16394B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725" b="1">
                <a:solidFill>
                  <a:srgbClr val="16394B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lnSpc>
                <a:spcPct val="118000"/>
              </a:lnSpc>
              <a:buNone/>
              <a:defRPr sz="1725" b="1">
                <a:solidFill>
                  <a:srgbClr val="16394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16394B"/>
                </a:solidFill>
                <a:latin typeface="Microsoft YaHei"/>
                <a:ea typeface="Microsoft YaHei"/>
                <a:cs typeface="Microsoft YaHei"/>
              </a:rPr>
              <a:t>全流程可用，具备小范围用户试点条件。</a:t>
            </a:r>
          </a:p>
        </p:txBody>
      </p:sp>
      <p:sp>
        <p:nvSpPr>
          <p:cNvPr id="14" name="text">
            <a:extLst xmlns:a="http://schemas.openxmlformats.org/drawingml/2006/main">
              <a:ext uri="{FF2B5EF4-FFF2-40B4-BE49-F238E27FC236}">
                <a16:creationId xmlns:a16="http://schemas.microsoft.com/office/drawing/2014/main" id="{27871DBE-0358-44A9-9FA4-E5E0FDBCC4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276850"/>
            <a:ext cx="109728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1">
                <a:solidFill>
                  <a:srgbClr val="087C78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025" b="1">
                <a:solidFill>
                  <a:srgbClr val="087C78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025" b="1">
                <a:solidFill>
                  <a:srgbClr val="087C78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025" b="1">
                <a:solidFill>
                  <a:srgbClr val="087C78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025" b="1">
                <a:solidFill>
                  <a:srgbClr val="087C78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025" b="1">
                <a:solidFill>
                  <a:srgbClr val="087C78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025" b="1">
                <a:solidFill>
                  <a:srgbClr val="087C78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025" b="1">
                <a:solidFill>
                  <a:srgbClr val="087C78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025" b="1">
                <a:solidFill>
                  <a:srgbClr val="087C78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025" b="1">
                <a:solidFill>
                  <a:srgbClr val="087C7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lnSpc>
                <a:spcPct val="118000"/>
              </a:lnSpc>
              <a:buNone/>
              <a:defRPr sz="2025" b="1">
                <a:solidFill>
                  <a:srgbClr val="087C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087C78"/>
                </a:solidFill>
                <a:latin typeface="Microsoft YaHei"/>
                <a:ea typeface="Microsoft YaHei"/>
                <a:cs typeface="Microsoft YaHei"/>
              </a:rPr>
              <a:t>进校扩大覆盖，积累数据与口碑，支持产品持续改进</a:t>
            </a:r>
          </a:p>
        </p:txBody>
      </p:sp>
      <p:sp>
        <p:nvSpPr>
          <p:cNvPr id="15" name="text">
            <a:extLst xmlns:a="http://schemas.openxmlformats.org/drawingml/2006/main">
              <a:ext uri="{FF2B5EF4-FFF2-40B4-BE49-F238E27FC236}">
                <a16:creationId xmlns:a16="http://schemas.microsoft.com/office/drawing/2014/main" id="{6A255F51-0707-4697-897E-9BE3D2A248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810250"/>
            <a:ext cx="109728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00" b="0">
                <a:solidFill>
                  <a:srgbClr val="365567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500" b="0">
                <a:solidFill>
                  <a:srgbClr val="365567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500" b="0">
                <a:solidFill>
                  <a:srgbClr val="365567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500" b="0">
                <a:solidFill>
                  <a:srgbClr val="365567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500" b="0">
                <a:solidFill>
                  <a:srgbClr val="365567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500" b="0">
                <a:solidFill>
                  <a:srgbClr val="365567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500" b="0">
                <a:solidFill>
                  <a:srgbClr val="365567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500" b="0">
                <a:solidFill>
                  <a:srgbClr val="365567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500" b="0">
                <a:solidFill>
                  <a:srgbClr val="365567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500" b="0">
                <a:solidFill>
                  <a:srgbClr val="36556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lnSpc>
                <a:spcPct val="118000"/>
              </a:lnSpc>
              <a:buNone/>
              <a:defRPr sz="1500" b="0">
                <a:solidFill>
                  <a:srgbClr val="36556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365567"/>
                </a:solidFill>
                <a:latin typeface="Microsoft YaHei"/>
                <a:ea typeface="Microsoft YaHei"/>
                <a:cs typeface="Microsoft YaHei"/>
              </a:rPr>
              <a:t>两门 Beta 课程已上线；参考库采用 CC-BY-NC-4.0 数据集，产品内标注来源与 Beta 身份。</a:t>
            </a:r>
          </a:p>
          <a:p xmlns:a="http://schemas.openxmlformats.org/drawingml/2006/main">
            <a:pPr algn="l">
              <a:lnSpc>
                <a:spcPct val="118000"/>
              </a:lnSpc>
              <a:buNone/>
              <a:defRPr sz="1500" b="0">
                <a:solidFill>
                  <a:srgbClr val="36556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365567"/>
                </a:solidFill>
                <a:latin typeface="Microsoft YaHei"/>
                <a:ea typeface="Microsoft YaHei"/>
                <a:cs typeface="Microsoft YaHei"/>
              </a:rPr>
              <a:t>下一步推进学校洽谈与真实用户试点，以留存和付费意愿验证商业假设。</a:t>
            </a:r>
          </a:p>
        </p:txBody>
      </p:sp>
    </p:spTree>
    <p:extLst>
      <p:ext uri="{BB962C8B-B14F-4D97-AF65-F5344CB8AC3E}">
        <p14:creationId xmlns:p14="http://schemas.microsoft.com/office/powerpoint/2010/main" val="1231873972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DBEAF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A3080C79-BBD7-4A0F-8496-5B8F97BD69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97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000" b="1">
                <a:solidFill>
                  <a:srgbClr val="16394B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3000" b="1">
                <a:solidFill>
                  <a:srgbClr val="16394B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3000" b="1">
                <a:solidFill>
                  <a:srgbClr val="16394B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3000" b="1">
                <a:solidFill>
                  <a:srgbClr val="16394B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3000" b="1">
                <a:solidFill>
                  <a:srgbClr val="16394B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3000" b="1">
                <a:solidFill>
                  <a:srgbClr val="16394B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3000" b="1">
                <a:solidFill>
                  <a:srgbClr val="16394B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3000" b="1">
                <a:solidFill>
                  <a:srgbClr val="16394B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3000" b="1">
                <a:solidFill>
                  <a:srgbClr val="16394B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3000" b="1">
                <a:solidFill>
                  <a:srgbClr val="16394B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lnSpc>
                <a:spcPct val="118000"/>
              </a:lnSpc>
              <a:buNone/>
              <a:defRPr sz="3000" b="1">
                <a:solidFill>
                  <a:srgbClr val="16394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000" b="1">
                <a:solidFill>
                  <a:srgbClr val="16394B"/>
                </a:solidFill>
                <a:latin typeface="Microsoft YaHei"/>
                <a:ea typeface="Microsoft YaHei"/>
                <a:cs typeface="Microsoft YaHei"/>
              </a:rPr>
              <a:t>下一步计划：结题与真实场景试点</a:t>
            </a:r>
          </a:p>
        </p:txBody>
      </p:sp>
      <p:sp>
        <p:nvSpPr>
          <p:cNvPr id="2" name="footer">
            <a:extLst xmlns:a="http://schemas.openxmlformats.org/drawingml/2006/main">
              <a:ext uri="{FF2B5EF4-FFF2-40B4-BE49-F238E27FC236}">
                <a16:creationId xmlns:a16="http://schemas.microsoft.com/office/drawing/2014/main" id="{4075A2BE-2BE6-428C-9B92-CCD3EDD55B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05575"/>
            <a:ext cx="6667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125" b="0">
                <a:solidFill>
                  <a:srgbClr val="66818E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125" b="0">
                <a:solidFill>
                  <a:srgbClr val="66818E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125" b="0">
                <a:solidFill>
                  <a:srgbClr val="66818E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125" b="0">
                <a:solidFill>
                  <a:srgbClr val="66818E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125" b="0">
                <a:solidFill>
                  <a:srgbClr val="66818E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125" b="0">
                <a:solidFill>
                  <a:srgbClr val="66818E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125" b="0">
                <a:solidFill>
                  <a:srgbClr val="66818E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125" b="0">
                <a:solidFill>
                  <a:srgbClr val="66818E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125" b="0">
                <a:solidFill>
                  <a:srgbClr val="66818E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125" b="0">
                <a:solidFill>
                  <a:srgbClr val="66818E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lnSpc>
                <a:spcPct val="118000"/>
              </a:lnSpc>
              <a:buNone/>
              <a:defRPr sz="1125" b="0">
                <a:solidFill>
                  <a:srgbClr val="66818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66818E"/>
                </a:solidFill>
                <a:latin typeface="Microsoft YaHei"/>
                <a:ea typeface="Microsoft YaHei"/>
                <a:cs typeface="Microsoft YaHei"/>
              </a:rPr>
              <a:t>一笔成章  /  中期汇报</a:t>
            </a:r>
          </a:p>
        </p:txBody>
      </p:sp>
      <p:sp>
        <p:nvSpPr>
          <p:cNvPr id="3" name="page-number">
            <a:extLst xmlns:a="http://schemas.openxmlformats.org/drawingml/2006/main">
              <a:ext uri="{FF2B5EF4-FFF2-40B4-BE49-F238E27FC236}">
                <a16:creationId xmlns:a16="http://schemas.microsoft.com/office/drawing/2014/main" id="{4AFF4F35-520F-43FE-B55B-C797D5646C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6486525"/>
            <a:ext cx="8191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200" b="0">
                <a:solidFill>
                  <a:srgbClr val="66818E"/>
                </a:solidFill>
                <a:latin typeface="Microsoft YaHei"/>
                <a:ea typeface="Microsoft YaHei"/>
                <a:cs typeface="Microsoft YaHei"/>
              </a:defRPr>
            </a:defPPr>
            <a:lvl1pPr algn="r">
              <a:defRPr sz="1200" b="0">
                <a:solidFill>
                  <a:srgbClr val="66818E"/>
                </a:solidFill>
                <a:latin typeface="Microsoft YaHei"/>
                <a:ea typeface="Microsoft YaHei"/>
                <a:cs typeface="Microsoft YaHei"/>
              </a:defRPr>
            </a:lvl1pPr>
            <a:lvl2pPr algn="r">
              <a:defRPr sz="1200" b="0">
                <a:solidFill>
                  <a:srgbClr val="66818E"/>
                </a:solidFill>
                <a:latin typeface="Microsoft YaHei"/>
                <a:ea typeface="Microsoft YaHei"/>
                <a:cs typeface="Microsoft YaHei"/>
              </a:defRPr>
            </a:lvl2pPr>
            <a:lvl3pPr algn="r">
              <a:defRPr sz="1200" b="0">
                <a:solidFill>
                  <a:srgbClr val="66818E"/>
                </a:solidFill>
                <a:latin typeface="Microsoft YaHei"/>
                <a:ea typeface="Microsoft YaHei"/>
                <a:cs typeface="Microsoft YaHei"/>
              </a:defRPr>
            </a:lvl3pPr>
            <a:lvl4pPr algn="r">
              <a:defRPr sz="1200" b="0">
                <a:solidFill>
                  <a:srgbClr val="66818E"/>
                </a:solidFill>
                <a:latin typeface="Microsoft YaHei"/>
                <a:ea typeface="Microsoft YaHei"/>
                <a:cs typeface="Microsoft YaHei"/>
              </a:defRPr>
            </a:lvl4pPr>
            <a:lvl5pPr algn="r">
              <a:defRPr sz="1200" b="0">
                <a:solidFill>
                  <a:srgbClr val="66818E"/>
                </a:solidFill>
                <a:latin typeface="Microsoft YaHei"/>
                <a:ea typeface="Microsoft YaHei"/>
                <a:cs typeface="Microsoft YaHei"/>
              </a:defRPr>
            </a:lvl5pPr>
            <a:lvl6pPr algn="r">
              <a:defRPr sz="1200" b="0">
                <a:solidFill>
                  <a:srgbClr val="66818E"/>
                </a:solidFill>
                <a:latin typeface="Microsoft YaHei"/>
                <a:ea typeface="Microsoft YaHei"/>
                <a:cs typeface="Microsoft YaHei"/>
              </a:defRPr>
            </a:lvl6pPr>
            <a:lvl7pPr algn="r">
              <a:defRPr sz="1200" b="0">
                <a:solidFill>
                  <a:srgbClr val="66818E"/>
                </a:solidFill>
                <a:latin typeface="Microsoft YaHei"/>
                <a:ea typeface="Microsoft YaHei"/>
                <a:cs typeface="Microsoft YaHei"/>
              </a:defRPr>
            </a:lvl7pPr>
            <a:lvl8pPr algn="r">
              <a:defRPr sz="1200" b="0">
                <a:solidFill>
                  <a:srgbClr val="66818E"/>
                </a:solidFill>
                <a:latin typeface="Microsoft YaHei"/>
                <a:ea typeface="Microsoft YaHei"/>
                <a:cs typeface="Microsoft YaHei"/>
              </a:defRPr>
            </a:lvl8pPr>
            <a:lvl9pPr algn="r">
              <a:defRPr sz="1200" b="0">
                <a:solidFill>
                  <a:srgbClr val="66818E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r">
              <a:lnSpc>
                <a:spcPct val="118000"/>
              </a:lnSpc>
              <a:buNone/>
              <a:defRPr sz="1200" b="0">
                <a:solidFill>
                  <a:srgbClr val="66818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66818E"/>
                </a:solidFill>
                <a:latin typeface="Microsoft YaHei"/>
                <a:ea typeface="Microsoft YaHei"/>
                <a:cs typeface="Microsoft YaHei"/>
              </a:rPr>
              <a:t>12 / 13</a:t>
            </a:r>
          </a:p>
        </p:txBody>
      </p:sp>
      <p:sp>
        <p:nvSpPr>
          <p:cNvPr id="4" name="text">
            <a:extLst xmlns:a="http://schemas.openxmlformats.org/drawingml/2006/main">
              <a:ext uri="{FF2B5EF4-FFF2-40B4-BE49-F238E27FC236}">
                <a16:creationId xmlns:a16="http://schemas.microsoft.com/office/drawing/2014/main" id="{90894C48-9174-415D-B8E8-9AC3182C0D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28750"/>
            <a:ext cx="24765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900" b="1">
                <a:solidFill>
                  <a:srgbClr val="087C78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3900" b="1">
                <a:solidFill>
                  <a:srgbClr val="087C78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3900" b="1">
                <a:solidFill>
                  <a:srgbClr val="087C78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3900" b="1">
                <a:solidFill>
                  <a:srgbClr val="087C78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3900" b="1">
                <a:solidFill>
                  <a:srgbClr val="087C78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3900" b="1">
                <a:solidFill>
                  <a:srgbClr val="087C78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3900" b="1">
                <a:solidFill>
                  <a:srgbClr val="087C78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3900" b="1">
                <a:solidFill>
                  <a:srgbClr val="087C78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3900" b="1">
                <a:solidFill>
                  <a:srgbClr val="087C78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3900" b="1">
                <a:solidFill>
                  <a:srgbClr val="087C7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lnSpc>
                <a:spcPct val="118000"/>
              </a:lnSpc>
              <a:buNone/>
              <a:defRPr sz="3900" b="1">
                <a:solidFill>
                  <a:srgbClr val="087C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900" b="1">
                <a:solidFill>
                  <a:srgbClr val="087C78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  <p:sp>
        <p:nvSpPr>
          <p:cNvPr id="5" name="text">
            <a:extLst xmlns:a="http://schemas.openxmlformats.org/drawingml/2006/main">
              <a:ext uri="{FF2B5EF4-FFF2-40B4-BE49-F238E27FC236}">
                <a16:creationId xmlns:a16="http://schemas.microsoft.com/office/drawing/2014/main" id="{E4993279-CF91-4E7B-A9ED-7E35C1E716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86000"/>
            <a:ext cx="2476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1">
                <a:solidFill>
                  <a:srgbClr val="143E5A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725" b="1">
                <a:solidFill>
                  <a:srgbClr val="143E5A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725" b="1">
                <a:solidFill>
                  <a:srgbClr val="143E5A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725" b="1">
                <a:solidFill>
                  <a:srgbClr val="143E5A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725" b="1">
                <a:solidFill>
                  <a:srgbClr val="143E5A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725" b="1">
                <a:solidFill>
                  <a:srgbClr val="143E5A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725" b="1">
                <a:solidFill>
                  <a:srgbClr val="143E5A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725" b="1">
                <a:solidFill>
                  <a:srgbClr val="143E5A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725" b="1">
                <a:solidFill>
                  <a:srgbClr val="143E5A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725" b="1">
                <a:solidFill>
                  <a:srgbClr val="143E5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lnSpc>
                <a:spcPct val="118000"/>
              </a:lnSpc>
              <a:buNone/>
              <a:defRPr sz="1725" b="1">
                <a:solidFill>
                  <a:srgbClr val="143E5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143E5A"/>
                </a:solidFill>
                <a:latin typeface="Microsoft YaHei"/>
                <a:ea typeface="Microsoft YaHei"/>
                <a:cs typeface="Microsoft YaHei"/>
              </a:rPr>
              <a:t>2026.11</a:t>
            </a:r>
          </a:p>
        </p:txBody>
      </p:sp>
      <p:sp>
        <p:nvSpPr>
          <p:cNvPr id="6" name="text">
            <a:extLst xmlns:a="http://schemas.openxmlformats.org/drawingml/2006/main">
              <a:ext uri="{FF2B5EF4-FFF2-40B4-BE49-F238E27FC236}">
                <a16:creationId xmlns:a16="http://schemas.microsoft.com/office/drawing/2014/main" id="{74083A9E-5844-43E4-90F2-5DC918A358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86075"/>
            <a:ext cx="2476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75" b="1">
                <a:solidFill>
                  <a:srgbClr val="16394B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175" b="1">
                <a:solidFill>
                  <a:srgbClr val="16394B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175" b="1">
                <a:solidFill>
                  <a:srgbClr val="16394B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175" b="1">
                <a:solidFill>
                  <a:srgbClr val="16394B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175" b="1">
                <a:solidFill>
                  <a:srgbClr val="16394B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175" b="1">
                <a:solidFill>
                  <a:srgbClr val="16394B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175" b="1">
                <a:solidFill>
                  <a:srgbClr val="16394B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175" b="1">
                <a:solidFill>
                  <a:srgbClr val="16394B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175" b="1">
                <a:solidFill>
                  <a:srgbClr val="16394B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175" b="1">
                <a:solidFill>
                  <a:srgbClr val="16394B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lnSpc>
                <a:spcPct val="118000"/>
              </a:lnSpc>
              <a:buNone/>
              <a:defRPr sz="2175" b="1">
                <a:solidFill>
                  <a:srgbClr val="16394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1">
                <a:solidFill>
                  <a:srgbClr val="16394B"/>
                </a:solidFill>
                <a:latin typeface="Microsoft YaHei"/>
                <a:ea typeface="Microsoft YaHei"/>
                <a:cs typeface="Microsoft YaHei"/>
              </a:rPr>
              <a:t>书写体验</a:t>
            </a:r>
          </a:p>
        </p:txBody>
      </p:sp>
      <p:sp>
        <p:nvSpPr>
          <p:cNvPr id="7" name="text">
            <a:extLst xmlns:a="http://schemas.openxmlformats.org/drawingml/2006/main">
              <a:ext uri="{FF2B5EF4-FFF2-40B4-BE49-F238E27FC236}">
                <a16:creationId xmlns:a16="http://schemas.microsoft.com/office/drawing/2014/main" id="{5F8E93A4-17F4-47C9-9436-8C5987C415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514725"/>
            <a:ext cx="2476500" cy="2095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50" b="0">
                <a:solidFill>
                  <a:srgbClr val="365567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650" b="0">
                <a:solidFill>
                  <a:srgbClr val="365567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650" b="0">
                <a:solidFill>
                  <a:srgbClr val="365567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650" b="0">
                <a:solidFill>
                  <a:srgbClr val="365567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650" b="0">
                <a:solidFill>
                  <a:srgbClr val="365567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650" b="0">
                <a:solidFill>
                  <a:srgbClr val="365567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650" b="0">
                <a:solidFill>
                  <a:srgbClr val="365567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650" b="0">
                <a:solidFill>
                  <a:srgbClr val="365567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650" b="0">
                <a:solidFill>
                  <a:srgbClr val="365567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650" b="0">
                <a:solidFill>
                  <a:srgbClr val="36556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lnSpc>
                <a:spcPct val="118000"/>
              </a:lnSpc>
              <a:buNone/>
              <a:defRPr sz="1650" b="0">
                <a:solidFill>
                  <a:srgbClr val="36556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365567"/>
                </a:solidFill>
                <a:latin typeface="Microsoft YaHei"/>
                <a:ea typeface="Microsoft YaHei"/>
                <a:cs typeface="Microsoft YaHei"/>
              </a:rPr>
              <a:t>软件工程与美术专业协作</a:t>
            </a:r>
          </a:p>
          <a:p xmlns:a="http://schemas.openxmlformats.org/drawingml/2006/main">
            <a:pPr algn="l">
              <a:lnSpc>
                <a:spcPct val="118000"/>
              </a:lnSpc>
              <a:buNone/>
              <a:defRPr sz="1650" b="0">
                <a:solidFill>
                  <a:srgbClr val="36556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365567"/>
                </a:solidFill>
                <a:latin typeface="Microsoft YaHei"/>
                <a:ea typeface="Microsoft YaHei"/>
                <a:cs typeface="Microsoft YaHei"/>
              </a:rPr>
              <a:t>优化 Apple Pencil 支持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lnSpc>
                <a:spcPct val="118000"/>
              </a:lnSpc>
              <a:buNone/>
              <a:defRPr sz="1650" b="0">
                <a:solidFill>
                  <a:srgbClr val="36556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365567"/>
                </a:solidFill>
                <a:latin typeface="Microsoft YaHei"/>
                <a:ea typeface="Microsoft YaHei"/>
                <a:cs typeface="Microsoft YaHei"/>
              </a:rPr>
              <a:t>发挥 4096 级压感能力</a:t>
            </a:r>
          </a:p>
          <a:p xmlns:a="http://schemas.openxmlformats.org/drawingml/2006/main">
            <a:pPr algn="l">
              <a:lnSpc>
                <a:spcPct val="118000"/>
              </a:lnSpc>
              <a:buNone/>
              <a:defRPr sz="1650" b="0">
                <a:solidFill>
                  <a:srgbClr val="36556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365567"/>
                </a:solidFill>
                <a:latin typeface="Microsoft YaHei"/>
                <a:ea typeface="Microsoft YaHei"/>
                <a:cs typeface="Microsoft YaHei"/>
              </a:rPr>
              <a:t>改善毛笔书写体验</a:t>
            </a:r>
          </a:p>
        </p:txBody>
      </p:sp>
      <p:sp>
        <p:nvSpPr>
          <p:cNvPr id="8" name="text">
            <a:extLst xmlns:a="http://schemas.openxmlformats.org/drawingml/2006/main">
              <a:ext uri="{FF2B5EF4-FFF2-40B4-BE49-F238E27FC236}">
                <a16:creationId xmlns:a16="http://schemas.microsoft.com/office/drawing/2014/main" id="{625F22A9-99EF-41D2-B697-9249C0FAC1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38525" y="1428750"/>
            <a:ext cx="24765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900" b="1">
                <a:solidFill>
                  <a:srgbClr val="087C78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3900" b="1">
                <a:solidFill>
                  <a:srgbClr val="087C78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3900" b="1">
                <a:solidFill>
                  <a:srgbClr val="087C78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3900" b="1">
                <a:solidFill>
                  <a:srgbClr val="087C78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3900" b="1">
                <a:solidFill>
                  <a:srgbClr val="087C78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3900" b="1">
                <a:solidFill>
                  <a:srgbClr val="087C78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3900" b="1">
                <a:solidFill>
                  <a:srgbClr val="087C78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3900" b="1">
                <a:solidFill>
                  <a:srgbClr val="087C78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3900" b="1">
                <a:solidFill>
                  <a:srgbClr val="087C78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3900" b="1">
                <a:solidFill>
                  <a:srgbClr val="087C7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lnSpc>
                <a:spcPct val="118000"/>
              </a:lnSpc>
              <a:buNone/>
              <a:defRPr sz="3900" b="1">
                <a:solidFill>
                  <a:srgbClr val="087C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900" b="1">
                <a:solidFill>
                  <a:srgbClr val="087C78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9" name="text">
            <a:extLst xmlns:a="http://schemas.openxmlformats.org/drawingml/2006/main">
              <a:ext uri="{FF2B5EF4-FFF2-40B4-BE49-F238E27FC236}">
                <a16:creationId xmlns:a16="http://schemas.microsoft.com/office/drawing/2014/main" id="{D69F9CAF-9FCC-422D-80CE-7AA1121904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38525" y="2286000"/>
            <a:ext cx="2476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1">
                <a:solidFill>
                  <a:srgbClr val="143E5A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725" b="1">
                <a:solidFill>
                  <a:srgbClr val="143E5A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725" b="1">
                <a:solidFill>
                  <a:srgbClr val="143E5A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725" b="1">
                <a:solidFill>
                  <a:srgbClr val="143E5A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725" b="1">
                <a:solidFill>
                  <a:srgbClr val="143E5A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725" b="1">
                <a:solidFill>
                  <a:srgbClr val="143E5A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725" b="1">
                <a:solidFill>
                  <a:srgbClr val="143E5A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725" b="1">
                <a:solidFill>
                  <a:srgbClr val="143E5A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725" b="1">
                <a:solidFill>
                  <a:srgbClr val="143E5A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725" b="1">
                <a:solidFill>
                  <a:srgbClr val="143E5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lnSpc>
                <a:spcPct val="118000"/>
              </a:lnSpc>
              <a:buNone/>
              <a:defRPr sz="1725" b="1">
                <a:solidFill>
                  <a:srgbClr val="143E5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143E5A"/>
                </a:solidFill>
                <a:latin typeface="Microsoft YaHei"/>
                <a:ea typeface="Microsoft YaHei"/>
                <a:cs typeface="Microsoft YaHei"/>
              </a:rPr>
              <a:t>2026.11–12</a:t>
            </a:r>
          </a:p>
        </p:txBody>
      </p:sp>
      <p:sp>
        <p:nvSpPr>
          <p:cNvPr id="10" name="text">
            <a:extLst xmlns:a="http://schemas.openxmlformats.org/drawingml/2006/main">
              <a:ext uri="{FF2B5EF4-FFF2-40B4-BE49-F238E27FC236}">
                <a16:creationId xmlns:a16="http://schemas.microsoft.com/office/drawing/2014/main" id="{7A400D38-B335-4488-BBBB-76A71D9815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38525" y="2886075"/>
            <a:ext cx="2476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75" b="1">
                <a:solidFill>
                  <a:srgbClr val="16394B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175" b="1">
                <a:solidFill>
                  <a:srgbClr val="16394B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175" b="1">
                <a:solidFill>
                  <a:srgbClr val="16394B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175" b="1">
                <a:solidFill>
                  <a:srgbClr val="16394B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175" b="1">
                <a:solidFill>
                  <a:srgbClr val="16394B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175" b="1">
                <a:solidFill>
                  <a:srgbClr val="16394B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175" b="1">
                <a:solidFill>
                  <a:srgbClr val="16394B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175" b="1">
                <a:solidFill>
                  <a:srgbClr val="16394B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175" b="1">
                <a:solidFill>
                  <a:srgbClr val="16394B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175" b="1">
                <a:solidFill>
                  <a:srgbClr val="16394B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lnSpc>
                <a:spcPct val="118000"/>
              </a:lnSpc>
              <a:buNone/>
              <a:defRPr sz="2175" b="1">
                <a:solidFill>
                  <a:srgbClr val="16394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1">
                <a:solidFill>
                  <a:srgbClr val="16394B"/>
                </a:solidFill>
                <a:latin typeface="Microsoft YaHei"/>
                <a:ea typeface="Microsoft YaHei"/>
                <a:cs typeface="Microsoft YaHei"/>
              </a:rPr>
              <a:t>真实数据采集</a:t>
            </a:r>
          </a:p>
        </p:txBody>
      </p:sp>
      <p:sp>
        <p:nvSpPr>
          <p:cNvPr id="11" name="text">
            <a:extLst xmlns:a="http://schemas.openxmlformats.org/drawingml/2006/main">
              <a:ext uri="{FF2B5EF4-FFF2-40B4-BE49-F238E27FC236}">
                <a16:creationId xmlns:a16="http://schemas.microsoft.com/office/drawing/2014/main" id="{B691ED99-43B0-4FD3-B46D-64E3CFE19B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38525" y="3514725"/>
            <a:ext cx="2476500" cy="2095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50" b="0">
                <a:solidFill>
                  <a:srgbClr val="365567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650" b="0">
                <a:solidFill>
                  <a:srgbClr val="365567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650" b="0">
                <a:solidFill>
                  <a:srgbClr val="365567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650" b="0">
                <a:solidFill>
                  <a:srgbClr val="365567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650" b="0">
                <a:solidFill>
                  <a:srgbClr val="365567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650" b="0">
                <a:solidFill>
                  <a:srgbClr val="365567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650" b="0">
                <a:solidFill>
                  <a:srgbClr val="365567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650" b="0">
                <a:solidFill>
                  <a:srgbClr val="365567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650" b="0">
                <a:solidFill>
                  <a:srgbClr val="365567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650" b="0">
                <a:solidFill>
                  <a:srgbClr val="36556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lnSpc>
                <a:spcPct val="118000"/>
              </a:lnSpc>
              <a:buNone/>
              <a:defRPr sz="1650" b="0">
                <a:solidFill>
                  <a:srgbClr val="36556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365567"/>
                </a:solidFill>
                <a:latin typeface="Microsoft YaHei"/>
                <a:ea typeface="Microsoft YaHei"/>
                <a:cs typeface="Microsoft YaHei"/>
              </a:rPr>
              <a:t>采集新书写者数据</a:t>
            </a:r>
          </a:p>
          <a:p xmlns:a="http://schemas.openxmlformats.org/drawingml/2006/main">
            <a:pPr algn="l">
              <a:lnSpc>
                <a:spcPct val="118000"/>
              </a:lnSpc>
              <a:buNone/>
              <a:defRPr sz="1650" b="0">
                <a:solidFill>
                  <a:srgbClr val="36556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365567"/>
                </a:solidFill>
                <a:latin typeface="Microsoft YaHei"/>
                <a:ea typeface="Microsoft YaHei"/>
                <a:cs typeface="Microsoft YaHei"/>
              </a:rPr>
              <a:t>结合真实使用反馈</a:t>
            </a:r>
          </a:p>
          <a:p xmlns:a="http://schemas.openxmlformats.org/drawingml/2006/main">
            <a:pPr algn="l">
              <a:lnSpc>
                <a:spcPct val="118000"/>
              </a:lnSpc>
              <a:buNone/>
              <a:defRPr sz="1650" b="0">
                <a:solidFill>
                  <a:srgbClr val="36556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365567"/>
                </a:solidFill>
                <a:latin typeface="Microsoft YaHei"/>
                <a:ea typeface="Microsoft YaHei"/>
                <a:cs typeface="Microsoft YaHei"/>
              </a:rPr>
              <a:t>持续迭代模型与产品</a:t>
            </a:r>
          </a:p>
        </p:txBody>
      </p:sp>
      <p:sp>
        <p:nvSpPr>
          <p:cNvPr id="12" name="text">
            <a:extLst xmlns:a="http://schemas.openxmlformats.org/drawingml/2006/main">
              <a:ext uri="{FF2B5EF4-FFF2-40B4-BE49-F238E27FC236}">
                <a16:creationId xmlns:a16="http://schemas.microsoft.com/office/drawing/2014/main" id="{AA647DA2-9472-4D9B-9F5A-B62E2C3603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1428750"/>
            <a:ext cx="24765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900" b="1">
                <a:solidFill>
                  <a:srgbClr val="087C78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3900" b="1">
                <a:solidFill>
                  <a:srgbClr val="087C78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3900" b="1">
                <a:solidFill>
                  <a:srgbClr val="087C78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3900" b="1">
                <a:solidFill>
                  <a:srgbClr val="087C78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3900" b="1">
                <a:solidFill>
                  <a:srgbClr val="087C78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3900" b="1">
                <a:solidFill>
                  <a:srgbClr val="087C78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3900" b="1">
                <a:solidFill>
                  <a:srgbClr val="087C78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3900" b="1">
                <a:solidFill>
                  <a:srgbClr val="087C78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3900" b="1">
                <a:solidFill>
                  <a:srgbClr val="087C78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3900" b="1">
                <a:solidFill>
                  <a:srgbClr val="087C7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lnSpc>
                <a:spcPct val="118000"/>
              </a:lnSpc>
              <a:buNone/>
              <a:defRPr sz="3900" b="1">
                <a:solidFill>
                  <a:srgbClr val="087C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900" b="1">
                <a:solidFill>
                  <a:srgbClr val="087C78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  <p:sp>
        <p:nvSpPr>
          <p:cNvPr id="13" name="text">
            <a:extLst xmlns:a="http://schemas.openxmlformats.org/drawingml/2006/main">
              <a:ext uri="{FF2B5EF4-FFF2-40B4-BE49-F238E27FC236}">
                <a16:creationId xmlns:a16="http://schemas.microsoft.com/office/drawing/2014/main" id="{FEA03BCA-05FD-4EA1-85AF-91A3006222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2286000"/>
            <a:ext cx="2476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1">
                <a:solidFill>
                  <a:srgbClr val="143E5A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725" b="1">
                <a:solidFill>
                  <a:srgbClr val="143E5A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725" b="1">
                <a:solidFill>
                  <a:srgbClr val="143E5A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725" b="1">
                <a:solidFill>
                  <a:srgbClr val="143E5A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725" b="1">
                <a:solidFill>
                  <a:srgbClr val="143E5A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725" b="1">
                <a:solidFill>
                  <a:srgbClr val="143E5A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725" b="1">
                <a:solidFill>
                  <a:srgbClr val="143E5A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725" b="1">
                <a:solidFill>
                  <a:srgbClr val="143E5A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725" b="1">
                <a:solidFill>
                  <a:srgbClr val="143E5A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725" b="1">
                <a:solidFill>
                  <a:srgbClr val="143E5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lnSpc>
                <a:spcPct val="118000"/>
              </a:lnSpc>
              <a:buNone/>
              <a:defRPr sz="1725" b="1">
                <a:solidFill>
                  <a:srgbClr val="143E5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143E5A"/>
                </a:solidFill>
                <a:latin typeface="Microsoft YaHei"/>
                <a:ea typeface="Microsoft YaHei"/>
                <a:cs typeface="Microsoft YaHei"/>
              </a:rPr>
              <a:t>2026.12–2027.01</a:t>
            </a:r>
          </a:p>
        </p:txBody>
      </p:sp>
      <p:sp>
        <p:nvSpPr>
          <p:cNvPr id="14" name="text">
            <a:extLst xmlns:a="http://schemas.openxmlformats.org/drawingml/2006/main">
              <a:ext uri="{FF2B5EF4-FFF2-40B4-BE49-F238E27FC236}">
                <a16:creationId xmlns:a16="http://schemas.microsoft.com/office/drawing/2014/main" id="{CB15C821-F10B-472C-8A6F-AAA0D25DE8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2886075"/>
            <a:ext cx="2476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75" b="1">
                <a:solidFill>
                  <a:srgbClr val="16394B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175" b="1">
                <a:solidFill>
                  <a:srgbClr val="16394B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175" b="1">
                <a:solidFill>
                  <a:srgbClr val="16394B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175" b="1">
                <a:solidFill>
                  <a:srgbClr val="16394B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175" b="1">
                <a:solidFill>
                  <a:srgbClr val="16394B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175" b="1">
                <a:solidFill>
                  <a:srgbClr val="16394B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175" b="1">
                <a:solidFill>
                  <a:srgbClr val="16394B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175" b="1">
                <a:solidFill>
                  <a:srgbClr val="16394B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175" b="1">
                <a:solidFill>
                  <a:srgbClr val="16394B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175" b="1">
                <a:solidFill>
                  <a:srgbClr val="16394B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lnSpc>
                <a:spcPct val="118000"/>
              </a:lnSpc>
              <a:buNone/>
              <a:defRPr sz="2175" b="1">
                <a:solidFill>
                  <a:srgbClr val="16394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1">
                <a:solidFill>
                  <a:srgbClr val="16394B"/>
                </a:solidFill>
                <a:latin typeface="Microsoft YaHei"/>
                <a:ea typeface="Microsoft YaHei"/>
                <a:cs typeface="Microsoft YaHei"/>
              </a:rPr>
              <a:t>部署收尾</a:t>
            </a:r>
          </a:p>
        </p:txBody>
      </p:sp>
      <p:sp>
        <p:nvSpPr>
          <p:cNvPr id="15" name="text">
            <a:extLst xmlns:a="http://schemas.openxmlformats.org/drawingml/2006/main">
              <a:ext uri="{FF2B5EF4-FFF2-40B4-BE49-F238E27FC236}">
                <a16:creationId xmlns:a16="http://schemas.microsoft.com/office/drawing/2014/main" id="{84843708-6A08-4D44-9CDB-9B78C1B375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3514725"/>
            <a:ext cx="2476500" cy="2095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50" b="0">
                <a:solidFill>
                  <a:srgbClr val="365567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650" b="0">
                <a:solidFill>
                  <a:srgbClr val="365567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650" b="0">
                <a:solidFill>
                  <a:srgbClr val="365567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650" b="0">
                <a:solidFill>
                  <a:srgbClr val="365567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650" b="0">
                <a:solidFill>
                  <a:srgbClr val="365567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650" b="0">
                <a:solidFill>
                  <a:srgbClr val="365567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650" b="0">
                <a:solidFill>
                  <a:srgbClr val="365567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650" b="0">
                <a:solidFill>
                  <a:srgbClr val="365567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650" b="0">
                <a:solidFill>
                  <a:srgbClr val="365567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650" b="0">
                <a:solidFill>
                  <a:srgbClr val="36556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lnSpc>
                <a:spcPct val="118000"/>
              </a:lnSpc>
              <a:buNone/>
              <a:defRPr sz="1650" b="0">
                <a:solidFill>
                  <a:srgbClr val="36556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365567"/>
                </a:solidFill>
                <a:latin typeface="Microsoft YaHei"/>
                <a:ea typeface="Microsoft YaHei"/>
                <a:cs typeface="Microsoft YaHei"/>
              </a:rPr>
              <a:t>模型服务迁移至长期部署</a:t>
            </a:r>
          </a:p>
          <a:p xmlns:a="http://schemas.openxmlformats.org/drawingml/2006/main">
            <a:pPr algn="l">
              <a:lnSpc>
                <a:spcPct val="118000"/>
              </a:lnSpc>
              <a:buNone/>
              <a:defRPr sz="1650" b="0">
                <a:solidFill>
                  <a:srgbClr val="36556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365567"/>
                </a:solidFill>
                <a:latin typeface="Microsoft YaHei"/>
                <a:ea typeface="Microsoft YaHei"/>
                <a:cs typeface="Microsoft YaHei"/>
              </a:rPr>
              <a:t>修复 TLS</a:t>
            </a:r>
          </a:p>
          <a:p xmlns:a="http://schemas.openxmlformats.org/drawingml/2006/main">
            <a:pPr algn="l">
              <a:lnSpc>
                <a:spcPct val="118000"/>
              </a:lnSpc>
              <a:buNone/>
              <a:defRPr sz="1650" b="0">
                <a:solidFill>
                  <a:srgbClr val="36556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365567"/>
                </a:solidFill>
                <a:latin typeface="Microsoft YaHei"/>
                <a:ea typeface="Microsoft YaHei"/>
                <a:cs typeface="Microsoft YaHei"/>
              </a:rPr>
              <a:t>完善稳定运行条件</a:t>
            </a:r>
          </a:p>
        </p:txBody>
      </p:sp>
      <p:sp>
        <p:nvSpPr>
          <p:cNvPr id="16" name="text">
            <a:extLst xmlns:a="http://schemas.openxmlformats.org/drawingml/2006/main">
              <a:ext uri="{FF2B5EF4-FFF2-40B4-BE49-F238E27FC236}">
                <a16:creationId xmlns:a16="http://schemas.microsoft.com/office/drawing/2014/main" id="{481599D5-9BB4-4F66-A354-09D621A871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96375" y="1428750"/>
            <a:ext cx="2486025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900" b="1">
                <a:solidFill>
                  <a:srgbClr val="087C78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3900" b="1">
                <a:solidFill>
                  <a:srgbClr val="087C78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3900" b="1">
                <a:solidFill>
                  <a:srgbClr val="087C78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3900" b="1">
                <a:solidFill>
                  <a:srgbClr val="087C78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3900" b="1">
                <a:solidFill>
                  <a:srgbClr val="087C78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3900" b="1">
                <a:solidFill>
                  <a:srgbClr val="087C78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3900" b="1">
                <a:solidFill>
                  <a:srgbClr val="087C78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3900" b="1">
                <a:solidFill>
                  <a:srgbClr val="087C78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3900" b="1">
                <a:solidFill>
                  <a:srgbClr val="087C78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3900" b="1">
                <a:solidFill>
                  <a:srgbClr val="087C7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lnSpc>
                <a:spcPct val="118000"/>
              </a:lnSpc>
              <a:buNone/>
              <a:defRPr sz="3900" b="1">
                <a:solidFill>
                  <a:srgbClr val="087C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900" b="1">
                <a:solidFill>
                  <a:srgbClr val="087C78"/>
                </a:solidFill>
                <a:latin typeface="Microsoft YaHei"/>
                <a:ea typeface="Microsoft YaHei"/>
                <a:cs typeface="Microsoft YaHei"/>
              </a:rPr>
              <a:t>04</a:t>
            </a:r>
          </a:p>
        </p:txBody>
      </p:sp>
      <p:sp>
        <p:nvSpPr>
          <p:cNvPr id="17" name="text">
            <a:extLst xmlns:a="http://schemas.openxmlformats.org/drawingml/2006/main">
              <a:ext uri="{FF2B5EF4-FFF2-40B4-BE49-F238E27FC236}">
                <a16:creationId xmlns:a16="http://schemas.microsoft.com/office/drawing/2014/main" id="{43D939AC-E0B3-4528-9634-359D26E74F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96375" y="2286000"/>
            <a:ext cx="24860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1">
                <a:solidFill>
                  <a:srgbClr val="143E5A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725" b="1">
                <a:solidFill>
                  <a:srgbClr val="143E5A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725" b="1">
                <a:solidFill>
                  <a:srgbClr val="143E5A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725" b="1">
                <a:solidFill>
                  <a:srgbClr val="143E5A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725" b="1">
                <a:solidFill>
                  <a:srgbClr val="143E5A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725" b="1">
                <a:solidFill>
                  <a:srgbClr val="143E5A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725" b="1">
                <a:solidFill>
                  <a:srgbClr val="143E5A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725" b="1">
                <a:solidFill>
                  <a:srgbClr val="143E5A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725" b="1">
                <a:solidFill>
                  <a:srgbClr val="143E5A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725" b="1">
                <a:solidFill>
                  <a:srgbClr val="143E5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lnSpc>
                <a:spcPct val="118000"/>
              </a:lnSpc>
              <a:buNone/>
              <a:defRPr sz="1725" b="1">
                <a:solidFill>
                  <a:srgbClr val="143E5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143E5A"/>
                </a:solidFill>
                <a:latin typeface="Microsoft YaHei"/>
                <a:ea typeface="Microsoft YaHei"/>
                <a:cs typeface="Microsoft YaHei"/>
              </a:rPr>
              <a:t>2027 春</a:t>
            </a:r>
          </a:p>
        </p:txBody>
      </p:sp>
      <p:sp>
        <p:nvSpPr>
          <p:cNvPr id="18" name="text">
            <a:extLst xmlns:a="http://schemas.openxmlformats.org/drawingml/2006/main">
              <a:ext uri="{FF2B5EF4-FFF2-40B4-BE49-F238E27FC236}">
                <a16:creationId xmlns:a16="http://schemas.microsoft.com/office/drawing/2014/main" id="{926BD505-2BBD-4527-B207-906735CE3C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96375" y="2886075"/>
            <a:ext cx="248602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75" b="1">
                <a:solidFill>
                  <a:srgbClr val="16394B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175" b="1">
                <a:solidFill>
                  <a:srgbClr val="16394B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175" b="1">
                <a:solidFill>
                  <a:srgbClr val="16394B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175" b="1">
                <a:solidFill>
                  <a:srgbClr val="16394B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175" b="1">
                <a:solidFill>
                  <a:srgbClr val="16394B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175" b="1">
                <a:solidFill>
                  <a:srgbClr val="16394B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175" b="1">
                <a:solidFill>
                  <a:srgbClr val="16394B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175" b="1">
                <a:solidFill>
                  <a:srgbClr val="16394B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175" b="1">
                <a:solidFill>
                  <a:srgbClr val="16394B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175" b="1">
                <a:solidFill>
                  <a:srgbClr val="16394B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lnSpc>
                <a:spcPct val="118000"/>
              </a:lnSpc>
              <a:buNone/>
              <a:defRPr sz="2175" b="1">
                <a:solidFill>
                  <a:srgbClr val="16394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1">
                <a:solidFill>
                  <a:srgbClr val="16394B"/>
                </a:solidFill>
                <a:latin typeface="Microsoft YaHei"/>
                <a:ea typeface="Microsoft YaHei"/>
                <a:cs typeface="Microsoft YaHei"/>
              </a:rPr>
              <a:t>试点与结题</a:t>
            </a:r>
          </a:p>
        </p:txBody>
      </p:sp>
      <p:sp>
        <p:nvSpPr>
          <p:cNvPr id="19" name="text">
            <a:extLst xmlns:a="http://schemas.openxmlformats.org/drawingml/2006/main">
              <a:ext uri="{FF2B5EF4-FFF2-40B4-BE49-F238E27FC236}">
                <a16:creationId xmlns:a16="http://schemas.microsoft.com/office/drawing/2014/main" id="{334A3BBB-DB4D-4D22-88C4-DF73837FF7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96375" y="3514725"/>
            <a:ext cx="2486025" cy="2095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50" b="0">
                <a:solidFill>
                  <a:srgbClr val="365567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650" b="0">
                <a:solidFill>
                  <a:srgbClr val="365567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650" b="0">
                <a:solidFill>
                  <a:srgbClr val="365567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650" b="0">
                <a:solidFill>
                  <a:srgbClr val="365567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650" b="0">
                <a:solidFill>
                  <a:srgbClr val="365567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650" b="0">
                <a:solidFill>
                  <a:srgbClr val="365567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650" b="0">
                <a:solidFill>
                  <a:srgbClr val="365567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650" b="0">
                <a:solidFill>
                  <a:srgbClr val="365567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650" b="0">
                <a:solidFill>
                  <a:srgbClr val="365567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650" b="0">
                <a:solidFill>
                  <a:srgbClr val="36556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lnSpc>
                <a:spcPct val="118000"/>
              </a:lnSpc>
              <a:buNone/>
              <a:defRPr sz="1650" b="0">
                <a:solidFill>
                  <a:srgbClr val="36556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365567"/>
                </a:solidFill>
                <a:latin typeface="Microsoft YaHei"/>
                <a:ea typeface="Microsoft YaHei"/>
                <a:cs typeface="Microsoft YaHei"/>
              </a:rPr>
              <a:t>推进学校与真实用户试点</a:t>
            </a:r>
          </a:p>
          <a:p xmlns:a="http://schemas.openxmlformats.org/drawingml/2006/main">
            <a:pPr algn="l">
              <a:lnSpc>
                <a:spcPct val="118000"/>
              </a:lnSpc>
              <a:buNone/>
              <a:defRPr sz="1650" b="0">
                <a:solidFill>
                  <a:srgbClr val="36556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365567"/>
                </a:solidFill>
                <a:latin typeface="Microsoft YaHei"/>
                <a:ea typeface="Microsoft YaHei"/>
                <a:cs typeface="Microsoft YaHei"/>
              </a:rPr>
              <a:t>如华东师大附属中小学</a:t>
            </a:r>
          </a:p>
          <a:p xmlns:a="http://schemas.openxmlformats.org/drawingml/2006/main">
            <a:pPr algn="l">
              <a:lnSpc>
                <a:spcPct val="118000"/>
              </a:lnSpc>
              <a:buNone/>
              <a:defRPr sz="1650" b="0">
                <a:solidFill>
                  <a:srgbClr val="36556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365567"/>
                </a:solidFill>
                <a:latin typeface="Microsoft YaHei"/>
                <a:ea typeface="Microsoft YaHei"/>
                <a:cs typeface="Microsoft YaHei"/>
              </a:rPr>
              <a:t>与幼儿园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lnSpc>
                <a:spcPct val="118000"/>
              </a:lnSpc>
              <a:buNone/>
              <a:defRPr sz="1650" b="0">
                <a:solidFill>
                  <a:srgbClr val="36556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365567"/>
                </a:solidFill>
                <a:latin typeface="Microsoft YaHei"/>
                <a:ea typeface="Microsoft YaHei"/>
                <a:cs typeface="Microsoft YaHei"/>
              </a:rPr>
              <a:t>归档软著、结题报告</a:t>
            </a:r>
          </a:p>
          <a:p xmlns:a="http://schemas.openxmlformats.org/drawingml/2006/main">
            <a:pPr algn="l">
              <a:lnSpc>
                <a:spcPct val="118000"/>
              </a:lnSpc>
              <a:buNone/>
              <a:defRPr sz="1650" b="0">
                <a:solidFill>
                  <a:srgbClr val="36556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365567"/>
                </a:solidFill>
                <a:latin typeface="Microsoft YaHei"/>
                <a:ea typeface="Microsoft YaHei"/>
                <a:cs typeface="Microsoft YaHei"/>
              </a:rPr>
              <a:t>和演示材料</a:t>
            </a:r>
          </a:p>
        </p:txBody>
      </p:sp>
      <p:sp>
        <p:nvSpPr>
          <p:cNvPr id="20" name="text">
            <a:extLst xmlns:a="http://schemas.openxmlformats.org/drawingml/2006/main">
              <a:ext uri="{FF2B5EF4-FFF2-40B4-BE49-F238E27FC236}">
                <a16:creationId xmlns:a16="http://schemas.microsoft.com/office/drawing/2014/main" id="{974150A6-E3C1-4DE1-A64C-D00BCB32D7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62600"/>
            <a:ext cx="109728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00" b="1">
                <a:solidFill>
                  <a:srgbClr val="087C78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800" b="1">
                <a:solidFill>
                  <a:srgbClr val="087C78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800" b="1">
                <a:solidFill>
                  <a:srgbClr val="087C78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800" b="1">
                <a:solidFill>
                  <a:srgbClr val="087C78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800" b="1">
                <a:solidFill>
                  <a:srgbClr val="087C78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800" b="1">
                <a:solidFill>
                  <a:srgbClr val="087C78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800" b="1">
                <a:solidFill>
                  <a:srgbClr val="087C78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800" b="1">
                <a:solidFill>
                  <a:srgbClr val="087C78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800" b="1">
                <a:solidFill>
                  <a:srgbClr val="087C78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800" b="1">
                <a:solidFill>
                  <a:srgbClr val="087C7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lnSpc>
                <a:spcPct val="118000"/>
              </a:lnSpc>
              <a:buNone/>
              <a:defRPr sz="1800" b="1">
                <a:solidFill>
                  <a:srgbClr val="087C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087C78"/>
                </a:solidFill>
                <a:latin typeface="Microsoft YaHei"/>
                <a:ea typeface="Microsoft YaHei"/>
                <a:cs typeface="Microsoft YaHei"/>
              </a:rPr>
              <a:t>结题目标</a:t>
            </a:r>
          </a:p>
        </p:txBody>
      </p:sp>
      <p:sp>
        <p:nvSpPr>
          <p:cNvPr id="21" name="text">
            <a:extLst xmlns:a="http://schemas.openxmlformats.org/drawingml/2006/main">
              <a:ext uri="{FF2B5EF4-FFF2-40B4-BE49-F238E27FC236}">
                <a16:creationId xmlns:a16="http://schemas.microsoft.com/office/drawing/2014/main" id="{84A7559F-B7AB-4B9B-8D4D-53FF097303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72175"/>
            <a:ext cx="109728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250" b="1">
                <a:solidFill>
                  <a:srgbClr val="16394B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250" b="1">
                <a:solidFill>
                  <a:srgbClr val="16394B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250" b="1">
                <a:solidFill>
                  <a:srgbClr val="16394B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250" b="1">
                <a:solidFill>
                  <a:srgbClr val="16394B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250" b="1">
                <a:solidFill>
                  <a:srgbClr val="16394B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250" b="1">
                <a:solidFill>
                  <a:srgbClr val="16394B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250" b="1">
                <a:solidFill>
                  <a:srgbClr val="16394B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250" b="1">
                <a:solidFill>
                  <a:srgbClr val="16394B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250" b="1">
                <a:solidFill>
                  <a:srgbClr val="16394B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250" b="1">
                <a:solidFill>
                  <a:srgbClr val="16394B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lnSpc>
                <a:spcPct val="118000"/>
              </a:lnSpc>
              <a:buNone/>
              <a:defRPr sz="2250" b="1">
                <a:solidFill>
                  <a:srgbClr val="16394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16394B"/>
                </a:solidFill>
                <a:latin typeface="Microsoft YaHei"/>
                <a:ea typeface="Microsoft YaHei"/>
                <a:cs typeface="Microsoft YaHei"/>
              </a:rPr>
              <a:t>实现数据、模型、产品与验证的完整闭环</a:t>
            </a:r>
          </a:p>
        </p:txBody>
      </p:sp>
    </p:spTree>
    <p:extLst>
      <p:ext uri="{BB962C8B-B14F-4D97-AF65-F5344CB8AC3E}">
        <p14:creationId xmlns:p14="http://schemas.microsoft.com/office/powerpoint/2010/main" val="1080635798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15545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6" name="end-char">
            <a:extLst xmlns:a="http://schemas.openxmlformats.org/drawingml/2006/main">
              <a:ext uri="{FF2B5EF4-FFF2-40B4-BE49-F238E27FC236}">
                <a16:creationId xmlns:a16="http://schemas.microsoft.com/office/drawing/2014/main" id="{509EA552-8834-4200-95E5-CC3EBCE26156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f6a351428034168">
            <a:alphaModFix amt="90000"/>
          </a:blip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772525" y="2152650"/>
            <a:ext cx="2571750" cy="257175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sp>
        <p:nvSpPr>
          <p:cNvPr id="7" name="footer">
            <a:extLst xmlns:a="http://schemas.openxmlformats.org/drawingml/2006/main">
              <a:ext uri="{FF2B5EF4-FFF2-40B4-BE49-F238E27FC236}">
                <a16:creationId xmlns:a16="http://schemas.microsoft.com/office/drawing/2014/main" id="{C0A2785D-22BA-4D13-A0A1-FAE1142930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05575"/>
            <a:ext cx="6667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125" b="0">
                <a:solidFill>
                  <a:srgbClr val="9EBFCB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125" b="0">
                <a:solidFill>
                  <a:srgbClr val="9EBFCB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125" b="0">
                <a:solidFill>
                  <a:srgbClr val="9EBFCB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125" b="0">
                <a:solidFill>
                  <a:srgbClr val="9EBFCB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125" b="0">
                <a:solidFill>
                  <a:srgbClr val="9EBFCB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125" b="0">
                <a:solidFill>
                  <a:srgbClr val="9EBFCB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125" b="0">
                <a:solidFill>
                  <a:srgbClr val="9EBFCB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125" b="0">
                <a:solidFill>
                  <a:srgbClr val="9EBFCB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125" b="0">
                <a:solidFill>
                  <a:srgbClr val="9EBFCB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125" b="0">
                <a:solidFill>
                  <a:srgbClr val="9EBFCB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lnSpc>
                <a:spcPct val="118000"/>
              </a:lnSpc>
              <a:buNone/>
              <a:defRPr sz="1125" b="0">
                <a:solidFill>
                  <a:srgbClr val="9EBFC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9EBFCB"/>
                </a:solidFill>
                <a:latin typeface="Microsoft YaHei"/>
                <a:ea typeface="Microsoft YaHei"/>
                <a:cs typeface="Microsoft YaHei"/>
              </a:rPr>
              <a:t>一笔成章  /  中期汇报</a:t>
            </a:r>
          </a:p>
        </p:txBody>
      </p:sp>
      <p:sp>
        <p:nvSpPr>
          <p:cNvPr id="8" name="page-number">
            <a:extLst xmlns:a="http://schemas.openxmlformats.org/drawingml/2006/main">
              <a:ext uri="{FF2B5EF4-FFF2-40B4-BE49-F238E27FC236}">
                <a16:creationId xmlns:a16="http://schemas.microsoft.com/office/drawing/2014/main" id="{6119C382-A9CB-4386-84C3-EFE210BED9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6486525"/>
            <a:ext cx="8191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200" b="0">
                <a:solidFill>
                  <a:srgbClr val="9EBFCB"/>
                </a:solidFill>
                <a:latin typeface="Microsoft YaHei"/>
                <a:ea typeface="Microsoft YaHei"/>
                <a:cs typeface="Microsoft YaHei"/>
              </a:defRPr>
            </a:defPPr>
            <a:lvl1pPr algn="r">
              <a:defRPr sz="1200" b="0">
                <a:solidFill>
                  <a:srgbClr val="9EBFCB"/>
                </a:solidFill>
                <a:latin typeface="Microsoft YaHei"/>
                <a:ea typeface="Microsoft YaHei"/>
                <a:cs typeface="Microsoft YaHei"/>
              </a:defRPr>
            </a:lvl1pPr>
            <a:lvl2pPr algn="r">
              <a:defRPr sz="1200" b="0">
                <a:solidFill>
                  <a:srgbClr val="9EBFCB"/>
                </a:solidFill>
                <a:latin typeface="Microsoft YaHei"/>
                <a:ea typeface="Microsoft YaHei"/>
                <a:cs typeface="Microsoft YaHei"/>
              </a:defRPr>
            </a:lvl2pPr>
            <a:lvl3pPr algn="r">
              <a:defRPr sz="1200" b="0">
                <a:solidFill>
                  <a:srgbClr val="9EBFCB"/>
                </a:solidFill>
                <a:latin typeface="Microsoft YaHei"/>
                <a:ea typeface="Microsoft YaHei"/>
                <a:cs typeface="Microsoft YaHei"/>
              </a:defRPr>
            </a:lvl3pPr>
            <a:lvl4pPr algn="r">
              <a:defRPr sz="1200" b="0">
                <a:solidFill>
                  <a:srgbClr val="9EBFCB"/>
                </a:solidFill>
                <a:latin typeface="Microsoft YaHei"/>
                <a:ea typeface="Microsoft YaHei"/>
                <a:cs typeface="Microsoft YaHei"/>
              </a:defRPr>
            </a:lvl4pPr>
            <a:lvl5pPr algn="r">
              <a:defRPr sz="1200" b="0">
                <a:solidFill>
                  <a:srgbClr val="9EBFCB"/>
                </a:solidFill>
                <a:latin typeface="Microsoft YaHei"/>
                <a:ea typeface="Microsoft YaHei"/>
                <a:cs typeface="Microsoft YaHei"/>
              </a:defRPr>
            </a:lvl5pPr>
            <a:lvl6pPr algn="r">
              <a:defRPr sz="1200" b="0">
                <a:solidFill>
                  <a:srgbClr val="9EBFCB"/>
                </a:solidFill>
                <a:latin typeface="Microsoft YaHei"/>
                <a:ea typeface="Microsoft YaHei"/>
                <a:cs typeface="Microsoft YaHei"/>
              </a:defRPr>
            </a:lvl6pPr>
            <a:lvl7pPr algn="r">
              <a:defRPr sz="1200" b="0">
                <a:solidFill>
                  <a:srgbClr val="9EBFCB"/>
                </a:solidFill>
                <a:latin typeface="Microsoft YaHei"/>
                <a:ea typeface="Microsoft YaHei"/>
                <a:cs typeface="Microsoft YaHei"/>
              </a:defRPr>
            </a:lvl7pPr>
            <a:lvl8pPr algn="r">
              <a:defRPr sz="1200" b="0">
                <a:solidFill>
                  <a:srgbClr val="9EBFCB"/>
                </a:solidFill>
                <a:latin typeface="Microsoft YaHei"/>
                <a:ea typeface="Microsoft YaHei"/>
                <a:cs typeface="Microsoft YaHei"/>
              </a:defRPr>
            </a:lvl8pPr>
            <a:lvl9pPr algn="r">
              <a:defRPr sz="1200" b="0">
                <a:solidFill>
                  <a:srgbClr val="9EBFCB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r">
              <a:lnSpc>
                <a:spcPct val="118000"/>
              </a:lnSpc>
              <a:buNone/>
              <a:defRPr sz="1200" b="0">
                <a:solidFill>
                  <a:srgbClr val="9EBFC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9EBFCB"/>
                </a:solidFill>
                <a:latin typeface="Microsoft YaHei"/>
                <a:ea typeface="Microsoft YaHei"/>
                <a:cs typeface="Microsoft YaHei"/>
              </a:rPr>
              <a:t>13 / 13</a:t>
            </a:r>
          </a:p>
        </p:txBody>
      </p:sp>
      <p:sp>
        <p:nvSpPr>
          <p:cNvPr id="9" name="text">
            <a:extLst xmlns:a="http://schemas.openxmlformats.org/drawingml/2006/main">
              <a:ext uri="{FF2B5EF4-FFF2-40B4-BE49-F238E27FC236}">
                <a16:creationId xmlns:a16="http://schemas.microsoft.com/office/drawing/2014/main" id="{A2699D2A-198E-4BF0-9F01-3310FA5DA1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09775"/>
            <a:ext cx="72390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58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58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58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58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58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58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58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58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58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58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lnSpc>
                <a:spcPct val="118000"/>
              </a:lnSpc>
              <a:buNone/>
              <a:defRPr sz="58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58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感谢聆听</a:t>
            </a:r>
          </a:p>
        </p:txBody>
      </p:sp>
      <p:sp>
        <p:nvSpPr>
          <p:cNvPr id="10" name="text">
            <a:extLst xmlns:a="http://schemas.openxmlformats.org/drawingml/2006/main">
              <a:ext uri="{FF2B5EF4-FFF2-40B4-BE49-F238E27FC236}">
                <a16:creationId xmlns:a16="http://schemas.microsoft.com/office/drawing/2014/main" id="{85A311EF-D8FC-49F8-88C8-7C48D5F92D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314700"/>
            <a:ext cx="7239000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325" b="0">
                <a:solidFill>
                  <a:srgbClr val="BDE3B1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325" b="0">
                <a:solidFill>
                  <a:srgbClr val="BDE3B1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325" b="0">
                <a:solidFill>
                  <a:srgbClr val="BDE3B1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325" b="0">
                <a:solidFill>
                  <a:srgbClr val="BDE3B1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325" b="0">
                <a:solidFill>
                  <a:srgbClr val="BDE3B1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325" b="0">
                <a:solidFill>
                  <a:srgbClr val="BDE3B1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325" b="0">
                <a:solidFill>
                  <a:srgbClr val="BDE3B1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325" b="0">
                <a:solidFill>
                  <a:srgbClr val="BDE3B1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325" b="0">
                <a:solidFill>
                  <a:srgbClr val="BDE3B1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325" b="0">
                <a:solidFill>
                  <a:srgbClr val="BDE3B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lnSpc>
                <a:spcPct val="118000"/>
              </a:lnSpc>
              <a:buNone/>
              <a:defRPr sz="2325" b="0">
                <a:solidFill>
                  <a:srgbClr val="BDE3B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0">
                <a:solidFill>
                  <a:srgbClr val="BDE3B1"/>
                </a:solidFill>
                <a:latin typeface="Microsoft YaHei"/>
                <a:ea typeface="Microsoft YaHei"/>
                <a:cs typeface="Microsoft YaHei"/>
              </a:rPr>
              <a:t>恳请各位老师批评指正</a:t>
            </a:r>
          </a:p>
        </p:txBody>
      </p:sp>
      <p:sp>
        <p:nvSpPr>
          <p:cNvPr id="11" name="text">
            <a:extLst xmlns:a="http://schemas.openxmlformats.org/drawingml/2006/main">
              <a:ext uri="{FF2B5EF4-FFF2-40B4-BE49-F238E27FC236}">
                <a16:creationId xmlns:a16="http://schemas.microsoft.com/office/drawing/2014/main" id="{423BDDA7-8A22-4D22-8D0B-BD1CD1D919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305300"/>
            <a:ext cx="7239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D7E7EE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875" b="0">
                <a:solidFill>
                  <a:srgbClr val="D7E7EE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875" b="0">
                <a:solidFill>
                  <a:srgbClr val="D7E7EE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875" b="0">
                <a:solidFill>
                  <a:srgbClr val="D7E7EE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875" b="0">
                <a:solidFill>
                  <a:srgbClr val="D7E7EE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875" b="0">
                <a:solidFill>
                  <a:srgbClr val="D7E7EE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875" b="0">
                <a:solidFill>
                  <a:srgbClr val="D7E7EE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875" b="0">
                <a:solidFill>
                  <a:srgbClr val="D7E7EE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875" b="0">
                <a:solidFill>
                  <a:srgbClr val="D7E7EE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875" b="0">
                <a:solidFill>
                  <a:srgbClr val="D7E7EE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lnSpc>
                <a:spcPct val="118000"/>
              </a:lnSpc>
              <a:buNone/>
              <a:defRPr sz="1875" b="0">
                <a:solidFill>
                  <a:srgbClr val="D7E7E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D7E7EE"/>
                </a:solidFill>
                <a:latin typeface="Microsoft YaHei"/>
                <a:ea typeface="Microsoft YaHei"/>
                <a:cs typeface="Microsoft YaHei"/>
              </a:rPr>
              <a:t>一笔成章   中期汇报   2026.10</a:t>
            </a:r>
          </a:p>
        </p:txBody>
      </p:sp>
      <p:sp>
        <p:nvSpPr>
          <p:cNvPr id="12" name="text">
            <a:extLst xmlns:a="http://schemas.openxmlformats.org/drawingml/2006/main">
              <a:ext uri="{FF2B5EF4-FFF2-40B4-BE49-F238E27FC236}">
                <a16:creationId xmlns:a16="http://schemas.microsoft.com/office/drawing/2014/main" id="{5F2DB718-8067-4BD1-A978-126B4642D2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238750"/>
            <a:ext cx="72390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50" b="0">
                <a:solidFill>
                  <a:srgbClr val="D7E7EE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650" b="0">
                <a:solidFill>
                  <a:srgbClr val="D7E7EE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650" b="0">
                <a:solidFill>
                  <a:srgbClr val="D7E7EE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650" b="0">
                <a:solidFill>
                  <a:srgbClr val="D7E7EE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650" b="0">
                <a:solidFill>
                  <a:srgbClr val="D7E7EE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650" b="0">
                <a:solidFill>
                  <a:srgbClr val="D7E7EE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650" b="0">
                <a:solidFill>
                  <a:srgbClr val="D7E7EE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650" b="0">
                <a:solidFill>
                  <a:srgbClr val="D7E7EE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650" b="0">
                <a:solidFill>
                  <a:srgbClr val="D7E7EE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650" b="0">
                <a:solidFill>
                  <a:srgbClr val="D7E7EE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lnSpc>
                <a:spcPct val="118000"/>
              </a:lnSpc>
              <a:buNone/>
              <a:defRPr sz="1650" b="0">
                <a:solidFill>
                  <a:srgbClr val="D7E7E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D7E7EE"/>
                </a:solidFill>
                <a:latin typeface="Microsoft YaHei"/>
                <a:ea typeface="Microsoft YaHei"/>
                <a:cs typeface="Microsoft YaHei"/>
              </a:rPr>
              <a:t>汇报人  刘小凡     指导教师  万成城</a:t>
            </a:r>
          </a:p>
          <a:p xmlns:a="http://schemas.openxmlformats.org/drawingml/2006/main">
            <a:pPr algn="l">
              <a:lnSpc>
                <a:spcPct val="118000"/>
              </a:lnSpc>
              <a:buNone/>
              <a:defRPr sz="1650" b="0">
                <a:solidFill>
                  <a:srgbClr val="D7E7E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D7E7EE"/>
                </a:solidFill>
                <a:latin typeface="Microsoft YaHei"/>
                <a:ea typeface="Microsoft YaHei"/>
                <a:cs typeface="Microsoft YaHei"/>
              </a:rPr>
              <a:t>华东师范大学 软件工程学院</a:t>
            </a:r>
          </a:p>
        </p:txBody>
      </p:sp>
    </p:spTree>
    <p:extLst>
      <p:ext uri="{BB962C8B-B14F-4D97-AF65-F5344CB8AC3E}">
        <p14:creationId xmlns:p14="http://schemas.microsoft.com/office/powerpoint/2010/main" val="367151161"/>
      </p:ext>
    </p:extLst>
  </p:cSld>
</p:sld>
</file>

<file path=ppt/theme/theme1.xml><?xml version="1.0" encoding="utf-8"?>
<a:theme xmlns:a="http://schemas.openxmlformats.org/drawingml/2006/main" name="PPTD">
  <a:themeElements>
    <a:clrScheme name="PPTD">
      <a:dk1>
        <a:srgbClr val="000000"/>
      </a:dk1>
      <a:lt1>
        <a:srgbClr val="FFFFFF"/>
      </a:lt1>
      <a:dk2>
        <a:srgbClr val="1F2937"/>
      </a:dk2>
      <a:lt2>
        <a:srgbClr val="F3F4F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PPTD">
      <a:majorFont>
        <a:latin typeface="MiSans"/>
        <a:ea typeface="MiSans"/>
        <a:cs typeface="MiSans"/>
      </a:majorFont>
      <a:minorFont>
        <a:latin typeface="MiSans"/>
        <a:ea typeface="MiSans"/>
        <a:cs typeface="MiSans"/>
      </a:minorFont>
    </a:fontScheme>
    <a:fmtScheme name="PPTD">
      <a:fillStyleLst>
        <a:solidFill>
          <a:schemeClr val="accent1"/>
        </a:solidFill>
        <a:solidFill>
          <a:schemeClr val="accent2"/>
        </a:solidFill>
        <a:solidFill>
          <a:schemeClr val="accent3"/>
        </a:solidFill>
      </a:fillStyleLst>
      <a:lnStyleLst>
        <a:ln w="6350">
          <a:solidFill>
            <a:schemeClr val="accent1"/>
          </a:solidFill>
          <a:prstDash val="solid"/>
        </a:ln>
        <a:ln w="12700">
          <a:solidFill>
            <a:schemeClr val="accent1"/>
          </a:solidFill>
          <a:prstDash val="solid"/>
        </a:ln>
        <a:ln w="19050">
          <a:solidFill>
            <a:schemeClr val="accent1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lt1"/>
        </a:solidFill>
        <a:solidFill>
          <a:schemeClr val="lt2"/>
        </a:solidFill>
        <a:solidFill>
          <a:schemeClr val="dk1"/>
        </a:soli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2026-10-22T15:31:02.3540000Z</dcterms:created>
  <dcterms:modified xsi:type="dcterms:W3CDTF">2026-10-22T15:31:02.3540000Z</dcterms:modified>
</coreProperties>
</file>