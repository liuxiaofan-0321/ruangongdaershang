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27.xml" ContentType="application/vnd.openxmlformats-officedocument.presentationml.tags+xml"/>
  <Override PartName="/ppt/notesSlides/notesSlide3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9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0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418" r:id="rId2"/>
    <p:sldId id="257" r:id="rId3"/>
    <p:sldId id="477" r:id="rId4"/>
    <p:sldId id="481" r:id="rId5"/>
    <p:sldId id="482" r:id="rId6"/>
    <p:sldId id="483" r:id="rId7"/>
    <p:sldId id="476" r:id="rId8"/>
    <p:sldId id="423" r:id="rId9"/>
    <p:sldId id="424" r:id="rId10"/>
    <p:sldId id="425" r:id="rId11"/>
    <p:sldId id="431" r:id="rId12"/>
    <p:sldId id="432" r:id="rId13"/>
    <p:sldId id="435" r:id="rId14"/>
    <p:sldId id="484" r:id="rId15"/>
    <p:sldId id="485" r:id="rId16"/>
    <p:sldId id="498" r:id="rId17"/>
    <p:sldId id="499" r:id="rId18"/>
    <p:sldId id="500" r:id="rId19"/>
    <p:sldId id="502" r:id="rId20"/>
    <p:sldId id="503" r:id="rId21"/>
    <p:sldId id="438" r:id="rId22"/>
    <p:sldId id="439" r:id="rId23"/>
    <p:sldId id="426" r:id="rId24"/>
    <p:sldId id="440" r:id="rId25"/>
    <p:sldId id="441" r:id="rId26"/>
    <p:sldId id="443" r:id="rId27"/>
    <p:sldId id="442" r:id="rId28"/>
    <p:sldId id="497" r:id="rId29"/>
    <p:sldId id="493" r:id="rId30"/>
    <p:sldId id="494" r:id="rId31"/>
    <p:sldId id="495" r:id="rId32"/>
    <p:sldId id="492" r:id="rId33"/>
    <p:sldId id="448" r:id="rId34"/>
    <p:sldId id="449" r:id="rId35"/>
    <p:sldId id="450" r:id="rId36"/>
    <p:sldId id="451" r:id="rId37"/>
    <p:sldId id="453" r:id="rId38"/>
    <p:sldId id="507" r:id="rId39"/>
    <p:sldId id="504" r:id="rId40"/>
    <p:sldId id="508" r:id="rId41"/>
    <p:sldId id="505" r:id="rId42"/>
    <p:sldId id="455" r:id="rId43"/>
    <p:sldId id="459" r:id="rId44"/>
    <p:sldId id="460" r:id="rId45"/>
    <p:sldId id="466" r:id="rId46"/>
    <p:sldId id="467" r:id="rId47"/>
    <p:sldId id="468" r:id="rId48"/>
    <p:sldId id="470" r:id="rId49"/>
    <p:sldId id="469" r:id="rId50"/>
    <p:sldId id="472" r:id="rId51"/>
    <p:sldId id="473" r:id="rId52"/>
    <p:sldId id="474" r:id="rId53"/>
    <p:sldId id="475" r:id="rId54"/>
    <p:sldId id="454" r:id="rId55"/>
    <p:sldId id="456" r:id="rId56"/>
    <p:sldId id="458" r:id="rId57"/>
    <p:sldId id="444" r:id="rId58"/>
  </p:sldIdLst>
  <p:sldSz cx="12192000" cy="6858000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012"/>
    <a:srgbClr val="C00000"/>
    <a:srgbClr val="FFF1F1"/>
    <a:srgbClr val="F5F5F5"/>
    <a:srgbClr val="FBF1F1"/>
    <a:srgbClr val="7F7B7B"/>
    <a:srgbClr val="C41F1F"/>
    <a:srgbClr val="C52727"/>
    <a:srgbClr val="CE6B6A"/>
    <a:srgbClr val="D8A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54" autoAdjust="0"/>
    <p:restoredTop sz="95026" autoAdjust="0"/>
  </p:normalViewPr>
  <p:slideViewPr>
    <p:cSldViewPr snapToGrid="0">
      <p:cViewPr varScale="1">
        <p:scale>
          <a:sx n="112" d="100"/>
          <a:sy n="112" d="100"/>
        </p:scale>
        <p:origin x="36" y="-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ags" Target="tags/tag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9B1AB-4C61-4EAA-B981-DC4B0504F26F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1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6D625-A1DC-4EBB-A646-079D2450DB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进程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ID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PID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操作系统给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**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每一个正在运行的程序实例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**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分配的唯一编号。比如你打开浏览器，操作系统就创建一个浏览器进程，给它分配一个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PID 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数字；再开一个浏览器窗口，会新建另一个进程，对应另一个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PID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  <a:p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父进程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ID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PPID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：**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创建当前进程的那个进程的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PID**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。进程之间是父子关系：一个进程可以启动（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fork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）出新进程，被创建出来的叫子进程，创建它的就是父进程；子进程里会记录父进程编号，就是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PPID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  <a:p>
            <a:endParaRPr lang="zh-CN" altLang="en-US" dirty="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Unix 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系统的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PID 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**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按顺序递增分配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**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的，不是随机挑选。攻击者只要知道系统近期创建过哪些进程，就能估算出下一个进程的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PID 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范围；</a:t>
            </a:r>
          </a:p>
          <a:p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PPID 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是父进程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ID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，很多场景下父进程固定（比如固定终端、守护进程），取值范围很小；</a:t>
            </a:r>
          </a:p>
          <a:p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PID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PPID </a:t>
            </a:r>
            <a:r>
              <a:rPr lang="zh-CN" altLang="en-US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都是系统对外可以间接获取的信息，攻击者不需要高权限就能拿到或者缩小候选范围。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CF</a:t>
            </a:r>
            <a:r>
              <a:rPr lang="zh-CN" altLang="en-US"/>
              <a:t>解释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结束页以密钥四环节收尾，呼应全课主线。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78" y="1122388"/>
            <a:ext cx="9144470" cy="238765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8" y="3602118"/>
            <a:ext cx="9144470" cy="1655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-25401304" y="-25400558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37593930" y="3225870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7" name="组合 86"/>
          <p:cNvGrpSpPr/>
          <p:nvPr userDrawn="1"/>
        </p:nvGrpSpPr>
        <p:grpSpPr>
          <a:xfrm>
            <a:off x="0" y="6385712"/>
            <a:ext cx="12192000" cy="508075"/>
            <a:chOff x="0" y="12669"/>
            <a:chExt cx="17007" cy="1008"/>
          </a:xfrm>
        </p:grpSpPr>
        <p:grpSp>
          <p:nvGrpSpPr>
            <p:cNvPr id="85" name="组合 84"/>
            <p:cNvGrpSpPr/>
            <p:nvPr userDrawn="1"/>
          </p:nvGrpSpPr>
          <p:grpSpPr>
            <a:xfrm>
              <a:off x="0" y="13021"/>
              <a:ext cx="15152" cy="585"/>
              <a:chOff x="0" y="13021"/>
              <a:chExt cx="15152" cy="585"/>
            </a:xfrm>
          </p:grpSpPr>
          <p:sp>
            <p:nvSpPr>
              <p:cNvPr id="45" name="矩形 44"/>
              <p:cNvSpPr/>
              <p:nvPr userDrawn="1"/>
            </p:nvSpPr>
            <p:spPr>
              <a:xfrm>
                <a:off x="0" y="13426"/>
                <a:ext cx="3726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51" name="矩形 50"/>
              <p:cNvSpPr/>
              <p:nvPr userDrawn="1"/>
            </p:nvSpPr>
            <p:spPr>
              <a:xfrm>
                <a:off x="0" y="13201"/>
                <a:ext cx="3767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57" name="矩形 56"/>
              <p:cNvSpPr/>
              <p:nvPr userDrawn="1"/>
            </p:nvSpPr>
            <p:spPr>
              <a:xfrm>
                <a:off x="0" y="13021"/>
                <a:ext cx="3788" cy="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62" name="矩形 61"/>
              <p:cNvSpPr/>
              <p:nvPr userDrawn="1"/>
            </p:nvSpPr>
            <p:spPr>
              <a:xfrm>
                <a:off x="0" y="13313"/>
                <a:ext cx="3747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0" y="13538"/>
                <a:ext cx="3704" cy="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grpSp>
            <p:nvGrpSpPr>
              <p:cNvPr id="81" name="组合 80"/>
              <p:cNvGrpSpPr/>
              <p:nvPr userDrawn="1"/>
            </p:nvGrpSpPr>
            <p:grpSpPr>
              <a:xfrm>
                <a:off x="3704" y="13021"/>
                <a:ext cx="3872" cy="585"/>
                <a:chOff x="3704" y="13021"/>
                <a:chExt cx="3872" cy="585"/>
              </a:xfrm>
            </p:grpSpPr>
            <p:sp>
              <p:nvSpPr>
                <p:cNvPr id="46" name="矩形 45"/>
                <p:cNvSpPr/>
                <p:nvPr userDrawn="1"/>
              </p:nvSpPr>
              <p:spPr>
                <a:xfrm>
                  <a:off x="3726" y="13426"/>
                  <a:ext cx="3726" cy="4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2" name="矩形 51"/>
                <p:cNvSpPr/>
                <p:nvPr userDrawn="1"/>
              </p:nvSpPr>
              <p:spPr>
                <a:xfrm>
                  <a:off x="3768" y="13201"/>
                  <a:ext cx="3767" cy="43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8" name="矩形 57"/>
                <p:cNvSpPr/>
                <p:nvPr userDrawn="1"/>
              </p:nvSpPr>
              <p:spPr>
                <a:xfrm>
                  <a:off x="3788" y="13021"/>
                  <a:ext cx="3788" cy="110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3" name="矩形 62"/>
                <p:cNvSpPr/>
                <p:nvPr userDrawn="1"/>
              </p:nvSpPr>
              <p:spPr>
                <a:xfrm>
                  <a:off x="3747" y="13313"/>
                  <a:ext cx="3747" cy="43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8" name="矩形 67"/>
                <p:cNvSpPr/>
                <p:nvPr userDrawn="1"/>
              </p:nvSpPr>
              <p:spPr>
                <a:xfrm>
                  <a:off x="3704" y="13538"/>
                  <a:ext cx="3704" cy="68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  <p:grpSp>
            <p:nvGrpSpPr>
              <p:cNvPr id="82" name="组合 81"/>
              <p:cNvGrpSpPr/>
              <p:nvPr userDrawn="1"/>
            </p:nvGrpSpPr>
            <p:grpSpPr>
              <a:xfrm>
                <a:off x="7408" y="13021"/>
                <a:ext cx="3956" cy="585"/>
                <a:chOff x="7408" y="13021"/>
                <a:chExt cx="3956" cy="585"/>
              </a:xfrm>
            </p:grpSpPr>
            <p:sp>
              <p:nvSpPr>
                <p:cNvPr id="47" name="矩形 46"/>
                <p:cNvSpPr/>
                <p:nvPr userDrawn="1"/>
              </p:nvSpPr>
              <p:spPr>
                <a:xfrm>
                  <a:off x="7452" y="13426"/>
                  <a:ext cx="3726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3" name="矩形 52"/>
                <p:cNvSpPr/>
                <p:nvPr userDrawn="1"/>
              </p:nvSpPr>
              <p:spPr>
                <a:xfrm>
                  <a:off x="7535" y="13201"/>
                  <a:ext cx="3767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9" name="矩形 58"/>
                <p:cNvSpPr/>
                <p:nvPr userDrawn="1"/>
              </p:nvSpPr>
              <p:spPr>
                <a:xfrm>
                  <a:off x="7576" y="13021"/>
                  <a:ext cx="3788" cy="110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4" name="矩形 63"/>
                <p:cNvSpPr/>
                <p:nvPr userDrawn="1"/>
              </p:nvSpPr>
              <p:spPr>
                <a:xfrm>
                  <a:off x="7493" y="13313"/>
                  <a:ext cx="3747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9" name="矩形 68"/>
                <p:cNvSpPr/>
                <p:nvPr userDrawn="1"/>
              </p:nvSpPr>
              <p:spPr>
                <a:xfrm>
                  <a:off x="7408" y="13538"/>
                  <a:ext cx="3704" cy="68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  <p:grpSp>
            <p:nvGrpSpPr>
              <p:cNvPr id="83" name="组合 82"/>
              <p:cNvGrpSpPr/>
              <p:nvPr userDrawn="1"/>
            </p:nvGrpSpPr>
            <p:grpSpPr>
              <a:xfrm>
                <a:off x="11112" y="13021"/>
                <a:ext cx="4040" cy="585"/>
                <a:chOff x="11112" y="13021"/>
                <a:chExt cx="4040" cy="585"/>
              </a:xfrm>
            </p:grpSpPr>
            <p:sp>
              <p:nvSpPr>
                <p:cNvPr id="48" name="矩形 47"/>
                <p:cNvSpPr/>
                <p:nvPr userDrawn="1"/>
              </p:nvSpPr>
              <p:spPr>
                <a:xfrm>
                  <a:off x="11178" y="13426"/>
                  <a:ext cx="3726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4" name="矩形 53"/>
                <p:cNvSpPr/>
                <p:nvPr userDrawn="1"/>
              </p:nvSpPr>
              <p:spPr>
                <a:xfrm>
                  <a:off x="11303" y="13201"/>
                  <a:ext cx="3767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0" name="矩形 59"/>
                <p:cNvSpPr/>
                <p:nvPr userDrawn="1"/>
              </p:nvSpPr>
              <p:spPr>
                <a:xfrm>
                  <a:off x="11364" y="13021"/>
                  <a:ext cx="3788" cy="110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5" name="矩形 64"/>
                <p:cNvSpPr/>
                <p:nvPr userDrawn="1"/>
              </p:nvSpPr>
              <p:spPr>
                <a:xfrm>
                  <a:off x="11240" y="13313"/>
                  <a:ext cx="3747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70" name="矩形 69"/>
                <p:cNvSpPr/>
                <p:nvPr userDrawn="1"/>
              </p:nvSpPr>
              <p:spPr>
                <a:xfrm>
                  <a:off x="11112" y="13538"/>
                  <a:ext cx="3704" cy="68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</p:grpSp>
        <p:grpSp>
          <p:nvGrpSpPr>
            <p:cNvPr id="84" name="组合 83"/>
            <p:cNvGrpSpPr/>
            <p:nvPr userDrawn="1"/>
          </p:nvGrpSpPr>
          <p:grpSpPr>
            <a:xfrm>
              <a:off x="16123" y="13081"/>
              <a:ext cx="884" cy="518"/>
              <a:chOff x="16123" y="13021"/>
              <a:chExt cx="884" cy="518"/>
            </a:xfrm>
          </p:grpSpPr>
          <p:sp>
            <p:nvSpPr>
              <p:cNvPr id="72" name="矩形 71"/>
              <p:cNvSpPr/>
              <p:nvPr userDrawn="1"/>
            </p:nvSpPr>
            <p:spPr>
              <a:xfrm>
                <a:off x="16123" y="13379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16123" y="13021"/>
                <a:ext cx="884" cy="9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4" name="矩形 73"/>
              <p:cNvSpPr/>
              <p:nvPr userDrawn="1"/>
            </p:nvSpPr>
            <p:spPr>
              <a:xfrm>
                <a:off x="16123" y="13180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5" name="矩形 74"/>
              <p:cNvSpPr/>
              <p:nvPr userDrawn="1"/>
            </p:nvSpPr>
            <p:spPr>
              <a:xfrm>
                <a:off x="16123" y="13280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6" name="矩形 75"/>
              <p:cNvSpPr/>
              <p:nvPr userDrawn="1"/>
            </p:nvSpPr>
            <p:spPr>
              <a:xfrm>
                <a:off x="16123" y="13479"/>
                <a:ext cx="884" cy="6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</p:grpSp>
        <p:pic>
          <p:nvPicPr>
            <p:cNvPr id="86" name="图片 85" descr="ChatGPT Image 2026年9月7日 11_42_32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4612" y="12669"/>
              <a:ext cx="1682" cy="1009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ct val="15000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3" Type="http://schemas.openxmlformats.org/officeDocument/2006/relationships/tags" Target="../tags/tag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notesSlide" Target="../notesSlides/notesSlide35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4023360" y="3291840"/>
            <a:ext cx="414223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454146" y="5067935"/>
            <a:ext cx="5280659" cy="4572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第三讲</a:t>
            </a:r>
            <a:r>
              <a:rPr lang="zh-CN" altLang="en-US" sz="14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altLang="en-US" sz="1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伪随机数生成器与杂凑函数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62476" y="3709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华东师范大学软件工程学院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062476" y="43224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主讲人</a:t>
            </a:r>
            <a:r>
              <a:rPr lang="en-US" altLang="zh-CN"/>
              <a:t>：</a:t>
            </a:r>
            <a:r>
              <a:rPr lang="zh-CN" altLang="en-US"/>
              <a:t>张磊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371600" y="2103120"/>
            <a:ext cx="9445752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密码与网络安全引论</a:t>
            </a:r>
            <a:endParaRPr sz="4000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80360" y="868680"/>
            <a:ext cx="128016" cy="5120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9600" y="1260174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0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105400" y="1144032"/>
            <a:ext cx="6004316" cy="57975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密码与网络安全中的随机数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9600" y="2319655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105400" y="2210181"/>
            <a:ext cx="5896740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伪随机数生成器与安全要求</a:t>
            </a:r>
          </a:p>
        </p:txBody>
      </p:sp>
      <p:sp>
        <p:nvSpPr>
          <p:cNvPr id="6" name="Rectangle 14"/>
          <p:cNvSpPr/>
          <p:nvPr/>
        </p:nvSpPr>
        <p:spPr>
          <a:xfrm>
            <a:off x="4420411" y="3402740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0"/>
          <a:lstStyle/>
          <a:p>
            <a:pPr algn="ctr"/>
            <a:endParaRPr sz="2400"/>
          </a:p>
        </p:txBody>
      </p:sp>
      <p:sp>
        <p:nvSpPr>
          <p:cNvPr id="7" name="TextBox 15"/>
          <p:cNvSpPr txBox="1"/>
          <p:nvPr/>
        </p:nvSpPr>
        <p:spPr>
          <a:xfrm>
            <a:off x="5106211" y="3286598"/>
            <a:ext cx="6004316" cy="57975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  <p:sp>
        <p:nvSpPr>
          <p:cNvPr id="8" name="Rectangle 3"/>
          <p:cNvSpPr/>
          <p:nvPr/>
        </p:nvSpPr>
        <p:spPr>
          <a:xfrm>
            <a:off x="4420411" y="4555127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9" name="TextBox 4"/>
          <p:cNvSpPr txBox="1"/>
          <p:nvPr/>
        </p:nvSpPr>
        <p:spPr>
          <a:xfrm>
            <a:off x="5106211" y="4445653"/>
            <a:ext cx="5896740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现实案例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750260" y="1508631"/>
            <a:ext cx="738664" cy="38096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zh-CN" altLang="en-US" sz="3600" b="0" i="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zh-CN" altLang="en-US" sz="2400" b="0" i="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      伪随机数生成器</a:t>
            </a:r>
            <a:endParaRPr lang="zh-CN" altLang="en-US" sz="1800" b="0" i="0" dirty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1480" y="916305"/>
            <a:ext cx="6762750" cy="410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defRPr sz="1275" b="0">
                <a:solidFill>
                  <a:srgbClr val="8B3D3D"/>
                </a:solidFill>
              </a:defRPr>
            </a:pPr>
            <a:r>
              <a:rPr lang="zh-CN" altLang="en-US" sz="24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案例</a:t>
            </a:r>
            <a:r>
              <a:rPr lang="en-US" altLang="zh-CN" sz="240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1</a:t>
            </a:r>
            <a:r>
              <a:rPr lang="en-US" altLang="zh-CN" sz="24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口令安全首先是“猜不猜得到”的问题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 sz="1275" b="0">
                <a:solidFill>
                  <a:srgbClr val="8B3D3D"/>
                </a:solidFill>
              </a:defRPr>
            </a:pPr>
            <a:endParaRPr lang="zh-CN" altLang="en-US" sz="2400">
              <a:solidFill>
                <a:srgbClr val="8B3D3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442720"/>
            <a:ext cx="1043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很多同学设置口令时会追求“好记”，但攻击者最先尝试的也正是生日、姓名、手机号、常用词和重复口令。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374900"/>
            <a:ext cx="4619625" cy="2209800"/>
          </a:xfrm>
          <a:prstGeom prst="rect">
            <a:avLst/>
          </a:prstGeom>
          <a:solidFill>
            <a:srgbClr val="FAFAFA"/>
          </a:solidFill>
          <a:ln w="9525">
            <a:solidFill>
              <a:srgbClr val="F0C9C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2527300"/>
            <a:ext cx="4276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容易被猜到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43000" y="2898775"/>
            <a:ext cx="4276725" cy="1590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姓名缩写 + 生日</a:t>
            </a: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手机号后六位</a:t>
            </a: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同一口令到处使用</a:t>
            </a: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把口令发给他人或保存在公开位置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00825" y="2374900"/>
            <a:ext cx="4619625" cy="2209800"/>
          </a:xfrm>
          <a:prstGeom prst="rect">
            <a:avLst/>
          </a:prstGeom>
          <a:solidFill>
            <a:srgbClr val="FFF1F1"/>
          </a:solidFill>
          <a:ln w="9525">
            <a:solidFill>
              <a:srgbClr val="F0C9C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772275" y="2527300"/>
            <a:ext cx="4276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更安全的做法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772275" y="2898775"/>
            <a:ext cx="4276725" cy="1590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使用长口令或随机短语</a:t>
            </a: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重要账号不复用口令</a:t>
            </a: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启用多因素认证</a:t>
            </a: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用可信密码管理器生成和保存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458595" y="4906645"/>
            <a:ext cx="1857375" cy="335280"/>
          </a:xfrm>
          <a:prstGeom prst="rect">
            <a:avLst/>
          </a:prstGeom>
          <a:solidFill>
            <a:srgbClr val="FCE6E6"/>
          </a:solidFill>
          <a:ln w="9525">
            <a:solidFill>
              <a:srgbClr val="F1CAC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457960" y="4906645"/>
            <a:ext cx="185801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个人信息保护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451860" y="4906645"/>
            <a:ext cx="1468120" cy="335280"/>
          </a:xfrm>
          <a:prstGeom prst="rect">
            <a:avLst/>
          </a:prstGeom>
          <a:solidFill>
            <a:srgbClr val="FCE6E6"/>
          </a:solidFill>
          <a:ln w="9525">
            <a:solidFill>
              <a:srgbClr val="F1CAC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451860" y="4891405"/>
            <a:ext cx="146812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不共享口令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086350" y="4906645"/>
            <a:ext cx="1468120" cy="335280"/>
          </a:xfrm>
          <a:prstGeom prst="rect">
            <a:avLst/>
          </a:prstGeom>
          <a:solidFill>
            <a:srgbClr val="FCE6E6"/>
          </a:solidFill>
          <a:ln w="9525">
            <a:solidFill>
              <a:srgbClr val="F1CAC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086350" y="4906645"/>
            <a:ext cx="146812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不重复使用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701790" y="4906645"/>
            <a:ext cx="1767205" cy="335280"/>
          </a:xfrm>
          <a:prstGeom prst="rect">
            <a:avLst/>
          </a:prstGeom>
          <a:solidFill>
            <a:srgbClr val="FCE6E6"/>
          </a:solidFill>
          <a:ln w="9525">
            <a:solidFill>
              <a:srgbClr val="F1CAC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701790" y="4906645"/>
            <a:ext cx="176720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合规使用平台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627745" y="4906645"/>
            <a:ext cx="1767205" cy="335280"/>
          </a:xfrm>
          <a:prstGeom prst="rect">
            <a:avLst/>
          </a:prstGeom>
          <a:solidFill>
            <a:srgbClr val="FCE6E6"/>
          </a:solidFill>
          <a:ln w="9525">
            <a:solidFill>
              <a:srgbClr val="F1CAC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623300" y="4906645"/>
            <a:ext cx="176720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尊重他人账号</a:t>
            </a:r>
          </a:p>
        </p:txBody>
      </p: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1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密码与网络安全中的随机数</a:t>
            </a:r>
            <a:endParaRPr lang="zh-CN" altLang="en-US" sz="3200" b="1" dirty="0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82880" y="916305"/>
            <a:ext cx="7892415" cy="410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defRPr sz="1275" b="0">
                <a:solidFill>
                  <a:srgbClr val="8B3D3D"/>
                </a:solidFill>
              </a:defRPr>
            </a:pPr>
            <a:r>
              <a:rPr lang="zh-CN" altLang="en-US" sz="24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</a:t>
            </a:r>
            <a:r>
              <a:rPr lang="en-US" altLang="zh-CN" sz="240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2</a:t>
            </a:r>
            <a:r>
              <a:rPr lang="en-US" altLang="zh-CN" sz="24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验证码、会话和找回链接都依赖新鲜随机值</a:t>
            </a:r>
            <a:endParaRPr sz="2400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8B3D3D"/>
                </a:solidFill>
              </a:defRPr>
            </a:pPr>
            <a:endParaRPr lang="zh-CN" altLang="en-US" sz="2400">
              <a:solidFill>
                <a:srgbClr val="8B3D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065" y="1736725"/>
            <a:ext cx="1036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登录系统不是只检查一次口令。验证码</a:t>
            </a:r>
            <a:r>
              <a:rPr lang="en-US"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短时有效的随机值，做二次校验，单次使用不可复用</a:t>
            </a:r>
            <a:r>
              <a:rPr lang="en-US"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</a:t>
            </a:r>
            <a:r>
              <a:rPr lang="zh-CN"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令牌</a:t>
            </a:r>
            <a:r>
              <a:rPr lang="en-US" altLang="zh-CN"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认证通过后服务器下发随机会话标识</a:t>
            </a:r>
            <a:r>
              <a:rPr lang="en-US" altLang="zh-CN"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背后，都在用随机数区分“这一次请求”和“别人伪造的请求”。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43455" y="2714625"/>
            <a:ext cx="2095500" cy="162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386330" y="29241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输入口令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2443480" y="334327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确认你知道账号秘密</a:t>
            </a:r>
          </a:p>
        </p:txBody>
      </p:sp>
      <p:sp>
        <p:nvSpPr>
          <p:cNvPr id="4" name="右箭头 3"/>
          <p:cNvSpPr>
            <a:spLocks noGrp="1"/>
          </p:cNvSpPr>
          <p:nvPr/>
        </p:nvSpPr>
        <p:spPr>
          <a:xfrm>
            <a:off x="4386580" y="3352800"/>
            <a:ext cx="400050" cy="3238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34255" y="2714625"/>
            <a:ext cx="2095500" cy="1625600"/>
          </a:xfrm>
          <a:prstGeom prst="rect">
            <a:avLst/>
          </a:prstGeom>
          <a:solidFill>
            <a:srgbClr val="FFF1F1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977130" y="29241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一次性验证码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34280" y="334327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短时间内有效，不能长期复用</a:t>
            </a: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6977380" y="3340100"/>
            <a:ext cx="400050" cy="3238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25055" y="2714625"/>
            <a:ext cx="2095500" cy="162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567930" y="29241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会话</a:t>
            </a:r>
            <a:r>
              <a:rPr lang="zh-CN"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令牌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5080" y="334327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服务器用它识别当前登录状态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238250" y="4848225"/>
            <a:ext cx="134556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endParaRPr sz="2000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126615" y="4822825"/>
            <a:ext cx="768731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随机值要做到“不可预测、一次一用、过期失效”。只要其中一项做不好，登录状态就可能被冒用。</a:t>
            </a:r>
          </a:p>
        </p:txBody>
      </p:sp>
      <p:sp>
        <p:nvSpPr>
          <p:cNvPr id="9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</a:t>
            </a:r>
          </a:p>
        </p:txBody>
      </p:sp>
      <p:sp>
        <p:nvSpPr>
          <p:cNvPr id="14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密码与网络安全中的随机数</a:t>
            </a:r>
            <a:endParaRPr lang="zh-CN" altLang="zh-CN" sz="3200" b="1" dirty="0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82880" y="916305"/>
            <a:ext cx="6521450" cy="410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defRPr sz="1275" b="0">
                <a:solidFill>
                  <a:srgbClr val="8B3D3D"/>
                </a:solidFill>
              </a:defRPr>
            </a:pPr>
            <a:r>
              <a:rPr lang="zh-CN" altLang="en-US" sz="24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</a:t>
            </a:r>
            <a:r>
              <a:rPr lang="en-US" altLang="zh-CN" sz="240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3</a:t>
            </a:r>
            <a:r>
              <a:rPr lang="en-US" altLang="zh-CN" sz="24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随机数也支撑公平分配和可信服务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8B3D3D"/>
                </a:solidFill>
              </a:defRPr>
            </a:pPr>
            <a:endParaRPr sz="2400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8B3D3D"/>
                </a:solidFill>
              </a:defRPr>
            </a:pPr>
            <a:endParaRPr lang="zh-CN" altLang="en-US" sz="2400">
              <a:solidFill>
                <a:srgbClr val="8B3D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354455"/>
            <a:ext cx="4953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038225" y="1535430"/>
            <a:ext cx="323850" cy="32385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38225" y="1497965"/>
            <a:ext cx="323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466850" y="1459865"/>
            <a:ext cx="421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课堂抽签与分组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66850" y="1783715"/>
            <a:ext cx="421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让每个人被选中的机会一致，减少人为偏向。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62700" y="1354455"/>
            <a:ext cx="4953000" cy="1104900"/>
          </a:xfrm>
          <a:prstGeom prst="rect">
            <a:avLst/>
          </a:prstGeom>
          <a:solidFill>
            <a:srgbClr val="FFF1F1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6524625" y="1535430"/>
            <a:ext cx="323850" cy="32385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530340" y="1488440"/>
            <a:ext cx="323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953250" y="1459865"/>
            <a:ext cx="421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线上排队与预约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953250" y="1783715"/>
            <a:ext cx="421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系统用随机或排队规则缓解高并发抢占，保护秩序。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2916555"/>
            <a:ext cx="4953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32" name="椭圆 31"/>
          <p:cNvSpPr>
            <a:spLocks noGrp="1"/>
          </p:cNvSpPr>
          <p:nvPr/>
        </p:nvSpPr>
        <p:spPr>
          <a:xfrm>
            <a:off x="1038225" y="3097530"/>
            <a:ext cx="323850" cy="32385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38225" y="3060065"/>
            <a:ext cx="323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3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466850" y="3021965"/>
            <a:ext cx="421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支付订单与交易防重放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466850" y="3345815"/>
            <a:ext cx="421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订单号、流水号和一次性参数帮助区分每一笔交易。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362700" y="2916555"/>
            <a:ext cx="4953000" cy="1104900"/>
          </a:xfrm>
          <a:prstGeom prst="rect">
            <a:avLst/>
          </a:prstGeom>
          <a:solidFill>
            <a:srgbClr val="FFF1F1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6524625" y="3097530"/>
            <a:ext cx="323850" cy="32385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518910" y="3056255"/>
            <a:ext cx="323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4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953250" y="3021965"/>
            <a:ext cx="421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备份码与恢复码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953250" y="3345815"/>
            <a:ext cx="421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手机丢失或换设备时，备用随机码帮助合法用户恢复访问。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104900" y="4800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随机数</a:t>
            </a: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的使用</a:t>
            </a:r>
            <a:r>
              <a:rPr lang="zh-CN"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686050" y="4803140"/>
            <a:ext cx="814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公平透明、保护隐私、依法合规。不利用系统缺陷牟利，不传播绕过规则的方法，不编造或操控随机结果。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76300" y="5897880"/>
            <a:ext cx="10439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8B3D3D"/>
                </a:solidFill>
              </a:defRPr>
            </a:pPr>
            <a:r>
              <a:rPr sz="2000" b="1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在公共场景里，随机数不仅服务安全，也服务公平、秩序和信任。</a:t>
            </a:r>
          </a:p>
        </p:txBody>
      </p:sp>
      <p:sp>
        <p:nvSpPr>
          <p:cNvPr id="4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密码与网络安全中的随机数</a:t>
            </a:r>
            <a:endParaRPr lang="zh-CN" altLang="zh-CN" sz="3200" b="1" dirty="0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1047750" y="109537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随机数的现实价值：让</a:t>
            </a:r>
            <a:r>
              <a:rPr 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本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该不可预测的结果不可预测，让</a:t>
            </a:r>
            <a:r>
              <a:rPr 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本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该被信任的规则被信任。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114550"/>
            <a:ext cx="3143250" cy="2101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2133600" y="1876425"/>
            <a:ext cx="628650" cy="62865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133600" y="20574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4900" y="266700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谁生成？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81100" y="3105150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是可信系统、密码管理器，还是人工随便想出来的？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33900" y="2114550"/>
            <a:ext cx="3143250" cy="2101850"/>
          </a:xfrm>
          <a:prstGeom prst="rect">
            <a:avLst/>
          </a:prstGeom>
          <a:solidFill>
            <a:srgbClr val="FFF1F1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91200" y="1876425"/>
            <a:ext cx="628650" cy="62865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791200" y="20574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62500" y="266700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能预测吗？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838700" y="3105150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是否来自生日、时间、编号、常用词等明显规律？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0" y="2114550"/>
            <a:ext cx="3143250" cy="2101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9448800" y="1876425"/>
            <a:ext cx="628650" cy="62865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448800" y="20574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3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420100" y="266700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失败影响谁？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96300" y="3105150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会影响个人账号、交易资金、课堂公平，还是公共服务秩序？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85800" y="4828540"/>
            <a:ext cx="10820400" cy="469265"/>
          </a:xfrm>
          <a:prstGeom prst="rect">
            <a:avLst/>
          </a:prstGeom>
          <a:solidFill>
            <a:srgbClr val="F7F7F7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2800"/>
              <a:t>随机数是网络安全的基础</a:t>
            </a:r>
            <a:r>
              <a:rPr lang="en-US" altLang="zh-CN" sz="2800"/>
              <a:t>！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57250" y="5122545"/>
            <a:ext cx="10439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8B3D3D"/>
                </a:solidFill>
              </a:defRPr>
            </a:pPr>
            <a:endParaRPr lang="zh-CN" altLang="en-US" sz="2400">
              <a:solidFill>
                <a:srgbClr val="8B3D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1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密码与网络安全中的随机数</a:t>
            </a:r>
            <a:endParaRPr lang="zh-CN" altLang="en-US" sz="3200" b="1" dirty="0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2388235" y="1196975"/>
            <a:ext cx="3183890" cy="146748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524760" y="128397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密钥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93340" y="1691640"/>
            <a:ext cx="2800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会话密钥、长期私钥、共享秘密都依赖不可预测的随机数。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38950" y="1219200"/>
            <a:ext cx="3143250" cy="142367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934200" y="128397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挑战值与盐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02780" y="1691640"/>
            <a:ext cx="2800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认证协议、口令存储和防重放机制依靠新鲜随机值。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165" y="3143250"/>
            <a:ext cx="10820400" cy="12604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85875" y="3333750"/>
            <a:ext cx="962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C90012"/>
                </a:solidFill>
              </a:defRPr>
            </a:pPr>
            <a:endParaRPr lang="zh-CN" sz="2800" b="0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571625" y="333121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defRPr sz="1500" b="0">
                <a:solidFill>
                  <a:srgbClr val="303030"/>
                </a:solidFill>
              </a:defRPr>
            </a:pPr>
            <a:r>
              <a:rPr lang="zh-CN"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网络</a:t>
            </a:r>
            <a:r>
              <a:rPr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系统的安全性依赖</a:t>
            </a:r>
            <a:r>
              <a:rPr lang="zh-CN"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不可预测的</a:t>
            </a:r>
            <a:r>
              <a:rPr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随机</a:t>
            </a:r>
            <a:r>
              <a:rPr lang="zh-CN"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数</a:t>
            </a:r>
            <a:r>
              <a:rPr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；如果</a:t>
            </a:r>
            <a:r>
              <a:rPr lang="zh-CN"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不可预测性被破坏</a:t>
            </a:r>
            <a:r>
              <a:rPr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网络系统的安全性将被降低或被直接攻破</a:t>
            </a:r>
            <a:r>
              <a:rPr sz="28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828540"/>
            <a:ext cx="10820400" cy="886460"/>
          </a:xfrm>
          <a:prstGeom prst="rect">
            <a:avLst/>
          </a:prstGeom>
          <a:solidFill>
            <a:srgbClr val="F7F7F7"/>
          </a:solidFill>
          <a:ln w="9525">
            <a:solidFill>
              <a:srgbClr val="EDEDE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57250" y="4910455"/>
            <a:ext cx="10439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8B3D3D"/>
                </a:solidFill>
              </a:defRPr>
            </a:pPr>
            <a:r>
              <a:rPr sz="24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本讲的主线：</a:t>
            </a:r>
            <a:r>
              <a:rPr lang="zh-CN" altLang="en-US" sz="24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伪随机数生成器是密码学的基础。我们将研究如何生成具有高度随机性的密钥流或随机数</a:t>
            </a:r>
            <a:r>
              <a:rPr sz="24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5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1</a:t>
            </a:r>
          </a:p>
        </p:txBody>
      </p:sp>
      <p:sp>
        <p:nvSpPr>
          <p:cNvPr id="8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密码与网络安全中的随机数</a:t>
            </a:r>
            <a:endParaRPr lang="zh-CN" altLang="en-US" sz="3200" b="1" dirty="0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685800" y="1238250"/>
            <a:ext cx="4953000" cy="29527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134874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真随机数生成器 </a:t>
            </a:r>
            <a:r>
              <a:rPr sz="2400" b="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TRNG</a:t>
            </a:r>
            <a:endParaRPr sz="2400" b="0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1733550"/>
            <a:ext cx="4610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来源通常是物理噪声，例如热噪声、振荡器抖动、放射性衰变等。</a:t>
            </a:r>
          </a:p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优点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：不可预测性强。</a:t>
            </a: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限制：速度、成本和可用性受硬件影响。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553200" y="1238250"/>
            <a:ext cx="4953000" cy="29527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24650" y="134874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伪随机数生成器 </a:t>
            </a:r>
            <a:r>
              <a:rPr sz="2400" b="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PRNG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724650" y="1733550"/>
            <a:ext cx="4610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用短种子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seed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驱动确定性算法，快速扩展出很长的比特流。</a:t>
            </a:r>
          </a:p>
          <a:p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：高效、可复现。</a:t>
            </a: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风险：种子或状态被猜到，输出就不再安全。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381125" y="4734560"/>
            <a:ext cx="1905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4288">
            <a:solidFill>
              <a:srgbClr val="E4BAB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495425" y="493458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物理熵源</a:t>
            </a: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3333750" y="4944110"/>
            <a:ext cx="381000" cy="3238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3762375" y="4734560"/>
            <a:ext cx="1905000" cy="742950"/>
          </a:xfrm>
          <a:prstGeom prst="roundRect">
            <a:avLst>
              <a:gd name="adj" fmla="val 10256"/>
            </a:avLst>
          </a:prstGeom>
          <a:solidFill>
            <a:srgbClr val="FFF1F1"/>
          </a:solidFill>
          <a:ln w="14288">
            <a:solidFill>
              <a:srgbClr val="E4BAB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876675" y="493458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种子池</a:t>
            </a:r>
          </a:p>
        </p:txBody>
      </p:sp>
      <p:sp>
        <p:nvSpPr>
          <p:cNvPr id="3" name="右箭头 2"/>
          <p:cNvSpPr>
            <a:spLocks noGrp="1"/>
          </p:cNvSpPr>
          <p:nvPr/>
        </p:nvSpPr>
        <p:spPr>
          <a:xfrm>
            <a:off x="5715000" y="4944110"/>
            <a:ext cx="381000" cy="3238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6143625" y="4734560"/>
            <a:ext cx="1905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4288">
            <a:solidFill>
              <a:srgbClr val="E4BAB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57925" y="493458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PRNG</a:t>
            </a: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8096250" y="4944110"/>
            <a:ext cx="381000" cy="3238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8524875" y="4734560"/>
            <a:ext cx="1905000" cy="742950"/>
          </a:xfrm>
          <a:prstGeom prst="roundRect">
            <a:avLst>
              <a:gd name="adj" fmla="val 10256"/>
            </a:avLst>
          </a:prstGeom>
          <a:solidFill>
            <a:srgbClr val="FFF1F1"/>
          </a:solidFill>
          <a:ln w="14288">
            <a:solidFill>
              <a:srgbClr val="E4BAB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639175" y="493458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随机比特流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6300" y="576326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8B3D3D"/>
                </a:solidFill>
              </a:defRPr>
            </a:pPr>
            <a:r>
              <a:rPr sz="20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生产系统通常用</a:t>
            </a:r>
            <a:r>
              <a:rPr sz="240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TRNG</a:t>
            </a:r>
            <a:r>
              <a:rPr sz="20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或系统熵源“喂种子”，再用</a:t>
            </a:r>
            <a:r>
              <a:rPr sz="240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PRNG</a:t>
            </a:r>
            <a:r>
              <a:rPr sz="20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高速生成。</a:t>
            </a:r>
          </a:p>
        </p:txBody>
      </p:sp>
      <p:sp>
        <p:nvSpPr>
          <p:cNvPr id="5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2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伪随机数生成器与安全要求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>
            <a:spLocks noGrp="1"/>
          </p:cNvSpPr>
          <p:nvPr/>
        </p:nvSpPr>
        <p:spPr>
          <a:xfrm>
            <a:off x="6732905" y="1321435"/>
            <a:ext cx="4953000" cy="379857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904355" y="1431925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Font typeface="Arial" panose="020B0604020202090204" pitchFamily="34" charset="0"/>
              <a:buChar char="•"/>
              <a:defRPr sz="1350" b="1">
                <a:solidFill>
                  <a:srgbClr val="C90012"/>
                </a:solidFill>
              </a:defRPr>
            </a:pPr>
            <a:r>
              <a:rPr lang="zh-CN" altLang="en-US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伪随机数生成器用于生成看似随机但实际上基于初始种子的比特流</a:t>
            </a:r>
            <a:r>
              <a:rPr lang="en-US" altLang="zh-CN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。</a:t>
            </a:r>
            <a:endParaRPr lang="zh-CN" altLang="en-US" sz="2000" b="0">
              <a:solidFill>
                <a:srgbClr val="303030"/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algn="l">
              <a:defRPr sz="1350" b="1">
                <a:solidFill>
                  <a:srgbClr val="C90012"/>
                </a:solidFill>
              </a:defRPr>
            </a:pPr>
            <a:endParaRPr lang="zh-CN" altLang="en-US" sz="2000" b="0">
              <a:solidFill>
                <a:schemeClr val="tx1"/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04355" y="2122805"/>
            <a:ext cx="4610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marL="342900" indent="-342900" algn="l">
              <a:buFont typeface="Arial" panose="020B0604020202090204" pitchFamily="34" charset="0"/>
              <a:buChar char="•"/>
              <a:defRPr sz="1350" b="0">
                <a:solidFill>
                  <a:srgbClr val="303030"/>
                </a:solidFill>
              </a:defRPr>
            </a:pPr>
            <a:r>
              <a:rPr lang="zh-CN" alt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真随机数生成器通常以一个能够产生随机输出的物理源作为输入，经过二进制转化来产生真随机比特流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。</a:t>
            </a:r>
            <a:endParaRPr lang="zh-CN" altLang="en-US" sz="2000">
              <a:solidFill>
                <a:srgbClr val="303030"/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algn="l">
              <a:defRPr sz="135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marL="342900" indent="-342900" algn="l">
              <a:buFont typeface="Arial" panose="020B0604020202090204" pitchFamily="34" charset="0"/>
              <a:buChar char="•"/>
              <a:defRPr sz="1350" b="0">
                <a:solidFill>
                  <a:srgbClr val="303030"/>
                </a:solidFill>
              </a:defRPr>
            </a:pPr>
            <a:r>
              <a:rPr lang="zh-CN" alt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将真随机数生成器所产生的真随机数作为伪随机数生成器的种子，随后利用伪随机数生成器来快速生成伪随机比特流。</a:t>
            </a:r>
          </a:p>
        </p:txBody>
      </p:sp>
      <p:pic>
        <p:nvPicPr>
          <p:cNvPr id="5" name="图片 4" descr="2.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" y="1163955"/>
            <a:ext cx="5360670" cy="395605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2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伪随机数生成器与安全要求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Grp="1"/>
          </p:cNvSpPr>
          <p:nvPr/>
        </p:nvSpPr>
        <p:spPr>
          <a:xfrm>
            <a:off x="876300" y="3194685"/>
            <a:ext cx="3143250" cy="190944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47750" y="3347085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确定性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47750" y="3689985"/>
            <a:ext cx="2800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同一个种子一定产生同一条输出流。可复现是优点，也意味着种子泄露会放大风险。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24375" y="3194685"/>
            <a:ext cx="3143250" cy="18802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695825" y="3347085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扩展性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695825" y="3689985"/>
            <a:ext cx="2800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用较小种子生成大量随机比特，满足密钥、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IV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、会话令牌等用量需求。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72450" y="3194685"/>
            <a:ext cx="3143250" cy="190944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343900" y="3347085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安全性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43900" y="3689985"/>
            <a:ext cx="2800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攻击者即使知道算法和部分输出，也不能预测下一位或恢复种子。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7555" y="5267325"/>
            <a:ext cx="10820400" cy="5270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48055" y="5334000"/>
            <a:ext cx="10439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8B3D3D"/>
                </a:solidFill>
              </a:defRPr>
            </a:pPr>
            <a:r>
              <a:rPr sz="180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PRNG</a:t>
            </a:r>
            <a:r>
              <a:rPr sz="1800" b="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公开算法 + 私密、不可预测的种子 + 受保护的内部状态。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2920" y="279146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endParaRPr lang="en-US" altLang="zh-CN" sz="2400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  <a:sym typeface="+mn-ea"/>
            </a:endParaRPr>
          </a:p>
        </p:txBody>
      </p:sp>
      <p:sp>
        <p:nvSpPr>
          <p:cNvPr id="9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2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伪随机数生成器与安全要求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5"/>
              <p:cNvSpPr txBox="1"/>
              <p:nvPr/>
            </p:nvSpPr>
            <p:spPr>
              <a:xfrm>
                <a:off x="757555" y="836930"/>
                <a:ext cx="10558780" cy="203263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indent="0" algn="just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None/>
                </a:pPr>
                <a:r>
                  <a:rPr sz="2000" b="1" i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定义 </a:t>
                </a:r>
                <a:r>
                  <a:rPr lang="en-US" sz="2000" b="1" i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r>
                  <a:rPr sz="2000" b="1" i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.</a:t>
                </a:r>
                <a:r>
                  <a:rPr lang="en-US" sz="2000" b="1" i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r>
                  <a:rPr sz="2000" b="1" i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　</a:t>
                </a:r>
                <a:r>
                  <a:rPr sz="2000" b="1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伪随机数生成器</a:t>
                </a:r>
                <a:r>
                  <a:rPr sz="2000" b="1" i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（教材原文）：</a:t>
                </a:r>
              </a:p>
              <a:p>
                <a:pPr indent="0" algn="just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None/>
                </a:pPr>
                <a:r>
                  <a:rPr lang="en-US" altLang="zh-CN" sz="2000" b="0" i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设输入消息空间为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{0,1}</a:t>
                </a:r>
                <a:r>
                  <a:rPr lang="en-US" altLang="zh-CN" sz="2000" b="0" i="1" baseline="3000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s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，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输出消息空间为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{0,1}</a:t>
                </a:r>
                <a:r>
                  <a:rPr lang="en-US" altLang="zh-CN" sz="2000" b="0" i="1" baseline="3000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n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，其中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:r>
                  <a:rPr lang="en-US" altLang="zh-CN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s 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和</a:t>
                </a:r>
                <a:r>
                  <a:rPr lang="en-US" altLang="zh-CN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 n 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都是正整数，且</a:t>
                </a:r>
                <a:r>
                  <a:rPr lang="en-US" altLang="zh-CN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s&lt;&lt;n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（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:r>
                  <a:rPr lang="en-US" altLang="zh-CN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s 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远远小于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:r>
                  <a:rPr lang="en-US" altLang="zh-CN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n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）。一个伪随机数生成器记作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PRNG=</a:t>
                </a:r>
                <a:r>
                  <a:rPr lang="en-US" altLang="zh-CN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G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(</a:t>
                </a:r>
                <a:r>
                  <a:rPr lang="en-US" altLang="zh-CN" sz="200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seed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) 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，包含如下算法。</a:t>
                </a:r>
              </a:p>
              <a:p>
                <a:pPr marL="285750" indent="-285750" algn="just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伪随机数生成算法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:r>
                  <a:rPr lang="en-US" altLang="zh-CN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G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(seed) 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。输入为一个种子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seed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∈</m:t>
                    </m:r>
                  </m:oMath>
                </a14:m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{</a:t>
                </a:r>
                <a:r>
                  <a:rPr lang="en-US" altLang="zh-CN" sz="200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0,1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}</a:t>
                </a:r>
                <a:r>
                  <a:rPr lang="en-US" altLang="zh-CN" sz="2000" b="0" i="1" baseline="3000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s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，输出为</a:t>
                </a:r>
                <a:r>
                  <a:rPr lang="en-US" altLang="zh-CN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{0,1}</a:t>
                </a:r>
                <a:r>
                  <a:rPr lang="en-US" altLang="zh-CN" sz="2000" b="0" i="1" baseline="3000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n</a:t>
                </a:r>
                <a:r>
                  <a:rPr lang="zh-CN" altLang="en-US"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中的一个伪随机比特流。伪随机数生成器的种子可由真随机数生成器产生，也可以是用户给出的一个随机输入</a:t>
                </a:r>
                <a:r>
                  <a:rPr sz="2000" b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5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55" y="836930"/>
                <a:ext cx="10558780" cy="2032635"/>
              </a:xfrm>
              <a:prstGeom prst="rect">
                <a:avLst/>
              </a:prstGeom>
              <a:blipFill rotWithShape="1">
                <a:blip r:embed="rId3"/>
                <a:stretch>
                  <a:fillRect t="-375" r="-1335" b="-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>
            <a:spLocks noGrp="1"/>
          </p:cNvSpPr>
          <p:nvPr/>
        </p:nvSpPr>
        <p:spPr>
          <a:xfrm>
            <a:off x="685800" y="1581150"/>
            <a:ext cx="3257550" cy="25717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1661795"/>
            <a:ext cx="2914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1. 随机性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076450"/>
            <a:ext cx="29146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Font typeface="Arial" panose="020B0604020202090204" pitchFamily="34" charset="0"/>
              <a:buChar char="•"/>
              <a:defRPr sz="120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均匀性：0 和 1 出现概率应接近相等。</a:t>
            </a:r>
          </a:p>
          <a:p>
            <a:pPr marL="342900" indent="-342900" algn="l">
              <a:buFont typeface="Arial" panose="020B0604020202090204" pitchFamily="34" charset="0"/>
              <a:buChar char="•"/>
              <a:defRPr sz="120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可伸缩性：抽取出的子串也应看起来随机。</a:t>
            </a:r>
          </a:p>
          <a:p>
            <a:pPr marL="342900" indent="-342900" algn="l">
              <a:buFont typeface="Arial" panose="020B0604020202090204" pitchFamily="34" charset="0"/>
              <a:buChar char="•"/>
              <a:defRPr sz="120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一致性：相同种子输出相同流。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67225" y="1581150"/>
            <a:ext cx="325755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38675" y="1661795"/>
            <a:ext cx="325374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2. 比特流不可预测性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38675" y="2076450"/>
            <a:ext cx="29146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Font typeface="Arial" panose="020B0604020202090204" pitchFamily="34" charset="0"/>
              <a:buChar char="•"/>
              <a:defRPr sz="120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</a:rPr>
              <a:t>前向不可预测：看到过去输出，也推不出下一位。</a:t>
            </a:r>
          </a:p>
          <a:p>
            <a:pPr marL="342900" indent="-342900" algn="l">
              <a:buFont typeface="Arial" panose="020B0604020202090204" pitchFamily="34" charset="0"/>
              <a:buChar char="•"/>
              <a:defRPr sz="120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</a:rPr>
              <a:t>后向不可预测：看到输出，也恢复不出种子或早期状态。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48650" y="1581150"/>
            <a:ext cx="3257550" cy="25717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420100" y="1661795"/>
            <a:ext cx="2914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3. 种子不可预测性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420100" y="2076450"/>
            <a:ext cx="29146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Font typeface="Arial" panose="020B0604020202090204" pitchFamily="34" charset="0"/>
              <a:buChar char="•"/>
              <a:defRPr sz="120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算法通常公开，安全性</a:t>
            </a:r>
            <a:r>
              <a:rPr 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取决于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seed 和内部状态上。</a:t>
            </a:r>
          </a:p>
          <a:p>
            <a:pPr marL="342900" indent="-342900" algn="l">
              <a:buFont typeface="Arial" panose="020B0604020202090204" pitchFamily="34" charset="0"/>
              <a:buChar char="•"/>
              <a:defRPr sz="120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种子应来自足够熵源，不能只来自时间戳或进程号。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07365" y="4381500"/>
            <a:ext cx="11162030" cy="800100"/>
          </a:xfrm>
          <a:prstGeom prst="rect">
            <a:avLst/>
          </a:prstGeom>
          <a:solidFill>
            <a:srgbClr val="FAFAFA"/>
          </a:solidFill>
          <a:ln w="9525">
            <a:solidFill>
              <a:srgbClr val="EDEDE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3115" y="4648200"/>
            <a:ext cx="10714990" cy="298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工程属性：高效、确定性、长周期、可重新播种、状态隔离、健康检测。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3680" y="92456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sz="240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伪随机数生成器的安全要求</a:t>
            </a:r>
            <a:endParaRPr lang="en-US" altLang="zh-CN" sz="2400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  <a:sym typeface="+mn-ea"/>
            </a:endParaRP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2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伪随机数生成器与安全要求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895350" y="1301750"/>
            <a:ext cx="10382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15208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序号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33625" y="15208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平方运算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619750" y="15208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填充后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0" y="15208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随机数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19304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33625" y="19304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1326² = 1758276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19750" y="19304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01758276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19304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7582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47750" y="22637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333625" y="22637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7582² = 57486724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619750" y="22637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57486724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82000" y="226377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4867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47750" y="2597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3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333625" y="25971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4867² = 23687689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619750" y="25971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23687689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82000" y="2597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6876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47750" y="29305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4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333625" y="29305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6876² = 47279376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619750" y="29305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47279376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0" y="2930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2793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47750" y="32639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333625" y="32639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2793² = 7800849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619750" y="32639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07800849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382000" y="3263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8008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400300" y="4048125"/>
            <a:ext cx="3143250" cy="148399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571750" y="4172585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</a:t>
            </a:r>
            <a:endParaRPr sz="2000" b="0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571750" y="4543425"/>
            <a:ext cx="2800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把当前数平方，</a:t>
            </a:r>
            <a:r>
              <a:rPr lang="zh-CN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缺位补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0</a:t>
            </a:r>
            <a:r>
              <a:rPr lang="en-US" altLang="zh-CN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，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补足位数后取中间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n 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位作为下一轮随机数。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48375" y="4048125"/>
            <a:ext cx="3143250" cy="14700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219825" y="4172585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219825" y="4543425"/>
            <a:ext cx="2800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周期短，分布可能不均匀，容易进入循环或退化。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-2771775" y="876300"/>
            <a:ext cx="10439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8B3D3D"/>
                </a:solidFill>
              </a:defRPr>
            </a:pPr>
            <a:r>
              <a:rPr sz="1800" b="1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教材例子使用 </a:t>
            </a:r>
            <a:r>
              <a:rPr sz="1800" b="1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seed = 1326</a:t>
            </a:r>
            <a:r>
              <a:rPr lang="en-US" sz="1800" b="1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，</a:t>
            </a:r>
            <a:r>
              <a:rPr lang="en-US" altLang="zh-CN" sz="2400" i="1">
                <a:solidFill>
                  <a:srgbClr val="8B3D3D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n</a:t>
            </a:r>
            <a:r>
              <a:rPr lang="en-US" sz="1800" b="1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=4。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000625" y="776605"/>
            <a:ext cx="1833245" cy="307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3200" b="0" dirty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取中法</a:t>
            </a: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46550" y="898525"/>
            <a:ext cx="4596765" cy="323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线性同余发生器</a:t>
            </a:r>
            <a:r>
              <a:rPr lang="en-US" altLang="zh-CN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(LCG)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422400"/>
            <a:ext cx="9715500" cy="7620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16319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sz="2250" b="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X</a:t>
            </a:r>
            <a:r>
              <a:rPr lang="en-US" sz="2250" b="0" i="1" baseline="-25000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n+</a:t>
            </a:r>
            <a:r>
              <a:rPr lang="en-US" sz="2250" b="0" baseline="-25000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sz="2250" b="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=</a:t>
            </a:r>
            <a:r>
              <a:rPr sz="2250" b="0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sz="2250" b="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a </a:t>
            </a:r>
            <a:r>
              <a:rPr sz="2250" b="0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×</a:t>
            </a:r>
            <a:r>
              <a:rPr sz="2250" b="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</a:t>
            </a:r>
            <a:r>
              <a:rPr lang="en-US" sz="2250" b="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X</a:t>
            </a:r>
            <a:r>
              <a:rPr lang="en-US" sz="2250" b="0" i="1" baseline="-25000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n</a:t>
            </a:r>
            <a:r>
              <a:rPr sz="2250" b="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+ c</a:t>
            </a:r>
            <a:r>
              <a:rPr sz="2250" b="0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mod </a:t>
            </a:r>
            <a:r>
              <a:rPr sz="2250" b="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m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2714625"/>
            <a:ext cx="2959100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2867025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</a:rPr>
              <a:t>参数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>
                <a:spLocks noGrp="1"/>
              </p:cNvSpPr>
              <p:nvPr/>
            </p:nvSpPr>
            <p:spPr>
              <a:xfrm>
                <a:off x="1047750" y="3209925"/>
                <a:ext cx="2788285" cy="1219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b="0" i="1">
                    <a:solidFill>
                      <a:srgbClr val="303030"/>
                    </a:solidFill>
                    <a:latin typeface="Times New Roman Italic" panose="02020503050405090304" charset="0"/>
                    <a:cs typeface="Times New Roman Italic" panose="02020503050405090304" charset="0"/>
                  </a:rPr>
                  <a:t>m</a:t>
                </a:r>
                <a:r>
                  <a:rPr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：模数</a:t>
                </a:r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，</a:t>
                </a:r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&gt;</m:t>
                    </m:r>
                  </m:oMath>
                </a14:m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0</a:t>
                </a:r>
                <a:endParaRPr sz="2000" b="0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</a:endParaRPr>
              </a:p>
              <a:p>
                <a:pPr algn="l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b="0" i="1">
                    <a:solidFill>
                      <a:srgbClr val="303030"/>
                    </a:solidFill>
                    <a:latin typeface="Times New Roman Italic" panose="02020503050405090304" charset="0"/>
                    <a:cs typeface="Times New Roman Italic" panose="02020503050405090304" charset="0"/>
                  </a:rPr>
                  <a:t>X</a:t>
                </a:r>
                <a:r>
                  <a:rPr lang="en-US" sz="2000" b="0" baseline="-2500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0</a:t>
                </a:r>
                <a:r>
                  <a:rPr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：种子</a:t>
                </a:r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，0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≤</m:t>
                    </m:r>
                  </m:oMath>
                </a14:m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X</a:t>
                </a:r>
                <a:r>
                  <a:rPr lang="en-US" sz="2000" baseline="-25000"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0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</m:oMath>
                </a14:m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en-US" sz="2000" i="1"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algn="l">
                  <a:defRPr sz="1350" b="0">
                    <a:solidFill>
                      <a:srgbClr val="303030"/>
                    </a:solidFill>
                  </a:defRPr>
                </a:pPr>
                <a:r>
                  <a:rPr sz="2000" b="0" i="1">
                    <a:solidFill>
                      <a:srgbClr val="303030"/>
                    </a:solidFill>
                    <a:latin typeface="Times New Roman Italic" panose="02020503050405090304" charset="0"/>
                    <a:cs typeface="Times New Roman Italic" panose="02020503050405090304" charset="0"/>
                  </a:rPr>
                  <a:t>a</a:t>
                </a:r>
                <a:r>
                  <a:rPr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：</a:t>
                </a:r>
                <a:r>
                  <a:rPr sz="2000" b="0">
                    <a:solidFill>
                      <a:srgbClr val="303030"/>
                    </a:solidFill>
                    <a:latin typeface="+mn-ea"/>
                    <a:cs typeface="Times New Roman Regular" panose="02020503050405090304" charset="0"/>
                  </a:rPr>
                  <a:t>乘数</a:t>
                </a:r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，0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</m:oMath>
                </a14:m>
                <a:r>
                  <a:rPr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a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</m:oMath>
                </a14:m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sz="2000" b="0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</a:endParaRPr>
              </a:p>
              <a:p>
                <a:pPr algn="l">
                  <a:defRPr sz="1350" b="0">
                    <a:solidFill>
                      <a:srgbClr val="303030"/>
                    </a:solidFill>
                  </a:defRPr>
                </a:pPr>
                <a:r>
                  <a:rPr sz="2000" b="0" i="1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c</a:t>
                </a:r>
                <a:r>
                  <a:rPr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：增量</a:t>
                </a:r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，0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≤</m:t>
                    </m:r>
                  </m:oMath>
                </a14:m>
                <a:r>
                  <a:rPr lang="en-US" sz="2000" b="0" i="1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</m:oMath>
                </a14:m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en-US" sz="2000" b="0" i="1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0" y="3209925"/>
                <a:ext cx="2788285" cy="1219200"/>
              </a:xfrm>
              <a:prstGeom prst="rect">
                <a:avLst/>
              </a:prstGeom>
              <a:blipFill rotWithShape="1">
                <a:blip r:embed="rId3"/>
                <a:stretch>
                  <a:fillRect b="-375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>
            <a:spLocks noGrp="1"/>
          </p:cNvSpPr>
          <p:nvPr/>
        </p:nvSpPr>
        <p:spPr>
          <a:xfrm>
            <a:off x="4279900" y="2714625"/>
            <a:ext cx="3143250" cy="354901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57700" y="2872105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</a:rPr>
              <a:t>优点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51350" y="3209925"/>
            <a:ext cx="2800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速度快、实现简单、周期可设计，适合仿真、抽样等非密码场景。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79715" y="2714625"/>
            <a:ext cx="3435985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963535" y="2849880"/>
            <a:ext cx="356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</a:rPr>
              <a:t>核心缺陷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39735" y="3209925"/>
            <a:ext cx="327596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若攻击者获得连续输出，可求解参数或状态，随后预测后继序列。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如攻击者已经获得</a:t>
            </a:r>
            <a:r>
              <a:rPr lang="en-US" altLang="zh-CN" sz="2000" b="0">
                <a:solidFill>
                  <a:srgbClr val="303030"/>
                </a:solidFill>
              </a:rPr>
              <a:t> 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后，可求解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72225" y="47599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=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×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+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372225" y="51028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72225" y="54457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46550" y="898525"/>
            <a:ext cx="4596765" cy="323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线性同余发生器</a:t>
            </a:r>
            <a:r>
              <a:rPr lang="en-US" altLang="zh-CN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(LCG)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422400"/>
            <a:ext cx="9715500" cy="7620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16319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n+</a:t>
            </a:r>
            <a:r>
              <a:rPr lang="en-US" b="0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=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</a:t>
            </a:r>
            <a:r>
              <a:rPr b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×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+ c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b="0" i="1">
              <a:solidFill>
                <a:srgbClr val="C90012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algn="ctr">
              <a:defRPr sz="2250" b="1">
                <a:solidFill>
                  <a:srgbClr val="C90012"/>
                </a:solidFill>
              </a:defRPr>
            </a:pPr>
            <a:endParaRPr sz="2250" b="1">
              <a:solidFill>
                <a:srgbClr val="C9001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40250" y="2663825"/>
            <a:ext cx="3435985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24070" y="2799080"/>
            <a:ext cx="356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核心缺陷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32570" y="2795270"/>
            <a:ext cx="3435985" cy="198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案例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已知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：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=1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=2</a:t>
            </a: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=3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2677795"/>
            <a:ext cx="2959100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2830195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参数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>
                <a:spLocks noGrp="1"/>
              </p:cNvSpPr>
              <p:nvPr/>
            </p:nvSpPr>
            <p:spPr>
              <a:xfrm>
                <a:off x="1047750" y="3173095"/>
                <a:ext cx="2788285" cy="1219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b="0" i="1">
                    <a:solidFill>
                      <a:srgbClr val="303030"/>
                    </a:solidFill>
                    <a:latin typeface="Times New Roman Italic" panose="02020503050405090304" charset="0"/>
                    <a:cs typeface="Times New Roman Italic" panose="02020503050405090304" charset="0"/>
                  </a:rPr>
                  <a:t>m</a:t>
                </a:r>
                <a:r>
                  <a:rPr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：</a:t>
                </a:r>
                <a:r>
                  <a:rPr sz="2000" b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 Regular" panose="02020503050405090304" charset="0"/>
                  </a:rPr>
                  <a:t>模数</a:t>
                </a:r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，</a:t>
                </a:r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&gt;</m:t>
                    </m:r>
                  </m:oMath>
                </a14:m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0</a:t>
                </a:r>
                <a:endParaRPr sz="2000" b="0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</a:endParaRPr>
              </a:p>
              <a:p>
                <a:pPr algn="l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b="0" i="1">
                    <a:solidFill>
                      <a:srgbClr val="303030"/>
                    </a:solidFill>
                    <a:latin typeface="Times New Roman Italic" panose="02020503050405090304" charset="0"/>
                    <a:cs typeface="Times New Roman Italic" panose="02020503050405090304" charset="0"/>
                  </a:rPr>
                  <a:t>X</a:t>
                </a:r>
                <a:r>
                  <a:rPr lang="en-US" sz="2000" b="0" baseline="-2500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0</a:t>
                </a:r>
                <a:r>
                  <a:rPr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：</a:t>
                </a:r>
                <a:r>
                  <a:rPr sz="2000" b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 Regular" panose="02020503050405090304" charset="0"/>
                  </a:rPr>
                  <a:t>种子</a:t>
                </a:r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，0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≤</m:t>
                    </m:r>
                  </m:oMath>
                </a14:m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X</a:t>
                </a:r>
                <a:r>
                  <a:rPr lang="en-US" sz="2000" baseline="-25000"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0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</m:oMath>
                </a14:m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en-US" sz="2000" i="1"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algn="l">
                  <a:defRPr sz="1350" b="0">
                    <a:solidFill>
                      <a:srgbClr val="303030"/>
                    </a:solidFill>
                  </a:defRPr>
                </a:pPr>
                <a:r>
                  <a:rPr sz="2000" b="0" i="1">
                    <a:solidFill>
                      <a:srgbClr val="303030"/>
                    </a:solidFill>
                    <a:latin typeface="Times New Roman Italic" panose="02020503050405090304" charset="0"/>
                    <a:cs typeface="Times New Roman Italic" panose="02020503050405090304" charset="0"/>
                  </a:rPr>
                  <a:t>a</a:t>
                </a:r>
                <a:r>
                  <a:rPr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：</a:t>
                </a:r>
                <a:r>
                  <a:rPr sz="2000" b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 Regular" panose="02020503050405090304" charset="0"/>
                  </a:rPr>
                  <a:t>乘数，</a:t>
                </a:r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0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</m:oMath>
                </a14:m>
                <a:r>
                  <a:rPr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a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</m:oMath>
                </a14:m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sz="2000" b="0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</a:endParaRPr>
              </a:p>
              <a:p>
                <a:pPr algn="l">
                  <a:defRPr sz="1350" b="0">
                    <a:solidFill>
                      <a:srgbClr val="303030"/>
                    </a:solidFill>
                  </a:defRPr>
                </a:pPr>
                <a:r>
                  <a:rPr sz="2000" b="0" i="1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c</a:t>
                </a:r>
                <a:r>
                  <a:rPr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：</a:t>
                </a:r>
                <a:r>
                  <a:rPr sz="2000" b="0">
                    <a:solidFill>
                      <a:srgbClr val="30303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 Regular" panose="02020503050405090304" charset="0"/>
                  </a:rPr>
                  <a:t>增量</a:t>
                </a:r>
                <a:r>
                  <a:rPr lang="en-US" sz="2000" b="0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，0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≤</m:t>
                    </m:r>
                  </m:oMath>
                </a14:m>
                <a:r>
                  <a:rPr lang="en-US" sz="2000" b="0" i="1">
                    <a:solidFill>
                      <a:srgbClr val="303030"/>
                    </a:solidFill>
                    <a:latin typeface="Times New Roman Regular" panose="02020503050405090304" charset="0"/>
                    <a:cs typeface="Times New Roman Regular" panose="02020503050405090304" charset="0"/>
                  </a:rPr>
                  <a:t>c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303030"/>
                        </a:solidFill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&lt;</m:t>
                    </m:r>
                  </m:oMath>
                </a14:m>
                <a:r>
                  <a:rPr lang="en-US" sz="2000" i="1"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en-US" sz="2000" b="0" i="1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0" y="3173095"/>
                <a:ext cx="2788285" cy="1219200"/>
              </a:xfrm>
              <a:prstGeom prst="rect">
                <a:avLst/>
              </a:prstGeom>
              <a:blipFill rotWithShape="1">
                <a:blip r:embed="rId3"/>
                <a:stretch>
                  <a:fillRect b="-375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>
            <a:spLocks noGrp="1"/>
          </p:cNvSpPr>
          <p:nvPr/>
        </p:nvSpPr>
        <p:spPr>
          <a:xfrm>
            <a:off x="4737735" y="3209925"/>
            <a:ext cx="327596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若攻击者获得连续输出，可求解参数或状态，随后预测后继序列。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如攻击者已经获得</a:t>
            </a:r>
            <a:r>
              <a:rPr lang="en-US" altLang="zh-CN" sz="2000" b="0">
                <a:solidFill>
                  <a:srgbClr val="303030"/>
                </a:solidFill>
              </a:rPr>
              <a:t> 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后，可求解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070225" y="47599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×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+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070225" y="51028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070225" y="54457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46550" y="898525"/>
            <a:ext cx="4596765" cy="323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线性同余发生器</a:t>
            </a:r>
            <a:r>
              <a:rPr lang="en-US" altLang="zh-CN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(LCG)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422400"/>
            <a:ext cx="9715500" cy="7620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1621155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n+</a:t>
            </a:r>
            <a:r>
              <a:rPr lang="en-US" b="0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=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</a:t>
            </a:r>
            <a:r>
              <a:rPr b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×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+ c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rgbClr val="C9001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0250" y="2663825"/>
            <a:ext cx="3435985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4070" y="2799080"/>
            <a:ext cx="356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</a:rPr>
              <a:t>核心缺陷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40170" y="2799080"/>
            <a:ext cx="3773805" cy="198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求解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=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1=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2 = (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 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3 = ( 2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+c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27735" y="3209925"/>
            <a:ext cx="327596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若攻击者获得连续输出，可求解参数或状态，随后预测后继序列。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如攻击者已经获得</a:t>
            </a:r>
            <a:r>
              <a:rPr lang="en-US" altLang="zh-CN" sz="2000" b="0">
                <a:solidFill>
                  <a:srgbClr val="303030"/>
                </a:solidFill>
              </a:rPr>
              <a:t> 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后，可求解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-739775" y="47599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×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+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-739775" y="51028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-739775" y="54457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87570" y="2795270"/>
            <a:ext cx="2159000" cy="2691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案例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 dirty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=0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 dirty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=1</a:t>
            </a:r>
            <a:endParaRPr lang="zh-CN" altLang="en-US" sz="2000" dirty="0">
              <a:solidFill>
                <a:srgbClr val="303030"/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 dirty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=2</a:t>
            </a: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 dirty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=3</a:t>
            </a:r>
            <a:endParaRPr lang="zh-CN" altLang="en-US" sz="2000" dirty="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求解</a:t>
            </a:r>
            <a:r>
              <a:rPr lang="en-US" sz="2000" i="1" dirty="0" err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 dirty="0" err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 dirty="0" err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endParaRPr lang="zh-CN" altLang="en-US" sz="2000" dirty="0">
              <a:solidFill>
                <a:srgbClr val="30303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46550" y="898525"/>
            <a:ext cx="4596765" cy="323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线性同余发生器</a:t>
            </a:r>
            <a:r>
              <a:rPr lang="en-US" altLang="zh-CN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(LCG)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422400"/>
            <a:ext cx="9715500" cy="7620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16319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n+</a:t>
            </a:r>
            <a:r>
              <a:rPr lang="en-US" b="0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=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</a:t>
            </a:r>
            <a:r>
              <a:rPr b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×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+ c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b="0" i="1">
              <a:solidFill>
                <a:srgbClr val="C90012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algn="ctr">
              <a:defRPr sz="2250" b="1">
                <a:solidFill>
                  <a:srgbClr val="C90012"/>
                </a:solidFill>
              </a:defRPr>
            </a:pPr>
            <a:endParaRPr sz="2250" b="1">
              <a:solidFill>
                <a:srgbClr val="C9001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0250" y="2663825"/>
            <a:ext cx="3435985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4070" y="2799080"/>
            <a:ext cx="356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</a:rPr>
              <a:t>核心缺陷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40170" y="2799080"/>
            <a:ext cx="3773805" cy="198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求解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=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1=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2 = (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 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3 = ( 2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+c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-739775" y="47599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×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+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-739775" y="51028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-739775" y="54457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649460" y="3447415"/>
                <a:ext cx="4917440" cy="198183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indent="457200" algn="l" fontAlgn="auto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c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DejaVu Math TeX Gyre" panose="02000503000000000000" charset="0"/>
                        <a:sym typeface="+mn-ea"/>
                      </a:rPr>
                      <m:t>≡</m:t>
                    </m:r>
                  </m:oMath>
                </a14:m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1 mod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en-US" sz="200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indent="457200" algn="l" fontAlgn="auto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DejaVu Math TeX Gyre" panose="02000503000000000000" charset="0"/>
                        <a:sym typeface="+mn-ea"/>
                      </a:rPr>
                      <m:t>≡</m:t>
                    </m:r>
                  </m:oMath>
                </a14:m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1 mod 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zh-CN" altLang="en-US" sz="2000" i="1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460" y="3447415"/>
                <a:ext cx="4917440" cy="1981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右箭头 6"/>
          <p:cNvSpPr/>
          <p:nvPr/>
        </p:nvSpPr>
        <p:spPr>
          <a:xfrm>
            <a:off x="9666605" y="3868420"/>
            <a:ext cx="296545" cy="1606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27735" y="3209925"/>
            <a:ext cx="327596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若攻击者获得连续输出，可求解参数或状态，随后预测后继序列。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如攻击者已经获得</a:t>
            </a:r>
            <a:r>
              <a:rPr lang="en-US" altLang="zh-CN" sz="2000" b="0">
                <a:solidFill>
                  <a:srgbClr val="303030"/>
                </a:solidFill>
              </a:rPr>
              <a:t> 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后，可求解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87570" y="2795270"/>
            <a:ext cx="2159000" cy="2691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案例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=1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=2</a:t>
            </a: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=3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46550" y="898525"/>
            <a:ext cx="4596765" cy="323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线性同余发生器</a:t>
            </a:r>
            <a:r>
              <a:rPr lang="en-US" altLang="zh-CN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(LCG)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422400"/>
            <a:ext cx="9715500" cy="7620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16319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n+</a:t>
            </a:r>
            <a:r>
              <a:rPr lang="en-US" b="0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=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</a:t>
            </a:r>
            <a:r>
              <a:rPr b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×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+ c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b="0" i="1">
              <a:solidFill>
                <a:srgbClr val="C90012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algn="ctr">
              <a:defRPr sz="2250" b="1">
                <a:solidFill>
                  <a:srgbClr val="C90012"/>
                </a:solidFill>
              </a:defRPr>
            </a:pPr>
            <a:endParaRPr sz="2250" b="1">
              <a:solidFill>
                <a:srgbClr val="C9001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0250" y="2663825"/>
            <a:ext cx="3435985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4070" y="2799080"/>
            <a:ext cx="356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</a:rPr>
              <a:t>核心缺陷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40170" y="2799080"/>
            <a:ext cx="3773805" cy="198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求解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=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1=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2 = (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 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3 = ( 2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+c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-739775" y="47599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×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+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-739775" y="51028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-739775" y="54457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649460" y="3447415"/>
                <a:ext cx="4917440" cy="198183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indent="457200" algn="l" fontAlgn="auto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c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DejaVu Math TeX Gyre" panose="02000503000000000000" charset="0"/>
                        <a:sym typeface="+mn-ea"/>
                      </a:rPr>
                      <m:t>≡</m:t>
                    </m:r>
                  </m:oMath>
                </a14:m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1 mod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en-US" sz="200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indent="457200" algn="l" fontAlgn="auto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DejaVu Math TeX Gyre" panose="02000503000000000000" charset="0"/>
                        <a:sym typeface="+mn-ea"/>
                      </a:rPr>
                      <m:t>≡</m:t>
                    </m:r>
                  </m:oMath>
                </a14:m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1 mod 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zh-CN" altLang="en-US" sz="2000" i="1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460" y="3447415"/>
                <a:ext cx="4917440" cy="1981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右箭头 6"/>
          <p:cNvSpPr/>
          <p:nvPr/>
        </p:nvSpPr>
        <p:spPr>
          <a:xfrm>
            <a:off x="9666605" y="3868420"/>
            <a:ext cx="296545" cy="1606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373235" y="4777105"/>
            <a:ext cx="370141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&gt;3</a:t>
            </a:r>
          </a:p>
        </p:txBody>
      </p:sp>
      <p:sp>
        <p:nvSpPr>
          <p:cNvPr id="14" name="下箭头 13"/>
          <p:cNvSpPr/>
          <p:nvPr/>
        </p:nvSpPr>
        <p:spPr>
          <a:xfrm>
            <a:off x="10697210" y="4239260"/>
            <a:ext cx="177800" cy="39814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27735" y="3209925"/>
            <a:ext cx="327596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若攻击者获得连续输出，可求解参数或状态，随后预测后继序列。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如攻击者已经获得</a:t>
            </a:r>
            <a:r>
              <a:rPr lang="en-US" altLang="zh-CN" sz="2000" b="0">
                <a:solidFill>
                  <a:srgbClr val="303030"/>
                </a:solidFill>
              </a:rPr>
              <a:t> 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后，可求解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87570" y="2795270"/>
            <a:ext cx="2159000" cy="2691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案例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=1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=2</a:t>
            </a: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=3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46550" y="898525"/>
            <a:ext cx="4596765" cy="323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线性同余发生器</a:t>
            </a:r>
            <a:r>
              <a:rPr lang="en-US" altLang="zh-CN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(LCG)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422400"/>
            <a:ext cx="9715500" cy="7620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1647825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n+</a:t>
            </a:r>
            <a:r>
              <a:rPr lang="en-US" b="0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=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</a:t>
            </a:r>
            <a:r>
              <a:rPr b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×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+ c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b="0" i="1">
              <a:solidFill>
                <a:srgbClr val="C90012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algn="ctr">
              <a:defRPr sz="2250" b="1">
                <a:solidFill>
                  <a:srgbClr val="C90012"/>
                </a:solidFill>
              </a:defRPr>
            </a:pPr>
            <a:endParaRPr sz="2250" b="1">
              <a:solidFill>
                <a:srgbClr val="C9001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0250" y="2663825"/>
            <a:ext cx="3435985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4070" y="2799080"/>
            <a:ext cx="356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</a:rPr>
              <a:t>核心缺陷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40170" y="2799080"/>
            <a:ext cx="3773805" cy="198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求解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=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1=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2 = (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 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3 = ( 2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+c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-739775" y="47599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×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+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-739775" y="51028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-739775" y="54457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649460" y="3447415"/>
                <a:ext cx="4917440" cy="198183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indent="457200" algn="l" fontAlgn="auto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c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DejaVu Math TeX Gyre" panose="02000503000000000000" charset="0"/>
                        <a:sym typeface="+mn-ea"/>
                      </a:rPr>
                      <m:t>≡</m:t>
                    </m:r>
                  </m:oMath>
                </a14:m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1 mod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en-US" sz="200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indent="457200" algn="l" fontAlgn="auto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DejaVu Math TeX Gyre" panose="02000503000000000000" charset="0"/>
                        <a:sym typeface="+mn-ea"/>
                      </a:rPr>
                      <m:t>≡</m:t>
                    </m:r>
                  </m:oMath>
                </a14:m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1 mod 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zh-CN" altLang="en-US" sz="2000" i="1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460" y="3447415"/>
                <a:ext cx="4917440" cy="1981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右箭头 6"/>
          <p:cNvSpPr/>
          <p:nvPr/>
        </p:nvSpPr>
        <p:spPr>
          <a:xfrm>
            <a:off x="9666605" y="3868420"/>
            <a:ext cx="296545" cy="1606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373235" y="4777105"/>
            <a:ext cx="370141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&gt;3</a:t>
            </a:r>
          </a:p>
        </p:txBody>
      </p:sp>
      <p:sp>
        <p:nvSpPr>
          <p:cNvPr id="14" name="下箭头 13"/>
          <p:cNvSpPr/>
          <p:nvPr/>
        </p:nvSpPr>
        <p:spPr>
          <a:xfrm>
            <a:off x="10697210" y="4239260"/>
            <a:ext cx="177800" cy="39814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297035" y="5568315"/>
            <a:ext cx="370141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3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DejaVu Math TeX Gyre" panose="02000503000000000000" charset="0"/>
              <a:cs typeface="DejaVu Math TeX Gyre" panose="02000503000000000000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465435" y="5120005"/>
            <a:ext cx="1220470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or</a:t>
            </a:r>
          </a:p>
        </p:txBody>
      </p:sp>
      <p:sp>
        <p:nvSpPr>
          <p:cNvPr id="21" name="下箭头 20"/>
          <p:cNvSpPr/>
          <p:nvPr/>
        </p:nvSpPr>
        <p:spPr>
          <a:xfrm>
            <a:off x="10697210" y="5119370"/>
            <a:ext cx="177800" cy="39814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27735" y="3209925"/>
            <a:ext cx="327596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若攻击者获得连续输出，可求解参数或状态，随后预测后继序列。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如攻击者已经获得</a:t>
            </a:r>
            <a:r>
              <a:rPr lang="en-US" altLang="zh-CN" sz="2000" b="0">
                <a:solidFill>
                  <a:srgbClr val="303030"/>
                </a:solidFill>
              </a:rPr>
              <a:t> 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后，可求解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87570" y="2795270"/>
            <a:ext cx="2159000" cy="2691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案例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=1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=2</a:t>
            </a: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=3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46550" y="898525"/>
            <a:ext cx="4596765" cy="323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线性同余发生器</a:t>
            </a:r>
            <a:r>
              <a:rPr lang="en-US" altLang="zh-CN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(LCG)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422400"/>
            <a:ext cx="9715500" cy="7620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16319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n+</a:t>
            </a:r>
            <a:r>
              <a:rPr lang="en-US" b="0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=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</a:t>
            </a:r>
            <a:r>
              <a:rPr b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×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+ c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b="0" i="1">
              <a:solidFill>
                <a:srgbClr val="C90012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algn="ctr">
              <a:defRPr sz="2250" b="1">
                <a:solidFill>
                  <a:srgbClr val="C90012"/>
                </a:solidFill>
              </a:defRPr>
            </a:pPr>
            <a:endParaRPr sz="2250" b="1">
              <a:solidFill>
                <a:srgbClr val="C9001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10565" y="2663825"/>
            <a:ext cx="3435985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4070" y="2799080"/>
            <a:ext cx="356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核心缺陷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40170" y="2799080"/>
            <a:ext cx="3773805" cy="198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求解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=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1=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2 = (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 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 b="1" baseline="-25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3 = ( 2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+c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-739775" y="47599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×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+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-739775" y="51028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-739775" y="54457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649460" y="3447415"/>
                <a:ext cx="4917440" cy="198183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indent="457200" algn="l" fontAlgn="auto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c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DejaVu Math TeX Gyre" panose="02000503000000000000" charset="0"/>
                        <a:sym typeface="+mn-ea"/>
                      </a:rPr>
                      <m:t>≡</m:t>
                    </m:r>
                  </m:oMath>
                </a14:m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1 mod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en-US" sz="200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indent="457200" algn="l" fontAlgn="auto">
                  <a:defRPr sz="1350" b="0">
                    <a:solidFill>
                      <a:srgbClr val="303030"/>
                    </a:solidFill>
                  </a:defRPr>
                </a:pP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DejaVu Math TeX Gyre" panose="02000503000000000000" charset="0"/>
                        <a:sym typeface="+mn-ea"/>
                      </a:rPr>
                      <m:t>≡</m:t>
                    </m:r>
                  </m:oMath>
                </a14:m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1 mod </a:t>
                </a:r>
                <a:r>
                  <a:rPr lang="en-US" sz="2000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 Italic" panose="02020503050405090304" charset="0"/>
                    <a:cs typeface="Times New Roman Italic" panose="02020503050405090304" charset="0"/>
                    <a:sym typeface="+mn-ea"/>
                  </a:rPr>
                  <a:t>m</a:t>
                </a:r>
                <a:endParaRPr lang="zh-CN" altLang="en-US" sz="2000" i="1">
                  <a:solidFill>
                    <a:srgbClr val="303030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460" y="3447415"/>
                <a:ext cx="4917440" cy="1981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右箭头 6"/>
          <p:cNvSpPr/>
          <p:nvPr/>
        </p:nvSpPr>
        <p:spPr>
          <a:xfrm>
            <a:off x="9666605" y="3868420"/>
            <a:ext cx="296545" cy="1606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373235" y="4777105"/>
            <a:ext cx="370141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&gt;3</a:t>
            </a:r>
          </a:p>
        </p:txBody>
      </p:sp>
      <p:sp>
        <p:nvSpPr>
          <p:cNvPr id="14" name="下箭头 13"/>
          <p:cNvSpPr/>
          <p:nvPr/>
        </p:nvSpPr>
        <p:spPr>
          <a:xfrm>
            <a:off x="10697210" y="4239260"/>
            <a:ext cx="177800" cy="39814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297035" y="5568315"/>
            <a:ext cx="370141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4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DejaVu Math TeX Gyre" panose="02000503000000000000" charset="0"/>
              <a:cs typeface="DejaVu Math TeX Gyre" panose="02000503000000000000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465435" y="5120005"/>
            <a:ext cx="1220470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or</a:t>
            </a:r>
          </a:p>
        </p:txBody>
      </p:sp>
      <p:sp>
        <p:nvSpPr>
          <p:cNvPr id="21" name="下箭头 20"/>
          <p:cNvSpPr/>
          <p:nvPr/>
        </p:nvSpPr>
        <p:spPr>
          <a:xfrm>
            <a:off x="10697210" y="5119370"/>
            <a:ext cx="177800" cy="39814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>
            <a:off x="9334500" y="4897755"/>
            <a:ext cx="457200" cy="16065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909685" y="4523105"/>
            <a:ext cx="1220470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or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098030" y="4777105"/>
            <a:ext cx="370141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5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DejaVu Math TeX Gyre" panose="02000503000000000000" charset="0"/>
              <a:cs typeface="DejaVu Math TeX Gyre" panose="02000503000000000000" charset="0"/>
              <a:sym typeface="+mn-ea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7735" y="3209925"/>
            <a:ext cx="327596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若攻击者获得连续输出，可求解参数或状态，随后预测后继序列。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如攻击者已经获得</a:t>
            </a:r>
            <a:r>
              <a:rPr lang="en-US" altLang="zh-CN" sz="2000" b="0">
                <a:solidFill>
                  <a:srgbClr val="303030"/>
                </a:solidFill>
              </a:rPr>
              <a:t> 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后，可求解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687570" y="2795270"/>
            <a:ext cx="2159000" cy="2691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案例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=1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=2</a:t>
            </a: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=3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46550" y="898525"/>
            <a:ext cx="4596765" cy="323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线性同余发生器</a:t>
            </a:r>
            <a:r>
              <a:rPr lang="en-US" altLang="zh-CN" sz="32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(LCG)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422400"/>
            <a:ext cx="9715500" cy="7620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16319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n+</a:t>
            </a:r>
            <a:r>
              <a:rPr lang="en-US" b="0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=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 </a:t>
            </a:r>
            <a:r>
              <a:rPr b="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×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n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 + c</a:t>
            </a:r>
            <a:r>
              <a:rPr b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mod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b="0" i="1">
              <a:solidFill>
                <a:srgbClr val="C90012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algn="ctr">
              <a:defRPr sz="2250" b="1">
                <a:solidFill>
                  <a:srgbClr val="C90012"/>
                </a:solidFill>
              </a:defRPr>
            </a:pPr>
            <a:endParaRPr sz="2250" b="1">
              <a:solidFill>
                <a:srgbClr val="C9001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0250" y="2663825"/>
            <a:ext cx="3435985" cy="35490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4070" y="2799080"/>
            <a:ext cx="3562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核心缺陷</a:t>
            </a: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-739775" y="47599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×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+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-739775" y="51028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-739775" y="5445760"/>
            <a:ext cx="645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90012"/>
                </a:solidFill>
              </a:defRPr>
            </a:pP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=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×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b="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</a:t>
            </a:r>
            <a:r>
              <a:rPr sz="2250" b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endParaRPr sz="2250" b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33920" y="3590290"/>
            <a:ext cx="370141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4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DejaVu Math TeX Gyre" panose="02000503000000000000" charset="0"/>
              <a:cs typeface="DejaVu Math TeX Gyre" panose="02000503000000000000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33920" y="4064000"/>
            <a:ext cx="370141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=1, </a:t>
            </a:r>
            <a:r>
              <a:rPr 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5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DejaVu Math TeX Gyre" panose="02000503000000000000" charset="0"/>
              <a:cs typeface="DejaVu Math TeX Gyre" panose="02000503000000000000" charset="0"/>
              <a:sym typeface="+mn-ea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7137400" y="3924300"/>
            <a:ext cx="296545" cy="2101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857750" y="5328920"/>
            <a:ext cx="6096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DejaVu Math TeX Gyre" panose="02000503000000000000" charset="0"/>
                <a:cs typeface="DejaVu Math TeX Gyre" panose="02000503000000000000" charset="0"/>
                <a:sym typeface="+mn-ea"/>
              </a:rPr>
              <a:t>只知道</a:t>
            </a:r>
            <a:r>
              <a:rPr lang="zh-CN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0,1,2,3</a:t>
            </a: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DejaVu Math TeX Gyre" panose="02000503000000000000" charset="0"/>
                <a:cs typeface="DejaVu Math TeX Gyre" panose="02000503000000000000" charset="0"/>
                <a:sym typeface="+mn-ea"/>
              </a:rPr>
              <a:t> 这四个连续输出时，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不能唯一确定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 </a:t>
            </a:r>
            <a:r>
              <a:rPr lang="en-US" sz="2800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DejaVu Math TeX Gyre" panose="02000503000000000000" charset="0"/>
                <a:cs typeface="DejaVu Math TeX Gyre" panose="02000503000000000000" charset="0"/>
                <a:sym typeface="+mn-ea"/>
              </a:rPr>
              <a:t>，</a:t>
            </a: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DejaVu Math TeX Gyre" panose="02000503000000000000" charset="0"/>
                <a:cs typeface="DejaVu Math TeX Gyre" panose="02000503000000000000" charset="0"/>
                <a:sym typeface="+mn-ea"/>
              </a:rPr>
              <a:t>但是可以预测后续的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DejaVu Math TeX Gyre" panose="02000503000000000000" charset="0"/>
                <a:cs typeface="DejaVu Math TeX Gyre" panose="02000503000000000000" charset="0"/>
                <a:sym typeface="+mn-ea"/>
              </a:rPr>
              <a:t>部分随机数</a:t>
            </a: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DejaVu Math TeX Gyre" panose="02000503000000000000" charset="0"/>
                <a:cs typeface="DejaVu Math TeX Gyre" panose="02000503000000000000" charset="0"/>
                <a:sym typeface="+mn-ea"/>
              </a:rPr>
              <a:t>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7735" y="3209925"/>
            <a:ext cx="327596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若攻击者获得连续输出，可求解参数或状态，随后预测后继序列。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如攻击者已经获得</a:t>
            </a:r>
            <a:r>
              <a:rPr lang="en-US" altLang="zh-CN" sz="2000" b="0">
                <a:solidFill>
                  <a:srgbClr val="303030"/>
                </a:solidFill>
              </a:rPr>
              <a:t> 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后，可求解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、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687570" y="2795270"/>
            <a:ext cx="2159000" cy="2691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案例</a:t>
            </a: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=0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=1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=2</a:t>
            </a:r>
          </a:p>
          <a:p>
            <a:pPr indent="817245" algn="l" fontAlgn="auto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X</a:t>
            </a:r>
            <a:r>
              <a:rPr lang="en-US" sz="2000" baseline="-25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=3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  <a:p>
            <a:pPr indent="457200" algn="l" fontAlgn="auto">
              <a:defRPr sz="1350" b="0">
                <a:solidFill>
                  <a:srgbClr val="303030"/>
                </a:solidFill>
              </a:defRPr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求解</a:t>
            </a:r>
            <a:r>
              <a:rPr lang="en-US"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a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c</a:t>
            </a:r>
            <a:endParaRPr lang="zh-CN" altLang="en-US" sz="2000">
              <a:solidFill>
                <a:srgbClr val="30303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531110" y="916940"/>
            <a:ext cx="7752080" cy="530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altLang="en-US" sz="28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引入外部熵源可以削弱</a:t>
            </a:r>
            <a:r>
              <a:rPr lang="en-US" altLang="zh-CN" sz="28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LCG </a:t>
            </a:r>
            <a:r>
              <a:rPr lang="zh-CN" altLang="en-US" sz="28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输出相关性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88925" y="2524760"/>
            <a:ext cx="4572000" cy="225361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60375" y="2677160"/>
            <a:ext cx="4229100" cy="4686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周期性混入新熵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60375" y="3020060"/>
            <a:ext cx="4229100" cy="1136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例如每生成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100</a:t>
            </a:r>
            <a:r>
              <a:rPr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个随机数，将用户键盘输入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input</a:t>
            </a:r>
            <a:r>
              <a:rPr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作为外部熵源，与当前状态混合，形成新的种子。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286375" y="1577975"/>
            <a:ext cx="6574155" cy="85788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445125" y="1797050"/>
            <a:ext cx="62407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90012"/>
                </a:solidFill>
              </a:defRPr>
            </a:pPr>
            <a:r>
              <a:rPr sz="3200" b="0" i="1">
                <a:solidFill>
                  <a:srgbClr val="C90012"/>
                </a:solidFill>
                <a:latin typeface="Times New Roman Italic" panose="02020503050405090304" charset="0"/>
                <a:ea typeface="微软雅黑" charset="0"/>
                <a:cs typeface="Times New Roman Italic" panose="02020503050405090304" charset="0"/>
              </a:rPr>
              <a:t>X̃</a:t>
            </a:r>
            <a:r>
              <a:rPr lang="en-US" sz="3200" b="0" baseline="-2500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0</a:t>
            </a:r>
            <a:r>
              <a:rPr sz="3200" b="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 = </a:t>
            </a:r>
            <a:r>
              <a:rPr sz="3200" b="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32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a</a:t>
            </a:r>
            <a:r>
              <a:rPr sz="3200" b="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 </a:t>
            </a:r>
            <a:r>
              <a:rPr sz="32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× X</a:t>
            </a:r>
            <a:r>
              <a:rPr lang="en-US" sz="3200" b="0" i="1" baseline="-25000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0</a:t>
            </a:r>
            <a:r>
              <a:rPr sz="3200" b="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+ </a:t>
            </a:r>
            <a:r>
              <a:rPr sz="32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c + </a:t>
            </a:r>
            <a:r>
              <a:rPr sz="3200" b="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input) mod</a:t>
            </a:r>
            <a:r>
              <a:rPr sz="32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m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905500" y="26352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用新种子 </a:t>
            </a:r>
            <a:r>
              <a:rPr sz="20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X̃</a:t>
            </a:r>
            <a:r>
              <a:rPr lang="en-US" sz="2000" baseline="-25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0</a:t>
            </a:r>
            <a:r>
              <a:rPr sz="2000" baseline="-25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产生后续序列：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905500" y="3063875"/>
            <a:ext cx="4953000" cy="24968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096000" y="3302000"/>
            <a:ext cx="4572000" cy="2207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X</a:t>
            </a:r>
            <a:r>
              <a:rPr lang="en-US" sz="24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101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 =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a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×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X̃</a:t>
            </a:r>
            <a:r>
              <a:rPr sz="24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0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+ 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c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mod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m</a:t>
            </a:r>
            <a:endParaRPr sz="2400" i="1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</a:endParaRPr>
          </a:p>
          <a:p>
            <a:endParaRPr sz="2400" i="1"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</a:endParaRPr>
          </a:p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lang="en-US"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  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X</a:t>
            </a:r>
            <a:r>
              <a:rPr lang="en-US" sz="24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102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=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a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×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X</a:t>
            </a:r>
            <a:r>
              <a:rPr lang="en-US" sz="24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101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+ 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c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mod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m</a:t>
            </a:r>
          </a:p>
          <a:p>
            <a:endParaRPr sz="2400" i="1"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</a:endParaRPr>
          </a:p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</a:t>
            </a:r>
            <a:r>
              <a:rPr lang="en-US"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 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X</a:t>
            </a:r>
            <a:r>
              <a:rPr lang="en-US" sz="24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103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=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a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×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X</a:t>
            </a:r>
            <a:r>
              <a:rPr lang="en-US" sz="24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102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+ 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c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400" i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mod</a:t>
            </a:r>
            <a:r>
              <a:rPr sz="24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m</a:t>
            </a:r>
            <a:endParaRPr sz="2400" i="1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</a:endParaRPr>
          </a:p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⋮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571625" y="5730875"/>
            <a:ext cx="9048750" cy="584200"/>
          </a:xfrm>
          <a:prstGeom prst="rect">
            <a:avLst/>
          </a:prstGeom>
          <a:solidFill>
            <a:srgbClr val="FFF7F7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762125" y="5845175"/>
            <a:ext cx="866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8B3D3D"/>
                </a:solidFill>
              </a:defRPr>
            </a:pPr>
            <a:r>
              <a:rPr sz="2400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此时 </a:t>
            </a:r>
            <a:r>
              <a:rPr sz="24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X</a:t>
            </a:r>
            <a:r>
              <a:rPr sz="2400" b="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101</a:t>
            </a:r>
            <a:r>
              <a:rPr sz="24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</a:t>
            </a:r>
            <a:r>
              <a:rPr sz="24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≠</a:t>
            </a:r>
            <a:r>
              <a:rPr sz="24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</a:t>
            </a:r>
            <a:r>
              <a:rPr sz="24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4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a </a:t>
            </a:r>
            <a:r>
              <a:rPr sz="2400" b="0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×</a:t>
            </a:r>
            <a:r>
              <a:rPr sz="24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X</a:t>
            </a:r>
            <a:r>
              <a:rPr sz="2400" b="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100</a:t>
            </a:r>
            <a:r>
              <a:rPr sz="24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+ c</a:t>
            </a:r>
            <a:r>
              <a:rPr sz="24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4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</a:t>
            </a:r>
            <a:r>
              <a:rPr sz="24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mod</a:t>
            </a:r>
            <a:r>
              <a:rPr sz="24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m</a:t>
            </a:r>
            <a:r>
              <a:rPr sz="2400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，原有连续输出相关性被打断。</a:t>
            </a:r>
          </a:p>
        </p:txBody>
      </p: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经典算法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>
            <a:spLocks noGrp="1"/>
          </p:cNvSpPr>
          <p:nvPr/>
        </p:nvSpPr>
        <p:spPr>
          <a:xfrm>
            <a:off x="253365" y="2021840"/>
            <a:ext cx="11432540" cy="28638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24815" y="2174240"/>
            <a:ext cx="10641330" cy="1250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endParaRPr sz="1800" b="0">
              <a:solidFill>
                <a:srgbClr val="C90012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4815" y="2005965"/>
            <a:ext cx="1114869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03030"/>
                </a:solidFill>
              </a:defRPr>
            </a:pP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1995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Ian Goldberg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David Wagner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Netscape Navigator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SSL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实现时发现，浏览器用于生成会话密钥的伪随机数生成器种子并不真正随机。它主要由当前时间、进程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ID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PID）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和父进程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ID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PPID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）等信息组成，而这些值在当时的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Unix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系统中很容易被估计或枚举。攻击者只要结合握手消息中的挑战值，就可以缩小种子搜索范围，恢复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SSL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会话密钥，从而破解本应加密保护的通信内容。这个事件的根本原因不是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SSL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协议本身失效，而是随机数生成器的种子熵太低：开发者把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会变化的系统参数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误当成了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攻击者不可预测的随机源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，导致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PRNG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输出可以被重建和预测。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" y="5172710"/>
            <a:ext cx="10481945" cy="142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根因</a:t>
            </a:r>
            <a:r>
              <a:rPr lang="en-US"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: </a:t>
            </a:r>
            <a:r>
              <a:rPr lang="en-US" altLang="zh-CN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  <a:sym typeface="+mn-ea"/>
              </a:rPr>
              <a:t>Netscape</a:t>
            </a:r>
            <a:r>
              <a:rPr lang="en-US" altLang="zh-CN" sz="24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 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使用时间、</a:t>
            </a:r>
            <a:r>
              <a:rPr lang="en-US" altLang="zh-CN" sz="24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PID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PPID 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等低熵且可预测的信息作为</a:t>
            </a:r>
            <a:r>
              <a:rPr lang="en-US" altLang="zh-CN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PRNG 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种子，没有从操作系统或物理事件中收集足够不可预测的熵。</a:t>
            </a:r>
            <a:endParaRPr lang="zh-CN" altLang="en-US" sz="24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  <a:p>
            <a:pPr algn="l">
              <a:defRPr sz="1350" b="1">
                <a:solidFill>
                  <a:srgbClr val="C90012"/>
                </a:solidFill>
              </a:defRPr>
            </a:pPr>
            <a:endParaRPr lang="zh-CN" altLang="en-US" sz="2400" b="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4815" y="5601335"/>
            <a:ext cx="10481945" cy="507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4815" y="4850765"/>
            <a:ext cx="1064133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sz="18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8509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400" b="1">
                <a:solidFill>
                  <a:srgbClr val="C90012"/>
                </a:solidFill>
                <a:latin typeface="微软雅黑" charset="0"/>
                <a:ea typeface="微软雅黑" charset="0"/>
                <a:sym typeface="+mn-ea"/>
              </a:rPr>
              <a:t>案例</a:t>
            </a:r>
            <a:r>
              <a:rPr sz="2400" b="1">
                <a:solidFill>
                  <a:srgbClr val="C90012"/>
                </a:solidFill>
                <a:sym typeface="+mn-ea"/>
              </a:rPr>
              <a:t> </a:t>
            </a:r>
            <a:r>
              <a:rPr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1</a:t>
            </a:r>
            <a:r>
              <a:rPr sz="2400" b="1">
                <a:solidFill>
                  <a:srgbClr val="C90012"/>
                </a:solidFill>
                <a:sym typeface="+mn-ea"/>
              </a:rPr>
              <a:t>：</a:t>
            </a:r>
            <a:r>
              <a:rPr sz="240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Netscape SSL</a:t>
            </a:r>
            <a:r>
              <a:rPr sz="2400">
                <a:sym typeface="+mn-ea"/>
              </a:rPr>
              <a:t> </a:t>
            </a:r>
            <a:endParaRPr lang="zh-CN" altLang="en-US" sz="2400" b="1">
              <a:solidFill>
                <a:srgbClr val="C90012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2920" y="6149340"/>
            <a:ext cx="93503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资料来源</a:t>
            </a:r>
            <a:r>
              <a:rPr lang="en-US" altLang="zh-CN"/>
              <a:t>：https://docs.oracle.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com</a:t>
            </a:r>
            <a:r>
              <a:rPr lang="en-US" altLang="zh-CN"/>
              <a:t>/cd/E19957-01/816-5567-10/5_secure.htm</a:t>
            </a:r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0900" y="1767205"/>
            <a:ext cx="9888220" cy="663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02920" y="1316990"/>
            <a:ext cx="1118362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rPr lang="en-US" altLang="zh-CN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Netscape</a:t>
            </a:r>
            <a:r>
              <a:rPr lang="zh-CN" altLang="en-US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是第一家尝试利用新兴的万维网的公司。该公司的第一个产品是</a:t>
            </a:r>
            <a:r>
              <a:rPr lang="en-US" altLang="zh-CN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1994</a:t>
            </a:r>
            <a:r>
              <a:rPr lang="zh-CN" altLang="en-US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年</a:t>
            </a:r>
            <a:r>
              <a:rPr lang="en-US" altLang="zh-CN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月</a:t>
            </a:r>
            <a:r>
              <a:rPr lang="en-US" altLang="zh-CN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13</a:t>
            </a:r>
            <a:r>
              <a:rPr lang="zh-CN" altLang="en-US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日发布的名为</a:t>
            </a:r>
            <a:r>
              <a:rPr lang="en-US" altLang="zh-CN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Mosaic Netscape 0.9</a:t>
            </a:r>
            <a:r>
              <a:rPr lang="zh-CN" altLang="en-US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Web</a:t>
            </a:r>
            <a:r>
              <a:rPr lang="zh-CN" altLang="en-US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浏览器。</a:t>
            </a:r>
          </a:p>
        </p:txBody>
      </p:sp>
      <p:sp>
        <p:nvSpPr>
          <p:cNvPr id="4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现实案例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>
            <a:spLocks noGrp="1"/>
          </p:cNvSpPr>
          <p:nvPr/>
        </p:nvSpPr>
        <p:spPr>
          <a:xfrm>
            <a:off x="253365" y="1513840"/>
            <a:ext cx="11432540" cy="28638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24815" y="1666240"/>
            <a:ext cx="10641330" cy="1250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endParaRPr sz="1800" b="0">
              <a:solidFill>
                <a:srgbClr val="C90012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4815" y="1497965"/>
            <a:ext cx="1114869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03030"/>
                </a:solidFill>
              </a:defRPr>
            </a:pP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2006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Debian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在维护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OpenSSL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软件包时，为了消除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Valgrind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Purify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等内存检查工具对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未初始化内存参与随机数生成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的警告，修改了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OpenSSL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的随机数生成代码。这个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Debian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专属补丁错误地删掉了用于把额外数据混入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PRNG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状态的关键代码，导致随机数生成器实际可用的熵大幅减少。直到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2008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Luciano Bello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Debian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系统上的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OpenSSL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会生成可预测的随机数，该漏洞被编号为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CVE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2008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0166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。受影响系统在这段时间内生成的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SSH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密钥、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TLS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证书、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OpenVPN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密钥等都可能落入很小的候选空间，攻击者可以枚举弱密钥，因此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Debian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建议重新生成受影响的密码学密钥材料。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" y="4664710"/>
            <a:ext cx="10481945" cy="142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根因</a:t>
            </a:r>
            <a:r>
              <a:rPr lang="en-US"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: 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维护补丁为了</a:t>
            </a:r>
            <a:r>
              <a:rPr lang="en-US" altLang="zh-CN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让内存检查工具不报警</a:t>
            </a:r>
            <a:r>
              <a:rPr lang="en-US" altLang="zh-CN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，错误移除了</a:t>
            </a:r>
            <a:r>
              <a:rPr lang="en-US" altLang="zh-CN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  <a:sym typeface="+mn-ea"/>
              </a:rPr>
              <a:t>OpenSSL PRNG</a:t>
            </a:r>
            <a:r>
              <a:rPr lang="en-US" altLang="zh-CN"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播种过程中的熵混合代码，使密钥生成依赖极小、可枚举的状态空间。</a:t>
            </a:r>
            <a:endParaRPr lang="zh-CN" altLang="en-US" sz="24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  <a:p>
            <a:pPr algn="l">
              <a:defRPr sz="1350" b="1">
                <a:solidFill>
                  <a:srgbClr val="C90012"/>
                </a:solidFill>
              </a:defRPr>
            </a:pPr>
            <a:endParaRPr lang="zh-CN" altLang="en-US" sz="2400" b="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4815" y="5093335"/>
            <a:ext cx="10481945" cy="507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4815" y="4342765"/>
            <a:ext cx="1064133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sz="18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8509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400" b="1">
                <a:solidFill>
                  <a:srgbClr val="C90012"/>
                </a:solidFill>
                <a:latin typeface="微软雅黑" charset="0"/>
                <a:ea typeface="微软雅黑" charset="0"/>
                <a:sym typeface="+mn-ea"/>
              </a:rPr>
              <a:t>案例</a:t>
            </a:r>
            <a:r>
              <a:rPr sz="2400" b="1">
                <a:solidFill>
                  <a:srgbClr val="C90012"/>
                </a:solidFill>
                <a:sym typeface="+mn-ea"/>
              </a:rPr>
              <a:t> </a:t>
            </a:r>
            <a:r>
              <a:rPr lang="en-US"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</a:t>
            </a:r>
            <a:r>
              <a:rPr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：</a:t>
            </a:r>
            <a:r>
              <a:rPr sz="240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Debian OpenSSL</a:t>
            </a:r>
            <a:r>
              <a:rPr sz="2400">
                <a:sym typeface="+mn-ea"/>
              </a:rPr>
              <a:t> </a:t>
            </a:r>
            <a:endParaRPr lang="zh-CN" altLang="en-US" sz="2400" b="1">
              <a:solidFill>
                <a:srgbClr val="C90012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2920" y="6149340"/>
            <a:ext cx="93503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资料来源</a:t>
            </a:r>
            <a:r>
              <a:rPr lang="en-US" altLang="zh-CN"/>
              <a:t>：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Debian </a:t>
            </a:r>
            <a:r>
              <a:rPr lang="zh-CN" altLang="en-US"/>
              <a:t>安全公告</a:t>
            </a:r>
            <a:r>
              <a:rPr lang="en-US" altLang="zh-CN"/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DSA</a:t>
            </a:r>
            <a:r>
              <a:rPr lang="en-US" altLang="zh-CN"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-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1571</a:t>
            </a:r>
            <a:r>
              <a:rPr lang="en-US" altLang="zh-CN"/>
              <a:t>-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 </a:t>
            </a:r>
            <a:r>
              <a:rPr lang="zh-CN" altLang="en-US"/>
              <a:t>和</a:t>
            </a:r>
            <a:r>
              <a:rPr lang="en-US" altLang="zh-CN"/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Debian bug </a:t>
            </a:r>
            <a:r>
              <a:rPr lang="en-US" altLang="zh-CN"/>
              <a:t>#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363516</a:t>
            </a:r>
            <a:endParaRPr lang="en-US" altLang="zh-CN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0900" y="1259205"/>
            <a:ext cx="9888220" cy="663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4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现实案例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>
            <a:spLocks noGrp="1"/>
          </p:cNvSpPr>
          <p:nvPr/>
        </p:nvSpPr>
        <p:spPr>
          <a:xfrm>
            <a:off x="253365" y="1513840"/>
            <a:ext cx="11432540" cy="28638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24815" y="1666240"/>
            <a:ext cx="10641330" cy="1250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endParaRPr sz="1800" b="0">
              <a:solidFill>
                <a:srgbClr val="C90012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4815" y="1497965"/>
            <a:ext cx="1114869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03030"/>
                </a:solidFill>
              </a:defRPr>
            </a:pP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2013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8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月，多个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Android Bitcoin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钱包应用紧急更新并要求用户迁移资金，原因是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Android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平台上的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 err="1" smtClean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SecureRandom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</a:t>
            </a:r>
            <a:r>
              <a:rPr lang="en-US" altLang="zh-CN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OpenSSL PRNG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在某些场景下没有被正确初始化，应用通过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Java Cryptography Architecture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生成密钥、签名随机数或其他随机值时，可能拿不到足够强的随机数。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Bitcoin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交易签名使用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ECDSA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，每次签名都必须使用唯一且不可预测的随机数</a:t>
            </a:r>
            <a:r>
              <a:rPr lang="en-US" altLang="zh-CN" sz="2000" i="1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i="1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k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；如果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i="1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k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重复或可预测，攻击者就可以从区块链上公开的签名数据反推出钱包私钥，从而转走资金。事件发生后，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Bitcoin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org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Android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钱包用户升级应用、生成新地址，并把旧地址中的资产迁移到用修复后随机数生成器产生的新密钥上。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" y="4664710"/>
            <a:ext cx="10481945" cy="142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 dirty="0" err="1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根因</a:t>
            </a:r>
            <a:r>
              <a:rPr lang="en-US" sz="2400" b="0" dirty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: </a:t>
            </a:r>
            <a:r>
              <a:rPr lang="en-US" altLang="zh-CN" sz="2400" b="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Android </a:t>
            </a:r>
            <a:r>
              <a:rPr lang="zh-CN" altLang="en-US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的底层</a:t>
            </a:r>
            <a:r>
              <a:rPr lang="en-US" altLang="zh-CN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b="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PRNG </a:t>
            </a:r>
            <a:r>
              <a:rPr lang="zh-CN" altLang="en-US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初始化不当，导致</a:t>
            </a:r>
            <a:r>
              <a:rPr lang="en-US" altLang="zh-CN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b="0" dirty="0" err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SecureRandom</a:t>
            </a:r>
            <a:r>
              <a:rPr lang="en-US" altLang="zh-CN" sz="2400" b="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在部分应用场景下输出的随机数不具备足够密码学强度；而</a:t>
            </a:r>
            <a:r>
              <a:rPr lang="en-US" altLang="zh-CN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b="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ECDSA </a:t>
            </a:r>
            <a:r>
              <a:rPr lang="zh-CN" altLang="en-US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对签名随机数</a:t>
            </a:r>
            <a:r>
              <a:rPr lang="en-US" altLang="zh-CN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b="0" i="1" dirty="0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k</a:t>
            </a:r>
            <a:r>
              <a:rPr lang="en-US" altLang="zh-CN" sz="2400" b="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2400" dirty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极其敏感，随机数一旦重复或可预测，私钥就可能被恢复。</a:t>
            </a:r>
            <a:endParaRPr lang="zh-CN" altLang="en-US" sz="2400" dirty="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  <a:p>
            <a:pPr algn="l">
              <a:defRPr sz="1350" b="1">
                <a:solidFill>
                  <a:srgbClr val="C90012"/>
                </a:solidFill>
              </a:defRPr>
            </a:pPr>
            <a:endParaRPr lang="zh-CN" altLang="en-US" sz="2400" b="0" dirty="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4815" y="5093335"/>
            <a:ext cx="10481945" cy="507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8509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400" b="1">
                <a:solidFill>
                  <a:srgbClr val="C90012"/>
                </a:solidFill>
                <a:latin typeface="微软雅黑" charset="0"/>
                <a:ea typeface="微软雅黑" charset="0"/>
                <a:sym typeface="+mn-ea"/>
              </a:rPr>
              <a:t>案例</a:t>
            </a:r>
            <a:r>
              <a:rPr sz="2400" b="1">
                <a:solidFill>
                  <a:srgbClr val="C90012"/>
                </a:solidFill>
                <a:sym typeface="+mn-ea"/>
              </a:rPr>
              <a:t> </a:t>
            </a:r>
            <a:r>
              <a:rPr lang="en-US"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3</a:t>
            </a:r>
            <a:r>
              <a:rPr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：</a:t>
            </a:r>
            <a:r>
              <a:rPr sz="240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Android SecureRandom </a:t>
            </a:r>
            <a:endParaRPr lang="zh-CN" altLang="en-US" sz="2400" b="1">
              <a:solidFill>
                <a:srgbClr val="C90012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0900" y="1259205"/>
            <a:ext cx="9888220" cy="663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2920" y="6149340"/>
            <a:ext cx="10641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资料来源</a:t>
            </a:r>
            <a:r>
              <a:rPr lang="en-US" altLang="zh-CN"/>
              <a:t>：https://android-developers.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googleblog</a:t>
            </a:r>
            <a:r>
              <a:rPr lang="en-US" altLang="zh-CN"/>
              <a:t>.com/2013/08/some-securerandom-thoughts.html</a:t>
            </a:r>
          </a:p>
        </p:txBody>
      </p:sp>
      <p:sp>
        <p:nvSpPr>
          <p:cNvPr id="6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现实案例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>
            <a:spLocks noGrp="1"/>
          </p:cNvSpPr>
          <p:nvPr/>
        </p:nvSpPr>
        <p:spPr>
          <a:xfrm>
            <a:off x="253365" y="1513840"/>
            <a:ext cx="6654800" cy="488569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24815" y="1666240"/>
            <a:ext cx="6194425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endParaRPr sz="1800" b="0">
              <a:solidFill>
                <a:srgbClr val="C90012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4815" y="1497965"/>
            <a:ext cx="6489700" cy="7632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03030"/>
                </a:solidFill>
              </a:defRPr>
            </a:pP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2010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年，黑客团队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fail0verflow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在第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27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届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Chaos Communication Congress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上公开分析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Sony PlayStation 3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的安全机制。他们发现，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PS3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固件签名使用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ECDSA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，但签名过程中本应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每次都随机且唯一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的随机数 </a:t>
            </a:r>
            <a:r>
              <a:rPr lang="en-US" altLang="zh-CN" sz="2000" i="1" dirty="0" smtClean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k 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并没有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正确随机生成，而是在多次签名中重复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一直保持为</a:t>
            </a:r>
            <a:r>
              <a:rPr lang="en-US" altLang="zh-CN" sz="2000" dirty="0" smtClean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4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ECDSA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签名会公开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</a:t>
            </a:r>
            <a:r>
              <a:rPr lang="en-US" altLang="zh-CN" sz="2000" i="1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r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en-US" altLang="zh-CN" sz="2000" i="1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s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，如果两个不同消息使用了相同的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i="1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k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，攻击者就可以通过两组签名方程消去未知量，反推出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这个随机数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，进而恢复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Sony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用来签署系统软件的私钥。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这样，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攻击者不需要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破解数字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签名</a:t>
            </a:r>
            <a:r>
              <a:rPr lang="zh-CN" altLang="en-US" sz="2000" dirty="0" smtClean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本身，也不需要暴力穷举私钥，只需要利用实现中重复随机数的错误，就能绕过</a:t>
            </a:r>
            <a:r>
              <a:rPr lang="en-US" altLang="zh-CN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PS3 </a:t>
            </a:r>
            <a:r>
              <a:rPr lang="zh-CN" altLang="en-US" sz="200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的签名信任链。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4815" y="5093335"/>
            <a:ext cx="10481945" cy="507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8509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400" b="1">
                <a:solidFill>
                  <a:srgbClr val="C90012"/>
                </a:solidFill>
                <a:latin typeface="微软雅黑" charset="0"/>
                <a:ea typeface="微软雅黑" charset="0"/>
                <a:sym typeface="+mn-ea"/>
              </a:rPr>
              <a:t>案例</a:t>
            </a:r>
            <a:r>
              <a:rPr sz="2400" b="1">
                <a:solidFill>
                  <a:srgbClr val="C90012"/>
                </a:solidFill>
                <a:sym typeface="+mn-ea"/>
              </a:rPr>
              <a:t> </a:t>
            </a:r>
            <a:r>
              <a:rPr lang="en-US"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4</a:t>
            </a:r>
            <a:r>
              <a:rPr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：</a:t>
            </a:r>
            <a:r>
              <a:rPr sz="240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Sony PS3 </a:t>
            </a:r>
            <a:endParaRPr lang="zh-CN" altLang="en-US" sz="2400" b="1">
              <a:solidFill>
                <a:srgbClr val="C90012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0900" y="1259205"/>
            <a:ext cx="9888220" cy="663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pic>
        <p:nvPicPr>
          <p:cNvPr id="4" name="图片 3" descr="f40fbb234b2770fa4542f063b6cc5681"/>
          <p:cNvPicPr>
            <a:picLocks noChangeAspect="1"/>
          </p:cNvPicPr>
          <p:nvPr/>
        </p:nvPicPr>
        <p:blipFill rotWithShape="1">
          <a:blip r:embed="rId3"/>
          <a:srcRect t="6453" b="4672"/>
          <a:stretch/>
        </p:blipFill>
        <p:spPr>
          <a:xfrm>
            <a:off x="7263130" y="2136449"/>
            <a:ext cx="4594225" cy="3537958"/>
          </a:xfrm>
          <a:prstGeom prst="rect">
            <a:avLst/>
          </a:prstGeom>
        </p:spPr>
      </p:pic>
      <p:sp>
        <p:nvSpPr>
          <p:cNvPr id="6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现实案例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>
            <a:spLocks noGrp="1"/>
          </p:cNvSpPr>
          <p:nvPr/>
        </p:nvSpPr>
        <p:spPr>
          <a:xfrm>
            <a:off x="5634990" y="2269490"/>
            <a:ext cx="5716905" cy="728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根因</a:t>
            </a:r>
            <a:r>
              <a:rPr lang="en-US" sz="24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: </a:t>
            </a:r>
            <a:r>
              <a:rPr lang="en-US" altLang="zh-CN"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Sony 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ECDSA 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实现没有为每次签名生成独立、不可预测的随机数，而是复用了相同或固定的签名随机数</a:t>
            </a:r>
            <a:r>
              <a:rPr lang="en-US" altLang="zh-CN" sz="24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b="0" i="1">
                <a:solidFill>
                  <a:srgbClr val="303030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k</a:t>
            </a:r>
            <a:r>
              <a:rPr lang="en-US" altLang="zh-CN" sz="24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；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 ECDSA 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中，</a:t>
            </a:r>
            <a:r>
              <a:rPr lang="en-US" altLang="zh-CN" sz="24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k</a:t>
            </a:r>
            <a:r>
              <a:rPr lang="en-US" altLang="zh-CN" sz="2400" i="1">
                <a:solidFill>
                  <a:srgbClr val="303030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24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sym typeface="+mn-ea"/>
              </a:rPr>
              <a:t>一旦重复，长期私钥就可以由公开签名数据恢复。</a:t>
            </a:r>
            <a:endParaRPr lang="zh-CN" altLang="en-US" sz="24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  <a:p>
            <a:pPr algn="l">
              <a:defRPr sz="1350" b="1">
                <a:solidFill>
                  <a:srgbClr val="C90012"/>
                </a:solidFill>
              </a:defRPr>
            </a:pPr>
            <a:endParaRPr lang="zh-CN" altLang="en-US" sz="2400" b="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4815" y="5093335"/>
            <a:ext cx="10481945" cy="507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8509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400" b="1">
                <a:solidFill>
                  <a:srgbClr val="C90012"/>
                </a:solidFill>
                <a:latin typeface="微软雅黑" charset="0"/>
                <a:ea typeface="微软雅黑" charset="0"/>
                <a:sym typeface="+mn-ea"/>
              </a:rPr>
              <a:t>案例</a:t>
            </a:r>
            <a:r>
              <a:rPr sz="2400" b="1">
                <a:solidFill>
                  <a:srgbClr val="C90012"/>
                </a:solidFill>
                <a:sym typeface="+mn-ea"/>
              </a:rPr>
              <a:t> </a:t>
            </a:r>
            <a:r>
              <a:rPr lang="en-US"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4</a:t>
            </a:r>
            <a:r>
              <a:rPr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：</a:t>
            </a:r>
            <a:r>
              <a:rPr sz="240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Sony PS3 </a:t>
            </a:r>
            <a:endParaRPr lang="zh-CN" altLang="en-US" sz="2400" b="1">
              <a:solidFill>
                <a:srgbClr val="C90012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2920" y="5990590"/>
            <a:ext cx="10641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资料来源</a:t>
            </a:r>
            <a:r>
              <a:rPr lang="en-US" altLang="zh-CN"/>
              <a:t>：https://android-developers.googleblog.com/2013/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08</a:t>
            </a:r>
            <a:r>
              <a:rPr lang="en-US" altLang="zh-CN"/>
              <a:t>/some-securerandom-thoughts.html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0900" y="1259205"/>
            <a:ext cx="9888220" cy="663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pic>
        <p:nvPicPr>
          <p:cNvPr id="4" name="图片 3" descr="f40fbb234b2770fa4542f063b6cc5681"/>
          <p:cNvPicPr>
            <a:picLocks noChangeAspect="1"/>
          </p:cNvPicPr>
          <p:nvPr/>
        </p:nvPicPr>
        <p:blipFill rotWithShape="1">
          <a:blip r:embed="rId3"/>
          <a:srcRect t="6894" b="4875"/>
          <a:stretch/>
        </p:blipFill>
        <p:spPr>
          <a:xfrm>
            <a:off x="502920" y="1794617"/>
            <a:ext cx="4594225" cy="3512322"/>
          </a:xfrm>
          <a:prstGeom prst="rect">
            <a:avLst/>
          </a:prstGeom>
        </p:spPr>
      </p:pic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现实案例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>
            <a:spLocks noGrp="1"/>
          </p:cNvSpPr>
          <p:nvPr/>
        </p:nvSpPr>
        <p:spPr>
          <a:xfrm>
            <a:off x="253365" y="1513840"/>
            <a:ext cx="11432540" cy="28638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24815" y="1666240"/>
            <a:ext cx="10641330" cy="1250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endParaRPr sz="1800" b="0">
              <a:solidFill>
                <a:srgbClr val="C90012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4815" y="1497965"/>
            <a:ext cx="1114869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03030"/>
                </a:solidFill>
              </a:defRPr>
            </a:pP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Dual_EC_DRBG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是一种基于椭圆曲线的确定性随机比特生成器，曾被纳入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NIST SP 800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90A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随机数生成标准。它的问题不在于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输出不像随机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，而在于其内部结构和标准参数长期受到密码学界质疑：如果椭圆曲线参数中的某些关系被特定设计者掌握，攻击者就可能通过观察一段输出推断生成器内部状态，进而预测后续随机数。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2013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年，受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Snowden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泄露文件引发的公共担忧影响，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NIST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重新开放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SP 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-90A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的公众评审，并建议在安全疑虑解决前不要使用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Dual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EC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DRBG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2014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NIST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决定从修订草案中移除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Dual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_EC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_DRBG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2015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年发布的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SP 800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90A Rev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正式删除该算法，只保留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Hash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DRBG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HMAC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DRBG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CTR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DRBG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等方案。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8450" y="4450080"/>
            <a:ext cx="11433175" cy="33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根因</a:t>
            </a:r>
            <a:r>
              <a:rPr lang="en-US" sz="20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</a:rPr>
              <a:t>: </a:t>
            </a:r>
            <a:r>
              <a:rPr lang="en-US" altLang="zh-CN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Dual</a:t>
            </a:r>
            <a:r>
              <a:rPr lang="en-US" altLang="zh-CN"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_</a:t>
            </a:r>
            <a:r>
              <a:rPr lang="en-US" altLang="zh-CN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EC</a:t>
            </a:r>
            <a:r>
              <a:rPr lang="en-US" altLang="zh-CN"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_</a:t>
            </a:r>
            <a:r>
              <a:rPr lang="en-US" altLang="zh-CN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DRBG </a:t>
            </a:r>
            <a:r>
              <a:rPr lang="zh-CN" altLang="en-US"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的安全性过度依赖不透明的椭圆曲线参数选择；如果参数存在隐藏关系，生成器输出可能泄露内部状态，使</a:t>
            </a:r>
            <a:r>
              <a:rPr lang="en-US" altLang="zh-CN"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“</a:t>
            </a:r>
            <a:r>
              <a:rPr lang="zh-CN" altLang="en-US"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随机数生成器</a:t>
            </a:r>
            <a:r>
              <a:rPr lang="en-US" altLang="zh-CN"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”</a:t>
            </a:r>
            <a:r>
              <a:rPr lang="zh-CN" altLang="en-US"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变成可预测的后门通道。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4815" y="4878705"/>
            <a:ext cx="10481945" cy="507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98450" y="5165090"/>
            <a:ext cx="11432540" cy="1242695"/>
          </a:xfrm>
          <a:prstGeom prst="rect">
            <a:avLst/>
          </a:prstGeom>
          <a:solidFill>
            <a:srgbClr val="FAFAFA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5" name="文本框 4"/>
          <p:cNvSpPr txBox="1"/>
          <p:nvPr/>
        </p:nvSpPr>
        <p:spPr>
          <a:xfrm>
            <a:off x="457200" y="8509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400" b="1">
                <a:solidFill>
                  <a:srgbClr val="C90012"/>
                </a:solidFill>
                <a:latin typeface="微软雅黑" charset="0"/>
                <a:ea typeface="微软雅黑" charset="0"/>
                <a:sym typeface="+mn-ea"/>
              </a:rPr>
              <a:t>案例</a:t>
            </a:r>
            <a:r>
              <a:rPr sz="2400" b="1">
                <a:solidFill>
                  <a:srgbClr val="C90012"/>
                </a:solidFill>
                <a:sym typeface="+mn-ea"/>
              </a:rPr>
              <a:t> </a:t>
            </a:r>
            <a:r>
              <a:rPr lang="en-US"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5</a:t>
            </a:r>
            <a:r>
              <a:rPr sz="24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：</a:t>
            </a:r>
            <a:r>
              <a:rPr sz="240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Dual_EC_DRBG</a:t>
            </a:r>
            <a:endParaRPr lang="zh-CN" altLang="en-US" sz="2400" b="1">
              <a:solidFill>
                <a:srgbClr val="C90012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365" y="5249545"/>
            <a:ext cx="11433175" cy="1260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Dual</a:t>
            </a:r>
            <a:r>
              <a:rPr lang="en-US" altLang="zh-CN" sz="2800"/>
              <a:t>_</a:t>
            </a:r>
            <a:r>
              <a:rPr lang="en-US" altLang="zh-CN" sz="24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EC</a:t>
            </a:r>
            <a:r>
              <a:rPr lang="en-US" altLang="zh-CN" sz="2800"/>
              <a:t>_</a:t>
            </a:r>
            <a:r>
              <a:rPr lang="en-US" altLang="zh-CN" sz="24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DRBG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lang="zh-CN" altLang="en-US" sz="2400"/>
              <a:t>事件说明，随机数标准不仅要算法正确，还要参数透明、可审计、能获得公开信任。一个随机数生成器即使通过标准化流程，如果其参数来源和安全假设无法让社区信服，也不应作为生产系统的默认选择。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0900" y="1259205"/>
            <a:ext cx="9888220" cy="663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03030"/>
                </a:solidFill>
              </a:defRPr>
            </a:pPr>
            <a:endParaRPr lang="zh-CN" altLang="en-US"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4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现实案例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80360" y="868680"/>
            <a:ext cx="128016" cy="5120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9600" y="1035731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0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105400" y="919589"/>
            <a:ext cx="6004316" cy="57975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杂凑函数的角色与定义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9600" y="2095212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105399" y="1985738"/>
            <a:ext cx="6952211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4420411" y="3178297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0"/>
          <a:lstStyle/>
          <a:p>
            <a:pPr algn="ctr"/>
            <a:endParaRPr sz="2400"/>
          </a:p>
        </p:txBody>
      </p:sp>
      <p:sp>
        <p:nvSpPr>
          <p:cNvPr id="7" name="TextBox 15"/>
          <p:cNvSpPr txBox="1"/>
          <p:nvPr/>
        </p:nvSpPr>
        <p:spPr>
          <a:xfrm>
            <a:off x="5106211" y="3062155"/>
            <a:ext cx="6004316" cy="57975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3600" dirty="0">
                <a:solidFill>
                  <a:srgbClr val="333333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MD5</a:t>
            </a:r>
            <a:r>
              <a:rPr lang="zh-CN" altLang="en-US" sz="3600" dirty="0">
                <a:solidFill>
                  <a:srgbClr val="333333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、</a:t>
            </a:r>
            <a:r>
              <a:rPr lang="en-US" altLang="zh-CN" sz="3600" dirty="0">
                <a:solidFill>
                  <a:srgbClr val="333333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SHA</a:t>
            </a:r>
            <a:r>
              <a:rPr lang="en-US" altLang="zh-CN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 </a:t>
            </a:r>
            <a:r>
              <a:rPr lang="en-US" altLang="zh-CN" sz="3600" dirty="0">
                <a:solidFill>
                  <a:srgbClr val="333333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SM3</a:t>
            </a:r>
            <a:r>
              <a:rPr lang="en-US" altLang="zh-CN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简介</a:t>
            </a:r>
            <a:endParaRPr lang="en-US" altLang="zh-CN" sz="3600" b="1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Rectangle 3"/>
          <p:cNvSpPr/>
          <p:nvPr/>
        </p:nvSpPr>
        <p:spPr>
          <a:xfrm>
            <a:off x="4420411" y="4322372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9" name="TextBox 4"/>
          <p:cNvSpPr txBox="1"/>
          <p:nvPr/>
        </p:nvSpPr>
        <p:spPr>
          <a:xfrm>
            <a:off x="5106211" y="4212898"/>
            <a:ext cx="5896740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3600" dirty="0">
                <a:solidFill>
                  <a:srgbClr val="333333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SM3</a:t>
            </a:r>
            <a:r>
              <a:rPr lang="en-US" altLang="zh-CN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752324" y="1508631"/>
            <a:ext cx="736600" cy="29184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zh-CN" altLang="en-US" sz="3600" b="0" i="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zh-CN" altLang="en-US" sz="2400" b="0" i="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       杂凑函数</a:t>
            </a:r>
          </a:p>
        </p:txBody>
      </p:sp>
      <p:sp>
        <p:nvSpPr>
          <p:cNvPr id="2" name="Rectangle 3"/>
          <p:cNvSpPr/>
          <p:nvPr/>
        </p:nvSpPr>
        <p:spPr>
          <a:xfrm>
            <a:off x="4423184" y="5385007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0" name="TextBox 4"/>
          <p:cNvSpPr txBox="1"/>
          <p:nvPr/>
        </p:nvSpPr>
        <p:spPr>
          <a:xfrm>
            <a:off x="5108984" y="5275533"/>
            <a:ext cx="5896740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杂凑函数的应用与安全边界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914399" y="1387475"/>
            <a:ext cx="1066944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03030"/>
                </a:solidFill>
              </a:defRPr>
            </a:pPr>
            <a:r>
              <a:rPr sz="2000" b="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二战后，科学论文、专利、技术报告快速增长。图书馆员和资料员面对的不是“</a:t>
            </a:r>
            <a:r>
              <a:rPr sz="2000" b="0" dirty="0" err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有没有资料</a:t>
            </a:r>
            <a:r>
              <a:rPr sz="2000" b="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”，</a:t>
            </a:r>
            <a:r>
              <a:rPr sz="2000" b="0" dirty="0" err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而是“如何在海量资料中快速找到相关内容</a:t>
            </a:r>
            <a:r>
              <a:rPr sz="2000" b="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”。</a:t>
            </a: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04900" y="2330450"/>
            <a:ext cx="2857500" cy="2842895"/>
          </a:xfrm>
          <a:prstGeom prst="rect">
            <a:avLst/>
          </a:prstGeom>
          <a:solidFill>
            <a:srgbClr val="FAFAFA"/>
          </a:solidFill>
          <a:ln w="9525">
            <a:solidFill>
              <a:srgbClr val="F0C9C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76350" y="2473325"/>
            <a:ext cx="251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传统人工索引</a:t>
            </a:r>
          </a:p>
        </p:txBody>
      </p:sp>
      <p:sp>
        <p:nvSpPr>
          <p:cNvPr id="3" name="矩形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276350" y="2825750"/>
            <a:ext cx="25146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Font typeface="Arial" panose="020B0604020202090204" pitchFamily="34" charset="0"/>
              <a:buChar char="•"/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阅读文献</a:t>
            </a:r>
          </a:p>
          <a:p>
            <a:pPr marL="342900" indent="-342900" algn="l">
              <a:buFont typeface="Arial" panose="020B0604020202090204" pitchFamily="34" charset="0"/>
              <a:buChar char="•"/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提取主题词</a:t>
            </a:r>
          </a:p>
          <a:p>
            <a:pPr marL="342900" indent="-342900" algn="l">
              <a:buFont typeface="Arial" panose="020B0604020202090204" pitchFamily="34" charset="0"/>
              <a:buChar char="•"/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编制目录卡片</a:t>
            </a:r>
          </a:p>
          <a:p>
            <a:pPr marL="342900" indent="-342900" algn="l">
              <a:buFont typeface="Arial" panose="020B0604020202090204" pitchFamily="34" charset="0"/>
              <a:buChar char="•"/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人工维护交叉索引</a:t>
            </a: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667250" y="2330450"/>
            <a:ext cx="2857500" cy="2842895"/>
          </a:xfrm>
          <a:prstGeom prst="rect">
            <a:avLst/>
          </a:prstGeom>
          <a:solidFill>
            <a:srgbClr val="FFF1F1"/>
          </a:solidFill>
          <a:ln w="9525">
            <a:solidFill>
              <a:srgbClr val="F0C9C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838700" y="2473325"/>
            <a:ext cx="251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机器辅助索引</a:t>
            </a: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838700" y="2825750"/>
            <a:ext cx="25146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Font typeface="Arial" panose="020B0604020202090204" pitchFamily="34" charset="0"/>
              <a:buChar char="•"/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把词、编号或主题转成机器可处理的代码</a:t>
            </a:r>
          </a:p>
          <a:p>
            <a:pPr marL="342900" indent="-342900" algn="l">
              <a:buFont typeface="Arial" panose="020B0604020202090204" pitchFamily="34" charset="0"/>
              <a:buChar char="•"/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用代码快速定位资料位置</a:t>
            </a:r>
          </a:p>
          <a:p>
            <a:pPr marL="342900" indent="-342900" algn="l">
              <a:buFont typeface="Arial" panose="020B0604020202090204" pitchFamily="34" charset="0"/>
              <a:buChar char="•"/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把重复劳动交给机器完成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01050" y="2825750"/>
            <a:ext cx="304292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8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杂凑思想服务于查找、归类、去重和组织知识</a:t>
            </a:r>
            <a:r>
              <a:rPr lang="en-US" sz="28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0720" y="8724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故事背景：知识增长让“查找”变成工程问题</a:t>
            </a:r>
            <a:endParaRPr lang="zh-CN" altLang="en-US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1</a:t>
            </a:r>
          </a:p>
        </p:txBody>
      </p:sp>
      <p:sp>
        <p:nvSpPr>
          <p:cNvPr id="6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杂凑函数的角色与定义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79120" y="810895"/>
            <a:ext cx="106375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b="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20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世纪 </a:t>
            </a:r>
            <a:r>
              <a:rPr b="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50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年代，研究者汉斯·彼得·卢恩（</a:t>
            </a:r>
            <a:r>
              <a:rPr b="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Hans Peter Luhn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 利用杂凑值来快速查找文档。</a:t>
            </a:r>
            <a:endParaRPr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1">
                <a:solidFill>
                  <a:srgbClr val="C90012"/>
                </a:solidFill>
              </a:defRPr>
            </a:pPr>
            <a:endParaRPr lang="zh-CN" altLang="en-US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1276350"/>
            <a:ext cx="10096500" cy="9144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33500" y="1438275"/>
            <a:ext cx="942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Luhn 关注的是“自动编码、自动索引、自动摘要”。他的系统会分析文本中的词频和关键词，把文档转换成更容易被机器检索的表示。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895600"/>
            <a:ext cx="2190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57275" y="293751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335661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论文、专利、报告</a:t>
            </a: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3219450" y="3128010"/>
            <a:ext cx="381000" cy="3048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19500" y="2895600"/>
            <a:ext cx="2190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762375" y="293751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810000" y="335661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标题词、主题词、频繁词</a:t>
            </a: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5924550" y="3128010"/>
            <a:ext cx="381000" cy="3048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324600" y="2895600"/>
            <a:ext cx="2190750" cy="1123950"/>
          </a:xfrm>
          <a:prstGeom prst="rect">
            <a:avLst/>
          </a:prstGeom>
          <a:solidFill>
            <a:srgbClr val="FFF1F1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467475" y="293751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 / 位置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15100" y="335661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把内容映射到可查找入口</a:t>
            </a: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8629650" y="3128010"/>
            <a:ext cx="381000" cy="3048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029700" y="2895600"/>
            <a:ext cx="2190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8B8B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72575" y="293751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快速检索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220200" y="335661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缩小搜索范围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666875" y="4857750"/>
            <a:ext cx="14376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注意区分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952750" y="47244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这里的“杂凑”主要强调快速定位，不等同于后来密码学杂凑函数的抗碰撞、抗原像等安全性质。</a:t>
            </a: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1</a:t>
            </a:r>
          </a:p>
        </p:txBody>
      </p:sp>
      <p:sp>
        <p:nvSpPr>
          <p:cNvPr id="10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杂凑函数的角色与定义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直接连接符 9"/>
          <p:cNvSpPr>
            <a:spLocks noGrp="1"/>
          </p:cNvSpPr>
          <p:nvPr/>
        </p:nvSpPr>
        <p:spPr>
          <a:xfrm>
            <a:off x="1314450" y="1390650"/>
            <a:ext cx="9620250" cy="0"/>
          </a:xfrm>
          <a:prstGeom prst="line">
            <a:avLst/>
          </a:prstGeom>
          <a:noFill/>
          <a:ln w="28575">
            <a:solidFill>
              <a:srgbClr val="E4BABA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990600" y="990600"/>
            <a:ext cx="723900" cy="77978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116903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1953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752600" y="1019810"/>
            <a:ext cx="3067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记录与搜索信息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752600" y="1466850"/>
            <a:ext cx="216662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Luhn</a:t>
            </a: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提出改进信息记录和检索的方法。</a:t>
            </a: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3848100" y="990600"/>
            <a:ext cx="723900" cy="77978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848100" y="116903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1957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10100" y="1019810"/>
            <a:ext cx="3067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机器编码与检索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610100" y="1466850"/>
            <a:ext cx="216662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IBM</a:t>
            </a: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论文系统描述自动编码、词表和检索流程。</a:t>
            </a: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6743700" y="990600"/>
            <a:ext cx="723900" cy="779780"/>
          </a:xfrm>
          <a:prstGeom prst="ellipse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743700" y="116903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1958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505700" y="1019810"/>
            <a:ext cx="335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KWIC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与自动摘要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505700" y="1466850"/>
            <a:ext cx="2368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20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关键词上下文索引和自动摘要展示机器处理文本的能力。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76300" y="2749550"/>
            <a:ext cx="3228975" cy="2679700"/>
          </a:xfrm>
          <a:prstGeom prst="rect">
            <a:avLst/>
          </a:prstGeom>
          <a:solidFill>
            <a:srgbClr val="FFFFFF"/>
          </a:solidFill>
          <a:ln w="9525">
            <a:solidFill>
              <a:srgbClr val="F0C9C9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032510" y="2851785"/>
            <a:ext cx="26574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普通</a:t>
            </a:r>
            <a:r>
              <a:rPr lang="zh-CN"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杂凑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90600" y="3244850"/>
            <a:ext cx="304419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目标：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快查找、快比较、节省存储</a:t>
            </a:r>
          </a:p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典型场景：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数据库索引、文件去重、缓存定位</a:t>
            </a:r>
            <a:endParaRPr sz="2000" b="1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核心风险：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碰撞会影响效率或正确性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362450" y="2749550"/>
            <a:ext cx="3228975" cy="2679700"/>
          </a:xfrm>
          <a:prstGeom prst="rect">
            <a:avLst/>
          </a:prstGeom>
          <a:solidFill>
            <a:srgbClr val="FFF1F1"/>
          </a:solidFill>
          <a:ln w="9525">
            <a:solidFill>
              <a:srgbClr val="F0C9C9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518660" y="2851785"/>
            <a:ext cx="26574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密码学杂凑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476750" y="3244850"/>
            <a:ext cx="304419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目标：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验证完整性并抵抗伪造</a:t>
            </a:r>
          </a:p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典型场景：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数字签名、口令存储、区块链、消息认证</a:t>
            </a:r>
          </a:p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核心要求：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抗原像、抗第二原像、抗碰撞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848600" y="2749550"/>
            <a:ext cx="3228975" cy="2679700"/>
          </a:xfrm>
          <a:prstGeom prst="rect">
            <a:avLst/>
          </a:prstGeom>
          <a:solidFill>
            <a:srgbClr val="FFFFFF"/>
          </a:solidFill>
          <a:ln w="9525">
            <a:solidFill>
              <a:srgbClr val="F0C9C9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004810" y="2851785"/>
            <a:ext cx="26574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共同思想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962900" y="3244850"/>
            <a:ext cx="304419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把任意长度输入压缩成固定长度摘要</a:t>
            </a:r>
          </a:p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同一输入得到同一摘要</a:t>
            </a:r>
          </a:p>
          <a:p>
            <a:pPr algn="l">
              <a:defRPr sz="11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摘要可作为快速比较的“指纹”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85800" y="5775325"/>
            <a:ext cx="10820400" cy="5842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76300" y="5850890"/>
            <a:ext cx="10439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8B3D3D"/>
                </a:solidFill>
              </a:defRPr>
            </a:pPr>
            <a:r>
              <a:rPr sz="2000" b="1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历史上先有“让机器找得快”的需求，后来才逐步发展出“让攻击者伪造不了”的安全要求。</a:t>
            </a:r>
          </a:p>
        </p:txBody>
      </p:sp>
      <p:sp>
        <p:nvSpPr>
          <p:cNvPr id="4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1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杂凑函数的角色与定义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>
            <a:spLocks noGrp="1"/>
          </p:cNvSpPr>
          <p:nvPr/>
        </p:nvSpPr>
        <p:spPr>
          <a:xfrm>
            <a:off x="1809750" y="1633855"/>
            <a:ext cx="2381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924050" y="182435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</a:rPr>
              <a:t>任意长度消息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M</a:t>
            </a:r>
          </a:p>
        </p:txBody>
      </p:sp>
      <p:sp>
        <p:nvSpPr>
          <p:cNvPr id="4" name="右箭头 3"/>
          <p:cNvSpPr>
            <a:spLocks noGrp="1"/>
          </p:cNvSpPr>
          <p:nvPr/>
        </p:nvSpPr>
        <p:spPr>
          <a:xfrm>
            <a:off x="4257675" y="1843405"/>
            <a:ext cx="438150" cy="2667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4762500" y="1633855"/>
            <a:ext cx="2381250" cy="68580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876800" y="182435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</a:rPr>
              <a:t>杂凑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</a:rPr>
              <a:t>算法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H</a:t>
            </a: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7210425" y="1843405"/>
            <a:ext cx="438150" cy="2667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7715250" y="1633855"/>
            <a:ext cx="2381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29550" y="182435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</a:rPr>
              <a:t>固定长度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</a:rPr>
              <a:t>杂凑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</a:rPr>
              <a:t>值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h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2778125"/>
            <a:ext cx="3238500" cy="207073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47750" y="2911475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核心作用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47750" y="3235325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把文件、交易、消息、公钥等数据压缩成固定长度摘要，用于比较、索引、完整性检测和安全构造。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76750" y="2778125"/>
            <a:ext cx="3238500" cy="20707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648200" y="2911475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关键直觉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648200" y="3235325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值不是加密后的密文，不能被“解密”。它更像不可逆的数字指纹。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77200" y="2778125"/>
            <a:ext cx="3238500" cy="207073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248650" y="2911475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课堂主线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48650" y="3235325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真正安全的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杂凑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函数，要让伪造原文、替换原文、制造碰撞都变得不可行。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48335" y="810895"/>
            <a:ext cx="108915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杂凑函数</a:t>
            </a:r>
            <a:r>
              <a:rPr lang="en-US" altLang="zh-CN" sz="24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（Hash Function）</a:t>
            </a:r>
            <a:r>
              <a:rPr lang="zh-CN" altLang="en-US" sz="24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又称为哈希函数、散列函数等，可以将输入消息映射为固定长度的杂凑值。</a:t>
            </a:r>
            <a:endParaRPr lang="en-US" altLang="zh-CN" sz="2400">
              <a:solidFill>
                <a:srgbClr val="231F20"/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  <a:sym typeface="+mn-ea"/>
            </a:endParaRP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1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杂凑函数的角色与定义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>
            <a:spLocks noGrp="1"/>
          </p:cNvSpPr>
          <p:nvPr/>
        </p:nvSpPr>
        <p:spPr>
          <a:xfrm>
            <a:off x="6718300" y="1113790"/>
            <a:ext cx="4981575" cy="370459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" name="文本框 2"/>
          <p:cNvSpPr txBox="1"/>
          <p:nvPr/>
        </p:nvSpPr>
        <p:spPr>
          <a:xfrm>
            <a:off x="6718300" y="1281430"/>
            <a:ext cx="5080000" cy="3476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charset="0"/>
              <a:buChar char=""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发送方将原始消息在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函数的作用下生成固定长度的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值，在不安全信道上传输原始消息，在安全信道上传输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值。</a:t>
            </a:r>
          </a:p>
          <a:p>
            <a:pPr marL="342900" indent="-342900">
              <a:buFont typeface="Wingdings" panose="05000000000000000000" charset="0"/>
              <a:buChar char=""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接收方在接收到原始消息和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值后，对原始消息进行相同的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函数运算，通过对比两个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值来完成消息完整性检测。</a:t>
            </a:r>
          </a:p>
          <a:p>
            <a:pPr marL="342900" indent="-342900">
              <a:buFont typeface="Wingdings" panose="05000000000000000000" charset="0"/>
              <a:buChar char=""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若两个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</a:rPr>
              <a:t>值相等，表明原始消息未被篡改；若不相等，则表明原始消息在不安全信道上传输时被篡改过。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3235" y="3992245"/>
            <a:ext cx="6096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杂凑函数在消息完整性检测、数据索引和查找等领域广泛应用。例如，在消息完整性检测方面，杂凑函数可以用于验证消息是否在传输过程中被篡改</a:t>
            </a:r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进而可实现网络中消息传输时的消息完整性检测。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1345" y="5708650"/>
            <a:ext cx="10864850" cy="5835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87375" y="5815330"/>
            <a:ext cx="11068050" cy="227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8B3D3D"/>
                </a:solidFill>
              </a:defRPr>
            </a:pPr>
            <a:r>
              <a:rPr sz="20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注意：单独的</a:t>
            </a:r>
            <a:r>
              <a:rPr lang="zh-CN" sz="20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杂凑</a:t>
            </a:r>
            <a:r>
              <a:rPr sz="200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值只能检查“是否变化”，不能证明“是谁发的”。认证需要密钥或签名配合。</a:t>
            </a:r>
          </a:p>
        </p:txBody>
      </p:sp>
      <p:pic>
        <p:nvPicPr>
          <p:cNvPr id="7" name="图片 6" descr="2.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102360"/>
            <a:ext cx="5982970" cy="2734310"/>
          </a:xfrm>
          <a:prstGeom prst="rect">
            <a:avLst/>
          </a:prstGeom>
        </p:spPr>
      </p:pic>
      <p:sp>
        <p:nvSpPr>
          <p:cNvPr id="4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1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杂凑函数的角色与定义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Grp="1"/>
          </p:cNvSpPr>
          <p:nvPr/>
        </p:nvSpPr>
        <p:spPr>
          <a:xfrm>
            <a:off x="876300" y="2952750"/>
            <a:ext cx="3048000" cy="177482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>
                <a:spLocks noGrp="1"/>
              </p:cNvSpPr>
              <p:nvPr/>
            </p:nvSpPr>
            <p:spPr>
              <a:xfrm>
                <a:off x="1047750" y="3086100"/>
                <a:ext cx="2705100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1350" b="1">
                    <a:solidFill>
                      <a:srgbClr val="C90012"/>
                    </a:solidFill>
                  </a:defRPr>
                </a:pPr>
                <a:r>
                  <a:rPr sz="2000" b="1">
                    <a:solidFill>
                      <a:srgbClr val="C90012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消息空间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90012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ℳ</m:t>
                    </m:r>
                  </m:oMath>
                </a14:m>
                <a:endParaRPr lang="en-US" sz="2000" b="0" i="1">
                  <a:solidFill>
                    <a:srgbClr val="C90012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0" y="3086100"/>
                <a:ext cx="2705100" cy="247650"/>
              </a:xfrm>
              <a:prstGeom prst="rect">
                <a:avLst/>
              </a:prstGeom>
              <a:blipFill rotWithShape="1">
                <a:blip r:embed="rId3"/>
                <a:stretch>
                  <a:fillRect b="-4153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>
            <a:spLocks noGrp="1"/>
          </p:cNvSpPr>
          <p:nvPr/>
        </p:nvSpPr>
        <p:spPr>
          <a:xfrm>
            <a:off x="1047750" y="3409950"/>
            <a:ext cx="2705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</a:rPr>
              <a:t>输入可以是不定长消息、文件、交易数据或协议字段。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72000" y="2952750"/>
            <a:ext cx="3048000" cy="177482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>
                <a:spLocks noGrp="1"/>
              </p:cNvSpPr>
              <p:nvPr/>
            </p:nvSpPr>
            <p:spPr>
              <a:xfrm>
                <a:off x="4743450" y="3086100"/>
                <a:ext cx="2705100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1350" b="1">
                    <a:solidFill>
                      <a:srgbClr val="C90012"/>
                    </a:solidFill>
                  </a:defRPr>
                </a:pPr>
                <a:r>
                  <a:rPr sz="2000" b="1">
                    <a:solidFill>
                      <a:srgbClr val="C90012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密钥空间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 </m:t>
                    </m:r>
                    <m:r>
                      <a:rPr lang="en-US" sz="2000" i="1">
                        <a:solidFill>
                          <a:srgbClr val="C90012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𝒦</m:t>
                    </m:r>
                  </m:oMath>
                </a14:m>
                <a:endParaRPr lang="en-US" sz="2000" b="0" i="1">
                  <a:solidFill>
                    <a:srgbClr val="C90012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450" y="3086100"/>
                <a:ext cx="2705100" cy="247650"/>
              </a:xfrm>
              <a:prstGeom prst="rect">
                <a:avLst/>
              </a:prstGeom>
              <a:blipFill rotWithShape="1">
                <a:blip r:embed="rId4"/>
                <a:stretch>
                  <a:fillRect b="-62564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>
            <a:spLocks noGrp="1"/>
          </p:cNvSpPr>
          <p:nvPr/>
        </p:nvSpPr>
        <p:spPr>
          <a:xfrm>
            <a:off x="4743450" y="3409950"/>
            <a:ext cx="2705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若 </a:t>
            </a: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K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= 1，则是不带密钥</a:t>
            </a:r>
            <a:r>
              <a:rPr lang="zh-CN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杂凑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函数，记作 </a:t>
            </a: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H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(</a:t>
            </a: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)。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67700" y="2952750"/>
            <a:ext cx="3048000" cy="175387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>
                <a:spLocks noGrp="1"/>
              </p:cNvSpPr>
              <p:nvPr/>
            </p:nvSpPr>
            <p:spPr>
              <a:xfrm>
                <a:off x="8439150" y="3086100"/>
                <a:ext cx="2705100" cy="228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1350" b="1">
                    <a:solidFill>
                      <a:srgbClr val="C90012"/>
                    </a:solidFill>
                  </a:defRPr>
                </a:pPr>
                <a:r>
                  <a:rPr sz="2000" b="1">
                    <a:solidFill>
                      <a:srgbClr val="C90012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输出空间 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C90012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ℋ</m:t>
                    </m:r>
                  </m:oMath>
                </a14:m>
                <a:endParaRPr lang="en-US" altLang="zh-CN" sz="2000" b="0">
                  <a:solidFill>
                    <a:srgbClr val="C90012"/>
                  </a:solidFill>
                  <a:latin typeface="DejaVu Math TeX Gyre" panose="02000503000000000000" charset="0"/>
                  <a:ea typeface="宋体" charset="0"/>
                  <a:cs typeface="DejaVu Math TeX Gyre" panose="02000503000000000000" charset="0"/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150" y="3086100"/>
                <a:ext cx="2705100" cy="228600"/>
              </a:xfrm>
              <a:prstGeom prst="rect">
                <a:avLst/>
              </a:prstGeom>
              <a:blipFill rotWithShape="1">
                <a:blip r:embed="rId5"/>
                <a:stretch>
                  <a:fillRect b="-5333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>
            <a:spLocks noGrp="1"/>
          </p:cNvSpPr>
          <p:nvPr/>
        </p:nvSpPr>
        <p:spPr>
          <a:xfrm>
            <a:off x="8439150" y="3409950"/>
            <a:ext cx="2705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输出是固定长度</a:t>
            </a:r>
            <a:r>
              <a:rPr lang="zh-CN" sz="200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杂凑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值，如 MD5 的 128 比特、SM3 的 256 比特。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7400" y="5381625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8B3D3D"/>
                </a:solidFill>
              </a:defRPr>
            </a:pPr>
            <a:r>
              <a:rPr sz="2000" b="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有效对：(</a:t>
            </a:r>
            <a:r>
              <a:rPr sz="2000" b="0" i="1">
                <a:solidFill>
                  <a:srgbClr val="8B3D3D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h</a:t>
            </a:r>
            <a:r>
              <a:rPr sz="2000" b="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, </a:t>
            </a:r>
            <a:r>
              <a:rPr sz="2000" b="0" i="1">
                <a:solidFill>
                  <a:srgbClr val="8B3D3D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  <a:r>
              <a:rPr sz="2000" b="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)，其中 </a:t>
            </a:r>
            <a:r>
              <a:rPr sz="2000" b="0" i="1">
                <a:solidFill>
                  <a:srgbClr val="8B3D3D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h</a:t>
            </a:r>
            <a:r>
              <a:rPr sz="2000" b="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= </a:t>
            </a:r>
            <a:r>
              <a:rPr sz="2000" b="0" i="1">
                <a:solidFill>
                  <a:srgbClr val="8B3D3D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H</a:t>
            </a:r>
            <a:r>
              <a:rPr sz="2000" b="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(</a:t>
            </a:r>
            <a:r>
              <a:rPr sz="2000" b="0" i="1">
                <a:solidFill>
                  <a:srgbClr val="8B3D3D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  <a:r>
              <a:rPr sz="2000" b="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)。安全目标是让有效对只能通过先选 </a:t>
            </a:r>
            <a:r>
              <a:rPr sz="2000" i="1"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M</a:t>
            </a:r>
            <a:r>
              <a:rPr sz="2000" b="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再计算</a:t>
            </a:r>
            <a:r>
              <a:rPr sz="200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 </a:t>
            </a:r>
            <a:r>
              <a:rPr sz="2000" i="1"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H</a:t>
            </a:r>
            <a:r>
              <a:rPr sz="200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(</a:t>
            </a:r>
            <a:r>
              <a:rPr sz="2000" i="1"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M</a:t>
            </a:r>
            <a:r>
              <a:rPr sz="200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)</a:t>
            </a:r>
            <a:r>
              <a:rPr lang="en-US" sz="200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 </a:t>
            </a:r>
            <a:r>
              <a:rPr sz="2000" b="0">
                <a:solidFill>
                  <a:srgbClr val="8B3D3D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得到。</a:t>
            </a: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1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杂凑函数的角色与定义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37515" y="856615"/>
                <a:ext cx="10878185" cy="17151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indent="0" algn="just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None/>
                </a:pPr>
                <a:r>
                  <a:rPr sz="2000" b="1" dirty="0" err="1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定义</a:t>
                </a:r>
                <a:r>
                  <a:rPr sz="20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2</a:t>
                </a:r>
                <a:r>
                  <a:rPr sz="2000" dirty="0">
                    <a:solidFill>
                      <a:srgbClr val="C0000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.</a:t>
                </a:r>
                <a:r>
                  <a:rPr lang="en-US" sz="2000" dirty="0">
                    <a:solidFill>
                      <a:srgbClr val="C0000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2</a:t>
                </a:r>
                <a:r>
                  <a:rPr sz="20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　</a:t>
                </a:r>
                <a:r>
                  <a:rPr lang="zh-CN" sz="20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杂凑函数</a:t>
                </a:r>
                <a:r>
                  <a:rPr sz="20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（</a:t>
                </a:r>
                <a:r>
                  <a:rPr sz="2000" b="1" dirty="0" err="1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教材原文</a:t>
                </a:r>
                <a:r>
                  <a:rPr sz="20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）：</a:t>
                </a:r>
                <a:endParaRPr sz="2000" b="1" i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indent="0" algn="just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None/>
                </a:pPr>
                <a:r>
                  <a:rPr lang="en-US" altLang="zh-CN" sz="2000" dirty="0">
                    <a:solidFill>
                      <a:srgbClr val="40404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  </a:t>
                </a:r>
                <a:r>
                  <a:rPr lang="zh-CN" altLang="en-US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设消息空间为</a:t>
                </a:r>
                <a:r>
                  <a:rPr lang="en-US" altLang="zh-CN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zh-CN" altLang="en-US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、密钥空间为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 </m:t>
                    </m:r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lang="zh-CN" altLang="en-US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、输出的杂凑值的取值空间为</a:t>
                </a:r>
                <a:r>
                  <a:rPr lang="en-US" altLang="zh-CN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ℋ</m:t>
                    </m:r>
                  </m:oMath>
                </a14:m>
                <a:r>
                  <a:rPr lang="zh-CN" altLang="en-US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（比如</a:t>
                </a:r>
                <a:r>
                  <a:rPr lang="en-US" altLang="zh-CN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{0,1}</a:t>
                </a:r>
                <a:r>
                  <a:rPr lang="en-US" altLang="zh-CN" sz="2000" b="0" i="1" baseline="30000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l</a:t>
                </a:r>
                <a:r>
                  <a:rPr lang="zh-CN" altLang="en-US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。此时一个杂凑函数记作</a:t>
                </a:r>
                <a:r>
                  <a:rPr lang="en-US" altLang="zh-CN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:r>
                  <a:rPr lang="en-US" altLang="zh-CN" sz="2000" b="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H</a:t>
                </a:r>
                <a:r>
                  <a:rPr lang="en-US" altLang="zh-CN" sz="2000" b="0" i="1" baseline="-25000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K</a:t>
                </a:r>
                <a:r>
                  <a:rPr lang="en-US" altLang="zh-CN" sz="2000" b="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</a:rPr>
                  <a:t> </a:t>
                </a:r>
                <a:r>
                  <a:rPr lang="en-US" altLang="zh-CN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en-US" altLang="en-US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→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lang="en-US" altLang="zh-CN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:r>
                  <a:rPr lang="zh-CN" altLang="en-US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，</a:t>
                </a:r>
                <a:r>
                  <a:rPr lang="en-US" altLang="zh-CN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 </a:t>
                </a:r>
                <a:r>
                  <a:rPr lang="zh-CN" altLang="en-US" sz="2000" b="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</a:rPr>
                  <a:t>包含如下算法。</a:t>
                </a:r>
              </a:p>
              <a:p>
                <a:pPr marL="285750" indent="-285750" algn="just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lang="zh-CN" altLang="en-US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杂凑算法</a:t>
                </a:r>
                <a:r>
                  <a:rPr lang="en-US" altLang="zh-CN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altLang="zh-CN" sz="200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  <a:sym typeface="+mn-ea"/>
                  </a:rPr>
                  <a:t>H</a:t>
                </a:r>
                <a:r>
                  <a:rPr lang="en-US" altLang="zh-CN" sz="2000" i="1" baseline="-25000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  <a:sym typeface="+mn-ea"/>
                  </a:rPr>
                  <a:t>K</a:t>
                </a:r>
                <a:r>
                  <a:rPr lang="en-US" altLang="zh-CN" sz="2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 panose="020B0503020204020204" charset="-122"/>
                    <a:cs typeface="Times New Roman" panose="02020503050405090304" pitchFamily="18" charset="0"/>
                    <a:sym typeface="+mn-ea"/>
                  </a:rPr>
                  <a:t>(</a:t>
                </a:r>
                <a:r>
                  <a:rPr lang="en-US" altLang="zh-CN" sz="200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  <a:sym typeface="+mn-ea"/>
                  </a:rPr>
                  <a:t>M</a:t>
                </a:r>
                <a:r>
                  <a:rPr lang="en-US" altLang="zh-CN" sz="2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 panose="020B0503020204020204" charset="-122"/>
                    <a:cs typeface="Times New Roman" panose="02020503050405090304" pitchFamily="18" charset="0"/>
                    <a:sym typeface="+mn-ea"/>
                  </a:rPr>
                  <a:t>)</a:t>
                </a:r>
                <a:r>
                  <a:rPr lang="zh-CN" altLang="en-US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。输入为密钥</a:t>
                </a:r>
                <a:r>
                  <a:rPr lang="en-US" altLang="zh-CN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altLang="zh-CN" sz="200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  <a:sym typeface="+mn-ea"/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  <a:sym typeface="+mn-ea"/>
                      </a:rPr>
                      <m:t>∈</m:t>
                    </m:r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𝒦</m:t>
                    </m:r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和一个不定长的消息</a:t>
                </a:r>
                <a:r>
                  <a:rPr lang="en-US" altLang="zh-CN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altLang="zh-CN" sz="200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  <a:sym typeface="+mn-ea"/>
                  </a:rPr>
                  <a:t>M</a:t>
                </a:r>
                <a:r>
                  <a:rPr lang="en-US" altLang="zh-CN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  <a:sym typeface="+mn-ea"/>
                      </a:rPr>
                      <m:t>∈</m:t>
                    </m:r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zh-CN" altLang="en-US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，输出为杂凑值</a:t>
                </a:r>
                <a:r>
                  <a:rPr lang="en-US" altLang="zh-CN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 </a:t>
                </a:r>
                <a:r>
                  <a:rPr lang="en-US" altLang="zh-CN" sz="200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 panose="020B0503020204020204" charset="-122"/>
                    <a:cs typeface="Times New Roman Italic" panose="02020503050405090304" charset="0"/>
                    <a:sym typeface="+mn-ea"/>
                  </a:rPr>
                  <a:t>h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  <a:sym typeface="+mn-ea"/>
                      </a:rPr>
                      <m:t>∈</m:t>
                    </m:r>
                    <m:r>
                      <a:rPr lang="en-US" altLang="zh-CN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ℋ</m:t>
                    </m:r>
                  </m:oMath>
                </a14:m>
                <a:r>
                  <a:rPr lang="zh-CN" altLang="en-US" sz="2000" dirty="0">
                    <a:solidFill>
                      <a:srgbClr val="404040"/>
                    </a:solidFill>
                    <a:latin typeface="Times New Roman Regular" panose="02020503050405090304" charset="0"/>
                    <a:ea typeface="微软雅黑" panose="020B0503020204020204" charset="-122"/>
                    <a:cs typeface="Times New Roman Regular" panose="02020503050405090304" charset="0"/>
                    <a:sym typeface="+mn-ea"/>
                  </a:rPr>
                  <a:t>。</a:t>
                </a: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15" y="856615"/>
                <a:ext cx="10878185" cy="1715150"/>
              </a:xfrm>
              <a:prstGeom prst="rect">
                <a:avLst/>
              </a:prstGeom>
              <a:blipFill>
                <a:blip r:embed="rId6"/>
                <a:stretch>
                  <a:fillRect l="-617" t="-2135" r="-561" b="-5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996950"/>
            <a:ext cx="3143250" cy="21907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47750" y="109728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单向性</a:t>
            </a: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47750" y="1452880"/>
            <a:ext cx="28003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给定随机</a:t>
            </a:r>
            <a:r>
              <a:rPr 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杂凑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 h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，任意概率多项式时间内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攻击者难以找到任意 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 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H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=h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3" name="矩形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524375" y="996950"/>
            <a:ext cx="3143250" cy="21907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695825" y="109728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第二原像稳固性</a:t>
            </a: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695825" y="1452880"/>
            <a:ext cx="28003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给定一个消息 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</a:t>
            </a:r>
            <a:r>
              <a:rPr sz="20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任意概率多项式时间内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攻击者难以找到不同消息 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</a:t>
            </a:r>
            <a:r>
              <a:rPr sz="20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2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 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H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</a:t>
            </a:r>
            <a:r>
              <a:rPr sz="20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=H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</a:t>
            </a:r>
            <a:r>
              <a:rPr sz="20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2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172450" y="996950"/>
            <a:ext cx="3143250" cy="21907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343900" y="1097280"/>
            <a:ext cx="2800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碰撞稳固性</a:t>
            </a: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343900" y="1452880"/>
            <a:ext cx="28003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03030"/>
                </a:solidFill>
              </a:defRPr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任意概率多项式时间内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攻击者难以找到任意两个不同消息 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M′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 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H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=H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M′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76300" y="3542030"/>
            <a:ext cx="3143885" cy="235331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32815" y="3621405"/>
            <a:ext cx="30861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即便攻击者知道算法，也只能进行代价极高的搜索，而不能有效反推出输入。</a:t>
            </a:r>
            <a:r>
              <a:rPr lang="zh-CN"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用途</a:t>
            </a:r>
            <a:r>
              <a:rPr lang="en-US"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口令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杂凑值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、文件指纹、公钥地址等场景，都不希望攻击者从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杂凑值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直接恢复原始输入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724650" y="4431030"/>
            <a:ext cx="46101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endParaRPr sz="1350">
              <a:solidFill>
                <a:srgbClr val="303030"/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6021705"/>
            <a:ext cx="10439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90012"/>
                </a:solidFill>
              </a:defRPr>
            </a:pPr>
            <a:endParaRPr sz="1200" b="0">
              <a:solidFill>
                <a:srgbClr val="C90012"/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</p:txBody>
      </p:sp>
      <p:sp>
        <p:nvSpPr>
          <p:cNvPr id="8" name="下箭头 7"/>
          <p:cNvSpPr/>
          <p:nvPr>
            <p:custDataLst>
              <p:tags r:id="rId12"/>
            </p:custDataLst>
          </p:nvPr>
        </p:nvSpPr>
        <p:spPr>
          <a:xfrm>
            <a:off x="2205355" y="3194685"/>
            <a:ext cx="490855" cy="3638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523740" y="3542030"/>
            <a:ext cx="3143885" cy="23533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4580255" y="3621405"/>
            <a:ext cx="3086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>
                <a:latin typeface="Times New Roman Regular" panose="02020503050405090304" charset="0"/>
                <a:ea typeface="微软雅黑" panose="020B0503020204020204" charset="-122"/>
                <a:sym typeface="+mn-ea"/>
              </a:rPr>
              <a:t>保护已发布软件、合同、证书、交易记录等</a:t>
            </a:r>
            <a:r>
              <a:rPr lang="zh-CN" sz="2000">
                <a:latin typeface="Times New Roman Regular" panose="02020503050405090304" charset="0"/>
                <a:ea typeface="微软雅黑" panose="020B0503020204020204" charset="-122"/>
                <a:sym typeface="+mn-ea"/>
              </a:rPr>
              <a:t>内容</a:t>
            </a:r>
            <a:r>
              <a:rPr sz="2000">
                <a:latin typeface="Times New Roman Regular" panose="02020503050405090304" charset="0"/>
                <a:ea typeface="微软雅黑" panose="020B0503020204020204" charset="-122"/>
                <a:sym typeface="+mn-ea"/>
              </a:rPr>
              <a:t>不被换成同摘要的恶意版本。</a:t>
            </a:r>
          </a:p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sym typeface="+mn-ea"/>
              </a:rPr>
              <a:t>威胁</a:t>
            </a:r>
            <a:r>
              <a:rPr lang="en-US" sz="200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sym typeface="+mn-ea"/>
              </a:rPr>
              <a:t>：</a:t>
            </a:r>
            <a:r>
              <a:rPr sz="2000">
                <a:latin typeface="Times New Roman Regular" panose="02020503050405090304" charset="0"/>
                <a:ea typeface="微软雅黑" panose="020B0503020204020204" charset="-122"/>
                <a:sym typeface="+mn-ea"/>
              </a:rPr>
              <a:t>攻击者不能随便找两个文件碰撞，而是要替换一个已经存在、已经被信任的文件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</a:rPr>
              <a:t>。</a:t>
            </a: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172450" y="3528695"/>
            <a:ext cx="3143250" cy="236664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  <p:txBody>
          <a:bodyPr/>
          <a:lstStyle/>
          <a:p>
            <a:pPr algn="just">
              <a:defRPr sz="1275" b="0">
                <a:solidFill>
                  <a:srgbClr val="8B3D3D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由于输出长度固定而输入空间巨大，碰撞必然存在；安全目标是让攻击者找不到可利用的碰撞。</a:t>
            </a:r>
          </a:p>
          <a:p>
            <a:pPr algn="just">
              <a:defRPr sz="1275" b="0">
                <a:solidFill>
                  <a:srgbClr val="8B3D3D"/>
                </a:solidFill>
              </a:defRPr>
            </a:pPr>
            <a:r>
              <a:rPr lang="zh-CN" altLang="en-US"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缺点：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如果输入空间本身很小，例如常见弱口令，单向性也挡不住字典枚举。</a:t>
            </a:r>
            <a:endParaRPr sz="20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 sz="1275" b="0">
                <a:solidFill>
                  <a:srgbClr val="8B3D3D"/>
                </a:solidFill>
              </a:defRPr>
            </a:pPr>
            <a:endParaRPr sz="20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下箭头 27"/>
          <p:cNvSpPr/>
          <p:nvPr>
            <p:custDataLst>
              <p:tags r:id="rId16"/>
            </p:custDataLst>
          </p:nvPr>
        </p:nvSpPr>
        <p:spPr>
          <a:xfrm>
            <a:off x="5888355" y="3199765"/>
            <a:ext cx="490855" cy="3638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</p:txBody>
      </p:sp>
      <p:sp>
        <p:nvSpPr>
          <p:cNvPr id="29" name="下箭头 28"/>
          <p:cNvSpPr/>
          <p:nvPr>
            <p:custDataLst>
              <p:tags r:id="rId17"/>
            </p:custDataLst>
          </p:nvPr>
        </p:nvSpPr>
        <p:spPr>
          <a:xfrm>
            <a:off x="9530715" y="3198495"/>
            <a:ext cx="490855" cy="3638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</p:txBody>
      </p:sp>
      <p:sp>
        <p:nvSpPr>
          <p:cNvPr id="5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2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66800" y="191135"/>
            <a:ext cx="772184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安全性质：单向性、第二原像性、碰撞性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>
            <a:spLocks noGrp="1"/>
          </p:cNvSpPr>
          <p:nvPr/>
        </p:nvSpPr>
        <p:spPr>
          <a:xfrm>
            <a:off x="685800" y="1285875"/>
            <a:ext cx="4762500" cy="212026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136842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7250" y="1743075"/>
            <a:ext cx="44196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杂凑函数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MD5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由美国密码学家罗纳德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李维斯特（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Ronald Linn R ivest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）提出，在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RFC 1321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标准中被加以规范。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MD5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可以将任意长度的输入映射成一个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128</a:t>
            </a:r>
            <a:r>
              <a:rPr lang="en-US" altLang="zh-CN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比特的哈希值。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743700" y="1285875"/>
            <a:ext cx="4762500" cy="21450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915150" y="136842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历史用途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915150" y="1743075"/>
            <a:ext cx="44196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文件下载校验、版本控制、数据校验等场景曾广泛使用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MD5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5800" y="3965575"/>
            <a:ext cx="4762500" cy="1571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57250" y="402272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安全状态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57250" y="4422775"/>
            <a:ext cx="44196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MD5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已不再碰撞稳固，在安全性要求较高的领域不再推荐。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743700" y="3965575"/>
            <a:ext cx="4762500" cy="157162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915150" y="4022725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400" b="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替代方向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915150" y="4422775"/>
            <a:ext cx="44196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更安全的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杂凑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函数包括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SHA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系列和 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SM3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MD5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SHA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 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简介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7581900" y="1027430"/>
            <a:ext cx="4394835" cy="489331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581900" y="1028065"/>
            <a:ext cx="4256405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charset="0"/>
              <a:buChar char=""/>
            </a:pPr>
            <a:r>
              <a:rPr sz="2400">
                <a:solidFill>
                  <a:schemeClr val="tx1"/>
                </a:solidFill>
                <a:latin typeface="Times New Roman Regular" panose="02020503050405090304" charset="0"/>
                <a:ea typeface="微软雅黑" panose="020B0503020204020204" charset="-122"/>
              </a:rPr>
              <a:t>SHA 由美国国家标准技术研究所NIST发布。</a:t>
            </a:r>
          </a:p>
          <a:p>
            <a:pPr marL="342900" indent="-342900" algn="just">
              <a:buFont typeface="Wingdings" panose="05000000000000000000" charset="0"/>
              <a:buChar char=""/>
            </a:pPr>
            <a:r>
              <a:rPr sz="2400">
                <a:latin typeface="Times New Roman Regular" panose="02020503050405090304" charset="0"/>
                <a:ea typeface="微软雅黑" panose="020B0503020204020204" charset="-122"/>
                <a:sym typeface="+mn-ea"/>
              </a:rPr>
              <a:t>SHA-1、SHA-2、SHA-3 的参数情况如表 所示。</a:t>
            </a:r>
            <a:endParaRPr sz="2400">
              <a:solidFill>
                <a:schemeClr val="tx1"/>
              </a:solidFill>
              <a:latin typeface="Times New Roman Regular" panose="02020503050405090304" charset="0"/>
              <a:ea typeface="微软雅黑" panose="020B0503020204020204" charset="-122"/>
            </a:endParaRPr>
          </a:p>
          <a:p>
            <a:pPr marL="342900" indent="-342900" algn="just">
              <a:buFont typeface="Wingdings" panose="05000000000000000000" charset="0"/>
              <a:buChar char=""/>
            </a:pPr>
            <a:r>
              <a:rPr sz="2400">
                <a:solidFill>
                  <a:schemeClr val="tx1"/>
                </a:solidFill>
                <a:latin typeface="Times New Roman Regular" panose="02020503050405090304" charset="0"/>
                <a:ea typeface="微软雅黑" panose="020B0503020204020204" charset="-122"/>
              </a:rPr>
              <a:t>目前SHA-0、SHA-1 和部分 SHA-2（如 SHA-224 和 SHA-256）存在安全威胁。</a:t>
            </a:r>
          </a:p>
          <a:p>
            <a:pPr marL="342900" indent="-342900" algn="just">
              <a:buFont typeface="Wingdings" panose="05000000000000000000" charset="0"/>
              <a:buChar char=""/>
            </a:pPr>
            <a:r>
              <a:rPr sz="240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</a:rPr>
              <a:t>SHA-3 提供了与 SHA 系列相似的接口，但使用了不同的内部运算结构，提供了更高的安全性和抗碰撞能力。SHA-3 逐渐代替 SHA-2，成为被广泛应用的</a:t>
            </a:r>
            <a:r>
              <a:rPr sz="240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  <a:sym typeface="+mn-ea"/>
              </a:rPr>
              <a:t>杂凑</a:t>
            </a:r>
            <a:r>
              <a:rPr sz="2400">
                <a:solidFill>
                  <a:srgbClr val="C90012"/>
                </a:solidFill>
                <a:latin typeface="Times New Roman Regular" panose="02020503050405090304" charset="0"/>
                <a:ea typeface="微软雅黑" panose="020B0503020204020204" charset="-122"/>
              </a:rPr>
              <a:t>函数。</a:t>
            </a:r>
          </a:p>
          <a:p>
            <a:pPr marL="342900" indent="-342900" algn="just">
              <a:buFont typeface="Wingdings" panose="05000000000000000000" charset="0"/>
              <a:buChar char=""/>
            </a:pPr>
            <a:endParaRPr sz="2400">
              <a:solidFill>
                <a:schemeClr val="tx1"/>
              </a:solidFill>
              <a:latin typeface="Times New Roman Regular" panose="0202050305040509030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535" y="5295900"/>
            <a:ext cx="81775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输入长度是</a:t>
            </a:r>
            <a:r>
              <a:rPr lang="en-US" altLang="zh-CN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 SHA-1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、</a:t>
            </a:r>
            <a:r>
              <a:rPr lang="en-US" altLang="zh-CN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SHA-2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、</a:t>
            </a:r>
            <a:r>
              <a:rPr lang="en-US" altLang="zh-CN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SHA-3 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对应的消息输入长度</a:t>
            </a:r>
          </a:p>
          <a:p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分组长度为</a:t>
            </a:r>
            <a:r>
              <a:rPr lang="en-US" altLang="zh-CN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 SHA-1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、</a:t>
            </a:r>
            <a:r>
              <a:rPr lang="en-US" altLang="zh-CN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SHA-2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、</a:t>
            </a:r>
            <a:r>
              <a:rPr lang="en-US" altLang="zh-CN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SHA-3 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在处理消息时对消息进行分组的长度</a:t>
            </a:r>
          </a:p>
          <a:p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字长度是消息分组后再进行分块的长度</a:t>
            </a:r>
          </a:p>
          <a:p>
            <a:r>
              <a:rPr lang="zh-CN" altLang="en-US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杂凑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值长度是</a:t>
            </a:r>
            <a:r>
              <a:rPr lang="en-US" altLang="zh-CN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 SHA-1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、</a:t>
            </a:r>
            <a:r>
              <a:rPr lang="en-US" altLang="zh-CN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SHA-2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、</a:t>
            </a:r>
            <a:r>
              <a:rPr lang="en-US" altLang="zh-CN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SHA-3 </a:t>
            </a:r>
            <a:r>
              <a:rPr lang="zh-CN" altLang="en-US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最终输出值的长度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07645" y="808355"/>
          <a:ext cx="7058660" cy="444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算法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变体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发布年份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标准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输入长度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分组长度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字长度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杂凑值长度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SHA-1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SHA-160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1995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FIPS 180-1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&lt;2</a:t>
                      </a:r>
                      <a:r>
                        <a:rPr lang="en-US" altLang="zh-CN" baseline="300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 rowSpan="6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SHA-2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SHA-224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180-3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&lt;2</a:t>
                      </a:r>
                      <a:r>
                        <a:rPr lang="en-US" altLang="zh-CN" sz="1350" baseline="30000">
                          <a:sym typeface="+mn-ea"/>
                        </a:rPr>
                        <a:t>64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32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SHA-256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180-2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&lt;2</a:t>
                      </a:r>
                      <a:r>
                        <a:rPr lang="en-US" altLang="zh-CN" sz="1350" baseline="30000">
                          <a:sym typeface="+mn-ea"/>
                        </a:rPr>
                        <a:t>64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32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SHA-384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180-2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&lt;2</a:t>
                      </a:r>
                      <a:r>
                        <a:rPr lang="en-US" altLang="zh-CN" sz="1350" baseline="30000">
                          <a:sym typeface="+mn-ea"/>
                        </a:rPr>
                        <a:t>128</a:t>
                      </a:r>
                      <a:endParaRPr lang="zh-CN" altLang="en-US" baseline="30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1024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SHA-512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180-2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&lt;2</a:t>
                      </a:r>
                      <a:r>
                        <a:rPr lang="en-US" altLang="zh-CN" sz="1350" baseline="30000">
                          <a:sym typeface="+mn-ea"/>
                        </a:rPr>
                        <a:t>128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1024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64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SHA-512/224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180-2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&lt;2</a:t>
                      </a:r>
                      <a:r>
                        <a:rPr lang="en-US" altLang="zh-CN" sz="1350" baseline="30000">
                          <a:sym typeface="+mn-ea"/>
                        </a:rPr>
                        <a:t>128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1024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64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9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SHA-512/256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180-</a:t>
                      </a: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&lt;2</a:t>
                      </a:r>
                      <a:r>
                        <a:rPr lang="en-US" altLang="zh-CN" sz="1350" baseline="30000">
                          <a:sym typeface="+mn-ea"/>
                        </a:rPr>
                        <a:t>128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1024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64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 rowSpan="6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SHA-3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SHA3-224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202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任意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64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6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SHA3-256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202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任意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64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9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SHA3-384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202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任意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1024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64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6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SHA3-512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202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任意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1024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64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2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SHAKE128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202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任意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64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任意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SHAKE256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FIPS 202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任意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35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64</a:t>
                      </a:r>
                      <a:endParaRPr lang="en-US" altLang="zh-C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任意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MD5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SHA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 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简介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80035" y="778510"/>
            <a:ext cx="11734165" cy="5292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杂凑算法</a:t>
            </a:r>
            <a:r>
              <a:rPr lang="en-US" altLang="zh-CN" sz="2000">
                <a:solidFill>
                  <a:srgbClr val="231F2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SM3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是国家密码管理局所发布的国产密码标准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由王小云院士牵头的密码团队完成算法设计、安全性分析、大量测试验证；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2010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年国家密码管理局对外公开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SM3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算法文本，作为标准化基础原型。</a:t>
            </a:r>
            <a:endParaRPr lang="en-US" altLang="zh-CN" sz="2000">
              <a:solidFill>
                <a:srgbClr val="303030"/>
              </a:solidFill>
              <a:sym typeface="+mn-ea"/>
            </a:endParaRP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 sz="1275" b="0">
                <a:solidFill>
                  <a:srgbClr val="303030"/>
                </a:solidFill>
              </a:defRPr>
            </a:pPr>
            <a:r>
              <a:rPr lang="en-US" altLang="zh-CN" sz="2000">
                <a:solidFill>
                  <a:srgbClr val="303030"/>
                </a:solidFill>
                <a:sym typeface="+mn-ea"/>
              </a:rPr>
              <a:t> 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阶段一：商用密码行业标准</a:t>
            </a:r>
            <a:r>
              <a:rPr lang="en-US" altLang="zh-CN" sz="200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GM/T 0004</a:t>
            </a:r>
            <a:r>
              <a:rPr lang="en-US" altLang="zh-CN" sz="2000">
                <a:solidFill>
                  <a:srgbClr val="303030"/>
                </a:solidFill>
                <a:sym typeface="+mn-ea"/>
              </a:rPr>
              <a:t>-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2012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2010</a:t>
            </a:r>
            <a:r>
              <a:rPr lang="en-US" altLang="zh-CN" sz="2000">
                <a:solidFill>
                  <a:srgbClr val="303030"/>
                </a:solidFill>
                <a:sym typeface="+mn-ea"/>
              </a:rPr>
              <a:t>–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2012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）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rgbClr val="303030"/>
                </a:solidFill>
                <a:sym typeface="+mn-ea"/>
              </a:rPr>
              <a:t>立项申请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：国家密码管理局提出立项需求，提交密码行业标准化技术委员会，启动密码行业标准制定项目。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rgbClr val="303030"/>
                </a:solidFill>
                <a:sym typeface="+mn-ea"/>
              </a:rPr>
              <a:t>草案编制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：清华大学、国密局商用密码检测中心、信大、中科院</a:t>
            </a:r>
            <a:r>
              <a:rPr lang="en-US" altLang="zh-CN" sz="200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DCS 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中心组成起草组，撰写标准草案，完整定义算法填充、迭代压缩、运算示例、测试向量。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rgbClr val="303030"/>
                </a:solidFill>
                <a:sym typeface="+mn-ea"/>
              </a:rPr>
              <a:t>内部安全性评审与公开征求意见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：组织密码学专家、密码检测机构开展安全性审查；面向商用密码产业征集意见，修改完善草案。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rgbClr val="303030"/>
                </a:solidFill>
                <a:sym typeface="+mn-ea"/>
              </a:rPr>
              <a:t>技术委员会审查、报批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：密码行业标委会组织会审，形成报批稿，提交国家密码管理局审批。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rgbClr val="303030"/>
                </a:solidFill>
                <a:sym typeface="+mn-ea"/>
              </a:rPr>
              <a:t>批准发布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：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2012 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年</a:t>
            </a:r>
            <a:r>
              <a:rPr lang="en-US" altLang="zh-CN" sz="200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 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月</a:t>
            </a:r>
            <a:r>
              <a:rPr lang="en-US" altLang="zh-CN" sz="200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21 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日，国家密码管理局正式发布</a:t>
            </a:r>
            <a:r>
              <a:rPr lang="en-US" altLang="zh-CN" sz="200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GM</a:t>
            </a:r>
            <a:r>
              <a:rPr lang="en-US" altLang="zh-CN" sz="2000">
                <a:solidFill>
                  <a:srgbClr val="303030"/>
                </a:solidFill>
                <a:sym typeface="+mn-ea"/>
              </a:rPr>
              <a:t>/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T 0004</a:t>
            </a:r>
            <a:r>
              <a:rPr lang="en-US" altLang="zh-CN" sz="2000">
                <a:solidFill>
                  <a:srgbClr val="303030"/>
                </a:solidFill>
                <a:sym typeface="+mn-ea"/>
              </a:rPr>
              <a:t>-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2012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《</a:t>
            </a:r>
            <a:r>
              <a:rPr lang="en-US" altLang="zh-CN" sz="200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SM3 </a:t>
            </a:r>
            <a:r>
              <a:rPr lang="zh-CN" altLang="en-US" sz="2000">
                <a:solidFill>
                  <a:srgbClr val="303030"/>
                </a:solidFill>
                <a:sym typeface="+mn-ea"/>
              </a:rPr>
              <a:t>密码杂凑算法》，发布当日同步实施，作为国内商用密码领域的行业标准</a:t>
            </a:r>
            <a:r>
              <a:rPr sz="2000">
                <a:solidFill>
                  <a:srgbClr val="303030"/>
                </a:solidFill>
                <a:sym typeface="+mn-ea"/>
              </a:rPr>
              <a:t>。</a:t>
            </a:r>
            <a:endParaRPr sz="2000" b="0">
              <a:solidFill>
                <a:srgbClr val="303030"/>
              </a:solidFill>
            </a:endParaRP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 sz="1275" b="0">
                <a:solidFill>
                  <a:srgbClr val="303030"/>
                </a:solidFill>
              </a:defRPr>
            </a:pPr>
            <a:endParaRPr lang="en-US" altLang="zh-CN" sz="2000">
              <a:solidFill>
                <a:srgbClr val="231F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19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MD5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SHA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 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简介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93700" y="953770"/>
            <a:ext cx="11405235" cy="4892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阶段二：国家标准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GB/T 32905-2016</a:t>
            </a:r>
            <a:r>
              <a:rPr lang="zh-CN" altLang="en-US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（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2012–2016</a:t>
            </a:r>
            <a:r>
              <a:rPr lang="zh-CN" altLang="en-US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）</a:t>
            </a:r>
            <a:endParaRPr lang="zh-CN" altLang="en-US" sz="2000" dirty="0">
              <a:solidFill>
                <a:srgbClr val="303030"/>
              </a:solidFill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 dirty="0">
                <a:solidFill>
                  <a:srgbClr val="303030"/>
                </a:solidFill>
                <a:sym typeface="+mn-ea"/>
              </a:rPr>
              <a:t>国标立项申报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：国家密码管理局向国家标准化管理委员会提交国家标准立项提案，申请将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SM3 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转化为国家标准；国标委组织立项评审，下达国标编制计划。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 dirty="0">
                <a:solidFill>
                  <a:srgbClr val="303030"/>
                </a:solidFill>
                <a:sym typeface="+mn-ea"/>
              </a:rPr>
              <a:t>标准文本修订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：沿用原起草团队，基于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GM/T 0004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-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2012 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行业标准文本，按照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GB/T 1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.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 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国标格式规范修改，补充标准化附录、测试样例，形成国标征求意见稿。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 dirty="0">
                <a:solidFill>
                  <a:srgbClr val="303030"/>
                </a:solidFill>
                <a:sym typeface="+mn-ea"/>
              </a:rPr>
              <a:t>多轮公开征求意见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：在全国标准平台公开征求全社会、信息安全行业、密码领域专家意见，收集反馈，修改形成送审稿。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 dirty="0">
                <a:solidFill>
                  <a:srgbClr val="303030"/>
                </a:solidFill>
                <a:sym typeface="+mn-ea"/>
              </a:rPr>
              <a:t>技术审查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：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TC260 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组织专家审查会，对算法安全性、文本规范性、技术一致性进行终审，形成报批稿报送国家标准化管理委员会。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 dirty="0">
                <a:solidFill>
                  <a:srgbClr val="303030"/>
                </a:solidFill>
                <a:sym typeface="+mn-ea"/>
              </a:rPr>
              <a:t>审批发布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：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2016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-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08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-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29 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国家标准化管理委员会批准发布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GB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/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T 32905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-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2016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《信息安全技术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SM3 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密码杂凑算法》；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2017</a:t>
            </a:r>
            <a:r>
              <a:rPr lang="en-US" altLang="zh-CN" sz="2000" dirty="0">
                <a:solidFill>
                  <a:srgbClr val="303030"/>
                </a:solidFill>
                <a:sym typeface="+mn-ea"/>
              </a:rPr>
              <a:t>-</a:t>
            </a:r>
            <a:r>
              <a:rPr lang="en-US" altLang="zh-CN" sz="2000" dirty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03-01 </a:t>
            </a:r>
            <a:r>
              <a:rPr lang="zh-CN" altLang="en-US" sz="2000" dirty="0">
                <a:solidFill>
                  <a:srgbClr val="303030"/>
                </a:solidFill>
                <a:sym typeface="+mn-ea"/>
              </a:rPr>
              <a:t>正式实施</a:t>
            </a:r>
            <a:r>
              <a:rPr sz="2000" dirty="0">
                <a:solidFill>
                  <a:srgbClr val="303030"/>
                </a:solidFill>
                <a:sym typeface="+mn-ea"/>
              </a:rPr>
              <a:t>。</a:t>
            </a:r>
            <a:endParaRPr sz="2000" b="0" dirty="0">
              <a:solidFill>
                <a:srgbClr val="303030"/>
              </a:solidFill>
            </a:endParaRP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 sz="1275" b="0">
                <a:solidFill>
                  <a:srgbClr val="303030"/>
                </a:solidFill>
              </a:defRPr>
            </a:pPr>
            <a:endParaRPr lang="en-US" altLang="zh-CN" sz="2000" dirty="0">
              <a:solidFill>
                <a:srgbClr val="231F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19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MD5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SHA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 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简介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42925" y="831850"/>
            <a:ext cx="11182350" cy="4492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 sz="1275" b="0">
                <a:solidFill>
                  <a:srgbClr val="303030"/>
                </a:solidFill>
              </a:defRPr>
            </a:pP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阶段三：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ISO/IEC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国际标准化流程，纳入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ISO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IEC 10118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:2018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2014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2018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2000">
              <a:solidFill>
                <a:srgbClr val="231F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国际提案准备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：国内专家组基于已经稳定的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GB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T 32905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2016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国标，翻译英文版本，准备安全性论证报告、算法测试证据，向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ISO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IEC JTC1 SC27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（信息技术安全分委会）提交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PAS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提案。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新项目立项投票（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NWIP</a:t>
            </a:r>
            <a:r>
              <a:rPr lang="zh-CN" altLang="en-US" sz="2000" b="1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：提交新工作项提案，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SC27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成员国投票，确认立项，同意在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ISO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IEC 10118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（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杂凑函数标准）修订版中增加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SM3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DIS </a:t>
            </a:r>
            <a:r>
              <a:rPr lang="zh-CN" altLang="en-US" sz="2000" b="1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国际草案征询投票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：发布国际标准草案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DIS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，分发至所有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ISO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成员国，为期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12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周投票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收集各国专家技术评议意见；中方专家组逐条回复各国专家提出的疑问，完成文本修订。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FDIS </a:t>
            </a:r>
            <a:r>
              <a:rPr lang="zh-CN" altLang="en-US" sz="2000" b="1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最终国际标准草案投票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：修改后的终稿提交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FDIS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投票，需要满足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2/3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参与成员国赞成、反对票不超过总票数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1/4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，投票通过。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"/>
              <a:defRPr sz="1275" b="0">
                <a:solidFill>
                  <a:srgbClr val="303030"/>
                </a:solidFill>
              </a:defRPr>
            </a:pPr>
            <a:r>
              <a:rPr lang="zh-CN" altLang="en-US" sz="2000" b="1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正式出版发布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2018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10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月，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ISO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正式发布修订版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ISO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IEC 10118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3:2018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SM3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正式写入该国际标准正文，与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SHA</a:t>
            </a:r>
            <a:r>
              <a:rPr lang="en-US" altLang="zh-CN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2000">
                <a:solidFill>
                  <a:srgbClr val="231F2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3、STREEBOG </a:t>
            </a:r>
            <a:r>
              <a:rPr lang="zh-CN" altLang="en-US" sz="200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并列成为国际认可的专用杂凑函数。</a:t>
            </a:r>
          </a:p>
        </p:txBody>
      </p:sp>
      <p:sp>
        <p:nvSpPr>
          <p:cNvPr id="7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19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MD5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SHA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 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简介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80035" y="1449427"/>
            <a:ext cx="117341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sz="2000" dirty="0" smtClean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SM3</a:t>
            </a:r>
            <a:r>
              <a:rPr lang="en-US" altLang="zh-CN" sz="2000" dirty="0" smtClean="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主要被用于数字签名及验证、消息认证码生成及验证、随机数生成等场景。其抽象流程如下</a:t>
            </a:r>
            <a:r>
              <a:rPr lang="en-US" altLang="zh-CN" sz="2000" dirty="0">
                <a:solidFill>
                  <a:srgbClr val="231F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08965" y="2242864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715010" y="2329859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chemeClr val="bg1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chemeClr val="bg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M</a:t>
            </a:r>
            <a:endParaRPr sz="2000" i="1">
              <a:solidFill>
                <a:schemeClr val="bg1"/>
              </a:solidFill>
              <a:latin typeface="Times New Roman Italic" panose="02020503050405090304" charset="0"/>
              <a:ea typeface="微软雅黑" panose="020B0503020204020204" charset="-122"/>
              <a:cs typeface="Times New Roman Italic" panose="02020503050405090304" charset="0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2152015" y="2389549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2418715" y="2242864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524760" y="2329859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3961765" y="2389549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4228465" y="2242864"/>
            <a:ext cx="1753870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208145" y="2329859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512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5987415" y="2389549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254115" y="2242864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360160" y="2329859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7797165" y="2389549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063865" y="2242864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169910" y="2329859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9606915" y="2389549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9873615" y="2242864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26" name="矩形 25"/>
          <p:cNvSpPr>
            <a:spLocks noGrp="1"/>
          </p:cNvSpPr>
          <p:nvPr/>
        </p:nvSpPr>
        <p:spPr>
          <a:xfrm>
            <a:off x="9812020" y="2329859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chemeClr val="bg1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比特摘要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72515" y="3049314"/>
            <a:ext cx="33337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72515" y="3335064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任意长度消息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b="1" i="1">
                <a:solidFill>
                  <a:srgbClr val="303030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M</a:t>
            </a: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4739640" y="3287439"/>
            <a:ext cx="809625" cy="3238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882640" y="3049314"/>
            <a:ext cx="4000500" cy="85725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882640" y="3335064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90012"/>
                </a:solidFill>
              </a:defRPr>
            </a:pPr>
            <a:r>
              <a:rPr sz="200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y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= </a:t>
            </a:r>
            <a:r>
              <a:rPr sz="200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H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(</a:t>
            </a:r>
            <a:r>
              <a:rPr sz="200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M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)，</a:t>
            </a: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长度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256 </a:t>
            </a: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085340" y="4389799"/>
            <a:ext cx="7429500" cy="8763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237740" y="4523149"/>
            <a:ext cx="7124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90012"/>
                </a:solidFill>
              </a:defRPr>
            </a:pPr>
            <a:r>
              <a:rPr sz="14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实现目标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237740" y="4846999"/>
            <a:ext cx="7124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sz="16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无论输入多长，最终都得到 8 个 32 位字拼接而成的摘要。</a:t>
            </a:r>
          </a:p>
        </p:txBody>
      </p:sp>
      <p:sp>
        <p:nvSpPr>
          <p:cNvPr id="7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3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19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MD5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SHA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 </a:t>
            </a: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简介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96570" y="96774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示例消息进入算法：先把字节看成比特串</a:t>
            </a:r>
            <a:endParaRPr lang="zh-CN" altLang="en-US" sz="2000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47750" y="283019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C90012"/>
                </a:solidFill>
              </a:defRPr>
            </a:pPr>
            <a:r>
              <a:rPr sz="24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示例</a:t>
            </a:r>
            <a:r>
              <a:rPr sz="24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：</a:t>
            </a:r>
            <a:r>
              <a:rPr sz="240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M</a:t>
            </a:r>
            <a:r>
              <a:rPr sz="24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= "abc"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95375" y="3592195"/>
            <a:ext cx="2476500" cy="157162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247775" y="3725545"/>
            <a:ext cx="2171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90012"/>
                </a:solidFill>
              </a:defRPr>
            </a:pPr>
            <a:r>
              <a:rPr sz="16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ASCII 字节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247775" y="4049395"/>
            <a:ext cx="21717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303030"/>
                </a:solidFill>
              </a:defRPr>
            </a:pPr>
            <a:r>
              <a:rPr sz="18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a = 0x61</a:t>
            </a:r>
          </a:p>
          <a:p>
            <a:pPr algn="l">
              <a:defRPr sz="1575" b="0">
                <a:solidFill>
                  <a:srgbClr val="303030"/>
                </a:solidFill>
              </a:defRPr>
            </a:pPr>
            <a:r>
              <a:rPr sz="18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b = 0x62</a:t>
            </a:r>
          </a:p>
          <a:p>
            <a:pPr algn="l">
              <a:defRPr sz="1575" b="0">
                <a:solidFill>
                  <a:srgbClr val="303030"/>
                </a:solidFill>
              </a:defRPr>
            </a:pPr>
            <a:r>
              <a:rPr sz="18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c = 0x63</a:t>
            </a: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286250" y="3592195"/>
            <a:ext cx="4476750" cy="9525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4438650" y="3725545"/>
            <a:ext cx="417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90012"/>
                </a:solidFill>
              </a:defRPr>
            </a:pPr>
            <a:r>
              <a:rPr sz="16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比特表示</a:t>
            </a: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4438650" y="4049395"/>
            <a:ext cx="417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303030"/>
                </a:solidFill>
              </a:defRPr>
            </a:pPr>
            <a:r>
              <a:rPr sz="24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01100001 01100010 01100011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334500" y="3592195"/>
            <a:ext cx="1809750" cy="9525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486900" y="3725545"/>
            <a:ext cx="1504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90012"/>
                </a:solidFill>
              </a:defRPr>
            </a:pPr>
            <a:r>
              <a:rPr sz="16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消息长度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9486900" y="4049395"/>
            <a:ext cx="1504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303030"/>
                </a:solidFill>
              </a:defRPr>
            </a:pPr>
            <a:r>
              <a:rPr lang="en-US" sz="2000" b="1" i="1">
                <a:solidFill>
                  <a:srgbClr val="303030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L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= 24 </a:t>
            </a: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54737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8" name="矩形 77"/>
          <p:cNvSpPr>
            <a:spLocks noGrp="1"/>
          </p:cNvSpPr>
          <p:nvPr/>
        </p:nvSpPr>
        <p:spPr>
          <a:xfrm>
            <a:off x="6534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chemeClr val="bg1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chemeClr val="bg1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79" name="右箭头 78"/>
          <p:cNvSpPr>
            <a:spLocks noGrp="1"/>
          </p:cNvSpPr>
          <p:nvPr/>
        </p:nvSpPr>
        <p:spPr>
          <a:xfrm>
            <a:off x="20904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80" name="圆角矩形 79"/>
          <p:cNvSpPr>
            <a:spLocks noGrp="1"/>
          </p:cNvSpPr>
          <p:nvPr/>
        </p:nvSpPr>
        <p:spPr>
          <a:xfrm>
            <a:off x="235712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24631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82" name="右箭头 81"/>
          <p:cNvSpPr>
            <a:spLocks noGrp="1"/>
          </p:cNvSpPr>
          <p:nvPr/>
        </p:nvSpPr>
        <p:spPr>
          <a:xfrm>
            <a:off x="39001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83" name="圆角矩形 82"/>
          <p:cNvSpPr>
            <a:spLocks noGrp="1"/>
          </p:cNvSpPr>
          <p:nvPr/>
        </p:nvSpPr>
        <p:spPr>
          <a:xfrm>
            <a:off x="4166870" y="1692275"/>
            <a:ext cx="1753870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4146550" y="1779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85" name="右箭头 84"/>
          <p:cNvSpPr>
            <a:spLocks noGrp="1"/>
          </p:cNvSpPr>
          <p:nvPr/>
        </p:nvSpPr>
        <p:spPr>
          <a:xfrm>
            <a:off x="59258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86" name="圆角矩形 85"/>
          <p:cNvSpPr>
            <a:spLocks noGrp="1"/>
          </p:cNvSpPr>
          <p:nvPr/>
        </p:nvSpPr>
        <p:spPr>
          <a:xfrm>
            <a:off x="619252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2985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88" name="右箭头 87"/>
          <p:cNvSpPr>
            <a:spLocks noGrp="1"/>
          </p:cNvSpPr>
          <p:nvPr/>
        </p:nvSpPr>
        <p:spPr>
          <a:xfrm>
            <a:off x="77355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800227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81083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</a:p>
        </p:txBody>
      </p:sp>
      <p:sp>
        <p:nvSpPr>
          <p:cNvPr id="91" name="右箭头 90"/>
          <p:cNvSpPr>
            <a:spLocks noGrp="1"/>
          </p:cNvSpPr>
          <p:nvPr/>
        </p:nvSpPr>
        <p:spPr>
          <a:xfrm>
            <a:off x="95453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92" name="圆角矩形 91"/>
          <p:cNvSpPr>
            <a:spLocks noGrp="1"/>
          </p:cNvSpPr>
          <p:nvPr/>
        </p:nvSpPr>
        <p:spPr>
          <a:xfrm>
            <a:off x="9812020" y="1692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93" name="矩形 92"/>
          <p:cNvSpPr>
            <a:spLocks noGrp="1"/>
          </p:cNvSpPr>
          <p:nvPr/>
        </p:nvSpPr>
        <p:spPr>
          <a:xfrm>
            <a:off x="9750425" y="1779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chemeClr val="bg1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比特摘要</a:t>
            </a: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02920" y="9715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填充第一步：在消息末尾添加一个</a:t>
            </a:r>
            <a:r>
              <a:rPr sz="2000" b="1">
                <a:solidFill>
                  <a:srgbClr val="C90012"/>
                </a:solidFill>
                <a:sym typeface="+mn-ea"/>
              </a:rPr>
              <a:t> </a:t>
            </a: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</a:t>
            </a:r>
            <a:endParaRPr lang="zh-CN" altLang="en-US" sz="2000" b="1">
              <a:solidFill>
                <a:srgbClr val="C90012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710940" y="2846705"/>
            <a:ext cx="904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710940" y="2941955"/>
            <a:ext cx="904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15815" y="2846705"/>
            <a:ext cx="904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615815" y="2941955"/>
            <a:ext cx="904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520690" y="2846705"/>
            <a:ext cx="904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520690" y="2941955"/>
            <a:ext cx="904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425565" y="2846705"/>
            <a:ext cx="904875" cy="552450"/>
          </a:xfrm>
          <a:prstGeom prst="rect">
            <a:avLst/>
          </a:prstGeom>
          <a:solidFill>
            <a:srgbClr val="C90012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425565" y="2941955"/>
            <a:ext cx="904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266190" y="4173220"/>
            <a:ext cx="9573260" cy="8572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300480" y="4207510"/>
            <a:ext cx="6934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为什么补</a:t>
            </a:r>
            <a:r>
              <a:rPr sz="2000" b="1">
                <a:solidFill>
                  <a:srgbClr val="C90012"/>
                </a:solidFill>
              </a:rPr>
              <a:t> </a:t>
            </a: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418590" y="4630420"/>
            <a:ext cx="9359265" cy="372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它明确标记原始消息的结束点。即使后面继续补</a:t>
            </a:r>
            <a:r>
              <a:rPr sz="2000" b="0">
                <a:solidFill>
                  <a:srgbClr val="303030"/>
                </a:solidFill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sz="2000" b="0">
                <a:solidFill>
                  <a:srgbClr val="303030"/>
                </a:solidFill>
              </a:rPr>
              <a:t>，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也能区分消息内容与填充内容</a:t>
            </a:r>
            <a:r>
              <a:rPr sz="2000" b="0">
                <a:solidFill>
                  <a:srgbClr val="303030"/>
                </a:solidFill>
              </a:rPr>
              <a:t>。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54737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8" name="矩形 77"/>
          <p:cNvSpPr>
            <a:spLocks noGrp="1"/>
          </p:cNvSpPr>
          <p:nvPr/>
        </p:nvSpPr>
        <p:spPr>
          <a:xfrm>
            <a:off x="6534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79" name="右箭头 78"/>
          <p:cNvSpPr>
            <a:spLocks noGrp="1"/>
          </p:cNvSpPr>
          <p:nvPr/>
        </p:nvSpPr>
        <p:spPr>
          <a:xfrm>
            <a:off x="20904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80" name="圆角矩形 79"/>
          <p:cNvSpPr>
            <a:spLocks noGrp="1"/>
          </p:cNvSpPr>
          <p:nvPr/>
        </p:nvSpPr>
        <p:spPr>
          <a:xfrm>
            <a:off x="23571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1" name="矩形 80"/>
          <p:cNvSpPr>
            <a:spLocks noGrp="1"/>
          </p:cNvSpPr>
          <p:nvPr/>
        </p:nvSpPr>
        <p:spPr>
          <a:xfrm>
            <a:off x="24631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82" name="右箭头 81"/>
          <p:cNvSpPr>
            <a:spLocks noGrp="1"/>
          </p:cNvSpPr>
          <p:nvPr/>
        </p:nvSpPr>
        <p:spPr>
          <a:xfrm>
            <a:off x="39001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83" name="圆角矩形 82"/>
          <p:cNvSpPr>
            <a:spLocks noGrp="1"/>
          </p:cNvSpPr>
          <p:nvPr/>
        </p:nvSpPr>
        <p:spPr>
          <a:xfrm>
            <a:off x="4166870" y="1692275"/>
            <a:ext cx="1753870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4146550" y="1779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比特分组</a:t>
            </a:r>
            <a:endParaRPr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</a:endParaRPr>
          </a:p>
        </p:txBody>
      </p:sp>
      <p:sp>
        <p:nvSpPr>
          <p:cNvPr id="85" name="右箭头 84"/>
          <p:cNvSpPr>
            <a:spLocks noGrp="1"/>
          </p:cNvSpPr>
          <p:nvPr/>
        </p:nvSpPr>
        <p:spPr>
          <a:xfrm>
            <a:off x="59258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86" name="圆角矩形 85"/>
          <p:cNvSpPr>
            <a:spLocks noGrp="1"/>
          </p:cNvSpPr>
          <p:nvPr/>
        </p:nvSpPr>
        <p:spPr>
          <a:xfrm>
            <a:off x="619252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2985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  <a:endParaRPr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88" name="右箭头 87"/>
          <p:cNvSpPr>
            <a:spLocks noGrp="1"/>
          </p:cNvSpPr>
          <p:nvPr/>
        </p:nvSpPr>
        <p:spPr>
          <a:xfrm>
            <a:off x="77355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800227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81083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  <a:endParaRPr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91" name="右箭头 90"/>
          <p:cNvSpPr>
            <a:spLocks noGrp="1"/>
          </p:cNvSpPr>
          <p:nvPr/>
        </p:nvSpPr>
        <p:spPr>
          <a:xfrm>
            <a:off x="95453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92" name="圆角矩形 91"/>
          <p:cNvSpPr>
            <a:spLocks noGrp="1"/>
          </p:cNvSpPr>
          <p:nvPr/>
        </p:nvSpPr>
        <p:spPr>
          <a:xfrm>
            <a:off x="9812020" y="1692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3" name="矩形 92"/>
          <p:cNvSpPr>
            <a:spLocks noGrp="1"/>
          </p:cNvSpPr>
          <p:nvPr/>
        </p:nvSpPr>
        <p:spPr>
          <a:xfrm>
            <a:off x="9750425" y="1779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比特摘要</a:t>
            </a:r>
            <a:endParaRPr sz="2000" b="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</a:endParaRPr>
          </a:p>
        </p:txBody>
      </p:sp>
      <p:sp>
        <p:nvSpPr>
          <p:cNvPr id="4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02920" y="10477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填充第二步</a:t>
            </a:r>
            <a:r>
              <a:rPr sz="2000" b="1">
                <a:solidFill>
                  <a:srgbClr val="C90012"/>
                </a:solidFill>
                <a:sym typeface="+mn-ea"/>
              </a:rPr>
              <a:t>：</a:t>
            </a: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继续补</a:t>
            </a:r>
            <a:r>
              <a:rPr sz="2000" b="1">
                <a:solidFill>
                  <a:srgbClr val="C90012"/>
                </a:solidFill>
                <a:sym typeface="+mn-ea"/>
              </a:rPr>
              <a:t> </a:t>
            </a: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0</a:t>
            </a:r>
            <a:r>
              <a:rPr sz="2000" b="1">
                <a:solidFill>
                  <a:srgbClr val="C90012"/>
                </a:solidFill>
                <a:sym typeface="+mn-ea"/>
              </a:rPr>
              <a:t>，</a:t>
            </a: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直到长度到达</a:t>
            </a:r>
            <a:r>
              <a:rPr sz="2000" b="1">
                <a:solidFill>
                  <a:srgbClr val="C90012"/>
                </a:solidFill>
                <a:sym typeface="+mn-ea"/>
              </a:rPr>
              <a:t> </a:t>
            </a: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448</a:t>
            </a:r>
            <a:r>
              <a:rPr sz="2000" b="1">
                <a:solidFill>
                  <a:srgbClr val="C90012"/>
                </a:solidFill>
                <a:sym typeface="+mn-ea"/>
              </a:rPr>
              <a:t> </a:t>
            </a:r>
            <a:r>
              <a:rPr sz="2000" b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mod </a:t>
            </a: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512</a:t>
            </a:r>
            <a:endParaRPr lang="zh-CN" altLang="en-US" sz="2000" b="1">
              <a:solidFill>
                <a:srgbClr val="C90012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96390" y="2819400"/>
            <a:ext cx="857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596390" y="29146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453640" y="2819400"/>
            <a:ext cx="857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453640" y="29146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310890" y="2819400"/>
            <a:ext cx="857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310890" y="29146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168140" y="2819400"/>
            <a:ext cx="857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168140" y="29146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sz="2000" b="0">
              <a:solidFill>
                <a:srgbClr val="30303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025390" y="2819400"/>
            <a:ext cx="857250" cy="533400"/>
          </a:xfrm>
          <a:prstGeom prst="rect">
            <a:avLst/>
          </a:prstGeom>
          <a:solidFill>
            <a:srgbClr val="C90012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025390" y="29146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2000" b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882640" y="2819400"/>
            <a:ext cx="857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882640" y="29146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endParaRPr sz="2000" b="0">
              <a:solidFill>
                <a:srgbClr val="303030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739890" y="2819400"/>
            <a:ext cx="857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739890" y="29146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endParaRPr sz="2000" b="0">
              <a:solidFill>
                <a:srgbClr val="303030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597140" y="2819400"/>
            <a:ext cx="857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597140" y="29146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</a:rPr>
              <a:t>…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454390" y="2819400"/>
            <a:ext cx="857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454390" y="29146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endParaRPr sz="2000" b="0">
              <a:solidFill>
                <a:srgbClr val="303030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310765" y="4362450"/>
            <a:ext cx="7429500" cy="45720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310765" y="436245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90012"/>
                </a:solidFill>
              </a:defRPr>
            </a:pPr>
            <a:r>
              <a:rPr sz="24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选择最小</a:t>
            </a:r>
            <a:r>
              <a:rPr sz="2400" b="1">
                <a:solidFill>
                  <a:srgbClr val="C90012"/>
                </a:solidFill>
              </a:rPr>
              <a:t> </a:t>
            </a:r>
            <a:r>
              <a:rPr sz="2400" b="1" i="1">
                <a:solidFill>
                  <a:srgbClr val="C9001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K</a:t>
            </a:r>
            <a:r>
              <a:rPr sz="2400" b="1">
                <a:solidFill>
                  <a:srgbClr val="C90012"/>
                </a:solidFill>
              </a:rPr>
              <a:t>，</a:t>
            </a:r>
            <a:r>
              <a:rPr sz="24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使</a:t>
            </a:r>
            <a:r>
              <a:rPr sz="2400" b="1">
                <a:solidFill>
                  <a:srgbClr val="C90012"/>
                </a:solidFill>
              </a:rPr>
              <a:t> </a:t>
            </a:r>
            <a:r>
              <a:rPr lang="en-US" sz="2400" b="1" i="1">
                <a:solidFill>
                  <a:srgbClr val="C9001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L</a:t>
            </a:r>
            <a:r>
              <a:rPr sz="24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+ 1 + </a:t>
            </a:r>
            <a:r>
              <a:rPr sz="2400" b="1" i="1">
                <a:solidFill>
                  <a:srgbClr val="C9001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K</a:t>
            </a:r>
            <a:r>
              <a:rPr sz="24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≡ 448 (mod 512)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-70485" y="5438775"/>
            <a:ext cx="1219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8B3D3D"/>
                </a:solidFill>
              </a:defRPr>
            </a:pPr>
            <a:r>
              <a:rPr sz="2400" b="0">
                <a:solidFill>
                  <a:srgbClr val="8B3D3D"/>
                </a:solidFill>
              </a:rPr>
              <a:t>也就是说，每个分组最后 </a:t>
            </a:r>
            <a:r>
              <a:rPr sz="2400" b="0">
                <a:solidFill>
                  <a:srgbClr val="8B3D3D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64</a:t>
            </a:r>
            <a:r>
              <a:rPr sz="2400" b="0">
                <a:solidFill>
                  <a:srgbClr val="8B3D3D"/>
                </a:solidFill>
              </a:rPr>
              <a:t> 比特留给原消息长度</a:t>
            </a:r>
            <a:r>
              <a:rPr lang="en-US" sz="2400" b="0">
                <a:solidFill>
                  <a:srgbClr val="8B3D3D"/>
                </a:solidFill>
              </a:rPr>
              <a:t> </a:t>
            </a:r>
            <a:r>
              <a:rPr sz="2400" b="0" i="1">
                <a:solidFill>
                  <a:srgbClr val="8B3D3D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L</a:t>
            </a:r>
            <a:r>
              <a:rPr sz="2400" b="0">
                <a:solidFill>
                  <a:srgbClr val="8B3D3D"/>
                </a:solidFill>
              </a:rPr>
              <a:t>。</a:t>
            </a: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4737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1692275"/>
            <a:ext cx="1753870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1779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1692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1779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比特摘要</a:t>
            </a:r>
          </a:p>
        </p:txBody>
      </p:sp>
      <p:sp>
        <p:nvSpPr>
          <p:cNvPr id="2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4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02920" y="104775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填充第三步：附加</a:t>
            </a:r>
            <a:r>
              <a:rPr sz="2000">
                <a:sym typeface="+mn-ea"/>
              </a:rPr>
              <a:t> </a:t>
            </a:r>
            <a:r>
              <a:rPr sz="2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64</a:t>
            </a:r>
            <a:r>
              <a:rPr sz="2000">
                <a:sym typeface="+mn-ea"/>
              </a:rPr>
              <a:t>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比特的原始消息长度</a:t>
            </a:r>
            <a:endParaRPr sz="2000" b="1">
              <a:solidFill>
                <a:srgbClr val="C90012"/>
              </a:solidFill>
            </a:endParaRPr>
          </a:p>
          <a:p>
            <a:pPr algn="l">
              <a:defRPr sz="1800" b="1">
                <a:solidFill>
                  <a:srgbClr val="C90012"/>
                </a:solidFill>
              </a:defRPr>
            </a:pPr>
            <a:endParaRPr lang="zh-CN" altLang="en-US" sz="2000" b="1">
              <a:solidFill>
                <a:srgbClr val="C90012"/>
              </a:solidFill>
              <a:sym typeface="+mn-ea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4737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1692275"/>
            <a:ext cx="1753870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1779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压缩迭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代</a:t>
            </a: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1692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1779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比特摘要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68095" y="2921635"/>
            <a:ext cx="2762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215390" y="311213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消息 + 1 + </a:t>
            </a:r>
            <a:r>
              <a:rPr sz="2000" b="1" i="1">
                <a:solidFill>
                  <a:srgbClr val="303030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K</a:t>
            </a:r>
            <a:r>
              <a:rPr lang="en-US"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个0</a:t>
            </a: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4411345" y="3074035"/>
            <a:ext cx="762000" cy="3048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554345" y="2921635"/>
            <a:ext cx="4191000" cy="60960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554345" y="311213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64 比特长度字段：</a:t>
            </a:r>
            <a:r>
              <a:rPr lang="en-US" sz="200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L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220720" y="4036060"/>
            <a:ext cx="5905500" cy="90487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373120" y="4169410"/>
            <a:ext cx="560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对 "abc" 的例子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373120" y="4493260"/>
            <a:ext cx="5600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303030"/>
                </a:solidFill>
              </a:defRPr>
            </a:pPr>
            <a:r>
              <a:rPr lang="en-US" sz="2000" b="1" i="1">
                <a:solidFill>
                  <a:srgbClr val="303030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L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= 24，</a:t>
            </a:r>
            <a:r>
              <a:rPr lang="zh-CN"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该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整数</a:t>
            </a:r>
            <a:r>
              <a:rPr lang="zh-CN"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表示为</a:t>
            </a:r>
            <a:r>
              <a:rPr lang="en-US" altLang="zh-CN"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64</a:t>
            </a:r>
            <a:r>
              <a:rPr lang="zh-CN" altLang="en-US"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比特长度的字段。</a:t>
            </a:r>
            <a:endParaRPr lang="en-US" altLang="zh-CN" sz="2000" b="1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</a:endParaRPr>
          </a:p>
        </p:txBody>
      </p:sp>
      <p:sp>
        <p:nvSpPr>
          <p:cNvPr id="2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4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74750" y="5168900"/>
            <a:ext cx="9334500" cy="68580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74750" y="5387975"/>
            <a:ext cx="933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C90012"/>
                </a:solidFill>
              </a:defRPr>
            </a:pPr>
            <a:r>
              <a:rPr sz="200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M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′ = </a:t>
            </a:r>
            <a:r>
              <a:rPr sz="200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M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|| 1 || 0</a:t>
            </a:r>
            <a:r>
              <a:rPr lang="en-US" sz="2000" i="1" baseline="30000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K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|| len</a:t>
            </a:r>
            <a:r>
              <a:rPr lang="en-US" sz="2000" baseline="-25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64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(</a:t>
            </a:r>
            <a:r>
              <a:rPr sz="200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M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02920" y="10477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分组：把 </a:t>
            </a: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M</a:t>
            </a:r>
            <a:r>
              <a:rPr sz="200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′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切成 </a:t>
            </a:r>
            <a:r>
              <a:rPr sz="200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512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比特消息块</a:t>
            </a:r>
            <a:endParaRPr lang="zh-CN" altLang="en-US" sz="2000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4737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1692275"/>
            <a:ext cx="1753870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1779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  <a:endParaRPr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1692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1779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比特摘要</a:t>
            </a:r>
            <a:endParaRPr sz="2000" b="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597025" y="2369820"/>
            <a:ext cx="1809750" cy="398780"/>
          </a:xfrm>
          <a:prstGeom prst="rect">
            <a:avLst/>
          </a:prstGeom>
          <a:solidFill>
            <a:srgbClr val="FCE6E6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597025" y="2390140"/>
            <a:ext cx="180975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C90012"/>
                </a:solidFill>
              </a:defRPr>
            </a:pPr>
            <a:r>
              <a:rPr sz="1950" b="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m</a:t>
            </a:r>
            <a:r>
              <a:rPr sz="195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′</a:t>
            </a:r>
            <a:r>
              <a:rPr sz="1950" b="1" baseline="-25000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787775" y="2369820"/>
            <a:ext cx="1809750" cy="39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787775" y="2390140"/>
            <a:ext cx="180975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303030"/>
                </a:solidFill>
              </a:defRPr>
            </a:pPr>
            <a:r>
              <a:rPr sz="1950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m</a:t>
            </a:r>
            <a:r>
              <a:rPr sz="195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′</a:t>
            </a:r>
            <a:r>
              <a:rPr sz="1950" b="0" baseline="-25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988685" y="2400300"/>
            <a:ext cx="1809750" cy="39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978525" y="2390140"/>
            <a:ext cx="180975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303030"/>
                </a:solidFill>
              </a:defRPr>
            </a:pPr>
            <a:r>
              <a:rPr lang="en-US" sz="1950" b="0" baseline="-25000">
                <a:solidFill>
                  <a:srgbClr val="303030"/>
                </a:solidFill>
              </a:rPr>
              <a:t>......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169275" y="2369820"/>
            <a:ext cx="1809750" cy="39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169275" y="2352040"/>
            <a:ext cx="180975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303030"/>
                </a:solidFill>
              </a:defRPr>
            </a:pPr>
            <a:r>
              <a:rPr sz="1950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m</a:t>
            </a:r>
            <a:r>
              <a:rPr sz="195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′</a:t>
            </a:r>
            <a:r>
              <a:rPr lang="en-US" sz="1950" b="0" i="1" baseline="-25000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i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976880" y="3071495"/>
            <a:ext cx="5905500" cy="7810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129280" y="3121025"/>
            <a:ext cx="5600700" cy="106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迭代关系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129280" y="3457575"/>
            <a:ext cx="560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0">
                <a:solidFill>
                  <a:srgbClr val="303030"/>
                </a:solidFill>
              </a:defRPr>
            </a:pP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V</a:t>
            </a:r>
            <a:r>
              <a:rPr lang="en-US" sz="2000" b="0" baseline="-25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= IV，</a:t>
            </a: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V</a:t>
            </a:r>
            <a:r>
              <a:rPr lang="en-US" sz="2000" b="0" i="1" baseline="-25000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i</a:t>
            </a:r>
            <a:r>
              <a:rPr lang="en-US" sz="2000" b="0" baseline="-25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+1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= CF(</a:t>
            </a:r>
            <a:r>
              <a:rPr sz="2000" b="0" i="1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</a:t>
            </a: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ᵢ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m′</a:t>
            </a:r>
            <a:r>
              <a:rPr lang="en-US" sz="200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i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53415" y="2397125"/>
            <a:ext cx="7239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M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  <a:sym typeface="+mn-ea"/>
              </a:rPr>
              <a:t>′ =</a:t>
            </a:r>
            <a:endParaRPr lang="zh-CN" altLang="en-US" sz="2000">
              <a:solidFill>
                <a:srgbClr val="C90012"/>
              </a:solidFill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46050" y="3958590"/>
            <a:ext cx="10997565" cy="198374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-838835" y="3960495"/>
            <a:ext cx="12814935" cy="106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303030"/>
                </a:solidFill>
              </a:defRPr>
            </a:pPr>
            <a:r>
              <a:rPr sz="200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V</a:t>
            </a:r>
            <a:r>
              <a:rPr lang="en-US" sz="2000" baseline="-25000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 </a:t>
            </a:r>
            <a:r>
              <a:rPr sz="2000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IV</a:t>
            </a:r>
            <a:r>
              <a:rPr lang="en-US"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7380166f 4914b2b9 172442d7 da8a0600</a:t>
            </a:r>
            <a:r>
              <a:rPr lang="en-US"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a96f30bc 163138aa e38dee4d b0fb0e4e</a:t>
            </a:r>
            <a:endParaRPr sz="2000" b="0">
              <a:solidFill>
                <a:srgbClr val="30303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defRPr sz="1275" b="1">
                <a:solidFill>
                  <a:srgbClr val="C90012"/>
                </a:solidFill>
              </a:defRPr>
            </a:pPr>
            <a:endParaRPr lang="en-US" sz="2000" b="1">
              <a:solidFill>
                <a:srgbClr val="C9001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98220" y="4491990"/>
            <a:ext cx="9029700" cy="561975"/>
          </a:xfrm>
          <a:prstGeom prst="rect">
            <a:avLst/>
          </a:prstGeom>
          <a:solidFill>
            <a:srgbClr val="FFF1F1"/>
          </a:solidFill>
          <a:ln w="0">
            <a:solidFill>
              <a:srgbClr val="FFF1F1"/>
            </a:solidFill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303030"/>
                </a:solidFill>
              </a:defRPr>
            </a:pPr>
            <a:endParaRPr sz="2000" b="0">
              <a:solidFill>
                <a:srgbClr val="303030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0" y="6039485"/>
            <a:ext cx="1219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8B3D3D"/>
                </a:solidFill>
              </a:defRPr>
            </a:pPr>
            <a:r>
              <a:rPr sz="2000" b="0">
                <a:solidFill>
                  <a:srgbClr val="8B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IV</a:t>
            </a:r>
            <a:r>
              <a:rPr sz="2000" b="0">
                <a:solidFill>
                  <a:srgbClr val="8B3D3D"/>
                </a:solidFill>
              </a:rPr>
              <a:t> </a:t>
            </a:r>
            <a:r>
              <a:rPr sz="2000" b="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会被拆成</a:t>
            </a:r>
            <a:r>
              <a:rPr sz="2000" b="0">
                <a:solidFill>
                  <a:srgbClr val="8B3D3D"/>
                </a:solidFill>
              </a:rPr>
              <a:t> </a:t>
            </a:r>
            <a:r>
              <a:rPr sz="2000" b="0">
                <a:solidFill>
                  <a:srgbClr val="8B3D3D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A、B、C、D、E、F、G、H </a:t>
            </a:r>
            <a:r>
              <a:rPr sz="2000" b="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八个</a:t>
            </a:r>
            <a:r>
              <a:rPr sz="2000" b="0">
                <a:solidFill>
                  <a:srgbClr val="8B3D3D"/>
                </a:solidFill>
              </a:rPr>
              <a:t> </a:t>
            </a:r>
            <a:r>
              <a:rPr sz="2000" b="0">
                <a:solidFill>
                  <a:srgbClr val="8B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32</a:t>
            </a:r>
            <a:r>
              <a:rPr sz="2000" b="0">
                <a:solidFill>
                  <a:srgbClr val="8B3D3D"/>
                </a:solidFill>
              </a:rPr>
              <a:t> </a:t>
            </a:r>
            <a:r>
              <a:rPr sz="2000" b="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位寄存器</a:t>
            </a:r>
            <a:r>
              <a:rPr sz="2000" b="0">
                <a:solidFill>
                  <a:srgbClr val="8B3D3D"/>
                </a:solidFill>
              </a:rPr>
              <a:t>。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55370" y="4339590"/>
            <a:ext cx="2000250" cy="5905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169670" y="4434840"/>
            <a:ext cx="266700" cy="17145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550670" y="4453890"/>
            <a:ext cx="13335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7380166f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436620" y="4339590"/>
            <a:ext cx="2000250" cy="5905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3550920" y="4434840"/>
            <a:ext cx="266700" cy="17145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3931920" y="4453890"/>
            <a:ext cx="13335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4914b2b9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5817870" y="4339590"/>
            <a:ext cx="2000250" cy="5905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5932170" y="4434840"/>
            <a:ext cx="266700" cy="17145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313170" y="4453890"/>
            <a:ext cx="13335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172442d7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199120" y="4339590"/>
            <a:ext cx="2000250" cy="5905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313420" y="4434840"/>
            <a:ext cx="266700" cy="17145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694420" y="4453890"/>
            <a:ext cx="13335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da8a0600</a:t>
            </a: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060450" y="5168265"/>
            <a:ext cx="2000250" cy="5905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174750" y="5263515"/>
            <a:ext cx="266700" cy="17145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</a:t>
            </a: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1555750" y="5282565"/>
            <a:ext cx="13335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a96f30bc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3441700" y="5168265"/>
            <a:ext cx="2000250" cy="5905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3556000" y="5263515"/>
            <a:ext cx="266700" cy="17145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3937000" y="5282565"/>
            <a:ext cx="13335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163138aa</a:t>
            </a: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822950" y="5168265"/>
            <a:ext cx="2000250" cy="5905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5937250" y="5263515"/>
            <a:ext cx="266700" cy="17145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</a:t>
            </a: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318250" y="5282565"/>
            <a:ext cx="13335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e38dee4d</a:t>
            </a: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204200" y="5168265"/>
            <a:ext cx="2000250" cy="5905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8318500" y="5263515"/>
            <a:ext cx="266700" cy="17145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699500" y="5282565"/>
            <a:ext cx="1333500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b0fb0e4e</a:t>
            </a:r>
          </a:p>
        </p:txBody>
      </p:sp>
      <p:sp>
        <p:nvSpPr>
          <p:cNvPr id="28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9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02920" y="10477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消息扩展的目标：把一个分组变成更多轮输入</a:t>
            </a:r>
            <a:endParaRPr lang="zh-CN" altLang="en-US" sz="2000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4737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1692275"/>
            <a:ext cx="175387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1779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1692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1779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比特摘要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15695" y="2541270"/>
            <a:ext cx="2190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15695" y="275082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m′</a:t>
            </a:r>
            <a:r>
              <a:rPr lang="en-US" sz="200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i</a:t>
            </a:r>
            <a:endParaRPr sz="2000" i="1">
              <a:solidFill>
                <a:srgbClr val="303030"/>
              </a:solidFill>
              <a:latin typeface="Times New Roman Italic" panose="02020503050405090304" charset="0"/>
              <a:ea typeface="微软雅黑" panose="020B0503020204020204" charset="-122"/>
              <a:cs typeface="Times New Roman Italic" panose="02020503050405090304" charset="0"/>
            </a:endParaRP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3639820" y="2731770"/>
            <a:ext cx="714375" cy="2857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687570" y="2541270"/>
            <a:ext cx="2381250" cy="66675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687570" y="275082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C90012"/>
                </a:solidFill>
              </a:defRPr>
            </a:pPr>
            <a:r>
              <a:rPr sz="20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W</a:t>
            </a:r>
            <a:r>
              <a:rPr sz="2000" b="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[0..67]</a:t>
            </a:r>
          </a:p>
        </p:txBody>
      </p:sp>
      <p:sp>
        <p:nvSpPr>
          <p:cNvPr id="68" name="右箭头 67"/>
          <p:cNvSpPr>
            <a:spLocks noGrp="1"/>
          </p:cNvSpPr>
          <p:nvPr/>
        </p:nvSpPr>
        <p:spPr>
          <a:xfrm>
            <a:off x="7402195" y="2731770"/>
            <a:ext cx="714375" cy="2857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449945" y="2541270"/>
            <a:ext cx="2381250" cy="66675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8449945" y="275082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C90012"/>
                </a:solidFill>
              </a:defRPr>
            </a:pPr>
            <a:r>
              <a:rPr sz="20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W</a:t>
            </a:r>
            <a:r>
              <a:rPr sz="2000" b="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′[0..63]</a:t>
            </a: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547370" y="3413760"/>
            <a:ext cx="10652760" cy="81724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612140" y="3529965"/>
            <a:ext cx="6934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为什么要扩展</a:t>
            </a: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653415" y="3781425"/>
            <a:ext cx="104089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64 </a:t>
            </a: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轮压缩需要足够多的轮输入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。</a:t>
            </a: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消息扩展让原始分组的影响在后续多轮里反复扩散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。</a:t>
            </a: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972820" y="4386580"/>
            <a:ext cx="1000125" cy="476250"/>
          </a:xfrm>
          <a:prstGeom prst="rect">
            <a:avLst/>
          </a:prstGeom>
          <a:solidFill>
            <a:srgbClr val="FCE6E6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972820" y="442849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C90012"/>
                </a:solidFill>
              </a:defRPr>
            </a:pPr>
            <a:r>
              <a:rPr sz="2000" b="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W</a:t>
            </a:r>
            <a:r>
              <a:rPr sz="20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[0]</a:t>
            </a: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2230120" y="4386580"/>
            <a:ext cx="1000125" cy="476250"/>
          </a:xfrm>
          <a:prstGeom prst="rect">
            <a:avLst/>
          </a:prstGeom>
          <a:solidFill>
            <a:srgbClr val="FCE6E6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2230120" y="442849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C90012"/>
                </a:solidFill>
              </a:defRPr>
            </a:pPr>
            <a:r>
              <a:rPr sz="2000" b="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[1]</a:t>
            </a: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3487420" y="4386580"/>
            <a:ext cx="1000125" cy="476250"/>
          </a:xfrm>
          <a:prstGeom prst="rect">
            <a:avLst/>
          </a:prstGeom>
          <a:solidFill>
            <a:srgbClr val="FCE6E6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3487420" y="442849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C90012"/>
                </a:solidFill>
              </a:defRPr>
            </a:pPr>
            <a:r>
              <a:rPr sz="2000" b="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 b="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[2]</a:t>
            </a: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4744720" y="438658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4744720" y="442849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solidFill>
                  <a:srgbClr val="303030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[3]</a:t>
            </a: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6002020" y="438658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6002020" y="442849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[4]</a:t>
            </a: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7259320" y="438658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7259320" y="442849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[5]</a:t>
            </a: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8516620" y="438658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8516620" y="442849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[6]</a:t>
            </a: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9773920" y="438658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9773920" y="442849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[7]</a:t>
            </a: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972820" y="516763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972820" y="522986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[8]</a:t>
            </a: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2230120" y="516763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2230120" y="522986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[9]</a:t>
            </a: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3487420" y="516763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3487420" y="522986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[10]</a:t>
            </a: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4744720" y="516763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4744720" y="522986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[11]</a:t>
            </a: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6002020" y="516763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6002020" y="522986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[12]</a:t>
            </a: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7259320" y="516763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101" name="矩形 100"/>
          <p:cNvSpPr>
            <a:spLocks noGrp="1"/>
          </p:cNvSpPr>
          <p:nvPr/>
        </p:nvSpPr>
        <p:spPr>
          <a:xfrm>
            <a:off x="7259320" y="522986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[13]</a:t>
            </a: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8516620" y="516763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8516620" y="522986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[14]</a:t>
            </a: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9773920" y="5167630"/>
            <a:ext cx="1000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9773920" y="522986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303030"/>
                </a:solidFill>
              </a:defRPr>
            </a:pPr>
            <a:r>
              <a:rPr sz="2000" i="1"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  <a:sym typeface="+mn-ea"/>
              </a:rPr>
              <a:t>W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[15]</a:t>
            </a: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-74930" y="5836285"/>
            <a:ext cx="1219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8B3D3D"/>
                </a:solidFill>
              </a:defRPr>
            </a:pPr>
            <a:r>
              <a:rPr sz="2000" i="1">
                <a:solidFill>
                  <a:srgbClr val="8B3D3D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W</a:t>
            </a:r>
            <a:r>
              <a:rPr sz="2000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[0]</a:t>
            </a:r>
            <a:r>
              <a:rPr sz="2000" b="1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到 </a:t>
            </a:r>
            <a:r>
              <a:rPr sz="2000" i="1">
                <a:solidFill>
                  <a:srgbClr val="8B3D3D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W</a:t>
            </a:r>
            <a:r>
              <a:rPr sz="2000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[15]</a:t>
            </a:r>
            <a:r>
              <a:rPr sz="2000" b="1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来自当前 512 比特消息分组</a:t>
            </a:r>
            <a:r>
              <a:rPr lang="en-US" sz="2000" b="1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，</a:t>
            </a:r>
            <a:r>
              <a:rPr lang="zh-CN" altLang="en-US" sz="2000" b="1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每个字长度未</a:t>
            </a:r>
            <a:r>
              <a:rPr lang="en-US" altLang="zh-CN" sz="2000" b="1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32</a:t>
            </a:r>
            <a:r>
              <a:rPr lang="zh-CN" altLang="en-US" sz="2000" b="1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比特</a:t>
            </a:r>
            <a:r>
              <a:rPr lang="en-US" altLang="zh-CN" sz="2000" b="1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。</a:t>
            </a:r>
          </a:p>
        </p:txBody>
      </p:sp>
      <p:sp>
        <p:nvSpPr>
          <p:cNvPr id="2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4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02920" y="1047750"/>
            <a:ext cx="86055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 </a:t>
            </a:r>
            <a:r>
              <a:rPr sz="2000" b="0" i="1"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W</a:t>
            </a:r>
            <a:r>
              <a:rPr sz="200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[16]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开始，使用递推公式扩展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2000" b="0" i="1"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P</a:t>
            </a:r>
            <a:r>
              <a:rPr sz="2000" baseline="-2500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1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置换函数负责扩散比特影响</a:t>
            </a:r>
            <a:endParaRPr sz="2000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1">
                <a:solidFill>
                  <a:srgbClr val="C90012"/>
                </a:solidFill>
              </a:defRPr>
            </a:pPr>
            <a:endParaRPr sz="2000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1">
                <a:solidFill>
                  <a:srgbClr val="C90012"/>
                </a:solidFill>
              </a:defRPr>
            </a:pPr>
            <a:endParaRPr lang="zh-CN" altLang="en-US" sz="2000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4737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1692275"/>
            <a:ext cx="175387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1779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1692275"/>
            <a:ext cx="1476375" cy="4800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1692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1779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比特摘要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15695" y="2541270"/>
            <a:ext cx="2190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15695" y="275082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</a:t>
            </a: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m′</a:t>
            </a:r>
            <a:r>
              <a:rPr lang="en-US" sz="200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i</a:t>
            </a:r>
            <a:endParaRPr sz="2000" i="1">
              <a:solidFill>
                <a:srgbClr val="303030"/>
              </a:solidFill>
              <a:latin typeface="Times New Roman Italic" panose="02020503050405090304" charset="0"/>
              <a:ea typeface="微软雅黑" panose="020B0503020204020204" charset="-122"/>
              <a:cs typeface="Times New Roman Italic" panose="02020503050405090304" charset="0"/>
            </a:endParaRP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3639820" y="2731770"/>
            <a:ext cx="714375" cy="2857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687570" y="2541270"/>
            <a:ext cx="2381250" cy="666750"/>
          </a:xfrm>
          <a:prstGeom prst="rect">
            <a:avLst/>
          </a:prstGeom>
          <a:solidFill>
            <a:srgbClr val="FFF1F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4687570" y="275082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C90012"/>
                </a:solidFill>
              </a:defRPr>
            </a:pPr>
            <a:r>
              <a:rPr sz="20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W</a:t>
            </a:r>
            <a:r>
              <a:rPr lang="en-US" sz="20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</a:t>
            </a:r>
            <a:r>
              <a:rPr sz="2000" b="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[0..67]</a:t>
            </a:r>
          </a:p>
        </p:txBody>
      </p:sp>
      <p:sp>
        <p:nvSpPr>
          <p:cNvPr id="68" name="右箭头 67"/>
          <p:cNvSpPr>
            <a:spLocks noGrp="1"/>
          </p:cNvSpPr>
          <p:nvPr/>
        </p:nvSpPr>
        <p:spPr>
          <a:xfrm>
            <a:off x="7402195" y="2731770"/>
            <a:ext cx="714375" cy="2857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449945" y="2541270"/>
            <a:ext cx="2381250" cy="66675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8449945" y="275082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C90012"/>
                </a:solidFill>
              </a:defRPr>
            </a:pPr>
            <a:r>
              <a:rPr sz="20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W</a:t>
            </a:r>
            <a:r>
              <a:rPr sz="2000" b="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′[0..63]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47445" y="3822065"/>
            <a:ext cx="9715500" cy="1615440"/>
          </a:xfrm>
          <a:prstGeom prst="rect">
            <a:avLst/>
          </a:prstGeom>
          <a:solidFill>
            <a:srgbClr val="FCE6E6"/>
          </a:solidFill>
          <a:ln w="19050">
            <a:solidFill>
              <a:srgbClr val="C9001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80795" y="3936365"/>
            <a:ext cx="944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消息扩展公式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9115" y="3927475"/>
            <a:ext cx="10464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        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W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[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j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]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= P</a:t>
            </a:r>
            <a:r>
              <a:rPr sz="2000" baseline="-25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(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W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[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j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−16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]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⊕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W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[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j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−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9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]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⊕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(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W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[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j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−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3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]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&lt;&lt;&lt;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15))</a:t>
            </a:r>
            <a:endParaRPr sz="2000" i="1">
              <a:solidFill>
                <a:srgbClr val="303030"/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               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⊕ (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W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[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j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−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13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]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&lt;&lt;&lt;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7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)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⊕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W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[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j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−</a:t>
            </a:r>
            <a:r>
              <a:rPr lang="en-US"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6</a:t>
            </a:r>
            <a:r>
              <a:rPr lang="en-US"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]，for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16 ≤</a:t>
            </a:r>
            <a:r>
              <a:rPr sz="200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j </a:t>
            </a:r>
            <a:r>
              <a:rPr sz="200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≤ 67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359660" y="5799455"/>
            <a:ext cx="716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0012"/>
                </a:solidFill>
              </a:defRPr>
            </a:pPr>
            <a:endParaRPr sz="1125" b="1">
              <a:solidFill>
                <a:srgbClr val="C90012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359660" y="4587240"/>
            <a:ext cx="57213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W′</a:t>
            </a:r>
            <a:r>
              <a:rPr lang="en-US"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[</a:t>
            </a:r>
            <a:r>
              <a:rPr lang="en-US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j</a:t>
            </a:r>
            <a:r>
              <a:rPr lang="en-US"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]</a:t>
            </a:r>
            <a:r>
              <a:rPr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= W</a:t>
            </a:r>
            <a:r>
              <a:rPr lang="en-US"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[</a:t>
            </a:r>
            <a:r>
              <a:rPr lang="en-US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j</a:t>
            </a:r>
            <a:r>
              <a:rPr lang="en-US"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]⊕</a:t>
            </a:r>
            <a:r>
              <a:rPr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W</a:t>
            </a:r>
            <a:r>
              <a:rPr lang="en-US"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[</a:t>
            </a:r>
            <a:r>
              <a:rPr lang="en-US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j</a:t>
            </a:r>
            <a:r>
              <a:rPr lang="en-US"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+</a:t>
            </a:r>
            <a:r>
              <a:rPr lang="en-US"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4</a:t>
            </a:r>
            <a:r>
              <a:rPr lang="en-US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]</a:t>
            </a:r>
            <a:r>
              <a:rPr lang="en-US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，for</a:t>
            </a:r>
            <a:r>
              <a:rPr lang="en-US"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0 ≤</a:t>
            </a:r>
            <a:r>
              <a:rPr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j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≤</a:t>
            </a:r>
            <a:r>
              <a:rPr sz="2000" b="0" i="1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63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757805" y="4999355"/>
            <a:ext cx="508381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lang="en-US" sz="2000" i="1"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P</a:t>
            </a:r>
            <a:r>
              <a:rPr lang="en-US" sz="2000" baseline="-2500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1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000" b="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X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000" b="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 = X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⊕(</a:t>
            </a:r>
            <a:r>
              <a:rPr sz="2000" b="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X 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&lt;&lt;&lt;</a:t>
            </a:r>
            <a:r>
              <a:rPr sz="2000" b="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15) ⊕ (</a:t>
            </a:r>
            <a:r>
              <a:rPr sz="2000" b="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X 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&lt;&lt;&lt; 23)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288415" y="4999355"/>
            <a:ext cx="17532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125" b="1">
                <a:solidFill>
                  <a:srgbClr val="C90012"/>
                </a:solidFill>
              </a:defRPr>
            </a:pPr>
            <a:r>
              <a:rPr sz="2000" b="0" i="1"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P</a:t>
            </a:r>
            <a:r>
              <a:rPr sz="2000" b="0" baseline="-2500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1</a:t>
            </a:r>
            <a:r>
              <a:rPr sz="2000" b="1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  <a:sym typeface="+mn-ea"/>
              </a:rPr>
              <a:t>置换函数</a:t>
            </a:r>
            <a:endParaRPr lang="zh-CN" altLang="en-US" sz="2000" b="1">
              <a:solidFill>
                <a:srgbClr val="C90012"/>
              </a:solidFill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26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7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02635" y="5520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02920" y="104775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八个寄存器是压缩函数的工作状态</a:t>
            </a:r>
            <a:endParaRPr sz="2000" b="1">
              <a:solidFill>
                <a:srgbClr val="C90012"/>
              </a:solidFill>
            </a:endParaRPr>
          </a:p>
          <a:p>
            <a:pPr algn="l">
              <a:defRPr sz="1800" b="1">
                <a:solidFill>
                  <a:srgbClr val="C90012"/>
                </a:solidFill>
              </a:defRPr>
            </a:pPr>
            <a:endParaRPr lang="zh-CN" altLang="en-US" sz="2000" b="1">
              <a:solidFill>
                <a:srgbClr val="C90012"/>
              </a:solidFill>
              <a:sym typeface="+mn-ea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4737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比特填充</a:t>
            </a:r>
            <a:endParaRPr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1692275"/>
            <a:ext cx="175387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1779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  <a:endParaRPr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  <a:cs typeface="Times New Roman Bold" panose="02020503050405090304" charset="0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消息扩展</a:t>
            </a:r>
            <a:endParaRPr sz="2000">
              <a:solidFill>
                <a:srgbClr val="303030"/>
              </a:solidFill>
              <a:latin typeface="Times New Roman Bold" panose="02020503050405090304" charset="0"/>
              <a:ea typeface="微软雅黑" panose="020B0503020204020204" charset="-122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1692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1779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压缩迭代</a:t>
            </a: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1838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1692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1779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比特摘要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-70485" y="3575050"/>
            <a:ext cx="1219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ABCDEFGH ← </a:t>
            </a:r>
            <a:r>
              <a:rPr sz="2000" i="1">
                <a:solidFill>
                  <a:srgbClr val="C90012"/>
                </a:solidFill>
                <a:latin typeface="Times New Roman Bold Italic" panose="02020503050405090304" charset="0"/>
                <a:ea typeface="微软雅黑" panose="020B0503020204020204" charset="-122"/>
                <a:cs typeface="Times New Roman Bold Italic" panose="02020503050405090304" charset="0"/>
              </a:rPr>
              <a:t>Vᵢ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38250" y="4027170"/>
            <a:ext cx="2000250" cy="590550"/>
          </a:xfrm>
          <a:prstGeom prst="rect">
            <a:avLst/>
          </a:prstGeom>
          <a:solidFill>
            <a:srgbClr val="C90012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352550" y="412242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A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733550" y="4141470"/>
            <a:ext cx="1333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32-bit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619500" y="4027170"/>
            <a:ext cx="2000250" cy="590550"/>
          </a:xfrm>
          <a:prstGeom prst="rect">
            <a:avLst/>
          </a:prstGeom>
          <a:solidFill>
            <a:srgbClr val="FFF1F1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733800" y="412242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B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114800" y="4141470"/>
            <a:ext cx="1333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32-bit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00750" y="4027170"/>
            <a:ext cx="2000250" cy="590550"/>
          </a:xfrm>
          <a:prstGeom prst="rect">
            <a:avLst/>
          </a:prstGeom>
          <a:solidFill>
            <a:srgbClr val="FFF1F1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115050" y="412242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C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496050" y="4141470"/>
            <a:ext cx="1333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32-bit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82000" y="4027170"/>
            <a:ext cx="2000250" cy="590550"/>
          </a:xfrm>
          <a:prstGeom prst="rect">
            <a:avLst/>
          </a:prstGeom>
          <a:solidFill>
            <a:srgbClr val="FFF1F1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496300" y="412242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D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877300" y="4141470"/>
            <a:ext cx="1333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32-bit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238250" y="4932045"/>
            <a:ext cx="2000250" cy="590550"/>
          </a:xfrm>
          <a:prstGeom prst="rect">
            <a:avLst/>
          </a:prstGeom>
          <a:solidFill>
            <a:srgbClr val="FFF1F1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352550" y="502729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E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733550" y="5046345"/>
            <a:ext cx="1333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32-bit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619500" y="4932045"/>
            <a:ext cx="2000250" cy="590550"/>
          </a:xfrm>
          <a:prstGeom prst="rect">
            <a:avLst/>
          </a:prstGeom>
          <a:solidFill>
            <a:srgbClr val="FFF1F1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733800" y="502729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F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114800" y="5046345"/>
            <a:ext cx="1333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32-bit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000750" y="4932045"/>
            <a:ext cx="2000250" cy="590550"/>
          </a:xfrm>
          <a:prstGeom prst="rect">
            <a:avLst/>
          </a:prstGeom>
          <a:solidFill>
            <a:srgbClr val="FFF1F1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115050" y="502729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G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496050" y="5046345"/>
            <a:ext cx="1333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32-bit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382000" y="4932045"/>
            <a:ext cx="2000250" cy="590550"/>
          </a:xfrm>
          <a:prstGeom prst="rect">
            <a:avLst/>
          </a:prstGeom>
          <a:solidFill>
            <a:srgbClr val="FFF1F1"/>
          </a:solidFill>
          <a:ln w="9525">
            <a:solidFill>
              <a:srgbClr val="E0BABA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496300" y="502729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H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877300" y="5046345"/>
            <a:ext cx="1333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32-bit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0" y="6005195"/>
            <a:ext cx="1219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8B3D3D"/>
                </a:solidFill>
              </a:defRPr>
            </a:pPr>
            <a:r>
              <a:rPr sz="2000" b="1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每个寄存器都是 </a:t>
            </a:r>
            <a:r>
              <a:rPr sz="2000" b="1">
                <a:solidFill>
                  <a:srgbClr val="8B3D3D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</a:t>
            </a:r>
            <a:r>
              <a:rPr sz="2000" b="1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位字，所有加法都只保留低 </a:t>
            </a:r>
            <a:r>
              <a:rPr sz="2000" b="1">
                <a:solidFill>
                  <a:srgbClr val="8B3D3D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32</a:t>
            </a:r>
            <a:r>
              <a:rPr sz="2000" b="1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位</a:t>
            </a:r>
            <a:r>
              <a:rPr sz="2000" b="1">
                <a:solidFill>
                  <a:srgbClr val="8B3D3D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。</a:t>
            </a: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285875" y="2397125"/>
            <a:ext cx="2190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1285875" y="26066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303030"/>
                </a:solidFill>
              </a:defRPr>
            </a:pP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Vᵢ</a:t>
            </a: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285875" y="3190875"/>
            <a:ext cx="2190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285875" y="34004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303030"/>
                </a:solidFill>
              </a:defRPr>
            </a:pP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m′</a:t>
            </a:r>
            <a:r>
              <a:rPr lang="en-US" sz="200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i</a:t>
            </a:r>
            <a:endParaRPr sz="2000" i="1">
              <a:solidFill>
                <a:srgbClr val="303030"/>
              </a:solidFill>
              <a:latin typeface="Times New Roman Italic" panose="02020503050405090304" charset="0"/>
              <a:ea typeface="微软雅黑" panose="020B0503020204020204" charset="-122"/>
              <a:cs typeface="Times New Roman Italic" panose="02020503050405090304" charset="0"/>
            </a:endParaRPr>
          </a:p>
        </p:txBody>
      </p:sp>
      <p:sp>
        <p:nvSpPr>
          <p:cNvPr id="58" name="右箭头 57"/>
          <p:cNvSpPr>
            <a:spLocks noGrp="1"/>
          </p:cNvSpPr>
          <p:nvPr/>
        </p:nvSpPr>
        <p:spPr>
          <a:xfrm>
            <a:off x="4000500" y="2838450"/>
            <a:ext cx="904875" cy="3048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5334000" y="2381250"/>
            <a:ext cx="2667000" cy="104775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5334000" y="2714625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C90012"/>
                </a:solidFill>
              </a:defRPr>
            </a:pPr>
            <a:r>
              <a:rPr sz="2000" b="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CF</a:t>
            </a:r>
          </a:p>
        </p:txBody>
      </p:sp>
      <p:sp>
        <p:nvSpPr>
          <p:cNvPr id="61" name="右箭头 60"/>
          <p:cNvSpPr>
            <a:spLocks noGrp="1"/>
          </p:cNvSpPr>
          <p:nvPr/>
        </p:nvSpPr>
        <p:spPr>
          <a:xfrm>
            <a:off x="8429625" y="2838450"/>
            <a:ext cx="904875" cy="3048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715500" y="2571750"/>
            <a:ext cx="1524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9715500" y="27813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303030"/>
                </a:solidFill>
              </a:defRPr>
            </a:pP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V</a:t>
            </a:r>
            <a:r>
              <a:rPr lang="en-US" sz="2000" i="1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i+</a:t>
            </a:r>
            <a:r>
              <a:rPr lang="en-US" sz="20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</a:t>
            </a:r>
          </a:p>
        </p:txBody>
      </p:sp>
      <p:sp>
        <p:nvSpPr>
          <p:cNvPr id="28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9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>
            <a:spLocks noGrp="1"/>
          </p:cNvSpPr>
          <p:nvPr/>
        </p:nvSpPr>
        <p:spPr>
          <a:xfrm>
            <a:off x="547370" y="803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890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949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803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890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949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803275"/>
            <a:ext cx="175387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890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949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803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890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949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803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890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949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803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890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比特摘要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92630"/>
            <a:ext cx="5296535" cy="428625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6192520" y="3545840"/>
            <a:ext cx="5272405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8B3D3D"/>
                </a:solidFill>
              </a:defRPr>
            </a:pPr>
            <a:r>
              <a:rPr sz="2800" b="0">
                <a:solidFill>
                  <a:srgbClr val="8B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SS1</a:t>
            </a:r>
            <a:r>
              <a:rPr sz="2800" b="0">
                <a:solidFill>
                  <a:srgbClr val="8B3D3D"/>
                </a:solidFill>
              </a:rPr>
              <a:t> </a:t>
            </a:r>
            <a:r>
              <a:rPr sz="2800" b="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把当前状态</a:t>
            </a:r>
            <a:r>
              <a:rPr sz="2800" b="0">
                <a:solidFill>
                  <a:srgbClr val="8B3D3D"/>
                </a:solidFill>
              </a:rPr>
              <a:t> </a:t>
            </a:r>
            <a:r>
              <a:rPr sz="2800" b="0">
                <a:solidFill>
                  <a:srgbClr val="8B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A、E </a:t>
            </a:r>
            <a:r>
              <a:rPr sz="2800" b="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与轮常量</a:t>
            </a:r>
            <a:r>
              <a:rPr sz="2800" b="0">
                <a:solidFill>
                  <a:srgbClr val="8B3D3D"/>
                </a:solidFill>
              </a:rPr>
              <a:t> </a:t>
            </a:r>
            <a:r>
              <a:rPr lang="en-US" sz="2800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</a:t>
            </a:r>
            <a:r>
              <a:rPr lang="en-US" sz="280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j</a:t>
            </a:r>
            <a:r>
              <a:rPr sz="2800" b="0">
                <a:solidFill>
                  <a:srgbClr val="8B3D3D"/>
                </a:solidFill>
              </a:rPr>
              <a:t> </a:t>
            </a:r>
            <a:r>
              <a:rPr sz="2800" b="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</a:rPr>
              <a:t>混合起来</a:t>
            </a:r>
            <a:r>
              <a:rPr sz="2800" b="0">
                <a:solidFill>
                  <a:srgbClr val="8B3D3D"/>
                </a:solidFill>
              </a:rPr>
              <a:t>。</a:t>
            </a:r>
          </a:p>
          <a:p>
            <a:pPr algn="l">
              <a:defRPr sz="1350" b="0">
                <a:solidFill>
                  <a:srgbClr val="8B3D3D"/>
                </a:solidFill>
              </a:defRPr>
            </a:pPr>
            <a:r>
              <a:rPr lang="en-US" sz="2800" b="0" i="1">
                <a:solidFill>
                  <a:srgbClr val="8B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sz="2800" b="0" i="1" baseline="-25000">
                <a:solidFill>
                  <a:srgbClr val="8B3D3D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j</a:t>
            </a:r>
            <a:r>
              <a:rPr lang="en-US" sz="2800" b="0">
                <a:solidFill>
                  <a:srgbClr val="8B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=79cc4</a:t>
            </a:r>
            <a:r>
              <a:rPr lang="en-US" altLang="zh-CN" sz="2800" b="0">
                <a:solidFill>
                  <a:srgbClr val="8B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510, for</a:t>
            </a:r>
            <a:r>
              <a:rPr sz="2800" b="0">
                <a:solidFill>
                  <a:srgbClr val="8B3D3D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16 ≤ </a:t>
            </a:r>
            <a:r>
              <a:rPr sz="2800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</a:t>
            </a:r>
            <a:r>
              <a:rPr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≤ 67</a:t>
            </a:r>
          </a:p>
          <a:p>
            <a:pPr algn="l">
              <a:defRPr sz="1350" b="0">
                <a:solidFill>
                  <a:srgbClr val="8B3D3D"/>
                </a:solidFill>
              </a:defRPr>
            </a:pPr>
            <a:r>
              <a:rPr lang="en-US" sz="2800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</a:t>
            </a:r>
            <a:r>
              <a:rPr lang="en-US" sz="280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j</a:t>
            </a:r>
            <a:r>
              <a:rPr lang="en-US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=7a879d8a</a:t>
            </a:r>
            <a:r>
              <a:rPr lang="en-US" altLang="zh-CN"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for</a:t>
            </a:r>
            <a:r>
              <a:rPr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16 ≤ </a:t>
            </a:r>
            <a:r>
              <a:rPr sz="2800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</a:t>
            </a:r>
            <a:r>
              <a:rPr sz="28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≤ 67</a:t>
            </a:r>
            <a:endParaRPr sz="2800" b="0">
              <a:solidFill>
                <a:srgbClr val="8B3D3D"/>
              </a:solidFill>
            </a:endParaRPr>
          </a:p>
          <a:p>
            <a:pPr algn="l">
              <a:defRPr sz="1350" b="0">
                <a:solidFill>
                  <a:srgbClr val="8B3D3D"/>
                </a:solidFill>
              </a:defRPr>
            </a:pPr>
            <a:endParaRPr sz="2800" b="0">
              <a:solidFill>
                <a:srgbClr val="8B3D3D"/>
              </a:solidFill>
            </a:endParaRPr>
          </a:p>
        </p:txBody>
      </p:sp>
      <p:cxnSp>
        <p:nvCxnSpPr>
          <p:cNvPr id="31" name="曲线连接符 30"/>
          <p:cNvCxnSpPr/>
          <p:nvPr/>
        </p:nvCxnSpPr>
        <p:spPr>
          <a:xfrm rot="5400000" flipV="1">
            <a:off x="5509895" y="2679065"/>
            <a:ext cx="833120" cy="650240"/>
          </a:xfrm>
          <a:prstGeom prst="curvedConnector3">
            <a:avLst>
              <a:gd name="adj1" fmla="val 5007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3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1940" y="1483995"/>
            <a:ext cx="39960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172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sz="2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压缩函数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CF(</a:t>
            </a:r>
            <a:r>
              <a:rPr sz="2000" i="1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Vᵢ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sz="2000" i="1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m′</a:t>
            </a:r>
            <a:r>
              <a:rPr lang="en-US" sz="2000" i="1" baseline="-25000"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i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sz="2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的构造如下</a:t>
            </a:r>
            <a:r>
              <a:rPr lang="en-US" altLang="zh-CN" sz="200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>
            <a:spLocks noGrp="1"/>
          </p:cNvSpPr>
          <p:nvPr/>
        </p:nvSpPr>
        <p:spPr>
          <a:xfrm>
            <a:off x="547370" y="1184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1271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1184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1271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1184275"/>
            <a:ext cx="175387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1271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1184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1271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1184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1271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1184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1271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比特摘要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7355"/>
            <a:ext cx="5296535" cy="4286250"/>
          </a:xfrm>
          <a:prstGeom prst="rect">
            <a:avLst/>
          </a:prstGeom>
        </p:spPr>
      </p:pic>
      <p:cxnSp>
        <p:nvCxnSpPr>
          <p:cNvPr id="31" name="曲线连接符 30"/>
          <p:cNvCxnSpPr/>
          <p:nvPr/>
        </p:nvCxnSpPr>
        <p:spPr>
          <a:xfrm>
            <a:off x="4718685" y="3189605"/>
            <a:ext cx="1193800" cy="193040"/>
          </a:xfrm>
          <a:prstGeom prst="curvedConnector3">
            <a:avLst>
              <a:gd name="adj1" fmla="val 5005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>
            <a:spLocks noGrp="1"/>
          </p:cNvSpPr>
          <p:nvPr/>
        </p:nvSpPr>
        <p:spPr>
          <a:xfrm>
            <a:off x="6074410" y="2921000"/>
            <a:ext cx="4962525" cy="1238250"/>
          </a:xfrm>
          <a:prstGeom prst="rect">
            <a:avLst/>
          </a:prstGeom>
          <a:solidFill>
            <a:srgbClr val="FCE6E6"/>
          </a:solidFill>
          <a:ln w="19050">
            <a:solidFill>
              <a:srgbClr val="C9001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242050" y="3035300"/>
            <a:ext cx="479488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</a:rPr>
              <a:t>0 ≤ </a:t>
            </a:r>
            <a:r>
              <a:rPr sz="2000" i="1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</a:rPr>
              <a:t>j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</a:rPr>
              <a:t> ≤ 15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42050" y="3330575"/>
            <a:ext cx="479488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FF</a:t>
            </a:r>
            <a:r>
              <a:rPr lang="en-US" sz="2000" i="1" baseline="-25000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j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Y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Z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= 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⊕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Y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⊕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Z</a:t>
            </a:r>
          </a:p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GG</a:t>
            </a:r>
            <a:r>
              <a:rPr lang="en-US" sz="2000" i="1" baseline="-25000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j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Y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Z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= 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⊕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Y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⊕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Z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74410" y="4474210"/>
            <a:ext cx="4962525" cy="1381125"/>
          </a:xfrm>
          <a:prstGeom prst="rect">
            <a:avLst/>
          </a:prstGeom>
          <a:solidFill>
            <a:srgbClr val="FCE6E6"/>
          </a:solidFill>
          <a:ln w="19050">
            <a:solidFill>
              <a:srgbClr val="C9001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113780" y="4588510"/>
            <a:ext cx="4822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</a:rPr>
              <a:t>16 ≤ </a:t>
            </a:r>
            <a:r>
              <a:rPr lang="en-US" sz="2000" i="1">
                <a:solidFill>
                  <a:srgbClr val="C9001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j</a:t>
            </a:r>
            <a:r>
              <a:rPr sz="2000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</a:rPr>
              <a:t> ≤ 63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13780" y="4883785"/>
            <a:ext cx="48228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FF</a:t>
            </a:r>
            <a:r>
              <a:rPr lang="en-US" sz="2000" i="1" baseline="-25000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j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Y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Z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= 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∧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Y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∨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∧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Z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∨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Y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∧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Z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sz="2000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GG</a:t>
            </a:r>
            <a:r>
              <a:rPr lang="en-US" sz="2000" i="1" baseline="-25000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j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Y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Z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= 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∧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Y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∨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 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¬X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∧</a:t>
            </a:r>
            <a:r>
              <a:rPr sz="2000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Z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sz="2000" i="1">
              <a:solidFill>
                <a:schemeClr val="tx1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9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>
            <a:spLocks noGrp="1"/>
          </p:cNvSpPr>
          <p:nvPr/>
        </p:nvSpPr>
        <p:spPr>
          <a:xfrm>
            <a:off x="547370" y="1184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1271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消息 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1184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1271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1184275"/>
            <a:ext cx="175387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1271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比特分组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1184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1271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1184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1271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chemeClr val="bg1"/>
                </a:solidFill>
                <a:latin typeface="Times New Roman Bold" panose="02020503050405090304" charset="0"/>
                <a:ea typeface="微软雅黑" panose="020B0503020204020204" charset="-122"/>
              </a:rPr>
              <a:t>压缩迭代</a:t>
            </a: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1330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1184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1271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比特摘要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7355"/>
            <a:ext cx="5296535" cy="4286250"/>
          </a:xfrm>
          <a:prstGeom prst="rect">
            <a:avLst/>
          </a:prstGeom>
        </p:spPr>
      </p:pic>
      <p:cxnSp>
        <p:nvCxnSpPr>
          <p:cNvPr id="31" name="曲线连接符 30"/>
          <p:cNvCxnSpPr/>
          <p:nvPr/>
        </p:nvCxnSpPr>
        <p:spPr>
          <a:xfrm>
            <a:off x="3103245" y="5028565"/>
            <a:ext cx="1193800" cy="193040"/>
          </a:xfrm>
          <a:prstGeom prst="curvedConnector3">
            <a:avLst>
              <a:gd name="adj1" fmla="val 5005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>
            <a:spLocks noGrp="1"/>
          </p:cNvSpPr>
          <p:nvPr/>
        </p:nvSpPr>
        <p:spPr>
          <a:xfrm>
            <a:off x="4442460" y="4850765"/>
            <a:ext cx="4800600" cy="857250"/>
          </a:xfrm>
          <a:prstGeom prst="rect">
            <a:avLst/>
          </a:prstGeom>
          <a:solidFill>
            <a:srgbClr val="FCE6E6"/>
          </a:solidFill>
          <a:ln w="19050">
            <a:solidFill>
              <a:srgbClr val="C9001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575810" y="4850765"/>
            <a:ext cx="464058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0012"/>
                </a:solidFill>
              </a:defRPr>
            </a:pPr>
            <a:r>
              <a:rPr sz="2000" b="0" i="1">
                <a:solidFill>
                  <a:srgbClr val="C9001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P</a:t>
            </a:r>
            <a:r>
              <a:rPr lang="en-US" sz="2000" baseline="-25000">
                <a:solidFill>
                  <a:srgbClr val="C90012"/>
                </a:solidFill>
                <a:latin typeface="Times New Roman Bold" panose="02020503050405090304" charset="0"/>
                <a:cs typeface="Times New Roman Bold" panose="02020503050405090304" charset="0"/>
              </a:rPr>
              <a:t>0</a:t>
            </a: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置换函数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575810" y="5260340"/>
            <a:ext cx="464058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303030"/>
                </a:solidFill>
              </a:defRPr>
            </a:pPr>
            <a:r>
              <a:rPr sz="2000" i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sz="2000" baseline="-25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sz="2000" i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= </a:t>
            </a:r>
            <a:r>
              <a:rPr sz="2000" i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⊕ (</a:t>
            </a:r>
            <a:r>
              <a:rPr sz="2000" i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&lt;&lt;&lt; 9) ⊕ (</a:t>
            </a:r>
            <a:r>
              <a:rPr sz="2000" i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&lt;&lt;&lt; 17)</a:t>
            </a: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3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>
            <a:spLocks noGrp="1"/>
          </p:cNvSpPr>
          <p:nvPr/>
        </p:nvSpPr>
        <p:spPr>
          <a:xfrm>
            <a:off x="547370" y="1438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653415" y="1525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消息</a:t>
            </a: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 </a:t>
            </a: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090420" y="1584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2357120" y="1438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2463165" y="1525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比特填充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900170" y="1584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166870" y="1438275"/>
            <a:ext cx="1753870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146550" y="1525270"/>
            <a:ext cx="174625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512 </a:t>
            </a: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比特分组</a:t>
            </a: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5925820" y="1584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92520" y="1438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298565" y="1525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消息扩展</a:t>
            </a: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735570" y="1584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2270" y="1438275"/>
            <a:ext cx="1476375" cy="480060"/>
          </a:xfrm>
          <a:prstGeom prst="roundRect">
            <a:avLst>
              <a:gd name="adj" fmla="val 111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8108315" y="1525270"/>
            <a:ext cx="1247775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压缩迭代</a:t>
            </a: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9545320" y="1584960"/>
            <a:ext cx="200025" cy="18669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12020" y="1438275"/>
            <a:ext cx="1662430" cy="480060"/>
          </a:xfrm>
          <a:prstGeom prst="roundRect">
            <a:avLst>
              <a:gd name="adj" fmla="val 11111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9750425" y="1525270"/>
            <a:ext cx="1662430" cy="226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0">
                <a:solidFill>
                  <a:schemeClr val="bg1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256 </a:t>
            </a:r>
            <a:r>
              <a:rPr sz="2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 Bold" panose="02020503050405090304" charset="0"/>
              </a:rPr>
              <a:t>比特摘要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38580" y="2503170"/>
            <a:ext cx="1143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338580" y="259842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V</a:t>
            </a:r>
            <a:r>
              <a:rPr lang="en-US" sz="200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0 </a:t>
            </a:r>
            <a:r>
              <a:rPr sz="2000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=</a:t>
            </a:r>
            <a:r>
              <a:rPr lang="en-US" sz="2000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 </a:t>
            </a:r>
            <a:r>
              <a:rPr sz="2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IV</a:t>
            </a: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2538730" y="2674620"/>
            <a:ext cx="266700" cy="2476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862580" y="2503170"/>
            <a:ext cx="1143000" cy="60960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862580" y="259842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90012"/>
                </a:solidFill>
              </a:defRPr>
            </a:pPr>
            <a:r>
              <a:rPr sz="2000" b="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CF</a:t>
            </a:r>
            <a:r>
              <a:rPr sz="2000" b="1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(</a:t>
            </a:r>
            <a:r>
              <a:rPr sz="20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  <a:r>
              <a:rPr sz="2000" b="1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′</a:t>
            </a:r>
            <a:r>
              <a:rPr lang="en-US" sz="2000" b="1" baseline="-25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0</a:t>
            </a:r>
            <a:r>
              <a:rPr sz="2000" b="1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)</a:t>
            </a: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4062730" y="2674620"/>
            <a:ext cx="266700" cy="2476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386580" y="2503170"/>
            <a:ext cx="1143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386580" y="2598420"/>
            <a:ext cx="1143000" cy="1911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 b="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V</a:t>
            </a:r>
            <a:r>
              <a:rPr lang="en-US" sz="2000" b="0" baseline="-2500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1</a:t>
            </a:r>
          </a:p>
        </p:txBody>
      </p:sp>
      <p:sp>
        <p:nvSpPr>
          <p:cNvPr id="36" name="右箭头 35"/>
          <p:cNvSpPr>
            <a:spLocks noGrp="1"/>
          </p:cNvSpPr>
          <p:nvPr/>
        </p:nvSpPr>
        <p:spPr>
          <a:xfrm>
            <a:off x="5586730" y="2674620"/>
            <a:ext cx="266700" cy="2476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910580" y="2503170"/>
            <a:ext cx="1143000" cy="60960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910580" y="259842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90012"/>
                </a:solidFill>
              </a:defRPr>
            </a:pPr>
            <a:r>
              <a:rPr sz="2000" b="0">
                <a:solidFill>
                  <a:srgbClr val="C90012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CF</a:t>
            </a:r>
            <a:r>
              <a:rPr sz="2000" b="1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(</a:t>
            </a:r>
            <a:r>
              <a:rPr sz="2000" b="0" i="1">
                <a:solidFill>
                  <a:srgbClr val="C90012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  <a:r>
              <a:rPr sz="2000" b="1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′</a:t>
            </a:r>
            <a:r>
              <a:rPr lang="en-US" sz="2000" b="1" baseline="-25000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1</a:t>
            </a:r>
            <a:r>
              <a:rPr sz="2000" b="1">
                <a:solidFill>
                  <a:srgbClr val="C90012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)</a:t>
            </a:r>
          </a:p>
        </p:txBody>
      </p:sp>
      <p:sp>
        <p:nvSpPr>
          <p:cNvPr id="39" name="右箭头 38"/>
          <p:cNvSpPr>
            <a:spLocks noGrp="1"/>
          </p:cNvSpPr>
          <p:nvPr/>
        </p:nvSpPr>
        <p:spPr>
          <a:xfrm>
            <a:off x="7110730" y="2674620"/>
            <a:ext cx="266700" cy="2476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434580" y="2503170"/>
            <a:ext cx="1143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434580" y="2598420"/>
            <a:ext cx="1143000" cy="1911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V</a:t>
            </a:r>
            <a:r>
              <a:rPr lang="en-US" sz="2000" i="1" baseline="-25000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2</a:t>
            </a:r>
          </a:p>
        </p:txBody>
      </p:sp>
      <p:sp>
        <p:nvSpPr>
          <p:cNvPr id="42" name="右箭头 41"/>
          <p:cNvSpPr>
            <a:spLocks noGrp="1"/>
          </p:cNvSpPr>
          <p:nvPr/>
        </p:nvSpPr>
        <p:spPr>
          <a:xfrm>
            <a:off x="8634730" y="2674620"/>
            <a:ext cx="266700" cy="24765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958580" y="2503170"/>
            <a:ext cx="1143000" cy="609600"/>
          </a:xfrm>
          <a:prstGeom prst="rect">
            <a:avLst/>
          </a:prstGeom>
          <a:solidFill>
            <a:srgbClr val="FFF1F1"/>
          </a:solidFill>
          <a:ln w="9525">
            <a:solidFill>
              <a:srgbClr val="E3BABA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958580" y="255079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cs typeface="Times New Roman Bold" panose="02020503050405090304" charset="0"/>
              </a:rPr>
              <a:t>……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146810" y="3893185"/>
            <a:ext cx="2190750" cy="85725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299210" y="4026535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输入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299210" y="4350385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"abc"</a:t>
            </a:r>
          </a:p>
        </p:txBody>
      </p:sp>
      <p:sp>
        <p:nvSpPr>
          <p:cNvPr id="54" name="右箭头 53"/>
          <p:cNvSpPr>
            <a:spLocks noGrp="1"/>
          </p:cNvSpPr>
          <p:nvPr/>
        </p:nvSpPr>
        <p:spPr>
          <a:xfrm>
            <a:off x="3718560" y="4178935"/>
            <a:ext cx="904875" cy="3048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4956810" y="3750310"/>
            <a:ext cx="5619750" cy="11430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109210" y="3883660"/>
            <a:ext cx="5314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90012"/>
                </a:solidFill>
              </a:defRPr>
            </a:pPr>
            <a:r>
              <a:rPr sz="2000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输出摘要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109210" y="4207510"/>
            <a:ext cx="5314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66c7f0f462eeedd9d1f2d46bdc10e4e2</a:t>
            </a:r>
          </a:p>
          <a:p>
            <a:pPr algn="ctr">
              <a:defRPr sz="1500" b="0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Times New Roman Bold" panose="02020503050405090304" charset="0"/>
                <a:ea typeface="微软雅黑" panose="020B0503020204020204" charset="-122"/>
                <a:cs typeface="Times New Roman Bold" panose="02020503050405090304" charset="0"/>
              </a:rPr>
              <a:t>4167c4875cf2f7a2297da02b8f4ba8e0</a:t>
            </a: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4</a:t>
            </a:r>
          </a:p>
        </p:txBody>
      </p:sp>
      <p:sp>
        <p:nvSpPr>
          <p:cNvPr id="28" name="TextBox 2"/>
          <p:cNvSpPr txBox="1"/>
          <p:nvPr/>
        </p:nvSpPr>
        <p:spPr>
          <a:xfrm>
            <a:off x="1066800" y="191135"/>
            <a:ext cx="57054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en-US" altLang="zh-CN" sz="3200" b="1" dirty="0"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SM3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算法流程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>
            <a:spLocks noGrp="1"/>
          </p:cNvSpPr>
          <p:nvPr/>
        </p:nvSpPr>
        <p:spPr>
          <a:xfrm>
            <a:off x="685800" y="1343660"/>
            <a:ext cx="3429000" cy="149034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1452245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地址生成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7490" y="1800860"/>
            <a:ext cx="336277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000" b="0" dirty="0" err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交易参与者生成公私钥对，公钥经</a:t>
            </a:r>
            <a:r>
              <a:rPr lang="zh-CN" sz="2000" b="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杂凑</a:t>
            </a:r>
            <a:r>
              <a:rPr sz="2000" b="0" dirty="0" err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函数得到地址，用于标识收款身份</a:t>
            </a:r>
            <a:r>
              <a:rPr sz="2000" b="0" dirty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81500" y="1343660"/>
            <a:ext cx="3429000" cy="149034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552950" y="1452245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默克尔树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552950" y="1800860"/>
            <a:ext cx="30861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大量交易通过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杂凑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树组织，根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可以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交易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的批量验证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077200" y="1343660"/>
            <a:ext cx="3429000" cy="149034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248650" y="1452245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工作量证明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48650" y="1800860"/>
            <a:ext cx="326644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矿工不断改变 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Nonce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，计算双重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</a:t>
            </a:r>
            <a:r>
              <a:rPr sz="2000" b="0" i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0" i="1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H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H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(Δ</a:t>
            </a:r>
            <a:r>
              <a:rPr lang="en-US"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||Nonce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))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，直到结果低于目标值。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85800" y="857250"/>
            <a:ext cx="11141579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8B3D3D"/>
                </a:solidFill>
              </a:defRPr>
            </a:pPr>
            <a:r>
              <a:rPr lang="zh-CN" sz="2000" b="0" dirty="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杂凑</a:t>
            </a:r>
            <a:r>
              <a:rPr sz="2000" b="0" dirty="0" err="1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函数让“难以篡改”和“可快速验证”同时成立，是区块链数据结构和共识机制的基础部件</a:t>
            </a:r>
            <a:r>
              <a:rPr sz="2000" b="0" dirty="0">
                <a:solidFill>
                  <a:srgbClr val="8B3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1190625" y="3228975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304925" y="3419475"/>
            <a:ext cx="177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区块头</a:t>
            </a:r>
            <a:r>
              <a:rPr sz="2000" b="0">
                <a:solidFill>
                  <a:srgbClr val="303030"/>
                </a:solidFill>
              </a:rPr>
              <a:t> Δ</a:t>
            </a:r>
          </a:p>
        </p:txBody>
      </p:sp>
      <p:sp>
        <p:nvSpPr>
          <p:cNvPr id="36" name="右箭头 35"/>
          <p:cNvSpPr>
            <a:spLocks noGrp="1"/>
          </p:cNvSpPr>
          <p:nvPr/>
        </p:nvSpPr>
        <p:spPr>
          <a:xfrm>
            <a:off x="3257550" y="3438525"/>
            <a:ext cx="342900" cy="2667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3667125" y="3228975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781425" y="3419475"/>
            <a:ext cx="177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调整</a:t>
            </a:r>
            <a:r>
              <a:rPr sz="2000" b="0">
                <a:solidFill>
                  <a:srgbClr val="303030"/>
                </a:solidFill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Nonce</a:t>
            </a:r>
          </a:p>
        </p:txBody>
      </p:sp>
      <p:sp>
        <p:nvSpPr>
          <p:cNvPr id="39" name="右箭头 38"/>
          <p:cNvSpPr>
            <a:spLocks noGrp="1"/>
          </p:cNvSpPr>
          <p:nvPr/>
        </p:nvSpPr>
        <p:spPr>
          <a:xfrm>
            <a:off x="5734050" y="3438525"/>
            <a:ext cx="342900" cy="2667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40" name="圆角矩形 39"/>
          <p:cNvSpPr>
            <a:spLocks noGrp="1"/>
          </p:cNvSpPr>
          <p:nvPr/>
        </p:nvSpPr>
        <p:spPr>
          <a:xfrm>
            <a:off x="6143625" y="3228975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143625" y="321373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03030"/>
                </a:solidFill>
              </a:defRPr>
            </a:pPr>
            <a:r>
              <a:rPr sz="2000" b="0" dirty="0" err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计算</a:t>
            </a:r>
            <a:r>
              <a:rPr sz="2000" b="0" dirty="0">
                <a:solidFill>
                  <a:srgbClr val="303030"/>
                </a:solidFill>
              </a:rPr>
              <a:t> </a:t>
            </a:r>
            <a:r>
              <a:rPr sz="2000" i="1" dirty="0"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H</a:t>
            </a:r>
            <a:r>
              <a:rPr sz="2000" b="0" dirty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sz="2000" i="1" dirty="0"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  <a:sym typeface="+mn-ea"/>
              </a:rPr>
              <a:t>H</a:t>
            </a:r>
            <a:r>
              <a:rPr sz="2000" b="0" dirty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(Δ</a:t>
            </a:r>
            <a:r>
              <a:rPr lang="en-US" sz="2000" b="0" dirty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||Nonce</a:t>
            </a:r>
            <a:r>
              <a:rPr sz="2000" b="0" dirty="0">
                <a:solidFill>
                  <a:srgbClr val="30303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))</a:t>
            </a:r>
          </a:p>
        </p:txBody>
      </p:sp>
      <p:sp>
        <p:nvSpPr>
          <p:cNvPr id="42" name="右箭头 41"/>
          <p:cNvSpPr>
            <a:spLocks noGrp="1"/>
          </p:cNvSpPr>
          <p:nvPr/>
        </p:nvSpPr>
        <p:spPr>
          <a:xfrm>
            <a:off x="8210550" y="3438525"/>
            <a:ext cx="342900" cy="266700"/>
          </a:xfrm>
          <a:prstGeom prst="rightArrow">
            <a:avLst/>
          </a:prstGeom>
          <a:solidFill>
            <a:srgbClr val="C90012"/>
          </a:solidFill>
          <a:ln w="0">
            <a:noFill/>
            <a:prstDash val="solid"/>
          </a:ln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8620125" y="3228975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3335">
            <a:solidFill>
              <a:srgbClr val="E4BABA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734425" y="3419475"/>
            <a:ext cx="177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03030"/>
                </a:solidFill>
              </a:defRPr>
            </a:pPr>
            <a:r>
              <a:rPr sz="20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比较目标值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57250" y="4508500"/>
            <a:ext cx="4762500" cy="13335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28700" y="4641850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寻找很难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28700" y="4965700"/>
            <a:ext cx="4419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目标值越小，随机尝试命中条件的概率越低，矿工需要消耗更多算力。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534150" y="4508500"/>
            <a:ext cx="4762500" cy="1333500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705600" y="4641850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验证很快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705600" y="4965700"/>
            <a:ext cx="4419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其他节点只需重新计算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杂凑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并比较目标值，就能验证工作量是否成立。</a:t>
            </a: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5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杂凑函数的应用与安全边界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1314450"/>
            <a:ext cx="4953000" cy="138112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47750" y="144780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不支持消息</a:t>
            </a: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机密性</a:t>
            </a: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47750" y="1771650"/>
            <a:ext cx="46101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杂凑值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不会隐藏低熵输入。</a:t>
            </a:r>
          </a:p>
        </p:txBody>
      </p:sp>
      <p:sp>
        <p:nvSpPr>
          <p:cNvPr id="3" name="矩形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553200" y="1314450"/>
            <a:ext cx="4953000" cy="13811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724650" y="144780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lang="zh-CN"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不支持消息来源认证</a:t>
            </a:r>
            <a:endParaRPr sz="2000" b="1">
              <a:solidFill>
                <a:srgbClr val="C900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724650" y="1771650"/>
            <a:ext cx="46101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任何人都能计算 </a:t>
            </a: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H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(</a:t>
            </a:r>
            <a:r>
              <a:rPr sz="2000" b="0" i="1">
                <a:solidFill>
                  <a:srgbClr val="303030"/>
                </a:solidFill>
                <a:latin typeface="Times New Roman Italic" panose="02020503050405090304" charset="0"/>
                <a:ea typeface="微软雅黑" panose="020B0503020204020204" charset="-122"/>
                <a:cs typeface="Times New Roman Italic" panose="02020503050405090304" charset="0"/>
              </a:rPr>
              <a:t>M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)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。要认证发送者，需要 </a:t>
            </a: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HMAC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或数字签名。</a:t>
            </a: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76300" y="3286125"/>
            <a:ext cx="4953000" cy="13811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47750" y="3419475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不能使用失效算法</a:t>
            </a: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047750" y="3743325"/>
            <a:ext cx="46101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" panose="02020503050405090304" pitchFamily="18" charset="0"/>
                <a:ea typeface="微软雅黑" panose="020B0503020204020204" charset="-122"/>
                <a:cs typeface="Times New Roman" panose="02020503050405090304" pitchFamily="18" charset="0"/>
              </a:rPr>
              <a:t>MD5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等不再碰撞稳固的算法，不应用在证书、签名、完整性安全场景。</a:t>
            </a: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553200" y="3286125"/>
            <a:ext cx="4953000" cy="1381125"/>
          </a:xfrm>
          <a:prstGeom prst="rect">
            <a:avLst/>
          </a:prstGeom>
          <a:solidFill>
            <a:srgbClr val="FFF1F1"/>
          </a:solidFill>
          <a:ln w="9525">
            <a:solidFill>
              <a:srgbClr val="F3CAC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724650" y="3419475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0012"/>
                </a:solidFill>
              </a:defRPr>
            </a:pPr>
            <a:r>
              <a:rPr sz="2000" b="1">
                <a:solidFill>
                  <a:srgbClr val="C90012"/>
                </a:solidFill>
                <a:latin typeface="微软雅黑" panose="020B0503020204020204" charset="-122"/>
                <a:ea typeface="微软雅黑" panose="020B0503020204020204" charset="-122"/>
              </a:rPr>
              <a:t>不能忽略协议结构</a:t>
            </a: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724650" y="3743325"/>
            <a:ext cx="46101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拼接、截断、编码不规范等问题，可能让安全</a:t>
            </a:r>
            <a:r>
              <a:rPr lang="zh-CN"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杂凑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</a:rPr>
              <a:t>在系统里被错误使用。</a:t>
            </a:r>
          </a:p>
        </p:txBody>
      </p:sp>
      <p:sp>
        <p:nvSpPr>
          <p:cNvPr id="7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5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杂凑函数的应用与安全边界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1143000" y="1238250"/>
            <a:ext cx="9906000" cy="381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□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</a:rPr>
              <a:t>新系统避免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MD5、SHA-1 </a:t>
            </a:r>
            <a:r>
              <a:rPr sz="2000" b="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</a:rPr>
              <a:t>等已不推荐算法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。</a:t>
            </a:r>
          </a:p>
          <a:p>
            <a:endParaRPr sz="2000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algn="l">
              <a:defRPr sz="150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□ 完整性校验若涉及攻击者，优先使用</a:t>
            </a:r>
            <a:r>
              <a:rPr lang="en-US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 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HMAC 或数字签名。</a:t>
            </a:r>
          </a:p>
          <a:p>
            <a:endParaRPr sz="2000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algn="l">
              <a:defRPr sz="150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□ 口令存储不要只做一次普通</a:t>
            </a:r>
            <a:r>
              <a:rPr lang="zh-CN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杂凑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，应使用带盐和迭代的口令 KDF。</a:t>
            </a:r>
          </a:p>
          <a:p>
            <a:endParaRPr sz="2000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algn="l">
              <a:defRPr sz="150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□ 协议字段参与</a:t>
            </a:r>
            <a:r>
              <a:rPr lang="zh-CN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杂凑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前，要定义清晰编码和分隔方式。</a:t>
            </a:r>
          </a:p>
          <a:p>
            <a:endParaRPr sz="2000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algn="l">
              <a:defRPr sz="150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□ </a:t>
            </a:r>
            <a:r>
              <a:rPr lang="zh-CN"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杂凑</a:t>
            </a: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输出长度、截断长度和安全目标要匹配。</a:t>
            </a:r>
          </a:p>
          <a:p>
            <a:endParaRPr sz="2000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algn="l">
              <a:defRPr sz="1500" b="0">
                <a:solidFill>
                  <a:srgbClr val="303030"/>
                </a:solidFill>
              </a:defRPr>
            </a:pPr>
            <a:r>
              <a:rPr sz="2000" b="0">
                <a:solidFill>
                  <a:srgbClr val="303030"/>
                </a:solidFill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□ 国产密码场景中可优先考虑 SM3 及配套标准要求。</a:t>
            </a:r>
          </a:p>
        </p:txBody>
      </p:sp>
      <p:sp>
        <p:nvSpPr>
          <p:cNvPr id="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imes New Roman" panose="02020503050405090304" pitchFamily="18" charset="0"/>
                <a:ea typeface="微软雅黑" panose="020B0503020204020204" charset="-122"/>
              </a:rPr>
              <a:t>5</a:t>
            </a:r>
            <a:endParaRPr lang="en-US" b="1" i="0" dirty="0">
              <a:solidFill>
                <a:srgbClr val="FFFFFF"/>
              </a:solidFill>
              <a:latin typeface="Times New Roman" panose="02020503050405090304" pitchFamily="18" charset="0"/>
              <a:ea typeface="微软雅黑" panose="020B0503020204020204" charset="-122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1066800" y="191135"/>
            <a:ext cx="57054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C90012"/>
                </a:solidFill>
              </a:defRPr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杂凑函数的应用与安全边界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1018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谢谢！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5cdf94d-2bb2-4b04-838a-86a44d3bd643"/>
  <p:tag name="COMMONDATA" val="eyJoZGlkIjoiN2NjMGRiN2MwMWUxOGQyNjI2NjFhOWNlNjA1ZDYyO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XEDSHAPES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XEDSHAPES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85,&quot;left&quot;:87,&quot;top&quot;:183.5,&quot;width&quot;:505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85,&quot;left&quot;:87,&quot;top&quot;:183.5,&quot;width&quot;:505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85,&quot;left&quot;:87,&quot;top&quot;:183.5,&quot;width&quot;:505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85,&quot;left&quot;:87,&quot;top&quot;:183.5,&quot;width&quot;:505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85,&quot;left&quot;:87,&quot;top&quot;:183.5,&quot;width&quot;:505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85,&quot;left&quot;:87,&quot;top&quot;:183.5,&quot;width&quot;:505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5.7,&quot;left&quot;:69,&quot;top&quot;:78.5,&quot;width&quot;:82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55*229"/>
  <p:tag name="TABLE_ENDDRAG_RECT" val="23*91*555*22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,&quot;left&quot;:69,&quot;top&quot;:103.5,&quot;width&quot;:837}"/>
</p:tagLst>
</file>

<file path=ppt/theme/theme1.xml><?xml version="1.0" encoding="utf-8"?>
<a:theme xmlns:a="http://schemas.openxmlformats.org/drawingml/2006/main" name="主题1">
  <a:themeElements>
    <a:clrScheme name="Calligraphy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alligraphy">
    <a:dk1>
      <a:sysClr val="windowText" lastClr="000000"/>
    </a:dk1>
    <a:lt1>
      <a:sysClr val="window" lastClr="FFFFFF"/>
    </a:lt1>
    <a:dk2>
      <a:srgbClr val="411401"/>
    </a:dk2>
    <a:lt2>
      <a:srgbClr val="FFE6E6"/>
    </a:lt2>
    <a:accent1>
      <a:srgbClr val="A24A48"/>
    </a:accent1>
    <a:accent2>
      <a:srgbClr val="B2935C"/>
    </a:accent2>
    <a:accent3>
      <a:srgbClr val="6A9A9A"/>
    </a:accent3>
    <a:accent4>
      <a:srgbClr val="B2B787"/>
    </a:accent4>
    <a:accent5>
      <a:srgbClr val="91644B"/>
    </a:accent5>
    <a:accent6>
      <a:srgbClr val="654A76"/>
    </a:accent6>
    <a:hlink>
      <a:srgbClr val="00A800"/>
    </a:hlink>
    <a:folHlink>
      <a:srgbClr val="FF00FF"/>
    </a:folHlink>
  </a:clrScheme>
</a:themeOverride>
</file>

<file path=ppt/theme/themeOverride2.xml><?xml version="1.0" encoding="utf-8"?>
<a:themeOverride xmlns:a="http://schemas.openxmlformats.org/drawingml/2006/main">
  <a:clrScheme name="Calligraphy">
    <a:dk1>
      <a:sysClr val="windowText" lastClr="000000"/>
    </a:dk1>
    <a:lt1>
      <a:sysClr val="window" lastClr="FFFFFF"/>
    </a:lt1>
    <a:dk2>
      <a:srgbClr val="411401"/>
    </a:dk2>
    <a:lt2>
      <a:srgbClr val="FFE6E6"/>
    </a:lt2>
    <a:accent1>
      <a:srgbClr val="A24A48"/>
    </a:accent1>
    <a:accent2>
      <a:srgbClr val="B2935C"/>
    </a:accent2>
    <a:accent3>
      <a:srgbClr val="6A9A9A"/>
    </a:accent3>
    <a:accent4>
      <a:srgbClr val="B2B787"/>
    </a:accent4>
    <a:accent5>
      <a:srgbClr val="91644B"/>
    </a:accent5>
    <a:accent6>
      <a:srgbClr val="654A76"/>
    </a:accent6>
    <a:hlink>
      <a:srgbClr val="00A800"/>
    </a:hlink>
    <a:folHlink>
      <a:srgbClr val="FF00FF"/>
    </a:folHlink>
  </a:clrScheme>
</a:themeOverride>
</file>

<file path=ppt/theme/themeOverride3.xml><?xml version="1.0" encoding="utf-8"?>
<a:themeOverride xmlns:a="http://schemas.openxmlformats.org/drawingml/2006/main">
  <a:clrScheme name="Calligraphy">
    <a:dk1>
      <a:sysClr val="windowText" lastClr="000000"/>
    </a:dk1>
    <a:lt1>
      <a:sysClr val="window" lastClr="FFFFFF"/>
    </a:lt1>
    <a:dk2>
      <a:srgbClr val="411401"/>
    </a:dk2>
    <a:lt2>
      <a:srgbClr val="FFE6E6"/>
    </a:lt2>
    <a:accent1>
      <a:srgbClr val="A24A48"/>
    </a:accent1>
    <a:accent2>
      <a:srgbClr val="B2935C"/>
    </a:accent2>
    <a:accent3>
      <a:srgbClr val="6A9A9A"/>
    </a:accent3>
    <a:accent4>
      <a:srgbClr val="B2B787"/>
    </a:accent4>
    <a:accent5>
      <a:srgbClr val="91644B"/>
    </a:accent5>
    <a:accent6>
      <a:srgbClr val="654A76"/>
    </a:accent6>
    <a:hlink>
      <a:srgbClr val="00A800"/>
    </a:hlink>
    <a:folHlink>
      <a:srgbClr val="FF00FF"/>
    </a:folHlink>
  </a:clrScheme>
</a:themeOverride>
</file>

<file path=ppt/theme/themeOverride4.xml><?xml version="1.0" encoding="utf-8"?>
<a:themeOverride xmlns:a="http://schemas.openxmlformats.org/drawingml/2006/main">
  <a:clrScheme name="Calligraphy">
    <a:dk1>
      <a:sysClr val="windowText" lastClr="000000"/>
    </a:dk1>
    <a:lt1>
      <a:sysClr val="window" lastClr="FFFFFF"/>
    </a:lt1>
    <a:dk2>
      <a:srgbClr val="411401"/>
    </a:dk2>
    <a:lt2>
      <a:srgbClr val="FFE6E6"/>
    </a:lt2>
    <a:accent1>
      <a:srgbClr val="A24A48"/>
    </a:accent1>
    <a:accent2>
      <a:srgbClr val="B2935C"/>
    </a:accent2>
    <a:accent3>
      <a:srgbClr val="6A9A9A"/>
    </a:accent3>
    <a:accent4>
      <a:srgbClr val="B2B787"/>
    </a:accent4>
    <a:accent5>
      <a:srgbClr val="91644B"/>
    </a:accent5>
    <a:accent6>
      <a:srgbClr val="654A76"/>
    </a:accent6>
    <a:hlink>
      <a:srgbClr val="00A800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14</TotalTime>
  <Words>5961</Words>
  <Application>Microsoft Office PowerPoint</Application>
  <PresentationFormat>宽屏</PresentationFormat>
  <Paragraphs>933</Paragraphs>
  <Slides>57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2" baseType="lpstr">
      <vt:lpstr>DejaVu Math TeX Gyre</vt:lpstr>
      <vt:lpstr>Times New Roman Regular</vt:lpstr>
      <vt:lpstr>等线</vt:lpstr>
      <vt:lpstr>宋体</vt:lpstr>
      <vt:lpstr>微软雅黑</vt:lpstr>
      <vt:lpstr>Arial</vt:lpstr>
      <vt:lpstr>Arial Black</vt:lpstr>
      <vt:lpstr>Calibri</vt:lpstr>
      <vt:lpstr>Cambria Math</vt:lpstr>
      <vt:lpstr>Times New Roman</vt:lpstr>
      <vt:lpstr>Times New Roman Bold</vt:lpstr>
      <vt:lpstr>Times New Roman Bold Italic</vt:lpstr>
      <vt:lpstr>Times New Roman Italic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吴鸿轩</dc:creator>
  <cp:lastModifiedBy>Windows 用户</cp:lastModifiedBy>
  <cp:revision>995</cp:revision>
  <dcterms:created xsi:type="dcterms:W3CDTF">2026-09-27T15:00:50Z</dcterms:created>
  <dcterms:modified xsi:type="dcterms:W3CDTF">2026-09-27T22:29:32Z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E0F72BE8AA5C9523BB1FB96A7027111F_43</vt:lpwstr>
  </property>
  <property fmtid="{D5CDD505-2E9C-101B-9397-08002B2CF9AE}" pid="3" name="KSOProductBuildVer">
    <vt:lpwstr>2052-7.3.1.8967</vt:lpwstr>
  </property>
</Properties>
</file>