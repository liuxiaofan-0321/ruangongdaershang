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418" r:id="rId2"/>
    <p:sldId id="419" r:id="rId3"/>
    <p:sldId id="477" r:id="rId4"/>
    <p:sldId id="481" r:id="rId5"/>
    <p:sldId id="483" r:id="rId6"/>
    <p:sldId id="482" r:id="rId7"/>
    <p:sldId id="484" r:id="rId8"/>
    <p:sldId id="485" r:id="rId9"/>
    <p:sldId id="494" r:id="rId10"/>
    <p:sldId id="580" r:id="rId11"/>
    <p:sldId id="497" r:id="rId12"/>
    <p:sldId id="498" r:id="rId13"/>
    <p:sldId id="566" r:id="rId14"/>
    <p:sldId id="486" r:id="rId15"/>
    <p:sldId id="496" r:id="rId16"/>
    <p:sldId id="567" r:id="rId17"/>
    <p:sldId id="568" r:id="rId18"/>
    <p:sldId id="569" r:id="rId19"/>
    <p:sldId id="571" r:id="rId20"/>
    <p:sldId id="513" r:id="rId21"/>
    <p:sldId id="581" r:id="rId22"/>
    <p:sldId id="514" r:id="rId23"/>
    <p:sldId id="515" r:id="rId24"/>
    <p:sldId id="522" r:id="rId25"/>
    <p:sldId id="518" r:id="rId26"/>
    <p:sldId id="523" r:id="rId27"/>
    <p:sldId id="572" r:id="rId28"/>
    <p:sldId id="573" r:id="rId29"/>
    <p:sldId id="574" r:id="rId30"/>
    <p:sldId id="307" r:id="rId31"/>
    <p:sldId id="525" r:id="rId32"/>
    <p:sldId id="526" r:id="rId33"/>
    <p:sldId id="520" r:id="rId34"/>
    <p:sldId id="582" r:id="rId35"/>
    <p:sldId id="527" r:id="rId36"/>
    <p:sldId id="528" r:id="rId37"/>
    <p:sldId id="529" r:id="rId38"/>
    <p:sldId id="512" r:id="rId39"/>
    <p:sldId id="511" r:id="rId40"/>
    <p:sldId id="583" r:id="rId41"/>
    <p:sldId id="588" r:id="rId42"/>
    <p:sldId id="589" r:id="rId43"/>
    <p:sldId id="533" r:id="rId44"/>
    <p:sldId id="535" r:id="rId45"/>
    <p:sldId id="536" r:id="rId46"/>
    <p:sldId id="537" r:id="rId47"/>
    <p:sldId id="538" r:id="rId48"/>
    <p:sldId id="539" r:id="rId49"/>
    <p:sldId id="575" r:id="rId50"/>
    <p:sldId id="576" r:id="rId51"/>
    <p:sldId id="584" r:id="rId52"/>
    <p:sldId id="586" r:id="rId53"/>
    <p:sldId id="542" r:id="rId54"/>
    <p:sldId id="585" r:id="rId55"/>
    <p:sldId id="543" r:id="rId56"/>
    <p:sldId id="561" r:id="rId57"/>
    <p:sldId id="579" r:id="rId58"/>
    <p:sldId id="577" r:id="rId59"/>
    <p:sldId id="578" r:id="rId60"/>
    <p:sldId id="530" r:id="rId61"/>
    <p:sldId id="531" r:id="rId62"/>
    <p:sldId id="560" r:id="rId63"/>
    <p:sldId id="545" r:id="rId64"/>
    <p:sldId id="590" r:id="rId65"/>
    <p:sldId id="546" r:id="rId66"/>
    <p:sldId id="562" r:id="rId67"/>
    <p:sldId id="547" r:id="rId68"/>
    <p:sldId id="548" r:id="rId69"/>
    <p:sldId id="550" r:id="rId70"/>
    <p:sldId id="551" r:id="rId71"/>
    <p:sldId id="564" r:id="rId72"/>
    <p:sldId id="552" r:id="rId73"/>
    <p:sldId id="553" r:id="rId74"/>
    <p:sldId id="554" r:id="rId75"/>
    <p:sldId id="563" r:id="rId76"/>
    <p:sldId id="556" r:id="rId77"/>
    <p:sldId id="557" r:id="rId78"/>
    <p:sldId id="558" r:id="rId79"/>
    <p:sldId id="559" r:id="rId80"/>
    <p:sldId id="269" r:id="rId81"/>
  </p:sldIdLst>
  <p:sldSz cx="12192000" cy="6858000"/>
  <p:notesSz cx="6858000" cy="9144000"/>
  <p:defaultTextStyle>
    <a:defPPr>
      <a:buNone/>
    </a:defPPr>
    <a:lvl1pPr marL="0" algn="l" defTabSz="914400">
      <a:buNone/>
      <a:defRPr sz="1800" kern="1200">
        <a:solidFill>
          <a:schemeClr val="tx1"/>
        </a:solidFill>
        <a:latin typeface="Times New Roman" panose="02020503050405090304"/>
        <a:ea typeface="微软雅黑"/>
        <a:cs typeface="Times New Roman" panose="02020503050405090304"/>
      </a:defRPr>
    </a:lvl1pPr>
    <a:lvl2pPr marL="457200" algn="l" defTabSz="914400">
      <a:buNone/>
      <a:defRPr sz="1800" kern="1200">
        <a:solidFill>
          <a:schemeClr val="tx1"/>
        </a:solidFill>
        <a:latin typeface="Times New Roman" panose="02020503050405090304"/>
        <a:ea typeface="微软雅黑"/>
        <a:cs typeface="Times New Roman" panose="02020503050405090304"/>
      </a:defRPr>
    </a:lvl2pPr>
    <a:lvl3pPr marL="914400" algn="l" defTabSz="914400">
      <a:buNone/>
      <a:defRPr sz="1800" kern="1200">
        <a:solidFill>
          <a:schemeClr val="tx1"/>
        </a:solidFill>
        <a:latin typeface="Times New Roman" panose="02020503050405090304"/>
        <a:ea typeface="微软雅黑"/>
        <a:cs typeface="Times New Roman" panose="02020503050405090304"/>
      </a:defRPr>
    </a:lvl3pPr>
    <a:lvl4pPr marL="1371600" algn="l" defTabSz="914400">
      <a:buNone/>
      <a:defRPr sz="1800" kern="1200">
        <a:solidFill>
          <a:schemeClr val="tx1"/>
        </a:solidFill>
        <a:latin typeface="Times New Roman" panose="02020503050405090304"/>
        <a:ea typeface="微软雅黑"/>
        <a:cs typeface="Times New Roman" panose="02020503050405090304"/>
      </a:defRPr>
    </a:lvl4pPr>
    <a:lvl5pPr marL="1828800" algn="l" defTabSz="914400">
      <a:buNone/>
      <a:defRPr sz="1800" kern="1200">
        <a:solidFill>
          <a:schemeClr val="tx1"/>
        </a:solidFill>
        <a:latin typeface="Times New Roman" panose="02020503050405090304"/>
        <a:ea typeface="微软雅黑"/>
        <a:cs typeface="Times New Roman" panose="02020503050405090304"/>
      </a:defRPr>
    </a:lvl5pPr>
    <a:lvl6pPr marL="2286000" algn="l" defTabSz="914400">
      <a:buNone/>
      <a:defRPr sz="1800" kern="1200">
        <a:solidFill>
          <a:schemeClr val="tx1"/>
        </a:solidFill>
        <a:latin typeface="Times New Roman" panose="02020503050405090304"/>
        <a:ea typeface="微软雅黑"/>
        <a:cs typeface="Times New Roman" panose="02020503050405090304"/>
      </a:defRPr>
    </a:lvl6pPr>
    <a:lvl7pPr marL="2743200" algn="l" defTabSz="914400">
      <a:buNone/>
      <a:defRPr sz="1800" kern="1200">
        <a:solidFill>
          <a:schemeClr val="tx1"/>
        </a:solidFill>
        <a:latin typeface="Times New Roman" panose="02020503050405090304"/>
        <a:ea typeface="微软雅黑"/>
        <a:cs typeface="Times New Roman" panose="02020503050405090304"/>
      </a:defRPr>
    </a:lvl7pPr>
    <a:lvl8pPr marL="3200400" algn="l" defTabSz="914400">
      <a:buNone/>
      <a:defRPr sz="1800" kern="1200">
        <a:solidFill>
          <a:schemeClr val="tx1"/>
        </a:solidFill>
        <a:latin typeface="Times New Roman" panose="02020503050405090304"/>
        <a:ea typeface="微软雅黑"/>
        <a:cs typeface="Times New Roman" panose="02020503050405090304"/>
      </a:defRPr>
    </a:lvl8pPr>
    <a:lvl9pPr marL="3657600" algn="l" defTabSz="914400">
      <a:buNone/>
      <a:defRPr sz="1800" kern="1200">
        <a:solidFill>
          <a:schemeClr val="tx1"/>
        </a:solidFill>
        <a:latin typeface="Times New Roman" panose="02020503050405090304"/>
        <a:ea typeface="微软雅黑"/>
        <a:cs typeface="Times New Roman" panose="020205030504050903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18" autoAdjust="0"/>
    <p:restoredTop sz="83042" autoAdjust="0"/>
  </p:normalViewPr>
  <p:slideViewPr>
    <p:cSldViewPr snapToGrid="0">
      <p:cViewPr varScale="1">
        <p:scale>
          <a:sx n="134" d="100"/>
          <a:sy n="134" d="100"/>
        </p:scale>
        <p:origin x="828" y="132"/>
      </p:cViewPr>
      <p:guideLst/>
    </p:cSldViewPr>
  </p:slideViewPr>
  <p:notesTextViewPr>
    <p:cViewPr>
      <p:scale>
        <a:sx n="33" d="100"/>
        <a:sy n="33"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024794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526092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2104062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BA41-4BCE-9BAA-914E-1BD8669653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EB891B-6D7E-7170-C99A-E69F82B2F1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F9F77E-3392-4325-3F22-56A11F4263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DA9D3BB-AC97-A308-5939-F6311A9F8F87}"/>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157407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C3D6D-9E52-1C6E-5514-CAD08BAEE2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F68C8D-CCD7-C091-BF7E-C7F35314B0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41F8C8-69A5-F283-BD75-DC36E6D90C1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9DF3BA8-FF76-90F1-7400-64B5F73E9B41}"/>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076766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6E9B4-1826-8B72-EC8A-08A8CC00D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CE97F7-B7AC-9FDB-5679-5AF42CCE0A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DEC4DD-4BCD-BD63-3225-C6C5D41C500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797594E-9E4C-DF29-E40E-66E6CB0D4876}"/>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4650319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BD1C-623F-84F4-7838-FB27B12AAB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7FCDD5-EB45-BC0D-327B-E0D101E0C8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ABC829-9A07-5606-5489-B03EA736E72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8A53364-8300-D687-198C-B309CBC06B87}"/>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4169866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C5A5-A55E-A9BF-515D-D20838FD6F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A65BC2-F691-9AF7-C17A-1413654976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F4BFBD-DE3D-F92D-0B62-A32194C787C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0E4F9FD-EA04-B80B-ECAA-CFC95388A3AF}"/>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0089846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1295786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0378276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29015-9A52-8FD4-A371-A17297BAFD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FCBF1F-95F1-92EE-3ABC-78E5ED998E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60E993-D0C9-8820-004F-5F7D74DB164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7D8D14C-5490-CF54-007E-237629B78A83}"/>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9970373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8" y="1122388"/>
            <a:ext cx="9144470" cy="2387653"/>
          </a:xfrm>
          <a:prstGeom prst="rect">
            <a:avLst/>
          </a:prstGeom>
        </p:spPr>
        <p:txBody>
          <a:bodyPr anchor="b"/>
          <a:lstStyle>
            <a:lvl1pPr algn="ctr">
              <a:buNone/>
              <a:defRPr sz="4500"/>
            </a:lvl1pPr>
          </a:lstStyle>
          <a:p>
            <a:r>
              <a:t>单击此处编辑母版标题样式</a:t>
            </a:r>
          </a:p>
        </p:txBody>
      </p:sp>
      <p:sp>
        <p:nvSpPr>
          <p:cNvPr id="3" name="副标题 2"/>
          <p:cNvSpPr>
            <a:spLocks noGrp="1"/>
          </p:cNvSpPr>
          <p:nvPr>
            <p:ph type="subTitle" idx="1"/>
          </p:nvPr>
        </p:nvSpPr>
        <p:spPr>
          <a:xfrm>
            <a:off x="1524078" y="3602118"/>
            <a:ext cx="9144470" cy="1655798"/>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935" indent="0" algn="ctr">
              <a:buNone/>
              <a:defRPr sz="1200"/>
            </a:lvl8pPr>
            <a:lvl9pPr marL="2743200" indent="0" algn="ctr">
              <a:buNone/>
              <a:defRPr sz="1200"/>
            </a:lvl9pPr>
          </a:lstStyle>
          <a:p>
            <a:r>
              <a:t>单击此处编辑母版副标题样式</a:t>
            </a: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73517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p:cNvSpPr>
            <a:spLocks noGrp="1"/>
          </p:cNvSpPr>
          <p:nvPr/>
        </p:nvSpPr>
        <p:spPr>
          <a:xfrm>
            <a:off x="-25401304" y="-25400558"/>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矩形 8"/>
          <p:cNvSpPr>
            <a:spLocks noGrp="1"/>
          </p:cNvSpPr>
          <p:nvPr/>
        </p:nvSpPr>
        <p:spPr>
          <a:xfrm>
            <a:off x="37593930" y="32258709"/>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5" name="矩形 44"/>
          <p:cNvSpPr>
            <a:spLocks noGrp="1"/>
          </p:cNvSpPr>
          <p:nvPr/>
        </p:nvSpPr>
        <p:spPr>
          <a:xfrm>
            <a:off x="0" y="6767272"/>
            <a:ext cx="2671099" cy="216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1" name="矩形 50"/>
          <p:cNvSpPr>
            <a:spLocks noGrp="1"/>
          </p:cNvSpPr>
          <p:nvPr/>
        </p:nvSpPr>
        <p:spPr>
          <a:xfrm>
            <a:off x="0" y="6653863"/>
            <a:ext cx="2700491" cy="216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7" name="矩形 56"/>
          <p:cNvSpPr>
            <a:spLocks noGrp="1"/>
          </p:cNvSpPr>
          <p:nvPr/>
        </p:nvSpPr>
        <p:spPr>
          <a:xfrm>
            <a:off x="0" y="6563135"/>
            <a:ext cx="2715546" cy="5544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2" name="矩形 61"/>
          <p:cNvSpPr>
            <a:spLocks noGrp="1"/>
          </p:cNvSpPr>
          <p:nvPr/>
        </p:nvSpPr>
        <p:spPr>
          <a:xfrm>
            <a:off x="0" y="6710315"/>
            <a:ext cx="2686154" cy="216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7" name="矩形 66"/>
          <p:cNvSpPr>
            <a:spLocks noGrp="1"/>
          </p:cNvSpPr>
          <p:nvPr/>
        </p:nvSpPr>
        <p:spPr>
          <a:xfrm>
            <a:off x="0" y="6823725"/>
            <a:ext cx="2655328" cy="342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46" name="矩形 45"/>
          <p:cNvSpPr>
            <a:spLocks noGrp="1"/>
          </p:cNvSpPr>
          <p:nvPr/>
        </p:nvSpPr>
        <p:spPr>
          <a:xfrm>
            <a:off x="2671099" y="6767272"/>
            <a:ext cx="2671099" cy="216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2" name="矩形 51"/>
          <p:cNvSpPr>
            <a:spLocks noGrp="1"/>
          </p:cNvSpPr>
          <p:nvPr/>
        </p:nvSpPr>
        <p:spPr>
          <a:xfrm>
            <a:off x="2701208" y="6653863"/>
            <a:ext cx="2700491" cy="21673"/>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8" name="矩形 57"/>
          <p:cNvSpPr>
            <a:spLocks noGrp="1"/>
          </p:cNvSpPr>
          <p:nvPr/>
        </p:nvSpPr>
        <p:spPr>
          <a:xfrm>
            <a:off x="2715546" y="6563135"/>
            <a:ext cx="2715546" cy="55444"/>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3" name="矩形 62"/>
          <p:cNvSpPr>
            <a:spLocks noGrp="1"/>
          </p:cNvSpPr>
          <p:nvPr/>
        </p:nvSpPr>
        <p:spPr>
          <a:xfrm>
            <a:off x="2686154" y="6710315"/>
            <a:ext cx="2686154" cy="21673"/>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8" name="矩形 67"/>
          <p:cNvSpPr>
            <a:spLocks noGrp="1"/>
          </p:cNvSpPr>
          <p:nvPr/>
        </p:nvSpPr>
        <p:spPr>
          <a:xfrm>
            <a:off x="2655328" y="6823725"/>
            <a:ext cx="2655328" cy="34274"/>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47" name="矩形 46"/>
          <p:cNvSpPr>
            <a:spLocks noGrp="1"/>
          </p:cNvSpPr>
          <p:nvPr/>
        </p:nvSpPr>
        <p:spPr>
          <a:xfrm>
            <a:off x="5342199" y="6767272"/>
            <a:ext cx="2671099" cy="2167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3" name="矩形 52"/>
          <p:cNvSpPr>
            <a:spLocks noGrp="1"/>
          </p:cNvSpPr>
          <p:nvPr/>
        </p:nvSpPr>
        <p:spPr>
          <a:xfrm>
            <a:off x="5401700" y="6653863"/>
            <a:ext cx="2700491" cy="2167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9" name="矩形 58"/>
          <p:cNvSpPr>
            <a:spLocks noGrp="1"/>
          </p:cNvSpPr>
          <p:nvPr/>
        </p:nvSpPr>
        <p:spPr>
          <a:xfrm>
            <a:off x="5431092" y="6563135"/>
            <a:ext cx="2715546" cy="55444"/>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4" name="矩形 63"/>
          <p:cNvSpPr>
            <a:spLocks noGrp="1"/>
          </p:cNvSpPr>
          <p:nvPr/>
        </p:nvSpPr>
        <p:spPr>
          <a:xfrm>
            <a:off x="5371591" y="6710315"/>
            <a:ext cx="2686154" cy="2167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9" name="矩形 68"/>
          <p:cNvSpPr>
            <a:spLocks noGrp="1"/>
          </p:cNvSpPr>
          <p:nvPr/>
        </p:nvSpPr>
        <p:spPr>
          <a:xfrm>
            <a:off x="5310656" y="6823725"/>
            <a:ext cx="2655328" cy="34274"/>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48" name="矩形 47"/>
          <p:cNvSpPr>
            <a:spLocks noGrp="1"/>
          </p:cNvSpPr>
          <p:nvPr/>
        </p:nvSpPr>
        <p:spPr>
          <a:xfrm>
            <a:off x="8013298" y="6767272"/>
            <a:ext cx="2671099" cy="2167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54" name="矩形 53"/>
          <p:cNvSpPr>
            <a:spLocks noGrp="1"/>
          </p:cNvSpPr>
          <p:nvPr/>
        </p:nvSpPr>
        <p:spPr>
          <a:xfrm>
            <a:off x="8102909" y="6653863"/>
            <a:ext cx="2700491" cy="2167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0" name="矩形 59"/>
          <p:cNvSpPr>
            <a:spLocks noGrp="1"/>
          </p:cNvSpPr>
          <p:nvPr/>
        </p:nvSpPr>
        <p:spPr>
          <a:xfrm>
            <a:off x="8146638" y="6563135"/>
            <a:ext cx="2715546" cy="55444"/>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65" name="矩形 64"/>
          <p:cNvSpPr>
            <a:spLocks noGrp="1"/>
          </p:cNvSpPr>
          <p:nvPr/>
        </p:nvSpPr>
        <p:spPr>
          <a:xfrm>
            <a:off x="8057745" y="6710315"/>
            <a:ext cx="2686154" cy="2167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0" name="矩形 69"/>
          <p:cNvSpPr>
            <a:spLocks noGrp="1"/>
          </p:cNvSpPr>
          <p:nvPr/>
        </p:nvSpPr>
        <p:spPr>
          <a:xfrm>
            <a:off x="7965984" y="6823725"/>
            <a:ext cx="2655328" cy="34274"/>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2" name="矩形 71"/>
          <p:cNvSpPr>
            <a:spLocks noGrp="1"/>
          </p:cNvSpPr>
          <p:nvPr/>
        </p:nvSpPr>
        <p:spPr>
          <a:xfrm>
            <a:off x="11558276" y="6773824"/>
            <a:ext cx="633723" cy="191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3" name="矩形 72"/>
          <p:cNvSpPr>
            <a:spLocks noGrp="1"/>
          </p:cNvSpPr>
          <p:nvPr/>
        </p:nvSpPr>
        <p:spPr>
          <a:xfrm>
            <a:off x="11558276" y="6593377"/>
            <a:ext cx="633723" cy="4939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4" name="矩形 73"/>
          <p:cNvSpPr>
            <a:spLocks noGrp="1"/>
          </p:cNvSpPr>
          <p:nvPr/>
        </p:nvSpPr>
        <p:spPr>
          <a:xfrm>
            <a:off x="11558276" y="6673520"/>
            <a:ext cx="633723" cy="191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5" name="矩形 74"/>
          <p:cNvSpPr>
            <a:spLocks noGrp="1"/>
          </p:cNvSpPr>
          <p:nvPr/>
        </p:nvSpPr>
        <p:spPr>
          <a:xfrm>
            <a:off x="11558276" y="6723924"/>
            <a:ext cx="633723" cy="191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sp>
        <p:nvSpPr>
          <p:cNvPr id="76" name="矩形 75"/>
          <p:cNvSpPr>
            <a:spLocks noGrp="1"/>
          </p:cNvSpPr>
          <p:nvPr/>
        </p:nvSpPr>
        <p:spPr>
          <a:xfrm>
            <a:off x="11558276" y="6824228"/>
            <a:ext cx="633723" cy="302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525"/>
          </a:p>
        </p:txBody>
      </p:sp>
      <p:pic>
        <p:nvPicPr>
          <p:cNvPr id="86" name="图片 85"/>
          <p:cNvPicPr>
            <a:picLocks noChangeAspect="1"/>
          </p:cNvPicPr>
          <p:nvPr/>
        </p:nvPicPr>
        <p:blipFill>
          <a:blip r:embed="rId4"/>
          <a:stretch>
            <a:fillRect/>
          </a:stretch>
        </p:blipFill>
        <p:spPr>
          <a:xfrm>
            <a:off x="10475069" y="6385712"/>
            <a:ext cx="1205794" cy="50857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p:txStyles>
    <p:titleStyle>
      <a:lvl1pPr algn="l" defTabSz="685800">
        <a:lnSpc>
          <a:spcPct val="90000"/>
        </a:lnSpc>
        <a:spcBef>
          <a:spcPct val="0"/>
        </a:spcBef>
        <a:buNone/>
        <a:defRPr sz="3300" kern="1200">
          <a:solidFill>
            <a:schemeClr val="tx1"/>
          </a:solidFill>
          <a:latin typeface="Times New Roman" panose="02020503050405090304"/>
          <a:ea typeface="微软雅黑"/>
          <a:cs typeface="Times New Roman" panose="02020503050405090304"/>
        </a:defRPr>
      </a:lvl1pPr>
    </p:titleStyle>
    <p:bodyStyle>
      <a:lvl1pPr marL="171450" indent="-171450" algn="l" defTabSz="685800">
        <a:lnSpc>
          <a:spcPct val="90000"/>
        </a:lnSpc>
        <a:spcBef>
          <a:spcPct val="150000"/>
        </a:spcBef>
        <a:buFont typeface="Arial" panose="020B0604020202090204"/>
        <a:buChar char="•"/>
        <a:defRPr sz="2100" kern="1200">
          <a:solidFill>
            <a:schemeClr val="tx1"/>
          </a:solidFill>
          <a:latin typeface="Times New Roman" panose="02020503050405090304"/>
          <a:ea typeface="微软雅黑"/>
          <a:cs typeface="Times New Roman" panose="02020503050405090304"/>
        </a:defRPr>
      </a:lvl1pPr>
      <a:lvl2pPr marL="514350" indent="-171450" algn="l" defTabSz="685800">
        <a:lnSpc>
          <a:spcPct val="90000"/>
        </a:lnSpc>
        <a:spcBef>
          <a:spcPct val="75000"/>
        </a:spcBef>
        <a:buFont typeface="Arial" panose="020B0604020202090204"/>
        <a:buChar char="•"/>
        <a:defRPr sz="1800" kern="1200">
          <a:solidFill>
            <a:schemeClr val="tx1"/>
          </a:solidFill>
          <a:latin typeface="Times New Roman" panose="02020503050405090304"/>
          <a:ea typeface="微软雅黑"/>
          <a:cs typeface="Times New Roman" panose="02020503050405090304"/>
        </a:defRPr>
      </a:lvl2pPr>
      <a:lvl3pPr marL="857250" indent="-171450" algn="l" defTabSz="685800">
        <a:lnSpc>
          <a:spcPct val="90000"/>
        </a:lnSpc>
        <a:spcBef>
          <a:spcPct val="75000"/>
        </a:spcBef>
        <a:buFont typeface="Arial" panose="020B0604020202090204"/>
        <a:buChar char="•"/>
        <a:defRPr sz="1500" kern="1200">
          <a:solidFill>
            <a:schemeClr val="tx1"/>
          </a:solidFill>
          <a:latin typeface="Times New Roman" panose="02020503050405090304"/>
          <a:ea typeface="微软雅黑"/>
          <a:cs typeface="Times New Roman" panose="02020503050405090304"/>
        </a:defRPr>
      </a:lvl3pPr>
      <a:lvl4pPr marL="12001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4pPr>
      <a:lvl5pPr marL="15430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5pPr>
      <a:lvl6pPr marL="18859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6pPr>
      <a:lvl7pPr marL="22288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7pPr>
      <a:lvl8pPr marL="25717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8pPr>
      <a:lvl9pPr marL="2914650" indent="-171450" algn="l" defTabSz="685800">
        <a:lnSpc>
          <a:spcPct val="90000"/>
        </a:lnSpc>
        <a:spcBef>
          <a:spcPct val="75000"/>
        </a:spcBef>
        <a:buFont typeface="Arial" panose="020B0604020202090204"/>
        <a:buChar char="•"/>
        <a:defRPr sz="1350" kern="1200">
          <a:solidFill>
            <a:schemeClr val="tx1"/>
          </a:solidFill>
          <a:latin typeface="Times New Roman" panose="02020503050405090304"/>
          <a:ea typeface="微软雅黑"/>
          <a:cs typeface="Times New Roman" panose="02020503050405090304"/>
        </a:defRPr>
      </a:lvl9pPr>
    </p:bodyStyle>
    <p:otherStyle>
      <a:lvl1pPr marL="0" algn="l" defTabSz="685800">
        <a:buNone/>
        <a:defRPr sz="1350" kern="1200">
          <a:solidFill>
            <a:schemeClr val="tx1"/>
          </a:solidFill>
          <a:latin typeface="Times New Roman" panose="02020503050405090304"/>
          <a:ea typeface="微软雅黑"/>
          <a:cs typeface="Times New Roman" panose="02020503050405090304"/>
        </a:defRPr>
      </a:lvl1pPr>
      <a:lvl2pPr marL="342900" algn="l" defTabSz="685800">
        <a:buNone/>
        <a:defRPr sz="1350" kern="1200">
          <a:solidFill>
            <a:schemeClr val="tx1"/>
          </a:solidFill>
          <a:latin typeface="Times New Roman" panose="02020503050405090304"/>
          <a:ea typeface="微软雅黑"/>
          <a:cs typeface="Times New Roman" panose="02020503050405090304"/>
        </a:defRPr>
      </a:lvl2pPr>
      <a:lvl3pPr marL="685800" algn="l" defTabSz="685800">
        <a:buNone/>
        <a:defRPr sz="1350" kern="1200">
          <a:solidFill>
            <a:schemeClr val="tx1"/>
          </a:solidFill>
          <a:latin typeface="Times New Roman" panose="02020503050405090304"/>
          <a:ea typeface="微软雅黑"/>
          <a:cs typeface="Times New Roman" panose="02020503050405090304"/>
        </a:defRPr>
      </a:lvl3pPr>
      <a:lvl4pPr marL="1028700" algn="l" defTabSz="685800">
        <a:buNone/>
        <a:defRPr sz="1350" kern="1200">
          <a:solidFill>
            <a:schemeClr val="tx1"/>
          </a:solidFill>
          <a:latin typeface="Times New Roman" panose="02020503050405090304"/>
          <a:ea typeface="微软雅黑"/>
          <a:cs typeface="Times New Roman" panose="02020503050405090304"/>
        </a:defRPr>
      </a:lvl4pPr>
      <a:lvl5pPr marL="1371600" algn="l" defTabSz="685800">
        <a:buNone/>
        <a:defRPr sz="1350" kern="1200">
          <a:solidFill>
            <a:schemeClr val="tx1"/>
          </a:solidFill>
          <a:latin typeface="Times New Roman" panose="02020503050405090304"/>
          <a:ea typeface="微软雅黑"/>
          <a:cs typeface="Times New Roman" panose="02020503050405090304"/>
        </a:defRPr>
      </a:lvl5pPr>
      <a:lvl6pPr marL="1714500" algn="l" defTabSz="685800">
        <a:buNone/>
        <a:defRPr sz="1350" kern="1200">
          <a:solidFill>
            <a:schemeClr val="tx1"/>
          </a:solidFill>
          <a:latin typeface="Times New Roman" panose="02020503050405090304"/>
          <a:ea typeface="微软雅黑"/>
          <a:cs typeface="Times New Roman" panose="02020503050405090304"/>
        </a:defRPr>
      </a:lvl6pPr>
      <a:lvl7pPr marL="2057400" algn="l" defTabSz="685800">
        <a:buNone/>
        <a:defRPr sz="1350" kern="1200">
          <a:solidFill>
            <a:schemeClr val="tx1"/>
          </a:solidFill>
          <a:latin typeface="Times New Roman" panose="02020503050405090304"/>
          <a:ea typeface="微软雅黑"/>
          <a:cs typeface="Times New Roman" panose="02020503050405090304"/>
        </a:defRPr>
      </a:lvl7pPr>
      <a:lvl8pPr marL="2400935" algn="l" defTabSz="685800">
        <a:buNone/>
        <a:defRPr sz="1350" kern="1200">
          <a:solidFill>
            <a:schemeClr val="tx1"/>
          </a:solidFill>
          <a:latin typeface="Times New Roman" panose="02020503050405090304"/>
          <a:ea typeface="微软雅黑"/>
          <a:cs typeface="Times New Roman" panose="02020503050405090304"/>
        </a:defRPr>
      </a:lvl8pPr>
      <a:lvl9pPr marL="2743200" algn="l" defTabSz="685800">
        <a:buNone/>
        <a:defRPr sz="1350" kern="1200">
          <a:solidFill>
            <a:schemeClr val="tx1"/>
          </a:solidFill>
          <a:latin typeface="Times New Roman" panose="02020503050405090304"/>
          <a:ea typeface="微软雅黑"/>
          <a:cs typeface="Times New Roman" panose="020205030504050903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0.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3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40.png"/></Relationships>
</file>

<file path=ppt/slides/_rels/slide4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70.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00.png"/></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21.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0.png"/></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80.png"/><Relationship Id="rId4" Type="http://schemas.openxmlformats.org/officeDocument/2006/relationships/image" Target="../media/image63.png"/></Relationships>
</file>

<file path=ppt/slides/_rels/slide7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70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4023360" y="3291840"/>
            <a:ext cx="4142232" cy="0"/>
          </a:xfrm>
          <a:prstGeom prst="line">
            <a:avLst/>
          </a:prstGeom>
          <a:ln w="1905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454146" y="5067935"/>
            <a:ext cx="5280659" cy="457200"/>
          </a:xfrm>
          <a:prstGeom prst="rect">
            <a:avLst/>
          </a:prstGeom>
          <a:solidFill>
            <a:srgbClr val="FBF1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Bef>
                <a:spcPts val="0"/>
              </a:spcBef>
              <a:spcAft>
                <a:spcPts val="0"/>
              </a:spcAft>
            </a:pPr>
            <a:r>
              <a:rPr lang="en-US" sz="1400" b="1" i="0" dirty="0">
                <a:solidFill>
                  <a:srgbClr val="333333"/>
                </a:solidFill>
                <a:latin typeface="微软雅黑" panose="020B0503020204020204" charset="-122"/>
                <a:ea typeface="微软雅黑" panose="020B0503020204020204" charset="-122"/>
              </a:rPr>
              <a:t> </a:t>
            </a:r>
            <a:r>
              <a:rPr lang="zh-CN" altLang="en-US" sz="1400" b="1" dirty="0">
                <a:solidFill>
                  <a:srgbClr val="333333"/>
                </a:solidFill>
                <a:latin typeface="微软雅黑" panose="020B0503020204020204" charset="-122"/>
                <a:ea typeface="微软雅黑" panose="020B0503020204020204" charset="-122"/>
              </a:rPr>
              <a:t>第六、七讲</a:t>
            </a:r>
            <a:r>
              <a:rPr lang="zh-CN" altLang="en-US" sz="1400" b="1" i="0" dirty="0">
                <a:solidFill>
                  <a:srgbClr val="333333"/>
                </a:solidFill>
                <a:latin typeface="微软雅黑" panose="020B0503020204020204" charset="-122"/>
                <a:ea typeface="微软雅黑" panose="020B0503020204020204" charset="-122"/>
              </a:rPr>
              <a:t> · 公钥密码学与公钥加密</a:t>
            </a:r>
            <a:endParaRPr lang="zh-CN" altLang="en-US" sz="1400" b="1" dirty="0">
              <a:solidFill>
                <a:srgbClr val="333333"/>
              </a:solidFill>
              <a:latin typeface="微软雅黑" panose="020B0503020204020204" charset="-122"/>
              <a:ea typeface="微软雅黑" panose="020B0503020204020204" charset="-122"/>
              <a:sym typeface="+mn-ea"/>
            </a:endParaRPr>
          </a:p>
        </p:txBody>
      </p:sp>
      <p:sp>
        <p:nvSpPr>
          <p:cNvPr id="4" name="文本框 3"/>
          <p:cNvSpPr txBox="1"/>
          <p:nvPr/>
        </p:nvSpPr>
        <p:spPr>
          <a:xfrm>
            <a:off x="4062476" y="3709035"/>
            <a:ext cx="4064000" cy="368300"/>
          </a:xfrm>
          <a:prstGeom prst="rect">
            <a:avLst/>
          </a:prstGeom>
          <a:noFill/>
        </p:spPr>
        <p:txBody>
          <a:bodyPr wrap="square" rtlCol="0">
            <a:spAutoFit/>
          </a:bodyPr>
          <a:lstStyle/>
          <a:p>
            <a:pPr algn="ctr"/>
            <a:r>
              <a:rPr lang="zh-CN" altLang="en-US" dirty="0"/>
              <a:t>华东师范大学软件工程学院</a:t>
            </a:r>
          </a:p>
        </p:txBody>
      </p:sp>
      <p:sp>
        <p:nvSpPr>
          <p:cNvPr id="7" name="文本框 6"/>
          <p:cNvSpPr txBox="1"/>
          <p:nvPr/>
        </p:nvSpPr>
        <p:spPr>
          <a:xfrm>
            <a:off x="4062476" y="4322445"/>
            <a:ext cx="4064000" cy="368300"/>
          </a:xfrm>
          <a:prstGeom prst="rect">
            <a:avLst/>
          </a:prstGeom>
          <a:noFill/>
        </p:spPr>
        <p:txBody>
          <a:bodyPr wrap="square" rtlCol="0">
            <a:spAutoFit/>
          </a:bodyPr>
          <a:lstStyle/>
          <a:p>
            <a:pPr algn="ctr"/>
            <a:r>
              <a:rPr lang="zh-CN" altLang="en-US" dirty="0"/>
              <a:t>主讲人</a:t>
            </a:r>
            <a:r>
              <a:rPr lang="en-US" altLang="zh-CN" dirty="0"/>
              <a:t>：</a:t>
            </a:r>
            <a:r>
              <a:rPr lang="zh-CN" altLang="en-US" dirty="0"/>
              <a:t>张磊</a:t>
            </a:r>
          </a:p>
        </p:txBody>
      </p:sp>
      <p:sp>
        <p:nvSpPr>
          <p:cNvPr id="8" name="TextBox 1"/>
          <p:cNvSpPr txBox="1"/>
          <p:nvPr/>
        </p:nvSpPr>
        <p:spPr>
          <a:xfrm>
            <a:off x="1371600" y="2103120"/>
            <a:ext cx="9445752" cy="615315"/>
          </a:xfrm>
          <a:prstGeom prst="rect">
            <a:avLst/>
          </a:prstGeom>
          <a:noFill/>
        </p:spPr>
        <p:txBody>
          <a:bodyPr wrap="square" lIns="0" tIns="0" rIns="0" bIns="0" anchor="t">
            <a:spAutoFit/>
          </a:bodyPr>
          <a:lstStyle/>
          <a:p>
            <a:pPr algn="ctr">
              <a:spcBef>
                <a:spcPts val="0"/>
              </a:spcBef>
              <a:spcAft>
                <a:spcPts val="0"/>
              </a:spcAft>
            </a:pPr>
            <a:r>
              <a:rPr lang="zh-CN" altLang="en-US" sz="4000" b="1" i="0" dirty="0">
                <a:solidFill>
                  <a:srgbClr val="333333"/>
                </a:solidFill>
                <a:latin typeface="微软雅黑" panose="020B0503020204020204" charset="-122"/>
                <a:ea typeface="微软雅黑" panose="020B0503020204020204" charset="-122"/>
              </a:rPr>
              <a:t>密码与网络安全引论</a:t>
            </a:r>
            <a:endParaRPr sz="4000" b="1" i="0" dirty="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80360" y="868680"/>
            <a:ext cx="128016" cy="5120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4419600" y="1087896"/>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chorCtr="0"/>
          <a:lstStyle/>
          <a:p>
            <a:pPr algn="ctr"/>
            <a:endParaRPr sz="2400"/>
          </a:p>
        </p:txBody>
      </p:sp>
      <p:sp>
        <p:nvSpPr>
          <p:cNvPr id="16" name="TextBox 15"/>
          <p:cNvSpPr txBox="1"/>
          <p:nvPr/>
        </p:nvSpPr>
        <p:spPr>
          <a:xfrm>
            <a:off x="5105400" y="971754"/>
            <a:ext cx="6004316" cy="579755"/>
          </a:xfrm>
          <a:prstGeom prst="rect">
            <a:avLst/>
          </a:prstGeom>
          <a:noFill/>
        </p:spPr>
        <p:txBody>
          <a:bodyPr wrap="square" lIns="0" tIns="0" rIns="0" bIns="0" anchor="ctr" anchorCtr="0">
            <a:noAutofit/>
          </a:bodyPr>
          <a:lstStyle/>
          <a:p>
            <a:r>
              <a:rPr lang="zh-CN" altLang="en-US" sz="3600" b="1" dirty="0">
                <a:solidFill>
                  <a:srgbClr val="303030"/>
                </a:solidFill>
                <a:latin typeface="Times New Roman" panose="02020503050405090304"/>
                <a:ea typeface="微软雅黑"/>
                <a:cs typeface="Times New Roman" panose="02020503050405090304"/>
              </a:rPr>
              <a:t>公钥密码学引言</a:t>
            </a:r>
            <a:endParaRPr lang="zh-CN" altLang="en-US" sz="3600" b="1" dirty="0">
              <a:solidFill>
                <a:srgbClr val="333333"/>
              </a:solidFill>
              <a:latin typeface="微软雅黑" panose="020B0503020204020204" charset="-122"/>
              <a:ea typeface="微软雅黑" panose="020B0503020204020204" charset="-122"/>
              <a:sym typeface="+mn-ea"/>
            </a:endParaRPr>
          </a:p>
        </p:txBody>
      </p:sp>
      <p:sp>
        <p:nvSpPr>
          <p:cNvPr id="4" name="Rectangle 3"/>
          <p:cNvSpPr/>
          <p:nvPr/>
        </p:nvSpPr>
        <p:spPr>
          <a:xfrm>
            <a:off x="4419600" y="2147377"/>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 name="TextBox 4"/>
          <p:cNvSpPr txBox="1"/>
          <p:nvPr/>
        </p:nvSpPr>
        <p:spPr>
          <a:xfrm>
            <a:off x="5105400" y="2037903"/>
            <a:ext cx="5896740" cy="566420"/>
          </a:xfrm>
          <a:prstGeom prst="rect">
            <a:avLst/>
          </a:prstGeom>
          <a:noFill/>
        </p:spPr>
        <p:txBody>
          <a:bodyPr wrap="square" lIns="0" tIns="0" rIns="0" bIns="0" anchor="t">
            <a:noAutofit/>
          </a:bodyPr>
          <a:lstStyle/>
          <a:p>
            <a:pPr algn="l">
              <a:spcBef>
                <a:spcPts val="0"/>
              </a:spcBef>
              <a:spcAft>
                <a:spcPts val="0"/>
              </a:spcAft>
            </a:pPr>
            <a:r>
              <a:rPr lang="zh-CN" altLang="en-US" sz="3600" b="1" dirty="0">
                <a:solidFill>
                  <a:srgbClr val="303030"/>
                </a:solidFill>
                <a:latin typeface="Times New Roman" panose="02020503050405090304"/>
                <a:ea typeface="微软雅黑"/>
                <a:cs typeface="Times New Roman" panose="02020503050405090304"/>
              </a:rPr>
              <a:t>公钥加密定义</a:t>
            </a:r>
            <a:endParaRPr lang="zh-CN" altLang="en-US" sz="3600" b="1" dirty="0">
              <a:solidFill>
                <a:srgbClr val="333333"/>
              </a:solidFill>
              <a:latin typeface="微软雅黑" panose="020B0503020204020204" charset="-122"/>
              <a:ea typeface="微软雅黑" panose="020B0503020204020204" charset="-122"/>
              <a:sym typeface="+mn-ea"/>
            </a:endParaRPr>
          </a:p>
        </p:txBody>
      </p:sp>
      <p:sp>
        <p:nvSpPr>
          <p:cNvPr id="6" name="Rectangle 14"/>
          <p:cNvSpPr/>
          <p:nvPr/>
        </p:nvSpPr>
        <p:spPr>
          <a:xfrm>
            <a:off x="4420411" y="3230462"/>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chorCtr="0"/>
          <a:lstStyle/>
          <a:p>
            <a:pPr algn="ctr"/>
            <a:endParaRPr sz="2400"/>
          </a:p>
        </p:txBody>
      </p:sp>
      <p:sp>
        <p:nvSpPr>
          <p:cNvPr id="7" name="TextBox 15"/>
          <p:cNvSpPr txBox="1"/>
          <p:nvPr/>
        </p:nvSpPr>
        <p:spPr>
          <a:xfrm>
            <a:off x="5106210" y="3114320"/>
            <a:ext cx="7085789" cy="579755"/>
          </a:xfrm>
          <a:prstGeom prst="rect">
            <a:avLst/>
          </a:prstGeom>
          <a:noFill/>
        </p:spPr>
        <p:txBody>
          <a:bodyPr wrap="square" lIns="0" tIns="0" rIns="0" bIns="0" anchor="ctr" anchorCtr="0">
            <a:noAutofit/>
          </a:bodyPr>
          <a:lstStyle/>
          <a:p>
            <a:pPr algn="l">
              <a:spcBef>
                <a:spcPts val="0"/>
              </a:spcBef>
              <a:spcAft>
                <a:spcPts val="0"/>
              </a:spcAft>
            </a:pPr>
            <a:r>
              <a:rPr lang="zh-CN" altLang="en-US" sz="3600" b="1" dirty="0">
                <a:solidFill>
                  <a:srgbClr val="333333"/>
                </a:solidFill>
                <a:latin typeface="微软雅黑" panose="020B0503020204020204" charset="-122"/>
                <a:ea typeface="微软雅黑" panose="020B0503020204020204" charset="-122"/>
                <a:sym typeface="+mn-ea"/>
              </a:rPr>
              <a:t>经典算法</a:t>
            </a:r>
            <a:r>
              <a:rPr lang="en-GB" altLang="zh-CN" sz="3600" b="1" dirty="0">
                <a:solidFill>
                  <a:srgbClr val="303030"/>
                </a:solidFill>
                <a:latin typeface="Times New Roman" panose="02020503050405090304"/>
                <a:ea typeface="微软雅黑"/>
                <a:cs typeface="Times New Roman" panose="02020503050405090304"/>
              </a:rPr>
              <a:t>RSA</a:t>
            </a:r>
            <a:r>
              <a:rPr lang="zh-CN" altLang="en-GB" sz="3600" b="1" dirty="0">
                <a:solidFill>
                  <a:srgbClr val="303030"/>
                </a:solidFill>
                <a:latin typeface="Times New Roman" panose="02020503050405090304"/>
                <a:ea typeface="微软雅黑"/>
                <a:cs typeface="Times New Roman" panose="02020503050405090304"/>
              </a:rPr>
              <a:t>、</a:t>
            </a:r>
            <a:r>
              <a:rPr lang="en-GB" altLang="zh-CN" sz="3600" b="1" dirty="0">
                <a:solidFill>
                  <a:srgbClr val="303030"/>
                </a:solidFill>
                <a:latin typeface="Times New Roman" panose="02020503050405090304"/>
                <a:ea typeface="微软雅黑"/>
                <a:cs typeface="Times New Roman" panose="02020503050405090304"/>
              </a:rPr>
              <a:t>ElGamal</a:t>
            </a:r>
            <a:r>
              <a:rPr lang="zh-CN" altLang="en-US" sz="3600" b="1" dirty="0">
                <a:solidFill>
                  <a:srgbClr val="303030"/>
                </a:solidFill>
                <a:latin typeface="Times New Roman" panose="02020503050405090304"/>
                <a:ea typeface="微软雅黑"/>
                <a:cs typeface="Times New Roman" panose="02020503050405090304"/>
              </a:rPr>
              <a:t>与</a:t>
            </a:r>
            <a:r>
              <a:rPr lang="en-GB" altLang="zh-CN" sz="3600" b="1" dirty="0">
                <a:solidFill>
                  <a:srgbClr val="303030"/>
                </a:solidFill>
                <a:latin typeface="Times New Roman" panose="02020503050405090304"/>
                <a:ea typeface="微软雅黑"/>
                <a:cs typeface="Times New Roman" panose="02020503050405090304"/>
              </a:rPr>
              <a:t>SM2</a:t>
            </a:r>
            <a:endParaRPr lang="zh-CN" altLang="en-US" sz="3600" b="1" dirty="0">
              <a:solidFill>
                <a:srgbClr val="333333"/>
              </a:solidFill>
              <a:latin typeface="微软雅黑" panose="020B0503020204020204" charset="-122"/>
              <a:ea typeface="微软雅黑" panose="020B0503020204020204" charset="-122"/>
              <a:sym typeface="+mn-ea"/>
            </a:endParaRPr>
          </a:p>
        </p:txBody>
      </p:sp>
      <p:sp>
        <p:nvSpPr>
          <p:cNvPr id="8" name="Rectangle 3"/>
          <p:cNvSpPr/>
          <p:nvPr/>
        </p:nvSpPr>
        <p:spPr>
          <a:xfrm>
            <a:off x="4420411" y="4243064"/>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 name="TextBox 4"/>
          <p:cNvSpPr txBox="1"/>
          <p:nvPr/>
        </p:nvSpPr>
        <p:spPr>
          <a:xfrm>
            <a:off x="5106211" y="4133590"/>
            <a:ext cx="5896740" cy="566420"/>
          </a:xfrm>
          <a:prstGeom prst="rect">
            <a:avLst/>
          </a:prstGeom>
          <a:noFill/>
        </p:spPr>
        <p:txBody>
          <a:bodyPr wrap="square" lIns="0" tIns="0" rIns="0" bIns="0" anchor="t">
            <a:noAutofit/>
          </a:bodyPr>
          <a:lstStyle/>
          <a:p>
            <a:pPr algn="l">
              <a:spcBef>
                <a:spcPts val="0"/>
              </a:spcBef>
              <a:spcAft>
                <a:spcPts val="0"/>
              </a:spcAft>
            </a:pPr>
            <a:r>
              <a:rPr lang="en-US" altLang="zh-CN" sz="3600" b="1" dirty="0">
                <a:solidFill>
                  <a:srgbClr val="303030"/>
                </a:solidFill>
                <a:latin typeface="Times New Roman" panose="02020503050405090304"/>
                <a:ea typeface="微软雅黑"/>
                <a:cs typeface="Times New Roman" panose="02020503050405090304"/>
              </a:rPr>
              <a:t>RSA</a:t>
            </a:r>
            <a:r>
              <a:rPr lang="zh-CN" altLang="en-US" sz="3600" b="1" dirty="0">
                <a:solidFill>
                  <a:srgbClr val="303030"/>
                </a:solidFill>
              </a:rPr>
              <a:t>与</a:t>
            </a:r>
            <a:r>
              <a:rPr lang="en-GB" altLang="zh-CN" sz="3600" b="1" dirty="0">
                <a:solidFill>
                  <a:srgbClr val="303030"/>
                </a:solidFill>
                <a:latin typeface="Times New Roman" panose="02020503050405090304"/>
                <a:ea typeface="微软雅黑"/>
                <a:cs typeface="Times New Roman" panose="02020503050405090304"/>
              </a:rPr>
              <a:t>ElGamal</a:t>
            </a:r>
            <a:r>
              <a:rPr lang="zh-CN" altLang="en-GB" sz="3600" b="1" dirty="0">
                <a:solidFill>
                  <a:srgbClr val="303030"/>
                </a:solidFill>
                <a:latin typeface="Times New Roman" panose="02020503050405090304"/>
                <a:ea typeface="微软雅黑"/>
                <a:cs typeface="Times New Roman" panose="02020503050405090304"/>
              </a:rPr>
              <a:t>的</a:t>
            </a:r>
            <a:r>
              <a:rPr lang="zh-CN" altLang="en-US" sz="3600" b="1" dirty="0">
                <a:solidFill>
                  <a:srgbClr val="303030"/>
                </a:solidFill>
                <a:latin typeface="Times New Roman" panose="02020503050405090304"/>
                <a:ea typeface="微软雅黑"/>
                <a:cs typeface="Times New Roman" panose="02020503050405090304"/>
              </a:rPr>
              <a:t>改进</a:t>
            </a:r>
            <a:endParaRPr lang="zh-CN" altLang="en-US" sz="3600" b="1" dirty="0">
              <a:solidFill>
                <a:srgbClr val="333333"/>
              </a:solidFill>
              <a:latin typeface="微软雅黑" panose="020B0503020204020204" charset="-122"/>
              <a:ea typeface="微软雅黑" panose="020B0503020204020204" charset="-122"/>
              <a:sym typeface="+mn-ea"/>
            </a:endParaRPr>
          </a:p>
        </p:txBody>
      </p:sp>
      <p:sp>
        <p:nvSpPr>
          <p:cNvPr id="11" name="文本框 10"/>
          <p:cNvSpPr txBox="1"/>
          <p:nvPr/>
        </p:nvSpPr>
        <p:spPr>
          <a:xfrm>
            <a:off x="1603201" y="2678412"/>
            <a:ext cx="738664" cy="1015663"/>
          </a:xfrm>
          <a:prstGeom prst="rect">
            <a:avLst/>
          </a:prstGeom>
          <a:noFill/>
        </p:spPr>
        <p:txBody>
          <a:bodyPr vert="eaVert" wrap="none" rtlCol="0">
            <a:spAutoFit/>
          </a:bodyPr>
          <a:lstStyle/>
          <a:p>
            <a:pPr algn="l">
              <a:spcBef>
                <a:spcPts val="0"/>
              </a:spcBef>
              <a:spcAft>
                <a:spcPts val="1000"/>
              </a:spcAft>
            </a:pPr>
            <a:r>
              <a:rPr lang="zh-CN" altLang="en-US" sz="3600" b="0" i="0" dirty="0">
                <a:solidFill>
                  <a:srgbClr val="808080"/>
                </a:solidFill>
                <a:latin typeface="微软雅黑" panose="020B0503020204020204" charset="-122"/>
                <a:ea typeface="微软雅黑" panose="020B0503020204020204" charset="-122"/>
              </a:rPr>
              <a:t>目录</a:t>
            </a:r>
            <a:endParaRPr lang="zh-CN" altLang="en-US" sz="1800" b="0" i="0" dirty="0">
              <a:solidFill>
                <a:srgbClr val="808080"/>
              </a:solidFill>
              <a:latin typeface="微软雅黑" panose="020B0503020204020204" charset="-122"/>
              <a:ea typeface="微软雅黑" panose="020B0503020204020204" charset="-122"/>
            </a:endParaRPr>
          </a:p>
        </p:txBody>
      </p:sp>
      <p:sp>
        <p:nvSpPr>
          <p:cNvPr id="2" name="Rectangle 3"/>
          <p:cNvSpPr/>
          <p:nvPr/>
        </p:nvSpPr>
        <p:spPr>
          <a:xfrm>
            <a:off x="4427039" y="5277371"/>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0" name="TextBox 4"/>
          <p:cNvSpPr txBox="1"/>
          <p:nvPr/>
        </p:nvSpPr>
        <p:spPr>
          <a:xfrm>
            <a:off x="5112839" y="5167897"/>
            <a:ext cx="5896740" cy="566420"/>
          </a:xfrm>
          <a:prstGeom prst="rect">
            <a:avLst/>
          </a:prstGeom>
          <a:noFill/>
        </p:spPr>
        <p:txBody>
          <a:bodyPr wrap="square" lIns="0" tIns="0" rIns="0" bIns="0" anchor="t">
            <a:noAutofit/>
          </a:bodyPr>
          <a:lstStyle/>
          <a:p>
            <a:pPr algn="l">
              <a:spcBef>
                <a:spcPts val="0"/>
              </a:spcBef>
              <a:spcAft>
                <a:spcPts val="0"/>
              </a:spcAft>
            </a:pPr>
            <a:r>
              <a:rPr lang="zh-CN" altLang="en-US" sz="3600" b="1" dirty="0">
                <a:solidFill>
                  <a:srgbClr val="303030"/>
                </a:solidFill>
                <a:latin typeface="Times New Roman" panose="02020503050405090304"/>
                <a:ea typeface="微软雅黑"/>
                <a:cs typeface="Times New Roman" panose="02020503050405090304"/>
              </a:rPr>
              <a:t>安全性分析与证明</a:t>
            </a:r>
            <a:endParaRPr lang="zh-CN" altLang="en-US" sz="3600" b="1" dirty="0">
              <a:solidFill>
                <a:srgbClr val="333333"/>
              </a:solidFill>
              <a:latin typeface="微软雅黑" panose="020B0503020204020204" charset="-122"/>
              <a:ea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文本框 2"/>
          <p:cNvSpPr txBox="1"/>
          <p:nvPr/>
        </p:nvSpPr>
        <p:spPr>
          <a:xfrm>
            <a:off x="-1205766" y="848035"/>
            <a:ext cx="6762750" cy="410845"/>
          </a:xfrm>
          <a:prstGeom prst="rect">
            <a:avLst/>
          </a:prstGeom>
          <a:noFill/>
        </p:spPr>
        <p:txBody>
          <a:bodyPr wrap="square" rtlCol="0" anchor="t">
            <a:noAutofit/>
          </a:bodyPr>
          <a:lstStyle/>
          <a:p>
            <a:pPr algn="ctr">
              <a:defRPr sz="1275" b="0">
                <a:solidFill>
                  <a:srgbClr val="8B3D3D"/>
                </a:solidFill>
              </a:defRPr>
            </a:pPr>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公钥密码学解决什么问题</a:t>
            </a:r>
            <a:endPar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endParaRPr>
          </a:p>
        </p:txBody>
      </p:sp>
      <p:sp>
        <p:nvSpPr>
          <p:cNvPr id="8" name="矩形 7"/>
          <p:cNvSpPr>
            <a:spLocks noGrp="1"/>
          </p:cNvSpPr>
          <p:nvPr/>
        </p:nvSpPr>
        <p:spPr>
          <a:xfrm>
            <a:off x="876300" y="1442720"/>
            <a:ext cx="10439400" cy="400050"/>
          </a:xfrm>
          <a:prstGeom prst="rect">
            <a:avLst/>
          </a:prstGeom>
          <a:noFill/>
          <a:ln w="0">
            <a:noFill/>
            <a:prstDash val="solid"/>
          </a:ln>
        </p:spPr>
        <p:txBody>
          <a:bodyPr/>
          <a:lstStyle/>
          <a:p>
            <a:pPr>
              <a:defRPr sz="1500" b="0">
                <a:solidFill>
                  <a:srgbClr val="303030"/>
                </a:solidFill>
              </a:defRPr>
            </a:pPr>
            <a:r>
              <a:rPr sz="2000" dirty="0" err="1">
                <a:solidFill>
                  <a:srgbClr val="303030"/>
                </a:solidFill>
                <a:latin typeface="Times New Roman" panose="02020503050405090304" charset="-122"/>
                <a:ea typeface="微软雅黑" panose="020B0503020204020204" charset="-122"/>
                <a:cs typeface="Times New Roman" panose="02020503050405090304" charset="-122"/>
              </a:rPr>
              <a:t>公钥密码学用于</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解决传统对称加密中的密钥分发问题</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，提供了数字签名和密钥交换等功能</a:t>
            </a:r>
            <a:r>
              <a:rPr lang="zh-CN" altLang="en-US" sz="2000" b="1" dirty="0">
                <a:solidFill>
                  <a:srgbClr val="303030"/>
                </a:solidFill>
                <a:latin typeface="Times New Roman" panose="02020503050405090304" charset="-122"/>
                <a:ea typeface="微软雅黑" panose="020B0503020204020204" charset="-122"/>
                <a:cs typeface="Times New Roman" panose="02020503050405090304" charset="-122"/>
              </a:rPr>
              <a:t>。</a:t>
            </a:r>
          </a:p>
        </p:txBody>
      </p:sp>
      <p:sp>
        <p:nvSpPr>
          <p:cNvPr id="2"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a:solidFill>
                  <a:srgbClr val="FFFFFF"/>
                </a:solidFill>
                <a:latin typeface="Times New Roman" panose="02020503050405090304" pitchFamily="18" charset="0"/>
                <a:ea typeface="微软雅黑" panose="020B0503020204020204" charset="-122"/>
              </a:rPr>
              <a:t>01</a:t>
            </a:r>
            <a:endParaRPr lang="en-US" b="1" i="0">
              <a:solidFill>
                <a:srgbClr val="FFFFFF"/>
              </a:solidFill>
              <a:latin typeface="Times New Roman" panose="02020503050405090304" pitchFamily="18" charset="0"/>
              <a:ea typeface="微软雅黑" panose="020B0503020204020204" charset="-122"/>
            </a:endParaRPr>
          </a:p>
        </p:txBody>
      </p:sp>
      <p:sp>
        <p:nvSpPr>
          <p:cNvPr id="4" name="TextBox 2"/>
          <p:cNvSpPr txBox="1"/>
          <p:nvPr/>
        </p:nvSpPr>
        <p:spPr>
          <a:xfrm>
            <a:off x="1066800" y="191135"/>
            <a:ext cx="5705475" cy="492443"/>
          </a:xfrm>
          <a:prstGeom prst="rect">
            <a:avLst/>
          </a:prstGeom>
          <a:noFill/>
        </p:spPr>
        <p:txBody>
          <a:bodyPr wrap="square" lIns="0" tIns="0" rIns="0" bIns="0" anchor="t">
            <a:spAutoFit/>
          </a:bodyPr>
          <a:lstStyle/>
          <a:p>
            <a:pPr algn="l">
              <a:defRPr sz="1800" b="1">
                <a:solidFill>
                  <a:srgbClr val="C90012"/>
                </a:solidFill>
              </a:defRPr>
            </a:pPr>
            <a:r>
              <a:rPr lang="zh-CN" altLang="zh-CN" sz="3200" b="1" dirty="0">
                <a:latin typeface="Times New Roman" panose="02020503050405090304" charset="-122"/>
                <a:ea typeface="微软雅黑" panose="020B0503020204020204" charset="-122"/>
                <a:sym typeface="+mn-ea"/>
              </a:rPr>
              <a:t>公钥密码学引言</a:t>
            </a:r>
            <a:endParaRPr lang="zh-CN" altLang="en-US" sz="3200" b="1" dirty="0">
              <a:solidFill>
                <a:srgbClr val="C90012"/>
              </a:solidFill>
              <a:latin typeface="Times New Roman" panose="02020503050405090304" charset="-122"/>
              <a:ea typeface="微软雅黑" panose="020B0503020204020204" charset="-122"/>
              <a:sym typeface="+mn-ea"/>
            </a:endParaRPr>
          </a:p>
        </p:txBody>
      </p:sp>
      <p:sp>
        <p:nvSpPr>
          <p:cNvPr id="5" name="圆角矩形 4"/>
          <p:cNvSpPr>
            <a:spLocks noGrp="1"/>
          </p:cNvSpPr>
          <p:nvPr/>
        </p:nvSpPr>
        <p:spPr>
          <a:xfrm>
            <a:off x="633412" y="2248697"/>
            <a:ext cx="10925175" cy="2912774"/>
          </a:xfrm>
          <a:prstGeom prst="roundRect">
            <a:avLst>
              <a:gd name="adj" fmla="val 9091"/>
            </a:avLst>
          </a:prstGeom>
          <a:solidFill>
            <a:srgbClr val="FFFFFF"/>
          </a:solidFill>
          <a:ln w="9525">
            <a:solidFill>
              <a:schemeClr val="accent1"/>
            </a:solidFill>
          </a:ln>
        </p:spPr>
      </p:sp>
      <p:sp>
        <p:nvSpPr>
          <p:cNvPr id="6" name="矩形 5"/>
          <p:cNvSpPr>
            <a:spLocks noGrp="1"/>
          </p:cNvSpPr>
          <p:nvPr/>
        </p:nvSpPr>
        <p:spPr>
          <a:xfrm>
            <a:off x="873159" y="463759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marL="342900" indent="-342900" algn="l">
              <a:lnSpc>
                <a:spcPct val="130000"/>
              </a:lnSpc>
              <a:buFont typeface="Wingdings" panose="05000000000000000000" pitchFamily="2" charset="2"/>
              <a:buChar char="n"/>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Alice准备向Bob发送一份保密文件</a:t>
            </a:r>
            <a:endParaRPr lang="en-US" sz="2000" b="0" dirty="0">
              <a:solidFill>
                <a:srgbClr val="303030"/>
              </a:solidFill>
              <a:latin typeface="Times New Roman" panose="02020503050405090304"/>
              <a:ea typeface="微软雅黑"/>
              <a:cs typeface="Times New Roman" panose="02020503050405090304"/>
            </a:endParaRPr>
          </a:p>
          <a:p>
            <a:pPr marL="342900" indent="-342900">
              <a:lnSpc>
                <a:spcPct val="130000"/>
              </a:lnSpc>
              <a:buFont typeface="Wingdings" panose="05000000000000000000" pitchFamily="2" charset="2"/>
              <a:buChar char="n"/>
              <a:defRPr sz="2025"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双方尚未共享秘密密钥，网络可能受到监听</a:t>
            </a:r>
            <a:endParaRPr lang="en-US" altLang="zh-CN" sz="2000" b="0" dirty="0">
              <a:solidFill>
                <a:srgbClr val="303030"/>
              </a:solidFill>
              <a:latin typeface="Times New Roman" panose="02020503050405090304"/>
              <a:ea typeface="微软雅黑"/>
              <a:cs typeface="Times New Roman" panose="02020503050405090304"/>
            </a:endParaRPr>
          </a:p>
          <a:p>
            <a:pPr marL="342900" indent="-342900">
              <a:lnSpc>
                <a:spcPct val="130000"/>
              </a:lnSpc>
              <a:buFont typeface="Wingdings" panose="05000000000000000000" pitchFamily="2" charset="2"/>
              <a:buChar char="n"/>
              <a:defRPr sz="2025"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传输对称密钥面临泄露风险</a:t>
            </a:r>
          </a:p>
          <a:p>
            <a:pPr marL="342900" indent="-342900">
              <a:lnSpc>
                <a:spcPct val="130000"/>
              </a:lnSpc>
              <a:buFont typeface="Wingdings" panose="05000000000000000000" pitchFamily="2" charset="2"/>
              <a:buChar char="n"/>
              <a:defRPr sz="2025" b="0">
                <a:solidFill>
                  <a:srgbClr val="303030"/>
                </a:solidFill>
                <a:latin typeface="Times New Roman" panose="02020503050405090304"/>
                <a:ea typeface="微软雅黑"/>
                <a:cs typeface="Times New Roman" panose="02020503050405090304"/>
              </a:defRPr>
            </a:pPr>
            <a:endParaRPr lang="zh-CN" altLang="en-US" sz="2000" b="0" dirty="0">
              <a:solidFill>
                <a:srgbClr val="303030"/>
              </a:solidFill>
              <a:latin typeface="Times New Roman" panose="02020503050405090304"/>
              <a:ea typeface="微软雅黑"/>
              <a:cs typeface="Times New Roman" panose="02020503050405090304"/>
            </a:endParaRPr>
          </a:p>
          <a:p>
            <a:pPr marL="342900" indent="-342900" algn="l">
              <a:lnSpc>
                <a:spcPct val="130000"/>
              </a:lnSpc>
              <a:buFont typeface="Wingdings" panose="05000000000000000000" pitchFamily="2" charset="2"/>
              <a:buChar char="n"/>
              <a:defRPr sz="2025" b="0">
                <a:solidFill>
                  <a:srgbClr val="303030"/>
                </a:solidFill>
                <a:latin typeface="Times New Roman" panose="02020503050405090304"/>
                <a:ea typeface="微软雅黑"/>
                <a:cs typeface="Times New Roman" panose="02020503050405090304"/>
              </a:defRPr>
            </a:pPr>
            <a:endParaRPr lang="zh-CN" altLang="en-US" sz="1800" b="0" dirty="0">
              <a:solidFill>
                <a:srgbClr val="303030"/>
              </a:solidFill>
              <a:latin typeface="Times New Roman" panose="02020503050405090304"/>
              <a:ea typeface="微软雅黑"/>
              <a:cs typeface="Times New Roman" panose="02020503050405090304"/>
            </a:endParaRPr>
          </a:p>
        </p:txBody>
      </p:sp>
      <p:sp>
        <p:nvSpPr>
          <p:cNvPr id="7" name="矩形 6"/>
          <p:cNvSpPr>
            <a:spLocks noGrp="1"/>
          </p:cNvSpPr>
          <p:nvPr/>
        </p:nvSpPr>
        <p:spPr>
          <a:xfrm>
            <a:off x="1542347" y="410530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2400" b="0" dirty="0">
              <a:solidFill>
                <a:srgbClr val="303030"/>
              </a:solidFill>
              <a:latin typeface="Times New Roman" panose="02020503050405090304"/>
              <a:ea typeface="微软雅黑"/>
              <a:cs typeface="Times New Roman" panose="02020503050405090304"/>
            </a:endParaRPr>
          </a:p>
        </p:txBody>
      </p:sp>
      <p:sp>
        <p:nvSpPr>
          <p:cNvPr id="10" name="矩形 9"/>
          <p:cNvSpPr>
            <a:spLocks noGrp="1"/>
          </p:cNvSpPr>
          <p:nvPr/>
        </p:nvSpPr>
        <p:spPr>
          <a:xfrm>
            <a:off x="3085175" y="4714905"/>
            <a:ext cx="8458422"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2400" b="0" dirty="0">
              <a:solidFill>
                <a:srgbClr val="303030"/>
              </a:solidFill>
              <a:latin typeface="Times New Roman" panose="02020503050405090304"/>
              <a:ea typeface="微软雅黑"/>
              <a:cs typeface="Times New Roman" panose="02020503050405090304"/>
            </a:endParaRPr>
          </a:p>
        </p:txBody>
      </p:sp>
      <p:sp>
        <p:nvSpPr>
          <p:cNvPr id="11" name="圆角矩形 10"/>
          <p:cNvSpPr>
            <a:spLocks noGrp="1"/>
          </p:cNvSpPr>
          <p:nvPr/>
        </p:nvSpPr>
        <p:spPr>
          <a:xfrm>
            <a:off x="787434" y="2870815"/>
            <a:ext cx="3270250" cy="838200"/>
          </a:xfrm>
          <a:prstGeom prst="roundRect">
            <a:avLst>
              <a:gd name="adj" fmla="val 9091"/>
            </a:avLst>
          </a:prstGeom>
          <a:solidFill>
            <a:srgbClr val="FFFFFF"/>
          </a:solidFill>
          <a:ln w="9525">
            <a:solidFill>
              <a:srgbClr val="E4BABA"/>
            </a:solidFill>
          </a:ln>
        </p:spPr>
      </p:sp>
      <p:sp>
        <p:nvSpPr>
          <p:cNvPr id="12" name="矩形 11"/>
          <p:cNvSpPr>
            <a:spLocks noGrp="1"/>
          </p:cNvSpPr>
          <p:nvPr/>
        </p:nvSpPr>
        <p:spPr>
          <a:xfrm>
            <a:off x="873159" y="292796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Alice</a:t>
            </a:r>
          </a:p>
        </p:txBody>
      </p:sp>
      <p:sp>
        <p:nvSpPr>
          <p:cNvPr id="13" name="右箭头 12"/>
          <p:cNvSpPr>
            <a:spLocks noGrp="1"/>
          </p:cNvSpPr>
          <p:nvPr/>
        </p:nvSpPr>
        <p:spPr>
          <a:xfrm>
            <a:off x="4124359" y="3185140"/>
            <a:ext cx="219075" cy="200025"/>
          </a:xfrm>
          <a:prstGeom prst="rightArrow">
            <a:avLst/>
          </a:prstGeom>
          <a:solidFill>
            <a:srgbClr val="C90012"/>
          </a:solidFill>
          <a:ln w="0">
            <a:noFill/>
          </a:ln>
        </p:spPr>
      </p:sp>
      <p:sp>
        <p:nvSpPr>
          <p:cNvPr id="15" name="圆角矩形 14"/>
          <p:cNvSpPr>
            <a:spLocks noGrp="1"/>
          </p:cNvSpPr>
          <p:nvPr/>
        </p:nvSpPr>
        <p:spPr>
          <a:xfrm>
            <a:off x="4391059" y="2870815"/>
            <a:ext cx="3270250" cy="838200"/>
          </a:xfrm>
          <a:prstGeom prst="roundRect">
            <a:avLst>
              <a:gd name="adj" fmla="val 9091"/>
            </a:avLst>
          </a:prstGeom>
          <a:solidFill>
            <a:srgbClr val="FFF1F1"/>
          </a:solidFill>
          <a:ln w="9525">
            <a:solidFill>
              <a:srgbClr val="E4BABA"/>
            </a:solidFill>
          </a:ln>
        </p:spPr>
      </p:sp>
      <p:sp>
        <p:nvSpPr>
          <p:cNvPr id="16" name="矩形 15"/>
          <p:cNvSpPr>
            <a:spLocks noGrp="1"/>
          </p:cNvSpPr>
          <p:nvPr/>
        </p:nvSpPr>
        <p:spPr>
          <a:xfrm>
            <a:off x="4476784" y="292796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400" b="0">
                <a:solidFill>
                  <a:srgbClr val="303030"/>
                </a:solidFill>
                <a:latin typeface="Times New Roman" panose="02020503050405090304"/>
                <a:ea typeface="微软雅黑"/>
                <a:cs typeface="Times New Roman" panose="02020503050405090304"/>
              </a:rPr>
              <a:t>公开网络</a:t>
            </a:r>
          </a:p>
        </p:txBody>
      </p:sp>
      <p:sp>
        <p:nvSpPr>
          <p:cNvPr id="17" name="右箭头 16"/>
          <p:cNvSpPr>
            <a:spLocks noGrp="1"/>
          </p:cNvSpPr>
          <p:nvPr/>
        </p:nvSpPr>
        <p:spPr>
          <a:xfrm>
            <a:off x="7727984" y="3185140"/>
            <a:ext cx="219075" cy="200025"/>
          </a:xfrm>
          <a:prstGeom prst="rightArrow">
            <a:avLst/>
          </a:prstGeom>
          <a:solidFill>
            <a:srgbClr val="C90012"/>
          </a:solidFill>
          <a:ln w="0">
            <a:noFill/>
          </a:ln>
        </p:spPr>
      </p:sp>
      <p:sp>
        <p:nvSpPr>
          <p:cNvPr id="18" name="圆角矩形 17"/>
          <p:cNvSpPr>
            <a:spLocks noGrp="1"/>
          </p:cNvSpPr>
          <p:nvPr/>
        </p:nvSpPr>
        <p:spPr>
          <a:xfrm>
            <a:off x="7994684" y="2870815"/>
            <a:ext cx="3270250" cy="838200"/>
          </a:xfrm>
          <a:prstGeom prst="roundRect">
            <a:avLst>
              <a:gd name="adj" fmla="val 9091"/>
            </a:avLst>
          </a:prstGeom>
          <a:solidFill>
            <a:srgbClr val="FFFFFF"/>
          </a:solidFill>
          <a:ln w="9525">
            <a:solidFill>
              <a:srgbClr val="E4BABA"/>
            </a:solidFill>
          </a:ln>
        </p:spPr>
      </p:sp>
      <p:sp>
        <p:nvSpPr>
          <p:cNvPr id="19" name="矩形 18"/>
          <p:cNvSpPr>
            <a:spLocks noGrp="1"/>
          </p:cNvSpPr>
          <p:nvPr/>
        </p:nvSpPr>
        <p:spPr>
          <a:xfrm>
            <a:off x="8080409" y="292796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400" b="0">
                <a:solidFill>
                  <a:srgbClr val="303030"/>
                </a:solidFill>
                <a:latin typeface="Times New Roman" panose="02020503050405090304"/>
                <a:ea typeface="微软雅黑"/>
                <a:cs typeface="Times New Roman" panose="02020503050405090304"/>
              </a:rPr>
              <a:t>Bob</a:t>
            </a:r>
          </a:p>
        </p:txBody>
      </p:sp>
      <p:sp>
        <p:nvSpPr>
          <p:cNvPr id="23" name="文本框 22"/>
          <p:cNvSpPr txBox="1"/>
          <p:nvPr/>
        </p:nvSpPr>
        <p:spPr>
          <a:xfrm>
            <a:off x="787432" y="2335799"/>
            <a:ext cx="3933598" cy="461665"/>
          </a:xfrm>
          <a:prstGeom prst="rect">
            <a:avLst/>
          </a:prstGeom>
          <a:noFill/>
        </p:spPr>
        <p:txBody>
          <a:bodyPr wrap="square">
            <a:spAutoFit/>
          </a:bodyPr>
          <a:lstStyle/>
          <a:p>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rPr>
              <a:t>对称密钥分发的现实困境</a:t>
            </a:r>
            <a:r>
              <a:rPr lang="zh-CN" altLang="en-US" sz="2000" b="1" dirty="0">
                <a:solidFill>
                  <a:srgbClr val="C00000"/>
                </a:solidFill>
                <a:latin typeface="Times New Roman" panose="02020503050405090304" charset="-122"/>
                <a:ea typeface="微软雅黑" panose="020B0503020204020204" charset="-122"/>
                <a:cs typeface="Times New Roman" panose="02020503050405090304" charset="-122"/>
              </a:rPr>
              <a:t>：</a:t>
            </a:r>
            <a:endParaRPr lang="zh-CN" altLang="en-US" sz="2000" dirty="0">
              <a:solidFill>
                <a:srgbClr val="C00000"/>
              </a:solidFill>
            </a:endParaRPr>
          </a:p>
        </p:txBody>
      </p:sp>
      <p:sp>
        <p:nvSpPr>
          <p:cNvPr id="38" name="右箭头 37"/>
          <p:cNvSpPr>
            <a:spLocks noGrp="1"/>
          </p:cNvSpPr>
          <p:nvPr/>
        </p:nvSpPr>
        <p:spPr>
          <a:xfrm>
            <a:off x="7204848" y="4381530"/>
            <a:ext cx="219075" cy="200025"/>
          </a:xfrm>
          <a:prstGeom prst="rightArrow">
            <a:avLst/>
          </a:prstGeom>
          <a:solidFill>
            <a:srgbClr val="C90012"/>
          </a:solidFill>
          <a:ln w="0">
            <a:noFill/>
          </a:ln>
        </p:spPr>
      </p:sp>
      <p:sp>
        <p:nvSpPr>
          <p:cNvPr id="39" name="文本框 38"/>
          <p:cNvSpPr txBox="1"/>
          <p:nvPr/>
        </p:nvSpPr>
        <p:spPr>
          <a:xfrm>
            <a:off x="7423923" y="4220253"/>
            <a:ext cx="3942157" cy="461665"/>
          </a:xfrm>
          <a:prstGeom prst="rect">
            <a:avLst/>
          </a:prstGeom>
          <a:noFill/>
        </p:spPr>
        <p:txBody>
          <a:bodyPr wrap="square">
            <a:spAutoFit/>
          </a:bodyPr>
          <a:lstStyle/>
          <a:p>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rPr>
              <a:t>如何安全共享一个对称密钥？</a:t>
            </a:r>
            <a:endParaRPr lang="zh-CN" altLang="en-US" sz="2400" dirty="0">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矩形 9"/>
          <p:cNvSpPr>
            <a:spLocks noGrp="1"/>
          </p:cNvSpPr>
          <p:nvPr/>
        </p:nvSpPr>
        <p:spPr>
          <a:xfrm>
            <a:off x="127544" y="1296443"/>
            <a:ext cx="10363200" cy="495300"/>
          </a:xfrm>
          <a:prstGeom prst="rect">
            <a:avLst/>
          </a:prstGeom>
          <a:noFill/>
          <a:ln w="0">
            <a:noFill/>
            <a:prstDash val="solid"/>
          </a:ln>
        </p:spPr>
        <p:txBody>
          <a:bodyPr/>
          <a:lstStyle/>
          <a:p>
            <a:pPr algn="ctr">
              <a:defRPr sz="1425" b="0">
                <a:solidFill>
                  <a:srgbClr val="303030"/>
                </a:solidFill>
              </a:defRPr>
            </a:pPr>
            <a:r>
              <a:rPr sz="2000" b="1" dirty="0">
                <a:solidFill>
                  <a:srgbClr val="303030"/>
                </a:solidFill>
                <a:latin typeface="Times New Roman" panose="02020503050405090304" charset="-122"/>
                <a:ea typeface="微软雅黑" panose="020B0503020204020204" charset="-122"/>
                <a:cs typeface="Times New Roman" panose="02020503050405090304" charset="-122"/>
              </a:rPr>
              <a:t>1976 </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年，Diffie</a:t>
            </a:r>
            <a:r>
              <a:rPr sz="2000" b="1" dirty="0">
                <a:solidFill>
                  <a:srgbClr val="303030"/>
                </a:solidFill>
                <a:latin typeface="Times New Roman" panose="02020503050405090304" charset="-122"/>
                <a:ea typeface="微软雅黑" panose="020B0503020204020204" charset="-122"/>
                <a:cs typeface="Times New Roman" panose="02020503050405090304" charset="-122"/>
              </a:rPr>
              <a:t> </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与</a:t>
            </a:r>
            <a:r>
              <a:rPr sz="2000" b="1" dirty="0">
                <a:solidFill>
                  <a:srgbClr val="303030"/>
                </a:solidFill>
                <a:latin typeface="Times New Roman" panose="02020503050405090304" charset="-122"/>
                <a:ea typeface="微软雅黑" panose="020B0503020204020204" charset="-122"/>
                <a:cs typeface="Times New Roman" panose="02020503050405090304" charset="-122"/>
              </a:rPr>
              <a:t> Hellman </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发表</a:t>
            </a:r>
            <a:r>
              <a:rPr lang="zh-CN" altLang="en-US" sz="2000" b="1" dirty="0">
                <a:solidFill>
                  <a:srgbClr val="303030"/>
                </a:solidFill>
                <a:latin typeface="Times New Roman" panose="02020503050405090304" charset="-122"/>
                <a:ea typeface="微软雅黑" panose="020B0503020204020204" charset="-122"/>
                <a:cs typeface="Times New Roman" panose="02020503050405090304" charset="-122"/>
              </a:rPr>
              <a:t>论文 </a:t>
            </a:r>
            <a:r>
              <a:rPr lang="en-US" altLang="zh-CN" sz="2000" b="1" dirty="0">
                <a:solidFill>
                  <a:srgbClr val="303030"/>
                </a:solidFill>
                <a:latin typeface="Times New Roman" panose="02020503050405090304" charset="-122"/>
                <a:ea typeface="微软雅黑" panose="020B0503020204020204" charset="-122"/>
                <a:cs typeface="Times New Roman" panose="02020503050405090304" charset="-122"/>
              </a:rPr>
              <a:t>《</a:t>
            </a:r>
            <a:r>
              <a:rPr sz="2000" b="1" dirty="0">
                <a:solidFill>
                  <a:srgbClr val="303030"/>
                </a:solidFill>
                <a:latin typeface="Times New Roman" panose="02020503050405090304" charset="-122"/>
                <a:ea typeface="微软雅黑" panose="020B0503020204020204" charset="-122"/>
                <a:cs typeface="Times New Roman" panose="02020503050405090304" charset="-122"/>
              </a:rPr>
              <a:t> New Directions in Cryptography</a:t>
            </a:r>
            <a:r>
              <a:rPr lang="en-US" altLang="zh-CN" sz="2000" b="1" dirty="0">
                <a:solidFill>
                  <a:srgbClr val="303030"/>
                </a:solidFill>
                <a:latin typeface="Times New Roman" panose="02020503050405090304" charset="-122"/>
                <a:ea typeface="微软雅黑" panose="020B0503020204020204" charset="-122"/>
                <a:cs typeface="Times New Roman" panose="02020503050405090304" charset="-122"/>
              </a:rPr>
              <a:t>》</a:t>
            </a:r>
            <a:r>
              <a:rPr sz="2000" b="1" dirty="0">
                <a:solidFill>
                  <a:srgbClr val="303030"/>
                </a:solidFill>
                <a:latin typeface="Times New Roman" panose="02020503050405090304" charset="-122"/>
                <a:ea typeface="微软雅黑" panose="020B0503020204020204" charset="-122"/>
                <a:cs typeface="Times New Roman" panose="02020503050405090304" charset="-122"/>
              </a:rPr>
              <a:t>。</a:t>
            </a:r>
          </a:p>
        </p:txBody>
      </p:sp>
      <p:sp>
        <p:nvSpPr>
          <p:cNvPr id="11" name="矩形 10"/>
          <p:cNvSpPr>
            <a:spLocks noGrp="1"/>
          </p:cNvSpPr>
          <p:nvPr/>
        </p:nvSpPr>
        <p:spPr>
          <a:xfrm>
            <a:off x="1851569" y="1944458"/>
            <a:ext cx="2095500" cy="1625600"/>
          </a:xfrm>
          <a:prstGeom prst="rect">
            <a:avLst/>
          </a:prstGeom>
          <a:solidFill>
            <a:srgbClr val="FFFFFF"/>
          </a:solidFill>
          <a:ln w="9525">
            <a:solidFill>
              <a:srgbClr val="E8B8B8"/>
            </a:solidFill>
            <a:prstDash val="solid"/>
          </a:ln>
        </p:spPr>
      </p:sp>
      <p:sp>
        <p:nvSpPr>
          <p:cNvPr id="12" name="矩形 11"/>
          <p:cNvSpPr>
            <a:spLocks noGrp="1"/>
          </p:cNvSpPr>
          <p:nvPr/>
        </p:nvSpPr>
        <p:spPr>
          <a:xfrm>
            <a:off x="1875382" y="2341333"/>
            <a:ext cx="2095499" cy="228600"/>
          </a:xfrm>
          <a:prstGeom prst="rect">
            <a:avLst/>
          </a:prstGeom>
          <a:noFill/>
          <a:ln w="0">
            <a:noFill/>
            <a:prstDash val="solid"/>
          </a:ln>
        </p:spPr>
        <p:txBody>
          <a:bodyPr/>
          <a:lstStyle/>
          <a:p>
            <a:pPr algn="ctr">
              <a:defRPr sz="1350" b="1">
                <a:solidFill>
                  <a:srgbClr val="C90012"/>
                </a:solidFill>
              </a:defRPr>
            </a:pPr>
            <a:r>
              <a:rPr sz="2000" dirty="0" err="1">
                <a:solidFill>
                  <a:srgbClr val="C90012"/>
                </a:solidFill>
                <a:latin typeface="Times New Roman" panose="02020503050405090304" charset="-122"/>
                <a:ea typeface="微软雅黑" panose="020B0503020204020204" charset="-122"/>
              </a:rPr>
              <a:t>论文提出公钥密码学的基本思想</a:t>
            </a:r>
            <a:endParaRPr sz="2000" dirty="0">
              <a:solidFill>
                <a:srgbClr val="C90012"/>
              </a:solidFill>
              <a:latin typeface="Times New Roman" panose="02020503050405090304" charset="-122"/>
              <a:ea typeface="微软雅黑" panose="020B0503020204020204" charset="-122"/>
            </a:endParaRPr>
          </a:p>
        </p:txBody>
      </p:sp>
      <p:sp>
        <p:nvSpPr>
          <p:cNvPr id="2" name="矩形 1"/>
          <p:cNvSpPr>
            <a:spLocks noGrp="1"/>
          </p:cNvSpPr>
          <p:nvPr/>
        </p:nvSpPr>
        <p:spPr>
          <a:xfrm>
            <a:off x="2051594" y="2573108"/>
            <a:ext cx="1695450" cy="361950"/>
          </a:xfrm>
          <a:prstGeom prst="rect">
            <a:avLst/>
          </a:prstGeom>
          <a:noFill/>
          <a:ln w="0">
            <a:noFill/>
            <a:prstDash val="solid"/>
          </a:ln>
        </p:spPr>
        <p:txBody>
          <a:bodyPr/>
          <a:lstStyle/>
          <a:p>
            <a:pPr algn="ctr">
              <a:defRPr sz="1050" b="0">
                <a:solidFill>
                  <a:srgbClr val="666666"/>
                </a:solidFill>
              </a:defRPr>
            </a:pPr>
            <a:endParaRPr sz="2000" dirty="0">
              <a:solidFill>
                <a:srgbClr val="666666"/>
              </a:solidFill>
              <a:latin typeface="Times New Roman" panose="02020503050405090304" charset="-122"/>
              <a:ea typeface="微软雅黑" panose="020B0503020204020204" charset="-122"/>
            </a:endParaRPr>
          </a:p>
        </p:txBody>
      </p:sp>
      <p:sp>
        <p:nvSpPr>
          <p:cNvPr id="4" name="右箭头 3"/>
          <p:cNvSpPr>
            <a:spLocks noGrp="1"/>
          </p:cNvSpPr>
          <p:nvPr/>
        </p:nvSpPr>
        <p:spPr>
          <a:xfrm>
            <a:off x="3994694" y="2582633"/>
            <a:ext cx="400050" cy="323850"/>
          </a:xfrm>
          <a:prstGeom prst="rightArrow">
            <a:avLst/>
          </a:prstGeom>
          <a:solidFill>
            <a:srgbClr val="C90012"/>
          </a:solidFill>
          <a:ln w="0">
            <a:noFill/>
            <a:prstDash val="solid"/>
          </a:ln>
        </p:spPr>
      </p:sp>
      <p:sp>
        <p:nvSpPr>
          <p:cNvPr id="15" name="矩形 14"/>
          <p:cNvSpPr>
            <a:spLocks noGrp="1"/>
          </p:cNvSpPr>
          <p:nvPr/>
        </p:nvSpPr>
        <p:spPr>
          <a:xfrm>
            <a:off x="4442369" y="1944458"/>
            <a:ext cx="2095500" cy="1625600"/>
          </a:xfrm>
          <a:prstGeom prst="rect">
            <a:avLst/>
          </a:prstGeom>
          <a:solidFill>
            <a:srgbClr val="FFF1F1"/>
          </a:solidFill>
          <a:ln w="9525">
            <a:solidFill>
              <a:srgbClr val="E8B8B8"/>
            </a:solidFill>
            <a:prstDash val="solid"/>
          </a:ln>
        </p:spPr>
      </p:sp>
      <p:sp>
        <p:nvSpPr>
          <p:cNvPr id="16" name="矩形 15"/>
          <p:cNvSpPr>
            <a:spLocks noGrp="1"/>
          </p:cNvSpPr>
          <p:nvPr/>
        </p:nvSpPr>
        <p:spPr>
          <a:xfrm>
            <a:off x="4489994" y="2229845"/>
            <a:ext cx="2000250" cy="204152"/>
          </a:xfrm>
          <a:prstGeom prst="rect">
            <a:avLst/>
          </a:prstGeom>
          <a:noFill/>
          <a:ln w="0">
            <a:noFill/>
            <a:prstDash val="solid"/>
          </a:ln>
        </p:spPr>
        <p:txBody>
          <a:bodyPr/>
          <a:lstStyle/>
          <a:p>
            <a:pPr algn="ctr">
              <a:defRPr sz="1350" b="1">
                <a:solidFill>
                  <a:srgbClr val="C90012"/>
                </a:solidFill>
              </a:defRPr>
            </a:pPr>
            <a:r>
              <a:rPr sz="2000" dirty="0" err="1">
                <a:solidFill>
                  <a:srgbClr val="C90012"/>
                </a:solidFill>
                <a:latin typeface="Times New Roman" panose="02020503050405090304" charset="-122"/>
                <a:ea typeface="微软雅黑" panose="020B0503020204020204" charset="-122"/>
              </a:rPr>
              <a:t>通信双方不再必须先共享</a:t>
            </a:r>
            <a:r>
              <a:rPr lang="zh-CN" altLang="en-US" sz="2000" dirty="0">
                <a:solidFill>
                  <a:srgbClr val="C90012"/>
                </a:solidFill>
                <a:latin typeface="Times New Roman" panose="02020503050405090304" charset="-122"/>
                <a:ea typeface="微软雅黑" panose="020B0503020204020204" charset="-122"/>
              </a:rPr>
              <a:t>对称</a:t>
            </a:r>
            <a:r>
              <a:rPr sz="2000" dirty="0" err="1">
                <a:solidFill>
                  <a:srgbClr val="C90012"/>
                </a:solidFill>
                <a:latin typeface="Times New Roman" panose="02020503050405090304" charset="-122"/>
                <a:ea typeface="微软雅黑" panose="020B0503020204020204" charset="-122"/>
              </a:rPr>
              <a:t>密钥</a:t>
            </a:r>
            <a:endParaRPr sz="2000" dirty="0">
              <a:solidFill>
                <a:srgbClr val="C90012"/>
              </a:solidFill>
              <a:latin typeface="Times New Roman" panose="02020503050405090304" charset="-122"/>
              <a:ea typeface="微软雅黑" panose="020B0503020204020204" charset="-122"/>
            </a:endParaRPr>
          </a:p>
        </p:txBody>
      </p:sp>
      <p:sp>
        <p:nvSpPr>
          <p:cNvPr id="17" name="矩形 16"/>
          <p:cNvSpPr>
            <a:spLocks noGrp="1"/>
          </p:cNvSpPr>
          <p:nvPr/>
        </p:nvSpPr>
        <p:spPr>
          <a:xfrm>
            <a:off x="4642394" y="2573108"/>
            <a:ext cx="1695450" cy="361950"/>
          </a:xfrm>
          <a:prstGeom prst="rect">
            <a:avLst/>
          </a:prstGeom>
          <a:noFill/>
          <a:ln w="0">
            <a:noFill/>
            <a:prstDash val="solid"/>
          </a:ln>
        </p:spPr>
        <p:txBody>
          <a:bodyPr/>
          <a:lstStyle/>
          <a:p>
            <a:pPr algn="ctr">
              <a:defRPr sz="1050" b="0">
                <a:solidFill>
                  <a:srgbClr val="666666"/>
                </a:solidFill>
              </a:defRPr>
            </a:pPr>
            <a:endParaRPr sz="2000">
              <a:solidFill>
                <a:srgbClr val="666666"/>
              </a:solidFill>
              <a:latin typeface="Times New Roman" panose="02020503050405090304" charset="-122"/>
              <a:ea typeface="微软雅黑" panose="020B0503020204020204" charset="-122"/>
            </a:endParaRPr>
          </a:p>
        </p:txBody>
      </p:sp>
      <p:sp>
        <p:nvSpPr>
          <p:cNvPr id="18" name="右箭头 17"/>
          <p:cNvSpPr>
            <a:spLocks noGrp="1"/>
          </p:cNvSpPr>
          <p:nvPr/>
        </p:nvSpPr>
        <p:spPr>
          <a:xfrm>
            <a:off x="6585494" y="2569933"/>
            <a:ext cx="400050" cy="323850"/>
          </a:xfrm>
          <a:prstGeom prst="rightArrow">
            <a:avLst/>
          </a:prstGeom>
          <a:solidFill>
            <a:srgbClr val="C90012"/>
          </a:solidFill>
          <a:ln w="0">
            <a:noFill/>
            <a:prstDash val="solid"/>
          </a:ln>
        </p:spPr>
      </p:sp>
      <p:sp>
        <p:nvSpPr>
          <p:cNvPr id="19" name="矩形 18"/>
          <p:cNvSpPr>
            <a:spLocks noGrp="1"/>
          </p:cNvSpPr>
          <p:nvPr/>
        </p:nvSpPr>
        <p:spPr>
          <a:xfrm>
            <a:off x="7033169" y="1944458"/>
            <a:ext cx="2388870" cy="1625600"/>
          </a:xfrm>
          <a:prstGeom prst="rect">
            <a:avLst/>
          </a:prstGeom>
          <a:solidFill>
            <a:srgbClr val="FFFFFF"/>
          </a:solidFill>
          <a:ln w="9525">
            <a:solidFill>
              <a:srgbClr val="E8B8B8"/>
            </a:solidFill>
            <a:prstDash val="solid"/>
          </a:ln>
        </p:spPr>
      </p:sp>
      <p:sp>
        <p:nvSpPr>
          <p:cNvPr id="20" name="矩形 19"/>
          <p:cNvSpPr>
            <a:spLocks noGrp="1"/>
          </p:cNvSpPr>
          <p:nvPr/>
        </p:nvSpPr>
        <p:spPr>
          <a:xfrm>
            <a:off x="7176043" y="2154008"/>
            <a:ext cx="2245995" cy="228600"/>
          </a:xfrm>
          <a:prstGeom prst="rect">
            <a:avLst/>
          </a:prstGeom>
          <a:noFill/>
          <a:ln w="0">
            <a:noFill/>
            <a:prstDash val="solid"/>
          </a:ln>
        </p:spPr>
        <p:txBody>
          <a:bodyPr/>
          <a:lstStyle/>
          <a:p>
            <a:pPr algn="ctr">
              <a:defRPr sz="1350" b="1">
                <a:solidFill>
                  <a:srgbClr val="C90012"/>
                </a:solidFill>
              </a:defRPr>
            </a:pPr>
            <a:r>
              <a:rPr sz="2000" dirty="0" err="1">
                <a:solidFill>
                  <a:srgbClr val="C90012"/>
                </a:solidFill>
                <a:latin typeface="Times New Roman" panose="02020503050405090304" charset="-122"/>
                <a:ea typeface="微软雅黑" panose="020B0503020204020204" charset="-122"/>
                <a:cs typeface="Times New Roman" panose="02020503050405090304" pitchFamily="18" charset="0"/>
              </a:rPr>
              <a:t>公钥密码学推动了安全通信、数字签名和密钥协商的发展</a:t>
            </a:r>
            <a:endParaRPr lang="zh-CN" sz="2000" dirty="0">
              <a:solidFill>
                <a:srgbClr val="C90012"/>
              </a:solidFill>
              <a:latin typeface="Times New Roman" panose="02020503050405090304" charset="-122"/>
              <a:ea typeface="微软雅黑" panose="020B0503020204020204" charset="-122"/>
              <a:cs typeface="Times New Roman" panose="02020503050405090304" pitchFamily="18" charset="0"/>
            </a:endParaRPr>
          </a:p>
        </p:txBody>
      </p:sp>
      <p:sp>
        <p:nvSpPr>
          <p:cNvPr id="5" name="矩形 4"/>
          <p:cNvSpPr>
            <a:spLocks noGrp="1"/>
          </p:cNvSpPr>
          <p:nvPr/>
        </p:nvSpPr>
        <p:spPr>
          <a:xfrm>
            <a:off x="7233194" y="2573108"/>
            <a:ext cx="1695450" cy="361950"/>
          </a:xfrm>
          <a:prstGeom prst="rect">
            <a:avLst/>
          </a:prstGeom>
          <a:noFill/>
          <a:ln w="0">
            <a:noFill/>
            <a:prstDash val="solid"/>
          </a:ln>
        </p:spPr>
        <p:txBody>
          <a:bodyPr/>
          <a:lstStyle/>
          <a:p>
            <a:pPr algn="ctr">
              <a:defRPr sz="1050" b="0">
                <a:solidFill>
                  <a:srgbClr val="666666"/>
                </a:solidFill>
              </a:defRPr>
            </a:pPr>
            <a:endParaRPr sz="2000">
              <a:solidFill>
                <a:srgbClr val="666666"/>
              </a:solidFill>
              <a:latin typeface="Times New Roman" panose="02020503050405090304" charset="-122"/>
              <a:ea typeface="微软雅黑" panose="020B0503020204020204" charset="-122"/>
            </a:endParaRPr>
          </a:p>
        </p:txBody>
      </p:sp>
      <p:sp>
        <p:nvSpPr>
          <p:cNvPr id="40" name="矩形 39"/>
          <p:cNvSpPr>
            <a:spLocks noGrp="1"/>
          </p:cNvSpPr>
          <p:nvPr/>
        </p:nvSpPr>
        <p:spPr>
          <a:xfrm>
            <a:off x="1238250" y="4887414"/>
            <a:ext cx="1345565" cy="228600"/>
          </a:xfrm>
          <a:prstGeom prst="rect">
            <a:avLst/>
          </a:prstGeom>
          <a:noFill/>
          <a:ln w="0">
            <a:noFill/>
            <a:prstDash val="solid"/>
          </a:ln>
        </p:spPr>
        <p:txBody>
          <a:bodyPr/>
          <a:lstStyle/>
          <a:p>
            <a:pPr algn="l">
              <a:defRPr sz="1350" b="1">
                <a:solidFill>
                  <a:srgbClr val="C90012"/>
                </a:solidFill>
              </a:defRPr>
            </a:pPr>
            <a:endParaRPr sz="2000">
              <a:solidFill>
                <a:srgbClr val="C90012"/>
              </a:solidFill>
              <a:latin typeface="Times New Roman" panose="02020503050405090304" charset="-122"/>
              <a:ea typeface="微软雅黑" panose="020B0503020204020204" charset="-122"/>
            </a:endParaRPr>
          </a:p>
        </p:txBody>
      </p:sp>
      <p:sp>
        <p:nvSpPr>
          <p:cNvPr id="41" name="矩形 40"/>
          <p:cNvSpPr>
            <a:spLocks noGrp="1"/>
          </p:cNvSpPr>
          <p:nvPr/>
        </p:nvSpPr>
        <p:spPr>
          <a:xfrm>
            <a:off x="1734729" y="4157164"/>
            <a:ext cx="7687310" cy="266700"/>
          </a:xfrm>
          <a:prstGeom prst="rect">
            <a:avLst/>
          </a:prstGeom>
          <a:noFill/>
          <a:ln w="0">
            <a:noFill/>
            <a:prstDash val="solid"/>
          </a:ln>
        </p:spPr>
        <p:txBody>
          <a:bodyPr/>
          <a:lstStyle/>
          <a:p>
            <a:pPr algn="l">
              <a:defRPr sz="1425" b="0">
                <a:solidFill>
                  <a:srgbClr val="303030"/>
                </a:solidFill>
              </a:defRPr>
            </a:pPr>
            <a:endParaRPr sz="2000" b="1">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a:solidFill>
                  <a:srgbClr val="FFFFFF"/>
                </a:solidFill>
                <a:latin typeface="Times New Roman" panose="02020503050405090304" pitchFamily="18" charset="0"/>
                <a:ea typeface="微软雅黑" panose="020B0503020204020204" charset="-122"/>
                <a:cs typeface="Times New Roman" panose="02020503050405090304" pitchFamily="18" charset="0"/>
              </a:rPr>
              <a:t>01</a:t>
            </a:r>
            <a:endParaRPr lang="en-US" b="1" i="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5705475" cy="492443"/>
          </a:xfrm>
          <a:prstGeom prst="rect">
            <a:avLst/>
          </a:prstGeom>
          <a:noFill/>
        </p:spPr>
        <p:txBody>
          <a:bodyPr wrap="square" lIns="0" tIns="0" rIns="0" bIns="0" anchor="t">
            <a:spAutoFit/>
          </a:bodyPr>
          <a:lstStyle/>
          <a:p>
            <a:pPr algn="l">
              <a:defRPr sz="1800" b="1">
                <a:solidFill>
                  <a:srgbClr val="C90012"/>
                </a:solidFill>
              </a:defRPr>
            </a:pPr>
            <a:r>
              <a:rPr lang="zh-CN" altLang="zh-CN" sz="3200" b="1" dirty="0">
                <a:latin typeface="Times New Roman" panose="02020503050405090304" charset="-122"/>
                <a:ea typeface="微软雅黑" panose="020B0503020204020204" charset="-122"/>
                <a:sym typeface="+mn-ea"/>
              </a:rPr>
              <a:t>公钥密码学引言</a:t>
            </a: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6" name="矩形 5"/>
          <p:cNvSpPr>
            <a:spLocks noGrp="1"/>
          </p:cNvSpPr>
          <p:nvPr/>
        </p:nvSpPr>
        <p:spPr>
          <a:xfrm>
            <a:off x="860969" y="4157164"/>
            <a:ext cx="4619625" cy="1625600"/>
          </a:xfrm>
          <a:prstGeom prst="rect">
            <a:avLst/>
          </a:prstGeom>
          <a:solidFill>
            <a:srgbClr val="FAFAFA"/>
          </a:solidFill>
          <a:ln w="9525">
            <a:solidFill>
              <a:srgbClr val="F0C9C9"/>
            </a:solidFill>
            <a:prstDash val="solid"/>
          </a:ln>
        </p:spPr>
      </p:sp>
      <p:sp>
        <p:nvSpPr>
          <p:cNvPr id="7" name="矩形 6"/>
          <p:cNvSpPr>
            <a:spLocks noGrp="1"/>
          </p:cNvSpPr>
          <p:nvPr/>
        </p:nvSpPr>
        <p:spPr>
          <a:xfrm>
            <a:off x="1032419" y="4309564"/>
            <a:ext cx="4276725" cy="266700"/>
          </a:xfrm>
          <a:prstGeom prst="rect">
            <a:avLst/>
          </a:prstGeom>
          <a:noFill/>
          <a:ln w="0">
            <a:noFill/>
            <a:prstDash val="solid"/>
          </a:ln>
        </p:spPr>
        <p:txBody>
          <a:bodyPr/>
          <a:lstStyle/>
          <a:p>
            <a:pPr marL="342900" indent="-342900">
              <a:buFont typeface="Wingdings" panose="05000000000000000000" pitchFamily="2" charset="2"/>
              <a:buChar char="l"/>
              <a:defRPr sz="1350" b="1">
                <a:solidFill>
                  <a:srgbClr val="C90012"/>
                </a:solidFill>
              </a:defRPr>
            </a:pPr>
            <a:r>
              <a:rPr sz="2000" dirty="0" err="1">
                <a:solidFill>
                  <a:srgbClr val="303030"/>
                </a:solidFill>
                <a:latin typeface="Times New Roman" panose="02020503050405090304" charset="-122"/>
                <a:ea typeface="微软雅黑" panose="020B0503020204020204" charset="-122"/>
              </a:rPr>
              <a:t>每个用户拥有一对密钥：公钥公开，私钥保密</a:t>
            </a:r>
            <a:r>
              <a:rPr sz="2000" dirty="0">
                <a:solidFill>
                  <a:srgbClr val="303030"/>
                </a:solidFill>
                <a:latin typeface="Times New Roman" panose="02020503050405090304" charset="-122"/>
                <a:ea typeface="微软雅黑" panose="020B0503020204020204" charset="-122"/>
              </a:rPr>
              <a:t>。</a:t>
            </a:r>
            <a:endParaRPr lang="en-US" sz="2000" dirty="0">
              <a:solidFill>
                <a:srgbClr val="303030"/>
              </a:solidFill>
              <a:latin typeface="Times New Roman" panose="02020503050405090304" charset="-122"/>
              <a:ea typeface="微软雅黑" panose="020B0503020204020204" charset="-122"/>
            </a:endParaRPr>
          </a:p>
          <a:p>
            <a:pPr marL="342900" indent="-342900">
              <a:buFont typeface="Wingdings" panose="05000000000000000000" pitchFamily="2" charset="2"/>
              <a:buChar char="l"/>
              <a:defRPr sz="1350" b="1">
                <a:solidFill>
                  <a:srgbClr val="C90012"/>
                </a:solidFill>
              </a:defRPr>
            </a:pPr>
            <a:r>
              <a:rPr lang="zh-CN" altLang="en-US" sz="2000" dirty="0">
                <a:solidFill>
                  <a:srgbClr val="303030"/>
                </a:solidFill>
                <a:latin typeface="Times New Roman" panose="02020503050405090304" charset="-122"/>
                <a:ea typeface="微软雅黑" panose="020B0503020204020204" charset="-122"/>
              </a:rPr>
              <a:t>私钥只由所有者掌握，用于解密或生成签名</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a:t>
            </a:r>
          </a:p>
          <a:p>
            <a:pPr algn="l">
              <a:defRPr sz="1350" b="1">
                <a:solidFill>
                  <a:srgbClr val="C90012"/>
                </a:solidFill>
              </a:defRPr>
            </a:pPr>
            <a:endPar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8" name="矩形 7"/>
          <p:cNvSpPr>
            <a:spLocks noGrp="1"/>
          </p:cNvSpPr>
          <p:nvPr/>
        </p:nvSpPr>
        <p:spPr>
          <a:xfrm>
            <a:off x="1032419" y="4906963"/>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13" name="矩形 12"/>
          <p:cNvSpPr>
            <a:spLocks noGrp="1"/>
          </p:cNvSpPr>
          <p:nvPr/>
        </p:nvSpPr>
        <p:spPr>
          <a:xfrm>
            <a:off x="6490244" y="4157164"/>
            <a:ext cx="4619625" cy="1625595"/>
          </a:xfrm>
          <a:prstGeom prst="rect">
            <a:avLst/>
          </a:prstGeom>
          <a:solidFill>
            <a:srgbClr val="FFF1F1"/>
          </a:solidFill>
          <a:ln w="9525">
            <a:solidFill>
              <a:srgbClr val="F0C9C9"/>
            </a:solidFill>
            <a:prstDash val="solid"/>
          </a:ln>
        </p:spPr>
      </p:sp>
      <p:sp>
        <p:nvSpPr>
          <p:cNvPr id="22" name="矩形 21"/>
          <p:cNvSpPr>
            <a:spLocks noGrp="1"/>
          </p:cNvSpPr>
          <p:nvPr/>
        </p:nvSpPr>
        <p:spPr>
          <a:xfrm>
            <a:off x="6661694" y="4309564"/>
            <a:ext cx="4276725" cy="266700"/>
          </a:xfrm>
          <a:prstGeom prst="rect">
            <a:avLst/>
          </a:prstGeom>
          <a:noFill/>
          <a:ln w="0">
            <a:noFill/>
            <a:prstDash val="solid"/>
          </a:ln>
        </p:spPr>
        <p:txBody>
          <a:bodyPr/>
          <a:lstStyle/>
          <a:p>
            <a:pPr marL="342900" indent="-342900" algn="l">
              <a:buFont typeface="Wingdings" panose="05000000000000000000" pitchFamily="2" charset="2"/>
              <a:buChar char="n"/>
              <a:defRPr sz="1350" b="1">
                <a:solidFill>
                  <a:srgbClr val="C90012"/>
                </a:solidFill>
              </a:defRPr>
            </a:pPr>
            <a:r>
              <a:rPr sz="2000" b="1" dirty="0" err="1">
                <a:solidFill>
                  <a:srgbClr val="303030"/>
                </a:solidFill>
                <a:latin typeface="Times New Roman" panose="02020503050405090304" charset="-122"/>
                <a:ea typeface="微软雅黑" panose="020B0503020204020204" charset="-122"/>
              </a:rPr>
              <a:t>公开的公钥降低了建立安全信道前的密钥交换压力</a:t>
            </a:r>
            <a:r>
              <a:rPr sz="2000" b="1" dirty="0">
                <a:solidFill>
                  <a:srgbClr val="303030"/>
                </a:solidFill>
                <a:latin typeface="Times New Roman" panose="02020503050405090304" charset="-122"/>
                <a:ea typeface="微软雅黑" panose="020B0503020204020204" charset="-122"/>
              </a:rPr>
              <a:t>。</a:t>
            </a:r>
            <a:endParaRPr lang="en-US" sz="2000" b="1" dirty="0">
              <a:solidFill>
                <a:srgbClr val="303030"/>
              </a:solidFill>
              <a:latin typeface="Times New Roman" panose="02020503050405090304" charset="-122"/>
              <a:ea typeface="微软雅黑" panose="020B0503020204020204" charset="-122"/>
            </a:endParaRPr>
          </a:p>
          <a:p>
            <a:pPr marL="342900" indent="-342900">
              <a:buFont typeface="Wingdings" panose="05000000000000000000" pitchFamily="2" charset="2"/>
              <a:buChar char="n"/>
              <a:defRPr sz="1350" b="1">
                <a:solidFill>
                  <a:srgbClr val="C90012"/>
                </a:solidFill>
              </a:defRPr>
            </a:pPr>
            <a:r>
              <a:rPr lang="zh-CN" altLang="en-US" sz="2000" b="1" dirty="0">
                <a:solidFill>
                  <a:srgbClr val="303030"/>
                </a:solidFill>
                <a:latin typeface="Times New Roman" panose="02020503050405090304" charset="-122"/>
                <a:ea typeface="微软雅黑" panose="020B0503020204020204" charset="-122"/>
              </a:rPr>
              <a:t>核心价值：在开放网络中建立机密性、认证和信任基础。</a:t>
            </a:r>
          </a:p>
          <a:p>
            <a:pPr marL="342900" indent="-342900" algn="l">
              <a:buFont typeface="Wingdings" panose="05000000000000000000" pitchFamily="2" charset="2"/>
              <a:buChar char="n"/>
              <a:defRPr sz="1350" b="1">
                <a:solidFill>
                  <a:srgbClr val="C90012"/>
                </a:solidFill>
              </a:defRPr>
            </a:pPr>
            <a:endParaRPr lang="zh-CN" altLang="en-US" sz="2000" b="1" dirty="0">
              <a:solidFill>
                <a:srgbClr val="303030"/>
              </a:solidFill>
              <a:latin typeface="Times New Roman" panose="02020503050405090304" charset="-122"/>
              <a:ea typeface="微软雅黑" panose="020B0503020204020204" charset="-122"/>
            </a:endParaRPr>
          </a:p>
        </p:txBody>
      </p:sp>
      <p:sp>
        <p:nvSpPr>
          <p:cNvPr id="23" name="矩形 22"/>
          <p:cNvSpPr>
            <a:spLocks noGrp="1"/>
          </p:cNvSpPr>
          <p:nvPr/>
        </p:nvSpPr>
        <p:spPr>
          <a:xfrm>
            <a:off x="6629218" y="4949235"/>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endParaRPr>
          </a:p>
        </p:txBody>
      </p:sp>
      <p:sp>
        <p:nvSpPr>
          <p:cNvPr id="24" name="文本框 23"/>
          <p:cNvSpPr txBox="1"/>
          <p:nvPr/>
        </p:nvSpPr>
        <p:spPr>
          <a:xfrm>
            <a:off x="-1702753" y="3642814"/>
            <a:ext cx="7892415" cy="410845"/>
          </a:xfrm>
          <a:prstGeom prst="rect">
            <a:avLst/>
          </a:prstGeom>
          <a:noFill/>
        </p:spPr>
        <p:txBody>
          <a:bodyPr wrap="square" rtlCol="0" anchor="t">
            <a:noAutofit/>
          </a:bodyPr>
          <a:lstStyle/>
          <a:p>
            <a:pPr algn="ctr">
              <a:defRPr sz="1275" b="0">
                <a:solidFill>
                  <a:srgbClr val="8B3D3D"/>
                </a:solidFill>
              </a:defRPr>
            </a:pPr>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公钥密码学的基础思想</a:t>
            </a:r>
            <a:endParaRPr sz="2400" b="1" dirty="0">
              <a:solidFill>
                <a:srgbClr val="C00000"/>
              </a:solidFill>
              <a:latin typeface="Times New Roman" panose="02020503050405090304" charset="-122"/>
              <a:ea typeface="微软雅黑" panose="020B0503020204020204" charset="-122"/>
              <a:cs typeface="Times New Roman" panose="02020503050405090304" charset="-122"/>
            </a:endParaRPr>
          </a:p>
        </p:txBody>
      </p:sp>
      <p:sp>
        <p:nvSpPr>
          <p:cNvPr id="25" name="文本框 24"/>
          <p:cNvSpPr txBox="1"/>
          <p:nvPr/>
        </p:nvSpPr>
        <p:spPr>
          <a:xfrm>
            <a:off x="-1367178" y="841953"/>
            <a:ext cx="6762750" cy="410845"/>
          </a:xfrm>
          <a:prstGeom prst="rect">
            <a:avLst/>
          </a:prstGeom>
          <a:noFill/>
        </p:spPr>
        <p:txBody>
          <a:bodyPr wrap="square" rtlCol="0" anchor="t">
            <a:noAutofit/>
          </a:bodyPr>
          <a:lstStyle/>
          <a:p>
            <a:pPr algn="ctr">
              <a:defRPr sz="1275" b="0">
                <a:solidFill>
                  <a:srgbClr val="8B3D3D"/>
                </a:solidFill>
              </a:defRPr>
            </a:pPr>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公钥密码学的历史起点</a:t>
            </a:r>
            <a:endPar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a:solidFill>
                  <a:srgbClr val="FFFFFF"/>
                </a:solidFill>
                <a:latin typeface="Times New Roman" panose="02020503050405090304" pitchFamily="18" charset="0"/>
                <a:ea typeface="微软雅黑" panose="020B0503020204020204" charset="-122"/>
                <a:cs typeface="Times New Roman" panose="02020503050405090304" pitchFamily="18" charset="0"/>
              </a:rPr>
              <a:t>01</a:t>
            </a:r>
            <a:endParaRPr lang="en-US" b="1" i="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5705475" cy="492443"/>
          </a:xfrm>
          <a:prstGeom prst="rect">
            <a:avLst/>
          </a:prstGeom>
          <a:noFill/>
        </p:spPr>
        <p:txBody>
          <a:bodyPr wrap="square" lIns="0" tIns="0" rIns="0" bIns="0" anchor="t">
            <a:spAutoFit/>
          </a:bodyPr>
          <a:lstStyle/>
          <a:p>
            <a:pPr algn="l">
              <a:defRPr sz="1800" b="1">
                <a:solidFill>
                  <a:srgbClr val="C90012"/>
                </a:solidFill>
              </a:defRPr>
            </a:pPr>
            <a:r>
              <a:rPr lang="zh-CN" altLang="zh-CN" sz="3200" b="1" dirty="0">
                <a:latin typeface="Times New Roman" panose="02020503050405090304" charset="-122"/>
                <a:ea typeface="微软雅黑" panose="020B0503020204020204" charset="-122"/>
                <a:sym typeface="+mn-ea"/>
              </a:rPr>
              <a:t>公钥密码学引言</a:t>
            </a: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8" name="矩形 7"/>
          <p:cNvSpPr>
            <a:spLocks noGrp="1"/>
          </p:cNvSpPr>
          <p:nvPr/>
        </p:nvSpPr>
        <p:spPr>
          <a:xfrm>
            <a:off x="1032419" y="4475455"/>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23" name="矩形 22"/>
          <p:cNvSpPr>
            <a:spLocks noGrp="1"/>
          </p:cNvSpPr>
          <p:nvPr/>
        </p:nvSpPr>
        <p:spPr>
          <a:xfrm>
            <a:off x="6629218" y="4517727"/>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endParaRPr>
          </a:p>
        </p:txBody>
      </p:sp>
      <p:sp>
        <p:nvSpPr>
          <p:cNvPr id="22" name="矩形 21"/>
          <p:cNvSpPr>
            <a:spLocks noGrp="1"/>
          </p:cNvSpPr>
          <p:nvPr/>
        </p:nvSpPr>
        <p:spPr>
          <a:xfrm>
            <a:off x="695325" y="1163272"/>
            <a:ext cx="10820400" cy="1421552"/>
          </a:xfrm>
          <a:prstGeom prst="rect">
            <a:avLst/>
          </a:prstGeom>
          <a:solidFill>
            <a:srgbClr val="F7F7F7"/>
          </a:solidFill>
          <a:ln w="9525">
            <a:solidFill>
              <a:srgbClr val="EDEDED"/>
            </a:solidFill>
            <a:prstDash val="solid"/>
          </a:ln>
        </p:spPr>
        <p:txBody>
          <a:bodyPr/>
          <a:lstStyle/>
          <a:p>
            <a:pPr algn="ctr"/>
            <a:endParaRPr lang="en-US" altLang="zh-CN" sz="2000" dirty="0"/>
          </a:p>
        </p:txBody>
      </p:sp>
      <p:sp>
        <p:nvSpPr>
          <p:cNvPr id="24" name="矩形 23"/>
          <p:cNvSpPr>
            <a:spLocks noGrp="1"/>
          </p:cNvSpPr>
          <p:nvPr/>
        </p:nvSpPr>
        <p:spPr>
          <a:xfrm>
            <a:off x="857250" y="5527060"/>
            <a:ext cx="10439400" cy="209550"/>
          </a:xfrm>
          <a:prstGeom prst="rect">
            <a:avLst/>
          </a:prstGeom>
          <a:noFill/>
          <a:ln w="0">
            <a:noFill/>
            <a:prstDash val="solid"/>
          </a:ln>
        </p:spPr>
        <p:txBody>
          <a:bodyPr/>
          <a:lstStyle/>
          <a:p>
            <a:pPr algn="ctr">
              <a:defRPr sz="1275" b="0">
                <a:solidFill>
                  <a:srgbClr val="8B3D3D"/>
                </a:solidFill>
              </a:defRPr>
            </a:pPr>
            <a:endParaRPr lang="zh-CN" altLang="en-US" sz="2000">
              <a:solidFill>
                <a:srgbClr val="8B3D3D"/>
              </a:solidFill>
              <a:latin typeface="Times New Roman" panose="02020503050405090304" charset="-122"/>
              <a:ea typeface="微软雅黑" panose="020B0503020204020204" charset="-122"/>
            </a:endParaRPr>
          </a:p>
        </p:txBody>
      </p:sp>
      <p:sp>
        <p:nvSpPr>
          <p:cNvPr id="25" name="文本框 24"/>
          <p:cNvSpPr txBox="1"/>
          <p:nvPr/>
        </p:nvSpPr>
        <p:spPr>
          <a:xfrm>
            <a:off x="1032419" y="1247782"/>
            <a:ext cx="9283484" cy="2453044"/>
          </a:xfrm>
          <a:prstGeom prst="rect">
            <a:avLst/>
          </a:prstGeom>
          <a:noFill/>
        </p:spPr>
        <p:txBody>
          <a:bodyPr wrap="square" rtlCol="0">
            <a:spAutoFit/>
          </a:bodyPr>
          <a:lstStyle/>
          <a:p>
            <a:pPr marL="285750" indent="-285750">
              <a:lnSpc>
                <a:spcPct val="130000"/>
              </a:lnSpc>
              <a:buFont typeface="Wingdings" panose="05000000000000000000" pitchFamily="2" charset="2"/>
              <a:buChar char="n"/>
            </a:pPr>
            <a:r>
              <a:rPr lang="zh-CN" altLang="en-US" sz="2000" dirty="0">
                <a:latin typeface="Times New Roman" panose="02020503050405090304" pitchFamily="18" charset="0"/>
                <a:ea typeface="微软雅黑" panose="020B0503020204020204" charset="-122"/>
                <a:cs typeface="Times New Roman" panose="02020503050405090304" pitchFamily="18" charset="0"/>
              </a:rPr>
              <a:t>公钥可以对外公开，用于加密消息或验证签名。</a:t>
            </a:r>
            <a:endParaRPr lang="en-US" altLang="zh-CN" sz="2000" dirty="0">
              <a:latin typeface="Times New Roman" panose="02020503050405090304" pitchFamily="18" charset="0"/>
              <a:ea typeface="微软雅黑" panose="020B0503020204020204" charset="-122"/>
              <a:cs typeface="Times New Roman" panose="02020503050405090304" pitchFamily="18" charset="0"/>
            </a:endParaRPr>
          </a:p>
          <a:p>
            <a:pPr marL="285750" indent="-285750">
              <a:lnSpc>
                <a:spcPct val="130000"/>
              </a:lnSpc>
              <a:buFont typeface="Wingdings" panose="05000000000000000000" pitchFamily="2" charset="2"/>
              <a:buChar char="n"/>
            </a:pPr>
            <a:r>
              <a:rPr lang="zh-CN" altLang="en-US" sz="2000" dirty="0">
                <a:latin typeface="Times New Roman" panose="02020503050405090304" pitchFamily="18" charset="0"/>
                <a:ea typeface="微软雅黑" panose="020B0503020204020204" charset="-122"/>
                <a:cs typeface="Times New Roman" panose="02020503050405090304" pitchFamily="18" charset="0"/>
              </a:rPr>
              <a:t>私钥必须严格保密，用于解密密文或生成签名。</a:t>
            </a:r>
            <a:endParaRPr lang="en-US" altLang="zh-CN" sz="2000" dirty="0">
              <a:latin typeface="Times New Roman" panose="02020503050405090304" pitchFamily="18" charset="0"/>
              <a:ea typeface="微软雅黑" panose="020B0503020204020204" charset="-122"/>
              <a:cs typeface="Times New Roman" panose="02020503050405090304" pitchFamily="18" charset="0"/>
            </a:endParaRPr>
          </a:p>
          <a:p>
            <a:pPr marL="285750" indent="-285750">
              <a:lnSpc>
                <a:spcPct val="130000"/>
              </a:lnSpc>
              <a:buFont typeface="Wingdings" panose="05000000000000000000" pitchFamily="2" charset="2"/>
              <a:buChar char="n"/>
            </a:pPr>
            <a:r>
              <a:rPr lang="zh-CN" altLang="en-US" sz="2000" dirty="0">
                <a:latin typeface="Times New Roman" panose="02020503050405090304" pitchFamily="18" charset="0"/>
                <a:ea typeface="微软雅黑" panose="020B0503020204020204" charset="-122"/>
                <a:cs typeface="Times New Roman" panose="02020503050405090304" pitchFamily="18" charset="0"/>
              </a:rPr>
              <a:t>同一用户的公钥与私钥通过数学关系绑定。</a:t>
            </a:r>
          </a:p>
          <a:p>
            <a:pPr marL="285750" indent="-285750">
              <a:lnSpc>
                <a:spcPct val="130000"/>
              </a:lnSpc>
              <a:buFont typeface="Wingdings" panose="05000000000000000000" pitchFamily="2" charset="2"/>
              <a:buChar char="n"/>
            </a:pPr>
            <a:endParaRPr lang="zh-CN" altLang="en-US" sz="2000" dirty="0">
              <a:latin typeface="Times New Roman" panose="02020503050405090304" pitchFamily="18" charset="0"/>
              <a:ea typeface="微软雅黑" panose="020B0503020204020204" charset="-122"/>
              <a:cs typeface="Times New Roman" panose="02020503050405090304" pitchFamily="18" charset="0"/>
            </a:endParaRPr>
          </a:p>
          <a:p>
            <a:pPr marL="285750" indent="-285750">
              <a:lnSpc>
                <a:spcPct val="130000"/>
              </a:lnSpc>
              <a:buFont typeface="Wingdings" panose="05000000000000000000" pitchFamily="2" charset="2"/>
              <a:buChar char="n"/>
            </a:pPr>
            <a:endParaRPr lang="zh-CN" altLang="en-US" sz="2000" dirty="0">
              <a:latin typeface="Times New Roman" panose="02020503050405090304" pitchFamily="18" charset="0"/>
              <a:ea typeface="微软雅黑" panose="020B0503020204020204" charset="-122"/>
              <a:cs typeface="Times New Roman" panose="02020503050405090304" pitchFamily="18" charset="0"/>
            </a:endParaRPr>
          </a:p>
          <a:p>
            <a:pPr marL="285750" indent="-285750">
              <a:lnSpc>
                <a:spcPct val="130000"/>
              </a:lnSpc>
              <a:buFont typeface="Wingdings" panose="05000000000000000000" pitchFamily="2" charset="2"/>
              <a:buChar char="n"/>
            </a:pPr>
            <a:endParaRPr kumimoji="1" lang="zh-CN" altLang="en-US" sz="2000" dirty="0"/>
          </a:p>
        </p:txBody>
      </p:sp>
      <p:sp>
        <p:nvSpPr>
          <p:cNvPr id="26" name="矩形 25"/>
          <p:cNvSpPr>
            <a:spLocks noGrp="1"/>
          </p:cNvSpPr>
          <p:nvPr/>
        </p:nvSpPr>
        <p:spPr>
          <a:xfrm>
            <a:off x="713177" y="2744115"/>
            <a:ext cx="10802547" cy="1748367"/>
          </a:xfrm>
          <a:prstGeom prst="rect">
            <a:avLst/>
          </a:prstGeom>
          <a:solidFill>
            <a:srgbClr val="FFF1F1"/>
          </a:solidFill>
          <a:ln w="9525">
            <a:solidFill>
              <a:srgbClr val="F3CACA"/>
            </a:solidFill>
            <a:prstDash val="solid"/>
          </a:ln>
        </p:spPr>
      </p:sp>
      <p:sp>
        <p:nvSpPr>
          <p:cNvPr id="27" name="矩形 26"/>
          <p:cNvSpPr>
            <a:spLocks noGrp="1"/>
          </p:cNvSpPr>
          <p:nvPr/>
        </p:nvSpPr>
        <p:spPr>
          <a:xfrm>
            <a:off x="857250" y="2759269"/>
            <a:ext cx="3629406" cy="243642"/>
          </a:xfrm>
          <a:prstGeom prst="rect">
            <a:avLst/>
          </a:prstGeom>
          <a:noFill/>
          <a:ln w="0">
            <a:noFill/>
            <a:prstDash val="solid"/>
          </a:ln>
        </p:spPr>
        <p:txBody>
          <a:bodyPr/>
          <a:lstStyle/>
          <a:p>
            <a:pPr algn="l">
              <a:defRPr sz="1350" b="1">
                <a:solidFill>
                  <a:srgbClr val="C90012"/>
                </a:solidFill>
              </a:defRPr>
            </a:pPr>
            <a:r>
              <a:rPr sz="2400" b="1" dirty="0" err="1">
                <a:solidFill>
                  <a:srgbClr val="C00000"/>
                </a:solidFill>
                <a:latin typeface="Times New Roman" panose="02020503050405090304" charset="-122"/>
                <a:ea typeface="微软雅黑" panose="020B0503020204020204" charset="-122"/>
              </a:rPr>
              <a:t>公钥密码学的核心功能</a:t>
            </a:r>
          </a:p>
        </p:txBody>
      </p:sp>
      <p:sp>
        <p:nvSpPr>
          <p:cNvPr id="28" name="矩形 27"/>
          <p:cNvSpPr>
            <a:spLocks noGrp="1"/>
          </p:cNvSpPr>
          <p:nvPr/>
        </p:nvSpPr>
        <p:spPr>
          <a:xfrm>
            <a:off x="1066800" y="3175719"/>
            <a:ext cx="8077200" cy="628650"/>
          </a:xfrm>
          <a:prstGeom prst="rect">
            <a:avLst/>
          </a:prstGeom>
          <a:noFill/>
          <a:ln w="0">
            <a:noFill/>
            <a:prstDash val="solid"/>
          </a:ln>
        </p:spPr>
        <p:txBody>
          <a:bodyPr/>
          <a:lstStyle/>
          <a:p>
            <a:pPr marL="342900" indent="-342900" algn="l">
              <a:buFont typeface="Wingdings" panose="05000000000000000000" pitchFamily="2" charset="2"/>
              <a:buChar char="n"/>
              <a:defRPr sz="1125" b="0">
                <a:solidFill>
                  <a:srgbClr val="303030"/>
                </a:solidFill>
              </a:defRPr>
            </a:pPr>
            <a:r>
              <a:rPr sz="2000" dirty="0" err="1">
                <a:solidFill>
                  <a:srgbClr val="303030"/>
                </a:solidFill>
                <a:latin typeface="Times New Roman" panose="02020503050405090304" charset="-122"/>
                <a:ea typeface="微软雅黑" panose="020B0503020204020204" charset="-122"/>
              </a:rPr>
              <a:t>数字签名：发送方私钥签名，任何人可用其公钥验证</a:t>
            </a:r>
            <a:r>
              <a:rPr sz="2000" dirty="0">
                <a:solidFill>
                  <a:srgbClr val="303030"/>
                </a:solidFill>
                <a:latin typeface="Times New Roman" panose="02020503050405090304" charset="-122"/>
                <a:ea typeface="微软雅黑" panose="020B0503020204020204" charset="-122"/>
              </a:rPr>
              <a:t>。</a:t>
            </a:r>
            <a:endParaRPr lang="en-US" sz="2000" dirty="0">
              <a:solidFill>
                <a:srgbClr val="303030"/>
              </a:solidFill>
              <a:latin typeface="Times New Roman" panose="02020503050405090304" charset="-122"/>
              <a:ea typeface="微软雅黑" panose="020B0503020204020204" charset="-122"/>
            </a:endParaRPr>
          </a:p>
          <a:p>
            <a:pPr marL="342900" indent="-342900">
              <a:buFont typeface="Wingdings" panose="05000000000000000000" pitchFamily="2" charset="2"/>
              <a:buChar char="n"/>
              <a:defRPr sz="1125" b="0">
                <a:solidFill>
                  <a:srgbClr val="303030"/>
                </a:solidFill>
              </a:defRPr>
            </a:pPr>
            <a:r>
              <a:rPr lang="zh-CN" altLang="en-US" sz="2000" b="0" dirty="0">
                <a:solidFill>
                  <a:srgbClr val="C90012"/>
                </a:solidFill>
                <a:latin typeface="Times New Roman" panose="02020503050405090304" charset="-122"/>
                <a:ea typeface="微软雅黑" panose="020B0503020204020204" charset="-122"/>
              </a:rPr>
              <a:t>公钥加密：接收方公钥加密，接收方私钥解密。（本节课重点）</a:t>
            </a:r>
            <a:endParaRPr lang="en-US" altLang="zh-CN" sz="2000" b="0" dirty="0">
              <a:solidFill>
                <a:srgbClr val="C90012"/>
              </a:solidFill>
              <a:latin typeface="Times New Roman" panose="02020503050405090304" charset="-122"/>
              <a:ea typeface="微软雅黑" panose="020B0503020204020204" charset="-122"/>
            </a:endParaRPr>
          </a:p>
          <a:p>
            <a:pPr marL="342900" indent="-342900">
              <a:buFont typeface="Wingdings" panose="05000000000000000000" pitchFamily="2" charset="2"/>
              <a:buChar char="n"/>
              <a:defRPr sz="1125" b="0">
                <a:solidFill>
                  <a:srgbClr val="303030"/>
                </a:solidFill>
              </a:defRPr>
            </a:pPr>
            <a:r>
              <a:rPr lang="zh-CN" altLang="en-US" sz="2000" dirty="0">
                <a:solidFill>
                  <a:srgbClr val="303030"/>
                </a:solidFill>
                <a:latin typeface="Times New Roman" panose="02020503050405090304" charset="-122"/>
                <a:ea typeface="微软雅黑" panose="020B0503020204020204" charset="-122"/>
              </a:rPr>
              <a:t>密钥协商：通信双方在不安全信道上协商共享密钥。</a:t>
            </a:r>
          </a:p>
          <a:p>
            <a:pPr marL="342900" indent="-342900">
              <a:buFont typeface="Wingdings" panose="05000000000000000000" pitchFamily="2" charset="2"/>
              <a:buChar char="n"/>
              <a:defRPr sz="1125" b="0">
                <a:solidFill>
                  <a:srgbClr val="303030"/>
                </a:solidFill>
              </a:defRPr>
            </a:pPr>
            <a:endParaRPr lang="zh-CN" altLang="en-US" sz="2000" b="0" dirty="0">
              <a:solidFill>
                <a:srgbClr val="C90012"/>
              </a:solidFill>
              <a:latin typeface="Times New Roman" panose="02020503050405090304" charset="-122"/>
              <a:ea typeface="微软雅黑" panose="020B0503020204020204" charset="-122"/>
            </a:endParaRPr>
          </a:p>
          <a:p>
            <a:pPr marL="342900" indent="-342900" algn="l">
              <a:buFont typeface="Wingdings" panose="05000000000000000000" pitchFamily="2" charset="2"/>
              <a:buChar char="n"/>
              <a:defRPr sz="1125" b="0">
                <a:solidFill>
                  <a:srgbClr val="303030"/>
                </a:solidFill>
              </a:defRPr>
            </a:pPr>
            <a:endParaRPr sz="2000" dirty="0">
              <a:solidFill>
                <a:srgbClr val="303030"/>
              </a:solidFill>
              <a:latin typeface="Times New Roman" panose="02020503050405090304" charset="-122"/>
              <a:ea typeface="微软雅黑" panose="020B0503020204020204" charset="-122"/>
            </a:endParaRPr>
          </a:p>
        </p:txBody>
      </p:sp>
      <p:sp>
        <p:nvSpPr>
          <p:cNvPr id="32" name="矩形 31"/>
          <p:cNvSpPr>
            <a:spLocks noGrp="1"/>
          </p:cNvSpPr>
          <p:nvPr/>
        </p:nvSpPr>
        <p:spPr>
          <a:xfrm>
            <a:off x="713176" y="4651774"/>
            <a:ext cx="10802547" cy="1084836"/>
          </a:xfrm>
          <a:prstGeom prst="rect">
            <a:avLst/>
          </a:prstGeom>
          <a:solidFill>
            <a:schemeClr val="bg1">
              <a:lumMod val="95000"/>
            </a:schemeClr>
          </a:solidFill>
          <a:ln w="9525">
            <a:solidFill>
              <a:schemeClr val="bg1">
                <a:lumMod val="85000"/>
              </a:schemeClr>
            </a:solidFill>
            <a:prstDash val="solid"/>
          </a:ln>
        </p:spPr>
      </p:sp>
      <p:sp>
        <p:nvSpPr>
          <p:cNvPr id="33" name="矩形 32"/>
          <p:cNvSpPr>
            <a:spLocks noGrp="1"/>
          </p:cNvSpPr>
          <p:nvPr/>
        </p:nvSpPr>
        <p:spPr>
          <a:xfrm>
            <a:off x="1219200" y="4842273"/>
            <a:ext cx="9620250" cy="266700"/>
          </a:xfrm>
          <a:prstGeom prst="rect">
            <a:avLst/>
          </a:prstGeom>
          <a:noFill/>
          <a:ln w="0">
            <a:noFill/>
            <a:prstDash val="solid"/>
          </a:ln>
        </p:spPr>
        <p:txBody>
          <a:bodyPr/>
          <a:lstStyle/>
          <a:p>
            <a:pPr algn="ctr">
              <a:defRPr sz="1500" b="1">
                <a:solidFill>
                  <a:srgbClr val="C90012"/>
                </a:solidFill>
              </a:defRPr>
            </a:pPr>
            <a:endParaRPr lang="zh-CN" sz="2000" b="0">
              <a:solidFill>
                <a:srgbClr val="C90012"/>
              </a:solidFill>
              <a:latin typeface="Times New Roman" panose="02020503050405090304" charset="-122"/>
              <a:ea typeface="微软雅黑" panose="020B0503020204020204" charset="-122"/>
            </a:endParaRPr>
          </a:p>
        </p:txBody>
      </p:sp>
      <p:sp>
        <p:nvSpPr>
          <p:cNvPr id="34" name="矩形 33"/>
          <p:cNvSpPr>
            <a:spLocks noGrp="1"/>
          </p:cNvSpPr>
          <p:nvPr/>
        </p:nvSpPr>
        <p:spPr>
          <a:xfrm>
            <a:off x="1504950" y="4744841"/>
            <a:ext cx="9048750" cy="247650"/>
          </a:xfrm>
          <a:prstGeom prst="rect">
            <a:avLst/>
          </a:prstGeom>
          <a:noFill/>
          <a:ln w="0">
            <a:noFill/>
            <a:prstDash val="solid"/>
          </a:ln>
        </p:spPr>
        <p:txBody>
          <a:bodyPr/>
          <a:lstStyle/>
          <a:p>
            <a:pPr algn="ctr">
              <a:defRPr sz="1500" b="0">
                <a:solidFill>
                  <a:srgbClr val="303030"/>
                </a:solidFill>
              </a:defRPr>
            </a:pPr>
            <a:r>
              <a:rPr lang="zh-CN" sz="2000" dirty="0">
                <a:solidFill>
                  <a:srgbClr val="303030"/>
                </a:solidFill>
                <a:latin typeface="Times New Roman" panose="02020503050405090304" charset="-122"/>
                <a:ea typeface="微软雅黑" panose="020B0503020204020204" charset="-122"/>
              </a:rPr>
              <a:t>PKI：把身份和公钥绑定起来，</a:t>
            </a:r>
            <a:r>
              <a:rPr lang="zh-CN" altLang="en-US" sz="2000" dirty="0">
                <a:solidFill>
                  <a:srgbClr val="303030"/>
                </a:solidFill>
                <a:latin typeface="Times New Roman" panose="02020503050405090304" charset="-122"/>
                <a:ea typeface="微软雅黑" panose="020B0503020204020204" charset="-122"/>
              </a:rPr>
              <a:t>基于证书和信任链帮助用户确认公钥属于谁。</a:t>
            </a:r>
            <a:r>
              <a:rPr lang="zh-CN" sz="2000" dirty="0">
                <a:solidFill>
                  <a:srgbClr val="303030"/>
                </a:solidFill>
                <a:latin typeface="Times New Roman" panose="02020503050405090304" charset="-122"/>
                <a:ea typeface="微软雅黑" panose="020B0503020204020204" charset="-122"/>
              </a:rPr>
              <a:t>降低冒名风险。</a:t>
            </a:r>
            <a:endParaRPr sz="2000" dirty="0">
              <a:solidFill>
                <a:srgbClr val="303030"/>
              </a:solidFill>
              <a:latin typeface="Times New Roman" panose="020205030504050903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a:spLocks noGrp="1"/>
          </p:cNvSpPr>
          <p:nvPr/>
        </p:nvSpPr>
        <p:spPr>
          <a:xfrm>
            <a:off x="693202" y="4032604"/>
            <a:ext cx="10802547" cy="2243387"/>
          </a:xfrm>
          <a:prstGeom prst="rect">
            <a:avLst/>
          </a:prstGeom>
          <a:solidFill>
            <a:schemeClr val="bg1">
              <a:lumMod val="95000"/>
            </a:schemeClr>
          </a:solidFill>
          <a:ln w="9525">
            <a:solidFill>
              <a:schemeClr val="bg1">
                <a:lumMod val="85000"/>
              </a:schemeClr>
            </a:solidFill>
            <a:prstDash val="solid"/>
          </a:ln>
        </p:spPr>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2</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5705475" cy="984885"/>
          </a:xfrm>
          <a:prstGeom prst="rect">
            <a:avLst/>
          </a:prstGeom>
          <a:noFill/>
        </p:spPr>
        <p:txBody>
          <a:bodyPr wrap="square" lIns="0" tIns="0" rIns="0" bIns="0" anchor="t">
            <a:spAutoFit/>
          </a:bodyPr>
          <a:lstStyle/>
          <a:p>
            <a:pPr>
              <a:defRPr sz="1800" b="1">
                <a:solidFill>
                  <a:srgbClr val="C90012"/>
                </a:solidFill>
              </a:defRPr>
            </a:pPr>
            <a:r>
              <a:rPr lang="zh-CN" altLang="zh-CN" sz="3200" b="1" dirty="0">
                <a:latin typeface="Times New Roman" panose="02020503050405090304" charset="-122"/>
                <a:ea typeface="微软雅黑" panose="020B0503020204020204" charset="-122"/>
                <a:sym typeface="+mn-ea"/>
              </a:rPr>
              <a:t>公钥</a:t>
            </a:r>
            <a:r>
              <a:rPr lang="zh-CN" altLang="en-US" sz="3200" b="1" dirty="0">
                <a:latin typeface="Times New Roman" panose="02020503050405090304" charset="-122"/>
                <a:ea typeface="微软雅黑" panose="020B0503020204020204" charset="-122"/>
                <a:sym typeface="+mn-ea"/>
              </a:rPr>
              <a:t>加密定义</a:t>
            </a: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8" name="矩形 7"/>
          <p:cNvSpPr>
            <a:spLocks noGrp="1"/>
          </p:cNvSpPr>
          <p:nvPr/>
        </p:nvSpPr>
        <p:spPr>
          <a:xfrm>
            <a:off x="1032419" y="4906963"/>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23" name="矩形 22"/>
          <p:cNvSpPr>
            <a:spLocks noGrp="1"/>
          </p:cNvSpPr>
          <p:nvPr/>
        </p:nvSpPr>
        <p:spPr>
          <a:xfrm>
            <a:off x="6629218" y="4949235"/>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endParaRPr>
          </a:p>
        </p:txBody>
      </p:sp>
      <p:pic>
        <p:nvPicPr>
          <p:cNvPr id="25" name="图片 24"/>
          <p:cNvPicPr>
            <a:picLocks noChangeAspect="1"/>
          </p:cNvPicPr>
          <p:nvPr/>
        </p:nvPicPr>
        <p:blipFill>
          <a:blip r:embed="rId3"/>
          <a:stretch>
            <a:fillRect/>
          </a:stretch>
        </p:blipFill>
        <p:spPr>
          <a:xfrm>
            <a:off x="1822551" y="963841"/>
            <a:ext cx="8297765" cy="2619439"/>
          </a:xfrm>
          <a:prstGeom prst="rect">
            <a:avLst/>
          </a:prstGeom>
        </p:spPr>
      </p:pic>
      <p:sp>
        <p:nvSpPr>
          <p:cNvPr id="27" name="文本框 26"/>
          <p:cNvSpPr txBox="1"/>
          <p:nvPr/>
        </p:nvSpPr>
        <p:spPr>
          <a:xfrm>
            <a:off x="932815" y="4137913"/>
            <a:ext cx="10443746" cy="2053704"/>
          </a:xfrm>
          <a:prstGeom prst="rect">
            <a:avLst/>
          </a:prstGeom>
          <a:noFill/>
        </p:spPr>
        <p:txBody>
          <a:bodyPr wrap="square">
            <a:spAutoFit/>
          </a:bodyPr>
          <a:lstStyle/>
          <a:p>
            <a:pPr algn="just">
              <a:lnSpc>
                <a:spcPct val="130000"/>
              </a:lnSpc>
            </a:pPr>
            <a:r>
              <a:rPr lang="zh-CN" altLang="en-US" sz="2000" dirty="0"/>
              <a:t>公钥加密使用接收方的公钥对数据进行加密，而只有接收方持有相应的私钥才能解密数据。这种加密方式解决了传统对称加密需要共享密钥的问题，使双方可以在不安全的信道上进行安全通信。</a:t>
            </a:r>
            <a:endParaRPr lang="en-US" altLang="zh-CN" sz="2000" dirty="0"/>
          </a:p>
          <a:p>
            <a:pPr marL="342900" indent="-342900" algn="just">
              <a:lnSpc>
                <a:spcPct val="130000"/>
              </a:lnSpc>
              <a:buFont typeface="Arial" panose="020B0604020202020204" pitchFamily="34" charset="0"/>
              <a:buChar char="•"/>
            </a:pPr>
            <a:r>
              <a:rPr lang="zh-CN" altLang="en-US" sz="2000" dirty="0"/>
              <a:t>发送方 </a:t>
            </a:r>
            <a:r>
              <a:rPr lang="en-GB" altLang="zh-CN" sz="2000" dirty="0"/>
              <a:t>Alice </a:t>
            </a:r>
            <a:r>
              <a:rPr lang="zh-CN" altLang="en-US" sz="2000" dirty="0"/>
              <a:t>可以使用接收方 </a:t>
            </a:r>
            <a:r>
              <a:rPr lang="en-GB" altLang="zh-CN" sz="2000" dirty="0"/>
              <a:t>Bob </a:t>
            </a:r>
            <a:r>
              <a:rPr lang="zh-CN" altLang="en-US" sz="2000" dirty="0"/>
              <a:t>的公钥</a:t>
            </a:r>
            <a:r>
              <a:rPr lang="en-US" altLang="zh-CN" sz="2000" i="1" dirty="0" err="1"/>
              <a:t>k</a:t>
            </a:r>
            <a:r>
              <a:rPr lang="en-US" altLang="zh-CN" sz="2000" baseline="-25000" dirty="0" err="1"/>
              <a:t>pub</a:t>
            </a:r>
            <a:r>
              <a:rPr lang="zh-CN" altLang="en-US" sz="2000" dirty="0"/>
              <a:t>来加密消息 </a:t>
            </a:r>
            <a:r>
              <a:rPr lang="en-GB" altLang="zh-CN" sz="2000" i="1" dirty="0"/>
              <a:t>x</a:t>
            </a:r>
            <a:r>
              <a:rPr lang="zh-CN" altLang="en-GB" sz="2000" dirty="0"/>
              <a:t>，</a:t>
            </a:r>
            <a:r>
              <a:rPr lang="zh-CN" altLang="en-US" sz="2000" dirty="0"/>
              <a:t>只有接收方即 </a:t>
            </a:r>
            <a:r>
              <a:rPr lang="en-GB" altLang="zh-CN" sz="2000" dirty="0"/>
              <a:t>Bob </a:t>
            </a:r>
            <a:r>
              <a:rPr lang="zh-CN" altLang="en-US" sz="2000" dirty="0"/>
              <a:t>本 人才能使用私钥 </a:t>
            </a:r>
            <a:r>
              <a:rPr lang="en-GB" altLang="zh-CN" sz="2000" i="1" dirty="0" err="1"/>
              <a:t>k</a:t>
            </a:r>
            <a:r>
              <a:rPr lang="en-GB" altLang="zh-CN" sz="2000" baseline="-25000" dirty="0" err="1"/>
              <a:t>pr</a:t>
            </a:r>
            <a:r>
              <a:rPr lang="en-GB" altLang="zh-CN" sz="2000" dirty="0"/>
              <a:t> </a:t>
            </a:r>
            <a:r>
              <a:rPr lang="zh-CN" altLang="en-US" sz="2000" dirty="0"/>
              <a:t>解密并获取消息 </a:t>
            </a:r>
            <a:r>
              <a:rPr lang="en-GB" altLang="zh-CN" sz="2000" i="1" dirty="0"/>
              <a:t>x</a:t>
            </a:r>
            <a:r>
              <a:rPr lang="zh-CN" altLang="en-US" sz="2000" i="1"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502920" y="4441368"/>
            <a:ext cx="11090367" cy="1748367"/>
          </a:xfrm>
          <a:prstGeom prst="rect">
            <a:avLst/>
          </a:prstGeom>
          <a:solidFill>
            <a:srgbClr val="FFF1F1"/>
          </a:solidFill>
          <a:ln w="9525">
            <a:solidFill>
              <a:srgbClr val="F3CACA"/>
            </a:solidFill>
            <a:prstDash val="solid"/>
          </a:ln>
        </p:spPr>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2</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5705475" cy="984885"/>
          </a:xfrm>
          <a:prstGeom prst="rect">
            <a:avLst/>
          </a:prstGeom>
          <a:noFill/>
        </p:spPr>
        <p:txBody>
          <a:bodyPr wrap="square" lIns="0" tIns="0" rIns="0" bIns="0" anchor="t">
            <a:spAutoFit/>
          </a:bodyPr>
          <a:lstStyle/>
          <a:p>
            <a:pPr>
              <a:defRPr sz="1800" b="1">
                <a:solidFill>
                  <a:srgbClr val="C90012"/>
                </a:solidFill>
              </a:defRPr>
            </a:pPr>
            <a:r>
              <a:rPr lang="zh-CN" altLang="zh-CN" sz="3200" b="1" dirty="0">
                <a:latin typeface="Times New Roman" panose="02020503050405090304" charset="-122"/>
                <a:ea typeface="微软雅黑" panose="020B0503020204020204" charset="-122"/>
                <a:sym typeface="+mn-ea"/>
              </a:rPr>
              <a:t>公钥</a:t>
            </a:r>
            <a:r>
              <a:rPr lang="zh-CN" altLang="en-US" sz="3200" b="1" dirty="0">
                <a:latin typeface="Times New Roman" panose="02020503050405090304" charset="-122"/>
                <a:ea typeface="微软雅黑" panose="020B0503020204020204" charset="-122"/>
                <a:sym typeface="+mn-ea"/>
              </a:rPr>
              <a:t>加密定义</a:t>
            </a: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8" name="矩形 7"/>
          <p:cNvSpPr>
            <a:spLocks noGrp="1"/>
          </p:cNvSpPr>
          <p:nvPr/>
        </p:nvSpPr>
        <p:spPr>
          <a:xfrm>
            <a:off x="1032419" y="4906963"/>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23" name="矩形 22"/>
          <p:cNvSpPr>
            <a:spLocks noGrp="1"/>
          </p:cNvSpPr>
          <p:nvPr/>
        </p:nvSpPr>
        <p:spPr>
          <a:xfrm>
            <a:off x="6629218" y="4949235"/>
            <a:ext cx="4276725" cy="1590675"/>
          </a:xfrm>
          <a:prstGeom prst="rect">
            <a:avLst/>
          </a:prstGeom>
          <a:noFill/>
          <a:ln w="0">
            <a:noFill/>
            <a:prstDash val="solid"/>
          </a:ln>
        </p:spPr>
        <p:txBody>
          <a:bodyPr/>
          <a:lstStyle/>
          <a:p>
            <a:pPr algn="l">
              <a:defRPr sz="1350" b="0">
                <a:solidFill>
                  <a:srgbClr val="303030"/>
                </a:solidFill>
              </a:defRPr>
            </a:pPr>
            <a:endParaRPr sz="2000" b="1" dirty="0">
              <a:solidFill>
                <a:srgbClr val="303030"/>
              </a:solidFill>
              <a:latin typeface="Times New Roman" panose="02020503050405090304" charset="-122"/>
              <a:ea typeface="微软雅黑" panose="020B0503020204020204" charset="-122"/>
            </a:endParaRPr>
          </a:p>
        </p:txBody>
      </p:sp>
      <p:sp>
        <p:nvSpPr>
          <p:cNvPr id="16" name="文本框 15"/>
          <p:cNvSpPr txBox="1"/>
          <p:nvPr/>
        </p:nvSpPr>
        <p:spPr>
          <a:xfrm>
            <a:off x="502920" y="2791460"/>
            <a:ext cx="6096000" cy="460375"/>
          </a:xfrm>
          <a:prstGeom prst="rect">
            <a:avLst/>
          </a:prstGeom>
          <a:noFill/>
        </p:spPr>
        <p:txBody>
          <a:bodyPr wrap="square" rtlCol="0" anchor="t">
            <a:spAutoFit/>
          </a:bodyPr>
          <a:lstStyle/>
          <a:p>
            <a:pPr algn="l">
              <a:defRPr sz="1350" b="1">
                <a:solidFill>
                  <a:srgbClr val="C90012"/>
                </a:solidFill>
              </a:defRPr>
            </a:pPr>
            <a:endParaRPr lang="en-US" altLang="zh-CN" sz="2400">
              <a:latin typeface="Times New Roman Regular" panose="02020503050405090304" charset="0"/>
              <a:ea typeface="微软雅黑" panose="020B0503020204020204" charset="-122"/>
              <a:cs typeface="Times New Roman Regular" panose="02020503050405090304" charset="0"/>
              <a:sym typeface="+mn-ea"/>
            </a:endParaRPr>
          </a:p>
        </p:txBody>
      </p:sp>
      <mc:AlternateContent xmlns:mc="http://schemas.openxmlformats.org/markup-compatibility/2006" xmlns:a14="http://schemas.microsoft.com/office/drawing/2010/main">
        <mc:Choice Requires="a14">
          <p:sp>
            <p:nvSpPr>
              <p:cNvPr id="17" name="TextBox 5"/>
              <p:cNvSpPr txBox="1"/>
              <p:nvPr/>
            </p:nvSpPr>
            <p:spPr>
              <a:xfrm>
                <a:off x="757555" y="836930"/>
                <a:ext cx="10558780" cy="3833038"/>
              </a:xfrm>
              <a:prstGeom prst="rect">
                <a:avLst/>
              </a:prstGeom>
              <a:noFill/>
            </p:spPr>
            <p:txBody>
              <a:bodyPr wrap="square" lIns="0" tIns="0" rIns="0" bIns="0" anchor="t">
                <a:noAutofit/>
              </a:bodyPr>
              <a:lstStyle/>
              <a:p>
                <a:pPr indent="0" algn="just">
                  <a:spcBef>
                    <a:spcPts val="0"/>
                  </a:spcBef>
                  <a:spcAft>
                    <a:spcPts val="600"/>
                  </a:spcAft>
                  <a:buClr>
                    <a:srgbClr val="C00000"/>
                  </a:buClr>
                  <a:buFont typeface="Wingdings" panose="05000000000000000000" charset="0"/>
                  <a:buNone/>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.1</a:t>
                </a:r>
                <a:r>
                  <a:rPr lang="zh-CN" altLang="en-US" sz="2000" b="1" i="0" dirty="0">
                    <a:solidFill>
                      <a:srgbClr val="C00000"/>
                    </a:solidFill>
                    <a:latin typeface="微软雅黑" panose="020B0503020204020204" charset="-122"/>
                    <a:ea typeface="微软雅黑" panose="020B0503020204020204" charset="-122"/>
                  </a:rPr>
                  <a:t>　公钥加密方案（</a:t>
                </a:r>
                <a:r>
                  <a:rPr lang="zh-CN" altLang="en-US" sz="2000" b="1" i="0" dirty="0" err="1">
                    <a:solidFill>
                      <a:srgbClr val="C00000"/>
                    </a:solidFill>
                    <a:latin typeface="微软雅黑" panose="020B0503020204020204" charset="-122"/>
                    <a:ea typeface="微软雅黑" panose="020B0503020204020204" charset="-122"/>
                  </a:rPr>
                  <a:t>教材原文</a:t>
                </a:r>
                <a:r>
                  <a:rPr lang="zh-CN" altLang="en-US" sz="2000" b="1" i="0" dirty="0">
                    <a:solidFill>
                      <a:srgbClr val="C00000"/>
                    </a:solidFill>
                    <a:latin typeface="微软雅黑" panose="020B0503020204020204" charset="-122"/>
                    <a:ea typeface="微软雅黑" panose="020B0503020204020204" charset="-122"/>
                  </a:rPr>
                  <a:t>）：</a:t>
                </a:r>
              </a:p>
              <a:p>
                <a:pPr algn="just">
                  <a:lnSpc>
                    <a:spcPct val="130000"/>
                  </a:lnSpc>
                  <a:spcAft>
                    <a:spcPts val="600"/>
                  </a:spcAft>
                  <a:buClr>
                    <a:srgbClr val="C00000"/>
                  </a:buClr>
                </a:pPr>
                <a:r>
                  <a:rPr lang="zh-CN" altLang="en-US" sz="2000" dirty="0">
                    <a:solidFill>
                      <a:schemeClr val="tx1">
                        <a:lumMod val="85000"/>
                        <a:lumOff val="15000"/>
                      </a:schemeClr>
                    </a:solidFill>
                  </a:rPr>
                  <a:t>假设明文空间为</a:t>
                </a:r>
                <a14:m>
                  <m:oMath xmlns:m="http://schemas.openxmlformats.org/officeDocument/2006/math">
                    <m:r>
                      <a:rPr lang="zh-CN" altLang="en-US" sz="2000" b="0" i="0" smtClean="0">
                        <a:solidFill>
                          <a:schemeClr val="tx1">
                            <a:lumMod val="85000"/>
                            <a:lumOff val="15000"/>
                          </a:schemeClr>
                        </a:solidFill>
                        <a:latin typeface="Cambria Math" panose="02040503050406030204" pitchFamily="18" charset="0"/>
                        <a:ea typeface="宋体" charset="0"/>
                        <a:cs typeface="DejaVu Math TeX Gyre" panose="02000503000000000000" charset="0"/>
                      </a:rPr>
                      <m:t> </m:t>
                    </m:r>
                    <m:r>
                      <a:rPr lang="en-US" altLang="zh-CN" sz="2000" i="1">
                        <a:solidFill>
                          <a:schemeClr val="tx1">
                            <a:lumMod val="85000"/>
                            <a:lumOff val="15000"/>
                          </a:schemeClr>
                        </a:solidFill>
                        <a:latin typeface="Cambria Math" panose="02040503050406030204" pitchFamily="18" charset="0"/>
                        <a:ea typeface="宋体" charset="0"/>
                        <a:cs typeface="DejaVu Math TeX Gyre" panose="02000503000000000000" charset="0"/>
                      </a:rPr>
                      <m:t>ℳ</m:t>
                    </m:r>
                    <m:r>
                      <a:rPr lang="en-US" altLang="zh-CN" sz="2000" i="1">
                        <a:solidFill>
                          <a:schemeClr val="tx1">
                            <a:lumMod val="85000"/>
                            <a:lumOff val="15000"/>
                          </a:schemeClr>
                        </a:solidFill>
                        <a:latin typeface="Cambria Math" panose="02040503050406030204" pitchFamily="18" charset="0"/>
                        <a:ea typeface="宋体" charset="0"/>
                        <a:cs typeface="DejaVu Math TeX Gyre" panose="02000503000000000000" charset="0"/>
                      </a:rPr>
                      <m:t> </m:t>
                    </m:r>
                    <m:r>
                      <a:rPr lang="zh-CN" altLang="en-US" sz="2000" b="0" i="0" smtClean="0">
                        <a:solidFill>
                          <a:schemeClr val="tx1">
                            <a:lumMod val="85000"/>
                            <a:lumOff val="15000"/>
                          </a:schemeClr>
                        </a:solidFill>
                        <a:latin typeface="Cambria Math" panose="02040503050406030204" pitchFamily="18" charset="0"/>
                        <a:ea typeface="+mj-ea"/>
                        <a:cs typeface="DejaVu Math TeX Gyre" panose="02000503000000000000" charset="0"/>
                      </a:rPr>
                      <m:t>，</m:t>
                    </m:r>
                  </m:oMath>
                </a14:m>
                <a:r>
                  <a:rPr lang="zh-CN" altLang="en-US" sz="2000" dirty="0">
                    <a:solidFill>
                      <a:schemeClr val="tx1">
                        <a:lumMod val="85000"/>
                        <a:lumOff val="15000"/>
                      </a:schemeClr>
                    </a:solidFill>
                  </a:rPr>
                  <a:t>密文空间为 </a:t>
                </a:r>
                <a14:m>
                  <m:oMath xmlns:m="http://schemas.openxmlformats.org/officeDocument/2006/math">
                    <m:r>
                      <a:rPr lang="zh-CN" altLang="en-US" sz="2000" i="1" smtClean="0">
                        <a:solidFill>
                          <a:schemeClr val="tx1">
                            <a:lumMod val="85000"/>
                            <a:lumOff val="15000"/>
                          </a:schemeClr>
                        </a:solidFill>
                        <a:latin typeface="Cambria Math" panose="02040503050406030204" pitchFamily="18" charset="0"/>
                      </a:rPr>
                      <m:t>𝒞</m:t>
                    </m:r>
                    <m:r>
                      <a:rPr lang="zh-CN" altLang="en-US" sz="2000" b="0" i="0" smtClean="0">
                        <a:solidFill>
                          <a:schemeClr val="tx1">
                            <a:lumMod val="85000"/>
                            <a:lumOff val="15000"/>
                          </a:schemeClr>
                        </a:solidFill>
                        <a:latin typeface="Cambria Math" panose="02040503050406030204" pitchFamily="18" charset="0"/>
                      </a:rPr>
                      <m:t>，</m:t>
                    </m:r>
                  </m:oMath>
                </a14:m>
                <a:r>
                  <a:rPr lang="zh-CN" altLang="en-US" sz="2000" dirty="0">
                    <a:solidFill>
                      <a:schemeClr val="tx1">
                        <a:lumMod val="85000"/>
                        <a:lumOff val="15000"/>
                      </a:schemeClr>
                    </a:solidFill>
                  </a:rPr>
                  <a:t>密钥空间为 </a:t>
                </a:r>
                <a14:m>
                  <m:oMath xmlns:m="http://schemas.openxmlformats.org/officeDocument/2006/math">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𝒦</m:t>
                    </m:r>
                  </m:oMath>
                </a14:m>
                <a:r>
                  <a:rPr lang="zh-CN" altLang="en-US" sz="2000" dirty="0">
                    <a:solidFill>
                      <a:schemeClr val="tx1">
                        <a:lumMod val="85000"/>
                        <a:lumOff val="15000"/>
                      </a:schemeClr>
                    </a:solidFill>
                  </a:rPr>
                  <a:t> 。一个定义在 </a:t>
                </a:r>
                <a:r>
                  <a:rPr lang="en-US" altLang="zh-CN" sz="2000" dirty="0">
                    <a:solidFill>
                      <a:schemeClr val="tx1">
                        <a:lumMod val="85000"/>
                        <a:lumOff val="15000"/>
                      </a:schemeClr>
                    </a:solidFill>
                  </a:rPr>
                  <a:t>(</a:t>
                </a:r>
                <a14:m>
                  <m:oMath xmlns:m="http://schemas.openxmlformats.org/officeDocument/2006/math">
                    <m:r>
                      <a:rPr lang="zh-CN" altLang="en-US" sz="2000" i="1">
                        <a:solidFill>
                          <a:schemeClr val="tx1">
                            <a:lumMod val="85000"/>
                            <a:lumOff val="15000"/>
                          </a:schemeClr>
                        </a:solidFill>
                        <a:latin typeface="Cambria Math" panose="02040503050406030204" pitchFamily="18" charset="0"/>
                        <a:ea typeface="宋体" charset="0"/>
                        <a:cs typeface="DejaVu Math TeX Gyre" panose="02000503000000000000" charset="0"/>
                      </a:rPr>
                      <m:t>𝒦</m:t>
                    </m:r>
                    <m:r>
                      <a:rPr lang="en-US" altLang="zh-CN" sz="2000" b="0" i="0" smtClean="0">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en-US" altLang="zh-CN" sz="2000" i="1">
                        <a:solidFill>
                          <a:schemeClr val="tx1">
                            <a:lumMod val="85000"/>
                            <a:lumOff val="15000"/>
                          </a:schemeClr>
                        </a:solidFill>
                        <a:latin typeface="Cambria Math" panose="02040503050406030204" pitchFamily="18" charset="0"/>
                        <a:ea typeface="宋体" charset="0"/>
                        <a:cs typeface="DejaVu Math TeX Gyre" panose="02000503000000000000" charset="0"/>
                      </a:rPr>
                      <m:t>ℳ</m:t>
                    </m:r>
                    <m:r>
                      <a:rPr lang="en-US" altLang="zh-CN" sz="2000" b="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zh-CN" altLang="en-US" sz="2000" i="1">
                        <a:solidFill>
                          <a:schemeClr val="tx1">
                            <a:lumMod val="85000"/>
                            <a:lumOff val="15000"/>
                          </a:schemeClr>
                        </a:solidFill>
                        <a:latin typeface="Cambria Math" panose="02040503050406030204" pitchFamily="18" charset="0"/>
                      </a:rPr>
                      <m:t>𝒞</m:t>
                    </m:r>
                  </m:oMath>
                </a14:m>
                <a:r>
                  <a:rPr lang="en-US" altLang="zh-CN" sz="2000" dirty="0">
                    <a:solidFill>
                      <a:schemeClr val="tx1">
                        <a:lumMod val="85000"/>
                        <a:lumOff val="15000"/>
                      </a:schemeClr>
                    </a:solidFill>
                  </a:rPr>
                  <a:t>) </a:t>
                </a:r>
                <a:r>
                  <a:rPr lang="zh-CN" altLang="en-US" sz="2000" dirty="0">
                    <a:solidFill>
                      <a:schemeClr val="tx1">
                        <a:lumMod val="85000"/>
                        <a:lumOff val="15000"/>
                      </a:schemeClr>
                    </a:solidFill>
                  </a:rPr>
                  <a:t>上的公钥加密方案记作 </a:t>
                </a:r>
                <a:r>
                  <a:rPr lang="en-GB" altLang="zh-CN" sz="2000" dirty="0">
                    <a:solidFill>
                      <a:schemeClr val="tx1">
                        <a:lumMod val="85000"/>
                        <a:lumOff val="15000"/>
                      </a:schemeClr>
                    </a:solidFill>
                  </a:rPr>
                  <a:t>PKE = (Gen, Enc, Dec) </a:t>
                </a:r>
                <a:r>
                  <a:rPr lang="zh-CN" altLang="en-GB" sz="2000" dirty="0">
                    <a:solidFill>
                      <a:schemeClr val="tx1">
                        <a:lumMod val="85000"/>
                        <a:lumOff val="15000"/>
                      </a:schemeClr>
                    </a:solidFill>
                  </a:rPr>
                  <a:t>，</a:t>
                </a:r>
                <a:r>
                  <a:rPr lang="zh-CN" altLang="en-US" sz="2000" dirty="0">
                    <a:solidFill>
                      <a:schemeClr val="tx1">
                        <a:lumMod val="85000"/>
                        <a:lumOff val="15000"/>
                      </a:schemeClr>
                    </a:solidFill>
                  </a:rPr>
                  <a:t>包含如下算法。</a:t>
                </a:r>
                <a:endParaRPr lang="zh-CN" altLang="en-US" sz="2000" b="0" dirty="0">
                  <a:solidFill>
                    <a:schemeClr val="tx1">
                      <a:lumMod val="85000"/>
                      <a:lumOff val="15000"/>
                    </a:schemeClr>
                  </a:solidFill>
                  <a:latin typeface="Times New Roman Regular" panose="02020503050405090304" charset="0"/>
                  <a:ea typeface="微软雅黑" panose="020B0503020204020204" charset="-122"/>
                  <a:cs typeface="Times New Roman Regular" panose="02020503050405090304" charset="0"/>
                </a:endParaRPr>
              </a:p>
              <a:p>
                <a:pPr marL="285750" indent="-285750" algn="just">
                  <a:lnSpc>
                    <a:spcPct val="130000"/>
                  </a:lnSpc>
                  <a:spcBef>
                    <a:spcPts val="0"/>
                  </a:spcBef>
                  <a:spcAft>
                    <a:spcPts val="600"/>
                  </a:spcAft>
                  <a:buClr>
                    <a:srgbClr val="C00000"/>
                  </a:buClr>
                  <a:buFont typeface="Wingdings" panose="05000000000000000000" charset="0"/>
                  <a:buChar char=""/>
                </a:pPr>
                <a:r>
                  <a:rPr lang="zh-CN" altLang="en-US" sz="2000" dirty="0">
                    <a:solidFill>
                      <a:schemeClr val="tx1">
                        <a:lumMod val="85000"/>
                        <a:lumOff val="15000"/>
                      </a:schemeClr>
                    </a:solidFill>
                  </a:rPr>
                  <a:t>密钥生成算法 </a:t>
                </a:r>
                <a:r>
                  <a:rPr lang="en-GB" altLang="zh-CN" sz="2000" dirty="0">
                    <a:solidFill>
                      <a:schemeClr val="tx1">
                        <a:lumMod val="85000"/>
                        <a:lumOff val="15000"/>
                      </a:schemeClr>
                    </a:solidFill>
                  </a:rPr>
                  <a:t>Gen(</a:t>
                </a:r>
                <a:r>
                  <a:rPr lang="el-GR" altLang="zh-CN" sz="2000" dirty="0">
                    <a:solidFill>
                      <a:schemeClr val="tx1">
                        <a:lumMod val="85000"/>
                        <a:lumOff val="15000"/>
                      </a:schemeClr>
                    </a:solidFill>
                  </a:rPr>
                  <a:t>λ</a:t>
                </a:r>
                <a:r>
                  <a:rPr lang="en-GB" altLang="zh-CN" sz="2000" dirty="0">
                    <a:solidFill>
                      <a:schemeClr val="tx1">
                        <a:lumMod val="85000"/>
                        <a:lumOff val="15000"/>
                      </a:schemeClr>
                    </a:solidFill>
                  </a:rPr>
                  <a:t>) </a:t>
                </a:r>
                <a:r>
                  <a:rPr lang="zh-CN" altLang="el-GR" sz="2000" dirty="0">
                    <a:solidFill>
                      <a:schemeClr val="tx1">
                        <a:lumMod val="85000"/>
                        <a:lumOff val="15000"/>
                      </a:schemeClr>
                    </a:solidFill>
                  </a:rPr>
                  <a:t>。</a:t>
                </a:r>
                <a:r>
                  <a:rPr lang="zh-CN" altLang="en-US" sz="2000" dirty="0">
                    <a:solidFill>
                      <a:schemeClr val="tx1">
                        <a:lumMod val="85000"/>
                        <a:lumOff val="15000"/>
                      </a:schemeClr>
                    </a:solidFill>
                  </a:rPr>
                  <a:t>输入为安全参数 </a:t>
                </a:r>
                <a:r>
                  <a:rPr lang="el-GR" altLang="zh-CN" sz="2000" dirty="0">
                    <a:solidFill>
                      <a:schemeClr val="tx1">
                        <a:lumMod val="85000"/>
                        <a:lumOff val="15000"/>
                      </a:schemeClr>
                    </a:solidFill>
                  </a:rPr>
                  <a:t>λ </a:t>
                </a:r>
                <a:r>
                  <a:rPr lang="zh-CN" altLang="el-GR" sz="2000" dirty="0">
                    <a:solidFill>
                      <a:schemeClr val="tx1">
                        <a:lumMod val="85000"/>
                        <a:lumOff val="15000"/>
                      </a:schemeClr>
                    </a:solidFill>
                  </a:rPr>
                  <a:t>，</a:t>
                </a:r>
                <a:r>
                  <a:rPr lang="zh-CN" altLang="en-US" sz="2000" dirty="0">
                    <a:solidFill>
                      <a:schemeClr val="tx1">
                        <a:lumMod val="85000"/>
                        <a:lumOff val="15000"/>
                      </a:schemeClr>
                    </a:solidFill>
                  </a:rPr>
                  <a:t>输出为一个公私钥对 </a:t>
                </a:r>
                <a:r>
                  <a:rPr lang="en-US" altLang="zh-CN" sz="2000" dirty="0">
                    <a:solidFill>
                      <a:schemeClr val="tx1">
                        <a:lumMod val="85000"/>
                        <a:lumOff val="15000"/>
                      </a:schemeClr>
                    </a:solidFill>
                  </a:rPr>
                  <a:t>(</a:t>
                </a:r>
                <a:r>
                  <a:rPr lang="en-GB" altLang="zh-CN" sz="2000" dirty="0">
                    <a:solidFill>
                      <a:schemeClr val="tx1">
                        <a:lumMod val="85000"/>
                        <a:lumOff val="15000"/>
                      </a:schemeClr>
                    </a:solidFill>
                  </a:rPr>
                  <a:t>pk,</a:t>
                </a:r>
                <a:r>
                  <a:rPr lang="zh-CN" altLang="en-US" sz="2000" dirty="0">
                    <a:solidFill>
                      <a:schemeClr val="tx1">
                        <a:lumMod val="85000"/>
                        <a:lumOff val="15000"/>
                      </a:schemeClr>
                    </a:solidFill>
                  </a:rPr>
                  <a:t> </a:t>
                </a:r>
                <a:r>
                  <a:rPr lang="en-GB" altLang="zh-CN" sz="2000" dirty="0" err="1">
                    <a:solidFill>
                      <a:schemeClr val="tx1">
                        <a:lumMod val="85000"/>
                        <a:lumOff val="15000"/>
                      </a:schemeClr>
                    </a:solidFill>
                  </a:rPr>
                  <a:t>sk</a:t>
                </a:r>
                <a:r>
                  <a:rPr lang="en-GB" altLang="zh-CN" sz="2000" dirty="0">
                    <a:solidFill>
                      <a:schemeClr val="tx1">
                        <a:lumMod val="85000"/>
                        <a:lumOff val="15000"/>
                      </a:schemeClr>
                    </a:solidFill>
                  </a:rPr>
                  <a:t>)</a:t>
                </a:r>
                <a14:m>
                  <m:oMath xmlns:m="http://schemas.openxmlformats.org/officeDocument/2006/math">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𝒦</m:t>
                    </m:r>
                  </m:oMath>
                </a14:m>
                <a:r>
                  <a:rPr lang="zh-CN" altLang="en-GB" sz="2000" dirty="0">
                    <a:solidFill>
                      <a:schemeClr val="tx1">
                        <a:lumMod val="85000"/>
                        <a:lumOff val="15000"/>
                      </a:schemeClr>
                    </a:solidFill>
                  </a:rPr>
                  <a:t>， </a:t>
                </a:r>
                <a:r>
                  <a:rPr lang="zh-CN" altLang="en-US" sz="2000" dirty="0">
                    <a:solidFill>
                      <a:schemeClr val="tx1">
                        <a:lumMod val="85000"/>
                        <a:lumOff val="15000"/>
                      </a:schemeClr>
                    </a:solidFill>
                  </a:rPr>
                  <a:t>其中 </a:t>
                </a:r>
                <a:r>
                  <a:rPr lang="en-GB" altLang="zh-CN" sz="2000" dirty="0">
                    <a:solidFill>
                      <a:schemeClr val="tx1">
                        <a:lumMod val="85000"/>
                        <a:lumOff val="15000"/>
                      </a:schemeClr>
                    </a:solidFill>
                  </a:rPr>
                  <a:t>pk </a:t>
                </a:r>
                <a:r>
                  <a:rPr lang="zh-CN" altLang="en-US" sz="2000" dirty="0">
                    <a:solidFill>
                      <a:schemeClr val="tx1">
                        <a:lumMod val="85000"/>
                        <a:lumOff val="15000"/>
                      </a:schemeClr>
                    </a:solidFill>
                  </a:rPr>
                  <a:t>为公钥，</a:t>
                </a:r>
                <a:r>
                  <a:rPr lang="en-GB" altLang="zh-CN" sz="2000" dirty="0" err="1">
                    <a:solidFill>
                      <a:schemeClr val="tx1">
                        <a:lumMod val="85000"/>
                        <a:lumOff val="15000"/>
                      </a:schemeClr>
                    </a:solidFill>
                  </a:rPr>
                  <a:t>sk</a:t>
                </a:r>
                <a:r>
                  <a:rPr lang="en-GB" altLang="zh-CN" sz="2000" dirty="0">
                    <a:solidFill>
                      <a:schemeClr val="tx1">
                        <a:lumMod val="85000"/>
                        <a:lumOff val="15000"/>
                      </a:schemeClr>
                    </a:solidFill>
                  </a:rPr>
                  <a:t> </a:t>
                </a:r>
                <a:r>
                  <a:rPr lang="zh-CN" altLang="en-US" sz="2000" dirty="0">
                    <a:solidFill>
                      <a:schemeClr val="tx1">
                        <a:lumMod val="85000"/>
                        <a:lumOff val="15000"/>
                      </a:schemeClr>
                    </a:solidFill>
                  </a:rPr>
                  <a:t>为私钥。 </a:t>
                </a:r>
                <a:endParaRPr lang="en-US" altLang="zh-CN" sz="2000" dirty="0">
                  <a:solidFill>
                    <a:schemeClr val="tx1">
                      <a:lumMod val="85000"/>
                      <a:lumOff val="15000"/>
                    </a:schemeClr>
                  </a:solidFill>
                </a:endParaRPr>
              </a:p>
              <a:p>
                <a:pPr marL="285750" indent="-285750" algn="just">
                  <a:lnSpc>
                    <a:spcPct val="130000"/>
                  </a:lnSpc>
                  <a:spcBef>
                    <a:spcPts val="0"/>
                  </a:spcBef>
                  <a:spcAft>
                    <a:spcPts val="600"/>
                  </a:spcAft>
                  <a:buClr>
                    <a:srgbClr val="C00000"/>
                  </a:buClr>
                  <a:buFont typeface="Wingdings" panose="05000000000000000000" charset="0"/>
                  <a:buChar char=""/>
                </a:pPr>
                <a:r>
                  <a:rPr lang="zh-CN" altLang="en-US" sz="2000" dirty="0">
                    <a:solidFill>
                      <a:schemeClr val="tx1">
                        <a:lumMod val="85000"/>
                        <a:lumOff val="15000"/>
                      </a:schemeClr>
                    </a:solidFill>
                  </a:rPr>
                  <a:t>加密算法 </a:t>
                </a:r>
                <a:r>
                  <a:rPr lang="en-GB" altLang="zh-CN" sz="2000" dirty="0">
                    <a:solidFill>
                      <a:schemeClr val="tx1">
                        <a:lumMod val="85000"/>
                        <a:lumOff val="15000"/>
                      </a:schemeClr>
                    </a:solidFill>
                  </a:rPr>
                  <a:t>Enc(</a:t>
                </a:r>
                <a:r>
                  <a:rPr lang="en-GB" altLang="zh-CN" sz="2000" i="1" dirty="0">
                    <a:solidFill>
                      <a:schemeClr val="tx1">
                        <a:lumMod val="85000"/>
                        <a:lumOff val="15000"/>
                      </a:schemeClr>
                    </a:solidFill>
                  </a:rPr>
                  <a:t>M</a:t>
                </a:r>
                <a:r>
                  <a:rPr lang="en-GB" altLang="zh-CN" sz="2000" dirty="0">
                    <a:solidFill>
                      <a:schemeClr val="tx1">
                        <a:lumMod val="85000"/>
                        <a:lumOff val="15000"/>
                      </a:schemeClr>
                    </a:solidFill>
                  </a:rPr>
                  <a:t>,</a:t>
                </a:r>
                <a:r>
                  <a:rPr lang="zh-CN" altLang="en-US" sz="2000" dirty="0">
                    <a:solidFill>
                      <a:schemeClr val="tx1">
                        <a:lumMod val="85000"/>
                        <a:lumOff val="15000"/>
                      </a:schemeClr>
                    </a:solidFill>
                  </a:rPr>
                  <a:t> </a:t>
                </a:r>
                <a:r>
                  <a:rPr lang="en-GB" altLang="zh-CN" sz="2000" dirty="0">
                    <a:solidFill>
                      <a:schemeClr val="tx1">
                        <a:lumMod val="85000"/>
                        <a:lumOff val="15000"/>
                      </a:schemeClr>
                    </a:solidFill>
                  </a:rPr>
                  <a:t>pk) </a:t>
                </a:r>
                <a:r>
                  <a:rPr lang="zh-CN" altLang="en-GB" sz="2000" dirty="0">
                    <a:solidFill>
                      <a:schemeClr val="tx1">
                        <a:lumMod val="85000"/>
                        <a:lumOff val="15000"/>
                      </a:schemeClr>
                    </a:solidFill>
                  </a:rPr>
                  <a:t>。</a:t>
                </a:r>
                <a:r>
                  <a:rPr lang="zh-CN" altLang="en-US" sz="2000" dirty="0">
                    <a:solidFill>
                      <a:schemeClr val="tx1">
                        <a:lumMod val="85000"/>
                        <a:lumOff val="15000"/>
                      </a:schemeClr>
                    </a:solidFill>
                  </a:rPr>
                  <a:t>输入为明文 </a:t>
                </a:r>
                <a:r>
                  <a:rPr lang="en-GB" altLang="zh-CN" sz="2000" i="1" dirty="0">
                    <a:solidFill>
                      <a:schemeClr val="tx1">
                        <a:lumMod val="85000"/>
                        <a:lumOff val="15000"/>
                      </a:schemeClr>
                    </a:solidFill>
                  </a:rPr>
                  <a:t>M</a:t>
                </a:r>
                <a:r>
                  <a:rPr lang="en-GB" altLang="zh-CN" sz="2000" dirty="0">
                    <a:solidFill>
                      <a:schemeClr val="tx1">
                        <a:lumMod val="85000"/>
                        <a:lumOff val="15000"/>
                      </a:schemeClr>
                    </a:solidFill>
                  </a:rPr>
                  <a:t> </a:t>
                </a:r>
                <a14:m>
                  <m:oMath xmlns:m="http://schemas.openxmlformats.org/officeDocument/2006/math">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en-US" altLang="zh-CN" sz="2000" i="1">
                        <a:solidFill>
                          <a:schemeClr val="tx1">
                            <a:lumMod val="85000"/>
                            <a:lumOff val="15000"/>
                          </a:schemeClr>
                        </a:solidFill>
                        <a:latin typeface="Cambria Math" panose="02040503050406030204" pitchFamily="18" charset="0"/>
                        <a:ea typeface="宋体" charset="0"/>
                        <a:cs typeface="DejaVu Math TeX Gyre" panose="02000503000000000000" charset="0"/>
                      </a:rPr>
                      <m:t>ℳ</m:t>
                    </m:r>
                  </m:oMath>
                </a14:m>
                <a:r>
                  <a:rPr lang="zh-CN" altLang="en-US" sz="2000" dirty="0">
                    <a:solidFill>
                      <a:schemeClr val="tx1">
                        <a:lumMod val="85000"/>
                        <a:lumOff val="15000"/>
                      </a:schemeClr>
                    </a:solidFill>
                  </a:rPr>
                  <a:t> 和公钥 </a:t>
                </a:r>
                <a:r>
                  <a:rPr lang="en-GB" altLang="zh-CN" sz="2000" dirty="0">
                    <a:solidFill>
                      <a:schemeClr val="tx1">
                        <a:lumMod val="85000"/>
                        <a:lumOff val="15000"/>
                      </a:schemeClr>
                    </a:solidFill>
                  </a:rPr>
                  <a:t>pk </a:t>
                </a:r>
                <a:r>
                  <a:rPr lang="zh-CN" altLang="en-GB" sz="2000" dirty="0">
                    <a:solidFill>
                      <a:schemeClr val="tx1">
                        <a:lumMod val="85000"/>
                        <a:lumOff val="15000"/>
                      </a:schemeClr>
                    </a:solidFill>
                  </a:rPr>
                  <a:t>，</a:t>
                </a:r>
                <a:r>
                  <a:rPr lang="zh-CN" altLang="en-US" sz="2000" dirty="0">
                    <a:solidFill>
                      <a:schemeClr val="tx1">
                        <a:lumMod val="85000"/>
                        <a:lumOff val="15000"/>
                      </a:schemeClr>
                    </a:solidFill>
                  </a:rPr>
                  <a:t>输出为密文 </a:t>
                </a:r>
                <a:r>
                  <a:rPr lang="en-GB" altLang="zh-CN" sz="2000" i="1" dirty="0">
                    <a:solidFill>
                      <a:schemeClr val="tx1">
                        <a:lumMod val="85000"/>
                        <a:lumOff val="15000"/>
                      </a:schemeClr>
                    </a:solidFill>
                  </a:rPr>
                  <a:t>C</a:t>
                </a:r>
                <a14:m>
                  <m:oMath xmlns:m="http://schemas.openxmlformats.org/officeDocument/2006/math">
                    <m:r>
                      <a:rPr lang="zh-CN" altLang="en-US" sz="2000" i="1">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zh-CN" altLang="en-US" sz="2000" i="1">
                        <a:solidFill>
                          <a:schemeClr val="tx1">
                            <a:lumMod val="85000"/>
                            <a:lumOff val="15000"/>
                          </a:schemeClr>
                        </a:solidFill>
                        <a:latin typeface="Cambria Math" panose="02040503050406030204" pitchFamily="18" charset="0"/>
                      </a:rPr>
                      <m:t>𝒞</m:t>
                    </m:r>
                  </m:oMath>
                </a14:m>
                <a:r>
                  <a:rPr lang="zh-CN" altLang="en-GB" sz="2000" dirty="0">
                    <a:solidFill>
                      <a:schemeClr val="tx1">
                        <a:lumMod val="85000"/>
                        <a:lumOff val="15000"/>
                      </a:schemeClr>
                    </a:solidFill>
                  </a:rPr>
                  <a:t>。</a:t>
                </a:r>
                <a:endParaRPr lang="en-US" altLang="zh-CN" sz="2000" dirty="0">
                  <a:solidFill>
                    <a:schemeClr val="tx1">
                      <a:lumMod val="85000"/>
                      <a:lumOff val="15000"/>
                    </a:schemeClr>
                  </a:solidFill>
                </a:endParaRPr>
              </a:p>
              <a:p>
                <a:pPr marL="285750" indent="-285750" algn="just">
                  <a:lnSpc>
                    <a:spcPct val="130000"/>
                  </a:lnSpc>
                  <a:spcBef>
                    <a:spcPts val="0"/>
                  </a:spcBef>
                  <a:spcAft>
                    <a:spcPts val="600"/>
                  </a:spcAft>
                  <a:buClr>
                    <a:srgbClr val="C00000"/>
                  </a:buClr>
                  <a:buFont typeface="Wingdings" panose="05000000000000000000" charset="0"/>
                  <a:buChar char=""/>
                </a:pPr>
                <a:r>
                  <a:rPr lang="zh-CN" altLang="en-US" sz="2000" dirty="0">
                    <a:solidFill>
                      <a:schemeClr val="tx1">
                        <a:lumMod val="85000"/>
                        <a:lumOff val="15000"/>
                      </a:schemeClr>
                    </a:solidFill>
                  </a:rPr>
                  <a:t>解密算法 </a:t>
                </a:r>
                <a:r>
                  <a:rPr lang="en-GB" altLang="zh-CN" sz="2000" dirty="0">
                    <a:solidFill>
                      <a:schemeClr val="tx1">
                        <a:lumMod val="85000"/>
                        <a:lumOff val="15000"/>
                      </a:schemeClr>
                    </a:solidFill>
                  </a:rPr>
                  <a:t>Dec(</a:t>
                </a:r>
                <a:r>
                  <a:rPr lang="en-GB" altLang="zh-CN" sz="2000" i="1" dirty="0">
                    <a:solidFill>
                      <a:schemeClr val="tx1">
                        <a:lumMod val="85000"/>
                        <a:lumOff val="15000"/>
                      </a:schemeClr>
                    </a:solidFill>
                  </a:rPr>
                  <a:t>C</a:t>
                </a:r>
                <a:r>
                  <a:rPr lang="en-GB" altLang="zh-CN" sz="2000" dirty="0">
                    <a:solidFill>
                      <a:schemeClr val="tx1">
                        <a:lumMod val="85000"/>
                        <a:lumOff val="15000"/>
                      </a:schemeClr>
                    </a:solidFill>
                  </a:rPr>
                  <a:t>,</a:t>
                </a:r>
                <a:r>
                  <a:rPr lang="zh-CN" altLang="en-US" sz="2000" dirty="0">
                    <a:solidFill>
                      <a:schemeClr val="tx1">
                        <a:lumMod val="85000"/>
                        <a:lumOff val="15000"/>
                      </a:schemeClr>
                    </a:solidFill>
                  </a:rPr>
                  <a:t> </a:t>
                </a:r>
                <a:r>
                  <a:rPr lang="en-GB" altLang="zh-CN" sz="2000" dirty="0" err="1">
                    <a:solidFill>
                      <a:schemeClr val="tx1">
                        <a:lumMod val="85000"/>
                        <a:lumOff val="15000"/>
                      </a:schemeClr>
                    </a:solidFill>
                  </a:rPr>
                  <a:t>sk</a:t>
                </a:r>
                <a:r>
                  <a:rPr lang="en-GB" altLang="zh-CN" sz="2000" dirty="0">
                    <a:solidFill>
                      <a:schemeClr val="tx1">
                        <a:lumMod val="85000"/>
                        <a:lumOff val="15000"/>
                      </a:schemeClr>
                    </a:solidFill>
                  </a:rPr>
                  <a:t>) </a:t>
                </a:r>
                <a:r>
                  <a:rPr lang="zh-CN" altLang="en-GB" sz="2000" dirty="0">
                    <a:solidFill>
                      <a:schemeClr val="tx1">
                        <a:lumMod val="85000"/>
                        <a:lumOff val="15000"/>
                      </a:schemeClr>
                    </a:solidFill>
                  </a:rPr>
                  <a:t>。</a:t>
                </a:r>
                <a:r>
                  <a:rPr lang="zh-CN" altLang="en-US" sz="2000" dirty="0">
                    <a:solidFill>
                      <a:schemeClr val="tx1">
                        <a:lumMod val="85000"/>
                        <a:lumOff val="15000"/>
                      </a:schemeClr>
                    </a:solidFill>
                  </a:rPr>
                  <a:t>输入为密文 </a:t>
                </a:r>
                <a:r>
                  <a:rPr lang="en-GB" altLang="zh-CN" sz="2000" i="1" dirty="0">
                    <a:solidFill>
                      <a:schemeClr val="tx1">
                        <a:lumMod val="85000"/>
                        <a:lumOff val="15000"/>
                      </a:schemeClr>
                    </a:solidFill>
                  </a:rPr>
                  <a:t>C</a:t>
                </a:r>
                <a:r>
                  <a:rPr lang="zh-CN" altLang="en-US" sz="2000" i="1" dirty="0">
                    <a:solidFill>
                      <a:schemeClr val="tx1">
                        <a:lumMod val="85000"/>
                        <a:lumOff val="15000"/>
                      </a:schemeClr>
                    </a:solidFill>
                  </a:rPr>
                  <a:t> </a:t>
                </a:r>
                <a:r>
                  <a:rPr lang="zh-CN" altLang="en-US" sz="2000" dirty="0">
                    <a:solidFill>
                      <a:schemeClr val="tx1">
                        <a:lumMod val="85000"/>
                        <a:lumOff val="15000"/>
                      </a:schemeClr>
                    </a:solidFill>
                  </a:rPr>
                  <a:t>和私钥 </a:t>
                </a:r>
                <a:r>
                  <a:rPr lang="en-GB" altLang="zh-CN" sz="2000" dirty="0" err="1">
                    <a:solidFill>
                      <a:schemeClr val="tx1">
                        <a:lumMod val="85000"/>
                        <a:lumOff val="15000"/>
                      </a:schemeClr>
                    </a:solidFill>
                  </a:rPr>
                  <a:t>sk</a:t>
                </a:r>
                <a:r>
                  <a:rPr lang="en-GB" altLang="zh-CN" sz="2000" dirty="0">
                    <a:solidFill>
                      <a:schemeClr val="tx1">
                        <a:lumMod val="85000"/>
                        <a:lumOff val="15000"/>
                      </a:schemeClr>
                    </a:solidFill>
                  </a:rPr>
                  <a:t> </a:t>
                </a:r>
                <a:r>
                  <a:rPr lang="zh-CN" altLang="en-GB" sz="2000" dirty="0">
                    <a:solidFill>
                      <a:schemeClr val="tx1">
                        <a:lumMod val="85000"/>
                        <a:lumOff val="15000"/>
                      </a:schemeClr>
                    </a:solidFill>
                  </a:rPr>
                  <a:t>，</a:t>
                </a:r>
                <a:r>
                  <a:rPr lang="zh-CN" altLang="en-US" sz="2000" dirty="0">
                    <a:solidFill>
                      <a:schemeClr val="tx1">
                        <a:lumMod val="85000"/>
                        <a:lumOff val="15000"/>
                      </a:schemeClr>
                    </a:solidFill>
                  </a:rPr>
                  <a:t>输出为明文 </a:t>
                </a:r>
                <a:r>
                  <a:rPr lang="en-GB" altLang="zh-CN" sz="2000" i="1" dirty="0">
                    <a:solidFill>
                      <a:schemeClr val="tx1">
                        <a:lumMod val="85000"/>
                        <a:lumOff val="15000"/>
                      </a:schemeClr>
                    </a:solidFill>
                  </a:rPr>
                  <a:t>M</a:t>
                </a:r>
                <a:r>
                  <a:rPr lang="en-GB" altLang="zh-CN" sz="2000" dirty="0">
                    <a:solidFill>
                      <a:schemeClr val="tx1">
                        <a:lumMod val="85000"/>
                        <a:lumOff val="15000"/>
                      </a:schemeClr>
                    </a:solidFill>
                  </a:rPr>
                  <a:t> </a:t>
                </a:r>
                <a:r>
                  <a:rPr lang="zh-CN" altLang="en-US" sz="2000" dirty="0">
                    <a:solidFill>
                      <a:schemeClr val="tx1">
                        <a:lumMod val="85000"/>
                        <a:lumOff val="15000"/>
                      </a:schemeClr>
                    </a:solidFill>
                  </a:rPr>
                  <a:t>或者符号 ⊥（表示解密失败）。</a:t>
                </a:r>
                <a:endParaRPr lang="zh-CN" altLang="en-US" sz="2000" b="0" dirty="0">
                  <a:solidFill>
                    <a:schemeClr val="tx1">
                      <a:lumMod val="85000"/>
                      <a:lumOff val="15000"/>
                    </a:schemeClr>
                  </a:solidFill>
                  <a:latin typeface="Times New Roman Regular" panose="02020503050405090304" charset="0"/>
                  <a:ea typeface="微软雅黑" panose="020B0503020204020204" charset="-122"/>
                  <a:cs typeface="Times New Roman Regular" panose="02020503050405090304" charset="0"/>
                </a:endParaRPr>
              </a:p>
            </p:txBody>
          </p:sp>
        </mc:Choice>
        <mc:Fallback xmlns="">
          <p:sp>
            <p:nvSpPr>
              <p:cNvPr id="17" name="TextBox 5"/>
              <p:cNvSpPr txBox="1">
                <a:spLocks noRot="1" noChangeAspect="1" noMove="1" noResize="1" noEditPoints="1" noAdjustHandles="1" noChangeArrowheads="1" noChangeShapeType="1" noTextEdit="1"/>
              </p:cNvSpPr>
              <p:nvPr/>
            </p:nvSpPr>
            <p:spPr>
              <a:xfrm>
                <a:off x="757555" y="836930"/>
                <a:ext cx="10558780" cy="3833038"/>
              </a:xfrm>
              <a:prstGeom prst="rect">
                <a:avLst/>
              </a:prstGeom>
              <a:blipFill>
                <a:blip r:embed="rId2"/>
                <a:stretch>
                  <a:fillRect l="-1443" t="-2067" r="-15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598714" y="4519134"/>
                <a:ext cx="10835732" cy="2800767"/>
              </a:xfrm>
              <a:prstGeom prst="rect">
                <a:avLst/>
              </a:prstGeom>
              <a:noFill/>
            </p:spPr>
            <p:txBody>
              <a:bodyPr wrap="square">
                <a:spAutoFit/>
              </a:bodyPr>
              <a:lstStyle/>
              <a:p>
                <a:pPr marL="285750" indent="-285750">
                  <a:lnSpc>
                    <a:spcPct val="130000"/>
                  </a:lnSpc>
                  <a:buFont typeface="Wingdings" panose="05000000000000000000" pitchFamily="2" charset="2"/>
                  <a:buChar char="n"/>
                </a:pPr>
                <a:r>
                  <a:rPr lang="en-GB" altLang="zh-CN" sz="2000" b="0" dirty="0">
                    <a:solidFill>
                      <a:schemeClr val="tx1">
                        <a:lumMod val="85000"/>
                        <a:lumOff val="15000"/>
                      </a:schemeClr>
                    </a:solidFill>
                    <a:latin typeface="Times New Roman" panose="02020503050405090304" pitchFamily="18" charset="0"/>
                    <a:ea typeface="微软雅黑" panose="020B0503020204020204" charset="-122"/>
                  </a:rPr>
                  <a:t>Gen</a:t>
                </a:r>
                <a:r>
                  <a:rPr lang="zh-CN" altLang="en-US" sz="2000" dirty="0">
                    <a:solidFill>
                      <a:schemeClr val="tx1">
                        <a:lumMod val="85000"/>
                        <a:lumOff val="15000"/>
                      </a:schemeClr>
                    </a:solidFill>
                    <a:latin typeface="Times New Roman" panose="02020503050405090304" charset="-122"/>
                    <a:ea typeface="微软雅黑" panose="020B0503020204020204" charset="-122"/>
                  </a:rPr>
                  <a:t>算法</a:t>
                </a:r>
                <a:r>
                  <a:rPr lang="zh-CN" altLang="en-US" sz="2000" b="0" dirty="0">
                    <a:solidFill>
                      <a:schemeClr val="tx1">
                        <a:lumMod val="85000"/>
                        <a:lumOff val="15000"/>
                      </a:schemeClr>
                    </a:solidFill>
                    <a:latin typeface="Times New Roman" panose="02020503050405090304" pitchFamily="18" charset="0"/>
                    <a:ea typeface="微软雅黑" panose="020B0503020204020204" charset="-122"/>
                  </a:rPr>
                  <a:t>必须使用足够随机性，避免密钥可预测。密钥生成质量直接影响整个方案安全。</a:t>
                </a:r>
                <a:endParaRPr lang="en-US" altLang="zh-CN" sz="2000" b="0" dirty="0">
                  <a:solidFill>
                    <a:schemeClr val="tx1">
                      <a:lumMod val="85000"/>
                      <a:lumOff val="15000"/>
                    </a:schemeClr>
                  </a:solidFill>
                  <a:latin typeface="Times New Roman" panose="02020503050405090304" pitchFamily="18" charset="0"/>
                  <a:ea typeface="微软雅黑" panose="020B0503020204020204" charset="-122"/>
                </a:endParaRPr>
              </a:p>
              <a:p>
                <a:pPr marL="285750" indent="-285750">
                  <a:lnSpc>
                    <a:spcPct val="130000"/>
                  </a:lnSpc>
                  <a:buFont typeface="Wingdings" panose="05000000000000000000" pitchFamily="2" charset="2"/>
                  <a:buChar char="n"/>
                </a:pPr>
                <a:r>
                  <a:rPr lang="en-US" altLang="zh-CN" sz="2000" dirty="0">
                    <a:solidFill>
                      <a:schemeClr val="tx1">
                        <a:lumMod val="85000"/>
                        <a:lumOff val="15000"/>
                      </a:schemeClr>
                    </a:solidFill>
                    <a:latin typeface="Times New Roman" panose="02020503050405090304" charset="-122"/>
                    <a:ea typeface="微软雅黑" panose="020B0503020204020204" charset="-122"/>
                  </a:rPr>
                  <a:t>Enc</a:t>
                </a:r>
                <a:r>
                  <a:rPr lang="zh-CN" altLang="en-US" sz="2000" dirty="0">
                    <a:solidFill>
                      <a:schemeClr val="tx1">
                        <a:lumMod val="85000"/>
                        <a:lumOff val="15000"/>
                      </a:schemeClr>
                    </a:solidFill>
                    <a:latin typeface="Times New Roman" panose="02020503050405090304" charset="-122"/>
                    <a:ea typeface="微软雅黑" panose="020B0503020204020204" charset="-122"/>
                  </a:rPr>
                  <a:t>算法通常公开，</a:t>
                </a:r>
                <a:r>
                  <a:rPr lang="zh-CN" altLang="en-US" sz="2000" dirty="0">
                    <a:solidFill>
                      <a:schemeClr val="tx1">
                        <a:lumMod val="85000"/>
                        <a:lumOff val="15000"/>
                      </a:schemeClr>
                    </a:solidFill>
                    <a:latin typeface="Times New Roman" panose="02020503050405090304" pitchFamily="18" charset="0"/>
                    <a:ea typeface="微软雅黑" panose="020B0503020204020204" charset="-122"/>
                  </a:rPr>
                  <a:t>并具备</a:t>
                </a:r>
                <a:r>
                  <a:rPr lang="zh-CN" altLang="en-US" sz="2000" b="1" dirty="0">
                    <a:solidFill>
                      <a:schemeClr val="tx1">
                        <a:lumMod val="85000"/>
                        <a:lumOff val="15000"/>
                      </a:schemeClr>
                    </a:solidFill>
                    <a:latin typeface="Times New Roman" panose="02020503050405090304" charset="-122"/>
                    <a:ea typeface="微软雅黑" panose="020B0503020204020204" charset="-122"/>
                  </a:rPr>
                  <a:t>随机化，可避免对同一明文加密，每次得到同一密文。</a:t>
                </a:r>
                <a:endParaRPr lang="en-US" altLang="zh-CN" sz="2000" b="1" dirty="0">
                  <a:solidFill>
                    <a:schemeClr val="tx1">
                      <a:lumMod val="85000"/>
                      <a:lumOff val="15000"/>
                    </a:schemeClr>
                  </a:solidFill>
                  <a:latin typeface="Times New Roman" panose="02020503050405090304" charset="-122"/>
                  <a:ea typeface="微软雅黑" panose="020B0503020204020204" charset="-122"/>
                </a:endParaRPr>
              </a:p>
              <a:p>
                <a:pPr marL="285750" indent="-285750">
                  <a:lnSpc>
                    <a:spcPct val="130000"/>
                  </a:lnSpc>
                  <a:buFont typeface="Wingdings" panose="05000000000000000000" pitchFamily="2" charset="2"/>
                  <a:buChar char="n"/>
                </a:pPr>
                <a:r>
                  <a:rPr lang="en-US" altLang="zh-CN" sz="2000" dirty="0">
                    <a:solidFill>
                      <a:schemeClr val="tx1">
                        <a:lumMod val="85000"/>
                        <a:lumOff val="15000"/>
                      </a:schemeClr>
                    </a:solidFill>
                    <a:latin typeface="Times New Roman" panose="02020503050405090304" charset="-122"/>
                    <a:ea typeface="微软雅黑" panose="020B0503020204020204" charset="-122"/>
                  </a:rPr>
                  <a:t>Dec</a:t>
                </a:r>
                <a:r>
                  <a:rPr lang="zh-CN" altLang="en-US" sz="2000" dirty="0">
                    <a:solidFill>
                      <a:schemeClr val="tx1">
                        <a:lumMod val="85000"/>
                        <a:lumOff val="15000"/>
                      </a:schemeClr>
                    </a:solidFill>
                    <a:latin typeface="Times New Roman" panose="02020503050405090304" charset="-122"/>
                    <a:ea typeface="微软雅黑" panose="020B0503020204020204" charset="-122"/>
                  </a:rPr>
                  <a:t>算法解密失败可能来自格式错误或校验失败。</a:t>
                </a:r>
                <a:r>
                  <a:rPr lang="zh-CN" altLang="en-US" sz="2000" dirty="0">
                    <a:solidFill>
                      <a:schemeClr val="tx1">
                        <a:lumMod val="85000"/>
                        <a:lumOff val="15000"/>
                      </a:schemeClr>
                    </a:solidFill>
                    <a:latin typeface="Times New Roman" panose="02020503050405090304" charset="-122"/>
                    <a:ea typeface="微软雅黑" panose="020B0503020204020204" charset="-122"/>
                    <a:cs typeface="Times New Roman" panose="02020503050405090304" pitchFamily="18" charset="0"/>
                  </a:rPr>
                  <a:t>正确性要求</a:t>
                </a:r>
                <a:r>
                  <a:rPr lang="zh-CN" altLang="en-US" sz="2000" dirty="0">
                    <a:solidFill>
                      <a:schemeClr val="tx1">
                        <a:lumMod val="85000"/>
                        <a:lumOff val="15000"/>
                      </a:schemeClr>
                    </a:solidFill>
                  </a:rPr>
                  <a:t>对于任意由 </a:t>
                </a:r>
                <a:r>
                  <a:rPr lang="en-GB" altLang="zh-CN" sz="2000" dirty="0">
                    <a:solidFill>
                      <a:schemeClr val="tx1">
                        <a:lumMod val="85000"/>
                        <a:lumOff val="15000"/>
                      </a:schemeClr>
                    </a:solidFill>
                  </a:rPr>
                  <a:t>Gen(</a:t>
                </a:r>
                <a:r>
                  <a:rPr lang="el-GR" altLang="zh-CN" sz="2000" dirty="0">
                    <a:solidFill>
                      <a:schemeClr val="tx1">
                        <a:lumMod val="85000"/>
                        <a:lumOff val="15000"/>
                      </a:schemeClr>
                    </a:solidFill>
                  </a:rPr>
                  <a:t>λ</a:t>
                </a:r>
                <a:r>
                  <a:rPr lang="en-GB" altLang="zh-CN" sz="2000" dirty="0">
                    <a:solidFill>
                      <a:schemeClr val="tx1">
                        <a:lumMod val="85000"/>
                        <a:lumOff val="15000"/>
                      </a:schemeClr>
                    </a:solidFill>
                  </a:rPr>
                  <a:t>)</a:t>
                </a:r>
                <a:r>
                  <a:rPr lang="zh-CN" altLang="en-US" sz="2000" dirty="0">
                    <a:solidFill>
                      <a:schemeClr val="tx1">
                        <a:lumMod val="85000"/>
                        <a:lumOff val="15000"/>
                      </a:schemeClr>
                    </a:solidFill>
                  </a:rPr>
                  <a:t> 生成的公私钥 </a:t>
                </a:r>
                <a:r>
                  <a:rPr lang="en-US" altLang="zh-CN" sz="2000" dirty="0">
                    <a:solidFill>
                      <a:schemeClr val="tx1">
                        <a:lumMod val="85000"/>
                        <a:lumOff val="15000"/>
                      </a:schemeClr>
                    </a:solidFill>
                  </a:rPr>
                  <a:t>(</a:t>
                </a:r>
                <a:r>
                  <a:rPr lang="en-GB" altLang="zh-CN" sz="2000" dirty="0">
                    <a:solidFill>
                      <a:schemeClr val="tx1">
                        <a:lumMod val="85000"/>
                        <a:lumOff val="15000"/>
                      </a:schemeClr>
                    </a:solidFill>
                  </a:rPr>
                  <a:t>pk,</a:t>
                </a:r>
                <a:r>
                  <a:rPr lang="zh-CN" altLang="en-US" sz="2000" dirty="0">
                    <a:solidFill>
                      <a:schemeClr val="tx1">
                        <a:lumMod val="85000"/>
                        <a:lumOff val="15000"/>
                      </a:schemeClr>
                    </a:solidFill>
                  </a:rPr>
                  <a:t> </a:t>
                </a:r>
                <a:r>
                  <a:rPr lang="en-GB" altLang="zh-CN" sz="2000" dirty="0" err="1">
                    <a:solidFill>
                      <a:schemeClr val="tx1">
                        <a:lumMod val="85000"/>
                        <a:lumOff val="15000"/>
                      </a:schemeClr>
                    </a:solidFill>
                  </a:rPr>
                  <a:t>sk</a:t>
                </a:r>
                <a:r>
                  <a:rPr lang="en-GB" altLang="zh-CN" sz="2000" dirty="0">
                    <a:solidFill>
                      <a:schemeClr val="tx1">
                        <a:lumMod val="85000"/>
                        <a:lumOff val="15000"/>
                      </a:schemeClr>
                    </a:solidFill>
                  </a:rPr>
                  <a:t>)</a:t>
                </a:r>
                <a14:m>
                  <m:oMath xmlns:m="http://schemas.openxmlformats.org/officeDocument/2006/math">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zh-CN" altLang="en-US" sz="2000" i="1" smtClean="0">
                        <a:solidFill>
                          <a:schemeClr val="tx1">
                            <a:lumMod val="85000"/>
                            <a:lumOff val="15000"/>
                          </a:schemeClr>
                        </a:solidFill>
                        <a:latin typeface="Cambria Math" panose="02040503050406030204" pitchFamily="18" charset="0"/>
                        <a:ea typeface="宋体" charset="0"/>
                        <a:cs typeface="DejaVu Math TeX Gyre" panose="02000503000000000000" charset="0"/>
                      </a:rPr>
                      <m:t>𝒦</m:t>
                    </m:r>
                  </m:oMath>
                </a14:m>
                <a:r>
                  <a:rPr lang="zh-CN" altLang="en-US" sz="2000" dirty="0">
                    <a:solidFill>
                      <a:schemeClr val="tx1">
                        <a:lumMod val="85000"/>
                        <a:lumOff val="15000"/>
                      </a:schemeClr>
                    </a:solidFill>
                  </a:rPr>
                  <a:t> 以及 </a:t>
                </a:r>
                <a:r>
                  <a:rPr lang="en-GB" altLang="zh-CN" sz="2000" i="1" dirty="0">
                    <a:solidFill>
                      <a:schemeClr val="tx1">
                        <a:lumMod val="85000"/>
                        <a:lumOff val="15000"/>
                      </a:schemeClr>
                    </a:solidFill>
                  </a:rPr>
                  <a:t>M</a:t>
                </a:r>
                <a:r>
                  <a:rPr lang="en-GB" altLang="zh-CN" sz="2000" dirty="0">
                    <a:solidFill>
                      <a:schemeClr val="tx1">
                        <a:lumMod val="85000"/>
                        <a:lumOff val="15000"/>
                      </a:schemeClr>
                    </a:solidFill>
                  </a:rPr>
                  <a:t> </a:t>
                </a:r>
                <a14:m>
                  <m:oMath xmlns:m="http://schemas.openxmlformats.org/officeDocument/2006/math">
                    <m:r>
                      <a:rPr lang="zh-CN" altLang="en-US" sz="2000" i="1">
                        <a:solidFill>
                          <a:schemeClr val="tx1">
                            <a:lumMod val="85000"/>
                            <a:lumOff val="15000"/>
                          </a:schemeClr>
                        </a:solidFill>
                        <a:latin typeface="Cambria Math" panose="02040503050406030204" pitchFamily="18" charset="0"/>
                        <a:ea typeface="宋体" charset="0"/>
                        <a:cs typeface="DejaVu Math TeX Gyre" panose="02000503000000000000" charset="0"/>
                      </a:rPr>
                      <m:t>∈</m:t>
                    </m:r>
                    <m:r>
                      <a:rPr lang="en-US" altLang="zh-CN" sz="2000" i="1">
                        <a:solidFill>
                          <a:schemeClr val="tx1">
                            <a:lumMod val="85000"/>
                            <a:lumOff val="15000"/>
                          </a:schemeClr>
                        </a:solidFill>
                        <a:latin typeface="Cambria Math" panose="02040503050406030204" pitchFamily="18" charset="0"/>
                        <a:ea typeface="宋体" charset="0"/>
                        <a:cs typeface="DejaVu Math TeX Gyre" panose="02000503000000000000" charset="0"/>
                      </a:rPr>
                      <m:t>ℳ</m:t>
                    </m:r>
                  </m:oMath>
                </a14:m>
                <a:r>
                  <a:rPr lang="zh-CN" altLang="en-US" sz="2000" dirty="0">
                    <a:solidFill>
                      <a:schemeClr val="tx1">
                        <a:lumMod val="85000"/>
                        <a:lumOff val="15000"/>
                      </a:schemeClr>
                    </a:solidFill>
                  </a:rPr>
                  <a:t>，都有 </a:t>
                </a:r>
                <a:r>
                  <a:rPr lang="en-US" altLang="zh-CN" sz="2000" dirty="0">
                    <a:solidFill>
                      <a:schemeClr val="tx1">
                        <a:lumMod val="85000"/>
                        <a:lumOff val="15000"/>
                      </a:schemeClr>
                    </a:solidFill>
                    <a:latin typeface="Times New Roman" panose="02020503050405090304" charset="-122"/>
                    <a:ea typeface="微软雅黑" panose="020B0503020204020204" charset="-122"/>
                    <a:cs typeface="Times New Roman" panose="02020503050405090304" pitchFamily="18" charset="0"/>
                  </a:rPr>
                  <a:t>Dec(Enc(</a:t>
                </a:r>
                <a:r>
                  <a:rPr lang="en-GB" altLang="zh-CN" sz="2000" i="1" dirty="0">
                    <a:solidFill>
                      <a:schemeClr val="tx1">
                        <a:lumMod val="85000"/>
                        <a:lumOff val="15000"/>
                      </a:schemeClr>
                    </a:solidFill>
                  </a:rPr>
                  <a:t>M</a:t>
                </a:r>
                <a:r>
                  <a:rPr lang="en-GB" altLang="zh-CN" sz="2000" dirty="0">
                    <a:solidFill>
                      <a:schemeClr val="tx1">
                        <a:lumMod val="85000"/>
                        <a:lumOff val="15000"/>
                      </a:schemeClr>
                    </a:solidFill>
                  </a:rPr>
                  <a:t>,</a:t>
                </a:r>
                <a:r>
                  <a:rPr lang="zh-CN" altLang="en-US" sz="2000" dirty="0">
                    <a:solidFill>
                      <a:schemeClr val="tx1">
                        <a:lumMod val="85000"/>
                        <a:lumOff val="15000"/>
                      </a:schemeClr>
                    </a:solidFill>
                  </a:rPr>
                  <a:t> </a:t>
                </a:r>
                <a:r>
                  <a:rPr lang="en-GB" altLang="zh-CN" sz="2000" dirty="0">
                    <a:solidFill>
                      <a:schemeClr val="tx1">
                        <a:lumMod val="85000"/>
                        <a:lumOff val="15000"/>
                      </a:schemeClr>
                    </a:solidFill>
                  </a:rPr>
                  <a:t>pk</a:t>
                </a:r>
                <a:r>
                  <a:rPr lang="en-US" altLang="zh-CN" sz="2000" dirty="0">
                    <a:solidFill>
                      <a:schemeClr val="tx1">
                        <a:lumMod val="85000"/>
                        <a:lumOff val="15000"/>
                      </a:schemeClr>
                    </a:solidFill>
                    <a:latin typeface="Times New Roman" panose="02020503050405090304" charset="-122"/>
                    <a:ea typeface="微软雅黑" panose="020B0503020204020204" charset="-122"/>
                    <a:cs typeface="Times New Roman" panose="02020503050405090304" pitchFamily="18" charset="0"/>
                  </a:rPr>
                  <a:t>), </a:t>
                </a:r>
                <a:r>
                  <a:rPr lang="en-GB" altLang="zh-CN" sz="2000" dirty="0" err="1">
                    <a:solidFill>
                      <a:schemeClr val="tx1">
                        <a:lumMod val="85000"/>
                        <a:lumOff val="15000"/>
                      </a:schemeClr>
                    </a:solidFill>
                  </a:rPr>
                  <a:t>sk</a:t>
                </a:r>
                <a:r>
                  <a:rPr lang="en-US" altLang="zh-CN" sz="2000" dirty="0">
                    <a:solidFill>
                      <a:schemeClr val="tx1">
                        <a:lumMod val="85000"/>
                        <a:lumOff val="15000"/>
                      </a:schemeClr>
                    </a:solidFill>
                    <a:latin typeface="Times New Roman" panose="02020503050405090304" charset="-122"/>
                    <a:ea typeface="微软雅黑" panose="020B0503020204020204" charset="-122"/>
                    <a:cs typeface="Times New Roman" panose="02020503050405090304" pitchFamily="18" charset="0"/>
                  </a:rPr>
                  <a:t>)=</a:t>
                </a:r>
                <a:r>
                  <a:rPr lang="en-GB" altLang="zh-CN" sz="2000" i="1" dirty="0">
                    <a:solidFill>
                      <a:schemeClr val="tx1">
                        <a:lumMod val="85000"/>
                        <a:lumOff val="15000"/>
                      </a:schemeClr>
                    </a:solidFill>
                  </a:rPr>
                  <a:t> M</a:t>
                </a:r>
                <a:r>
                  <a:rPr lang="zh-CN" altLang="en-US" sz="2000" dirty="0">
                    <a:solidFill>
                      <a:schemeClr val="tx1">
                        <a:lumMod val="85000"/>
                        <a:lumOff val="15000"/>
                      </a:schemeClr>
                    </a:solidFill>
                  </a:rPr>
                  <a:t>。</a:t>
                </a:r>
                <a:endParaRPr lang="zh-CN" altLang="en-US" sz="2000" dirty="0">
                  <a:solidFill>
                    <a:schemeClr val="tx1">
                      <a:lumMod val="85000"/>
                      <a:lumOff val="15000"/>
                    </a:schemeClr>
                  </a:solidFill>
                  <a:latin typeface="Times New Roman" panose="02020503050405090304" charset="-122"/>
                  <a:ea typeface="微软雅黑" panose="020B0503020204020204" charset="-122"/>
                  <a:cs typeface="Times New Roman" panose="02020503050405090304" pitchFamily="18" charset="0"/>
                </a:endParaRPr>
              </a:p>
              <a:p>
                <a:endParaRPr lang="zh-CN" altLang="en-US" sz="1800" dirty="0">
                  <a:solidFill>
                    <a:schemeClr val="tx1">
                      <a:lumMod val="85000"/>
                      <a:lumOff val="15000"/>
                    </a:schemeClr>
                  </a:solidFill>
                  <a:latin typeface="Times New Roman" panose="02020503050405090304" charset="-122"/>
                  <a:ea typeface="微软雅黑" panose="020B0503020204020204" charset="-122"/>
                </a:endParaRPr>
              </a:p>
              <a:p>
                <a:endParaRPr lang="zh-CN" altLang="en-US" sz="1800" b="1" dirty="0">
                  <a:solidFill>
                    <a:schemeClr val="tx1">
                      <a:lumMod val="85000"/>
                      <a:lumOff val="15000"/>
                    </a:schemeClr>
                  </a:solidFill>
                  <a:latin typeface="Times New Roman" panose="02020503050405090304" charset="-122"/>
                  <a:ea typeface="微软雅黑" panose="020B0503020204020204" charset="-122"/>
                </a:endParaRPr>
              </a:p>
              <a:p>
                <a:endParaRPr lang="zh-CN" altLang="en-US" sz="1800" b="0" dirty="0">
                  <a:solidFill>
                    <a:schemeClr val="tx1">
                      <a:lumMod val="85000"/>
                      <a:lumOff val="15000"/>
                    </a:schemeClr>
                  </a:solidFill>
                  <a:latin typeface="Times New Roman" panose="02020503050405090304" pitchFamily="18" charset="0"/>
                  <a:ea typeface="微软雅黑" panose="020B0503020204020204" charset="-122"/>
                </a:endParaRPr>
              </a:p>
              <a:p>
                <a:endParaRPr lang="zh-CN" altLang="en-US" dirty="0">
                  <a:solidFill>
                    <a:schemeClr val="tx1">
                      <a:lumMod val="85000"/>
                      <a:lumOff val="15000"/>
                    </a:schemeClr>
                  </a:solidFill>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598714" y="4519134"/>
                <a:ext cx="10835732" cy="2800767"/>
              </a:xfrm>
              <a:prstGeom prst="rect">
                <a:avLst/>
              </a:prstGeom>
              <a:blipFill>
                <a:blip r:embed="rId3"/>
                <a:stretch>
                  <a:fillRect l="-506"/>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Rounded Rectangle 10"/>
          <p:cNvSpPr/>
          <p:nvPr/>
        </p:nvSpPr>
        <p:spPr>
          <a:xfrm>
            <a:off x="502920" y="1038162"/>
            <a:ext cx="3124200" cy="151733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1"/>
          <p:cNvSpPr txBox="1"/>
          <p:nvPr/>
        </p:nvSpPr>
        <p:spPr>
          <a:xfrm>
            <a:off x="667512" y="1175322"/>
            <a:ext cx="3218688"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t>RSA</a:t>
            </a:r>
          </a:p>
        </p:txBody>
      </p:sp>
      <p:sp>
        <p:nvSpPr>
          <p:cNvPr id="4" name="TextBox 12"/>
          <p:cNvSpPr txBox="1"/>
          <p:nvPr/>
        </p:nvSpPr>
        <p:spPr>
          <a:xfrm>
            <a:off x="667512" y="1669098"/>
            <a:ext cx="2959608" cy="758156"/>
          </a:xfrm>
          <a:prstGeom prst="rect">
            <a:avLst/>
          </a:prstGeom>
          <a:noFill/>
        </p:spPr>
        <p:txBody>
          <a:bodyPr wrap="square" lIns="64008" tIns="32004" rIns="36576">
            <a:spAutoFit/>
          </a:bodyPr>
          <a:lstStyle/>
          <a:p>
            <a:pPr>
              <a:spcAft>
                <a:spcPts val="500"/>
              </a:spcAft>
              <a:defRPr sz="1700" b="0">
                <a:solidFill>
                  <a:srgbClr val="333333"/>
                </a:solidFill>
                <a:latin typeface="微软雅黑"/>
              </a:defRPr>
            </a:pPr>
            <a:r>
              <a:rPr sz="2000" dirty="0" err="1"/>
              <a:t>整数分解相关困难问题</a:t>
            </a:r>
            <a:endParaRPr sz="2000" dirty="0"/>
          </a:p>
          <a:p>
            <a:pPr>
              <a:spcAft>
                <a:spcPts val="500"/>
              </a:spcAft>
              <a:defRPr sz="1700" b="0">
                <a:solidFill>
                  <a:srgbClr val="333333"/>
                </a:solidFill>
                <a:latin typeface="微软雅黑"/>
              </a:defRPr>
            </a:pPr>
            <a:r>
              <a:rPr sz="2000" dirty="0" err="1"/>
              <a:t>模幂运算；确定性加密</a:t>
            </a:r>
            <a:endParaRPr sz="2000" dirty="0"/>
          </a:p>
        </p:txBody>
      </p:sp>
      <p:sp>
        <p:nvSpPr>
          <p:cNvPr id="5" name="Rounded Rectangle 13"/>
          <p:cNvSpPr/>
          <p:nvPr/>
        </p:nvSpPr>
        <p:spPr>
          <a:xfrm>
            <a:off x="3778504" y="1038162"/>
            <a:ext cx="3956304" cy="151733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4"/>
          <p:cNvSpPr txBox="1"/>
          <p:nvPr/>
        </p:nvSpPr>
        <p:spPr>
          <a:xfrm>
            <a:off x="3943096" y="1175322"/>
            <a:ext cx="3218688"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ElGamal</a:t>
            </a:r>
            <a:endParaRPr sz="2400" dirty="0"/>
          </a:p>
        </p:txBody>
      </p:sp>
      <p:sp>
        <p:nvSpPr>
          <p:cNvPr id="7" name="TextBox 15"/>
          <p:cNvSpPr txBox="1"/>
          <p:nvPr/>
        </p:nvSpPr>
        <p:spPr>
          <a:xfrm>
            <a:off x="3943096" y="1669098"/>
            <a:ext cx="3742944" cy="758156"/>
          </a:xfrm>
          <a:prstGeom prst="rect">
            <a:avLst/>
          </a:prstGeom>
          <a:noFill/>
        </p:spPr>
        <p:txBody>
          <a:bodyPr wrap="square" lIns="64008" tIns="32004" rIns="36576">
            <a:spAutoFit/>
          </a:bodyPr>
          <a:lstStyle/>
          <a:p>
            <a:pPr>
              <a:spcAft>
                <a:spcPts val="500"/>
              </a:spcAft>
              <a:defRPr sz="1700" b="0">
                <a:solidFill>
                  <a:srgbClr val="333333"/>
                </a:solidFill>
                <a:latin typeface="微软雅黑"/>
              </a:defRPr>
            </a:pPr>
            <a:r>
              <a:rPr sz="2000" dirty="0" err="1"/>
              <a:t>离散对数</a:t>
            </a:r>
            <a:r>
              <a:rPr sz="2000" dirty="0"/>
              <a:t> / </a:t>
            </a:r>
            <a:r>
              <a:rPr lang="en-US" altLang="zh-CN" sz="2000" dirty="0"/>
              <a:t>CDH / </a:t>
            </a:r>
            <a:r>
              <a:rPr sz="2000" dirty="0"/>
              <a:t>DDH </a:t>
            </a:r>
            <a:r>
              <a:rPr sz="2000" dirty="0" err="1"/>
              <a:t>问题</a:t>
            </a:r>
            <a:endParaRPr sz="2000" dirty="0"/>
          </a:p>
          <a:p>
            <a:pPr>
              <a:spcAft>
                <a:spcPts val="500"/>
              </a:spcAft>
              <a:defRPr sz="1700" b="0">
                <a:solidFill>
                  <a:srgbClr val="333333"/>
                </a:solidFill>
                <a:latin typeface="微软雅黑"/>
              </a:defRPr>
            </a:pPr>
            <a:r>
              <a:rPr sz="2000" dirty="0" err="1"/>
              <a:t>随机化加密；密文为两个群元素</a:t>
            </a:r>
            <a:endParaRPr sz="2000" dirty="0"/>
          </a:p>
        </p:txBody>
      </p:sp>
      <p:sp>
        <p:nvSpPr>
          <p:cNvPr id="10" name="Rounded Rectangle 16"/>
          <p:cNvSpPr/>
          <p:nvPr/>
        </p:nvSpPr>
        <p:spPr>
          <a:xfrm>
            <a:off x="7899400" y="1038162"/>
            <a:ext cx="3547872" cy="151733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7"/>
          <p:cNvSpPr txBox="1"/>
          <p:nvPr/>
        </p:nvSpPr>
        <p:spPr>
          <a:xfrm>
            <a:off x="8041640" y="1175322"/>
            <a:ext cx="3218688"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t>SM2</a:t>
            </a:r>
          </a:p>
        </p:txBody>
      </p:sp>
      <p:sp>
        <p:nvSpPr>
          <p:cNvPr id="12" name="TextBox 18"/>
          <p:cNvSpPr txBox="1"/>
          <p:nvPr/>
        </p:nvSpPr>
        <p:spPr>
          <a:xfrm>
            <a:off x="8031480" y="1669098"/>
            <a:ext cx="3415792" cy="758156"/>
          </a:xfrm>
          <a:prstGeom prst="rect">
            <a:avLst/>
          </a:prstGeom>
          <a:noFill/>
        </p:spPr>
        <p:txBody>
          <a:bodyPr wrap="square" lIns="64008" tIns="32004" rIns="36576">
            <a:spAutoFit/>
          </a:bodyPr>
          <a:lstStyle/>
          <a:p>
            <a:pPr>
              <a:spcAft>
                <a:spcPts val="500"/>
              </a:spcAft>
              <a:defRPr sz="1700" b="0">
                <a:solidFill>
                  <a:srgbClr val="333333"/>
                </a:solidFill>
                <a:latin typeface="微软雅黑"/>
              </a:defRPr>
            </a:pPr>
            <a:r>
              <a:rPr sz="2000" dirty="0" err="1"/>
              <a:t>椭圆曲线离散对数问题</a:t>
            </a:r>
            <a:endParaRPr sz="2000" dirty="0"/>
          </a:p>
          <a:p>
            <a:pPr>
              <a:spcAft>
                <a:spcPts val="500"/>
              </a:spcAft>
              <a:defRPr sz="1700" b="0">
                <a:solidFill>
                  <a:srgbClr val="333333"/>
                </a:solidFill>
                <a:latin typeface="微软雅黑"/>
              </a:defRPr>
            </a:pPr>
            <a:r>
              <a:rPr sz="2000" dirty="0" err="1"/>
              <a:t>椭圆曲线</a:t>
            </a:r>
            <a:r>
              <a:rPr sz="2000" dirty="0"/>
              <a:t> + KDF + </a:t>
            </a:r>
            <a:r>
              <a:rPr sz="2000" dirty="0" err="1"/>
              <a:t>杂凑校验</a:t>
            </a:r>
            <a:endParaRPr sz="2000" dirty="0"/>
          </a:p>
        </p:txBody>
      </p:sp>
      <p:sp>
        <p:nvSpPr>
          <p:cNvPr id="18" name="文本框 17"/>
          <p:cNvSpPr txBox="1"/>
          <p:nvPr/>
        </p:nvSpPr>
        <p:spPr>
          <a:xfrm>
            <a:off x="555824" y="2744822"/>
            <a:ext cx="11080351" cy="3654142"/>
          </a:xfrm>
          <a:prstGeom prst="rect">
            <a:avLst/>
          </a:prstGeom>
          <a:noFill/>
        </p:spPr>
        <p:txBody>
          <a:bodyPr wrap="square">
            <a:spAutoFit/>
          </a:bodyPr>
          <a:lstStyle/>
          <a:p>
            <a:pPr>
              <a:lnSpc>
                <a:spcPct val="130000"/>
              </a:lnSpc>
            </a:pPr>
            <a:r>
              <a:rPr lang="en-GB" altLang="zh-CN" sz="2000" dirty="0"/>
              <a:t>RSA</a:t>
            </a:r>
            <a:r>
              <a:rPr lang="zh-CN" altLang="en-GB" sz="2000" dirty="0"/>
              <a:t>、</a:t>
            </a:r>
            <a:r>
              <a:rPr lang="en-GB" altLang="zh-CN" sz="2000" dirty="0"/>
              <a:t>ElGamal </a:t>
            </a:r>
            <a:r>
              <a:rPr lang="zh-CN" altLang="en-US" sz="2000" dirty="0"/>
              <a:t>和 </a:t>
            </a:r>
            <a:r>
              <a:rPr lang="en-GB" altLang="zh-CN" sz="2000" dirty="0"/>
              <a:t>SM2 </a:t>
            </a:r>
            <a:r>
              <a:rPr lang="zh-CN" altLang="en-US" sz="2000" dirty="0"/>
              <a:t>是三种典型的公钥加密算法，均采用公钥加密、私钥解密的方式，实现通信过程中消息的机密性保护，但其数学基础和加密机制有所不同。</a:t>
            </a:r>
            <a:endParaRPr lang="en-US" altLang="zh-CN" sz="2000" dirty="0"/>
          </a:p>
          <a:p>
            <a:pPr marL="285750" indent="-285750">
              <a:lnSpc>
                <a:spcPct val="130000"/>
              </a:lnSpc>
              <a:buFont typeface="Wingdings" panose="05000000000000000000" pitchFamily="2" charset="2"/>
              <a:buChar char="n"/>
            </a:pPr>
            <a:r>
              <a:rPr lang="en-GB" altLang="zh-CN" sz="2000" dirty="0"/>
              <a:t>RSA </a:t>
            </a:r>
            <a:r>
              <a:rPr lang="zh-CN" altLang="en-US" sz="2000" dirty="0"/>
              <a:t>公钥加密算法基于大整数分解问题的计算困难性，通过模幂运算实现消息的加密与解密；</a:t>
            </a:r>
            <a:endParaRPr lang="en-US" altLang="zh-CN" sz="2000" dirty="0"/>
          </a:p>
          <a:p>
            <a:pPr marL="285750" indent="-285750">
              <a:lnSpc>
                <a:spcPct val="130000"/>
              </a:lnSpc>
              <a:buFont typeface="Wingdings" panose="05000000000000000000" pitchFamily="2" charset="2"/>
              <a:buChar char="n"/>
            </a:pPr>
            <a:r>
              <a:rPr lang="en-GB" altLang="zh-CN" sz="2000" dirty="0"/>
              <a:t>ElGamal </a:t>
            </a:r>
            <a:r>
              <a:rPr lang="zh-CN" altLang="en-US" sz="2000" dirty="0"/>
              <a:t>公钥加密算法基于离散对数问题的计算困难性，通过引入随机数实现随机化加密，使相同明文在不同加密过程中可以产生不同密文；</a:t>
            </a:r>
            <a:endParaRPr lang="en-US" altLang="zh-CN" sz="2000" dirty="0"/>
          </a:p>
          <a:p>
            <a:pPr marL="285750" indent="-285750">
              <a:lnSpc>
                <a:spcPct val="130000"/>
              </a:lnSpc>
              <a:buFont typeface="Wingdings" panose="05000000000000000000" pitchFamily="2" charset="2"/>
              <a:buChar char="n"/>
            </a:pPr>
            <a:r>
              <a:rPr lang="en-GB" altLang="zh-CN" sz="2000" dirty="0"/>
              <a:t>SM2 </a:t>
            </a:r>
            <a:r>
              <a:rPr lang="zh-CN" altLang="en-US" sz="2000" dirty="0"/>
              <a:t>公钥加密算法是我国自主设计的椭圆曲线公钥密码算法，基于椭圆曲线离散对数问题的计算困难性，结合椭圆曲线点运算、密钥派生函数和杂凑函数实现消息加密与完整性校验。</a:t>
            </a:r>
            <a:endParaRPr lang="en-US" altLang="zh-CN" sz="2000" dirty="0"/>
          </a:p>
          <a:p>
            <a:pPr>
              <a:lnSpc>
                <a:spcPct val="130000"/>
              </a:lnSpc>
            </a:pPr>
            <a:r>
              <a:rPr lang="zh-CN" altLang="en-US" sz="2000" dirty="0"/>
              <a:t>三种算法体现了公钥密码学不同的数学构造思想，是理解现代公钥加密技术及其安全机制的重要基础。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5324856" cy="461665"/>
          </a:xfrm>
          <a:prstGeom prst="rect">
            <a:avLst/>
          </a:prstGeom>
          <a:noFill/>
        </p:spPr>
        <p:txBody>
          <a:bodyPr wrap="square">
            <a:spAutoFit/>
          </a:bodyPr>
          <a:lstStyle/>
          <a:p>
            <a:r>
              <a:rPr lang="en-GB" altLang="zh-CN" sz="2400" b="1" dirty="0">
                <a:solidFill>
                  <a:srgbClr val="C00000"/>
                </a:solidFill>
              </a:rPr>
              <a:t>RSA </a:t>
            </a:r>
            <a:r>
              <a:rPr lang="zh-CN" altLang="en-US" sz="2400" b="1" dirty="0">
                <a:solidFill>
                  <a:srgbClr val="C00000"/>
                </a:solidFill>
              </a:rPr>
              <a:t>公钥加密方案描述｜基本思想</a:t>
            </a:r>
          </a:p>
        </p:txBody>
      </p:sp>
      <p:sp>
        <p:nvSpPr>
          <p:cNvPr id="11" name="文本框 10"/>
          <p:cNvSpPr txBox="1"/>
          <p:nvPr/>
        </p:nvSpPr>
        <p:spPr>
          <a:xfrm>
            <a:off x="717867" y="2351225"/>
            <a:ext cx="10415016" cy="853311"/>
          </a:xfrm>
          <a:prstGeom prst="rect">
            <a:avLst/>
          </a:prstGeom>
          <a:noFill/>
        </p:spPr>
        <p:txBody>
          <a:bodyPr wrap="square">
            <a:spAutoFit/>
          </a:bodyPr>
          <a:lstStyle/>
          <a:p>
            <a:pPr>
              <a:lnSpc>
                <a:spcPct val="130000"/>
              </a:lnSpc>
            </a:pPr>
            <a:r>
              <a:rPr lang="en-US" altLang="zh-CN" sz="2000" dirty="0"/>
              <a:t>1977 </a:t>
            </a:r>
            <a:r>
              <a:rPr lang="zh-CN" altLang="en-US" sz="2000" dirty="0"/>
              <a:t>年，罗纳德</a:t>
            </a:r>
            <a:r>
              <a:rPr lang="en-US" altLang="zh-CN" sz="2000" dirty="0"/>
              <a:t>·</a:t>
            </a:r>
            <a:r>
              <a:rPr lang="zh-CN" altLang="en-US" sz="2000" dirty="0"/>
              <a:t>李维斯特（</a:t>
            </a:r>
            <a:r>
              <a:rPr lang="en-GB" altLang="zh-CN" sz="2000" dirty="0"/>
              <a:t>Ron Rivest</a:t>
            </a:r>
            <a:r>
              <a:rPr lang="zh-CN" altLang="en-GB" sz="2000" dirty="0"/>
              <a:t>）、</a:t>
            </a:r>
            <a:r>
              <a:rPr lang="zh-CN" altLang="en-US" sz="2000" dirty="0"/>
              <a:t>阿迪</a:t>
            </a:r>
            <a:r>
              <a:rPr lang="en-US" altLang="zh-CN" sz="2000" dirty="0"/>
              <a:t>·</a:t>
            </a:r>
            <a:r>
              <a:rPr lang="zh-CN" altLang="en-US" sz="2000" dirty="0"/>
              <a:t>萨莫尔（</a:t>
            </a:r>
            <a:r>
              <a:rPr lang="en-GB" altLang="zh-CN" sz="2000" dirty="0"/>
              <a:t>Adi Shamir</a:t>
            </a:r>
            <a:r>
              <a:rPr lang="zh-CN" altLang="en-GB" sz="2000" dirty="0"/>
              <a:t>）</a:t>
            </a:r>
            <a:r>
              <a:rPr lang="zh-CN" altLang="en-US" sz="2000" dirty="0"/>
              <a:t>和伦纳德</a:t>
            </a:r>
            <a:r>
              <a:rPr lang="en-US" altLang="zh-CN" sz="2000" dirty="0"/>
              <a:t>· </a:t>
            </a:r>
            <a:r>
              <a:rPr lang="zh-CN" altLang="en-US" sz="2000" dirty="0"/>
              <a:t>阿德曼（</a:t>
            </a:r>
            <a:r>
              <a:rPr lang="en-GB" altLang="zh-CN" sz="2000" dirty="0"/>
              <a:t>Leonard Adleman</a:t>
            </a:r>
            <a:r>
              <a:rPr lang="zh-CN" altLang="en-GB" sz="2000" dirty="0"/>
              <a:t>）</a:t>
            </a:r>
            <a:r>
              <a:rPr lang="zh-CN" altLang="en-US" sz="2000" dirty="0"/>
              <a:t>提出了第一个公钥加密方案，即 </a:t>
            </a:r>
            <a:r>
              <a:rPr lang="en-GB" altLang="zh-CN" sz="2000" dirty="0"/>
              <a:t>RSA </a:t>
            </a:r>
            <a:r>
              <a:rPr lang="zh-CN" altLang="en-US" sz="2000" dirty="0"/>
              <a:t>公钥加密方案。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9"/>
          <p:cNvSpPr/>
          <p:nvPr/>
        </p:nvSpPr>
        <p:spPr>
          <a:xfrm>
            <a:off x="502920" y="1050742"/>
            <a:ext cx="11043621" cy="4972615"/>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15" name="文本框 14"/>
              <p:cNvSpPr txBox="1"/>
              <p:nvPr/>
            </p:nvSpPr>
            <p:spPr>
              <a:xfrm>
                <a:off x="645461" y="1503588"/>
                <a:ext cx="10721098" cy="4379853"/>
              </a:xfrm>
              <a:prstGeom prst="rect">
                <a:avLst/>
              </a:prstGeom>
              <a:noFill/>
            </p:spPr>
            <p:txBody>
              <a:bodyPr wrap="square">
                <a:spAutoFit/>
              </a:bodyPr>
              <a:lstStyle/>
              <a:p>
                <a:pPr marL="285750" indent="-285750">
                  <a:lnSpc>
                    <a:spcPct val="130000"/>
                  </a:lnSpc>
                  <a:buFont typeface="Wingdings" panose="05000000000000000000" pitchFamily="2" charset="2"/>
                  <a:buChar char="n"/>
                </a:pPr>
                <a14:m>
                  <m:oMath xmlns:m="http://schemas.openxmlformats.org/officeDocument/2006/math">
                    <m:r>
                      <m:rPr>
                        <m:sty m:val="p"/>
                      </m:rPr>
                      <a:rPr lang="en-US" altLang="zh-CN" sz="2000" i="1">
                        <a:latin typeface="Cambria Math" panose="02040503050406030204" pitchFamily="18" charset="0"/>
                      </a:rPr>
                      <m:t>g</m:t>
                    </m:r>
                    <m:r>
                      <m:rPr>
                        <m:sty m:val="p"/>
                      </m:rPr>
                      <a:rPr lang="en-US" altLang="zh-CN" sz="2000" b="0" i="0" smtClean="0">
                        <a:latin typeface="Cambria Math" panose="02040503050406030204" pitchFamily="18" charset="0"/>
                      </a:rPr>
                      <m:t>cd</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m:t>
                    </m:r>
                  </m:oMath>
                </a14:m>
                <a:r>
                  <a:rPr lang="zh-CN" altLang="en-US" sz="2000" dirty="0"/>
                  <a:t>：两个整数</a:t>
                </a:r>
                <a:r>
                  <a:rPr lang="en-GB" altLang="zh-CN" sz="2000" i="1" dirty="0"/>
                  <a:t>a</a:t>
                </a:r>
                <a:r>
                  <a:rPr lang="zh-CN" altLang="en-US" sz="2000" dirty="0"/>
                  <a:t>，</a:t>
                </a:r>
                <a:r>
                  <a:rPr lang="en-US" altLang="zh-CN" sz="2000" i="1" dirty="0"/>
                  <a:t>b</a:t>
                </a:r>
                <a:r>
                  <a:rPr lang="zh-CN" altLang="en-US" sz="2000" dirty="0"/>
                  <a:t>的最大公因数记作</a:t>
                </a:r>
                <a:r>
                  <a:rPr lang="en-US" altLang="zh-CN" sz="2000" dirty="0"/>
                  <a:t> </a:t>
                </a:r>
                <a:r>
                  <a:rPr lang="en-US" altLang="zh-CN" sz="2000" dirty="0" err="1"/>
                  <a:t>gcd</a:t>
                </a:r>
                <a:r>
                  <a:rPr lang="en-GB" altLang="zh-CN" sz="2000" dirty="0"/>
                  <a:t> (</a:t>
                </a:r>
                <a:r>
                  <a:rPr lang="en-GB" altLang="zh-CN" sz="2000" i="1" dirty="0"/>
                  <a:t>a</a:t>
                </a:r>
                <a:r>
                  <a:rPr lang="en-GB" altLang="zh-CN" sz="2000" dirty="0"/>
                  <a:t>, </a:t>
                </a:r>
                <a:r>
                  <a:rPr lang="en-GB" altLang="zh-CN" sz="2000" i="1" dirty="0"/>
                  <a:t>b</a:t>
                </a:r>
                <a:r>
                  <a:rPr lang="en-GB" altLang="zh-CN" sz="2000" dirty="0"/>
                  <a:t>)</a:t>
                </a:r>
                <a:r>
                  <a:rPr lang="zh-CN" altLang="en-US" sz="2000" dirty="0"/>
                  <a:t>。</a:t>
                </a:r>
                <a:endParaRPr lang="en-US" altLang="zh-CN" sz="2000" dirty="0"/>
              </a:p>
              <a:p>
                <a:pPr marL="285750" indent="-285750">
                  <a:lnSpc>
                    <a:spcPct val="130000"/>
                  </a:lnSpc>
                  <a:buFont typeface="Wingdings" panose="05000000000000000000" pitchFamily="2" charset="2"/>
                  <a:buChar char="n"/>
                </a:pPr>
                <a:r>
                  <a:rPr lang="zh-CN" altLang="en-US" sz="2000" dirty="0"/>
                  <a:t>互素（</a:t>
                </a:r>
                <a:r>
                  <a:rPr lang="en-GB" altLang="zh-CN" sz="2000" dirty="0"/>
                  <a:t>Coprime</a:t>
                </a:r>
                <a:r>
                  <a:rPr lang="zh-CN" altLang="en-GB" sz="2000" dirty="0"/>
                  <a:t>）</a:t>
                </a:r>
                <a:r>
                  <a:rPr lang="zh-CN" altLang="en-US" sz="2000" dirty="0"/>
                  <a:t>：给定两个整数</a:t>
                </a:r>
                <a:r>
                  <a:rPr lang="en-GB" altLang="zh-CN" sz="2000" i="1" dirty="0"/>
                  <a:t>a</a:t>
                </a:r>
                <a:r>
                  <a:rPr lang="zh-CN" altLang="en-US" sz="2000" dirty="0"/>
                  <a:t>，</a:t>
                </a:r>
                <a:r>
                  <a:rPr lang="en-US" altLang="zh-CN" sz="2000" i="1" dirty="0"/>
                  <a:t>b </a:t>
                </a:r>
                <a:r>
                  <a:rPr lang="zh-CN" altLang="en-GB" sz="2000" dirty="0"/>
                  <a:t>，</a:t>
                </a:r>
                <a:r>
                  <a:rPr lang="zh-CN" altLang="en-US" sz="2000" dirty="0"/>
                  <a:t>若</a:t>
                </a:r>
                <a:r>
                  <a:rPr lang="en-GB" altLang="zh-CN" sz="2000" dirty="0"/>
                  <a:t> </a:t>
                </a:r>
                <a:r>
                  <a:rPr lang="en-GB" altLang="zh-CN" sz="2000" dirty="0" err="1"/>
                  <a:t>gcd</a:t>
                </a:r>
                <a:r>
                  <a:rPr lang="en-GB" altLang="zh-CN" sz="2000" dirty="0"/>
                  <a:t> (</a:t>
                </a:r>
                <a:r>
                  <a:rPr lang="en-GB" altLang="zh-CN" sz="2000" i="1" dirty="0"/>
                  <a:t>a</a:t>
                </a:r>
                <a:r>
                  <a:rPr lang="en-GB" altLang="zh-CN" sz="2000" dirty="0"/>
                  <a:t>, </a:t>
                </a:r>
                <a:r>
                  <a:rPr lang="en-GB" altLang="zh-CN" sz="2000" i="1" dirty="0"/>
                  <a:t>b</a:t>
                </a:r>
                <a:r>
                  <a:rPr lang="en-GB" altLang="zh-CN" sz="2000" dirty="0"/>
                  <a:t>) </a:t>
                </a:r>
                <a:r>
                  <a:rPr lang="en-US" altLang="zh-CN" sz="2000" dirty="0"/>
                  <a:t>=1</a:t>
                </a:r>
                <a:r>
                  <a:rPr lang="zh-CN" altLang="en-GB" sz="2000" dirty="0"/>
                  <a:t>， </a:t>
                </a:r>
                <a:r>
                  <a:rPr lang="zh-CN" altLang="en-US" sz="2000" dirty="0"/>
                  <a:t>那么就称</a:t>
                </a:r>
                <a:r>
                  <a:rPr lang="zh-CN" altLang="en-US" sz="2000" i="1" dirty="0"/>
                  <a:t> </a:t>
                </a:r>
                <a:r>
                  <a:rPr lang="en-GB" altLang="zh-CN" sz="2000" i="1" dirty="0"/>
                  <a:t>a </a:t>
                </a:r>
                <a:r>
                  <a:rPr lang="zh-CN" altLang="en-US" sz="2000" dirty="0"/>
                  <a:t>和 </a:t>
                </a:r>
                <a:r>
                  <a:rPr lang="en-GB" altLang="zh-CN" sz="2000" i="1" dirty="0"/>
                  <a:t>b</a:t>
                </a:r>
                <a:r>
                  <a:rPr lang="en-GB" altLang="zh-CN" sz="2000" dirty="0"/>
                  <a:t> </a:t>
                </a:r>
                <a:r>
                  <a:rPr lang="zh-CN" altLang="en-US" sz="2000" dirty="0"/>
                  <a:t>互素（或互质）。</a:t>
                </a:r>
                <a:endParaRPr lang="en-US" altLang="zh-CN" sz="2000" dirty="0"/>
              </a:p>
              <a:p>
                <a:pPr marL="285750" indent="-285750">
                  <a:lnSpc>
                    <a:spcPct val="130000"/>
                  </a:lnSpc>
                  <a:buFont typeface="Wingdings" panose="05000000000000000000" pitchFamily="2" charset="2"/>
                  <a:buChar char="n"/>
                </a:pPr>
                <a:r>
                  <a:rPr lang="zh-CN" altLang="en-US" sz="2000" dirty="0"/>
                  <a:t>欧拉函数（</a:t>
                </a:r>
                <a:r>
                  <a:rPr lang="en-GB" altLang="zh-CN" sz="2000" dirty="0"/>
                  <a:t>Euler ‘ s Totient Function</a:t>
                </a:r>
                <a:r>
                  <a:rPr lang="zh-CN" altLang="en-GB" sz="2000" dirty="0"/>
                  <a:t>）</a:t>
                </a:r>
                <a:r>
                  <a:rPr lang="zh-CN" altLang="en-US" sz="2000" dirty="0"/>
                  <a:t>：该函数一般记作 </a:t>
                </a:r>
                <a:r>
                  <a:rPr lang="el-GR" altLang="zh-CN" sz="2000" dirty="0"/>
                  <a:t>φ </a:t>
                </a:r>
                <a:r>
                  <a:rPr lang="zh-CN" altLang="el-GR" sz="2000" dirty="0"/>
                  <a:t>。</a:t>
                </a:r>
                <a:r>
                  <a:rPr lang="zh-CN" altLang="en-US" sz="2000" dirty="0"/>
                  <a:t>对于任意正整数 </a:t>
                </a:r>
                <a:r>
                  <a:rPr lang="en-GB" altLang="zh-CN" sz="2000" i="1" dirty="0"/>
                  <a:t>N</a:t>
                </a:r>
                <a:r>
                  <a:rPr lang="en-GB" altLang="zh-CN" sz="2000" dirty="0"/>
                  <a:t> </a:t>
                </a:r>
                <a:r>
                  <a:rPr lang="zh-CN" altLang="en-GB" sz="2000" dirty="0"/>
                  <a:t>， </a:t>
                </a:r>
                <a:r>
                  <a:rPr lang="el-GR" altLang="zh-CN" sz="2000" dirty="0">
                    <a:solidFill>
                      <a:srgbClr val="303030"/>
                    </a:solidFill>
                  </a:rPr>
                  <a:t>φ</a:t>
                </a:r>
                <a:r>
                  <a:rPr lang="en-GB" altLang="zh-CN" sz="2000" dirty="0"/>
                  <a:t> (</a:t>
                </a:r>
                <a:r>
                  <a:rPr lang="en-GB" altLang="zh-CN" sz="2000" i="1" dirty="0"/>
                  <a:t>N</a:t>
                </a:r>
                <a:r>
                  <a:rPr lang="en-GB" altLang="zh-CN" sz="2000" dirty="0"/>
                  <a:t>) </a:t>
                </a:r>
                <a:r>
                  <a:rPr lang="zh-CN" altLang="en-US" sz="2000" dirty="0"/>
                  <a:t>是 </a:t>
                </a:r>
                <a:r>
                  <a:rPr lang="en-GB" altLang="zh-CN" sz="2000" i="1" dirty="0"/>
                  <a:t>N</a:t>
                </a:r>
                <a:r>
                  <a:rPr lang="zh-CN" altLang="en-US" sz="2000" i="1" dirty="0"/>
                  <a:t> </a:t>
                </a:r>
                <a:r>
                  <a:rPr lang="zh-CN" altLang="en-US" sz="2000" dirty="0"/>
                  <a:t>的一个算术函数，表示小于 </a:t>
                </a:r>
                <a:r>
                  <a:rPr lang="en-GB" altLang="zh-CN" sz="2000" i="1" dirty="0"/>
                  <a:t>N</a:t>
                </a:r>
                <a:r>
                  <a:rPr lang="en-GB" altLang="zh-CN" sz="2000" dirty="0"/>
                  <a:t> </a:t>
                </a:r>
                <a:r>
                  <a:rPr lang="zh-CN" altLang="en-US" sz="2000" dirty="0"/>
                  <a:t>的正整数中与 </a:t>
                </a:r>
                <a:r>
                  <a:rPr lang="en-GB" altLang="zh-CN" sz="2000" i="1" dirty="0"/>
                  <a:t>N</a:t>
                </a:r>
                <a:r>
                  <a:rPr lang="en-GB" altLang="zh-CN" sz="2000" dirty="0"/>
                  <a:t> </a:t>
                </a:r>
                <a:r>
                  <a:rPr lang="zh-CN" altLang="en-US" sz="2000" dirty="0"/>
                  <a:t>互素的数的个数。欧拉函数的计算可以通过不同的方法进行，其中一种常用的方法是基于 </a:t>
                </a:r>
                <a:r>
                  <a:rPr lang="en-GB" altLang="zh-CN" sz="2000" i="1" dirty="0"/>
                  <a:t>N</a:t>
                </a:r>
                <a:r>
                  <a:rPr lang="en-GB" altLang="zh-CN" sz="2000" dirty="0"/>
                  <a:t> </a:t>
                </a:r>
                <a:r>
                  <a:rPr lang="zh-CN" altLang="en-US" sz="2000" dirty="0"/>
                  <a:t>的质因数分解。 若将基于 </a:t>
                </a:r>
                <a:r>
                  <a:rPr lang="en-GB" altLang="zh-CN" sz="2000" i="1" dirty="0"/>
                  <a:t>N</a:t>
                </a:r>
                <a:r>
                  <a:rPr lang="en-GB" altLang="zh-CN" sz="2000" dirty="0"/>
                  <a:t> </a:t>
                </a:r>
                <a:r>
                  <a:rPr lang="zh-CN" altLang="en-US" sz="2000" dirty="0"/>
                  <a:t>的质因数分解表示 </a:t>
                </a:r>
                <a14:m>
                  <m:oMath xmlns:m="http://schemas.openxmlformats.org/officeDocument/2006/math">
                    <m:r>
                      <a:rPr lang="en-US" altLang="zh-CN" sz="2000" i="1" dirty="0">
                        <a:latin typeface="Cambria Math" panose="02040503050406030204" pitchFamily="18" charset="0"/>
                      </a:rPr>
                      <m:t>𝑁</m:t>
                    </m:r>
                    <m:r>
                      <a:rPr lang="en-US" altLang="zh-CN" sz="2000" b="0" i="1" dirty="0" smtClean="0">
                        <a:latin typeface="Cambria Math" panose="02040503050406030204" pitchFamily="18" charset="0"/>
                      </a:rPr>
                      <m:t>=</m:t>
                    </m:r>
                    <m:sSubSup>
                      <m:sSubSupPr>
                        <m:ctrlPr>
                          <a:rPr lang="en-US" altLang="zh-CN" sz="2000" b="0" i="1" dirty="0" smtClean="0">
                            <a:latin typeface="Cambria Math" panose="02040503050406030204" pitchFamily="18" charset="0"/>
                          </a:rPr>
                        </m:ctrlPr>
                      </m:sSubSupPr>
                      <m:e>
                        <m:r>
                          <a:rPr lang="en-US" altLang="zh-CN" sz="2000" b="0" i="1" dirty="0" smtClean="0">
                            <a:latin typeface="Cambria Math" panose="02040503050406030204" pitchFamily="18" charset="0"/>
                          </a:rPr>
                          <m:t>𝑝</m:t>
                        </m:r>
                      </m:e>
                      <m:sub>
                        <m:r>
                          <a:rPr lang="en-US" altLang="zh-CN" sz="2000" b="0" i="1" dirty="0" smtClean="0">
                            <a:latin typeface="Cambria Math" panose="02040503050406030204" pitchFamily="18" charset="0"/>
                          </a:rPr>
                          <m:t>1</m:t>
                        </m:r>
                      </m:sub>
                      <m:sup>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𝑘</m:t>
                            </m:r>
                          </m:e>
                          <m:sub>
                            <m:r>
                              <a:rPr lang="en-US" altLang="zh-CN" sz="2000" b="0" i="1" dirty="0" smtClean="0">
                                <a:latin typeface="Cambria Math" panose="02040503050406030204" pitchFamily="18" charset="0"/>
                              </a:rPr>
                              <m:t>1</m:t>
                            </m:r>
                          </m:sub>
                        </m:sSub>
                      </m:sup>
                    </m:sSubSup>
                    <m:r>
                      <a:rPr lang="en-US" altLang="zh-CN" sz="2000" b="0" i="1" dirty="0" smtClean="0">
                        <a:latin typeface="Cambria Math" panose="02040503050406030204" pitchFamily="18" charset="0"/>
                      </a:rPr>
                      <m:t> </m:t>
                    </m:r>
                    <m:r>
                      <a:rPr lang="en-US" altLang="zh-CN" sz="2000" b="0" i="1" dirty="0" smtClean="0">
                        <a:latin typeface="Cambria Math" panose="02040503050406030204" pitchFamily="18" charset="0"/>
                        <a:ea typeface="Cambria Math" panose="02040503050406030204" pitchFamily="18" charset="0"/>
                      </a:rPr>
                      <m:t>× </m:t>
                    </m:r>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𝑝</m:t>
                        </m:r>
                      </m:e>
                      <m:sub>
                        <m:r>
                          <a:rPr lang="en-US" altLang="zh-CN" sz="2000" b="0" i="1" dirty="0" smtClean="0">
                            <a:latin typeface="Cambria Math" panose="02040503050406030204" pitchFamily="18" charset="0"/>
                          </a:rPr>
                          <m:t>2</m:t>
                        </m:r>
                      </m:sub>
                      <m:sup>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𝑘</m:t>
                            </m:r>
                          </m:e>
                          <m:sub>
                            <m:r>
                              <a:rPr lang="en-US" altLang="zh-CN" sz="2000" b="0" i="1" dirty="0" smtClean="0">
                                <a:latin typeface="Cambria Math" panose="02040503050406030204" pitchFamily="18" charset="0"/>
                              </a:rPr>
                              <m:t>2</m:t>
                            </m:r>
                          </m:sub>
                        </m:sSub>
                      </m:sup>
                    </m:sSubSup>
                  </m:oMath>
                </a14:m>
                <a:r>
                  <a:rPr lang="en-US" altLang="zh-CN" sz="2000" dirty="0"/>
                  <a:t> </a:t>
                </a:r>
                <a14:m>
                  <m:oMath xmlns:m="http://schemas.openxmlformats.org/officeDocument/2006/math">
                    <m:r>
                      <a:rPr lang="en-US" altLang="zh-CN" sz="2000" i="1" dirty="0">
                        <a:latin typeface="Cambria Math" panose="02040503050406030204" pitchFamily="18" charset="0"/>
                        <a:ea typeface="Cambria Math" panose="02040503050406030204" pitchFamily="18" charset="0"/>
                      </a:rPr>
                      <m:t>×</m:t>
                    </m:r>
                  </m:oMath>
                </a14:m>
                <a:r>
                  <a:rPr lang="en-US" altLang="zh-CN" sz="2000" dirty="0"/>
                  <a:t> … </a:t>
                </a:r>
                <a14:m>
                  <m:oMath xmlns:m="http://schemas.openxmlformats.org/officeDocument/2006/math">
                    <m:r>
                      <a:rPr lang="en-US" altLang="zh-CN" sz="2000" i="1" dirty="0">
                        <a:latin typeface="Cambria Math" panose="02040503050406030204" pitchFamily="18" charset="0"/>
                        <a:ea typeface="Cambria Math" panose="02040503050406030204" pitchFamily="18" charset="0"/>
                      </a:rPr>
                      <m:t>×</m:t>
                    </m:r>
                  </m:oMath>
                </a14:m>
                <a:r>
                  <a:rPr lang="en-US" altLang="zh-CN" sz="2000" dirty="0"/>
                  <a:t> </a:t>
                </a:r>
                <a14:m>
                  <m:oMath xmlns:m="http://schemas.openxmlformats.org/officeDocument/2006/math">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𝑝</m:t>
                        </m:r>
                      </m:e>
                      <m:sub>
                        <m:r>
                          <a:rPr lang="en-US" altLang="zh-CN" sz="2000" b="0" i="1" dirty="0" smtClean="0">
                            <a:latin typeface="Cambria Math" panose="02040503050406030204" pitchFamily="18" charset="0"/>
                          </a:rPr>
                          <m:t>𝑡</m:t>
                        </m:r>
                      </m:sub>
                      <m:sup>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𝑘</m:t>
                            </m:r>
                          </m:e>
                          <m:sub>
                            <m:r>
                              <a:rPr lang="en-US" altLang="zh-CN" sz="2000" b="0" i="1" dirty="0" smtClean="0">
                                <a:latin typeface="Cambria Math" panose="02040503050406030204" pitchFamily="18" charset="0"/>
                              </a:rPr>
                              <m:t>𝑡</m:t>
                            </m:r>
                          </m:sub>
                        </m:sSub>
                      </m:sup>
                    </m:sSubSup>
                    <m:r>
                      <a:rPr lang="en-US" altLang="zh-CN" sz="2000" i="1" dirty="0">
                        <a:latin typeface="Cambria Math" panose="02040503050406030204" pitchFamily="18" charset="0"/>
                      </a:rPr>
                      <m:t> </m:t>
                    </m:r>
                  </m:oMath>
                </a14:m>
                <a:r>
                  <a:rPr lang="zh-CN" altLang="en-GB" sz="2000" dirty="0"/>
                  <a:t>，</a:t>
                </a:r>
                <a:r>
                  <a:rPr lang="zh-CN" altLang="en-US" sz="2000" dirty="0"/>
                  <a:t>其中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oMath>
                </a14:m>
                <a:r>
                  <a:rPr lang="en-US" altLang="zh-CN" sz="2000" dirty="0"/>
                  <a:t> ,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2</m:t>
                        </m:r>
                      </m:sub>
                    </m:sSub>
                  </m:oMath>
                </a14:m>
                <a:r>
                  <a:rPr lang="en-US" altLang="zh-CN" sz="2000" dirty="0"/>
                  <a:t> , …,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𝑡</m:t>
                        </m:r>
                      </m:sub>
                    </m:sSub>
                  </m:oMath>
                </a14:m>
                <a:r>
                  <a:rPr lang="zh-CN" altLang="en-US" sz="2000" dirty="0"/>
                  <a:t> 是不同的素数， </a:t>
                </a:r>
                <a14:m>
                  <m:oMath xmlns:m="http://schemas.openxmlformats.org/officeDocument/2006/math">
                    <m:sSub>
                      <m:sSubPr>
                        <m:ctrlPr>
                          <a:rPr lang="en-US" altLang="zh-CN" sz="2000" i="1">
                            <a:latin typeface="Cambria Math" panose="02040503050406030204" pitchFamily="18" charset="0"/>
                          </a:rPr>
                        </m:ctrlPr>
                      </m:sSubPr>
                      <m:e>
                        <m:r>
                          <a:rPr lang="en-US" altLang="zh-CN" sz="2000" i="1" smtClean="0">
                            <a:latin typeface="Cambria Math" panose="02040503050406030204" pitchFamily="18" charset="0"/>
                          </a:rPr>
                          <m:t>𝑘</m:t>
                        </m:r>
                      </m:e>
                      <m:sub>
                        <m:r>
                          <a:rPr lang="en-US" altLang="zh-CN" sz="2000" i="1">
                            <a:latin typeface="Cambria Math" panose="02040503050406030204" pitchFamily="18" charset="0"/>
                          </a:rPr>
                          <m:t>1</m:t>
                        </m:r>
                      </m:sub>
                    </m:sSub>
                  </m:oMath>
                </a14:m>
                <a:r>
                  <a:rPr lang="en-US" altLang="zh-CN" sz="2000" dirty="0"/>
                  <a:t> ,  </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i="1">
                            <a:latin typeface="Cambria Math" panose="02040503050406030204" pitchFamily="18" charset="0"/>
                          </a:rPr>
                          <m:t>2</m:t>
                        </m:r>
                      </m:sub>
                    </m:sSub>
                  </m:oMath>
                </a14:m>
                <a:r>
                  <a:rPr lang="en-US" altLang="zh-CN" sz="2000" dirty="0"/>
                  <a:t> , … ,  </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i="1">
                            <a:latin typeface="Cambria Math" panose="02040503050406030204" pitchFamily="18" charset="0"/>
                          </a:rPr>
                          <m:t>𝑡</m:t>
                        </m:r>
                      </m:sub>
                    </m:sSub>
                  </m:oMath>
                </a14:m>
                <a:r>
                  <a:rPr lang="zh-CN" altLang="en-US" sz="2000" dirty="0"/>
                  <a:t> 是正整数，则 </a:t>
                </a:r>
                <a:r>
                  <a:rPr lang="el-GR" altLang="zh-CN" sz="2000" i="1" dirty="0"/>
                  <a:t>φ</a:t>
                </a:r>
                <a:r>
                  <a:rPr lang="en-GB" altLang="zh-CN" sz="2000" dirty="0"/>
                  <a:t> (</a:t>
                </a:r>
                <a:r>
                  <a:rPr lang="en-GB" altLang="zh-CN" sz="2000" i="1" dirty="0"/>
                  <a:t>N</a:t>
                </a:r>
                <a:r>
                  <a:rPr lang="en-GB" altLang="zh-CN" sz="2000" dirty="0"/>
                  <a:t>) = </a:t>
                </a:r>
                <a:r>
                  <a:rPr lang="en-GB" altLang="zh-CN" sz="2000" i="1" dirty="0"/>
                  <a:t>N</a:t>
                </a:r>
                <a14:m>
                  <m:oMath xmlns:m="http://schemas.openxmlformats.org/officeDocument/2006/math">
                    <m:d>
                      <m:dPr>
                        <m:ctrlPr>
                          <a:rPr lang="en-GB" altLang="zh-CN" sz="200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1</m:t>
                                </m:r>
                              </m:sub>
                            </m:sSub>
                          </m:den>
                        </m:f>
                      </m:e>
                    </m:d>
                  </m:oMath>
                </a14:m>
                <a:r>
                  <a:rPr lang="en-GB" altLang="zh-CN" sz="2000" dirty="0"/>
                  <a:t> </a:t>
                </a:r>
                <a14:m>
                  <m:oMath xmlns:m="http://schemas.openxmlformats.org/officeDocument/2006/math">
                    <m:d>
                      <m:dPr>
                        <m:ctrlPr>
                          <a:rPr lang="en-GB"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2</m:t>
                                </m:r>
                              </m:sub>
                            </m:sSub>
                          </m:den>
                        </m:f>
                      </m:e>
                    </m:d>
                    <m:r>
                      <a:rPr lang="en-US" altLang="zh-CN" sz="2000" i="1">
                        <a:latin typeface="Cambria Math" panose="02040503050406030204" pitchFamily="18" charset="0"/>
                      </a:rPr>
                      <m:t> </m:t>
                    </m:r>
                  </m:oMath>
                </a14:m>
                <a:r>
                  <a:rPr lang="en-US" altLang="zh-CN" sz="2000" dirty="0"/>
                  <a:t>…</a:t>
                </a:r>
                <a:r>
                  <a:rPr lang="en-GB" altLang="zh-CN" sz="2000" dirty="0"/>
                  <a:t> </a:t>
                </a:r>
                <a14:m>
                  <m:oMath xmlns:m="http://schemas.openxmlformats.org/officeDocument/2006/math">
                    <m:d>
                      <m:dPr>
                        <m:ctrlPr>
                          <a:rPr lang="en-GB"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𝑡</m:t>
                                </m:r>
                              </m:sub>
                            </m:sSub>
                          </m:den>
                        </m:f>
                      </m:e>
                    </m:d>
                    <m:r>
                      <a:rPr lang="en-US" altLang="zh-CN" sz="2000" i="1">
                        <a:latin typeface="Cambria Math" panose="02040503050406030204" pitchFamily="18" charset="0"/>
                      </a:rPr>
                      <m:t> </m:t>
                    </m:r>
                  </m:oMath>
                </a14:m>
                <a:r>
                  <a:rPr lang="zh-CN" altLang="en-GB" sz="2000" dirty="0"/>
                  <a:t>。</a:t>
                </a:r>
                <a:endParaRPr lang="en-US" altLang="zh-CN" sz="2000" dirty="0"/>
              </a:p>
              <a:p>
                <a:pPr marL="285750" indent="-285750">
                  <a:lnSpc>
                    <a:spcPct val="130000"/>
                  </a:lnSpc>
                  <a:buFont typeface="Wingdings" panose="05000000000000000000" pitchFamily="2" charset="2"/>
                  <a:buChar char="n"/>
                </a:pPr>
                <a:r>
                  <a:rPr lang="zh-CN" altLang="en-US" sz="2000" dirty="0"/>
                  <a:t>欧拉定理（</a:t>
                </a:r>
                <a:r>
                  <a:rPr lang="en-GB" altLang="zh-CN" sz="2000" dirty="0"/>
                  <a:t>Euler ' s Theorem</a:t>
                </a:r>
                <a:r>
                  <a:rPr lang="zh-CN" altLang="en-GB" sz="2000" dirty="0"/>
                  <a:t>）。</a:t>
                </a:r>
                <a:r>
                  <a:rPr lang="zh-CN" altLang="en-US" sz="2000" dirty="0"/>
                  <a:t>对于任意整数 </a:t>
                </a:r>
                <a:r>
                  <a:rPr lang="en-GB" altLang="zh-CN" sz="2000" i="1" dirty="0"/>
                  <a:t>a</a:t>
                </a:r>
                <a:r>
                  <a:rPr lang="en-GB" altLang="zh-CN" sz="2000" dirty="0"/>
                  <a:t> </a:t>
                </a:r>
                <a:r>
                  <a:rPr lang="zh-CN" altLang="en-US" sz="2000" dirty="0"/>
                  <a:t>和正整数 </a:t>
                </a:r>
                <a:r>
                  <a:rPr lang="en-GB" altLang="zh-CN" sz="2000" i="1" dirty="0"/>
                  <a:t>N</a:t>
                </a:r>
                <a:r>
                  <a:rPr lang="en-GB" altLang="zh-CN" sz="2000" dirty="0"/>
                  <a:t> </a:t>
                </a:r>
                <a:r>
                  <a:rPr lang="zh-CN" altLang="en-GB" sz="2000" dirty="0"/>
                  <a:t>，</a:t>
                </a:r>
                <a:r>
                  <a:rPr lang="zh-CN" altLang="en-US" sz="2000" dirty="0"/>
                  <a:t>如果 </a:t>
                </a:r>
                <a:r>
                  <a:rPr lang="en-GB" altLang="zh-CN" sz="2000" i="1" dirty="0"/>
                  <a:t>a</a:t>
                </a:r>
                <a:r>
                  <a:rPr lang="en-GB" altLang="zh-CN" sz="2000" dirty="0"/>
                  <a:t> </a:t>
                </a:r>
                <a:r>
                  <a:rPr lang="zh-CN" altLang="en-US" sz="2000" dirty="0"/>
                  <a:t>与 </a:t>
                </a:r>
                <a:r>
                  <a:rPr lang="en-GB" altLang="zh-CN" sz="2000" i="1" dirty="0"/>
                  <a:t>N</a:t>
                </a:r>
                <a:r>
                  <a:rPr lang="en-GB" altLang="zh-CN" sz="2000" dirty="0"/>
                  <a:t> </a:t>
                </a:r>
                <a:r>
                  <a:rPr lang="zh-CN" altLang="en-US" sz="2000" dirty="0"/>
                  <a:t>互素（即 </a:t>
                </a:r>
                <a:r>
                  <a:rPr lang="en-GB" altLang="zh-CN" sz="2000" dirty="0" err="1"/>
                  <a:t>gcd</a:t>
                </a:r>
                <a:r>
                  <a:rPr lang="en-GB" altLang="zh-CN" sz="2000" dirty="0"/>
                  <a:t> (</a:t>
                </a:r>
                <a:r>
                  <a:rPr lang="en-GB" altLang="zh-CN" sz="2000" i="1" dirty="0"/>
                  <a:t>a</a:t>
                </a:r>
                <a:r>
                  <a:rPr lang="en-US" altLang="zh-CN" sz="2000" dirty="0"/>
                  <a:t>, </a:t>
                </a:r>
                <a:r>
                  <a:rPr lang="en-GB" altLang="zh-CN" sz="2000" i="1" dirty="0"/>
                  <a:t>N</a:t>
                </a:r>
                <a:r>
                  <a:rPr lang="en-GB" altLang="zh-CN" sz="2000" dirty="0"/>
                  <a:t>) = 1 </a:t>
                </a:r>
                <a:r>
                  <a:rPr lang="zh-CN" altLang="en-GB" sz="2000" dirty="0"/>
                  <a:t>），</a:t>
                </a:r>
                <a:r>
                  <a:rPr lang="zh-CN" altLang="en-US" sz="2000" dirty="0"/>
                  <a:t>则有如下等式成立：</a:t>
                </a:r>
                <a:r>
                  <a:rPr lang="en-GB" altLang="zh-CN" sz="2000" i="1" dirty="0"/>
                  <a:t>a</a:t>
                </a:r>
                <a:r>
                  <a:rPr lang="el-GR" altLang="zh-CN" sz="2000" i="1" baseline="30000" dirty="0"/>
                  <a:t>φ</a:t>
                </a:r>
                <a:r>
                  <a:rPr lang="en-GB" altLang="zh-CN" sz="2000" baseline="30000" dirty="0"/>
                  <a:t> (</a:t>
                </a:r>
                <a:r>
                  <a:rPr lang="en-GB" altLang="zh-CN" sz="2000" i="1" baseline="30000" dirty="0"/>
                  <a:t>N</a:t>
                </a:r>
                <a:r>
                  <a:rPr lang="en-GB" altLang="zh-CN" sz="2000" baseline="30000" dirty="0"/>
                  <a:t>)  </a:t>
                </a:r>
                <a:r>
                  <a:rPr lang="en-GB" altLang="zh-CN" sz="2000" dirty="0"/>
                  <a:t>≡ 1 (mod </a:t>
                </a:r>
                <a:r>
                  <a:rPr lang="en-GB" altLang="zh-CN" sz="2000" i="1" dirty="0"/>
                  <a:t>N</a:t>
                </a:r>
                <a:r>
                  <a:rPr lang="en-GB" altLang="zh-CN" sz="2000" dirty="0"/>
                  <a:t>) </a:t>
                </a:r>
                <a:r>
                  <a:rPr lang="zh-CN" altLang="en-GB" sz="2000" dirty="0"/>
                  <a:t>。</a:t>
                </a:r>
                <a:r>
                  <a:rPr lang="zh-CN" altLang="en-US" sz="2000" dirty="0"/>
                  <a:t>当 </a:t>
                </a:r>
                <a:r>
                  <a:rPr lang="en-GB" altLang="zh-CN" sz="2000" i="1" dirty="0"/>
                  <a:t>N</a:t>
                </a:r>
                <a:r>
                  <a:rPr lang="en-GB" altLang="zh-CN" sz="2000" dirty="0"/>
                  <a:t> </a:t>
                </a:r>
                <a:r>
                  <a:rPr lang="zh-CN" altLang="en-US" sz="2000" dirty="0"/>
                  <a:t>为素数时，该式表示 为 </a:t>
                </a:r>
                <a:r>
                  <a:rPr lang="en-GB" altLang="zh-CN" sz="2000" i="1" dirty="0" err="1"/>
                  <a:t>a</a:t>
                </a:r>
                <a:r>
                  <a:rPr lang="en-GB" altLang="zh-CN" sz="2000" i="1" baseline="30000" dirty="0" err="1"/>
                  <a:t>N</a:t>
                </a:r>
                <a:r>
                  <a:rPr lang="en-GB" altLang="zh-CN" sz="2000" baseline="30000" dirty="0"/>
                  <a:t>  </a:t>
                </a:r>
                <a:r>
                  <a:rPr lang="en-GB" altLang="zh-CN" sz="2000" dirty="0"/>
                  <a:t>≡ </a:t>
                </a:r>
                <a:r>
                  <a:rPr lang="en-GB" altLang="zh-CN" sz="2000" i="1" dirty="0"/>
                  <a:t>a </a:t>
                </a:r>
                <a:r>
                  <a:rPr lang="en-GB" altLang="zh-CN" sz="2000" dirty="0"/>
                  <a:t>(mod </a:t>
                </a:r>
                <a:r>
                  <a:rPr lang="en-GB" altLang="zh-CN" sz="2000" i="1" dirty="0"/>
                  <a:t>N</a:t>
                </a:r>
                <a:r>
                  <a:rPr lang="en-GB" altLang="zh-CN" sz="2000" dirty="0"/>
                  <a:t>) </a:t>
                </a:r>
                <a:r>
                  <a:rPr lang="zh-CN" altLang="en-GB" sz="2000" dirty="0"/>
                  <a:t>，</a:t>
                </a:r>
                <a:r>
                  <a:rPr lang="zh-CN" altLang="en-US" sz="2000" dirty="0"/>
                  <a:t>即著名的费马小定理（</a:t>
                </a:r>
                <a:r>
                  <a:rPr lang="en-GB" altLang="zh-CN" sz="2000" dirty="0"/>
                  <a:t>Fermat ' s Little Theorem</a:t>
                </a:r>
                <a:r>
                  <a:rPr lang="zh-CN" altLang="en-GB" sz="2000" dirty="0"/>
                  <a:t>）。</a:t>
                </a:r>
                <a:endParaRPr lang="en-US" altLang="zh-CN" sz="20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645461" y="1503588"/>
                <a:ext cx="10721098" cy="4379853"/>
              </a:xfrm>
              <a:prstGeom prst="rect">
                <a:avLst/>
              </a:prstGeom>
              <a:blipFill>
                <a:blip r:embed="rId3"/>
                <a:stretch>
                  <a:fillRect l="-473" r="-2364" b="-1734"/>
                </a:stretch>
              </a:blipFill>
            </p:spPr>
            <p:txBody>
              <a:bodyPr/>
              <a:lstStyle/>
              <a:p>
                <a:r>
                  <a:rPr lang="zh-CN" altLang="en-US">
                    <a:noFill/>
                  </a:rPr>
                  <a:t> </a:t>
                </a:r>
              </a:p>
            </p:txBody>
          </p:sp>
        </mc:Fallback>
      </mc:AlternateContent>
      <p:sp>
        <p:nvSpPr>
          <p:cNvPr id="12" name="文本框 11"/>
          <p:cNvSpPr txBox="1"/>
          <p:nvPr/>
        </p:nvSpPr>
        <p:spPr>
          <a:xfrm>
            <a:off x="877825" y="1134256"/>
            <a:ext cx="4401186" cy="461665"/>
          </a:xfrm>
          <a:prstGeom prst="rect">
            <a:avLst/>
          </a:prstGeom>
          <a:noFill/>
        </p:spPr>
        <p:txBody>
          <a:bodyPr wrap="square">
            <a:spAutoFit/>
          </a:bodyPr>
          <a:lstStyle/>
          <a:p>
            <a:r>
              <a:rPr lang="en-GB" altLang="zh-CN" sz="2400" b="1" dirty="0">
                <a:solidFill>
                  <a:srgbClr val="C00000"/>
                </a:solidFill>
              </a:rPr>
              <a:t>RSA</a:t>
            </a:r>
            <a:r>
              <a:rPr lang="zh-CN" altLang="en-GB" sz="2400" b="1" dirty="0">
                <a:solidFill>
                  <a:srgbClr val="C00000"/>
                </a:solidFill>
              </a:rPr>
              <a:t>的</a:t>
            </a:r>
            <a:r>
              <a:rPr lang="zh-CN" altLang="en-US" sz="2400" b="1" dirty="0">
                <a:solidFill>
                  <a:srgbClr val="C00000"/>
                </a:solidFill>
              </a:rPr>
              <a:t>基础数理知识</a:t>
            </a:r>
          </a:p>
        </p:txBody>
      </p:sp>
    </p:spTree>
    <p:extLst>
      <p:ext uri="{BB962C8B-B14F-4D97-AF65-F5344CB8AC3E}">
        <p14:creationId xmlns:p14="http://schemas.microsoft.com/office/powerpoint/2010/main" val="335949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4265023" cy="461665"/>
          </a:xfrm>
          <a:prstGeom prst="rect">
            <a:avLst/>
          </a:prstGeom>
          <a:noFill/>
        </p:spPr>
        <p:txBody>
          <a:bodyPr wrap="square">
            <a:spAutoFit/>
          </a:bodyPr>
          <a:lstStyle/>
          <a:p>
            <a:r>
              <a:rPr lang="zh-CN" altLang="en-GB" sz="2400" b="1" dirty="0">
                <a:solidFill>
                  <a:srgbClr val="C00000"/>
                </a:solidFill>
              </a:rPr>
              <a:t>欧拉</a:t>
            </a:r>
            <a:r>
              <a:rPr lang="zh-CN" altLang="en-US" sz="2400" b="1" dirty="0">
                <a:solidFill>
                  <a:srgbClr val="C00000"/>
                </a:solidFill>
              </a:rPr>
              <a:t>函数</a:t>
            </a:r>
          </a:p>
        </p:txBody>
      </p:sp>
      <p:sp>
        <p:nvSpPr>
          <p:cNvPr id="2" name="矩形 1"/>
          <p:cNvSpPr>
            <a:spLocks noGrp="1"/>
          </p:cNvSpPr>
          <p:nvPr/>
        </p:nvSpPr>
        <p:spPr>
          <a:xfrm>
            <a:off x="798576" y="2362772"/>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p:sp>
        <p:nvSpPr>
          <p:cNvPr id="3" name="矩形 2"/>
          <p:cNvSpPr>
            <a:spLocks noGrp="1"/>
          </p:cNvSpPr>
          <p:nvPr/>
        </p:nvSpPr>
        <p:spPr>
          <a:xfrm>
            <a:off x="1417701" y="2362772"/>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素数</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满足</a:t>
            </a:r>
            <a:r>
              <a:rPr lang="zh-CN" altLang="en-US"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−1</a:t>
            </a:r>
          </a:p>
        </p:txBody>
      </p:sp>
      <p:sp>
        <p:nvSpPr>
          <p:cNvPr id="4" name="矩形 3"/>
          <p:cNvSpPr>
            <a:spLocks noGrp="1"/>
          </p:cNvSpPr>
          <p:nvPr/>
        </p:nvSpPr>
        <p:spPr>
          <a:xfrm>
            <a:off x="798576" y="2972372"/>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03</a:t>
            </a:r>
          </a:p>
        </p:txBody>
      </p:sp>
      <p:sp>
        <p:nvSpPr>
          <p:cNvPr id="5" name="矩形 4"/>
          <p:cNvSpPr>
            <a:spLocks noGrp="1"/>
          </p:cNvSpPr>
          <p:nvPr/>
        </p:nvSpPr>
        <p:spPr>
          <a:xfrm>
            <a:off x="1417701" y="2972372"/>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互不相同的素数</a:t>
            </a:r>
            <a:r>
              <a:rPr lang="zh-CN" altLang="en-US" sz="2000" b="0" dirty="0">
                <a:solidFill>
                  <a:srgbClr val="303030"/>
                </a:solidFill>
                <a:latin typeface="Times New Roman" panose="02020503050405090304"/>
                <a:ea typeface="微软雅黑"/>
                <a:cs typeface="Times New Roman" panose="02020503050405090304"/>
              </a:rPr>
              <a:t> </a:t>
            </a:r>
            <a:r>
              <a:rPr sz="2000" b="0" i="1" dirty="0" err="1">
                <a:solidFill>
                  <a:srgbClr val="303030"/>
                </a:solidFill>
                <a:latin typeface="Times New Roman" panose="02020503050405090304"/>
                <a:ea typeface="微软雅黑"/>
                <a:cs typeface="Times New Roman" panose="02020503050405090304"/>
              </a:rPr>
              <a:t>p</a:t>
            </a:r>
            <a:r>
              <a:rPr sz="2000" b="0" dirty="0" err="1">
                <a:solidFill>
                  <a:srgbClr val="303030"/>
                </a:solidFill>
                <a:latin typeface="Times New Roman" panose="02020503050405090304"/>
                <a:ea typeface="微软雅黑"/>
                <a:cs typeface="Times New Roman" panose="02020503050405090304"/>
              </a:rPr>
              <a:t>、</a:t>
            </a:r>
            <a:r>
              <a:rPr sz="2000" b="0" i="1" dirty="0" err="1">
                <a:solidFill>
                  <a:srgbClr val="303030"/>
                </a:solidFill>
                <a:latin typeface="Times New Roman" panose="02020503050405090304"/>
                <a:ea typeface="微软雅黑"/>
                <a:cs typeface="Times New Roman" panose="02020503050405090304"/>
              </a:rPr>
              <a:t>q</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满足</a:t>
            </a:r>
            <a:r>
              <a:rPr lang="zh-CN" altLang="en-US"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err="1">
                <a:solidFill>
                  <a:srgbClr val="303030"/>
                </a:solidFill>
                <a:latin typeface="Times New Roman" panose="02020503050405090304"/>
                <a:ea typeface="微软雅黑"/>
                <a:cs typeface="Times New Roman" panose="02020503050405090304"/>
              </a:rPr>
              <a:t>pq</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−1)(</a:t>
            </a:r>
            <a:r>
              <a:rPr sz="2000" b="0" i="1" dirty="0">
                <a:solidFill>
                  <a:srgbClr val="303030"/>
                </a:solidFill>
                <a:latin typeface="Times New Roman" panose="02020503050405090304"/>
                <a:ea typeface="微软雅黑"/>
                <a:cs typeface="Times New Roman" panose="02020503050405090304"/>
              </a:rPr>
              <a:t>q</a:t>
            </a:r>
            <a:r>
              <a:rPr sz="2000" b="0" dirty="0">
                <a:solidFill>
                  <a:srgbClr val="303030"/>
                </a:solidFill>
                <a:latin typeface="Times New Roman" panose="02020503050405090304"/>
                <a:ea typeface="微软雅黑"/>
                <a:cs typeface="Times New Roman" panose="02020503050405090304"/>
              </a:rPr>
              <a:t>−1)</a:t>
            </a:r>
          </a:p>
        </p:txBody>
      </p:sp>
      <p:sp>
        <p:nvSpPr>
          <p:cNvPr id="6" name="圆角矩形 5"/>
          <p:cNvSpPr>
            <a:spLocks noGrp="1"/>
          </p:cNvSpPr>
          <p:nvPr/>
        </p:nvSpPr>
        <p:spPr>
          <a:xfrm>
            <a:off x="798576" y="3886773"/>
            <a:ext cx="10668000" cy="1085850"/>
          </a:xfrm>
          <a:prstGeom prst="roundRect">
            <a:avLst>
              <a:gd name="adj" fmla="val 7018"/>
            </a:avLst>
          </a:prstGeom>
          <a:solidFill>
            <a:srgbClr val="FFF1F1"/>
          </a:solidFill>
          <a:ln w="9525">
            <a:solidFill>
              <a:srgbClr val="F3CACA"/>
            </a:solidFill>
          </a:ln>
        </p:spPr>
      </p:sp>
      <p:sp>
        <p:nvSpPr>
          <p:cNvPr id="7" name="矩形 6"/>
          <p:cNvSpPr>
            <a:spLocks noGrp="1"/>
          </p:cNvSpPr>
          <p:nvPr/>
        </p:nvSpPr>
        <p:spPr>
          <a:xfrm>
            <a:off x="1036701" y="3982023"/>
            <a:ext cx="10191750" cy="895350"/>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r>
              <a:rPr sz="2000" b="0" i="1" dirty="0">
                <a:solidFill>
                  <a:srgbClr val="C90012"/>
                </a:solidFill>
                <a:latin typeface="Times New Roman" panose="02020503050405090304"/>
                <a:ea typeface="微软雅黑"/>
                <a:cs typeface="Times New Roman" panose="02020503050405090304"/>
              </a:rPr>
              <a:t>N</a:t>
            </a:r>
            <a:r>
              <a:rPr sz="2000" b="0" dirty="0">
                <a:solidFill>
                  <a:srgbClr val="C90012"/>
                </a:solidFill>
                <a:latin typeface="Times New Roman" panose="02020503050405090304"/>
                <a:ea typeface="微软雅黑"/>
                <a:cs typeface="Times New Roman" panose="02020503050405090304"/>
              </a:rPr>
              <a:t> = 55 = 5×11</a:t>
            </a:r>
          </a:p>
          <a:p>
            <a:pPr algn="ctr">
              <a:defRPr sz="2325" b="0">
                <a:solidFill>
                  <a:srgbClr val="C90012"/>
                </a:solidFill>
                <a:latin typeface="Times New Roman" panose="02020503050405090304"/>
                <a:ea typeface="微软雅黑"/>
                <a:cs typeface="Times New Roman" panose="02020503050405090304"/>
              </a:defRPr>
            </a:pPr>
            <a:r>
              <a:rPr lang="zh-CN" altLang="en-US" sz="2000" b="0" dirty="0">
                <a:solidFill>
                  <a:srgbClr val="C90012"/>
                </a:solidFill>
                <a:latin typeface="Times New Roman" panose="02020503050405090304"/>
                <a:ea typeface="微软雅黑"/>
                <a:cs typeface="Times New Roman" panose="02020503050405090304"/>
              </a:rPr>
              <a:t>则</a:t>
            </a:r>
            <a:r>
              <a:rPr lang="el-GR" altLang="zh-CN" sz="2000" b="0" dirty="0">
                <a:solidFill>
                  <a:srgbClr val="C00000"/>
                </a:solidFill>
                <a:latin typeface="Times New Roman" panose="02020503050405090304"/>
                <a:ea typeface="微软雅黑"/>
                <a:cs typeface="Times New Roman" panose="02020503050405090304"/>
              </a:rPr>
              <a:t>φ</a:t>
            </a:r>
            <a:r>
              <a:rPr sz="2000" b="0" dirty="0">
                <a:solidFill>
                  <a:srgbClr val="C90012"/>
                </a:solidFill>
                <a:latin typeface="Times New Roman" panose="02020503050405090304"/>
                <a:ea typeface="微软雅黑"/>
                <a:cs typeface="Times New Roman" panose="02020503050405090304"/>
              </a:rPr>
              <a:t>(55) =</a:t>
            </a:r>
            <a:r>
              <a:rPr lang="zh-CN" altLang="en-US" sz="2000" b="0" dirty="0">
                <a:solidFill>
                  <a:srgbClr val="C90012"/>
                </a:solidFill>
                <a:latin typeface="Times New Roman" panose="02020503050405090304"/>
                <a:ea typeface="微软雅黑"/>
                <a:cs typeface="Times New Roman" panose="02020503050405090304"/>
              </a:rPr>
              <a:t>？</a:t>
            </a:r>
            <a:endParaRPr sz="2000" b="0" dirty="0">
              <a:solidFill>
                <a:srgbClr val="C90012"/>
              </a:solidFill>
              <a:latin typeface="Times New Roman" panose="02020503050405090304"/>
              <a:ea typeface="微软雅黑"/>
              <a:cs typeface="Times New Roman" panose="02020503050405090304"/>
            </a:endParaRPr>
          </a:p>
        </p:txBody>
      </p:sp>
      <p:sp>
        <p:nvSpPr>
          <p:cNvPr id="10" name="矩形 9"/>
          <p:cNvSpPr>
            <a:spLocks noGrp="1"/>
          </p:cNvSpPr>
          <p:nvPr/>
        </p:nvSpPr>
        <p:spPr>
          <a:xfrm>
            <a:off x="798576" y="1753172"/>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01</a:t>
            </a:r>
          </a:p>
        </p:txBody>
      </p:sp>
      <p:sp>
        <p:nvSpPr>
          <p:cNvPr id="16" name="矩形 15"/>
          <p:cNvSpPr>
            <a:spLocks noGrp="1"/>
          </p:cNvSpPr>
          <p:nvPr/>
        </p:nvSpPr>
        <p:spPr>
          <a:xfrm>
            <a:off x="1417701" y="1753172"/>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lang="el-GR" altLang="zh-CN" sz="2000" b="0" dirty="0">
                <a:solidFill>
                  <a:srgbClr val="303030"/>
                </a:solidFill>
                <a:latin typeface="Times New Roman" panose="02020503050405090304"/>
                <a:ea typeface="微软雅黑"/>
                <a:cs typeface="Times New Roman" panose="02020503050405090304"/>
              </a:rPr>
              <a:t>φ</a:t>
            </a:r>
            <a:r>
              <a:rPr lang="en-GB" altLang="zh-CN" sz="2000" dirty="0"/>
              <a:t> (</a:t>
            </a:r>
            <a:r>
              <a:rPr lang="en-GB" altLang="zh-CN" sz="2000" i="1" dirty="0"/>
              <a:t>N</a:t>
            </a:r>
            <a:r>
              <a:rPr lang="en-GB" altLang="zh-CN" sz="2000" dirty="0"/>
              <a:t>)</a:t>
            </a:r>
            <a:r>
              <a:rPr lang="zh-CN" altLang="en-US" sz="2000" dirty="0"/>
              <a:t> </a:t>
            </a:r>
            <a:r>
              <a:rPr sz="2000" b="0" dirty="0" err="1">
                <a:solidFill>
                  <a:srgbClr val="303030"/>
                </a:solidFill>
                <a:latin typeface="Times New Roman" panose="02020503050405090304"/>
                <a:ea typeface="微软雅黑"/>
                <a:cs typeface="Times New Roman" panose="02020503050405090304"/>
              </a:rPr>
              <a:t>统计模</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N</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剩余类中与</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N</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互素的元素</a:t>
            </a:r>
            <a:endParaRPr sz="2000" b="0" dirty="0">
              <a:solidFill>
                <a:srgbClr val="303030"/>
              </a:solidFill>
              <a:latin typeface="Times New Roman" panose="02020503050405090304"/>
              <a:ea typeface="微软雅黑"/>
              <a:cs typeface="Times New Roman" panose="0202050305040509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4265023" cy="461665"/>
          </a:xfrm>
          <a:prstGeom prst="rect">
            <a:avLst/>
          </a:prstGeom>
          <a:noFill/>
        </p:spPr>
        <p:txBody>
          <a:bodyPr wrap="square">
            <a:spAutoFit/>
          </a:bodyPr>
          <a:lstStyle/>
          <a:p>
            <a:r>
              <a:rPr lang="zh-CN" altLang="en-US" sz="2400" b="1" dirty="0">
                <a:solidFill>
                  <a:srgbClr val="C00000"/>
                </a:solidFill>
              </a:rPr>
              <a:t>欧拉函数</a:t>
            </a:r>
          </a:p>
        </p:txBody>
      </p:sp>
      <p:sp>
        <p:nvSpPr>
          <p:cNvPr id="2" name="矩形 1"/>
          <p:cNvSpPr>
            <a:spLocks noGrp="1"/>
          </p:cNvSpPr>
          <p:nvPr/>
        </p:nvSpPr>
        <p:spPr>
          <a:xfrm>
            <a:off x="798576" y="2360823"/>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p:sp>
        <p:nvSpPr>
          <p:cNvPr id="3" name="矩形 2"/>
          <p:cNvSpPr>
            <a:spLocks noGrp="1"/>
          </p:cNvSpPr>
          <p:nvPr/>
        </p:nvSpPr>
        <p:spPr>
          <a:xfrm>
            <a:off x="1417701" y="2360823"/>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素数</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满足</a:t>
            </a:r>
            <a:r>
              <a:rPr lang="zh-CN" altLang="en-US"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−1</a:t>
            </a:r>
          </a:p>
        </p:txBody>
      </p:sp>
      <p:sp>
        <p:nvSpPr>
          <p:cNvPr id="4" name="矩形 3"/>
          <p:cNvSpPr>
            <a:spLocks noGrp="1"/>
          </p:cNvSpPr>
          <p:nvPr/>
        </p:nvSpPr>
        <p:spPr>
          <a:xfrm>
            <a:off x="798576" y="2970423"/>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03</a:t>
            </a:r>
          </a:p>
        </p:txBody>
      </p:sp>
      <p:sp>
        <p:nvSpPr>
          <p:cNvPr id="5" name="矩形 4"/>
          <p:cNvSpPr>
            <a:spLocks noGrp="1"/>
          </p:cNvSpPr>
          <p:nvPr/>
        </p:nvSpPr>
        <p:spPr>
          <a:xfrm>
            <a:off x="1417701" y="2970423"/>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互不相同的素数</a:t>
            </a:r>
            <a:r>
              <a:rPr lang="zh-CN" altLang="en-US" sz="2000" b="0" dirty="0">
                <a:solidFill>
                  <a:srgbClr val="303030"/>
                </a:solidFill>
                <a:latin typeface="Times New Roman" panose="02020503050405090304"/>
                <a:ea typeface="微软雅黑"/>
                <a:cs typeface="Times New Roman" panose="02020503050405090304"/>
              </a:rPr>
              <a:t> </a:t>
            </a:r>
            <a:r>
              <a:rPr sz="2000" b="0" i="1" dirty="0" err="1">
                <a:solidFill>
                  <a:srgbClr val="303030"/>
                </a:solidFill>
                <a:latin typeface="Times New Roman" panose="02020503050405090304"/>
                <a:ea typeface="微软雅黑"/>
                <a:cs typeface="Times New Roman" panose="02020503050405090304"/>
              </a:rPr>
              <a:t>p</a:t>
            </a:r>
            <a:r>
              <a:rPr sz="2000" b="0" dirty="0" err="1">
                <a:solidFill>
                  <a:srgbClr val="303030"/>
                </a:solidFill>
                <a:latin typeface="Times New Roman" panose="02020503050405090304"/>
                <a:ea typeface="微软雅黑"/>
                <a:cs typeface="Times New Roman" panose="02020503050405090304"/>
              </a:rPr>
              <a:t>、</a:t>
            </a:r>
            <a:r>
              <a:rPr sz="2000" b="0" i="1" dirty="0" err="1">
                <a:solidFill>
                  <a:srgbClr val="303030"/>
                </a:solidFill>
                <a:latin typeface="Times New Roman" panose="02020503050405090304"/>
                <a:ea typeface="微软雅黑"/>
                <a:cs typeface="Times New Roman" panose="02020503050405090304"/>
              </a:rPr>
              <a:t>q</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满足</a:t>
            </a:r>
            <a:r>
              <a:rPr lang="zh-CN" altLang="en-US"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err="1">
                <a:solidFill>
                  <a:srgbClr val="303030"/>
                </a:solidFill>
                <a:latin typeface="Times New Roman" panose="02020503050405090304"/>
                <a:ea typeface="微软雅黑"/>
                <a:cs typeface="Times New Roman" panose="02020503050405090304"/>
              </a:rPr>
              <a:t>pq</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−1)(</a:t>
            </a:r>
            <a:r>
              <a:rPr sz="2000" b="0" i="1" dirty="0">
                <a:solidFill>
                  <a:srgbClr val="303030"/>
                </a:solidFill>
                <a:latin typeface="Times New Roman" panose="02020503050405090304"/>
                <a:ea typeface="微软雅黑"/>
                <a:cs typeface="Times New Roman" panose="02020503050405090304"/>
              </a:rPr>
              <a:t>q</a:t>
            </a:r>
            <a:r>
              <a:rPr sz="2000" b="0" dirty="0">
                <a:solidFill>
                  <a:srgbClr val="303030"/>
                </a:solidFill>
                <a:latin typeface="Times New Roman" panose="02020503050405090304"/>
                <a:ea typeface="微软雅黑"/>
                <a:cs typeface="Times New Roman" panose="02020503050405090304"/>
              </a:rPr>
              <a:t>−1)</a:t>
            </a:r>
          </a:p>
        </p:txBody>
      </p:sp>
      <p:sp>
        <p:nvSpPr>
          <p:cNvPr id="6" name="圆角矩形 5"/>
          <p:cNvSpPr>
            <a:spLocks noGrp="1"/>
          </p:cNvSpPr>
          <p:nvPr/>
        </p:nvSpPr>
        <p:spPr>
          <a:xfrm>
            <a:off x="798576" y="3884824"/>
            <a:ext cx="10668000" cy="1085850"/>
          </a:xfrm>
          <a:prstGeom prst="roundRect">
            <a:avLst>
              <a:gd name="adj" fmla="val 7018"/>
            </a:avLst>
          </a:prstGeom>
          <a:solidFill>
            <a:srgbClr val="FFF1F1"/>
          </a:solidFill>
          <a:ln w="9525">
            <a:solidFill>
              <a:srgbClr val="F3CACA"/>
            </a:solidFill>
          </a:ln>
        </p:spPr>
      </p:sp>
      <p:sp>
        <p:nvSpPr>
          <p:cNvPr id="7" name="矩形 6"/>
          <p:cNvSpPr>
            <a:spLocks noGrp="1"/>
          </p:cNvSpPr>
          <p:nvPr/>
        </p:nvSpPr>
        <p:spPr>
          <a:xfrm>
            <a:off x="1036701" y="3980074"/>
            <a:ext cx="10191750" cy="895350"/>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r>
              <a:rPr sz="2000" b="0" i="1" dirty="0">
                <a:solidFill>
                  <a:srgbClr val="C90012"/>
                </a:solidFill>
                <a:latin typeface="Times New Roman" panose="02020503050405090304"/>
                <a:ea typeface="微软雅黑"/>
                <a:cs typeface="Times New Roman" panose="02020503050405090304"/>
              </a:rPr>
              <a:t>N</a:t>
            </a:r>
            <a:r>
              <a:rPr sz="2000" b="0" dirty="0">
                <a:solidFill>
                  <a:srgbClr val="C90012"/>
                </a:solidFill>
                <a:latin typeface="Times New Roman" panose="02020503050405090304"/>
                <a:ea typeface="微软雅黑"/>
                <a:cs typeface="Times New Roman" panose="02020503050405090304"/>
              </a:rPr>
              <a:t> = 55 = 5×11</a:t>
            </a:r>
          </a:p>
          <a:p>
            <a:pPr algn="ctr">
              <a:defRPr sz="2325" b="0">
                <a:solidFill>
                  <a:srgbClr val="C90012"/>
                </a:solidFill>
                <a:latin typeface="Times New Roman" panose="02020503050405090304"/>
                <a:ea typeface="微软雅黑"/>
                <a:cs typeface="Times New Roman" panose="02020503050405090304"/>
              </a:defRPr>
            </a:pPr>
            <a:r>
              <a:rPr lang="el-GR" altLang="zh-CN" sz="2000" b="0" dirty="0">
                <a:solidFill>
                  <a:srgbClr val="C00000"/>
                </a:solidFill>
                <a:latin typeface="Times New Roman" panose="02020503050405090304"/>
                <a:ea typeface="微软雅黑"/>
                <a:cs typeface="Times New Roman" panose="02020503050405090304"/>
              </a:rPr>
              <a:t>φ</a:t>
            </a:r>
            <a:r>
              <a:rPr sz="2000" b="0" dirty="0">
                <a:solidFill>
                  <a:srgbClr val="C90012"/>
                </a:solidFill>
                <a:latin typeface="Times New Roman" panose="02020503050405090304"/>
                <a:ea typeface="微软雅黑"/>
                <a:cs typeface="Times New Roman" panose="02020503050405090304"/>
              </a:rPr>
              <a:t>(55) =</a:t>
            </a:r>
            <a:r>
              <a:rPr lang="zh-CN" altLang="en-US" sz="2000" dirty="0">
                <a:solidFill>
                  <a:srgbClr val="C90012"/>
                </a:solidFill>
              </a:rPr>
              <a:t> </a:t>
            </a:r>
            <a:r>
              <a:rPr lang="en-US" altLang="zh-CN" sz="2000" dirty="0">
                <a:solidFill>
                  <a:srgbClr val="C90012"/>
                </a:solidFill>
              </a:rPr>
              <a:t>4</a:t>
            </a:r>
            <a:r>
              <a:rPr lang="en-US" altLang="zh-CN" sz="2000" b="0" dirty="0">
                <a:solidFill>
                  <a:srgbClr val="C90012"/>
                </a:solidFill>
                <a:latin typeface="Times New Roman" panose="02020503050405090304"/>
                <a:ea typeface="微软雅黑"/>
                <a:cs typeface="Times New Roman" panose="02020503050405090304"/>
              </a:rPr>
              <a:t>×10=40</a:t>
            </a:r>
            <a:endParaRPr sz="2000" b="0" dirty="0">
              <a:solidFill>
                <a:srgbClr val="C90012"/>
              </a:solidFill>
              <a:latin typeface="Times New Roman" panose="02020503050405090304"/>
              <a:ea typeface="微软雅黑"/>
              <a:cs typeface="Times New Roman" panose="02020503050405090304"/>
            </a:endParaRPr>
          </a:p>
        </p:txBody>
      </p:sp>
      <p:sp>
        <p:nvSpPr>
          <p:cNvPr id="10" name="矩形 9"/>
          <p:cNvSpPr>
            <a:spLocks noGrp="1"/>
          </p:cNvSpPr>
          <p:nvPr/>
        </p:nvSpPr>
        <p:spPr>
          <a:xfrm>
            <a:off x="798576" y="1751223"/>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01</a:t>
            </a:r>
          </a:p>
        </p:txBody>
      </p:sp>
      <p:sp>
        <p:nvSpPr>
          <p:cNvPr id="16" name="矩形 15"/>
          <p:cNvSpPr>
            <a:spLocks noGrp="1"/>
          </p:cNvSpPr>
          <p:nvPr/>
        </p:nvSpPr>
        <p:spPr>
          <a:xfrm>
            <a:off x="1417701" y="1751223"/>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lang="el-GR" altLang="zh-CN" sz="2000" b="0" dirty="0">
                <a:solidFill>
                  <a:srgbClr val="303030"/>
                </a:solidFill>
                <a:latin typeface="Times New Roman" panose="02020503050405090304"/>
                <a:ea typeface="微软雅黑"/>
                <a:cs typeface="Times New Roman" panose="02020503050405090304"/>
              </a:rPr>
              <a:t>φ</a:t>
            </a:r>
            <a:r>
              <a:rPr lang="en-GB" altLang="zh-CN" sz="2000" dirty="0"/>
              <a:t> (</a:t>
            </a:r>
            <a:r>
              <a:rPr lang="en-GB" altLang="zh-CN" sz="2000" i="1" dirty="0"/>
              <a:t>N</a:t>
            </a:r>
            <a:r>
              <a:rPr lang="en-GB" altLang="zh-CN" sz="2000" dirty="0"/>
              <a:t>)</a:t>
            </a:r>
            <a:r>
              <a:rPr lang="zh-CN" altLang="en-US" sz="2000" dirty="0"/>
              <a:t> </a:t>
            </a:r>
            <a:r>
              <a:rPr sz="2000" b="0" dirty="0" err="1">
                <a:solidFill>
                  <a:srgbClr val="303030"/>
                </a:solidFill>
                <a:latin typeface="Times New Roman" panose="02020503050405090304"/>
                <a:ea typeface="微软雅黑"/>
                <a:cs typeface="Times New Roman" panose="02020503050405090304"/>
              </a:rPr>
              <a:t>统计模</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N</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剩余类中与</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N</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互素的元素</a:t>
            </a:r>
            <a:endParaRPr sz="2000" b="0" dirty="0">
              <a:solidFill>
                <a:srgbClr val="303030"/>
              </a:solidFill>
              <a:latin typeface="Times New Roman" panose="02020503050405090304"/>
              <a:ea typeface="微软雅黑"/>
              <a:cs typeface="Times New Roman" panose="0202050305040509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4265023" cy="461665"/>
          </a:xfrm>
          <a:prstGeom prst="rect">
            <a:avLst/>
          </a:prstGeom>
          <a:noFill/>
        </p:spPr>
        <p:txBody>
          <a:bodyPr wrap="square">
            <a:spAutoFit/>
          </a:bodyPr>
          <a:lstStyle/>
          <a:p>
            <a:pPr algn="l">
              <a:defRPr sz="1350" b="0">
                <a:solidFill>
                  <a:srgbClr val="8B3D3D"/>
                </a:solidFill>
                <a:latin typeface="Times New Roman" panose="02020503050405090304"/>
                <a:ea typeface="微软雅黑"/>
                <a:cs typeface="Times New Roman" panose="02020503050405090304"/>
              </a:defRPr>
            </a:pPr>
            <a:r>
              <a:rPr lang="zh-CN" altLang="en-US" sz="2400" b="1" dirty="0">
                <a:solidFill>
                  <a:srgbClr val="C00000"/>
                </a:solidFill>
                <a:latin typeface="Times New Roman" panose="02020503050405090304"/>
                <a:ea typeface="微软雅黑"/>
                <a:cs typeface="Times New Roman" panose="02020503050405090304"/>
              </a:rPr>
              <a:t>模逆元的计算</a:t>
            </a:r>
          </a:p>
        </p:txBody>
      </p:sp>
      <p:sp>
        <p:nvSpPr>
          <p:cNvPr id="8" name="矩形 7"/>
          <p:cNvSpPr>
            <a:spLocks noGrp="1"/>
          </p:cNvSpPr>
          <p:nvPr/>
        </p:nvSpPr>
        <p:spPr>
          <a:xfrm>
            <a:off x="762000" y="14763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01</a:t>
            </a:r>
          </a:p>
        </p:txBody>
      </p:sp>
      <p:sp>
        <p:nvSpPr>
          <p:cNvPr id="11" name="矩形 10"/>
          <p:cNvSpPr>
            <a:spLocks noGrp="1"/>
          </p:cNvSpPr>
          <p:nvPr/>
        </p:nvSpPr>
        <p:spPr>
          <a:xfrm>
            <a:off x="1381125" y="14763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若</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ed</a:t>
            </a:r>
            <a:r>
              <a:rPr sz="2000" b="0" dirty="0">
                <a:solidFill>
                  <a:srgbClr val="303030"/>
                </a:solidFill>
                <a:latin typeface="Times New Roman" panose="02020503050405090304"/>
                <a:ea typeface="微软雅黑"/>
                <a:cs typeface="Times New Roman" panose="02020503050405090304"/>
              </a:rPr>
              <a:t> ≡ 1 (mod </a:t>
            </a:r>
            <a:r>
              <a:rPr sz="2000" b="0" i="1" dirty="0" err="1">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N</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d</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是</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e</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的模逆元</a:t>
            </a:r>
            <a:endParaRPr sz="2000" b="0" dirty="0">
              <a:solidFill>
                <a:srgbClr val="303030"/>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762000" y="20859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p:sp>
        <p:nvSpPr>
          <p:cNvPr id="15" name="矩形 14"/>
          <p:cNvSpPr>
            <a:spLocks noGrp="1"/>
          </p:cNvSpPr>
          <p:nvPr/>
        </p:nvSpPr>
        <p:spPr>
          <a:xfrm>
            <a:off x="1381125" y="20859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lang="en-GB" sz="2000" b="0" dirty="0" err="1">
                <a:solidFill>
                  <a:srgbClr val="303030"/>
                </a:solidFill>
                <a:latin typeface="Times New Roman" panose="02020503050405090304"/>
                <a:ea typeface="微软雅黑"/>
                <a:cs typeface="Times New Roman" panose="02020503050405090304"/>
              </a:rPr>
              <a:t>求解</a:t>
            </a:r>
            <a:r>
              <a:rPr lang="zh-CN" altLang="en-US" sz="2000" b="0" dirty="0">
                <a:solidFill>
                  <a:srgbClr val="303030"/>
                </a:solidFill>
                <a:latin typeface="Times New Roman" panose="02020503050405090304"/>
                <a:ea typeface="微软雅黑"/>
                <a:cs typeface="Times New Roman" panose="02020503050405090304"/>
              </a:rPr>
              <a:t> </a:t>
            </a:r>
            <a:r>
              <a:rPr lang="en-GB" sz="2000" b="0" i="1" dirty="0">
                <a:solidFill>
                  <a:srgbClr val="303030"/>
                </a:solidFill>
                <a:latin typeface="Times New Roman" panose="02020503050405090304"/>
                <a:ea typeface="微软雅黑"/>
                <a:cs typeface="Times New Roman" panose="02020503050405090304"/>
              </a:rPr>
              <a:t>e</a:t>
            </a:r>
            <a:r>
              <a:rPr lang="zh-CN" altLang="en-US" sz="2000" b="0" i="1"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7</a:t>
            </a:r>
            <a:r>
              <a:rPr lang="zh-CN" altLang="en-US" sz="2000" b="0"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与</a:t>
            </a:r>
            <a:r>
              <a:rPr lang="zh-CN" altLang="en-US"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sz="2000" b="0" dirty="0">
                <a:solidFill>
                  <a:srgbClr val="303030"/>
                </a:solidFill>
                <a:latin typeface="Times New Roman" panose="02020503050405090304"/>
                <a:ea typeface="微软雅黑"/>
                <a:cs typeface="Times New Roman" panose="02020503050405090304"/>
              </a:rPr>
              <a:t>(</a:t>
            </a:r>
            <a:r>
              <a:rPr sz="2000" b="0" i="1" dirty="0">
                <a:solidFill>
                  <a:srgbClr val="303030"/>
                </a:solidFill>
                <a:latin typeface="Times New Roman" panose="02020503050405090304"/>
                <a:ea typeface="微软雅黑"/>
                <a:cs typeface="Times New Roman" panose="02020503050405090304"/>
              </a:rPr>
              <a:t>N</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40</a:t>
            </a:r>
            <a:r>
              <a:rPr lang="zh-CN" altLang="en-US" sz="2000" b="0" dirty="0">
                <a:solidFill>
                  <a:srgbClr val="303030"/>
                </a:solidFill>
                <a:latin typeface="Times New Roman" panose="02020503050405090304"/>
                <a:ea typeface="微软雅黑"/>
                <a:cs typeface="Times New Roman" panose="02020503050405090304"/>
              </a:rPr>
              <a:t> 时的 </a:t>
            </a:r>
            <a:r>
              <a:rPr lang="en-GB" altLang="zh-CN" sz="2000" b="0" i="1" dirty="0">
                <a:solidFill>
                  <a:srgbClr val="303030"/>
                </a:solidFill>
                <a:latin typeface="Times New Roman" panose="02020503050405090304"/>
                <a:ea typeface="微软雅黑"/>
                <a:cs typeface="Times New Roman" panose="02020503050405090304"/>
              </a:rPr>
              <a:t>d</a:t>
            </a:r>
            <a:endParaRPr sz="2000" b="0" dirty="0">
              <a:solidFill>
                <a:srgbClr val="303030"/>
              </a:solidFill>
              <a:latin typeface="Times New Roman" panose="02020503050405090304"/>
              <a:ea typeface="微软雅黑"/>
              <a:cs typeface="Times New Roman" panose="02020503050405090304"/>
            </a:endParaRPr>
          </a:p>
        </p:txBody>
      </p:sp>
      <p:sp>
        <p:nvSpPr>
          <p:cNvPr id="3" name="文本框 2"/>
          <p:cNvSpPr txBox="1"/>
          <p:nvPr/>
        </p:nvSpPr>
        <p:spPr>
          <a:xfrm>
            <a:off x="4365625" y="3339584"/>
            <a:ext cx="16462288" cy="400110"/>
          </a:xfrm>
          <a:prstGeom prst="rect">
            <a:avLst/>
          </a:prstGeom>
          <a:noFill/>
        </p:spPr>
        <p:txBody>
          <a:bodyPr wrap="square">
            <a:spAutoFit/>
          </a:bodyPr>
          <a:lstStyle/>
          <a:p>
            <a:pPr algn="l">
              <a:defRPr sz="2025" b="0">
                <a:solidFill>
                  <a:srgbClr val="303030"/>
                </a:solidFill>
                <a:latin typeface="Times New Roman" panose="02020503050405090304"/>
                <a:ea typeface="微软雅黑"/>
                <a:cs typeface="Times New Roman" panose="02020503050405090304"/>
              </a:defRPr>
            </a:pPr>
            <a:r>
              <a:rPr lang="en-US" altLang="zh-CN" sz="2000" b="0" dirty="0">
                <a:solidFill>
                  <a:srgbClr val="303030"/>
                </a:solidFill>
                <a:latin typeface="Times New Roman" panose="02020503050405090304"/>
                <a:ea typeface="微软雅黑"/>
                <a:cs typeface="Times New Roman" panose="02020503050405090304"/>
              </a:rPr>
              <a:t>1</a:t>
            </a:r>
            <a:r>
              <a:rPr lang="zh-CN" altLang="en-US" sz="2000" b="0" dirty="0">
                <a:solidFill>
                  <a:srgbClr val="303030"/>
                </a:solidFill>
                <a:latin typeface="Times New Roman" panose="02020503050405090304"/>
                <a:ea typeface="微软雅黑"/>
                <a:cs typeface="Times New Roman" panose="02020503050405090304"/>
              </a:rPr>
              <a:t> </a:t>
            </a:r>
            <a:r>
              <a:rPr lang="en-US" altLang="zh-CN"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lang="en-US" altLang="zh-CN" sz="2000" b="0" dirty="0">
                <a:solidFill>
                  <a:srgbClr val="303030"/>
                </a:solidFill>
                <a:latin typeface="Times New Roman" panose="02020503050405090304"/>
                <a:ea typeface="微软雅黑"/>
                <a:cs typeface="Times New Roman" panose="02020503050405090304"/>
              </a:rPr>
              <a:t>3×40−17×7</a:t>
            </a:r>
            <a:r>
              <a:rPr lang="zh-CN" altLang="en-US" sz="2000" b="0" dirty="0">
                <a:solidFill>
                  <a:srgbClr val="303030"/>
                </a:solidFill>
                <a:latin typeface="Times New Roman" panose="02020503050405090304"/>
                <a:ea typeface="微软雅黑"/>
                <a:cs typeface="Times New Roman" panose="02020503050405090304"/>
              </a:rPr>
              <a:t>，因此 </a:t>
            </a:r>
            <a:r>
              <a:rPr lang="en-GB" altLang="zh-CN" sz="2000" b="0" i="1" dirty="0">
                <a:solidFill>
                  <a:srgbClr val="303030"/>
                </a:solidFill>
                <a:latin typeface="Times New Roman" panose="02020503050405090304"/>
                <a:ea typeface="微软雅黑"/>
                <a:cs typeface="Times New Roman" panose="02020503050405090304"/>
              </a:rPr>
              <a:t>d </a:t>
            </a:r>
            <a:r>
              <a:rPr lang="en-GB" altLang="zh-CN" sz="2000" b="0" dirty="0">
                <a:solidFill>
                  <a:srgbClr val="303030"/>
                </a:solidFill>
                <a:latin typeface="Times New Roman" panose="02020503050405090304"/>
                <a:ea typeface="微软雅黑"/>
                <a:cs typeface="Times New Roman" panose="02020503050405090304"/>
              </a:rPr>
              <a:t>≡ −17 ≡ 23</a:t>
            </a:r>
          </a:p>
        </p:txBody>
      </p:sp>
      <p:sp>
        <p:nvSpPr>
          <p:cNvPr id="4" name="矩形 3"/>
          <p:cNvSpPr>
            <a:spLocks noGrp="1"/>
          </p:cNvSpPr>
          <p:nvPr/>
        </p:nvSpPr>
        <p:spPr>
          <a:xfrm>
            <a:off x="952500" y="3905250"/>
            <a:ext cx="10287000" cy="523875"/>
          </a:xfrm>
          <a:prstGeom prst="rect">
            <a:avLst/>
          </a:prstGeom>
          <a:noFill/>
          <a:ln w="0">
            <a:noFill/>
          </a:ln>
        </p:spPr>
        <p:txBody>
          <a:bodyPr wrap="square" lIns="0" tIns="0" rIns="0" bIns="0" anchor="ctr">
            <a:noAutofit/>
          </a:bodyPr>
          <a:lstStyle>
            <a:defPPr algn="ctr">
              <a:defRPr sz="2100" b="0">
                <a:solidFill>
                  <a:srgbClr val="C90012"/>
                </a:solidFill>
                <a:latin typeface="Times New Roman" panose="02020503050405090304"/>
                <a:ea typeface="微软雅黑"/>
                <a:cs typeface="Times New Roman" panose="02020503050405090304"/>
              </a:defRPr>
            </a:defPPr>
          </a:lstStyle>
          <a:p>
            <a:pPr algn="ctr">
              <a:defRPr sz="2100" b="0">
                <a:solidFill>
                  <a:srgbClr val="C90012"/>
                </a:solidFill>
                <a:latin typeface="Times New Roman" panose="02020503050405090304"/>
                <a:ea typeface="微软雅黑"/>
                <a:cs typeface="Times New Roman" panose="02020503050405090304"/>
              </a:defRPr>
            </a:pPr>
            <a:r>
              <a:rPr sz="2000" b="0">
                <a:solidFill>
                  <a:srgbClr val="C90012"/>
                </a:solidFill>
                <a:latin typeface="Times New Roman" panose="02020503050405090304"/>
                <a:ea typeface="微软雅黑"/>
                <a:cs typeface="Times New Roman" panose="02020503050405090304"/>
              </a:rPr>
              <a:t>7 × 23 = 161 ≡ 1 (mod 40)</a:t>
            </a:r>
          </a:p>
        </p:txBody>
      </p:sp>
      <p:sp>
        <p:nvSpPr>
          <p:cNvPr id="5" name="圆角矩形 4"/>
          <p:cNvSpPr>
            <a:spLocks noGrp="1"/>
          </p:cNvSpPr>
          <p:nvPr/>
        </p:nvSpPr>
        <p:spPr>
          <a:xfrm>
            <a:off x="762000" y="4810125"/>
            <a:ext cx="3270250" cy="838200"/>
          </a:xfrm>
          <a:prstGeom prst="roundRect">
            <a:avLst>
              <a:gd name="adj" fmla="val 9091"/>
            </a:avLst>
          </a:prstGeom>
          <a:solidFill>
            <a:srgbClr val="FFFFFF"/>
          </a:solidFill>
          <a:ln w="9525">
            <a:solidFill>
              <a:srgbClr val="E4BABA"/>
            </a:solidFill>
          </a:ln>
        </p:spPr>
      </p:sp>
      <p:sp>
        <p:nvSpPr>
          <p:cNvPr id="6" name="矩形 5"/>
          <p:cNvSpPr>
            <a:spLocks noGrp="1"/>
          </p:cNvSpPr>
          <p:nvPr/>
        </p:nvSpPr>
        <p:spPr>
          <a:xfrm>
            <a:off x="847725" y="486727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互素检查</a:t>
            </a:r>
            <a:r>
              <a:rPr lang="en-US" sz="2000" b="0" dirty="0">
                <a:solidFill>
                  <a:srgbClr val="303030"/>
                </a:solidFill>
                <a:latin typeface="Times New Roman" panose="02020503050405090304"/>
                <a:ea typeface="微软雅黑"/>
                <a:cs typeface="Times New Roman" panose="02020503050405090304"/>
              </a:rPr>
              <a:t> </a:t>
            </a:r>
            <a:r>
              <a:rPr lang="en-US" altLang="zh-CN" sz="2000" b="0" i="1" dirty="0">
                <a:solidFill>
                  <a:srgbClr val="303030"/>
                </a:solidFill>
                <a:latin typeface="Times New Roman" panose="02020503050405090304"/>
                <a:ea typeface="微软雅黑"/>
                <a:cs typeface="Times New Roman" panose="02020503050405090304"/>
              </a:rPr>
              <a:t>e</a:t>
            </a:r>
            <a:r>
              <a:rPr lang="en-US" altLang="zh-CN" sz="2000" b="0" dirty="0">
                <a:solidFill>
                  <a:srgbClr val="303030"/>
                </a:solidFill>
                <a:latin typeface="Times New Roman" panose="02020503050405090304"/>
                <a:ea typeface="微软雅黑"/>
                <a:cs typeface="Times New Roman" panose="02020503050405090304"/>
              </a:rPr>
              <a:t>, </a:t>
            </a:r>
            <a:r>
              <a:rPr lang="el-GR" altLang="zh-CN" sz="2000" b="0" dirty="0">
                <a:solidFill>
                  <a:srgbClr val="303030"/>
                </a:solidFill>
                <a:latin typeface="Times New Roman" panose="02020503050405090304"/>
                <a:ea typeface="微软雅黑"/>
                <a:cs typeface="Times New Roman" panose="02020503050405090304"/>
              </a:rPr>
              <a:t>φ(</a:t>
            </a:r>
            <a:r>
              <a:rPr lang="en-GB" altLang="zh-CN" sz="2000" b="0" i="1" dirty="0">
                <a:solidFill>
                  <a:srgbClr val="303030"/>
                </a:solidFill>
                <a:latin typeface="Times New Roman" panose="02020503050405090304"/>
                <a:ea typeface="微软雅黑"/>
                <a:cs typeface="Times New Roman" panose="02020503050405090304"/>
              </a:rPr>
              <a:t>N</a:t>
            </a:r>
            <a:r>
              <a:rPr lang="en-GB" altLang="zh-CN" sz="2000" b="0" dirty="0">
                <a:solidFill>
                  <a:srgbClr val="303030"/>
                </a:solidFill>
                <a:latin typeface="Times New Roman" panose="02020503050405090304"/>
                <a:ea typeface="微软雅黑"/>
                <a:cs typeface="Times New Roman" panose="02020503050405090304"/>
              </a:rPr>
              <a:t>)</a:t>
            </a:r>
            <a:endParaRPr sz="2000" b="0" dirty="0">
              <a:solidFill>
                <a:srgbClr val="303030"/>
              </a:solidFill>
              <a:latin typeface="Times New Roman" panose="02020503050405090304"/>
              <a:ea typeface="微软雅黑"/>
              <a:cs typeface="Times New Roman" panose="02020503050405090304"/>
            </a:endParaRPr>
          </a:p>
        </p:txBody>
      </p:sp>
      <p:sp>
        <p:nvSpPr>
          <p:cNvPr id="7" name="右箭头 6"/>
          <p:cNvSpPr>
            <a:spLocks noGrp="1"/>
          </p:cNvSpPr>
          <p:nvPr/>
        </p:nvSpPr>
        <p:spPr>
          <a:xfrm>
            <a:off x="4098925" y="5124450"/>
            <a:ext cx="219075" cy="200025"/>
          </a:xfrm>
          <a:prstGeom prst="rightArrow">
            <a:avLst/>
          </a:prstGeom>
          <a:solidFill>
            <a:srgbClr val="C90012"/>
          </a:solidFill>
          <a:ln w="0">
            <a:noFill/>
          </a:ln>
        </p:spPr>
      </p:sp>
      <p:sp>
        <p:nvSpPr>
          <p:cNvPr id="10" name="圆角矩形 9"/>
          <p:cNvSpPr>
            <a:spLocks noGrp="1"/>
          </p:cNvSpPr>
          <p:nvPr/>
        </p:nvSpPr>
        <p:spPr>
          <a:xfrm>
            <a:off x="4365625" y="4810125"/>
            <a:ext cx="3270250" cy="838200"/>
          </a:xfrm>
          <a:prstGeom prst="roundRect">
            <a:avLst>
              <a:gd name="adj" fmla="val 9091"/>
            </a:avLst>
          </a:prstGeom>
          <a:solidFill>
            <a:srgbClr val="FFF1F1"/>
          </a:solidFill>
          <a:ln w="9525">
            <a:solidFill>
              <a:srgbClr val="E4BABA"/>
            </a:solidFill>
          </a:ln>
        </p:spPr>
      </p:sp>
      <p:sp>
        <p:nvSpPr>
          <p:cNvPr id="16" name="矩形 15"/>
          <p:cNvSpPr>
            <a:spLocks noGrp="1"/>
          </p:cNvSpPr>
          <p:nvPr/>
        </p:nvSpPr>
        <p:spPr>
          <a:xfrm>
            <a:off x="4451350" y="486727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000" b="0">
                <a:solidFill>
                  <a:srgbClr val="303030"/>
                </a:solidFill>
                <a:latin typeface="Times New Roman" panose="02020503050405090304"/>
                <a:ea typeface="微软雅黑"/>
                <a:cs typeface="Times New Roman" panose="02020503050405090304"/>
              </a:rPr>
              <a:t>扩展欧几里得</a:t>
            </a:r>
          </a:p>
        </p:txBody>
      </p:sp>
      <p:sp>
        <p:nvSpPr>
          <p:cNvPr id="27" name="右箭头 26"/>
          <p:cNvSpPr>
            <a:spLocks noGrp="1"/>
          </p:cNvSpPr>
          <p:nvPr/>
        </p:nvSpPr>
        <p:spPr>
          <a:xfrm>
            <a:off x="7702550" y="5124450"/>
            <a:ext cx="219075" cy="200025"/>
          </a:xfrm>
          <a:prstGeom prst="rightArrow">
            <a:avLst/>
          </a:prstGeom>
          <a:solidFill>
            <a:srgbClr val="C90012"/>
          </a:solidFill>
          <a:ln w="0">
            <a:noFill/>
          </a:ln>
        </p:spPr>
      </p:sp>
      <p:sp>
        <p:nvSpPr>
          <p:cNvPr id="28" name="圆角矩形 27"/>
          <p:cNvSpPr>
            <a:spLocks noGrp="1"/>
          </p:cNvSpPr>
          <p:nvPr/>
        </p:nvSpPr>
        <p:spPr>
          <a:xfrm>
            <a:off x="7969250" y="4810125"/>
            <a:ext cx="3270250" cy="838200"/>
          </a:xfrm>
          <a:prstGeom prst="roundRect">
            <a:avLst>
              <a:gd name="adj" fmla="val 9091"/>
            </a:avLst>
          </a:prstGeom>
          <a:solidFill>
            <a:srgbClr val="FFFFFF"/>
          </a:solidFill>
          <a:ln w="9525">
            <a:solidFill>
              <a:srgbClr val="E4BABA"/>
            </a:solidFill>
          </a:ln>
        </p:spPr>
      </p:sp>
      <p:sp>
        <p:nvSpPr>
          <p:cNvPr id="29" name="矩形 28"/>
          <p:cNvSpPr>
            <a:spLocks noGrp="1"/>
          </p:cNvSpPr>
          <p:nvPr/>
        </p:nvSpPr>
        <p:spPr>
          <a:xfrm>
            <a:off x="8054975" y="4867275"/>
            <a:ext cx="3098800" cy="723900"/>
          </a:xfrm>
          <a:prstGeom prst="rect">
            <a:avLst/>
          </a:prstGeom>
          <a:noFill/>
          <a:ln w="0">
            <a:noFill/>
          </a:ln>
        </p:spPr>
        <p:txBody>
          <a:bodyPr wrap="square" lIns="0" tIns="0" rIns="0" bIns="0" anchor="ctr">
            <a:noAutofit/>
          </a:bodyPr>
          <a:lstStyle>
            <a:defPPr algn="ctr">
              <a:defRPr sz="1950" b="0">
                <a:solidFill>
                  <a:srgbClr val="303030"/>
                </a:solidFill>
                <a:latin typeface="Times New Roman" panose="02020503050405090304"/>
                <a:ea typeface="微软雅黑"/>
                <a:cs typeface="Times New Roman" panose="02020503050405090304"/>
              </a:defRPr>
            </a:defPPr>
          </a:lstStyle>
          <a:p>
            <a:pPr algn="ctr">
              <a:defRPr sz="1950"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取模得到</a:t>
            </a:r>
            <a:r>
              <a:rPr 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4265023" cy="461665"/>
          </a:xfrm>
          <a:prstGeom prst="rect">
            <a:avLst/>
          </a:prstGeom>
          <a:noFill/>
        </p:spPr>
        <p:txBody>
          <a:bodyPr wrap="square">
            <a:spAutoFit/>
          </a:bodyPr>
          <a:lstStyle/>
          <a:p>
            <a:r>
              <a:rPr lang="en-GB" altLang="zh-CN" sz="2400" b="1" dirty="0">
                <a:solidFill>
                  <a:srgbClr val="C00000"/>
                </a:solidFill>
              </a:rPr>
              <a:t>RSA</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735209" y="1622656"/>
            <a:ext cx="10721581" cy="4582933"/>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0"/>
          <p:cNvSpPr txBox="1"/>
          <p:nvPr/>
        </p:nvSpPr>
        <p:spPr>
          <a:xfrm>
            <a:off x="932815" y="1892536"/>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latin typeface="+mn-lt"/>
              </a:rPr>
              <a:t>Gen(</a:t>
            </a:r>
            <a:r>
              <a:rPr sz="2400" dirty="0" err="1">
                <a:latin typeface="+mn-lt"/>
              </a:rPr>
              <a:t>λ</a:t>
            </a:r>
            <a:r>
              <a:rPr sz="2400" dirty="0">
                <a:latin typeface="+mn-lt"/>
              </a:rPr>
              <a:t>)</a:t>
            </a:r>
            <a:r>
              <a:rPr lang="zh-CN" altLang="en-GB" sz="2400" dirty="0">
                <a:latin typeface="+mn-lt"/>
              </a:rPr>
              <a:t>算法</a:t>
            </a:r>
            <a:endParaRPr sz="2400" dirty="0"/>
          </a:p>
        </p:txBody>
      </p:sp>
      <mc:AlternateContent xmlns:mc="http://schemas.openxmlformats.org/markup-compatibility/2006" xmlns:a14="http://schemas.microsoft.com/office/drawing/2010/main">
        <mc:Choice Requires="a14">
          <p:sp>
            <p:nvSpPr>
              <p:cNvPr id="18" name="TextBox 11"/>
              <p:cNvSpPr txBox="1"/>
              <p:nvPr/>
            </p:nvSpPr>
            <p:spPr>
              <a:xfrm>
                <a:off x="877823" y="2513807"/>
                <a:ext cx="10200855" cy="3240182"/>
              </a:xfrm>
              <a:prstGeom prst="rect">
                <a:avLst/>
              </a:prstGeom>
              <a:noFill/>
            </p:spPr>
            <p:txBody>
              <a:bodyPr wrap="square" lIns="64008" tIns="32004" rIns="36576">
                <a:spAutoFit/>
              </a:bodyPr>
              <a:lstStyle/>
              <a:p>
                <a:pPr lvl="0" algn="just" hangingPunct="0">
                  <a:lnSpc>
                    <a:spcPct val="130000"/>
                  </a:lnSpc>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当输入安全参数</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m:rPr>
                        <m:nor/>
                      </m:rPr>
                      <a:rPr lang="en-US" altLang="zh-CN" sz="2000">
                        <a:solidFill>
                          <a:srgbClr val="000000"/>
                        </a:solidFill>
                        <a:effectLst/>
                        <a:latin typeface="Times New Roman" panose="02020503050405090304" pitchFamily="18" charset="0"/>
                        <a:ea typeface="微软雅黑" panose="020B0503020204020204" charset="-122"/>
                        <a:cs typeface="宋体" pitchFamily="2" charset="-122"/>
                      </a:rPr>
                      <m:t>λ</m:t>
                    </m:r>
                    <m:r>
                      <m:rPr>
                        <m:nor/>
                      </m:rPr>
                      <a:rPr lang="en-US" altLang="zh-CN" sz="2000" b="0" i="0" smtClean="0">
                        <a:solidFill>
                          <a:srgbClr val="000000"/>
                        </a:solidFill>
                        <a:effectLst/>
                        <a:latin typeface="Times New Roman" panose="02020503050405090304" pitchFamily="18" charset="0"/>
                        <a:ea typeface="微软雅黑" panose="020B0503020204020204" charset="-122"/>
                        <a:cs typeface="宋体" pitchFamily="2" charset="-122"/>
                      </a:rPr>
                      <m:t> </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，该算法输出一对密钥对</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(pk</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宋体" pitchFamily="2" charset="-122"/>
                      </a:rPr>
                      <m:t>,</m:t>
                    </m:r>
                    <m:r>
                      <m:rPr>
                        <m:sty m:val="p"/>
                      </m:rPr>
                      <a:rPr lang="en-US" altLang="zh-CN" sz="2000" i="0">
                        <a:solidFill>
                          <a:srgbClr val="000000"/>
                        </a:solidFill>
                        <a:effectLst/>
                        <a:latin typeface="Cambria Math" panose="02040503050406030204" pitchFamily="18" charset="0"/>
                        <a:ea typeface="宋体" pitchFamily="2" charset="-122"/>
                        <a:cs typeface="宋体" pitchFamily="2" charset="-122"/>
                      </a:rPr>
                      <m:t>sk</m:t>
                    </m:r>
                    <m:r>
                      <a:rPr lang="en-US" altLang="zh-CN" sz="2000" i="1">
                        <a:solidFill>
                          <a:srgbClr val="000000"/>
                        </a:solidFill>
                        <a:effectLst/>
                        <a:latin typeface="Cambria Math" panose="02040503050406030204" pitchFamily="18" charset="0"/>
                        <a:ea typeface="宋体" pitchFamily="2" charset="-122"/>
                        <a:cs typeface="宋体" pitchFamily="2" charset="-122"/>
                      </a:rPr>
                      <m:t>)</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，其中</a:t>
                </a:r>
                <a:r>
                  <a:rPr lang="zh-CN" altLang="en-US"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m:rPr>
                        <m:sty m:val="p"/>
                      </m:rPr>
                      <a:rPr lang="en-US" altLang="zh-CN" sz="2000">
                        <a:solidFill>
                          <a:srgbClr val="000000"/>
                        </a:solidFill>
                        <a:latin typeface="Cambria Math" panose="02040503050406030204" pitchFamily="18" charset="0"/>
                        <a:ea typeface="宋体" pitchFamily="2" charset="-122"/>
                        <a:cs typeface="宋体" pitchFamily="2" charset="-122"/>
                      </a:rPr>
                      <m:t>pk</m:t>
                    </m:r>
                    <m:r>
                      <a:rPr lang="en-US" altLang="zh-CN" sz="2000" i="1">
                        <a:solidFill>
                          <a:srgbClr val="000000"/>
                        </a:solidFill>
                        <a:effectLst/>
                        <a:latin typeface="Cambria Math" panose="02040503050406030204" pitchFamily="18" charset="0"/>
                        <a:ea typeface="宋体" pitchFamily="2" charset="-122"/>
                        <a:cs typeface="宋体" pitchFamily="2" charset="-122"/>
                      </a:rPr>
                      <m:t>=</m:t>
                    </m:r>
                    <m:r>
                      <m:rPr>
                        <m:nor/>
                      </m:rPr>
                      <a:rPr lang="en-US" altLang="zh-CN" sz="2000">
                        <a:solidFill>
                          <a:srgbClr val="000000"/>
                        </a:solidFill>
                        <a:effectLst/>
                        <a:latin typeface="Times New Roman" panose="02020503050405090304" pitchFamily="18" charset="0"/>
                        <a:ea typeface="微软雅黑" panose="020B0503020204020204"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𝑁</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r>
                      <m:rPr>
                        <m:nor/>
                      </m:rPr>
                      <a:rPr lang="en-US" altLang="zh-CN" sz="2000">
                        <a:solidFill>
                          <a:srgbClr val="000000"/>
                        </a:solidFill>
                        <a:effectLst/>
                        <a:latin typeface="Times New Roman" panose="02020503050405090304" pitchFamily="18" charset="0"/>
                        <a:ea typeface="微软雅黑" panose="020B0503020204020204" charset="-122"/>
                        <a:cs typeface="宋体" pitchFamily="2" charset="-122"/>
                      </a:rPr>
                      <m:t>)</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为公钥，</a:t>
                </a:r>
                <a14:m>
                  <m:oMath xmlns:m="http://schemas.openxmlformats.org/officeDocument/2006/math">
                    <m:r>
                      <m:rPr>
                        <m:sty m:val="p"/>
                      </m:rPr>
                      <a:rPr lang="en-US" altLang="zh-CN" sz="2000" i="0">
                        <a:solidFill>
                          <a:srgbClr val="000000"/>
                        </a:solidFill>
                        <a:effectLst/>
                        <a:latin typeface="Cambria Math" panose="02040503050406030204" pitchFamily="18" charset="0"/>
                        <a:ea typeface="宋体" pitchFamily="2" charset="-122"/>
                        <a:cs typeface="宋体" pitchFamily="2" charset="-122"/>
                      </a:rPr>
                      <m:t>sk</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 </a:t>
                </a:r>
                <a:r>
                  <a:rPr lang="en-US" altLang="zh-CN" sz="2000" i="1" dirty="0">
                    <a:solidFill>
                      <a:srgbClr val="000000"/>
                    </a:solidFill>
                    <a:latin typeface="Times New Roman" panose="02020503050405090304" pitchFamily="18" charset="0"/>
                    <a:ea typeface="微软雅黑" panose="020B0503020204020204" charset="-122"/>
                    <a:cs typeface="宋体" pitchFamily="2" charset="-122"/>
                  </a:rPr>
                  <a:t>d</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为私钥。</a:t>
                </a:r>
                <a:r>
                  <a:rPr lang="zh-CN" altLang="en-US" sz="2000" dirty="0"/>
                  <a:t>此时，该 </a:t>
                </a:r>
                <a:r>
                  <a:rPr lang="en-GB" altLang="zh-CN" sz="2000" dirty="0"/>
                  <a:t>RSA </a:t>
                </a:r>
                <a:r>
                  <a:rPr lang="zh-CN" altLang="en-US" sz="2000" dirty="0"/>
                  <a:t>公钥加密方案的明文空间 </a:t>
                </a:r>
                <a14:m>
                  <m:oMath xmlns:m="http://schemas.openxmlformats.org/officeDocument/2006/math">
                    <m:r>
                      <a:rPr lang="en-US" altLang="zh-CN" sz="2000" i="1">
                        <a:latin typeface="Cambria Math" panose="02040503050406030204" pitchFamily="18" charset="0"/>
                      </a:rPr>
                      <m:t>ℳ</m:t>
                    </m:r>
                  </m:oMath>
                </a14:m>
                <a:r>
                  <a:rPr lang="zh-CN" altLang="en-US" sz="2000" dirty="0"/>
                  <a:t> 和密文空间 </a:t>
                </a:r>
                <a14:m>
                  <m:oMath xmlns:m="http://schemas.openxmlformats.org/officeDocument/2006/math">
                    <m:r>
                      <a:rPr lang="en-US" altLang="zh-CN" sz="2000" i="1">
                        <a:latin typeface="Cambria Math" panose="02040503050406030204" pitchFamily="18" charset="0"/>
                      </a:rPr>
                      <m:t>𝒞</m:t>
                    </m:r>
                  </m:oMath>
                </a14:m>
                <a:r>
                  <a:rPr lang="zh-CN" altLang="zh-CN" sz="2000" dirty="0">
                    <a:effectLst/>
                  </a:rPr>
                  <a:t> </a:t>
                </a:r>
                <a:r>
                  <a:rPr lang="zh-CN" altLang="en-US" sz="2000" dirty="0"/>
                  <a:t>均为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ℤ</m:t>
                        </m:r>
                      </m:e>
                      <m:sub>
                        <m:r>
                          <a:rPr lang="en-US" altLang="zh-CN" sz="2000" i="1">
                            <a:latin typeface="Cambria Math" panose="02040503050406030204" pitchFamily="18" charset="0"/>
                          </a:rPr>
                          <m:t>𝑁</m:t>
                        </m:r>
                      </m:sub>
                    </m:sSub>
                  </m:oMath>
                </a14:m>
                <a:r>
                  <a:rPr lang="zh-CN" altLang="zh-CN" sz="2000" dirty="0">
                    <a:effectLst/>
                  </a:rPr>
                  <a:t> </a:t>
                </a:r>
                <a:r>
                  <a:rPr lang="zh-CN" altLang="en-GB" sz="2000" dirty="0"/>
                  <a:t>，</a:t>
                </a:r>
                <a:r>
                  <a:rPr lang="zh-CN" altLang="en-US" sz="2000" dirty="0"/>
                  <a:t>密钥空间 </a:t>
                </a:r>
                <a14:m>
                  <m:oMath xmlns:m="http://schemas.openxmlformats.org/officeDocument/2006/math">
                    <m:r>
                      <a:rPr lang="zh-CN" altLang="en-US" sz="2000" i="1" smtClean="0">
                        <a:latin typeface="Cambria Math" panose="02040503050406030204" pitchFamily="18" charset="0"/>
                      </a:rPr>
                      <m:t>𝒦</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𝑁</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𝑒</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m:t>
                            </m:r>
                          </m:e>
                        </m:d>
                        <m:r>
                          <a:rPr lang="en-US" altLang="zh-CN" sz="2000" b="0" i="1" smtClean="0">
                            <a:latin typeface="Cambria Math" panose="02040503050406030204" pitchFamily="18" charset="0"/>
                          </a:rPr>
                          <m:t> </m:t>
                        </m:r>
                      </m:e>
                    </m:d>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𝑒</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𝑑</m:t>
                    </m:r>
                    <m:r>
                      <a:rPr lang="en-US" altLang="zh-CN" sz="2000" b="0" i="1" smtClean="0">
                        <a:latin typeface="Cambria Math" panose="02040503050406030204" pitchFamily="18" charset="0"/>
                        <a:ea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1</m:t>
                    </m:r>
                    <m:r>
                      <a:rPr lang="en-US" altLang="zh-CN" sz="2000" b="0" i="1" smtClean="0">
                        <a:latin typeface="Cambria Math" panose="02040503050406030204" pitchFamily="18" charset="0"/>
                        <a:ea typeface="Cambria Math" panose="02040503050406030204" pitchFamily="18" charset="0"/>
                      </a:rPr>
                      <m:t> (</m:t>
                    </m:r>
                    <m:r>
                      <m:rPr>
                        <m:sty m:val="p"/>
                      </m:rPr>
                      <a:rPr lang="en-US" altLang="zh-CN" sz="2000" b="0" i="0" smtClean="0">
                        <a:latin typeface="Cambria Math" panose="02040503050406030204" pitchFamily="18" charset="0"/>
                        <a:ea typeface="Cambria Math" panose="02040503050406030204" pitchFamily="18" charset="0"/>
                      </a:rPr>
                      <m:t>mod</m:t>
                    </m:r>
                    <m:r>
                      <a:rPr lang="en-US" altLang="zh-CN" sz="2000" b="0" i="1" smtClean="0">
                        <a:latin typeface="Cambria Math" panose="02040503050406030204" pitchFamily="18" charset="0"/>
                        <a:ea typeface="Cambria Math" panose="02040503050406030204" pitchFamily="18" charset="0"/>
                      </a:rPr>
                      <m:t> </m:t>
                    </m:r>
                    <m:r>
                      <m:rPr>
                        <m:sty m:val="p"/>
                      </m:rPr>
                      <a:rPr lang="en-US" altLang="zh-CN" sz="2000" b="0" i="0" smtClean="0">
                        <a:latin typeface="Cambria Math" panose="02040503050406030204" pitchFamily="18" charset="0"/>
                        <a:ea typeface="Cambria Math" panose="02040503050406030204" pitchFamily="18" charset="0"/>
                      </a:rPr>
                      <m:t>φ</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𝑁</m:t>
                        </m:r>
                      </m:e>
                    </m:d>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rPr>
                      <m:t>}</m:t>
                    </m:r>
                  </m:oMath>
                </a14:m>
                <a:r>
                  <a:rPr lang="zh-CN" altLang="en-GB" sz="2000" dirty="0"/>
                  <a:t>。</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该算法具体步骤如下：</a:t>
                </a:r>
                <a:endParaRPr lang="zh-CN" altLang="zh-CN" sz="2000" dirty="0">
                  <a:effectLst/>
                  <a:latin typeface="Times New Roman" panose="02020503050405090304" pitchFamily="18" charset="0"/>
                  <a:ea typeface="微软雅黑" panose="020B0503020204020204" charset="-122"/>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随机选择两个互不相同的大素数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𝑝</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𝑞</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两素数的长度尽量保持相同。</a:t>
                </a:r>
                <a:endParaRPr lang="zh-CN" altLang="zh-CN" sz="2000" dirty="0">
                  <a:effectLst/>
                  <a:latin typeface="Times New Roman" panose="02020503050405090304" pitchFamily="18" charset="0"/>
                  <a:ea typeface="微软雅黑" panose="020B0503020204020204" charset="-122"/>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计算</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𝑁</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𝑝</m:t>
                    </m:r>
                    <m:r>
                      <a:rPr lang="en-US" altLang="zh-CN" sz="2000" i="1">
                        <a:latin typeface="Cambria Math" panose="02040503050406030204" pitchFamily="18" charset="0"/>
                        <a:ea typeface="Cambria Math" panose="020405030504060302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𝑞</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及</a:t>
                </a:r>
                <a14:m>
                  <m:oMath xmlns:m="http://schemas.openxmlformats.org/officeDocument/2006/math">
                    <m:r>
                      <m:rPr>
                        <m:sty m:val="p"/>
                      </m:rPr>
                      <a:rPr lang="en-US" altLang="zh-CN" sz="2000" i="0">
                        <a:latin typeface="Cambria Math" panose="02040503050406030204" pitchFamily="18" charset="0"/>
                        <a:ea typeface="Cambria Math" panose="02040503050406030204" pitchFamily="18" charset="0"/>
                      </a:rPr>
                      <m:t>φ</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𝑁</m:t>
                        </m:r>
                      </m:e>
                    </m:d>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𝑝</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1</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𝑞</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1</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endParaRPr lang="zh-CN" altLang="zh-CN" sz="2000" dirty="0">
                  <a:effectLst/>
                  <a:latin typeface="Times New Roman" panose="02020503050405090304" pitchFamily="18" charset="0"/>
                  <a:ea typeface="微软雅黑" panose="020B0503020204020204" charset="-122"/>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随机选择整数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1</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2000">
                        <a:latin typeface="Cambria Math" panose="02040503050406030204" pitchFamily="18" charset="0"/>
                        <a:ea typeface="Cambria Math" panose="02040503050406030204" pitchFamily="18" charset="0"/>
                      </a:rPr>
                      <m:t>φ</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𝑁</m:t>
                        </m:r>
                      </m:e>
                    </m:d>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，使得 </a:t>
                </a:r>
                <a14:m>
                  <m:oMath xmlns:m="http://schemas.openxmlformats.org/officeDocument/2006/math">
                    <m:r>
                      <m:rPr>
                        <m:sty m:val="p"/>
                      </m:rPr>
                      <a:rPr lang="en-US" altLang="zh-CN" sz="2000" i="0">
                        <a:solidFill>
                          <a:srgbClr val="000000"/>
                        </a:solidFill>
                        <a:effectLst/>
                        <a:latin typeface="Cambria Math" panose="02040503050406030204" pitchFamily="18" charset="0"/>
                        <a:ea typeface="宋体" pitchFamily="2" charset="-122"/>
                        <a:cs typeface="宋体" pitchFamily="2" charset="-122"/>
                      </a:rPr>
                      <m:t>gcd</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2000">
                        <a:solidFill>
                          <a:srgbClr val="000000"/>
                        </a:solidFill>
                        <a:effectLst/>
                        <a:latin typeface="Cambria Math" panose="02040503050406030204" pitchFamily="18" charset="0"/>
                        <a:ea typeface="宋体" pitchFamily="2" charset="-122"/>
                        <a:cs typeface="宋体" pitchFamily="2" charset="-122"/>
                      </a:rPr>
                      <m:t>φ</m:t>
                    </m:r>
                    <m:d>
                      <m:dPr>
                        <m:ctrlPr>
                          <a:rPr lang="zh-CN" altLang="zh-CN" sz="2000" i="1">
                            <a:solidFill>
                              <a:srgbClr val="000000"/>
                            </a:solidFill>
                            <a:effectLst/>
                            <a:latin typeface="Cambria Math" panose="02040503050406030204" pitchFamily="18" charset="0"/>
                            <a:ea typeface="Cambria Math" panose="02040503050406030204" pitchFamily="18" charset="0"/>
                            <a:cs typeface="宋体" pitchFamily="2" charset="-122"/>
                          </a:rPr>
                        </m:ctrlPr>
                      </m:dPr>
                      <m:e>
                        <m:r>
                          <a:rPr lang="en-US" altLang="zh-CN" sz="2000" i="1">
                            <a:solidFill>
                              <a:srgbClr val="000000"/>
                            </a:solidFill>
                            <a:effectLst/>
                            <a:latin typeface="Cambria Math" panose="02040503050406030204" pitchFamily="18" charset="0"/>
                            <a:ea typeface="宋体" pitchFamily="2" charset="-122"/>
                            <a:cs typeface="宋体" pitchFamily="2" charset="-122"/>
                          </a:rPr>
                          <m:t>𝑁</m:t>
                        </m:r>
                      </m:e>
                    </m:d>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宋体" pitchFamily="2" charset="-122"/>
                      </a:rPr>
                      <m:t>1</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endParaRPr lang="zh-CN" altLang="zh-CN" sz="2000" dirty="0">
                  <a:effectLst/>
                  <a:latin typeface="Times New Roman" panose="02020503050405090304" pitchFamily="18" charset="0"/>
                  <a:ea typeface="微软雅黑" panose="020B0503020204020204" charset="-122"/>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计算</a:t>
                </a:r>
                <a14:m>
                  <m:oMath xmlns:m="http://schemas.openxmlformats.org/officeDocument/2006/math">
                    <m:r>
                      <a:rPr lang="en-US" altLang="zh-CN"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关于模</a:t>
                </a:r>
                <a:r>
                  <a:rPr lang="zh-CN" altLang="en-US"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el-GR" altLang="zh-CN" sz="2000" dirty="0">
                    <a:solidFill>
                      <a:srgbClr val="303030"/>
                    </a:solidFill>
                  </a:rPr>
                  <a:t>φ</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宋体" pitchFamily="2" charset="-122"/>
                      </a:rPr>
                      <m:t>𝑁</m:t>
                    </m:r>
                    <m:r>
                      <a:rPr lang="en-US" altLang="zh-CN" sz="2000" i="1">
                        <a:solidFill>
                          <a:srgbClr val="000000"/>
                        </a:solidFill>
                        <a:effectLst/>
                        <a:latin typeface="Cambria Math" panose="02040503050406030204" pitchFamily="18" charset="0"/>
                        <a:ea typeface="宋体" pitchFamily="2" charset="-122"/>
                        <a:cs typeface="宋体" pitchFamily="2" charset="-122"/>
                      </a:rPr>
                      <m:t>)</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的逆元</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宋体" pitchFamily="2" charset="-122"/>
                      </a:rPr>
                      <m:t>𝑑</m:t>
                    </m:r>
                  </m:oMath>
                </a14:m>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，使得</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宋体" pitchFamily="2" charset="-122"/>
                      </a:rPr>
                      <m:t>𝑒𝑑</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宋体" pitchFamily="2" charset="-122"/>
                      </a:rPr>
                      <m:t>1</m:t>
                    </m:r>
                    <m:r>
                      <a:rPr lang="en-US" altLang="zh-CN" sz="2000" i="1">
                        <a:solidFill>
                          <a:srgbClr val="000000"/>
                        </a:solidFill>
                        <a:effectLst/>
                        <a:latin typeface="Cambria Math" panose="02040503050406030204" pitchFamily="18" charset="0"/>
                        <a:ea typeface="宋体" pitchFamily="2" charset="-122"/>
                        <a:cs typeface="宋体" pitchFamily="2" charset="-122"/>
                      </a:rPr>
                      <m:t> </m:t>
                    </m:r>
                    <m:r>
                      <m:rPr>
                        <m:sty m:val="p"/>
                      </m:rPr>
                      <a:rPr lang="en-US" altLang="zh-CN" sz="2000">
                        <a:solidFill>
                          <a:srgbClr val="000000"/>
                        </a:solidFill>
                        <a:effectLst/>
                        <a:latin typeface="Cambria Math" panose="02040503050406030204" pitchFamily="18" charset="0"/>
                        <a:ea typeface="宋体" pitchFamily="2" charset="-122"/>
                        <a:cs typeface="宋体" pitchFamily="2" charset="-122"/>
                      </a:rPr>
                      <m:t>mod</m:t>
                    </m:r>
                    <m:r>
                      <a:rPr lang="en-US" altLang="zh-CN" sz="2000" i="1">
                        <a:solidFill>
                          <a:srgbClr val="000000"/>
                        </a:solidFill>
                        <a:effectLst/>
                        <a:latin typeface="Cambria Math" panose="02040503050406030204" pitchFamily="18" charset="0"/>
                        <a:ea typeface="宋体" pitchFamily="2" charset="-122"/>
                        <a:cs typeface="宋体" pitchFamily="2" charset="-122"/>
                      </a:rPr>
                      <m:t> </m:t>
                    </m:r>
                    <m:r>
                      <m:rPr>
                        <m:sty m:val="p"/>
                      </m:rPr>
                      <a:rPr lang="en-US" altLang="zh-CN" sz="2000" i="0">
                        <a:solidFill>
                          <a:srgbClr val="000000"/>
                        </a:solidFill>
                        <a:effectLst/>
                        <a:latin typeface="Cambria Math" panose="02040503050406030204" pitchFamily="18" charset="0"/>
                        <a:ea typeface="宋体" pitchFamily="2" charset="-122"/>
                        <a:cs typeface="宋体" pitchFamily="2" charset="-122"/>
                      </a:rPr>
                      <m:t>φ</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宋体" pitchFamily="2" charset="-122"/>
                      </a:rPr>
                      <m:t>𝑁</m:t>
                    </m:r>
                    <m:r>
                      <a:rPr lang="en-US" altLang="zh-CN" sz="2000" i="1">
                        <a:solidFill>
                          <a:srgbClr val="000000"/>
                        </a:solidFill>
                        <a:effectLst/>
                        <a:latin typeface="Cambria Math" panose="02040503050406030204" pitchFamily="18" charset="0"/>
                        <a:ea typeface="宋体" pitchFamily="2" charset="-122"/>
                        <a:cs typeface="宋体" pitchFamily="2" charset="-122"/>
                      </a:rPr>
                      <m:t>)</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endParaRPr lang="zh-CN" altLang="zh-CN" sz="2000" dirty="0">
                  <a:effectLst/>
                  <a:latin typeface="Times New Roman" panose="02020503050405090304" pitchFamily="18" charset="0"/>
                  <a:ea typeface="微软雅黑" panose="020B0503020204020204" charset="-122"/>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输出公钥</a:t>
                </a:r>
                <a:r>
                  <a:rPr lang="zh-CN" altLang="en-US" sz="2000" dirty="0">
                    <a:solidFill>
                      <a:srgbClr val="000000"/>
                    </a:solidFill>
                    <a:effectLst/>
                    <a:latin typeface="Times New Roman" panose="02020503050405090304" pitchFamily="18" charset="0"/>
                    <a:ea typeface="微软雅黑" panose="020B0503020204020204" charset="-122"/>
                    <a:cs typeface="宋体" pitchFamily="2" charset="-122"/>
                  </a:rPr>
                  <a:t> </a:t>
                </a:r>
                <a14:m>
                  <m:oMath xmlns:m="http://schemas.openxmlformats.org/officeDocument/2006/math">
                    <m:r>
                      <m:rPr>
                        <m:sty m:val="p"/>
                      </m:rPr>
                      <a:rPr lang="en-US" altLang="zh-CN" sz="2000" i="0">
                        <a:solidFill>
                          <a:srgbClr val="000000"/>
                        </a:solidFill>
                        <a:latin typeface="Cambria Math" panose="02040503050406030204" pitchFamily="18" charset="0"/>
                        <a:ea typeface="宋体" pitchFamily="2" charset="-122"/>
                        <a:cs typeface="宋体" pitchFamily="2" charset="-122"/>
                      </a:rPr>
                      <m:t>p</m:t>
                    </m:r>
                    <m:r>
                      <m:rPr>
                        <m:sty m:val="p"/>
                      </m:rPr>
                      <a:rPr lang="en-US" altLang="zh-CN" sz="2000" b="0" i="0" smtClean="0">
                        <a:solidFill>
                          <a:srgbClr val="000000"/>
                        </a:solidFill>
                        <a:latin typeface="Cambria Math" panose="02040503050406030204" pitchFamily="18" charset="0"/>
                        <a:ea typeface="宋体" pitchFamily="2" charset="-122"/>
                        <a:cs typeface="宋体" pitchFamily="2" charset="-122"/>
                      </a:rPr>
                      <m:t>k</m:t>
                    </m:r>
                    <m:r>
                      <a:rPr lang="en-US" altLang="zh-CN" sz="2000" i="1">
                        <a:solidFill>
                          <a:srgbClr val="000000"/>
                        </a:solidFill>
                        <a:effectLst/>
                        <a:latin typeface="Cambria Math" panose="02040503050406030204" pitchFamily="18" charset="0"/>
                        <a:ea typeface="宋体" pitchFamily="2" charset="-122"/>
                        <a:cs typeface="宋体" pitchFamily="2" charset="-122"/>
                      </a:rPr>
                      <m:t>=</m:t>
                    </m:r>
                    <m:r>
                      <m:rPr>
                        <m:nor/>
                      </m:rPr>
                      <a:rPr lang="en-US" altLang="zh-CN" sz="2000">
                        <a:solidFill>
                          <a:srgbClr val="000000"/>
                        </a:solidFill>
                        <a:effectLst/>
                        <a:latin typeface="Times New Roman" panose="02020503050405090304" pitchFamily="18" charset="0"/>
                        <a:ea typeface="微软雅黑" panose="020B0503020204020204"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𝑁</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𝑒</m:t>
                    </m:r>
                    <m:r>
                      <m:rPr>
                        <m:nor/>
                      </m:rPr>
                      <a:rPr lang="en-US" altLang="zh-CN" sz="2000">
                        <a:solidFill>
                          <a:srgbClr val="000000"/>
                        </a:solidFill>
                        <a:effectLst/>
                        <a:latin typeface="Times New Roman" panose="02020503050405090304" pitchFamily="18" charset="0"/>
                        <a:ea typeface="微软雅黑" panose="020B0503020204020204" charset="-122"/>
                        <a:cs typeface="宋体" pitchFamily="2" charset="-122"/>
                      </a:rPr>
                      <m:t>)</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，私钥</a:t>
                </a:r>
                <a14:m>
                  <m:oMath xmlns:m="http://schemas.openxmlformats.org/officeDocument/2006/math">
                    <m:r>
                      <a:rPr lang="en-US" altLang="zh-CN" sz="2000" b="0" i="0" smtClean="0">
                        <a:solidFill>
                          <a:srgbClr val="000000"/>
                        </a:solidFill>
                        <a:effectLst/>
                        <a:latin typeface="Cambria Math" panose="02040503050406030204" pitchFamily="18" charset="0"/>
                        <a:ea typeface="宋体" pitchFamily="2" charset="-122"/>
                        <a:cs typeface="宋体" pitchFamily="2" charset="-122"/>
                      </a:rPr>
                      <m:t> </m:t>
                    </m:r>
                    <m:r>
                      <m:rPr>
                        <m:sty m:val="p"/>
                      </m:rPr>
                      <a:rPr lang="en-US" altLang="zh-CN" sz="2000" i="0">
                        <a:solidFill>
                          <a:srgbClr val="000000"/>
                        </a:solidFill>
                        <a:effectLst/>
                        <a:latin typeface="Cambria Math" panose="02040503050406030204" pitchFamily="18" charset="0"/>
                        <a:ea typeface="宋体" pitchFamily="2" charset="-122"/>
                        <a:cs typeface="宋体" pitchFamily="2" charset="-122"/>
                      </a:rPr>
                      <m:t>sk</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𝑑</m:t>
                    </m:r>
                  </m:oMath>
                </a14:m>
                <a:r>
                  <a:rPr lang="zh-CN"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endParaRPr lang="zh-CN" altLang="zh-CN" sz="2000" dirty="0">
                  <a:effectLst/>
                  <a:latin typeface="Times New Roman" panose="02020503050405090304" pitchFamily="18" charset="0"/>
                  <a:ea typeface="微软雅黑" panose="020B0503020204020204" charset="-122"/>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877823" y="2513807"/>
                <a:ext cx="10200855" cy="3240182"/>
              </a:xfrm>
              <a:prstGeom prst="rect">
                <a:avLst/>
              </a:prstGeom>
              <a:blipFill>
                <a:blip r:embed="rId2"/>
                <a:stretch>
                  <a:fillRect l="-897" r="-1195" b="-2444"/>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4265023" cy="461665"/>
          </a:xfrm>
          <a:prstGeom prst="rect">
            <a:avLst/>
          </a:prstGeom>
          <a:noFill/>
        </p:spPr>
        <p:txBody>
          <a:bodyPr wrap="square">
            <a:spAutoFit/>
          </a:bodyPr>
          <a:lstStyle/>
          <a:p>
            <a:r>
              <a:rPr lang="en-GB" altLang="zh-CN" sz="2400" b="1" dirty="0">
                <a:solidFill>
                  <a:srgbClr val="C00000"/>
                </a:solidFill>
              </a:rPr>
              <a:t>RSA</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713231" y="1572769"/>
            <a:ext cx="10721581" cy="1284184"/>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0"/>
          <p:cNvSpPr txBox="1"/>
          <p:nvPr/>
        </p:nvSpPr>
        <p:spPr>
          <a:xfrm>
            <a:off x="877824" y="1709928"/>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t> </a:t>
            </a:r>
            <a:r>
              <a:rPr lang="en-GB" altLang="zh-CN" sz="2400" dirty="0">
                <a:latin typeface="+mn-lt"/>
              </a:rPr>
              <a:t>Enc(</a:t>
            </a:r>
            <a:r>
              <a:rPr lang="en-GB" altLang="zh-CN" sz="2400" i="1" dirty="0">
                <a:latin typeface="+mn-lt"/>
              </a:rPr>
              <a:t>M</a:t>
            </a:r>
            <a:r>
              <a:rPr lang="en-GB" altLang="zh-CN" sz="2400" dirty="0">
                <a:latin typeface="+mn-lt"/>
              </a:rPr>
              <a:t>, pk) </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18" name="TextBox 11"/>
              <p:cNvSpPr txBox="1"/>
              <p:nvPr/>
            </p:nvSpPr>
            <p:spPr>
              <a:xfrm>
                <a:off x="877823" y="2267231"/>
                <a:ext cx="10200855" cy="838756"/>
              </a:xfrm>
              <a:prstGeom prst="rect">
                <a:avLst/>
              </a:prstGeom>
              <a:noFill/>
            </p:spPr>
            <p:txBody>
              <a:bodyPr wrap="square" lIns="64008" tIns="32004" rIns="36576">
                <a:spAutoFit/>
              </a:bodyPr>
              <a:lstStyle/>
              <a:p>
                <a:pPr marL="342900" lvl="0" indent="-342900" algn="just">
                  <a:lnSpc>
                    <a:spcPct val="130000"/>
                  </a:lnSpc>
                  <a:buFont typeface="Wingdings" panose="05000000000000000000" pitchFamily="2" charset="2"/>
                  <a:buChar char=""/>
                </a:pPr>
                <a14:m>
                  <m:oMath xmlns:m="http://schemas.openxmlformats.org/officeDocument/2006/math">
                    <m:r>
                      <m:rPr>
                        <m:nor/>
                      </m:rPr>
                      <a:rPr lang="en-US" altLang="zh-CN" sz="2000" smtClean="0">
                        <a:solidFill>
                          <a:srgbClr val="000000"/>
                        </a:solidFill>
                        <a:effectLst/>
                        <a:latin typeface="+mn-lt"/>
                        <a:ea typeface="+mn-ea"/>
                        <a:cs typeface="宋体" pitchFamily="2" charset="-122"/>
                      </a:rPr>
                      <m:t>Enc</m:t>
                    </m:r>
                    <m:r>
                      <m:rPr>
                        <m:nor/>
                      </m:rPr>
                      <a:rPr lang="en-US" altLang="zh-CN" sz="2000" smtClean="0">
                        <a:solidFill>
                          <a:srgbClr val="000000"/>
                        </a:solidFill>
                        <a:effectLst/>
                        <a:latin typeface="+mn-lt"/>
                        <a:ea typeface="+mn-ea"/>
                        <a:cs typeface="宋体" pitchFamily="2" charset="-122"/>
                      </a:rPr>
                      <m:t>(</m:t>
                    </m:r>
                    <m:r>
                      <m:rPr>
                        <m:nor/>
                      </m:rPr>
                      <a:rPr lang="en-US" altLang="zh-CN" sz="2000" i="1" smtClean="0">
                        <a:solidFill>
                          <a:srgbClr val="000000"/>
                        </a:solidFill>
                        <a:effectLst/>
                        <a:latin typeface="+mn-lt"/>
                        <a:ea typeface="+mn-ea"/>
                        <a:cs typeface="宋体" pitchFamily="2" charset="-122"/>
                      </a:rPr>
                      <m:t>M</m:t>
                    </m:r>
                    <m:r>
                      <m:rPr>
                        <m:nor/>
                      </m:rPr>
                      <a:rPr lang="en-US" altLang="zh-CN" sz="2000" smtClean="0">
                        <a:solidFill>
                          <a:srgbClr val="000000"/>
                        </a:solidFill>
                        <a:effectLst/>
                        <a:latin typeface="+mn-lt"/>
                        <a:ea typeface="+mn-ea"/>
                        <a:cs typeface="宋体" pitchFamily="2" charset="-122"/>
                      </a:rPr>
                      <m:t>,</m:t>
                    </m:r>
                    <m:r>
                      <m:rPr>
                        <m:nor/>
                      </m:rPr>
                      <a:rPr lang="en-US" altLang="zh-CN" sz="2000" b="0" i="0" smtClean="0">
                        <a:solidFill>
                          <a:srgbClr val="000000"/>
                        </a:solidFill>
                        <a:effectLst/>
                        <a:latin typeface="+mn-lt"/>
                        <a:ea typeface="+mn-ea"/>
                        <a:cs typeface="宋体" pitchFamily="2" charset="-122"/>
                      </a:rPr>
                      <m:t> </m:t>
                    </m:r>
                    <m:r>
                      <m:rPr>
                        <m:nor/>
                      </m:rPr>
                      <a:rPr lang="en-US" altLang="zh-CN" sz="2000" b="0" i="0" smtClean="0">
                        <a:solidFill>
                          <a:srgbClr val="000000"/>
                        </a:solidFill>
                        <a:effectLst/>
                        <a:latin typeface="+mn-lt"/>
                        <a:ea typeface="+mn-ea"/>
                        <a:cs typeface="宋体" pitchFamily="2" charset="-122"/>
                      </a:rPr>
                      <m:t>pk</m:t>
                    </m:r>
                    <m:r>
                      <m:rPr>
                        <m:nor/>
                      </m:rPr>
                      <a:rPr lang="en-US" altLang="zh-CN" sz="2000" smtClean="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：当输入明文</a:t>
                </a:r>
                <a14:m>
                  <m:oMath xmlns:m="http://schemas.openxmlformats.org/officeDocument/2006/math">
                    <m:r>
                      <m:rPr>
                        <m:nor/>
                      </m:rPr>
                      <a:rPr lang="en-US" altLang="zh-CN" sz="2000" i="1">
                        <a:solidFill>
                          <a:srgbClr val="000000"/>
                        </a:solidFill>
                        <a:effectLst/>
                        <a:latin typeface="+mn-lt"/>
                        <a:ea typeface="+mn-ea"/>
                        <a:cs typeface="宋体" pitchFamily="2" charset="-122"/>
                      </a:rPr>
                      <m:t>M</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宋体" pitchFamily="2" charset="-122"/>
                          </a:rPr>
                        </m:ctrlPr>
                      </m:sSub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𝑁</m:t>
                        </m:r>
                      </m:sub>
                    </m:sSub>
                  </m:oMath>
                </a14:m>
                <a:r>
                  <a:rPr lang="zh-CN" altLang="zh-CN" sz="2000" dirty="0">
                    <a:solidFill>
                      <a:srgbClr val="000000"/>
                    </a:solidFill>
                    <a:effectLst/>
                    <a:latin typeface="+mn-lt"/>
                    <a:ea typeface="+mn-ea"/>
                    <a:cs typeface="宋体" pitchFamily="2" charset="-122"/>
                  </a:rPr>
                  <a:t>、公钥</a:t>
                </a:r>
                <a14:m>
                  <m:oMath xmlns:m="http://schemas.openxmlformats.org/officeDocument/2006/math">
                    <m:r>
                      <a:rPr lang="en-US" altLang="zh-CN" sz="2000" b="0" i="0" smtClean="0">
                        <a:solidFill>
                          <a:srgbClr val="000000"/>
                        </a:solidFill>
                        <a:latin typeface="Cambria Math" panose="02040503050406030204" pitchFamily="18" charset="0"/>
                        <a:ea typeface="+mn-ea"/>
                        <a:cs typeface="宋体" pitchFamily="2" charset="-122"/>
                      </a:rPr>
                      <m:t> </m:t>
                    </m:r>
                    <m:r>
                      <m:rPr>
                        <m:nor/>
                      </m:rPr>
                      <a:rPr lang="en-US" altLang="zh-CN" sz="2000">
                        <a:solidFill>
                          <a:srgbClr val="000000"/>
                        </a:solidFill>
                        <a:latin typeface="+mn-lt"/>
                        <a:ea typeface="+mn-ea"/>
                        <a:cs typeface="宋体" pitchFamily="2" charset="-122"/>
                      </a:rPr>
                      <m:t>pk</m:t>
                    </m:r>
                    <m:r>
                      <a:rPr lang="en-US" altLang="zh-CN" sz="2000" i="1">
                        <a:solidFill>
                          <a:srgbClr val="000000"/>
                        </a:solidFill>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m:t>
                    </m:r>
                    <m:r>
                      <m:rPr>
                        <m:nor/>
                      </m:rPr>
                      <a:rPr lang="en-US" altLang="zh-CN" sz="2000">
                        <a:solidFill>
                          <a:srgbClr val="000000"/>
                        </a:solidFill>
                        <a:effectLst/>
                        <a:latin typeface="+mn-lt"/>
                        <a:ea typeface="+mn-ea"/>
                        <a:cs typeface="宋体" pitchFamily="2" charset="-122"/>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𝑁</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𝑒</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a:t>
                </a:r>
                <a:r>
                  <a:rPr lang="zh-CN" altLang="en-US" sz="2000" dirty="0">
                    <a:solidFill>
                      <a:srgbClr val="000000"/>
                    </a:solidFill>
                    <a:latin typeface="+mn-lt"/>
                    <a:ea typeface="+mn-ea"/>
                    <a:cs typeface="宋体" pitchFamily="2" charset="-122"/>
                  </a:rPr>
                  <a:t>该算法</a:t>
                </a:r>
                <a:r>
                  <a:rPr lang="zh-CN" altLang="zh-CN" sz="2000" dirty="0">
                    <a:solidFill>
                      <a:srgbClr val="000000"/>
                    </a:solidFill>
                    <a:effectLst/>
                    <a:latin typeface="+mn-lt"/>
                    <a:ea typeface="+mn-ea"/>
                    <a:cs typeface="宋体" pitchFamily="2" charset="-122"/>
                  </a:rPr>
                  <a:t>输出密文</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𝐶</m:t>
                    </m:r>
                    <m:r>
                      <a:rPr lang="en-US" altLang="zh-CN" sz="2000" b="0" i="1" smtClean="0">
                        <a:solidFill>
                          <a:srgbClr val="000000"/>
                        </a:solidFill>
                        <a:effectLst/>
                        <a:latin typeface="Cambria Math" panose="02040503050406030204" pitchFamily="18" charset="0"/>
                        <a:ea typeface="+mn-ea"/>
                        <a:cs typeface="宋体" pitchFamily="2" charset="-122"/>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𝑀</m:t>
                        </m:r>
                      </m:e>
                      <m:sup>
                        <m:r>
                          <a:rPr lang="en-US" altLang="zh-CN" sz="2000" i="1">
                            <a:solidFill>
                              <a:srgbClr val="000000"/>
                            </a:solidFill>
                            <a:effectLst/>
                            <a:latin typeface="Cambria Math" panose="02040503050406030204" pitchFamily="18" charset="0"/>
                            <a:ea typeface="+mn-ea"/>
                            <a:cs typeface="宋体" pitchFamily="2" charset="-122"/>
                          </a:rPr>
                          <m:t>𝑒</m:t>
                        </m:r>
                      </m:sup>
                    </m:sSup>
                    <m:r>
                      <a:rPr lang="en-US" altLang="zh-CN" sz="2000" i="1">
                        <a:solidFill>
                          <a:srgbClr val="000000"/>
                        </a:solidFill>
                        <a:effectLst/>
                        <a:latin typeface="Cambria Math" panose="02040503050406030204" pitchFamily="18" charset="0"/>
                        <a:ea typeface="+mn-ea"/>
                        <a:cs typeface="宋体" pitchFamily="2" charset="-122"/>
                      </a:rPr>
                      <m:t> </m:t>
                    </m:r>
                    <m:r>
                      <m:rPr>
                        <m:sty m:val="p"/>
                      </m:rPr>
                      <a:rPr lang="en-US" altLang="zh-CN" sz="2000">
                        <a:solidFill>
                          <a:srgbClr val="000000"/>
                        </a:solidFill>
                        <a:effectLst/>
                        <a:latin typeface="Cambria Math" panose="02040503050406030204" pitchFamily="18" charset="0"/>
                        <a:ea typeface="+mn-ea"/>
                        <a:cs typeface="宋体" pitchFamily="2" charset="-122"/>
                      </a:rPr>
                      <m:t>mod</m:t>
                    </m:r>
                    <m:r>
                      <a:rPr lang="en-US" altLang="zh-CN" sz="2000" i="1">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𝑁</m:t>
                    </m:r>
                  </m:oMath>
                </a14:m>
                <a:r>
                  <a:rPr lang="zh-CN" altLang="zh-CN" sz="200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a:p>
                <a:pPr lvl="0" algn="just" hangingPunct="0">
                  <a:lnSpc>
                    <a:spcPct val="130000"/>
                  </a:lnSpc>
                </a:pPr>
                <a:endParaRPr lang="zh-CN" altLang="zh-CN" sz="2000" dirty="0">
                  <a:effectLst/>
                  <a:latin typeface="+mn-lt"/>
                  <a:ea typeface="+mn-ea"/>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877823" y="2267231"/>
                <a:ext cx="10200855" cy="838756"/>
              </a:xfrm>
              <a:prstGeom prst="rect">
                <a:avLst/>
              </a:prstGeom>
              <a:blipFill>
                <a:blip r:embed="rId2"/>
                <a:stretch>
                  <a:fillRect l="-777"/>
                </a:stretch>
              </a:blipFill>
            </p:spPr>
            <p:txBody>
              <a:bodyPr/>
              <a:lstStyle/>
              <a:p>
                <a:r>
                  <a:rPr lang="zh-CN" altLang="en-US">
                    <a:noFill/>
                  </a:rPr>
                  <a:t> </a:t>
                </a:r>
              </a:p>
            </p:txBody>
          </p:sp>
        </mc:Fallback>
      </mc:AlternateContent>
      <p:sp>
        <p:nvSpPr>
          <p:cNvPr id="2" name="Rounded Rectangle 9"/>
          <p:cNvSpPr/>
          <p:nvPr/>
        </p:nvSpPr>
        <p:spPr>
          <a:xfrm>
            <a:off x="713231" y="3005419"/>
            <a:ext cx="10721581" cy="1354383"/>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TextBox 10"/>
          <p:cNvSpPr txBox="1"/>
          <p:nvPr/>
        </p:nvSpPr>
        <p:spPr>
          <a:xfrm>
            <a:off x="877823" y="3138466"/>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t> </a:t>
            </a:r>
            <a:r>
              <a:rPr lang="en-GB" altLang="zh-CN" sz="2400" dirty="0">
                <a:latin typeface="+mn-lt"/>
              </a:rPr>
              <a:t>Dec(C, </a:t>
            </a:r>
            <a:r>
              <a:rPr lang="en-GB" altLang="zh-CN" sz="2400" dirty="0" err="1">
                <a:latin typeface="+mn-lt"/>
              </a:rPr>
              <a:t>sk</a:t>
            </a:r>
            <a:r>
              <a:rPr lang="en-GB" altLang="zh-CN" sz="2400" dirty="0">
                <a:latin typeface="+mn-lt"/>
              </a:rPr>
              <a:t>)</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4" name="TextBox 11"/>
              <p:cNvSpPr txBox="1"/>
              <p:nvPr/>
            </p:nvSpPr>
            <p:spPr>
              <a:xfrm>
                <a:off x="877822" y="3666881"/>
                <a:ext cx="10200855" cy="845937"/>
              </a:xfrm>
              <a:prstGeom prst="rect">
                <a:avLst/>
              </a:prstGeom>
              <a:noFill/>
            </p:spPr>
            <p:txBody>
              <a:bodyPr wrap="square" lIns="64008" tIns="32004" rIns="36576">
                <a:spAutoFit/>
              </a:bodyPr>
              <a:lstStyle/>
              <a:p>
                <a:pPr marL="342900" lvl="0" indent="-342900" algn="just">
                  <a:lnSpc>
                    <a:spcPct val="130000"/>
                  </a:lnSpc>
                  <a:buFont typeface="Wingdings" panose="05000000000000000000" pitchFamily="2" charset="2"/>
                  <a:buChar char=""/>
                </a:pPr>
                <a14:m>
                  <m:oMath xmlns:m="http://schemas.openxmlformats.org/officeDocument/2006/math">
                    <m:r>
                      <m:rPr>
                        <m:nor/>
                      </m:rPr>
                      <a:rPr lang="en-US" altLang="zh-CN" sz="2000" smtClean="0">
                        <a:solidFill>
                          <a:srgbClr val="000000"/>
                        </a:solidFill>
                        <a:effectLst/>
                        <a:latin typeface="+mn-lt"/>
                        <a:ea typeface="微软雅黑" panose="020B0503020204020204" charset="-122"/>
                        <a:cs typeface="宋体" pitchFamily="2" charset="-122"/>
                      </a:rPr>
                      <m:t>Dec</m:t>
                    </m:r>
                    <m:r>
                      <m:rPr>
                        <m:nor/>
                      </m:rPr>
                      <a:rPr lang="en-US" altLang="zh-CN" sz="2000" smtClean="0">
                        <a:solidFill>
                          <a:srgbClr val="000000"/>
                        </a:solidFill>
                        <a:effectLst/>
                        <a:latin typeface="+mn-lt"/>
                        <a:ea typeface="微软雅黑" panose="020B0503020204020204" charset="-122"/>
                        <a:cs typeface="宋体" pitchFamily="2" charset="-122"/>
                      </a:rPr>
                      <m:t>(</m:t>
                    </m:r>
                    <m:r>
                      <m:rPr>
                        <m:nor/>
                      </m:rPr>
                      <a:rPr lang="en-US" altLang="zh-CN" sz="2000" i="1" smtClean="0">
                        <a:solidFill>
                          <a:srgbClr val="000000"/>
                        </a:solidFill>
                        <a:effectLst/>
                        <a:latin typeface="+mn-lt"/>
                        <a:ea typeface="微软雅黑" panose="020B0503020204020204" charset="-122"/>
                        <a:cs typeface="宋体" pitchFamily="2" charset="-122"/>
                      </a:rPr>
                      <m:t>C</m:t>
                    </m:r>
                    <m:r>
                      <m:rPr>
                        <m:nor/>
                      </m:rPr>
                      <a:rPr lang="en-US" altLang="zh-CN" sz="2000" smtClean="0">
                        <a:solidFill>
                          <a:srgbClr val="000000"/>
                        </a:solidFill>
                        <a:effectLst/>
                        <a:latin typeface="+mn-lt"/>
                        <a:ea typeface="微软雅黑" panose="020B0503020204020204" charset="-122"/>
                        <a:cs typeface="宋体" pitchFamily="2" charset="-122"/>
                      </a:rPr>
                      <m:t>, </m:t>
                    </m:r>
                    <m:r>
                      <m:rPr>
                        <m:sty m:val="p"/>
                      </m:rPr>
                      <a:rPr lang="en-US" altLang="zh-CN" sz="2000" i="0">
                        <a:solidFill>
                          <a:srgbClr val="000000"/>
                        </a:solidFill>
                        <a:effectLst/>
                        <a:latin typeface="Cambria Math" panose="02040503050406030204" pitchFamily="18" charset="0"/>
                        <a:ea typeface="宋体" pitchFamily="2" charset="-122"/>
                        <a:cs typeface="Times New Roman" panose="02020503050405090304" pitchFamily="18" charset="0"/>
                      </a:rPr>
                      <m:t>sk</m:t>
                    </m:r>
                    <m:r>
                      <m:rPr>
                        <m:nor/>
                      </m:rPr>
                      <a:rPr lang="en-US" altLang="zh-CN" sz="2000">
                        <a:solidFill>
                          <a:srgbClr val="000000"/>
                        </a:solidFill>
                        <a:effectLst/>
                        <a:latin typeface="+mn-lt"/>
                        <a:ea typeface="微软雅黑" panose="020B0503020204020204" charset="-122"/>
                        <a:cs typeface="宋体" pitchFamily="2" charset="-122"/>
                      </a:rPr>
                      <m:t>)</m:t>
                    </m:r>
                  </m:oMath>
                </a14:m>
                <a:r>
                  <a:rPr lang="zh-CN" altLang="zh-CN" sz="2000" dirty="0">
                    <a:solidFill>
                      <a:srgbClr val="000000"/>
                    </a:solidFill>
                    <a:effectLst/>
                    <a:latin typeface="+mn-lt"/>
                    <a:ea typeface="微软雅黑" panose="020B0503020204020204" charset="-122"/>
                    <a:cs typeface="宋体" pitchFamily="2" charset="-122"/>
                  </a:rPr>
                  <a:t>：</a:t>
                </a:r>
                <a:r>
                  <a:rPr lang="zh-CN" altLang="zh-CN" sz="2000" dirty="0">
                    <a:solidFill>
                      <a:srgbClr val="000000"/>
                    </a:solidFill>
                    <a:latin typeface="+mn-lt"/>
                    <a:ea typeface="微软雅黑" panose="020B0503020204020204" charset="-122"/>
                    <a:cs typeface="宋体" pitchFamily="2" charset="-122"/>
                  </a:rPr>
                  <a:t>当输入</a:t>
                </a:r>
                <a:r>
                  <a:rPr lang="zh-CN" altLang="zh-CN" sz="2000" dirty="0">
                    <a:solidFill>
                      <a:srgbClr val="000000"/>
                    </a:solidFill>
                    <a:effectLst/>
                    <a:latin typeface="+mn-lt"/>
                    <a:ea typeface="微软雅黑" panose="020B0503020204020204" charset="-122"/>
                    <a:cs typeface="宋体" pitchFamily="2" charset="-122"/>
                  </a:rPr>
                  <a:t>密文</a:t>
                </a:r>
                <a14:m>
                  <m:oMath xmlns:m="http://schemas.openxmlformats.org/officeDocument/2006/math">
                    <m:r>
                      <m:rPr>
                        <m:nor/>
                      </m:rPr>
                      <a:rPr lang="en-US" altLang="zh-CN" sz="2000" i="1">
                        <a:solidFill>
                          <a:srgbClr val="000000"/>
                        </a:solidFill>
                        <a:effectLst/>
                        <a:latin typeface="+mn-lt"/>
                        <a:ea typeface="微软雅黑" panose="020B0503020204020204" charset="-122"/>
                        <a:cs typeface="宋体" pitchFamily="2" charset="-122"/>
                      </a:rPr>
                      <m:t>C</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Cambria Math" panose="02040503050406030204" pitchFamily="18" charset="0"/>
                            <a:cs typeface="宋体" pitchFamily="2" charset="-122"/>
                          </a:rPr>
                        </m:ctrlPr>
                      </m:sSubPr>
                      <m:e>
                        <m:r>
                          <a:rPr lang="en-US" altLang="zh-CN" sz="2000" i="1">
                            <a:solidFill>
                              <a:srgbClr val="000000"/>
                            </a:solidFill>
                            <a:effectLst/>
                            <a:latin typeface="Cambria Math" panose="02040503050406030204" pitchFamily="18" charset="0"/>
                            <a:ea typeface="宋体" pitchFamily="2" charset="-122"/>
                            <a:cs typeface="宋体" pitchFamily="2" charset="-122"/>
                          </a:rPr>
                          <m:t>ℤ</m:t>
                        </m:r>
                      </m:e>
                      <m:sub>
                        <m:r>
                          <a:rPr lang="en-US" altLang="zh-CN" sz="2000" i="1">
                            <a:solidFill>
                              <a:srgbClr val="000000"/>
                            </a:solidFill>
                            <a:effectLst/>
                            <a:latin typeface="Cambria Math" panose="02040503050406030204" pitchFamily="18" charset="0"/>
                            <a:ea typeface="宋体" pitchFamily="2" charset="-122"/>
                            <a:cs typeface="宋体" pitchFamily="2" charset="-122"/>
                          </a:rPr>
                          <m:t>𝑁</m:t>
                        </m:r>
                      </m:sub>
                    </m:sSub>
                  </m:oMath>
                </a14:m>
                <a:r>
                  <a:rPr lang="zh-CN" altLang="zh-CN" sz="2000" dirty="0">
                    <a:solidFill>
                      <a:srgbClr val="000000"/>
                    </a:solidFill>
                    <a:effectLst/>
                    <a:latin typeface="+mn-lt"/>
                    <a:ea typeface="微软雅黑" panose="020B0503020204020204" charset="-122"/>
                    <a:cs typeface="宋体" pitchFamily="2" charset="-122"/>
                  </a:rPr>
                  <a:t>，私钥</a:t>
                </a:r>
                <a14:m>
                  <m:oMath xmlns:m="http://schemas.openxmlformats.org/officeDocument/2006/math">
                    <m:r>
                      <a:rPr lang="en-US" altLang="zh-CN" sz="2000" b="0" i="0" smtClean="0">
                        <a:solidFill>
                          <a:srgbClr val="000000"/>
                        </a:solidFill>
                        <a:latin typeface="Cambria Math" panose="02040503050406030204" pitchFamily="18" charset="0"/>
                        <a:ea typeface="宋体" pitchFamily="2" charset="-122"/>
                        <a:cs typeface="Times New Roman" panose="02020503050405090304" pitchFamily="18" charset="0"/>
                      </a:rPr>
                      <m:t> </m:t>
                    </m:r>
                    <m:r>
                      <m:rPr>
                        <m:sty m:val="p"/>
                      </m:rPr>
                      <a:rPr lang="en-US" altLang="zh-CN" sz="2000">
                        <a:solidFill>
                          <a:srgbClr val="000000"/>
                        </a:solidFill>
                        <a:latin typeface="Cambria Math" panose="02040503050406030204" pitchFamily="18" charset="0"/>
                        <a:ea typeface="宋体" pitchFamily="2" charset="-122"/>
                        <a:cs typeface="Times New Roman" panose="02020503050405090304" pitchFamily="18" charset="0"/>
                      </a:rPr>
                      <m:t>sk</m:t>
                    </m:r>
                    <m:r>
                      <a:rPr lang="en-US" altLang="zh-CN" sz="2000" i="1">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𝑑</m:t>
                    </m:r>
                  </m:oMath>
                </a14:m>
                <a:r>
                  <a:rPr lang="zh-CN" altLang="zh-CN" sz="2000" dirty="0">
                    <a:solidFill>
                      <a:srgbClr val="000000"/>
                    </a:solidFill>
                    <a:effectLst/>
                    <a:latin typeface="+mn-lt"/>
                    <a:ea typeface="微软雅黑" panose="020B0503020204020204" charset="-122"/>
                    <a:cs typeface="宋体" pitchFamily="2" charset="-122"/>
                  </a:rPr>
                  <a:t>，</a:t>
                </a:r>
                <a:r>
                  <a:rPr lang="zh-CN" altLang="en-US" sz="2000" dirty="0">
                    <a:solidFill>
                      <a:srgbClr val="000000"/>
                    </a:solidFill>
                    <a:latin typeface="+mn-lt"/>
                    <a:ea typeface="微软雅黑" panose="020B0503020204020204" charset="-122"/>
                    <a:cs typeface="宋体" pitchFamily="2" charset="-122"/>
                  </a:rPr>
                  <a:t>该算法</a:t>
                </a:r>
                <a:r>
                  <a:rPr lang="zh-CN" altLang="zh-CN" sz="2000" dirty="0">
                    <a:solidFill>
                      <a:srgbClr val="000000"/>
                    </a:solidFill>
                    <a:effectLst/>
                    <a:latin typeface="+mn-lt"/>
                    <a:ea typeface="微软雅黑" panose="020B0503020204020204" charset="-122"/>
                    <a:cs typeface="宋体" pitchFamily="2" charset="-122"/>
                  </a:rPr>
                  <a:t>输出明文</a:t>
                </a:r>
                <a14:m>
                  <m:oMath xmlns:m="http://schemas.openxmlformats.org/officeDocument/2006/math">
                    <m:sSup>
                      <m:sSupPr>
                        <m:ctrlPr>
                          <a:rPr lang="zh-CN" altLang="zh-CN" sz="2000" i="1">
                            <a:solidFill>
                              <a:srgbClr val="000000"/>
                            </a:solidFill>
                            <a:effectLst/>
                            <a:latin typeface="Cambria Math" panose="02040503050406030204" pitchFamily="18" charset="0"/>
                            <a:ea typeface="Cambria Math" panose="02040503050406030204" pitchFamily="18" charset="0"/>
                            <a:cs typeface="宋体" pitchFamily="2" charset="-122"/>
                          </a:rPr>
                        </m:ctrlPr>
                      </m:sSupPr>
                      <m:e>
                        <m:r>
                          <a:rPr lang="en-US" altLang="zh-CN" sz="2000" i="1">
                            <a:solidFill>
                              <a:srgbClr val="000000"/>
                            </a:solidFill>
                            <a:effectLst/>
                            <a:latin typeface="Cambria Math" panose="02040503050406030204" pitchFamily="18" charset="0"/>
                            <a:ea typeface="宋体" pitchFamily="2" charset="-122"/>
                            <a:cs typeface="宋体" pitchFamily="2" charset="-122"/>
                          </a:rPr>
                          <m:t>𝑀</m:t>
                        </m:r>
                        <m:r>
                          <a:rPr lang="en-US" altLang="zh-CN" sz="2000" b="0" i="1" smtClean="0">
                            <a:solidFill>
                              <a:srgbClr val="000000"/>
                            </a:solidFill>
                            <a:effectLst/>
                            <a:latin typeface="Cambria Math" panose="02040503050406030204" pitchFamily="18" charset="0"/>
                            <a:ea typeface="宋体" pitchFamily="2" charset="-122"/>
                            <a:cs typeface="宋体" pitchFamily="2" charset="-122"/>
                          </a:rPr>
                          <m:t>=</m:t>
                        </m:r>
                        <m:r>
                          <a:rPr lang="en-US" altLang="zh-CN" sz="2000" i="1">
                            <a:solidFill>
                              <a:srgbClr val="000000"/>
                            </a:solidFill>
                            <a:effectLst/>
                            <a:latin typeface="Cambria Math" panose="02040503050406030204" pitchFamily="18" charset="0"/>
                            <a:ea typeface="宋体" pitchFamily="2" charset="-122"/>
                            <a:cs typeface="宋体" pitchFamily="2" charset="-122"/>
                          </a:rPr>
                          <m:t>𝐶</m:t>
                        </m:r>
                      </m:e>
                      <m:sup>
                        <m:r>
                          <a:rPr lang="en-US" altLang="zh-CN" sz="2000" i="1">
                            <a:solidFill>
                              <a:srgbClr val="000000"/>
                            </a:solidFill>
                            <a:effectLst/>
                            <a:latin typeface="Cambria Math" panose="02040503050406030204" pitchFamily="18" charset="0"/>
                            <a:ea typeface="宋体" pitchFamily="2" charset="-122"/>
                            <a:cs typeface="宋体" pitchFamily="2" charset="-122"/>
                          </a:rPr>
                          <m:t>𝑑</m:t>
                        </m:r>
                      </m:sup>
                    </m:sSup>
                    <m:r>
                      <a:rPr lang="en-US" altLang="zh-CN" sz="2000" i="1">
                        <a:solidFill>
                          <a:srgbClr val="000000"/>
                        </a:solidFill>
                        <a:effectLst/>
                        <a:latin typeface="Cambria Math" panose="02040503050406030204" pitchFamily="18" charset="0"/>
                        <a:ea typeface="宋体" pitchFamily="2" charset="-122"/>
                        <a:cs typeface="宋体" pitchFamily="2" charset="-122"/>
                      </a:rPr>
                      <m:t> </m:t>
                    </m:r>
                    <m:r>
                      <m:rPr>
                        <m:sty m:val="p"/>
                      </m:rPr>
                      <a:rPr lang="en-US" altLang="zh-CN" sz="2000">
                        <a:solidFill>
                          <a:srgbClr val="000000"/>
                        </a:solidFill>
                        <a:effectLst/>
                        <a:latin typeface="Cambria Math" panose="02040503050406030204" pitchFamily="18" charset="0"/>
                        <a:ea typeface="宋体" pitchFamily="2" charset="-122"/>
                        <a:cs typeface="宋体" pitchFamily="2" charset="-122"/>
                      </a:rPr>
                      <m:t>mod</m:t>
                    </m:r>
                    <m:r>
                      <a:rPr lang="en-US" altLang="zh-CN" sz="2000" i="1">
                        <a:solidFill>
                          <a:srgbClr val="000000"/>
                        </a:solidFill>
                        <a:effectLst/>
                        <a:latin typeface="Cambria Math" panose="02040503050406030204" pitchFamily="18" charset="0"/>
                        <a:ea typeface="宋体" pitchFamily="2" charset="-122"/>
                        <a:cs typeface="宋体" pitchFamily="2" charset="-122"/>
                      </a:rPr>
                      <m:t> </m:t>
                    </m:r>
                    <m:r>
                      <a:rPr lang="en-US" altLang="zh-CN" sz="2000" i="1">
                        <a:solidFill>
                          <a:srgbClr val="000000"/>
                        </a:solidFill>
                        <a:effectLst/>
                        <a:latin typeface="Cambria Math" panose="02040503050406030204" pitchFamily="18" charset="0"/>
                        <a:ea typeface="宋体" pitchFamily="2" charset="-122"/>
                        <a:cs typeface="宋体" pitchFamily="2" charset="-122"/>
                      </a:rPr>
                      <m:t>𝑁</m:t>
                    </m:r>
                  </m:oMath>
                </a14:m>
                <a:r>
                  <a:rPr lang="zh-CN" altLang="zh-CN" sz="2000" dirty="0">
                    <a:solidFill>
                      <a:srgbClr val="000000"/>
                    </a:solidFill>
                    <a:effectLst/>
                    <a:latin typeface="+mn-lt"/>
                    <a:ea typeface="微软雅黑" panose="020B0503020204020204" charset="-122"/>
                    <a:cs typeface="宋体" pitchFamily="2" charset="-122"/>
                  </a:rPr>
                  <a:t>。</a:t>
                </a:r>
                <a:endParaRPr lang="zh-CN" altLang="en-US" sz="2000" dirty="0">
                  <a:effectLst/>
                  <a:latin typeface="+mn-lt"/>
                  <a:ea typeface="微软雅黑" panose="020B0503020204020204" charset="-122"/>
                </a:endParaRPr>
              </a:p>
              <a:p>
                <a:pPr lvl="0" algn="just" hangingPunct="0">
                  <a:lnSpc>
                    <a:spcPct val="130000"/>
                  </a:lnSpc>
                </a:pPr>
                <a:endParaRPr lang="zh-CN" altLang="zh-CN" sz="2000" dirty="0">
                  <a:effectLst/>
                  <a:latin typeface="+mn-lt"/>
                  <a:ea typeface="微软雅黑" panose="020B0503020204020204" charset="-122"/>
                  <a:cs typeface="宋体" pitchFamily="2" charset="-122"/>
                </a:endParaRPr>
              </a:p>
            </p:txBody>
          </p:sp>
        </mc:Choice>
        <mc:Fallback xmlns="">
          <p:sp>
            <p:nvSpPr>
              <p:cNvPr id="4" name="TextBox 11"/>
              <p:cNvSpPr txBox="1">
                <a:spLocks noRot="1" noChangeAspect="1" noMove="1" noResize="1" noEditPoints="1" noAdjustHandles="1" noChangeArrowheads="1" noChangeShapeType="1" noTextEdit="1"/>
              </p:cNvSpPr>
              <p:nvPr/>
            </p:nvSpPr>
            <p:spPr>
              <a:xfrm>
                <a:off x="877822" y="3666881"/>
                <a:ext cx="10200855" cy="845937"/>
              </a:xfrm>
              <a:prstGeom prst="rect">
                <a:avLst/>
              </a:prstGeom>
              <a:blipFill>
                <a:blip r:embed="rId3"/>
                <a:stretch>
                  <a:fillRect l="-777"/>
                </a:stretch>
              </a:blipFill>
            </p:spPr>
            <p:txBody>
              <a:bodyPr/>
              <a:lstStyle/>
              <a:p>
                <a:r>
                  <a:rPr lang="zh-CN" altLang="en-US">
                    <a:noFill/>
                  </a:rPr>
                  <a:t> </a:t>
                </a:r>
              </a:p>
            </p:txBody>
          </p:sp>
        </mc:Fallback>
      </mc:AlternateContent>
      <p:sp>
        <p:nvSpPr>
          <p:cNvPr id="5" name="文本框 4"/>
          <p:cNvSpPr txBox="1"/>
          <p:nvPr/>
        </p:nvSpPr>
        <p:spPr>
          <a:xfrm>
            <a:off x="2293502" y="4785321"/>
            <a:ext cx="6762750" cy="410845"/>
          </a:xfrm>
          <a:prstGeom prst="rect">
            <a:avLst/>
          </a:prstGeom>
          <a:noFill/>
        </p:spPr>
        <p:txBody>
          <a:bodyPr wrap="square" rtlCol="0" anchor="t">
            <a:noAutofit/>
          </a:bodyPr>
          <a:lstStyle/>
          <a:p>
            <a:pPr algn="ctr">
              <a:defRPr sz="1275" b="0">
                <a:solidFill>
                  <a:srgbClr val="8B3D3D"/>
                </a:solidFill>
              </a:defRPr>
            </a:pPr>
            <a:r>
              <a:rPr lang="zh-CN" altLang="en-US" sz="2400" b="1" dirty="0">
                <a:solidFill>
                  <a:srgbClr val="C00000"/>
                </a:solidFill>
                <a:latin typeface="Times New Roman" panose="02020503050405090304" charset="-122"/>
                <a:ea typeface="微软雅黑" panose="020B0503020204020204" charset="-122"/>
                <a:sym typeface="+mn-ea"/>
              </a:rPr>
              <a:t>RSA 的正确性</a:t>
            </a:r>
            <a:endParaRPr lang="zh-CN" altLang="en-US" sz="2400" b="1" dirty="0">
              <a:solidFill>
                <a:srgbClr val="C00000"/>
              </a:solidFill>
              <a:latin typeface="Times New Roman" panose="02020503050405090304" charset="-122"/>
              <a:ea typeface="微软雅黑" panose="020B0503020204020204" charset="-122"/>
            </a:endParaRPr>
          </a:p>
        </p:txBody>
      </p:sp>
      <p:sp>
        <p:nvSpPr>
          <p:cNvPr id="7" name="矩形 6"/>
          <p:cNvSpPr>
            <a:spLocks noGrp="1"/>
          </p:cNvSpPr>
          <p:nvPr/>
        </p:nvSpPr>
        <p:spPr>
          <a:xfrm>
            <a:off x="502920" y="5314820"/>
            <a:ext cx="4619625" cy="1016145"/>
          </a:xfrm>
          <a:prstGeom prst="rect">
            <a:avLst/>
          </a:prstGeom>
          <a:solidFill>
            <a:srgbClr val="FAFAFA"/>
          </a:solidFill>
          <a:ln w="9525">
            <a:solidFill>
              <a:srgbClr val="F0C9C9"/>
            </a:solidFill>
            <a:prstDash val="solid"/>
          </a:ln>
        </p:spPr>
      </p:sp>
      <p:sp>
        <p:nvSpPr>
          <p:cNvPr id="8" name="矩形 7"/>
          <p:cNvSpPr>
            <a:spLocks noGrp="1"/>
          </p:cNvSpPr>
          <p:nvPr/>
        </p:nvSpPr>
        <p:spPr>
          <a:xfrm>
            <a:off x="674370" y="5467220"/>
            <a:ext cx="4276725" cy="122638"/>
          </a:xfrm>
          <a:prstGeom prst="rect">
            <a:avLst/>
          </a:prstGeom>
          <a:noFill/>
          <a:ln w="0">
            <a:noFill/>
            <a:prstDash val="solid"/>
          </a:ln>
        </p:spPr>
        <p:txBody>
          <a:bodyPr/>
          <a:lstStyle/>
          <a:p>
            <a:pPr algn="l">
              <a:defRPr sz="1350" b="1">
                <a:solidFill>
                  <a:srgbClr val="C90012"/>
                </a:solidFill>
              </a:defRPr>
            </a:pPr>
            <a:r>
              <a:rPr sz="2000" dirty="0" err="1">
                <a:solidFill>
                  <a:srgbClr val="C90012"/>
                </a:solidFill>
                <a:latin typeface="Times New Roman" panose="02020503050405090304" charset="-122"/>
                <a:ea typeface="微软雅黑" panose="020B0503020204020204" charset="-122"/>
              </a:rPr>
              <a:t>解密得到</a:t>
            </a:r>
            <a:r>
              <a:rPr sz="2000" dirty="0">
                <a:solidFill>
                  <a:srgbClr val="C90012"/>
                </a:solidFill>
                <a:latin typeface="Times New Roman" panose="02020503050405090304" charset="-122"/>
                <a:ea typeface="微软雅黑" panose="020B0503020204020204" charset="-122"/>
              </a:rPr>
              <a:t> </a:t>
            </a:r>
            <a:r>
              <a:rPr sz="2000" i="1" dirty="0">
                <a:solidFill>
                  <a:srgbClr val="C90012"/>
                </a:solidFill>
                <a:latin typeface="Times New Roman" panose="02020503050405090304" charset="-122"/>
                <a:ea typeface="微软雅黑" panose="020B0503020204020204" charset="-122"/>
              </a:rPr>
              <a:t>C</a:t>
            </a:r>
            <a:r>
              <a:rPr sz="2000" i="1" baseline="30000" dirty="0">
                <a:solidFill>
                  <a:srgbClr val="C90012"/>
                </a:solidFill>
                <a:latin typeface="Times New Roman" panose="02020503050405090304" charset="-122"/>
                <a:ea typeface="微软雅黑" panose="020B0503020204020204" charset="-122"/>
              </a:rPr>
              <a:t>d</a:t>
            </a:r>
            <a:r>
              <a:rPr sz="2000" dirty="0">
                <a:solidFill>
                  <a:srgbClr val="C90012"/>
                </a:solidFill>
                <a:latin typeface="Times New Roman" panose="02020503050405090304" charset="-122"/>
                <a:ea typeface="微软雅黑" panose="020B0503020204020204" charset="-122"/>
              </a:rPr>
              <a:t> = </a:t>
            </a:r>
            <a:r>
              <a:rPr sz="2000" i="1" dirty="0">
                <a:solidFill>
                  <a:srgbClr val="C90012"/>
                </a:solidFill>
                <a:latin typeface="Times New Roman" panose="02020503050405090304" charset="-122"/>
                <a:ea typeface="微软雅黑" panose="020B0503020204020204" charset="-122"/>
              </a:rPr>
              <a:t>M</a:t>
            </a:r>
            <a:r>
              <a:rPr sz="2000" i="1" baseline="30000" dirty="0">
                <a:solidFill>
                  <a:srgbClr val="C90012"/>
                </a:solidFill>
                <a:latin typeface="Times New Roman" panose="02020503050405090304" charset="-122"/>
                <a:ea typeface="微软雅黑" panose="020B0503020204020204" charset="-122"/>
              </a:rPr>
              <a:t>ed</a:t>
            </a:r>
            <a:r>
              <a:rPr sz="2000" dirty="0">
                <a:solidFill>
                  <a:srgbClr val="C90012"/>
                </a:solidFill>
                <a:latin typeface="Times New Roman" panose="02020503050405090304" charset="-122"/>
                <a:ea typeface="微软雅黑" panose="020B0503020204020204" charset="-122"/>
              </a:rPr>
              <a:t> mod </a:t>
            </a:r>
            <a:r>
              <a:rPr sz="2000" i="1" dirty="0">
                <a:solidFill>
                  <a:srgbClr val="C90012"/>
                </a:solidFill>
                <a:latin typeface="Times New Roman" panose="02020503050405090304" charset="-122"/>
                <a:ea typeface="微软雅黑" panose="020B0503020204020204" charset="-122"/>
              </a:rPr>
              <a:t>N</a:t>
            </a:r>
            <a:r>
              <a:rPr sz="2000" dirty="0">
                <a:solidFill>
                  <a:srgbClr val="C90012"/>
                </a:solidFill>
                <a:latin typeface="Times New Roman" panose="02020503050405090304" charset="-122"/>
                <a:ea typeface="微软雅黑" panose="020B0503020204020204" charset="-122"/>
              </a:rPr>
              <a:t>。</a:t>
            </a:r>
          </a:p>
        </p:txBody>
      </p:sp>
      <mc:AlternateContent xmlns:mc="http://schemas.openxmlformats.org/markup-compatibility/2006" xmlns:a14="http://schemas.microsoft.com/office/drawing/2010/main">
        <mc:Choice Requires="a14">
          <p:sp>
            <p:nvSpPr>
              <p:cNvPr id="10" name="矩形 9"/>
              <p:cNvSpPr>
                <a:spLocks noGrp="1"/>
              </p:cNvSpPr>
              <p:nvPr/>
            </p:nvSpPr>
            <p:spPr>
              <a:xfrm>
                <a:off x="674370" y="5838695"/>
                <a:ext cx="4276725" cy="731449"/>
              </a:xfrm>
              <a:prstGeom prst="rect">
                <a:avLst/>
              </a:prstGeom>
              <a:noFill/>
              <a:ln w="0">
                <a:noFill/>
                <a:prstDash val="solid"/>
              </a:ln>
            </p:spPr>
            <p:txBody>
              <a:bodyPr/>
              <a:lstStyle/>
              <a:p>
                <a:pPr algn="l">
                  <a:defRPr sz="1350" b="0">
                    <a:solidFill>
                      <a:srgbClr val="303030"/>
                    </a:solidFill>
                  </a:defRPr>
                </a:pPr>
                <a:r>
                  <a:rPr sz="2000" b="1" dirty="0" err="1">
                    <a:solidFill>
                      <a:srgbClr val="303030"/>
                    </a:solidFill>
                    <a:latin typeface="Times New Roman" panose="02020503050405090304" charset="-122"/>
                    <a:ea typeface="微软雅黑" panose="020B0503020204020204" charset="-122"/>
                    <a:cs typeface="Times New Roman" panose="02020503050405090304" charset="-122"/>
                  </a:rPr>
                  <a:t>在合适条件下</a:t>
                </a:r>
                <a:r>
                  <a:rPr sz="2000" b="1"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i="1" dirty="0">
                    <a:solidFill>
                      <a:srgbClr val="C90012"/>
                    </a:solidFill>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M</a:t>
                </a:r>
                <a:r>
                  <a:rPr lang="en-GB" altLang="zh-CN" sz="2000" i="1" baseline="30000" dirty="0">
                    <a:latin typeface="Times New Roman" panose="02020503050405090304" charset="-122"/>
                    <a:ea typeface="微软雅黑" panose="020B0503020204020204" charset="-122"/>
                  </a:rPr>
                  <a:t>ed</a:t>
                </a:r>
                <a:r>
                  <a:rPr lang="zh-CN" altLang="en-US" sz="2000" i="1" baseline="30000" dirty="0">
                    <a:latin typeface="Times New Roman" panose="02020503050405090304" charset="-122"/>
                    <a:ea typeface="微软雅黑" panose="020B0503020204020204" charset="-122"/>
                  </a:rPr>
                  <a:t> </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与</a:t>
                </a:r>
                <a:r>
                  <a:rPr sz="2000" b="1" dirty="0">
                    <a:solidFill>
                      <a:srgbClr val="303030"/>
                    </a:solidFill>
                    <a:latin typeface="Times New Roman" panose="02020503050405090304" charset="-122"/>
                    <a:ea typeface="微软雅黑" panose="020B0503020204020204" charset="-122"/>
                    <a:cs typeface="Times New Roman" panose="02020503050405090304" charset="-122"/>
                  </a:rPr>
                  <a:t> </a:t>
                </a:r>
                <a14:m>
                  <m:oMath xmlns:m="http://schemas.openxmlformats.org/officeDocument/2006/math">
                    <m:r>
                      <m:rPr>
                        <m:nor/>
                      </m:rPr>
                      <a:rPr lang="en-US" altLang="zh-CN" sz="2000" i="1" smtClean="0">
                        <a:solidFill>
                          <a:srgbClr val="000000"/>
                        </a:solidFill>
                        <a:effectLst/>
                        <a:latin typeface="Cambria Math" panose="02040503050406030204" pitchFamily="18" charset="0"/>
                        <a:ea typeface="宋体" pitchFamily="2" charset="-122"/>
                        <a:cs typeface="宋体" pitchFamily="2" charset="-122"/>
                      </a:rPr>
                      <m:t>M</m:t>
                    </m:r>
                  </m:oMath>
                </a14:m>
                <a:r>
                  <a:rPr sz="2000" b="1" dirty="0">
                    <a:solidFill>
                      <a:srgbClr val="303030"/>
                    </a:solidFill>
                    <a:latin typeface="Times New Roman" panose="02020503050405090304" charset="-122"/>
                    <a:ea typeface="微软雅黑" panose="020B0503020204020204" charset="-122"/>
                    <a:cs typeface="Times New Roman" panose="02020503050405090304" charset="-122"/>
                  </a:rPr>
                  <a:t> </a:t>
                </a:r>
                <a:r>
                  <a:rPr sz="2000" b="1" dirty="0" err="1">
                    <a:solidFill>
                      <a:srgbClr val="303030"/>
                    </a:solidFill>
                    <a:latin typeface="Times New Roman" panose="02020503050405090304" charset="-122"/>
                    <a:ea typeface="微软雅黑" panose="020B0503020204020204" charset="-122"/>
                    <a:cs typeface="Times New Roman" panose="02020503050405090304" charset="-122"/>
                  </a:rPr>
                  <a:t>同余</a:t>
                </a:r>
                <a:r>
                  <a:rPr sz="2000" b="1" dirty="0">
                    <a:solidFill>
                      <a:srgbClr val="303030"/>
                    </a:solidFill>
                    <a:latin typeface="Times New Roman" panose="02020503050405090304" charset="-122"/>
                    <a:ea typeface="微软雅黑" panose="020B0503020204020204" charset="-122"/>
                    <a:cs typeface="Times New Roman" panose="02020503050405090304" charset="-122"/>
                  </a:rPr>
                  <a:t>。</a:t>
                </a:r>
              </a:p>
            </p:txBody>
          </p:sp>
        </mc:Choice>
        <mc:Fallback xmlns="">
          <p:sp>
            <p:nvSpPr>
              <p:cNvPr id="10" name="矩形 9"/>
              <p:cNvSpPr>
                <a:spLocks noRot="1" noChangeAspect="1" noMove="1" noResize="1" noEditPoints="1" noAdjustHandles="1" noChangeArrowheads="1" noChangeShapeType="1" noTextEdit="1"/>
              </p:cNvSpPr>
              <p:nvPr/>
            </p:nvSpPr>
            <p:spPr>
              <a:xfrm>
                <a:off x="674370" y="5838695"/>
                <a:ext cx="4276725" cy="731449"/>
              </a:xfrm>
              <a:prstGeom prst="rect">
                <a:avLst/>
              </a:prstGeom>
              <a:blipFill rotWithShape="1">
                <a:blip r:embed="rId4"/>
                <a:stretch>
                  <a:fillRect t="-2413" b="59"/>
                </a:stretch>
              </a:blipFill>
              <a:ln w="0">
                <a:noFill/>
                <a:prstDash val="solid"/>
              </a:ln>
            </p:spPr>
            <p:txBody>
              <a:bodyPr/>
              <a:lstStyle/>
              <a:p>
                <a:r>
                  <a:rPr lang="zh-CN" altLang="en-US">
                    <a:noFill/>
                  </a:rPr>
                  <a:t> </a:t>
                </a:r>
              </a:p>
            </p:txBody>
          </p:sp>
        </mc:Fallback>
      </mc:AlternateContent>
      <p:sp>
        <p:nvSpPr>
          <p:cNvPr id="11" name="矩形 10"/>
          <p:cNvSpPr>
            <a:spLocks noGrp="1"/>
          </p:cNvSpPr>
          <p:nvPr/>
        </p:nvSpPr>
        <p:spPr>
          <a:xfrm>
            <a:off x="6220225" y="5314820"/>
            <a:ext cx="4619625" cy="1016145"/>
          </a:xfrm>
          <a:prstGeom prst="rect">
            <a:avLst/>
          </a:prstGeom>
          <a:solidFill>
            <a:srgbClr val="FFF1F1"/>
          </a:solidFill>
          <a:ln w="9525">
            <a:solidFill>
              <a:srgbClr val="F0C9C9"/>
            </a:solidFill>
            <a:prstDash val="solid"/>
          </a:ln>
        </p:spPr>
      </p:sp>
      <p:sp>
        <p:nvSpPr>
          <p:cNvPr id="12" name="矩形 11"/>
          <p:cNvSpPr>
            <a:spLocks noGrp="1"/>
          </p:cNvSpPr>
          <p:nvPr/>
        </p:nvSpPr>
        <p:spPr>
          <a:xfrm>
            <a:off x="6563125" y="5346483"/>
            <a:ext cx="4276725" cy="266700"/>
          </a:xfrm>
          <a:prstGeom prst="rect">
            <a:avLst/>
          </a:prstGeom>
          <a:noFill/>
          <a:ln w="0">
            <a:noFill/>
            <a:prstDash val="solid"/>
          </a:ln>
        </p:spPr>
        <p:txBody>
          <a:bodyPr/>
          <a:lstStyle/>
          <a:p>
            <a:pPr algn="l">
              <a:defRPr sz="1350" b="1">
                <a:solidFill>
                  <a:srgbClr val="C90012"/>
                </a:solidFill>
              </a:defRPr>
            </a:pPr>
            <a:r>
              <a:rPr sz="2000" dirty="0" err="1">
                <a:solidFill>
                  <a:srgbClr val="C90012"/>
                </a:solidFill>
                <a:latin typeface="Times New Roman" panose="02020503050405090304" charset="-122"/>
                <a:ea typeface="微软雅黑" panose="020B0503020204020204" charset="-122"/>
              </a:rPr>
              <a:t>因为</a:t>
            </a:r>
            <a:r>
              <a:rPr sz="2000" dirty="0">
                <a:solidFill>
                  <a:srgbClr val="C90012"/>
                </a:solidFill>
                <a:latin typeface="Times New Roman" panose="02020503050405090304" charset="-122"/>
                <a:ea typeface="微软雅黑" panose="020B0503020204020204" charset="-122"/>
              </a:rPr>
              <a:t> </a:t>
            </a:r>
            <a:r>
              <a:rPr sz="2000" i="1" dirty="0">
                <a:solidFill>
                  <a:srgbClr val="C90012"/>
                </a:solidFill>
                <a:latin typeface="Times New Roman" panose="02020503050405090304" charset="-122"/>
                <a:ea typeface="微软雅黑" panose="020B0503020204020204" charset="-122"/>
              </a:rPr>
              <a:t>ed</a:t>
            </a:r>
            <a:r>
              <a:rPr sz="2000" dirty="0">
                <a:solidFill>
                  <a:srgbClr val="C90012"/>
                </a:solidFill>
                <a:latin typeface="Times New Roman" panose="02020503050405090304" charset="-122"/>
                <a:ea typeface="微软雅黑" panose="020B0503020204020204" charset="-122"/>
              </a:rPr>
              <a:t> = 1 + </a:t>
            </a:r>
            <a:r>
              <a:rPr sz="2000" i="1" dirty="0" err="1">
                <a:solidFill>
                  <a:srgbClr val="C90012"/>
                </a:solidFill>
                <a:latin typeface="Times New Roman" panose="02020503050405090304" charset="-122"/>
                <a:ea typeface="微软雅黑" panose="020B0503020204020204" charset="-122"/>
              </a:rPr>
              <a:t>kφ</a:t>
            </a:r>
            <a:r>
              <a:rPr sz="2000" dirty="0">
                <a:solidFill>
                  <a:srgbClr val="C90012"/>
                </a:solidFill>
                <a:latin typeface="Times New Roman" panose="02020503050405090304" charset="-122"/>
                <a:ea typeface="微软雅黑" panose="020B0503020204020204" charset="-122"/>
              </a:rPr>
              <a:t>(</a:t>
            </a:r>
            <a:r>
              <a:rPr sz="2000" i="1" dirty="0">
                <a:solidFill>
                  <a:srgbClr val="C90012"/>
                </a:solidFill>
                <a:latin typeface="Times New Roman" panose="02020503050405090304" charset="-122"/>
                <a:ea typeface="微软雅黑" panose="020B0503020204020204" charset="-122"/>
              </a:rPr>
              <a:t>N</a:t>
            </a:r>
            <a:r>
              <a:rPr sz="2000" dirty="0">
                <a:solidFill>
                  <a:srgbClr val="C90012"/>
                </a:solidFill>
                <a:latin typeface="Times New Roman" panose="02020503050405090304" charset="-122"/>
                <a:ea typeface="微软雅黑" panose="020B0503020204020204" charset="-122"/>
              </a:rPr>
              <a:t>)。</a:t>
            </a:r>
          </a:p>
        </p:txBody>
      </p:sp>
      <p:sp>
        <p:nvSpPr>
          <p:cNvPr id="15" name="矩形 14"/>
          <p:cNvSpPr>
            <a:spLocks noGrp="1"/>
          </p:cNvSpPr>
          <p:nvPr/>
        </p:nvSpPr>
        <p:spPr>
          <a:xfrm>
            <a:off x="6563124" y="5831551"/>
            <a:ext cx="4276725" cy="1590675"/>
          </a:xfrm>
          <a:prstGeom prst="rect">
            <a:avLst/>
          </a:prstGeom>
          <a:noFill/>
          <a:ln w="0">
            <a:noFill/>
            <a:prstDash val="solid"/>
          </a:ln>
        </p:spPr>
        <p:txBody>
          <a:bodyPr/>
          <a:lstStyle/>
          <a:p>
            <a:pPr algn="l">
              <a:defRPr sz="1350" b="0">
                <a:solidFill>
                  <a:srgbClr val="303030"/>
                </a:solidFill>
              </a:defRPr>
            </a:pPr>
            <a:r>
              <a:rPr sz="2000" b="1" dirty="0" err="1">
                <a:solidFill>
                  <a:srgbClr val="303030"/>
                </a:solidFill>
                <a:latin typeface="Times New Roman" panose="02020503050405090304" charset="-122"/>
                <a:ea typeface="微软雅黑" panose="020B0503020204020204" charset="-122"/>
              </a:rPr>
              <a:t>所以合法私钥可以恢复原始明文</a:t>
            </a:r>
            <a:r>
              <a:rPr sz="2000" b="1" dirty="0">
                <a:solidFill>
                  <a:srgbClr val="303030"/>
                </a:solidFill>
                <a:latin typeface="Times New Roman" panose="02020503050405090304" charset="-122"/>
                <a:ea typeface="微软雅黑" panose="020B0503020204020204"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342279" y="929799"/>
            <a:ext cx="5331139" cy="461665"/>
          </a:xfrm>
          <a:prstGeom prst="rect">
            <a:avLst/>
          </a:prstGeom>
          <a:noFill/>
        </p:spPr>
        <p:txBody>
          <a:bodyPr wrap="square">
            <a:spAutoFit/>
          </a:bodyPr>
          <a:lstStyle/>
          <a:p>
            <a:pPr algn="ctr">
              <a:defRPr sz="1275" b="0">
                <a:solidFill>
                  <a:srgbClr val="8B3D3D"/>
                </a:solidFill>
              </a:defRPr>
            </a:pPr>
            <a:r>
              <a:rPr lang="zh-CN" altLang="en-US" sz="2400" b="1" dirty="0">
                <a:solidFill>
                  <a:srgbClr val="C00000"/>
                </a:solidFill>
              </a:rPr>
              <a:t>模平方法</a:t>
            </a:r>
            <a:r>
              <a:rPr lang="en-US" altLang="zh-CN" sz="2400" b="1" dirty="0">
                <a:solidFill>
                  <a:srgbClr val="C00000"/>
                </a:solidFill>
              </a:rPr>
              <a:t>---</a:t>
            </a:r>
            <a:r>
              <a:rPr lang="zh-CN" altLang="en-US" sz="2400" b="1" dirty="0">
                <a:solidFill>
                  <a:srgbClr val="C00000"/>
                </a:solidFill>
              </a:rPr>
              <a:t>加速</a:t>
            </a:r>
            <a:r>
              <a:rPr lang="en-GB" altLang="zh-CN" sz="2400" b="1" dirty="0">
                <a:solidFill>
                  <a:srgbClr val="C00000"/>
                </a:solidFill>
              </a:rPr>
              <a:t>RSA</a:t>
            </a:r>
            <a:r>
              <a:rPr lang="zh-CN" altLang="en-US" sz="2400" b="1" dirty="0">
                <a:solidFill>
                  <a:srgbClr val="C00000"/>
                </a:solidFill>
              </a:rPr>
              <a:t>中的模幂运算</a:t>
            </a:r>
            <a:endParaRPr lang="zh-CN" altLang="en-US" sz="2400" b="1" dirty="0">
              <a:solidFill>
                <a:srgbClr val="C00000"/>
              </a:solidFill>
              <a:latin typeface="Times New Roman" panose="02020503050405090304"/>
              <a:ea typeface="微软雅黑"/>
              <a:cs typeface="Times New Roman" panose="02020503050405090304"/>
            </a:endParaRPr>
          </a:p>
        </p:txBody>
      </p:sp>
      <p:sp>
        <p:nvSpPr>
          <p:cNvPr id="6" name="矩形 5"/>
          <p:cNvSpPr>
            <a:spLocks noGrp="1"/>
          </p:cNvSpPr>
          <p:nvPr/>
        </p:nvSpPr>
        <p:spPr>
          <a:xfrm>
            <a:off x="762000" y="14763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01</a:t>
            </a:r>
          </a:p>
        </p:txBody>
      </p:sp>
      <p:sp>
        <p:nvSpPr>
          <p:cNvPr id="19" name="矩形 18"/>
          <p:cNvSpPr>
            <a:spLocks noGrp="1"/>
          </p:cNvSpPr>
          <p:nvPr/>
        </p:nvSpPr>
        <p:spPr>
          <a:xfrm>
            <a:off x="1381125" y="14763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9² mod 55 = </a:t>
            </a:r>
            <a:r>
              <a:rPr lang="zh-CN" altLang="en-US" sz="2400" b="0" dirty="0">
                <a:solidFill>
                  <a:srgbClr val="303030"/>
                </a:solidFill>
                <a:latin typeface="Times New Roman" panose="02020503050405090304"/>
                <a:ea typeface="微软雅黑"/>
                <a:cs typeface="Times New Roman" panose="02020503050405090304"/>
              </a:rPr>
              <a:t>？</a:t>
            </a:r>
            <a:endParaRPr sz="2400" b="0" dirty="0">
              <a:solidFill>
                <a:srgbClr val="303030"/>
              </a:solidFill>
              <a:latin typeface="Times New Roman" panose="02020503050405090304"/>
              <a:ea typeface="微软雅黑"/>
              <a:cs typeface="Times New Roman" panose="02020503050405090304"/>
            </a:endParaRPr>
          </a:p>
        </p:txBody>
      </p:sp>
      <p:sp>
        <p:nvSpPr>
          <p:cNvPr id="20" name="矩形 19"/>
          <p:cNvSpPr>
            <a:spLocks noGrp="1"/>
          </p:cNvSpPr>
          <p:nvPr/>
        </p:nvSpPr>
        <p:spPr>
          <a:xfrm>
            <a:off x="762000" y="20859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02</a:t>
            </a:r>
          </a:p>
        </p:txBody>
      </p:sp>
      <p:sp>
        <p:nvSpPr>
          <p:cNvPr id="22" name="矩形 21"/>
          <p:cNvSpPr>
            <a:spLocks noGrp="1"/>
          </p:cNvSpPr>
          <p:nvPr/>
        </p:nvSpPr>
        <p:spPr>
          <a:xfrm>
            <a:off x="1381125" y="20859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9⁴ mod 55 = </a:t>
            </a:r>
            <a:r>
              <a:rPr lang="zh-CN" altLang="en-US" sz="2400" b="0" dirty="0">
                <a:solidFill>
                  <a:srgbClr val="303030"/>
                </a:solidFill>
                <a:latin typeface="Times New Roman" panose="02020503050405090304"/>
                <a:ea typeface="微软雅黑"/>
                <a:cs typeface="Times New Roman" panose="02020503050405090304"/>
              </a:rPr>
              <a:t> ？</a:t>
            </a:r>
            <a:endParaRPr sz="2400" b="0" dirty="0">
              <a:solidFill>
                <a:srgbClr val="303030"/>
              </a:solidFill>
              <a:latin typeface="Times New Roman" panose="02020503050405090304"/>
              <a:ea typeface="微软雅黑"/>
              <a:cs typeface="Times New Roman" panose="02020503050405090304"/>
            </a:endParaRPr>
          </a:p>
        </p:txBody>
      </p:sp>
      <p:sp>
        <p:nvSpPr>
          <p:cNvPr id="23" name="矩形 22"/>
          <p:cNvSpPr>
            <a:spLocks noGrp="1"/>
          </p:cNvSpPr>
          <p:nvPr/>
        </p:nvSpPr>
        <p:spPr>
          <a:xfrm>
            <a:off x="762000" y="26955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03</a:t>
            </a:r>
          </a:p>
        </p:txBody>
      </p:sp>
      <p:sp>
        <p:nvSpPr>
          <p:cNvPr id="24" name="矩形 23"/>
          <p:cNvSpPr>
            <a:spLocks noGrp="1"/>
          </p:cNvSpPr>
          <p:nvPr/>
        </p:nvSpPr>
        <p:spPr>
          <a:xfrm>
            <a:off x="1381125" y="26955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9⁷ mod 55 = </a:t>
            </a:r>
            <a:r>
              <a:rPr lang="zh-CN" altLang="en-US" sz="2400" b="0" dirty="0">
                <a:solidFill>
                  <a:srgbClr val="303030"/>
                </a:solidFill>
                <a:latin typeface="Times New Roman" panose="02020503050405090304"/>
                <a:ea typeface="微软雅黑"/>
                <a:cs typeface="Times New Roman" panose="02020503050405090304"/>
              </a:rPr>
              <a:t>？</a:t>
            </a:r>
            <a:endParaRPr sz="2400" b="0" dirty="0">
              <a:solidFill>
                <a:srgbClr val="303030"/>
              </a:solidFill>
              <a:latin typeface="Times New Roman" panose="02020503050405090304"/>
              <a:ea typeface="微软雅黑"/>
              <a:cs typeface="Times New Roman" panose="02020503050405090304"/>
            </a:endParaRPr>
          </a:p>
        </p:txBody>
      </p:sp>
      <p:sp>
        <p:nvSpPr>
          <p:cNvPr id="5" name="文本框 4"/>
          <p:cNvSpPr txBox="1"/>
          <p:nvPr/>
        </p:nvSpPr>
        <p:spPr>
          <a:xfrm>
            <a:off x="3697133" y="2759836"/>
            <a:ext cx="6100010" cy="461665"/>
          </a:xfrm>
          <a:prstGeom prst="rect">
            <a:avLst/>
          </a:prstGeom>
          <a:noFill/>
        </p:spPr>
        <p:txBody>
          <a:bodyPr wrap="square">
            <a:spAutoFit/>
          </a:bodyPr>
          <a:lstStyle/>
          <a:p>
            <a:r>
              <a:rPr lang="zh-CN" altLang="en-US" sz="2400" dirty="0"/>
              <a:t>直接计算，需要</a:t>
            </a:r>
            <a:r>
              <a:rPr lang="en-US" altLang="zh-CN" sz="2400" dirty="0"/>
              <a:t>6</a:t>
            </a:r>
            <a:r>
              <a:rPr lang="zh-CN" altLang="en-US" sz="2400" dirty="0"/>
              <a:t>次乘法运算</a:t>
            </a:r>
          </a:p>
        </p:txBody>
      </p:sp>
      <p:sp>
        <p:nvSpPr>
          <p:cNvPr id="7" name="右箭头 6"/>
          <p:cNvSpPr>
            <a:spLocks noGrp="1"/>
          </p:cNvSpPr>
          <p:nvPr/>
        </p:nvSpPr>
        <p:spPr>
          <a:xfrm>
            <a:off x="3179345" y="2809875"/>
            <a:ext cx="400050" cy="323850"/>
          </a:xfrm>
          <a:prstGeom prst="rightArrow">
            <a:avLst/>
          </a:prstGeom>
          <a:solidFill>
            <a:srgbClr val="C90012"/>
          </a:solidFill>
          <a:ln w="0">
            <a:no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329922" y="929799"/>
            <a:ext cx="5392784" cy="461665"/>
          </a:xfrm>
          <a:prstGeom prst="rect">
            <a:avLst/>
          </a:prstGeom>
          <a:noFill/>
        </p:spPr>
        <p:txBody>
          <a:bodyPr wrap="square">
            <a:spAutoFit/>
          </a:bodyPr>
          <a:lstStyle/>
          <a:p>
            <a:pPr algn="ctr">
              <a:defRPr sz="1275" b="0">
                <a:solidFill>
                  <a:srgbClr val="8B3D3D"/>
                </a:solidFill>
              </a:defRPr>
            </a:pPr>
            <a:r>
              <a:rPr lang="zh-CN" altLang="en-US" sz="2400" b="1" dirty="0">
                <a:solidFill>
                  <a:srgbClr val="C00000"/>
                </a:solidFill>
              </a:rPr>
              <a:t>模平方法</a:t>
            </a:r>
            <a:r>
              <a:rPr lang="en-US" altLang="zh-CN" sz="2400" b="1" dirty="0">
                <a:solidFill>
                  <a:srgbClr val="C00000"/>
                </a:solidFill>
              </a:rPr>
              <a:t>---</a:t>
            </a:r>
            <a:r>
              <a:rPr lang="zh-CN" altLang="en-US" sz="2400" b="1" dirty="0">
                <a:solidFill>
                  <a:srgbClr val="C00000"/>
                </a:solidFill>
              </a:rPr>
              <a:t>加速</a:t>
            </a:r>
            <a:r>
              <a:rPr lang="en-GB" altLang="zh-CN" sz="2400" b="1" dirty="0">
                <a:solidFill>
                  <a:srgbClr val="C00000"/>
                </a:solidFill>
              </a:rPr>
              <a:t>RSA</a:t>
            </a:r>
            <a:r>
              <a:rPr lang="zh-CN" altLang="en-US" sz="2400" b="1" dirty="0">
                <a:solidFill>
                  <a:srgbClr val="C00000"/>
                </a:solidFill>
              </a:rPr>
              <a:t>中的模幂运算</a:t>
            </a:r>
            <a:endParaRPr lang="zh-CN" altLang="en-US" sz="2400" b="1" dirty="0">
              <a:solidFill>
                <a:srgbClr val="C00000"/>
              </a:solidFill>
              <a:latin typeface="Times New Roman" panose="02020503050405090304"/>
              <a:ea typeface="微软雅黑"/>
              <a:cs typeface="Times New Roman" panose="02020503050405090304"/>
            </a:endParaRPr>
          </a:p>
        </p:txBody>
      </p:sp>
      <p:sp>
        <p:nvSpPr>
          <p:cNvPr id="6" name="矩形 5"/>
          <p:cNvSpPr>
            <a:spLocks noGrp="1"/>
          </p:cNvSpPr>
          <p:nvPr/>
        </p:nvSpPr>
        <p:spPr>
          <a:xfrm>
            <a:off x="762000" y="14763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01</a:t>
            </a:r>
          </a:p>
        </p:txBody>
      </p:sp>
      <p:sp>
        <p:nvSpPr>
          <p:cNvPr id="19" name="矩形 18"/>
          <p:cNvSpPr>
            <a:spLocks noGrp="1"/>
          </p:cNvSpPr>
          <p:nvPr/>
        </p:nvSpPr>
        <p:spPr>
          <a:xfrm>
            <a:off x="1381125" y="14763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9² mod 55 = </a:t>
            </a:r>
            <a:r>
              <a:rPr lang="zh-CN" altLang="en-US" sz="2400" b="0" dirty="0">
                <a:solidFill>
                  <a:srgbClr val="303030"/>
                </a:solidFill>
                <a:latin typeface="Times New Roman" panose="02020503050405090304"/>
                <a:ea typeface="微软雅黑"/>
                <a:cs typeface="Times New Roman" panose="02020503050405090304"/>
              </a:rPr>
              <a:t>？</a:t>
            </a:r>
            <a:endParaRPr sz="2400" b="0" dirty="0">
              <a:solidFill>
                <a:srgbClr val="303030"/>
              </a:solidFill>
              <a:latin typeface="Times New Roman" panose="02020503050405090304"/>
              <a:ea typeface="微软雅黑"/>
              <a:cs typeface="Times New Roman" panose="02020503050405090304"/>
            </a:endParaRPr>
          </a:p>
        </p:txBody>
      </p:sp>
      <p:sp>
        <p:nvSpPr>
          <p:cNvPr id="20" name="矩形 19"/>
          <p:cNvSpPr>
            <a:spLocks noGrp="1"/>
          </p:cNvSpPr>
          <p:nvPr/>
        </p:nvSpPr>
        <p:spPr>
          <a:xfrm>
            <a:off x="762000" y="20859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02</a:t>
            </a:r>
          </a:p>
        </p:txBody>
      </p:sp>
      <p:sp>
        <p:nvSpPr>
          <p:cNvPr id="22" name="矩形 21"/>
          <p:cNvSpPr>
            <a:spLocks noGrp="1"/>
          </p:cNvSpPr>
          <p:nvPr/>
        </p:nvSpPr>
        <p:spPr>
          <a:xfrm>
            <a:off x="1381125" y="20859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9⁴ mod 55 = </a:t>
            </a:r>
            <a:r>
              <a:rPr lang="zh-CN" altLang="en-US" sz="2400" b="0" dirty="0">
                <a:solidFill>
                  <a:srgbClr val="303030"/>
                </a:solidFill>
                <a:latin typeface="Times New Roman" panose="02020503050405090304"/>
                <a:ea typeface="微软雅黑"/>
                <a:cs typeface="Times New Roman" panose="02020503050405090304"/>
              </a:rPr>
              <a:t> ？</a:t>
            </a:r>
            <a:endParaRPr sz="2400" b="0" dirty="0">
              <a:solidFill>
                <a:srgbClr val="303030"/>
              </a:solidFill>
              <a:latin typeface="Times New Roman" panose="02020503050405090304"/>
              <a:ea typeface="微软雅黑"/>
              <a:cs typeface="Times New Roman" panose="02020503050405090304"/>
            </a:endParaRPr>
          </a:p>
        </p:txBody>
      </p:sp>
      <p:sp>
        <p:nvSpPr>
          <p:cNvPr id="23" name="矩形 22"/>
          <p:cNvSpPr>
            <a:spLocks noGrp="1"/>
          </p:cNvSpPr>
          <p:nvPr/>
        </p:nvSpPr>
        <p:spPr>
          <a:xfrm>
            <a:off x="762000" y="26955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03</a:t>
            </a:r>
          </a:p>
        </p:txBody>
      </p:sp>
      <p:sp>
        <p:nvSpPr>
          <p:cNvPr id="24" name="矩形 23"/>
          <p:cNvSpPr>
            <a:spLocks noGrp="1"/>
          </p:cNvSpPr>
          <p:nvPr/>
        </p:nvSpPr>
        <p:spPr>
          <a:xfrm>
            <a:off x="1381125" y="26955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9⁷ mod 55 = </a:t>
            </a:r>
            <a:r>
              <a:rPr lang="zh-CN" altLang="en-US" sz="2400" b="0" dirty="0">
                <a:solidFill>
                  <a:srgbClr val="303030"/>
                </a:solidFill>
                <a:latin typeface="Times New Roman" panose="02020503050405090304"/>
                <a:ea typeface="微软雅黑"/>
                <a:cs typeface="Times New Roman" panose="02020503050405090304"/>
              </a:rPr>
              <a:t>？</a:t>
            </a:r>
            <a:endParaRPr sz="2400" b="0" dirty="0">
              <a:solidFill>
                <a:srgbClr val="303030"/>
              </a:solidFill>
              <a:latin typeface="Times New Roman" panose="02020503050405090304"/>
              <a:ea typeface="微软雅黑"/>
              <a:cs typeface="Times New Roman" panose="02020503050405090304"/>
            </a:endParaRPr>
          </a:p>
        </p:txBody>
      </p:sp>
      <p:sp>
        <p:nvSpPr>
          <p:cNvPr id="2" name="矩形 1"/>
          <p:cNvSpPr>
            <a:spLocks noGrp="1"/>
          </p:cNvSpPr>
          <p:nvPr/>
        </p:nvSpPr>
        <p:spPr>
          <a:xfrm>
            <a:off x="4660447" y="1462278"/>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01</a:t>
            </a:r>
          </a:p>
        </p:txBody>
      </p:sp>
      <p:sp>
        <p:nvSpPr>
          <p:cNvPr id="3" name="矩形 2"/>
          <p:cNvSpPr>
            <a:spLocks noGrp="1"/>
          </p:cNvSpPr>
          <p:nvPr/>
        </p:nvSpPr>
        <p:spPr>
          <a:xfrm>
            <a:off x="5279572" y="146227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9² mod 55 = 26</a:t>
            </a:r>
          </a:p>
        </p:txBody>
      </p:sp>
      <p:sp>
        <p:nvSpPr>
          <p:cNvPr id="4" name="矩形 3"/>
          <p:cNvSpPr>
            <a:spLocks noGrp="1"/>
          </p:cNvSpPr>
          <p:nvPr/>
        </p:nvSpPr>
        <p:spPr>
          <a:xfrm>
            <a:off x="4660447" y="2071878"/>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02</a:t>
            </a:r>
          </a:p>
        </p:txBody>
      </p:sp>
      <p:sp>
        <p:nvSpPr>
          <p:cNvPr id="5" name="矩形 4"/>
          <p:cNvSpPr>
            <a:spLocks noGrp="1"/>
          </p:cNvSpPr>
          <p:nvPr/>
        </p:nvSpPr>
        <p:spPr>
          <a:xfrm>
            <a:off x="5279572" y="207187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9⁴ mod 55 = 26² mod 55 = 16</a:t>
            </a:r>
          </a:p>
        </p:txBody>
      </p:sp>
      <p:sp>
        <p:nvSpPr>
          <p:cNvPr id="7" name="矩形 6"/>
          <p:cNvSpPr>
            <a:spLocks noGrp="1"/>
          </p:cNvSpPr>
          <p:nvPr/>
        </p:nvSpPr>
        <p:spPr>
          <a:xfrm>
            <a:off x="4660447" y="2681478"/>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400" b="1">
                <a:solidFill>
                  <a:srgbClr val="C90012"/>
                </a:solidFill>
                <a:latin typeface="Times New Roman" panose="02020503050405090304"/>
                <a:ea typeface="微软雅黑"/>
                <a:cs typeface="Times New Roman" panose="02020503050405090304"/>
              </a:rPr>
              <a:t>03</a:t>
            </a:r>
          </a:p>
        </p:txBody>
      </p:sp>
      <p:sp>
        <p:nvSpPr>
          <p:cNvPr id="8" name="矩形 7"/>
          <p:cNvSpPr>
            <a:spLocks noGrp="1"/>
          </p:cNvSpPr>
          <p:nvPr/>
        </p:nvSpPr>
        <p:spPr>
          <a:xfrm>
            <a:off x="5279572" y="268147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400" b="0" dirty="0">
                <a:solidFill>
                  <a:srgbClr val="303030"/>
                </a:solidFill>
                <a:latin typeface="Times New Roman" panose="02020503050405090304"/>
                <a:ea typeface="微软雅黑"/>
                <a:cs typeface="Times New Roman" panose="02020503050405090304"/>
              </a:rPr>
              <a:t>9⁷ mod 55 = 16×26×9 mod 55 = 4</a:t>
            </a:r>
          </a:p>
        </p:txBody>
      </p:sp>
      <p:sp>
        <p:nvSpPr>
          <p:cNvPr id="10" name="右箭头 9"/>
          <p:cNvSpPr>
            <a:spLocks noGrp="1"/>
          </p:cNvSpPr>
          <p:nvPr/>
        </p:nvSpPr>
        <p:spPr>
          <a:xfrm>
            <a:off x="3548231" y="2066925"/>
            <a:ext cx="400050" cy="323850"/>
          </a:xfrm>
          <a:prstGeom prst="rightArrow">
            <a:avLst/>
          </a:prstGeom>
          <a:solidFill>
            <a:srgbClr val="C90012"/>
          </a:solidFill>
          <a:ln w="0">
            <a:noFill/>
            <a:prstDash val="solid"/>
          </a:ln>
        </p:spPr>
      </p:sp>
      <mc:AlternateContent xmlns:mc="http://schemas.openxmlformats.org/markup-compatibility/2006" xmlns:a14="http://schemas.microsoft.com/office/drawing/2010/main">
        <mc:Choice Requires="a14">
          <p:sp>
            <p:nvSpPr>
              <p:cNvPr id="12" name="文本框 11"/>
              <p:cNvSpPr txBox="1"/>
              <p:nvPr/>
            </p:nvSpPr>
            <p:spPr>
              <a:xfrm>
                <a:off x="1803928" y="4219576"/>
                <a:ext cx="7611922" cy="961032"/>
              </a:xfrm>
              <a:prstGeom prst="rect">
                <a:avLst/>
              </a:prstGeom>
              <a:noFill/>
            </p:spPr>
            <p:txBody>
              <a:bodyPr wrap="square">
                <a:spAutoFit/>
              </a:bodyPr>
              <a:lstStyle/>
              <a:p>
                <a:pPr>
                  <a:lnSpc>
                    <a:spcPct val="150000"/>
                  </a:lnSpc>
                </a:pPr>
                <a:r>
                  <a:rPr lang="zh-CN" altLang="en-US" sz="2000" dirty="0"/>
                  <a:t>利用重复平方和模乘运算，可加速 </a:t>
                </a:r>
                <a:r>
                  <a:rPr lang="en-GB" altLang="zh-CN" sz="2000" dirty="0"/>
                  <a:t>RSA </a:t>
                </a:r>
                <a:r>
                  <a:rPr lang="zh-CN" altLang="en-US" sz="2000" dirty="0"/>
                  <a:t>中的模幂运算 </a:t>
                </a:r>
                <a14:m>
                  <m:oMath xmlns:m="http://schemas.openxmlformats.org/officeDocument/2006/math">
                    <m:r>
                      <a:rPr lang="en-US" altLang="zh-CN" sz="2000" i="1" smtClean="0">
                        <a:solidFill>
                          <a:srgbClr val="000000"/>
                        </a:solidFill>
                        <a:effectLst/>
                        <a:latin typeface="Cambria Math" panose="02040503050406030204" pitchFamily="18" charset="0"/>
                        <a:ea typeface="+mn-ea"/>
                        <a:cs typeface="宋体" pitchFamily="2" charset="-122"/>
                      </a:rPr>
                      <m:t>𝐶</m:t>
                    </m:r>
                    <m:r>
                      <a:rPr lang="en-US" altLang="zh-CN" sz="2000" b="0" i="1" smtClean="0">
                        <a:solidFill>
                          <a:srgbClr val="000000"/>
                        </a:solidFill>
                        <a:effectLst/>
                        <a:latin typeface="Cambria Math" panose="02040503050406030204" pitchFamily="18" charset="0"/>
                        <a:ea typeface="+mn-ea"/>
                        <a:cs typeface="宋体" pitchFamily="2" charset="-122"/>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𝑀</m:t>
                        </m:r>
                      </m:e>
                      <m:sup>
                        <m:r>
                          <a:rPr lang="en-US" altLang="zh-CN" sz="2000" i="1">
                            <a:solidFill>
                              <a:srgbClr val="000000"/>
                            </a:solidFill>
                            <a:effectLst/>
                            <a:latin typeface="Cambria Math" panose="02040503050406030204" pitchFamily="18" charset="0"/>
                            <a:ea typeface="+mn-ea"/>
                            <a:cs typeface="宋体" pitchFamily="2" charset="-122"/>
                          </a:rPr>
                          <m:t>𝑒</m:t>
                        </m:r>
                      </m:sup>
                    </m:sSup>
                    <m:r>
                      <a:rPr lang="en-US" altLang="zh-CN" sz="2000" i="1">
                        <a:solidFill>
                          <a:srgbClr val="000000"/>
                        </a:solidFill>
                        <a:effectLst/>
                        <a:latin typeface="Cambria Math" panose="02040503050406030204" pitchFamily="18" charset="0"/>
                        <a:ea typeface="+mn-ea"/>
                        <a:cs typeface="宋体" pitchFamily="2" charset="-122"/>
                      </a:rPr>
                      <m:t> </m:t>
                    </m:r>
                    <m:r>
                      <m:rPr>
                        <m:sty m:val="p"/>
                      </m:rPr>
                      <a:rPr lang="en-US" altLang="zh-CN" sz="2000">
                        <a:solidFill>
                          <a:srgbClr val="000000"/>
                        </a:solidFill>
                        <a:effectLst/>
                        <a:latin typeface="Cambria Math" panose="02040503050406030204" pitchFamily="18" charset="0"/>
                        <a:ea typeface="+mn-ea"/>
                        <a:cs typeface="宋体" pitchFamily="2" charset="-122"/>
                      </a:rPr>
                      <m:t>mod</m:t>
                    </m:r>
                    <m:r>
                      <a:rPr lang="en-US" altLang="zh-CN" sz="2000" i="1">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𝑁</m:t>
                    </m:r>
                    <m:r>
                      <a:rPr lang="en-US" altLang="zh-CN" sz="2000" i="1">
                        <a:solidFill>
                          <a:srgbClr val="000000"/>
                        </a:solidFill>
                        <a:effectLst/>
                        <a:latin typeface="Cambria Math" panose="02040503050406030204" pitchFamily="18" charset="0"/>
                        <a:ea typeface="+mn-ea"/>
                        <a:cs typeface="宋体" pitchFamily="2" charset="-122"/>
                      </a:rPr>
                      <m:t> </m:t>
                    </m:r>
                  </m:oMath>
                </a14:m>
                <a:r>
                  <a:rPr lang="zh-CN" altLang="en-US" sz="2000" dirty="0"/>
                  <a:t>， 将模乘运算次数从朴素算法的 </a:t>
                </a:r>
                <a:r>
                  <a:rPr lang="en-US" altLang="zh-CN" sz="2000" i="1" dirty="0"/>
                  <a:t>O</a:t>
                </a:r>
                <a:r>
                  <a:rPr lang="en-US" altLang="zh-CN" sz="2000" dirty="0"/>
                  <a:t>(</a:t>
                </a:r>
                <a:r>
                  <a:rPr lang="en-US" altLang="zh-CN" sz="2000" i="1" dirty="0"/>
                  <a:t>n</a:t>
                </a:r>
                <a:r>
                  <a:rPr lang="en-US" altLang="zh-CN" sz="2000" dirty="0"/>
                  <a:t>)</a:t>
                </a:r>
                <a:r>
                  <a:rPr lang="zh-CN" altLang="en-US" sz="2000" dirty="0"/>
                  <a:t> 降低至 </a:t>
                </a:r>
                <a:r>
                  <a:rPr lang="en-US" altLang="zh-CN" sz="2000" i="1" dirty="0"/>
                  <a:t>O</a:t>
                </a:r>
                <a:r>
                  <a:rPr lang="en-US" altLang="zh-CN" sz="2000" dirty="0"/>
                  <a:t>(log</a:t>
                </a:r>
                <a:r>
                  <a:rPr lang="zh-CN" altLang="en-US" sz="2000" dirty="0"/>
                  <a:t> </a:t>
                </a:r>
                <a:r>
                  <a:rPr lang="en-US" altLang="zh-CN" sz="2000" i="1" dirty="0"/>
                  <a:t>n</a:t>
                </a:r>
                <a:r>
                  <a:rPr lang="en-US" altLang="zh-CN" sz="2000" dirty="0"/>
                  <a:t>)</a:t>
                </a:r>
                <a:r>
                  <a:rPr lang="zh-CN" altLang="en-US" sz="2000" dirty="0"/>
                  <a:t> </a:t>
                </a:r>
                <a:r>
                  <a:rPr lang="zh-CN" altLang="en-GB" sz="2000" dirty="0"/>
                  <a:t>。</a:t>
                </a:r>
                <a:endParaRPr lang="zh-CN" altLang="en-US" sz="20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803928" y="4219576"/>
                <a:ext cx="7611922" cy="961032"/>
              </a:xfrm>
              <a:prstGeom prst="rect">
                <a:avLst/>
              </a:prstGeom>
              <a:blipFill>
                <a:blip r:embed="rId2"/>
                <a:stretch>
                  <a:fillRect l="-1000" r="-667" b="-10390"/>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461731" y="914369"/>
            <a:ext cx="4265023" cy="461665"/>
          </a:xfrm>
          <a:prstGeom prst="rect">
            <a:avLst/>
          </a:prstGeom>
          <a:noFill/>
        </p:spPr>
        <p:txBody>
          <a:bodyPr wrap="square">
            <a:spAutoFit/>
          </a:bodyPr>
          <a:lstStyle/>
          <a:p>
            <a:pPr>
              <a:defRPr sz="1275" b="0">
                <a:solidFill>
                  <a:srgbClr val="8B3D3D"/>
                </a:solidFill>
              </a:defRPr>
            </a:pPr>
            <a:r>
              <a:rPr lang="en-US" altLang="zh-CN"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RSA</a:t>
            </a:r>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的课题习题</a:t>
            </a:r>
            <a:endParaRPr lang="zh-CN" altLang="en-US" sz="2400" b="1" dirty="0">
              <a:solidFill>
                <a:srgbClr val="C00000"/>
              </a:solidFill>
              <a:latin typeface="Times New Roman" panose="02020503050405090304"/>
              <a:ea typeface="微软雅黑"/>
              <a:cs typeface="Times New Roman" panose="02020503050405090304"/>
            </a:endParaRPr>
          </a:p>
        </p:txBody>
      </p:sp>
      <p:sp>
        <p:nvSpPr>
          <p:cNvPr id="12" name="文本框 11"/>
          <p:cNvSpPr txBox="1"/>
          <p:nvPr/>
        </p:nvSpPr>
        <p:spPr>
          <a:xfrm>
            <a:off x="1865237" y="1262254"/>
            <a:ext cx="9035643" cy="960328"/>
          </a:xfrm>
          <a:prstGeom prst="rect">
            <a:avLst/>
          </a:prstGeom>
          <a:noFill/>
        </p:spPr>
        <p:txBody>
          <a:bodyPr wrap="square">
            <a:spAutoFit/>
          </a:bodyPr>
          <a:lstStyle/>
          <a:p>
            <a:pPr>
              <a:lnSpc>
                <a:spcPct val="150000"/>
              </a:lnSpc>
            </a:pP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选择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p</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5</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q</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11</a:t>
            </a:r>
            <a:r>
              <a:rPr lang="zh-CN" altLang="en-GB" sz="2000" dirty="0">
                <a:latin typeface="Times New Roman" panose="02020503050405090304" charset="-122"/>
                <a:ea typeface="微软雅黑" panose="020B0503020204020204" charset="-122"/>
                <a:cs typeface="Times New Roman" panose="020205030504050903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e</a:t>
            </a:r>
            <a:r>
              <a:rPr lang="en-GB" altLang="zh-CN" sz="2000" dirty="0">
                <a:latin typeface="Times New Roman" panose="02020503050405090304" charset="-122"/>
                <a:ea typeface="微软雅黑" panose="020B0503020204020204" charset="-122"/>
              </a:rPr>
              <a:t> = 3</a:t>
            </a:r>
            <a:r>
              <a:rPr lang="zh-CN" altLang="en-GB" sz="2000" dirty="0">
                <a:latin typeface="Times New Roman" panose="02020503050405090304" charset="-122"/>
                <a:ea typeface="微软雅黑" panose="020B0503020204020204" charset="-122"/>
              </a:rPr>
              <a:t>，</a:t>
            </a:r>
            <a:r>
              <a:rPr lang="zh-CN" altLang="en-US" sz="2000" dirty="0">
                <a:latin typeface="Times New Roman" panose="02020503050405090304" charset="-122"/>
                <a:ea typeface="微软雅黑" panose="020B0503020204020204" charset="-122"/>
              </a:rPr>
              <a:t>计算 </a:t>
            </a:r>
            <a:r>
              <a:rPr lang="el-GR" altLang="zh-CN" sz="2000" dirty="0">
                <a:latin typeface="Times New Roman" panose="02020503050405090304" charset="-122"/>
                <a:ea typeface="微软雅黑" panose="020B0503020204020204" charset="-122"/>
              </a:rPr>
              <a:t>φ(</a:t>
            </a:r>
            <a:r>
              <a:rPr lang="en-GB" altLang="zh-CN" sz="2000" i="1" dirty="0">
                <a:latin typeface="Times New Roman" panose="02020503050405090304" charset="-122"/>
                <a:ea typeface="微软雅黑" panose="020B0503020204020204" charset="-122"/>
              </a:rPr>
              <a:t>N</a:t>
            </a:r>
            <a:r>
              <a:rPr lang="en-GB" altLang="zh-CN" sz="2000" dirty="0">
                <a:latin typeface="Times New Roman" panose="02020503050405090304" charset="-122"/>
                <a:ea typeface="微软雅黑" panose="020B0503020204020204" charset="-122"/>
              </a:rPr>
              <a:t>) </a:t>
            </a:r>
            <a:r>
              <a:rPr lang="zh-CN" altLang="en-GB" sz="2000" dirty="0">
                <a:latin typeface="Times New Roman" panose="02020503050405090304" charset="-122"/>
                <a:ea typeface="微软雅黑" panose="020B05030202040202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d</a:t>
            </a:r>
            <a:r>
              <a:rPr lang="en-GB" altLang="zh-CN" sz="2000" dirty="0">
                <a:latin typeface="Times New Roman" panose="02020503050405090304" charset="-122"/>
                <a:ea typeface="微软雅黑" panose="020B0503020204020204" charset="-122"/>
              </a:rPr>
              <a:t> </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以及消息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M</a:t>
            </a:r>
            <a:r>
              <a:rPr lang="en-GB" altLang="zh-CN" sz="2000" b="1"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7 </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的加密密文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C</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endPar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endParaRPr>
          </a:p>
          <a:p>
            <a:pPr>
              <a:lnSpc>
                <a:spcPct val="150000"/>
              </a:lnSpc>
            </a:pP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461731" y="914369"/>
            <a:ext cx="4265023" cy="461665"/>
          </a:xfrm>
          <a:prstGeom prst="rect">
            <a:avLst/>
          </a:prstGeom>
          <a:noFill/>
        </p:spPr>
        <p:txBody>
          <a:bodyPr wrap="square">
            <a:spAutoFit/>
          </a:bodyPr>
          <a:lstStyle/>
          <a:p>
            <a:pPr>
              <a:defRPr sz="1275" b="0">
                <a:solidFill>
                  <a:srgbClr val="8B3D3D"/>
                </a:solidFill>
              </a:defRPr>
            </a:pPr>
            <a:r>
              <a:rPr lang="en-US" altLang="zh-CN"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RSA</a:t>
            </a:r>
            <a:r>
              <a:rPr lang="zh-CN" altLang="en-US" sz="2400" b="1" dirty="0">
                <a:solidFill>
                  <a:srgbClr val="C00000"/>
                </a:solidFill>
                <a:latin typeface="Times New Roman" panose="02020503050405090304" charset="-122"/>
                <a:ea typeface="微软雅黑" panose="020B0503020204020204" charset="-122"/>
                <a:cs typeface="Times New Roman" panose="02020503050405090304" charset="-122"/>
                <a:sym typeface="+mn-ea"/>
              </a:rPr>
              <a:t>的课题习题</a:t>
            </a:r>
            <a:endParaRPr lang="zh-CN" altLang="en-US" sz="2400" b="1" dirty="0">
              <a:solidFill>
                <a:srgbClr val="C00000"/>
              </a:solidFill>
              <a:latin typeface="Times New Roman" panose="02020503050405090304"/>
              <a:ea typeface="微软雅黑"/>
              <a:cs typeface="Times New Roman" panose="02020503050405090304"/>
            </a:endParaRPr>
          </a:p>
        </p:txBody>
      </p:sp>
      <p:sp>
        <p:nvSpPr>
          <p:cNvPr id="12" name="文本框 11"/>
          <p:cNvSpPr txBox="1"/>
          <p:nvPr/>
        </p:nvSpPr>
        <p:spPr>
          <a:xfrm>
            <a:off x="1865238" y="1262254"/>
            <a:ext cx="7611922" cy="1421992"/>
          </a:xfrm>
          <a:prstGeom prst="rect">
            <a:avLst/>
          </a:prstGeom>
          <a:noFill/>
        </p:spPr>
        <p:txBody>
          <a:bodyPr wrap="square">
            <a:spAutoFit/>
          </a:bodyPr>
          <a:lstStyle/>
          <a:p>
            <a:pPr>
              <a:lnSpc>
                <a:spcPct val="150000"/>
              </a:lnSpc>
            </a:pP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选择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p</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5</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q</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11</a:t>
            </a:r>
            <a:r>
              <a:rPr lang="zh-CN" altLang="en-GB" sz="2000" dirty="0">
                <a:latin typeface="Times New Roman" panose="02020503050405090304" charset="-122"/>
                <a:ea typeface="微软雅黑" panose="020B0503020204020204" charset="-122"/>
                <a:cs typeface="Times New Roman" panose="020205030504050903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e</a:t>
            </a:r>
            <a:r>
              <a:rPr lang="en-GB" altLang="zh-CN" sz="2000" dirty="0">
                <a:latin typeface="Times New Roman" panose="02020503050405090304" charset="-122"/>
                <a:ea typeface="微软雅黑" panose="020B0503020204020204" charset="-122"/>
              </a:rPr>
              <a:t> = 3</a:t>
            </a:r>
            <a:r>
              <a:rPr lang="zh-CN" altLang="en-GB" sz="2000" dirty="0">
                <a:latin typeface="Times New Roman" panose="02020503050405090304" charset="-122"/>
                <a:ea typeface="微软雅黑" panose="020B0503020204020204" charset="-122"/>
              </a:rPr>
              <a:t>，</a:t>
            </a:r>
            <a:r>
              <a:rPr lang="zh-CN" altLang="en-US" sz="2000" dirty="0">
                <a:latin typeface="Times New Roman" panose="02020503050405090304" charset="-122"/>
                <a:ea typeface="微软雅黑" panose="020B0503020204020204" charset="-122"/>
              </a:rPr>
              <a:t>计算 </a:t>
            </a:r>
            <a:r>
              <a:rPr lang="el-GR" altLang="zh-CN" sz="2000" dirty="0">
                <a:latin typeface="Times New Roman" panose="02020503050405090304" charset="-122"/>
                <a:ea typeface="微软雅黑" panose="020B0503020204020204" charset="-122"/>
              </a:rPr>
              <a:t>φ(</a:t>
            </a:r>
            <a:r>
              <a:rPr lang="en-GB" altLang="zh-CN" sz="2000" i="1" dirty="0">
                <a:latin typeface="Times New Roman" panose="02020503050405090304" charset="-122"/>
                <a:ea typeface="微软雅黑" panose="020B0503020204020204" charset="-122"/>
              </a:rPr>
              <a:t>N</a:t>
            </a:r>
            <a:r>
              <a:rPr lang="en-GB" altLang="zh-CN" sz="2000" dirty="0">
                <a:latin typeface="Times New Roman" panose="02020503050405090304" charset="-122"/>
                <a:ea typeface="微软雅黑" panose="020B0503020204020204" charset="-122"/>
              </a:rPr>
              <a:t>) </a:t>
            </a:r>
            <a:r>
              <a:rPr lang="zh-CN" altLang="en-GB" sz="2000" dirty="0">
                <a:latin typeface="Times New Roman" panose="02020503050405090304" charset="-122"/>
                <a:ea typeface="微软雅黑" panose="020B05030202040202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d</a:t>
            </a:r>
            <a:r>
              <a:rPr lang="en-GB" altLang="zh-CN" sz="2000" dirty="0">
                <a:latin typeface="Times New Roman" panose="02020503050405090304" charset="-122"/>
                <a:ea typeface="微软雅黑" panose="020B0503020204020204" charset="-122"/>
              </a:rPr>
              <a:t> </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以及消息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M</a:t>
            </a:r>
            <a:r>
              <a:rPr lang="en-GB" altLang="zh-CN" sz="2000" b="1"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7 </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的加密密文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C</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endPar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endParaRPr>
          </a:p>
          <a:p>
            <a:pPr>
              <a:lnSpc>
                <a:spcPct val="150000"/>
              </a:lnSpc>
            </a:pPr>
            <a:endParaRPr lang="zh-CN" altLang="en-US" sz="2000" dirty="0"/>
          </a:p>
        </p:txBody>
      </p:sp>
      <p:sp>
        <p:nvSpPr>
          <p:cNvPr id="2" name="文本框 1"/>
          <p:cNvSpPr txBox="1"/>
          <p:nvPr/>
        </p:nvSpPr>
        <p:spPr>
          <a:xfrm>
            <a:off x="1908633" y="4055483"/>
            <a:ext cx="8981974" cy="960328"/>
          </a:xfrm>
          <a:prstGeom prst="rect">
            <a:avLst/>
          </a:prstGeom>
          <a:noFill/>
        </p:spPr>
        <p:txBody>
          <a:bodyPr wrap="square">
            <a:spAutoFit/>
          </a:bodyPr>
          <a:lstStyle/>
          <a:p>
            <a:pPr>
              <a:lnSpc>
                <a:spcPct val="150000"/>
              </a:lnSpc>
            </a:pP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选择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p</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5</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q</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 = 11</a:t>
            </a:r>
            <a:r>
              <a:rPr lang="zh-CN" altLang="en-GB" sz="2000" dirty="0">
                <a:latin typeface="Times New Roman" panose="02020503050405090304" charset="-122"/>
                <a:ea typeface="微软雅黑" panose="020B0503020204020204" charset="-122"/>
                <a:cs typeface="Times New Roman" panose="020205030504050903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e</a:t>
            </a:r>
            <a:r>
              <a:rPr lang="en-GB" altLang="zh-CN" sz="2000" dirty="0">
                <a:latin typeface="Times New Roman" panose="02020503050405090304" charset="-122"/>
                <a:ea typeface="微软雅黑" panose="020B0503020204020204" charset="-122"/>
              </a:rPr>
              <a:t> = 3</a:t>
            </a:r>
            <a:r>
              <a:rPr lang="zh-CN" altLang="en-GB" sz="2000" dirty="0">
                <a:latin typeface="Times New Roman" panose="02020503050405090304" charset="-122"/>
                <a:ea typeface="微软雅黑" panose="020B0503020204020204" charset="-122"/>
              </a:rPr>
              <a:t>，</a:t>
            </a:r>
            <a:r>
              <a:rPr lang="zh-CN" altLang="en-US" sz="2000" dirty="0">
                <a:latin typeface="Times New Roman" panose="02020503050405090304" charset="-122"/>
                <a:ea typeface="微软雅黑" panose="020B0503020204020204" charset="-122"/>
              </a:rPr>
              <a:t>计算 </a:t>
            </a:r>
            <a:r>
              <a:rPr lang="el-GR" altLang="zh-CN" sz="2000" dirty="0">
                <a:latin typeface="Times New Roman" panose="02020503050405090304" charset="-122"/>
                <a:ea typeface="微软雅黑" panose="020B0503020204020204" charset="-122"/>
              </a:rPr>
              <a:t>φ(</a:t>
            </a:r>
            <a:r>
              <a:rPr lang="en-GB" altLang="zh-CN" sz="2000" i="1" dirty="0">
                <a:latin typeface="Times New Roman" panose="02020503050405090304" charset="-122"/>
                <a:ea typeface="微软雅黑" panose="020B0503020204020204" charset="-122"/>
              </a:rPr>
              <a:t>N</a:t>
            </a:r>
            <a:r>
              <a:rPr lang="en-GB" altLang="zh-CN" sz="2000" dirty="0">
                <a:latin typeface="Times New Roman" panose="02020503050405090304" charset="-122"/>
                <a:ea typeface="微软雅黑" panose="020B0503020204020204" charset="-122"/>
              </a:rPr>
              <a:t>) </a:t>
            </a:r>
            <a:r>
              <a:rPr lang="zh-CN" altLang="en-GB" sz="2000" dirty="0">
                <a:latin typeface="Times New Roman" panose="02020503050405090304" charset="-122"/>
                <a:ea typeface="微软雅黑" panose="020B0503020204020204" charset="-122"/>
              </a:rPr>
              <a:t>，</a:t>
            </a:r>
            <a:r>
              <a:rPr lang="en-GB" altLang="zh-CN" sz="2000" dirty="0">
                <a:latin typeface="Times New Roman" panose="02020503050405090304" charset="-122"/>
                <a:ea typeface="微软雅黑" panose="020B0503020204020204" charset="-122"/>
              </a:rPr>
              <a:t> </a:t>
            </a:r>
            <a:r>
              <a:rPr lang="en-GB" altLang="zh-CN" sz="2000" i="1" dirty="0">
                <a:latin typeface="Times New Roman" panose="02020503050405090304" charset="-122"/>
                <a:ea typeface="微软雅黑" panose="020B0503020204020204" charset="-122"/>
              </a:rPr>
              <a:t>d</a:t>
            </a:r>
            <a:r>
              <a:rPr lang="en-GB" altLang="zh-CN" sz="2000" dirty="0">
                <a:latin typeface="Times New Roman" panose="02020503050405090304" charset="-122"/>
                <a:ea typeface="微软雅黑" panose="020B0503020204020204" charset="-122"/>
              </a:rPr>
              <a:t> </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以及消息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M</a:t>
            </a:r>
            <a:r>
              <a:rPr lang="en-GB" altLang="zh-CN" sz="2000" b="1" dirty="0">
                <a:solidFill>
                  <a:srgbClr val="303030"/>
                </a:solidFill>
                <a:latin typeface="Times New Roman" panose="02020503050405090304" charset="-122"/>
                <a:ea typeface="微软雅黑" panose="020B0503020204020204" charset="-122"/>
                <a:cs typeface="Times New Roman" panose="02020503050405090304" charset="-122"/>
              </a:rPr>
              <a:t>=</a:t>
            </a:r>
            <a:r>
              <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rPr>
              <a:t>7 </a:t>
            </a:r>
            <a:r>
              <a:rPr lang="zh-CN" altLang="en-US" sz="2000" dirty="0">
                <a:solidFill>
                  <a:srgbClr val="303030"/>
                </a:solidFill>
                <a:latin typeface="Times New Roman" panose="02020503050405090304" charset="-122"/>
                <a:ea typeface="微软雅黑" panose="020B0503020204020204" charset="-122"/>
                <a:cs typeface="Times New Roman" panose="02020503050405090304" charset="-122"/>
              </a:rPr>
              <a:t>的加密密文 </a:t>
            </a:r>
            <a:r>
              <a:rPr lang="en-GB" altLang="zh-CN" sz="2000" i="1" dirty="0">
                <a:solidFill>
                  <a:srgbClr val="303030"/>
                </a:solidFill>
                <a:latin typeface="Times New Roman" panose="02020503050405090304" charset="-122"/>
                <a:ea typeface="微软雅黑" panose="020B0503020204020204" charset="-122"/>
                <a:cs typeface="Times New Roman" panose="02020503050405090304" charset="-122"/>
              </a:rPr>
              <a:t>C</a:t>
            </a:r>
            <a:r>
              <a:rPr lang="zh-CN" altLang="en-GB" sz="2000" dirty="0">
                <a:solidFill>
                  <a:srgbClr val="303030"/>
                </a:solidFill>
                <a:latin typeface="Times New Roman" panose="02020503050405090304" charset="-122"/>
                <a:ea typeface="微软雅黑" panose="020B0503020204020204" charset="-122"/>
                <a:cs typeface="Times New Roman" panose="02020503050405090304" charset="-122"/>
              </a:rPr>
              <a:t>。</a:t>
            </a:r>
            <a:endParaRPr lang="en-GB" altLang="zh-CN" sz="2000" dirty="0">
              <a:solidFill>
                <a:srgbClr val="303030"/>
              </a:solidFill>
              <a:latin typeface="Times New Roman" panose="02020503050405090304" charset="-122"/>
              <a:ea typeface="微软雅黑" panose="020B0503020204020204" charset="-122"/>
              <a:cs typeface="Times New Roman" panose="02020503050405090304" charset="-122"/>
            </a:endParaRPr>
          </a:p>
          <a:p>
            <a:pPr>
              <a:lnSpc>
                <a:spcPct val="150000"/>
              </a:lnSpc>
            </a:pPr>
            <a:endParaRPr lang="zh-CN" altLang="en-US" sz="2000" dirty="0"/>
          </a:p>
        </p:txBody>
      </p:sp>
      <p:sp>
        <p:nvSpPr>
          <p:cNvPr id="3" name="矩形 2"/>
          <p:cNvSpPr>
            <a:spLocks noGrp="1"/>
          </p:cNvSpPr>
          <p:nvPr/>
        </p:nvSpPr>
        <p:spPr>
          <a:xfrm>
            <a:off x="1024581" y="1886244"/>
            <a:ext cx="3324648" cy="2003045"/>
          </a:xfrm>
          <a:prstGeom prst="rect">
            <a:avLst/>
          </a:prstGeom>
          <a:solidFill>
            <a:srgbClr val="FFFFFF"/>
          </a:solidFill>
          <a:ln w="9525">
            <a:solidFill>
              <a:srgbClr val="E8B8B8"/>
            </a:solidFill>
            <a:prstDash val="solid"/>
          </a:ln>
        </p:spPr>
      </p:sp>
      <mc:AlternateContent xmlns:mc="http://schemas.openxmlformats.org/markup-compatibility/2006" xmlns:a14="http://schemas.microsoft.com/office/drawing/2010/main">
        <mc:Choice Requires="a14">
          <p:sp>
            <p:nvSpPr>
              <p:cNvPr id="4" name="矩形 3"/>
              <p:cNvSpPr>
                <a:spLocks noGrp="1"/>
              </p:cNvSpPr>
              <p:nvPr/>
            </p:nvSpPr>
            <p:spPr>
              <a:xfrm>
                <a:off x="1024581" y="2263689"/>
                <a:ext cx="3262518" cy="375169"/>
              </a:xfrm>
              <a:prstGeom prst="rect">
                <a:avLst/>
              </a:prstGeom>
              <a:noFill/>
              <a:ln w="0">
                <a:noFill/>
                <a:prstDash val="solid"/>
              </a:ln>
            </p:spPr>
            <p:txBody>
              <a:bodyPr/>
              <a:lstStyle/>
              <a:p>
                <a:pPr algn="ctr">
                  <a:defRPr sz="1350" b="1">
                    <a:solidFill>
                      <a:srgbClr val="C90012"/>
                    </a:solidFill>
                  </a:defRPr>
                </a:pPr>
                <a:r>
                  <a:rPr lang="en-US" sz="2400" i="1" dirty="0">
                    <a:solidFill>
                      <a:srgbClr val="303030"/>
                    </a:solidFill>
                    <a:latin typeface="Times New Roman" panose="02020503050405090304" charset="-122"/>
                    <a:ea typeface="微软雅黑" panose="020B0503020204020204" charset="-122"/>
                    <a:cs typeface="Times New Roman" panose="02020503050405090304" charset="-122"/>
                  </a:rPr>
                  <a:t>N=</a:t>
                </a:r>
                <a:r>
                  <a:rPr lang="en-US" altLang="zh-CN" sz="2400" i="1" dirty="0">
                    <a:solidFill>
                      <a:srgbClr val="303030"/>
                    </a:solidFill>
                    <a:latin typeface="Times New Roman" panose="02020503050405090304" charset="-122"/>
                    <a:ea typeface="微软雅黑" panose="020B0503020204020204" charset="-122"/>
                    <a:cs typeface="Times New Roman" panose="02020503050405090304" charset="-122"/>
                  </a:rPr>
                  <a:t> </a:t>
                </a:r>
                <a14:m>
                  <m:oMath xmlns:m="http://schemas.openxmlformats.org/officeDocument/2006/math">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𝑝</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𝑞</m:t>
                    </m:r>
                  </m:oMath>
                </a14:m>
                <a:r>
                  <a:rPr lang="en-US" altLang="zh-CN" sz="2400" i="1" dirty="0">
                    <a:solidFill>
                      <a:srgbClr val="303030"/>
                    </a:solidFill>
                    <a:latin typeface="Times New Roman" panose="02020503050405090304" charset="-122"/>
                    <a:ea typeface="微软雅黑" panose="020B0503020204020204" charset="-122"/>
                    <a:cs typeface="Times New Roman" panose="02020503050405090304" charset="-122"/>
                  </a:rPr>
                  <a:t> = </a:t>
                </a:r>
                <a:r>
                  <a:rPr lang="en-US" altLang="zh-CN" sz="2400" dirty="0">
                    <a:solidFill>
                      <a:srgbClr val="303030"/>
                    </a:solidFill>
                    <a:latin typeface="Times New Roman" panose="02020503050405090304" charset="-122"/>
                    <a:ea typeface="微软雅黑" panose="020B0503020204020204" charset="-122"/>
                    <a:cs typeface="Times New Roman" panose="02020503050405090304" charset="-122"/>
                  </a:rPr>
                  <a:t>55</a:t>
                </a:r>
                <a:endParaRPr lang="en-US" sz="2400" dirty="0">
                  <a:solidFill>
                    <a:srgbClr val="303030"/>
                  </a:solidFill>
                  <a:latin typeface="Times New Roman" panose="02020503050405090304" charset="-122"/>
                  <a:ea typeface="微软雅黑" panose="020B0503020204020204" charset="-122"/>
                  <a:cs typeface="Times New Roman" panose="02020503050405090304" charset="-122"/>
                </a:endParaRPr>
              </a:p>
              <a:p>
                <a:pPr algn="ctr">
                  <a:defRPr sz="1350" b="1">
                    <a:solidFill>
                      <a:srgbClr val="C90012"/>
                    </a:solidFill>
                  </a:defRPr>
                </a:pPr>
                <a:r>
                  <a:rPr lang="el-GR" sz="2400" dirty="0" err="1">
                    <a:solidFill>
                      <a:srgbClr val="303030"/>
                    </a:solidFill>
                    <a:latin typeface="Times New Roman" panose="02020503050405090304" charset="-122"/>
                    <a:ea typeface="微软雅黑" panose="020B0503020204020204" charset="-122"/>
                    <a:cs typeface="Times New Roman" panose="02020503050405090304" charset="-122"/>
                  </a:rPr>
                  <a:t>φ</a:t>
                </a:r>
                <a:r>
                  <a:rPr lang="el-GR" sz="2400" i="1" dirty="0">
                    <a:solidFill>
                      <a:srgbClr val="303030"/>
                    </a:solidFill>
                    <a:latin typeface="Times New Roman" panose="02020503050405090304" charset="-122"/>
                    <a:ea typeface="微软雅黑" panose="020B0503020204020204" charset="-122"/>
                    <a:cs typeface="Times New Roman" panose="02020503050405090304" charset="-122"/>
                  </a:rPr>
                  <a:t>(</a:t>
                </a:r>
                <a:r>
                  <a:rPr lang="en-US" sz="2400" i="1" dirty="0">
                    <a:solidFill>
                      <a:srgbClr val="303030"/>
                    </a:solidFill>
                    <a:latin typeface="Times New Roman" panose="02020503050405090304" charset="-122"/>
                    <a:ea typeface="微软雅黑" panose="020B0503020204020204" charset="-122"/>
                    <a:cs typeface="Times New Roman" panose="02020503050405090304" charset="-122"/>
                  </a:rPr>
                  <a:t>N) = </a:t>
                </a:r>
                <a14:m>
                  <m:oMath xmlns:m="http://schemas.openxmlformats.org/officeDocument/2006/math">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𝑝</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1</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𝑞</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1</m:t>
                    </m:r>
                    <m:r>
                      <a:rPr lang="en-US" altLang="zh-CN" sz="2400" i="1">
                        <a:solidFill>
                          <a:srgbClr val="303030"/>
                        </a:solidFill>
                        <a:latin typeface="Cambria Math" panose="02040503050406030204" pitchFamily="18" charset="0"/>
                        <a:ea typeface="微软雅黑" panose="020B0503020204020204" charset="-122"/>
                        <a:cs typeface="Times New Roman" panose="02020503050405090304" charset="-122"/>
                      </a:rPr>
                      <m:t>) </m:t>
                    </m:r>
                  </m:oMath>
                </a14:m>
                <a:r>
                  <a:rPr lang="en-US" sz="2400" i="1" dirty="0">
                    <a:solidFill>
                      <a:srgbClr val="303030"/>
                    </a:solidFill>
                    <a:latin typeface="Times New Roman" panose="02020503050405090304" charset="-122"/>
                    <a:ea typeface="微软雅黑" panose="020B0503020204020204" charset="-122"/>
                    <a:cs typeface="Times New Roman" panose="02020503050405090304" charset="-122"/>
                  </a:rPr>
                  <a:t> = </a:t>
                </a:r>
                <a:r>
                  <a:rPr lang="en-US" sz="2400" dirty="0">
                    <a:solidFill>
                      <a:srgbClr val="303030"/>
                    </a:solidFill>
                    <a:latin typeface="Times New Roman" panose="02020503050405090304" charset="-122"/>
                    <a:ea typeface="微软雅黑" panose="020B0503020204020204" charset="-122"/>
                    <a:cs typeface="Times New Roman" panose="02020503050405090304" charset="-122"/>
                  </a:rPr>
                  <a:t>40</a:t>
                </a:r>
              </a:p>
            </p:txBody>
          </p:sp>
        </mc:Choice>
        <mc:Fallback xmlns="">
          <p:sp>
            <p:nvSpPr>
              <p:cNvPr id="4" name="矩形 3"/>
              <p:cNvSpPr>
                <a:spLocks noGrp="1" noRot="1" noChangeAspect="1" noMove="1" noResize="1" noEditPoints="1" noAdjustHandles="1" noChangeArrowheads="1" noChangeShapeType="1" noTextEdit="1"/>
              </p:cNvSpPr>
              <p:nvPr/>
            </p:nvSpPr>
            <p:spPr>
              <a:xfrm>
                <a:off x="1024581" y="2263689"/>
                <a:ext cx="3262518" cy="375169"/>
              </a:xfrm>
              <a:prstGeom prst="rect">
                <a:avLst/>
              </a:prstGeom>
              <a:blipFill>
                <a:blip r:embed="rId2"/>
                <a:stretch>
                  <a:fillRect l="-374" t="-12903" b="-251613"/>
                </a:stretch>
              </a:blipFill>
              <a:ln w="0">
                <a:noFill/>
                <a:prstDash val="solid"/>
              </a:ln>
            </p:spPr>
            <p:txBody>
              <a:bodyPr/>
              <a:lstStyle/>
              <a:p>
                <a:r>
                  <a:rPr lang="zh-CN" altLang="en-US">
                    <a:noFill/>
                  </a:rPr>
                  <a:t> </a:t>
                </a:r>
              </a:p>
            </p:txBody>
          </p:sp>
        </mc:Fallback>
      </mc:AlternateContent>
      <p:sp>
        <p:nvSpPr>
          <p:cNvPr id="5" name="右箭头 4"/>
          <p:cNvSpPr>
            <a:spLocks noGrp="1"/>
          </p:cNvSpPr>
          <p:nvPr/>
        </p:nvSpPr>
        <p:spPr>
          <a:xfrm>
            <a:off x="4544924" y="2701839"/>
            <a:ext cx="390029" cy="323850"/>
          </a:xfrm>
          <a:prstGeom prst="rightArrow">
            <a:avLst/>
          </a:prstGeom>
          <a:solidFill>
            <a:srgbClr val="C90012"/>
          </a:solidFill>
          <a:ln w="0">
            <a:noFill/>
            <a:prstDash val="solid"/>
          </a:ln>
        </p:spPr>
      </p:sp>
      <p:sp>
        <p:nvSpPr>
          <p:cNvPr id="6" name="矩形 5"/>
          <p:cNvSpPr>
            <a:spLocks noGrp="1"/>
          </p:cNvSpPr>
          <p:nvPr/>
        </p:nvSpPr>
        <p:spPr>
          <a:xfrm>
            <a:off x="4978094" y="1886244"/>
            <a:ext cx="2953557" cy="2003045"/>
          </a:xfrm>
          <a:prstGeom prst="rect">
            <a:avLst/>
          </a:prstGeom>
          <a:solidFill>
            <a:srgbClr val="FFF1F1"/>
          </a:solidFill>
          <a:ln w="9525">
            <a:solidFill>
              <a:srgbClr val="E8B8B8"/>
            </a:solidFill>
            <a:prstDash val="solid"/>
          </a:ln>
        </p:spPr>
      </p:sp>
      <p:sp>
        <p:nvSpPr>
          <p:cNvPr id="7" name="矩形 6"/>
          <p:cNvSpPr>
            <a:spLocks noGrp="1"/>
          </p:cNvSpPr>
          <p:nvPr/>
        </p:nvSpPr>
        <p:spPr>
          <a:xfrm>
            <a:off x="5120969" y="2473239"/>
            <a:ext cx="2810682" cy="150681"/>
          </a:xfrm>
          <a:prstGeom prst="rect">
            <a:avLst/>
          </a:prstGeom>
          <a:noFill/>
          <a:ln w="0">
            <a:noFill/>
            <a:prstDash val="solid"/>
          </a:ln>
        </p:spPr>
        <p:txBody>
          <a:bodyPr/>
          <a:lstStyle/>
          <a:p>
            <a:pPr algn="ctr">
              <a:defRPr sz="1350" b="1">
                <a:solidFill>
                  <a:srgbClr val="C90012"/>
                </a:solidFill>
              </a:defRPr>
            </a:pPr>
            <a:r>
              <a:rPr sz="2400" dirty="0">
                <a:solidFill>
                  <a:srgbClr val="C90012"/>
                </a:solidFill>
                <a:latin typeface="Times New Roman" panose="02020503050405090304" charset="-122"/>
                <a:ea typeface="微软雅黑" panose="020B0503020204020204" charset="-122"/>
              </a:rPr>
              <a:t>3 × 27 ≡ 1 mod 40</a:t>
            </a:r>
            <a:r>
              <a:rPr lang="zh-CN" altLang="en-US" sz="2400" dirty="0">
                <a:solidFill>
                  <a:srgbClr val="C90012"/>
                </a:solidFill>
                <a:latin typeface="Times New Roman" panose="02020503050405090304" charset="-122"/>
                <a:ea typeface="微软雅黑" panose="020B0503020204020204" charset="-122"/>
              </a:rPr>
              <a:t>，因此</a:t>
            </a:r>
            <a:r>
              <a:rPr lang="en-GB" altLang="zh-CN" sz="2400" i="1" dirty="0">
                <a:solidFill>
                  <a:srgbClr val="C90012"/>
                </a:solidFill>
                <a:latin typeface="Times New Roman" panose="02020503050405090304" charset="-122"/>
                <a:ea typeface="微软雅黑" panose="020B0503020204020204" charset="-122"/>
              </a:rPr>
              <a:t>d</a:t>
            </a:r>
            <a:r>
              <a:rPr lang="en-GB" altLang="zh-CN" sz="2400" dirty="0">
                <a:solidFill>
                  <a:srgbClr val="C90012"/>
                </a:solidFill>
                <a:latin typeface="Times New Roman" panose="02020503050405090304" charset="-122"/>
                <a:ea typeface="微软雅黑" panose="020B0503020204020204" charset="-122"/>
              </a:rPr>
              <a:t> = 27</a:t>
            </a:r>
            <a:endParaRPr sz="2400" dirty="0">
              <a:solidFill>
                <a:srgbClr val="C90012"/>
              </a:solidFill>
              <a:latin typeface="Times New Roman" panose="02020503050405090304" charset="-122"/>
              <a:ea typeface="微软雅黑" panose="020B0503020204020204" charset="-122"/>
            </a:endParaRPr>
          </a:p>
        </p:txBody>
      </p:sp>
      <p:sp>
        <p:nvSpPr>
          <p:cNvPr id="8" name="矩形 7"/>
          <p:cNvSpPr>
            <a:spLocks noGrp="1"/>
          </p:cNvSpPr>
          <p:nvPr/>
        </p:nvSpPr>
        <p:spPr>
          <a:xfrm>
            <a:off x="5178119" y="2892339"/>
            <a:ext cx="1652980" cy="361950"/>
          </a:xfrm>
          <a:prstGeom prst="rect">
            <a:avLst/>
          </a:prstGeom>
          <a:noFill/>
          <a:ln w="0">
            <a:noFill/>
            <a:prstDash val="solid"/>
          </a:ln>
        </p:spPr>
        <p:txBody>
          <a:bodyPr/>
          <a:lstStyle/>
          <a:p>
            <a:pPr algn="ctr">
              <a:defRPr sz="1050" b="0">
                <a:solidFill>
                  <a:srgbClr val="666666"/>
                </a:solidFill>
              </a:defRPr>
            </a:pPr>
            <a:endParaRPr sz="2400" b="1">
              <a:solidFill>
                <a:srgbClr val="666666"/>
              </a:solidFill>
              <a:latin typeface="Times New Roman" panose="02020503050405090304" charset="-122"/>
              <a:ea typeface="微软雅黑" panose="020B0503020204020204" charset="-122"/>
            </a:endParaRPr>
          </a:p>
        </p:txBody>
      </p:sp>
      <p:sp>
        <p:nvSpPr>
          <p:cNvPr id="10" name="右箭头 9"/>
          <p:cNvSpPr>
            <a:spLocks noGrp="1"/>
          </p:cNvSpPr>
          <p:nvPr/>
        </p:nvSpPr>
        <p:spPr>
          <a:xfrm>
            <a:off x="8045896" y="2703243"/>
            <a:ext cx="400050" cy="323850"/>
          </a:xfrm>
          <a:prstGeom prst="rightArrow">
            <a:avLst/>
          </a:prstGeom>
          <a:solidFill>
            <a:srgbClr val="C90012"/>
          </a:solidFill>
          <a:ln w="0">
            <a:noFill/>
            <a:prstDash val="solid"/>
          </a:ln>
        </p:spPr>
      </p:sp>
      <p:sp>
        <p:nvSpPr>
          <p:cNvPr id="11" name="矩形 10"/>
          <p:cNvSpPr>
            <a:spLocks noGrp="1"/>
          </p:cNvSpPr>
          <p:nvPr/>
        </p:nvSpPr>
        <p:spPr>
          <a:xfrm>
            <a:off x="8794679" y="1886243"/>
            <a:ext cx="2595772" cy="2003046"/>
          </a:xfrm>
          <a:prstGeom prst="rect">
            <a:avLst/>
          </a:prstGeom>
          <a:solidFill>
            <a:srgbClr val="FFFFFF"/>
          </a:solidFill>
          <a:ln w="9525">
            <a:solidFill>
              <a:srgbClr val="E8B8B8"/>
            </a:solidFill>
            <a:prstDash val="solid"/>
          </a:ln>
        </p:spPr>
      </p:sp>
      <p:sp>
        <p:nvSpPr>
          <p:cNvPr id="15" name="矩形 14"/>
          <p:cNvSpPr>
            <a:spLocks noGrp="1"/>
          </p:cNvSpPr>
          <p:nvPr/>
        </p:nvSpPr>
        <p:spPr>
          <a:xfrm>
            <a:off x="9123452" y="2473239"/>
            <a:ext cx="2124124" cy="223614"/>
          </a:xfrm>
          <a:prstGeom prst="rect">
            <a:avLst/>
          </a:prstGeom>
          <a:noFill/>
          <a:ln w="0">
            <a:noFill/>
            <a:prstDash val="solid"/>
          </a:ln>
        </p:spPr>
        <p:txBody>
          <a:bodyPr/>
          <a:lstStyle/>
          <a:p>
            <a:pPr algn="ctr">
              <a:defRPr sz="1350" b="1">
                <a:solidFill>
                  <a:srgbClr val="C90012"/>
                </a:solidFill>
              </a:defRPr>
            </a:pPr>
            <a:r>
              <a:rPr sz="2400" dirty="0">
                <a:solidFill>
                  <a:srgbClr val="C90012"/>
                </a:solidFill>
                <a:latin typeface="Times New Roman" panose="02020503050405090304" charset="-122"/>
                <a:ea typeface="微软雅黑" panose="020B0503020204020204" charset="-122"/>
                <a:cs typeface="Times New Roman" panose="02020503050405090304" pitchFamily="18" charset="0"/>
              </a:rPr>
              <a:t>则 </a:t>
            </a:r>
            <a:r>
              <a:rPr sz="2400" i="1" dirty="0">
                <a:solidFill>
                  <a:srgbClr val="C90012"/>
                </a:solidFill>
                <a:latin typeface="Times New Roman" panose="02020503050405090304" charset="-122"/>
                <a:ea typeface="微软雅黑" panose="020B0503020204020204" charset="-122"/>
                <a:cs typeface="Times New Roman" panose="02020503050405090304" pitchFamily="18" charset="0"/>
              </a:rPr>
              <a:t>C</a:t>
            </a:r>
            <a:r>
              <a:rPr sz="2400" dirty="0">
                <a:solidFill>
                  <a:srgbClr val="C90012"/>
                </a:solidFill>
                <a:latin typeface="Times New Roman" panose="02020503050405090304" charset="-122"/>
                <a:ea typeface="微软雅黑" panose="020B0503020204020204" charset="-122"/>
                <a:cs typeface="Times New Roman" panose="02020503050405090304" pitchFamily="18" charset="0"/>
              </a:rPr>
              <a:t> = 7</a:t>
            </a:r>
            <a:r>
              <a:rPr sz="2400" baseline="30000" dirty="0">
                <a:solidFill>
                  <a:srgbClr val="C90012"/>
                </a:solidFill>
                <a:latin typeface="Times New Roman" panose="02020503050405090304" charset="-122"/>
                <a:ea typeface="微软雅黑" panose="020B0503020204020204" charset="-122"/>
                <a:cs typeface="Times New Roman" panose="02020503050405090304" pitchFamily="18" charset="0"/>
              </a:rPr>
              <a:t>3</a:t>
            </a:r>
            <a:r>
              <a:rPr sz="2400" dirty="0">
                <a:solidFill>
                  <a:srgbClr val="C90012"/>
                </a:solidFill>
                <a:latin typeface="Times New Roman" panose="02020503050405090304" charset="-122"/>
                <a:ea typeface="微软雅黑" panose="020B0503020204020204" charset="-122"/>
                <a:cs typeface="Times New Roman" panose="02020503050405090304" pitchFamily="18" charset="0"/>
              </a:rPr>
              <a:t> mod 55 = 13</a:t>
            </a:r>
            <a:endParaRPr lang="zh-CN" sz="2400" dirty="0">
              <a:solidFill>
                <a:srgbClr val="C90012"/>
              </a:solidFill>
              <a:latin typeface="Times New Roman" panose="02020503050405090304" charset="-122"/>
              <a:ea typeface="微软雅黑" panose="020B0503020204020204" charset="-122"/>
              <a:cs typeface="Times New Roman" panose="02020503050405090304" pitchFamily="18" charset="0"/>
            </a:endParaRPr>
          </a:p>
        </p:txBody>
      </p:sp>
      <p:sp>
        <p:nvSpPr>
          <p:cNvPr id="16" name="矩形 15"/>
          <p:cNvSpPr>
            <a:spLocks noGrp="1"/>
          </p:cNvSpPr>
          <p:nvPr/>
        </p:nvSpPr>
        <p:spPr>
          <a:xfrm>
            <a:off x="9494976" y="2892339"/>
            <a:ext cx="1695450" cy="361950"/>
          </a:xfrm>
          <a:prstGeom prst="rect">
            <a:avLst/>
          </a:prstGeom>
          <a:noFill/>
          <a:ln w="0">
            <a:noFill/>
            <a:prstDash val="solid"/>
          </a:ln>
        </p:spPr>
        <p:txBody>
          <a:bodyPr/>
          <a:lstStyle/>
          <a:p>
            <a:pPr algn="ctr">
              <a:defRPr sz="1050" b="0">
                <a:solidFill>
                  <a:srgbClr val="666666"/>
                </a:solidFill>
              </a:defRPr>
            </a:pPr>
            <a:endParaRPr sz="2400" b="1">
              <a:solidFill>
                <a:srgbClr val="666666"/>
              </a:solidFill>
              <a:latin typeface="Times New Roman" panose="02020503050405090304" charset="-122"/>
              <a:ea typeface="微软雅黑" panose="020B0503020204020204" charset="-122"/>
            </a:endParaRPr>
          </a:p>
        </p:txBody>
      </p:sp>
      <p:sp>
        <p:nvSpPr>
          <p:cNvPr id="17" name="矩形 16"/>
          <p:cNvSpPr>
            <a:spLocks noGrp="1"/>
          </p:cNvSpPr>
          <p:nvPr/>
        </p:nvSpPr>
        <p:spPr>
          <a:xfrm>
            <a:off x="1930231" y="4613445"/>
            <a:ext cx="1345565" cy="228600"/>
          </a:xfrm>
          <a:prstGeom prst="rect">
            <a:avLst/>
          </a:prstGeom>
          <a:noFill/>
          <a:ln w="0">
            <a:noFill/>
            <a:prstDash val="solid"/>
          </a:ln>
        </p:spPr>
        <p:txBody>
          <a:bodyPr/>
          <a:lstStyle/>
          <a:p>
            <a:pPr algn="l">
              <a:defRPr sz="1350" b="1">
                <a:solidFill>
                  <a:srgbClr val="C90012"/>
                </a:solidFill>
              </a:defRPr>
            </a:pPr>
            <a:endParaRPr sz="2400">
              <a:solidFill>
                <a:srgbClr val="C90012"/>
              </a:solidFill>
              <a:latin typeface="Times New Roman" panose="02020503050405090304" charset="-122"/>
              <a:ea typeface="微软雅黑" panose="020B0503020204020204" charset="-122"/>
            </a:endParaRPr>
          </a:p>
        </p:txBody>
      </p:sp>
      <p:sp>
        <p:nvSpPr>
          <p:cNvPr id="18" name="矩形 17"/>
          <p:cNvSpPr>
            <a:spLocks noGrp="1"/>
          </p:cNvSpPr>
          <p:nvPr/>
        </p:nvSpPr>
        <p:spPr>
          <a:xfrm>
            <a:off x="2883466" y="4613445"/>
            <a:ext cx="7687310" cy="266700"/>
          </a:xfrm>
          <a:prstGeom prst="rect">
            <a:avLst/>
          </a:prstGeom>
          <a:noFill/>
          <a:ln w="0">
            <a:noFill/>
            <a:prstDash val="solid"/>
          </a:ln>
        </p:spPr>
        <p:txBody>
          <a:bodyPr/>
          <a:lstStyle/>
          <a:p>
            <a:pPr algn="l">
              <a:defRPr sz="1425" b="0">
                <a:solidFill>
                  <a:srgbClr val="303030"/>
                </a:solidFill>
              </a:defRPr>
            </a:pPr>
            <a:endParaRPr sz="2400" b="1">
              <a:solidFill>
                <a:srgbClr val="303030"/>
              </a:solidFill>
              <a:latin typeface="Times New Roman" panose="02020503050405090304" charset="-122"/>
              <a:ea typeface="微软雅黑" panose="020B0503020204020204" charset="-122"/>
              <a:cs typeface="Times New Roman" panose="02020503050405090304" charset="-122"/>
            </a:endParaRPr>
          </a:p>
        </p:txBody>
      </p:sp>
      <p:sp>
        <p:nvSpPr>
          <p:cNvPr id="19" name="矩形 18"/>
          <p:cNvSpPr>
            <a:spLocks noGrp="1"/>
          </p:cNvSpPr>
          <p:nvPr/>
        </p:nvSpPr>
        <p:spPr>
          <a:xfrm>
            <a:off x="1014307" y="4844746"/>
            <a:ext cx="10403146" cy="1203424"/>
          </a:xfrm>
          <a:prstGeom prst="rect">
            <a:avLst/>
          </a:prstGeom>
          <a:solidFill>
            <a:srgbClr val="FFF1F1"/>
          </a:solidFill>
          <a:ln w="9525">
            <a:solidFill>
              <a:srgbClr val="E8B8B8"/>
            </a:solidFill>
            <a:prstDash val="solid"/>
          </a:ln>
        </p:spPr>
      </p:sp>
      <p:sp>
        <p:nvSpPr>
          <p:cNvPr id="20" name="矩形 19"/>
          <p:cNvSpPr>
            <a:spLocks noGrp="1"/>
          </p:cNvSpPr>
          <p:nvPr/>
        </p:nvSpPr>
        <p:spPr>
          <a:xfrm>
            <a:off x="1416203" y="5406721"/>
            <a:ext cx="10001250" cy="714375"/>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nSpc>
                <a:spcPct val="130000"/>
              </a:lnSpc>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给定</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lang="zh-CN" altLang="en-US" sz="2000" b="0" i="1"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3，</a:t>
            </a:r>
            <a:r>
              <a:rPr sz="2000" b="0" i="1" dirty="0">
                <a:solidFill>
                  <a:srgbClr val="303030"/>
                </a:solidFill>
                <a:latin typeface="Times New Roman" panose="02020503050405090304"/>
                <a:ea typeface="微软雅黑"/>
                <a:cs typeface="Times New Roman" panose="02020503050405090304"/>
              </a:rPr>
              <a:t>q</a:t>
            </a:r>
            <a:r>
              <a:rPr lang="zh-CN" altLang="en-US" sz="2000" b="0" i="1"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11，</a:t>
            </a:r>
            <a:r>
              <a:rPr sz="2000" b="0" i="1" dirty="0">
                <a:solidFill>
                  <a:srgbClr val="303030"/>
                </a:solidFill>
                <a:latin typeface="Times New Roman" panose="02020503050405090304"/>
                <a:ea typeface="微软雅黑"/>
                <a:cs typeface="Times New Roman" panose="02020503050405090304"/>
              </a:rPr>
              <a:t>e</a:t>
            </a:r>
            <a:r>
              <a:rPr lang="zh-CN" altLang="en-US" sz="2000" b="0" i="1"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3</a:t>
            </a:r>
            <a:r>
              <a:rPr lang="zh-CN" altLang="en-US" sz="2000" b="0" dirty="0">
                <a:solidFill>
                  <a:srgbClr val="303030"/>
                </a:solidFill>
                <a:latin typeface="Times New Roman" panose="02020503050405090304"/>
                <a:ea typeface="微软雅黑"/>
                <a:cs typeface="Times New Roman" panose="02020503050405090304"/>
              </a:rPr>
              <a:t>，计算 </a:t>
            </a:r>
            <a:r>
              <a:rPr lang="en-GB" altLang="zh-CN" sz="2000" b="0" i="1" dirty="0">
                <a:solidFill>
                  <a:srgbClr val="303030"/>
                </a:solidFill>
                <a:latin typeface="Times New Roman" panose="02020503050405090304"/>
                <a:ea typeface="微软雅黑"/>
                <a:cs typeface="Times New Roman" panose="02020503050405090304"/>
              </a:rPr>
              <a:t>N</a:t>
            </a:r>
            <a:r>
              <a:rPr lang="zh-CN" altLang="en-GB" sz="2000" b="0" dirty="0">
                <a:solidFill>
                  <a:srgbClr val="303030"/>
                </a:solidFill>
                <a:latin typeface="Times New Roman" panose="02020503050405090304"/>
                <a:ea typeface="微软雅黑"/>
                <a:cs typeface="Times New Roman" panose="02020503050405090304"/>
              </a:rPr>
              <a:t>、</a:t>
            </a:r>
            <a:r>
              <a:rPr lang="el-GR" altLang="zh-CN" sz="2000" b="0" dirty="0">
                <a:solidFill>
                  <a:srgbClr val="303030"/>
                </a:solidFill>
                <a:latin typeface="Times New Roman" panose="02020503050405090304"/>
                <a:ea typeface="微软雅黑"/>
                <a:cs typeface="Times New Roman" panose="02020503050405090304"/>
              </a:rPr>
              <a:t>φ(</a:t>
            </a:r>
            <a:r>
              <a:rPr lang="en-GB" altLang="zh-CN" sz="2000" b="0" i="1" dirty="0">
                <a:solidFill>
                  <a:srgbClr val="303030"/>
                </a:solidFill>
                <a:latin typeface="Times New Roman" panose="02020503050405090304"/>
                <a:ea typeface="微软雅黑"/>
                <a:cs typeface="Times New Roman" panose="02020503050405090304"/>
              </a:rPr>
              <a:t>N</a:t>
            </a:r>
            <a:r>
              <a:rPr lang="en-GB" altLang="zh-CN"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和私钥指数  </a:t>
            </a:r>
            <a:r>
              <a:rPr lang="en-GB" altLang="zh-CN" sz="2000" b="0" i="1" dirty="0">
                <a:solidFill>
                  <a:srgbClr val="303030"/>
                </a:solidFill>
                <a:latin typeface="Times New Roman" panose="02020503050405090304"/>
                <a:ea typeface="微软雅黑"/>
                <a:cs typeface="Times New Roman" panose="02020503050405090304"/>
              </a:rPr>
              <a:t>d</a:t>
            </a:r>
            <a:r>
              <a:rPr lang="zh-CN" altLang="en-US" sz="2000" dirty="0">
                <a:solidFill>
                  <a:srgbClr val="303030"/>
                </a:solidFill>
              </a:rPr>
              <a:t>，</a:t>
            </a:r>
            <a:r>
              <a:rPr lang="zh-CN" altLang="en-US" sz="2000" b="0" dirty="0">
                <a:solidFill>
                  <a:srgbClr val="303030"/>
                </a:solidFill>
                <a:latin typeface="Times New Roman" panose="02020503050405090304"/>
                <a:ea typeface="微软雅黑"/>
                <a:cs typeface="Times New Roman" panose="02020503050405090304"/>
              </a:rPr>
              <a:t>加密 </a:t>
            </a:r>
            <a:r>
              <a:rPr lang="en-GB" altLang="zh-CN" sz="2000" b="0" i="1" dirty="0">
                <a:solidFill>
                  <a:srgbClr val="303030"/>
                </a:solidFill>
                <a:latin typeface="Times New Roman" panose="02020503050405090304"/>
                <a:ea typeface="微软雅黑"/>
                <a:cs typeface="Times New Roman" panose="02020503050405090304"/>
              </a:rPr>
              <a:t>M</a:t>
            </a:r>
            <a:r>
              <a:rPr lang="zh-CN" altLang="en-US" sz="2000" b="0" dirty="0">
                <a:solidFill>
                  <a:srgbClr val="303030"/>
                </a:solidFill>
                <a:latin typeface="Times New Roman" panose="02020503050405090304"/>
                <a:ea typeface="微软雅黑"/>
                <a:cs typeface="Times New Roman" panose="02020503050405090304"/>
              </a:rPr>
              <a:t> </a:t>
            </a:r>
            <a:r>
              <a:rPr lang="en-GB" altLang="zh-CN"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lang="en-GB" altLang="zh-CN" sz="2000" b="0" dirty="0">
                <a:solidFill>
                  <a:srgbClr val="303030"/>
                </a:solidFill>
                <a:latin typeface="Times New Roman" panose="02020503050405090304"/>
                <a:ea typeface="微软雅黑"/>
                <a:cs typeface="Times New Roman" panose="02020503050405090304"/>
              </a:rPr>
              <a:t>4</a:t>
            </a:r>
            <a:r>
              <a:rPr lang="zh-CN" altLang="en-GB"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并验证解密结果，说明为什么不能选 </a:t>
            </a:r>
            <a:r>
              <a:rPr lang="en-GB" altLang="zh-CN" sz="2000" b="0" i="1" dirty="0">
                <a:solidFill>
                  <a:srgbClr val="303030"/>
                </a:solidFill>
                <a:latin typeface="Times New Roman" panose="02020503050405090304"/>
                <a:ea typeface="微软雅黑"/>
                <a:cs typeface="Times New Roman" panose="02020503050405090304"/>
              </a:rPr>
              <a:t>e</a:t>
            </a:r>
            <a:r>
              <a:rPr lang="zh-CN" altLang="en-US" sz="2000" b="0" i="1" dirty="0">
                <a:solidFill>
                  <a:srgbClr val="303030"/>
                </a:solidFill>
                <a:latin typeface="Times New Roman" panose="02020503050405090304"/>
                <a:ea typeface="微软雅黑"/>
                <a:cs typeface="Times New Roman" panose="02020503050405090304"/>
              </a:rPr>
              <a:t> </a:t>
            </a:r>
            <a:r>
              <a:rPr lang="en-GB" altLang="zh-CN"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 </a:t>
            </a:r>
            <a:r>
              <a:rPr lang="en-GB" altLang="zh-CN" sz="2000" b="0" dirty="0">
                <a:solidFill>
                  <a:srgbClr val="303030"/>
                </a:solidFill>
                <a:latin typeface="Times New Roman" panose="02020503050405090304"/>
                <a:ea typeface="微软雅黑"/>
                <a:cs typeface="Times New Roman" panose="02020503050405090304"/>
              </a:rPr>
              <a:t>5</a:t>
            </a:r>
            <a:r>
              <a:rPr lang="zh-CN" altLang="en-US" sz="2000" b="0" dirty="0">
                <a:solidFill>
                  <a:srgbClr val="303030"/>
                </a:solidFill>
                <a:latin typeface="Times New Roman" panose="02020503050405090304"/>
                <a:ea typeface="微软雅黑"/>
                <a:cs typeface="Times New Roman" panose="02020503050405090304"/>
              </a:rPr>
              <a:t> ？</a:t>
            </a:r>
            <a:endParaRPr lang="en-GB" altLang="zh-CN" sz="2000" b="0" dirty="0">
              <a:solidFill>
                <a:srgbClr val="303030"/>
              </a:solidFill>
              <a:latin typeface="Times New Roman" panose="02020503050405090304"/>
              <a:ea typeface="微软雅黑"/>
              <a:cs typeface="Times New Roman" panose="02020503050405090304"/>
            </a:endParaRPr>
          </a:p>
          <a:p>
            <a:pPr>
              <a:defRPr sz="2025" b="0">
                <a:solidFill>
                  <a:srgbClr val="303030"/>
                </a:solidFill>
                <a:latin typeface="Times New Roman" panose="02020503050405090304"/>
                <a:ea typeface="微软雅黑"/>
                <a:cs typeface="Times New Roman" panose="02020503050405090304"/>
              </a:defRPr>
            </a:pPr>
            <a:endParaRPr lang="zh-CN" altLang="en-US" sz="2000" b="0" dirty="0">
              <a:solidFill>
                <a:srgbClr val="303030"/>
              </a:solidFill>
              <a:latin typeface="Times New Roman" panose="02020503050405090304"/>
              <a:ea typeface="微软雅黑"/>
              <a:cs typeface="Times New Roman" panose="02020503050405090304"/>
            </a:endParaRPr>
          </a:p>
          <a:p>
            <a:pPr>
              <a:defRPr sz="2025" b="0">
                <a:solidFill>
                  <a:srgbClr val="303030"/>
                </a:solidFill>
                <a:latin typeface="Times New Roman" panose="02020503050405090304"/>
                <a:ea typeface="微软雅黑"/>
                <a:cs typeface="Times New Roman" panose="02020503050405090304"/>
              </a:defRPr>
            </a:pPr>
            <a:endParaRPr lang="en-GB" altLang="zh-CN" sz="2000" b="0" dirty="0">
              <a:solidFill>
                <a:srgbClr val="303030"/>
              </a:solidFill>
              <a:latin typeface="Times New Roman" panose="02020503050405090304"/>
              <a:ea typeface="微软雅黑"/>
              <a:cs typeface="Times New Roman" panose="0202050305040509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92728"/>
            <a:ext cx="5405511" cy="461665"/>
          </a:xfrm>
          <a:prstGeom prst="rect">
            <a:avLst/>
          </a:prstGeom>
          <a:noFill/>
        </p:spPr>
        <p:txBody>
          <a:bodyPr wrap="square">
            <a:spAutoFit/>
          </a:bodyPr>
          <a:lstStyle/>
          <a:p>
            <a:r>
              <a:rPr lang="en-US" altLang="zh-CN" sz="2400" b="1" dirty="0">
                <a:solidFill>
                  <a:srgbClr val="C00000"/>
                </a:solidFill>
                <a:effectLst/>
                <a:latin typeface="Times New Roman" panose="02020503050405090304" pitchFamily="18" charset="0"/>
                <a:ea typeface="宋体" pitchFamily="2" charset="-122"/>
              </a:rPr>
              <a:t>ElGamal</a:t>
            </a:r>
            <a:r>
              <a:rPr lang="zh-CN" altLang="en-US" sz="2400" b="1" dirty="0">
                <a:solidFill>
                  <a:srgbClr val="C00000"/>
                </a:solidFill>
              </a:rPr>
              <a:t>公钥加密方案描述｜基本思想</a:t>
            </a:r>
          </a:p>
        </p:txBody>
      </p:sp>
      <p:sp>
        <p:nvSpPr>
          <p:cNvPr id="11" name="文本框 10"/>
          <p:cNvSpPr txBox="1"/>
          <p:nvPr/>
        </p:nvSpPr>
        <p:spPr>
          <a:xfrm>
            <a:off x="886968" y="2180124"/>
            <a:ext cx="10415016" cy="853311"/>
          </a:xfrm>
          <a:prstGeom prst="rect">
            <a:avLst/>
          </a:prstGeom>
          <a:noFill/>
        </p:spPr>
        <p:txBody>
          <a:bodyPr wrap="square">
            <a:spAutoFit/>
          </a:bodyPr>
          <a:lstStyle/>
          <a:p>
            <a:pPr>
              <a:lnSpc>
                <a:spcPct val="130000"/>
              </a:lnSpc>
            </a:pPr>
            <a:r>
              <a:rPr lang="en-US" altLang="zh-CN" sz="2000" dirty="0">
                <a:effectLst/>
                <a:latin typeface="+mn-lt"/>
                <a:ea typeface="+mn-ea"/>
              </a:rPr>
              <a:t>1985</a:t>
            </a:r>
            <a:r>
              <a:rPr lang="zh-CN" altLang="zh-CN" sz="2000" dirty="0">
                <a:effectLst/>
                <a:latin typeface="+mn-lt"/>
                <a:ea typeface="+mn-ea"/>
                <a:cs typeface="Times New Roman" panose="02020503050405090304" pitchFamily="18" charset="0"/>
              </a:rPr>
              <a:t>年，</a:t>
            </a:r>
            <a:r>
              <a:rPr lang="zh-CN" altLang="en-US" sz="2000" dirty="0">
                <a:effectLst/>
                <a:latin typeface="+mn-lt"/>
                <a:ea typeface="+mn-ea"/>
                <a:cs typeface="Times New Roman" panose="02020503050405090304" pitchFamily="18" charset="0"/>
              </a:rPr>
              <a:t>埃及密码学家</a:t>
            </a:r>
            <a:r>
              <a:rPr lang="zh-CN" altLang="en-US" sz="2000" dirty="0"/>
              <a:t>塔希尔</a:t>
            </a:r>
            <a:r>
              <a:rPr lang="en-US" altLang="zh-CN" sz="2000" dirty="0"/>
              <a:t>·</a:t>
            </a:r>
            <a:r>
              <a:rPr lang="zh-CN" altLang="en-US" sz="2000" dirty="0"/>
              <a:t>盖莫尔（</a:t>
            </a:r>
            <a:r>
              <a:rPr lang="en-GB" altLang="zh-CN" sz="2000" dirty="0"/>
              <a:t>Taher </a:t>
            </a:r>
            <a:r>
              <a:rPr lang="en-GB" altLang="zh-CN" sz="2000" dirty="0" err="1"/>
              <a:t>ElGamal</a:t>
            </a:r>
            <a:r>
              <a:rPr lang="zh-CN" altLang="en-GB" sz="2000" dirty="0"/>
              <a:t>）</a:t>
            </a:r>
            <a:r>
              <a:rPr lang="zh-CN" altLang="zh-CN" sz="2000" dirty="0">
                <a:effectLst/>
                <a:latin typeface="+mn-lt"/>
                <a:ea typeface="+mn-ea"/>
                <a:cs typeface="Times New Roman" panose="02020503050405090304" pitchFamily="18" charset="0"/>
              </a:rPr>
              <a:t>提出了一种基于离散对数问题的公钥密码方案。该方案被称为</a:t>
            </a:r>
            <a:r>
              <a:rPr lang="en-US" altLang="zh-CN" sz="2000" dirty="0">
                <a:effectLst/>
                <a:latin typeface="+mn-lt"/>
                <a:ea typeface="+mn-ea"/>
              </a:rPr>
              <a:t>ElGamal</a:t>
            </a:r>
            <a:r>
              <a:rPr lang="zh-CN" altLang="zh-CN" sz="2000" dirty="0">
                <a:effectLst/>
                <a:latin typeface="+mn-lt"/>
                <a:ea typeface="+mn-ea"/>
                <a:cs typeface="Times New Roman" panose="02020503050405090304" pitchFamily="18" charset="0"/>
              </a:rPr>
              <a:t>公钥加密方案</a:t>
            </a:r>
            <a:r>
              <a:rPr lang="zh-CN" altLang="zh-CN" sz="2000" dirty="0">
                <a:effectLst/>
                <a:latin typeface="+mn-lt"/>
                <a:ea typeface="+mn-ea"/>
              </a:rPr>
              <a:t> </a:t>
            </a:r>
            <a:r>
              <a:rPr lang="zh-CN" altLang="en-US" sz="200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9"/>
          <p:cNvSpPr/>
          <p:nvPr/>
        </p:nvSpPr>
        <p:spPr>
          <a:xfrm>
            <a:off x="504444" y="1354392"/>
            <a:ext cx="11183112" cy="2830069"/>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2" name="TextBox 5"/>
              <p:cNvSpPr txBox="1"/>
              <p:nvPr/>
            </p:nvSpPr>
            <p:spPr>
              <a:xfrm>
                <a:off x="640262" y="1494558"/>
                <a:ext cx="10755232" cy="2265338"/>
              </a:xfrm>
              <a:prstGeom prst="rect">
                <a:avLst/>
              </a:prstGeom>
              <a:noFill/>
            </p:spPr>
            <p:txBody>
              <a:bodyPr wrap="square" lIns="0" tIns="0" rIns="0" bIns="0" anchor="t">
                <a:noAutofit/>
              </a:bodyPr>
              <a:lstStyle/>
              <a:p>
                <a:pPr indent="0" algn="just">
                  <a:spcBef>
                    <a:spcPts val="0"/>
                  </a:spcBef>
                  <a:spcAft>
                    <a:spcPts val="600"/>
                  </a:spcAft>
                  <a:buClr>
                    <a:srgbClr val="C00000"/>
                  </a:buClr>
                  <a:buFont typeface="Wingdings" panose="05000000000000000000" charset="0"/>
                  <a:buNone/>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a:t>
                </a:r>
                <a:r>
                  <a:rPr lang="en-US" altLang="zh-CN" sz="2000" b="1" dirty="0">
                    <a:solidFill>
                      <a:srgbClr val="C00000"/>
                    </a:solidFill>
                    <a:latin typeface="微软雅黑" panose="020B0503020204020204" charset="-122"/>
                    <a:ea typeface="微软雅黑" panose="020B0503020204020204" charset="-122"/>
                  </a:rPr>
                  <a:t>2</a:t>
                </a:r>
                <a:r>
                  <a:rPr lang="zh-CN" altLang="en-US" sz="2000" b="1" i="0" dirty="0">
                    <a:solidFill>
                      <a:srgbClr val="C00000"/>
                    </a:solidFill>
                    <a:latin typeface="微软雅黑" panose="020B0503020204020204" charset="-122"/>
                    <a:ea typeface="微软雅黑" panose="020B0503020204020204" charset="-122"/>
                  </a:rPr>
                  <a:t>　群（教材原文）：</a:t>
                </a:r>
              </a:p>
              <a:p>
                <a:pPr indent="266700" algn="just">
                  <a:spcBef>
                    <a:spcPts val="300"/>
                  </a:spcBef>
                  <a:spcAft>
                    <a:spcPts val="300"/>
                  </a:spcAft>
                  <a:buNone/>
                </a:pP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对于非空集合</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和</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上的二元运算</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，若</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满足如下条件，则称</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为一个群。</a:t>
                </a:r>
                <a:endParaRPr lang="zh-CN" altLang="zh-CN" sz="2000" dirty="0">
                  <a:effectLst/>
                  <a:latin typeface="Times New Roman" panose="02020503050405090304" pitchFamily="18" charset="0"/>
                  <a:ea typeface="微软雅黑" panose="020B0503020204020204" charset="-122"/>
                  <a:cs typeface="Times New Roman" panose="02020503050405090304" pitchFamily="18" charset="0"/>
                </a:endParaRPr>
              </a:p>
              <a:p>
                <a:pPr marL="342900" lvl="0" indent="-342900" algn="just">
                  <a:spcBef>
                    <a:spcPts val="300"/>
                  </a:spcBef>
                  <a:spcAft>
                    <a:spcPts val="300"/>
                  </a:spcAft>
                  <a:buClr>
                    <a:srgbClr val="C00000"/>
                  </a:buClr>
                  <a:buFont typeface="Wingdings" panose="05000000000000000000" pitchFamily="2" charset="2"/>
                  <a:buChar char="p"/>
                </a:pPr>
                <a:r>
                  <a:rPr lang="zh-CN" altLang="zh-CN" sz="2000" b="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封闭性</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对任意</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p>
              <a:p>
                <a:pPr marL="342900" lvl="0" indent="-342900" algn="just">
                  <a:spcBef>
                    <a:spcPts val="300"/>
                  </a:spcBef>
                  <a:spcAft>
                    <a:spcPts val="300"/>
                  </a:spcAft>
                  <a:buClr>
                    <a:srgbClr val="C00000"/>
                  </a:buClr>
                  <a:buFont typeface="Wingdings" panose="05000000000000000000" pitchFamily="2" charset="2"/>
                  <a:buChar char="p"/>
                </a:pPr>
                <a:r>
                  <a:rPr lang="zh-CN" altLang="zh-CN" sz="2000" b="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结合律</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对任意</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1</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zh-CN" altLang="en-US" sz="2000" b="0" i="1" smtClean="0">
                        <a:solidFill>
                          <a:schemeClr val="tx1"/>
                        </a:solidFill>
                        <a:effectLst/>
                        <a:latin typeface="Cambria Math" panose="02040503050406030204" pitchFamily="18" charset="0"/>
                        <a:ea typeface="宋体" pitchFamily="2" charset="-122"/>
                        <a:cs typeface="Times New Roman" panose="02020503050405090304" pitchFamily="18" charset="0"/>
                      </a:rPr>
                      <m:t> </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2</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zh-CN" altLang="en-US" sz="2000" b="0" i="1" smtClean="0">
                        <a:solidFill>
                          <a:schemeClr val="tx1"/>
                        </a:solidFill>
                        <a:effectLst/>
                        <a:latin typeface="Cambria Math" panose="02040503050406030204" pitchFamily="18" charset="0"/>
                        <a:ea typeface="宋体" pitchFamily="2" charset="-122"/>
                        <a:cs typeface="Times New Roman" panose="02020503050405090304" pitchFamily="18" charset="0"/>
                      </a:rPr>
                      <m:t> </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3</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，满足</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1</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2</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3</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1</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2</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3</m:t>
                        </m:r>
                      </m:sub>
                    </m:sSub>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p>
              <a:p>
                <a:pPr marL="342900" lvl="0" indent="-342900" algn="just">
                  <a:spcBef>
                    <a:spcPts val="300"/>
                  </a:spcBef>
                  <a:spcAft>
                    <a:spcPts val="300"/>
                  </a:spcAft>
                  <a:buClr>
                    <a:srgbClr val="C00000"/>
                  </a:buClr>
                  <a:buFont typeface="Wingdings" panose="05000000000000000000" pitchFamily="2" charset="2"/>
                  <a:buChar char="p"/>
                </a:pPr>
                <a:r>
                  <a:rPr lang="zh-CN" altLang="zh-CN" sz="2000" b="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存在单位元</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存在</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ℯ</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，对于所有</a:t>
                </a:r>
                <a14:m>
                  <m:oMath xmlns:m="http://schemas.openxmlformats.org/officeDocument/2006/math">
                    <m:r>
                      <a:rPr lang="zh-CN" altLang="en-US" sz="2000" b="0" i="0" dirty="0" smtClean="0">
                        <a:latin typeface="Cambria Math" panose="02040503050406030204" pitchFamily="18" charset="0"/>
                        <a:ea typeface="微软雅黑" panose="020B0503020204020204" charset="-122"/>
                        <a:cs typeface="Times New Roman" panose="02020503050405090304" pitchFamily="18" charset="0"/>
                      </a:rPr>
                      <m:t> </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，满足</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ℯ</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ℯ</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。此时称</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ℯ</m:t>
                    </m:r>
                    <m:r>
                      <a:rPr lang="zh-CN" altLang="en-US" sz="2000" b="0" i="1" smtClean="0">
                        <a:solidFill>
                          <a:schemeClr val="tx1"/>
                        </a:solidFill>
                        <a:effectLst/>
                        <a:latin typeface="Cambria Math" panose="02040503050406030204" pitchFamily="18" charset="0"/>
                        <a:ea typeface="宋体" pitchFamily="2" charset="-122"/>
                        <a:cs typeface="Times New Roman" panose="02020503050405090304" pitchFamily="18" charset="0"/>
                      </a:rPr>
                      <m:t> </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为</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的单位元。</a:t>
                </a:r>
              </a:p>
              <a:p>
                <a:pPr marL="342900" lvl="0" indent="-342900" algn="just">
                  <a:spcBef>
                    <a:spcPts val="300"/>
                  </a:spcBef>
                  <a:spcAft>
                    <a:spcPts val="300"/>
                  </a:spcAft>
                  <a:buClr>
                    <a:srgbClr val="C00000"/>
                  </a:buClr>
                  <a:buFont typeface="Wingdings" panose="05000000000000000000" pitchFamily="2" charset="2"/>
                  <a:buChar char="p"/>
                </a:pPr>
                <a:r>
                  <a:rPr lang="zh-CN" altLang="zh-CN" sz="2000" b="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存在逆元</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对任意</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，存在一元素</a:t>
                </a:r>
                <a14:m>
                  <m:oMath xmlns:m="http://schemas.openxmlformats.org/officeDocument/2006/math">
                    <m:r>
                      <a:rPr lang="zh-CN" altLang="en-US" sz="2000" b="0" i="0" smtClean="0">
                        <a:solidFill>
                          <a:schemeClr val="tx1"/>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使得</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a:rPr lang="zh-CN" altLang="en-US" sz="2000" b="0" i="1" smtClean="0">
                        <a:solidFill>
                          <a:schemeClr val="tx1"/>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ℯ</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。此时称</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h</a:t>
                </a:r>
                <a:r>
                  <a:rPr lang="zh-CN" altLang="en-US" sz="2000" i="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为</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的逆元，记</a:t>
                </a:r>
                <a:r>
                  <a:rPr lang="zh-CN" altLang="en-US"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h</a:t>
                </a:r>
                <a:r>
                  <a:rPr lang="zh-CN" altLang="en-US" sz="2000" i="1"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为</a:t>
                </a:r>
                <a14:m>
                  <m:oMath xmlns:m="http://schemas.openxmlformats.org/officeDocument/2006/math">
                    <m:sSup>
                      <m:sSupPr>
                        <m:ctrlPr>
                          <a:rPr lang="zh-CN" altLang="zh-CN" sz="2000" i="1">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pPr>
                      <m:e>
                        <m:r>
                          <m:rPr>
                            <m:nor/>
                          </m:rPr>
                          <a:rPr lang="zh-CN" altLang="en-US" sz="2000" b="0" i="1" smtClean="0">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t> </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chemeClr val="tx1"/>
                            </a:solidFill>
                            <a:effectLst/>
                            <a:latin typeface="Cambria Math" panose="02040503050406030204" pitchFamily="18" charset="0"/>
                            <a:ea typeface="宋体" pitchFamily="2" charset="-122"/>
                            <a:cs typeface="Times New Roman" panose="02020503050405090304" pitchFamily="18" charset="0"/>
                          </a:rPr>
                          <m:t>1</m:t>
                        </m:r>
                      </m:sup>
                    </m:sSup>
                  </m:oMath>
                </a14:m>
                <a:r>
                  <a:rPr lang="zh-CN" altLang="zh-CN" sz="2000" dirty="0">
                    <a:solidFill>
                      <a:schemeClr val="tx1"/>
                    </a:solidFill>
                    <a:effectLst/>
                    <a:latin typeface="Times New Roman" panose="02020503050405090304" pitchFamily="18" charset="0"/>
                    <a:ea typeface="微软雅黑" panose="020B0503020204020204" charset="-122"/>
                    <a:cs typeface="Times New Roman" panose="02020503050405090304" pitchFamily="18" charset="0"/>
                  </a:rPr>
                  <a:t>。</a:t>
                </a:r>
              </a:p>
              <a:p>
                <a:pPr algn="just" rtl="0">
                  <a:lnSpc>
                    <a:spcPct val="130000"/>
                  </a:lnSpc>
                  <a:spcAft>
                    <a:spcPts val="600"/>
                  </a:spcAft>
                  <a:buClr>
                    <a:srgbClr val="C00000"/>
                  </a:buClr>
                </a:pPr>
                <a:endParaRPr kumimoji="0" lang="zh-CN" altLang="zh-CN" sz="2000" b="0" i="0" u="none" strike="noStrike" cap="none" normalizeH="0" baseline="0" dirty="0">
                  <a:ln>
                    <a:noFill/>
                  </a:ln>
                  <a:solidFill>
                    <a:schemeClr val="tx1"/>
                  </a:solidFill>
                  <a:effectLst/>
                </a:endParaRPr>
              </a:p>
              <a:p>
                <a:pPr marL="285750" indent="-285750" algn="just">
                  <a:lnSpc>
                    <a:spcPct val="130000"/>
                  </a:lnSpc>
                  <a:spcBef>
                    <a:spcPts val="0"/>
                  </a:spcBef>
                  <a:spcAft>
                    <a:spcPts val="600"/>
                  </a:spcAft>
                  <a:buClr>
                    <a:srgbClr val="C00000"/>
                  </a:buClr>
                  <a:buFont typeface="Wingdings" panose="05000000000000000000" charset="0"/>
                  <a:buChar char=""/>
                </a:pPr>
                <a:endParaRPr sz="2000" b="0" dirty="0">
                  <a:solidFill>
                    <a:srgbClr val="404040"/>
                  </a:solidFill>
                  <a:latin typeface="Times New Roman Regular" panose="02020503050405090304" charset="0"/>
                  <a:ea typeface="微软雅黑" panose="020B0503020204020204" charset="-122"/>
                  <a:cs typeface="Times New Roman Regular" panose="02020503050405090304" charset="0"/>
                </a:endParaRPr>
              </a:p>
            </p:txBody>
          </p:sp>
        </mc:Choice>
        <mc:Fallback xmlns="">
          <p:sp>
            <p:nvSpPr>
              <p:cNvPr id="2" name="TextBox 5"/>
              <p:cNvSpPr txBox="1">
                <a:spLocks noRot="1" noChangeAspect="1" noMove="1" noResize="1" noEditPoints="1" noAdjustHandles="1" noChangeArrowheads="1" noChangeShapeType="1" noTextEdit="1"/>
              </p:cNvSpPr>
              <p:nvPr/>
            </p:nvSpPr>
            <p:spPr>
              <a:xfrm>
                <a:off x="640262" y="1494558"/>
                <a:ext cx="10755232" cy="2265338"/>
              </a:xfrm>
              <a:prstGeom prst="rect">
                <a:avLst/>
              </a:prstGeom>
              <a:blipFill>
                <a:blip r:embed="rId3"/>
                <a:stretch>
                  <a:fillRect l="-1415" t="-3333" r="-1415" b="-1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424797" y="4184464"/>
                <a:ext cx="11349514" cy="1653530"/>
              </a:xfrm>
              <a:prstGeom prst="rect">
                <a:avLst/>
              </a:prstGeom>
              <a:noFill/>
            </p:spPr>
            <p:txBody>
              <a:bodyPr wrap="square">
                <a:spAutoFit/>
              </a:bodyPr>
              <a:lstStyle/>
              <a:p>
                <a:pPr algn="just">
                  <a:lnSpc>
                    <a:spcPct val="130000"/>
                  </a:lnSpc>
                </a:pP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若群</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r>
                      <a:rPr lang="zh-CN" altLang="en-US" sz="2000" b="0" i="1" smtClean="0">
                        <a:solidFill>
                          <a:srgbClr val="000000"/>
                        </a:solidFill>
                        <a:effectLst/>
                        <a:latin typeface="Cambria Math" panose="02040503050406030204" pitchFamily="18" charset="0"/>
                        <a:ea typeface="宋体" pitchFamily="2" charset="-122"/>
                        <a:cs typeface="Times New Roman" panose="02020503050405090304" pitchFamily="18" charset="0"/>
                      </a:rPr>
                      <m:t> </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在</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zh-CN" altLang="en-US" sz="2000" b="0" i="1" smtClean="0">
                        <a:solidFill>
                          <a:srgbClr val="000000"/>
                        </a:solidFill>
                        <a:effectLst/>
                        <a:latin typeface="Cambria Math" panose="02040503050406030204" pitchFamily="18" charset="0"/>
                        <a:ea typeface="宋体" pitchFamily="2" charset="-122"/>
                        <a:cs typeface="Times New Roman" panose="02020503050405090304" pitchFamily="18" charset="0"/>
                      </a:rPr>
                      <m:t> </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运算上满足交换律，即对于任意</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，满足</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h</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，则称群</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为交换群。若群中的运算</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为加法运算时，则该群称为加法群，记单位元为</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0</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，元素</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的逆元为</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dirty="0">
                    <a:solidFill>
                      <a:srgbClr val="000000"/>
                    </a:solidFill>
                    <a:effectLst/>
                    <a:latin typeface="Times New Roman" panose="02020503050405090304" pitchFamily="18" charset="0"/>
                    <a:ea typeface="微软雅黑" panose="020B0503020204020204" charset="-122"/>
                    <a:cs typeface="宋体" pitchFamily="2" charset="-122"/>
                  </a:rPr>
                  <a:t>-</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（也称为负元）；当</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为乘法运算</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a:solidFill>
                          <a:srgbClr val="000000"/>
                        </a:solidFill>
                        <a:effectLst/>
                        <a:latin typeface="Cambria Math" panose="02040503050406030204" pitchFamily="18" charset="0"/>
                        <a:ea typeface="宋体" pitchFamily="2" charset="-122"/>
                        <a:cs typeface="Times New Roman" panose="02020503050405090304" pitchFamily="18" charset="0"/>
                      </a:rPr>
                      <m:t>×</m:t>
                    </m:r>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时，该群为乘法群。在乘法群</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中，</a:t>
                </a:r>
                <a:r>
                  <a:rPr lang="zh-CN" altLang="en-US" sz="2000" dirty="0">
                    <a:solidFill>
                      <a:srgbClr val="000000"/>
                    </a:solidFill>
                    <a:latin typeface="Times New Roman" panose="02020503050405090304" pitchFamily="18" charset="0"/>
                    <a:ea typeface="微软雅黑" panose="020B0503020204020204" charset="-122"/>
                    <a:cs typeface="Times New Roman" panose="02020503050405090304" pitchFamily="18" charset="0"/>
                  </a:rPr>
                  <a:t>对于一个群元素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oMath>
                </a14:m>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我们将</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满足</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sSup>
                      <m:sSupPr>
                        <m:ctrlPr>
                          <a:rPr lang="zh-CN" altLang="zh-CN" sz="2000" i="1">
                            <a:solidFill>
                              <a:srgbClr val="000000"/>
                            </a:solidFill>
                            <a:effectLst/>
                            <a:latin typeface="Cambria Math" panose="02040503050406030204" pitchFamily="18" charset="0"/>
                            <a:ea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𝑛</m:t>
                        </m:r>
                      </m:sup>
                    </m:sSup>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m:t>
                    </m:r>
                    <m:r>
                      <a:rPr lang="en-US" altLang="zh-CN" sz="2000" i="1">
                        <a:latin typeface="Cambria Math" panose="02040503050406030204" pitchFamily="18" charset="0"/>
                        <a:ea typeface="宋体" pitchFamily="2" charset="-122"/>
                        <a:cs typeface="Times New Roman" panose="02020503050405090304" pitchFamily="18" charset="0"/>
                      </a:rPr>
                      <m:t>ℯ</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的最小正整数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𝑛</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称</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为</a:t>
                </a:r>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的阶。</a:t>
                </a:r>
                <a:endParaRPr lang="zh-CN" altLang="zh-CN" sz="2000" dirty="0">
                  <a:effectLst/>
                  <a:latin typeface="Times New Roman" panose="02020503050405090304" pitchFamily="18" charset="0"/>
                  <a:ea typeface="微软雅黑" panose="020B0503020204020204" charset="-122"/>
                  <a:cs typeface="宋体"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24797" y="4184464"/>
                <a:ext cx="11349514" cy="1653530"/>
              </a:xfrm>
              <a:prstGeom prst="rect">
                <a:avLst/>
              </a:prstGeom>
              <a:blipFill>
                <a:blip r:embed="rId4"/>
                <a:stretch>
                  <a:fillRect l="-559" r="-671" b="-6107"/>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2643F1AD-D9B7-ED64-0C4C-79506D440584}"/>
              </a:ext>
            </a:extLst>
          </p:cNvPr>
          <p:cNvSpPr txBox="1"/>
          <p:nvPr/>
        </p:nvSpPr>
        <p:spPr>
          <a:xfrm>
            <a:off x="502920" y="892728"/>
            <a:ext cx="5405511" cy="461665"/>
          </a:xfrm>
          <a:prstGeom prst="rect">
            <a:avLst/>
          </a:prstGeom>
          <a:noFill/>
        </p:spPr>
        <p:txBody>
          <a:bodyPr wrap="square">
            <a:spAutoFit/>
          </a:bodyPr>
          <a:lstStyle/>
          <a:p>
            <a:r>
              <a:rPr lang="en-US" altLang="zh-CN" sz="2400" b="1" dirty="0">
                <a:solidFill>
                  <a:srgbClr val="C00000"/>
                </a:solidFill>
                <a:effectLst/>
                <a:latin typeface="+mn-lt"/>
                <a:ea typeface="+mn-ea"/>
              </a:rPr>
              <a:t>ElGamal</a:t>
            </a:r>
            <a:r>
              <a:rPr lang="zh-CN" altLang="en-GB" sz="2400" b="1" dirty="0">
                <a:solidFill>
                  <a:srgbClr val="C00000"/>
                </a:solidFill>
              </a:rPr>
              <a:t>的</a:t>
            </a:r>
            <a:r>
              <a:rPr lang="zh-CN" altLang="en-US" sz="2400" b="1" dirty="0">
                <a:solidFill>
                  <a:srgbClr val="C00000"/>
                </a:solidFill>
              </a:rPr>
              <a:t>基础数理知识</a:t>
            </a:r>
          </a:p>
        </p:txBody>
      </p:sp>
    </p:spTree>
    <p:extLst>
      <p:ext uri="{BB962C8B-B14F-4D97-AF65-F5344CB8AC3E}">
        <p14:creationId xmlns:p14="http://schemas.microsoft.com/office/powerpoint/2010/main" val="3072853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9"/>
          <p:cNvSpPr/>
          <p:nvPr/>
        </p:nvSpPr>
        <p:spPr>
          <a:xfrm>
            <a:off x="502920" y="1497034"/>
            <a:ext cx="11183112" cy="1042916"/>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2" name="文本框 11"/>
          <p:cNvSpPr txBox="1"/>
          <p:nvPr/>
        </p:nvSpPr>
        <p:spPr>
          <a:xfrm>
            <a:off x="547711" y="897789"/>
            <a:ext cx="4401186" cy="461665"/>
          </a:xfrm>
          <a:prstGeom prst="rect">
            <a:avLst/>
          </a:prstGeom>
          <a:noFill/>
        </p:spPr>
        <p:txBody>
          <a:bodyPr wrap="square">
            <a:spAutoFit/>
          </a:bodyPr>
          <a:lstStyle/>
          <a:p>
            <a:r>
              <a:rPr lang="en-US" altLang="zh-CN" sz="2400" b="1" dirty="0">
                <a:solidFill>
                  <a:srgbClr val="C00000"/>
                </a:solidFill>
                <a:effectLst/>
                <a:latin typeface="+mn-lt"/>
                <a:ea typeface="+mn-ea"/>
              </a:rPr>
              <a:t>ElGamal</a:t>
            </a:r>
            <a:r>
              <a:rPr lang="zh-CN" altLang="en-GB" sz="2400" b="1" dirty="0">
                <a:solidFill>
                  <a:srgbClr val="C00000"/>
                </a:solidFill>
              </a:rPr>
              <a:t>的</a:t>
            </a:r>
            <a:r>
              <a:rPr lang="zh-CN" altLang="en-US" sz="2400" b="1" dirty="0">
                <a:solidFill>
                  <a:srgbClr val="C00000"/>
                </a:solidFill>
              </a:rPr>
              <a:t>基础数理知识</a:t>
            </a:r>
          </a:p>
        </p:txBody>
      </p:sp>
      <mc:AlternateContent xmlns:mc="http://schemas.openxmlformats.org/markup-compatibility/2006" xmlns:a14="http://schemas.microsoft.com/office/drawing/2010/main">
        <mc:Choice Requires="a14">
          <p:sp>
            <p:nvSpPr>
              <p:cNvPr id="2" name="TextBox 5"/>
              <p:cNvSpPr txBox="1"/>
              <p:nvPr/>
            </p:nvSpPr>
            <p:spPr>
              <a:xfrm>
                <a:off x="647530" y="1632468"/>
                <a:ext cx="10755232" cy="2265338"/>
              </a:xfrm>
              <a:prstGeom prst="rect">
                <a:avLst/>
              </a:prstGeom>
              <a:noFill/>
            </p:spPr>
            <p:txBody>
              <a:bodyPr wrap="square" lIns="0" tIns="0" rIns="0" bIns="0" anchor="t">
                <a:noAutofit/>
              </a:bodyPr>
              <a:lstStyle/>
              <a:p>
                <a:pPr indent="0" algn="just">
                  <a:spcBef>
                    <a:spcPts val="0"/>
                  </a:spcBef>
                  <a:spcAft>
                    <a:spcPts val="600"/>
                  </a:spcAft>
                  <a:buClr>
                    <a:srgbClr val="C00000"/>
                  </a:buClr>
                  <a:buFont typeface="Wingdings" panose="05000000000000000000" charset="0"/>
                  <a:buNone/>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.3</a:t>
                </a:r>
                <a:r>
                  <a:rPr lang="zh-CN" altLang="en-US" sz="2000" b="1" i="0" dirty="0">
                    <a:solidFill>
                      <a:srgbClr val="C00000"/>
                    </a:solidFill>
                    <a:latin typeface="微软雅黑" panose="020B0503020204020204" charset="-122"/>
                    <a:ea typeface="微软雅黑" panose="020B0503020204020204" charset="-122"/>
                  </a:rPr>
                  <a:t>　子群（教材原文）：</a:t>
                </a:r>
              </a:p>
              <a:p>
                <a:pPr indent="266700" algn="just">
                  <a:spcBef>
                    <a:spcPts val="300"/>
                  </a:spcBef>
                  <a:spcAft>
                    <a:spcPts val="300"/>
                  </a:spcAft>
                </a:pPr>
                <a:r>
                  <a:rPr lang="zh-CN" altLang="en-US" sz="2000" dirty="0">
                    <a:solidFill>
                      <a:srgbClr val="000000"/>
                    </a:solidFill>
                    <a:latin typeface="Times New Roman" panose="02020503050405090304" pitchFamily="18" charset="0"/>
                    <a:ea typeface="微软雅黑" panose="020B0503020204020204" charset="-122"/>
                    <a:cs typeface="Times New Roman" panose="02020503050405090304" pitchFamily="18" charset="0"/>
                  </a:rPr>
                  <a:t>群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r>
                      <a:rPr lang="zh-CN" altLang="en-US" sz="2000" b="0" i="1" smtClean="0">
                        <a:solidFill>
                          <a:srgbClr val="000000"/>
                        </a:solidFill>
                        <a:effectLst/>
                        <a:latin typeface="Cambria Math" panose="02040503050406030204" pitchFamily="18" charset="0"/>
                        <a:ea typeface="宋体" pitchFamily="2" charset="-122"/>
                        <a:cs typeface="Times New Roman" panose="02020503050405090304" pitchFamily="18" charset="0"/>
                      </a:rPr>
                      <m:t> </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的子集</a:t>
                </a:r>
                <a14:m>
                  <m:oMath xmlns:m="http://schemas.openxmlformats.org/officeDocument/2006/math">
                    <m:r>
                      <a:rPr lang="zh-CN" altLang="en-US" sz="2000" b="0" i="0" smtClean="0">
                        <a:solidFill>
                          <a:srgbClr val="000000"/>
                        </a:solidFill>
                        <a:effectLst/>
                        <a:latin typeface="Cambria Math" panose="02040503050406030204" pitchFamily="18" charset="0"/>
                        <a:ea typeface="Cambria Math" panose="02040503050406030204" pitchFamily="18" charset="0"/>
                        <a:cs typeface="Times New Roman" panose="02020503050405090304" pitchFamily="18" charset="0"/>
                      </a:rPr>
                      <m:t> </m:t>
                    </m:r>
                    <m:r>
                      <a:rPr lang="en-US" altLang="zh-CN" sz="2000" i="1" smtClean="0">
                        <a:solidFill>
                          <a:srgbClr val="000000"/>
                        </a:solidFill>
                        <a:effectLst/>
                        <a:latin typeface="Cambria Math" panose="02040503050406030204" pitchFamily="18" charset="0"/>
                        <a:ea typeface="Cambria Math" panose="02040503050406030204" pitchFamily="18" charset="0"/>
                        <a:cs typeface="Times New Roman" panose="02020503050405090304" pitchFamily="18" charset="0"/>
                      </a:rPr>
                      <m:t>ℍ</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称为</a:t>
                </a:r>
                <a14:m>
                  <m:oMath xmlns:m="http://schemas.openxmlformats.org/officeDocument/2006/math">
                    <m:r>
                      <a:rPr lang="zh-CN" altLang="en-US" sz="2000" b="0" i="0"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r>
                      <a:rPr lang="zh-CN" altLang="en-US" sz="2000" b="0" i="1" smtClean="0">
                        <a:solidFill>
                          <a:srgbClr val="000000"/>
                        </a:solidFill>
                        <a:effectLst/>
                        <a:latin typeface="Cambria Math" panose="02040503050406030204" pitchFamily="18" charset="0"/>
                        <a:ea typeface="宋体" pitchFamily="2" charset="-122"/>
                        <a:cs typeface="Times New Roman" panose="02020503050405090304" pitchFamily="18" charset="0"/>
                      </a:rPr>
                      <m:t> </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的子群，</a:t>
                </a:r>
                <a:r>
                  <a:rPr lang="en-US" altLang="zh-CN" sz="2000" dirty="0">
                    <a:solidFill>
                      <a:srgbClr val="000000"/>
                    </a:solidFill>
                    <a:latin typeface="Times New Roman" panose="02020503050405090304" pitchFamily="18" charset="0"/>
                    <a:ea typeface="微软雅黑" panose="020B0503020204020204" charset="-122"/>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cs typeface="Times New Roman" panose="02020503050405090304" pitchFamily="18" charset="0"/>
                      </a:rPr>
                      <m:t>ℍ</m:t>
                    </m:r>
                  </m:oMath>
                </a14:m>
                <a:r>
                  <a:rPr lang="zh-CN" altLang="en-US" sz="2000" dirty="0">
                    <a:solidFill>
                      <a:srgbClr val="000000"/>
                    </a:solidFill>
                    <a:effectLst/>
                    <a:latin typeface="Times New Roman" panose="02020503050405090304" pitchFamily="18" charset="0"/>
                    <a:ea typeface="微软雅黑" panose="020B0503020204020204" charset="-122"/>
                    <a:cs typeface="Times New Roman" panose="02020503050405090304" pitchFamily="18" charset="0"/>
                  </a:rPr>
                  <a:t> 关于 </a:t>
                </a:r>
                <a14:m>
                  <m:oMath xmlns:m="http://schemas.openxmlformats.org/officeDocument/2006/math">
                    <m:r>
                      <a:rPr lang="en-US" altLang="zh-CN" sz="2000" i="1">
                        <a:solidFill>
                          <a:srgbClr val="000000"/>
                        </a:solidFill>
                        <a:effectLst/>
                        <a:latin typeface="Cambria Math" panose="02040503050406030204" pitchFamily="18" charset="0"/>
                        <a:ea typeface="宋体" pitchFamily="2" charset="-122"/>
                        <a:cs typeface="Times New Roman" panose="02020503050405090304" pitchFamily="18" charset="0"/>
                      </a:rPr>
                      <m:t>𝔾</m:t>
                    </m:r>
                    <m:r>
                      <a:rPr lang="zh-CN" altLang="en-US" sz="2000" b="0" i="1" smtClean="0">
                        <a:solidFill>
                          <a:srgbClr val="000000"/>
                        </a:solidFill>
                        <a:effectLst/>
                        <a:latin typeface="Cambria Math" panose="02040503050406030204" pitchFamily="18" charset="0"/>
                        <a:ea typeface="宋体" pitchFamily="2" charset="-122"/>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的运算</m:t>
                    </m:r>
                    <m:r>
                      <a:rPr lang="en-US" altLang="zh-CN" sz="2000" i="1">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也构成群</m:t>
                    </m:r>
                    <m:r>
                      <a:rPr lang="zh-CN" altLang="en-US" sz="2000" b="0" i="1" smtClean="0">
                        <a:solidFill>
                          <a:srgbClr val="000000"/>
                        </a:solidFill>
                        <a:latin typeface="Cambria Math" panose="02040503050406030204" pitchFamily="18" charset="0"/>
                        <a:ea typeface="+mn-ea"/>
                        <a:cs typeface="Times New Roman" panose="02020503050405090304" pitchFamily="18" charset="0"/>
                      </a:rPr>
                      <m:t>。</m:t>
                    </m:r>
                  </m:oMath>
                </a14:m>
                <a:endParaRPr lang="zh-CN" altLang="zh-CN" sz="2000" dirty="0">
                  <a:solidFill>
                    <a:schemeClr val="tx1"/>
                  </a:solidFill>
                  <a:effectLst/>
                  <a:latin typeface="+mn-ea"/>
                  <a:ea typeface="+mn-ea"/>
                  <a:cs typeface="Times New Roman" panose="02020503050405090304" pitchFamily="18" charset="0"/>
                </a:endParaRPr>
              </a:p>
              <a:p>
                <a:pPr algn="just" rtl="0">
                  <a:lnSpc>
                    <a:spcPct val="130000"/>
                  </a:lnSpc>
                  <a:spcAft>
                    <a:spcPts val="600"/>
                  </a:spcAft>
                  <a:buClr>
                    <a:srgbClr val="C00000"/>
                  </a:buClr>
                </a:pPr>
                <a:endParaRPr kumimoji="0" lang="zh-CN" altLang="zh-CN" sz="2000" b="0" i="0" u="none" strike="noStrike" cap="none" normalizeH="0" baseline="0" dirty="0">
                  <a:ln>
                    <a:noFill/>
                  </a:ln>
                  <a:solidFill>
                    <a:schemeClr val="tx1"/>
                  </a:solidFill>
                  <a:effectLst/>
                </a:endParaRPr>
              </a:p>
              <a:p>
                <a:pPr marL="285750" indent="-285750" algn="just">
                  <a:lnSpc>
                    <a:spcPct val="130000"/>
                  </a:lnSpc>
                  <a:spcBef>
                    <a:spcPts val="0"/>
                  </a:spcBef>
                  <a:spcAft>
                    <a:spcPts val="600"/>
                  </a:spcAft>
                  <a:buClr>
                    <a:srgbClr val="C00000"/>
                  </a:buClr>
                  <a:buFont typeface="Wingdings" panose="05000000000000000000" charset="0"/>
                  <a:buChar char=""/>
                </a:pPr>
                <a:endParaRPr sz="2000" b="0" dirty="0">
                  <a:solidFill>
                    <a:srgbClr val="404040"/>
                  </a:solidFill>
                  <a:latin typeface="Times New Roman Regular" panose="02020503050405090304" charset="0"/>
                  <a:ea typeface="微软雅黑" panose="020B0503020204020204" charset="-122"/>
                  <a:cs typeface="Times New Roman Regular" panose="02020503050405090304" charset="0"/>
                </a:endParaRPr>
              </a:p>
            </p:txBody>
          </p:sp>
        </mc:Choice>
        <mc:Fallback xmlns="">
          <p:sp>
            <p:nvSpPr>
              <p:cNvPr id="2" name="TextBox 5"/>
              <p:cNvSpPr txBox="1">
                <a:spLocks noRot="1" noChangeAspect="1" noMove="1" noResize="1" noEditPoints="1" noAdjustHandles="1" noChangeArrowheads="1" noChangeShapeType="1" noTextEdit="1"/>
              </p:cNvSpPr>
              <p:nvPr/>
            </p:nvSpPr>
            <p:spPr>
              <a:xfrm>
                <a:off x="647530" y="1632468"/>
                <a:ext cx="10755232" cy="2265338"/>
              </a:xfrm>
              <a:prstGeom prst="rect">
                <a:avLst/>
              </a:prstGeom>
              <a:blipFill>
                <a:blip r:embed="rId3"/>
                <a:stretch>
                  <a:fillRect l="-1413" t="-3352"/>
                </a:stretch>
              </a:blipFill>
            </p:spPr>
            <p:txBody>
              <a:bodyPr/>
              <a:lstStyle/>
              <a:p>
                <a:r>
                  <a:rPr lang="zh-CN" altLang="en-US">
                    <a:noFill/>
                  </a:rPr>
                  <a:t> </a:t>
                </a:r>
              </a:p>
            </p:txBody>
          </p:sp>
        </mc:Fallback>
      </mc:AlternateContent>
      <p:sp>
        <p:nvSpPr>
          <p:cNvPr id="3" name="Rounded Rectangle 9"/>
          <p:cNvSpPr/>
          <p:nvPr/>
        </p:nvSpPr>
        <p:spPr>
          <a:xfrm>
            <a:off x="502920" y="2770277"/>
            <a:ext cx="11183112" cy="1547773"/>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mc:AlternateContent xmlns:mc="http://schemas.openxmlformats.org/markup-compatibility/2006" xmlns:a14="http://schemas.microsoft.com/office/drawing/2010/main">
        <mc:Choice Requires="a14">
          <p:sp>
            <p:nvSpPr>
              <p:cNvPr id="4" name="TextBox 5"/>
              <p:cNvSpPr txBox="1"/>
              <p:nvPr/>
            </p:nvSpPr>
            <p:spPr>
              <a:xfrm>
                <a:off x="717867" y="2880299"/>
                <a:ext cx="10755232" cy="2265338"/>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a:t>
                </a:r>
                <a:r>
                  <a:rPr lang="en-US" altLang="zh-CN" sz="2000" b="1" dirty="0">
                    <a:solidFill>
                      <a:srgbClr val="C00000"/>
                    </a:solidFill>
                    <a:latin typeface="微软雅黑" panose="020B0503020204020204" charset="-122"/>
                    <a:ea typeface="微软雅黑" panose="020B0503020204020204" charset="-122"/>
                  </a:rPr>
                  <a:t>4</a:t>
                </a:r>
                <a:r>
                  <a:rPr lang="zh-CN" altLang="en-US" sz="2000" b="1" i="0" dirty="0">
                    <a:solidFill>
                      <a:srgbClr val="C00000"/>
                    </a:solidFill>
                    <a:latin typeface="微软雅黑" panose="020B0503020204020204" charset="-122"/>
                    <a:ea typeface="微软雅黑" panose="020B0503020204020204" charset="-122"/>
                  </a:rPr>
                  <a:t>　</a:t>
                </a:r>
                <a:r>
                  <a:rPr lang="zh-CN" altLang="zh-CN" sz="2000" b="1" dirty="0">
                    <a:solidFill>
                      <a:srgbClr val="C00000"/>
                    </a:solidFill>
                    <a:latin typeface="微软雅黑" panose="020B0503020204020204" charset="-122"/>
                    <a:ea typeface="微软雅黑" panose="020B0503020204020204" charset="-122"/>
                  </a:rPr>
                  <a:t>乘法循环群</a:t>
                </a:r>
                <a:r>
                  <a:rPr lang="zh-CN" altLang="en-US" sz="2000" b="1" i="0" dirty="0">
                    <a:solidFill>
                      <a:srgbClr val="C00000"/>
                    </a:solidFill>
                    <a:latin typeface="微软雅黑" panose="020B0503020204020204" charset="-122"/>
                    <a:ea typeface="微软雅黑" panose="020B0503020204020204" charset="-122"/>
                  </a:rPr>
                  <a:t>（教材原文）：</a:t>
                </a:r>
              </a:p>
              <a:p>
                <a:pPr indent="266700" algn="just">
                  <a:lnSpc>
                    <a:spcPct val="150000"/>
                  </a:lnSpc>
                  <a:spcBef>
                    <a:spcPts val="300"/>
                  </a:spcBef>
                  <a:spcAft>
                    <a:spcPts val="300"/>
                  </a:spcAft>
                </a:pPr>
                <a:r>
                  <a:rPr lang="zh-CN" altLang="zh-CN" sz="2000" dirty="0">
                    <a:solidFill>
                      <a:srgbClr val="000000"/>
                    </a:solidFill>
                    <a:effectLst/>
                    <a:latin typeface="+mn-lt"/>
                    <a:ea typeface="+mn-ea"/>
                    <a:cs typeface="Times New Roman" panose="02020503050405090304" pitchFamily="18" charset="0"/>
                  </a:rPr>
                  <a:t>设</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为一个乘法群。如果存在</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oMath>
                </a14:m>
                <a:r>
                  <a:rPr lang="zh-CN" altLang="zh-CN" sz="2000" dirty="0">
                    <a:solidFill>
                      <a:srgbClr val="000000"/>
                    </a:solidFill>
                    <a:effectLst/>
                    <a:latin typeface="+mn-lt"/>
                    <a:ea typeface="+mn-ea"/>
                    <a:cs typeface="Times New Roman" panose="02020503050405090304" pitchFamily="18" charset="0"/>
                  </a:rPr>
                  <a:t>，对于任意</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h</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oMath>
                </a14:m>
                <a:r>
                  <a:rPr lang="zh-CN" altLang="zh-CN" sz="2000" dirty="0">
                    <a:solidFill>
                      <a:srgbClr val="000000"/>
                    </a:solidFill>
                    <a:effectLst/>
                    <a:latin typeface="+mn-lt"/>
                    <a:ea typeface="+mn-ea"/>
                    <a:cs typeface="Times New Roman" panose="02020503050405090304" pitchFamily="18" charset="0"/>
                  </a:rPr>
                  <a:t>，存在整数</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𝑛</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使得</a:t>
                </a:r>
                <a14:m>
                  <m:oMath xmlns:m="http://schemas.openxmlformats.org/officeDocument/2006/math">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h</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𝑛</m:t>
                        </m:r>
                      </m:sup>
                    </m:sSup>
                  </m:oMath>
                </a14:m>
                <a:r>
                  <a:rPr lang="zh-CN" altLang="zh-CN" sz="2000" dirty="0">
                    <a:solidFill>
                      <a:srgbClr val="000000"/>
                    </a:solidFill>
                    <a:effectLst/>
                    <a:latin typeface="+mn-lt"/>
                    <a:ea typeface="+mn-ea"/>
                    <a:cs typeface="Times New Roman" panose="02020503050405090304" pitchFamily="18" charset="0"/>
                  </a:rPr>
                  <a:t>，则称群</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为乘法循环群。此时，</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称为生成元，群</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可记为</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d>
                      <m:dPr>
                        <m:begChr m:val="〈"/>
                        <m:endChr m:val="〉"/>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zh-CN" sz="2000" dirty="0">
                    <a:solidFill>
                      <a:srgbClr val="000000"/>
                    </a:solidFill>
                    <a:effectLst/>
                    <a:latin typeface="+mn-lt"/>
                    <a:ea typeface="+mn-ea"/>
                    <a:cs typeface="Times New Roman" panose="02020503050405090304" pitchFamily="18" charset="0"/>
                  </a:rPr>
                  <a:t>。若</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有限，则群</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𝔾</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为有限乘法循环群</a:t>
                </a:r>
                <a:r>
                  <a:rPr lang="zh-CN" altLang="zh-CN" sz="2000" dirty="0">
                    <a:solidFill>
                      <a:schemeClr val="tx1"/>
                    </a:solidFill>
                    <a:effectLst/>
                    <a:latin typeface="+mn-lt"/>
                    <a:ea typeface="+mn-ea"/>
                    <a:cs typeface="Times New Roman" panose="02020503050405090304" pitchFamily="18" charset="0"/>
                  </a:rPr>
                  <a:t>。</a:t>
                </a:r>
              </a:p>
              <a:p>
                <a:pPr algn="just" rtl="0">
                  <a:lnSpc>
                    <a:spcPct val="130000"/>
                  </a:lnSpc>
                  <a:spcAft>
                    <a:spcPts val="600"/>
                  </a:spcAft>
                  <a:buClr>
                    <a:srgbClr val="C00000"/>
                  </a:buClr>
                </a:pPr>
                <a:endParaRPr kumimoji="0" lang="zh-CN" altLang="zh-CN" sz="2000" b="0" i="0" u="none" strike="noStrike" cap="none" normalizeH="0" baseline="0" dirty="0">
                  <a:ln>
                    <a:noFill/>
                  </a:ln>
                  <a:solidFill>
                    <a:schemeClr val="tx1"/>
                  </a:solidFill>
                  <a:effectLst/>
                </a:endParaRPr>
              </a:p>
              <a:p>
                <a:pPr marL="285750" indent="-285750" algn="just">
                  <a:lnSpc>
                    <a:spcPct val="130000"/>
                  </a:lnSpc>
                  <a:spcBef>
                    <a:spcPts val="0"/>
                  </a:spcBef>
                  <a:spcAft>
                    <a:spcPts val="600"/>
                  </a:spcAft>
                  <a:buClr>
                    <a:srgbClr val="C00000"/>
                  </a:buClr>
                  <a:buFont typeface="Wingdings" panose="05000000000000000000" charset="0"/>
                  <a:buChar char=""/>
                </a:pPr>
                <a:endParaRPr sz="2000" b="0" dirty="0">
                  <a:solidFill>
                    <a:srgbClr val="404040"/>
                  </a:solidFill>
                  <a:latin typeface="Times New Roman Regular" panose="02020503050405090304" charset="0"/>
                  <a:ea typeface="微软雅黑" panose="020B0503020204020204" charset="-122"/>
                  <a:cs typeface="Times New Roman Regular" panose="02020503050405090304" charset="0"/>
                </a:endParaRPr>
              </a:p>
            </p:txBody>
          </p:sp>
        </mc:Choice>
        <mc:Fallback xmlns="">
          <p:sp>
            <p:nvSpPr>
              <p:cNvPr id="4" name="TextBox 5"/>
              <p:cNvSpPr txBox="1">
                <a:spLocks noRot="1" noChangeAspect="1" noMove="1" noResize="1" noEditPoints="1" noAdjustHandles="1" noChangeArrowheads="1" noChangeShapeType="1" noTextEdit="1"/>
              </p:cNvSpPr>
              <p:nvPr/>
            </p:nvSpPr>
            <p:spPr>
              <a:xfrm>
                <a:off x="717867" y="2880299"/>
                <a:ext cx="10755232" cy="2265338"/>
              </a:xfrm>
              <a:prstGeom prst="rect">
                <a:avLst/>
              </a:prstGeom>
              <a:blipFill>
                <a:blip r:embed="rId4"/>
                <a:stretch>
                  <a:fillRect l="-1415" t="-3333" r="-14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716859" y="4474619"/>
                <a:ext cx="10755233" cy="1045286"/>
              </a:xfrm>
              <a:prstGeom prst="rect">
                <a:avLst/>
              </a:prstGeom>
              <a:noFill/>
            </p:spPr>
            <p:txBody>
              <a:bodyPr wrap="square">
                <a:spAutoFit/>
              </a:bodyPr>
              <a:lstStyle/>
              <a:p>
                <a:pPr>
                  <a:lnSpc>
                    <a:spcPct val="150000"/>
                  </a:lnSpc>
                </a:pPr>
                <a:r>
                  <a:rPr lang="zh-CN" altLang="en-US" sz="2000" dirty="0"/>
                  <a:t>显而易见， </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i="1" smtClean="0">
                            <a:latin typeface="Cambria Math" panose="02040503050406030204" pitchFamily="18" charset="0"/>
                            <a:ea typeface="Cambria Math" panose="02040503050406030204" pitchFamily="18" charset="0"/>
                          </a:rPr>
                          <m:t>ℤ</m:t>
                        </m:r>
                      </m:e>
                      <m:sub>
                        <m:r>
                          <a:rPr lang="en-US" altLang="zh-CN" sz="2000" i="1">
                            <a:latin typeface="Cambria Math" panose="02040503050406030204" pitchFamily="18" charset="0"/>
                          </a:rPr>
                          <m:t>𝑝</m:t>
                        </m:r>
                      </m:sub>
                      <m:sup>
                        <m:r>
                          <a:rPr lang="en-US" altLang="zh-CN" sz="2000" b="0" i="1" smtClean="0">
                            <a:latin typeface="Cambria Math" panose="02040503050406030204" pitchFamily="18" charset="0"/>
                          </a:rPr>
                          <m:t>∗</m:t>
                        </m:r>
                      </m:sup>
                    </m:sSubSup>
                  </m:oMath>
                </a14:m>
                <a:r>
                  <a:rPr lang="en-US" altLang="zh-CN" sz="2000" dirty="0"/>
                  <a:t> </a:t>
                </a:r>
                <a:r>
                  <a:rPr lang="zh-CN" altLang="en-US" sz="2000" dirty="0"/>
                  <a:t>关于模 </a:t>
                </a:r>
                <a:r>
                  <a:rPr lang="en-GB" altLang="zh-CN" sz="2000" i="1" dirty="0"/>
                  <a:t>p</a:t>
                </a:r>
                <a:r>
                  <a:rPr lang="en-GB" altLang="zh-CN" sz="2000" dirty="0"/>
                  <a:t> </a:t>
                </a:r>
                <a:r>
                  <a:rPr lang="zh-CN" altLang="en-GB" sz="2000" dirty="0"/>
                  <a:t>（</a:t>
                </a:r>
                <a:r>
                  <a:rPr lang="zh-CN" altLang="en-US" sz="2000" dirty="0"/>
                  <a:t>素数）乘法构成乘法循环群，其阶为 </a:t>
                </a:r>
                <a:r>
                  <a:rPr lang="en-GB" altLang="zh-CN" sz="2000" i="1" dirty="0"/>
                  <a:t>p</a:t>
                </a:r>
                <a:r>
                  <a:rPr lang="en-GB" altLang="zh-CN" sz="2000" dirty="0"/>
                  <a:t>-1 </a:t>
                </a:r>
                <a:r>
                  <a:rPr lang="zh-CN" altLang="en-GB" sz="2000" dirty="0"/>
                  <a:t>。</a:t>
                </a:r>
                <a:r>
                  <a:rPr lang="zh-CN" altLang="en-US" sz="2000" dirty="0"/>
                  <a:t>为便于描述，经常使用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ea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oMath>
                </a14:m>
                <a:r>
                  <a:rPr lang="en-US" altLang="zh-CN" sz="2000" dirty="0"/>
                  <a:t> </a:t>
                </a:r>
                <a:r>
                  <a:rPr lang="zh-CN" altLang="en-US" sz="2000" dirty="0"/>
                  <a:t>表示模</a:t>
                </a:r>
                <a:r>
                  <a:rPr lang="en-US" altLang="zh-CN" sz="2000" dirty="0"/>
                  <a:t> </a:t>
                </a:r>
                <a:r>
                  <a:rPr lang="zh-CN" altLang="en-US" sz="2000" dirty="0"/>
                  <a:t> </a:t>
                </a:r>
                <a:r>
                  <a:rPr lang="en-GB" altLang="zh-CN" sz="2000" i="1" dirty="0"/>
                  <a:t>p </a:t>
                </a:r>
                <a:r>
                  <a:rPr lang="en-GB" altLang="zh-CN" sz="2000" dirty="0"/>
                  <a:t> </a:t>
                </a:r>
                <a:r>
                  <a:rPr lang="zh-CN" altLang="en-US" sz="2000" dirty="0"/>
                  <a:t>乘法下构成的乘法循环群。</a:t>
                </a:r>
              </a:p>
            </p:txBody>
          </p:sp>
        </mc:Choice>
        <mc:Fallback xmlns="">
          <p:sp>
            <p:nvSpPr>
              <p:cNvPr id="7" name="文本框 6"/>
              <p:cNvSpPr txBox="1">
                <a:spLocks noRot="1" noChangeAspect="1" noMove="1" noResize="1" noEditPoints="1" noAdjustHandles="1" noChangeArrowheads="1" noChangeShapeType="1" noTextEdit="1"/>
              </p:cNvSpPr>
              <p:nvPr/>
            </p:nvSpPr>
            <p:spPr>
              <a:xfrm>
                <a:off x="716859" y="4474619"/>
                <a:ext cx="10755233" cy="1045286"/>
              </a:xfrm>
              <a:prstGeom prst="rect">
                <a:avLst/>
              </a:prstGeom>
              <a:blipFill>
                <a:blip r:embed="rId5"/>
                <a:stretch>
                  <a:fillRect l="-590" b="-8434"/>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9"/>
          <p:cNvSpPr/>
          <p:nvPr/>
        </p:nvSpPr>
        <p:spPr>
          <a:xfrm>
            <a:off x="717867" y="3681997"/>
            <a:ext cx="10721581" cy="1410108"/>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05085"/>
            <a:ext cx="5495544" cy="461665"/>
          </a:xfrm>
          <a:prstGeom prst="rect">
            <a:avLst/>
          </a:prstGeom>
          <a:noFill/>
        </p:spPr>
        <p:txBody>
          <a:bodyPr wrap="square">
            <a:spAutoFit/>
          </a:bodyPr>
          <a:lstStyle/>
          <a:p>
            <a:r>
              <a:rPr lang="en-GB" altLang="zh-CN" sz="2400" b="1" dirty="0">
                <a:solidFill>
                  <a:srgbClr val="C00000"/>
                </a:solidFill>
              </a:rPr>
              <a:t>ElGamal</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717867" y="2194738"/>
            <a:ext cx="10721581" cy="1410108"/>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0"/>
          <p:cNvSpPr txBox="1"/>
          <p:nvPr/>
        </p:nvSpPr>
        <p:spPr>
          <a:xfrm>
            <a:off x="877824" y="2272637"/>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latin typeface="+mn-lt"/>
              </a:rPr>
              <a:t>Gen(</a:t>
            </a:r>
            <a:r>
              <a:rPr sz="2400" dirty="0" err="1">
                <a:latin typeface="+mn-lt"/>
              </a:rPr>
              <a:t>λ</a:t>
            </a:r>
            <a:r>
              <a:rPr sz="2400" dirty="0">
                <a:latin typeface="+mn-lt"/>
              </a:rPr>
              <a:t>)</a:t>
            </a:r>
            <a:r>
              <a:rPr lang="zh-CN" altLang="en-GB" sz="2400" dirty="0">
                <a:latin typeface="+mn-lt"/>
              </a:rPr>
              <a:t>算法</a:t>
            </a:r>
            <a:endParaRPr sz="2400" dirty="0"/>
          </a:p>
        </p:txBody>
      </p:sp>
      <mc:AlternateContent xmlns:mc="http://schemas.openxmlformats.org/markup-compatibility/2006" xmlns:a14="http://schemas.microsoft.com/office/drawing/2010/main">
        <mc:Choice Requires="a14">
          <p:sp>
            <p:nvSpPr>
              <p:cNvPr id="18" name="TextBox 11"/>
              <p:cNvSpPr txBox="1"/>
              <p:nvPr/>
            </p:nvSpPr>
            <p:spPr>
              <a:xfrm>
                <a:off x="877824" y="2675449"/>
                <a:ext cx="10200855" cy="870431"/>
              </a:xfrm>
              <a:prstGeom prst="rect">
                <a:avLst/>
              </a:prstGeom>
              <a:noFill/>
            </p:spPr>
            <p:txBody>
              <a:bodyPr wrap="square" lIns="64008" tIns="32004" rIns="36576">
                <a:spAutoFit/>
              </a:bodyPr>
              <a:lstStyle/>
              <a:p>
                <a:pPr lvl="0" algn="just" hangingPunct="0">
                  <a:lnSpc>
                    <a:spcPct val="130000"/>
                  </a:lnSpc>
                </a:pPr>
                <a:r>
                  <a:rPr lang="zh-CN" altLang="zh-CN" sz="2000" kern="0" dirty="0">
                    <a:solidFill>
                      <a:srgbClr val="000000"/>
                    </a:solidFill>
                    <a:effectLst/>
                    <a:latin typeface="+mj-ea"/>
                    <a:ea typeface="+mj-ea"/>
                    <a:cs typeface="宋体" pitchFamily="2" charset="-122"/>
                  </a:rPr>
                  <a:t>当输入安全参数</a:t>
                </a:r>
                <a:r>
                  <a:rPr lang="en-US" altLang="zh-CN" sz="2000" kern="0" dirty="0">
                    <a:solidFill>
                      <a:srgbClr val="000000"/>
                    </a:solidFill>
                    <a:latin typeface="+mj-ea"/>
                    <a:ea typeface="+mj-ea"/>
                    <a:cs typeface="宋体" pitchFamily="2" charset="-122"/>
                  </a:rPr>
                  <a:t> </a:t>
                </a:r>
                <a14:m>
                  <m:oMath xmlns:m="http://schemas.openxmlformats.org/officeDocument/2006/math">
                    <m:r>
                      <a:rPr lang="en-US" altLang="zh-CN" sz="2000" i="1" kern="0">
                        <a:solidFill>
                          <a:srgbClr val="000000"/>
                        </a:solidFill>
                        <a:effectLst/>
                        <a:latin typeface="Cambria Math" panose="02040503050406030204" pitchFamily="18" charset="0"/>
                        <a:ea typeface="+mj-ea"/>
                        <a:cs typeface="宋体" pitchFamily="2" charset="-122"/>
                      </a:rPr>
                      <m:t>𝜆</m:t>
                    </m:r>
                    <m:r>
                      <a:rPr lang="zh-CN" altLang="en-US" sz="2000" b="0" i="1" kern="0" smtClean="0">
                        <a:solidFill>
                          <a:srgbClr val="000000"/>
                        </a:solidFill>
                        <a:effectLst/>
                        <a:latin typeface="Cambria Math" panose="02040503050406030204" pitchFamily="18" charset="0"/>
                        <a:ea typeface="+mj-ea"/>
                        <a:cs typeface="宋体" pitchFamily="2" charset="-122"/>
                      </a:rPr>
                      <m:t> </m:t>
                    </m:r>
                  </m:oMath>
                </a14:m>
                <a:r>
                  <a:rPr lang="zh-CN" altLang="zh-CN" sz="2000" kern="0" dirty="0">
                    <a:solidFill>
                      <a:srgbClr val="000000"/>
                    </a:solidFill>
                    <a:effectLst/>
                    <a:latin typeface="+mj-ea"/>
                    <a:ea typeface="+mj-ea"/>
                    <a:cs typeface="宋体" pitchFamily="2" charset="-122"/>
                  </a:rPr>
                  <a:t>时，该算法随机选择</a:t>
                </a:r>
                <a14:m>
                  <m:oMath xmlns:m="http://schemas.openxmlformats.org/officeDocument/2006/math">
                    <m:r>
                      <a:rPr lang="zh-CN" altLang="en-US" sz="2000" b="0" i="0" kern="0" smtClean="0">
                        <a:solidFill>
                          <a:srgbClr val="000000"/>
                        </a:solidFill>
                        <a:effectLst/>
                        <a:latin typeface="Cambria Math" panose="02040503050406030204" pitchFamily="18" charset="0"/>
                        <a:ea typeface="+mj-ea"/>
                        <a:cs typeface="宋体" pitchFamily="2" charset="-122"/>
                      </a:rPr>
                      <m:t> </m:t>
                    </m:r>
                    <m:r>
                      <m:rPr>
                        <m:sty m:val="p"/>
                      </m:rPr>
                      <a:rPr lang="en-US" altLang="zh-CN" sz="2000" i="0" kern="0">
                        <a:solidFill>
                          <a:srgbClr val="000000"/>
                        </a:solidFill>
                        <a:effectLst/>
                        <a:latin typeface="Cambria Math" panose="02040503050406030204" pitchFamily="18" charset="0"/>
                        <a:ea typeface="+mj-ea"/>
                        <a:cs typeface="宋体" pitchFamily="2" charset="-122"/>
                      </a:rPr>
                      <m:t>sk</m:t>
                    </m:r>
                    <m:r>
                      <a:rPr lang="en-US" altLang="zh-CN" sz="2000" i="1" kern="0">
                        <a:solidFill>
                          <a:srgbClr val="000000"/>
                        </a:solidFill>
                        <a:effectLst/>
                        <a:latin typeface="Cambria Math" panose="02040503050406030204" pitchFamily="18" charset="0"/>
                        <a:ea typeface="+mj-ea"/>
                        <a:cs typeface="宋体" pitchFamily="2" charset="-122"/>
                      </a:rPr>
                      <m:t>∈</m:t>
                    </m:r>
                    <m:sSub>
                      <m:sSubPr>
                        <m:ctrlPr>
                          <a:rPr lang="zh-CN" altLang="zh-CN" sz="2000" i="1">
                            <a:solidFill>
                              <a:srgbClr val="000000"/>
                            </a:solidFill>
                            <a:effectLst/>
                            <a:latin typeface="Cambria Math" panose="02040503050406030204" pitchFamily="18" charset="0"/>
                            <a:ea typeface="+mj-ea"/>
                          </a:rPr>
                        </m:ctrlPr>
                      </m:sSubPr>
                      <m:e>
                        <m:r>
                          <a:rPr lang="en-US" altLang="zh-CN" sz="2000" i="1" kern="0">
                            <a:solidFill>
                              <a:srgbClr val="000000"/>
                            </a:solidFill>
                            <a:effectLst/>
                            <a:latin typeface="Cambria Math" panose="02040503050406030204" pitchFamily="18" charset="0"/>
                            <a:ea typeface="+mj-ea"/>
                            <a:cs typeface="宋体" pitchFamily="2" charset="-122"/>
                          </a:rPr>
                          <m:t>ℤ</m:t>
                        </m:r>
                      </m:e>
                      <m:sub>
                        <m:r>
                          <a:rPr lang="en-US" altLang="zh-CN" sz="2000" i="1" kern="0">
                            <a:solidFill>
                              <a:srgbClr val="000000"/>
                            </a:solidFill>
                            <a:effectLst/>
                            <a:latin typeface="Cambria Math" panose="02040503050406030204" pitchFamily="18" charset="0"/>
                            <a:ea typeface="+mj-ea"/>
                            <a:cs typeface="宋体" pitchFamily="2" charset="-122"/>
                          </a:rPr>
                          <m:t>𝑝</m:t>
                        </m:r>
                        <m:r>
                          <a:rPr lang="en-US" altLang="zh-CN" sz="2000" i="1"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1</m:t>
                        </m:r>
                      </m:sub>
                    </m:sSub>
                  </m:oMath>
                </a14:m>
                <a:r>
                  <a:rPr lang="zh-CN" altLang="en-US" sz="2000" kern="0" dirty="0">
                    <a:solidFill>
                      <a:srgbClr val="000000"/>
                    </a:solidFill>
                    <a:effectLst/>
                    <a:latin typeface="+mj-ea"/>
                    <a:ea typeface="+mj-ea"/>
                    <a:cs typeface="宋体" pitchFamily="2" charset="-122"/>
                  </a:rPr>
                  <a:t>，</a:t>
                </a:r>
                <a:r>
                  <a:rPr lang="zh-CN" altLang="zh-CN" sz="2000" kern="0" dirty="0">
                    <a:solidFill>
                      <a:srgbClr val="000000"/>
                    </a:solidFill>
                    <a:effectLst/>
                    <a:latin typeface="+mj-ea"/>
                    <a:ea typeface="+mj-ea"/>
                    <a:cs typeface="宋体" pitchFamily="2" charset="-122"/>
                  </a:rPr>
                  <a:t>计算</a:t>
                </a:r>
                <a14:m>
                  <m:oMath xmlns:m="http://schemas.openxmlformats.org/officeDocument/2006/math">
                    <m:sSup>
                      <m:sSupPr>
                        <m:ctrlPr>
                          <a:rPr lang="zh-CN" altLang="zh-CN" sz="2000" i="1">
                            <a:solidFill>
                              <a:srgbClr val="000000"/>
                            </a:solidFill>
                            <a:effectLst/>
                            <a:latin typeface="Cambria Math" panose="02040503050406030204" pitchFamily="18" charset="0"/>
                            <a:ea typeface="+mj-ea"/>
                          </a:rPr>
                        </m:ctrlPr>
                      </m:sSupPr>
                      <m:e>
                        <m:r>
                          <a:rPr lang="zh-CN" altLang="en-US" sz="2000" b="0" i="1" smtClean="0">
                            <a:solidFill>
                              <a:srgbClr val="000000"/>
                            </a:solidFill>
                            <a:effectLst/>
                            <a:latin typeface="Cambria Math" panose="02040503050406030204" pitchFamily="18" charset="0"/>
                            <a:ea typeface="+mj-ea"/>
                          </a:rPr>
                          <m:t> </m:t>
                        </m:r>
                        <m:r>
                          <a:rPr lang="en-US" altLang="zh-CN" sz="2000" i="1" kern="0">
                            <a:solidFill>
                              <a:srgbClr val="000000"/>
                            </a:solidFill>
                            <a:effectLst/>
                            <a:latin typeface="Cambria Math" panose="02040503050406030204" pitchFamily="18" charset="0"/>
                            <a:ea typeface="+mj-ea"/>
                            <a:cs typeface="宋体" pitchFamily="2" charset="-122"/>
                          </a:rPr>
                          <m:t>𝑌</m:t>
                        </m:r>
                        <m:r>
                          <a:rPr lang="en-US" altLang="zh-CN" sz="2000" kern="0">
                            <a:solidFill>
                              <a:srgbClr val="000000"/>
                            </a:solidFill>
                            <a:effectLst/>
                            <a:latin typeface="Cambria Math" panose="02040503050406030204" pitchFamily="18" charset="0"/>
                            <a:ea typeface="+mj-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m:rPr>
                            <m:sty m:val="p"/>
                          </m:rPr>
                          <a:rPr lang="en-US" altLang="zh-CN" sz="2000" i="0" kern="0">
                            <a:solidFill>
                              <a:srgbClr val="000000"/>
                            </a:solidFill>
                            <a:effectLst/>
                            <a:latin typeface="Cambria Math" panose="02040503050406030204" pitchFamily="18" charset="0"/>
                            <a:ea typeface="+mj-ea"/>
                            <a:cs typeface="宋体" pitchFamily="2" charset="-122"/>
                          </a:rPr>
                          <m:t>s</m:t>
                        </m:r>
                        <m:r>
                          <m:rPr>
                            <m:sty m:val="p"/>
                          </m:rPr>
                          <a:rPr lang="en-US" altLang="zh-CN" sz="2000" i="1" kern="0">
                            <a:solidFill>
                              <a:srgbClr val="000000"/>
                            </a:solidFill>
                            <a:latin typeface="Cambria Math" panose="02040503050406030204" pitchFamily="18" charset="0"/>
                            <a:ea typeface="+mj-ea"/>
                            <a:cs typeface="宋体" pitchFamily="2" charset="-122"/>
                          </a:rPr>
                          <m:t>k</m:t>
                        </m:r>
                      </m:sup>
                    </m:sSup>
                  </m:oMath>
                </a14:m>
                <a:r>
                  <a:rPr lang="en-US" altLang="zh-CN" sz="2000" kern="0" dirty="0">
                    <a:solidFill>
                      <a:srgbClr val="000000"/>
                    </a:solidFill>
                    <a:effectLst/>
                    <a:latin typeface="+mj-ea"/>
                    <a:ea typeface="+mj-ea"/>
                    <a:cs typeface="宋体" pitchFamily="2" charset="-122"/>
                  </a:rPr>
                  <a:t> </a:t>
                </a:r>
                <a14:m>
                  <m:oMath xmlns:m="http://schemas.openxmlformats.org/officeDocument/2006/math">
                    <m:r>
                      <m:rPr>
                        <m:sty m:val="p"/>
                      </m:rPr>
                      <a:rPr lang="en-US" altLang="zh-CN" sz="2000" kern="0">
                        <a:solidFill>
                          <a:srgbClr val="000000"/>
                        </a:solidFill>
                        <a:effectLst/>
                        <a:latin typeface="Cambria Math" panose="02040503050406030204" pitchFamily="18" charset="0"/>
                        <a:ea typeface="+mj-ea"/>
                        <a:cs typeface="宋体" pitchFamily="2" charset="-122"/>
                      </a:rPr>
                      <m:t>mod</m:t>
                    </m:r>
                    <m:r>
                      <a:rPr lang="en-US" altLang="zh-CN" sz="2000" i="1" kern="0">
                        <a:solidFill>
                          <a:srgbClr val="000000"/>
                        </a:solidFill>
                        <a:effectLst/>
                        <a:latin typeface="Cambria Math" panose="02040503050406030204" pitchFamily="18" charset="0"/>
                        <a:ea typeface="+mj-ea"/>
                        <a:cs typeface="宋体" pitchFamily="2" charset="-122"/>
                      </a:rPr>
                      <m:t> </m:t>
                    </m:r>
                    <m:r>
                      <a:rPr lang="en-US" altLang="zh-CN" sz="2000" i="1" kern="0">
                        <a:solidFill>
                          <a:srgbClr val="000000"/>
                        </a:solidFill>
                        <a:effectLst/>
                        <a:latin typeface="Cambria Math" panose="02040503050406030204" pitchFamily="18" charset="0"/>
                        <a:ea typeface="+mj-ea"/>
                        <a:cs typeface="宋体" pitchFamily="2" charset="-122"/>
                      </a:rPr>
                      <m:t>𝑝</m:t>
                    </m:r>
                  </m:oMath>
                </a14:m>
                <a:r>
                  <a:rPr lang="zh-CN" altLang="zh-CN" sz="2000" kern="0" dirty="0">
                    <a:solidFill>
                      <a:srgbClr val="000000"/>
                    </a:solidFill>
                    <a:effectLst/>
                    <a:latin typeface="+mj-ea"/>
                    <a:ea typeface="+mj-ea"/>
                    <a:cs typeface="宋体" pitchFamily="2" charset="-122"/>
                  </a:rPr>
                  <a:t>，输出公私钥对</a:t>
                </a:r>
                <a14:m>
                  <m:oMath xmlns:m="http://schemas.openxmlformats.org/officeDocument/2006/math">
                    <m:r>
                      <a:rPr lang="en-US" altLang="zh-CN" sz="2000" i="1" kern="0">
                        <a:solidFill>
                          <a:srgbClr val="000000"/>
                        </a:solidFill>
                        <a:effectLst/>
                        <a:latin typeface="Cambria Math" panose="02040503050406030204" pitchFamily="18" charset="0"/>
                        <a:ea typeface="+mj-ea"/>
                        <a:cs typeface="宋体" pitchFamily="2" charset="-122"/>
                      </a:rPr>
                      <m:t>(</m:t>
                    </m:r>
                    <m:r>
                      <m:rPr>
                        <m:sty m:val="p"/>
                      </m:rPr>
                      <a:rPr lang="en-US" altLang="zh-CN" sz="2000" b="0" i="0" kern="0" smtClean="0">
                        <a:solidFill>
                          <a:srgbClr val="000000"/>
                        </a:solidFill>
                        <a:effectLst/>
                        <a:latin typeface="Cambria Math" panose="02040503050406030204" pitchFamily="18" charset="0"/>
                        <a:ea typeface="+mj-ea"/>
                        <a:cs typeface="宋体" pitchFamily="2" charset="-122"/>
                      </a:rPr>
                      <m:t>pk</m:t>
                    </m:r>
                    <m:r>
                      <a:rPr lang="en-US" altLang="zh-CN" sz="2000" i="1" kern="0">
                        <a:solidFill>
                          <a:srgbClr val="000000"/>
                        </a:solidFill>
                        <a:effectLst/>
                        <a:latin typeface="Cambria Math" panose="02040503050406030204" pitchFamily="18" charset="0"/>
                        <a:ea typeface="+mj-ea"/>
                        <a:cs typeface="宋体" pitchFamily="2" charset="-122"/>
                      </a:rPr>
                      <m:t>,</m:t>
                    </m:r>
                    <m:r>
                      <a:rPr lang="en-US" altLang="zh-CN" sz="2000" b="0" i="1" kern="0" smtClean="0">
                        <a:solidFill>
                          <a:srgbClr val="000000"/>
                        </a:solidFill>
                        <a:effectLst/>
                        <a:latin typeface="Cambria Math" panose="02040503050406030204" pitchFamily="18" charset="0"/>
                        <a:ea typeface="+mj-ea"/>
                        <a:cs typeface="宋体" pitchFamily="2" charset="-122"/>
                      </a:rPr>
                      <m:t> </m:t>
                    </m:r>
                    <m:r>
                      <m:rPr>
                        <m:sty m:val="p"/>
                      </m:rPr>
                      <a:rPr lang="en-US" altLang="zh-CN" sz="2000" i="0" kern="0">
                        <a:solidFill>
                          <a:srgbClr val="000000"/>
                        </a:solidFill>
                        <a:effectLst/>
                        <a:latin typeface="Cambria Math" panose="02040503050406030204" pitchFamily="18" charset="0"/>
                        <a:ea typeface="+mj-ea"/>
                        <a:cs typeface="宋体" pitchFamily="2" charset="-122"/>
                      </a:rPr>
                      <m:t>sk</m:t>
                    </m:r>
                    <m:r>
                      <a:rPr lang="en-US" altLang="zh-CN" sz="2000" i="1" kern="0">
                        <a:solidFill>
                          <a:srgbClr val="000000"/>
                        </a:solidFill>
                        <a:effectLst/>
                        <a:latin typeface="Cambria Math" panose="02040503050406030204" pitchFamily="18" charset="0"/>
                        <a:ea typeface="+mj-ea"/>
                        <a:cs typeface="宋体" pitchFamily="2" charset="-122"/>
                      </a:rPr>
                      <m:t>)</m:t>
                    </m:r>
                  </m:oMath>
                </a14:m>
                <a:r>
                  <a:rPr lang="zh-CN" altLang="zh-CN" sz="2000" kern="0" dirty="0">
                    <a:solidFill>
                      <a:srgbClr val="000000"/>
                    </a:solidFill>
                    <a:effectLst/>
                    <a:latin typeface="+mj-ea"/>
                    <a:ea typeface="+mj-ea"/>
                    <a:cs typeface="宋体" pitchFamily="2" charset="-122"/>
                  </a:rPr>
                  <a:t>，其中</a:t>
                </a:r>
                <a14:m>
                  <m:oMath xmlns:m="http://schemas.openxmlformats.org/officeDocument/2006/math">
                    <m:r>
                      <m:rPr>
                        <m:sty m:val="p"/>
                      </m:rPr>
                      <a:rPr lang="en-US" altLang="zh-CN" sz="2000" kern="0">
                        <a:solidFill>
                          <a:srgbClr val="000000"/>
                        </a:solidFill>
                        <a:latin typeface="Cambria Math" panose="02040503050406030204" pitchFamily="18" charset="0"/>
                        <a:cs typeface="宋体" pitchFamily="2" charset="-122"/>
                      </a:rPr>
                      <m:t>pk</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𝑝</m:t>
                    </m:r>
                    <m:r>
                      <a:rPr lang="en-US" altLang="zh-CN" sz="2000" kern="0">
                        <a:solidFill>
                          <a:srgbClr val="000000"/>
                        </a:solidFill>
                        <a:effectLst/>
                        <a:latin typeface="Cambria Math" panose="02040503050406030204" pitchFamily="18" charset="0"/>
                        <a:ea typeface="+mj-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𝑌</m:t>
                    </m:r>
                    <m:r>
                      <a:rPr lang="en-US" altLang="zh-CN" sz="2000" kern="0">
                        <a:solidFill>
                          <a:srgbClr val="000000"/>
                        </a:solidFill>
                        <a:effectLst/>
                        <a:latin typeface="Cambria Math" panose="02040503050406030204" pitchFamily="18" charset="0"/>
                        <a:ea typeface="+mj-ea"/>
                        <a:cs typeface="宋体" pitchFamily="2" charset="-122"/>
                      </a:rPr>
                      <m:t>)</m:t>
                    </m:r>
                  </m:oMath>
                </a14:m>
                <a:r>
                  <a:rPr lang="zh-CN" altLang="zh-CN" sz="2000" kern="0" dirty="0">
                    <a:solidFill>
                      <a:srgbClr val="000000"/>
                    </a:solidFill>
                    <a:effectLst/>
                    <a:latin typeface="+mj-ea"/>
                    <a:ea typeface="+mj-ea"/>
                    <a:cs typeface="宋体" pitchFamily="2" charset="-122"/>
                  </a:rPr>
                  <a:t>。</a:t>
                </a:r>
                <a:endParaRPr lang="zh-CN" altLang="zh-CN" sz="2000" dirty="0">
                  <a:effectLst/>
                  <a:latin typeface="+mj-ea"/>
                  <a:ea typeface="+mj-ea"/>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877824" y="2675449"/>
                <a:ext cx="10200855" cy="870431"/>
              </a:xfrm>
              <a:prstGeom prst="rect">
                <a:avLst/>
              </a:prstGeom>
              <a:blipFill>
                <a:blip r:embed="rId2"/>
                <a:stretch>
                  <a:fillRect l="-995" r="-1119" b="-1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16586" y="1252970"/>
                <a:ext cx="11314870" cy="943592"/>
              </a:xfrm>
              <a:prstGeom prst="rect">
                <a:avLst/>
              </a:prstGeom>
              <a:noFill/>
            </p:spPr>
            <p:txBody>
              <a:bodyPr wrap="square">
                <a:spAutoFit/>
              </a:bodyPr>
              <a:lstStyle/>
              <a:p>
                <a:pPr indent="266700" algn="just">
                  <a:lnSpc>
                    <a:spcPct val="130000"/>
                  </a:lnSpc>
                </a:pPr>
                <a:r>
                  <a:rPr lang="zh-CN" altLang="zh-CN" sz="2000" dirty="0">
                    <a:solidFill>
                      <a:srgbClr val="000000"/>
                    </a:solidFill>
                    <a:effectLst/>
                    <a:latin typeface="+mn-lt"/>
                    <a:ea typeface="+mn-ea"/>
                    <a:cs typeface="宋体" pitchFamily="2" charset="-122"/>
                  </a:rPr>
                  <a:t>设</a:t>
                </a:r>
                <a:r>
                  <a:rPr lang="zh-CN" altLang="en-US"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𝑝</m:t>
                    </m:r>
                    <m:r>
                      <a:rPr lang="zh-CN" altLang="en-US" sz="2000" b="0" i="1" smtClean="0">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为一素数，</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en-US" sz="2000" dirty="0">
                    <a:solidFill>
                      <a:srgbClr val="000000"/>
                    </a:solidFill>
                    <a:effectLst/>
                    <a:latin typeface="+mn-lt"/>
                    <a:ea typeface="+mn-ea"/>
                    <a:cs typeface="宋体" pitchFamily="2" charset="-122"/>
                  </a:rPr>
                  <a:t> 为</a:t>
                </a:r>
                <a:r>
                  <a:rPr lang="en-US" altLang="zh-CN" sz="2000" dirty="0">
                    <a:solidFill>
                      <a:srgbClr val="000000"/>
                    </a:solidFill>
                    <a:latin typeface="+mn-lt"/>
                    <a:ea typeface="+mn-ea"/>
                    <a:cs typeface="宋体" pitchFamily="2" charset="-122"/>
                  </a:rPr>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ea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r>
                      <a:rPr lang="zh-CN" altLang="en-US" sz="2000" b="0" i="0" smtClean="0">
                        <a:latin typeface="Cambria Math" panose="02040503050406030204" pitchFamily="18" charset="0"/>
                      </a:rPr>
                      <m:t> </m:t>
                    </m:r>
                  </m:oMath>
                </a14:m>
                <a:r>
                  <a:rPr lang="zh-CN" altLang="zh-CN" sz="2000" dirty="0">
                    <a:solidFill>
                      <a:srgbClr val="000000"/>
                    </a:solidFill>
                    <a:effectLst/>
                    <a:latin typeface="+mn-lt"/>
                    <a:ea typeface="+mn-ea"/>
                    <a:cs typeface="宋体" pitchFamily="2" charset="-122"/>
                  </a:rPr>
                  <a:t>的生成元。令</a:t>
                </a:r>
                <a:r>
                  <a:rPr lang="zh-CN" altLang="en-US" sz="2000" dirty="0">
                    <a:solidFill>
                      <a:srgbClr val="000000"/>
                    </a:solidFill>
                    <a:effectLst/>
                    <a:latin typeface="+mn-lt"/>
                    <a:ea typeface="+mn-ea"/>
                    <a:cs typeface="宋体" pitchFamily="2" charset="-122"/>
                  </a:rPr>
                  <a:t>明文空间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ℳ</m:t>
                    </m:r>
                    <m:r>
                      <a:rPr lang="en-US" altLang="zh-CN" sz="2000" i="1">
                        <a:solidFill>
                          <a:srgbClr val="000000"/>
                        </a:solidFill>
                        <a:effectLst/>
                        <a:latin typeface="Cambria Math" panose="02040503050406030204" pitchFamily="18" charset="0"/>
                        <a:ea typeface="+mn-ea"/>
                        <a:cs typeface="宋体" pitchFamily="2" charset="-122"/>
                      </a:rPr>
                      <m:t>=</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oMath>
                </a14:m>
                <a:r>
                  <a:rPr lang="zh-CN" altLang="zh-CN" sz="2000" dirty="0">
                    <a:solidFill>
                      <a:srgbClr val="000000"/>
                    </a:solidFill>
                    <a:effectLst/>
                    <a:latin typeface="+mn-lt"/>
                    <a:ea typeface="+mn-ea"/>
                    <a:cs typeface="宋体" pitchFamily="2" charset="-122"/>
                  </a:rPr>
                  <a:t>，</a:t>
                </a:r>
                <a:r>
                  <a:rPr lang="zh-CN" altLang="en-US" sz="2000" dirty="0">
                    <a:solidFill>
                      <a:srgbClr val="000000"/>
                    </a:solidFill>
                    <a:latin typeface="+mn-lt"/>
                    <a:ea typeface="+mn-ea"/>
                    <a:cs typeface="宋体" pitchFamily="2" charset="-122"/>
                  </a:rPr>
                  <a:t>密文空间</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𝒞</m:t>
                    </m:r>
                    <m:r>
                      <a:rPr lang="en-US" altLang="zh-CN" sz="2000" i="1">
                        <a:solidFill>
                          <a:srgbClr val="000000"/>
                        </a:solidFill>
                        <a:effectLst/>
                        <a:latin typeface="Cambria Math" panose="02040503050406030204" pitchFamily="18" charset="0"/>
                        <a:ea typeface="+mn-ea"/>
                        <a:cs typeface="宋体" pitchFamily="2" charset="-122"/>
                      </a:rPr>
                      <m:t>=</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r>
                      <a:rPr lang="zh-CN" altLang="en-US" sz="2000" b="0" i="1" smtClean="0">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m:t>
                    </m:r>
                    <m:r>
                      <a:rPr lang="zh-CN" altLang="en-US" sz="2000" b="0" i="1" smtClean="0">
                        <a:solidFill>
                          <a:srgbClr val="000000"/>
                        </a:solidFill>
                        <a:effectLst/>
                        <a:latin typeface="Cambria Math" panose="02040503050406030204" pitchFamily="18" charset="0"/>
                        <a:ea typeface="+mn-ea"/>
                        <a:cs typeface="宋体" pitchFamily="2" charset="-122"/>
                      </a:rPr>
                      <m:t> </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oMath>
                </a14:m>
                <a:r>
                  <a:rPr lang="zh-CN" altLang="zh-CN" sz="2000" dirty="0">
                    <a:solidFill>
                      <a:srgbClr val="000000"/>
                    </a:solidFill>
                    <a:effectLst/>
                    <a:latin typeface="+mn-lt"/>
                    <a:ea typeface="+mn-ea"/>
                    <a:cs typeface="宋体" pitchFamily="2" charset="-122"/>
                  </a:rPr>
                  <a:t>，</a:t>
                </a:r>
                <a:r>
                  <a:rPr lang="zh-CN" altLang="en-US" sz="2000" dirty="0">
                    <a:solidFill>
                      <a:srgbClr val="000000"/>
                    </a:solidFill>
                    <a:effectLst/>
                    <a:latin typeface="+mn-lt"/>
                    <a:ea typeface="+mn-ea"/>
                    <a:cs typeface="宋体" pitchFamily="2" charset="-122"/>
                  </a:rPr>
                  <a:t>密钥空间</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𝒦</m:t>
                    </m:r>
                    <m:r>
                      <a:rPr lang="en-US" altLang="zh-CN" sz="2000">
                        <a:solidFill>
                          <a:srgbClr val="000000"/>
                        </a:solidFill>
                        <a:effectLst/>
                        <a:latin typeface="Cambria Math" panose="02040503050406030204" pitchFamily="18" charset="0"/>
                        <a:ea typeface="+mn-ea"/>
                        <a:cs typeface="宋体" pitchFamily="2" charset="-122"/>
                      </a:rPr>
                      <m:t>=</m:t>
                    </m:r>
                    <m:d>
                      <m:dPr>
                        <m:begChr m:val="{"/>
                        <m:endChr m:val="}"/>
                        <m:ctrlPr>
                          <a:rPr lang="zh-CN" altLang="zh-CN" sz="2000" i="1">
                            <a:solidFill>
                              <a:srgbClr val="000000"/>
                            </a:solidFill>
                            <a:effectLst/>
                            <a:latin typeface="Cambria Math" panose="02040503050406030204" pitchFamily="18" charset="0"/>
                            <a:ea typeface="+mn-ea"/>
                            <a:cs typeface="宋体" pitchFamily="2" charset="-122"/>
                          </a:rPr>
                        </m:ctrlPr>
                      </m:dPr>
                      <m:e>
                        <m:d>
                          <m:dPr>
                            <m:ctrlPr>
                              <a:rPr lang="zh-CN" altLang="zh-CN" sz="2000" i="1">
                                <a:solidFill>
                                  <a:srgbClr val="000000"/>
                                </a:solidFill>
                                <a:effectLst/>
                                <a:latin typeface="Cambria Math" panose="02040503050406030204" pitchFamily="18" charset="0"/>
                                <a:ea typeface="+mn-ea"/>
                                <a:cs typeface="宋体" pitchFamily="2" charset="-122"/>
                              </a:rPr>
                            </m:ctrlPr>
                          </m:dPr>
                          <m:e>
                            <m:r>
                              <a:rPr lang="en-US" altLang="zh-CN" sz="2000" i="1">
                                <a:solidFill>
                                  <a:srgbClr val="000000"/>
                                </a:solidFill>
                                <a:effectLst/>
                                <a:latin typeface="Cambria Math" panose="02040503050406030204" pitchFamily="18" charset="0"/>
                                <a:ea typeface="+mn-ea"/>
                                <a:cs typeface="宋体" pitchFamily="2" charset="-122"/>
                              </a:rPr>
                              <m:t>𝑝</m:t>
                            </m:r>
                            <m:r>
                              <a:rPr lang="en-US" altLang="zh-CN" sz="2000">
                                <a:solidFill>
                                  <a:srgbClr val="000000"/>
                                </a:solidFill>
                                <a:effectLst/>
                                <a:latin typeface="Cambria Math" panose="02040503050406030204" pitchFamily="18" charset="0"/>
                                <a:ea typeface="+mn-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a:solidFill>
                                  <a:srgbClr val="000000"/>
                                </a:solidFill>
                                <a:effectLst/>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sk</m:t>
                            </m:r>
                            <m:r>
                              <a:rPr lang="en-US" altLang="zh-CN" sz="2000">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𝑌</m:t>
                            </m:r>
                          </m:e>
                        </m:d>
                      </m:e>
                      <m:e>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𝑌</m:t>
                            </m:r>
                            <m:r>
                              <a:rPr lang="en-US" altLang="zh-CN" sz="2000">
                                <a:solidFill>
                                  <a:srgbClr val="000000"/>
                                </a:solidFill>
                                <a:effectLst/>
                                <a:latin typeface="Cambria Math" panose="02040503050406030204" pitchFamily="18" charset="0"/>
                                <a:ea typeface="+mn-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m:rPr>
                                <m:sty m:val="p"/>
                              </m:rPr>
                              <a:rPr lang="en-US" altLang="zh-CN" sz="2000" i="0">
                                <a:solidFill>
                                  <a:srgbClr val="000000"/>
                                </a:solidFill>
                                <a:effectLst/>
                                <a:latin typeface="Cambria Math" panose="02040503050406030204" pitchFamily="18" charset="0"/>
                                <a:ea typeface="+mn-ea"/>
                                <a:cs typeface="宋体" pitchFamily="2" charset="-122"/>
                              </a:rPr>
                              <m:t>s</m:t>
                            </m:r>
                            <m:r>
                              <m:rPr>
                                <m:sty m:val="p"/>
                              </m:rPr>
                              <a:rPr lang="en-US" altLang="zh-CN" sz="2000" i="1">
                                <a:solidFill>
                                  <a:srgbClr val="000000"/>
                                </a:solidFill>
                                <a:latin typeface="Cambria Math" panose="02040503050406030204" pitchFamily="18" charset="0"/>
                                <a:ea typeface="+mn-ea"/>
                                <a:cs typeface="宋体" pitchFamily="2" charset="-122"/>
                              </a:rPr>
                              <m:t>k</m:t>
                            </m:r>
                          </m:sup>
                        </m:sSup>
                        <m:r>
                          <a:rPr lang="en-US" altLang="zh-CN" sz="2000">
                            <a:solidFill>
                              <a:srgbClr val="000000"/>
                            </a:solidFill>
                            <a:effectLst/>
                            <a:latin typeface="Cambria Math" panose="02040503050406030204" pitchFamily="18" charset="0"/>
                            <a:ea typeface="+mn-ea"/>
                            <a:cs typeface="宋体" pitchFamily="2" charset="-122"/>
                          </a:rPr>
                          <m:t> </m:t>
                        </m:r>
                        <m:r>
                          <m:rPr>
                            <m:sty m:val="p"/>
                          </m:rPr>
                          <a:rPr lang="en-US" altLang="zh-CN" sz="2000">
                            <a:solidFill>
                              <a:srgbClr val="000000"/>
                            </a:solidFill>
                            <a:effectLst/>
                            <a:latin typeface="Cambria Math" panose="02040503050406030204" pitchFamily="18" charset="0"/>
                            <a:ea typeface="+mn-ea"/>
                            <a:cs typeface="宋体" pitchFamily="2" charset="-122"/>
                          </a:rPr>
                          <m:t>mod</m:t>
                        </m:r>
                        <m:r>
                          <a:rPr lang="en-US" altLang="zh-CN" sz="2000">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𝑝</m:t>
                        </m:r>
                      </m:e>
                    </m:d>
                  </m:oMath>
                </a14:m>
                <a:r>
                  <a:rPr lang="zh-CN" altLang="zh-CN" sz="2000" dirty="0">
                    <a:solidFill>
                      <a:srgbClr val="000000"/>
                    </a:solidFill>
                    <a:effectLst/>
                    <a:latin typeface="+mn-lt"/>
                    <a:ea typeface="+mn-ea"/>
                    <a:cs typeface="宋体" pitchFamily="2" charset="-122"/>
                  </a:rPr>
                  <a:t>。</a:t>
                </a:r>
                <a:r>
                  <a:rPr lang="en-US" altLang="zh-CN" sz="2000" dirty="0">
                    <a:solidFill>
                      <a:srgbClr val="000000"/>
                    </a:solidFill>
                    <a:effectLst/>
                    <a:latin typeface="+mn-lt"/>
                    <a:ea typeface="+mn-ea"/>
                    <a:cs typeface="宋体" pitchFamily="2" charset="-122"/>
                  </a:rPr>
                  <a:t>ElGamal</a:t>
                </a:r>
                <a:r>
                  <a:rPr lang="zh-CN" altLang="zh-CN" sz="2000" dirty="0">
                    <a:solidFill>
                      <a:srgbClr val="000000"/>
                    </a:solidFill>
                    <a:effectLst/>
                    <a:latin typeface="+mn-lt"/>
                    <a:ea typeface="+mn-ea"/>
                    <a:cs typeface="宋体" pitchFamily="2" charset="-122"/>
                  </a:rPr>
                  <a:t>公钥加密方案</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宋体" pitchFamily="2" charset="-122"/>
                      </a:rPr>
                      <m:t>PKE</m:t>
                    </m:r>
                    <m:r>
                      <m:rPr>
                        <m:nor/>
                      </m:rPr>
                      <a:rPr lang="en-US" altLang="zh-CN" sz="2000">
                        <a:solidFill>
                          <a:srgbClr val="000000"/>
                        </a:solidFill>
                        <a:effectLst/>
                        <a:latin typeface="+mn-lt"/>
                        <a:ea typeface="+mn-ea"/>
                        <a:cs typeface="宋体" pitchFamily="2" charset="-122"/>
                      </a:rPr>
                      <m:t>=(</m:t>
                    </m:r>
                    <m:r>
                      <m:rPr>
                        <m:nor/>
                      </m:rPr>
                      <a:rPr lang="en-US" altLang="zh-CN" sz="2000">
                        <a:solidFill>
                          <a:srgbClr val="000000"/>
                        </a:solidFill>
                        <a:effectLst/>
                        <a:latin typeface="+mn-lt"/>
                        <a:ea typeface="+mn-ea"/>
                        <a:cs typeface="宋体" pitchFamily="2" charset="-122"/>
                      </a:rPr>
                      <m:t>Gen</m:t>
                    </m:r>
                    <m:r>
                      <m:rPr>
                        <m:nor/>
                      </m:rPr>
                      <a:rPr lang="en-US" altLang="zh-CN" sz="2000">
                        <a:solidFill>
                          <a:srgbClr val="000000"/>
                        </a:solidFill>
                        <a:effectLst/>
                        <a:latin typeface="+mn-lt"/>
                        <a:ea typeface="+mn-ea"/>
                        <a:cs typeface="宋体" pitchFamily="2" charset="-122"/>
                      </a:rPr>
                      <m:t>, </m:t>
                    </m:r>
                    <m:r>
                      <m:rPr>
                        <m:nor/>
                      </m:rPr>
                      <a:rPr lang="en-US" altLang="zh-CN" sz="2000">
                        <a:solidFill>
                          <a:srgbClr val="000000"/>
                        </a:solidFill>
                        <a:effectLst/>
                        <a:latin typeface="+mn-lt"/>
                        <a:ea typeface="+mn-ea"/>
                        <a:cs typeface="宋体" pitchFamily="2" charset="-122"/>
                      </a:rPr>
                      <m:t>Enc</m:t>
                    </m:r>
                    <m:r>
                      <m:rPr>
                        <m:nor/>
                      </m:rPr>
                      <a:rPr lang="en-US" altLang="zh-CN" sz="2000">
                        <a:solidFill>
                          <a:srgbClr val="000000"/>
                        </a:solidFill>
                        <a:effectLst/>
                        <a:latin typeface="+mn-lt"/>
                        <a:ea typeface="+mn-ea"/>
                        <a:cs typeface="宋体" pitchFamily="2" charset="-122"/>
                      </a:rPr>
                      <m:t>,</m:t>
                    </m:r>
                    <m:r>
                      <m:rPr>
                        <m:nor/>
                      </m:rPr>
                      <a:rPr lang="en-US" altLang="zh-CN" sz="2000" i="1">
                        <a:solidFill>
                          <a:srgbClr val="000000"/>
                        </a:solidFill>
                        <a:effectLst/>
                        <a:latin typeface="+mn-lt"/>
                        <a:ea typeface="+mn-ea"/>
                        <a:cs typeface="宋体" pitchFamily="2" charset="-122"/>
                      </a:rPr>
                      <m:t> </m:t>
                    </m:r>
                    <m:r>
                      <m:rPr>
                        <m:nor/>
                      </m:rPr>
                      <a:rPr lang="en-US" altLang="zh-CN" sz="2000">
                        <a:solidFill>
                          <a:srgbClr val="000000"/>
                        </a:solidFill>
                        <a:effectLst/>
                        <a:latin typeface="+mn-lt"/>
                        <a:ea typeface="+mn-ea"/>
                        <a:cs typeface="宋体" pitchFamily="2" charset="-122"/>
                      </a:rPr>
                      <m:t>Dec</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各个算法描述如下。</a:t>
                </a:r>
                <a:endParaRPr lang="zh-CN" altLang="zh-CN" sz="2000" dirty="0">
                  <a:effectLst/>
                  <a:latin typeface="+mn-lt"/>
                  <a:ea typeface="+mn-ea"/>
                  <a:cs typeface="宋体"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16586" y="1252970"/>
                <a:ext cx="11314870" cy="943592"/>
              </a:xfrm>
              <a:prstGeom prst="rect">
                <a:avLst/>
              </a:prstGeom>
              <a:blipFill>
                <a:blip r:embed="rId3"/>
                <a:stretch>
                  <a:fillRect b="-9333"/>
                </a:stretch>
              </a:blipFill>
            </p:spPr>
            <p:txBody>
              <a:bodyPr/>
              <a:lstStyle/>
              <a:p>
                <a:r>
                  <a:rPr lang="zh-CN" altLang="en-US">
                    <a:noFill/>
                  </a:rPr>
                  <a:t> </a:t>
                </a:r>
              </a:p>
            </p:txBody>
          </p:sp>
        </mc:Fallback>
      </mc:AlternateContent>
      <p:sp>
        <p:nvSpPr>
          <p:cNvPr id="5" name="TextBox 10"/>
          <p:cNvSpPr txBox="1"/>
          <p:nvPr/>
        </p:nvSpPr>
        <p:spPr>
          <a:xfrm>
            <a:off x="877824" y="3760644"/>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Enc(</a:t>
            </a:r>
            <a:r>
              <a:rPr lang="en-GB" altLang="zh-CN" sz="2400" i="1" dirty="0">
                <a:latin typeface="+mn-lt"/>
              </a:rPr>
              <a:t>M</a:t>
            </a:r>
            <a:r>
              <a:rPr lang="en-GB" altLang="zh-CN" sz="2400" dirty="0">
                <a:latin typeface="+mn-lt"/>
              </a:rPr>
              <a:t>, pk)</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6" name="TextBox 11"/>
              <p:cNvSpPr txBox="1"/>
              <p:nvPr/>
            </p:nvSpPr>
            <p:spPr>
              <a:xfrm>
                <a:off x="877824" y="4163456"/>
                <a:ext cx="10200855" cy="915443"/>
              </a:xfrm>
              <a:prstGeom prst="rect">
                <a:avLst/>
              </a:prstGeom>
              <a:noFill/>
            </p:spPr>
            <p:txBody>
              <a:bodyPr wrap="square" lIns="64008" tIns="32004" rIns="36576">
                <a:spAutoFit/>
              </a:bodyPr>
              <a:lstStyle/>
              <a:p>
                <a:pPr lvl="0" algn="just" hangingPunct="0">
                  <a:lnSpc>
                    <a:spcPct val="130000"/>
                  </a:lnSpc>
                </a:pPr>
                <a:r>
                  <a:rPr lang="zh-CN" altLang="zh-CN" sz="2000" dirty="0">
                    <a:latin typeface="+mn-lt"/>
                  </a:rPr>
                  <a:t>当输入公钥</a:t>
                </a:r>
                <a:r>
                  <a:rPr lang="en-US" altLang="zh-CN" sz="2000" dirty="0">
                    <a:latin typeface="+mn-lt"/>
                  </a:rPr>
                  <a:t> </a:t>
                </a:r>
                <a14:m>
                  <m:oMath xmlns:m="http://schemas.openxmlformats.org/officeDocument/2006/math">
                    <m:r>
                      <m:rPr>
                        <m:sty m:val="p"/>
                      </m:rPr>
                      <a:rPr lang="en-US" altLang="zh-CN" sz="2000" kern="0">
                        <a:solidFill>
                          <a:srgbClr val="000000"/>
                        </a:solidFill>
                        <a:latin typeface="Cambria Math" panose="02040503050406030204" pitchFamily="18" charset="0"/>
                        <a:cs typeface="宋体" pitchFamily="2" charset="-122"/>
                      </a:rPr>
                      <m:t>pk</m:t>
                    </m:r>
                    <m:r>
                      <a:rPr lang="en-US" altLang="zh-CN" sz="2000"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𝑝</m:t>
                    </m:r>
                    <m:r>
                      <a:rPr lang="en-US" altLang="zh-CN" sz="2000" kern="0">
                        <a:solidFill>
                          <a:srgbClr val="000000"/>
                        </a:solidFill>
                        <a:latin typeface="Cambria Math" panose="02040503050406030204" pitchFamily="18" charset="0"/>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𝑌</m:t>
                    </m:r>
                    <m:r>
                      <a:rPr lang="en-US" altLang="zh-CN" sz="2000" kern="0">
                        <a:solidFill>
                          <a:srgbClr val="000000"/>
                        </a:solidFill>
                        <a:latin typeface="Cambria Math" panose="02040503050406030204" pitchFamily="18" charset="0"/>
                        <a:cs typeface="宋体" pitchFamily="2" charset="-122"/>
                      </a:rPr>
                      <m:t>)</m:t>
                    </m:r>
                  </m:oMath>
                </a14:m>
                <a:r>
                  <a:rPr lang="zh-CN" altLang="zh-CN" sz="2000" dirty="0">
                    <a:latin typeface="+mn-lt"/>
                  </a:rPr>
                  <a:t>、明文</a:t>
                </a:r>
                <a14:m>
                  <m:oMath xmlns:m="http://schemas.openxmlformats.org/officeDocument/2006/math">
                    <m:r>
                      <a:rPr lang="en-US" altLang="zh-CN" sz="2000" i="1">
                        <a:latin typeface="Cambria Math" panose="02040503050406030204" pitchFamily="18" charset="0"/>
                      </a:rPr>
                      <m:t>𝑀</m:t>
                    </m:r>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oMath>
                </a14:m>
                <a:r>
                  <a:rPr lang="zh-CN" altLang="zh-CN" sz="2000" dirty="0">
                    <a:latin typeface="+mn-lt"/>
                  </a:rPr>
                  <a:t>时，该算法选择随机数</a:t>
                </a:r>
                <a:r>
                  <a:rPr lang="en-US" altLang="zh-CN" sz="2000" dirty="0">
                    <a:latin typeface="+mn-lt"/>
                  </a:rPr>
                  <a:t> </a:t>
                </a:r>
                <a14:m>
                  <m:oMath xmlns:m="http://schemas.openxmlformats.org/officeDocument/2006/math">
                    <m:r>
                      <a:rPr lang="en-US" altLang="zh-CN" sz="2000" i="1">
                        <a:latin typeface="Cambria Math" panose="02040503050406030204" pitchFamily="18" charset="0"/>
                      </a:rPr>
                      <m:t>𝑟</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r>
                          <a:rPr lang="en-US" altLang="zh-CN" sz="2000" i="1">
                            <a:latin typeface="Cambria Math" panose="02040503050406030204" pitchFamily="18" charset="0"/>
                          </a:rPr>
                          <m:t>−</m:t>
                        </m:r>
                        <m:r>
                          <a:rPr lang="en-US" altLang="zh-CN" sz="2000" i="1">
                            <a:latin typeface="Cambria Math" panose="02040503050406030204" pitchFamily="18" charset="0"/>
                          </a:rPr>
                          <m:t>1</m:t>
                        </m:r>
                      </m:sub>
                    </m:sSub>
                  </m:oMath>
                </a14:m>
                <a:r>
                  <a:rPr lang="zh-CN" altLang="zh-CN" sz="2000" dirty="0">
                    <a:latin typeface="+mn-lt"/>
                  </a:rPr>
                  <a:t>，计算</a:t>
                </a:r>
                <a:r>
                  <a:rPr lang="en-US" altLang="zh-CN" sz="2000" dirty="0">
                    <a:latin typeface="+mn-lt"/>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rPr>
                          <m:t>𝑟</m:t>
                        </m:r>
                      </m:sup>
                    </m:sSup>
                    <m:r>
                      <a:rPr lang="en-US" altLang="zh-CN" sz="2000">
                        <a:latin typeface="Cambria Math" panose="02040503050406030204" pitchFamily="18" charset="0"/>
                      </a:rPr>
                      <m:t> </m:t>
                    </m:r>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latin typeface="+mn-lt"/>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solidFill>
                          <a:srgbClr val="000000"/>
                        </a:solidFill>
                        <a:latin typeface="Cambria Math" panose="02040503050406030204" pitchFamily="18" charset="0"/>
                        <a:cs typeface="宋体" pitchFamily="2" charset="-122"/>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𝑌</m:t>
                        </m:r>
                      </m:e>
                      <m:sup>
                        <m:r>
                          <a:rPr lang="en-US" altLang="zh-CN" sz="2000" i="1">
                            <a:latin typeface="Cambria Math" panose="02040503050406030204" pitchFamily="18" charset="0"/>
                          </a:rPr>
                          <m:t>𝑟</m:t>
                        </m:r>
                      </m:sup>
                    </m:sSup>
                  </m:oMath>
                </a14:m>
                <a:r>
                  <a:rPr lang="en-US" altLang="zh-CN" sz="2000" dirty="0">
                    <a:latin typeface="+mn-lt"/>
                  </a:rPr>
                  <a:t> </a:t>
                </a:r>
                <a14:m>
                  <m:oMath xmlns:m="http://schemas.openxmlformats.org/officeDocument/2006/math">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latin typeface="+mn-lt"/>
                  </a:rPr>
                  <a:t>，输出密文</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𝐶</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oMath>
                </a14:m>
                <a:r>
                  <a:rPr lang="zh-CN" altLang="zh-CN" sz="2000" dirty="0">
                    <a:latin typeface="+mn-lt"/>
                  </a:rPr>
                  <a:t>，其中</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oMath>
                </a14:m>
                <a:r>
                  <a:rPr lang="zh-CN" altLang="zh-CN" sz="2000" dirty="0">
                    <a:latin typeface="+mn-lt"/>
                  </a:rPr>
                  <a:t>。</a:t>
                </a:r>
                <a:r>
                  <a:rPr lang="zh-CN" altLang="zh-CN" sz="2000" dirty="0">
                    <a:effectLst/>
                    <a:latin typeface="+mn-lt"/>
                  </a:rPr>
                  <a:t> </a:t>
                </a:r>
                <a:endParaRPr lang="zh-CN" altLang="zh-CN" sz="2000" dirty="0">
                  <a:effectLst/>
                  <a:latin typeface="+mn-lt"/>
                  <a:ea typeface="微软雅黑" panose="020B0503020204020204" charset="-122"/>
                  <a:cs typeface="宋体" pitchFamily="2" charset="-122"/>
                </a:endParaRPr>
              </a:p>
            </p:txBody>
          </p:sp>
        </mc:Choice>
        <mc:Fallback xmlns="">
          <p:sp>
            <p:nvSpPr>
              <p:cNvPr id="6" name="TextBox 11"/>
              <p:cNvSpPr txBox="1">
                <a:spLocks noRot="1" noChangeAspect="1" noMove="1" noResize="1" noEditPoints="1" noAdjustHandles="1" noChangeArrowheads="1" noChangeShapeType="1" noTextEdit="1"/>
              </p:cNvSpPr>
              <p:nvPr/>
            </p:nvSpPr>
            <p:spPr>
              <a:xfrm>
                <a:off x="877824" y="4163456"/>
                <a:ext cx="10200855" cy="915443"/>
              </a:xfrm>
              <a:prstGeom prst="rect">
                <a:avLst/>
              </a:prstGeom>
              <a:blipFill>
                <a:blip r:embed="rId4"/>
                <a:stretch>
                  <a:fillRect l="-995" r="-124" b="-9589"/>
                </a:stretch>
              </a:blipFill>
            </p:spPr>
            <p:txBody>
              <a:bodyPr/>
              <a:lstStyle/>
              <a:p>
                <a:r>
                  <a:rPr lang="zh-CN" altLang="en-US">
                    <a:noFill/>
                  </a:rPr>
                  <a:t> </a:t>
                </a:r>
              </a:p>
            </p:txBody>
          </p:sp>
        </mc:Fallback>
      </mc:AlternateContent>
      <p:sp>
        <p:nvSpPr>
          <p:cNvPr id="7" name="Rounded Rectangle 9"/>
          <p:cNvSpPr/>
          <p:nvPr/>
        </p:nvSpPr>
        <p:spPr>
          <a:xfrm>
            <a:off x="717867" y="5170752"/>
            <a:ext cx="10721581" cy="1254432"/>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10"/>
          <p:cNvSpPr txBox="1"/>
          <p:nvPr/>
        </p:nvSpPr>
        <p:spPr>
          <a:xfrm>
            <a:off x="877824" y="5203648"/>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Dec(</a:t>
            </a:r>
            <a:r>
              <a:rPr lang="en-GB" altLang="zh-CN" sz="2400" i="1" dirty="0">
                <a:latin typeface="+mn-lt"/>
              </a:rPr>
              <a:t>C</a:t>
            </a:r>
            <a:r>
              <a:rPr lang="en-GB" altLang="zh-CN" sz="2400" dirty="0">
                <a:latin typeface="+mn-lt"/>
              </a:rPr>
              <a:t>, </a:t>
            </a:r>
            <a:r>
              <a:rPr lang="en-GB" altLang="zh-CN" sz="2400" dirty="0" err="1">
                <a:latin typeface="+mn-lt"/>
              </a:rPr>
              <a:t>sk</a:t>
            </a:r>
            <a:r>
              <a:rPr lang="en-GB" altLang="zh-CN" sz="2400" dirty="0">
                <a:latin typeface="+mn-lt"/>
              </a:rPr>
              <a:t>)</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10" name="TextBox 11"/>
              <p:cNvSpPr txBox="1"/>
              <p:nvPr/>
            </p:nvSpPr>
            <p:spPr>
              <a:xfrm>
                <a:off x="877823" y="5554733"/>
                <a:ext cx="10200855" cy="885242"/>
              </a:xfrm>
              <a:prstGeom prst="rect">
                <a:avLst/>
              </a:prstGeom>
              <a:noFill/>
            </p:spPr>
            <p:txBody>
              <a:bodyPr wrap="square" lIns="64008" tIns="32004" rIns="36576">
                <a:spAutoFit/>
              </a:bodyPr>
              <a:lstStyle/>
              <a:p>
                <a:pPr lvl="0" algn="just" hangingPunct="0">
                  <a:lnSpc>
                    <a:spcPct val="130000"/>
                  </a:lnSpc>
                </a:pPr>
                <a:r>
                  <a:rPr lang="zh-CN" altLang="zh-CN" sz="2000" dirty="0"/>
                  <a:t>当输入私钥</a:t>
                </a:r>
                <a:r>
                  <a:rPr lang="en-US" altLang="zh-CN" sz="2000" dirty="0"/>
                  <a:t> </a:t>
                </a:r>
                <a14:m>
                  <m:oMath xmlns:m="http://schemas.openxmlformats.org/officeDocument/2006/math">
                    <m:r>
                      <m:rPr>
                        <m:sty m:val="p"/>
                      </m:rPr>
                      <a:rPr lang="en-US" altLang="zh-CN" sz="2000" i="0">
                        <a:latin typeface="Cambria Math" panose="02040503050406030204" pitchFamily="18" charset="0"/>
                      </a:rPr>
                      <m:t>sk</m:t>
                    </m:r>
                  </m:oMath>
                </a14:m>
                <a:r>
                  <a:rPr lang="zh-CN" altLang="zh-CN" sz="2000" dirty="0"/>
                  <a:t>、密文</a:t>
                </a:r>
                <a:r>
                  <a:rPr lang="en-US" altLang="zh-CN" sz="2000" dirty="0"/>
                  <a:t> </a:t>
                </a:r>
                <a14:m>
                  <m:oMath xmlns:m="http://schemas.openxmlformats.org/officeDocument/2006/math">
                    <m:r>
                      <a:rPr lang="en-US" altLang="zh-CN" sz="2000" i="1">
                        <a:latin typeface="Cambria Math" panose="02040503050406030204" pitchFamily="18" charset="0"/>
                      </a:rPr>
                      <m:t>𝐶</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oMath>
                </a14:m>
                <a:r>
                  <a:rPr lang="en-US" altLang="zh-CN" sz="2000" dirty="0"/>
                  <a:t> </a:t>
                </a:r>
                <a:r>
                  <a:rPr lang="zh-CN" altLang="zh-CN" sz="2000" dirty="0"/>
                  <a:t>时，该算法计算</a:t>
                </a:r>
                <a:r>
                  <a:rPr lang="en-US" altLang="zh-CN" sz="2000" dirty="0"/>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𝑀</m:t>
                        </m:r>
                        <m:r>
                          <a:rPr lang="en-US" altLang="zh-CN" sz="2000" i="1">
                            <a:latin typeface="Cambria Math" panose="02040503050406030204" pitchFamily="18" charset="0"/>
                          </a:rPr>
                          <m:t>=</m:t>
                        </m:r>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e>
                          <m:sup>
                            <m:r>
                              <m:rPr>
                                <m:sty m:val="p"/>
                              </m:rPr>
                              <a:rPr lang="en-US" altLang="zh-CN" sz="2000" i="0">
                                <a:latin typeface="Cambria Math" panose="02040503050406030204" pitchFamily="18" charset="0"/>
                              </a:rPr>
                              <m:t>s</m:t>
                            </m:r>
                            <m:r>
                              <m:rPr>
                                <m:sty m:val="p"/>
                              </m:rPr>
                              <a:rPr lang="en-US" altLang="zh-CN" sz="2000" b="0" i="0" smtClean="0">
                                <a:latin typeface="Cambria Math" panose="02040503050406030204" pitchFamily="18" charset="0"/>
                              </a:rPr>
                              <m:t>k</m:t>
                            </m:r>
                          </m:sup>
                        </m:sSup>
                        <m:r>
                          <a:rPr lang="en-US" altLang="zh-CN" sz="2000" i="1">
                            <a:latin typeface="Cambria Math" panose="02040503050406030204" pitchFamily="18" charset="0"/>
                          </a:rPr>
                          <m:t>)</m:t>
                        </m:r>
                      </m:e>
                      <m:sup>
                        <m:r>
                          <a:rPr lang="en-US" altLang="zh-CN" sz="2000" i="1">
                            <a:latin typeface="Cambria Math" panose="02040503050406030204" pitchFamily="18" charset="0"/>
                          </a:rPr>
                          <m:t>−</m:t>
                        </m:r>
                        <m:r>
                          <a:rPr lang="en-US" altLang="zh-CN" sz="2000" i="1">
                            <a:latin typeface="Cambria Math" panose="02040503050406030204" pitchFamily="18" charset="0"/>
                          </a:rPr>
                          <m:t>1</m:t>
                        </m:r>
                      </m:sup>
                    </m:sSup>
                    <m:r>
                      <a:rPr lang="en-US" altLang="zh-CN" sz="2000" i="1">
                        <a:latin typeface="Cambria Math" panose="02040503050406030204" pitchFamily="18" charset="0"/>
                      </a:rPr>
                      <m:t> </m:t>
                    </m:r>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t>，输出解密结果</a:t>
                </a:r>
                <a14:m>
                  <m:oMath xmlns:m="http://schemas.openxmlformats.org/officeDocument/2006/math">
                    <m:r>
                      <a:rPr lang="en-US" altLang="zh-CN" sz="2000" i="1">
                        <a:latin typeface="Cambria Math" panose="02040503050406030204" pitchFamily="18" charset="0"/>
                      </a:rPr>
                      <m:t>𝑀</m:t>
                    </m:r>
                  </m:oMath>
                </a14:m>
                <a:r>
                  <a:rPr lang="zh-CN" altLang="zh-CN" sz="2000" dirty="0"/>
                  <a:t>。</a:t>
                </a:r>
                <a:endParaRPr lang="zh-CN" altLang="zh-CN" sz="2000" dirty="0">
                  <a:effectLst/>
                  <a:latin typeface="Times New Roman" panose="02020503050405090304" pitchFamily="18" charset="0"/>
                  <a:ea typeface="微软雅黑" panose="020B0503020204020204" charset="-122"/>
                  <a:cs typeface="宋体" pitchFamily="2" charset="-122"/>
                </a:endParaRPr>
              </a:p>
            </p:txBody>
          </p:sp>
        </mc:Choice>
        <mc:Fallback xmlns="">
          <p:sp>
            <p:nvSpPr>
              <p:cNvPr id="10" name="TextBox 11"/>
              <p:cNvSpPr txBox="1">
                <a:spLocks noRot="1" noChangeAspect="1" noMove="1" noResize="1" noEditPoints="1" noAdjustHandles="1" noChangeArrowheads="1" noChangeShapeType="1" noTextEdit="1"/>
              </p:cNvSpPr>
              <p:nvPr/>
            </p:nvSpPr>
            <p:spPr>
              <a:xfrm>
                <a:off x="877823" y="5554733"/>
                <a:ext cx="10200855" cy="885242"/>
              </a:xfrm>
              <a:prstGeom prst="rect">
                <a:avLst/>
              </a:prstGeom>
              <a:blipFill>
                <a:blip r:embed="rId5"/>
                <a:stretch>
                  <a:fillRect l="-995" r="-1119" b="-12857"/>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88602"/>
            <a:ext cx="6724357" cy="461665"/>
          </a:xfrm>
          <a:prstGeom prst="rect">
            <a:avLst/>
          </a:prstGeom>
          <a:noFill/>
        </p:spPr>
        <p:txBody>
          <a:bodyPr wrap="square">
            <a:spAutoFit/>
          </a:bodyPr>
          <a:lstStyle/>
          <a:p>
            <a:pPr>
              <a:spcAft>
                <a:spcPts val="500"/>
              </a:spcAft>
              <a:defRPr sz="2200" b="1">
                <a:solidFill>
                  <a:srgbClr val="333333"/>
                </a:solidFill>
                <a:latin typeface="微软雅黑"/>
              </a:defRPr>
            </a:pPr>
            <a:r>
              <a:rPr lang="en-GB" altLang="zh-CN" sz="2400" dirty="0">
                <a:solidFill>
                  <a:srgbClr val="C00000"/>
                </a:solidFill>
                <a:latin typeface="+mn-lt"/>
              </a:rPr>
              <a:t>ElGamal </a:t>
            </a:r>
            <a:r>
              <a:rPr lang="zh-CN" altLang="en-US" sz="2400" dirty="0">
                <a:solidFill>
                  <a:srgbClr val="C00000"/>
                </a:solidFill>
                <a:latin typeface="+mn-lt"/>
              </a:rPr>
              <a:t>课堂习题｜随机化加密与解密</a:t>
            </a:r>
          </a:p>
        </p:txBody>
      </p:sp>
      <p:sp>
        <p:nvSpPr>
          <p:cNvPr id="2" name="Rounded Rectangle 9">
            <a:extLst>
              <a:ext uri="{FF2B5EF4-FFF2-40B4-BE49-F238E27FC236}">
                <a16:creationId xmlns:a16="http://schemas.microsoft.com/office/drawing/2014/main" id="{F24FEDF6-88F7-D195-8502-7B4F30C64434}"/>
              </a:ext>
            </a:extLst>
          </p:cNvPr>
          <p:cNvSpPr/>
          <p:nvPr/>
        </p:nvSpPr>
        <p:spPr>
          <a:xfrm>
            <a:off x="713232" y="1417321"/>
            <a:ext cx="6836746" cy="2514656"/>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FFF5D576-39C2-E8C5-7511-A83570C4BB17}"/>
              </a:ext>
            </a:extLst>
          </p:cNvPr>
          <p:cNvSpPr txBox="1"/>
          <p:nvPr/>
        </p:nvSpPr>
        <p:spPr>
          <a:xfrm>
            <a:off x="877824" y="1554480"/>
            <a:ext cx="6199631"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习题</a:t>
            </a:r>
            <a:endParaRPr sz="2400" dirty="0"/>
          </a:p>
        </p:txBody>
      </p:sp>
      <p:sp>
        <p:nvSpPr>
          <p:cNvPr id="4" name="TextBox 11">
            <a:extLst>
              <a:ext uri="{FF2B5EF4-FFF2-40B4-BE49-F238E27FC236}">
                <a16:creationId xmlns:a16="http://schemas.microsoft.com/office/drawing/2014/main" id="{F0D74786-4359-5F92-2963-BE7E56760F60}"/>
              </a:ext>
            </a:extLst>
          </p:cNvPr>
          <p:cNvSpPr txBox="1"/>
          <p:nvPr/>
        </p:nvSpPr>
        <p:spPr>
          <a:xfrm>
            <a:off x="795526" y="1874204"/>
            <a:ext cx="6998501" cy="2062872"/>
          </a:xfrm>
          <a:prstGeom prst="rect">
            <a:avLst/>
          </a:prstGeom>
          <a:noFill/>
        </p:spPr>
        <p:txBody>
          <a:bodyPr wrap="square" lIns="64008" tIns="32004" rIns="36576">
            <a:spAutoFit/>
          </a:bodyPr>
          <a:lstStyle/>
          <a:p>
            <a:pPr>
              <a:lnSpc>
                <a:spcPct val="150000"/>
              </a:lnSpc>
              <a:spcAft>
                <a:spcPts val="500"/>
              </a:spcAft>
              <a:defRPr sz="1800" b="0">
                <a:solidFill>
                  <a:srgbClr val="333333"/>
                </a:solidFill>
                <a:latin typeface="微软雅黑"/>
              </a:defRPr>
            </a:pPr>
            <a:r>
              <a:rPr sz="2000" dirty="0" err="1">
                <a:solidFill>
                  <a:srgbClr val="333333"/>
                </a:solidFill>
                <a:latin typeface="+mn-lt"/>
              </a:rPr>
              <a:t>已知</a:t>
            </a:r>
            <a:r>
              <a:rPr lang="zh-CN" altLang="en-US" sz="2000" dirty="0">
                <a:solidFill>
                  <a:srgbClr val="333333"/>
                </a:solidFill>
                <a:latin typeface="+mn-lt"/>
              </a:rPr>
              <a:t> </a:t>
            </a:r>
            <a:r>
              <a:rPr sz="2000" dirty="0">
                <a:solidFill>
                  <a:srgbClr val="333333"/>
                </a:solidFill>
                <a:latin typeface="+mn-lt"/>
              </a:rPr>
              <a:t> </a:t>
            </a:r>
            <a:r>
              <a:rPr sz="2000" i="1" dirty="0">
                <a:solidFill>
                  <a:srgbClr val="333333"/>
                </a:solidFill>
                <a:latin typeface="+mn-lt"/>
              </a:rPr>
              <a:t>p</a:t>
            </a:r>
            <a:r>
              <a:rPr sz="2000" dirty="0">
                <a:solidFill>
                  <a:srgbClr val="333333"/>
                </a:solidFill>
                <a:latin typeface="+mn-lt"/>
              </a:rPr>
              <a:t> = 23，</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sz="2000" dirty="0">
                <a:solidFill>
                  <a:srgbClr val="333333"/>
                </a:solidFill>
                <a:latin typeface="+mn-lt"/>
              </a:rPr>
              <a:t>= 5，私钥 </a:t>
            </a:r>
            <a:r>
              <a:rPr sz="2000" i="1" dirty="0">
                <a:solidFill>
                  <a:srgbClr val="333333"/>
                </a:solidFill>
                <a:latin typeface="+mn-lt"/>
              </a:rPr>
              <a:t>x</a:t>
            </a:r>
            <a:r>
              <a:rPr sz="2000" dirty="0">
                <a:solidFill>
                  <a:srgbClr val="333333"/>
                </a:solidFill>
                <a:latin typeface="+mn-lt"/>
              </a:rPr>
              <a:t> = 6，明文 </a:t>
            </a:r>
            <a:r>
              <a:rPr sz="2000" i="1" dirty="0">
                <a:solidFill>
                  <a:srgbClr val="333333"/>
                </a:solidFill>
                <a:latin typeface="+mn-lt"/>
              </a:rPr>
              <a:t>M</a:t>
            </a:r>
            <a:r>
              <a:rPr sz="2000" dirty="0">
                <a:solidFill>
                  <a:srgbClr val="333333"/>
                </a:solidFill>
                <a:latin typeface="+mn-lt"/>
              </a:rPr>
              <a:t> = 10，随机数 </a:t>
            </a:r>
            <a:r>
              <a:rPr sz="2000" i="1" dirty="0">
                <a:solidFill>
                  <a:srgbClr val="333333"/>
                </a:solidFill>
                <a:latin typeface="+mn-lt"/>
              </a:rPr>
              <a:t>r</a:t>
            </a:r>
            <a:r>
              <a:rPr sz="2000" dirty="0">
                <a:solidFill>
                  <a:srgbClr val="333333"/>
                </a:solidFill>
                <a:latin typeface="+mn-lt"/>
              </a:rPr>
              <a:t> = 3。</a:t>
            </a:r>
          </a:p>
          <a:p>
            <a:pPr>
              <a:lnSpc>
                <a:spcPct val="150000"/>
              </a:lnSpc>
              <a:spcAft>
                <a:spcPts val="500"/>
              </a:spcAft>
              <a:defRPr sz="1800" b="0">
                <a:solidFill>
                  <a:srgbClr val="333333"/>
                </a:solidFill>
                <a:latin typeface="微软雅黑"/>
              </a:defRPr>
            </a:pPr>
            <a:r>
              <a:rPr sz="2000" dirty="0">
                <a:solidFill>
                  <a:srgbClr val="333333"/>
                </a:solidFill>
                <a:latin typeface="+mn-lt"/>
              </a:rPr>
              <a:t>（1）计算公钥 </a:t>
            </a:r>
            <a:r>
              <a:rPr sz="2000" i="1" dirty="0">
                <a:solidFill>
                  <a:srgbClr val="333333"/>
                </a:solidFill>
                <a:latin typeface="+mn-lt"/>
              </a:rPr>
              <a:t>Y</a:t>
            </a:r>
            <a:r>
              <a:rPr sz="2000" dirty="0">
                <a:solidFill>
                  <a:srgbClr val="333333"/>
                </a:solidFill>
                <a:latin typeface="+mn-lt"/>
              </a:rPr>
              <a:t>。</a:t>
            </a:r>
          </a:p>
          <a:p>
            <a:pPr>
              <a:lnSpc>
                <a:spcPct val="150000"/>
              </a:lnSpc>
              <a:spcAft>
                <a:spcPts val="500"/>
              </a:spcAft>
              <a:defRPr sz="1800" b="0">
                <a:solidFill>
                  <a:srgbClr val="333333"/>
                </a:solidFill>
                <a:latin typeface="微软雅黑"/>
              </a:defRPr>
            </a:pPr>
            <a:r>
              <a:rPr sz="2000" dirty="0">
                <a:solidFill>
                  <a:srgbClr val="333333"/>
                </a:solidFill>
                <a:latin typeface="+mn-lt"/>
              </a:rPr>
              <a:t>（2）计算 </a:t>
            </a:r>
            <a:r>
              <a:rPr sz="2000" i="1" dirty="0">
                <a:solidFill>
                  <a:srgbClr val="333333"/>
                </a:solidFill>
                <a:latin typeface="+mn-lt"/>
              </a:rPr>
              <a:t>C</a:t>
            </a:r>
            <a:r>
              <a:rPr sz="2000" dirty="0">
                <a:solidFill>
                  <a:srgbClr val="333333"/>
                </a:solidFill>
                <a:latin typeface="+mn-lt"/>
              </a:rPr>
              <a:t>₁ </a:t>
            </a:r>
            <a:r>
              <a:rPr sz="2000" dirty="0" err="1">
                <a:solidFill>
                  <a:srgbClr val="333333"/>
                </a:solidFill>
                <a:latin typeface="+mn-lt"/>
              </a:rPr>
              <a:t>和</a:t>
            </a:r>
            <a:r>
              <a:rPr sz="2000" dirty="0">
                <a:solidFill>
                  <a:srgbClr val="333333"/>
                </a:solidFill>
                <a:latin typeface="+mn-lt"/>
              </a:rPr>
              <a:t> </a:t>
            </a:r>
            <a:r>
              <a:rPr sz="2000" i="1" dirty="0">
                <a:solidFill>
                  <a:srgbClr val="333333"/>
                </a:solidFill>
                <a:latin typeface="+mn-lt"/>
              </a:rPr>
              <a:t>C</a:t>
            </a:r>
            <a:r>
              <a:rPr sz="2000" dirty="0">
                <a:solidFill>
                  <a:srgbClr val="333333"/>
                </a:solidFill>
                <a:latin typeface="+mn-lt"/>
              </a:rPr>
              <a:t>₂。</a:t>
            </a:r>
          </a:p>
          <a:p>
            <a:pPr>
              <a:lnSpc>
                <a:spcPct val="150000"/>
              </a:lnSpc>
              <a:spcAft>
                <a:spcPts val="500"/>
              </a:spcAft>
              <a:defRPr sz="1800" b="0">
                <a:solidFill>
                  <a:srgbClr val="333333"/>
                </a:solidFill>
                <a:latin typeface="微软雅黑"/>
              </a:defRPr>
            </a:pPr>
            <a:r>
              <a:rPr sz="2000" dirty="0">
                <a:solidFill>
                  <a:srgbClr val="333333"/>
                </a:solidFill>
                <a:latin typeface="+mn-lt"/>
              </a:rPr>
              <a:t>（3）利用 </a:t>
            </a:r>
            <a:r>
              <a:rPr sz="2000" i="1" dirty="0">
                <a:solidFill>
                  <a:srgbClr val="333333"/>
                </a:solidFill>
                <a:latin typeface="+mn-lt"/>
              </a:rPr>
              <a:t>x </a:t>
            </a:r>
            <a:r>
              <a:rPr sz="2000" dirty="0" err="1">
                <a:solidFill>
                  <a:srgbClr val="333333"/>
                </a:solidFill>
                <a:latin typeface="+mn-lt"/>
              </a:rPr>
              <a:t>解密并验证</a:t>
            </a:r>
            <a:r>
              <a:rPr sz="2000" dirty="0">
                <a:solidFill>
                  <a:srgbClr val="333333"/>
                </a:solidFill>
                <a:latin typeface="+mn-lt"/>
              </a:rPr>
              <a:t> </a:t>
            </a:r>
            <a:r>
              <a:rPr sz="2000" i="1" dirty="0">
                <a:solidFill>
                  <a:srgbClr val="333333"/>
                </a:solidFill>
                <a:latin typeface="+mn-lt"/>
              </a:rPr>
              <a:t>M</a:t>
            </a:r>
            <a:r>
              <a:rPr sz="2000" dirty="0">
                <a:latin typeface="+mn-lt"/>
              </a:rPr>
              <a:t>。</a:t>
            </a:r>
          </a:p>
        </p:txBody>
      </p:sp>
      <p:sp>
        <p:nvSpPr>
          <p:cNvPr id="5" name="TextBox 13">
            <a:extLst>
              <a:ext uri="{FF2B5EF4-FFF2-40B4-BE49-F238E27FC236}">
                <a16:creationId xmlns:a16="http://schemas.microsoft.com/office/drawing/2014/main" id="{B265D708-887C-29DF-F50D-2104BA7EFCD9}"/>
              </a:ext>
            </a:extLst>
          </p:cNvPr>
          <p:cNvSpPr txBox="1"/>
          <p:nvPr/>
        </p:nvSpPr>
        <p:spPr>
          <a:xfrm>
            <a:off x="7681454" y="1554480"/>
            <a:ext cx="3648456" cy="365760"/>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dirty="0" err="1"/>
              <a:t>拓展思考</a:t>
            </a:r>
            <a:endParaRPr dirty="0"/>
          </a:p>
        </p:txBody>
      </p:sp>
      <p:sp>
        <p:nvSpPr>
          <p:cNvPr id="6" name="TextBox 14">
            <a:extLst>
              <a:ext uri="{FF2B5EF4-FFF2-40B4-BE49-F238E27FC236}">
                <a16:creationId xmlns:a16="http://schemas.microsoft.com/office/drawing/2014/main" id="{2EE330D3-1900-90F7-3F8D-A03D14D7CD00}"/>
              </a:ext>
            </a:extLst>
          </p:cNvPr>
          <p:cNvSpPr txBox="1"/>
          <p:nvPr/>
        </p:nvSpPr>
        <p:spPr>
          <a:xfrm>
            <a:off x="7681453" y="2048256"/>
            <a:ext cx="4303778" cy="1130053"/>
          </a:xfrm>
          <a:prstGeom prst="rect">
            <a:avLst/>
          </a:prstGeom>
          <a:noFill/>
        </p:spPr>
        <p:txBody>
          <a:bodyPr wrap="square" lIns="64008" tIns="32004" rIns="36576">
            <a:spAutoFit/>
          </a:bodyPr>
          <a:lstStyle/>
          <a:p>
            <a:pPr>
              <a:spcAft>
                <a:spcPts val="500"/>
              </a:spcAft>
              <a:defRPr sz="1800" b="0">
                <a:solidFill>
                  <a:srgbClr val="333333"/>
                </a:solidFill>
                <a:latin typeface="微软雅黑"/>
              </a:defRPr>
            </a:pPr>
            <a:r>
              <a:rPr sz="2000" dirty="0" err="1">
                <a:latin typeface="+mn-lt"/>
              </a:rPr>
              <a:t>将随机数改为</a:t>
            </a:r>
            <a:r>
              <a:rPr sz="2000" i="1" dirty="0">
                <a:latin typeface="+mn-lt"/>
              </a:rPr>
              <a:t> r </a:t>
            </a:r>
            <a:r>
              <a:rPr sz="2000" dirty="0">
                <a:latin typeface="+mn-lt"/>
              </a:rPr>
              <a:t>= 4：</a:t>
            </a:r>
          </a:p>
          <a:p>
            <a:pPr>
              <a:spcAft>
                <a:spcPts val="500"/>
              </a:spcAft>
              <a:defRPr sz="1800" b="0">
                <a:solidFill>
                  <a:srgbClr val="333333"/>
                </a:solidFill>
                <a:latin typeface="微软雅黑"/>
              </a:defRPr>
            </a:pPr>
            <a:r>
              <a:rPr lang="en-US" altLang="zh-CN" sz="2000" dirty="0">
                <a:latin typeface="+mn-lt"/>
              </a:rPr>
              <a:t>1</a:t>
            </a:r>
            <a:r>
              <a:rPr lang="zh-CN" altLang="en-US" sz="2000" dirty="0">
                <a:latin typeface="+mn-lt"/>
              </a:rPr>
              <a:t>、此时</a:t>
            </a:r>
            <a:r>
              <a:rPr sz="2000" dirty="0" err="1">
                <a:latin typeface="+mn-lt"/>
              </a:rPr>
              <a:t>相同明文的密文是否变化</a:t>
            </a:r>
            <a:r>
              <a:rPr sz="2000" dirty="0">
                <a:latin typeface="+mn-lt"/>
              </a:rPr>
              <a:t>？</a:t>
            </a:r>
          </a:p>
          <a:p>
            <a:pPr>
              <a:spcAft>
                <a:spcPts val="500"/>
              </a:spcAft>
              <a:defRPr sz="1800" b="0">
                <a:solidFill>
                  <a:srgbClr val="333333"/>
                </a:solidFill>
                <a:latin typeface="微软雅黑"/>
              </a:defRPr>
            </a:pPr>
            <a:r>
              <a:rPr lang="en-US" altLang="zh-CN" sz="2000" dirty="0">
                <a:latin typeface="+mn-lt"/>
              </a:rPr>
              <a:t>2</a:t>
            </a:r>
            <a:r>
              <a:rPr lang="zh-CN" altLang="en-US" sz="2000" dirty="0">
                <a:latin typeface="+mn-lt"/>
              </a:rPr>
              <a:t>、</a:t>
            </a:r>
            <a:r>
              <a:rPr sz="2000" dirty="0" err="1">
                <a:latin typeface="+mn-lt"/>
              </a:rPr>
              <a:t>为什么随机数不能被重复或预测</a:t>
            </a:r>
            <a:r>
              <a:rPr sz="2000" dirty="0">
                <a:latin typeface="+mn-lt"/>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76245"/>
            <a:ext cx="6724357" cy="461665"/>
          </a:xfrm>
          <a:prstGeom prst="rect">
            <a:avLst/>
          </a:prstGeom>
          <a:noFill/>
        </p:spPr>
        <p:txBody>
          <a:bodyPr wrap="square">
            <a:spAutoFit/>
          </a:bodyPr>
          <a:lstStyle/>
          <a:p>
            <a:pPr>
              <a:spcAft>
                <a:spcPts val="500"/>
              </a:spcAft>
              <a:defRPr sz="2200" b="1">
                <a:solidFill>
                  <a:srgbClr val="333333"/>
                </a:solidFill>
                <a:latin typeface="微软雅黑"/>
              </a:defRPr>
            </a:pPr>
            <a:r>
              <a:rPr lang="en-GB" altLang="zh-CN" sz="2400" dirty="0">
                <a:solidFill>
                  <a:srgbClr val="C00000"/>
                </a:solidFill>
                <a:latin typeface="+mn-lt"/>
              </a:rPr>
              <a:t>ElGamal </a:t>
            </a:r>
            <a:r>
              <a:rPr lang="zh-CN" altLang="en-US" sz="2400" dirty="0">
                <a:solidFill>
                  <a:srgbClr val="C00000"/>
                </a:solidFill>
                <a:latin typeface="+mn-lt"/>
              </a:rPr>
              <a:t>课堂习题｜随机化加密与解密</a:t>
            </a:r>
          </a:p>
        </p:txBody>
      </p:sp>
      <p:sp>
        <p:nvSpPr>
          <p:cNvPr id="24" name="Rounded Rectangle 9"/>
          <p:cNvSpPr/>
          <p:nvPr/>
        </p:nvSpPr>
        <p:spPr>
          <a:xfrm>
            <a:off x="713232" y="1417321"/>
            <a:ext cx="6836746" cy="2514656"/>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10"/>
          <p:cNvSpPr txBox="1"/>
          <p:nvPr/>
        </p:nvSpPr>
        <p:spPr>
          <a:xfrm>
            <a:off x="877824" y="1554480"/>
            <a:ext cx="6199631"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习题</a:t>
            </a:r>
            <a:endParaRPr sz="2400" dirty="0"/>
          </a:p>
        </p:txBody>
      </p:sp>
      <p:sp>
        <p:nvSpPr>
          <p:cNvPr id="26" name="TextBox 11"/>
          <p:cNvSpPr txBox="1"/>
          <p:nvPr/>
        </p:nvSpPr>
        <p:spPr>
          <a:xfrm>
            <a:off x="795526" y="1874204"/>
            <a:ext cx="6998501" cy="2062872"/>
          </a:xfrm>
          <a:prstGeom prst="rect">
            <a:avLst/>
          </a:prstGeom>
          <a:noFill/>
        </p:spPr>
        <p:txBody>
          <a:bodyPr wrap="square" lIns="64008" tIns="32004" rIns="36576">
            <a:spAutoFit/>
          </a:bodyPr>
          <a:lstStyle/>
          <a:p>
            <a:pPr>
              <a:lnSpc>
                <a:spcPct val="150000"/>
              </a:lnSpc>
              <a:spcAft>
                <a:spcPts val="500"/>
              </a:spcAft>
              <a:defRPr sz="1800" b="0">
                <a:solidFill>
                  <a:srgbClr val="333333"/>
                </a:solidFill>
                <a:latin typeface="微软雅黑"/>
              </a:defRPr>
            </a:pPr>
            <a:r>
              <a:rPr sz="2000" dirty="0" err="1">
                <a:solidFill>
                  <a:srgbClr val="333333"/>
                </a:solidFill>
                <a:latin typeface="+mn-lt"/>
              </a:rPr>
              <a:t>已知</a:t>
            </a:r>
            <a:r>
              <a:rPr lang="zh-CN" altLang="en-US" sz="2000" dirty="0">
                <a:solidFill>
                  <a:srgbClr val="333333"/>
                </a:solidFill>
                <a:latin typeface="+mn-lt"/>
              </a:rPr>
              <a:t> </a:t>
            </a:r>
            <a:r>
              <a:rPr sz="2000" dirty="0">
                <a:solidFill>
                  <a:srgbClr val="333333"/>
                </a:solidFill>
                <a:latin typeface="+mn-lt"/>
              </a:rPr>
              <a:t> </a:t>
            </a:r>
            <a:r>
              <a:rPr sz="2000" i="1" dirty="0">
                <a:solidFill>
                  <a:srgbClr val="333333"/>
                </a:solidFill>
                <a:latin typeface="+mn-lt"/>
              </a:rPr>
              <a:t>p</a:t>
            </a:r>
            <a:r>
              <a:rPr sz="2000" dirty="0">
                <a:solidFill>
                  <a:srgbClr val="333333"/>
                </a:solidFill>
                <a:latin typeface="+mn-lt"/>
              </a:rPr>
              <a:t> = 23，</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sz="2000" dirty="0">
                <a:solidFill>
                  <a:srgbClr val="333333"/>
                </a:solidFill>
                <a:latin typeface="+mn-lt"/>
              </a:rPr>
              <a:t>= 5，私钥 </a:t>
            </a:r>
            <a:r>
              <a:rPr sz="2000" i="1" dirty="0">
                <a:solidFill>
                  <a:srgbClr val="333333"/>
                </a:solidFill>
                <a:latin typeface="+mn-lt"/>
              </a:rPr>
              <a:t>x</a:t>
            </a:r>
            <a:r>
              <a:rPr sz="2000" dirty="0">
                <a:solidFill>
                  <a:srgbClr val="333333"/>
                </a:solidFill>
                <a:latin typeface="+mn-lt"/>
              </a:rPr>
              <a:t> = 6，明文 </a:t>
            </a:r>
            <a:r>
              <a:rPr sz="2000" i="1" dirty="0">
                <a:solidFill>
                  <a:srgbClr val="333333"/>
                </a:solidFill>
                <a:latin typeface="+mn-lt"/>
              </a:rPr>
              <a:t>M</a:t>
            </a:r>
            <a:r>
              <a:rPr sz="2000" dirty="0">
                <a:solidFill>
                  <a:srgbClr val="333333"/>
                </a:solidFill>
                <a:latin typeface="+mn-lt"/>
              </a:rPr>
              <a:t> = 10，随机数 </a:t>
            </a:r>
            <a:r>
              <a:rPr sz="2000" i="1" dirty="0">
                <a:solidFill>
                  <a:srgbClr val="333333"/>
                </a:solidFill>
                <a:latin typeface="+mn-lt"/>
              </a:rPr>
              <a:t>r</a:t>
            </a:r>
            <a:r>
              <a:rPr sz="2000" dirty="0">
                <a:solidFill>
                  <a:srgbClr val="333333"/>
                </a:solidFill>
                <a:latin typeface="+mn-lt"/>
              </a:rPr>
              <a:t> = 3。</a:t>
            </a:r>
          </a:p>
          <a:p>
            <a:pPr>
              <a:lnSpc>
                <a:spcPct val="150000"/>
              </a:lnSpc>
              <a:spcAft>
                <a:spcPts val="500"/>
              </a:spcAft>
              <a:defRPr sz="1800" b="0">
                <a:solidFill>
                  <a:srgbClr val="333333"/>
                </a:solidFill>
                <a:latin typeface="微软雅黑"/>
              </a:defRPr>
            </a:pPr>
            <a:r>
              <a:rPr sz="2000" dirty="0">
                <a:solidFill>
                  <a:srgbClr val="333333"/>
                </a:solidFill>
                <a:latin typeface="+mn-lt"/>
              </a:rPr>
              <a:t>（1）计算公钥 </a:t>
            </a:r>
            <a:r>
              <a:rPr sz="2000" i="1" dirty="0">
                <a:solidFill>
                  <a:srgbClr val="333333"/>
                </a:solidFill>
                <a:latin typeface="+mn-lt"/>
              </a:rPr>
              <a:t>Y</a:t>
            </a:r>
            <a:r>
              <a:rPr sz="2000" dirty="0">
                <a:solidFill>
                  <a:srgbClr val="333333"/>
                </a:solidFill>
                <a:latin typeface="+mn-lt"/>
              </a:rPr>
              <a:t>。</a:t>
            </a:r>
          </a:p>
          <a:p>
            <a:pPr>
              <a:lnSpc>
                <a:spcPct val="150000"/>
              </a:lnSpc>
              <a:spcAft>
                <a:spcPts val="500"/>
              </a:spcAft>
              <a:defRPr sz="1800" b="0">
                <a:solidFill>
                  <a:srgbClr val="333333"/>
                </a:solidFill>
                <a:latin typeface="微软雅黑"/>
              </a:defRPr>
            </a:pPr>
            <a:r>
              <a:rPr sz="2000" dirty="0">
                <a:solidFill>
                  <a:srgbClr val="333333"/>
                </a:solidFill>
                <a:latin typeface="+mn-lt"/>
              </a:rPr>
              <a:t>（2）计算 </a:t>
            </a:r>
            <a:r>
              <a:rPr sz="2000" i="1" dirty="0">
                <a:solidFill>
                  <a:srgbClr val="333333"/>
                </a:solidFill>
                <a:latin typeface="+mn-lt"/>
              </a:rPr>
              <a:t>C</a:t>
            </a:r>
            <a:r>
              <a:rPr sz="2000" dirty="0">
                <a:solidFill>
                  <a:srgbClr val="333333"/>
                </a:solidFill>
                <a:latin typeface="+mn-lt"/>
              </a:rPr>
              <a:t>₁ </a:t>
            </a:r>
            <a:r>
              <a:rPr sz="2000" dirty="0" err="1">
                <a:solidFill>
                  <a:srgbClr val="333333"/>
                </a:solidFill>
                <a:latin typeface="+mn-lt"/>
              </a:rPr>
              <a:t>和</a:t>
            </a:r>
            <a:r>
              <a:rPr sz="2000" dirty="0">
                <a:solidFill>
                  <a:srgbClr val="333333"/>
                </a:solidFill>
                <a:latin typeface="+mn-lt"/>
              </a:rPr>
              <a:t> </a:t>
            </a:r>
            <a:r>
              <a:rPr sz="2000" i="1" dirty="0">
                <a:solidFill>
                  <a:srgbClr val="333333"/>
                </a:solidFill>
                <a:latin typeface="+mn-lt"/>
              </a:rPr>
              <a:t>C</a:t>
            </a:r>
            <a:r>
              <a:rPr sz="2000" dirty="0">
                <a:solidFill>
                  <a:srgbClr val="333333"/>
                </a:solidFill>
                <a:latin typeface="+mn-lt"/>
              </a:rPr>
              <a:t>₂。</a:t>
            </a:r>
          </a:p>
          <a:p>
            <a:pPr>
              <a:lnSpc>
                <a:spcPct val="150000"/>
              </a:lnSpc>
              <a:spcAft>
                <a:spcPts val="500"/>
              </a:spcAft>
              <a:defRPr sz="1800" b="0">
                <a:solidFill>
                  <a:srgbClr val="333333"/>
                </a:solidFill>
                <a:latin typeface="微软雅黑"/>
              </a:defRPr>
            </a:pPr>
            <a:r>
              <a:rPr sz="2000" dirty="0">
                <a:solidFill>
                  <a:srgbClr val="333333"/>
                </a:solidFill>
                <a:latin typeface="+mn-lt"/>
              </a:rPr>
              <a:t>（3）利用 </a:t>
            </a:r>
            <a:r>
              <a:rPr sz="2000" i="1" dirty="0">
                <a:solidFill>
                  <a:srgbClr val="333333"/>
                </a:solidFill>
                <a:latin typeface="+mn-lt"/>
              </a:rPr>
              <a:t>x </a:t>
            </a:r>
            <a:r>
              <a:rPr sz="2000" dirty="0" err="1">
                <a:solidFill>
                  <a:srgbClr val="333333"/>
                </a:solidFill>
                <a:latin typeface="+mn-lt"/>
              </a:rPr>
              <a:t>解密并验证</a:t>
            </a:r>
            <a:r>
              <a:rPr sz="2000" dirty="0">
                <a:solidFill>
                  <a:srgbClr val="333333"/>
                </a:solidFill>
                <a:latin typeface="+mn-lt"/>
              </a:rPr>
              <a:t> </a:t>
            </a:r>
            <a:r>
              <a:rPr sz="2000" i="1" dirty="0">
                <a:solidFill>
                  <a:srgbClr val="333333"/>
                </a:solidFill>
                <a:latin typeface="+mn-lt"/>
              </a:rPr>
              <a:t>M</a:t>
            </a:r>
            <a:r>
              <a:rPr sz="2000" dirty="0">
                <a:latin typeface="+mn-lt"/>
              </a:rPr>
              <a:t>。</a:t>
            </a:r>
          </a:p>
        </p:txBody>
      </p:sp>
      <p:sp>
        <p:nvSpPr>
          <p:cNvPr id="28" name="TextBox 13"/>
          <p:cNvSpPr txBox="1"/>
          <p:nvPr/>
        </p:nvSpPr>
        <p:spPr>
          <a:xfrm>
            <a:off x="7681454" y="1554480"/>
            <a:ext cx="3648456" cy="365760"/>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dirty="0" err="1"/>
              <a:t>拓展思考</a:t>
            </a:r>
            <a:endParaRPr dirty="0"/>
          </a:p>
        </p:txBody>
      </p:sp>
      <p:sp>
        <p:nvSpPr>
          <p:cNvPr id="29" name="TextBox 14"/>
          <p:cNvSpPr txBox="1"/>
          <p:nvPr/>
        </p:nvSpPr>
        <p:spPr>
          <a:xfrm>
            <a:off x="7681453" y="2048256"/>
            <a:ext cx="4303778" cy="1130053"/>
          </a:xfrm>
          <a:prstGeom prst="rect">
            <a:avLst/>
          </a:prstGeom>
          <a:noFill/>
        </p:spPr>
        <p:txBody>
          <a:bodyPr wrap="square" lIns="64008" tIns="32004" rIns="36576">
            <a:spAutoFit/>
          </a:bodyPr>
          <a:lstStyle/>
          <a:p>
            <a:pPr>
              <a:spcAft>
                <a:spcPts val="500"/>
              </a:spcAft>
              <a:defRPr sz="1800" b="0">
                <a:solidFill>
                  <a:srgbClr val="333333"/>
                </a:solidFill>
                <a:latin typeface="微软雅黑"/>
              </a:defRPr>
            </a:pPr>
            <a:r>
              <a:rPr sz="2000" dirty="0" err="1">
                <a:latin typeface="+mn-lt"/>
              </a:rPr>
              <a:t>将随机数改为</a:t>
            </a:r>
            <a:r>
              <a:rPr sz="2000" i="1" dirty="0">
                <a:latin typeface="+mn-lt"/>
              </a:rPr>
              <a:t> r </a:t>
            </a:r>
            <a:r>
              <a:rPr sz="2000" dirty="0">
                <a:latin typeface="+mn-lt"/>
              </a:rPr>
              <a:t>= 4：</a:t>
            </a:r>
          </a:p>
          <a:p>
            <a:pPr>
              <a:spcAft>
                <a:spcPts val="500"/>
              </a:spcAft>
              <a:defRPr sz="1800" b="0">
                <a:solidFill>
                  <a:srgbClr val="333333"/>
                </a:solidFill>
                <a:latin typeface="微软雅黑"/>
              </a:defRPr>
            </a:pPr>
            <a:r>
              <a:rPr lang="en-US" altLang="zh-CN" sz="2000" dirty="0">
                <a:latin typeface="+mn-lt"/>
              </a:rPr>
              <a:t>1</a:t>
            </a:r>
            <a:r>
              <a:rPr lang="zh-CN" altLang="en-US" sz="2000" dirty="0">
                <a:latin typeface="+mn-lt"/>
              </a:rPr>
              <a:t>、此时</a:t>
            </a:r>
            <a:r>
              <a:rPr sz="2000" dirty="0" err="1">
                <a:latin typeface="+mn-lt"/>
              </a:rPr>
              <a:t>相同明文的密文是否变化</a:t>
            </a:r>
            <a:r>
              <a:rPr sz="2000" dirty="0">
                <a:latin typeface="+mn-lt"/>
              </a:rPr>
              <a:t>？</a:t>
            </a:r>
          </a:p>
          <a:p>
            <a:pPr>
              <a:spcAft>
                <a:spcPts val="500"/>
              </a:spcAft>
              <a:defRPr sz="1800" b="0">
                <a:solidFill>
                  <a:srgbClr val="333333"/>
                </a:solidFill>
                <a:latin typeface="微软雅黑"/>
              </a:defRPr>
            </a:pPr>
            <a:r>
              <a:rPr lang="en-US" altLang="zh-CN" sz="2000" dirty="0">
                <a:latin typeface="+mn-lt"/>
              </a:rPr>
              <a:t>2</a:t>
            </a:r>
            <a:r>
              <a:rPr lang="zh-CN" altLang="en-US" sz="2000" dirty="0">
                <a:latin typeface="+mn-lt"/>
              </a:rPr>
              <a:t>、</a:t>
            </a:r>
            <a:r>
              <a:rPr sz="2000" dirty="0" err="1">
                <a:latin typeface="+mn-lt"/>
              </a:rPr>
              <a:t>为什么随机数不能被重复或预测</a:t>
            </a:r>
            <a:r>
              <a:rPr sz="2000" dirty="0">
                <a:latin typeface="+mn-lt"/>
              </a:rPr>
              <a:t>？</a:t>
            </a:r>
          </a:p>
        </p:txBody>
      </p:sp>
      <p:sp>
        <p:nvSpPr>
          <p:cNvPr id="3" name="Rounded Rectangle 9"/>
          <p:cNvSpPr/>
          <p:nvPr/>
        </p:nvSpPr>
        <p:spPr>
          <a:xfrm>
            <a:off x="713232" y="4028942"/>
            <a:ext cx="3093837" cy="2310312"/>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p:cNvSpPr txBox="1"/>
          <p:nvPr/>
        </p:nvSpPr>
        <p:spPr>
          <a:xfrm>
            <a:off x="877824" y="4069136"/>
            <a:ext cx="492861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公钥与加密</a:t>
            </a:r>
            <a:endParaRPr sz="2400" dirty="0"/>
          </a:p>
        </p:txBody>
      </p:sp>
      <p:sp>
        <p:nvSpPr>
          <p:cNvPr id="5" name="TextBox 11"/>
          <p:cNvSpPr txBox="1"/>
          <p:nvPr/>
        </p:nvSpPr>
        <p:spPr>
          <a:xfrm>
            <a:off x="871932" y="4465400"/>
            <a:ext cx="4928616" cy="1873846"/>
          </a:xfrm>
          <a:prstGeom prst="rect">
            <a:avLst/>
          </a:prstGeom>
          <a:noFill/>
        </p:spPr>
        <p:txBody>
          <a:bodyPr wrap="square" lIns="64008" tIns="32004" rIns="36576">
            <a:spAutoFit/>
          </a:bodyPr>
          <a:lstStyle/>
          <a:p>
            <a:pPr>
              <a:spcAft>
                <a:spcPts val="500"/>
              </a:spcAft>
              <a:defRPr sz="2000" b="0">
                <a:solidFill>
                  <a:srgbClr val="333333"/>
                </a:solidFill>
                <a:latin typeface="微软雅黑"/>
              </a:defRPr>
            </a:pPr>
            <a:r>
              <a:rPr i="1" dirty="0">
                <a:latin typeface="+mn-lt"/>
              </a:rPr>
              <a:t>Y</a:t>
            </a:r>
            <a:r>
              <a:rPr dirty="0">
                <a:latin typeface="+mn-lt"/>
              </a:rPr>
              <a:t> = 5⁶ mod 23 = 8</a:t>
            </a:r>
          </a:p>
          <a:p>
            <a:pPr>
              <a:spcAft>
                <a:spcPts val="500"/>
              </a:spcAft>
              <a:defRPr sz="2000" b="0">
                <a:solidFill>
                  <a:srgbClr val="333333"/>
                </a:solidFill>
                <a:latin typeface="微软雅黑"/>
              </a:defRPr>
            </a:pPr>
            <a:r>
              <a:rPr i="1" dirty="0">
                <a:latin typeface="+mn-lt"/>
              </a:rPr>
              <a:t>C</a:t>
            </a:r>
            <a:r>
              <a:rPr dirty="0">
                <a:latin typeface="+mn-lt"/>
              </a:rPr>
              <a:t>₁ = 5³ mod 23 = 10</a:t>
            </a:r>
          </a:p>
          <a:p>
            <a:pPr>
              <a:spcAft>
                <a:spcPts val="500"/>
              </a:spcAft>
              <a:defRPr sz="2000" b="0">
                <a:solidFill>
                  <a:srgbClr val="333333"/>
                </a:solidFill>
                <a:latin typeface="微软雅黑"/>
              </a:defRPr>
            </a:pPr>
            <a:r>
              <a:rPr i="1" dirty="0">
                <a:latin typeface="+mn-lt"/>
              </a:rPr>
              <a:t>Y</a:t>
            </a:r>
            <a:r>
              <a:rPr dirty="0">
                <a:latin typeface="+mn-lt"/>
              </a:rPr>
              <a:t>³ mod 23 = 6</a:t>
            </a:r>
          </a:p>
          <a:p>
            <a:pPr>
              <a:spcAft>
                <a:spcPts val="500"/>
              </a:spcAft>
              <a:defRPr sz="2000" b="0">
                <a:solidFill>
                  <a:srgbClr val="333333"/>
                </a:solidFill>
                <a:latin typeface="微软雅黑"/>
              </a:defRPr>
            </a:pPr>
            <a:r>
              <a:rPr i="1" dirty="0">
                <a:latin typeface="+mn-lt"/>
              </a:rPr>
              <a:t>C</a:t>
            </a:r>
            <a:r>
              <a:rPr dirty="0">
                <a:latin typeface="+mn-lt"/>
              </a:rPr>
              <a:t>₂ = 10 × 6 mod 23 = 14</a:t>
            </a:r>
          </a:p>
          <a:p>
            <a:pPr>
              <a:spcAft>
                <a:spcPts val="500"/>
              </a:spcAft>
              <a:defRPr sz="2000" b="0">
                <a:solidFill>
                  <a:srgbClr val="333333"/>
                </a:solidFill>
                <a:latin typeface="微软雅黑"/>
              </a:defRPr>
            </a:pPr>
            <a:r>
              <a:rPr i="1" dirty="0">
                <a:latin typeface="+mn-lt"/>
              </a:rPr>
              <a:t>C</a:t>
            </a:r>
            <a:r>
              <a:rPr dirty="0">
                <a:latin typeface="+mn-lt"/>
              </a:rPr>
              <a:t> = (10, 14)</a:t>
            </a:r>
          </a:p>
        </p:txBody>
      </p:sp>
      <p:sp>
        <p:nvSpPr>
          <p:cNvPr id="6" name="Rounded Rectangle 12"/>
          <p:cNvSpPr/>
          <p:nvPr/>
        </p:nvSpPr>
        <p:spPr>
          <a:xfrm>
            <a:off x="4350345" y="4028942"/>
            <a:ext cx="2900406" cy="2310312"/>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3"/>
          <p:cNvSpPr txBox="1"/>
          <p:nvPr/>
        </p:nvSpPr>
        <p:spPr>
          <a:xfrm>
            <a:off x="4465087" y="4086486"/>
            <a:ext cx="492861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解密验证</a:t>
            </a:r>
            <a:endParaRPr sz="2400" dirty="0"/>
          </a:p>
        </p:txBody>
      </p:sp>
      <p:sp>
        <p:nvSpPr>
          <p:cNvPr id="8" name="TextBox 14"/>
          <p:cNvSpPr txBox="1"/>
          <p:nvPr/>
        </p:nvSpPr>
        <p:spPr>
          <a:xfrm>
            <a:off x="4559340" y="4606755"/>
            <a:ext cx="4928616" cy="1501950"/>
          </a:xfrm>
          <a:prstGeom prst="rect">
            <a:avLst/>
          </a:prstGeom>
          <a:noFill/>
        </p:spPr>
        <p:txBody>
          <a:bodyPr wrap="square" lIns="64008" tIns="32004" rIns="36576">
            <a:spAutoFit/>
          </a:bodyPr>
          <a:lstStyle/>
          <a:p>
            <a:pPr>
              <a:spcAft>
                <a:spcPts val="500"/>
              </a:spcAft>
              <a:defRPr sz="2000" b="0">
                <a:solidFill>
                  <a:srgbClr val="333333"/>
                </a:solidFill>
                <a:latin typeface="微软雅黑"/>
              </a:defRPr>
            </a:pPr>
            <a:r>
              <a:rPr i="1" dirty="0">
                <a:latin typeface="+mn-lt"/>
              </a:rPr>
              <a:t>s</a:t>
            </a:r>
            <a:r>
              <a:rPr dirty="0">
                <a:latin typeface="+mn-lt"/>
              </a:rPr>
              <a:t> = 10⁶ mod 23 = 6</a:t>
            </a:r>
          </a:p>
          <a:p>
            <a:pPr>
              <a:spcAft>
                <a:spcPts val="500"/>
              </a:spcAft>
              <a:defRPr sz="2000" b="0">
                <a:solidFill>
                  <a:srgbClr val="333333"/>
                </a:solidFill>
                <a:latin typeface="微软雅黑"/>
              </a:defRPr>
            </a:pPr>
            <a:r>
              <a:rPr i="1" dirty="0">
                <a:latin typeface="+mn-lt"/>
              </a:rPr>
              <a:t>s</a:t>
            </a:r>
            <a:r>
              <a:rPr dirty="0">
                <a:latin typeface="+mn-lt"/>
              </a:rPr>
              <a:t>⁻¹ mod 23 = 4</a:t>
            </a:r>
          </a:p>
          <a:p>
            <a:pPr>
              <a:spcAft>
                <a:spcPts val="500"/>
              </a:spcAft>
              <a:defRPr sz="2000" b="0">
                <a:solidFill>
                  <a:srgbClr val="333333"/>
                </a:solidFill>
                <a:latin typeface="微软雅黑"/>
              </a:defRPr>
            </a:pPr>
            <a:r>
              <a:rPr i="1" dirty="0">
                <a:latin typeface="+mn-lt"/>
              </a:rPr>
              <a:t>M</a:t>
            </a:r>
            <a:r>
              <a:rPr dirty="0">
                <a:latin typeface="+mn-lt"/>
              </a:rPr>
              <a:t> = 14 × 4 mod 23 = 10</a:t>
            </a:r>
          </a:p>
          <a:p>
            <a:pPr>
              <a:spcAft>
                <a:spcPts val="500"/>
              </a:spcAft>
              <a:defRPr sz="2000" b="0">
                <a:solidFill>
                  <a:srgbClr val="333333"/>
                </a:solidFill>
                <a:latin typeface="微软雅黑"/>
              </a:defRPr>
            </a:pPr>
            <a:r>
              <a:rPr dirty="0" err="1">
                <a:latin typeface="+mn-lt"/>
              </a:rPr>
              <a:t>正确恢复明文</a:t>
            </a:r>
            <a:r>
              <a:rPr dirty="0">
                <a:latin typeface="+mn-lt"/>
              </a:rPr>
              <a:t> </a:t>
            </a:r>
            <a:r>
              <a:rPr i="1" dirty="0">
                <a:latin typeface="+mn-lt"/>
              </a:rPr>
              <a:t>M</a:t>
            </a:r>
            <a:r>
              <a:rPr dirty="0">
                <a:latin typeface="+mn-lt"/>
              </a:rPr>
              <a:t> = 10</a:t>
            </a:r>
          </a:p>
        </p:txBody>
      </p:sp>
      <p:sp>
        <p:nvSpPr>
          <p:cNvPr id="10" name="Rounded Rectangle 12"/>
          <p:cNvSpPr/>
          <p:nvPr/>
        </p:nvSpPr>
        <p:spPr>
          <a:xfrm>
            <a:off x="7794028" y="4028941"/>
            <a:ext cx="3684739" cy="2310305"/>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025"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同一接收方若重复使用 </a:t>
            </a:r>
            <a:r>
              <a:rPr lang="en-GB" altLang="zh-CN" sz="2000" b="0" i="1" dirty="0">
                <a:solidFill>
                  <a:srgbClr val="303030"/>
                </a:solidFill>
                <a:latin typeface="Times New Roman" panose="02020503050405090304"/>
                <a:ea typeface="微软雅黑"/>
                <a:cs typeface="Times New Roman" panose="02020503050405090304"/>
              </a:rPr>
              <a:t>r</a:t>
            </a:r>
            <a:r>
              <a:rPr lang="zh-CN" altLang="en-GB" sz="2000" b="0" dirty="0">
                <a:solidFill>
                  <a:srgbClr val="303030"/>
                </a:solidFill>
                <a:latin typeface="Times New Roman" panose="02020503050405090304"/>
                <a:ea typeface="微软雅黑"/>
                <a:cs typeface="Times New Roman" panose="02020503050405090304"/>
              </a:rPr>
              <a:t>，</a:t>
            </a:r>
            <a:r>
              <a:rPr lang="zh-CN" altLang="en-US" sz="2000" b="0" dirty="0">
                <a:solidFill>
                  <a:srgbClr val="303030"/>
                </a:solidFill>
                <a:latin typeface="Times New Roman" panose="02020503050405090304"/>
                <a:ea typeface="微软雅黑"/>
                <a:cs typeface="Times New Roman" panose="02020503050405090304"/>
              </a:rPr>
              <a:t>两个密文的 </a:t>
            </a:r>
            <a:r>
              <a:rPr lang="en-GB" altLang="zh-CN" sz="2000" b="0" i="1" dirty="0">
                <a:solidFill>
                  <a:srgbClr val="303030"/>
                </a:solidFill>
                <a:latin typeface="Times New Roman" panose="02020503050405090304"/>
                <a:ea typeface="微软雅黑"/>
                <a:cs typeface="Times New Roman" panose="02020503050405090304"/>
              </a:rPr>
              <a:t>C</a:t>
            </a:r>
            <a:r>
              <a:rPr lang="en-GB" altLang="zh-CN" sz="2000" b="0" dirty="0">
                <a:solidFill>
                  <a:srgbClr val="303030"/>
                </a:solidFill>
                <a:latin typeface="Times New Roman" panose="02020503050405090304"/>
                <a:ea typeface="微软雅黑"/>
                <a:cs typeface="Times New Roman" panose="02020503050405090304"/>
              </a:rPr>
              <a:t>₁</a:t>
            </a:r>
            <a:r>
              <a:rPr lang="zh-CN" altLang="en-US" sz="2000" b="0" dirty="0">
                <a:solidFill>
                  <a:srgbClr val="303030"/>
                </a:solidFill>
                <a:latin typeface="Times New Roman" panose="02020503050405090304"/>
                <a:ea typeface="微软雅黑"/>
                <a:cs typeface="Times New Roman" panose="02020503050405090304"/>
              </a:rPr>
              <a:t> 相同</a:t>
            </a:r>
            <a:endParaRPr lang="en-US" altLang="zh-CN" sz="2000" b="0" dirty="0">
              <a:solidFill>
                <a:srgbClr val="303030"/>
              </a:solidFill>
              <a:latin typeface="Times New Roman" panose="02020503050405090304"/>
              <a:ea typeface="微软雅黑"/>
              <a:cs typeface="Times New Roman" panose="02020503050405090304"/>
            </a:endParaRPr>
          </a:p>
          <a:p>
            <a:pPr>
              <a:defRPr sz="2025"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两条消息共用同一个</a:t>
            </a:r>
            <a:r>
              <a:rPr lang="en-GB" altLang="zh-CN" sz="2000" b="0" i="1" dirty="0">
                <a:solidFill>
                  <a:srgbClr val="303030"/>
                </a:solidFill>
                <a:latin typeface="Times New Roman" panose="02020503050405090304"/>
                <a:ea typeface="微软雅黑"/>
                <a:cs typeface="Times New Roman" panose="02020503050405090304"/>
              </a:rPr>
              <a:t>C</a:t>
            </a:r>
            <a:r>
              <a:rPr lang="en-GB" altLang="zh-CN" sz="2000" b="0" dirty="0">
                <a:solidFill>
                  <a:srgbClr val="303030"/>
                </a:solidFill>
                <a:latin typeface="Times New Roman" panose="02020503050405090304"/>
                <a:ea typeface="微软雅黑"/>
                <a:cs typeface="Times New Roman" panose="02020503050405090304"/>
              </a:rPr>
              <a:t>₁</a:t>
            </a:r>
            <a:r>
              <a:rPr lang="zh-CN" altLang="en-US" sz="2000" b="0" dirty="0">
                <a:solidFill>
                  <a:srgbClr val="303030"/>
                </a:solidFill>
                <a:latin typeface="Times New Roman" panose="02020503050405090304"/>
                <a:ea typeface="微软雅黑"/>
                <a:cs typeface="Times New Roman" panose="02020503050405090304"/>
              </a:rPr>
              <a:t> </a:t>
            </a:r>
            <a:r>
              <a:rPr lang="zh-CN" altLang="en-US" sz="2000" dirty="0">
                <a:solidFill>
                  <a:srgbClr val="303030"/>
                </a:solidFill>
                <a:latin typeface="Times New Roman" panose="02020503050405090304"/>
                <a:ea typeface="微软雅黑"/>
                <a:cs typeface="Times New Roman" panose="02020503050405090304"/>
              </a:rPr>
              <a:t>，则</a:t>
            </a:r>
            <a:r>
              <a:rPr lang="zh-CN" altLang="en-US" sz="2000" b="0" dirty="0">
                <a:solidFill>
                  <a:srgbClr val="303030"/>
                </a:solidFill>
                <a:latin typeface="Times New Roman" panose="02020503050405090304"/>
                <a:ea typeface="微软雅黑"/>
                <a:cs typeface="Times New Roman" panose="02020503050405090304"/>
              </a:rPr>
              <a:t>敌手由密文得到明文的比值</a:t>
            </a:r>
            <a:endParaRPr lang="en-US" altLang="zh-CN" sz="2000" b="0" dirty="0">
              <a:solidFill>
                <a:srgbClr val="303030"/>
              </a:solidFill>
              <a:latin typeface="Times New Roman" panose="02020503050405090304"/>
              <a:ea typeface="微软雅黑"/>
              <a:cs typeface="Times New Roman" panose="02020503050405090304"/>
            </a:endParaRPr>
          </a:p>
          <a:p>
            <a:pPr>
              <a:defRPr sz="2025"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若一条明文已知，就能恢复另一条，即 </a:t>
            </a:r>
            <a:r>
              <a:rPr lang="en-GB" altLang="zh-CN" sz="2000" b="0" i="1" dirty="0">
                <a:solidFill>
                  <a:srgbClr val="C90012"/>
                </a:solidFill>
                <a:latin typeface="Times New Roman" panose="02020503050405090304"/>
                <a:ea typeface="微软雅黑"/>
                <a:cs typeface="Times New Roman" panose="02020503050405090304"/>
              </a:rPr>
              <a:t>C</a:t>
            </a:r>
            <a:r>
              <a:rPr lang="en-GB" altLang="zh-CN" sz="2000" b="0" dirty="0">
                <a:solidFill>
                  <a:srgbClr val="C90012"/>
                </a:solidFill>
                <a:latin typeface="Times New Roman" panose="02020503050405090304"/>
                <a:ea typeface="微软雅黑"/>
                <a:cs typeface="Times New Roman" panose="02020503050405090304"/>
              </a:rPr>
              <a:t>₂′ / </a:t>
            </a:r>
            <a:r>
              <a:rPr lang="en-GB" altLang="zh-CN" sz="2000" b="0" i="1" dirty="0">
                <a:solidFill>
                  <a:srgbClr val="C90012"/>
                </a:solidFill>
                <a:latin typeface="Times New Roman" panose="02020503050405090304"/>
                <a:ea typeface="微软雅黑"/>
                <a:cs typeface="Times New Roman" panose="02020503050405090304"/>
              </a:rPr>
              <a:t>C</a:t>
            </a:r>
            <a:r>
              <a:rPr lang="en-GB" altLang="zh-CN" sz="2000" b="0" dirty="0">
                <a:solidFill>
                  <a:srgbClr val="C90012"/>
                </a:solidFill>
                <a:latin typeface="Times New Roman" panose="02020503050405090304"/>
                <a:ea typeface="微软雅黑"/>
                <a:cs typeface="Times New Roman" panose="02020503050405090304"/>
              </a:rPr>
              <a:t>₂ = </a:t>
            </a:r>
            <a:r>
              <a:rPr lang="en-GB" altLang="zh-CN" sz="2000" b="0" i="1" dirty="0">
                <a:solidFill>
                  <a:srgbClr val="C90012"/>
                </a:solidFill>
                <a:latin typeface="Times New Roman" panose="02020503050405090304"/>
                <a:ea typeface="微软雅黑"/>
                <a:cs typeface="Times New Roman" panose="02020503050405090304"/>
              </a:rPr>
              <a:t>M</a:t>
            </a:r>
            <a:r>
              <a:rPr lang="en-GB" altLang="zh-CN" sz="2000" b="0" dirty="0">
                <a:solidFill>
                  <a:srgbClr val="C90012"/>
                </a:solidFill>
                <a:latin typeface="Times New Roman" panose="02020503050405090304"/>
                <a:ea typeface="微软雅黑"/>
                <a:cs typeface="Times New Roman" panose="02020503050405090304"/>
              </a:rPr>
              <a:t>′ / </a:t>
            </a:r>
            <a:r>
              <a:rPr lang="en-GB" altLang="zh-CN" sz="2000" b="0" i="1" dirty="0">
                <a:solidFill>
                  <a:srgbClr val="C90012"/>
                </a:solidFill>
                <a:latin typeface="Times New Roman" panose="02020503050405090304"/>
                <a:ea typeface="微软雅黑"/>
                <a:cs typeface="Times New Roman" panose="02020503050405090304"/>
              </a:rPr>
              <a:t>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5405511" cy="461665"/>
          </a:xfrm>
          <a:prstGeom prst="rect">
            <a:avLst/>
          </a:prstGeom>
          <a:noFill/>
        </p:spPr>
        <p:txBody>
          <a:bodyPr wrap="square">
            <a:spAutoFit/>
          </a:bodyPr>
          <a:lstStyle/>
          <a:p>
            <a:r>
              <a:rPr lang="en-US" altLang="zh-CN" sz="2400" b="1" dirty="0">
                <a:solidFill>
                  <a:srgbClr val="C00000"/>
                </a:solidFill>
              </a:rPr>
              <a:t>SM2</a:t>
            </a:r>
            <a:r>
              <a:rPr lang="zh-CN" altLang="en-US" sz="2400" b="1" dirty="0">
                <a:solidFill>
                  <a:srgbClr val="C00000"/>
                </a:solidFill>
              </a:rPr>
              <a:t>公钥加密方案描述｜基本思想</a:t>
            </a:r>
          </a:p>
        </p:txBody>
      </p:sp>
      <p:sp>
        <p:nvSpPr>
          <p:cNvPr id="11" name="文本框 10"/>
          <p:cNvSpPr txBox="1"/>
          <p:nvPr/>
        </p:nvSpPr>
        <p:spPr>
          <a:xfrm>
            <a:off x="1739584" y="1871567"/>
            <a:ext cx="8910175" cy="2453749"/>
          </a:xfrm>
          <a:prstGeom prst="rect">
            <a:avLst/>
          </a:prstGeom>
          <a:noFill/>
        </p:spPr>
        <p:txBody>
          <a:bodyPr wrap="square">
            <a:spAutoFit/>
          </a:bodyPr>
          <a:lstStyle/>
          <a:p>
            <a:pPr>
              <a:lnSpc>
                <a:spcPct val="130000"/>
              </a:lnSpc>
            </a:pPr>
            <a:r>
              <a:rPr lang="en-GB" altLang="zh-CN" sz="2000" dirty="0"/>
              <a:t>SM2 </a:t>
            </a:r>
            <a:r>
              <a:rPr lang="zh-CN" altLang="en-US" sz="2000" dirty="0"/>
              <a:t>椭圆曲线公钥密码算法（简称 </a:t>
            </a:r>
            <a:r>
              <a:rPr lang="en-GB" altLang="zh-CN" sz="2000" dirty="0"/>
              <a:t>SM2 </a:t>
            </a:r>
            <a:r>
              <a:rPr lang="zh-CN" altLang="en-US" sz="2000" dirty="0"/>
              <a:t>算法）于 </a:t>
            </a:r>
            <a:r>
              <a:rPr lang="en-US" altLang="zh-CN" sz="2000" dirty="0"/>
              <a:t>2010 </a:t>
            </a:r>
            <a:r>
              <a:rPr lang="zh-CN" altLang="en-US" sz="2000" dirty="0"/>
              <a:t>年 </a:t>
            </a:r>
            <a:r>
              <a:rPr lang="en-US" altLang="zh-CN" sz="2000" dirty="0"/>
              <a:t>12 </a:t>
            </a:r>
            <a:r>
              <a:rPr lang="zh-CN" altLang="en-US" sz="2000" dirty="0"/>
              <a:t>月首次公开发布，</a:t>
            </a:r>
            <a:r>
              <a:rPr lang="en-US" altLang="zh-CN" sz="2000" dirty="0"/>
              <a:t>2012 </a:t>
            </a:r>
            <a:r>
              <a:rPr lang="zh-CN" altLang="en-US" sz="2000" dirty="0"/>
              <a:t>年成为中国商用密码标准，</a:t>
            </a:r>
            <a:r>
              <a:rPr lang="en-US" altLang="zh-CN" sz="2000" dirty="0"/>
              <a:t>2016 </a:t>
            </a:r>
            <a:r>
              <a:rPr lang="zh-CN" altLang="en-US" sz="2000" dirty="0"/>
              <a:t>年成为中国国家密码标准。</a:t>
            </a:r>
            <a:endParaRPr lang="en-US" altLang="zh-CN" sz="2000" dirty="0"/>
          </a:p>
          <a:p>
            <a:pPr>
              <a:lnSpc>
                <a:spcPct val="130000"/>
              </a:lnSpc>
            </a:pPr>
            <a:endParaRPr lang="en-US" altLang="zh-CN" sz="2000" dirty="0"/>
          </a:p>
          <a:p>
            <a:pPr>
              <a:lnSpc>
                <a:spcPct val="130000"/>
              </a:lnSpc>
            </a:pPr>
            <a:r>
              <a:rPr lang="zh-CN" altLang="en-US" sz="2000" dirty="0"/>
              <a:t>该算法可细分为 </a:t>
            </a:r>
            <a:r>
              <a:rPr lang="en-GB" altLang="zh-CN" sz="2000" dirty="0"/>
              <a:t>SM2 </a:t>
            </a:r>
            <a:r>
              <a:rPr lang="zh-CN" altLang="en-US" sz="2000" dirty="0"/>
              <a:t>公钥加 密算法、</a:t>
            </a:r>
            <a:r>
              <a:rPr lang="en-GB" altLang="zh-CN" sz="2000" dirty="0"/>
              <a:t>SM2 </a:t>
            </a:r>
            <a:r>
              <a:rPr lang="zh-CN" altLang="en-US" sz="2000" dirty="0"/>
              <a:t>数字签名算法和 </a:t>
            </a:r>
            <a:r>
              <a:rPr lang="en-GB" altLang="zh-CN" sz="2000" dirty="0"/>
              <a:t>SM2 </a:t>
            </a:r>
            <a:r>
              <a:rPr lang="zh-CN" altLang="en-US" sz="2000" dirty="0"/>
              <a:t>密钥交换协议等。</a:t>
            </a:r>
            <a:r>
              <a:rPr lang="en-GB" altLang="zh-CN" sz="2000" dirty="0"/>
              <a:t>SM2 </a:t>
            </a:r>
            <a:r>
              <a:rPr lang="zh-CN" altLang="en-GB" sz="2000" dirty="0"/>
              <a:t>是</a:t>
            </a:r>
            <a:r>
              <a:rPr lang="zh-CN" altLang="en-US" sz="2000" dirty="0"/>
              <a:t>基于椭圆曲线密码体制设计，效率较高，这是因为椭圆曲线密码体制在达到相同安全性的条件下所需要的密钥更短。</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5405511"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的</a:t>
            </a:r>
            <a:r>
              <a:rPr lang="zh-CN" altLang="en-US" sz="2400" b="1" dirty="0">
                <a:solidFill>
                  <a:srgbClr val="C00000"/>
                </a:solidFill>
              </a:rPr>
              <a:t>基础数理知识</a:t>
            </a:r>
          </a:p>
        </p:txBody>
      </p:sp>
      <p:sp>
        <p:nvSpPr>
          <p:cNvPr id="2" name="Rounded Rectangle 9"/>
          <p:cNvSpPr/>
          <p:nvPr/>
        </p:nvSpPr>
        <p:spPr>
          <a:xfrm>
            <a:off x="556794" y="1472958"/>
            <a:ext cx="11009133" cy="343524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mc:AlternateContent xmlns:mc="http://schemas.openxmlformats.org/markup-compatibility/2006" xmlns:a14="http://schemas.microsoft.com/office/drawing/2010/main">
        <mc:Choice Requires="a14">
          <p:sp>
            <p:nvSpPr>
              <p:cNvPr id="3" name="TextBox 5"/>
              <p:cNvSpPr txBox="1"/>
              <p:nvPr/>
            </p:nvSpPr>
            <p:spPr>
              <a:xfrm>
                <a:off x="832877" y="1557666"/>
                <a:ext cx="10546529" cy="3350531"/>
              </a:xfrm>
              <a:prstGeom prst="rect">
                <a:avLst/>
              </a:prstGeom>
              <a:noFill/>
            </p:spPr>
            <p:txBody>
              <a:bodyPr wrap="square" lIns="0" tIns="0" rIns="0" bIns="0" anchor="t">
                <a:noAutofit/>
              </a:bodyPr>
              <a:lstStyle/>
              <a:p>
                <a:pPr indent="0" algn="just">
                  <a:lnSpc>
                    <a:spcPct val="130000"/>
                  </a:lnSpc>
                  <a:spcBef>
                    <a:spcPts val="0"/>
                  </a:spcBef>
                  <a:spcAft>
                    <a:spcPts val="600"/>
                  </a:spcAft>
                  <a:buClr>
                    <a:srgbClr val="C00000"/>
                  </a:buClr>
                  <a:buFont typeface="Wingdings" panose="05000000000000000000" charset="0"/>
                  <a:buNone/>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a:t>
                </a:r>
                <a:r>
                  <a:rPr lang="en-US" altLang="zh-CN" sz="2000" b="1" dirty="0">
                    <a:solidFill>
                      <a:srgbClr val="C00000"/>
                    </a:solidFill>
                    <a:latin typeface="微软雅黑" panose="020B0503020204020204" charset="-122"/>
                    <a:ea typeface="微软雅黑" panose="020B0503020204020204" charset="-122"/>
                  </a:rPr>
                  <a:t>5</a:t>
                </a:r>
                <a:r>
                  <a:rPr lang="zh-CN" altLang="en-US" sz="2000" b="1" i="0" dirty="0">
                    <a:solidFill>
                      <a:srgbClr val="C00000"/>
                    </a:solidFill>
                    <a:latin typeface="微软雅黑" panose="020B0503020204020204" charset="-122"/>
                    <a:ea typeface="微软雅黑" panose="020B0503020204020204" charset="-122"/>
                  </a:rPr>
                  <a:t>　环（教材原文）：</a:t>
                </a:r>
              </a:p>
              <a:p>
                <a:pPr indent="266700" algn="just">
                  <a:lnSpc>
                    <a:spcPct val="130000"/>
                  </a:lnSpc>
                  <a:buNone/>
                </a:pPr>
                <a:r>
                  <a:rPr lang="zh-CN" altLang="zh-CN" sz="2000" dirty="0">
                    <a:solidFill>
                      <a:srgbClr val="000000"/>
                    </a:solidFill>
                    <a:effectLst/>
                    <a:latin typeface="+mn-ea"/>
                    <a:ea typeface="+mn-ea"/>
                    <a:cs typeface="+mn-cs"/>
                  </a:rPr>
                  <a:t>对于非空集合</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ℝ</m:t>
                    </m:r>
                    <m:r>
                      <a:rPr lang="zh-CN" altLang="en-US"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和</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r>
                      <a:rPr lang="zh-CN" altLang="en-US"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上的两个二元运算</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m:t>
                    </m:r>
                    <m:r>
                      <a:rPr lang="zh-CN" altLang="en-US" sz="2000" b="0" i="0" smtClean="0">
                        <a:solidFill>
                          <a:srgbClr val="000000"/>
                        </a:solidFill>
                        <a:effectLst/>
                        <a:latin typeface="Cambria Math" panose="02040503050406030204" pitchFamily="18" charset="0"/>
                        <a:ea typeface="+mn-ea"/>
                        <a:cs typeface="+mn-cs"/>
                      </a:rPr>
                      <m:t>（</m:t>
                    </m:r>
                  </m:oMath>
                </a14:m>
                <a:r>
                  <a:rPr lang="zh-CN" altLang="zh-CN" sz="2000" dirty="0">
                    <a:solidFill>
                      <a:srgbClr val="000000"/>
                    </a:solidFill>
                    <a:effectLst/>
                    <a:latin typeface="+mn-ea"/>
                    <a:ea typeface="+mn-ea"/>
                    <a:cs typeface="+mn-cs"/>
                  </a:rPr>
                  <a:t>分别为加法运算和乘法运算</a:t>
                </a:r>
                <a:r>
                  <a:rPr lang="zh-CN" altLang="en-US" sz="2000" dirty="0">
                    <a:solidFill>
                      <a:srgbClr val="000000"/>
                    </a:solidFill>
                    <a:effectLst/>
                    <a:latin typeface="+mn-ea"/>
                    <a:ea typeface="+mn-ea"/>
                    <a:cs typeface="+mn-cs"/>
                  </a:rPr>
                  <a:t>）</a:t>
                </a:r>
                <a:r>
                  <a:rPr lang="zh-CN" altLang="zh-CN" sz="2000" dirty="0">
                    <a:solidFill>
                      <a:srgbClr val="000000"/>
                    </a:solidFill>
                    <a:effectLst/>
                    <a:latin typeface="+mn-ea"/>
                    <a:ea typeface="+mn-ea"/>
                    <a:cs typeface="+mn-cs"/>
                  </a:rPr>
                  <a:t>。若</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r>
                      <a:rPr lang="zh-CN" altLang="en-US"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满足如下条件，则称</a:t>
                </a:r>
                <a:r>
                  <a:rPr lang="en-US" altLang="zh-CN"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r>
                      <a:rPr lang="en-US" altLang="zh-CN"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为一个环。</a:t>
                </a:r>
                <a:endParaRPr lang="zh-CN" altLang="zh-CN" sz="2000" dirty="0">
                  <a:effectLst/>
                  <a:latin typeface="+mn-ea"/>
                  <a:ea typeface="+mn-ea"/>
                  <a:cs typeface="+mn-cs"/>
                </a:endParaRPr>
              </a:p>
              <a:p>
                <a:pPr marL="342900" lvl="0" indent="-342900" algn="just">
                  <a:lnSpc>
                    <a:spcPct val="130000"/>
                  </a:lnSpc>
                  <a:buClr>
                    <a:srgbClr val="C00000"/>
                  </a:buClr>
                  <a:buFont typeface="Wingdings" panose="05000000000000000000" pitchFamily="2" charset="2"/>
                  <a:buChar char="p"/>
                </a:pPr>
                <a:r>
                  <a:rPr lang="zh-CN" altLang="zh-CN" sz="2000" dirty="0">
                    <a:solidFill>
                      <a:srgbClr val="000000"/>
                    </a:solidFill>
                    <a:effectLst/>
                    <a:latin typeface="+mn-ea"/>
                    <a:ea typeface="+mn-ea"/>
                    <a:cs typeface="+mn-cs"/>
                  </a:rPr>
                  <a:t>关于加法运算构成一个交换群。</a:t>
                </a:r>
                <a:endParaRPr lang="zh-CN" altLang="zh-CN" sz="2000" dirty="0">
                  <a:effectLst/>
                  <a:latin typeface="+mn-ea"/>
                  <a:ea typeface="+mn-ea"/>
                  <a:cs typeface="+mn-cs"/>
                </a:endParaRPr>
              </a:p>
              <a:p>
                <a:pPr marL="342900" lvl="0" indent="-342900" algn="just">
                  <a:lnSpc>
                    <a:spcPct val="130000"/>
                  </a:lnSpc>
                  <a:buClr>
                    <a:srgbClr val="C00000"/>
                  </a:buClr>
                  <a:buFont typeface="Wingdings" panose="05000000000000000000" pitchFamily="2" charset="2"/>
                  <a:buChar char="p"/>
                </a:pPr>
                <a:r>
                  <a:rPr lang="zh-CN" altLang="zh-CN" sz="2000" b="1" dirty="0">
                    <a:solidFill>
                      <a:srgbClr val="000000"/>
                    </a:solidFill>
                    <a:effectLst/>
                    <a:latin typeface="+mn-ea"/>
                    <a:ea typeface="+mn-ea"/>
                    <a:cs typeface="+mn-cs"/>
                  </a:rPr>
                  <a:t>乘法满足封闭性</a:t>
                </a:r>
                <a:r>
                  <a:rPr lang="zh-CN" altLang="zh-CN" sz="2000" dirty="0">
                    <a:solidFill>
                      <a:srgbClr val="000000"/>
                    </a:solidFill>
                    <a:effectLst/>
                    <a:latin typeface="+mn-ea"/>
                    <a:ea typeface="+mn-ea"/>
                    <a:cs typeface="+mn-cs"/>
                  </a:rPr>
                  <a:t>：对任意</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，满足</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a:t>
                </a:r>
                <a:endParaRPr lang="zh-CN" altLang="zh-CN" sz="2000" dirty="0">
                  <a:effectLst/>
                  <a:latin typeface="+mn-ea"/>
                  <a:ea typeface="+mn-ea"/>
                  <a:cs typeface="+mn-cs"/>
                </a:endParaRPr>
              </a:p>
              <a:p>
                <a:pPr marL="342900" lvl="0" indent="-342900" algn="just">
                  <a:lnSpc>
                    <a:spcPct val="130000"/>
                  </a:lnSpc>
                  <a:buClr>
                    <a:srgbClr val="C00000"/>
                  </a:buClr>
                  <a:buFont typeface="Wingdings" panose="05000000000000000000" pitchFamily="2" charset="2"/>
                  <a:buChar char="p"/>
                </a:pPr>
                <a:r>
                  <a:rPr lang="zh-CN" altLang="zh-CN" sz="2000" b="1" dirty="0">
                    <a:solidFill>
                      <a:srgbClr val="000000"/>
                    </a:solidFill>
                    <a:effectLst/>
                    <a:latin typeface="+mn-ea"/>
                    <a:ea typeface="+mn-ea"/>
                    <a:cs typeface="+mn-cs"/>
                  </a:rPr>
                  <a:t>乘法满足结合律</a:t>
                </a:r>
                <a:r>
                  <a:rPr lang="zh-CN" altLang="zh-CN" sz="2000" dirty="0">
                    <a:solidFill>
                      <a:srgbClr val="000000"/>
                    </a:solidFill>
                    <a:effectLst/>
                    <a:latin typeface="+mn-ea"/>
                    <a:ea typeface="+mn-ea"/>
                    <a:cs typeface="+mn-cs"/>
                  </a:rPr>
                  <a:t>：对任意</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，满足</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oMath>
                </a14:m>
                <a:r>
                  <a:rPr lang="zh-CN" altLang="zh-CN" sz="2000" dirty="0">
                    <a:solidFill>
                      <a:srgbClr val="000000"/>
                    </a:solidFill>
                    <a:effectLst/>
                    <a:latin typeface="+mn-ea"/>
                    <a:ea typeface="+mn-ea"/>
                    <a:cs typeface="+mn-cs"/>
                  </a:rPr>
                  <a:t>。</a:t>
                </a:r>
                <a:endParaRPr lang="zh-CN" altLang="zh-CN" sz="2000" dirty="0">
                  <a:effectLst/>
                  <a:latin typeface="+mn-ea"/>
                  <a:ea typeface="+mn-ea"/>
                  <a:cs typeface="+mn-cs"/>
                </a:endParaRPr>
              </a:p>
              <a:p>
                <a:pPr marL="342900" lvl="0" indent="-342900" algn="just">
                  <a:lnSpc>
                    <a:spcPct val="130000"/>
                  </a:lnSpc>
                  <a:buClr>
                    <a:srgbClr val="C00000"/>
                  </a:buClr>
                  <a:buFont typeface="Wingdings" panose="05000000000000000000" pitchFamily="2" charset="2"/>
                  <a:buChar char="p"/>
                </a:pPr>
                <a:r>
                  <a:rPr lang="zh-CN" altLang="zh-CN" sz="2000" b="1" dirty="0">
                    <a:solidFill>
                      <a:srgbClr val="000000"/>
                    </a:solidFill>
                    <a:effectLst/>
                    <a:latin typeface="+mn-ea"/>
                    <a:ea typeface="+mn-ea"/>
                    <a:cs typeface="+mn-cs"/>
                  </a:rPr>
                  <a:t>乘法</a:t>
                </a:r>
                <a:r>
                  <a:rPr lang="zh-CN" altLang="en-US" sz="2000" b="1" dirty="0">
                    <a:solidFill>
                      <a:srgbClr val="000000"/>
                    </a:solidFill>
                    <a:effectLst/>
                    <a:latin typeface="+mn-ea"/>
                    <a:ea typeface="+mn-ea"/>
                    <a:cs typeface="+mn-cs"/>
                  </a:rPr>
                  <a:t>和</a:t>
                </a:r>
                <a:r>
                  <a:rPr lang="zh-CN" altLang="zh-CN" sz="2000" b="1" dirty="0">
                    <a:solidFill>
                      <a:srgbClr val="000000"/>
                    </a:solidFill>
                    <a:effectLst/>
                    <a:latin typeface="+mn-ea"/>
                    <a:ea typeface="+mn-ea"/>
                    <a:cs typeface="+mn-cs"/>
                  </a:rPr>
                  <a:t>加法</a:t>
                </a:r>
                <a:r>
                  <a:rPr lang="zh-CN" altLang="en-US" sz="2000" b="1" dirty="0">
                    <a:solidFill>
                      <a:srgbClr val="000000"/>
                    </a:solidFill>
                    <a:effectLst/>
                    <a:latin typeface="+mn-ea"/>
                    <a:ea typeface="+mn-ea"/>
                    <a:cs typeface="+mn-cs"/>
                  </a:rPr>
                  <a:t>之间</a:t>
                </a:r>
                <a:r>
                  <a:rPr lang="zh-CN" altLang="zh-CN" sz="2000" b="1" dirty="0">
                    <a:solidFill>
                      <a:srgbClr val="000000"/>
                    </a:solidFill>
                    <a:effectLst/>
                    <a:latin typeface="+mn-ea"/>
                    <a:ea typeface="+mn-ea"/>
                    <a:cs typeface="+mn-cs"/>
                  </a:rPr>
                  <a:t>满足分配律</a:t>
                </a:r>
                <a:r>
                  <a:rPr lang="zh-CN" altLang="zh-CN" sz="2000" dirty="0">
                    <a:solidFill>
                      <a:srgbClr val="000000"/>
                    </a:solidFill>
                    <a:effectLst/>
                    <a:latin typeface="+mn-ea"/>
                    <a:ea typeface="+mn-ea"/>
                    <a:cs typeface="+mn-cs"/>
                  </a:rPr>
                  <a:t>：对任意</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d>
                      <m:dPr>
                        <m:ctrlPr>
                          <a:rPr lang="zh-CN" altLang="zh-CN" sz="2000" i="1">
                            <a:solidFill>
                              <a:srgbClr val="000000"/>
                            </a:solidFill>
                            <a:effectLst/>
                            <a:latin typeface="Cambria Math" panose="02040503050406030204" pitchFamily="18" charset="0"/>
                            <a:ea typeface="+mn-ea"/>
                            <a:cs typeface="+mn-cs"/>
                          </a:rPr>
                        </m:ctrlPr>
                      </m:dPr>
                      <m:e>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𝑐</m:t>
                        </m:r>
                      </m:e>
                    </m:d>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𝑐</m:t>
                    </m:r>
                  </m:oMath>
                </a14:m>
                <a:r>
                  <a:rPr lang="zh-CN" altLang="zh-CN" sz="2000" dirty="0">
                    <a:solidFill>
                      <a:srgbClr val="000000"/>
                    </a:solidFill>
                    <a:effectLst/>
                    <a:latin typeface="+mn-ea"/>
                    <a:ea typeface="+mn-ea"/>
                    <a:cs typeface="+mn-cs"/>
                  </a:rPr>
                  <a:t>，且</a:t>
                </a:r>
                <a:r>
                  <a:rPr lang="zh-CN" altLang="en-US" sz="2000" dirty="0">
                    <a:solidFill>
                      <a:srgbClr val="000000"/>
                    </a:solidFill>
                    <a:effectLst/>
                    <a:latin typeface="+mn-ea"/>
                    <a:ea typeface="+mn-ea"/>
                    <a:cs typeface="+mn-cs"/>
                  </a:rPr>
                  <a:t> </a:t>
                </a:r>
                <a14:m>
                  <m:oMath xmlns:m="http://schemas.openxmlformats.org/officeDocument/2006/math">
                    <m:d>
                      <m:dPr>
                        <m:ctrlPr>
                          <a:rPr lang="zh-CN" altLang="zh-CN" sz="2000" i="1">
                            <a:solidFill>
                              <a:srgbClr val="000000"/>
                            </a:solidFill>
                            <a:effectLst/>
                            <a:latin typeface="Cambria Math" panose="02040503050406030204" pitchFamily="18" charset="0"/>
                            <a:ea typeface="+mn-ea"/>
                            <a:cs typeface="+mn-cs"/>
                          </a:rPr>
                        </m:ctrlPr>
                      </m:dPr>
                      <m:e>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e>
                    </m:d>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𝑐</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𝑐</m:t>
                    </m:r>
                  </m:oMath>
                </a14:m>
                <a:r>
                  <a:rPr lang="zh-CN" altLang="zh-CN" sz="2000" dirty="0">
                    <a:solidFill>
                      <a:srgbClr val="000000"/>
                    </a:solidFill>
                    <a:effectLst/>
                    <a:latin typeface="+mn-ea"/>
                    <a:ea typeface="+mn-ea"/>
                    <a:cs typeface="+mn-cs"/>
                  </a:rPr>
                  <a:t>。</a:t>
                </a:r>
                <a:endParaRPr kumimoji="0" lang="zh-CN" altLang="zh-CN" sz="2000" b="0" i="0" u="none" strike="noStrike" cap="none" normalizeH="0" baseline="0" dirty="0">
                  <a:ln>
                    <a:noFill/>
                  </a:ln>
                  <a:solidFill>
                    <a:schemeClr val="tx1"/>
                  </a:solidFill>
                  <a:effectLst/>
                </a:endParaRPr>
              </a:p>
              <a:p>
                <a:pPr algn="just">
                  <a:lnSpc>
                    <a:spcPct val="130000"/>
                  </a:lnSpc>
                  <a:buNone/>
                </a:pPr>
                <a:endParaRPr lang="zh-CN" altLang="zh-CN" sz="2000" dirty="0">
                  <a:solidFill>
                    <a:schemeClr val="tx1"/>
                  </a:solidFill>
                  <a:effectLst/>
                  <a:latin typeface="+mn-ea"/>
                  <a:ea typeface="+mn-ea"/>
                  <a:cs typeface="+mn-cs"/>
                </a:endParaRPr>
              </a:p>
            </p:txBody>
          </p:sp>
        </mc:Choice>
        <mc:Fallback xmlns="">
          <p:sp>
            <p:nvSpPr>
              <p:cNvPr id="3" name="TextBox 5"/>
              <p:cNvSpPr txBox="1">
                <a:spLocks noRot="1" noChangeAspect="1" noMove="1" noResize="1" noEditPoints="1" noAdjustHandles="1" noChangeArrowheads="1" noChangeShapeType="1" noTextEdit="1"/>
              </p:cNvSpPr>
              <p:nvPr/>
            </p:nvSpPr>
            <p:spPr>
              <a:xfrm>
                <a:off x="832877" y="1557666"/>
                <a:ext cx="10546529" cy="3350531"/>
              </a:xfrm>
              <a:prstGeom prst="rect">
                <a:avLst/>
              </a:prstGeom>
              <a:blipFill>
                <a:blip r:embed="rId3"/>
                <a:stretch>
                  <a:fillRect l="-1442" t="-755" r="-1442" b="-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30124" y="4992914"/>
                <a:ext cx="11728703" cy="1631216"/>
              </a:xfrm>
              <a:prstGeom prst="rect">
                <a:avLst/>
              </a:prstGeom>
              <a:noFill/>
            </p:spPr>
            <p:txBody>
              <a:bodyPr wrap="square" rtlCol="0">
                <a:spAutoFit/>
              </a:bodyPr>
              <a:lstStyle/>
              <a:p>
                <a:pPr algn="just"/>
                <a:r>
                  <a:rPr lang="zh-CN" altLang="en-US" sz="2000" dirty="0">
                    <a:solidFill>
                      <a:srgbClr val="000000"/>
                    </a:solidFill>
                    <a:effectLst/>
                    <a:latin typeface="+mn-ea"/>
                    <a:ea typeface="+mn-ea"/>
                    <a:cs typeface="+mn-cs"/>
                  </a:rPr>
                  <a:t>若</a:t>
                </a:r>
                <a:r>
                  <a:rPr lang="zh-CN" altLang="zh-CN" sz="2000" dirty="0">
                    <a:solidFill>
                      <a:srgbClr val="000000"/>
                    </a:solidFill>
                    <a:effectLst/>
                    <a:latin typeface="+mn-ea"/>
                    <a:ea typeface="+mn-ea"/>
                    <a:cs typeface="+mn-cs"/>
                  </a:rPr>
                  <a:t>环</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r>
                      <a:rPr lang="zh-CN" altLang="en-US"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满足乘法交换律，即对任意</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，有</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𝑎</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成立，则称</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ℝ</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为</a:t>
                </a:r>
                <a:r>
                  <a:rPr lang="zh-CN" altLang="zh-CN" sz="2000" b="1" dirty="0">
                    <a:solidFill>
                      <a:srgbClr val="000000"/>
                    </a:solidFill>
                    <a:effectLst/>
                    <a:latin typeface="+mn-ea"/>
                    <a:ea typeface="+mn-ea"/>
                    <a:cs typeface="+mn-cs"/>
                  </a:rPr>
                  <a:t>交换环</a:t>
                </a:r>
                <a:r>
                  <a:rPr lang="zh-CN" altLang="zh-CN" sz="2000" dirty="0">
                    <a:solidFill>
                      <a:srgbClr val="000000"/>
                    </a:solidFill>
                    <a:effectLst/>
                    <a:latin typeface="+mn-ea"/>
                    <a:ea typeface="+mn-ea"/>
                    <a:cs typeface="+mn-cs"/>
                  </a:rPr>
                  <a:t>。若交换环</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满足以下两个条件，则称交换环</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ℝ</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为</a:t>
                </a:r>
                <a:r>
                  <a:rPr lang="zh-CN" altLang="zh-CN" sz="2000" b="1" dirty="0">
                    <a:solidFill>
                      <a:srgbClr val="000000"/>
                    </a:solidFill>
                    <a:effectLst/>
                    <a:latin typeface="+mn-ea"/>
                    <a:ea typeface="+mn-ea"/>
                    <a:cs typeface="+mn-cs"/>
                  </a:rPr>
                  <a:t>整环</a:t>
                </a:r>
                <a:r>
                  <a:rPr lang="zh-CN" altLang="zh-CN" sz="2000" dirty="0">
                    <a:solidFill>
                      <a:srgbClr val="000000"/>
                    </a:solidFill>
                    <a:effectLst/>
                    <a:latin typeface="+mn-ea"/>
                    <a:ea typeface="+mn-ea"/>
                    <a:cs typeface="+mn-cs"/>
                  </a:rPr>
                  <a:t>：</a:t>
                </a:r>
                <a:endParaRPr lang="zh-CN" altLang="zh-CN" sz="2000" dirty="0">
                  <a:effectLst/>
                  <a:latin typeface="+mn-ea"/>
                  <a:ea typeface="+mn-ea"/>
                  <a:cs typeface="+mn-cs"/>
                </a:endParaRPr>
              </a:p>
              <a:p>
                <a:pPr marL="342900" lvl="0" indent="-342900" algn="just">
                  <a:buFont typeface="Wingdings" panose="05000000000000000000" pitchFamily="2" charset="2"/>
                  <a:buChar char=""/>
                </a:pPr>
                <a:r>
                  <a:rPr lang="zh-CN" altLang="zh-CN" sz="2000" b="1" dirty="0">
                    <a:solidFill>
                      <a:srgbClr val="000000"/>
                    </a:solidFill>
                    <a:effectLst/>
                    <a:latin typeface="+mn-ea"/>
                    <a:ea typeface="+mn-ea"/>
                    <a:cs typeface="+mn-cs"/>
                  </a:rPr>
                  <a:t>存在乘法单位元（幺元）</a:t>
                </a:r>
                <a:r>
                  <a:rPr lang="zh-CN" altLang="zh-CN" sz="2000" dirty="0">
                    <a:solidFill>
                      <a:srgbClr val="000000"/>
                    </a:solidFill>
                    <a:effectLst/>
                    <a:latin typeface="+mn-ea"/>
                    <a:ea typeface="+mn-ea"/>
                    <a:cs typeface="+mn-cs"/>
                  </a:rPr>
                  <a:t>：在</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oMath>
                </a14:m>
                <a:r>
                  <a:rPr lang="zh-CN" altLang="zh-CN" sz="2000" dirty="0">
                    <a:solidFill>
                      <a:srgbClr val="000000"/>
                    </a:solidFill>
                    <a:effectLst/>
                    <a:latin typeface="+mn-ea"/>
                    <a:ea typeface="+mn-ea"/>
                    <a:cs typeface="+mn-cs"/>
                  </a:rPr>
                  <a:t>中存在元素</a:t>
                </a:r>
                <a:r>
                  <a:rPr lang="zh-CN" altLang="en-US" sz="2000" dirty="0">
                    <a:solidFill>
                      <a:srgbClr val="000000"/>
                    </a:solidFill>
                    <a:effectLst/>
                    <a:latin typeface="+mn-ea"/>
                    <a:ea typeface="+mn-ea"/>
                    <a:cs typeface="+mn-cs"/>
                  </a:rPr>
                  <a:t> </a:t>
                </a:r>
                <a14:m>
                  <m:oMath xmlns:m="http://schemas.openxmlformats.org/officeDocument/2006/math">
                    <m:r>
                      <a:rPr lang="en-US" altLang="zh-CN" sz="2000" i="1" dirty="0">
                        <a:solidFill>
                          <a:srgbClr val="000000"/>
                        </a:solidFill>
                        <a:latin typeface="Cambria Math" panose="02040503050406030204" pitchFamily="18" charset="0"/>
                        <a:ea typeface="+mn-ea"/>
                        <a:cs typeface="+mn-cs"/>
                      </a:rPr>
                      <m:t>𝑒</m:t>
                    </m:r>
                  </m:oMath>
                </a14:m>
                <a:r>
                  <a:rPr lang="zh-CN" altLang="zh-CN" sz="2000" dirty="0">
                    <a:solidFill>
                      <a:srgbClr val="000000"/>
                    </a:solidFill>
                    <a:effectLst/>
                    <a:latin typeface="+mn-ea"/>
                    <a:ea typeface="+mn-ea"/>
                    <a:cs typeface="+mn-cs"/>
                  </a:rPr>
                  <a:t>，使得对于</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ℝ</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中任意元素</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oMath>
                </a14:m>
                <a:r>
                  <a:rPr lang="zh-CN" altLang="zh-CN" sz="2000" dirty="0">
                    <a:solidFill>
                      <a:srgbClr val="000000"/>
                    </a:solidFill>
                    <a:effectLst/>
                    <a:latin typeface="+mn-ea"/>
                    <a:ea typeface="+mn-ea"/>
                    <a:cs typeface="+mn-cs"/>
                  </a:rPr>
                  <a:t>，有</a:t>
                </a:r>
                <a:r>
                  <a:rPr lang="zh-CN" altLang="en-US" sz="2000" dirty="0">
                    <a:solidFill>
                      <a:srgbClr val="000000"/>
                    </a:solidFill>
                    <a:effectLst/>
                    <a:latin typeface="+mn-ea"/>
                    <a:ea typeface="+mn-ea"/>
                    <a:cs typeface="+mn-cs"/>
                  </a:rPr>
                  <a:t> </a:t>
                </a:r>
                <a14:m>
                  <m:oMath xmlns:m="http://schemas.openxmlformats.org/officeDocument/2006/math">
                    <m:r>
                      <a:rPr lang="en-US" altLang="zh-CN" sz="2000" i="1" dirty="0">
                        <a:solidFill>
                          <a:srgbClr val="000000"/>
                        </a:solidFill>
                        <a:latin typeface="Cambria Math" panose="02040503050406030204" pitchFamily="18" charset="0"/>
                      </a:rPr>
                      <m:t>𝑒</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𝑒</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𝑎</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成立。</a:t>
                </a:r>
                <a:endParaRPr lang="zh-CN" altLang="zh-CN" sz="2000" dirty="0">
                  <a:effectLst/>
                  <a:latin typeface="+mn-ea"/>
                  <a:ea typeface="+mn-ea"/>
                  <a:cs typeface="+mn-cs"/>
                </a:endParaRPr>
              </a:p>
              <a:p>
                <a:pPr marL="342900" lvl="0" indent="-342900" algn="just">
                  <a:buFont typeface="Wingdings" panose="05000000000000000000" pitchFamily="2" charset="2"/>
                  <a:buChar char=""/>
                </a:pPr>
                <a:r>
                  <a:rPr lang="zh-CN" altLang="zh-CN" sz="2000" b="1" dirty="0">
                    <a:solidFill>
                      <a:srgbClr val="000000"/>
                    </a:solidFill>
                    <a:effectLst/>
                    <a:latin typeface="+mn-ea"/>
                    <a:ea typeface="+mn-ea"/>
                    <a:cs typeface="+mn-cs"/>
                  </a:rPr>
                  <a:t>无零因子</a:t>
                </a:r>
                <a:r>
                  <a:rPr lang="zh-CN" altLang="zh-CN" sz="2000" dirty="0">
                    <a:solidFill>
                      <a:srgbClr val="000000"/>
                    </a:solidFill>
                    <a:effectLst/>
                    <a:latin typeface="+mn-ea"/>
                    <a:ea typeface="+mn-ea"/>
                    <a:cs typeface="+mn-cs"/>
                  </a:rPr>
                  <a:t>：若</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ℝ</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中有元素</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oMath>
                </a14:m>
                <a:r>
                  <a:rPr lang="zh-CN" altLang="zh-CN" sz="2000" dirty="0">
                    <a:solidFill>
                      <a:srgbClr val="000000"/>
                    </a:solidFill>
                    <a:effectLst/>
                    <a:latin typeface="+mn-ea"/>
                    <a:ea typeface="+mn-ea"/>
                    <a:cs typeface="+mn-cs"/>
                  </a:rPr>
                  <a:t>，且</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0</m:t>
                    </m:r>
                  </m:oMath>
                </a14:m>
                <a:r>
                  <a:rPr lang="zh-CN" altLang="zh-CN" sz="2000" dirty="0">
                    <a:solidFill>
                      <a:srgbClr val="000000"/>
                    </a:solidFill>
                    <a:effectLst/>
                    <a:latin typeface="+mn-ea"/>
                    <a:ea typeface="+mn-ea"/>
                    <a:cs typeface="+mn-cs"/>
                  </a:rPr>
                  <a:t>，则必有</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0</m:t>
                    </m:r>
                    <m:r>
                      <a:rPr lang="en-US" altLang="zh-CN" sz="2000" i="1">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或</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0</m:t>
                    </m:r>
                  </m:oMath>
                </a14:m>
                <a:r>
                  <a:rPr lang="zh-CN" altLang="zh-CN" sz="2000" dirty="0">
                    <a:solidFill>
                      <a:srgbClr val="000000"/>
                    </a:solidFill>
                    <a:effectLst/>
                    <a:latin typeface="+mn-ea"/>
                    <a:ea typeface="+mn-ea"/>
                    <a:cs typeface="+mn-cs"/>
                  </a:rPr>
                  <a:t>。</a:t>
                </a:r>
                <a:endParaRPr lang="zh-CN" altLang="zh-CN" sz="2000" dirty="0">
                  <a:solidFill>
                    <a:schemeClr val="tx1"/>
                  </a:solidFill>
                  <a:effectLst/>
                  <a:latin typeface="+mn-ea"/>
                  <a:ea typeface="+mn-ea"/>
                  <a:cs typeface="+mn-cs"/>
                </a:endParaRPr>
              </a:p>
              <a:p>
                <a:endParaRPr kumimoji="1"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nvSpPr>
            <p:spPr>
              <a:xfrm>
                <a:off x="230124" y="4992914"/>
                <a:ext cx="11728703" cy="1631216"/>
              </a:xfrm>
              <a:prstGeom prst="rect">
                <a:avLst/>
              </a:prstGeom>
              <a:blipFill>
                <a:blip r:embed="rId4"/>
                <a:stretch>
                  <a:fillRect l="-649" t="-2326" r="-541"/>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5405511"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的</a:t>
            </a:r>
            <a:r>
              <a:rPr lang="zh-CN" altLang="en-US" sz="2400" b="1" dirty="0">
                <a:solidFill>
                  <a:srgbClr val="C00000"/>
                </a:solidFill>
              </a:rPr>
              <a:t>基础数理知识</a:t>
            </a:r>
          </a:p>
        </p:txBody>
      </p:sp>
      <p:sp>
        <p:nvSpPr>
          <p:cNvPr id="5" name="Rounded Rectangle 9"/>
          <p:cNvSpPr/>
          <p:nvPr/>
        </p:nvSpPr>
        <p:spPr>
          <a:xfrm>
            <a:off x="340034" y="5117686"/>
            <a:ext cx="11484865" cy="980885"/>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9"/>
          <p:cNvSpPr/>
          <p:nvPr/>
        </p:nvSpPr>
        <p:spPr>
          <a:xfrm>
            <a:off x="502919" y="1418469"/>
            <a:ext cx="11183112" cy="1947295"/>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5"/>
              <p:cNvSpPr txBox="1"/>
              <p:nvPr/>
            </p:nvSpPr>
            <p:spPr>
              <a:xfrm>
                <a:off x="638737" y="1502363"/>
                <a:ext cx="10755232" cy="2265338"/>
              </a:xfrm>
              <a:prstGeom prst="rect">
                <a:avLst/>
              </a:prstGeom>
              <a:noFill/>
            </p:spPr>
            <p:txBody>
              <a:bodyPr wrap="square" lIns="0" tIns="0" rIns="0" bIns="0" anchor="t">
                <a:noAutofit/>
              </a:bodyPr>
              <a:lstStyle/>
              <a:p>
                <a:pPr indent="0" algn="just">
                  <a:spcBef>
                    <a:spcPts val="0"/>
                  </a:spcBef>
                  <a:spcAft>
                    <a:spcPts val="600"/>
                  </a:spcAft>
                  <a:buClr>
                    <a:srgbClr val="C00000"/>
                  </a:buClr>
                  <a:buFont typeface="Wingdings" panose="05000000000000000000" charset="0"/>
                  <a:buNone/>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.6</a:t>
                </a:r>
                <a:r>
                  <a:rPr lang="zh-CN" altLang="en-US" sz="2000" b="1" i="0" dirty="0">
                    <a:solidFill>
                      <a:srgbClr val="C00000"/>
                    </a:solidFill>
                    <a:latin typeface="微软雅黑" panose="020B0503020204020204" charset="-122"/>
                    <a:ea typeface="微软雅黑" panose="020B0503020204020204" charset="-122"/>
                  </a:rPr>
                  <a:t>　域（教材原文）：</a:t>
                </a:r>
              </a:p>
              <a:p>
                <a:pPr indent="266700" algn="just">
                  <a:lnSpc>
                    <a:spcPct val="130000"/>
                  </a:lnSpc>
                  <a:buNone/>
                </a:pPr>
                <a:r>
                  <a:rPr lang="zh-CN" altLang="zh-CN" sz="2000" dirty="0">
                    <a:solidFill>
                      <a:srgbClr val="000000"/>
                    </a:solidFill>
                    <a:effectLst/>
                    <a:latin typeface="+mn-ea"/>
                    <a:ea typeface="+mn-ea"/>
                    <a:cs typeface="+mn-cs"/>
                  </a:rPr>
                  <a:t>对于非空集合</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𝔽</m:t>
                    </m:r>
                    <m:r>
                      <a:rPr lang="zh-CN" altLang="en-US" sz="2000" b="0" i="1" smtClean="0">
                        <a:solidFill>
                          <a:srgbClr val="000000"/>
                        </a:solidFill>
                        <a:effectLst/>
                        <a:latin typeface="Cambria Math" panose="02040503050406030204" pitchFamily="18" charset="0"/>
                        <a:ea typeface="+mn-ea"/>
                        <a:cs typeface="+mn-cs"/>
                      </a:rPr>
                      <m:t> </m:t>
                    </m:r>
                  </m:oMath>
                </a14:m>
                <a:r>
                  <a:rPr lang="zh-CN" altLang="zh-CN" sz="2000" dirty="0">
                    <a:solidFill>
                      <a:srgbClr val="000000"/>
                    </a:solidFill>
                    <a:effectLst/>
                    <a:latin typeface="+mn-ea"/>
                    <a:ea typeface="+mn-ea"/>
                    <a:cs typeface="+mn-cs"/>
                  </a:rPr>
                  <a:t>和</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𝔽</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上的两个二元运算</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m:t>
                    </m:r>
                    <m:r>
                      <a:rPr lang="zh-CN" altLang="en-US" sz="2000" b="0" i="1"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m:t>
                    </m:r>
                    <m:r>
                      <a:rPr lang="zh-CN" altLang="en-US" sz="2000" b="0" i="0" smtClean="0">
                        <a:solidFill>
                          <a:srgbClr val="000000"/>
                        </a:solidFill>
                        <a:effectLst/>
                        <a:latin typeface="Cambria Math" panose="02040503050406030204" pitchFamily="18" charset="0"/>
                        <a:ea typeface="+mn-ea"/>
                        <a:cs typeface="+mn-cs"/>
                      </a:rPr>
                      <m:t>（</m:t>
                    </m:r>
                  </m:oMath>
                </a14:m>
                <a:r>
                  <a:rPr lang="zh-CN" altLang="zh-CN" sz="2000" dirty="0">
                    <a:solidFill>
                      <a:srgbClr val="000000"/>
                    </a:solidFill>
                    <a:effectLst/>
                    <a:latin typeface="+mn-ea"/>
                    <a:ea typeface="+mn-ea"/>
                    <a:cs typeface="+mn-cs"/>
                  </a:rPr>
                  <a:t>分别为加法运算和乘法运算</a:t>
                </a:r>
                <a:r>
                  <a:rPr lang="zh-CN" altLang="en-US" sz="2000" dirty="0">
                    <a:solidFill>
                      <a:srgbClr val="000000"/>
                    </a:solidFill>
                    <a:effectLst/>
                    <a:latin typeface="+mn-ea"/>
                    <a:ea typeface="+mn-ea"/>
                    <a:cs typeface="+mn-cs"/>
                  </a:rPr>
                  <a:t>）</a:t>
                </a:r>
                <a:r>
                  <a:rPr lang="zh-CN" altLang="zh-CN" sz="2000" dirty="0">
                    <a:solidFill>
                      <a:srgbClr val="000000"/>
                    </a:solidFill>
                    <a:effectLst/>
                    <a:latin typeface="+mn-ea"/>
                    <a:ea typeface="+mn-ea"/>
                    <a:cs typeface="+mn-cs"/>
                  </a:rPr>
                  <a:t>。对于</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𝔽</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上任意元素</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𝑏</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𝑐</m:t>
                    </m:r>
                  </m:oMath>
                </a14:m>
                <a:r>
                  <a:rPr lang="en-US" altLang="zh-CN"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满足如下条件，则称</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𝔽</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为一个域。</a:t>
                </a:r>
                <a:endParaRPr lang="zh-CN" altLang="zh-CN" sz="2000" dirty="0">
                  <a:effectLst/>
                  <a:latin typeface="+mn-ea"/>
                  <a:ea typeface="+mn-ea"/>
                  <a:cs typeface="+mn-cs"/>
                </a:endParaRPr>
              </a:p>
              <a:p>
                <a:pPr marL="342900" lvl="0" indent="-342900" algn="just">
                  <a:buClr>
                    <a:srgbClr val="C00000"/>
                  </a:buClr>
                  <a:buFont typeface="Wingdings" panose="05000000000000000000" pitchFamily="2" charset="2"/>
                  <a:buChar char="p"/>
                </a:pP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𝔽</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是一个整环。</a:t>
                </a:r>
                <a:endParaRPr lang="zh-CN" altLang="zh-CN" sz="2000" dirty="0">
                  <a:effectLst/>
                  <a:latin typeface="+mn-ea"/>
                  <a:ea typeface="+mn-ea"/>
                  <a:cs typeface="+mn-cs"/>
                </a:endParaRPr>
              </a:p>
              <a:p>
                <a:pPr marL="342900" lvl="0" indent="-342900" algn="just">
                  <a:buClr>
                    <a:srgbClr val="C00000"/>
                  </a:buClr>
                  <a:buFont typeface="Wingdings" panose="05000000000000000000" pitchFamily="2" charset="2"/>
                  <a:buChar char="p"/>
                </a:pPr>
                <a:r>
                  <a:rPr lang="zh-CN" altLang="zh-CN" sz="2000" b="1" dirty="0">
                    <a:solidFill>
                      <a:srgbClr val="000000"/>
                    </a:solidFill>
                    <a:effectLst/>
                    <a:latin typeface="+mn-ea"/>
                    <a:ea typeface="+mn-ea"/>
                    <a:cs typeface="+mn-cs"/>
                  </a:rPr>
                  <a:t>存在乘法逆元</a:t>
                </a:r>
                <a:r>
                  <a:rPr lang="zh-CN" altLang="zh-CN" sz="2000" dirty="0">
                    <a:solidFill>
                      <a:srgbClr val="000000"/>
                    </a:solidFill>
                    <a:effectLst/>
                    <a:latin typeface="+mn-ea"/>
                    <a:ea typeface="+mn-ea"/>
                    <a:cs typeface="+mn-cs"/>
                  </a:rPr>
                  <a:t>：对于</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mn-cs"/>
                      </a:rPr>
                      <m:t> </m:t>
                    </m:r>
                    <m:r>
                      <a:rPr lang="en-US" altLang="zh-CN" sz="2000" i="1">
                        <a:solidFill>
                          <a:srgbClr val="000000"/>
                        </a:solidFill>
                        <a:effectLst/>
                        <a:latin typeface="Cambria Math" panose="02040503050406030204" pitchFamily="18" charset="0"/>
                        <a:ea typeface="+mn-ea"/>
                        <a:cs typeface="+mn-cs"/>
                      </a:rPr>
                      <m:t>𝔽</m:t>
                    </m:r>
                  </m:oMath>
                </a14:m>
                <a:r>
                  <a:rPr lang="zh-CN" altLang="en-US" sz="2000" dirty="0">
                    <a:solidFill>
                      <a:srgbClr val="000000"/>
                    </a:solidFill>
                    <a:effectLst/>
                    <a:latin typeface="+mn-ea"/>
                    <a:ea typeface="+mn-ea"/>
                    <a:cs typeface="+mn-cs"/>
                  </a:rPr>
                  <a:t> </a:t>
                </a:r>
                <a:r>
                  <a:rPr lang="zh-CN" altLang="zh-CN" sz="2000" dirty="0">
                    <a:solidFill>
                      <a:srgbClr val="000000"/>
                    </a:solidFill>
                    <a:effectLst/>
                    <a:latin typeface="+mn-ea"/>
                    <a:ea typeface="+mn-ea"/>
                    <a:cs typeface="+mn-cs"/>
                  </a:rPr>
                  <a:t>中任意元素</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0</m:t>
                    </m:r>
                  </m:oMath>
                </a14:m>
                <a:r>
                  <a:rPr lang="zh-CN" altLang="zh-CN" sz="2000" dirty="0">
                    <a:solidFill>
                      <a:srgbClr val="000000"/>
                    </a:solidFill>
                    <a:effectLst/>
                    <a:latin typeface="+mn-ea"/>
                    <a:ea typeface="+mn-ea"/>
                    <a:cs typeface="+mn-cs"/>
                  </a:rPr>
                  <a:t>，存在</a:t>
                </a:r>
                <a:r>
                  <a:rPr lang="zh-CN" altLang="en-US" sz="2000" dirty="0">
                    <a:solidFill>
                      <a:srgbClr val="000000"/>
                    </a:solidFill>
                    <a:effectLst/>
                    <a:latin typeface="+mn-ea"/>
                    <a:ea typeface="+mn-ea"/>
                    <a:cs typeface="+mn-cs"/>
                  </a:rPr>
                  <a:t> </a:t>
                </a:r>
                <a14:m>
                  <m:oMath xmlns:m="http://schemas.openxmlformats.org/officeDocument/2006/math">
                    <m:sSup>
                      <m:sSupPr>
                        <m:ctrlPr>
                          <a:rPr lang="zh-CN" altLang="zh-CN" sz="2000" i="1">
                            <a:solidFill>
                              <a:srgbClr val="000000"/>
                            </a:solidFill>
                            <a:effectLst/>
                            <a:latin typeface="Cambria Math" panose="02040503050406030204" pitchFamily="18" charset="0"/>
                            <a:ea typeface="+mn-ea"/>
                            <a:cs typeface="+mn-cs"/>
                          </a:rPr>
                        </m:ctrlPr>
                      </m:sSupPr>
                      <m:e>
                        <m:r>
                          <a:rPr lang="en-US" altLang="zh-CN" sz="2000" i="1">
                            <a:solidFill>
                              <a:srgbClr val="000000"/>
                            </a:solidFill>
                            <a:effectLst/>
                            <a:latin typeface="Cambria Math" panose="02040503050406030204" pitchFamily="18" charset="0"/>
                            <a:ea typeface="+mn-ea"/>
                            <a:cs typeface="+mn-cs"/>
                          </a:rPr>
                          <m:t>𝑎</m:t>
                        </m:r>
                      </m:e>
                      <m:sup>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1</m:t>
                        </m:r>
                      </m:sup>
                    </m:sSup>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𝔽</m:t>
                    </m:r>
                  </m:oMath>
                </a14:m>
                <a:r>
                  <a:rPr lang="zh-CN" altLang="zh-CN" sz="2000" dirty="0">
                    <a:solidFill>
                      <a:srgbClr val="000000"/>
                    </a:solidFill>
                    <a:effectLst/>
                    <a:latin typeface="+mn-ea"/>
                    <a:ea typeface="+mn-ea"/>
                    <a:cs typeface="+mn-cs"/>
                  </a:rPr>
                  <a:t>，使得</a:t>
                </a:r>
                <a:r>
                  <a:rPr lang="zh-CN" altLang="en-US" sz="2000" dirty="0">
                    <a:solidFill>
                      <a:srgbClr val="000000"/>
                    </a:solidFill>
                    <a:effectLst/>
                    <a:latin typeface="+mn-ea"/>
                    <a:ea typeface="+mn-ea"/>
                    <a:cs typeface="+mn-cs"/>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latin typeface="Cambria Math" panose="02040503050406030204" pitchFamily="18" charset="0"/>
                      </a:rPr>
                      <m:t>×</m:t>
                    </m:r>
                    <m:sSup>
                      <m:sSupPr>
                        <m:ctrlPr>
                          <a:rPr lang="zh-CN" altLang="zh-CN" sz="2000" i="1">
                            <a:solidFill>
                              <a:srgbClr val="000000"/>
                            </a:solidFill>
                            <a:effectLst/>
                            <a:latin typeface="Cambria Math" panose="02040503050406030204" pitchFamily="18" charset="0"/>
                            <a:ea typeface="+mn-ea"/>
                            <a:cs typeface="+mn-cs"/>
                          </a:rPr>
                        </m:ctrlPr>
                      </m:sSupPr>
                      <m:e>
                        <m:r>
                          <a:rPr lang="en-US" altLang="zh-CN" sz="2000" i="1">
                            <a:solidFill>
                              <a:srgbClr val="000000"/>
                            </a:solidFill>
                            <a:effectLst/>
                            <a:latin typeface="Cambria Math" panose="02040503050406030204" pitchFamily="18" charset="0"/>
                            <a:ea typeface="+mn-ea"/>
                            <a:cs typeface="+mn-cs"/>
                          </a:rPr>
                          <m:t>𝑎</m:t>
                        </m:r>
                      </m:e>
                      <m:sup>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1</m:t>
                        </m:r>
                      </m:sup>
                    </m:sSup>
                    <m:r>
                      <a:rPr lang="en-US" altLang="zh-CN" sz="2000" i="1">
                        <a:solidFill>
                          <a:srgbClr val="000000"/>
                        </a:solidFill>
                        <a:effectLst/>
                        <a:latin typeface="Cambria Math" panose="02040503050406030204" pitchFamily="18" charset="0"/>
                        <a:ea typeface="+mn-ea"/>
                        <a:cs typeface="+mn-cs"/>
                      </a:rPr>
                      <m:t>=</m:t>
                    </m:r>
                    <m:sSup>
                      <m:sSupPr>
                        <m:ctrlPr>
                          <a:rPr lang="zh-CN" altLang="zh-CN" sz="2000" i="1">
                            <a:solidFill>
                              <a:srgbClr val="000000"/>
                            </a:solidFill>
                            <a:effectLst/>
                            <a:latin typeface="Cambria Math" panose="02040503050406030204" pitchFamily="18" charset="0"/>
                            <a:ea typeface="+mn-ea"/>
                            <a:cs typeface="+mn-cs"/>
                          </a:rPr>
                        </m:ctrlPr>
                      </m:sSupPr>
                      <m:e>
                        <m:r>
                          <a:rPr lang="en-US" altLang="zh-CN" sz="2000" i="1">
                            <a:solidFill>
                              <a:srgbClr val="000000"/>
                            </a:solidFill>
                            <a:effectLst/>
                            <a:latin typeface="Cambria Math" panose="02040503050406030204" pitchFamily="18" charset="0"/>
                            <a:ea typeface="+mn-ea"/>
                            <a:cs typeface="+mn-cs"/>
                          </a:rPr>
                          <m:t>𝑎</m:t>
                        </m:r>
                      </m:e>
                      <m:sup>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effectLst/>
                            <a:latin typeface="Cambria Math" panose="02040503050406030204" pitchFamily="18" charset="0"/>
                            <a:ea typeface="+mn-ea"/>
                            <a:cs typeface="+mn-cs"/>
                          </a:rPr>
                          <m:t>1</m:t>
                        </m:r>
                      </m:sup>
                    </m:sSup>
                    <m:r>
                      <a:rPr lang="en-US" altLang="zh-CN" sz="2000" i="1">
                        <a:solidFill>
                          <a:srgbClr val="000000"/>
                        </a:solidFill>
                        <a:latin typeface="Cambria Math" panose="02040503050406030204" pitchFamily="18" charset="0"/>
                      </a:rPr>
                      <m:t>×</m:t>
                    </m:r>
                    <m:r>
                      <a:rPr lang="en-US" altLang="zh-CN" sz="2000" i="1">
                        <a:solidFill>
                          <a:srgbClr val="000000"/>
                        </a:solidFill>
                        <a:effectLst/>
                        <a:latin typeface="Cambria Math" panose="02040503050406030204" pitchFamily="18" charset="0"/>
                        <a:ea typeface="+mn-ea"/>
                        <a:cs typeface="+mn-cs"/>
                      </a:rPr>
                      <m:t>𝑎</m:t>
                    </m:r>
                    <m:r>
                      <a:rPr lang="en-US" altLang="zh-CN" sz="2000" i="1">
                        <a:solidFill>
                          <a:srgbClr val="000000"/>
                        </a:solidFill>
                        <a:effectLst/>
                        <a:latin typeface="Cambria Math" panose="02040503050406030204" pitchFamily="18" charset="0"/>
                        <a:ea typeface="+mn-ea"/>
                        <a:cs typeface="+mn-cs"/>
                      </a:rPr>
                      <m:t>=</m:t>
                    </m:r>
                    <m:r>
                      <a:rPr lang="en-US" altLang="zh-CN" sz="2000" i="1">
                        <a:solidFill>
                          <a:srgbClr val="000000"/>
                        </a:solidFill>
                        <a:latin typeface="Cambria Math" panose="02040503050406030204" pitchFamily="18" charset="0"/>
                        <a:ea typeface="+mn-ea"/>
                        <a:cs typeface="+mn-cs"/>
                      </a:rPr>
                      <m:t>𝑒</m:t>
                    </m:r>
                  </m:oMath>
                </a14:m>
                <a:r>
                  <a:rPr lang="zh-CN" altLang="zh-CN" sz="2000" dirty="0">
                    <a:solidFill>
                      <a:srgbClr val="000000"/>
                    </a:solidFill>
                    <a:effectLst/>
                    <a:latin typeface="+mn-ea"/>
                    <a:ea typeface="+mn-ea"/>
                    <a:cs typeface="+mn-cs"/>
                  </a:rPr>
                  <a:t>成立。</a:t>
                </a:r>
                <a:endParaRPr lang="zh-CN" altLang="zh-CN" sz="2000" dirty="0">
                  <a:effectLst/>
                  <a:latin typeface="+mn-ea"/>
                  <a:ea typeface="+mn-ea"/>
                  <a:cs typeface="+mn-cs"/>
                </a:endParaRPr>
              </a:p>
            </p:txBody>
          </p:sp>
        </mc:Choice>
        <mc:Fallback xmlns="">
          <p:sp>
            <p:nvSpPr>
              <p:cNvPr id="7" name="TextBox 5"/>
              <p:cNvSpPr txBox="1">
                <a:spLocks noRot="1" noChangeAspect="1" noMove="1" noResize="1" noEditPoints="1" noAdjustHandles="1" noChangeArrowheads="1" noChangeShapeType="1" noTextEdit="1"/>
              </p:cNvSpPr>
              <p:nvPr/>
            </p:nvSpPr>
            <p:spPr>
              <a:xfrm>
                <a:off x="638737" y="1502363"/>
                <a:ext cx="10755232" cy="2265338"/>
              </a:xfrm>
              <a:prstGeom prst="rect">
                <a:avLst/>
              </a:prstGeom>
              <a:blipFill>
                <a:blip r:embed="rId3"/>
                <a:stretch>
                  <a:fillRect l="-1533" t="-3911" r="-14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502919" y="3459502"/>
                <a:ext cx="11321980" cy="1458604"/>
              </a:xfrm>
              <a:prstGeom prst="rect">
                <a:avLst/>
              </a:prstGeom>
              <a:noFill/>
            </p:spPr>
            <p:txBody>
              <a:bodyPr wrap="square" rtlCol="0">
                <a:spAutoFit/>
              </a:bodyPr>
              <a:lstStyle/>
              <a:p>
                <a:pPr algn="just">
                  <a:lnSpc>
                    <a:spcPct val="150000"/>
                  </a:lnSpc>
                </a:pPr>
                <a:r>
                  <a:rPr lang="zh-CN" altLang="zh-CN" sz="2000" kern="0" dirty="0">
                    <a:solidFill>
                      <a:srgbClr val="000000"/>
                    </a:solidFill>
                    <a:latin typeface="+mn-ea"/>
                  </a:rPr>
                  <a:t>若域</a:t>
                </a:r>
                <a:r>
                  <a:rPr lang="en-US" altLang="zh-CN" sz="2000" kern="0" dirty="0">
                    <a:solidFill>
                      <a:srgbClr val="000000"/>
                    </a:solidFill>
                    <a:latin typeface="+mn-ea"/>
                  </a:rPr>
                  <a:t> </a:t>
                </a:r>
                <a14:m>
                  <m:oMath xmlns:m="http://schemas.openxmlformats.org/officeDocument/2006/math">
                    <m:r>
                      <a:rPr lang="en-US" altLang="zh-CN" sz="2000" i="1" kern="0">
                        <a:solidFill>
                          <a:srgbClr val="000000"/>
                        </a:solidFill>
                        <a:latin typeface="Cambria Math" panose="02040503050406030204" pitchFamily="18" charset="0"/>
                      </a:rPr>
                      <m:t>𝔽</m:t>
                    </m:r>
                    <m:r>
                      <a:rPr lang="en-US" altLang="zh-CN" sz="2000" b="0" i="1" kern="0" smtClean="0">
                        <a:solidFill>
                          <a:srgbClr val="000000"/>
                        </a:solidFill>
                        <a:latin typeface="Cambria Math" panose="02040503050406030204" pitchFamily="18" charset="0"/>
                      </a:rPr>
                      <m:t> </m:t>
                    </m:r>
                  </m:oMath>
                </a14:m>
                <a:r>
                  <a:rPr lang="zh-CN" altLang="zh-CN" sz="2000" kern="0" dirty="0">
                    <a:solidFill>
                      <a:srgbClr val="000000"/>
                    </a:solidFill>
                    <a:latin typeface="+mn-ea"/>
                  </a:rPr>
                  <a:t>只包含有限个元素，则称其为有限域。有限域中元素个数称为它的阶。有限域的阶必为素数幂，可表示为</a:t>
                </a:r>
                <a:r>
                  <a:rPr lang="en-US" altLang="zh-CN" sz="2000" kern="0" dirty="0">
                    <a:solidFill>
                      <a:srgbClr val="000000"/>
                    </a:solidFill>
                    <a:latin typeface="+mn-ea"/>
                  </a:rPr>
                  <a:t> </a:t>
                </a:r>
                <a14:m>
                  <m:oMath xmlns:m="http://schemas.openxmlformats.org/officeDocument/2006/math">
                    <m:sSup>
                      <m:sSupPr>
                        <m:ctrlPr>
                          <a:rPr lang="zh-CN" altLang="zh-CN" sz="2000" i="1">
                            <a:solidFill>
                              <a:srgbClr val="000000"/>
                            </a:solidFill>
                            <a:latin typeface="Cambria Math" panose="02040503050406030204" pitchFamily="18" charset="0"/>
                          </a:rPr>
                        </m:ctrlPr>
                      </m:sSupPr>
                      <m:e>
                        <m:r>
                          <a:rPr lang="en-US" altLang="zh-CN" sz="2000" i="1" kern="0">
                            <a:solidFill>
                              <a:srgbClr val="000000"/>
                            </a:solidFill>
                            <a:latin typeface="Cambria Math" panose="02040503050406030204" pitchFamily="18" charset="0"/>
                          </a:rPr>
                          <m:t>𝑝</m:t>
                        </m:r>
                      </m:e>
                      <m:sup>
                        <m:r>
                          <a:rPr lang="en-US" altLang="zh-CN" sz="2000" i="1" kern="0">
                            <a:solidFill>
                              <a:srgbClr val="000000"/>
                            </a:solidFill>
                            <a:latin typeface="Cambria Math" panose="02040503050406030204" pitchFamily="18" charset="0"/>
                          </a:rPr>
                          <m:t>𝑛</m:t>
                        </m:r>
                      </m:sup>
                    </m:sSup>
                  </m:oMath>
                </a14:m>
                <a:r>
                  <a:rPr lang="zh-CN" altLang="zh-CN" sz="2000" dirty="0">
                    <a:latin typeface="+mn-ea"/>
                  </a:rPr>
                  <a:t> </a:t>
                </a:r>
                <a:r>
                  <a:rPr lang="en-US" altLang="zh-CN" sz="2000" dirty="0">
                    <a:latin typeface="+mn-ea"/>
                  </a:rPr>
                  <a:t>(</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𝑝</m:t>
                    </m:r>
                    <m:r>
                      <a:rPr lang="en-US" altLang="zh-CN" sz="2000" b="0" i="1" smtClean="0">
                        <a:latin typeface="Cambria Math" panose="02040503050406030204" pitchFamily="18" charset="0"/>
                      </a:rPr>
                      <m:t> </m:t>
                    </m:r>
                  </m:oMath>
                </a14:m>
                <a:r>
                  <a:rPr lang="zh-CN" altLang="zh-CN" sz="2000" dirty="0"/>
                  <a:t>为素数，</a:t>
                </a:r>
                <a14:m>
                  <m:oMath xmlns:m="http://schemas.openxmlformats.org/officeDocument/2006/math">
                    <m:r>
                      <a:rPr lang="en-US" altLang="zh-CN" sz="2000" i="1">
                        <a:latin typeface="Cambria Math" panose="02040503050406030204" pitchFamily="18" charset="0"/>
                      </a:rPr>
                      <m:t>𝑛</m:t>
                    </m:r>
                  </m:oMath>
                </a14:m>
                <a:r>
                  <a:rPr lang="en-US" altLang="zh-CN" sz="2000" dirty="0"/>
                  <a:t> </a:t>
                </a:r>
                <a:r>
                  <a:rPr lang="zh-CN" altLang="zh-CN" sz="2000" dirty="0"/>
                  <a:t>为正整数）。素数</a:t>
                </a:r>
                <a:r>
                  <a:rPr lang="en-US" altLang="zh-CN" sz="2000" dirty="0"/>
                  <a:t> </a:t>
                </a:r>
                <a14:m>
                  <m:oMath xmlns:m="http://schemas.openxmlformats.org/officeDocument/2006/math">
                    <m:r>
                      <a:rPr lang="en-US" altLang="zh-CN" sz="2000" i="1">
                        <a:latin typeface="Cambria Math" panose="02040503050406030204" pitchFamily="18" charset="0"/>
                      </a:rPr>
                      <m:t>𝑝</m:t>
                    </m:r>
                  </m:oMath>
                </a14:m>
                <a:r>
                  <a:rPr lang="en-US" altLang="zh-CN" sz="2000" dirty="0"/>
                  <a:t> </a:t>
                </a:r>
                <a:r>
                  <a:rPr lang="zh-CN" altLang="zh-CN" sz="2000" dirty="0"/>
                  <a:t>为该有限域的特征，通常用</a:t>
                </a:r>
                <a:r>
                  <a:rPr lang="en-US" altLang="zh-CN" sz="2000" dirty="0"/>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𝔽</m:t>
                        </m:r>
                      </m:e>
                      <m:sub>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𝑝</m:t>
                            </m:r>
                          </m:e>
                          <m:sup>
                            <m:r>
                              <a:rPr lang="en-US" altLang="zh-CN" sz="2000" i="1">
                                <a:latin typeface="Cambria Math" panose="02040503050406030204" pitchFamily="18" charset="0"/>
                              </a:rPr>
                              <m:t>𝑛</m:t>
                            </m:r>
                          </m:sup>
                        </m:sSup>
                      </m:sub>
                    </m:sSub>
                  </m:oMath>
                </a14:m>
                <a:r>
                  <a:rPr lang="en-US" altLang="zh-CN" sz="2000" dirty="0"/>
                  <a:t> </a:t>
                </a:r>
                <a:r>
                  <a:rPr lang="zh-CN" altLang="zh-CN" sz="2000" dirty="0"/>
                  <a:t>表示阶为</a:t>
                </a:r>
                <a:r>
                  <a:rPr lang="en-US" altLang="zh-CN" sz="2000" dirty="0"/>
                  <a:t> </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𝑝</m:t>
                        </m:r>
                      </m:e>
                      <m:sup>
                        <m:r>
                          <a:rPr lang="en-US" altLang="zh-CN" sz="2000" i="1">
                            <a:latin typeface="Cambria Math" panose="02040503050406030204" pitchFamily="18" charset="0"/>
                          </a:rPr>
                          <m:t>𝑛</m:t>
                        </m:r>
                      </m:sup>
                    </m:sSup>
                  </m:oMath>
                </a14:m>
                <a:r>
                  <a:rPr lang="en-US" altLang="zh-CN" sz="2000" dirty="0"/>
                  <a:t> </a:t>
                </a:r>
                <a:r>
                  <a:rPr lang="zh-CN" altLang="zh-CN" sz="2000" dirty="0"/>
                  <a:t>元的有限域。</a:t>
                </a:r>
                <a:endParaRPr lang="zh-CN" altLang="zh-CN" sz="2000" dirty="0">
                  <a:latin typeface="+mn-ea"/>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502919" y="3459502"/>
                <a:ext cx="11321980" cy="1458604"/>
              </a:xfrm>
              <a:prstGeom prst="rect">
                <a:avLst/>
              </a:prstGeom>
              <a:blipFill>
                <a:blip r:embed="rId4"/>
                <a:stretch>
                  <a:fillRect l="-560" r="-560" b="-68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40034" y="5352150"/>
                <a:ext cx="11384281" cy="494751"/>
              </a:xfrm>
              <a:prstGeom prst="rect">
                <a:avLst/>
              </a:prstGeom>
              <a:noFill/>
            </p:spPr>
            <p:txBody>
              <a:bodyPr wrap="square">
                <a:spAutoFit/>
              </a:bodyPr>
              <a:lstStyle/>
              <a:p>
                <a:r>
                  <a:rPr lang="zh-CN" altLang="zh-CN" sz="2400" kern="0" dirty="0">
                    <a:solidFill>
                      <a:srgbClr val="000000"/>
                    </a:solidFill>
                    <a:effectLst/>
                    <a:latin typeface="+mn-ea"/>
                    <a:ea typeface="+mn-ea"/>
                    <a:cs typeface="Times New Roman" panose="02020503050405090304" pitchFamily="18" charset="0"/>
                  </a:rPr>
                  <a:t>我们易知</a:t>
                </a:r>
                <a14:m>
                  <m:oMath xmlns:m="http://schemas.openxmlformats.org/officeDocument/2006/math">
                    <m:sSub>
                      <m:sSubPr>
                        <m:ctrlPr>
                          <a:rPr lang="zh-CN" altLang="zh-CN" sz="2400" i="1">
                            <a:solidFill>
                              <a:srgbClr val="000000"/>
                            </a:solidFill>
                            <a:effectLst/>
                            <a:latin typeface="Cambria Math" panose="02040503050406030204" pitchFamily="18" charset="0"/>
                            <a:ea typeface="+mn-ea"/>
                          </a:rPr>
                        </m:ctrlPr>
                      </m:sSubPr>
                      <m:e>
                        <m:r>
                          <a:rPr lang="en-US" altLang="zh-CN" sz="2400" b="0" i="1" smtClean="0">
                            <a:solidFill>
                              <a:srgbClr val="000000"/>
                            </a:solidFill>
                            <a:effectLst/>
                            <a:latin typeface="Cambria Math" panose="02040503050406030204" pitchFamily="18" charset="0"/>
                            <a:ea typeface="+mn-ea"/>
                          </a:rPr>
                          <m:t> </m:t>
                        </m:r>
                        <m:r>
                          <a:rPr lang="en-US" altLang="zh-CN" sz="2400" i="1" kern="0">
                            <a:solidFill>
                              <a:srgbClr val="000000"/>
                            </a:solidFill>
                            <a:effectLst/>
                            <a:latin typeface="Cambria Math" panose="02040503050406030204" pitchFamily="18" charset="0"/>
                            <a:ea typeface="+mn-ea"/>
                            <a:cs typeface="宋体" pitchFamily="2" charset="-122"/>
                          </a:rPr>
                          <m:t>ℤ</m:t>
                        </m:r>
                      </m:e>
                      <m:sub>
                        <m:r>
                          <a:rPr lang="en-US" altLang="zh-CN" sz="2400" i="1" kern="0">
                            <a:solidFill>
                              <a:srgbClr val="000000"/>
                            </a:solidFill>
                            <a:effectLst/>
                            <a:latin typeface="Cambria Math" panose="02040503050406030204" pitchFamily="18" charset="0"/>
                            <a:ea typeface="+mn-ea"/>
                            <a:cs typeface="宋体" pitchFamily="2" charset="-122"/>
                          </a:rPr>
                          <m:t>𝑝</m:t>
                        </m:r>
                      </m:sub>
                    </m:sSub>
                  </m:oMath>
                </a14:m>
                <a:r>
                  <a:rPr lang="en-US" altLang="zh-CN" sz="2400" kern="0" dirty="0">
                    <a:solidFill>
                      <a:srgbClr val="000000"/>
                    </a:solidFill>
                    <a:effectLst/>
                    <a:latin typeface="+mn-ea"/>
                    <a:ea typeface="+mn-ea"/>
                    <a:cs typeface="Times New Roman" panose="02020503050405090304" pitchFamily="18" charset="0"/>
                  </a:rPr>
                  <a:t> </a:t>
                </a:r>
                <a:r>
                  <a:rPr lang="zh-CN" altLang="zh-CN" sz="2400" kern="0" dirty="0">
                    <a:solidFill>
                      <a:srgbClr val="000000"/>
                    </a:solidFill>
                    <a:effectLst/>
                    <a:latin typeface="+mn-ea"/>
                    <a:ea typeface="+mn-ea"/>
                    <a:cs typeface="Times New Roman" panose="02020503050405090304" pitchFamily="18" charset="0"/>
                  </a:rPr>
                  <a:t>关于模</a:t>
                </a:r>
                <a14:m>
                  <m:oMath xmlns:m="http://schemas.openxmlformats.org/officeDocument/2006/math">
                    <m:r>
                      <a:rPr lang="en-US" altLang="zh-CN" sz="2400" b="0" i="0" kern="0" smtClean="0">
                        <a:solidFill>
                          <a:srgbClr val="000000"/>
                        </a:solidFill>
                        <a:effectLst/>
                        <a:latin typeface="Cambria Math" panose="02040503050406030204" pitchFamily="18" charset="0"/>
                        <a:ea typeface="+mn-ea"/>
                        <a:cs typeface="宋体" pitchFamily="2" charset="-122"/>
                      </a:rPr>
                      <m:t> </m:t>
                    </m:r>
                    <m:r>
                      <a:rPr lang="en-US" altLang="zh-CN" sz="2400" i="1" kern="0">
                        <a:solidFill>
                          <a:srgbClr val="000000"/>
                        </a:solidFill>
                        <a:effectLst/>
                        <a:latin typeface="Cambria Math" panose="02040503050406030204" pitchFamily="18" charset="0"/>
                        <a:ea typeface="+mn-ea"/>
                        <a:cs typeface="宋体" pitchFamily="2" charset="-122"/>
                      </a:rPr>
                      <m:t>𝑝</m:t>
                    </m:r>
                  </m:oMath>
                </a14:m>
                <a:r>
                  <a:rPr lang="en-US" altLang="zh-CN" sz="2400" kern="0" dirty="0">
                    <a:solidFill>
                      <a:srgbClr val="000000"/>
                    </a:solidFill>
                    <a:effectLst/>
                    <a:latin typeface="+mn-ea"/>
                    <a:ea typeface="+mn-ea"/>
                    <a:cs typeface="Times New Roman" panose="02020503050405090304" pitchFamily="18" charset="0"/>
                  </a:rPr>
                  <a:t> </a:t>
                </a:r>
                <a:r>
                  <a:rPr lang="zh-CN" altLang="zh-CN" sz="2400" kern="0" dirty="0">
                    <a:solidFill>
                      <a:srgbClr val="000000"/>
                    </a:solidFill>
                    <a:effectLst/>
                    <a:latin typeface="+mn-ea"/>
                    <a:ea typeface="+mn-ea"/>
                    <a:cs typeface="Times New Roman" panose="02020503050405090304" pitchFamily="18" charset="0"/>
                  </a:rPr>
                  <a:t>加法和模</a:t>
                </a:r>
                <a:r>
                  <a:rPr lang="en-US" altLang="zh-CN" sz="2400" kern="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400" i="1" kern="0">
                        <a:solidFill>
                          <a:srgbClr val="000000"/>
                        </a:solidFill>
                        <a:effectLst/>
                        <a:latin typeface="Cambria Math" panose="02040503050406030204" pitchFamily="18" charset="0"/>
                        <a:ea typeface="+mn-ea"/>
                        <a:cs typeface="宋体" pitchFamily="2" charset="-122"/>
                      </a:rPr>
                      <m:t>𝑝</m:t>
                    </m:r>
                    <m:r>
                      <a:rPr lang="en-US" altLang="zh-CN" sz="2400" b="0" i="1" kern="0" smtClean="0">
                        <a:solidFill>
                          <a:srgbClr val="000000"/>
                        </a:solidFill>
                        <a:effectLst/>
                        <a:latin typeface="Cambria Math" panose="02040503050406030204" pitchFamily="18" charset="0"/>
                        <a:ea typeface="+mn-ea"/>
                        <a:cs typeface="宋体" pitchFamily="2" charset="-122"/>
                      </a:rPr>
                      <m:t> </m:t>
                    </m:r>
                  </m:oMath>
                </a14:m>
                <a:r>
                  <a:rPr lang="zh-CN" altLang="zh-CN" sz="2400" kern="0" dirty="0">
                    <a:solidFill>
                      <a:srgbClr val="000000"/>
                    </a:solidFill>
                    <a:effectLst/>
                    <a:latin typeface="+mn-ea"/>
                    <a:ea typeface="+mn-ea"/>
                    <a:cs typeface="Times New Roman" panose="02020503050405090304" pitchFamily="18" charset="0"/>
                  </a:rPr>
                  <a:t>乘法构成一个域</a:t>
                </a:r>
                <a:r>
                  <a:rPr lang="zh-CN" altLang="en-US" sz="2400" kern="0" dirty="0">
                    <a:solidFill>
                      <a:srgbClr val="000000"/>
                    </a:solidFill>
                    <a:latin typeface="+mn-ea"/>
                    <a:ea typeface="+mn-ea"/>
                    <a:cs typeface="Times New Roman" panose="02020503050405090304" pitchFamily="18" charset="0"/>
                  </a:rPr>
                  <a:t>，因此在密码学中 </a:t>
                </a:r>
                <a14:m>
                  <m:oMath xmlns:m="http://schemas.openxmlformats.org/officeDocument/2006/math">
                    <m:sSub>
                      <m:sSubPr>
                        <m:ctrlPr>
                          <a:rPr lang="zh-CN" altLang="zh-CN" sz="24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4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4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400" kern="0" dirty="0">
                    <a:solidFill>
                      <a:srgbClr val="000000"/>
                    </a:solidFill>
                    <a:effectLst/>
                    <a:latin typeface="+mn-ea"/>
                    <a:ea typeface="+mn-ea"/>
                    <a:cs typeface="Times New Roman" panose="02020503050405090304" pitchFamily="18" charset="0"/>
                  </a:rPr>
                  <a:t> </a:t>
                </a:r>
                <a:r>
                  <a:rPr lang="zh-CN" altLang="zh-CN" sz="2400" kern="0" dirty="0">
                    <a:solidFill>
                      <a:srgbClr val="000000"/>
                    </a:solidFill>
                    <a:effectLst/>
                    <a:latin typeface="+mn-ea"/>
                    <a:ea typeface="+mn-ea"/>
                    <a:cs typeface="Times New Roman" panose="02020503050405090304" pitchFamily="18" charset="0"/>
                  </a:rPr>
                  <a:t>皆指代</a:t>
                </a:r>
                <a14:m>
                  <m:oMath xmlns:m="http://schemas.openxmlformats.org/officeDocument/2006/math">
                    <m:sSub>
                      <m:sSubPr>
                        <m:ctrlPr>
                          <a:rPr lang="zh-CN" altLang="zh-CN" sz="2400" i="1">
                            <a:solidFill>
                              <a:srgbClr val="000000"/>
                            </a:solidFill>
                            <a:effectLst/>
                            <a:latin typeface="Cambria Math" panose="02040503050406030204" pitchFamily="18" charset="0"/>
                            <a:ea typeface="+mn-ea"/>
                          </a:rPr>
                        </m:ctrlPr>
                      </m:sSubPr>
                      <m:e>
                        <m:r>
                          <a:rPr lang="zh-CN" altLang="en-US" sz="2400" b="0" i="1" smtClean="0">
                            <a:solidFill>
                              <a:srgbClr val="000000"/>
                            </a:solidFill>
                            <a:effectLst/>
                            <a:latin typeface="Cambria Math" panose="02040503050406030204" pitchFamily="18" charset="0"/>
                            <a:ea typeface="+mn-ea"/>
                          </a:rPr>
                          <m:t> </m:t>
                        </m:r>
                        <m:r>
                          <a:rPr lang="en-US" altLang="zh-CN" sz="2400" i="1" kern="0">
                            <a:solidFill>
                              <a:srgbClr val="000000"/>
                            </a:solidFill>
                            <a:effectLst/>
                            <a:latin typeface="Cambria Math" panose="02040503050406030204" pitchFamily="18" charset="0"/>
                            <a:ea typeface="+mn-ea"/>
                            <a:cs typeface="宋体" pitchFamily="2" charset="-122"/>
                          </a:rPr>
                          <m:t>ℤ</m:t>
                        </m:r>
                      </m:e>
                      <m:sub>
                        <m:r>
                          <a:rPr lang="en-US" altLang="zh-CN" sz="2400" i="1" kern="0">
                            <a:solidFill>
                              <a:srgbClr val="000000"/>
                            </a:solidFill>
                            <a:effectLst/>
                            <a:latin typeface="Cambria Math" panose="02040503050406030204" pitchFamily="18" charset="0"/>
                            <a:ea typeface="+mn-ea"/>
                            <a:cs typeface="宋体" pitchFamily="2" charset="-122"/>
                          </a:rPr>
                          <m:t>𝑝</m:t>
                        </m:r>
                      </m:sub>
                    </m:sSub>
                  </m:oMath>
                </a14:m>
                <a:r>
                  <a:rPr lang="zh-CN" altLang="en-US" sz="2400" dirty="0">
                    <a:effectLst/>
                    <a:latin typeface="+mn-ea"/>
                    <a:ea typeface="+mn-ea"/>
                  </a:rPr>
                  <a:t>。</a:t>
                </a:r>
                <a:r>
                  <a:rPr lang="zh-CN" altLang="zh-CN" sz="2400" dirty="0">
                    <a:effectLst/>
                    <a:latin typeface="+mn-ea"/>
                    <a:ea typeface="+mn-ea"/>
                  </a:rPr>
                  <a:t> </a:t>
                </a:r>
                <a:endParaRPr lang="zh-CN" altLang="en-US" sz="2400" dirty="0">
                  <a:latin typeface="+mn-ea"/>
                  <a:ea typeface="+mn-ea"/>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40034" y="5352150"/>
                <a:ext cx="11384281" cy="494751"/>
              </a:xfrm>
              <a:prstGeom prst="rect">
                <a:avLst/>
              </a:prstGeom>
              <a:blipFill>
                <a:blip r:embed="rId5"/>
                <a:stretch>
                  <a:fillRect l="-780" t="-10000" r="-3452" b="-20000"/>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929799"/>
            <a:ext cx="5405511" cy="461665"/>
          </a:xfrm>
          <a:prstGeom prst="rect">
            <a:avLst/>
          </a:prstGeom>
          <a:noFill/>
        </p:spPr>
        <p:txBody>
          <a:bodyPr wrap="square">
            <a:spAutoFit/>
          </a:bodyPr>
          <a:lstStyle/>
          <a:p>
            <a:pPr>
              <a:defRPr sz="1350" b="0">
                <a:solidFill>
                  <a:srgbClr val="8B3D3D"/>
                </a:solidFill>
                <a:latin typeface="Times New Roman" panose="02020503050405090304"/>
                <a:ea typeface="微软雅黑"/>
                <a:cs typeface="Times New Roman" panose="02020503050405090304"/>
              </a:defRPr>
            </a:pPr>
            <a:r>
              <a:rPr lang="en-US" altLang="zh-CN" sz="2400" b="1" dirty="0">
                <a:solidFill>
                  <a:srgbClr val="C00000"/>
                </a:solidFill>
              </a:rPr>
              <a:t>SM2</a:t>
            </a:r>
            <a:r>
              <a:rPr lang="zh-CN" altLang="en-US" sz="2400" b="1" dirty="0">
                <a:solidFill>
                  <a:srgbClr val="C00000"/>
                </a:solidFill>
              </a:rPr>
              <a:t>的椭圆曲线密码体制</a:t>
            </a:r>
          </a:p>
        </p:txBody>
      </p:sp>
      <p:sp>
        <p:nvSpPr>
          <p:cNvPr id="2" name="矩形 1"/>
          <p:cNvSpPr>
            <a:spLocks noGrp="1"/>
          </p:cNvSpPr>
          <p:nvPr/>
        </p:nvSpPr>
        <p:spPr>
          <a:xfrm>
            <a:off x="773594" y="3375317"/>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01</a:t>
            </a:r>
          </a:p>
        </p:txBody>
      </p:sp>
      <p:sp>
        <p:nvSpPr>
          <p:cNvPr id="3" name="矩形 2"/>
          <p:cNvSpPr>
            <a:spLocks noGrp="1"/>
          </p:cNvSpPr>
          <p:nvPr/>
        </p:nvSpPr>
        <p:spPr>
          <a:xfrm>
            <a:off x="1392719" y="337531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取素数</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&gt;3，系数</a:t>
            </a:r>
            <a:r>
              <a:rPr lang="zh-CN" altLang="en-US" sz="2000" b="0" dirty="0">
                <a:solidFill>
                  <a:srgbClr val="303030"/>
                </a:solidFill>
                <a:latin typeface="Times New Roman" panose="02020503050405090304"/>
                <a:ea typeface="微软雅黑"/>
                <a:cs typeface="Times New Roman" panose="02020503050405090304"/>
              </a:rPr>
              <a:t> </a:t>
            </a:r>
            <a:r>
              <a:rPr sz="2000" b="0" i="1" dirty="0" err="1">
                <a:solidFill>
                  <a:srgbClr val="303030"/>
                </a:solidFill>
                <a:latin typeface="Times New Roman" panose="02020503050405090304"/>
                <a:ea typeface="微软雅黑"/>
                <a:cs typeface="Times New Roman" panose="02020503050405090304"/>
              </a:rPr>
              <a:t>a</a:t>
            </a:r>
            <a:r>
              <a:rPr sz="2000" b="0" dirty="0" err="1">
                <a:solidFill>
                  <a:srgbClr val="303030"/>
                </a:solidFill>
                <a:latin typeface="Times New Roman" panose="02020503050405090304"/>
                <a:ea typeface="微软雅黑"/>
                <a:cs typeface="Times New Roman" panose="02020503050405090304"/>
              </a:rPr>
              <a:t>、</a:t>
            </a:r>
            <a:r>
              <a:rPr sz="2000" b="0" i="1" dirty="0" err="1">
                <a:solidFill>
                  <a:srgbClr val="303030"/>
                </a:solidFill>
                <a:latin typeface="Times New Roman" panose="02020503050405090304"/>
                <a:ea typeface="微软雅黑"/>
                <a:cs typeface="Times New Roman" panose="02020503050405090304"/>
              </a:rPr>
              <a:t>b</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属于</a:t>
            </a:r>
            <a:r>
              <a:rPr sz="2000" b="0" i="1" dirty="0" err="1">
                <a:solidFill>
                  <a:srgbClr val="303030"/>
                </a:solidFill>
                <a:latin typeface="Times New Roman" panose="02020503050405090304"/>
                <a:ea typeface="微软雅黑"/>
                <a:cs typeface="Times New Roman" panose="02020503050405090304"/>
              </a:rPr>
              <a:t>F</a:t>
            </a:r>
            <a:r>
              <a:rPr sz="2000" b="0" i="1" baseline="-25000" dirty="0" err="1">
                <a:solidFill>
                  <a:srgbClr val="303030"/>
                </a:solidFill>
                <a:latin typeface="Times New Roman" panose="02020503050405090304"/>
                <a:ea typeface="微软雅黑"/>
                <a:cs typeface="Times New Roman" panose="02020503050405090304"/>
              </a:rPr>
              <a:t>p</a:t>
            </a:r>
            <a:endParaRPr sz="2000" b="0" i="1" baseline="-25000" dirty="0">
              <a:solidFill>
                <a:srgbClr val="303030"/>
              </a:solidFill>
              <a:latin typeface="Times New Roman" panose="02020503050405090304"/>
              <a:ea typeface="微软雅黑"/>
              <a:cs typeface="Times New Roman" panose="02020503050405090304"/>
            </a:endParaRPr>
          </a:p>
        </p:txBody>
      </p:sp>
      <p:sp>
        <p:nvSpPr>
          <p:cNvPr id="4" name="矩形 3"/>
          <p:cNvSpPr>
            <a:spLocks noGrp="1"/>
          </p:cNvSpPr>
          <p:nvPr/>
        </p:nvSpPr>
        <p:spPr>
          <a:xfrm>
            <a:off x="773594" y="3984917"/>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mc:AlternateContent xmlns:mc="http://schemas.openxmlformats.org/markup-compatibility/2006" xmlns:a14="http://schemas.microsoft.com/office/drawing/2010/main">
        <mc:Choice Requires="a14">
          <p:sp>
            <p:nvSpPr>
              <p:cNvPr id="11" name="矩形 10"/>
              <p:cNvSpPr>
                <a:spLocks noGrp="1"/>
              </p:cNvSpPr>
              <p:nvPr/>
            </p:nvSpPr>
            <p:spPr>
              <a:xfrm>
                <a:off x="1392719" y="398491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曲线由满足同余方程的点及无穷远点</a:t>
                </a:r>
                <a:r>
                  <a:rPr lang="zh-CN" altLang="en-US" sz="2000" b="0" dirty="0">
                    <a:solidFill>
                      <a:srgbClr val="303030"/>
                    </a:solidFill>
                    <a:latin typeface="Times New Roman" panose="02020503050405090304"/>
                    <a:ea typeface="微软雅黑"/>
                    <a:cs typeface="Times New Roman" panose="02020503050405090304"/>
                  </a:rPr>
                  <a:t> </a:t>
                </a:r>
                <a14:m>
                  <m:oMath xmlns:m="http://schemas.openxmlformats.org/officeDocument/2006/math">
                    <m:r>
                      <a:rPr lang="en-US" altLang="zh-CN" sz="2000" i="1" smtClean="0">
                        <a:solidFill>
                          <a:srgbClr val="000000"/>
                        </a:solidFill>
                        <a:effectLst/>
                        <a:latin typeface="Cambria Math" panose="02040503050406030204" pitchFamily="18" charset="0"/>
                        <a:ea typeface="+mn-ea"/>
                        <a:cs typeface="Times New Roman" panose="02020503050405090304" pitchFamily="18" charset="0"/>
                      </a:rPr>
                      <m:t>𝒪</m:t>
                    </m:r>
                  </m:oMath>
                </a14:m>
                <a:r>
                  <a:rPr lang="zh-CN" altLang="en-US" sz="2000" b="0"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组成</a:t>
                </a:r>
                <a:endParaRPr sz="2000" b="0" dirty="0">
                  <a:solidFill>
                    <a:srgbClr val="303030"/>
                  </a:solidFill>
                  <a:latin typeface="Times New Roman" panose="02020503050405090304"/>
                  <a:ea typeface="微软雅黑"/>
                  <a:cs typeface="Times New Roman" panose="02020503050405090304"/>
                </a:endParaRPr>
              </a:p>
            </p:txBody>
          </p:sp>
        </mc:Choice>
        <mc:Fallback xmlns="">
          <p:sp>
            <p:nvSpPr>
              <p:cNvPr id="11" name="矩形 10"/>
              <p:cNvSpPr>
                <a:spLocks noGrp="1" noRot="1" noChangeAspect="1" noMove="1" noResize="1" noEditPoints="1" noAdjustHandles="1" noChangeArrowheads="1" noChangeShapeType="1" noTextEdit="1"/>
              </p:cNvSpPr>
              <p:nvPr/>
            </p:nvSpPr>
            <p:spPr>
              <a:xfrm>
                <a:off x="1392719" y="3984917"/>
                <a:ext cx="10001250" cy="552450"/>
              </a:xfrm>
              <a:prstGeom prst="rect">
                <a:avLst/>
              </a:prstGeom>
              <a:blipFill>
                <a:blip r:embed="rId3"/>
                <a:stretch>
                  <a:fillRect l="-1521" b="-4444"/>
                </a:stretch>
              </a:blipFill>
              <a:ln w="0">
                <a:noFill/>
              </a:ln>
            </p:spPr>
            <p:txBody>
              <a:bodyPr/>
              <a:lstStyle/>
              <a:p>
                <a:r>
                  <a:rPr lang="zh-CN" altLang="en-US">
                    <a:noFill/>
                  </a:rPr>
                  <a:t> </a:t>
                </a:r>
              </a:p>
            </p:txBody>
          </p:sp>
        </mc:Fallback>
      </mc:AlternateContent>
      <p:sp>
        <p:nvSpPr>
          <p:cNvPr id="12" name="矩形 11"/>
          <p:cNvSpPr>
            <a:spLocks noGrp="1"/>
          </p:cNvSpPr>
          <p:nvPr/>
        </p:nvSpPr>
        <p:spPr>
          <a:xfrm>
            <a:off x="773594" y="4594517"/>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03</a:t>
            </a:r>
          </a:p>
        </p:txBody>
      </p:sp>
      <p:sp>
        <p:nvSpPr>
          <p:cNvPr id="15" name="矩形 14"/>
          <p:cNvSpPr>
            <a:spLocks noGrp="1"/>
          </p:cNvSpPr>
          <p:nvPr/>
        </p:nvSpPr>
        <p:spPr>
          <a:xfrm>
            <a:off x="1392719" y="459451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非奇异条件为</a:t>
            </a:r>
            <a:r>
              <a:rPr lang="zh-CN" altLang="en-US" sz="2000" b="0" dirty="0">
                <a:solidFill>
                  <a:srgbClr val="303030"/>
                </a:solidFill>
                <a:latin typeface="Times New Roman" panose="02020503050405090304"/>
                <a:ea typeface="微软雅黑"/>
                <a:cs typeface="Times New Roman" panose="02020503050405090304"/>
              </a:rPr>
              <a:t> </a:t>
            </a:r>
            <a:r>
              <a:rPr sz="2000" b="0" dirty="0">
                <a:solidFill>
                  <a:srgbClr val="303030"/>
                </a:solidFill>
                <a:latin typeface="Times New Roman" panose="02020503050405090304"/>
                <a:ea typeface="微软雅黑"/>
                <a:cs typeface="Times New Roman" panose="02020503050405090304"/>
              </a:rPr>
              <a:t>4</a:t>
            </a:r>
            <a:r>
              <a:rPr sz="2000" b="0" i="1" dirty="0">
                <a:solidFill>
                  <a:srgbClr val="303030"/>
                </a:solidFill>
                <a:latin typeface="Times New Roman" panose="02020503050405090304"/>
                <a:ea typeface="微软雅黑"/>
                <a:cs typeface="Times New Roman" panose="02020503050405090304"/>
              </a:rPr>
              <a:t>a</a:t>
            </a:r>
            <a:r>
              <a:rPr sz="2000" b="0" dirty="0">
                <a:solidFill>
                  <a:srgbClr val="303030"/>
                </a:solidFill>
                <a:latin typeface="Times New Roman" panose="02020503050405090304"/>
                <a:ea typeface="微软雅黑"/>
                <a:cs typeface="Times New Roman" panose="02020503050405090304"/>
              </a:rPr>
              <a:t>³+27</a:t>
            </a:r>
            <a:r>
              <a:rPr sz="2000" b="0" i="1" dirty="0">
                <a:solidFill>
                  <a:srgbClr val="303030"/>
                </a:solidFill>
                <a:latin typeface="Times New Roman" panose="02020503050405090304"/>
                <a:ea typeface="微软雅黑"/>
                <a:cs typeface="Times New Roman" panose="02020503050405090304"/>
              </a:rPr>
              <a:t>b</a:t>
            </a:r>
            <a:r>
              <a:rPr sz="2000" b="0" dirty="0">
                <a:solidFill>
                  <a:srgbClr val="303030"/>
                </a:solidFill>
                <a:latin typeface="Times New Roman" panose="02020503050405090304"/>
                <a:ea typeface="微软雅黑"/>
                <a:cs typeface="Times New Roman" panose="02020503050405090304"/>
              </a:rPr>
              <a:t>² ≠ 0 (mod </a:t>
            </a:r>
            <a:r>
              <a:rPr sz="2000" b="0" i="1" dirty="0">
                <a:solidFill>
                  <a:srgbClr val="303030"/>
                </a:solidFill>
                <a:latin typeface="Times New Roman" panose="02020503050405090304"/>
                <a:ea typeface="微软雅黑"/>
                <a:cs typeface="Times New Roman" panose="02020503050405090304"/>
              </a:rPr>
              <a:t>p</a:t>
            </a:r>
            <a:r>
              <a:rPr sz="2000" b="0" dirty="0">
                <a:solidFill>
                  <a:srgbClr val="303030"/>
                </a:solidFill>
                <a:latin typeface="Times New Roman" panose="02020503050405090304"/>
                <a:ea typeface="微软雅黑"/>
                <a:cs typeface="Times New Roman" panose="02020503050405090304"/>
              </a:rPr>
              <a:t>)</a:t>
            </a:r>
          </a:p>
        </p:txBody>
      </p:sp>
      <p:sp>
        <p:nvSpPr>
          <p:cNvPr id="16" name="矩形 15"/>
          <p:cNvSpPr>
            <a:spLocks noGrp="1"/>
          </p:cNvSpPr>
          <p:nvPr/>
        </p:nvSpPr>
        <p:spPr>
          <a:xfrm>
            <a:off x="773594" y="5204117"/>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04</a:t>
            </a:r>
          </a:p>
        </p:txBody>
      </p:sp>
      <p:sp>
        <p:nvSpPr>
          <p:cNvPr id="17" name="矩形 16"/>
          <p:cNvSpPr>
            <a:spLocks noGrp="1"/>
          </p:cNvSpPr>
          <p:nvPr/>
        </p:nvSpPr>
        <p:spPr>
          <a:xfrm>
            <a:off x="1392719" y="520411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a:solidFill>
                  <a:srgbClr val="303030"/>
                </a:solidFill>
                <a:latin typeface="Times New Roman" panose="02020503050405090304"/>
                <a:ea typeface="微软雅黑"/>
                <a:cs typeface="Times New Roman" panose="02020503050405090304"/>
              </a:rPr>
              <a:t>有限域曲线的点是离散的</a:t>
            </a:r>
          </a:p>
        </p:txBody>
      </p:sp>
      <p:sp>
        <p:nvSpPr>
          <p:cNvPr id="18" name="圆角矩形 17"/>
          <p:cNvSpPr>
            <a:spLocks noGrp="1"/>
          </p:cNvSpPr>
          <p:nvPr/>
        </p:nvSpPr>
        <p:spPr>
          <a:xfrm>
            <a:off x="773594" y="5832767"/>
            <a:ext cx="10668000" cy="638175"/>
          </a:xfrm>
          <a:prstGeom prst="roundRect">
            <a:avLst>
              <a:gd name="adj" fmla="val 11940"/>
            </a:avLst>
          </a:prstGeom>
          <a:solidFill>
            <a:srgbClr val="FFF1F1"/>
          </a:solidFill>
          <a:ln w="9525">
            <a:solidFill>
              <a:srgbClr val="F3CACA"/>
            </a:solidFill>
          </a:ln>
        </p:spPr>
      </p:sp>
      <p:sp>
        <p:nvSpPr>
          <p:cNvPr id="19" name="矩形 18"/>
          <p:cNvSpPr>
            <a:spLocks noGrp="1"/>
          </p:cNvSpPr>
          <p:nvPr/>
        </p:nvSpPr>
        <p:spPr>
          <a:xfrm>
            <a:off x="1011719" y="5928017"/>
            <a:ext cx="10191750" cy="447675"/>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r>
              <a:rPr sz="2000" b="0" i="1" dirty="0">
                <a:solidFill>
                  <a:srgbClr val="C90012"/>
                </a:solidFill>
                <a:latin typeface="Times New Roman" panose="02020503050405090304"/>
                <a:ea typeface="微软雅黑"/>
                <a:cs typeface="Times New Roman" panose="02020503050405090304"/>
              </a:rPr>
              <a:t>y</a:t>
            </a:r>
            <a:r>
              <a:rPr sz="2000" b="0" dirty="0">
                <a:solidFill>
                  <a:srgbClr val="C90012"/>
                </a:solidFill>
                <a:latin typeface="Times New Roman" panose="02020503050405090304"/>
                <a:ea typeface="微软雅黑"/>
                <a:cs typeface="Times New Roman" panose="02020503050405090304"/>
              </a:rPr>
              <a:t>² ≡ </a:t>
            </a:r>
            <a:r>
              <a:rPr sz="2000" b="0" i="1" dirty="0">
                <a:solidFill>
                  <a:srgbClr val="C90012"/>
                </a:solidFill>
                <a:latin typeface="Times New Roman" panose="02020503050405090304"/>
                <a:ea typeface="微软雅黑"/>
                <a:cs typeface="Times New Roman" panose="02020503050405090304"/>
              </a:rPr>
              <a:t>x³</a:t>
            </a:r>
            <a:r>
              <a:rPr sz="2000" b="0" dirty="0">
                <a:solidFill>
                  <a:srgbClr val="C90012"/>
                </a:solidFill>
                <a:latin typeface="Times New Roman" panose="02020503050405090304"/>
                <a:ea typeface="微软雅黑"/>
                <a:cs typeface="Times New Roman" panose="02020503050405090304"/>
              </a:rPr>
              <a:t> + </a:t>
            </a:r>
            <a:r>
              <a:rPr sz="2000" b="0" i="1" dirty="0">
                <a:solidFill>
                  <a:srgbClr val="C90012"/>
                </a:solidFill>
                <a:latin typeface="Times New Roman" panose="02020503050405090304"/>
                <a:ea typeface="微软雅黑"/>
                <a:cs typeface="Times New Roman" panose="02020503050405090304"/>
              </a:rPr>
              <a:t>ax</a:t>
            </a:r>
            <a:r>
              <a:rPr sz="2000" b="0" dirty="0">
                <a:solidFill>
                  <a:srgbClr val="C90012"/>
                </a:solidFill>
                <a:latin typeface="Times New Roman" panose="02020503050405090304"/>
                <a:ea typeface="微软雅黑"/>
                <a:cs typeface="Times New Roman" panose="02020503050405090304"/>
              </a:rPr>
              <a:t> + </a:t>
            </a:r>
            <a:r>
              <a:rPr sz="2000" b="0" i="1" dirty="0">
                <a:solidFill>
                  <a:srgbClr val="C90012"/>
                </a:solidFill>
                <a:latin typeface="Times New Roman" panose="02020503050405090304"/>
                <a:ea typeface="微软雅黑"/>
                <a:cs typeface="Times New Roman" panose="02020503050405090304"/>
              </a:rPr>
              <a:t>b</a:t>
            </a:r>
            <a:r>
              <a:rPr sz="2000" b="0" dirty="0">
                <a:solidFill>
                  <a:srgbClr val="C90012"/>
                </a:solidFill>
                <a:latin typeface="Times New Roman" panose="02020503050405090304"/>
                <a:ea typeface="微软雅黑"/>
                <a:cs typeface="Times New Roman" panose="02020503050405090304"/>
              </a:rPr>
              <a:t> (mod </a:t>
            </a:r>
            <a:r>
              <a:rPr sz="2000" b="0" i="1" dirty="0">
                <a:solidFill>
                  <a:srgbClr val="C90012"/>
                </a:solidFill>
                <a:latin typeface="Times New Roman" panose="02020503050405090304"/>
                <a:ea typeface="微软雅黑"/>
                <a:cs typeface="Times New Roman" panose="02020503050405090304"/>
              </a:rPr>
              <a:t>p</a:t>
            </a:r>
            <a:r>
              <a:rPr sz="2000" b="0" dirty="0">
                <a:solidFill>
                  <a:srgbClr val="C90012"/>
                </a:solidFill>
                <a:latin typeface="Times New Roman" panose="02020503050405090304"/>
                <a:ea typeface="微软雅黑"/>
                <a:cs typeface="Times New Roman" panose="02020503050405090304"/>
              </a:rPr>
              <a:t>)</a:t>
            </a:r>
          </a:p>
        </p:txBody>
      </p:sp>
      <p:sp>
        <p:nvSpPr>
          <p:cNvPr id="20" name="Rounded Rectangle 9"/>
          <p:cNvSpPr/>
          <p:nvPr/>
        </p:nvSpPr>
        <p:spPr>
          <a:xfrm>
            <a:off x="502919" y="1457241"/>
            <a:ext cx="11183112" cy="1822824"/>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5"/>
              <p:cNvSpPr txBox="1"/>
              <p:nvPr/>
            </p:nvSpPr>
            <p:spPr>
              <a:xfrm>
                <a:off x="638737" y="1541134"/>
                <a:ext cx="10755232" cy="1335416"/>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.7</a:t>
                </a:r>
                <a:r>
                  <a:rPr lang="zh-CN" altLang="en-US" sz="2000" b="1" i="0" dirty="0">
                    <a:solidFill>
                      <a:srgbClr val="C00000"/>
                    </a:solidFill>
                    <a:latin typeface="微软雅黑" panose="020B0503020204020204" charset="-122"/>
                    <a:ea typeface="微软雅黑" panose="020B0503020204020204" charset="-122"/>
                  </a:rPr>
                  <a:t>　实数域上的椭圆曲线 （教材原文）：</a:t>
                </a:r>
                <a:endParaRPr lang="en-US" altLang="zh-CN" sz="2000" b="1" i="0" dirty="0">
                  <a:solidFill>
                    <a:srgbClr val="C00000"/>
                  </a:solidFill>
                  <a:latin typeface="微软雅黑" panose="020B0503020204020204" charset="-122"/>
                  <a:ea typeface="微软雅黑" panose="020B0503020204020204" charset="-122"/>
                </a:endParaRPr>
              </a:p>
              <a:p>
                <a:pPr algn="just">
                  <a:lnSpc>
                    <a:spcPct val="130000"/>
                  </a:lnSpc>
                  <a:spcAft>
                    <a:spcPts val="600"/>
                  </a:spcAft>
                  <a:buClr>
                    <a:srgbClr val="C00000"/>
                  </a:buClr>
                </a:pPr>
                <a:r>
                  <a:rPr lang="zh-CN" altLang="zh-CN" sz="2000" dirty="0">
                    <a:solidFill>
                      <a:srgbClr val="000000"/>
                    </a:solidFill>
                    <a:effectLst/>
                    <a:latin typeface="+mn-ea"/>
                    <a:ea typeface="+mn-ea"/>
                    <a:cs typeface="Times New Roman" panose="02020503050405090304" pitchFamily="18" charset="0"/>
                  </a:rPr>
                  <a:t>设实数</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𝑎</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ea"/>
                    <a:ea typeface="+mn-ea"/>
                    <a:cs typeface="Times New Roman" panose="02020503050405090304" pitchFamily="18" charset="0"/>
                  </a:rPr>
                  <a:t>满足</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4</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𝑎</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27</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oMath>
                </a14:m>
                <a:r>
                  <a:rPr lang="zh-CN" altLang="zh-CN" sz="2000" dirty="0">
                    <a:solidFill>
                      <a:srgbClr val="000000"/>
                    </a:solidFill>
                    <a:effectLst/>
                    <a:latin typeface="+mn-ea"/>
                    <a:ea typeface="+mn-ea"/>
                    <a:cs typeface="Times New Roman" panose="02020503050405090304" pitchFamily="18" charset="0"/>
                  </a:rPr>
                  <a:t>，方程</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𝑎𝑥</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oMath>
                </a14:m>
                <a:r>
                  <a:rPr lang="zh-CN" altLang="zh-CN" sz="2000" dirty="0">
                    <a:solidFill>
                      <a:srgbClr val="000000"/>
                    </a:solidFill>
                    <a:effectLst/>
                    <a:latin typeface="+mn-ea"/>
                    <a:ea typeface="+mn-ea"/>
                    <a:cs typeface="Times New Roman" panose="02020503050405090304" pitchFamily="18" charset="0"/>
                  </a:rPr>
                  <a:t>的所有实数解</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d>
                      <m:dPr>
                        <m:ctrlPr>
                          <a:rPr lang="en-US"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d>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ea"/>
                    <a:ea typeface="+mn-ea"/>
                    <a:cs typeface="Times New Roman" panose="02020503050405090304" pitchFamily="18" charset="0"/>
                  </a:rPr>
                  <a:t>连同一个无穷远点</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𝒪</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组成的集合</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𝐸</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称为一个非奇异椭圆曲线。</a:t>
                </a:r>
                <a:r>
                  <a:rPr lang="zh-CN" altLang="en-US" sz="2000" dirty="0">
                    <a:solidFill>
                      <a:srgbClr val="000000"/>
                    </a:solidFill>
                    <a:effectLst/>
                    <a:latin typeface="+mn-ea"/>
                    <a:ea typeface="+mn-ea"/>
                    <a:cs typeface="Times New Roman" panose="02020503050405090304" pitchFamily="18" charset="0"/>
                  </a:rPr>
                  <a:t>提示：若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4</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𝑎</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27</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oMath>
                </a14:m>
                <a:r>
                  <a:rPr lang="zh-CN" altLang="zh-CN" sz="2000" dirty="0">
                    <a:solidFill>
                      <a:srgbClr val="000000"/>
                    </a:solidFill>
                    <a:effectLst/>
                    <a:latin typeface="+mn-ea"/>
                    <a:ea typeface="+mn-ea"/>
                    <a:cs typeface="Times New Roman" panose="02020503050405090304" pitchFamily="18" charset="0"/>
                  </a:rPr>
                  <a:t>，则对应的椭圆曲线称为奇异椭圆曲线</a:t>
                </a:r>
                <a:r>
                  <a:rPr lang="zh-CN" altLang="en-US" sz="2000" dirty="0">
                    <a:solidFill>
                      <a:srgbClr val="000000"/>
                    </a:solidFill>
                    <a:effectLst/>
                    <a:latin typeface="+mn-ea"/>
                    <a:ea typeface="+mn-ea"/>
                    <a:cs typeface="Times New Roman" panose="02020503050405090304" pitchFamily="18" charset="0"/>
                  </a:rPr>
                  <a:t>。</a:t>
                </a:r>
                <a:endParaRPr lang="zh-CN" altLang="zh-CN" sz="2000" dirty="0">
                  <a:effectLst/>
                  <a:latin typeface="+mn-ea"/>
                  <a:ea typeface="+mn-ea"/>
                  <a:cs typeface="Times New Roman" panose="02020503050405090304" pitchFamily="18" charset="0"/>
                </a:endParaRPr>
              </a:p>
              <a:p>
                <a:pPr algn="just">
                  <a:spcAft>
                    <a:spcPts val="600"/>
                  </a:spcAft>
                  <a:buClr>
                    <a:srgbClr val="C00000"/>
                  </a:buClr>
                </a:pPr>
                <a:endParaRPr lang="zh-CN" altLang="en-US" sz="2000" b="1" i="0" dirty="0">
                  <a:solidFill>
                    <a:srgbClr val="C00000"/>
                  </a:solidFill>
                  <a:latin typeface="微软雅黑" panose="020B0503020204020204" charset="-122"/>
                  <a:ea typeface="微软雅黑" panose="020B0503020204020204" charset="-122"/>
                </a:endParaRPr>
              </a:p>
            </p:txBody>
          </p:sp>
        </mc:Choice>
        <mc:Fallback xmlns="">
          <p:sp>
            <p:nvSpPr>
              <p:cNvPr id="22" name="TextBox 5"/>
              <p:cNvSpPr txBox="1">
                <a:spLocks noRot="1" noChangeAspect="1" noMove="1" noResize="1" noEditPoints="1" noAdjustHandles="1" noChangeArrowheads="1" noChangeShapeType="1" noTextEdit="1"/>
              </p:cNvSpPr>
              <p:nvPr/>
            </p:nvSpPr>
            <p:spPr>
              <a:xfrm>
                <a:off x="638737" y="1541134"/>
                <a:ext cx="10755232" cy="1335416"/>
              </a:xfrm>
              <a:prstGeom prst="rect">
                <a:avLst/>
              </a:prstGeom>
              <a:blipFill>
                <a:blip r:embed="rId4"/>
                <a:stretch>
                  <a:fillRect l="-1533" t="-5660" r="-1415" b="-26415"/>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504825" y="228600"/>
            <a:ext cx="466725" cy="447675"/>
          </a:xfrm>
          <a:prstGeom prst="rect">
            <a:avLst/>
          </a:prstGeom>
          <a:noFill/>
          <a:ln w="0">
            <a:noFill/>
          </a:ln>
        </p:spPr>
        <p:txBody>
          <a:bodyPr wrap="square" lIns="0" tIns="0" rIns="0" bIns="0" anchor="ctr">
            <a:noAutofit/>
          </a:bodyPr>
          <a:lstStyle>
            <a:defPPr algn="ctr">
              <a:defRPr sz="1875" b="1">
                <a:solidFill>
                  <a:srgbClr val="FFFFFF"/>
                </a:solidFill>
                <a:latin typeface="Times New Roman" panose="02020503050405090304"/>
                <a:ea typeface="微软雅黑"/>
                <a:cs typeface="Times New Roman" panose="02020503050405090304"/>
              </a:defRPr>
            </a:defPPr>
          </a:lstStyle>
          <a:p>
            <a:pPr algn="ctr">
              <a:defRPr sz="1875" b="1">
                <a:solidFill>
                  <a:srgbClr val="FFFFFF"/>
                </a:solidFill>
                <a:latin typeface="Times New Roman" panose="02020503050405090304"/>
                <a:ea typeface="微软雅黑"/>
                <a:cs typeface="Times New Roman" panose="02020503050405090304"/>
              </a:defRPr>
            </a:pPr>
            <a:r>
              <a:rPr sz="1875" b="1">
                <a:solidFill>
                  <a:srgbClr val="FFFFFF"/>
                </a:solidFill>
                <a:latin typeface="Times New Roman" panose="02020503050405090304"/>
                <a:ea typeface="微软雅黑"/>
                <a:cs typeface="Times New Roman" panose="02020503050405090304"/>
              </a:rPr>
              <a:t>02</a:t>
            </a:r>
          </a:p>
        </p:txBody>
      </p:sp>
      <p:sp>
        <p:nvSpPr>
          <p:cNvPr id="3" name="矩形 2"/>
          <p:cNvSpPr>
            <a:spLocks noGrp="1"/>
          </p:cNvSpPr>
          <p:nvPr/>
        </p:nvSpPr>
        <p:spPr>
          <a:xfrm>
            <a:off x="1114425" y="219075"/>
            <a:ext cx="10191750" cy="523875"/>
          </a:xfrm>
          <a:prstGeom prst="rect">
            <a:avLst/>
          </a:prstGeom>
          <a:noFill/>
          <a:ln w="0">
            <a:noFill/>
          </a:ln>
        </p:spPr>
        <p:txBody>
          <a:bodyPr wrap="square" lIns="0" tIns="0" rIns="0" bIns="0" anchor="ctr">
            <a:noAutofit/>
          </a:bodyPr>
          <a:lstStyle>
            <a:defPPr algn="l">
              <a:defRPr sz="2700" b="1">
                <a:solidFill>
                  <a:srgbClr val="C90012"/>
                </a:solidFill>
                <a:latin typeface="Times New Roman" panose="02020503050405090304"/>
                <a:ea typeface="微软雅黑"/>
                <a:cs typeface="Times New Roman" panose="02020503050405090304"/>
              </a:defRPr>
            </a:defPPr>
          </a:lstStyle>
          <a:p>
            <a:pPr algn="l">
              <a:defRPr sz="2700" b="1">
                <a:solidFill>
                  <a:srgbClr val="C90012"/>
                </a:solidFill>
                <a:latin typeface="Times New Roman" panose="02020503050405090304"/>
                <a:ea typeface="微软雅黑"/>
                <a:cs typeface="Times New Roman" panose="02020503050405090304"/>
              </a:defRPr>
            </a:pPr>
            <a:endParaRPr sz="2700" b="1" dirty="0">
              <a:solidFill>
                <a:srgbClr val="C90012"/>
              </a:solidFill>
              <a:latin typeface="Times New Roman" panose="02020503050405090304"/>
              <a:ea typeface="微软雅黑"/>
              <a:cs typeface="Times New Roman" panose="02020503050405090304"/>
            </a:endParaRPr>
          </a:p>
        </p:txBody>
      </p:sp>
      <p:sp>
        <p:nvSpPr>
          <p:cNvPr id="4" name="直线连接符 3"/>
          <p:cNvSpPr>
            <a:spLocks noGrp="1"/>
          </p:cNvSpPr>
          <p:nvPr/>
        </p:nvSpPr>
        <p:spPr>
          <a:xfrm>
            <a:off x="504825" y="729819"/>
            <a:ext cx="11182350" cy="0"/>
          </a:xfrm>
          <a:prstGeom prst="line">
            <a:avLst/>
          </a:prstGeom>
          <a:noFill/>
          <a:ln w="9525">
            <a:solidFill>
              <a:srgbClr val="C90012"/>
            </a:solidFill>
          </a:ln>
        </p:spPr>
      </p:sp>
      <p:sp>
        <p:nvSpPr>
          <p:cNvPr id="5" name="矩形 4"/>
          <p:cNvSpPr>
            <a:spLocks noGrp="1"/>
          </p:cNvSpPr>
          <p:nvPr/>
        </p:nvSpPr>
        <p:spPr>
          <a:xfrm>
            <a:off x="701675" y="1136650"/>
            <a:ext cx="10287000" cy="238125"/>
          </a:xfrm>
          <a:prstGeom prst="rect">
            <a:avLst/>
          </a:prstGeom>
          <a:noFill/>
          <a:ln w="0">
            <a:noFill/>
          </a:ln>
        </p:spPr>
        <p:txBody>
          <a:bodyPr wrap="square" lIns="0" tIns="0" rIns="0" bIns="0" anchor="ctr">
            <a:noAutofit/>
          </a:bodyPr>
          <a:lstStyle>
            <a:defPPr algn="l">
              <a:defRPr sz="1350" b="0">
                <a:solidFill>
                  <a:srgbClr val="8B3D3D"/>
                </a:solidFill>
                <a:latin typeface="Times New Roman" panose="02020503050405090304"/>
                <a:ea typeface="微软雅黑"/>
                <a:cs typeface="Times New Roman" panose="02020503050405090304"/>
              </a:defRPr>
            </a:defPPr>
          </a:lstStyle>
          <a:p>
            <a:pPr>
              <a:defRPr sz="1350" b="0">
                <a:solidFill>
                  <a:srgbClr val="8B3D3D"/>
                </a:solidFill>
                <a:latin typeface="Times New Roman" panose="02020503050405090304"/>
                <a:ea typeface="微软雅黑"/>
                <a:cs typeface="Times New Roman" panose="02020503050405090304"/>
              </a:defRPr>
            </a:pPr>
            <a:r>
              <a:rPr lang="zh-CN" altLang="en-US" sz="2400" b="1" dirty="0">
                <a:solidFill>
                  <a:srgbClr val="C90012"/>
                </a:solidFill>
                <a:latin typeface="Times New Roman" panose="02020503050405090304"/>
                <a:ea typeface="微软雅黑"/>
                <a:cs typeface="Times New Roman" panose="02020503050405090304"/>
              </a:rPr>
              <a:t>椭圆曲线点加法的几何直观</a:t>
            </a:r>
          </a:p>
          <a:p>
            <a:pPr algn="l">
              <a:defRPr sz="1350" b="0">
                <a:solidFill>
                  <a:srgbClr val="8B3D3D"/>
                </a:solidFill>
                <a:latin typeface="Times New Roman" panose="02020503050405090304"/>
                <a:ea typeface="微软雅黑"/>
                <a:cs typeface="Times New Roman" panose="02020503050405090304"/>
              </a:defRPr>
            </a:pPr>
            <a:endParaRPr sz="2400" b="0" dirty="0">
              <a:solidFill>
                <a:srgbClr val="8B3D3D"/>
              </a:solidFill>
              <a:latin typeface="Times New Roman" panose="02020503050405090304"/>
              <a:ea typeface="微软雅黑"/>
              <a:cs typeface="Times New Roman" panose="02020503050405090304"/>
            </a:endParaRPr>
          </a:p>
        </p:txBody>
      </p:sp>
      <p:sp>
        <p:nvSpPr>
          <p:cNvPr id="9" name="矩形 8"/>
          <p:cNvSpPr>
            <a:spLocks noGrp="1"/>
          </p:cNvSpPr>
          <p:nvPr/>
        </p:nvSpPr>
        <p:spPr>
          <a:xfrm>
            <a:off x="762000" y="2838450"/>
            <a:ext cx="10668000" cy="428625"/>
          </a:xfrm>
          <a:prstGeom prst="rect">
            <a:avLst/>
          </a:prstGeom>
          <a:noFill/>
          <a:ln w="0">
            <a:noFill/>
          </a:ln>
        </p:spPr>
        <p:txBody>
          <a:bodyPr wrap="square" lIns="0" tIns="0" rIns="0" bIns="0" anchor="ctr">
            <a:noAutofit/>
          </a:bodyPr>
          <a:lstStyle>
            <a:defPPr algn="l">
              <a:defRPr sz="1950" b="0">
                <a:solidFill>
                  <a:srgbClr val="303030"/>
                </a:solidFill>
                <a:latin typeface="Times New Roman" panose="02020503050405090304"/>
                <a:ea typeface="微软雅黑"/>
                <a:cs typeface="Times New Roman" panose="02020503050405090304"/>
              </a:defRPr>
            </a:defPPr>
          </a:lstStyle>
          <a:p>
            <a:pPr marL="342900" indent="-342900" algn="l">
              <a:buFont typeface="Arial" panose="020B0604020202090204" pitchFamily="34" charset="0"/>
              <a:buChar char="•"/>
              <a:defRPr sz="1950" b="0">
                <a:solidFill>
                  <a:srgbClr val="303030"/>
                </a:solidFill>
                <a:latin typeface="Times New Roman" panose="02020503050405090304"/>
                <a:ea typeface="微软雅黑"/>
                <a:cs typeface="Times New Roman" panose="02020503050405090304"/>
              </a:defRPr>
            </a:pPr>
            <a:endParaRPr sz="1950" b="0" dirty="0">
              <a:solidFill>
                <a:srgbClr val="303030"/>
              </a:solidFill>
              <a:latin typeface="Times New Roman" panose="02020503050405090304"/>
              <a:ea typeface="微软雅黑"/>
              <a:cs typeface="Times New Roman" panose="02020503050405090304"/>
            </a:endParaRPr>
          </a:p>
        </p:txBody>
      </p:sp>
      <p:sp>
        <p:nvSpPr>
          <p:cNvPr id="11" name="矩形 10"/>
          <p:cNvSpPr>
            <a:spLocks noGrp="1"/>
          </p:cNvSpPr>
          <p:nvPr/>
        </p:nvSpPr>
        <p:spPr>
          <a:xfrm>
            <a:off x="11430000" y="6219825"/>
            <a:ext cx="342900" cy="238125"/>
          </a:xfrm>
          <a:prstGeom prst="rect">
            <a:avLst/>
          </a:prstGeom>
          <a:noFill/>
          <a:ln w="0">
            <a:noFill/>
          </a:ln>
        </p:spPr>
        <p:txBody>
          <a:bodyPr wrap="square" lIns="0" tIns="0" rIns="0" bIns="0" anchor="ctr">
            <a:noAutofit/>
          </a:bodyPr>
          <a:lstStyle>
            <a:defPPr algn="r">
              <a:defRPr sz="1350" b="0">
                <a:solidFill>
                  <a:srgbClr val="8B3D3D"/>
                </a:solidFill>
                <a:latin typeface="Times New Roman" panose="02020503050405090304"/>
                <a:ea typeface="微软雅黑"/>
                <a:cs typeface="Times New Roman" panose="02020503050405090304"/>
              </a:defRPr>
            </a:defPPr>
          </a:lstStyle>
          <a:p>
            <a:pPr algn="r">
              <a:defRPr sz="1350" b="0">
                <a:solidFill>
                  <a:srgbClr val="8B3D3D"/>
                </a:solidFill>
                <a:latin typeface="Times New Roman" panose="02020503050405090304"/>
                <a:ea typeface="微软雅黑"/>
                <a:cs typeface="Times New Roman" panose="02020503050405090304"/>
              </a:defRPr>
            </a:pPr>
            <a:endParaRPr sz="1350" b="0" dirty="0">
              <a:solidFill>
                <a:srgbClr val="8B3D3D"/>
              </a:solidFill>
              <a:latin typeface="Times New Roman" panose="02020503050405090304"/>
              <a:ea typeface="微软雅黑"/>
              <a:cs typeface="Times New Roman" panose="02020503050405090304"/>
            </a:endParaRPr>
          </a:p>
        </p:txBody>
      </p:sp>
      <p:sp>
        <p:nvSpPr>
          <p:cNvPr id="1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5" name="矩形 14"/>
          <p:cNvSpPr>
            <a:spLocks noGrp="1"/>
          </p:cNvSpPr>
          <p:nvPr/>
        </p:nvSpPr>
        <p:spPr>
          <a:xfrm>
            <a:off x="3136900" y="4591050"/>
            <a:ext cx="10668000" cy="428625"/>
          </a:xfrm>
          <a:prstGeom prst="rect">
            <a:avLst/>
          </a:prstGeom>
          <a:noFill/>
          <a:ln w="0">
            <a:noFill/>
          </a:ln>
        </p:spPr>
        <p:txBody>
          <a:bodyPr wrap="square" lIns="0" tIns="0" rIns="0" bIns="0" anchor="ctr">
            <a:noAutofit/>
          </a:bodyPr>
          <a:lstStyle>
            <a:defPPr algn="l">
              <a:defRPr sz="1950" b="0">
                <a:solidFill>
                  <a:srgbClr val="303030"/>
                </a:solidFill>
                <a:latin typeface="Times New Roman" panose="02020503050405090304"/>
                <a:ea typeface="微软雅黑"/>
                <a:cs typeface="Times New Roman" panose="02020503050405090304"/>
              </a:defRPr>
            </a:defPPr>
          </a:lstStyle>
          <a:p>
            <a:pPr marL="342900" indent="-342900" algn="l">
              <a:buFont typeface="Arial" panose="020B0604020202090204" pitchFamily="34" charset="0"/>
              <a:buChar char="•"/>
              <a:defRPr sz="1950"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不同点相加：连线第三交点再关于</a:t>
            </a:r>
            <a:r>
              <a:rPr 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x</a:t>
            </a:r>
            <a:r>
              <a:rPr 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轴反射</a:t>
            </a:r>
            <a:endParaRPr sz="2000" b="0" dirty="0">
              <a:solidFill>
                <a:srgbClr val="303030"/>
              </a:solidFill>
              <a:latin typeface="Times New Roman" panose="02020503050405090304"/>
              <a:ea typeface="微软雅黑"/>
              <a:cs typeface="Times New Roman" panose="02020503050405090304"/>
            </a:endParaRPr>
          </a:p>
        </p:txBody>
      </p:sp>
      <p:sp>
        <p:nvSpPr>
          <p:cNvPr id="16" name="矩形 15"/>
          <p:cNvSpPr>
            <a:spLocks noGrp="1"/>
          </p:cNvSpPr>
          <p:nvPr/>
        </p:nvSpPr>
        <p:spPr>
          <a:xfrm>
            <a:off x="3136900" y="5048250"/>
            <a:ext cx="10668000" cy="428625"/>
          </a:xfrm>
          <a:prstGeom prst="rect">
            <a:avLst/>
          </a:prstGeom>
          <a:noFill/>
          <a:ln w="0">
            <a:noFill/>
          </a:ln>
        </p:spPr>
        <p:txBody>
          <a:bodyPr wrap="square" lIns="0" tIns="0" rIns="0" bIns="0" anchor="ctr">
            <a:noAutofit/>
          </a:bodyPr>
          <a:lstStyle>
            <a:defPPr algn="l">
              <a:defRPr sz="1950" b="0">
                <a:solidFill>
                  <a:srgbClr val="303030"/>
                </a:solidFill>
                <a:latin typeface="Times New Roman" panose="02020503050405090304"/>
                <a:ea typeface="微软雅黑"/>
                <a:cs typeface="Times New Roman" panose="02020503050405090304"/>
              </a:defRPr>
            </a:defPPr>
          </a:lstStyle>
          <a:p>
            <a:pPr marL="342900" indent="-342900" algn="l">
              <a:buFont typeface="Arial" panose="020B0604020202090204" pitchFamily="34" charset="0"/>
              <a:buChar char="•"/>
              <a:defRPr sz="1950"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同一点相加：使用切线</a:t>
            </a:r>
            <a:endParaRPr sz="2000" b="0" dirty="0">
              <a:solidFill>
                <a:srgbClr val="303030"/>
              </a:solidFill>
              <a:latin typeface="Times New Roman" panose="02020503050405090304"/>
              <a:ea typeface="微软雅黑"/>
              <a:cs typeface="Times New Roman" panose="02020503050405090304"/>
            </a:endParaRPr>
          </a:p>
        </p:txBody>
      </p:sp>
      <mc:AlternateContent xmlns:mc="http://schemas.openxmlformats.org/markup-compatibility/2006" xmlns:a14="http://schemas.microsoft.com/office/drawing/2010/main">
        <mc:Choice Requires="a14">
          <p:sp>
            <p:nvSpPr>
              <p:cNvPr id="17" name="矩形 16"/>
              <p:cNvSpPr>
                <a:spLocks noGrp="1"/>
              </p:cNvSpPr>
              <p:nvPr/>
            </p:nvSpPr>
            <p:spPr>
              <a:xfrm>
                <a:off x="3136900" y="5505450"/>
                <a:ext cx="10668000" cy="428625"/>
              </a:xfrm>
              <a:prstGeom prst="rect">
                <a:avLst/>
              </a:prstGeom>
              <a:noFill/>
              <a:ln w="0">
                <a:noFill/>
              </a:ln>
            </p:spPr>
            <p:txBody>
              <a:bodyPr wrap="square" lIns="0" tIns="0" rIns="0" bIns="0" anchor="ctr">
                <a:noAutofit/>
              </a:bodyPr>
              <a:lstStyle>
                <a:defPPr algn="l">
                  <a:defRPr sz="1950" b="0">
                    <a:solidFill>
                      <a:srgbClr val="303030"/>
                    </a:solidFill>
                    <a:latin typeface="Times New Roman" panose="02020503050405090304"/>
                    <a:ea typeface="微软雅黑"/>
                    <a:cs typeface="Times New Roman" panose="02020503050405090304"/>
                  </a:defRPr>
                </a:defPPr>
              </a:lstStyle>
              <a:p>
                <a:pPr marL="342900" indent="-342900" algn="l">
                  <a:buFont typeface="Arial" panose="020B0604020202090204" pitchFamily="34" charset="0"/>
                  <a:buChar char="•"/>
                  <a:defRPr sz="1950" b="0">
                    <a:solidFill>
                      <a:srgbClr val="303030"/>
                    </a:solidFill>
                    <a:latin typeface="Times New Roman" panose="02020503050405090304"/>
                    <a:ea typeface="微软雅黑"/>
                    <a:cs typeface="Times New Roman" panose="02020503050405090304"/>
                  </a:defRPr>
                </a:pPr>
                <a:r>
                  <a:rPr lang="zh-CN" altLang="en-US" sz="2000" b="0" dirty="0">
                    <a:solidFill>
                      <a:srgbClr val="303030"/>
                    </a:solidFill>
                    <a:latin typeface="Times New Roman" panose="02020503050405090304"/>
                    <a:ea typeface="微软雅黑"/>
                    <a:cs typeface="Times New Roman" panose="02020503050405090304"/>
                  </a:rPr>
                  <a:t>互为负元的两点相加得到</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zh-CN" altLang="en-US" sz="2000" i="1" smtClean="0">
                        <a:solidFill>
                          <a:srgbClr val="000000"/>
                        </a:solidFill>
                        <a:effectLst/>
                        <a:latin typeface="Cambria Math" panose="02040503050406030204" pitchFamily="18" charset="0"/>
                        <a:ea typeface="+mn-ea"/>
                        <a:cs typeface="Times New Roman" panose="02020503050405090304" pitchFamily="18" charset="0"/>
                      </a:rPr>
                      <m:t>𝒪</m:t>
                    </m:r>
                  </m:oMath>
                </a14:m>
                <a:endParaRPr sz="2000" b="0" dirty="0">
                  <a:solidFill>
                    <a:srgbClr val="303030"/>
                  </a:solidFill>
                  <a:latin typeface="Times New Roman" panose="02020503050405090304"/>
                  <a:ea typeface="微软雅黑"/>
                  <a:cs typeface="Times New Roman" panose="02020503050405090304"/>
                </a:endParaRPr>
              </a:p>
            </p:txBody>
          </p:sp>
        </mc:Choice>
        <mc:Fallback xmlns="">
          <p:sp>
            <p:nvSpPr>
              <p:cNvPr id="17" name="矩形 16"/>
              <p:cNvSpPr>
                <a:spLocks noGrp="1" noRot="1" noChangeAspect="1" noMove="1" noResize="1" noEditPoints="1" noAdjustHandles="1" noChangeArrowheads="1" noChangeShapeType="1" noTextEdit="1"/>
              </p:cNvSpPr>
              <p:nvPr/>
            </p:nvSpPr>
            <p:spPr>
              <a:xfrm>
                <a:off x="3136900" y="5505450"/>
                <a:ext cx="10668000" cy="428625"/>
              </a:xfrm>
              <a:prstGeom prst="rect">
                <a:avLst/>
              </a:prstGeom>
              <a:blipFill>
                <a:blip r:embed="rId3"/>
                <a:stretch>
                  <a:fillRect l="-1427" t="-2857" b="-20000"/>
                </a:stretch>
              </a:blipFill>
              <a:ln w="0">
                <a:noFill/>
              </a:ln>
            </p:spPr>
            <p:txBody>
              <a:bodyPr/>
              <a:lstStyle/>
              <a:p>
                <a:r>
                  <a:rPr lang="zh-CN" altLang="en-US">
                    <a:noFill/>
                  </a:rPr>
                  <a:t> </a:t>
                </a:r>
              </a:p>
            </p:txBody>
          </p:sp>
        </mc:Fallback>
      </mc:AlternateContent>
      <p:pic>
        <p:nvPicPr>
          <p:cNvPr id="18" name="图片 17"/>
          <p:cNvPicPr>
            <a:picLocks noChangeAspect="1"/>
          </p:cNvPicPr>
          <p:nvPr/>
        </p:nvPicPr>
        <p:blipFill>
          <a:blip r:embed="rId4"/>
          <a:stretch>
            <a:fillRect/>
          </a:stretch>
        </p:blipFill>
        <p:spPr>
          <a:xfrm>
            <a:off x="1545770" y="1315432"/>
            <a:ext cx="8616497" cy="328993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线连接符 3"/>
          <p:cNvSpPr>
            <a:spLocks noGrp="1"/>
          </p:cNvSpPr>
          <p:nvPr/>
        </p:nvSpPr>
        <p:spPr>
          <a:xfrm>
            <a:off x="504825" y="729819"/>
            <a:ext cx="11182350" cy="0"/>
          </a:xfrm>
          <a:prstGeom prst="line">
            <a:avLst/>
          </a:prstGeom>
          <a:noFill/>
          <a:ln w="9525">
            <a:solidFill>
              <a:srgbClr val="C90012"/>
            </a:solidFill>
          </a:ln>
        </p:spPr>
      </p:sp>
      <p:sp>
        <p:nvSpPr>
          <p:cNvPr id="5" name="矩形 4"/>
          <p:cNvSpPr>
            <a:spLocks noGrp="1"/>
          </p:cNvSpPr>
          <p:nvPr/>
        </p:nvSpPr>
        <p:spPr>
          <a:xfrm>
            <a:off x="676275" y="958850"/>
            <a:ext cx="10287000" cy="238125"/>
          </a:xfrm>
          <a:prstGeom prst="rect">
            <a:avLst/>
          </a:prstGeom>
          <a:noFill/>
          <a:ln w="0">
            <a:noFill/>
          </a:ln>
        </p:spPr>
        <p:txBody>
          <a:bodyPr wrap="square" lIns="0" tIns="0" rIns="0" bIns="0" anchor="ctr">
            <a:noAutofit/>
          </a:bodyPr>
          <a:lstStyle>
            <a:defPPr algn="l">
              <a:defRPr sz="1350" b="0">
                <a:solidFill>
                  <a:srgbClr val="8B3D3D"/>
                </a:solidFill>
                <a:latin typeface="Times New Roman" panose="02020503050405090304"/>
                <a:ea typeface="微软雅黑"/>
                <a:cs typeface="Times New Roman" panose="02020503050405090304"/>
              </a:defRPr>
            </a:defPPr>
          </a:lstStyle>
          <a:p>
            <a:pPr>
              <a:defRPr sz="1350" b="0">
                <a:solidFill>
                  <a:srgbClr val="8B3D3D"/>
                </a:solidFill>
                <a:latin typeface="Times New Roman" panose="02020503050405090304"/>
                <a:ea typeface="微软雅黑"/>
                <a:cs typeface="Times New Roman" panose="02020503050405090304"/>
              </a:defRPr>
            </a:pPr>
            <a:r>
              <a:rPr lang="en-US" altLang="zh-CN" sz="2400" b="1" dirty="0">
                <a:solidFill>
                  <a:srgbClr val="C00000"/>
                </a:solidFill>
              </a:rPr>
              <a:t>SM2</a:t>
            </a:r>
            <a:r>
              <a:rPr lang="zh-CN" altLang="en-GB" sz="2400" b="1" dirty="0">
                <a:solidFill>
                  <a:srgbClr val="C00000"/>
                </a:solidFill>
              </a:rPr>
              <a:t>的</a:t>
            </a:r>
            <a:r>
              <a:rPr lang="zh-CN" altLang="en-US" sz="2400" b="1" dirty="0">
                <a:solidFill>
                  <a:srgbClr val="C00000"/>
                </a:solidFill>
              </a:rPr>
              <a:t>椭圆曲线密码体制</a:t>
            </a:r>
            <a:r>
              <a:rPr lang="zh-CN" altLang="en-US" sz="2400" b="1" dirty="0"/>
              <a:t>（选读）</a:t>
            </a:r>
            <a:endParaRPr sz="2400" b="1" dirty="0">
              <a:solidFill>
                <a:srgbClr val="C00000"/>
              </a:solidFill>
            </a:endParaRPr>
          </a:p>
        </p:txBody>
      </p:sp>
      <p:sp>
        <p:nvSpPr>
          <p:cNvPr id="7" name="矩形 6"/>
          <p:cNvSpPr>
            <a:spLocks noGrp="1"/>
          </p:cNvSpPr>
          <p:nvPr/>
        </p:nvSpPr>
        <p:spPr>
          <a:xfrm>
            <a:off x="1381125" y="3000375"/>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Times New Roman" panose="02020503050405090304"/>
              <a:ea typeface="微软雅黑"/>
              <a:cs typeface="Times New Roman" panose="02020503050405090304"/>
            </a:endParaRPr>
          </a:p>
        </p:txBody>
      </p:sp>
      <p:sp>
        <p:nvSpPr>
          <p:cNvPr id="10" name="矩形 9"/>
          <p:cNvSpPr>
            <a:spLocks noGrp="1"/>
          </p:cNvSpPr>
          <p:nvPr/>
        </p:nvSpPr>
        <p:spPr>
          <a:xfrm>
            <a:off x="762000" y="42195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endParaRPr sz="1725" b="1" dirty="0">
              <a:solidFill>
                <a:srgbClr val="C90012"/>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762000" y="4829175"/>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endParaRPr sz="1725" b="1" dirty="0">
              <a:solidFill>
                <a:srgbClr val="C90012"/>
              </a:solidFill>
              <a:latin typeface="Times New Roman" panose="02020503050405090304"/>
              <a:ea typeface="微软雅黑"/>
              <a:cs typeface="Times New Roman" panose="02020503050405090304"/>
            </a:endParaRPr>
          </a:p>
        </p:txBody>
      </p:sp>
      <p:sp>
        <p:nvSpPr>
          <p:cNvPr id="15" name="矩形 14"/>
          <p:cNvSpPr>
            <a:spLocks noGrp="1"/>
          </p:cNvSpPr>
          <p:nvPr/>
        </p:nvSpPr>
        <p:spPr>
          <a:xfrm>
            <a:off x="1000125" y="5553075"/>
            <a:ext cx="10191750" cy="447675"/>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endParaRPr sz="2325" b="0" dirty="0">
              <a:solidFill>
                <a:srgbClr val="C90012"/>
              </a:solidFill>
              <a:latin typeface="Times New Roman" panose="02020503050405090304"/>
              <a:ea typeface="微软雅黑"/>
              <a:cs typeface="Times New Roman" panose="02020503050405090304"/>
            </a:endParaRPr>
          </a:p>
        </p:txBody>
      </p:sp>
      <p:sp>
        <p:nvSpPr>
          <p:cNvPr id="18" name="Rounded Rectangle 9"/>
          <p:cNvSpPr/>
          <p:nvPr/>
        </p:nvSpPr>
        <p:spPr>
          <a:xfrm>
            <a:off x="402336" y="1457239"/>
            <a:ext cx="11283695" cy="4760671"/>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5"/>
              <p:cNvSpPr txBox="1"/>
              <p:nvPr/>
            </p:nvSpPr>
            <p:spPr>
              <a:xfrm>
                <a:off x="762000" y="1687067"/>
                <a:ext cx="10755232"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.8</a:t>
                </a:r>
                <a:r>
                  <a:rPr lang="zh-CN" altLang="en-US" sz="2000" b="1" i="0" dirty="0">
                    <a:solidFill>
                      <a:srgbClr val="C00000"/>
                    </a:solidFill>
                    <a:latin typeface="微软雅黑" panose="020B0503020204020204" charset="-122"/>
                    <a:ea typeface="微软雅黑" panose="020B0503020204020204" charset="-122"/>
                  </a:rPr>
                  <a:t>　椭圆曲线上的加法运算（教材原文）：</a:t>
                </a:r>
                <a:endParaRPr lang="en-US" altLang="zh-CN" sz="2000" b="1" i="0" dirty="0">
                  <a:solidFill>
                    <a:srgbClr val="C00000"/>
                  </a:solidFill>
                  <a:latin typeface="微软雅黑" panose="020B0503020204020204" charset="-122"/>
                  <a:ea typeface="微软雅黑" panose="020B0503020204020204" charset="-122"/>
                </a:endParaRPr>
              </a:p>
              <a:p>
                <a:pPr indent="266700" algn="just">
                  <a:lnSpc>
                    <a:spcPct val="130000"/>
                  </a:lnSpc>
                  <a:spcBef>
                    <a:spcPts val="300"/>
                  </a:spcBef>
                  <a:spcAft>
                    <a:spcPts val="300"/>
                  </a:spcAft>
                  <a:buNone/>
                </a:pPr>
                <a:r>
                  <a:rPr lang="zh-CN" altLang="zh-CN" sz="2000" dirty="0">
                    <a:solidFill>
                      <a:srgbClr val="000000"/>
                    </a:solidFill>
                    <a:effectLst/>
                    <a:latin typeface="+mn-ea"/>
                    <a:ea typeface="+mn-ea"/>
                    <a:cs typeface="Times New Roman" panose="02020503050405090304" pitchFamily="18" charset="0"/>
                  </a:rPr>
                  <a:t>假定</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𝐸</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是一个非奇异椭圆曲线，</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𝒪</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为无穷远点，</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r>
                      <a:rPr lang="zh-CN"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是</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𝐸</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ea"/>
                    <a:ea typeface="+mn-ea"/>
                    <a:cs typeface="Times New Roman" panose="02020503050405090304" pitchFamily="18" charset="0"/>
                  </a:rPr>
                  <a:t>上的两个点。</a:t>
                </a:r>
                <a:endParaRPr lang="zh-CN" altLang="zh-CN" sz="2000" dirty="0">
                  <a:effectLst/>
                  <a:latin typeface="+mn-ea"/>
                  <a:ea typeface="+mn-ea"/>
                  <a:cs typeface="Times New Roman" panose="02020503050405090304" pitchFamily="18" charset="0"/>
                </a:endParaRPr>
              </a:p>
              <a:p>
                <a:pPr marL="342900" lvl="0" indent="-342900" algn="just">
                  <a:lnSpc>
                    <a:spcPct val="130000"/>
                  </a:lnSpc>
                  <a:spcBef>
                    <a:spcPts val="300"/>
                  </a:spcBef>
                  <a:spcAft>
                    <a:spcPts val="300"/>
                  </a:spcAft>
                  <a:buClr>
                    <a:srgbClr val="C00000"/>
                  </a:buClr>
                  <a:buFont typeface="Wingdings" panose="05000000000000000000" pitchFamily="2" charset="2"/>
                  <a:buChar char="p"/>
                </a:pPr>
                <a:r>
                  <a:rPr lang="zh-CN" altLang="zh-CN" sz="2000" dirty="0">
                    <a:solidFill>
                      <a:srgbClr val="000000"/>
                    </a:solidFill>
                    <a:effectLst/>
                    <a:latin typeface="+mn-ea"/>
                    <a:ea typeface="+mn-ea"/>
                    <a:cs typeface="Times New Roman" panose="02020503050405090304" pitchFamily="18" charset="0"/>
                  </a:rPr>
                  <a:t>若</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smtClean="0">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oMath>
                </a14:m>
                <a:r>
                  <a:rPr lang="zh-CN" altLang="zh-CN" sz="2000" dirty="0">
                    <a:solidFill>
                      <a:srgbClr val="000000"/>
                    </a:solidFill>
                    <a:effectLst/>
                    <a:latin typeface="+mn-ea"/>
                    <a:ea typeface="+mn-ea"/>
                    <a:cs typeface="Times New Roman" panose="02020503050405090304" pitchFamily="18" charset="0"/>
                  </a:rPr>
                  <a:t>，令</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为过</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zh-CN"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的直线与曲线的第三个交点，</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为</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关于</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ea"/>
                    <a:ea typeface="+mn-ea"/>
                    <a:cs typeface="Times New Roman" panose="02020503050405090304" pitchFamily="18" charset="0"/>
                  </a:rPr>
                  <a:t>轴的对称点，则</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zh-CN" altLang="zh-CN" sz="2000" dirty="0">
                    <a:solidFill>
                      <a:srgbClr val="000000"/>
                    </a:solidFill>
                    <a:effectLst/>
                    <a:latin typeface="+mn-ea"/>
                    <a:ea typeface="+mn-ea"/>
                    <a:cs typeface="Times New Roman" panose="02020503050405090304" pitchFamily="18" charset="0"/>
                  </a:rPr>
                  <a:t>。设</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ea"/>
                    <a:ea typeface="+mn-ea"/>
                    <a:cs typeface="Times New Roman" panose="02020503050405090304" pitchFamily="18" charset="0"/>
                  </a:rPr>
                  <a:t>，易知</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ea"/>
                    <a:ea typeface="+mn-ea"/>
                    <a:cs typeface="Times New Roman" panose="02020503050405090304" pitchFamily="18" charset="0"/>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latin typeface="Cambria Math" panose="02040503050406030204" pitchFamily="18" charset="0"/>
                      </a:rPr>
                      <m:t>×</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e>
                    </m:d>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oMath>
                </a14:m>
                <a:r>
                  <a:rPr lang="zh-CN" altLang="zh-CN" sz="2000" dirty="0">
                    <a:solidFill>
                      <a:srgbClr val="000000"/>
                    </a:solidFill>
                    <a:effectLst/>
                    <a:latin typeface="+mn-ea"/>
                    <a:ea typeface="+mn-ea"/>
                    <a:cs typeface="Times New Roman" panose="02020503050405090304" pitchFamily="18" charset="0"/>
                  </a:rPr>
                  <a:t>，其中</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ea"/>
                    <a:ea typeface="+mn-ea"/>
                    <a:cs typeface="Times New Roman" panose="02020503050405090304" pitchFamily="18" charset="0"/>
                  </a:rPr>
                  <a:t>。</a:t>
                </a:r>
                <a:endParaRPr lang="zh-CN" altLang="zh-CN" sz="2000" dirty="0">
                  <a:effectLst/>
                  <a:latin typeface="+mn-ea"/>
                  <a:ea typeface="+mn-ea"/>
                  <a:cs typeface="Times New Roman" panose="02020503050405090304" pitchFamily="18" charset="0"/>
                </a:endParaRPr>
              </a:p>
              <a:p>
                <a:pPr marL="342900" lvl="0" indent="-342900" algn="just">
                  <a:lnSpc>
                    <a:spcPct val="130000"/>
                  </a:lnSpc>
                  <a:spcBef>
                    <a:spcPts val="300"/>
                  </a:spcBef>
                  <a:spcAft>
                    <a:spcPts val="300"/>
                  </a:spcAft>
                  <a:buClr>
                    <a:srgbClr val="C00000"/>
                  </a:buClr>
                  <a:buFont typeface="Wingdings" panose="05000000000000000000" pitchFamily="2" charset="2"/>
                  <a:buChar char="p"/>
                </a:pPr>
                <a:r>
                  <a:rPr lang="zh-CN" altLang="zh-CN" sz="2000" dirty="0">
                    <a:solidFill>
                      <a:srgbClr val="000000"/>
                    </a:solidFill>
                    <a:effectLst/>
                    <a:latin typeface="+mn-ea"/>
                    <a:ea typeface="+mn-ea"/>
                    <a:cs typeface="Times New Roman" panose="02020503050405090304" pitchFamily="18" charset="0"/>
                  </a:rPr>
                  <a:t>若</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oMath>
                </a14:m>
                <a:r>
                  <a:rPr lang="zh-CN" altLang="zh-CN" sz="2000" dirty="0">
                    <a:solidFill>
                      <a:srgbClr val="000000"/>
                    </a:solidFill>
                    <a:effectLst/>
                    <a:latin typeface="+mn-ea"/>
                    <a:ea typeface="+mn-ea"/>
                    <a:cs typeface="Times New Roman" panose="02020503050405090304" pitchFamily="18" charset="0"/>
                  </a:rPr>
                  <a:t>，令</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为过</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的曲线的切线与曲线的另一个交点，</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为</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ea"/>
                    <a:ea typeface="+mn-ea"/>
                    <a:cs typeface="Times New Roman" panose="02020503050405090304" pitchFamily="18" charset="0"/>
                  </a:rPr>
                  <a:t> </a:t>
                </a:r>
                <a:r>
                  <a:rPr lang="zh-CN" altLang="zh-CN" sz="2000" dirty="0">
                    <a:solidFill>
                      <a:srgbClr val="000000"/>
                    </a:solidFill>
                    <a:effectLst/>
                    <a:latin typeface="+mn-ea"/>
                    <a:ea typeface="+mn-ea"/>
                    <a:cs typeface="Times New Roman" panose="02020503050405090304" pitchFamily="18" charset="0"/>
                  </a:rPr>
                  <a:t>关于</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ea"/>
                    <a:ea typeface="+mn-ea"/>
                    <a:cs typeface="Times New Roman" panose="02020503050405090304" pitchFamily="18" charset="0"/>
                  </a:rPr>
                  <a:t>轴的对称点，则</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zh-CN" altLang="zh-CN" sz="2000" dirty="0">
                    <a:solidFill>
                      <a:srgbClr val="000000"/>
                    </a:solidFill>
                    <a:effectLst/>
                    <a:latin typeface="+mn-ea"/>
                    <a:ea typeface="+mn-ea"/>
                    <a:cs typeface="Times New Roman" panose="02020503050405090304" pitchFamily="18" charset="0"/>
                  </a:rPr>
                  <a:t>。设</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ea"/>
                    <a:ea typeface="+mn-ea"/>
                    <a:cs typeface="Times New Roman" panose="02020503050405090304" pitchFamily="18" charset="0"/>
                  </a:rPr>
                  <a:t>，易知</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ea"/>
                    <a:ea typeface="+mn-ea"/>
                    <a:cs typeface="Times New Roman" panose="02020503050405090304" pitchFamily="18" charset="0"/>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latin typeface="Cambria Math" panose="02040503050406030204" pitchFamily="18" charset="0"/>
                      </a:rPr>
                      <m:t>×</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ub>
                        </m:sSub>
                      </m:e>
                    </m:d>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oMath>
                </a14:m>
                <a:r>
                  <a:rPr lang="zh-CN" altLang="zh-CN" sz="2000" dirty="0">
                    <a:solidFill>
                      <a:srgbClr val="000000"/>
                    </a:solidFill>
                    <a:effectLst/>
                    <a:latin typeface="+mn-ea"/>
                    <a:ea typeface="+mn-ea"/>
                    <a:cs typeface="Times New Roman" panose="02020503050405090304" pitchFamily="18" charset="0"/>
                  </a:rPr>
                  <a:t>，其中</a:t>
                </a:r>
                <a:r>
                  <a:rPr lang="zh-CN" altLang="en-US" sz="2000" dirty="0">
                    <a:solidFill>
                      <a:srgbClr val="000000"/>
                    </a:solidFill>
                    <a:effectLst/>
                    <a:latin typeface="+mn-ea"/>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3</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𝑎</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2</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ea"/>
                    <a:ea typeface="+mn-ea"/>
                    <a:cs typeface="Times New Roman" panose="02020503050405090304" pitchFamily="18" charset="0"/>
                  </a:rPr>
                  <a:t>。</a:t>
                </a:r>
                <a:endParaRPr lang="zh-CN" altLang="zh-CN" sz="2000" dirty="0">
                  <a:effectLst/>
                  <a:latin typeface="+mn-ea"/>
                  <a:ea typeface="+mn-ea"/>
                  <a:cs typeface="Times New Roman" panose="02020503050405090304" pitchFamily="18" charset="0"/>
                </a:endParaRPr>
              </a:p>
              <a:p>
                <a:pPr marL="342900" lvl="0" indent="-342900" algn="just">
                  <a:lnSpc>
                    <a:spcPct val="130000"/>
                  </a:lnSpc>
                  <a:spcBef>
                    <a:spcPts val="300"/>
                  </a:spcBef>
                  <a:spcAft>
                    <a:spcPts val="300"/>
                  </a:spcAft>
                  <a:buClr>
                    <a:srgbClr val="C00000"/>
                  </a:buClr>
                  <a:buFont typeface="Wingdings" panose="05000000000000000000" pitchFamily="2" charset="2"/>
                  <a:buChar char="p"/>
                </a:pPr>
                <a:r>
                  <a:rPr lang="zh-CN" altLang="zh-CN" sz="2000" dirty="0">
                    <a:solidFill>
                      <a:srgbClr val="000000"/>
                    </a:solidFill>
                    <a:effectLst/>
                    <a:latin typeface="+mn-ea"/>
                    <a:ea typeface="+mn-ea"/>
                    <a:cs typeface="Times New Roman" panose="02020503050405090304" pitchFamily="18" charset="0"/>
                  </a:rPr>
                  <a:t>若</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oMath>
                </a14:m>
                <a:r>
                  <a:rPr lang="zh-CN" altLang="zh-CN" sz="2000" dirty="0">
                    <a:solidFill>
                      <a:srgbClr val="000000"/>
                    </a:solidFill>
                    <a:effectLst/>
                    <a:latin typeface="+mn-ea"/>
                    <a:ea typeface="+mn-ea"/>
                    <a:cs typeface="Times New Roman" panose="02020503050405090304" pitchFamily="18" charset="0"/>
                  </a:rPr>
                  <a:t>与</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oMath>
                </a14:m>
                <a:r>
                  <a:rPr lang="zh-CN" altLang="zh-CN" sz="2000" dirty="0">
                    <a:solidFill>
                      <a:srgbClr val="000000"/>
                    </a:solidFill>
                    <a:effectLst/>
                    <a:latin typeface="+mn-ea"/>
                    <a:ea typeface="+mn-ea"/>
                    <a:cs typeface="Times New Roman" panose="02020503050405090304" pitchFamily="18" charset="0"/>
                  </a:rPr>
                  <a:t>关于</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oMath>
                </a14:m>
                <a:r>
                  <a:rPr lang="zh-CN" altLang="zh-CN" sz="2000" dirty="0">
                    <a:solidFill>
                      <a:srgbClr val="000000"/>
                    </a:solidFill>
                    <a:effectLst/>
                    <a:latin typeface="+mn-ea"/>
                    <a:ea typeface="+mn-ea"/>
                    <a:cs typeface="Times New Roman" panose="02020503050405090304" pitchFamily="18" charset="0"/>
                  </a:rPr>
                  <a:t>轴对称，则</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𝑄</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𝑅</m:t>
                    </m:r>
                    <m:r>
                      <a:rPr lang="en-US" altLang="zh-CN" sz="2000" i="1">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𝒪</m:t>
                    </m:r>
                  </m:oMath>
                </a14:m>
                <a:r>
                  <a:rPr lang="zh-CN" altLang="zh-CN" sz="2000" dirty="0">
                    <a:solidFill>
                      <a:srgbClr val="000000"/>
                    </a:solidFill>
                    <a:effectLst/>
                    <a:latin typeface="+mn-ea"/>
                    <a:ea typeface="+mn-ea"/>
                    <a:cs typeface="Times New Roman" panose="02020503050405090304" pitchFamily="18" charset="0"/>
                  </a:rPr>
                  <a:t>。</a:t>
                </a:r>
                <a:endParaRPr lang="zh-CN" altLang="zh-CN" sz="2000" dirty="0">
                  <a:effectLst/>
                  <a:latin typeface="+mn-ea"/>
                  <a:ea typeface="+mn-ea"/>
                  <a:cs typeface="Times New Roman" panose="02020503050405090304" pitchFamily="18" charset="0"/>
                </a:endParaRPr>
              </a:p>
              <a:p>
                <a:pPr marL="285750" indent="-285750">
                  <a:lnSpc>
                    <a:spcPct val="130000"/>
                  </a:lnSpc>
                  <a:buClr>
                    <a:srgbClr val="C00000"/>
                  </a:buClr>
                  <a:buFont typeface="Wingdings" panose="05000000000000000000" pitchFamily="2" charset="2"/>
                  <a:buChar char="p"/>
                </a:pP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𝒪</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𝒪</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𝒪</m:t>
                    </m:r>
                  </m:oMath>
                </a14:m>
                <a:r>
                  <a:rPr lang="zh-CN" altLang="zh-CN" sz="2000" kern="0" dirty="0">
                    <a:solidFill>
                      <a:srgbClr val="000000"/>
                    </a:solidFill>
                    <a:effectLst/>
                    <a:latin typeface="+mn-ea"/>
                    <a:ea typeface="+mn-ea"/>
                    <a:cs typeface="Times New Roman" panose="02020503050405090304" pitchFamily="18" charset="0"/>
                  </a:rPr>
                  <a:t>。</a:t>
                </a:r>
                <a:endParaRPr lang="en-US" altLang="zh-CN" sz="2000" b="1" i="0" dirty="0">
                  <a:solidFill>
                    <a:srgbClr val="C00000"/>
                  </a:solidFill>
                  <a:latin typeface="+mn-ea"/>
                  <a:ea typeface="+mn-ea"/>
                </a:endParaRPr>
              </a:p>
              <a:p>
                <a:pPr algn="just">
                  <a:spcAft>
                    <a:spcPts val="600"/>
                  </a:spcAft>
                  <a:buClr>
                    <a:srgbClr val="C00000"/>
                  </a:buClr>
                </a:pPr>
                <a:endParaRPr lang="zh-CN" altLang="en-US" sz="2000" b="1" i="0" dirty="0">
                  <a:solidFill>
                    <a:srgbClr val="C00000"/>
                  </a:solidFill>
                  <a:latin typeface="微软雅黑" panose="020B0503020204020204" charset="-122"/>
                  <a:ea typeface="微软雅黑" panose="020B0503020204020204" charset="-122"/>
                </a:endParaRPr>
              </a:p>
            </p:txBody>
          </p:sp>
        </mc:Choice>
        <mc:Fallback xmlns="">
          <p:sp>
            <p:nvSpPr>
              <p:cNvPr id="19" name="TextBox 5"/>
              <p:cNvSpPr txBox="1">
                <a:spLocks noRot="1" noChangeAspect="1" noMove="1" noResize="1" noEditPoints="1" noAdjustHandles="1" noChangeArrowheads="1" noChangeShapeType="1" noTextEdit="1"/>
              </p:cNvSpPr>
              <p:nvPr/>
            </p:nvSpPr>
            <p:spPr>
              <a:xfrm>
                <a:off x="762000" y="1687067"/>
                <a:ext cx="10755232" cy="1101101"/>
              </a:xfrm>
              <a:prstGeom prst="rect">
                <a:avLst/>
              </a:prstGeom>
              <a:blipFill>
                <a:blip r:embed="rId3"/>
                <a:stretch>
                  <a:fillRect l="-1417" t="-6818" r="-1535" b="-293182"/>
                </a:stretch>
              </a:blipFill>
            </p:spPr>
            <p:txBody>
              <a:bodyPr/>
              <a:lstStyle/>
              <a:p>
                <a:r>
                  <a:rPr lang="zh-CN" altLang="en-US">
                    <a:noFill/>
                  </a:rPr>
                  <a:t> </a:t>
                </a:r>
              </a:p>
            </p:txBody>
          </p:sp>
        </mc:Fallback>
      </mc:AlternateContent>
      <p:sp>
        <p:nvSpPr>
          <p:cNvPr id="22"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23" name="TextBox 2"/>
          <p:cNvSpPr txBox="1"/>
          <p:nvPr/>
        </p:nvSpPr>
        <p:spPr>
          <a:xfrm>
            <a:off x="1066800" y="191135"/>
            <a:ext cx="8730343" cy="492443"/>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线连接符 3"/>
          <p:cNvSpPr>
            <a:spLocks noGrp="1"/>
          </p:cNvSpPr>
          <p:nvPr/>
        </p:nvSpPr>
        <p:spPr>
          <a:xfrm>
            <a:off x="504825" y="717462"/>
            <a:ext cx="11182350" cy="0"/>
          </a:xfrm>
          <a:prstGeom prst="line">
            <a:avLst/>
          </a:prstGeom>
          <a:noFill/>
          <a:ln w="9525">
            <a:solidFill>
              <a:srgbClr val="C90012"/>
            </a:solidFill>
          </a:ln>
        </p:spPr>
      </p:sp>
      <p:sp>
        <p:nvSpPr>
          <p:cNvPr id="5" name="矩形 4"/>
          <p:cNvSpPr>
            <a:spLocks noGrp="1"/>
          </p:cNvSpPr>
          <p:nvPr/>
        </p:nvSpPr>
        <p:spPr>
          <a:xfrm>
            <a:off x="676275" y="958850"/>
            <a:ext cx="10287000" cy="238125"/>
          </a:xfrm>
          <a:prstGeom prst="rect">
            <a:avLst/>
          </a:prstGeom>
          <a:noFill/>
          <a:ln w="0">
            <a:noFill/>
          </a:ln>
        </p:spPr>
        <p:txBody>
          <a:bodyPr wrap="square" lIns="0" tIns="0" rIns="0" bIns="0" anchor="ctr">
            <a:noAutofit/>
          </a:bodyPr>
          <a:lstStyle>
            <a:defPPr algn="l">
              <a:defRPr sz="1350" b="0">
                <a:solidFill>
                  <a:srgbClr val="8B3D3D"/>
                </a:solidFill>
                <a:latin typeface="Times New Roman" panose="02020503050405090304"/>
                <a:ea typeface="微软雅黑"/>
                <a:cs typeface="Times New Roman" panose="02020503050405090304"/>
              </a:defRPr>
            </a:defPPr>
          </a:lstStyle>
          <a:p>
            <a:pPr>
              <a:defRPr sz="1350" b="0">
                <a:solidFill>
                  <a:srgbClr val="8B3D3D"/>
                </a:solidFill>
                <a:latin typeface="Times New Roman" panose="02020503050405090304"/>
                <a:ea typeface="微软雅黑"/>
                <a:cs typeface="Times New Roman" panose="02020503050405090304"/>
              </a:defRPr>
            </a:pPr>
            <a:r>
              <a:rPr lang="en-US" altLang="zh-CN" sz="2400" b="1" dirty="0">
                <a:solidFill>
                  <a:srgbClr val="C00000"/>
                </a:solidFill>
                <a:latin typeface="+mn-lt"/>
              </a:rPr>
              <a:t>SM2</a:t>
            </a:r>
            <a:r>
              <a:rPr lang="zh-CN" altLang="en-GB" sz="2400" b="1" dirty="0">
                <a:solidFill>
                  <a:srgbClr val="C00000"/>
                </a:solidFill>
                <a:latin typeface="+mn-lt"/>
              </a:rPr>
              <a:t>的</a:t>
            </a:r>
            <a:r>
              <a:rPr lang="zh-CN" altLang="en-US" sz="2400" b="1" dirty="0">
                <a:solidFill>
                  <a:srgbClr val="C00000"/>
                </a:solidFill>
                <a:latin typeface="+mn-lt"/>
              </a:rPr>
              <a:t>椭圆曲线密码体制</a:t>
            </a:r>
            <a:endParaRPr sz="2400" b="1" dirty="0">
              <a:latin typeface="+mn-lt"/>
            </a:endParaRPr>
          </a:p>
        </p:txBody>
      </p:sp>
      <p:sp>
        <p:nvSpPr>
          <p:cNvPr id="7" name="矩形 6"/>
          <p:cNvSpPr>
            <a:spLocks noGrp="1"/>
          </p:cNvSpPr>
          <p:nvPr/>
        </p:nvSpPr>
        <p:spPr>
          <a:xfrm>
            <a:off x="1245308" y="3727183"/>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mn-lt"/>
              <a:ea typeface="微软雅黑"/>
              <a:cs typeface="Times New Roman" panose="02020503050405090304"/>
            </a:endParaRPr>
          </a:p>
        </p:txBody>
      </p:sp>
      <p:sp>
        <p:nvSpPr>
          <p:cNvPr id="10" name="矩形 9"/>
          <p:cNvSpPr>
            <a:spLocks noGrp="1"/>
          </p:cNvSpPr>
          <p:nvPr/>
        </p:nvSpPr>
        <p:spPr>
          <a:xfrm>
            <a:off x="626183" y="4946383"/>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endParaRPr sz="1725" b="1" dirty="0">
              <a:solidFill>
                <a:srgbClr val="C90012"/>
              </a:solidFill>
              <a:latin typeface="+mn-lt"/>
              <a:ea typeface="微软雅黑"/>
              <a:cs typeface="Times New Roman" panose="02020503050405090304"/>
            </a:endParaRPr>
          </a:p>
        </p:txBody>
      </p:sp>
      <p:sp>
        <p:nvSpPr>
          <p:cNvPr id="12" name="矩形 11"/>
          <p:cNvSpPr>
            <a:spLocks noGrp="1"/>
          </p:cNvSpPr>
          <p:nvPr/>
        </p:nvSpPr>
        <p:spPr>
          <a:xfrm>
            <a:off x="566383" y="509315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endParaRPr sz="1725" b="1" dirty="0">
              <a:solidFill>
                <a:srgbClr val="C90012"/>
              </a:solidFill>
              <a:latin typeface="+mn-lt"/>
              <a:ea typeface="微软雅黑"/>
              <a:cs typeface="Times New Roman" panose="02020503050405090304"/>
            </a:endParaRPr>
          </a:p>
        </p:txBody>
      </p:sp>
      <p:sp>
        <p:nvSpPr>
          <p:cNvPr id="15" name="矩形 14"/>
          <p:cNvSpPr>
            <a:spLocks noGrp="1"/>
          </p:cNvSpPr>
          <p:nvPr/>
        </p:nvSpPr>
        <p:spPr>
          <a:xfrm>
            <a:off x="804508" y="5817056"/>
            <a:ext cx="10191750" cy="447675"/>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endParaRPr sz="2325" b="0" dirty="0">
              <a:solidFill>
                <a:srgbClr val="C90012"/>
              </a:solidFill>
              <a:latin typeface="+mn-lt"/>
              <a:ea typeface="微软雅黑"/>
              <a:cs typeface="Times New Roman" panose="02020503050405090304"/>
            </a:endParaRPr>
          </a:p>
        </p:txBody>
      </p:sp>
      <p:sp>
        <p:nvSpPr>
          <p:cNvPr id="16" name="矩形 15"/>
          <p:cNvSpPr>
            <a:spLocks noGrp="1"/>
          </p:cNvSpPr>
          <p:nvPr/>
        </p:nvSpPr>
        <p:spPr>
          <a:xfrm>
            <a:off x="11234383" y="6483806"/>
            <a:ext cx="342900" cy="238125"/>
          </a:xfrm>
          <a:prstGeom prst="rect">
            <a:avLst/>
          </a:prstGeom>
          <a:noFill/>
          <a:ln w="0">
            <a:noFill/>
          </a:ln>
        </p:spPr>
        <p:txBody>
          <a:bodyPr wrap="square" lIns="0" tIns="0" rIns="0" bIns="0" anchor="ctr">
            <a:noAutofit/>
          </a:bodyPr>
          <a:lstStyle>
            <a:defPPr algn="r">
              <a:defRPr sz="1350" b="0">
                <a:solidFill>
                  <a:srgbClr val="8B3D3D"/>
                </a:solidFill>
                <a:latin typeface="Times New Roman" panose="02020503050405090304"/>
                <a:ea typeface="微软雅黑"/>
                <a:cs typeface="Times New Roman" panose="02020503050405090304"/>
              </a:defRPr>
            </a:defPPr>
          </a:lstStyle>
          <a:p>
            <a:pPr algn="r">
              <a:defRPr sz="1350" b="0">
                <a:solidFill>
                  <a:srgbClr val="8B3D3D"/>
                </a:solidFill>
                <a:latin typeface="Times New Roman" panose="02020503050405090304"/>
                <a:ea typeface="微软雅黑"/>
                <a:cs typeface="Times New Roman" panose="02020503050405090304"/>
              </a:defRPr>
            </a:pPr>
            <a:endParaRPr sz="1350" b="0" dirty="0">
              <a:solidFill>
                <a:srgbClr val="8B3D3D"/>
              </a:solidFill>
              <a:latin typeface="+mn-lt"/>
              <a:ea typeface="微软雅黑"/>
              <a:cs typeface="Times New Roman" panose="02020503050405090304"/>
            </a:endParaRPr>
          </a:p>
        </p:txBody>
      </p:sp>
      <p:sp>
        <p:nvSpPr>
          <p:cNvPr id="18" name="Rounded Rectangle 9"/>
          <p:cNvSpPr/>
          <p:nvPr/>
        </p:nvSpPr>
        <p:spPr>
          <a:xfrm>
            <a:off x="367102" y="2184049"/>
            <a:ext cx="11183112" cy="1908598"/>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5"/>
              <p:cNvSpPr txBox="1"/>
              <p:nvPr/>
            </p:nvSpPr>
            <p:spPr>
              <a:xfrm>
                <a:off x="502920" y="2267942"/>
                <a:ext cx="10755232" cy="1873392"/>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.9</a:t>
                </a:r>
                <a:r>
                  <a:rPr lang="zh-CN" altLang="en-US" sz="2000" b="1" dirty="0">
                    <a:solidFill>
                      <a:srgbClr val="C00000"/>
                    </a:solidFill>
                    <a:latin typeface="+mn-lt"/>
                    <a:ea typeface="微软雅黑" panose="020B0503020204020204" charset="-122"/>
                  </a:rPr>
                  <a:t>　素数域</a:t>
                </a:r>
                <a14:m>
                  <m:oMath xmlns:m="http://schemas.openxmlformats.org/officeDocument/2006/math">
                    <m:sSub>
                      <m:sSubPr>
                        <m:ctrlPr>
                          <a:rPr lang="zh-CN" altLang="zh-CN" sz="2000" i="1" smtClean="0">
                            <a:solidFill>
                              <a:srgbClr val="C0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2000" i="1" kern="0">
                            <a:solidFill>
                              <a:srgbClr val="C00000"/>
                            </a:solidFill>
                            <a:effectLst/>
                            <a:latin typeface="Cambria Math" panose="02040503050406030204" pitchFamily="18" charset="0"/>
                            <a:ea typeface="宋体" pitchFamily="2" charset="-122"/>
                            <a:cs typeface="Times New Roman" panose="02020503050405090304" pitchFamily="18" charset="0"/>
                          </a:rPr>
                          <m:t>𝔽</m:t>
                        </m:r>
                      </m:e>
                      <m:sub>
                        <m:r>
                          <a:rPr lang="en-US" altLang="zh-CN" sz="2000" i="1" kern="0">
                            <a:solidFill>
                              <a:srgbClr val="C00000"/>
                            </a:solidFill>
                            <a:effectLst/>
                            <a:latin typeface="Cambria Math" panose="02040503050406030204" pitchFamily="18" charset="0"/>
                            <a:ea typeface="宋体" pitchFamily="2" charset="-122"/>
                            <a:cs typeface="Times New Roman" panose="02020503050405090304" pitchFamily="18" charset="0"/>
                          </a:rPr>
                          <m:t>𝑝</m:t>
                        </m:r>
                      </m:sub>
                    </m:sSub>
                  </m:oMath>
                </a14:m>
                <a:r>
                  <a:rPr lang="zh-CN" altLang="en-US" sz="2000" b="1" dirty="0">
                    <a:solidFill>
                      <a:srgbClr val="C00000"/>
                    </a:solidFill>
                    <a:latin typeface="+mn-lt"/>
                    <a:ea typeface="微软雅黑" panose="020B0503020204020204" charset="-122"/>
                  </a:rPr>
                  <a:t>上的椭圆曲线 （</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algn="just">
                  <a:lnSpc>
                    <a:spcPct val="130000"/>
                  </a:lnSpc>
                  <a:spcAft>
                    <a:spcPts val="600"/>
                  </a:spcAft>
                  <a:buClr>
                    <a:srgbClr val="C00000"/>
                  </a:buClr>
                </a:pPr>
                <a:r>
                  <a:rPr lang="zh-CN" altLang="zh-CN" sz="2000" kern="0" dirty="0">
                    <a:solidFill>
                      <a:srgbClr val="000000"/>
                    </a:solidFill>
                    <a:effectLst/>
                    <a:latin typeface="+mn-lt"/>
                    <a:ea typeface="+mn-ea"/>
                    <a:cs typeface="Times New Roman" panose="02020503050405090304" pitchFamily="18" charset="0"/>
                  </a:rPr>
                  <a:t>设</a:t>
                </a:r>
                <a:r>
                  <a:rPr lang="en-US" altLang="zh-CN" sz="2000" kern="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oMath>
                </a14:m>
                <a:r>
                  <a:rPr lang="en-US" altLang="zh-CN"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为一大于</a:t>
                </a:r>
                <a:r>
                  <a:rPr lang="en-US" altLang="zh-CN" sz="2000" kern="0" dirty="0">
                    <a:solidFill>
                      <a:srgbClr val="000000"/>
                    </a:solidFill>
                    <a:effectLst/>
                    <a:latin typeface="+mn-lt"/>
                    <a:ea typeface="+mn-ea"/>
                  </a:rPr>
                  <a:t>3</a:t>
                </a:r>
                <a:r>
                  <a:rPr lang="zh-CN" altLang="zh-CN" sz="2000" kern="0" dirty="0">
                    <a:solidFill>
                      <a:srgbClr val="000000"/>
                    </a:solidFill>
                    <a:effectLst/>
                    <a:latin typeface="+mn-lt"/>
                    <a:ea typeface="+mn-ea"/>
                    <a:cs typeface="Times New Roman" panose="02020503050405090304" pitchFamily="18" charset="0"/>
                  </a:rPr>
                  <a:t>的素数、</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𝑎</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𝑏</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且</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4</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𝑎</m:t>
                        </m:r>
                      </m:e>
                      <m: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3</m:t>
                        </m:r>
                      </m:sup>
                    </m:s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27</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𝑏</m:t>
                        </m:r>
                      </m:e>
                      <m: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0</m:t>
                    </m:r>
                  </m:oMath>
                </a14:m>
                <a:r>
                  <a:rPr lang="zh-CN" altLang="zh-CN" sz="2000" kern="0" dirty="0">
                    <a:solidFill>
                      <a:srgbClr val="000000"/>
                    </a:solidFill>
                    <a:effectLst/>
                    <a:latin typeface="+mn-lt"/>
                    <a:ea typeface="+mn-ea"/>
                    <a:cs typeface="Times New Roman" panose="02020503050405090304" pitchFamily="18" charset="0"/>
                  </a:rPr>
                  <a:t>，则</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上的同余方程</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𝑦</m:t>
                        </m:r>
                      </m:e>
                      <m: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2</m:t>
                        </m:r>
                      </m:sup>
                    </m:s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𝑥</m:t>
                        </m:r>
                      </m:e>
                      <m: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3</m:t>
                        </m:r>
                      </m:sup>
                    </m:s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𝑎𝑥</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𝑏</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 </m:t>
                    </m:r>
                    <m:r>
                      <m:rPr>
                        <m:sty m:val="p"/>
                      </m:rPr>
                      <a:rPr lang="en-US" altLang="zh-CN" sz="2000" kern="0">
                        <a:solidFill>
                          <a:srgbClr val="000000"/>
                        </a:solidFill>
                        <a:effectLst/>
                        <a:latin typeface="Cambria Math" panose="02040503050406030204" pitchFamily="18" charset="0"/>
                        <a:ea typeface="+mn-ea"/>
                        <a:cs typeface="Times New Roman" panose="02020503050405090304" pitchFamily="18" charset="0"/>
                      </a:rPr>
                      <m:t>mod</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oMath>
                </a14:m>
                <a:r>
                  <a:rPr lang="zh-CN" altLang="zh-CN" sz="2000" kern="0" dirty="0">
                    <a:solidFill>
                      <a:srgbClr val="000000"/>
                    </a:solidFill>
                    <a:effectLst/>
                    <a:latin typeface="+mn-lt"/>
                    <a:ea typeface="+mn-ea"/>
                    <a:cs typeface="Times New Roman" panose="02020503050405090304" pitchFamily="18" charset="0"/>
                  </a:rPr>
                  <a:t>的所有解</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𝑥</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𝑦</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oMath>
                </a14:m>
                <a:r>
                  <a:rPr lang="en-US" altLang="zh-CN" sz="2000" kern="0" dirty="0">
                    <a:solidFill>
                      <a:srgbClr val="000000"/>
                    </a:solidFill>
                    <a:effectLst/>
                    <a:latin typeface="+mn-lt"/>
                    <a:ea typeface="+mn-ea"/>
                  </a:rPr>
                  <a:t> </a:t>
                </a:r>
                <a:r>
                  <a:rPr lang="zh-CN" altLang="zh-CN" sz="2000" kern="0" dirty="0">
                    <a:solidFill>
                      <a:srgbClr val="000000"/>
                    </a:solidFill>
                    <a:effectLst/>
                    <a:latin typeface="+mn-lt"/>
                    <a:ea typeface="+mn-ea"/>
                    <a:cs typeface="Times New Roman" panose="02020503050405090304" pitchFamily="18" charset="0"/>
                  </a:rPr>
                  <a:t>（</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𝑥</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𝑦</m:t>
                    </m:r>
                    <m:r>
                      <a:rPr lang="en-US" altLang="zh-CN" sz="2000" i="1" kern="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zh-CN" sz="2000" kern="0" dirty="0">
                    <a:solidFill>
                      <a:srgbClr val="000000"/>
                    </a:solidFill>
                    <a:effectLst/>
                    <a:latin typeface="+mn-lt"/>
                    <a:ea typeface="+mn-ea"/>
                    <a:cs typeface="Times New Roman" panose="02020503050405090304" pitchFamily="18" charset="0"/>
                  </a:rPr>
                  <a:t>）连同一个无穷远点</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𝒪</m:t>
                    </m:r>
                    <m:r>
                      <a:rPr lang="zh-CN" altLang="en-US" sz="2000" b="0" i="1" kern="0"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kern="0" dirty="0">
                    <a:solidFill>
                      <a:srgbClr val="000000"/>
                    </a:solidFill>
                    <a:effectLst/>
                    <a:latin typeface="+mn-lt"/>
                    <a:ea typeface="+mn-ea"/>
                    <a:cs typeface="Times New Roman" panose="02020503050405090304" pitchFamily="18" charset="0"/>
                  </a:rPr>
                  <a:t>共同构成</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上的椭圆曲</a:t>
                </a:r>
                <a:r>
                  <a:rPr lang="zh-CN" altLang="zh-CN" sz="2000" dirty="0">
                    <a:latin typeface="+mn-lt"/>
                  </a:rPr>
                  <a:t>线，记为</a:t>
                </a:r>
                <a:r>
                  <a:rPr lang="zh-CN" altLang="en-US" sz="2000" dirty="0">
                    <a:latin typeface="+mn-lt"/>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𝔽</m:t>
                        </m:r>
                      </m:e>
                      <m:sub>
                        <m:r>
                          <a:rPr lang="en-US" altLang="zh-CN" sz="2000" i="1">
                            <a:latin typeface="Cambria Math" panose="02040503050406030204" pitchFamily="18" charset="0"/>
                          </a:rPr>
                          <m:t>𝑝</m:t>
                        </m:r>
                      </m:sub>
                    </m:sSub>
                    <m:r>
                      <a:rPr lang="en-US" altLang="zh-CN" sz="2000" i="1">
                        <a:latin typeface="Cambria Math" panose="02040503050406030204" pitchFamily="18" charset="0"/>
                      </a:rPr>
                      <m:t>)</m:t>
                    </m:r>
                  </m:oMath>
                </a14:m>
                <a:r>
                  <a:rPr lang="zh-CN" altLang="zh-CN" sz="2000" dirty="0">
                    <a:latin typeface="+mn-lt"/>
                  </a:rPr>
                  <a:t>。椭圆曲线</a:t>
                </a:r>
                <a:r>
                  <a:rPr lang="zh-CN" altLang="en-US" sz="2000" dirty="0">
                    <a:latin typeface="+mn-lt"/>
                  </a:rPr>
                  <a:t> </a:t>
                </a:r>
                <a14:m>
                  <m:oMath xmlns:m="http://schemas.openxmlformats.org/officeDocument/2006/math">
                    <m:r>
                      <a:rPr lang="en-US" altLang="zh-CN" sz="2000" i="1">
                        <a:latin typeface="Cambria Math" panose="02040503050406030204" pitchFamily="18" charset="0"/>
                      </a:rPr>
                      <m:t>𝐸</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𝔽</m:t>
                        </m:r>
                      </m:e>
                      <m:sub>
                        <m:r>
                          <a:rPr lang="en-US" altLang="zh-CN" sz="2000" i="1">
                            <a:latin typeface="Cambria Math" panose="02040503050406030204" pitchFamily="18" charset="0"/>
                          </a:rPr>
                          <m:t>𝑝</m:t>
                        </m:r>
                      </m:sub>
                    </m:sSub>
                    <m:r>
                      <a:rPr lang="en-US" altLang="zh-CN" sz="2000" i="1">
                        <a:latin typeface="Cambria Math" panose="02040503050406030204" pitchFamily="18" charset="0"/>
                      </a:rPr>
                      <m:t>)</m:t>
                    </m:r>
                  </m:oMath>
                </a14:m>
                <a:r>
                  <a:rPr lang="zh-CN" altLang="en-US" sz="2000" dirty="0">
                    <a:latin typeface="+mn-lt"/>
                  </a:rPr>
                  <a:t> </a:t>
                </a:r>
                <a:r>
                  <a:rPr lang="zh-CN" altLang="zh-CN" sz="2000" dirty="0">
                    <a:latin typeface="+mn-lt"/>
                  </a:rPr>
                  <a:t>上点的个数用</a:t>
                </a:r>
                <a:r>
                  <a:rPr lang="zh-CN" altLang="en-US" sz="2000" dirty="0">
                    <a:latin typeface="+mn-lt"/>
                  </a:rPr>
                  <a:t> </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𝔽</m:t>
                        </m:r>
                      </m:e>
                      <m:sub>
                        <m:r>
                          <a:rPr lang="en-US" altLang="zh-CN" sz="2000" i="1">
                            <a:latin typeface="Cambria Math" panose="02040503050406030204" pitchFamily="18" charset="0"/>
                          </a:rPr>
                          <m:t>𝑝</m:t>
                        </m:r>
                      </m:sub>
                    </m:sSub>
                    <m:r>
                      <a:rPr lang="en-US" altLang="zh-CN" sz="2000" i="1">
                        <a:latin typeface="Cambria Math" panose="02040503050406030204" pitchFamily="18" charset="0"/>
                      </a:rPr>
                      <m:t>)</m:t>
                    </m:r>
                  </m:oMath>
                </a14:m>
                <a:r>
                  <a:rPr lang="zh-CN" altLang="en-US" sz="2000" dirty="0">
                    <a:latin typeface="+mn-lt"/>
                  </a:rPr>
                  <a:t> </a:t>
                </a:r>
                <a:r>
                  <a:rPr lang="zh-CN" altLang="zh-CN" sz="2000" dirty="0">
                    <a:latin typeface="+mn-lt"/>
                  </a:rPr>
                  <a:t>表示，称为椭圆曲线</a:t>
                </a:r>
                <a:r>
                  <a:rPr lang="zh-CN" altLang="en-US" sz="2000" dirty="0">
                    <a:latin typeface="+mn-lt"/>
                  </a:rPr>
                  <a:t> </a:t>
                </a:r>
                <a14:m>
                  <m:oMath xmlns:m="http://schemas.openxmlformats.org/officeDocument/2006/math">
                    <m:r>
                      <a:rPr lang="en-US" altLang="zh-CN" sz="2000" i="1">
                        <a:latin typeface="Cambria Math" panose="02040503050406030204" pitchFamily="18" charset="0"/>
                      </a:rPr>
                      <m:t>𝐸</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𝔽</m:t>
                        </m:r>
                      </m:e>
                      <m:sub>
                        <m:r>
                          <a:rPr lang="en-US" altLang="zh-CN" sz="2000" i="1">
                            <a:latin typeface="Cambria Math" panose="02040503050406030204" pitchFamily="18" charset="0"/>
                          </a:rPr>
                          <m:t>𝑝</m:t>
                        </m:r>
                      </m:sub>
                    </m:sSub>
                    <m:r>
                      <a:rPr lang="en-US" altLang="zh-CN" sz="2000" i="1">
                        <a:latin typeface="Cambria Math" panose="02040503050406030204" pitchFamily="18" charset="0"/>
                      </a:rPr>
                      <m:t>)</m:t>
                    </m:r>
                  </m:oMath>
                </a14:m>
                <a:r>
                  <a:rPr lang="zh-CN" altLang="en-US" sz="2000" dirty="0">
                    <a:latin typeface="+mn-lt"/>
                  </a:rPr>
                  <a:t> </a:t>
                </a:r>
                <a:r>
                  <a:rPr lang="zh-CN" altLang="zh-CN" sz="2000" dirty="0">
                    <a:latin typeface="+mn-lt"/>
                  </a:rPr>
                  <a:t>的阶。</a:t>
                </a:r>
              </a:p>
              <a:p>
                <a:pPr algn="just">
                  <a:lnSpc>
                    <a:spcPct val="130000"/>
                  </a:lnSpc>
                  <a:spcAft>
                    <a:spcPts val="600"/>
                  </a:spcAft>
                  <a:buClr>
                    <a:srgbClr val="C00000"/>
                  </a:buClr>
                </a:pP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19" name="TextBox 5"/>
              <p:cNvSpPr txBox="1">
                <a:spLocks noRot="1" noChangeAspect="1" noMove="1" noResize="1" noEditPoints="1" noAdjustHandles="1" noChangeArrowheads="1" noChangeShapeType="1" noTextEdit="1"/>
              </p:cNvSpPr>
              <p:nvPr/>
            </p:nvSpPr>
            <p:spPr>
              <a:xfrm>
                <a:off x="502920" y="2267942"/>
                <a:ext cx="10755232" cy="1873392"/>
              </a:xfrm>
              <a:prstGeom prst="rect">
                <a:avLst/>
              </a:prstGeom>
              <a:blipFill>
                <a:blip r:embed="rId3"/>
                <a:stretch>
                  <a:fillRect l="-1415" t="-4054" r="-1415"/>
                </a:stretch>
              </a:blipFill>
            </p:spPr>
            <p:txBody>
              <a:bodyPr/>
              <a:lstStyle/>
              <a:p>
                <a:r>
                  <a:rPr lang="zh-CN" altLang="en-US">
                    <a:noFill/>
                  </a:rPr>
                  <a:t> </a:t>
                </a:r>
              </a:p>
            </p:txBody>
          </p:sp>
        </mc:Fallback>
      </mc:AlternateContent>
      <p:sp>
        <p:nvSpPr>
          <p:cNvPr id="22"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23" name="TextBox 2"/>
          <p:cNvSpPr txBox="1"/>
          <p:nvPr/>
        </p:nvSpPr>
        <p:spPr>
          <a:xfrm>
            <a:off x="1066800" y="191135"/>
            <a:ext cx="8730343" cy="492443"/>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p:txBody>
      </p:sp>
      <p:sp>
        <p:nvSpPr>
          <p:cNvPr id="2" name="矩形 1"/>
          <p:cNvSpPr>
            <a:spLocks noGrp="1"/>
          </p:cNvSpPr>
          <p:nvPr/>
        </p:nvSpPr>
        <p:spPr>
          <a:xfrm>
            <a:off x="1210908" y="553765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mn-lt"/>
              <a:ea typeface="微软雅黑"/>
              <a:cs typeface="Times New Roman" panose="02020503050405090304"/>
            </a:endParaRPr>
          </a:p>
        </p:txBody>
      </p:sp>
      <p:sp>
        <p:nvSpPr>
          <p:cNvPr id="6" name="矩形 5"/>
          <p:cNvSpPr>
            <a:spLocks noGrp="1"/>
          </p:cNvSpPr>
          <p:nvPr/>
        </p:nvSpPr>
        <p:spPr>
          <a:xfrm>
            <a:off x="591783" y="6683704"/>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endParaRPr sz="1725" b="1" dirty="0">
              <a:solidFill>
                <a:srgbClr val="C90012"/>
              </a:solidFill>
              <a:latin typeface="Times New Roman" panose="02020503050405090304"/>
              <a:ea typeface="微软雅黑"/>
              <a:cs typeface="Times New Roman" panose="02020503050405090304"/>
            </a:endParaRPr>
          </a:p>
        </p:txBody>
      </p:sp>
      <mc:AlternateContent xmlns:mc="http://schemas.openxmlformats.org/markup-compatibility/2006" xmlns:a14="http://schemas.microsoft.com/office/drawing/2010/main">
        <mc:Choice Requires="a14">
          <p:sp>
            <p:nvSpPr>
              <p:cNvPr id="13" name="文本框 12"/>
              <p:cNvSpPr txBox="1"/>
              <p:nvPr/>
            </p:nvSpPr>
            <p:spPr>
              <a:xfrm>
                <a:off x="0" y="4095385"/>
                <a:ext cx="11984517" cy="498406"/>
              </a:xfrm>
              <a:prstGeom prst="rect">
                <a:avLst/>
              </a:prstGeom>
              <a:noFill/>
            </p:spPr>
            <p:txBody>
              <a:bodyPr wrap="square">
                <a:spAutoFit/>
              </a:bodyPr>
              <a:lstStyle/>
              <a:p>
                <a:pPr indent="266700" algn="just">
                  <a:lnSpc>
                    <a:spcPct val="130000"/>
                  </a:lnSpc>
                  <a:spcBef>
                    <a:spcPts val="300"/>
                  </a:spcBef>
                  <a:spcAft>
                    <a:spcPts val="300"/>
                  </a:spcAft>
                </a:pPr>
                <a:r>
                  <a:rPr lang="zh-CN" altLang="zh-CN" sz="2000" dirty="0">
                    <a:solidFill>
                      <a:srgbClr val="000000"/>
                    </a:solidFill>
                    <a:effectLst/>
                    <a:latin typeface="+mn-lt"/>
                    <a:ea typeface="+mn-ea"/>
                    <a:cs typeface="Times New Roman" panose="02020503050405090304" pitchFamily="18" charset="0"/>
                  </a:rPr>
                  <a:t>素数域</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zh-CN" sz="2000" dirty="0">
                    <a:solidFill>
                      <a:srgbClr val="000000"/>
                    </a:solidFill>
                    <a:effectLst/>
                    <a:latin typeface="+mn-lt"/>
                    <a:ea typeface="+mn-ea"/>
                    <a:cs typeface="Times New Roman" panose="02020503050405090304" pitchFamily="18" charset="0"/>
                  </a:rPr>
                  <a:t>上椭圆曲线上的加法运算</a:t>
                </a:r>
                <a:r>
                  <a:rPr lang="zh-CN" altLang="en-US" sz="2000" dirty="0">
                    <a:solidFill>
                      <a:srgbClr val="000000"/>
                    </a:solidFill>
                    <a:effectLst/>
                    <a:latin typeface="+mn-lt"/>
                    <a:ea typeface="+mn-ea"/>
                    <a:cs typeface="Times New Roman" panose="02020503050405090304" pitchFamily="18" charset="0"/>
                  </a:rPr>
                  <a:t>与椭圆曲线上的加法运算思想基本一样</a:t>
                </a:r>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effectLst/>
                    <a:latin typeface="+mn-lt"/>
                    <a:ea typeface="+mn-ea"/>
                    <a:cs typeface="Times New Roman" panose="02020503050405090304" pitchFamily="18" charset="0"/>
                  </a:rPr>
                  <a:t>可参考教材原文</a:t>
                </a:r>
                <a:r>
                  <a:rPr lang="en-US" altLang="zh-CN" sz="2000" dirty="0">
                    <a:solidFill>
                      <a:srgbClr val="000000"/>
                    </a:solidFill>
                    <a:latin typeface="+mn-lt"/>
                    <a:ea typeface="+mn-ea"/>
                    <a:cs typeface="Times New Roman" panose="02020503050405090304" pitchFamily="18" charset="0"/>
                  </a:rPr>
                  <a:t>3.10</a:t>
                </a:r>
                <a:r>
                  <a:rPr lang="zh-CN" altLang="en-US" sz="2000" dirty="0">
                    <a:solidFill>
                      <a:srgbClr val="000000"/>
                    </a:solidFill>
                    <a:latin typeface="+mn-lt"/>
                    <a:ea typeface="+mn-ea"/>
                    <a:cs typeface="Times New Roman" panose="02020503050405090304" pitchFamily="18" charset="0"/>
                  </a:rPr>
                  <a:t>学习</a:t>
                </a:r>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0" y="4095385"/>
                <a:ext cx="11984517" cy="498406"/>
              </a:xfrm>
              <a:prstGeom prst="rect">
                <a:avLst/>
              </a:prstGeom>
              <a:blipFill>
                <a:blip r:embed="rId4"/>
                <a:stretch>
                  <a:fillRect b="-17500"/>
                </a:stretch>
              </a:blipFill>
            </p:spPr>
            <p:txBody>
              <a:bodyPr/>
              <a:lstStyle/>
              <a:p>
                <a:r>
                  <a:rPr lang="zh-CN" altLang="en-US">
                    <a:noFill/>
                  </a:rPr>
                  <a:t> </a:t>
                </a:r>
              </a:p>
            </p:txBody>
          </p:sp>
        </mc:Fallback>
      </mc:AlternateContent>
      <p:sp>
        <p:nvSpPr>
          <p:cNvPr id="14" name="矩形 13"/>
          <p:cNvSpPr>
            <a:spLocks noGrp="1"/>
          </p:cNvSpPr>
          <p:nvPr/>
        </p:nvSpPr>
        <p:spPr>
          <a:xfrm>
            <a:off x="1245308" y="6252552"/>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mn-lt"/>
              <a:ea typeface="微软雅黑"/>
              <a:cs typeface="Times New Roman" panose="02020503050405090304"/>
            </a:endParaRPr>
          </a:p>
        </p:txBody>
      </p:sp>
      <p:sp>
        <p:nvSpPr>
          <p:cNvPr id="17" name="Rounded Rectangle 9"/>
          <p:cNvSpPr/>
          <p:nvPr/>
        </p:nvSpPr>
        <p:spPr>
          <a:xfrm>
            <a:off x="367102" y="4709418"/>
            <a:ext cx="11183112" cy="1504272"/>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5"/>
              <p:cNvSpPr txBox="1"/>
              <p:nvPr/>
            </p:nvSpPr>
            <p:spPr>
              <a:xfrm>
                <a:off x="502920" y="4793311"/>
                <a:ext cx="10755232" cy="1420379"/>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.10</a:t>
                </a:r>
                <a:r>
                  <a:rPr lang="zh-CN" altLang="en-US" sz="2000" b="1" dirty="0">
                    <a:solidFill>
                      <a:srgbClr val="C00000"/>
                    </a:solidFill>
                    <a:latin typeface="+mn-lt"/>
                    <a:ea typeface="微软雅黑" panose="020B0503020204020204" charset="-122"/>
                  </a:rPr>
                  <a:t>　</a:t>
                </a:r>
                <a:r>
                  <a:rPr lang="en-US" altLang="zh-CN" sz="2000" i="1" dirty="0">
                    <a:latin typeface="+mn-lt"/>
                  </a:rPr>
                  <a:t> </a:t>
                </a:r>
                <a:r>
                  <a:rPr lang="en-US" altLang="zh-CN" sz="2000" i="1" dirty="0">
                    <a:solidFill>
                      <a:srgbClr val="C00000"/>
                    </a:solidFill>
                    <a:latin typeface="+mn-lt"/>
                  </a:rPr>
                  <a:t>E</a:t>
                </a:r>
                <a:r>
                  <a:rPr lang="en-US" altLang="zh-CN" sz="2000" dirty="0">
                    <a:solidFill>
                      <a:srgbClr val="C00000"/>
                    </a:solidFill>
                    <a:latin typeface="+mn-lt"/>
                  </a:rPr>
                  <a:t>(</a:t>
                </a:r>
                <a14:m>
                  <m:oMath xmlns:m="http://schemas.openxmlformats.org/officeDocument/2006/math">
                    <m:sSub>
                      <m:sSubPr>
                        <m:ctrlPr>
                          <a:rPr lang="zh-CN" altLang="zh-CN" sz="2000" i="1">
                            <a:solidFill>
                              <a:srgbClr val="C00000"/>
                            </a:solidFill>
                            <a:latin typeface="Cambria Math" panose="02040503050406030204" pitchFamily="18" charset="0"/>
                            <a:cs typeface="Times New Roman" panose="02020503050405090304" pitchFamily="18" charset="0"/>
                          </a:rPr>
                        </m:ctrlPr>
                      </m:sSubPr>
                      <m:e>
                        <m:r>
                          <a:rPr lang="en-US" altLang="zh-CN" sz="2000" i="1" kern="0">
                            <a:solidFill>
                              <a:srgbClr val="C00000"/>
                            </a:solidFill>
                            <a:latin typeface="Cambria Math" panose="02040503050406030204" pitchFamily="18" charset="0"/>
                            <a:cs typeface="Times New Roman" panose="02020503050405090304" pitchFamily="18" charset="0"/>
                          </a:rPr>
                          <m:t>𝔽</m:t>
                        </m:r>
                      </m:e>
                      <m:sub>
                        <m:r>
                          <a:rPr lang="en-US" altLang="zh-CN" sz="2000" i="1" kern="0">
                            <a:solidFill>
                              <a:srgbClr val="C00000"/>
                            </a:solidFill>
                            <a:latin typeface="Cambria Math" panose="02040503050406030204" pitchFamily="18" charset="0"/>
                            <a:cs typeface="Times New Roman" panose="02020503050405090304" pitchFamily="18" charset="0"/>
                          </a:rPr>
                          <m:t>𝑝</m:t>
                        </m:r>
                      </m:sub>
                    </m:sSub>
                  </m:oMath>
                </a14:m>
                <a:r>
                  <a:rPr lang="en-US" altLang="zh-CN" sz="2000" dirty="0">
                    <a:solidFill>
                      <a:srgbClr val="C00000"/>
                    </a:solidFill>
                    <a:latin typeface="+mn-lt"/>
                  </a:rPr>
                  <a:t>)</a:t>
                </a:r>
                <a:r>
                  <a:rPr lang="zh-CN" altLang="en-US" sz="2000" b="1" dirty="0">
                    <a:solidFill>
                      <a:srgbClr val="C00000"/>
                    </a:solidFill>
                    <a:latin typeface="+mn-lt"/>
                    <a:ea typeface="微软雅黑" panose="020B0503020204020204" charset="-122"/>
                  </a:rPr>
                  <a:t>上的循环子群（</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algn="just">
                  <a:lnSpc>
                    <a:spcPct val="130000"/>
                  </a:lnSpc>
                  <a:spcAft>
                    <a:spcPts val="600"/>
                  </a:spcAft>
                  <a:buClr>
                    <a:srgbClr val="C00000"/>
                  </a:buClr>
                </a:pPr>
                <a:r>
                  <a:rPr lang="zh-CN" altLang="en-US" sz="2000" dirty="0">
                    <a:latin typeface="+mn-lt"/>
                  </a:rPr>
                  <a:t>设 </a:t>
                </a:r>
                <a:r>
                  <a:rPr lang="en-US" altLang="zh-CN" sz="2000" i="1" dirty="0">
                    <a:latin typeface="+mn-lt"/>
                  </a:rPr>
                  <a:t>E</a:t>
                </a:r>
                <a:r>
                  <a:rPr lang="en-US" altLang="zh-CN" sz="2000" dirty="0">
                    <a:latin typeface="+mn-lt"/>
                  </a:rPr>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oMath>
                </a14:m>
                <a:r>
                  <a:rPr lang="en-US" altLang="zh-CN" sz="2000" dirty="0">
                    <a:latin typeface="+mn-lt"/>
                  </a:rPr>
                  <a:t>) </a:t>
                </a:r>
                <a:r>
                  <a:rPr lang="zh-CN" altLang="en-US" sz="2000" dirty="0">
                    <a:latin typeface="+mn-lt"/>
                  </a:rPr>
                  <a:t>为 </a:t>
                </a:r>
                <a14:m>
                  <m:oMath xmlns:m="http://schemas.openxmlformats.org/officeDocument/2006/math">
                    <m:sSub>
                      <m:sSubPr>
                        <m:ctrlPr>
                          <a:rPr lang="zh-CN" altLang="zh-CN" sz="20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000" dirty="0">
                    <a:latin typeface="+mn-lt"/>
                  </a:rPr>
                  <a:t>上的椭圆曲线、点</a:t>
                </a:r>
                <a:r>
                  <a:rPr lang="en-US" altLang="zh-CN" sz="2000" dirty="0">
                    <a:latin typeface="+mn-lt"/>
                  </a:rPr>
                  <a:t> </a:t>
                </a:r>
                <a:r>
                  <a:rPr lang="en-GB" altLang="zh-CN" sz="2000" i="1" dirty="0"/>
                  <a:t>G</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m:t>
                    </m:r>
                    <m:r>
                      <m:rPr>
                        <m:nor/>
                      </m:rPr>
                      <a:rPr lang="en-US" altLang="zh-CN" sz="2000" i="1" dirty="0">
                        <a:latin typeface="+mn-lt"/>
                      </a:rPr>
                      <m:t>E</m:t>
                    </m:r>
                    <m:r>
                      <m:rPr>
                        <m:nor/>
                      </m:rPr>
                      <a:rPr lang="en-US" altLang="zh-CN" sz="2000" b="0" i="0" dirty="0" smtClean="0">
                        <a:latin typeface="+mn-lt"/>
                      </a:rPr>
                      <m:t> </m:t>
                    </m:r>
                    <m:r>
                      <m:rPr>
                        <m:nor/>
                      </m:rPr>
                      <a:rPr lang="en-US" altLang="zh-CN" sz="2000" dirty="0">
                        <a:latin typeface="+mn-lt"/>
                      </a:rPr>
                      <m:t>(</m:t>
                    </m:r>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r>
                      <m:rPr>
                        <m:nor/>
                      </m:rPr>
                      <a:rPr lang="en-US" altLang="zh-CN" sz="2000" dirty="0">
                        <a:latin typeface="+mn-lt"/>
                      </a:rPr>
                      <m:t>)</m:t>
                    </m:r>
                  </m:oMath>
                </a14:m>
                <a:r>
                  <a:rPr lang="zh-CN" altLang="en-GB" sz="2000" dirty="0">
                    <a:latin typeface="+mn-lt"/>
                  </a:rPr>
                  <a:t>、</a:t>
                </a:r>
                <a:r>
                  <a:rPr lang="en-GB" altLang="zh-CN" sz="2000" i="1" dirty="0">
                    <a:latin typeface="+mn-lt"/>
                  </a:rPr>
                  <a:t>n</a:t>
                </a:r>
                <a:r>
                  <a:rPr lang="en-GB" altLang="zh-CN" sz="2000" dirty="0">
                    <a:latin typeface="+mn-lt"/>
                  </a:rPr>
                  <a:t> </a:t>
                </a:r>
                <a:r>
                  <a:rPr lang="zh-CN" altLang="en-US" sz="2000" dirty="0">
                    <a:latin typeface="+mn-lt"/>
                  </a:rPr>
                  <a:t>是使得 </a:t>
                </a:r>
                <a:r>
                  <a:rPr lang="en-GB" altLang="zh-CN" sz="2000" i="1" dirty="0" err="1">
                    <a:latin typeface="+mn-lt"/>
                  </a:rPr>
                  <a:t>nG</a:t>
                </a:r>
                <a:r>
                  <a:rPr lang="en-GB" altLang="zh-CN" sz="2000" dirty="0">
                    <a:latin typeface="+mn-lt"/>
                  </a:rPr>
                  <a:t> = </a:t>
                </a:r>
                <a14:m>
                  <m:oMath xmlns:m="http://schemas.openxmlformats.org/officeDocument/2006/math">
                    <m:r>
                      <a:rPr lang="en-US" altLang="zh-CN" sz="2000" i="1" kern="0">
                        <a:solidFill>
                          <a:srgbClr val="000000"/>
                        </a:solidFill>
                        <a:latin typeface="Cambria Math" panose="02040503050406030204" pitchFamily="18" charset="0"/>
                        <a:cs typeface="Times New Roman" panose="02020503050405090304" pitchFamily="18" charset="0"/>
                      </a:rPr>
                      <m:t>𝒪</m:t>
                    </m:r>
                  </m:oMath>
                </a14:m>
                <a:r>
                  <a:rPr lang="en-US" altLang="zh-CN" sz="2000" dirty="0">
                    <a:latin typeface="+mn-lt"/>
                  </a:rPr>
                  <a:t> </a:t>
                </a:r>
                <a:r>
                  <a:rPr lang="zh-CN" altLang="en-US" sz="2000" dirty="0">
                    <a:latin typeface="+mn-lt"/>
                  </a:rPr>
                  <a:t>成立的最小正整数，</a:t>
                </a:r>
                <a:r>
                  <a:rPr lang="en-US" altLang="zh-CN" sz="2000" dirty="0">
                    <a:latin typeface="+mn-lt"/>
                  </a:rPr>
                  <a:t>&lt;</a:t>
                </a:r>
                <a:r>
                  <a:rPr lang="en-US" altLang="zh-CN" sz="2000" i="1" dirty="0">
                    <a:latin typeface="+mn-lt"/>
                  </a:rPr>
                  <a:t>G</a:t>
                </a:r>
                <a:r>
                  <a:rPr lang="en-US" altLang="zh-CN" sz="2000" dirty="0">
                    <a:latin typeface="+mn-lt"/>
                  </a:rPr>
                  <a:t>&gt;={</a:t>
                </a:r>
                <a14:m>
                  <m:oMath xmlns:m="http://schemas.openxmlformats.org/officeDocument/2006/math">
                    <m:r>
                      <a:rPr lang="en-US" altLang="zh-CN" sz="2000" i="1" kern="0">
                        <a:solidFill>
                          <a:srgbClr val="000000"/>
                        </a:solidFill>
                        <a:latin typeface="Cambria Math" panose="02040503050406030204" pitchFamily="18" charset="0"/>
                        <a:cs typeface="Times New Roman" panose="02020503050405090304" pitchFamily="18" charset="0"/>
                      </a:rPr>
                      <m:t>𝒪</m:t>
                    </m:r>
                  </m:oMath>
                </a14:m>
                <a:r>
                  <a:rPr lang="en-US" altLang="zh-CN" sz="2000" dirty="0">
                    <a:latin typeface="+mn-lt"/>
                  </a:rPr>
                  <a:t>, </a:t>
                </a:r>
                <a:r>
                  <a:rPr lang="en-US" altLang="zh-CN" sz="2000" i="1" dirty="0">
                    <a:latin typeface="+mn-lt"/>
                  </a:rPr>
                  <a:t>G</a:t>
                </a:r>
                <a:r>
                  <a:rPr lang="en-US" altLang="zh-CN" sz="2000" dirty="0">
                    <a:latin typeface="+mn-lt"/>
                  </a:rPr>
                  <a:t>, 2</a:t>
                </a:r>
                <a:r>
                  <a:rPr lang="en-US" altLang="zh-CN" sz="2000" i="1" dirty="0">
                    <a:latin typeface="+mn-lt"/>
                  </a:rPr>
                  <a:t>G</a:t>
                </a:r>
                <a:r>
                  <a:rPr lang="en-US" altLang="zh-CN" sz="2000" dirty="0">
                    <a:latin typeface="+mn-lt"/>
                  </a:rPr>
                  <a:t>, …, (</a:t>
                </a:r>
                <a:r>
                  <a:rPr lang="en-US" altLang="zh-CN" sz="2000" i="1" dirty="0">
                    <a:latin typeface="+mn-lt"/>
                  </a:rPr>
                  <a:t>n</a:t>
                </a:r>
                <a:r>
                  <a:rPr lang="en-US" altLang="zh-CN" sz="2000" dirty="0">
                    <a:latin typeface="+mn-lt"/>
                  </a:rPr>
                  <a:t>-1)</a:t>
                </a:r>
                <a:r>
                  <a:rPr lang="en-US" altLang="zh-CN" sz="2000" i="1" dirty="0">
                    <a:latin typeface="+mn-lt"/>
                  </a:rPr>
                  <a:t>G</a:t>
                </a:r>
                <a:r>
                  <a:rPr lang="en-US" altLang="zh-CN" sz="2000" dirty="0">
                    <a:latin typeface="+mn-lt"/>
                  </a:rPr>
                  <a:t>}</a:t>
                </a:r>
                <a:r>
                  <a:rPr lang="zh-CN" altLang="en-US" sz="2000" dirty="0">
                    <a:latin typeface="+mn-lt"/>
                  </a:rPr>
                  <a:t> 为 </a:t>
                </a:r>
                <a:r>
                  <a:rPr lang="en-US" altLang="zh-CN" sz="2000" i="1" dirty="0">
                    <a:latin typeface="+mn-lt"/>
                  </a:rPr>
                  <a:t>E</a:t>
                </a:r>
                <a:r>
                  <a:rPr lang="en-US" altLang="zh-CN" sz="2000" dirty="0">
                    <a:latin typeface="+mn-lt"/>
                  </a:rPr>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oMath>
                </a14:m>
                <a:r>
                  <a:rPr lang="en-US" altLang="zh-CN" sz="2000" dirty="0">
                    <a:latin typeface="+mn-lt"/>
                  </a:rPr>
                  <a:t>) </a:t>
                </a:r>
                <a:r>
                  <a:rPr lang="zh-CN" altLang="en-US" sz="2000" dirty="0">
                    <a:latin typeface="+mn-lt"/>
                  </a:rPr>
                  <a:t>的循环子群。该子群的阶为</a:t>
                </a:r>
                <a:r>
                  <a:rPr lang="zh-CN" altLang="en-US" sz="2000" i="1" dirty="0">
                    <a:latin typeface="+mn-lt"/>
                  </a:rPr>
                  <a:t> </a:t>
                </a:r>
                <a:r>
                  <a:rPr lang="en-GB" altLang="zh-CN" sz="2000" i="1" dirty="0">
                    <a:latin typeface="+mn-lt"/>
                  </a:rPr>
                  <a:t>n </a:t>
                </a:r>
                <a:r>
                  <a:rPr lang="zh-CN" altLang="en-GB" sz="2000" dirty="0">
                    <a:latin typeface="+mn-lt"/>
                  </a:rPr>
                  <a:t>，</a:t>
                </a:r>
                <a:r>
                  <a:rPr lang="zh-CN" altLang="en-US" sz="2000" dirty="0">
                    <a:latin typeface="+mn-lt"/>
                  </a:rPr>
                  <a:t>生成元为</a:t>
                </a:r>
                <a:r>
                  <a:rPr lang="en-US" altLang="zh-CN" sz="2000" dirty="0">
                    <a:latin typeface="+mn-lt"/>
                  </a:rPr>
                  <a:t> </a:t>
                </a:r>
                <a:r>
                  <a:rPr lang="en-GB" altLang="zh-CN" sz="2000" i="1" dirty="0">
                    <a:latin typeface="+mn-lt"/>
                  </a:rPr>
                  <a:t>G</a:t>
                </a:r>
                <a:r>
                  <a:rPr lang="zh-CN" altLang="zh-CN" sz="2000" dirty="0">
                    <a:latin typeface="+mn-lt"/>
                  </a:rPr>
                  <a:t>。</a:t>
                </a:r>
              </a:p>
              <a:p>
                <a:pPr algn="just">
                  <a:lnSpc>
                    <a:spcPct val="130000"/>
                  </a:lnSpc>
                  <a:spcAft>
                    <a:spcPts val="600"/>
                  </a:spcAft>
                  <a:buClr>
                    <a:srgbClr val="C00000"/>
                  </a:buClr>
                </a:pP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20" name="TextBox 5"/>
              <p:cNvSpPr txBox="1">
                <a:spLocks noRot="1" noChangeAspect="1" noMove="1" noResize="1" noEditPoints="1" noAdjustHandles="1" noChangeArrowheads="1" noChangeShapeType="1" noTextEdit="1"/>
              </p:cNvSpPr>
              <p:nvPr/>
            </p:nvSpPr>
            <p:spPr>
              <a:xfrm>
                <a:off x="502920" y="4793311"/>
                <a:ext cx="10755232" cy="1420379"/>
              </a:xfrm>
              <a:prstGeom prst="rect">
                <a:avLst/>
              </a:prstGeom>
              <a:blipFill>
                <a:blip r:embed="rId5"/>
                <a:stretch>
                  <a:fillRect l="-1415" t="-5310" r="-14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847947E-214D-2A3D-414C-C3370743BCC4}"/>
                  </a:ext>
                </a:extLst>
              </p:cNvPr>
              <p:cNvSpPr txBox="1"/>
              <p:nvPr/>
            </p:nvSpPr>
            <p:spPr>
              <a:xfrm>
                <a:off x="487273" y="1233678"/>
                <a:ext cx="10906125" cy="933974"/>
              </a:xfrm>
              <a:prstGeom prst="rect">
                <a:avLst/>
              </a:prstGeom>
              <a:noFill/>
            </p:spPr>
            <p:txBody>
              <a:bodyPr wrap="square">
                <a:spAutoFit/>
              </a:bodyPr>
              <a:lstStyle/>
              <a:p>
                <a:pPr>
                  <a:lnSpc>
                    <a:spcPct val="130000"/>
                  </a:lnSpc>
                </a:pPr>
                <a:r>
                  <a:rPr lang="en-US" altLang="zh-CN" sz="2000" kern="0" dirty="0">
                    <a:solidFill>
                      <a:srgbClr val="000000"/>
                    </a:solidFill>
                    <a:effectLst/>
                    <a:latin typeface="+mn-lt"/>
                    <a:ea typeface="+mn-ea"/>
                  </a:rPr>
                  <a:t>SM2</a:t>
                </a:r>
                <a:r>
                  <a:rPr lang="zh-CN" altLang="zh-CN" sz="2000" kern="0" dirty="0">
                    <a:solidFill>
                      <a:srgbClr val="000000"/>
                    </a:solidFill>
                    <a:effectLst/>
                    <a:latin typeface="+mn-lt"/>
                    <a:ea typeface="+mn-ea"/>
                    <a:cs typeface="Times New Roman" panose="02020503050405090304" pitchFamily="18" charset="0"/>
                  </a:rPr>
                  <a:t>公钥加密算法分为基于素数域</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𝑝</m:t>
                        </m:r>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和基于二元扩域</a:t>
                </a:r>
                <a:r>
                  <a:rPr lang="zh-CN" altLang="en-US" sz="2000" kern="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2</m:t>
                            </m:r>
                          </m:e>
                          <m:sup>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𝑛</m:t>
                            </m:r>
                          </m:sup>
                        </m:sSup>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的</a:t>
                </a:r>
                <a:r>
                  <a:rPr lang="en-US" altLang="zh-CN" sz="2000" kern="0" dirty="0">
                    <a:solidFill>
                      <a:srgbClr val="000000"/>
                    </a:solidFill>
                    <a:effectLst/>
                    <a:latin typeface="+mn-lt"/>
                    <a:ea typeface="+mn-ea"/>
                  </a:rPr>
                  <a:t>SM2</a:t>
                </a:r>
                <a:r>
                  <a:rPr lang="zh-CN" altLang="zh-CN" sz="2000" kern="0" dirty="0">
                    <a:solidFill>
                      <a:srgbClr val="000000"/>
                    </a:solidFill>
                    <a:effectLst/>
                    <a:latin typeface="+mn-lt"/>
                    <a:ea typeface="+mn-ea"/>
                    <a:cs typeface="Times New Roman" panose="02020503050405090304" pitchFamily="18" charset="0"/>
                  </a:rPr>
                  <a:t>公钥加密算法。本</a:t>
                </a:r>
                <a:r>
                  <a:rPr lang="zh-CN" altLang="en-US" sz="2000" kern="0" dirty="0">
                    <a:solidFill>
                      <a:srgbClr val="000000"/>
                    </a:solidFill>
                    <a:effectLst/>
                    <a:latin typeface="+mn-lt"/>
                    <a:ea typeface="+mn-ea"/>
                    <a:cs typeface="Times New Roman" panose="02020503050405090304" pitchFamily="18" charset="0"/>
                  </a:rPr>
                  <a:t>课程</a:t>
                </a:r>
                <a:r>
                  <a:rPr lang="zh-CN" altLang="zh-CN" sz="2000" kern="0" dirty="0">
                    <a:solidFill>
                      <a:srgbClr val="000000"/>
                    </a:solidFill>
                    <a:effectLst/>
                    <a:latin typeface="+mn-lt"/>
                    <a:ea typeface="+mn-ea"/>
                    <a:cs typeface="Times New Roman" panose="02020503050405090304" pitchFamily="18" charset="0"/>
                  </a:rPr>
                  <a:t>介绍基于素数域</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kern="0">
                            <a:solidFill>
                              <a:srgbClr val="000000"/>
                            </a:solidFill>
                            <a:effectLst/>
                            <a:latin typeface="Cambria Math" panose="02040503050406030204" pitchFamily="18" charset="0"/>
                            <a:ea typeface="+mn-ea"/>
                            <a:cs typeface="Times New Roman" panose="02020503050405090304" pitchFamily="18" charset="0"/>
                          </a:rPr>
                          <m:t>𝔽</m:t>
                        </m:r>
                      </m:e>
                      <m:sub>
                        <m:r>
                          <a:rPr lang="en-US" altLang="zh-CN" sz="2000" b="1" i="1" kern="0">
                            <a:solidFill>
                              <a:srgbClr val="000000"/>
                            </a:solidFill>
                            <a:effectLst/>
                            <a:latin typeface="Cambria Math" panose="02040503050406030204" pitchFamily="18" charset="0"/>
                            <a:ea typeface="+mn-ea"/>
                            <a:cs typeface="Times New Roman" panose="02020503050405090304" pitchFamily="18" charset="0"/>
                          </a:rPr>
                          <m:t>𝒑</m:t>
                        </m:r>
                      </m:sub>
                    </m:sSub>
                  </m:oMath>
                </a14:m>
                <a:r>
                  <a:rPr lang="zh-CN" altLang="en-US" sz="2000" kern="0" dirty="0">
                    <a:solidFill>
                      <a:srgbClr val="000000"/>
                    </a:solidFill>
                    <a:effectLst/>
                    <a:latin typeface="+mn-lt"/>
                    <a:ea typeface="+mn-ea"/>
                    <a:cs typeface="Times New Roman" panose="02020503050405090304" pitchFamily="18" charset="0"/>
                  </a:rPr>
                  <a:t> </a:t>
                </a:r>
                <a:r>
                  <a:rPr lang="zh-CN" altLang="zh-CN" sz="2000" kern="0" dirty="0">
                    <a:solidFill>
                      <a:srgbClr val="000000"/>
                    </a:solidFill>
                    <a:effectLst/>
                    <a:latin typeface="+mn-lt"/>
                    <a:ea typeface="+mn-ea"/>
                    <a:cs typeface="Times New Roman" panose="02020503050405090304" pitchFamily="18" charset="0"/>
                  </a:rPr>
                  <a:t>的</a:t>
                </a:r>
                <a:r>
                  <a:rPr lang="en-US" altLang="zh-CN" sz="2000" kern="0" dirty="0">
                    <a:solidFill>
                      <a:srgbClr val="000000"/>
                    </a:solidFill>
                    <a:effectLst/>
                    <a:latin typeface="+mn-lt"/>
                    <a:ea typeface="+mn-ea"/>
                  </a:rPr>
                  <a:t>SM2</a:t>
                </a:r>
                <a:r>
                  <a:rPr lang="zh-CN" altLang="zh-CN" sz="2000" kern="0" dirty="0">
                    <a:solidFill>
                      <a:srgbClr val="000000"/>
                    </a:solidFill>
                    <a:effectLst/>
                    <a:latin typeface="+mn-lt"/>
                    <a:ea typeface="+mn-ea"/>
                    <a:cs typeface="Times New Roman" panose="02020503050405090304" pitchFamily="18" charset="0"/>
                  </a:rPr>
                  <a:t>公钥加密算法。</a:t>
                </a:r>
                <a:r>
                  <a:rPr lang="zh-CN" altLang="zh-CN" sz="2000" dirty="0">
                    <a:effectLst/>
                    <a:latin typeface="+mn-lt"/>
                    <a:ea typeface="+mn-ea"/>
                  </a:rPr>
                  <a:t> </a:t>
                </a:r>
                <a:endParaRPr lang="zh-CN" altLang="en-US" sz="2000" dirty="0">
                  <a:latin typeface="+mn-lt"/>
                  <a:ea typeface="+mn-ea"/>
                </a:endParaRPr>
              </a:p>
            </p:txBody>
          </p:sp>
        </mc:Choice>
        <mc:Fallback xmlns="">
          <p:sp>
            <p:nvSpPr>
              <p:cNvPr id="3" name="文本框 2">
                <a:extLst>
                  <a:ext uri="{FF2B5EF4-FFF2-40B4-BE49-F238E27FC236}">
                    <a16:creationId xmlns:a16="http://schemas.microsoft.com/office/drawing/2014/main" id="{F847947E-214D-2A3D-414C-C3370743BCC4}"/>
                  </a:ext>
                </a:extLst>
              </p:cNvPr>
              <p:cNvSpPr txBox="1">
                <a:spLocks noRot="1" noChangeAspect="1" noMove="1" noResize="1" noEditPoints="1" noAdjustHandles="1" noChangeArrowheads="1" noChangeShapeType="1" noTextEdit="1"/>
              </p:cNvSpPr>
              <p:nvPr/>
            </p:nvSpPr>
            <p:spPr>
              <a:xfrm>
                <a:off x="487273" y="1233678"/>
                <a:ext cx="10906125" cy="933974"/>
              </a:xfrm>
              <a:prstGeom prst="rect">
                <a:avLst/>
              </a:prstGeom>
              <a:blipFill>
                <a:blip r:embed="rId6"/>
                <a:stretch>
                  <a:fillRect l="-581" b="-9333"/>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4" name="TextBox 7"/>
          <p:cNvSpPr txBox="1"/>
          <p:nvPr/>
        </p:nvSpPr>
        <p:spPr>
          <a:xfrm>
            <a:off x="530352" y="892593"/>
            <a:ext cx="11155680" cy="447815"/>
          </a:xfrm>
          <a:prstGeom prst="rect">
            <a:avLst/>
          </a:prstGeom>
          <a:noFill/>
        </p:spPr>
        <p:txBody>
          <a:bodyPr wrap="square" lIns="64008" tIns="32004" rIns="36576">
            <a:spAutoFit/>
          </a:bodyPr>
          <a:lstStyle/>
          <a:p>
            <a:pPr>
              <a:spcAft>
                <a:spcPts val="500"/>
              </a:spcAft>
              <a:defRPr sz="2200" b="1">
                <a:solidFill>
                  <a:srgbClr val="333333"/>
                </a:solidFill>
                <a:latin typeface="微软雅黑"/>
              </a:defRPr>
            </a:pPr>
            <a:r>
              <a:rPr sz="2400" dirty="0">
                <a:solidFill>
                  <a:srgbClr val="C00000"/>
                </a:solidFill>
                <a:latin typeface="+mn-lt"/>
              </a:rPr>
              <a:t>SM2 </a:t>
            </a:r>
            <a:r>
              <a:rPr sz="2400" dirty="0" err="1">
                <a:solidFill>
                  <a:srgbClr val="C00000"/>
                </a:solidFill>
                <a:latin typeface="+mn-lt"/>
              </a:rPr>
              <a:t>公钥加密方案｜曲线与参数</a:t>
            </a:r>
            <a:endParaRPr sz="2400" dirty="0">
              <a:solidFill>
                <a:srgbClr val="C00000"/>
              </a:solidFill>
              <a:latin typeface="+mn-lt"/>
            </a:endParaRPr>
          </a:p>
        </p:txBody>
      </p:sp>
      <p:sp>
        <p:nvSpPr>
          <p:cNvPr id="5" name="Rounded Rectangle 9"/>
          <p:cNvSpPr/>
          <p:nvPr/>
        </p:nvSpPr>
        <p:spPr>
          <a:xfrm>
            <a:off x="713232" y="1444752"/>
            <a:ext cx="5257800" cy="2705217"/>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p:cNvSpPr txBox="1"/>
          <p:nvPr/>
        </p:nvSpPr>
        <p:spPr>
          <a:xfrm>
            <a:off x="877824" y="1581912"/>
            <a:ext cx="492861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椭圆曲线密码基础</a:t>
            </a:r>
            <a:endParaRPr sz="2400" dirty="0"/>
          </a:p>
        </p:txBody>
      </p:sp>
      <mc:AlternateContent xmlns:mc="http://schemas.openxmlformats.org/markup-compatibility/2006" xmlns:a14="http://schemas.microsoft.com/office/drawing/2010/main">
        <mc:Choice Requires="a14">
          <p:sp>
            <p:nvSpPr>
              <p:cNvPr id="7" name="TextBox 11"/>
              <p:cNvSpPr txBox="1"/>
              <p:nvPr/>
            </p:nvSpPr>
            <p:spPr>
              <a:xfrm>
                <a:off x="877824" y="2075688"/>
                <a:ext cx="4928616" cy="1848776"/>
              </a:xfrm>
              <a:prstGeom prst="rect">
                <a:avLst/>
              </a:prstGeom>
              <a:noFill/>
            </p:spPr>
            <p:txBody>
              <a:bodyPr wrap="square" lIns="64008" tIns="32004" rIns="36576">
                <a:spAutoFit/>
              </a:bodyPr>
              <a:lstStyle/>
              <a:p>
                <a:pPr>
                  <a:spcAft>
                    <a:spcPts val="500"/>
                  </a:spcAft>
                  <a:defRPr sz="1900" b="0">
                    <a:solidFill>
                      <a:srgbClr val="333333"/>
                    </a:solidFill>
                    <a:latin typeface="微软雅黑"/>
                  </a:defRPr>
                </a:pPr>
                <a:r>
                  <a:rPr sz="2000" dirty="0" err="1">
                    <a:latin typeface="+mn-lt"/>
                  </a:rPr>
                  <a:t>素数域</a:t>
                </a:r>
                <a:r>
                  <a:rPr sz="2000" dirty="0">
                    <a:latin typeface="+mn-lt"/>
                  </a:rPr>
                  <a:t> </a:t>
                </a:r>
                <a14:m>
                  <m:oMath xmlns:m="http://schemas.openxmlformats.org/officeDocument/2006/math">
                    <m:sSub>
                      <m:sSubPr>
                        <m:ctrlPr>
                          <a:rPr lang="zh-CN" altLang="zh-CN" sz="2000" i="1" smtClean="0">
                            <a:solidFill>
                              <a:schemeClr val="tx1"/>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2000" i="1" kern="0">
                            <a:solidFill>
                              <a:schemeClr val="tx1"/>
                            </a:solidFill>
                            <a:effectLst/>
                            <a:latin typeface="Cambria Math" panose="02040503050406030204" pitchFamily="18" charset="0"/>
                            <a:ea typeface="宋体" pitchFamily="2" charset="-122"/>
                            <a:cs typeface="Times New Roman" panose="02020503050405090304" pitchFamily="18" charset="0"/>
                          </a:rPr>
                          <m:t>𝔽</m:t>
                        </m:r>
                      </m:e>
                      <m:sub>
                        <m:r>
                          <a:rPr lang="en-US" altLang="zh-CN" sz="2000" i="1" kern="0">
                            <a:solidFill>
                              <a:schemeClr val="tx1"/>
                            </a:solidFill>
                            <a:effectLst/>
                            <a:latin typeface="Cambria Math" panose="02040503050406030204" pitchFamily="18" charset="0"/>
                            <a:ea typeface="宋体" pitchFamily="2" charset="-122"/>
                            <a:cs typeface="Times New Roman" panose="02020503050405090304" pitchFamily="18" charset="0"/>
                          </a:rPr>
                          <m:t>𝑝</m:t>
                        </m:r>
                      </m:sub>
                    </m:sSub>
                  </m:oMath>
                </a14:m>
                <a:r>
                  <a:rPr sz="2000" dirty="0" err="1">
                    <a:latin typeface="+mn-lt"/>
                  </a:rPr>
                  <a:t>上的椭圆曲线</a:t>
                </a:r>
                <a:endParaRPr sz="2000" dirty="0">
                  <a:latin typeface="+mn-lt"/>
                </a:endParaRPr>
              </a:p>
              <a:p>
                <a:pPr>
                  <a:spcAft>
                    <a:spcPts val="500"/>
                  </a:spcAft>
                  <a:defRPr sz="1900" b="0">
                    <a:solidFill>
                      <a:srgbClr val="333333"/>
                    </a:solidFill>
                    <a:latin typeface="微软雅黑"/>
                  </a:defRPr>
                </a:pPr>
                <a:r>
                  <a:rPr sz="2000" i="1" dirty="0">
                    <a:latin typeface="+mn-lt"/>
                  </a:rPr>
                  <a:t>y</a:t>
                </a:r>
                <a:r>
                  <a:rPr sz="2000" dirty="0">
                    <a:latin typeface="+mn-lt"/>
                  </a:rPr>
                  <a:t>² ≡ </a:t>
                </a:r>
                <a:r>
                  <a:rPr sz="2000" i="1" dirty="0">
                    <a:latin typeface="+mn-lt"/>
                  </a:rPr>
                  <a:t>x</a:t>
                </a:r>
                <a:r>
                  <a:rPr sz="2000" dirty="0">
                    <a:latin typeface="+mn-lt"/>
                  </a:rPr>
                  <a:t>³ + </a:t>
                </a:r>
                <a:r>
                  <a:rPr sz="2000" i="1" dirty="0">
                    <a:latin typeface="+mn-lt"/>
                  </a:rPr>
                  <a:t>ax</a:t>
                </a:r>
                <a:r>
                  <a:rPr sz="2000" dirty="0">
                    <a:latin typeface="+mn-lt"/>
                  </a:rPr>
                  <a:t> + </a:t>
                </a:r>
                <a:r>
                  <a:rPr sz="2000" i="1" dirty="0">
                    <a:latin typeface="+mn-lt"/>
                  </a:rPr>
                  <a:t>b</a:t>
                </a:r>
                <a:r>
                  <a:rPr sz="2000" dirty="0">
                    <a:latin typeface="+mn-lt"/>
                  </a:rPr>
                  <a:t> (mod </a:t>
                </a:r>
                <a:r>
                  <a:rPr sz="2000" i="1" dirty="0">
                    <a:latin typeface="+mn-lt"/>
                  </a:rPr>
                  <a:t>p</a:t>
                </a:r>
                <a:r>
                  <a:rPr sz="2000" dirty="0">
                    <a:latin typeface="+mn-lt"/>
                  </a:rPr>
                  <a:t>)</a:t>
                </a:r>
              </a:p>
              <a:p>
                <a:pPr>
                  <a:spcAft>
                    <a:spcPts val="500"/>
                  </a:spcAft>
                  <a:defRPr sz="1900" b="0">
                    <a:solidFill>
                      <a:srgbClr val="333333"/>
                    </a:solidFill>
                    <a:latin typeface="微软雅黑"/>
                  </a:defRPr>
                </a:pPr>
                <a:r>
                  <a:rPr sz="2000" dirty="0" err="1">
                    <a:latin typeface="+mn-lt"/>
                  </a:rPr>
                  <a:t>基点</a:t>
                </a:r>
                <a:r>
                  <a:rPr sz="2000" dirty="0">
                    <a:latin typeface="+mn-lt"/>
                  </a:rPr>
                  <a:t> </a:t>
                </a:r>
                <a:r>
                  <a:rPr sz="2000" i="1" dirty="0" err="1">
                    <a:latin typeface="+mn-lt"/>
                  </a:rPr>
                  <a:t>G</a:t>
                </a:r>
                <a:r>
                  <a:rPr sz="2000" dirty="0" err="1">
                    <a:latin typeface="+mn-lt"/>
                  </a:rPr>
                  <a:t>，阶</a:t>
                </a:r>
                <a:r>
                  <a:rPr sz="2000" dirty="0">
                    <a:latin typeface="+mn-lt"/>
                  </a:rPr>
                  <a:t> </a:t>
                </a:r>
                <a:r>
                  <a:rPr sz="2000" i="1" dirty="0" err="1">
                    <a:latin typeface="+mn-lt"/>
                  </a:rPr>
                  <a:t>n</a:t>
                </a:r>
                <a:r>
                  <a:rPr sz="2000" dirty="0" err="1">
                    <a:latin typeface="+mn-lt"/>
                  </a:rPr>
                  <a:t>，余因子</a:t>
                </a:r>
                <a:r>
                  <a:rPr sz="2000" dirty="0">
                    <a:latin typeface="+mn-lt"/>
                  </a:rPr>
                  <a:t> </a:t>
                </a:r>
                <a:r>
                  <a:rPr sz="2000" i="1" dirty="0">
                    <a:latin typeface="+mn-lt"/>
                  </a:rPr>
                  <a:t>h</a:t>
                </a:r>
                <a:r>
                  <a:rPr lang="zh-CN" altLang="en-US" sz="2000" dirty="0">
                    <a:latin typeface="+mn-lt"/>
                  </a:rPr>
                  <a:t>，其中 </a:t>
                </a:r>
                <a:r>
                  <a:rPr lang="en-GB" altLang="zh-CN" sz="2000" i="1" dirty="0">
                    <a:solidFill>
                      <a:srgbClr val="333333"/>
                    </a:solidFill>
                    <a:latin typeface="+mn-lt"/>
                  </a:rPr>
                  <a:t>h</a:t>
                </a:r>
                <a:r>
                  <a:rPr lang="zh-CN" altLang="en-US" sz="2000" i="1" dirty="0">
                    <a:solidFill>
                      <a:srgbClr val="333333"/>
                    </a:solidFill>
                    <a:latin typeface="+mn-lt"/>
                  </a:rPr>
                  <a:t> </a:t>
                </a:r>
                <a:r>
                  <a:rPr lang="zh-CN" altLang="en-US" sz="2000" dirty="0">
                    <a:latin typeface="+mn-lt"/>
                  </a:rPr>
                  <a:t>为 </a:t>
                </a:r>
                <a:r>
                  <a:rPr lang="en-US" altLang="zh-CN" sz="2000" i="1" dirty="0">
                    <a:latin typeface="+mn-lt"/>
                  </a:rPr>
                  <a:t>E</a:t>
                </a:r>
                <a:r>
                  <a:rPr lang="en-US" altLang="zh-CN" sz="2000" dirty="0">
                    <a:latin typeface="+mn-lt"/>
                  </a:rPr>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oMath>
                </a14:m>
                <a:r>
                  <a:rPr lang="en-US" altLang="zh-CN" sz="2000" dirty="0">
                    <a:latin typeface="+mn-lt"/>
                  </a:rPr>
                  <a:t>)</a:t>
                </a:r>
                <a:r>
                  <a:rPr lang="zh-CN" altLang="en-US" sz="2000" dirty="0">
                    <a:latin typeface="+mn-lt"/>
                  </a:rPr>
                  <a:t>的阶与 </a:t>
                </a:r>
                <a:r>
                  <a:rPr lang="en-GB" altLang="zh-CN" sz="2000" i="1" dirty="0">
                    <a:latin typeface="+mn-lt"/>
                  </a:rPr>
                  <a:t>n</a:t>
                </a:r>
                <a:r>
                  <a:rPr lang="en-GB" altLang="zh-CN" sz="2000" dirty="0">
                    <a:latin typeface="+mn-lt"/>
                  </a:rPr>
                  <a:t> </a:t>
                </a:r>
                <a:r>
                  <a:rPr lang="zh-CN" altLang="en-US" sz="2000" dirty="0">
                    <a:latin typeface="+mn-lt"/>
                  </a:rPr>
                  <a:t>相除的结果的整数部分。）</a:t>
                </a:r>
                <a:endParaRPr sz="2000" dirty="0">
                  <a:latin typeface="+mn-lt"/>
                </a:endParaRPr>
              </a:p>
              <a:p>
                <a:pPr>
                  <a:spcAft>
                    <a:spcPts val="500"/>
                  </a:spcAft>
                  <a:defRPr sz="1900" b="0">
                    <a:solidFill>
                      <a:srgbClr val="333333"/>
                    </a:solidFill>
                    <a:latin typeface="微软雅黑"/>
                  </a:defRPr>
                </a:pPr>
                <a:r>
                  <a:rPr sz="2000" dirty="0" err="1">
                    <a:latin typeface="+mn-lt"/>
                  </a:rPr>
                  <a:t>私钥</a:t>
                </a:r>
                <a:r>
                  <a:rPr sz="2000" i="1" dirty="0">
                    <a:latin typeface="+mn-lt"/>
                  </a:rPr>
                  <a:t> </a:t>
                </a:r>
                <a:r>
                  <a:rPr sz="2000" i="1" dirty="0" err="1">
                    <a:latin typeface="+mn-lt"/>
                  </a:rPr>
                  <a:t>d</a:t>
                </a:r>
                <a:r>
                  <a:rPr sz="2000" dirty="0" err="1">
                    <a:latin typeface="+mn-lt"/>
                  </a:rPr>
                  <a:t>，公钥</a:t>
                </a:r>
                <a:r>
                  <a:rPr sz="2000" dirty="0">
                    <a:latin typeface="+mn-lt"/>
                  </a:rPr>
                  <a:t> </a:t>
                </a:r>
                <a:r>
                  <a:rPr sz="2000" i="1" dirty="0">
                    <a:latin typeface="+mn-lt"/>
                  </a:rPr>
                  <a:t>Y</a:t>
                </a:r>
                <a:r>
                  <a:rPr sz="2000" dirty="0">
                    <a:latin typeface="+mn-lt"/>
                  </a:rPr>
                  <a:t> = </a:t>
                </a:r>
                <a:r>
                  <a:rPr sz="2000" i="1" dirty="0" err="1">
                    <a:latin typeface="+mn-lt"/>
                  </a:rPr>
                  <a:t>dG</a:t>
                </a:r>
                <a:endParaRPr sz="2000" i="1" dirty="0">
                  <a:latin typeface="+mn-lt"/>
                </a:endParaRPr>
              </a:p>
            </p:txBody>
          </p:sp>
        </mc:Choice>
        <mc:Fallback xmlns="">
          <p:sp>
            <p:nvSpPr>
              <p:cNvPr id="7" name="TextBox 11"/>
              <p:cNvSpPr txBox="1">
                <a:spLocks noRot="1" noChangeAspect="1" noMove="1" noResize="1" noEditPoints="1" noAdjustHandles="1" noChangeArrowheads="1" noChangeShapeType="1" noTextEdit="1"/>
              </p:cNvSpPr>
              <p:nvPr/>
            </p:nvSpPr>
            <p:spPr>
              <a:xfrm>
                <a:off x="877824" y="2075688"/>
                <a:ext cx="4928616" cy="1848776"/>
              </a:xfrm>
              <a:prstGeom prst="rect">
                <a:avLst/>
              </a:prstGeom>
              <a:blipFill>
                <a:blip r:embed="rId2"/>
                <a:stretch>
                  <a:fillRect l="-2057" t="-2721" b="-5442"/>
                </a:stretch>
              </a:blipFill>
            </p:spPr>
            <p:txBody>
              <a:bodyPr/>
              <a:lstStyle/>
              <a:p>
                <a:r>
                  <a:rPr lang="zh-CN" altLang="en-US">
                    <a:noFill/>
                  </a:rPr>
                  <a:t> </a:t>
                </a:r>
              </a:p>
            </p:txBody>
          </p:sp>
        </mc:Fallback>
      </mc:AlternateContent>
      <p:sp>
        <p:nvSpPr>
          <p:cNvPr id="8" name="Rounded Rectangle 12"/>
          <p:cNvSpPr/>
          <p:nvPr/>
        </p:nvSpPr>
        <p:spPr>
          <a:xfrm>
            <a:off x="6199632" y="1444752"/>
            <a:ext cx="5257800" cy="2705217"/>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p:cNvSpPr txBox="1"/>
          <p:nvPr/>
        </p:nvSpPr>
        <p:spPr>
          <a:xfrm>
            <a:off x="6364224" y="1581912"/>
            <a:ext cx="492861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err="1"/>
              <a:t>辅助算法和密文结构</a:t>
            </a:r>
            <a:endParaRPr sz="2400" dirty="0"/>
          </a:p>
        </p:txBody>
      </p:sp>
      <mc:AlternateContent xmlns:mc="http://schemas.openxmlformats.org/markup-compatibility/2006" xmlns:a14="http://schemas.microsoft.com/office/drawing/2010/main">
        <mc:Choice Requires="a14">
          <p:sp>
            <p:nvSpPr>
              <p:cNvPr id="11" name="TextBox 14"/>
              <p:cNvSpPr txBox="1"/>
              <p:nvPr/>
            </p:nvSpPr>
            <p:spPr>
              <a:xfrm>
                <a:off x="6364224" y="2075688"/>
                <a:ext cx="4928616" cy="1873846"/>
              </a:xfrm>
              <a:prstGeom prst="rect">
                <a:avLst/>
              </a:prstGeom>
              <a:noFill/>
            </p:spPr>
            <p:txBody>
              <a:bodyPr wrap="square" lIns="64008" tIns="32004" rIns="36576">
                <a:spAutoFit/>
              </a:bodyPr>
              <a:lstStyle/>
              <a:p>
                <a:pPr>
                  <a:spcAft>
                    <a:spcPts val="500"/>
                  </a:spcAft>
                  <a:defRPr sz="1900" b="0">
                    <a:solidFill>
                      <a:srgbClr val="333333"/>
                    </a:solidFill>
                    <a:latin typeface="微软雅黑"/>
                  </a:defRPr>
                </a:pPr>
                <a:r>
                  <a:rPr sz="2000" i="1" dirty="0" err="1">
                    <a:latin typeface="+mn-lt"/>
                    <a:ea typeface="+mn-ea"/>
                    <a:cs typeface="Times New Roman" panose="02020503050405090304" pitchFamily="18" charset="0"/>
                  </a:rPr>
                  <a:t>H</a:t>
                </a:r>
                <a:r>
                  <a:rPr sz="2000" dirty="0" err="1">
                    <a:latin typeface="+mn-lt"/>
                    <a:ea typeface="+mn-ea"/>
                    <a:cs typeface="Times New Roman" panose="02020503050405090304" pitchFamily="18" charset="0"/>
                  </a:rPr>
                  <a:t>：杂凑函数（采用</a:t>
                </a:r>
                <a:r>
                  <a:rPr sz="2000" dirty="0">
                    <a:latin typeface="+mn-lt"/>
                    <a:ea typeface="+mn-ea"/>
                    <a:cs typeface="Times New Roman" panose="02020503050405090304" pitchFamily="18" charset="0"/>
                  </a:rPr>
                  <a:t> SM3）</a:t>
                </a:r>
              </a:p>
              <a:p>
                <a:pPr>
                  <a:spcAft>
                    <a:spcPts val="500"/>
                  </a:spcAft>
                  <a:defRPr sz="1900" b="0">
                    <a:solidFill>
                      <a:srgbClr val="333333"/>
                    </a:solidFill>
                    <a:latin typeface="微软雅黑"/>
                  </a:defRPr>
                </a:pPr>
                <a:r>
                  <a:rPr sz="2000" dirty="0" err="1">
                    <a:latin typeface="+mn-lt"/>
                    <a:ea typeface="+mn-ea"/>
                    <a:cs typeface="Times New Roman" panose="02020503050405090304" pitchFamily="18" charset="0"/>
                  </a:rPr>
                  <a:t>KDF：密钥派生函数</a:t>
                </a:r>
                <a:endParaRPr sz="2000" dirty="0">
                  <a:latin typeface="+mn-lt"/>
                  <a:ea typeface="+mn-ea"/>
                  <a:cs typeface="Times New Roman" panose="02020503050405090304" pitchFamily="18" charset="0"/>
                </a:endParaRPr>
              </a:p>
              <a:p>
                <a:pPr>
                  <a:spcAft>
                    <a:spcPts val="500"/>
                  </a:spcAft>
                  <a:defRPr sz="1900" b="0">
                    <a:solidFill>
                      <a:srgbClr val="333333"/>
                    </a:solidFill>
                    <a:latin typeface="微软雅黑"/>
                  </a:defRPr>
                </a:pPr>
                <a:r>
                  <a:rPr sz="2000" dirty="0" err="1">
                    <a:latin typeface="+mn-lt"/>
                    <a:ea typeface="+mn-ea"/>
                    <a:cs typeface="Times New Roman" panose="02020503050405090304" pitchFamily="18" charset="0"/>
                  </a:rPr>
                  <a:t>RNG：随机数生成器</a:t>
                </a:r>
                <a:endParaRPr sz="2000" dirty="0">
                  <a:latin typeface="+mn-lt"/>
                  <a:ea typeface="+mn-ea"/>
                  <a:cs typeface="Times New Roman" panose="02020503050405090304" pitchFamily="18" charset="0"/>
                </a:endParaRPr>
              </a:p>
              <a:p>
                <a:pPr>
                  <a:spcAft>
                    <a:spcPts val="500"/>
                  </a:spcAft>
                  <a:defRPr sz="1900" b="0">
                    <a:solidFill>
                      <a:srgbClr val="333333"/>
                    </a:solidFill>
                    <a:latin typeface="微软雅黑"/>
                  </a:defRPr>
                </a:pPr>
                <a:endParaRPr sz="2000" i="1" dirty="0">
                  <a:latin typeface="+mn-lt"/>
                  <a:ea typeface="+mn-ea"/>
                  <a:cs typeface="Times New Roman" panose="02020503050405090304" pitchFamily="18" charset="0"/>
                </a:endParaRPr>
              </a:p>
              <a:p>
                <a:pPr>
                  <a:spcAft>
                    <a:spcPts val="500"/>
                  </a:spcAft>
                  <a:defRPr sz="1900" b="0">
                    <a:solidFill>
                      <a:srgbClr val="333333"/>
                    </a:solidFill>
                    <a:latin typeface="微软雅黑"/>
                  </a:defRPr>
                </a:pPr>
                <a:r>
                  <a:rPr sz="2000" dirty="0" err="1">
                    <a:latin typeface="+mn-lt"/>
                    <a:ea typeface="+mn-ea"/>
                    <a:cs typeface="Times New Roman" panose="02020503050405090304" pitchFamily="18" charset="0"/>
                  </a:rPr>
                  <a:t>密文格式：</a:t>
                </a:r>
                <a:r>
                  <a:rPr lang="zh-CN" altLang="zh-CN" sz="2000" dirty="0">
                    <a:solidFill>
                      <a:srgbClr val="000000"/>
                    </a:solidFill>
                    <a:effectLs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3</m:t>
                        </m:r>
                      </m:sub>
                    </m:sSub>
                  </m:oMath>
                </a14:m>
                <a:r>
                  <a:rPr lang="en-US" altLang="zh-CN" sz="2000" dirty="0">
                    <a:solidFill>
                      <a:srgbClr val="000000"/>
                    </a:solidFill>
                    <a:cs typeface="Times New Roman" panose="02020503050405090304" pitchFamily="18" charset="0"/>
                  </a:rPr>
                  <a:t> </a:t>
                </a:r>
                <a14:m>
                  <m:oMath xmlns:m="http://schemas.openxmlformats.org/officeDocument/2006/math">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m:t>
                    </m:r>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a:solidFill>
                              <a:srgbClr val="000000"/>
                            </a:solidFill>
                            <a:latin typeface="Cambria Math" panose="02040503050406030204" pitchFamily="18" charset="0"/>
                            <a:cs typeface="Times New Roman" panose="02020503050405090304" pitchFamily="18" charset="0"/>
                          </a:rPr>
                          <m:t>2</m:t>
                        </m:r>
                      </m:sub>
                    </m:sSub>
                  </m:oMath>
                </a14:m>
                <a:endParaRPr sz="2000" i="1" dirty="0">
                  <a:latin typeface="+mn-lt"/>
                  <a:ea typeface="+mn-ea"/>
                  <a:cs typeface="Times New Roman" panose="02020503050405090304" pitchFamily="18" charset="0"/>
                </a:endParaRPr>
              </a:p>
            </p:txBody>
          </p:sp>
        </mc:Choice>
        <mc:Fallback xmlns="">
          <p:sp>
            <p:nvSpPr>
              <p:cNvPr id="11" name="TextBox 14"/>
              <p:cNvSpPr txBox="1">
                <a:spLocks noRot="1" noChangeAspect="1" noMove="1" noResize="1" noEditPoints="1" noAdjustHandles="1" noChangeArrowheads="1" noChangeShapeType="1" noTextEdit="1"/>
              </p:cNvSpPr>
              <p:nvPr/>
            </p:nvSpPr>
            <p:spPr>
              <a:xfrm>
                <a:off x="6364224" y="2075688"/>
                <a:ext cx="4928616" cy="1873846"/>
              </a:xfrm>
              <a:prstGeom prst="rect">
                <a:avLst/>
              </a:prstGeom>
              <a:blipFill rotWithShape="1">
                <a:blip r:embed="rId3"/>
                <a:stretch>
                  <a:fillRect l="-5" t="-27" b="25"/>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F4A22-CB34-91E8-9E79-8402C687A495}"/>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1DD6B71F-A6DA-54C2-3293-0B97CEEA9633}"/>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819449B7-C856-DE58-1609-562DF7E27C5D}"/>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CB810A07-E73B-F3A0-BD7D-32F0182AA571}"/>
              </a:ext>
            </a:extLst>
          </p:cNvPr>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a:extLst>
              <a:ext uri="{FF2B5EF4-FFF2-40B4-BE49-F238E27FC236}">
                <a16:creationId xmlns:a16="http://schemas.microsoft.com/office/drawing/2014/main" id="{D1DCB225-B61C-7D6E-EDD2-1287D046A7EB}"/>
              </a:ext>
            </a:extLst>
          </p:cNvPr>
          <p:cNvSpPr txBox="1"/>
          <p:nvPr/>
        </p:nvSpPr>
        <p:spPr>
          <a:xfrm>
            <a:off x="502920" y="843300"/>
            <a:ext cx="4265023"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a:t>
            </a:r>
            <a:r>
              <a:rPr lang="zh-CN" altLang="en-US" sz="2400" b="1" dirty="0">
                <a:solidFill>
                  <a:srgbClr val="C00000"/>
                </a:solidFill>
              </a:rPr>
              <a:t>密钥生成、加密与解密</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2A55A6E-87DC-59A1-4FFB-085BC88DA6D5}"/>
                  </a:ext>
                </a:extLst>
              </p:cNvPr>
              <p:cNvSpPr txBox="1"/>
              <p:nvPr/>
            </p:nvSpPr>
            <p:spPr>
              <a:xfrm>
                <a:off x="416586" y="1252970"/>
                <a:ext cx="11314870" cy="1607620"/>
              </a:xfrm>
              <a:prstGeom prst="rect">
                <a:avLst/>
              </a:prstGeom>
              <a:noFill/>
            </p:spPr>
            <p:txBody>
              <a:bodyPr wrap="square">
                <a:spAutoFit/>
              </a:bodyPr>
              <a:lstStyle/>
              <a:p>
                <a:pPr indent="266700" algn="just">
                  <a:lnSpc>
                    <a:spcPct val="130000"/>
                  </a:lnSpc>
                </a:pPr>
                <a:r>
                  <a:rPr lang="en-GB" altLang="zh-CN" sz="2000" dirty="0"/>
                  <a:t>SM2 </a:t>
                </a:r>
                <a:r>
                  <a:rPr lang="zh-CN" altLang="en-US" sz="2000" dirty="0"/>
                  <a:t>公钥加密方案的明文空间为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ℳ</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0</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b="0" i="0" smtClean="0">
                            <a:latin typeface="Cambria Math" panose="02040503050406030204" pitchFamily="18" charset="0"/>
                            <a:ea typeface="Cambria Math" panose="02040503050406030204" pitchFamily="18" charset="0"/>
                          </a:rPr>
                          <m:t>}</m:t>
                        </m:r>
                      </m:e>
                      <m:sup>
                        <m:r>
                          <m:rPr>
                            <m:sty m:val="p"/>
                          </m:rPr>
                          <a:rPr lang="en-US" altLang="zh-CN" sz="2000" b="0" i="0" smtClean="0">
                            <a:latin typeface="Cambria Math" panose="02040503050406030204" pitchFamily="18" charset="0"/>
                            <a:ea typeface="Cambria Math" panose="02040503050406030204" pitchFamily="18" charset="0"/>
                          </a:rPr>
                          <m:t>klen</m:t>
                        </m:r>
                      </m:sup>
                    </m:sSup>
                  </m:oMath>
                </a14:m>
                <a:r>
                  <a:rPr lang="zh-CN" altLang="en-US" sz="2000" dirty="0"/>
                  <a:t>（</a:t>
                </a:r>
                <a:r>
                  <a:rPr lang="en-US" altLang="zh-CN" sz="2000" dirty="0" err="1"/>
                  <a:t>klen</a:t>
                </a:r>
                <a:r>
                  <a:rPr lang="zh-CN" altLang="en-US" sz="2000" dirty="0"/>
                  <a:t> </a:t>
                </a:r>
                <a:r>
                  <a:rPr lang="en-US" altLang="zh-CN" sz="2000" dirty="0"/>
                  <a:t>&lt;</a:t>
                </a:r>
                <a:r>
                  <a:rPr lang="zh-CN" altLang="en-US" sz="2000" dirty="0"/>
                  <a:t> </a:t>
                </a:r>
                <a:r>
                  <a:rPr lang="en-US" altLang="zh-CN" sz="2000" dirty="0"/>
                  <a:t>256</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2</m:t>
                        </m:r>
                      </m:e>
                      <m:sup>
                        <m:r>
                          <a:rPr lang="en-US" altLang="zh-CN" sz="2000" b="0" i="1" smtClean="0">
                            <a:latin typeface="Cambria Math" panose="02040503050406030204" pitchFamily="18" charset="0"/>
                            <a:ea typeface="Cambria Math" panose="02040503050406030204" pitchFamily="18" charset="0"/>
                          </a:rPr>
                          <m:t>32</m:t>
                        </m:r>
                      </m:sup>
                    </m:sSup>
                  </m:oMath>
                </a14:m>
                <a:r>
                  <a:rPr lang="en-US" altLang="zh-CN" sz="2000" dirty="0"/>
                  <a:t>-1))</a:t>
                </a:r>
                <a:r>
                  <a:rPr lang="zh-CN" altLang="en-GB" sz="2000" dirty="0"/>
                  <a:t>、</a:t>
                </a:r>
                <a:r>
                  <a:rPr lang="zh-CN" altLang="en-US" sz="2000" dirty="0"/>
                  <a:t>密文空间 </a:t>
                </a:r>
                <a14:m>
                  <m:oMath xmlns:m="http://schemas.openxmlformats.org/officeDocument/2006/math">
                    <m:r>
                      <a:rPr lang="zh-CN" altLang="en-US" sz="2000" i="1" smtClean="0">
                        <a:latin typeface="Cambria Math" panose="02040503050406030204" pitchFamily="18" charset="0"/>
                      </a:rPr>
                      <m:t>𝒞</m:t>
                    </m:r>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ea typeface="Cambria Math" panose="02040503050406030204" pitchFamily="18" charset="0"/>
                          </a:rPr>
                          <m:t>0</m:t>
                        </m:r>
                        <m:r>
                          <a:rPr lang="en-US" altLang="zh-CN" sz="200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ea typeface="Cambria Math" panose="02040503050406030204" pitchFamily="18" charset="0"/>
                          </a:rPr>
                          <m:t>1</m:t>
                        </m:r>
                        <m:r>
                          <a:rPr lang="en-US" altLang="zh-CN" sz="2000">
                            <a:latin typeface="Cambria Math" panose="02040503050406030204" pitchFamily="18" charset="0"/>
                            <a:ea typeface="Cambria Math" panose="02040503050406030204" pitchFamily="18" charset="0"/>
                          </a:rPr>
                          <m:t>}</m:t>
                        </m:r>
                      </m:e>
                      <m:sup>
                        <m:r>
                          <m:rPr>
                            <m:sty m:val="p"/>
                          </m:rPr>
                          <a:rPr lang="en-US" altLang="zh-CN" sz="2000">
                            <a:latin typeface="Cambria Math" panose="02040503050406030204" pitchFamily="18" charset="0"/>
                            <a:ea typeface="Cambria Math" panose="02040503050406030204" pitchFamily="18" charset="0"/>
                          </a:rPr>
                          <m:t>klen</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768</m:t>
                        </m:r>
                      </m:sup>
                    </m:sSup>
                  </m:oMath>
                </a14:m>
                <a:r>
                  <a:rPr lang="zh-CN" altLang="en-GB" sz="2000" dirty="0"/>
                  <a:t>、</a:t>
                </a:r>
                <a:r>
                  <a:rPr lang="zh-CN" altLang="en-US" sz="2000" dirty="0"/>
                  <a:t>密钥空间为 </a:t>
                </a:r>
                <a14:m>
                  <m:oMath xmlns:m="http://schemas.openxmlformats.org/officeDocument/2006/math">
                    <m:r>
                      <a:rPr lang="zh-CN" altLang="en-US" sz="2000" i="1" smtClean="0">
                        <a:latin typeface="Cambria Math" panose="02040503050406030204" pitchFamily="18" charset="0"/>
                      </a:rPr>
                      <m:t>𝒦</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d>
                          <m:dPr>
                            <m:ctrlPr>
                              <a:rPr lang="en-US" altLang="zh-CN" sz="2000" b="0" i="1" smtClean="0">
                                <a:latin typeface="Cambria Math" panose="02040503050406030204" pitchFamily="18" charset="0"/>
                              </a:rPr>
                            </m:ctrlPr>
                          </m:dPr>
                          <m:e>
                            <m:m>
                              <m:mPr>
                                <m:mcs>
                                  <m:mc>
                                    <m:mcPr>
                                      <m:count m:val="1"/>
                                      <m:mcJc m:val="center"/>
                                    </m:mcPr>
                                  </m:mc>
                                </m:mcs>
                                <m:ctrlPr>
                                  <a:rPr lang="en-US" altLang="zh-CN" sz="2000" b="0" i="1" smtClean="0">
                                    <a:latin typeface="Cambria Math" panose="02040503050406030204" pitchFamily="18" charset="0"/>
                                  </a:rPr>
                                </m:ctrlPr>
                              </m:mPr>
                              <m:mr>
                                <m:e>
                                  <m:r>
                                    <m:rPr>
                                      <m:brk m:alnAt="7"/>
                                    </m:rPr>
                                    <a:rPr lang="en-US" altLang="zh-CN" sz="2000" i="1">
                                      <a:latin typeface="Cambria Math" panose="02040503050406030204" pitchFamily="18" charset="0"/>
                                    </a:rPr>
                                    <m:t>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𝐺</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m:rPr>
                                      <m:sty m:val="p"/>
                                      <m:brk m:alnAt="7"/>
                                    </m:rPr>
                                    <a:rPr lang="en-US" altLang="zh-CN" sz="2000" b="0" i="0" smtClean="0">
                                      <a:latin typeface="Cambria Math" panose="02040503050406030204" pitchFamily="18" charset="0"/>
                                    </a:rPr>
                                    <m:t>S</m:t>
                                  </m:r>
                                  <m:r>
                                    <m:rPr>
                                      <m:sty m:val="p"/>
                                    </m:rPr>
                                    <a:rPr lang="en-US" altLang="zh-CN" sz="2000" b="0" i="0" smtClean="0">
                                      <a:latin typeface="Cambria Math" panose="02040503050406030204" pitchFamily="18" charset="0"/>
                                    </a:rPr>
                                    <m:t>EED</m:t>
                                  </m:r>
                                </m:e>
                              </m:mr>
                              <m:mr>
                                <m:e>
                                  <m:r>
                                    <a:rPr lang="en-US" altLang="zh-CN" sz="2000" b="0" i="1" smtClean="0">
                                      <a:latin typeface="Cambria Math" panose="02040503050406030204" pitchFamily="18" charset="0"/>
                                    </a:rPr>
                                    <m:t>𝐻</m:t>
                                  </m:r>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KDF</m:t>
                                  </m:r>
                                  <m:r>
                                    <a:rPr lang="en-US" altLang="zh-CN" sz="2000" b="0" i="1" smtClean="0">
                                      <a:latin typeface="Cambria Math" panose="02040503050406030204" pitchFamily="18" charset="0"/>
                                    </a:rPr>
                                    <m:t>, </m:t>
                                  </m:r>
                                  <m:r>
                                    <m:rPr>
                                      <m:sty m:val="p"/>
                                    </m:rPr>
                                    <a:rPr lang="en-US" altLang="zh-CN" sz="2000" b="0" i="0" smtClean="0">
                                      <a:latin typeface="Cambria Math" panose="02040503050406030204" pitchFamily="18" charset="0"/>
                                    </a:rPr>
                                    <m:t>RND</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𝑑</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𝑌</m:t>
                                  </m:r>
                                </m:e>
                              </m:mr>
                            </m:m>
                          </m:e>
                        </m:d>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𝑑𝐺</m:t>
                            </m:r>
                          </m:e>
                        </m:d>
                      </m:e>
                    </m:d>
                  </m:oMath>
                </a14:m>
                <a:r>
                  <a:rPr lang="zh-CN" altLang="en-GB" sz="2000" dirty="0"/>
                  <a:t>。</a:t>
                </a:r>
                <a:r>
                  <a:rPr lang="en-GB" altLang="zh-CN" sz="2000" dirty="0"/>
                  <a:t>SM2 </a:t>
                </a:r>
                <a:r>
                  <a:rPr lang="zh-CN" altLang="en-US" sz="2000" dirty="0"/>
                  <a:t>公钥加密方案 </a:t>
                </a:r>
                <a:r>
                  <a:rPr lang="en-GB" altLang="zh-CN" sz="2000" dirty="0"/>
                  <a:t>PKE = (Gen, Enc, Dec) </a:t>
                </a:r>
                <a:r>
                  <a:rPr lang="zh-CN" altLang="en-US" sz="2000" dirty="0"/>
                  <a:t>的各个算法描述如下</a:t>
                </a:r>
                <a:r>
                  <a:rPr lang="zh-CN" altLang="zh-CN" sz="2000" dirty="0">
                    <a:solidFill>
                      <a:srgbClr val="000000"/>
                    </a:solidFill>
                    <a:effectLst/>
                    <a:latin typeface="+mn-lt"/>
                    <a:ea typeface="+mn-ea"/>
                    <a:cs typeface="宋体" pitchFamily="2" charset="-122"/>
                  </a:rPr>
                  <a:t>。</a:t>
                </a:r>
                <a:endParaRPr lang="zh-CN" altLang="zh-CN" sz="2800" dirty="0">
                  <a:effectLst/>
                  <a:latin typeface="+mn-lt"/>
                  <a:ea typeface="+mn-ea"/>
                  <a:cs typeface="宋体" pitchFamily="2" charset="-122"/>
                </a:endParaRPr>
              </a:p>
            </p:txBody>
          </p:sp>
        </mc:Choice>
        <mc:Fallback xmlns="">
          <p:sp>
            <p:nvSpPr>
              <p:cNvPr id="3" name="文本框 2">
                <a:extLst>
                  <a:ext uri="{FF2B5EF4-FFF2-40B4-BE49-F238E27FC236}">
                    <a16:creationId xmlns:a16="http://schemas.microsoft.com/office/drawing/2014/main" id="{72A55A6E-87DC-59A1-4FFB-085BC88DA6D5}"/>
                  </a:ext>
                </a:extLst>
              </p:cNvPr>
              <p:cNvSpPr txBox="1">
                <a:spLocks noRot="1" noChangeAspect="1" noMove="1" noResize="1" noEditPoints="1" noAdjustHandles="1" noChangeArrowheads="1" noChangeShapeType="1" noTextEdit="1"/>
              </p:cNvSpPr>
              <p:nvPr/>
            </p:nvSpPr>
            <p:spPr>
              <a:xfrm>
                <a:off x="416586" y="1252970"/>
                <a:ext cx="11314870" cy="1607620"/>
              </a:xfrm>
              <a:prstGeom prst="rect">
                <a:avLst/>
              </a:prstGeom>
              <a:blipFill>
                <a:blip r:embed="rId2"/>
                <a:stretch>
                  <a:fillRect l="-561" r="-2803" b="-140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0883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43300"/>
            <a:ext cx="4265023"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502920" y="1668463"/>
            <a:ext cx="10978904" cy="4143598"/>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0"/>
          <p:cNvSpPr txBox="1"/>
          <p:nvPr/>
        </p:nvSpPr>
        <p:spPr>
          <a:xfrm>
            <a:off x="813664" y="1749463"/>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latin typeface="+mn-lt"/>
              </a:rPr>
              <a:t>Gen(</a:t>
            </a:r>
            <a:r>
              <a:rPr sz="2400" dirty="0" err="1">
                <a:latin typeface="+mn-lt"/>
              </a:rPr>
              <a:t>λ</a:t>
            </a:r>
            <a:r>
              <a:rPr sz="2400" dirty="0">
                <a:latin typeface="+mn-lt"/>
              </a:rPr>
              <a:t>) </a:t>
            </a:r>
            <a:r>
              <a:rPr lang="zh-CN" altLang="en-US" sz="2400" dirty="0">
                <a:latin typeface="+mn-lt"/>
              </a:rPr>
              <a:t>算法</a:t>
            </a:r>
            <a:endParaRPr sz="2400" dirty="0"/>
          </a:p>
        </p:txBody>
      </p:sp>
      <mc:AlternateContent xmlns:mc="http://schemas.openxmlformats.org/markup-compatibility/2006" xmlns:a14="http://schemas.microsoft.com/office/drawing/2010/main">
        <mc:Choice Requires="a14">
          <p:sp>
            <p:nvSpPr>
              <p:cNvPr id="18" name="TextBox 11"/>
              <p:cNvSpPr txBox="1"/>
              <p:nvPr/>
            </p:nvSpPr>
            <p:spPr>
              <a:xfrm>
                <a:off x="813664" y="2031961"/>
                <a:ext cx="10561624" cy="3667414"/>
              </a:xfrm>
              <a:prstGeom prst="rect">
                <a:avLst/>
              </a:prstGeom>
              <a:noFill/>
            </p:spPr>
            <p:txBody>
              <a:bodyPr wrap="square" lIns="64008" tIns="32004" rIns="36576">
                <a:spAutoFit/>
              </a:bodyPr>
              <a:lstStyle/>
              <a:p>
                <a:pPr algn="just" hangingPunct="0">
                  <a:lnSpc>
                    <a:spcPct val="130000"/>
                  </a:lnSpc>
                </a:pPr>
                <a:r>
                  <a:rPr lang="zh-CN" altLang="zh-CN" sz="2000" kern="0" dirty="0">
                    <a:solidFill>
                      <a:srgbClr val="000000"/>
                    </a:solidFill>
                    <a:effectLst/>
                    <a:latin typeface="+mj-ea"/>
                    <a:ea typeface="+mj-ea"/>
                    <a:cs typeface="宋体" pitchFamily="2" charset="-122"/>
                  </a:rPr>
                  <a:t>当输入安全参数</a:t>
                </a:r>
                <a:r>
                  <a:rPr lang="en-US" altLang="zh-CN" sz="2000" kern="0" dirty="0">
                    <a:solidFill>
                      <a:srgbClr val="000000"/>
                    </a:solidFill>
                    <a:latin typeface="+mj-ea"/>
                    <a:ea typeface="+mj-ea"/>
                    <a:cs typeface="宋体" pitchFamily="2" charset="-122"/>
                  </a:rPr>
                  <a:t> </a:t>
                </a:r>
                <a14:m>
                  <m:oMath xmlns:m="http://schemas.openxmlformats.org/officeDocument/2006/math">
                    <m:r>
                      <a:rPr lang="en-US" altLang="zh-CN" sz="2000" i="1" kern="0">
                        <a:solidFill>
                          <a:srgbClr val="000000"/>
                        </a:solidFill>
                        <a:effectLst/>
                        <a:latin typeface="Cambria Math" panose="02040503050406030204" pitchFamily="18" charset="0"/>
                        <a:ea typeface="+mj-ea"/>
                        <a:cs typeface="宋体" pitchFamily="2" charset="-122"/>
                      </a:rPr>
                      <m:t>𝜆</m:t>
                    </m:r>
                    <m:r>
                      <a:rPr lang="zh-CN" altLang="en-US" sz="2000" b="0" i="1" kern="0" smtClean="0">
                        <a:solidFill>
                          <a:srgbClr val="000000"/>
                        </a:solidFill>
                        <a:effectLst/>
                        <a:latin typeface="Cambria Math" panose="02040503050406030204" pitchFamily="18" charset="0"/>
                        <a:ea typeface="+mj-ea"/>
                        <a:cs typeface="宋体" pitchFamily="2" charset="-122"/>
                      </a:rPr>
                      <m:t> </m:t>
                    </m:r>
                  </m:oMath>
                </a14:m>
                <a:r>
                  <a:rPr lang="zh-CN" altLang="zh-CN" sz="2000" kern="0" dirty="0">
                    <a:solidFill>
                      <a:srgbClr val="000000"/>
                    </a:solidFill>
                    <a:effectLst/>
                    <a:latin typeface="+mj-ea"/>
                    <a:ea typeface="+mj-ea"/>
                    <a:cs typeface="宋体" pitchFamily="2" charset="-122"/>
                  </a:rPr>
                  <a:t>时</a:t>
                </a:r>
                <a:r>
                  <a:rPr lang="zh-CN" altLang="zh-CN" sz="2000" dirty="0"/>
                  <a:t>，</a:t>
                </a:r>
                <a:r>
                  <a:rPr lang="zh-CN" altLang="zh-CN" sz="2000" dirty="0">
                    <a:solidFill>
                      <a:srgbClr val="000000"/>
                    </a:solidFill>
                    <a:latin typeface="+mn-ea"/>
                    <a:cs typeface="Times New Roman" panose="02020503050405090304" pitchFamily="18" charset="0"/>
                  </a:rPr>
                  <a:t>执行如下步骤：</a:t>
                </a:r>
                <a:endParaRPr lang="en-US" altLang="zh-CN" sz="2000" dirty="0">
                  <a:solidFill>
                    <a:srgbClr val="000000"/>
                  </a:solidFill>
                  <a:latin typeface="+mn-ea"/>
                  <a:cs typeface="Times New Roman" panose="02020503050405090304" pitchFamily="18" charset="0"/>
                </a:endParaRPr>
              </a:p>
              <a:p>
                <a:pPr marL="342900" indent="-342900" algn="just" hangingPunct="0">
                  <a:lnSpc>
                    <a:spcPct val="130000"/>
                  </a:lnSpc>
                  <a:buAutoNum type="arabicPeriod"/>
                </a:pPr>
                <a:r>
                  <a:rPr lang="zh-CN" altLang="en-US" sz="2000" dirty="0"/>
                  <a:t>按照标准</a:t>
                </a:r>
                <a:r>
                  <a:rPr lang="en-US" altLang="zh-CN" sz="2000" dirty="0"/>
                  <a:t>《</a:t>
                </a:r>
                <a:r>
                  <a:rPr lang="zh-CN" altLang="en-US" sz="2000" dirty="0"/>
                  <a:t>信息安全技术 </a:t>
                </a:r>
                <a:r>
                  <a:rPr lang="en-GB" altLang="zh-CN" sz="2000" dirty="0"/>
                  <a:t>SM2 </a:t>
                </a:r>
                <a:r>
                  <a:rPr lang="zh-CN" altLang="en-US" sz="2000" dirty="0"/>
                  <a:t>椭圆曲线公钥密码算法第 </a:t>
                </a:r>
                <a:r>
                  <a:rPr lang="en-US" altLang="zh-CN" sz="2000" dirty="0"/>
                  <a:t>1 </a:t>
                </a:r>
                <a:r>
                  <a:rPr lang="zh-CN" altLang="en-US" sz="2000" dirty="0"/>
                  <a:t>部分：总则</a:t>
                </a:r>
                <a:r>
                  <a:rPr lang="en-US" altLang="zh-CN" sz="2000" dirty="0"/>
                  <a:t>》</a:t>
                </a:r>
                <a:r>
                  <a:rPr lang="zh-CN" altLang="en-US" sz="2000" dirty="0"/>
                  <a:t>（标准号：</a:t>
                </a:r>
                <a:r>
                  <a:rPr lang="en-GB" altLang="zh-CN" sz="2000" dirty="0"/>
                  <a:t>GB/T 32918.1-2016</a:t>
                </a:r>
                <a:r>
                  <a:rPr lang="zh-CN" altLang="en-US" sz="2000" dirty="0"/>
                  <a:t>）选择椭圆曲线参数 </a:t>
                </a:r>
                <a14:m>
                  <m:oMath xmlns:m="http://schemas.openxmlformats.org/officeDocument/2006/math">
                    <m:r>
                      <m:rPr>
                        <m:brk m:alnAt="7"/>
                      </m:rPr>
                      <a:rPr lang="en-US" altLang="zh-CN" sz="2000" i="1" smtClean="0">
                        <a:latin typeface="Cambria Math" panose="02040503050406030204" pitchFamily="18" charset="0"/>
                      </a:rPr>
                      <m:t>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𝐺</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m:rPr>
                        <m:sty m:val="p"/>
                        <m:brk m:alnAt="7"/>
                      </m:rPr>
                      <a:rPr lang="en-US" altLang="zh-CN" sz="2000" b="0" i="0" smtClean="0">
                        <a:latin typeface="Cambria Math" panose="02040503050406030204" pitchFamily="18" charset="0"/>
                      </a:rPr>
                      <m:t>S</m:t>
                    </m:r>
                    <m:r>
                      <m:rPr>
                        <m:sty m:val="p"/>
                      </m:rPr>
                      <a:rPr lang="en-US" altLang="zh-CN" sz="2000" b="0" i="0" smtClean="0">
                        <a:latin typeface="Cambria Math" panose="02040503050406030204" pitchFamily="18" charset="0"/>
                      </a:rPr>
                      <m:t>EED</m:t>
                    </m:r>
                    <m:r>
                      <a:rPr lang="zh-CN" altLang="en-US" sz="2000" b="0" i="0" smtClean="0">
                        <a:latin typeface="Cambria Math" panose="02040503050406030204" pitchFamily="18" charset="0"/>
                      </a:rPr>
                      <m:t>；</m:t>
                    </m:r>
                  </m:oMath>
                </a14:m>
                <a:r>
                  <a:rPr lang="zh-CN" altLang="en-GB" sz="2000" dirty="0"/>
                  <a:t> </a:t>
                </a:r>
                <a:endParaRPr lang="en-US" altLang="zh-CN" sz="2000" dirty="0"/>
              </a:p>
              <a:p>
                <a:pPr marL="342900" indent="-342900" algn="just" hangingPunct="0">
                  <a:lnSpc>
                    <a:spcPct val="130000"/>
                  </a:lnSpc>
                  <a:buAutoNum type="arabicPeriod"/>
                </a:pPr>
                <a:r>
                  <a:rPr lang="zh-CN" altLang="en-US" sz="2000" dirty="0"/>
                  <a:t>按照标准</a:t>
                </a:r>
                <a:r>
                  <a:rPr lang="en-US" altLang="zh-CN" sz="2000" dirty="0"/>
                  <a:t>《</a:t>
                </a:r>
                <a:r>
                  <a:rPr lang="zh-CN" altLang="en-US" sz="2000" dirty="0"/>
                  <a:t>信息安全技术 </a:t>
                </a:r>
                <a:r>
                  <a:rPr lang="en-GB" altLang="zh-CN" sz="2000" dirty="0"/>
                  <a:t>SM2 </a:t>
                </a:r>
                <a:r>
                  <a:rPr lang="zh-CN" altLang="en-US" sz="2000" dirty="0"/>
                  <a:t>椭圆曲线公钥密码算法第 </a:t>
                </a:r>
                <a:r>
                  <a:rPr lang="en-US" altLang="zh-CN" sz="2000" dirty="0"/>
                  <a:t>1 </a:t>
                </a:r>
                <a:r>
                  <a:rPr lang="zh-CN" altLang="en-US" sz="2000" dirty="0"/>
                  <a:t>部分：总则</a:t>
                </a:r>
                <a:r>
                  <a:rPr lang="en-US" altLang="zh-CN" sz="2000" dirty="0"/>
                  <a:t>》</a:t>
                </a:r>
                <a:r>
                  <a:rPr lang="zh-CN" altLang="en-US" sz="2000" dirty="0"/>
                  <a:t>（标准号：</a:t>
                </a:r>
                <a:r>
                  <a:rPr lang="en-GB" altLang="zh-CN" sz="2000" dirty="0"/>
                  <a:t>GB/T 32918.1-2016</a:t>
                </a:r>
                <a:r>
                  <a:rPr lang="zh-CN" altLang="en-US" sz="2000" dirty="0"/>
                  <a:t>） 选择</a:t>
                </a:r>
                <a:r>
                  <a:rPr lang="en-US" altLang="zh-CN" sz="2000" dirty="0"/>
                  <a:t>3 </a:t>
                </a:r>
                <a:r>
                  <a:rPr lang="zh-CN" altLang="en-US" sz="2000" dirty="0"/>
                  <a:t>类辅助函数</a:t>
                </a:r>
                <a14:m>
                  <m:oMath xmlns:m="http://schemas.openxmlformats.org/officeDocument/2006/math">
                    <m:r>
                      <a:rPr lang="en-US" altLang="zh-CN" sz="2000" i="1" dirty="0">
                        <a:latin typeface="Cambria Math" panose="02040503050406030204" pitchFamily="18" charset="0"/>
                      </a:rPr>
                      <m:t>𝐻</m:t>
                    </m:r>
                    <m:r>
                      <a:rPr lang="zh-CN" altLang="en-US" sz="2000" b="0" i="1" dirty="0" smtClean="0">
                        <a:latin typeface="Cambria Math" panose="02040503050406030204" pitchFamily="18" charset="0"/>
                      </a:rPr>
                      <m:t>：</m:t>
                    </m:r>
                    <m:r>
                      <a:rPr lang="en-US" altLang="zh-CN" sz="2000" b="0" i="1" dirty="0" smtClean="0">
                        <a:latin typeface="Cambria Math" panose="02040503050406030204" pitchFamily="18" charset="0"/>
                      </a:rPr>
                      <m:t> </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0</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1</m:t>
                        </m:r>
                        <m:r>
                          <a:rPr lang="en-US" altLang="zh-CN" sz="2000" b="0" i="1" dirty="0" smtClean="0">
                            <a:latin typeface="Cambria Math" panose="02040503050406030204" pitchFamily="18" charset="0"/>
                          </a:rPr>
                          <m:t>}</m:t>
                        </m:r>
                      </m:e>
                      <m:sup>
                        <m:r>
                          <a:rPr lang="en-US" altLang="zh-CN" sz="2000" b="0" i="1" dirty="0" smtClean="0">
                            <a:latin typeface="Cambria Math" panose="02040503050406030204" pitchFamily="18" charset="0"/>
                          </a:rPr>
                          <m:t>𝑙</m:t>
                        </m:r>
                      </m:sup>
                    </m:sSup>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m:t>
                        </m:r>
                        <m:r>
                          <a:rPr lang="en-US" altLang="zh-CN" sz="2000" i="1" dirty="0">
                            <a:latin typeface="Cambria Math" panose="02040503050406030204" pitchFamily="18" charset="0"/>
                          </a:rPr>
                          <m:t>0</m:t>
                        </m:r>
                        <m:r>
                          <a:rPr lang="en-US" altLang="zh-CN" sz="2000" i="1" dirty="0">
                            <a:latin typeface="Cambria Math" panose="02040503050406030204" pitchFamily="18" charset="0"/>
                          </a:rPr>
                          <m:t>,</m:t>
                        </m:r>
                        <m:r>
                          <a:rPr lang="en-US" altLang="zh-CN" sz="2000" i="1" dirty="0">
                            <a:latin typeface="Cambria Math" panose="02040503050406030204" pitchFamily="18" charset="0"/>
                          </a:rPr>
                          <m:t>1</m:t>
                        </m:r>
                        <m:r>
                          <a:rPr lang="en-US" altLang="zh-CN" sz="2000" i="1" dirty="0">
                            <a:latin typeface="Cambria Math" panose="02040503050406030204" pitchFamily="18" charset="0"/>
                          </a:rPr>
                          <m:t>}</m:t>
                        </m:r>
                      </m:e>
                      <m:sup>
                        <m:r>
                          <a:rPr lang="en-US" altLang="zh-CN" sz="2000" b="0" i="1" dirty="0" smtClean="0">
                            <a:latin typeface="Cambria Math" panose="02040503050406030204" pitchFamily="18" charset="0"/>
                          </a:rPr>
                          <m:t>256</m:t>
                        </m:r>
                      </m:sup>
                    </m:sSup>
                  </m:oMath>
                </a14:m>
                <a:r>
                  <a:rPr lang="zh-CN" altLang="en-US" sz="2000" dirty="0"/>
                  <a:t>，密钥派生函数</a:t>
                </a:r>
                <a14:m>
                  <m:oMath xmlns:m="http://schemas.openxmlformats.org/officeDocument/2006/math">
                    <m:r>
                      <m:rPr>
                        <m:sty m:val="p"/>
                      </m:rPr>
                      <a:rPr lang="en-US" altLang="zh-CN" sz="2000" i="1" dirty="0">
                        <a:latin typeface="Cambria Math" panose="02040503050406030204" pitchFamily="18" charset="0"/>
                      </a:rPr>
                      <m:t>KDF</m:t>
                    </m:r>
                    <m:r>
                      <a:rPr lang="zh-CN" altLang="en-US" sz="2000" b="0" i="1" dirty="0" smtClean="0">
                        <a:latin typeface="Cambria Math" panose="02040503050406030204" pitchFamily="18" charset="0"/>
                      </a:rPr>
                      <m:t>：</m:t>
                    </m:r>
                    <m:r>
                      <a:rPr lang="en-US" altLang="zh-CN" sz="2000" i="1" dirty="0">
                        <a:latin typeface="Cambria Math" panose="02040503050406030204" pitchFamily="18" charset="0"/>
                      </a:rPr>
                      <m:t> </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m:t>
                        </m:r>
                        <m:r>
                          <a:rPr lang="en-US" altLang="zh-CN" sz="2000" i="1" dirty="0">
                            <a:latin typeface="Cambria Math" panose="02040503050406030204" pitchFamily="18" charset="0"/>
                          </a:rPr>
                          <m:t>0</m:t>
                        </m:r>
                        <m:r>
                          <a:rPr lang="en-US" altLang="zh-CN" sz="2000" i="1" dirty="0">
                            <a:latin typeface="Cambria Math" panose="02040503050406030204" pitchFamily="18" charset="0"/>
                          </a:rPr>
                          <m:t>,</m:t>
                        </m:r>
                        <m:r>
                          <a:rPr lang="en-US" altLang="zh-CN" sz="2000" i="1" dirty="0">
                            <a:latin typeface="Cambria Math" panose="02040503050406030204" pitchFamily="18" charset="0"/>
                          </a:rPr>
                          <m:t>1</m:t>
                        </m:r>
                        <m:r>
                          <a:rPr lang="en-US" altLang="zh-CN" sz="2000" i="1" dirty="0">
                            <a:latin typeface="Cambria Math" panose="02040503050406030204" pitchFamily="18" charset="0"/>
                          </a:rPr>
                          <m:t>}</m:t>
                        </m:r>
                      </m:e>
                      <m:sup>
                        <m:r>
                          <a:rPr lang="en-US" altLang="zh-CN" sz="2000" b="0" i="1" dirty="0" smtClean="0">
                            <a:latin typeface="Cambria Math" panose="02040503050406030204" pitchFamily="18" charset="0"/>
                          </a:rPr>
                          <m:t>𝐿</m:t>
                        </m:r>
                      </m:sup>
                    </m:sSup>
                    <m:r>
                      <a:rPr lang="en-US" altLang="zh-CN" sz="2000" i="1" dirty="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m:t>
                        </m:r>
                        <m:r>
                          <a:rPr lang="en-US" altLang="zh-CN" sz="2000" i="1" dirty="0">
                            <a:latin typeface="Cambria Math" panose="02040503050406030204" pitchFamily="18" charset="0"/>
                          </a:rPr>
                          <m:t>0</m:t>
                        </m:r>
                        <m:r>
                          <a:rPr lang="en-US" altLang="zh-CN" sz="2000" i="1" dirty="0">
                            <a:latin typeface="Cambria Math" panose="02040503050406030204" pitchFamily="18" charset="0"/>
                          </a:rPr>
                          <m:t>,</m:t>
                        </m:r>
                        <m:r>
                          <a:rPr lang="en-US" altLang="zh-CN" sz="2000" i="1" dirty="0">
                            <a:latin typeface="Cambria Math" panose="02040503050406030204" pitchFamily="18" charset="0"/>
                          </a:rPr>
                          <m:t>1</m:t>
                        </m:r>
                        <m:r>
                          <a:rPr lang="en-US" altLang="zh-CN" sz="2000" i="1" dirty="0">
                            <a:latin typeface="Cambria Math" panose="02040503050406030204" pitchFamily="18" charset="0"/>
                          </a:rPr>
                          <m:t>}</m:t>
                        </m:r>
                      </m:e>
                      <m:sup>
                        <m:r>
                          <m:rPr>
                            <m:sty m:val="p"/>
                          </m:rPr>
                          <a:rPr lang="en-US" altLang="zh-CN" sz="2000" i="1" dirty="0">
                            <a:latin typeface="Cambria Math" panose="02040503050406030204" pitchFamily="18" charset="0"/>
                          </a:rPr>
                          <m:t>klen</m:t>
                        </m:r>
                      </m:sup>
                    </m:sSup>
                  </m:oMath>
                </a14:m>
                <a:r>
                  <a:rPr lang="zh-CN" altLang="en-US" sz="2000" dirty="0"/>
                  <a:t>以及随机数生成器；</a:t>
                </a:r>
                <a:endParaRPr lang="en-US" altLang="zh-CN" sz="2000" dirty="0"/>
              </a:p>
              <a:p>
                <a:pPr marL="342900" indent="-342900" algn="just" hangingPunct="0">
                  <a:lnSpc>
                    <a:spcPct val="130000"/>
                  </a:lnSpc>
                  <a:buFontTx/>
                  <a:buAutoNum type="arabicPeriod"/>
                </a:pPr>
                <a:r>
                  <a:rPr lang="zh-CN" altLang="zh-CN" sz="2000" dirty="0">
                    <a:solidFill>
                      <a:srgbClr val="000000"/>
                    </a:solidFill>
                    <a:latin typeface="+mn-ea"/>
                    <a:cs typeface="Times New Roman" panose="02020503050405090304" pitchFamily="18" charset="0"/>
                  </a:rPr>
                  <a:t>用随机数生成器产生随机数</a:t>
                </a:r>
                <a:r>
                  <a:rPr lang="en-US" altLang="zh-CN" sz="2000" dirty="0">
                    <a:solidFill>
                      <a:srgbClr val="000000"/>
                    </a:solidFill>
                    <a:latin typeface="+mn-ea"/>
                    <a:cs typeface="Times New Roman" panose="02020503050405090304" pitchFamily="18" charset="0"/>
                  </a:rPr>
                  <a:t> </a:t>
                </a:r>
                <a:r>
                  <a:rPr lang="en-US" altLang="zh-CN" sz="2000" i="1" dirty="0">
                    <a:solidFill>
                      <a:srgbClr val="000000"/>
                    </a:solidFill>
                    <a:latin typeface="+mn-lt"/>
                    <a:cs typeface="Times New Roman" panose="02020503050405090304" pitchFamily="18" charset="0"/>
                  </a:rPr>
                  <a:t>d</a:t>
                </a:r>
                <a14:m>
                  <m:oMath xmlns:m="http://schemas.openxmlformats.org/officeDocument/2006/math">
                    <m:r>
                      <a:rPr lang="zh-CN" altLang="en-US" sz="2000" b="0" i="1" smtClean="0">
                        <a:solidFill>
                          <a:srgbClr val="000000"/>
                        </a:solidFill>
                        <a:latin typeface="Cambria Math" panose="02040503050406030204" pitchFamily="18" charset="0"/>
                        <a:cs typeface="Times New Roman" panose="02020503050405090304" pitchFamily="18" charset="0"/>
                      </a:rPr>
                      <m:t> </m:t>
                    </m:r>
                    <m:r>
                      <a:rPr lang="en-US" altLang="zh-CN" sz="2000">
                        <a:solidFill>
                          <a:srgbClr val="000000"/>
                        </a:solidFill>
                        <a:latin typeface="Cambria Math" panose="02040503050406030204" pitchFamily="18" charset="0"/>
                        <a:cs typeface="Times New Roman" panose="02020503050405090304" pitchFamily="18" charset="0"/>
                      </a:rPr>
                      <m:t>∈</m:t>
                    </m:r>
                    <m:d>
                      <m:dPr>
                        <m:begChr m:val="["/>
                        <m:endChr m:val="]"/>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a:solidFill>
                              <a:srgbClr val="000000"/>
                            </a:solidFill>
                            <a:latin typeface="Cambria Math" panose="02040503050406030204" pitchFamily="18" charset="0"/>
                            <a:cs typeface="Times New Roman" panose="02020503050405090304" pitchFamily="18" charset="0"/>
                          </a:rPr>
                          <m:t>1</m:t>
                        </m:r>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𝑛</m:t>
                        </m:r>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b="0" i="0" smtClean="0">
                            <a:solidFill>
                              <a:srgbClr val="000000"/>
                            </a:solidFill>
                            <a:latin typeface="Cambria Math" panose="02040503050406030204" pitchFamily="18" charset="0"/>
                            <a:cs typeface="Times New Roman" panose="02020503050405090304" pitchFamily="18" charset="0"/>
                          </a:rPr>
                          <m:t>2</m:t>
                        </m:r>
                      </m:e>
                    </m:d>
                  </m:oMath>
                </a14:m>
                <a:r>
                  <a:rPr lang="zh-CN" altLang="en-US" sz="2000" dirty="0">
                    <a:solidFill>
                      <a:srgbClr val="000000"/>
                    </a:solidFill>
                    <a:latin typeface="+mn-ea"/>
                    <a:cs typeface="Times New Roman" panose="02020503050405090304" pitchFamily="18" charset="0"/>
                  </a:rPr>
                  <a:t>作为私钥</a:t>
                </a:r>
                <a:r>
                  <a:rPr lang="zh-CN" altLang="zh-CN" sz="2000" dirty="0">
                    <a:solidFill>
                      <a:srgbClr val="000000"/>
                    </a:solidFill>
                    <a:latin typeface="+mn-ea"/>
                    <a:cs typeface="Times New Roman" panose="02020503050405090304" pitchFamily="18" charset="0"/>
                  </a:rPr>
                  <a:t>；</a:t>
                </a:r>
                <a:endParaRPr lang="en-US" altLang="zh-CN" sz="2000" dirty="0"/>
              </a:p>
              <a:p>
                <a:pPr marL="342900" indent="-342900" algn="just" hangingPunct="0">
                  <a:lnSpc>
                    <a:spcPct val="130000"/>
                  </a:lnSpc>
                  <a:buAutoNum type="arabicPeriod"/>
                </a:pPr>
                <a:r>
                  <a:rPr lang="zh-CN" altLang="en-US" sz="2000" dirty="0"/>
                  <a:t>计算</a:t>
                </a:r>
                <a:r>
                  <a:rPr lang="en-US" altLang="zh-CN" sz="2000" dirty="0"/>
                  <a:t>Y</a:t>
                </a:r>
                <a14:m>
                  <m:oMath xmlns:m="http://schemas.openxmlformats.org/officeDocument/2006/math">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𝑑𝐺</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作为</m:t>
                    </m:r>
                    <m:r>
                      <a:rPr lang="zh-CN" altLang="en-US" sz="2000" i="1" smtClean="0">
                        <a:solidFill>
                          <a:srgbClr val="000000"/>
                        </a:solidFill>
                        <a:latin typeface="Cambria Math" panose="02040503050406030204" pitchFamily="18" charset="0"/>
                        <a:ea typeface="+mn-ea"/>
                        <a:cs typeface="Times New Roman" panose="02020503050405090304" pitchFamily="18" charset="0"/>
                      </a:rPr>
                      <m:t>公钥</m:t>
                    </m:r>
                    <m:r>
                      <a:rPr lang="zh-CN" altLang="en-US" sz="2000" b="0" i="1" smtClean="0">
                        <a:solidFill>
                          <a:srgbClr val="000000"/>
                        </a:solidFill>
                        <a:latin typeface="Cambria Math" panose="02040503050406030204" pitchFamily="18" charset="0"/>
                        <a:ea typeface="+mn-ea"/>
                        <a:cs typeface="Times New Roman" panose="02020503050405090304" pitchFamily="18" charset="0"/>
                      </a:rPr>
                      <m:t>；</m:t>
                    </m:r>
                  </m:oMath>
                </a14:m>
                <a:endParaRPr lang="en-US" altLang="zh-CN" sz="2000" b="0" dirty="0">
                  <a:solidFill>
                    <a:srgbClr val="000000"/>
                  </a:solidFill>
                  <a:ea typeface="+mn-ea"/>
                  <a:cs typeface="Times New Roman" panose="02020503050405090304" pitchFamily="18" charset="0"/>
                </a:endParaRPr>
              </a:p>
              <a:p>
                <a:pPr marL="342900" indent="-342900" algn="just" hangingPunct="0">
                  <a:lnSpc>
                    <a:spcPct val="130000"/>
                  </a:lnSpc>
                  <a:buAutoNum type="arabicPeriod"/>
                </a:pPr>
                <a:r>
                  <a:rPr lang="zh-CN" altLang="en-US" sz="2000" dirty="0"/>
                  <a:t>输出公钥</a:t>
                </a:r>
                <a:r>
                  <a:rPr lang="en-US" altLang="zh-CN" sz="2000" dirty="0"/>
                  <a:t>pk=(</a:t>
                </a:r>
                <a14:m>
                  <m:oMath xmlns:m="http://schemas.openxmlformats.org/officeDocument/2006/math">
                    <m:r>
                      <m:rPr>
                        <m:brk m:alnAt="7"/>
                      </m:rPr>
                      <a:rPr lang="en-US" altLang="zh-CN" sz="2000" i="1" smtClean="0">
                        <a:latin typeface="Cambria Math" panose="02040503050406030204" pitchFamily="18" charset="0"/>
                      </a:rPr>
                      <m:t>𝑝</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𝐺</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 , </m:t>
                    </m:r>
                    <m:r>
                      <a:rPr lang="en-US" altLang="zh-CN" sz="2000" b="0" i="1" smtClean="0">
                        <a:latin typeface="Cambria Math" panose="02040503050406030204" pitchFamily="18" charset="0"/>
                      </a:rPr>
                      <m:t>h</m:t>
                    </m:r>
                    <m:r>
                      <a:rPr lang="en-US" altLang="zh-CN" sz="2000" b="0" i="1" smtClean="0">
                        <a:latin typeface="Cambria Math" panose="02040503050406030204" pitchFamily="18" charset="0"/>
                      </a:rPr>
                      <m:t>,</m:t>
                    </m:r>
                    <m:r>
                      <a:rPr lang="en-US" altLang="zh-CN" sz="2000" b="0" i="0" smtClean="0">
                        <a:latin typeface="Cambria Math" panose="02040503050406030204" pitchFamily="18" charset="0"/>
                      </a:rPr>
                      <m:t> </m:t>
                    </m:r>
                    <m:r>
                      <m:rPr>
                        <m:sty m:val="p"/>
                        <m:brk m:alnAt="7"/>
                      </m:rPr>
                      <a:rPr lang="en-US" altLang="zh-CN" sz="2000" b="0" i="0" smtClean="0">
                        <a:latin typeface="Cambria Math" panose="02040503050406030204" pitchFamily="18" charset="0"/>
                      </a:rPr>
                      <m:t>S</m:t>
                    </m:r>
                    <m:r>
                      <m:rPr>
                        <m:sty m:val="p"/>
                      </m:rPr>
                      <a:rPr lang="en-US" altLang="zh-CN" sz="2000" b="0" i="0" smtClean="0">
                        <a:latin typeface="Cambria Math" panose="02040503050406030204" pitchFamily="18" charset="0"/>
                      </a:rPr>
                      <m:t>EED</m:t>
                    </m:r>
                    <m:r>
                      <a:rPr lang="en-US" altLang="zh-CN" sz="2000" b="0" i="0" smtClean="0">
                        <a:latin typeface="Cambria Math" panose="02040503050406030204" pitchFamily="18" charset="0"/>
                      </a:rPr>
                      <m:t>,</m:t>
                    </m:r>
                    <m:r>
                      <a:rPr lang="en-US" altLang="zh-CN" sz="2000" i="1">
                        <a:latin typeface="Cambria Math" panose="02040503050406030204" pitchFamily="18" charset="0"/>
                      </a:rPr>
                      <m:t>𝐻</m:t>
                    </m:r>
                    <m:r>
                      <a:rPr lang="en-US" altLang="zh-CN" sz="2000" i="1">
                        <a:latin typeface="Cambria Math" panose="02040503050406030204" pitchFamily="18" charset="0"/>
                      </a:rPr>
                      <m:t>,</m:t>
                    </m:r>
                    <m:r>
                      <m:rPr>
                        <m:sty m:val="p"/>
                      </m:rPr>
                      <a:rPr lang="en-US" altLang="zh-CN" sz="2000">
                        <a:latin typeface="Cambria Math" panose="02040503050406030204" pitchFamily="18" charset="0"/>
                      </a:rPr>
                      <m:t>KDF</m:t>
                    </m:r>
                    <m:r>
                      <a:rPr lang="en-US" altLang="zh-CN" sz="2000" i="1">
                        <a:latin typeface="Cambria Math" panose="02040503050406030204" pitchFamily="18" charset="0"/>
                      </a:rPr>
                      <m:t>, </m:t>
                    </m:r>
                    <m:r>
                      <m:rPr>
                        <m:sty m:val="p"/>
                      </m:rPr>
                      <a:rPr lang="en-US" altLang="zh-CN" sz="2000">
                        <a:latin typeface="Cambria Math" panose="02040503050406030204" pitchFamily="18" charset="0"/>
                      </a:rPr>
                      <m:t>RND</m:t>
                    </m:r>
                    <m:r>
                      <a:rPr lang="en-US" altLang="zh-CN" sz="2000" i="1">
                        <a:latin typeface="Cambria Math" panose="02040503050406030204" pitchFamily="18" charset="0"/>
                      </a:rPr>
                      <m:t>, </m:t>
                    </m:r>
                    <m:r>
                      <a:rPr lang="en-US" altLang="zh-CN" sz="2000" b="0" i="1" smtClean="0">
                        <a:latin typeface="Cambria Math" panose="02040503050406030204" pitchFamily="18" charset="0"/>
                      </a:rPr>
                      <m:t>𝑌</m:t>
                    </m:r>
                  </m:oMath>
                </a14:m>
                <a:r>
                  <a:rPr lang="en-US" altLang="zh-CN" sz="2000" dirty="0"/>
                  <a:t>)</a:t>
                </a:r>
                <a:r>
                  <a:rPr lang="zh-CN" altLang="en-US" sz="2000" dirty="0"/>
                  <a:t>和私钥</a:t>
                </a:r>
                <a:r>
                  <a:rPr lang="en-GB" altLang="zh-CN" sz="2000" i="1" dirty="0"/>
                  <a:t>d</a:t>
                </a:r>
                <a:r>
                  <a:rPr lang="zh-CN" altLang="en-US" sz="2000" dirty="0"/>
                  <a:t>。</a:t>
                </a:r>
                <a:r>
                  <a:rPr lang="zh-CN" altLang="zh-CN" sz="2000" dirty="0">
                    <a:effectLst/>
                  </a:rPr>
                  <a:t> </a:t>
                </a:r>
                <a:endParaRPr lang="zh-CN" altLang="zh-CN" sz="2000" dirty="0">
                  <a:effectLst/>
                  <a:latin typeface="+mj-ea"/>
                  <a:ea typeface="+mj-ea"/>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813664" y="2031961"/>
                <a:ext cx="10561624" cy="3667414"/>
              </a:xfrm>
              <a:prstGeom prst="rect">
                <a:avLst/>
              </a:prstGeom>
              <a:blipFill>
                <a:blip r:embed="rId2"/>
                <a:stretch>
                  <a:fillRect l="-960" r="-1080" b="-2069"/>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52860"/>
            <a:ext cx="4265023"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620331" y="1668463"/>
            <a:ext cx="10721581" cy="4013005"/>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8" name="TextBox 11"/>
              <p:cNvSpPr txBox="1"/>
              <p:nvPr/>
            </p:nvSpPr>
            <p:spPr>
              <a:xfrm>
                <a:off x="1066800" y="2362986"/>
                <a:ext cx="10200855" cy="3240311"/>
              </a:xfrm>
              <a:prstGeom prst="rect">
                <a:avLst/>
              </a:prstGeom>
              <a:noFill/>
            </p:spPr>
            <p:txBody>
              <a:bodyPr wrap="square" lIns="64008" tIns="32004" rIns="36576">
                <a:spAutoFit/>
              </a:bodyPr>
              <a:lstStyle/>
              <a:p>
                <a:pPr lvl="0" algn="just" hangingPunct="0">
                  <a:lnSpc>
                    <a:spcPct val="130000"/>
                  </a:lnSpc>
                </a:pPr>
                <a:r>
                  <a:rPr lang="zh-CN" altLang="zh-CN" sz="2000" dirty="0">
                    <a:solidFill>
                      <a:srgbClr val="000000"/>
                    </a:solidFill>
                    <a:effectLst/>
                    <a:latin typeface="+mn-lt"/>
                    <a:ea typeface="+mn-ea"/>
                    <a:cs typeface="Times New Roman" panose="02020503050405090304" pitchFamily="18" charset="0"/>
                  </a:rPr>
                  <a:t>输入待加密的明文为</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klen</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长度的比特串</a:t>
                </a:r>
                <a:r>
                  <a:rPr lang="en-US" altLang="zh-CN"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effectLst/>
                    <a:latin typeface="+mn-lt"/>
                    <a:ea typeface="+mn-ea"/>
                    <a:cs typeface="Times New Roman" panose="02020503050405090304" pitchFamily="18" charset="0"/>
                  </a:rPr>
                  <a:t>M</a:t>
                </a:r>
                <a:r>
                  <a:rPr lang="zh-CN" altLang="zh-CN" sz="2000" dirty="0">
                    <a:solidFill>
                      <a:srgbClr val="000000"/>
                    </a:solidFill>
                    <a:effectLst/>
                    <a:latin typeface="+mn-lt"/>
                    <a:ea typeface="+mn-ea"/>
                    <a:cs typeface="Times New Roman" panose="02020503050405090304" pitchFamily="18" charset="0"/>
                  </a:rPr>
                  <a:t>、公钥</a:t>
                </a:r>
                <a:r>
                  <a:rPr lang="zh-CN" altLang="zh-CN" sz="2000" dirty="0">
                    <a:solidFill>
                      <a:srgbClr val="000000"/>
                    </a:solidFill>
                    <a:effectLst/>
                    <a:latin typeface="+mn-lt"/>
                    <a:ea typeface="+mn-ea"/>
                    <a:cs typeface="宋体" pitchFamily="2" charset="-122"/>
                  </a:rPr>
                  <a:t> </a:t>
                </a:r>
                <a14:m>
                  <m:oMath xmlns:m="http://schemas.openxmlformats.org/officeDocument/2006/math">
                    <m:r>
                      <m:rPr>
                        <m:sty m:val="p"/>
                      </m:rPr>
                      <a:rPr lang="en-US" altLang="zh-CN" sz="2000" i="1" dirty="0">
                        <a:solidFill>
                          <a:srgbClr val="000000"/>
                        </a:solidFill>
                        <a:latin typeface="Cambria Math" panose="02040503050406030204" pitchFamily="18" charset="0"/>
                        <a:ea typeface="+mn-ea"/>
                        <a:cs typeface="宋体" pitchFamily="2" charset="-122"/>
                      </a:rPr>
                      <m:t>pk</m:t>
                    </m:r>
                  </m:oMath>
                </a14:m>
                <a:r>
                  <a:rPr lang="zh-CN" altLang="en-US"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执行如下步骤：</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用随机数生成器产生随机数</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1</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𝑛</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1</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计算椭圆曲线点</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𝑘𝐺</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，设置</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的值为点</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转化为比特串后的结果；</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计算椭圆曲线点</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h</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𝑌</m:t>
                    </m:r>
                  </m:oMath>
                </a14:m>
                <a:r>
                  <a:rPr lang="zh-CN" altLang="zh-CN" sz="2000" dirty="0">
                    <a:solidFill>
                      <a:srgbClr val="000000"/>
                    </a:solidFill>
                    <a:effectLst/>
                    <a:latin typeface="+mn-lt"/>
                    <a:ea typeface="+mn-ea"/>
                    <a:cs typeface="Times New Roman" panose="02020503050405090304" pitchFamily="18" charset="0"/>
                  </a:rPr>
                  <a:t>，若</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是无穷远点，则报错并终止算法；</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计算椭圆曲线点</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𝑌</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e>
                    </m:d>
                  </m:oMath>
                </a14:m>
                <a:r>
                  <a:rPr lang="zh-CN" altLang="zh-CN" sz="2000" dirty="0">
                    <a:solidFill>
                      <a:srgbClr val="000000"/>
                    </a:solidFill>
                    <a:effectLst/>
                    <a:latin typeface="+mn-lt"/>
                    <a:ea typeface="+mn-ea"/>
                    <a:cs typeface="Times New Roman" panose="02020503050405090304" pitchFamily="18" charset="0"/>
                  </a:rPr>
                  <a:t>，将</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e>
                    </m:d>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的数据类型转化为比特串</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latin typeface="+mn-lt"/>
                  </a:rPr>
                  <a:t>K</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KDF</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klen</m:t>
                        </m:r>
                      </m:e>
                    </m:d>
                  </m:oMath>
                </a14:m>
                <a:r>
                  <a:rPr lang="zh-CN" altLang="zh-CN" sz="2000" dirty="0">
                    <a:solidFill>
                      <a:srgbClr val="000000"/>
                    </a:solidFill>
                    <a:effectLst/>
                    <a:latin typeface="+mn-lt"/>
                    <a:ea typeface="+mn-ea"/>
                    <a:cs typeface="Times New Roman" panose="02020503050405090304" pitchFamily="18" charset="0"/>
                  </a:rPr>
                  <a:t>，若</a:t>
                </a:r>
                <a14:m>
                  <m:oMath xmlns:m="http://schemas.openxmlformats.org/officeDocument/2006/math">
                    <m:r>
                      <a:rPr lang="en-US" altLang="zh-CN" sz="2000" b="0" i="0" dirty="0" smtClean="0">
                        <a:solidFill>
                          <a:srgbClr val="000000"/>
                        </a:solidFill>
                        <a:latin typeface="Cambria Math" panose="02040503050406030204" pitchFamily="18" charset="0"/>
                      </a:rPr>
                      <m:t> </m:t>
                    </m:r>
                    <m:r>
                      <m:rPr>
                        <m:nor/>
                      </m:rPr>
                      <a:rPr lang="en-US" altLang="zh-CN" sz="2000" i="1" dirty="0">
                        <a:solidFill>
                          <a:srgbClr val="000000"/>
                        </a:solidFill>
                        <a:latin typeface="+mn-lt"/>
                      </a:rPr>
                      <m:t>K</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为全</a:t>
                </a:r>
                <a:r>
                  <a:rPr lang="en-US" altLang="zh-CN" sz="2000" dirty="0">
                    <a:solidFill>
                      <a:srgbClr val="000000"/>
                    </a:solidFill>
                    <a:effectLst/>
                    <a:latin typeface="+mn-lt"/>
                    <a:ea typeface="+mn-ea"/>
                    <a:cs typeface="宋体" pitchFamily="2" charset="-122"/>
                  </a:rPr>
                  <a:t>0</a:t>
                </a:r>
                <a:r>
                  <a:rPr lang="zh-CN" altLang="zh-CN" sz="2000" dirty="0">
                    <a:solidFill>
                      <a:srgbClr val="000000"/>
                    </a:solidFill>
                    <a:effectLst/>
                    <a:latin typeface="+mn-lt"/>
                    <a:ea typeface="+mn-ea"/>
                    <a:cs typeface="Times New Roman" panose="02020503050405090304" pitchFamily="18" charset="0"/>
                  </a:rPr>
                  <a:t>比特串，则返回第一步；</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nor/>
                      </m:rPr>
                      <a:rPr lang="en-US" altLang="zh-CN" sz="2000" i="1" dirty="0">
                        <a:solidFill>
                          <a:srgbClr val="000000"/>
                        </a:solidFill>
                        <a:latin typeface="+mn-lt"/>
                      </a:rPr>
                      <m:t>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oMath>
                </a14:m>
                <a:r>
                  <a:rPr lang="zh-CN" altLang="zh-CN" sz="2000" dirty="0">
                    <a:solidFill>
                      <a:srgbClr val="000000"/>
                    </a:solidFill>
                    <a:effectLst/>
                    <a:latin typeface="+mn-lt"/>
                    <a:ea typeface="+mn-ea"/>
                    <a:cs typeface="Times New Roman" panose="02020503050405090304" pitchFamily="18" charset="0"/>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𝐻</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d>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输出密文</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3</m:t>
                        </m:r>
                      </m:sub>
                    </m:sSub>
                  </m:oMath>
                </a14:m>
                <a:r>
                  <a:rPr lang="en-US" altLang="zh-CN" sz="2000" dirty="0">
                    <a:solidFill>
                      <a:srgbClr val="000000"/>
                    </a:solidFill>
                    <a:latin typeface="+mn-lt"/>
                    <a:cs typeface="Times New Roman" panose="02020503050405090304" pitchFamily="18" charset="0"/>
                  </a:rPr>
                  <a:t> </a:t>
                </a:r>
                <a14:m>
                  <m:oMath xmlns:m="http://schemas.openxmlformats.org/officeDocument/2006/math">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m:t>
                    </m:r>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a:solidFill>
                              <a:srgbClr val="000000"/>
                            </a:solidFill>
                            <a:latin typeface="Cambria Math" panose="02040503050406030204" pitchFamily="18" charset="0"/>
                            <a:cs typeface="Times New Roman" panose="02020503050405090304" pitchFamily="18" charset="0"/>
                          </a:rPr>
                          <m:t>2</m:t>
                        </m:r>
                      </m:sub>
                    </m:sSub>
                  </m:oMath>
                </a14:m>
                <a:r>
                  <a:rPr lang="zh-CN" altLang="zh-CN" sz="2000" kern="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1066800" y="2362986"/>
                <a:ext cx="10200855" cy="3240311"/>
              </a:xfrm>
              <a:prstGeom prst="rect">
                <a:avLst/>
              </a:prstGeom>
              <a:blipFill>
                <a:blip r:embed="rId2"/>
                <a:stretch>
                  <a:fillRect l="-995" b="-2344"/>
                </a:stretch>
              </a:blipFill>
            </p:spPr>
            <p:txBody>
              <a:bodyPr/>
              <a:lstStyle/>
              <a:p>
                <a:r>
                  <a:rPr lang="zh-CN" altLang="en-US">
                    <a:noFill/>
                  </a:rPr>
                  <a:t> </a:t>
                </a:r>
              </a:p>
            </p:txBody>
          </p:sp>
        </mc:Fallback>
      </mc:AlternateContent>
      <p:sp>
        <p:nvSpPr>
          <p:cNvPr id="2" name="TextBox 10"/>
          <p:cNvSpPr txBox="1"/>
          <p:nvPr/>
        </p:nvSpPr>
        <p:spPr>
          <a:xfrm>
            <a:off x="1066800" y="1860048"/>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Enc(</a:t>
            </a:r>
            <a:r>
              <a:rPr lang="en-GB" altLang="zh-CN" sz="2400" i="1" dirty="0">
                <a:latin typeface="+mn-lt"/>
              </a:rPr>
              <a:t>M</a:t>
            </a:r>
            <a:r>
              <a:rPr lang="en-GB" altLang="zh-CN" sz="2400" dirty="0">
                <a:latin typeface="+mn-lt"/>
              </a:rPr>
              <a:t>, pk) </a:t>
            </a:r>
            <a:r>
              <a:rPr lang="zh-CN" altLang="en-GB" sz="2400" dirty="0">
                <a:latin typeface="+mn-lt"/>
              </a:rPr>
              <a:t>算法</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p:cNvSpPr txBox="1"/>
          <p:nvPr/>
        </p:nvSpPr>
        <p:spPr>
          <a:xfrm>
            <a:off x="502920" y="852860"/>
            <a:ext cx="4265023" cy="461665"/>
          </a:xfrm>
          <a:prstGeom prst="rect">
            <a:avLst/>
          </a:prstGeom>
          <a:noFill/>
        </p:spPr>
        <p:txBody>
          <a:bodyPr wrap="square">
            <a:spAutoFit/>
          </a:bodyPr>
          <a:lstStyle/>
          <a:p>
            <a:r>
              <a:rPr lang="en-US" altLang="zh-CN" sz="2400" b="1" dirty="0">
                <a:solidFill>
                  <a:srgbClr val="C00000"/>
                </a:solidFill>
              </a:rPr>
              <a:t>SM2</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p:cNvSpPr/>
          <p:nvPr/>
        </p:nvSpPr>
        <p:spPr>
          <a:xfrm>
            <a:off x="595947" y="1668463"/>
            <a:ext cx="10721581" cy="4211709"/>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0"/>
          <p:cNvSpPr txBox="1"/>
          <p:nvPr/>
        </p:nvSpPr>
        <p:spPr>
          <a:xfrm>
            <a:off x="755904" y="1746363"/>
            <a:ext cx="2825496" cy="386260"/>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endParaRPr dirty="0"/>
          </a:p>
        </p:txBody>
      </p:sp>
      <mc:AlternateContent xmlns:mc="http://schemas.openxmlformats.org/markup-compatibility/2006" xmlns:a14="http://schemas.microsoft.com/office/drawing/2010/main">
        <mc:Choice Requires="a14">
          <p:sp>
            <p:nvSpPr>
              <p:cNvPr id="18" name="TextBox 11"/>
              <p:cNvSpPr txBox="1"/>
              <p:nvPr/>
            </p:nvSpPr>
            <p:spPr>
              <a:xfrm>
                <a:off x="874472" y="2177377"/>
                <a:ext cx="10200855" cy="4040530"/>
              </a:xfrm>
              <a:prstGeom prst="rect">
                <a:avLst/>
              </a:prstGeom>
              <a:noFill/>
            </p:spPr>
            <p:txBody>
              <a:bodyPr wrap="square" lIns="64008" tIns="32004" rIns="36576">
                <a:spAutoFit/>
              </a:bodyPr>
              <a:lstStyle/>
              <a:p>
                <a:pPr lvl="0" algn="just" hangingPunct="0">
                  <a:lnSpc>
                    <a:spcPct val="130000"/>
                  </a:lnSpc>
                </a:pPr>
                <a:r>
                  <a:rPr lang="zh-CN" altLang="zh-CN" sz="2000" dirty="0">
                    <a:solidFill>
                      <a:srgbClr val="000000"/>
                    </a:solidFill>
                    <a:effectLst/>
                    <a:latin typeface="+mn-lt"/>
                    <a:ea typeface="+mn-ea"/>
                    <a:cs typeface="Times New Roman" panose="02020503050405090304" pitchFamily="18" charset="0"/>
                  </a:rPr>
                  <a:t>输入密文</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3</m:t>
                            </m:r>
                          </m:sub>
                        </m:sSub>
                      </m:e>
                    </m:d>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lt"/>
                    <a:ea typeface="+mn-ea"/>
                    <a:cs typeface="Times New Roman" panose="02020503050405090304" pitchFamily="18" charset="0"/>
                  </a:rPr>
                  <a:t>，私钥</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𝑑</m:t>
                    </m:r>
                  </m:oMath>
                </a14:m>
                <a:r>
                  <a:rPr lang="zh-CN" altLang="zh-CN" sz="2000" dirty="0">
                    <a:solidFill>
                      <a:srgbClr val="000000"/>
                    </a:solidFill>
                    <a:effectLst/>
                    <a:latin typeface="+mn-lt"/>
                    <a:ea typeface="+mn-ea"/>
                    <a:cs typeface="Times New Roman" panose="02020503050405090304" pitchFamily="18" charset="0"/>
                  </a:rPr>
                  <a:t>，执行如下步骤：</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从</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中取出比特串</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zh-CN" altLang="zh-CN" sz="2000" dirty="0">
                    <a:solidFill>
                      <a:srgbClr val="000000"/>
                    </a:solidFill>
                    <a:effectLst/>
                    <a:latin typeface="+mn-lt"/>
                    <a:ea typeface="+mn-ea"/>
                    <a:cs typeface="Times New Roman" panose="02020503050405090304" pitchFamily="18" charset="0"/>
                  </a:rPr>
                  <a:t>，设置</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的值为比特串</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转化为椭圆曲线上点后的结果，验证</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是否满足椭圆曲线方程，若不满足则报错终止算法；</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计算椭圆曲线点</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h</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oMath>
                </a14:m>
                <a:r>
                  <a:rPr lang="zh-CN" altLang="zh-CN" sz="2000" dirty="0">
                    <a:solidFill>
                      <a:srgbClr val="000000"/>
                    </a:solidFill>
                    <a:effectLst/>
                    <a:latin typeface="+mn-lt"/>
                    <a:ea typeface="+mn-ea"/>
                    <a:cs typeface="Times New Roman" panose="02020503050405090304" pitchFamily="18" charset="0"/>
                  </a:rPr>
                  <a:t>，若</a:t>
                </a:r>
                <a14:m>
                  <m:oMath xmlns:m="http://schemas.openxmlformats.org/officeDocument/2006/math">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𝑆</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是无穷远点，则报错并终止算法；</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a:t>
                </a:r>
                <a14:m>
                  <m:oMath xmlns:m="http://schemas.openxmlformats.org/officeDocument/2006/math">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𝑑</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e>
                    </m:d>
                  </m:oMath>
                </a14:m>
                <a:r>
                  <a:rPr lang="zh-CN" altLang="zh-CN" sz="2000" dirty="0">
                    <a:solidFill>
                      <a:srgbClr val="000000"/>
                    </a:solidFill>
                    <a:effectLst/>
                    <a:latin typeface="+mn-lt"/>
                    <a:ea typeface="+mn-ea"/>
                    <a:cs typeface="Times New Roman" panose="02020503050405090304" pitchFamily="18" charset="0"/>
                  </a:rPr>
                  <a:t>，将坐标</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lt"/>
                    <a:ea typeface="+mn-ea"/>
                    <a:cs typeface="Times New Roman" panose="02020503050405090304" pitchFamily="18" charset="0"/>
                  </a:rPr>
                  <a:t>的数据类型转换为比特串</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nor/>
                      </m:rPr>
                      <a:rPr lang="en-US" altLang="zh-CN" sz="2000" i="1" dirty="0">
                        <a:solidFill>
                          <a:srgbClr val="000000"/>
                        </a:solidFill>
                        <a:latin typeface="+mn-lt"/>
                      </a:rPr>
                      <m:t>K</m:t>
                    </m:r>
                    <m:r>
                      <a:rPr lang="en-US" altLang="zh-CN" sz="2000" i="1" dirty="0">
                        <a:solidFill>
                          <a:srgbClr val="000000"/>
                        </a:solidFill>
                        <a:latin typeface="Cambria Math" panose="02040503050406030204" pitchFamily="18" charset="0"/>
                      </a:rPr>
                      <m:t> </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KDF</m:t>
                    </m:r>
                    <m:d>
                      <m:dPr>
                        <m:ctrlPr>
                          <a:rPr lang="zh-CN" altLang="zh-CN" sz="2000" i="1" smtClean="0">
                            <a:solidFill>
                              <a:srgbClr val="000000"/>
                            </a:solidFill>
                            <a:effectLst/>
                            <a:latin typeface="Cambria Math" panose="02040503050406030204" pitchFamily="18" charset="0"/>
                            <a:ea typeface="+mn-ea"/>
                            <a:cs typeface="Times New Roman" panose="02020503050405090304" pitchFamily="18" charset="0"/>
                          </a:rPr>
                        </m:ctrlPr>
                      </m:dPr>
                      <m:e>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klen</m:t>
                        </m:r>
                      </m:e>
                    </m:d>
                  </m:oMath>
                </a14:m>
                <a:r>
                  <a:rPr lang="zh-CN" altLang="zh-CN" sz="2000" dirty="0">
                    <a:solidFill>
                      <a:srgbClr val="000000"/>
                    </a:solidFill>
                    <a:effectLst/>
                    <a:latin typeface="+mn-lt"/>
                    <a:ea typeface="+mn-ea"/>
                    <a:cs typeface="Times New Roman" panose="02020503050405090304" pitchFamily="18" charset="0"/>
                  </a:rPr>
                  <a:t>，若</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nor/>
                      </m:rPr>
                      <a:rPr lang="en-US" altLang="zh-CN" sz="2000" i="1" dirty="0">
                        <a:solidFill>
                          <a:srgbClr val="000000"/>
                        </a:solidFill>
                        <a:latin typeface="+mn-lt"/>
                      </a:rPr>
                      <m:t>K</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为全</a:t>
                </a:r>
                <a:r>
                  <a:rPr lang="en-US" altLang="zh-CN" sz="2000" dirty="0">
                    <a:solidFill>
                      <a:srgbClr val="000000"/>
                    </a:solidFill>
                    <a:effectLst/>
                    <a:latin typeface="+mn-lt"/>
                    <a:ea typeface="+mn-ea"/>
                    <a:cs typeface="Times New Roman" panose="02020503050405090304" pitchFamily="18" charset="0"/>
                  </a:rPr>
                  <a:t> </a:t>
                </a:r>
                <a:r>
                  <a:rPr lang="en-US" altLang="zh-CN" sz="2000" dirty="0">
                    <a:solidFill>
                      <a:srgbClr val="000000"/>
                    </a:solidFill>
                    <a:effectLst/>
                    <a:latin typeface="+mn-lt"/>
                    <a:ea typeface="+mn-ea"/>
                    <a:cs typeface="宋体" pitchFamily="2" charset="-122"/>
                  </a:rPr>
                  <a:t>0 </a:t>
                </a:r>
                <a:r>
                  <a:rPr lang="zh-CN" altLang="zh-CN" sz="2000" dirty="0">
                    <a:solidFill>
                      <a:srgbClr val="000000"/>
                    </a:solidFill>
                    <a:effectLst/>
                    <a:latin typeface="+mn-lt"/>
                    <a:ea typeface="+mn-ea"/>
                    <a:cs typeface="Times New Roman" panose="02020503050405090304" pitchFamily="18" charset="0"/>
                  </a:rPr>
                  <a:t>比特串，则报错并终止算法；</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从</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中取出比特串</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oMath>
                </a14:m>
                <a:r>
                  <a:rPr lang="zh-CN" altLang="zh-CN" sz="2000" dirty="0">
                    <a:solidFill>
                      <a:srgbClr val="000000"/>
                    </a:solidFill>
                    <a:effectLst/>
                    <a:latin typeface="+mn-lt"/>
                    <a:ea typeface="+mn-ea"/>
                    <a:cs typeface="Times New Roman" panose="02020503050405090304" pitchFamily="18" charset="0"/>
                  </a:rPr>
                  <a:t>，计算</a:t>
                </a:r>
                <a14:m>
                  <m:oMath xmlns:m="http://schemas.openxmlformats.org/officeDocument/2006/math">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nor/>
                      </m:rPr>
                      <a:rPr lang="en-US" altLang="zh-CN" sz="2000" i="1" dirty="0">
                        <a:solidFill>
                          <a:srgbClr val="000000"/>
                        </a:solidFill>
                        <a:latin typeface="+mn-lt"/>
                      </a:rPr>
                      <m:t>K</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𝑢</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𝐻</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𝑥</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d>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𝑦</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2</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，从</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中取出比特串</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3</m:t>
                        </m:r>
                      </m:sub>
                    </m:sSub>
                  </m:oMath>
                </a14:m>
                <a:r>
                  <a:rPr lang="zh-CN" altLang="zh-CN" sz="2000" dirty="0">
                    <a:solidFill>
                      <a:srgbClr val="000000"/>
                    </a:solidFill>
                    <a:effectLst/>
                    <a:latin typeface="+mn-lt"/>
                    <a:ea typeface="+mn-ea"/>
                    <a:cs typeface="Times New Roman" panose="02020503050405090304" pitchFamily="18" charset="0"/>
                  </a:rPr>
                  <a:t>，若</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𝑢</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2000">
                            <a:solidFill>
                              <a:srgbClr val="000000"/>
                            </a:solidFill>
                            <a:effectLst/>
                            <a:latin typeface="Cambria Math" panose="02040503050406030204" pitchFamily="18" charset="0"/>
                            <a:ea typeface="+mn-ea"/>
                            <a:cs typeface="Times New Roman" panose="02020503050405090304" pitchFamily="18" charset="0"/>
                          </a:rPr>
                          <m:t>3</m:t>
                        </m:r>
                      </m:sub>
                    </m:sSub>
                  </m:oMath>
                </a14:m>
                <a:r>
                  <a:rPr lang="zh-CN" altLang="zh-CN" sz="2000" dirty="0">
                    <a:solidFill>
                      <a:srgbClr val="000000"/>
                    </a:solidFill>
                    <a:effectLst/>
                    <a:latin typeface="+mn-lt"/>
                    <a:ea typeface="+mn-ea"/>
                    <a:cs typeface="Times New Roman" panose="02020503050405090304" pitchFamily="18" charset="0"/>
                  </a:rPr>
                  <a:t>，则报错并终止算法</a:t>
                </a:r>
                <a:r>
                  <a:rPr lang="en-US"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marL="342900" lvl="0" indent="-342900" algn="just" hangingPunct="0">
                  <a:lnSpc>
                    <a:spcPct val="130000"/>
                  </a:lnSpc>
                  <a:buFont typeface="+mj-lt"/>
                  <a:buAutoNum type="arabicPeriod"/>
                </a:pPr>
                <a:r>
                  <a:rPr lang="zh-CN" altLang="zh-CN" sz="2000" dirty="0">
                    <a:solidFill>
                      <a:srgbClr val="000000"/>
                    </a:solidFill>
                    <a:effectLst/>
                    <a:latin typeface="+mn-lt"/>
                    <a:ea typeface="+mn-ea"/>
                    <a:cs typeface="Times New Roman" panose="02020503050405090304" pitchFamily="18" charset="0"/>
                  </a:rPr>
                  <a:t>输出明文</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宋体" pitchFamily="2" charset="-122"/>
                </a:endParaRPr>
              </a:p>
              <a:p>
                <a:pPr lvl="0" algn="just" hangingPunct="0">
                  <a:lnSpc>
                    <a:spcPct val="130000"/>
                  </a:lnSpc>
                </a:pPr>
                <a:endParaRPr lang="zh-CN" altLang="zh-CN" sz="2000" dirty="0">
                  <a:effectLst/>
                  <a:latin typeface="+mn-lt"/>
                  <a:ea typeface="+mn-ea"/>
                  <a:cs typeface="宋体" pitchFamily="2" charset="-122"/>
                </a:endParaRPr>
              </a:p>
            </p:txBody>
          </p:sp>
        </mc:Choice>
        <mc:Fallback xmlns="">
          <p:sp>
            <p:nvSpPr>
              <p:cNvPr id="18" name="TextBox 11"/>
              <p:cNvSpPr txBox="1">
                <a:spLocks noRot="1" noChangeAspect="1" noMove="1" noResize="1" noEditPoints="1" noAdjustHandles="1" noChangeArrowheads="1" noChangeShapeType="1" noTextEdit="1"/>
              </p:cNvSpPr>
              <p:nvPr/>
            </p:nvSpPr>
            <p:spPr>
              <a:xfrm>
                <a:off x="874472" y="2177377"/>
                <a:ext cx="10200855" cy="4040530"/>
              </a:xfrm>
              <a:prstGeom prst="rect">
                <a:avLst/>
              </a:prstGeom>
              <a:blipFill>
                <a:blip r:embed="rId2"/>
                <a:stretch>
                  <a:fillRect l="-870" r="-1118"/>
                </a:stretch>
              </a:blipFill>
            </p:spPr>
            <p:txBody>
              <a:bodyPr/>
              <a:lstStyle/>
              <a:p>
                <a:r>
                  <a:rPr lang="zh-CN" altLang="en-US">
                    <a:noFill/>
                  </a:rPr>
                  <a:t> </a:t>
                </a:r>
              </a:p>
            </p:txBody>
          </p:sp>
        </mc:Fallback>
      </mc:AlternateContent>
      <p:sp>
        <p:nvSpPr>
          <p:cNvPr id="2" name="TextBox 10"/>
          <p:cNvSpPr txBox="1"/>
          <p:nvPr/>
        </p:nvSpPr>
        <p:spPr>
          <a:xfrm>
            <a:off x="874472" y="1729562"/>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Dec(</a:t>
            </a:r>
            <a:r>
              <a:rPr lang="en-GB" altLang="zh-CN" sz="2400" i="1" dirty="0">
                <a:latin typeface="+mn-lt"/>
              </a:rPr>
              <a:t>C</a:t>
            </a:r>
            <a:r>
              <a:rPr lang="en-GB" altLang="zh-CN" sz="2400" dirty="0">
                <a:latin typeface="+mn-lt"/>
              </a:rPr>
              <a:t>, </a:t>
            </a:r>
            <a:r>
              <a:rPr lang="en-GB" altLang="zh-CN" sz="2400" dirty="0" err="1">
                <a:latin typeface="+mn-lt"/>
              </a:rPr>
              <a:t>sk</a:t>
            </a:r>
            <a:r>
              <a:rPr lang="en-GB" altLang="zh-CN" sz="2400" dirty="0">
                <a:latin typeface="+mn-lt"/>
              </a:rPr>
              <a:t>) </a:t>
            </a:r>
            <a:r>
              <a:rPr lang="zh-CN" altLang="en-GB" sz="2400" dirty="0">
                <a:latin typeface="+mn-lt"/>
              </a:rPr>
              <a:t>算法</a:t>
            </a:r>
            <a:endParaRPr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TextBox 7"/>
          <p:cNvSpPr txBox="1"/>
          <p:nvPr/>
        </p:nvSpPr>
        <p:spPr>
          <a:xfrm>
            <a:off x="502920" y="832104"/>
            <a:ext cx="11155680" cy="447815"/>
          </a:xfrm>
          <a:prstGeom prst="rect">
            <a:avLst/>
          </a:prstGeom>
          <a:noFill/>
        </p:spPr>
        <p:txBody>
          <a:bodyPr wrap="square" lIns="64008" tIns="32004" rIns="36576">
            <a:spAutoFit/>
          </a:bodyPr>
          <a:lstStyle/>
          <a:p>
            <a:pPr>
              <a:spcAft>
                <a:spcPts val="500"/>
              </a:spcAft>
              <a:defRPr sz="2200" b="1">
                <a:solidFill>
                  <a:srgbClr val="333333"/>
                </a:solidFill>
                <a:latin typeface="微软雅黑"/>
              </a:defRPr>
            </a:pPr>
            <a:r>
              <a:rPr sz="2400" dirty="0" err="1">
                <a:solidFill>
                  <a:srgbClr val="C00000"/>
                </a:solidFill>
                <a:latin typeface="+mn-lt"/>
              </a:rPr>
              <a:t>课堂总结｜RSA、ElGamal</a:t>
            </a:r>
            <a:r>
              <a:rPr sz="2400" dirty="0">
                <a:solidFill>
                  <a:srgbClr val="C00000"/>
                </a:solidFill>
                <a:latin typeface="+mn-lt"/>
              </a:rPr>
              <a:t> </a:t>
            </a:r>
            <a:r>
              <a:rPr sz="2400" dirty="0" err="1">
                <a:solidFill>
                  <a:srgbClr val="C00000"/>
                </a:solidFill>
                <a:latin typeface="+mn-lt"/>
              </a:rPr>
              <a:t>与</a:t>
            </a:r>
            <a:r>
              <a:rPr sz="2400" dirty="0">
                <a:solidFill>
                  <a:srgbClr val="C00000"/>
                </a:solidFill>
                <a:latin typeface="+mn-lt"/>
              </a:rPr>
              <a:t> SM2 </a:t>
            </a:r>
            <a:r>
              <a:rPr sz="2400" dirty="0" err="1">
                <a:solidFill>
                  <a:srgbClr val="C00000"/>
                </a:solidFill>
                <a:latin typeface="+mn-lt"/>
              </a:rPr>
              <a:t>对比</a:t>
            </a:r>
            <a:endParaRPr sz="2400" dirty="0">
              <a:solidFill>
                <a:srgbClr val="C00000"/>
              </a:solidFill>
              <a:latin typeface="+mn-lt"/>
            </a:endParaRPr>
          </a:p>
        </p:txBody>
      </p:sp>
      <p:graphicFrame>
        <p:nvGraphicFramePr>
          <p:cNvPr id="4" name="Table 9"/>
          <p:cNvGraphicFramePr>
            <a:graphicFrameLocks noGrp="1"/>
          </p:cNvGraphicFramePr>
          <p:nvPr>
            <p:extLst>
              <p:ext uri="{D42A27DB-BD31-4B8C-83A1-F6EECF244321}">
                <p14:modId xmlns:p14="http://schemas.microsoft.com/office/powerpoint/2010/main" val="2479734223"/>
              </p:ext>
            </p:extLst>
          </p:nvPr>
        </p:nvGraphicFramePr>
        <p:xfrm>
          <a:off x="658368" y="1517904"/>
          <a:ext cx="10881360" cy="3447288"/>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852928">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74548">
                <a:tc>
                  <a:txBody>
                    <a:bodyPr/>
                    <a:lstStyle/>
                    <a:p>
                      <a:pPr>
                        <a:defRPr sz="1700" b="1">
                          <a:solidFill>
                            <a:srgbClr val="FFFFFF"/>
                          </a:solidFill>
                          <a:latin typeface="微软雅黑"/>
                        </a:defRPr>
                      </a:pPr>
                      <a:r>
                        <a:rPr sz="2000" dirty="0" err="1">
                          <a:latin typeface="+mn-lt"/>
                        </a:rPr>
                        <a:t>比较维度</a:t>
                      </a:r>
                      <a:endParaRPr sz="2000" dirty="0">
                        <a:latin typeface="+mn-lt"/>
                      </a:endParaRPr>
                    </a:p>
                  </a:txBody>
                  <a:tcPr>
                    <a:solidFill>
                      <a:srgbClr val="C00000"/>
                    </a:solidFill>
                  </a:tcPr>
                </a:tc>
                <a:tc>
                  <a:txBody>
                    <a:bodyPr/>
                    <a:lstStyle/>
                    <a:p>
                      <a:pPr>
                        <a:defRPr sz="1700" b="1">
                          <a:solidFill>
                            <a:srgbClr val="FFFFFF"/>
                          </a:solidFill>
                          <a:latin typeface="微软雅黑"/>
                        </a:defRPr>
                      </a:pPr>
                      <a:r>
                        <a:rPr sz="2000">
                          <a:latin typeface="+mn-lt"/>
                        </a:rPr>
                        <a:t>RSA（原始）</a:t>
                      </a:r>
                    </a:p>
                  </a:txBody>
                  <a:tcPr>
                    <a:solidFill>
                      <a:srgbClr val="C00000"/>
                    </a:solidFill>
                  </a:tcPr>
                </a:tc>
                <a:tc>
                  <a:txBody>
                    <a:bodyPr/>
                    <a:lstStyle/>
                    <a:p>
                      <a:pPr>
                        <a:defRPr sz="1700" b="1">
                          <a:solidFill>
                            <a:srgbClr val="FFFFFF"/>
                          </a:solidFill>
                          <a:latin typeface="微软雅黑"/>
                        </a:defRPr>
                      </a:pPr>
                      <a:r>
                        <a:rPr sz="2000">
                          <a:latin typeface="+mn-lt"/>
                        </a:rPr>
                        <a:t>ElGamal</a:t>
                      </a:r>
                    </a:p>
                  </a:txBody>
                  <a:tcPr>
                    <a:solidFill>
                      <a:srgbClr val="C00000"/>
                    </a:solidFill>
                  </a:tcPr>
                </a:tc>
                <a:tc>
                  <a:txBody>
                    <a:bodyPr/>
                    <a:lstStyle/>
                    <a:p>
                      <a:pPr>
                        <a:defRPr sz="1700" b="1">
                          <a:solidFill>
                            <a:srgbClr val="FFFFFF"/>
                          </a:solidFill>
                          <a:latin typeface="微软雅黑"/>
                        </a:defRPr>
                      </a:pPr>
                      <a:r>
                        <a:rPr sz="2000">
                          <a:latin typeface="+mn-lt"/>
                        </a:rPr>
                        <a:t>SM2</a:t>
                      </a:r>
                    </a:p>
                  </a:txBody>
                  <a:tcPr>
                    <a:solidFill>
                      <a:srgbClr val="C00000"/>
                    </a:solidFill>
                  </a:tcPr>
                </a:tc>
                <a:extLst>
                  <a:ext uri="{0D108BD9-81ED-4DB2-BD59-A6C34878D82A}">
                    <a16:rowId xmlns:a16="http://schemas.microsoft.com/office/drawing/2014/main" val="10000"/>
                  </a:ext>
                </a:extLst>
              </a:tr>
              <a:tr h="574548">
                <a:tc>
                  <a:txBody>
                    <a:bodyPr/>
                    <a:lstStyle/>
                    <a:p>
                      <a:pPr>
                        <a:defRPr sz="1600" b="0">
                          <a:solidFill>
                            <a:srgbClr val="333333"/>
                          </a:solidFill>
                          <a:latin typeface="微软雅黑"/>
                        </a:defRPr>
                      </a:pPr>
                      <a:r>
                        <a:rPr sz="2000">
                          <a:latin typeface="+mn-lt"/>
                        </a:rPr>
                        <a:t>核心运算</a:t>
                      </a:r>
                    </a:p>
                  </a:txBody>
                  <a:tcPr>
                    <a:solidFill>
                      <a:srgbClr val="F7F7F7"/>
                    </a:solidFill>
                  </a:tcPr>
                </a:tc>
                <a:tc>
                  <a:txBody>
                    <a:bodyPr/>
                    <a:lstStyle/>
                    <a:p>
                      <a:pPr>
                        <a:defRPr sz="1600" b="0">
                          <a:solidFill>
                            <a:srgbClr val="333333"/>
                          </a:solidFill>
                          <a:latin typeface="微软雅黑"/>
                        </a:defRPr>
                      </a:pPr>
                      <a:r>
                        <a:rPr sz="2000">
                          <a:latin typeface="+mn-lt"/>
                        </a:rPr>
                        <a:t>整数模幂</a:t>
                      </a:r>
                    </a:p>
                  </a:txBody>
                  <a:tcPr>
                    <a:solidFill>
                      <a:srgbClr val="F7F7F7"/>
                    </a:solidFill>
                  </a:tcPr>
                </a:tc>
                <a:tc>
                  <a:txBody>
                    <a:bodyPr/>
                    <a:lstStyle/>
                    <a:p>
                      <a:pPr>
                        <a:defRPr sz="1600" b="0">
                          <a:solidFill>
                            <a:srgbClr val="333333"/>
                          </a:solidFill>
                          <a:latin typeface="微软雅黑"/>
                        </a:defRPr>
                      </a:pPr>
                      <a:r>
                        <a:rPr sz="2000">
                          <a:latin typeface="+mn-lt"/>
                        </a:rPr>
                        <a:t>群上的指数运算</a:t>
                      </a:r>
                    </a:p>
                  </a:txBody>
                  <a:tcPr>
                    <a:solidFill>
                      <a:srgbClr val="F7F7F7"/>
                    </a:solidFill>
                  </a:tcPr>
                </a:tc>
                <a:tc>
                  <a:txBody>
                    <a:bodyPr/>
                    <a:lstStyle/>
                    <a:p>
                      <a:pPr>
                        <a:defRPr sz="1600" b="0">
                          <a:solidFill>
                            <a:srgbClr val="333333"/>
                          </a:solidFill>
                          <a:latin typeface="微软雅黑"/>
                        </a:defRPr>
                      </a:pPr>
                      <a:r>
                        <a:rPr sz="2000" dirty="0" err="1">
                          <a:latin typeface="+mn-lt"/>
                        </a:rPr>
                        <a:t>椭圆曲线点乘</a:t>
                      </a:r>
                      <a:endParaRPr sz="2000" dirty="0">
                        <a:latin typeface="+mn-lt"/>
                      </a:endParaRPr>
                    </a:p>
                  </a:txBody>
                  <a:tcPr>
                    <a:solidFill>
                      <a:srgbClr val="F7F7F7"/>
                    </a:solidFill>
                  </a:tcPr>
                </a:tc>
                <a:extLst>
                  <a:ext uri="{0D108BD9-81ED-4DB2-BD59-A6C34878D82A}">
                    <a16:rowId xmlns:a16="http://schemas.microsoft.com/office/drawing/2014/main" val="10001"/>
                  </a:ext>
                </a:extLst>
              </a:tr>
              <a:tr h="574548">
                <a:tc>
                  <a:txBody>
                    <a:bodyPr/>
                    <a:lstStyle/>
                    <a:p>
                      <a:pPr>
                        <a:defRPr sz="1600" b="0">
                          <a:solidFill>
                            <a:srgbClr val="333333"/>
                          </a:solidFill>
                          <a:latin typeface="微软雅黑"/>
                        </a:defRPr>
                      </a:pPr>
                      <a:r>
                        <a:rPr lang="zh-CN" altLang="en-US" sz="2000" dirty="0">
                          <a:latin typeface="+mn-lt"/>
                        </a:rPr>
                        <a:t>公私钥</a:t>
                      </a:r>
                      <a:endParaRPr sz="2000" dirty="0">
                        <a:latin typeface="+mn-lt"/>
                      </a:endParaRPr>
                    </a:p>
                  </a:txBody>
                  <a:tcPr>
                    <a:solidFill>
                      <a:srgbClr val="FFFFFF"/>
                    </a:solidFill>
                  </a:tcPr>
                </a:tc>
                <a:tc>
                  <a:txBody>
                    <a:bodyPr/>
                    <a:lstStyle/>
                    <a:p>
                      <a:pPr>
                        <a:defRPr sz="1600" b="0">
                          <a:solidFill>
                            <a:srgbClr val="333333"/>
                          </a:solidFill>
                          <a:latin typeface="微软雅黑"/>
                        </a:defRPr>
                      </a:pPr>
                      <a:r>
                        <a:rPr sz="2000" dirty="0">
                          <a:latin typeface="+mn-lt"/>
                        </a:rPr>
                        <a:t>(</a:t>
                      </a:r>
                      <a:r>
                        <a:rPr sz="2000" i="1" dirty="0">
                          <a:latin typeface="+mn-lt"/>
                        </a:rPr>
                        <a:t>N</a:t>
                      </a:r>
                      <a:r>
                        <a:rPr sz="2000" dirty="0">
                          <a:latin typeface="+mn-lt"/>
                        </a:rPr>
                        <a:t>,</a:t>
                      </a:r>
                      <a:r>
                        <a:rPr lang="zh-CN" altLang="en-US" sz="2000" dirty="0">
                          <a:latin typeface="+mn-lt"/>
                        </a:rPr>
                        <a:t> </a:t>
                      </a:r>
                      <a:r>
                        <a:rPr sz="2000" i="1" dirty="0">
                          <a:latin typeface="+mn-lt"/>
                        </a:rPr>
                        <a:t>e</a:t>
                      </a:r>
                      <a:r>
                        <a:rPr sz="2000" dirty="0">
                          <a:latin typeface="+mn-lt"/>
                        </a:rPr>
                        <a:t>) / </a:t>
                      </a:r>
                      <a:r>
                        <a:rPr sz="2000" i="1" dirty="0">
                          <a:latin typeface="+mn-lt"/>
                        </a:rPr>
                        <a:t>d</a:t>
                      </a:r>
                    </a:p>
                  </a:txBody>
                  <a:tcPr>
                    <a:solidFill>
                      <a:srgbClr val="FFFFFF"/>
                    </a:solidFill>
                  </a:tcPr>
                </a:tc>
                <a:tc>
                  <a:txBody>
                    <a:bodyPr/>
                    <a:lstStyle/>
                    <a:p>
                      <a:pPr>
                        <a:defRPr sz="1600" b="0">
                          <a:solidFill>
                            <a:srgbClr val="333333"/>
                          </a:solidFill>
                          <a:latin typeface="微软雅黑"/>
                        </a:defRPr>
                      </a:pPr>
                      <a:r>
                        <a:rPr sz="2000" dirty="0">
                          <a:latin typeface="+mn-lt"/>
                        </a:rPr>
                        <a:t>(</a:t>
                      </a:r>
                      <a:r>
                        <a:rPr sz="2000" i="1" dirty="0">
                          <a:latin typeface="+mn-lt"/>
                        </a:rPr>
                        <a:t>p</a:t>
                      </a:r>
                      <a:r>
                        <a:rPr sz="2000" dirty="0">
                          <a:latin typeface="+mn-lt"/>
                        </a:rPr>
                        <a:t>,</a:t>
                      </a:r>
                      <a:r>
                        <a:rPr lang="zh-CN" altLang="en-US" sz="2000" dirty="0">
                          <a:latin typeface="+mn-lt"/>
                        </a:rPr>
                        <a:t> </a:t>
                      </a:r>
                      <a:r>
                        <a:rPr sz="2000" i="1" dirty="0">
                          <a:latin typeface="+mn-lt"/>
                        </a:rPr>
                        <a:t>g</a:t>
                      </a:r>
                      <a:r>
                        <a:rPr sz="2000" dirty="0">
                          <a:latin typeface="+mn-lt"/>
                        </a:rPr>
                        <a:t>,</a:t>
                      </a:r>
                      <a:r>
                        <a:rPr lang="zh-CN" altLang="en-US" sz="2000" dirty="0">
                          <a:latin typeface="+mn-lt"/>
                        </a:rPr>
                        <a:t> </a:t>
                      </a:r>
                      <a:r>
                        <a:rPr sz="2000" i="1" dirty="0">
                          <a:latin typeface="+mn-lt"/>
                        </a:rPr>
                        <a:t>Y</a:t>
                      </a:r>
                      <a:r>
                        <a:rPr sz="2000" dirty="0">
                          <a:latin typeface="+mn-lt"/>
                        </a:rPr>
                        <a:t>) / </a:t>
                      </a:r>
                      <a:r>
                        <a:rPr sz="2000" i="1" dirty="0">
                          <a:latin typeface="+mn-lt"/>
                        </a:rPr>
                        <a:t>x</a:t>
                      </a:r>
                    </a:p>
                  </a:txBody>
                  <a:tcPr>
                    <a:solidFill>
                      <a:srgbClr val="FFFFFF"/>
                    </a:solidFill>
                  </a:tcPr>
                </a:tc>
                <a:tc>
                  <a:txBody>
                    <a:bodyPr/>
                    <a:lstStyle/>
                    <a:p>
                      <a:pPr>
                        <a:defRPr sz="1600" b="0">
                          <a:solidFill>
                            <a:srgbClr val="333333"/>
                          </a:solidFill>
                          <a:latin typeface="微软雅黑"/>
                        </a:defRPr>
                      </a:pPr>
                      <a:r>
                        <a:rPr sz="2000" dirty="0">
                          <a:latin typeface="+mn-lt"/>
                        </a:rPr>
                        <a:t>Y</a:t>
                      </a:r>
                      <a:r>
                        <a:rPr lang="zh-CN" altLang="en-US" sz="2000" dirty="0">
                          <a:latin typeface="+mn-lt"/>
                        </a:rPr>
                        <a:t> </a:t>
                      </a:r>
                      <a:r>
                        <a:rPr sz="2000" dirty="0">
                          <a:latin typeface="+mn-lt"/>
                        </a:rPr>
                        <a:t>=</a:t>
                      </a:r>
                      <a:r>
                        <a:rPr lang="zh-CN" altLang="en-US" sz="2000" dirty="0">
                          <a:latin typeface="+mn-lt"/>
                        </a:rPr>
                        <a:t> </a:t>
                      </a:r>
                      <a:r>
                        <a:rPr sz="2000" i="1" dirty="0" err="1">
                          <a:latin typeface="+mn-lt"/>
                        </a:rPr>
                        <a:t>dG</a:t>
                      </a:r>
                      <a:r>
                        <a:rPr sz="2000" dirty="0">
                          <a:latin typeface="+mn-lt"/>
                        </a:rPr>
                        <a:t> /</a:t>
                      </a:r>
                      <a:r>
                        <a:rPr lang="zh-CN" altLang="en-US" sz="2000" dirty="0">
                          <a:latin typeface="+mn-lt"/>
                        </a:rPr>
                        <a:t> </a:t>
                      </a:r>
                      <a:r>
                        <a:rPr lang="en-GB" sz="2000" i="1" dirty="0">
                          <a:latin typeface="+mn-lt"/>
                        </a:rPr>
                        <a:t>d</a:t>
                      </a:r>
                      <a:endParaRPr sz="2000" i="1" dirty="0">
                        <a:latin typeface="+mn-lt"/>
                      </a:endParaRPr>
                    </a:p>
                  </a:txBody>
                  <a:tcPr>
                    <a:solidFill>
                      <a:srgbClr val="FFFFFF"/>
                    </a:solidFill>
                  </a:tcPr>
                </a:tc>
                <a:extLst>
                  <a:ext uri="{0D108BD9-81ED-4DB2-BD59-A6C34878D82A}">
                    <a16:rowId xmlns:a16="http://schemas.microsoft.com/office/drawing/2014/main" val="10002"/>
                  </a:ext>
                </a:extLst>
              </a:tr>
              <a:tr h="574548">
                <a:tc>
                  <a:txBody>
                    <a:bodyPr/>
                    <a:lstStyle/>
                    <a:p>
                      <a:pPr>
                        <a:defRPr sz="1600" b="0">
                          <a:solidFill>
                            <a:srgbClr val="333333"/>
                          </a:solidFill>
                          <a:latin typeface="微软雅黑"/>
                        </a:defRPr>
                      </a:pPr>
                      <a:r>
                        <a:rPr sz="2000">
                          <a:latin typeface="+mn-lt"/>
                        </a:rPr>
                        <a:t>加密随机性</a:t>
                      </a:r>
                    </a:p>
                  </a:txBody>
                  <a:tcPr>
                    <a:solidFill>
                      <a:srgbClr val="F7F7F7"/>
                    </a:solidFill>
                  </a:tcPr>
                </a:tc>
                <a:tc>
                  <a:txBody>
                    <a:bodyPr/>
                    <a:lstStyle/>
                    <a:p>
                      <a:pPr>
                        <a:defRPr sz="1600" b="0">
                          <a:solidFill>
                            <a:srgbClr val="333333"/>
                          </a:solidFill>
                          <a:latin typeface="微软雅黑"/>
                        </a:defRPr>
                      </a:pPr>
                      <a:r>
                        <a:rPr sz="2000">
                          <a:latin typeface="+mn-lt"/>
                        </a:rPr>
                        <a:t>原始形式无随机数</a:t>
                      </a:r>
                    </a:p>
                  </a:txBody>
                  <a:tcPr>
                    <a:solidFill>
                      <a:srgbClr val="F7F7F7"/>
                    </a:solidFill>
                  </a:tcPr>
                </a:tc>
                <a:tc>
                  <a:txBody>
                    <a:bodyPr/>
                    <a:lstStyle/>
                    <a:p>
                      <a:pPr>
                        <a:defRPr sz="1600" b="0">
                          <a:solidFill>
                            <a:srgbClr val="333333"/>
                          </a:solidFill>
                          <a:latin typeface="微软雅黑"/>
                        </a:defRPr>
                      </a:pPr>
                      <a:r>
                        <a:rPr sz="2000" dirty="0" err="1">
                          <a:latin typeface="+mn-lt"/>
                        </a:rPr>
                        <a:t>随机</a:t>
                      </a:r>
                      <a:r>
                        <a:rPr sz="2000" dirty="0">
                          <a:latin typeface="+mn-lt"/>
                        </a:rPr>
                        <a:t> </a:t>
                      </a:r>
                      <a:r>
                        <a:rPr sz="2000" i="1" dirty="0">
                          <a:latin typeface="+mn-lt"/>
                        </a:rPr>
                        <a:t>r</a:t>
                      </a:r>
                    </a:p>
                  </a:txBody>
                  <a:tcPr>
                    <a:solidFill>
                      <a:srgbClr val="F7F7F7"/>
                    </a:solidFill>
                  </a:tcPr>
                </a:tc>
                <a:tc>
                  <a:txBody>
                    <a:bodyPr/>
                    <a:lstStyle/>
                    <a:p>
                      <a:pPr>
                        <a:defRPr sz="1600" b="0">
                          <a:solidFill>
                            <a:srgbClr val="333333"/>
                          </a:solidFill>
                          <a:latin typeface="微软雅黑"/>
                        </a:defRPr>
                      </a:pPr>
                      <a:r>
                        <a:rPr sz="2000" dirty="0" err="1">
                          <a:latin typeface="+mn-lt"/>
                        </a:rPr>
                        <a:t>随机</a:t>
                      </a:r>
                      <a:r>
                        <a:rPr sz="2000" dirty="0">
                          <a:latin typeface="+mn-lt"/>
                        </a:rPr>
                        <a:t> </a:t>
                      </a:r>
                      <a:r>
                        <a:rPr sz="2000" i="1" dirty="0">
                          <a:latin typeface="+mn-lt"/>
                        </a:rPr>
                        <a:t>k</a:t>
                      </a:r>
                    </a:p>
                  </a:txBody>
                  <a:tcPr>
                    <a:solidFill>
                      <a:srgbClr val="F7F7F7"/>
                    </a:solidFill>
                  </a:tcPr>
                </a:tc>
                <a:extLst>
                  <a:ext uri="{0D108BD9-81ED-4DB2-BD59-A6C34878D82A}">
                    <a16:rowId xmlns:a16="http://schemas.microsoft.com/office/drawing/2014/main" val="10003"/>
                  </a:ext>
                </a:extLst>
              </a:tr>
              <a:tr h="574548">
                <a:tc>
                  <a:txBody>
                    <a:bodyPr/>
                    <a:lstStyle/>
                    <a:p>
                      <a:pPr>
                        <a:defRPr sz="1600" b="0">
                          <a:solidFill>
                            <a:srgbClr val="333333"/>
                          </a:solidFill>
                          <a:latin typeface="微软雅黑"/>
                        </a:defRPr>
                      </a:pPr>
                      <a:r>
                        <a:rPr sz="2000">
                          <a:latin typeface="+mn-lt"/>
                        </a:rPr>
                        <a:t>密文形式</a:t>
                      </a:r>
                    </a:p>
                  </a:txBody>
                  <a:tcPr>
                    <a:solidFill>
                      <a:srgbClr val="FFFFFF"/>
                    </a:solidFill>
                  </a:tcPr>
                </a:tc>
                <a:tc>
                  <a:txBody>
                    <a:bodyPr/>
                    <a:lstStyle/>
                    <a:p>
                      <a:pPr>
                        <a:defRPr sz="1600" b="0">
                          <a:solidFill>
                            <a:srgbClr val="333333"/>
                          </a:solidFill>
                          <a:latin typeface="微软雅黑"/>
                        </a:defRPr>
                      </a:pPr>
                      <a:r>
                        <a:rPr sz="2000" dirty="0" err="1">
                          <a:latin typeface="+mn-lt"/>
                        </a:rPr>
                        <a:t>一个模</a:t>
                      </a:r>
                      <a:r>
                        <a:rPr sz="2000" dirty="0">
                          <a:latin typeface="+mn-lt"/>
                        </a:rPr>
                        <a:t> </a:t>
                      </a:r>
                      <a:r>
                        <a:rPr sz="2000" i="1" dirty="0">
                          <a:latin typeface="+mn-lt"/>
                        </a:rPr>
                        <a:t>N</a:t>
                      </a:r>
                      <a:r>
                        <a:rPr sz="2000" dirty="0">
                          <a:latin typeface="+mn-lt"/>
                        </a:rPr>
                        <a:t> </a:t>
                      </a:r>
                      <a:r>
                        <a:rPr sz="2000" dirty="0" err="1">
                          <a:latin typeface="+mn-lt"/>
                        </a:rPr>
                        <a:t>元素</a:t>
                      </a:r>
                      <a:endParaRPr sz="2000" dirty="0">
                        <a:latin typeface="+mn-lt"/>
                      </a:endParaRPr>
                    </a:p>
                  </a:txBody>
                  <a:tcPr>
                    <a:solidFill>
                      <a:srgbClr val="FFFFFF"/>
                    </a:solidFill>
                  </a:tcPr>
                </a:tc>
                <a:tc>
                  <a:txBody>
                    <a:bodyPr/>
                    <a:lstStyle/>
                    <a:p>
                      <a:pPr>
                        <a:defRPr sz="1600" b="0">
                          <a:solidFill>
                            <a:srgbClr val="333333"/>
                          </a:solidFill>
                          <a:latin typeface="微软雅黑"/>
                        </a:defRPr>
                      </a:pPr>
                      <a:r>
                        <a:rPr sz="2000" dirty="0">
                          <a:latin typeface="+mn-lt"/>
                        </a:rPr>
                        <a:t>(</a:t>
                      </a:r>
                      <a:r>
                        <a:rPr sz="2000" i="1" dirty="0">
                          <a:latin typeface="+mn-lt"/>
                        </a:rPr>
                        <a:t>C</a:t>
                      </a:r>
                      <a:r>
                        <a:rPr sz="2000" dirty="0">
                          <a:latin typeface="+mn-lt"/>
                        </a:rPr>
                        <a:t>₁,</a:t>
                      </a:r>
                      <a:r>
                        <a:rPr lang="zh-CN" altLang="en-US" sz="2000" dirty="0">
                          <a:latin typeface="+mn-lt"/>
                        </a:rPr>
                        <a:t> </a:t>
                      </a:r>
                      <a:r>
                        <a:rPr sz="2000" i="1" dirty="0">
                          <a:latin typeface="+mn-lt"/>
                        </a:rPr>
                        <a:t>C</a:t>
                      </a:r>
                      <a:r>
                        <a:rPr sz="2000" dirty="0">
                          <a:latin typeface="+mn-lt"/>
                        </a:rPr>
                        <a:t>₂)</a:t>
                      </a:r>
                    </a:p>
                  </a:txBody>
                  <a:tcPr>
                    <a:solidFill>
                      <a:srgbClr val="FFFFFF"/>
                    </a:solidFill>
                  </a:tcPr>
                </a:tc>
                <a:tc>
                  <a:txBody>
                    <a:bodyPr/>
                    <a:lstStyle/>
                    <a:p>
                      <a:pPr>
                        <a:defRPr sz="1600" b="0">
                          <a:solidFill>
                            <a:srgbClr val="333333"/>
                          </a:solidFill>
                          <a:latin typeface="微软雅黑"/>
                        </a:defRPr>
                      </a:pPr>
                      <a:r>
                        <a:rPr sz="2000" i="1" dirty="0">
                          <a:latin typeface="+mn-lt"/>
                        </a:rPr>
                        <a:t>C</a:t>
                      </a:r>
                      <a:r>
                        <a:rPr sz="2000" dirty="0">
                          <a:latin typeface="+mn-lt"/>
                        </a:rPr>
                        <a:t>₁ ‖ </a:t>
                      </a:r>
                      <a:r>
                        <a:rPr sz="2000" i="1" dirty="0">
                          <a:latin typeface="+mn-lt"/>
                        </a:rPr>
                        <a:t>C</a:t>
                      </a:r>
                      <a:r>
                        <a:rPr sz="2000" dirty="0">
                          <a:latin typeface="+mn-lt"/>
                        </a:rPr>
                        <a:t>₃ ‖ </a:t>
                      </a:r>
                      <a:r>
                        <a:rPr sz="2000" i="1" dirty="0">
                          <a:latin typeface="+mn-lt"/>
                        </a:rPr>
                        <a:t>C</a:t>
                      </a:r>
                      <a:r>
                        <a:rPr sz="2000" dirty="0">
                          <a:latin typeface="+mn-lt"/>
                        </a:rPr>
                        <a:t>₂</a:t>
                      </a:r>
                    </a:p>
                  </a:txBody>
                  <a:tcPr>
                    <a:solidFill>
                      <a:srgbClr val="FFFFFF"/>
                    </a:solidFill>
                  </a:tcPr>
                </a:tc>
                <a:extLst>
                  <a:ext uri="{0D108BD9-81ED-4DB2-BD59-A6C34878D82A}">
                    <a16:rowId xmlns:a16="http://schemas.microsoft.com/office/drawing/2014/main" val="10004"/>
                  </a:ext>
                </a:extLst>
              </a:tr>
              <a:tr h="574548">
                <a:tc>
                  <a:txBody>
                    <a:bodyPr/>
                    <a:lstStyle/>
                    <a:p>
                      <a:pPr>
                        <a:defRPr sz="1600" b="0">
                          <a:solidFill>
                            <a:srgbClr val="333333"/>
                          </a:solidFill>
                          <a:latin typeface="微软雅黑"/>
                        </a:defRPr>
                      </a:pPr>
                      <a:r>
                        <a:rPr sz="2000">
                          <a:latin typeface="+mn-lt"/>
                        </a:rPr>
                        <a:t>额外机制</a:t>
                      </a:r>
                    </a:p>
                  </a:txBody>
                  <a:tcPr>
                    <a:solidFill>
                      <a:srgbClr val="F7F7F7"/>
                    </a:solidFill>
                  </a:tcPr>
                </a:tc>
                <a:tc>
                  <a:txBody>
                    <a:bodyPr/>
                    <a:lstStyle/>
                    <a:p>
                      <a:pPr>
                        <a:defRPr sz="1600" b="0">
                          <a:solidFill>
                            <a:srgbClr val="333333"/>
                          </a:solidFill>
                          <a:latin typeface="微软雅黑"/>
                        </a:defRPr>
                      </a:pPr>
                      <a:r>
                        <a:rPr sz="2000">
                          <a:latin typeface="+mn-lt"/>
                        </a:rPr>
                        <a:t>实际使用 OAEP</a:t>
                      </a:r>
                    </a:p>
                  </a:txBody>
                  <a:tcPr>
                    <a:solidFill>
                      <a:srgbClr val="F7F7F7"/>
                    </a:solidFill>
                  </a:tcPr>
                </a:tc>
                <a:tc>
                  <a:txBody>
                    <a:bodyPr/>
                    <a:lstStyle/>
                    <a:p>
                      <a:pPr>
                        <a:defRPr sz="1600" b="0">
                          <a:solidFill>
                            <a:srgbClr val="333333"/>
                          </a:solidFill>
                          <a:latin typeface="微软雅黑"/>
                        </a:defRPr>
                      </a:pPr>
                      <a:r>
                        <a:rPr sz="2000">
                          <a:latin typeface="+mn-lt"/>
                        </a:rPr>
                        <a:t>基于群运算</a:t>
                      </a:r>
                    </a:p>
                  </a:txBody>
                  <a:tcPr>
                    <a:solidFill>
                      <a:srgbClr val="F7F7F7"/>
                    </a:solidFill>
                  </a:tcPr>
                </a:tc>
                <a:tc>
                  <a:txBody>
                    <a:bodyPr/>
                    <a:lstStyle/>
                    <a:p>
                      <a:pPr>
                        <a:defRPr sz="1600" b="0">
                          <a:solidFill>
                            <a:srgbClr val="333333"/>
                          </a:solidFill>
                          <a:latin typeface="微软雅黑"/>
                        </a:defRPr>
                      </a:pPr>
                      <a:r>
                        <a:rPr sz="2000" dirty="0">
                          <a:latin typeface="+mn-lt"/>
                        </a:rPr>
                        <a:t>KDF + SM3 </a:t>
                      </a:r>
                      <a:r>
                        <a:rPr sz="2000" dirty="0" err="1">
                          <a:latin typeface="+mn-lt"/>
                        </a:rPr>
                        <a:t>校验</a:t>
                      </a:r>
                      <a:endParaRPr sz="2000" dirty="0">
                        <a:latin typeface="+mn-lt"/>
                      </a:endParaRPr>
                    </a:p>
                  </a:txBody>
                  <a:tcPr>
                    <a:solidFill>
                      <a:srgbClr val="F7F7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49244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p:txBody>
      </p:sp>
      <p:sp>
        <p:nvSpPr>
          <p:cNvPr id="3" name="文本框 2"/>
          <p:cNvSpPr txBox="1"/>
          <p:nvPr/>
        </p:nvSpPr>
        <p:spPr>
          <a:xfrm>
            <a:off x="502920" y="841596"/>
            <a:ext cx="14002473" cy="461665"/>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400" b="1" dirty="0">
                <a:solidFill>
                  <a:srgbClr val="C90012"/>
                </a:solidFill>
                <a:latin typeface="Times New Roman" panose="02020503050405090304"/>
                <a:ea typeface="微软雅黑"/>
                <a:cs typeface="Times New Roman" panose="02020503050405090304"/>
              </a:rPr>
              <a:t>安全性：敌手能力与攻击目标</a:t>
            </a:r>
          </a:p>
        </p:txBody>
      </p:sp>
      <p:sp>
        <p:nvSpPr>
          <p:cNvPr id="4" name="矩形 3"/>
          <p:cNvSpPr>
            <a:spLocks noGrp="1"/>
          </p:cNvSpPr>
          <p:nvPr/>
        </p:nvSpPr>
        <p:spPr>
          <a:xfrm>
            <a:off x="1065657" y="165568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dirty="0">
                <a:solidFill>
                  <a:srgbClr val="C90012"/>
                </a:solidFill>
                <a:latin typeface="Times New Roman" panose="02020503050405090304"/>
                <a:ea typeface="微软雅黑"/>
                <a:cs typeface="Times New Roman" panose="02020503050405090304"/>
              </a:rPr>
              <a:t>01</a:t>
            </a:r>
          </a:p>
        </p:txBody>
      </p:sp>
      <p:sp>
        <p:nvSpPr>
          <p:cNvPr id="5" name="矩形 4"/>
          <p:cNvSpPr>
            <a:spLocks noGrp="1"/>
          </p:cNvSpPr>
          <p:nvPr/>
        </p:nvSpPr>
        <p:spPr>
          <a:xfrm>
            <a:off x="1684782" y="165568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敌手能力描述可以获得什么信息、访问什么接口</a:t>
            </a:r>
            <a:endParaRPr sz="2000" b="0" dirty="0">
              <a:solidFill>
                <a:srgbClr val="303030"/>
              </a:solidFill>
              <a:latin typeface="Times New Roman" panose="02020503050405090304"/>
              <a:ea typeface="微软雅黑"/>
              <a:cs typeface="Times New Roman" panose="02020503050405090304"/>
            </a:endParaRPr>
          </a:p>
        </p:txBody>
      </p:sp>
      <p:sp>
        <p:nvSpPr>
          <p:cNvPr id="6" name="矩形 5"/>
          <p:cNvSpPr>
            <a:spLocks noGrp="1"/>
          </p:cNvSpPr>
          <p:nvPr/>
        </p:nvSpPr>
        <p:spPr>
          <a:xfrm>
            <a:off x="1065657" y="2086868"/>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p:sp>
        <p:nvSpPr>
          <p:cNvPr id="7" name="矩形 6"/>
          <p:cNvSpPr>
            <a:spLocks noGrp="1"/>
          </p:cNvSpPr>
          <p:nvPr/>
        </p:nvSpPr>
        <p:spPr>
          <a:xfrm>
            <a:off x="1684782" y="208686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攻击目标描述敌手希望恢复或区分什么</a:t>
            </a:r>
            <a:endParaRPr sz="2000" b="0" dirty="0">
              <a:solidFill>
                <a:srgbClr val="303030"/>
              </a:solidFill>
              <a:latin typeface="Times New Roman" panose="02020503050405090304"/>
              <a:ea typeface="微软雅黑"/>
              <a:cs typeface="Times New Roman" panose="02020503050405090304"/>
            </a:endParaRPr>
          </a:p>
        </p:txBody>
      </p:sp>
      <p:sp>
        <p:nvSpPr>
          <p:cNvPr id="8" name="矩形 7"/>
          <p:cNvSpPr>
            <a:spLocks noGrp="1"/>
          </p:cNvSpPr>
          <p:nvPr/>
        </p:nvSpPr>
        <p:spPr>
          <a:xfrm>
            <a:off x="1065657" y="248459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dirty="0">
                <a:solidFill>
                  <a:srgbClr val="C90012"/>
                </a:solidFill>
                <a:latin typeface="Times New Roman" panose="02020503050405090304"/>
                <a:ea typeface="微软雅黑"/>
                <a:cs typeface="Times New Roman" panose="02020503050405090304"/>
              </a:rPr>
              <a:t>03</a:t>
            </a:r>
          </a:p>
        </p:txBody>
      </p:sp>
      <p:sp>
        <p:nvSpPr>
          <p:cNvPr id="10" name="矩形 9"/>
          <p:cNvSpPr>
            <a:spLocks noGrp="1"/>
          </p:cNvSpPr>
          <p:nvPr/>
        </p:nvSpPr>
        <p:spPr>
          <a:xfrm>
            <a:off x="1684782" y="248459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必须同时指定能力与目标，才有明确的安全声明</a:t>
            </a:r>
            <a:endParaRPr sz="2000" b="0" dirty="0">
              <a:solidFill>
                <a:srgbClr val="303030"/>
              </a:solidFill>
              <a:latin typeface="Times New Roman" panose="02020503050405090304"/>
              <a:ea typeface="微软雅黑"/>
              <a:cs typeface="Times New Roman" panose="020205030504050903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4AE1A-4A97-40D9-84B9-37AFD8729A6E}"/>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B15B71BA-EB6E-D1C2-1032-6F249A323471}"/>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C316BDDF-6B6F-D2E2-B3CA-BC755A533762}"/>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3BF6D0FB-EA48-EAC1-1D57-10FA34A5F332}"/>
              </a:ext>
            </a:extLst>
          </p:cNvPr>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a:extLst>
              <a:ext uri="{FF2B5EF4-FFF2-40B4-BE49-F238E27FC236}">
                <a16:creationId xmlns:a16="http://schemas.microsoft.com/office/drawing/2014/main" id="{BDCF5F18-0C8E-3853-B6D4-D5A298B95BDC}"/>
              </a:ext>
            </a:extLst>
          </p:cNvPr>
          <p:cNvSpPr txBox="1"/>
          <p:nvPr/>
        </p:nvSpPr>
        <p:spPr>
          <a:xfrm>
            <a:off x="502920" y="841596"/>
            <a:ext cx="14002473" cy="461665"/>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400" b="1" dirty="0">
                <a:solidFill>
                  <a:srgbClr val="C90012"/>
                </a:solidFill>
                <a:latin typeface="Times New Roman" panose="02020503050405090304"/>
                <a:ea typeface="微软雅黑"/>
                <a:cs typeface="Times New Roman" panose="02020503050405090304"/>
              </a:rPr>
              <a:t>安全性：敌手能力与攻击目标</a:t>
            </a:r>
          </a:p>
        </p:txBody>
      </p:sp>
      <p:sp>
        <p:nvSpPr>
          <p:cNvPr id="22" name="文本框 21">
            <a:extLst>
              <a:ext uri="{FF2B5EF4-FFF2-40B4-BE49-F238E27FC236}">
                <a16:creationId xmlns:a16="http://schemas.microsoft.com/office/drawing/2014/main" id="{4406DAAD-7039-6E08-2746-4131F124936C}"/>
              </a:ext>
            </a:extLst>
          </p:cNvPr>
          <p:cNvSpPr txBox="1"/>
          <p:nvPr/>
        </p:nvSpPr>
        <p:spPr>
          <a:xfrm>
            <a:off x="502920" y="1653303"/>
            <a:ext cx="11335829" cy="4054187"/>
          </a:xfrm>
          <a:prstGeom prst="rect">
            <a:avLst/>
          </a:prstGeom>
          <a:noFill/>
        </p:spPr>
        <p:txBody>
          <a:bodyPr wrap="square">
            <a:spAutoFit/>
          </a:bodyPr>
          <a:lstStyle/>
          <a:p>
            <a:pPr>
              <a:lnSpc>
                <a:spcPct val="130000"/>
              </a:lnSpc>
            </a:pPr>
            <a:r>
              <a:rPr lang="zh-CN" altLang="en-US" sz="2000" dirty="0">
                <a:latin typeface="+mn-lt"/>
                <a:ea typeface="+mn-ea"/>
              </a:rPr>
              <a:t>根据攻击者破译时已具备的前提条件，通常可将公钥加密方案攻击类型分为以下几类。</a:t>
            </a:r>
            <a:endParaRPr lang="en-US" altLang="zh-CN" sz="2000" dirty="0">
              <a:latin typeface="+mn-lt"/>
              <a:ea typeface="+mn-ea"/>
            </a:endParaRPr>
          </a:p>
          <a:p>
            <a:pPr marL="285750" indent="-285750">
              <a:lnSpc>
                <a:spcPct val="130000"/>
              </a:lnSpc>
              <a:buFont typeface="Wingdings" panose="05000000000000000000" pitchFamily="2" charset="2"/>
              <a:buChar char="l"/>
            </a:pPr>
            <a:r>
              <a:rPr lang="zh-CN" altLang="en-US" sz="2000" b="1" dirty="0">
                <a:latin typeface="+mn-lt"/>
                <a:ea typeface="+mn-ea"/>
              </a:rPr>
              <a:t>唯密文攻击</a:t>
            </a:r>
            <a:r>
              <a:rPr lang="zh-CN" altLang="en-US" sz="2000" dirty="0">
                <a:latin typeface="+mn-lt"/>
                <a:ea typeface="+mn-ea"/>
              </a:rPr>
              <a:t>。攻击者仅知道公钥加密方案与一些截获的密文。 </a:t>
            </a:r>
            <a:endParaRPr lang="en-US" altLang="zh-CN" sz="2000" dirty="0">
              <a:latin typeface="+mn-lt"/>
              <a:ea typeface="+mn-ea"/>
            </a:endParaRPr>
          </a:p>
          <a:p>
            <a:pPr marL="285750" indent="-285750">
              <a:lnSpc>
                <a:spcPct val="130000"/>
              </a:lnSpc>
              <a:buFont typeface="Wingdings" panose="05000000000000000000" pitchFamily="2" charset="2"/>
              <a:buChar char="l"/>
            </a:pPr>
            <a:r>
              <a:rPr lang="zh-CN" altLang="en-US" sz="2000" b="1" dirty="0">
                <a:latin typeface="+mn-lt"/>
                <a:ea typeface="+mn-ea"/>
              </a:rPr>
              <a:t>已知明文攻击</a:t>
            </a:r>
            <a:r>
              <a:rPr lang="zh-CN" altLang="en-US" sz="2000" dirty="0">
                <a:latin typeface="+mn-lt"/>
                <a:ea typeface="+mn-ea"/>
              </a:rPr>
              <a:t>。攻击者不仅拥有一定数量的密文，还掌握一些已知的明文 </a:t>
            </a:r>
            <a:r>
              <a:rPr lang="en-US" altLang="zh-CN" sz="2000" dirty="0">
                <a:latin typeface="+mn-lt"/>
                <a:ea typeface="+mn-ea"/>
              </a:rPr>
              <a:t>- </a:t>
            </a:r>
            <a:r>
              <a:rPr lang="zh-CN" altLang="en-US" sz="2000" dirty="0">
                <a:latin typeface="+mn-lt"/>
                <a:ea typeface="+mn-ea"/>
              </a:rPr>
              <a:t>密文对。 </a:t>
            </a:r>
            <a:endParaRPr lang="en-US" altLang="zh-CN" sz="2000" dirty="0">
              <a:latin typeface="+mn-lt"/>
              <a:ea typeface="+mn-ea"/>
            </a:endParaRPr>
          </a:p>
          <a:p>
            <a:pPr marL="285750" indent="-285750">
              <a:lnSpc>
                <a:spcPct val="130000"/>
              </a:lnSpc>
              <a:buFont typeface="Wingdings" panose="05000000000000000000" pitchFamily="2" charset="2"/>
              <a:buChar char="l"/>
            </a:pPr>
            <a:r>
              <a:rPr lang="zh-CN" altLang="en-US" sz="2000" b="1" dirty="0">
                <a:latin typeface="+mn-lt"/>
                <a:ea typeface="+mn-ea"/>
              </a:rPr>
              <a:t>选择明文攻击</a:t>
            </a:r>
            <a:r>
              <a:rPr lang="zh-CN" altLang="en-US" sz="2000" dirty="0">
                <a:latin typeface="+mn-lt"/>
                <a:ea typeface="+mn-ea"/>
              </a:rPr>
              <a:t>。攻击者可选择一些明文并获得相应的密文。 </a:t>
            </a:r>
            <a:endParaRPr lang="en-US" altLang="zh-CN" sz="2000" dirty="0">
              <a:latin typeface="+mn-lt"/>
              <a:ea typeface="+mn-ea"/>
            </a:endParaRPr>
          </a:p>
          <a:p>
            <a:pPr marL="285750" indent="-285750">
              <a:lnSpc>
                <a:spcPct val="130000"/>
              </a:lnSpc>
              <a:buFont typeface="Wingdings" panose="05000000000000000000" pitchFamily="2" charset="2"/>
              <a:buChar char="l"/>
            </a:pPr>
            <a:r>
              <a:rPr lang="zh-CN" altLang="en-US" sz="2000" b="1" dirty="0">
                <a:latin typeface="+mn-lt"/>
                <a:ea typeface="+mn-ea"/>
              </a:rPr>
              <a:t>自适应选择明文攻击</a:t>
            </a:r>
            <a:r>
              <a:rPr lang="zh-CN" altLang="en-US" sz="2000" dirty="0">
                <a:latin typeface="+mn-lt"/>
                <a:ea typeface="+mn-ea"/>
              </a:rPr>
              <a:t>。攻击者不仅可以选择明文，还可根据之前选择的明文</a:t>
            </a:r>
            <a:r>
              <a:rPr lang="en-US" altLang="zh-CN" sz="2000" dirty="0">
                <a:latin typeface="+mn-lt"/>
                <a:ea typeface="+mn-ea"/>
              </a:rPr>
              <a:t>-</a:t>
            </a:r>
            <a:r>
              <a:rPr lang="zh-CN" altLang="en-US" sz="2000" dirty="0">
                <a:latin typeface="+mn-lt"/>
                <a:ea typeface="+mn-ea"/>
              </a:rPr>
              <a:t>密文对来动态地选择更多明文。自适应选择明文攻击是选择明文攻击的一种更强大形式。</a:t>
            </a:r>
            <a:endParaRPr lang="en-US" altLang="zh-CN" sz="2000" dirty="0">
              <a:latin typeface="+mn-lt"/>
              <a:ea typeface="+mn-ea"/>
            </a:endParaRPr>
          </a:p>
          <a:p>
            <a:pPr marL="285750" indent="-285750">
              <a:lnSpc>
                <a:spcPct val="130000"/>
              </a:lnSpc>
              <a:buFont typeface="Wingdings" panose="05000000000000000000" pitchFamily="2" charset="2"/>
              <a:buChar char="l"/>
            </a:pPr>
            <a:r>
              <a:rPr lang="zh-CN" altLang="en-US" sz="2000" b="1" dirty="0"/>
              <a:t>选择密文攻击</a:t>
            </a:r>
            <a:r>
              <a:rPr lang="zh-CN" altLang="en-US" sz="2000" dirty="0"/>
              <a:t>。攻击者可选择一些密文并获得对应的明文。这是因为在现实世界中， 攻击者可能会获得对解密机（对应于解密算法）的临时访问权限，从而通过输入密文以获取对应的明文。 </a:t>
            </a:r>
            <a:endParaRPr lang="en-US" altLang="zh-CN" sz="2000" dirty="0"/>
          </a:p>
          <a:p>
            <a:pPr marL="285750" indent="-285750">
              <a:lnSpc>
                <a:spcPct val="130000"/>
              </a:lnSpc>
              <a:buFont typeface="Wingdings" panose="05000000000000000000" pitchFamily="2" charset="2"/>
              <a:buChar char="l"/>
            </a:pPr>
            <a:r>
              <a:rPr lang="zh-CN" altLang="en-US" sz="2000" b="1" dirty="0"/>
              <a:t>自适应选择密文攻击</a:t>
            </a:r>
            <a:r>
              <a:rPr lang="zh-CN" altLang="en-US" sz="2000" dirty="0"/>
              <a:t>。攻击者不仅可选择一些密文并获得对应的明文，还可根据之前选择的密文和解密得到的明文动态地选择更多密文并进行解密</a:t>
            </a:r>
            <a:endParaRPr lang="zh-CN" altLang="en-US" sz="2000" dirty="0">
              <a:latin typeface="+mn-lt"/>
              <a:ea typeface="+mn-ea"/>
            </a:endParaRPr>
          </a:p>
        </p:txBody>
      </p:sp>
    </p:spTree>
    <p:extLst>
      <p:ext uri="{BB962C8B-B14F-4D97-AF65-F5344CB8AC3E}">
        <p14:creationId xmlns:p14="http://schemas.microsoft.com/office/powerpoint/2010/main" val="1954200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6056-FFDA-0C05-6362-1970281251CE}"/>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26C5F3EC-3B4C-A5FE-F2FE-4A32FEFBB9F4}"/>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76AA2EA8-FEF5-19A4-C0B2-CC63A4785D0D}"/>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3BF4FDE7-281A-84E3-8226-5F797C347EB0}"/>
              </a:ext>
            </a:extLst>
          </p:cNvPr>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a:extLst>
              <a:ext uri="{FF2B5EF4-FFF2-40B4-BE49-F238E27FC236}">
                <a16:creationId xmlns:a16="http://schemas.microsoft.com/office/drawing/2014/main" id="{1B0B1F25-E55F-3DB2-016B-7D7CB5679189}"/>
              </a:ext>
            </a:extLst>
          </p:cNvPr>
          <p:cNvSpPr txBox="1"/>
          <p:nvPr/>
        </p:nvSpPr>
        <p:spPr>
          <a:xfrm>
            <a:off x="502920" y="841596"/>
            <a:ext cx="14002473" cy="461665"/>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400" b="1" dirty="0">
                <a:solidFill>
                  <a:srgbClr val="C90012"/>
                </a:solidFill>
                <a:latin typeface="Times New Roman" panose="02020503050405090304"/>
                <a:ea typeface="微软雅黑"/>
                <a:cs typeface="Times New Roman" panose="02020503050405090304"/>
              </a:rPr>
              <a:t>安全性：敌手能力与攻击目标</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04B2E12-74BF-261F-6F2E-35CBFC0C5C39}"/>
                  </a:ext>
                </a:extLst>
              </p:cNvPr>
              <p:cNvSpPr txBox="1"/>
              <p:nvPr/>
            </p:nvSpPr>
            <p:spPr>
              <a:xfrm>
                <a:off x="574839" y="1303261"/>
                <a:ext cx="10880697" cy="4854406"/>
              </a:xfrm>
              <a:prstGeom prst="rect">
                <a:avLst/>
              </a:prstGeom>
              <a:noFill/>
            </p:spPr>
            <p:txBody>
              <a:bodyPr wrap="square">
                <a:spAutoFit/>
              </a:bodyPr>
              <a:lstStyle/>
              <a:p>
                <a:pPr algn="just">
                  <a:lnSpc>
                    <a:spcPct val="130000"/>
                  </a:lnSpc>
                </a:pPr>
                <a:r>
                  <a:rPr lang="zh-CN" altLang="en-US" sz="2000" dirty="0">
                    <a:latin typeface="+mn-lt"/>
                    <a:ea typeface="+mn-ea"/>
                  </a:rPr>
                  <a:t>根据攻击者对公钥密码系统的攻击效果，攻击者可能达到如下目标。 </a:t>
                </a:r>
                <a:endParaRPr lang="en-US" altLang="zh-CN" sz="2000" dirty="0">
                  <a:latin typeface="+mn-lt"/>
                  <a:ea typeface="+mn-ea"/>
                </a:endParaRPr>
              </a:p>
              <a:p>
                <a:pPr marL="285750" indent="-285750" algn="just">
                  <a:lnSpc>
                    <a:spcPct val="130000"/>
                  </a:lnSpc>
                  <a:buFont typeface="Wingdings" panose="05000000000000000000" pitchFamily="2" charset="2"/>
                  <a:buChar char="l"/>
                </a:pPr>
                <a:r>
                  <a:rPr lang="zh-CN" altLang="en-US" sz="2000" b="1" dirty="0">
                    <a:latin typeface="+mn-lt"/>
                    <a:ea typeface="+mn-ea"/>
                  </a:rPr>
                  <a:t>完全攻破</a:t>
                </a:r>
                <a:r>
                  <a:rPr lang="zh-CN" altLang="en-US" sz="2000" dirty="0">
                    <a:latin typeface="+mn-lt"/>
                    <a:ea typeface="+mn-ea"/>
                  </a:rPr>
                  <a:t>。攻击者得到接收方的私钥，故能解密所有用接收方公钥加密的密文。</a:t>
                </a:r>
                <a:endParaRPr lang="en-US" altLang="zh-CN" sz="2000" dirty="0">
                  <a:latin typeface="+mn-lt"/>
                  <a:ea typeface="+mn-ea"/>
                </a:endParaRPr>
              </a:p>
              <a:p>
                <a:pPr marL="285750" indent="-285750" algn="just">
                  <a:lnSpc>
                    <a:spcPct val="130000"/>
                  </a:lnSpc>
                  <a:buFont typeface="Wingdings" panose="05000000000000000000" pitchFamily="2" charset="2"/>
                  <a:buChar char="l"/>
                </a:pPr>
                <a:r>
                  <a:rPr lang="zh-CN" altLang="en-US" sz="2000" b="1" dirty="0">
                    <a:latin typeface="+mn-lt"/>
                    <a:ea typeface="+mn-ea"/>
                  </a:rPr>
                  <a:t>部分攻破</a:t>
                </a:r>
                <a:r>
                  <a:rPr lang="zh-CN" altLang="en-US" sz="2000" dirty="0">
                    <a:latin typeface="+mn-lt"/>
                    <a:ea typeface="+mn-ea"/>
                  </a:rPr>
                  <a:t>。攻击者在不知道接收方私钥的情况下以不可忽略的概率解密以前未出现过的接收方密文，或者攻击者对于给定的密文可得出有关明文的一些特定信息。 </a:t>
                </a:r>
                <a:endParaRPr lang="en-US" altLang="zh-CN" sz="2000" dirty="0">
                  <a:latin typeface="+mn-lt"/>
                  <a:ea typeface="+mn-ea"/>
                </a:endParaRPr>
              </a:p>
              <a:p>
                <a:pPr marL="285750" indent="-285750" algn="just">
                  <a:lnSpc>
                    <a:spcPct val="130000"/>
                  </a:lnSpc>
                  <a:buFont typeface="Wingdings" panose="05000000000000000000" pitchFamily="2" charset="2"/>
                  <a:buChar char="l"/>
                </a:pPr>
                <a:r>
                  <a:rPr lang="zh-CN" altLang="en-US" sz="2000" b="1" dirty="0">
                    <a:latin typeface="+mn-lt"/>
                    <a:ea typeface="+mn-ea"/>
                  </a:rPr>
                  <a:t>密文识别（不可区分性</a:t>
                </a:r>
                <a:r>
                  <a:rPr lang="zh-CN" altLang="en-US" sz="2000" b="1" dirty="0"/>
                  <a:t>攻破</a:t>
                </a:r>
                <a:r>
                  <a:rPr lang="zh-CN" altLang="en-US" sz="2000" b="1" dirty="0">
                    <a:latin typeface="+mn-lt"/>
                    <a:ea typeface="+mn-ea"/>
                  </a:rPr>
                  <a:t>）</a:t>
                </a:r>
                <a:r>
                  <a:rPr lang="zh-CN" altLang="en-US" sz="2000" dirty="0">
                    <a:latin typeface="+mn-lt"/>
                    <a:ea typeface="+mn-ea"/>
                  </a:rPr>
                  <a:t>。攻击者以超过 </a:t>
                </a:r>
                <a:r>
                  <a:rPr lang="en-US" altLang="zh-CN" sz="2000" dirty="0">
                    <a:latin typeface="+mn-lt"/>
                    <a:ea typeface="+mn-ea"/>
                  </a:rPr>
                  <a:t>1/2 </a:t>
                </a:r>
                <a:r>
                  <a:rPr lang="zh-CN" altLang="en-US" sz="2000" dirty="0">
                    <a:latin typeface="+mn-lt"/>
                    <a:ea typeface="+mn-ea"/>
                  </a:rPr>
                  <a:t>的概率解决密文识别问题。密文识别问题：给定一个加密函数</a:t>
                </a:r>
                <a:r>
                  <a:rPr lang="en-US" altLang="zh-CN" sz="2000" dirty="0">
                    <a:latin typeface="+mn-lt"/>
                    <a:ea typeface="+mn-ea"/>
                  </a:rPr>
                  <a:t> </a:t>
                </a:r>
                <a14:m>
                  <m:oMath xmlns:m="http://schemas.openxmlformats.org/officeDocument/2006/math">
                    <m:r>
                      <a:rPr lang="en-US" altLang="zh-CN" sz="2000" i="1" dirty="0">
                        <a:latin typeface="Cambria Math" panose="02040503050406030204" pitchFamily="18" charset="0"/>
                        <a:ea typeface="+mn-ea"/>
                      </a:rPr>
                      <m:t>𝑓</m:t>
                    </m:r>
                    <m:r>
                      <a:rPr lang="en-US" altLang="zh-CN" sz="2000" b="0" i="1" dirty="0" smtClean="0">
                        <a:latin typeface="Cambria Math" panose="02040503050406030204" pitchFamily="18" charset="0"/>
                        <a:ea typeface="+mn-ea"/>
                      </a:rPr>
                      <m:t>:</m:t>
                    </m:r>
                    <m:r>
                      <a:rPr lang="en-US" altLang="zh-CN" sz="2000" b="0" i="1" dirty="0" smtClean="0">
                        <a:latin typeface="Cambria Math" panose="02040503050406030204" pitchFamily="18" charset="0"/>
                        <a:ea typeface="Cambria Math" panose="02040503050406030204" pitchFamily="18" charset="0"/>
                      </a:rPr>
                      <m:t>ℳ</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𝒞</m:t>
                    </m:r>
                  </m:oMath>
                </a14:m>
                <a:r>
                  <a:rPr lang="zh-CN" altLang="en-GB" sz="2000" dirty="0">
                    <a:latin typeface="+mn-lt"/>
                    <a:ea typeface="+mn-ea"/>
                  </a:rPr>
                  <a:t>，</a:t>
                </a:r>
                <a:r>
                  <a:rPr lang="zh-CN" altLang="en-US" sz="2000" dirty="0">
                    <a:latin typeface="+mn-lt"/>
                    <a:ea typeface="+mn-ea"/>
                  </a:rPr>
                  <a:t>两个明文</a:t>
                </a:r>
                <a:r>
                  <a:rPr lang="en-US" altLang="zh-CN" sz="2000" dirty="0">
                    <a:latin typeface="+mn-lt"/>
                    <a:ea typeface="+mn-ea"/>
                  </a:rPr>
                  <a:t> </a:t>
                </a:r>
                <a14:m>
                  <m:oMath xmlns:m="http://schemas.openxmlformats.org/officeDocument/2006/math">
                    <m:sSub>
                      <m:sSubPr>
                        <m:ctrlPr>
                          <a:rPr lang="en-US" altLang="zh-CN" sz="2000" i="1" smtClean="0">
                            <a:latin typeface="Cambria Math" panose="02040503050406030204" pitchFamily="18" charset="0"/>
                            <a:ea typeface="+mn-ea"/>
                          </a:rPr>
                        </m:ctrlPr>
                      </m:sSubPr>
                      <m:e>
                        <m:r>
                          <a:rPr lang="en-US" altLang="zh-CN" sz="2000" b="0" i="1" smtClean="0">
                            <a:latin typeface="Cambria Math" panose="02040503050406030204" pitchFamily="18" charset="0"/>
                            <a:ea typeface="+mn-ea"/>
                          </a:rPr>
                          <m:t>𝑀</m:t>
                        </m:r>
                      </m:e>
                      <m:sub>
                        <m:r>
                          <a:rPr lang="en-US" altLang="zh-CN" sz="2000" b="0" i="1" smtClean="0">
                            <a:latin typeface="Cambria Math" panose="02040503050406030204" pitchFamily="18" charset="0"/>
                            <a:ea typeface="+mn-ea"/>
                          </a:rPr>
                          <m:t>0</m:t>
                        </m:r>
                      </m:sub>
                    </m:sSub>
                    <m:r>
                      <a:rPr lang="en-US" altLang="zh-CN" sz="2000" b="0" i="1" smtClean="0">
                        <a:latin typeface="Cambria Math" panose="02040503050406030204" pitchFamily="18" charset="0"/>
                        <a:ea typeface="+mn-ea"/>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𝑀</m:t>
                        </m:r>
                      </m:e>
                      <m:sub>
                        <m:r>
                          <a:rPr lang="en-US" altLang="zh-CN" sz="2000" b="0" i="1" smtClean="0">
                            <a:latin typeface="Cambria Math" panose="02040503050406030204" pitchFamily="18" charset="0"/>
                          </a:rPr>
                          <m:t>1</m:t>
                        </m:r>
                      </m:sub>
                    </m:sSub>
                    <m:r>
                      <a:rPr lang="en-US" altLang="zh-CN" sz="2000" i="1" smtClean="0">
                        <a:latin typeface="Cambria Math" panose="02040503050406030204" pitchFamily="18" charset="0"/>
                        <a:ea typeface="Cambria Math" panose="02040503050406030204" pitchFamily="18" charset="0"/>
                      </a:rPr>
                      <m:t>∈</m:t>
                    </m:r>
                  </m:oMath>
                </a14:m>
                <a:r>
                  <a:rPr lang="en-US" altLang="zh-CN" sz="2000" dirty="0">
                    <a:ea typeface="Cambria Math" panose="020405030504060302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rPr>
                      <m:t>ℳ</m:t>
                    </m:r>
                  </m:oMath>
                </a14:m>
                <a:r>
                  <a:rPr lang="en-US" altLang="zh-CN" sz="2000" dirty="0">
                    <a:latin typeface="+mn-lt"/>
                    <a:ea typeface="+mn-ea"/>
                  </a:rPr>
                  <a:t> </a:t>
                </a:r>
                <a:r>
                  <a:rPr lang="zh-CN" altLang="en-US" sz="2000" dirty="0">
                    <a:latin typeface="+mn-lt"/>
                    <a:ea typeface="+mn-ea"/>
                  </a:rPr>
                  <a:t>及一个密文 </a:t>
                </a:r>
                <a:r>
                  <a:rPr lang="en-US" altLang="zh-CN" sz="2000" i="1" dirty="0">
                    <a:latin typeface="+mn-lt"/>
                    <a:ea typeface="+mn-ea"/>
                  </a:rPr>
                  <a:t>C</a:t>
                </a:r>
                <a:r>
                  <a:rPr lang="en-US" altLang="zh-CN" sz="2000" dirty="0">
                    <a:latin typeface="+mn-lt"/>
                    <a:ea typeface="+mn-ea"/>
                  </a:rPr>
                  <a:t>=</a:t>
                </a:r>
                <a:r>
                  <a:rPr lang="en-US" altLang="zh-CN" sz="2000" i="1" dirty="0">
                    <a:latin typeface="+mn-lt"/>
                    <a:ea typeface="+mn-ea"/>
                  </a:rPr>
                  <a:t>f </a:t>
                </a:r>
                <a:r>
                  <a:rPr lang="en-US" altLang="zh-CN" sz="2000" dirty="0">
                    <a:latin typeface="+mn-lt"/>
                    <a:ea typeface="+mn-ea"/>
                  </a:rPr>
                  <a:t>(</a:t>
                </a:r>
                <a:r>
                  <a:rPr lang="en-US" altLang="zh-CN" sz="2000" i="1" dirty="0">
                    <a:latin typeface="+mn-lt"/>
                    <a:ea typeface="+mn-ea"/>
                  </a:rPr>
                  <a:t>M</a:t>
                </a:r>
                <a:r>
                  <a:rPr lang="en-US" altLang="zh-CN" sz="2000" i="1" baseline="-25000" dirty="0">
                    <a:latin typeface="+mn-lt"/>
                    <a:ea typeface="+mn-ea"/>
                  </a:rPr>
                  <a:t>i</a:t>
                </a:r>
                <a:r>
                  <a:rPr lang="en-US" altLang="zh-CN" sz="2000" dirty="0">
                    <a:latin typeface="+mn-lt"/>
                    <a:ea typeface="+mn-ea"/>
                  </a:rPr>
                  <a:t>),</a:t>
                </a:r>
                <a:r>
                  <a:rPr lang="en-US" altLang="zh-CN" sz="2000" i="1" dirty="0">
                    <a:latin typeface="+mn-lt"/>
                    <a:ea typeface="+mn-ea"/>
                  </a:rPr>
                  <a:t> </a:t>
                </a:r>
                <a:r>
                  <a:rPr lang="en-US" altLang="zh-CN" sz="2000" i="1" dirty="0" err="1">
                    <a:latin typeface="+mn-lt"/>
                    <a:ea typeface="+mn-ea"/>
                  </a:rPr>
                  <a:t>i</a:t>
                </a:r>
                <a:r>
                  <a:rPr lang="en-US" altLang="zh-CN" sz="2000" i="1" dirty="0">
                    <a:ea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0</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b="0" i="0" smtClean="0">
                        <a:latin typeface="Cambria Math" panose="02040503050406030204" pitchFamily="18" charset="0"/>
                        <a:ea typeface="Cambria Math" panose="02040503050406030204" pitchFamily="18" charset="0"/>
                      </a:rPr>
                      <m:t>}</m:t>
                    </m:r>
                  </m:oMath>
                </a14:m>
                <a:r>
                  <a:rPr lang="zh-CN" altLang="en-GB" sz="2000" dirty="0">
                    <a:latin typeface="+mn-lt"/>
                    <a:ea typeface="+mn-ea"/>
                  </a:rPr>
                  <a:t>，</a:t>
                </a:r>
                <a:r>
                  <a:rPr lang="zh-CN" altLang="en-US" sz="2000" dirty="0">
                    <a:latin typeface="+mn-lt"/>
                    <a:ea typeface="+mn-ea"/>
                  </a:rPr>
                  <a:t>判断</a:t>
                </a:r>
                <a:r>
                  <a:rPr lang="zh-CN" altLang="en-US" sz="2000" i="1" dirty="0">
                    <a:latin typeface="+mn-lt"/>
                    <a:ea typeface="+mn-ea"/>
                  </a:rPr>
                  <a:t> </a:t>
                </a:r>
                <a:r>
                  <a:rPr lang="en-GB" altLang="zh-CN" sz="2000" i="1" dirty="0" err="1">
                    <a:latin typeface="+mn-lt"/>
                    <a:ea typeface="+mn-ea"/>
                  </a:rPr>
                  <a:t>i</a:t>
                </a:r>
                <a:r>
                  <a:rPr lang="en-GB" altLang="zh-CN" sz="2000" i="1" dirty="0">
                    <a:latin typeface="+mn-lt"/>
                    <a:ea typeface="+mn-ea"/>
                  </a:rPr>
                  <a:t> </a:t>
                </a:r>
                <a:r>
                  <a:rPr lang="en-GB" altLang="zh-CN" sz="2000" dirty="0">
                    <a:latin typeface="+mn-lt"/>
                    <a:ea typeface="+mn-ea"/>
                  </a:rPr>
                  <a:t>=1 </a:t>
                </a:r>
                <a:r>
                  <a:rPr lang="zh-CN" altLang="en-US" sz="2000" dirty="0">
                    <a:latin typeface="+mn-lt"/>
                    <a:ea typeface="+mn-ea"/>
                  </a:rPr>
                  <a:t>是否成立。</a:t>
                </a:r>
                <a:endParaRPr lang="en-US" altLang="zh-CN" sz="2000" dirty="0">
                  <a:latin typeface="+mn-lt"/>
                  <a:ea typeface="+mn-ea"/>
                </a:endParaRPr>
              </a:p>
              <a:p>
                <a:pPr algn="just">
                  <a:lnSpc>
                    <a:spcPct val="130000"/>
                  </a:lnSpc>
                </a:pPr>
                <a:r>
                  <a:rPr lang="zh-CN" altLang="en-US" sz="2000" dirty="0"/>
                  <a:t>根据上述攻击者能力和攻击目标的不同，公钥加密方案的安全性通常按照攻击模型和攻击效果进行分类。在选择密文攻击（</a:t>
                </a:r>
                <a:r>
                  <a:rPr lang="en" altLang="zh-CN" sz="2000" dirty="0"/>
                  <a:t>Chosen Ciphertext Attack, CCA</a:t>
                </a:r>
                <a:r>
                  <a:rPr lang="zh-CN" altLang="en" sz="2000" dirty="0"/>
                  <a:t>）</a:t>
                </a:r>
                <a:r>
                  <a:rPr lang="zh-CN" altLang="en-US" sz="2000" dirty="0"/>
                  <a:t>场景下，攻击者可以利用解密预言机问询获得部分密文对应的明文信息，其攻击效果可进一步划分为完全攻破、部分攻破和密文识别三种情况；在已知明文攻击（</a:t>
                </a:r>
                <a:r>
                  <a:rPr lang="en" altLang="zh-CN" sz="2000" dirty="0"/>
                  <a:t>Known Plaintext Attack</a:t>
                </a:r>
                <a:r>
                  <a:rPr lang="zh-CN" altLang="en" sz="2000" dirty="0"/>
                  <a:t>，</a:t>
                </a:r>
                <a:r>
                  <a:rPr lang="en" altLang="zh-CN" sz="2000" dirty="0"/>
                  <a:t>KPA</a:t>
                </a:r>
                <a:r>
                  <a:rPr lang="zh-CN" altLang="en" sz="2000" dirty="0"/>
                  <a:t>）</a:t>
                </a:r>
                <a:r>
                  <a:rPr lang="zh-CN" altLang="en-US" sz="2000" dirty="0"/>
                  <a:t>场景下，攻击者仅掌握部分明文与密文对，其攻击效果同样可以分为完全攻破、部分攻破和密文识别等不同等级。</a:t>
                </a:r>
                <a:endParaRPr lang="zh-CN" altLang="en-US" sz="2000" dirty="0">
                  <a:latin typeface="+mn-lt"/>
                  <a:ea typeface="+mn-ea"/>
                </a:endParaRPr>
              </a:p>
            </p:txBody>
          </p:sp>
        </mc:Choice>
        <mc:Fallback xmlns="">
          <p:sp>
            <p:nvSpPr>
              <p:cNvPr id="11" name="文本框 10">
                <a:extLst>
                  <a:ext uri="{FF2B5EF4-FFF2-40B4-BE49-F238E27FC236}">
                    <a16:creationId xmlns:a16="http://schemas.microsoft.com/office/drawing/2014/main" id="{D04B2E12-74BF-261F-6F2E-35CBFC0C5C39}"/>
                  </a:ext>
                </a:extLst>
              </p:cNvPr>
              <p:cNvSpPr txBox="1">
                <a:spLocks noRot="1" noChangeAspect="1" noMove="1" noResize="1" noEditPoints="1" noAdjustHandles="1" noChangeArrowheads="1" noChangeShapeType="1" noTextEdit="1"/>
              </p:cNvSpPr>
              <p:nvPr/>
            </p:nvSpPr>
            <p:spPr>
              <a:xfrm>
                <a:off x="574839" y="1303261"/>
                <a:ext cx="10880697" cy="4854406"/>
              </a:xfrm>
              <a:prstGeom prst="rect">
                <a:avLst/>
              </a:prstGeom>
              <a:blipFill>
                <a:blip r:embed="rId3"/>
                <a:stretch>
                  <a:fillRect l="-583" r="-583" b="-15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7007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B84A0-09B6-7BA8-8987-2F38B44C9B4D}"/>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178BD4AA-50D0-128F-A4AC-305CB77BCA92}"/>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25195346-F318-CEB4-2847-354AC93FBFDE}"/>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7FD09109-EB1D-4F99-F7C2-4B175703C93B}"/>
              </a:ext>
            </a:extLst>
          </p:cNvPr>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a:extLst>
              <a:ext uri="{FF2B5EF4-FFF2-40B4-BE49-F238E27FC236}">
                <a16:creationId xmlns:a16="http://schemas.microsoft.com/office/drawing/2014/main" id="{20E7942F-ED17-8B6C-C262-F2410F4B2BA5}"/>
              </a:ext>
            </a:extLst>
          </p:cNvPr>
          <p:cNvSpPr txBox="1"/>
          <p:nvPr/>
        </p:nvSpPr>
        <p:spPr>
          <a:xfrm>
            <a:off x="502920" y="841596"/>
            <a:ext cx="14002473" cy="461665"/>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400" b="1" dirty="0">
                <a:solidFill>
                  <a:srgbClr val="C90012"/>
                </a:solidFill>
                <a:latin typeface="Times New Roman" panose="02020503050405090304"/>
                <a:ea typeface="微软雅黑"/>
                <a:cs typeface="Times New Roman" panose="02020503050405090304"/>
              </a:rPr>
              <a:t>安全性：敌手能力与攻击目标</a:t>
            </a:r>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89BAC167-0C38-61EE-8050-B361783F6EC7}"/>
                  </a:ext>
                </a:extLst>
              </p:cNvPr>
              <p:cNvSpPr txBox="1"/>
              <p:nvPr/>
            </p:nvSpPr>
            <p:spPr>
              <a:xfrm>
                <a:off x="574839" y="1775871"/>
                <a:ext cx="11111193" cy="4053482"/>
              </a:xfrm>
              <a:prstGeom prst="rect">
                <a:avLst/>
              </a:prstGeom>
              <a:noFill/>
            </p:spPr>
            <p:txBody>
              <a:bodyPr wrap="square">
                <a:spAutoFit/>
              </a:bodyPr>
              <a:lstStyle/>
              <a:p>
                <a:pPr algn="just">
                  <a:lnSpc>
                    <a:spcPct val="130000"/>
                  </a:lnSpc>
                </a:pPr>
                <a:r>
                  <a:rPr lang="zh-CN" altLang="en-US" sz="2000" dirty="0"/>
                  <a:t>语义安全（</a:t>
                </a:r>
                <a:r>
                  <a:rPr lang="en-US" altLang="zh-CN" sz="2000" dirty="0"/>
                  <a:t>Semantic Security</a:t>
                </a:r>
                <a:r>
                  <a:rPr lang="zh-CN" altLang="en-US" sz="2000" dirty="0"/>
                  <a:t>）是公钥加密的核心安全性概念之一。在公钥加密的选择明文攻击模型下，语义安全与 </a:t>
                </a:r>
                <a:r>
                  <a:rPr lang="en-US" altLang="zh-CN" sz="2000" dirty="0"/>
                  <a:t>IND-CPA </a:t>
                </a:r>
                <a:r>
                  <a:rPr lang="zh-CN" altLang="en-US" sz="2000" dirty="0"/>
                  <a:t>等价。</a:t>
                </a:r>
                <a:r>
                  <a:rPr lang="en-US" altLang="zh-CN" sz="2000" dirty="0"/>
                  <a:t>IND-CPA </a:t>
                </a:r>
                <a:r>
                  <a:rPr lang="zh-CN" altLang="en-US" sz="2000" dirty="0"/>
                  <a:t>要求：敌手对于两个等长消息</a:t>
                </a:r>
                <a14:m>
                  <m:oMath xmlns:m="http://schemas.openxmlformats.org/officeDocument/2006/math">
                    <m:sSub>
                      <m:sSubPr>
                        <m:ctrlPr>
                          <a:rPr lang="en-US" altLang="zh-CN" sz="2000" i="1" smtClean="0">
                            <a:latin typeface="Cambria Math" panose="02040503050406030204" pitchFamily="18" charset="0"/>
                            <a:ea typeface="+mn-ea"/>
                          </a:rPr>
                        </m:ctrlPr>
                      </m:sSubPr>
                      <m:e>
                        <m:r>
                          <a:rPr lang="en-US" altLang="zh-CN" sz="2000" b="0" i="1" smtClean="0">
                            <a:latin typeface="Cambria Math" panose="02040503050406030204" pitchFamily="18" charset="0"/>
                            <a:ea typeface="+mn-ea"/>
                          </a:rPr>
                          <m:t>𝑀</m:t>
                        </m:r>
                      </m:e>
                      <m:sub>
                        <m:r>
                          <a:rPr lang="en-US" altLang="zh-CN" sz="2000" b="0" i="1" smtClean="0">
                            <a:latin typeface="Cambria Math" panose="02040503050406030204" pitchFamily="18" charset="0"/>
                            <a:ea typeface="+mn-ea"/>
                          </a:rPr>
                          <m:t>0</m:t>
                        </m:r>
                      </m:sub>
                    </m:sSub>
                    <m:r>
                      <a:rPr lang="en-US" altLang="zh-CN" sz="2000" b="0" i="1" smtClean="0">
                        <a:latin typeface="Cambria Math" panose="02040503050406030204" pitchFamily="18" charset="0"/>
                        <a:ea typeface="+mn-ea"/>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𝑀</m:t>
                        </m:r>
                      </m:e>
                      <m:sub>
                        <m:r>
                          <a:rPr lang="en-US" altLang="zh-CN" sz="2000" b="0" i="1" smtClean="0">
                            <a:latin typeface="Cambria Math" panose="02040503050406030204" pitchFamily="18" charset="0"/>
                          </a:rPr>
                          <m:t>1</m:t>
                        </m:r>
                      </m:sub>
                    </m:sSub>
                  </m:oMath>
                </a14:m>
                <a:r>
                  <a:rPr lang="zh-CN" altLang="en-US" sz="2000" dirty="0"/>
                  <a:t>中某一消息的密文 </a:t>
                </a:r>
                <a:r>
                  <a:rPr lang="en-US" altLang="zh-CN" sz="2000" i="1" dirty="0"/>
                  <a:t>C </a:t>
                </a:r>
                <a:r>
                  <a:rPr lang="zh-CN" altLang="en-US" sz="2000" dirty="0"/>
                  <a:t>，区分该密文对应哪个消息的优势可忽略。</a:t>
                </a:r>
                <a:endParaRPr lang="en-US" altLang="zh-CN" sz="2000" dirty="0"/>
              </a:p>
              <a:p>
                <a:pPr algn="just">
                  <a:lnSpc>
                    <a:spcPct val="130000"/>
                  </a:lnSpc>
                </a:pPr>
                <a:endParaRPr lang="zh-CN" altLang="en-US" sz="2000" dirty="0"/>
              </a:p>
              <a:p>
                <a:pPr algn="just">
                  <a:lnSpc>
                    <a:spcPct val="130000"/>
                  </a:lnSpc>
                </a:pPr>
                <a:r>
                  <a:rPr lang="zh-CN" altLang="en-US" sz="2000" dirty="0"/>
                  <a:t>常见的安全性概念包括选择</a:t>
                </a:r>
              </a:p>
              <a:p>
                <a:pPr marL="342900" indent="-342900" algn="just">
                  <a:lnSpc>
                    <a:spcPct val="130000"/>
                  </a:lnSpc>
                  <a:buFont typeface="Wingdings" pitchFamily="2" charset="2"/>
                  <a:buChar char="l"/>
                </a:pPr>
                <a:r>
                  <a:rPr lang="zh-CN" altLang="en-US" sz="2000" dirty="0"/>
                  <a:t>明文攻击下的不可区分性（</a:t>
                </a:r>
                <a:r>
                  <a:rPr lang="en-GB" altLang="zh-CN" sz="2000" dirty="0"/>
                  <a:t>Indistinguishability under Chosen-Plaintext Attack</a:t>
                </a:r>
                <a:r>
                  <a:rPr lang="zh-CN" altLang="en-GB" sz="2000" dirty="0"/>
                  <a:t>，</a:t>
                </a:r>
                <a:r>
                  <a:rPr lang="en-GB" altLang="zh-CN" sz="2000" dirty="0"/>
                  <a:t>IND-CPA</a:t>
                </a:r>
                <a:r>
                  <a:rPr lang="zh-CN" altLang="en-GB" sz="2000" dirty="0"/>
                  <a:t>）</a:t>
                </a:r>
                <a:endParaRPr lang="en-US" altLang="zh-CN" sz="2000" dirty="0"/>
              </a:p>
              <a:p>
                <a:pPr marL="285750" indent="-285750" algn="just">
                  <a:lnSpc>
                    <a:spcPct val="130000"/>
                  </a:lnSpc>
                  <a:buFont typeface="Wingdings" panose="05000000000000000000" pitchFamily="2" charset="2"/>
                  <a:buChar char="l"/>
                </a:pPr>
                <a:r>
                  <a:rPr lang="zh-CN" altLang="en-US" sz="2000" dirty="0"/>
                  <a:t>选择密文攻击下的不可区分性（</a:t>
                </a:r>
                <a:r>
                  <a:rPr lang="en-GB" altLang="zh-CN" sz="2000" dirty="0"/>
                  <a:t>Indistinguishability under Chosen-Ciphertext Attack</a:t>
                </a:r>
                <a:r>
                  <a:rPr lang="zh-CN" altLang="en-GB" sz="2000" dirty="0"/>
                  <a:t>，</a:t>
                </a:r>
                <a:r>
                  <a:rPr lang="en-GB" altLang="zh-CN" sz="2000" dirty="0"/>
                  <a:t>IND-CCA1</a:t>
                </a:r>
                <a:r>
                  <a:rPr lang="zh-CN" altLang="en-GB" sz="2000" dirty="0"/>
                  <a:t>）</a:t>
                </a:r>
                <a:endParaRPr lang="en-US" altLang="zh-CN" sz="2000" dirty="0"/>
              </a:p>
              <a:p>
                <a:pPr marL="285750" indent="-285750" algn="just">
                  <a:lnSpc>
                    <a:spcPct val="130000"/>
                  </a:lnSpc>
                  <a:buFont typeface="Wingdings" panose="05000000000000000000" pitchFamily="2" charset="2"/>
                  <a:buChar char="l"/>
                </a:pPr>
                <a:r>
                  <a:rPr lang="zh-CN" altLang="en-US" sz="2000" dirty="0"/>
                  <a:t>自适应选择密文攻击下的不可区分性 （</a:t>
                </a:r>
                <a:r>
                  <a:rPr lang="en-GB" altLang="zh-CN" sz="2000" dirty="0"/>
                  <a:t>Indistinguishability under Adaptive Chosen-Ciphertext Attack</a:t>
                </a:r>
                <a:r>
                  <a:rPr lang="zh-CN" altLang="en-GB" sz="2000" dirty="0"/>
                  <a:t>，</a:t>
                </a:r>
                <a:r>
                  <a:rPr lang="en-GB" altLang="zh-CN" sz="2000" dirty="0"/>
                  <a:t>IND-CCA2</a:t>
                </a:r>
                <a:r>
                  <a:rPr lang="zh-CN" altLang="en-GB" sz="2000" dirty="0"/>
                  <a:t>）</a:t>
                </a:r>
                <a:endParaRPr lang="zh-CN" altLang="en-US" sz="2000" dirty="0"/>
              </a:p>
              <a:p>
                <a:pPr algn="just">
                  <a:lnSpc>
                    <a:spcPct val="130000"/>
                  </a:lnSpc>
                </a:pPr>
                <a:endParaRPr lang="en-US" altLang="zh-CN" sz="2000" dirty="0"/>
              </a:p>
            </p:txBody>
          </p:sp>
        </mc:Choice>
        <mc:Fallback>
          <p:sp>
            <p:nvSpPr>
              <p:cNvPr id="11" name="文本框 10">
                <a:extLst>
                  <a:ext uri="{FF2B5EF4-FFF2-40B4-BE49-F238E27FC236}">
                    <a16:creationId xmlns:a16="http://schemas.microsoft.com/office/drawing/2014/main" id="{89BAC167-0C38-61EE-8050-B361783F6EC7}"/>
                  </a:ext>
                </a:extLst>
              </p:cNvPr>
              <p:cNvSpPr txBox="1">
                <a:spLocks noRot="1" noChangeAspect="1" noMove="1" noResize="1" noEditPoints="1" noAdjustHandles="1" noChangeArrowheads="1" noChangeShapeType="1" noTextEdit="1"/>
              </p:cNvSpPr>
              <p:nvPr/>
            </p:nvSpPr>
            <p:spPr>
              <a:xfrm>
                <a:off x="574839" y="1775871"/>
                <a:ext cx="11111193" cy="4053482"/>
              </a:xfrm>
              <a:prstGeom prst="rect">
                <a:avLst/>
              </a:prstGeom>
              <a:blipFill>
                <a:blip r:embed="rId3"/>
                <a:stretch>
                  <a:fillRect l="-549" r="-5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2645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TextBox 5"/>
          <p:cNvSpPr txBox="1"/>
          <p:nvPr/>
        </p:nvSpPr>
        <p:spPr>
          <a:xfrm>
            <a:off x="2234184" y="1304084"/>
            <a:ext cx="10972800" cy="541687"/>
          </a:xfrm>
          <a:prstGeom prst="rect">
            <a:avLst/>
          </a:prstGeom>
          <a:noFill/>
        </p:spPr>
        <p:txBody>
          <a:bodyPr wrap="square" lIns="73152" tIns="64008">
            <a:spAutoFit/>
          </a:bodyPr>
          <a:lstStyle/>
          <a:p>
            <a:pPr>
              <a:spcAft>
                <a:spcPts val="1100"/>
              </a:spcAft>
              <a:defRPr sz="3100" b="1">
                <a:solidFill>
                  <a:srgbClr val="2C2C2F"/>
                </a:solidFill>
                <a:latin typeface="微软雅黑"/>
              </a:defRPr>
            </a:pPr>
            <a:r>
              <a:rPr sz="2800" dirty="0">
                <a:latin typeface="+mn-lt"/>
              </a:rPr>
              <a:t>RSA </a:t>
            </a:r>
            <a:r>
              <a:rPr sz="2800" dirty="0" err="1">
                <a:latin typeface="+mn-lt"/>
              </a:rPr>
              <a:t>与</a:t>
            </a:r>
            <a:r>
              <a:rPr sz="2800" dirty="0">
                <a:latin typeface="+mn-lt"/>
              </a:rPr>
              <a:t> </a:t>
            </a:r>
            <a:r>
              <a:rPr sz="2800" dirty="0" err="1">
                <a:latin typeface="+mn-lt"/>
              </a:rPr>
              <a:t>ElGamal：从数学困难问题到实际攻击</a:t>
            </a:r>
            <a:endParaRPr sz="2800" dirty="0">
              <a:latin typeface="+mn-lt"/>
            </a:endParaRPr>
          </a:p>
        </p:txBody>
      </p:sp>
      <p:sp>
        <p:nvSpPr>
          <p:cNvPr id="4" name="Rounded Rectangle 6"/>
          <p:cNvSpPr/>
          <p:nvPr/>
        </p:nvSpPr>
        <p:spPr>
          <a:xfrm>
            <a:off x="1850551" y="2423160"/>
            <a:ext cx="3661519" cy="237744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TextBox 7"/>
          <p:cNvSpPr txBox="1"/>
          <p:nvPr/>
        </p:nvSpPr>
        <p:spPr>
          <a:xfrm>
            <a:off x="2033431" y="2542032"/>
            <a:ext cx="4937759"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a:solidFill>
                  <a:srgbClr val="C00000"/>
                </a:solidFill>
                <a:latin typeface="+mn-lt"/>
              </a:rPr>
              <a:t>RSA </a:t>
            </a:r>
            <a:r>
              <a:rPr sz="2400" dirty="0" err="1">
                <a:solidFill>
                  <a:srgbClr val="C00000"/>
                </a:solidFill>
                <a:latin typeface="+mn-lt"/>
              </a:rPr>
              <a:t>公钥加密</a:t>
            </a:r>
          </a:p>
        </p:txBody>
      </p:sp>
      <p:sp>
        <p:nvSpPr>
          <p:cNvPr id="6" name="TextBox 8"/>
          <p:cNvSpPr txBox="1"/>
          <p:nvPr/>
        </p:nvSpPr>
        <p:spPr>
          <a:xfrm>
            <a:off x="2033431" y="3026664"/>
            <a:ext cx="4937759" cy="1316258"/>
          </a:xfrm>
          <a:prstGeom prst="rect">
            <a:avLst/>
          </a:prstGeom>
          <a:noFill/>
        </p:spPr>
        <p:txBody>
          <a:bodyPr wrap="square" lIns="73152" tIns="64008">
            <a:spAutoFit/>
          </a:bodyPr>
          <a:lstStyle/>
          <a:p>
            <a:pPr>
              <a:spcAft>
                <a:spcPts val="1100"/>
              </a:spcAft>
              <a:defRPr sz="2000" b="0">
                <a:solidFill>
                  <a:srgbClr val="2C2C2F"/>
                </a:solidFill>
                <a:latin typeface="微软雅黑"/>
              </a:defRPr>
            </a:pPr>
            <a:r>
              <a:rPr sz="2000" dirty="0" err="1">
                <a:latin typeface="+mn-lt"/>
              </a:rPr>
              <a:t>大整数分解问题</a:t>
            </a:r>
            <a:endParaRPr sz="2000" dirty="0">
              <a:latin typeface="+mn-lt"/>
            </a:endParaRPr>
          </a:p>
          <a:p>
            <a:pPr>
              <a:spcAft>
                <a:spcPts val="1100"/>
              </a:spcAft>
              <a:defRPr sz="2000" b="0">
                <a:solidFill>
                  <a:srgbClr val="2C2C2F"/>
                </a:solidFill>
                <a:latin typeface="微软雅黑"/>
              </a:defRPr>
            </a:pPr>
            <a:r>
              <a:rPr sz="2000" dirty="0" err="1">
                <a:latin typeface="+mn-lt"/>
              </a:rPr>
              <a:t>共模攻击与低指数攻击</a:t>
            </a:r>
            <a:endParaRPr sz="2000" dirty="0">
              <a:latin typeface="+mn-lt"/>
            </a:endParaRPr>
          </a:p>
          <a:p>
            <a:pPr>
              <a:spcAft>
                <a:spcPts val="1100"/>
              </a:spcAft>
              <a:defRPr sz="2000" b="0">
                <a:solidFill>
                  <a:srgbClr val="2C2C2F"/>
                </a:solidFill>
                <a:latin typeface="微软雅黑"/>
              </a:defRPr>
            </a:pPr>
            <a:r>
              <a:rPr sz="2000" dirty="0" err="1">
                <a:latin typeface="+mn-lt"/>
              </a:rPr>
              <a:t>确定性加密与语义安全性</a:t>
            </a:r>
            <a:endParaRPr sz="2000" dirty="0">
              <a:latin typeface="+mn-lt"/>
            </a:endParaRPr>
          </a:p>
        </p:txBody>
      </p:sp>
      <p:sp>
        <p:nvSpPr>
          <p:cNvPr id="7" name="Rounded Rectangle 9"/>
          <p:cNvSpPr/>
          <p:nvPr/>
        </p:nvSpPr>
        <p:spPr>
          <a:xfrm>
            <a:off x="6199632" y="2423160"/>
            <a:ext cx="4161391" cy="237744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10"/>
          <p:cNvSpPr txBox="1"/>
          <p:nvPr/>
        </p:nvSpPr>
        <p:spPr>
          <a:xfrm>
            <a:off x="6382512" y="2542032"/>
            <a:ext cx="4937759"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a:solidFill>
                  <a:srgbClr val="C00000"/>
                </a:solidFill>
                <a:latin typeface="+mn-lt"/>
              </a:rPr>
              <a:t>ElGamal </a:t>
            </a:r>
            <a:r>
              <a:rPr sz="2400" dirty="0" err="1">
                <a:solidFill>
                  <a:srgbClr val="C00000"/>
                </a:solidFill>
                <a:latin typeface="+mn-lt"/>
              </a:rPr>
              <a:t>公钥加密</a:t>
            </a:r>
          </a:p>
        </p:txBody>
      </p:sp>
      <p:sp>
        <p:nvSpPr>
          <p:cNvPr id="10" name="TextBox 11"/>
          <p:cNvSpPr txBox="1"/>
          <p:nvPr/>
        </p:nvSpPr>
        <p:spPr>
          <a:xfrm>
            <a:off x="6382512" y="3026664"/>
            <a:ext cx="4937759" cy="1316258"/>
          </a:xfrm>
          <a:prstGeom prst="rect">
            <a:avLst/>
          </a:prstGeom>
          <a:noFill/>
        </p:spPr>
        <p:txBody>
          <a:bodyPr wrap="square" lIns="73152" tIns="64008">
            <a:spAutoFit/>
          </a:bodyPr>
          <a:lstStyle/>
          <a:p>
            <a:pPr>
              <a:spcAft>
                <a:spcPts val="1100"/>
              </a:spcAft>
              <a:defRPr sz="2000" b="0">
                <a:solidFill>
                  <a:srgbClr val="2C2C2F"/>
                </a:solidFill>
                <a:latin typeface="微软雅黑"/>
              </a:defRPr>
            </a:pPr>
            <a:r>
              <a:rPr sz="2000" dirty="0" err="1">
                <a:latin typeface="+mn-lt"/>
              </a:rPr>
              <a:t>离散对数、CDH</a:t>
            </a:r>
            <a:r>
              <a:rPr sz="2000" dirty="0">
                <a:latin typeface="+mn-lt"/>
              </a:rPr>
              <a:t> </a:t>
            </a:r>
            <a:r>
              <a:rPr sz="2000" dirty="0" err="1">
                <a:latin typeface="+mn-lt"/>
              </a:rPr>
              <a:t>与</a:t>
            </a:r>
            <a:r>
              <a:rPr sz="2000" dirty="0">
                <a:latin typeface="+mn-lt"/>
              </a:rPr>
              <a:t> DDH </a:t>
            </a:r>
            <a:r>
              <a:rPr sz="2000" dirty="0" err="1">
                <a:latin typeface="+mn-lt"/>
              </a:rPr>
              <a:t>问题</a:t>
            </a:r>
            <a:endParaRPr sz="2000" dirty="0">
              <a:latin typeface="+mn-lt"/>
            </a:endParaRPr>
          </a:p>
          <a:p>
            <a:pPr>
              <a:spcAft>
                <a:spcPts val="1100"/>
              </a:spcAft>
              <a:defRPr sz="2000" b="0">
                <a:solidFill>
                  <a:srgbClr val="2C2C2F"/>
                </a:solidFill>
                <a:latin typeface="微软雅黑"/>
              </a:defRPr>
            </a:pPr>
            <a:r>
              <a:rPr sz="2000" dirty="0" err="1">
                <a:latin typeface="+mn-lt"/>
              </a:rPr>
              <a:t>随机数复用与二次剩余泄露</a:t>
            </a:r>
            <a:endParaRPr sz="2000" dirty="0">
              <a:latin typeface="+mn-lt"/>
            </a:endParaRPr>
          </a:p>
          <a:p>
            <a:pPr>
              <a:spcAft>
                <a:spcPts val="1100"/>
              </a:spcAft>
              <a:defRPr sz="2000" b="0">
                <a:solidFill>
                  <a:srgbClr val="2C2C2F"/>
                </a:solidFill>
                <a:latin typeface="微软雅黑"/>
              </a:defRPr>
            </a:pPr>
            <a:r>
              <a:rPr sz="2000" dirty="0" err="1">
                <a:latin typeface="+mn-lt"/>
              </a:rPr>
              <a:t>素数阶子群与杂凑</a:t>
            </a:r>
            <a:r>
              <a:rPr sz="2000" dirty="0">
                <a:latin typeface="+mn-lt"/>
              </a:rPr>
              <a:t> ElGamal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Rounded Rectangle 5"/>
          <p:cNvSpPr/>
          <p:nvPr/>
        </p:nvSpPr>
        <p:spPr>
          <a:xfrm>
            <a:off x="1068861" y="1188720"/>
            <a:ext cx="4800600" cy="326401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6"/>
          <p:cNvSpPr txBox="1"/>
          <p:nvPr/>
        </p:nvSpPr>
        <p:spPr>
          <a:xfrm>
            <a:off x="1251741" y="1307592"/>
            <a:ext cx="4800600" cy="418576"/>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000" dirty="0" err="1"/>
              <a:t>定义</a:t>
            </a:r>
            <a:r>
              <a:rPr sz="2000" dirty="0"/>
              <a:t> 3.12</a:t>
            </a:r>
            <a:r>
              <a:rPr lang="zh-CN" altLang="en-US" sz="2000" dirty="0"/>
              <a:t> 大整数分解问题 （教材原文）</a:t>
            </a:r>
            <a:endParaRPr sz="2000" dirty="0"/>
          </a:p>
        </p:txBody>
      </p:sp>
      <mc:AlternateContent xmlns:mc="http://schemas.openxmlformats.org/markup-compatibility/2006" xmlns:a14="http://schemas.microsoft.com/office/drawing/2010/main">
        <mc:Choice Requires="a14">
          <p:sp>
            <p:nvSpPr>
              <p:cNvPr id="12" name="TextBox 7"/>
              <p:cNvSpPr txBox="1"/>
              <p:nvPr/>
            </p:nvSpPr>
            <p:spPr>
              <a:xfrm>
                <a:off x="1251741" y="1792224"/>
                <a:ext cx="4528751" cy="1441164"/>
              </a:xfrm>
              <a:prstGeom prst="rect">
                <a:avLst/>
              </a:prstGeom>
              <a:noFill/>
            </p:spPr>
            <p:txBody>
              <a:bodyPr wrap="square" lIns="73152" tIns="64008">
                <a:spAutoFit/>
              </a:bodyPr>
              <a:lstStyle/>
              <a:p>
                <a:pPr>
                  <a:lnSpc>
                    <a:spcPct val="150000"/>
                  </a:lnSpc>
                  <a:spcAft>
                    <a:spcPts val="1100"/>
                  </a:spcAft>
                  <a:defRPr sz="2200" b="0">
                    <a:solidFill>
                      <a:srgbClr val="2C2C2F"/>
                    </a:solidFill>
                    <a:latin typeface="微软雅黑"/>
                  </a:defRPr>
                </a:pPr>
                <a:r>
                  <a:rPr lang="zh-CN" altLang="en-US" sz="2000" dirty="0">
                    <a:latin typeface="+mn-lt"/>
                  </a:rPr>
                  <a:t>假设大整数 </a:t>
                </a:r>
                <a:r>
                  <a:rPr sz="2000" i="1" dirty="0">
                    <a:latin typeface="+mn-lt"/>
                  </a:rPr>
                  <a:t>N </a:t>
                </a:r>
                <a:r>
                  <a:rPr sz="2000" dirty="0">
                    <a:latin typeface="+mn-lt"/>
                  </a:rPr>
                  <a:t>= </a:t>
                </a:r>
                <a:r>
                  <a:rPr sz="2000" i="1" dirty="0">
                    <a:latin typeface="+mn-lt"/>
                  </a:rPr>
                  <a:t>p</a:t>
                </a:r>
                <a:r>
                  <a:rPr sz="2000" dirty="0">
                    <a:latin typeface="+mn-lt"/>
                  </a:rPr>
                  <a:t> </a:t>
                </a:r>
                <a14:m>
                  <m:oMath xmlns:m="http://schemas.openxmlformats.org/officeDocument/2006/math">
                    <m:r>
                      <a:rPr lang="en-US" altLang="zh-CN" sz="2000" i="1" smtClean="0">
                        <a:solidFill>
                          <a:srgbClr val="000000"/>
                        </a:solidFill>
                        <a:effectLst/>
                        <a:latin typeface="Cambria Math" panose="02040503050406030204" pitchFamily="18" charset="0"/>
                        <a:ea typeface="+mn-ea"/>
                        <a:cs typeface="+mn-cs"/>
                      </a:rPr>
                      <m:t>×</m:t>
                    </m:r>
                  </m:oMath>
                </a14:m>
                <a:r>
                  <a:rPr sz="2000" dirty="0">
                    <a:latin typeface="+mn-lt"/>
                  </a:rPr>
                  <a:t> </a:t>
                </a:r>
                <a:r>
                  <a:rPr sz="2000" i="1" dirty="0">
                    <a:latin typeface="+mn-lt"/>
                  </a:rPr>
                  <a:t>q</a:t>
                </a:r>
                <a:r>
                  <a:rPr lang="zh-CN" altLang="en-US" sz="2000" dirty="0">
                    <a:latin typeface="+mn-lt"/>
                  </a:rPr>
                  <a:t>，其中 </a:t>
                </a:r>
                <a:r>
                  <a:rPr sz="2000" i="1" dirty="0" err="1">
                    <a:latin typeface="+mn-lt"/>
                  </a:rPr>
                  <a:t>p</a:t>
                </a:r>
                <a:r>
                  <a:rPr sz="2000" dirty="0" err="1">
                    <a:latin typeface="+mn-lt"/>
                  </a:rPr>
                  <a:t>、</a:t>
                </a:r>
                <a:r>
                  <a:rPr sz="2000" i="1" dirty="0" err="1">
                    <a:latin typeface="+mn-lt"/>
                  </a:rPr>
                  <a:t>q</a:t>
                </a:r>
                <a:r>
                  <a:rPr sz="2000" dirty="0">
                    <a:latin typeface="+mn-lt"/>
                  </a:rPr>
                  <a:t> </a:t>
                </a:r>
                <a:r>
                  <a:rPr sz="2000" dirty="0" err="1">
                    <a:latin typeface="+mn-lt"/>
                  </a:rPr>
                  <a:t>为两个大素数</a:t>
                </a:r>
                <a:r>
                  <a:rPr lang="zh-CN" altLang="en-US" sz="2000" dirty="0">
                    <a:latin typeface="+mn-lt"/>
                  </a:rPr>
                  <a:t>。大整数分解问题为：给定</a:t>
                </a:r>
                <a:r>
                  <a:rPr lang="en-US" altLang="zh-CN" sz="2000" i="1" dirty="0">
                    <a:latin typeface="+mn-lt"/>
                  </a:rPr>
                  <a:t>N</a:t>
                </a:r>
                <a:r>
                  <a:rPr lang="zh-CN" altLang="en-US" sz="2000" dirty="0">
                    <a:latin typeface="+mn-lt"/>
                  </a:rPr>
                  <a:t>，求 </a:t>
                </a:r>
                <a:r>
                  <a:rPr lang="en-US" altLang="zh-CN" sz="2000" i="1" dirty="0">
                    <a:latin typeface="+mn-lt"/>
                  </a:rPr>
                  <a:t>N</a:t>
                </a:r>
                <a:r>
                  <a:rPr lang="zh-CN" altLang="en-US" sz="2000" dirty="0">
                    <a:latin typeface="+mn-lt"/>
                  </a:rPr>
                  <a:t> 的素因子</a:t>
                </a:r>
                <a:r>
                  <a:rPr sz="2000" dirty="0"/>
                  <a:t>。</a:t>
                </a:r>
              </a:p>
            </p:txBody>
          </p:sp>
        </mc:Choice>
        <mc:Fallback xmlns="">
          <p:sp>
            <p:nvSpPr>
              <p:cNvPr id="12" name="TextBox 7"/>
              <p:cNvSpPr txBox="1">
                <a:spLocks noRot="1" noChangeAspect="1" noMove="1" noResize="1" noEditPoints="1" noAdjustHandles="1" noChangeArrowheads="1" noChangeShapeType="1" noTextEdit="1"/>
              </p:cNvSpPr>
              <p:nvPr/>
            </p:nvSpPr>
            <p:spPr>
              <a:xfrm>
                <a:off x="1251741" y="1792224"/>
                <a:ext cx="4528751" cy="1441164"/>
              </a:xfrm>
              <a:prstGeom prst="rect">
                <a:avLst/>
              </a:prstGeom>
              <a:blipFill>
                <a:blip r:embed="rId3"/>
                <a:stretch>
                  <a:fillRect l="-1676" r="-3911" b="-7018"/>
                </a:stretch>
              </a:blipFill>
            </p:spPr>
            <p:txBody>
              <a:bodyPr/>
              <a:lstStyle/>
              <a:p>
                <a:r>
                  <a:rPr lang="zh-CN" altLang="en-US">
                    <a:noFill/>
                  </a:rPr>
                  <a:t> </a:t>
                </a:r>
              </a:p>
            </p:txBody>
          </p:sp>
        </mc:Fallback>
      </mc:AlternateContent>
      <p:sp>
        <p:nvSpPr>
          <p:cNvPr id="13" name="Rounded Rectangle 8"/>
          <p:cNvSpPr/>
          <p:nvPr/>
        </p:nvSpPr>
        <p:spPr>
          <a:xfrm>
            <a:off x="6126480" y="1188720"/>
            <a:ext cx="4528751" cy="3264001"/>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9"/>
          <p:cNvSpPr txBox="1"/>
          <p:nvPr/>
        </p:nvSpPr>
        <p:spPr>
          <a:xfrm>
            <a:off x="6309360" y="1307592"/>
            <a:ext cx="4956048" cy="418576"/>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000" dirty="0" err="1"/>
              <a:t>从分解到私钥</a:t>
            </a:r>
          </a:p>
        </p:txBody>
      </p:sp>
      <p:sp>
        <p:nvSpPr>
          <p:cNvPr id="16" name="TextBox 10"/>
          <p:cNvSpPr txBox="1"/>
          <p:nvPr/>
        </p:nvSpPr>
        <p:spPr>
          <a:xfrm>
            <a:off x="6309360" y="1792224"/>
            <a:ext cx="4956048" cy="2213939"/>
          </a:xfrm>
          <a:prstGeom prst="rect">
            <a:avLst/>
          </a:prstGeom>
          <a:noFill/>
        </p:spPr>
        <p:txBody>
          <a:bodyPr wrap="square" lIns="73152" tIns="64008">
            <a:spAutoFit/>
          </a:bodyPr>
          <a:lstStyle/>
          <a:p>
            <a:pPr>
              <a:spcAft>
                <a:spcPts val="1100"/>
              </a:spcAft>
              <a:defRPr sz="2100" b="0">
                <a:solidFill>
                  <a:srgbClr val="2C2C2F"/>
                </a:solidFill>
                <a:latin typeface="微软雅黑"/>
              </a:defRPr>
            </a:pPr>
            <a:r>
              <a:rPr sz="2000" dirty="0" err="1">
                <a:latin typeface="+mn-lt"/>
              </a:rPr>
              <a:t>公开密钥</a:t>
            </a:r>
            <a:r>
              <a:rPr sz="2000" dirty="0">
                <a:latin typeface="+mn-lt"/>
              </a:rPr>
              <a:t>：(</a:t>
            </a:r>
            <a:r>
              <a:rPr sz="2000" i="1" dirty="0">
                <a:latin typeface="+mn-lt"/>
              </a:rPr>
              <a:t>N</a:t>
            </a:r>
            <a:r>
              <a:rPr sz="2000" dirty="0">
                <a:latin typeface="+mn-lt"/>
              </a:rPr>
              <a:t>, </a:t>
            </a:r>
            <a:r>
              <a:rPr sz="2000" i="1" dirty="0">
                <a:latin typeface="+mn-lt"/>
              </a:rPr>
              <a:t>e</a:t>
            </a:r>
            <a:r>
              <a:rPr sz="2000" dirty="0">
                <a:latin typeface="+mn-lt"/>
              </a:rPr>
              <a:t>)</a:t>
            </a:r>
          </a:p>
          <a:p>
            <a:pPr>
              <a:spcAft>
                <a:spcPts val="1100"/>
              </a:spcAft>
              <a:defRPr sz="2100" b="0">
                <a:solidFill>
                  <a:srgbClr val="2C2C2F"/>
                </a:solidFill>
                <a:latin typeface="微软雅黑"/>
              </a:defRPr>
            </a:pPr>
            <a:r>
              <a:rPr sz="2000" dirty="0">
                <a:latin typeface="+mn-lt"/>
              </a:rPr>
              <a:t>① </a:t>
            </a:r>
            <a:r>
              <a:rPr sz="2000" dirty="0" err="1">
                <a:latin typeface="+mn-lt"/>
              </a:rPr>
              <a:t>分解</a:t>
            </a:r>
            <a:r>
              <a:rPr sz="2000" dirty="0">
                <a:latin typeface="+mn-lt"/>
              </a:rPr>
              <a:t> </a:t>
            </a:r>
            <a:r>
              <a:rPr lang="en-GB" altLang="zh-CN" sz="2000" i="1" dirty="0">
                <a:latin typeface="+mn-lt"/>
              </a:rPr>
              <a:t>N</a:t>
            </a:r>
            <a:r>
              <a:rPr sz="2000" dirty="0">
                <a:latin typeface="+mn-lt"/>
              </a:rPr>
              <a:t> → </a:t>
            </a:r>
            <a:r>
              <a:rPr sz="2000" i="1" dirty="0" err="1">
                <a:latin typeface="+mn-lt"/>
              </a:rPr>
              <a:t>p</a:t>
            </a:r>
            <a:r>
              <a:rPr sz="2000" dirty="0" err="1">
                <a:latin typeface="+mn-lt"/>
              </a:rPr>
              <a:t>、</a:t>
            </a:r>
            <a:r>
              <a:rPr sz="2000" i="1" dirty="0" err="1">
                <a:latin typeface="+mn-lt"/>
              </a:rPr>
              <a:t>q</a:t>
            </a:r>
            <a:endParaRPr sz="2000" i="1" dirty="0">
              <a:latin typeface="+mn-lt"/>
            </a:endParaRPr>
          </a:p>
          <a:p>
            <a:pPr>
              <a:spcAft>
                <a:spcPts val="1100"/>
              </a:spcAft>
              <a:defRPr sz="2100" b="0">
                <a:solidFill>
                  <a:srgbClr val="2C2C2F"/>
                </a:solidFill>
                <a:latin typeface="微软雅黑"/>
              </a:defRPr>
            </a:pPr>
            <a:r>
              <a:rPr sz="2000" dirty="0">
                <a:latin typeface="+mn-lt"/>
              </a:rPr>
              <a:t>② </a:t>
            </a:r>
            <a:r>
              <a:rPr sz="2000" dirty="0" err="1">
                <a:latin typeface="+mn-lt"/>
              </a:rPr>
              <a:t>计算</a:t>
            </a:r>
            <a:r>
              <a:rPr sz="2000" dirty="0">
                <a:latin typeface="+mn-lt"/>
              </a:rPr>
              <a:t> </a:t>
            </a:r>
            <a:r>
              <a:rPr sz="2000" dirty="0" err="1">
                <a:latin typeface="+mn-lt"/>
              </a:rPr>
              <a:t>φ</a:t>
            </a:r>
            <a:r>
              <a:rPr sz="2000" dirty="0">
                <a:latin typeface="+mn-lt"/>
              </a:rPr>
              <a:t>(</a:t>
            </a:r>
            <a:r>
              <a:rPr sz="2000" i="1" dirty="0">
                <a:latin typeface="+mn-lt"/>
              </a:rPr>
              <a:t>N</a:t>
            </a:r>
            <a:r>
              <a:rPr sz="2000" dirty="0">
                <a:latin typeface="+mn-lt"/>
              </a:rPr>
              <a:t>)</a:t>
            </a:r>
          </a:p>
          <a:p>
            <a:pPr>
              <a:spcAft>
                <a:spcPts val="1100"/>
              </a:spcAft>
              <a:defRPr sz="2100" b="0">
                <a:solidFill>
                  <a:srgbClr val="2C2C2F"/>
                </a:solidFill>
                <a:latin typeface="微软雅黑"/>
              </a:defRPr>
            </a:pPr>
            <a:r>
              <a:rPr sz="2000" dirty="0">
                <a:latin typeface="+mn-lt"/>
              </a:rPr>
              <a:t>③ </a:t>
            </a:r>
            <a:r>
              <a:rPr sz="2000" dirty="0" err="1">
                <a:latin typeface="+mn-lt"/>
              </a:rPr>
              <a:t>求逆元</a:t>
            </a:r>
            <a:r>
              <a:rPr sz="2000" dirty="0">
                <a:latin typeface="+mn-lt"/>
              </a:rPr>
              <a:t> </a:t>
            </a:r>
            <a:r>
              <a:rPr sz="2000" i="1" dirty="0">
                <a:latin typeface="+mn-lt"/>
              </a:rPr>
              <a:t>d</a:t>
            </a:r>
            <a:r>
              <a:rPr sz="2000" dirty="0">
                <a:latin typeface="+mn-lt"/>
              </a:rPr>
              <a:t> = </a:t>
            </a:r>
            <a:r>
              <a:rPr sz="2000" i="1" dirty="0">
                <a:latin typeface="+mn-lt"/>
              </a:rPr>
              <a:t>e</a:t>
            </a:r>
            <a:r>
              <a:rPr sz="2000" dirty="0">
                <a:latin typeface="+mn-lt"/>
              </a:rPr>
              <a:t>⁻¹ mod </a:t>
            </a:r>
            <a:r>
              <a:rPr sz="2000" dirty="0" err="1">
                <a:latin typeface="+mn-lt"/>
              </a:rPr>
              <a:t>φ</a:t>
            </a:r>
            <a:r>
              <a:rPr sz="2000" dirty="0">
                <a:latin typeface="+mn-lt"/>
              </a:rPr>
              <a:t>(</a:t>
            </a:r>
            <a:r>
              <a:rPr lang="en-GB" altLang="zh-CN" sz="2000" i="1" dirty="0">
                <a:latin typeface="+mn-lt"/>
              </a:rPr>
              <a:t>N</a:t>
            </a:r>
            <a:r>
              <a:rPr sz="2000" dirty="0">
                <a:latin typeface="+mn-lt"/>
              </a:rPr>
              <a:t>)</a:t>
            </a:r>
          </a:p>
          <a:p>
            <a:pPr>
              <a:spcAft>
                <a:spcPts val="1100"/>
              </a:spcAft>
              <a:defRPr sz="2100" b="0">
                <a:solidFill>
                  <a:srgbClr val="2C2C2F"/>
                </a:solidFill>
                <a:latin typeface="微软雅黑"/>
              </a:defRPr>
            </a:pPr>
            <a:r>
              <a:rPr sz="2000" dirty="0">
                <a:latin typeface="+mn-lt"/>
              </a:rPr>
              <a:t>④ </a:t>
            </a:r>
            <a:r>
              <a:rPr sz="2000" dirty="0" err="1">
                <a:latin typeface="+mn-lt"/>
              </a:rPr>
              <a:t>用</a:t>
            </a:r>
            <a:r>
              <a:rPr sz="2000" dirty="0">
                <a:latin typeface="+mn-lt"/>
              </a:rPr>
              <a:t> </a:t>
            </a:r>
            <a:r>
              <a:rPr sz="2000" i="1" dirty="0">
                <a:latin typeface="+mn-lt"/>
              </a:rPr>
              <a:t>d </a:t>
            </a:r>
            <a:r>
              <a:rPr sz="2000" dirty="0" err="1">
                <a:latin typeface="+mn-lt"/>
              </a:rPr>
              <a:t>解密密文</a:t>
            </a:r>
            <a:endParaRPr sz="2000" dirty="0">
              <a:latin typeface="+mn-lt"/>
            </a:endParaRPr>
          </a:p>
        </p:txBody>
      </p:sp>
      <p:sp>
        <p:nvSpPr>
          <p:cNvPr id="17" name="Rounded Rectangle 11"/>
          <p:cNvSpPr/>
          <p:nvPr/>
        </p:nvSpPr>
        <p:spPr>
          <a:xfrm>
            <a:off x="502920" y="4834764"/>
            <a:ext cx="11155680" cy="1465452"/>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2"/>
          <p:cNvSpPr txBox="1"/>
          <p:nvPr/>
        </p:nvSpPr>
        <p:spPr>
          <a:xfrm>
            <a:off x="717867" y="4998089"/>
            <a:ext cx="10835640" cy="1175194"/>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latin typeface="+mn-lt"/>
                <a:cs typeface="+mn-cs"/>
              </a:rPr>
              <a:t>关键提示：分解</a:t>
            </a:r>
            <a:r>
              <a:rPr sz="2000" dirty="0">
                <a:latin typeface="+mn-lt"/>
                <a:cs typeface="+mn-cs"/>
              </a:rPr>
              <a:t> </a:t>
            </a:r>
            <a:r>
              <a:rPr sz="2000" i="1" dirty="0">
                <a:latin typeface="+mn-lt"/>
                <a:cs typeface="+mn-cs"/>
              </a:rPr>
              <a:t>N</a:t>
            </a:r>
            <a:r>
              <a:rPr sz="2000" dirty="0">
                <a:latin typeface="+mn-lt"/>
                <a:cs typeface="+mn-cs"/>
              </a:rPr>
              <a:t> </a:t>
            </a:r>
            <a:r>
              <a:rPr sz="2000" dirty="0" err="1">
                <a:latin typeface="+mn-lt"/>
                <a:cs typeface="+mn-cs"/>
              </a:rPr>
              <a:t>是攻破</a:t>
            </a:r>
            <a:r>
              <a:rPr sz="2000" dirty="0">
                <a:latin typeface="+mn-lt"/>
                <a:cs typeface="+mn-cs"/>
              </a:rPr>
              <a:t> RSA </a:t>
            </a:r>
            <a:r>
              <a:rPr sz="2000" dirty="0" err="1">
                <a:latin typeface="+mn-lt"/>
                <a:cs typeface="+mn-cs"/>
              </a:rPr>
              <a:t>的直接途径，但避免分解攻击并不足以保证语义安全</a:t>
            </a:r>
            <a:r>
              <a:rPr sz="2000" dirty="0">
                <a:latin typeface="+mn-lt"/>
              </a:rPr>
              <a:t>。</a:t>
            </a:r>
            <a:endParaRPr lang="en-US" sz="2000" dirty="0">
              <a:latin typeface="+mn-lt"/>
            </a:endParaRPr>
          </a:p>
          <a:p>
            <a:pPr>
              <a:spcAft>
                <a:spcPts val="1100"/>
              </a:spcAft>
              <a:defRPr sz="1700" b="1">
                <a:solidFill>
                  <a:srgbClr val="9C1E26"/>
                </a:solidFill>
                <a:latin typeface="微软雅黑"/>
              </a:defRPr>
            </a:pPr>
            <a:r>
              <a:rPr lang="zh-CN" altLang="en-US" sz="2000" dirty="0">
                <a:latin typeface="+mn-lt"/>
              </a:rPr>
              <a:t>目前已经存在有效解决大整数分解问题的方法，如 </a:t>
            </a:r>
            <a:r>
              <a:rPr lang="en-GB" altLang="zh-CN" sz="2000" i="1" dirty="0">
                <a:latin typeface="+mn-lt"/>
              </a:rPr>
              <a:t>p</a:t>
            </a:r>
            <a:r>
              <a:rPr lang="zh-CN" altLang="en-US" sz="2000" i="1" dirty="0">
                <a:latin typeface="+mn-lt"/>
              </a:rPr>
              <a:t> </a:t>
            </a:r>
            <a:r>
              <a:rPr lang="en-US" altLang="zh-CN" sz="2000" dirty="0">
                <a:latin typeface="+mn-lt"/>
              </a:rPr>
              <a:t>-</a:t>
            </a:r>
            <a:r>
              <a:rPr lang="en-GB" altLang="zh-CN" sz="2000" dirty="0">
                <a:latin typeface="+mn-lt"/>
              </a:rPr>
              <a:t>1 </a:t>
            </a:r>
            <a:r>
              <a:rPr lang="zh-CN" altLang="en-US" sz="2000" dirty="0">
                <a:latin typeface="+mn-lt"/>
              </a:rPr>
              <a:t>因子分解法、 </a:t>
            </a:r>
            <a:r>
              <a:rPr lang="en-GB" altLang="zh-CN" sz="2000" i="1" dirty="0">
                <a:latin typeface="+mn-lt"/>
              </a:rPr>
              <a:t>p</a:t>
            </a:r>
            <a:r>
              <a:rPr lang="zh-CN" altLang="en-US" sz="2000" i="1" dirty="0">
                <a:latin typeface="+mn-lt"/>
              </a:rPr>
              <a:t> </a:t>
            </a:r>
            <a:r>
              <a:rPr lang="en-US" altLang="zh-CN" sz="2000" dirty="0">
                <a:latin typeface="+mn-lt"/>
              </a:rPr>
              <a:t>+</a:t>
            </a:r>
            <a:r>
              <a:rPr lang="en-GB" altLang="zh-CN" sz="2000" dirty="0">
                <a:latin typeface="+mn-lt"/>
              </a:rPr>
              <a:t>1 </a:t>
            </a:r>
            <a:r>
              <a:rPr lang="zh-CN" altLang="en-US" sz="2000" dirty="0">
                <a:latin typeface="+mn-lt"/>
              </a:rPr>
              <a:t>因子分解法、二次筛因子分解法、椭圆曲线因子分解法、数域筛因子分解法等。</a:t>
            </a:r>
            <a:endParaRPr sz="2000" dirty="0">
              <a:latin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4" name="文本框 3"/>
          <p:cNvSpPr txBox="1"/>
          <p:nvPr/>
        </p:nvSpPr>
        <p:spPr>
          <a:xfrm>
            <a:off x="717867" y="842694"/>
            <a:ext cx="6096000"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rPr>
              <a:t>RSA </a:t>
            </a:r>
            <a:r>
              <a:rPr lang="zh-CN" altLang="en-US" sz="2400" dirty="0">
                <a:solidFill>
                  <a:srgbClr val="C00000"/>
                </a:solidFill>
                <a:latin typeface="+mn-lt"/>
              </a:rPr>
              <a:t>攻击一：共模攻击</a:t>
            </a:r>
          </a:p>
        </p:txBody>
      </p:sp>
      <p:sp>
        <p:nvSpPr>
          <p:cNvPr id="5" name="Rounded Rectangle 5"/>
          <p:cNvSpPr/>
          <p:nvPr/>
        </p:nvSpPr>
        <p:spPr>
          <a:xfrm>
            <a:off x="1392610" y="1339125"/>
            <a:ext cx="4600421" cy="3588881"/>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1575490" y="1457997"/>
            <a:ext cx="5047488"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攻击条件</a:t>
            </a:r>
            <a:endParaRPr sz="2400" dirty="0"/>
          </a:p>
        </p:txBody>
      </p:sp>
      <mc:AlternateContent xmlns:mc="http://schemas.openxmlformats.org/markup-compatibility/2006" xmlns:a14="http://schemas.microsoft.com/office/drawing/2010/main">
        <mc:Choice Requires="a14">
          <p:sp>
            <p:nvSpPr>
              <p:cNvPr id="7" name="TextBox 7"/>
              <p:cNvSpPr txBox="1"/>
              <p:nvPr/>
            </p:nvSpPr>
            <p:spPr>
              <a:xfrm>
                <a:off x="1575490" y="1942629"/>
                <a:ext cx="3972415" cy="1624034"/>
              </a:xfrm>
              <a:prstGeom prst="rect">
                <a:avLst/>
              </a:prstGeom>
              <a:noFill/>
            </p:spPr>
            <p:txBody>
              <a:bodyPr wrap="square" lIns="73152" tIns="64008">
                <a:spAutoFit/>
              </a:bodyPr>
              <a:lstStyle/>
              <a:p>
                <a:pPr>
                  <a:spcAft>
                    <a:spcPts val="1100"/>
                  </a:spcAft>
                  <a:defRPr sz="2200" b="0">
                    <a:solidFill>
                      <a:srgbClr val="2C2C2F"/>
                    </a:solidFill>
                    <a:latin typeface="微软雅黑"/>
                  </a:defRPr>
                </a:pPr>
                <a:r>
                  <a:rPr lang="zh-CN" altLang="en-US" sz="2000" dirty="0">
                    <a:latin typeface="+mn-lt"/>
                  </a:rPr>
                  <a:t>两个用户共用模数 </a:t>
                </a:r>
                <a:r>
                  <a:rPr lang="en-GB" sz="2000" i="1" dirty="0" err="1">
                    <a:latin typeface="+mn-lt"/>
                  </a:rPr>
                  <a:t>N</a:t>
                </a:r>
                <a:r>
                  <a:rPr lang="en-GB" sz="2000" dirty="0" err="1">
                    <a:latin typeface="+mn-lt"/>
                  </a:rPr>
                  <a:t>，</a:t>
                </a:r>
                <a:r>
                  <a:rPr lang="zh-CN" altLang="en-US" sz="2000" dirty="0" err="1">
                    <a:latin typeface="+mn-lt"/>
                  </a:rPr>
                  <a:t>指数</a:t>
                </a:r>
                <a:r>
                  <a:rPr lang="zh-CN" altLang="en-US" sz="2000" dirty="0">
                    <a:latin typeface="+mn-lt"/>
                  </a:rPr>
                  <a:t> </a:t>
                </a:r>
                <a:r>
                  <a:rPr lang="en-GB" sz="2000" i="1" dirty="0">
                    <a:latin typeface="+mn-lt"/>
                  </a:rPr>
                  <a:t>e</a:t>
                </a:r>
                <a:r>
                  <a:rPr lang="en-GB" sz="2000" dirty="0">
                    <a:latin typeface="+mn-lt"/>
                  </a:rPr>
                  <a:t>₁、</a:t>
                </a:r>
                <a:r>
                  <a:rPr lang="en-GB" sz="2000" i="1" dirty="0">
                    <a:latin typeface="+mn-lt"/>
                  </a:rPr>
                  <a:t>e</a:t>
                </a:r>
                <a:r>
                  <a:rPr lang="en-GB" sz="2000" dirty="0">
                    <a:latin typeface="+mn-lt"/>
                  </a:rPr>
                  <a:t>₂ </a:t>
                </a:r>
                <a:r>
                  <a:rPr lang="zh-CN" altLang="en-US" sz="2000" dirty="0" err="1">
                    <a:latin typeface="+mn-lt"/>
                  </a:rPr>
                  <a:t>互素</a:t>
                </a:r>
                <a:r>
                  <a:rPr lang="zh-CN" altLang="en-US" sz="2000" dirty="0">
                    <a:latin typeface="+mn-lt"/>
                  </a:rPr>
                  <a:t>，并对</a:t>
                </a:r>
                <a:r>
                  <a:rPr lang="zh-CN" altLang="en-US" sz="2000" dirty="0" err="1">
                    <a:latin typeface="+mn-lt"/>
                  </a:rPr>
                  <a:t>同一明文</a:t>
                </a:r>
                <a:r>
                  <a:rPr lang="zh-CN" altLang="en-US" sz="2000" dirty="0">
                    <a:latin typeface="+mn-lt"/>
                  </a:rPr>
                  <a:t> </a:t>
                </a:r>
                <a:r>
                  <a:rPr lang="en-GB" sz="2000" i="1" dirty="0">
                    <a:latin typeface="+mn-lt"/>
                  </a:rPr>
                  <a:t>M</a:t>
                </a:r>
                <a:r>
                  <a:rPr lang="en-GB" sz="2000" dirty="0">
                    <a:latin typeface="+mn-lt"/>
                  </a:rPr>
                  <a:t> </a:t>
                </a:r>
                <a:r>
                  <a:rPr lang="zh-CN" altLang="en-US" sz="2000" dirty="0" err="1">
                    <a:latin typeface="+mn-lt"/>
                  </a:rPr>
                  <a:t>分别加密</a:t>
                </a:r>
                <a:r>
                  <a:rPr lang="zh-CN" altLang="en-US" sz="2000" dirty="0">
                    <a:latin typeface="+mn-lt"/>
                  </a:rPr>
                  <a:t>：</a:t>
                </a:r>
              </a:p>
              <a:p>
                <a:pPr>
                  <a:spcAft>
                    <a:spcPts val="1100"/>
                  </a:spcAft>
                  <a:defRPr sz="2200" b="0">
                    <a:solidFill>
                      <a:srgbClr val="2C2C2F"/>
                    </a:solidFill>
                    <a:latin typeface="微软雅黑"/>
                  </a:defRPr>
                </a:pPr>
                <a:r>
                  <a:rPr lang="en-GB" sz="2000" i="1" dirty="0">
                    <a:latin typeface="+mn-lt"/>
                  </a:rPr>
                  <a:t>C</a:t>
                </a:r>
                <a:r>
                  <a:rPr lang="en-GB" sz="2000" dirty="0">
                    <a:latin typeface="+mn-lt"/>
                  </a:rPr>
                  <a:t>₁ = </a:t>
                </a:r>
                <a14:m>
                  <m:oMath xmlns:m="http://schemas.openxmlformats.org/officeDocument/2006/math">
                    <m:sSup>
                      <m:sSupPr>
                        <m:ctrlPr>
                          <a:rPr lang="ar-AE" altLang="zh-CN" sz="2000" i="1" smtClean="0">
                            <a:latin typeface="Cambria Math" panose="02040503050406030204" pitchFamily="18" charset="0"/>
                          </a:rPr>
                        </m:ctrlPr>
                      </m:sSupPr>
                      <m:e>
                        <m:r>
                          <a:rPr lang="en-GB" altLang="zh-CN" sz="2000" i="1">
                            <a:latin typeface="Cambria Math" panose="02040503050406030204" pitchFamily="18" charset="0"/>
                          </a:rPr>
                          <m:t>𝑀</m:t>
                        </m:r>
                      </m:e>
                      <m:sup>
                        <m:sSub>
                          <m:sSubPr>
                            <m:ctrlPr>
                              <a:rPr lang="ar-AE" altLang="zh-CN" sz="2000" i="1" smtClean="0">
                                <a:latin typeface="Cambria Math" panose="02040503050406030204" pitchFamily="18" charset="0"/>
                              </a:rPr>
                            </m:ctrlPr>
                          </m:sSubPr>
                          <m:e>
                            <m:r>
                              <a:rPr lang="ar-AE" altLang="zh-CN" sz="2000" b="0" i="1" smtClean="0">
                                <a:latin typeface="Cambria Math" panose="02040503050406030204" pitchFamily="18" charset="0"/>
                              </a:rPr>
                              <m:t>𝑒</m:t>
                            </m:r>
                          </m:e>
                          <m:sub>
                            <m:r>
                              <a:rPr lang="en-US" altLang="zh-CN" sz="2000" b="0" i="1" smtClean="0">
                                <a:latin typeface="Cambria Math" panose="02040503050406030204" pitchFamily="18" charset="0"/>
                              </a:rPr>
                              <m:t>1</m:t>
                            </m:r>
                          </m:sub>
                        </m:sSub>
                      </m:sup>
                    </m:sSup>
                  </m:oMath>
                </a14:m>
                <a:r>
                  <a:rPr lang="en-GB" sz="2000" dirty="0">
                    <a:latin typeface="+mn-lt"/>
                  </a:rPr>
                  <a:t> mod </a:t>
                </a:r>
                <a:r>
                  <a:rPr lang="en-GB" sz="2000" i="1" dirty="0">
                    <a:latin typeface="+mn-lt"/>
                  </a:rPr>
                  <a:t>N</a:t>
                </a:r>
              </a:p>
              <a:p>
                <a:pPr>
                  <a:spcAft>
                    <a:spcPts val="1100"/>
                  </a:spcAft>
                  <a:defRPr sz="2200" b="0">
                    <a:solidFill>
                      <a:srgbClr val="2C2C2F"/>
                    </a:solidFill>
                    <a:latin typeface="微软雅黑"/>
                  </a:defRPr>
                </a:pPr>
                <a:r>
                  <a:rPr lang="en-GB" sz="2000" i="1" dirty="0">
                    <a:latin typeface="+mn-lt"/>
                  </a:rPr>
                  <a:t>C</a:t>
                </a:r>
                <a:r>
                  <a:rPr lang="en-GB" sz="2000" dirty="0">
                    <a:latin typeface="+mn-lt"/>
                  </a:rPr>
                  <a:t>₂ = </a:t>
                </a:r>
                <a14:m>
                  <m:oMath xmlns:m="http://schemas.openxmlformats.org/officeDocument/2006/math">
                    <m:sSup>
                      <m:sSupPr>
                        <m:ctrlPr>
                          <a:rPr lang="ar-AE" altLang="zh-CN" sz="2000" i="1" smtClean="0">
                            <a:latin typeface="Cambria Math" panose="02040503050406030204" pitchFamily="18" charset="0"/>
                          </a:rPr>
                        </m:ctrlPr>
                      </m:sSupPr>
                      <m:e>
                        <m:r>
                          <a:rPr lang="en-GB" altLang="zh-CN" sz="2000" i="1">
                            <a:latin typeface="Cambria Math" panose="02040503050406030204" pitchFamily="18" charset="0"/>
                          </a:rPr>
                          <m:t>𝑀</m:t>
                        </m:r>
                      </m:e>
                      <m:sup>
                        <m:sSub>
                          <m:sSubPr>
                            <m:ctrlPr>
                              <a:rPr lang="ar-AE" altLang="zh-CN" sz="2000" i="1" smtClean="0">
                                <a:latin typeface="Cambria Math" panose="02040503050406030204" pitchFamily="18" charset="0"/>
                              </a:rPr>
                            </m:ctrlPr>
                          </m:sSubPr>
                          <m:e>
                            <m:r>
                              <a:rPr lang="ar-AE" altLang="zh-CN" sz="2000" b="0" i="1" smtClean="0">
                                <a:latin typeface="Cambria Math" panose="02040503050406030204" pitchFamily="18" charset="0"/>
                              </a:rPr>
                              <m:t>𝑒</m:t>
                            </m:r>
                          </m:e>
                          <m:sub>
                            <m:r>
                              <a:rPr lang="en-US" altLang="zh-CN" sz="2000" b="0" i="1" smtClean="0">
                                <a:latin typeface="Cambria Math" panose="02040503050406030204" pitchFamily="18" charset="0"/>
                              </a:rPr>
                              <m:t>2</m:t>
                            </m:r>
                          </m:sub>
                        </m:sSub>
                      </m:sup>
                    </m:sSup>
                    <m:r>
                      <a:rPr lang="en-US" altLang="zh-CN" sz="2000" b="0" i="1" smtClean="0">
                        <a:latin typeface="Cambria Math" panose="02040503050406030204" pitchFamily="18" charset="0"/>
                      </a:rPr>
                      <m:t> </m:t>
                    </m:r>
                  </m:oMath>
                </a14:m>
                <a:r>
                  <a:rPr lang="en-GB" sz="2000" dirty="0">
                    <a:latin typeface="+mn-lt"/>
                  </a:rPr>
                  <a:t>mod </a:t>
                </a:r>
                <a:r>
                  <a:rPr lang="en-GB" sz="2000" i="1" dirty="0">
                    <a:latin typeface="+mn-lt"/>
                  </a:rPr>
                  <a:t>N</a:t>
                </a:r>
              </a:p>
            </p:txBody>
          </p:sp>
        </mc:Choice>
        <mc:Fallback xmlns="">
          <p:sp>
            <p:nvSpPr>
              <p:cNvPr id="7" name="TextBox 7"/>
              <p:cNvSpPr txBox="1">
                <a:spLocks noRot="1" noChangeAspect="1" noMove="1" noResize="1" noEditPoints="1" noAdjustHandles="1" noChangeArrowheads="1" noChangeShapeType="1" noTextEdit="1"/>
              </p:cNvSpPr>
              <p:nvPr/>
            </p:nvSpPr>
            <p:spPr>
              <a:xfrm>
                <a:off x="1575490" y="1942629"/>
                <a:ext cx="3972415" cy="1624034"/>
              </a:xfrm>
              <a:prstGeom prst="rect">
                <a:avLst/>
              </a:prstGeom>
              <a:blipFill>
                <a:blip r:embed="rId3"/>
                <a:stretch>
                  <a:fillRect l="-1911" t="-1563" r="-3822" b="-6250"/>
                </a:stretch>
              </a:blipFill>
            </p:spPr>
            <p:txBody>
              <a:bodyPr/>
              <a:lstStyle/>
              <a:p>
                <a:r>
                  <a:rPr lang="zh-CN" altLang="en-US">
                    <a:noFill/>
                  </a:rPr>
                  <a:t> </a:t>
                </a:r>
              </a:p>
            </p:txBody>
          </p:sp>
        </mc:Fallback>
      </mc:AlternateContent>
      <p:sp>
        <p:nvSpPr>
          <p:cNvPr id="8" name="Rounded Rectangle 8"/>
          <p:cNvSpPr/>
          <p:nvPr/>
        </p:nvSpPr>
        <p:spPr>
          <a:xfrm>
            <a:off x="6660541" y="1339125"/>
            <a:ext cx="4600421" cy="3588877"/>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43421" y="1457997"/>
            <a:ext cx="4956048"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恢复明文</a:t>
            </a:r>
            <a:endParaRPr sz="2400" dirty="0"/>
          </a:p>
        </p:txBody>
      </p:sp>
      <mc:AlternateContent xmlns:mc="http://schemas.openxmlformats.org/markup-compatibility/2006" xmlns:a14="http://schemas.microsoft.com/office/drawing/2010/main">
        <mc:Choice Requires="a14">
          <p:sp>
            <p:nvSpPr>
              <p:cNvPr id="19" name="TextBox 10"/>
              <p:cNvSpPr txBox="1"/>
              <p:nvPr/>
            </p:nvSpPr>
            <p:spPr>
              <a:xfrm>
                <a:off x="6843421" y="1942629"/>
                <a:ext cx="4956048" cy="2693558"/>
              </a:xfrm>
              <a:prstGeom prst="rect">
                <a:avLst/>
              </a:prstGeom>
              <a:noFill/>
            </p:spPr>
            <p:txBody>
              <a:bodyPr wrap="square" lIns="73152" tIns="64008">
                <a:spAutoFit/>
              </a:bodyPr>
              <a:lstStyle/>
              <a:p>
                <a:pPr>
                  <a:spcAft>
                    <a:spcPts val="1100"/>
                  </a:spcAft>
                  <a:defRPr sz="2200" b="0">
                    <a:solidFill>
                      <a:srgbClr val="2C2C2F"/>
                    </a:solidFill>
                    <a:latin typeface="微软雅黑"/>
                  </a:defRPr>
                </a:pPr>
                <a:r>
                  <a:rPr sz="2000" dirty="0" err="1">
                    <a:latin typeface="+mn-lt"/>
                  </a:rPr>
                  <a:t>扩展欧几里得算法求</a:t>
                </a:r>
                <a:r>
                  <a:rPr sz="2000" dirty="0">
                    <a:latin typeface="+mn-lt"/>
                  </a:rPr>
                  <a:t>：</a:t>
                </a:r>
              </a:p>
              <a:p>
                <a:pPr>
                  <a:spcAft>
                    <a:spcPts val="1100"/>
                  </a:spcAft>
                  <a:defRPr sz="2200" b="0">
                    <a:solidFill>
                      <a:srgbClr val="2C2C2F"/>
                    </a:solidFill>
                    <a:latin typeface="微软雅黑"/>
                  </a:defRPr>
                </a:pPr>
                <a:r>
                  <a:rPr sz="2000" i="1" dirty="0">
                    <a:latin typeface="+mn-lt"/>
                  </a:rPr>
                  <a:t>r</a:t>
                </a:r>
                <a:r>
                  <a:rPr lang="en-US" altLang="zh-CN" dirty="0">
                    <a:solidFill>
                      <a:srgbClr val="000000"/>
                    </a:solidFill>
                    <a:effectLst/>
                    <a:ea typeface="+mn-ea"/>
                    <a:cs typeface="+mn-cs"/>
                  </a:rPr>
                  <a:t> </a:t>
                </a:r>
                <a14:m>
                  <m:oMath xmlns:m="http://schemas.openxmlformats.org/officeDocument/2006/math">
                    <m:r>
                      <a:rPr lang="en-US" altLang="zh-CN" i="1" smtClean="0">
                        <a:solidFill>
                          <a:srgbClr val="000000"/>
                        </a:solidFill>
                        <a:effectLst/>
                        <a:latin typeface="Cambria Math" panose="02040503050406030204" pitchFamily="18" charset="0"/>
                        <a:ea typeface="+mn-ea"/>
                        <a:cs typeface="+mn-cs"/>
                      </a:rPr>
                      <m:t>× </m:t>
                    </m:r>
                  </m:oMath>
                </a14:m>
                <a:r>
                  <a:rPr sz="2000" i="1" dirty="0">
                    <a:latin typeface="+mn-lt"/>
                  </a:rPr>
                  <a:t>e</a:t>
                </a:r>
                <a:r>
                  <a:rPr sz="2000" dirty="0">
                    <a:latin typeface="+mn-lt"/>
                  </a:rPr>
                  <a:t>₁ + </a:t>
                </a:r>
                <a:r>
                  <a:rPr sz="2000" i="1" dirty="0">
                    <a:latin typeface="+mn-lt"/>
                  </a:rPr>
                  <a:t>s</a:t>
                </a:r>
                <a:r>
                  <a:rPr lang="en-US" altLang="zh-CN" dirty="0">
                    <a:solidFill>
                      <a:srgbClr val="000000"/>
                    </a:solidFill>
                    <a:latin typeface="微软雅黑"/>
                  </a:rPr>
                  <a:t> </a:t>
                </a:r>
                <a14:m>
                  <m:oMath xmlns:m="http://schemas.openxmlformats.org/officeDocument/2006/math">
                    <m:r>
                      <a:rPr lang="en-US" altLang="zh-CN" i="1">
                        <a:solidFill>
                          <a:srgbClr val="000000"/>
                        </a:solidFill>
                        <a:latin typeface="Cambria Math" panose="02040503050406030204" pitchFamily="18" charset="0"/>
                      </a:rPr>
                      <m:t>× </m:t>
                    </m:r>
                  </m:oMath>
                </a14:m>
                <a:r>
                  <a:rPr sz="2000" i="1" dirty="0" err="1">
                    <a:latin typeface="+mn-lt"/>
                  </a:rPr>
                  <a:t>e</a:t>
                </a:r>
                <a:r>
                  <a:rPr sz="2000" dirty="0">
                    <a:latin typeface="+mn-lt"/>
                  </a:rPr>
                  <a:t>₂ = 1</a:t>
                </a:r>
              </a:p>
              <a:p>
                <a:pPr>
                  <a:spcAft>
                    <a:spcPts val="1100"/>
                  </a:spcAft>
                  <a:defRPr sz="2200" b="0">
                    <a:solidFill>
                      <a:srgbClr val="2C2C2F"/>
                    </a:solidFill>
                    <a:latin typeface="微软雅黑"/>
                  </a:defRPr>
                </a:pPr>
                <a:endParaRPr sz="2000" dirty="0">
                  <a:latin typeface="+mn-lt"/>
                </a:endParaRPr>
              </a:p>
              <a:p>
                <a:pPr>
                  <a:spcAft>
                    <a:spcPts val="1100"/>
                  </a:spcAft>
                  <a:defRPr sz="2200" b="0">
                    <a:solidFill>
                      <a:srgbClr val="2C2C2F"/>
                    </a:solidFill>
                    <a:latin typeface="微软雅黑"/>
                  </a:defRPr>
                </a:pPr>
                <a:r>
                  <a:rPr sz="2000" dirty="0" err="1">
                    <a:latin typeface="+mn-lt"/>
                  </a:rPr>
                  <a:t>于是</a:t>
                </a:r>
                <a:r>
                  <a:rPr sz="2000" dirty="0">
                    <a:latin typeface="+mn-lt"/>
                  </a:rPr>
                  <a:t>：</a:t>
                </a:r>
              </a:p>
              <a:p>
                <a:pPr>
                  <a:spcAft>
                    <a:spcPts val="1100"/>
                  </a:spcAft>
                  <a:defRPr sz="2200" b="0">
                    <a:solidFill>
                      <a:srgbClr val="2C2C2F"/>
                    </a:solidFill>
                    <a:latin typeface="微软雅黑"/>
                  </a:defRPr>
                </a:pPr>
                <a:r>
                  <a:rPr sz="2000" i="1" dirty="0" err="1">
                    <a:latin typeface="+mn-lt"/>
                  </a:rPr>
                  <a:t>C</a:t>
                </a:r>
                <a:r>
                  <a:rPr sz="2000" dirty="0" err="1">
                    <a:latin typeface="+mn-lt"/>
                  </a:rPr>
                  <a:t>₁</a:t>
                </a:r>
                <a:r>
                  <a:rPr sz="2000" i="1" dirty="0" err="1">
                    <a:latin typeface="+mn-lt"/>
                  </a:rPr>
                  <a:t>ʳ</a:t>
                </a:r>
                <a:r>
                  <a:rPr sz="2000" dirty="0">
                    <a:latin typeface="+mn-lt"/>
                  </a:rPr>
                  <a:t> · </a:t>
                </a:r>
                <a:r>
                  <a:rPr sz="2000" i="1" dirty="0" err="1">
                    <a:latin typeface="+mn-lt"/>
                  </a:rPr>
                  <a:t>C</a:t>
                </a:r>
                <a:r>
                  <a:rPr sz="2000" dirty="0" err="1">
                    <a:latin typeface="+mn-lt"/>
                  </a:rPr>
                  <a:t>₂</a:t>
                </a:r>
                <a:r>
                  <a:rPr sz="2000" i="1" dirty="0" err="1">
                    <a:latin typeface="+mn-lt"/>
                  </a:rPr>
                  <a:t>ˢ</a:t>
                </a:r>
                <a:r>
                  <a:rPr sz="2000" dirty="0">
                    <a:latin typeface="+mn-lt"/>
                  </a:rPr>
                  <a:t> ≡ </a:t>
                </a:r>
                <a:r>
                  <a:rPr sz="2000" i="1" dirty="0">
                    <a:latin typeface="+mn-lt"/>
                  </a:rPr>
                  <a:t>M</a:t>
                </a:r>
                <a:r>
                  <a:rPr sz="2000" dirty="0">
                    <a:latin typeface="+mn-lt"/>
                  </a:rPr>
                  <a:t> (mod </a:t>
                </a:r>
                <a:r>
                  <a:rPr sz="2000" i="1" dirty="0">
                    <a:latin typeface="+mn-lt"/>
                  </a:rPr>
                  <a:t>N</a:t>
                </a:r>
                <a:r>
                  <a:rPr sz="2000" dirty="0">
                    <a:latin typeface="+mn-lt"/>
                  </a:rPr>
                  <a:t>)</a:t>
                </a:r>
              </a:p>
              <a:p>
                <a:pPr>
                  <a:spcAft>
                    <a:spcPts val="1100"/>
                  </a:spcAft>
                  <a:defRPr sz="2200" b="0">
                    <a:solidFill>
                      <a:srgbClr val="2C2C2F"/>
                    </a:solidFill>
                    <a:latin typeface="微软雅黑"/>
                  </a:defRPr>
                </a:pPr>
                <a:r>
                  <a:rPr sz="2000" dirty="0" err="1">
                    <a:latin typeface="+mn-lt"/>
                  </a:rPr>
                  <a:t>负指数按模逆元处理</a:t>
                </a:r>
                <a:r>
                  <a:rPr sz="2000" dirty="0">
                    <a:latin typeface="+mn-lt"/>
                  </a:rPr>
                  <a:t>。</a:t>
                </a:r>
              </a:p>
            </p:txBody>
          </p:sp>
        </mc:Choice>
        <mc:Fallback xmlns="">
          <p:sp>
            <p:nvSpPr>
              <p:cNvPr id="19" name="TextBox 10"/>
              <p:cNvSpPr txBox="1">
                <a:spLocks noRot="1" noChangeAspect="1" noMove="1" noResize="1" noEditPoints="1" noAdjustHandles="1" noChangeArrowheads="1" noChangeShapeType="1" noTextEdit="1"/>
              </p:cNvSpPr>
              <p:nvPr/>
            </p:nvSpPr>
            <p:spPr>
              <a:xfrm>
                <a:off x="6843421" y="1942629"/>
                <a:ext cx="4956048" cy="2693558"/>
              </a:xfrm>
              <a:prstGeom prst="rect">
                <a:avLst/>
              </a:prstGeom>
              <a:blipFill>
                <a:blip r:embed="rId4"/>
                <a:stretch>
                  <a:fillRect l="-1790" t="-939" b="-3286"/>
                </a:stretch>
              </a:blipFill>
            </p:spPr>
            <p:txBody>
              <a:bodyPr/>
              <a:lstStyle/>
              <a:p>
                <a:r>
                  <a:rPr lang="zh-CN" altLang="en-US">
                    <a:noFill/>
                  </a:rPr>
                  <a:t> </a:t>
                </a:r>
              </a:p>
            </p:txBody>
          </p:sp>
        </mc:Fallback>
      </mc:AlternateContent>
      <p:sp>
        <p:nvSpPr>
          <p:cNvPr id="20" name="Rounded Rectangle 11"/>
          <p:cNvSpPr/>
          <p:nvPr/>
        </p:nvSpPr>
        <p:spPr>
          <a:xfrm>
            <a:off x="485503" y="5581658"/>
            <a:ext cx="1115568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2"/>
          <p:cNvSpPr txBox="1"/>
          <p:nvPr/>
        </p:nvSpPr>
        <p:spPr>
          <a:xfrm>
            <a:off x="650095" y="5654810"/>
            <a:ext cx="10835640" cy="418576"/>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latin typeface="+mn-lt"/>
              </a:rPr>
              <a:t>安全启示：不同</a:t>
            </a:r>
            <a:r>
              <a:rPr sz="2000" dirty="0">
                <a:latin typeface="+mn-lt"/>
              </a:rPr>
              <a:t> RSA </a:t>
            </a:r>
            <a:r>
              <a:rPr sz="2000" dirty="0" err="1">
                <a:latin typeface="+mn-lt"/>
              </a:rPr>
              <a:t>用户不应共用同一个模数</a:t>
            </a:r>
            <a:r>
              <a:rPr sz="2000" dirty="0">
                <a:latin typeface="+mn-lt"/>
              </a:rPr>
              <a:t> </a:t>
            </a:r>
            <a:r>
              <a:rPr sz="2000" i="1" dirty="0">
                <a:latin typeface="+mn-lt"/>
              </a:rPr>
              <a:t>N</a:t>
            </a:r>
            <a:r>
              <a:rPr sz="2000" dirty="0">
                <a:latin typeface="+mn-lt"/>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Rounded Rectangle 5"/>
          <p:cNvSpPr/>
          <p:nvPr/>
        </p:nvSpPr>
        <p:spPr>
          <a:xfrm>
            <a:off x="1490967" y="1465411"/>
            <a:ext cx="4045567" cy="3568056"/>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6"/>
          <p:cNvSpPr txBox="1"/>
          <p:nvPr/>
        </p:nvSpPr>
        <p:spPr>
          <a:xfrm>
            <a:off x="1673847" y="1584283"/>
            <a:ext cx="4965192"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攻击条件</a:t>
            </a:r>
            <a:endParaRPr sz="2400" dirty="0"/>
          </a:p>
        </p:txBody>
      </p:sp>
      <p:sp>
        <p:nvSpPr>
          <p:cNvPr id="4" name="TextBox 7"/>
          <p:cNvSpPr txBox="1"/>
          <p:nvPr/>
        </p:nvSpPr>
        <p:spPr>
          <a:xfrm>
            <a:off x="1673847" y="2068915"/>
            <a:ext cx="4965192" cy="2058035"/>
          </a:xfrm>
          <a:prstGeom prst="rect">
            <a:avLst/>
          </a:prstGeom>
          <a:noFill/>
        </p:spPr>
        <p:txBody>
          <a:bodyPr wrap="square" lIns="73152" tIns="64008">
            <a:spAutoFit/>
          </a:bodyPr>
          <a:lstStyle/>
          <a:p>
            <a:pPr>
              <a:spcAft>
                <a:spcPts val="1100"/>
              </a:spcAft>
              <a:defRPr sz="2100" b="0">
                <a:solidFill>
                  <a:srgbClr val="2C2C2F"/>
                </a:solidFill>
                <a:latin typeface="微软雅黑"/>
              </a:defRPr>
            </a:pPr>
            <a:r>
              <a:rPr sz="1800" dirty="0" err="1">
                <a:latin typeface="+mn-lt"/>
              </a:rPr>
              <a:t>同一明文</a:t>
            </a:r>
            <a:r>
              <a:rPr sz="1800" dirty="0">
                <a:latin typeface="+mn-lt"/>
              </a:rPr>
              <a:t> </a:t>
            </a:r>
            <a:r>
              <a:rPr sz="1800" i="1" dirty="0" err="1">
                <a:latin typeface="+mn-lt"/>
              </a:rPr>
              <a:t>M</a:t>
            </a:r>
            <a:r>
              <a:rPr sz="1800" dirty="0" err="1">
                <a:latin typeface="+mn-lt"/>
              </a:rPr>
              <a:t>，使用</a:t>
            </a:r>
            <a:r>
              <a:rPr sz="1800" dirty="0">
                <a:latin typeface="+mn-lt"/>
              </a:rPr>
              <a:t> </a:t>
            </a:r>
            <a:r>
              <a:rPr sz="1800" i="1" dirty="0">
                <a:latin typeface="+mn-lt"/>
              </a:rPr>
              <a:t>e</a:t>
            </a:r>
            <a:r>
              <a:rPr sz="1800" dirty="0">
                <a:latin typeface="+mn-lt"/>
              </a:rPr>
              <a:t> = 3</a:t>
            </a:r>
          </a:p>
          <a:p>
            <a:pPr>
              <a:spcAft>
                <a:spcPts val="1100"/>
              </a:spcAft>
              <a:defRPr sz="2100" b="0">
                <a:solidFill>
                  <a:srgbClr val="2C2C2F"/>
                </a:solidFill>
                <a:latin typeface="微软雅黑"/>
              </a:defRPr>
            </a:pPr>
            <a:r>
              <a:rPr sz="1800" dirty="0" err="1">
                <a:latin typeface="+mn-lt"/>
              </a:rPr>
              <a:t>发送给三个不同的接收方</a:t>
            </a:r>
            <a:endParaRPr sz="1800" dirty="0">
              <a:latin typeface="+mn-lt"/>
            </a:endParaRPr>
          </a:p>
          <a:p>
            <a:pPr>
              <a:spcAft>
                <a:spcPts val="1100"/>
              </a:spcAft>
              <a:defRPr sz="2100" b="0">
                <a:solidFill>
                  <a:srgbClr val="2C2C2F"/>
                </a:solidFill>
                <a:latin typeface="微软雅黑"/>
              </a:defRPr>
            </a:pPr>
            <a:endParaRPr sz="1800" dirty="0">
              <a:latin typeface="+mn-lt"/>
            </a:endParaRPr>
          </a:p>
          <a:p>
            <a:pPr>
              <a:spcAft>
                <a:spcPts val="1100"/>
              </a:spcAft>
              <a:defRPr sz="2100" b="0">
                <a:solidFill>
                  <a:srgbClr val="2C2C2F"/>
                </a:solidFill>
                <a:latin typeface="微软雅黑"/>
              </a:defRPr>
            </a:pPr>
            <a:r>
              <a:rPr sz="1800" i="1" dirty="0">
                <a:latin typeface="+mn-lt"/>
              </a:rPr>
              <a:t>Cᵢ </a:t>
            </a:r>
            <a:r>
              <a:rPr sz="1800" dirty="0">
                <a:latin typeface="+mn-lt"/>
              </a:rPr>
              <a:t>= </a:t>
            </a:r>
            <a:r>
              <a:rPr sz="1800" i="1" dirty="0">
                <a:latin typeface="+mn-lt"/>
              </a:rPr>
              <a:t>M</a:t>
            </a:r>
            <a:r>
              <a:rPr lang="en-US" sz="1800" i="1" dirty="0">
                <a:latin typeface="+mn-lt"/>
              </a:rPr>
              <a:t> </a:t>
            </a:r>
            <a:r>
              <a:rPr sz="1800" dirty="0">
                <a:latin typeface="+mn-lt"/>
              </a:rPr>
              <a:t>³ mod </a:t>
            </a:r>
            <a:r>
              <a:rPr sz="1800" i="1" dirty="0">
                <a:latin typeface="+mn-lt"/>
              </a:rPr>
              <a:t>N</a:t>
            </a:r>
            <a:r>
              <a:rPr sz="1800" dirty="0">
                <a:latin typeface="+mn-lt"/>
              </a:rPr>
              <a:t>ᵢ</a:t>
            </a:r>
          </a:p>
          <a:p>
            <a:pPr>
              <a:spcAft>
                <a:spcPts val="1100"/>
              </a:spcAft>
              <a:defRPr sz="2100" b="0">
                <a:solidFill>
                  <a:srgbClr val="2C2C2F"/>
                </a:solidFill>
                <a:latin typeface="微软雅黑"/>
              </a:defRPr>
            </a:pPr>
            <a:r>
              <a:rPr sz="1800" i="1" dirty="0">
                <a:latin typeface="+mn-lt"/>
              </a:rPr>
              <a:t>N</a:t>
            </a:r>
            <a:r>
              <a:rPr sz="1800" dirty="0">
                <a:latin typeface="+mn-lt"/>
              </a:rPr>
              <a:t>₁、</a:t>
            </a:r>
            <a:r>
              <a:rPr sz="1800" i="1" dirty="0">
                <a:latin typeface="+mn-lt"/>
              </a:rPr>
              <a:t>N</a:t>
            </a:r>
            <a:r>
              <a:rPr sz="1800" dirty="0">
                <a:latin typeface="+mn-lt"/>
              </a:rPr>
              <a:t>₂、</a:t>
            </a:r>
            <a:r>
              <a:rPr sz="1800" i="1" dirty="0">
                <a:latin typeface="+mn-lt"/>
              </a:rPr>
              <a:t>N</a:t>
            </a:r>
            <a:r>
              <a:rPr sz="1800" dirty="0">
                <a:latin typeface="+mn-lt"/>
              </a:rPr>
              <a:t>₃ </a:t>
            </a:r>
            <a:r>
              <a:rPr sz="1800" dirty="0" err="1">
                <a:latin typeface="+mn-lt"/>
              </a:rPr>
              <a:t>两两互素</a:t>
            </a:r>
          </a:p>
        </p:txBody>
      </p:sp>
      <p:sp>
        <p:nvSpPr>
          <p:cNvPr id="5" name="Rounded Rectangle 8"/>
          <p:cNvSpPr/>
          <p:nvPr/>
        </p:nvSpPr>
        <p:spPr>
          <a:xfrm>
            <a:off x="7059663" y="1465411"/>
            <a:ext cx="4033375" cy="3568056"/>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9"/>
          <p:cNvSpPr txBox="1"/>
          <p:nvPr/>
        </p:nvSpPr>
        <p:spPr>
          <a:xfrm>
            <a:off x="7242543" y="1584283"/>
            <a:ext cx="5029200"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攻击原理</a:t>
            </a:r>
            <a:endParaRPr sz="2400" dirty="0"/>
          </a:p>
        </p:txBody>
      </p:sp>
      <p:sp>
        <p:nvSpPr>
          <p:cNvPr id="7" name="TextBox 10"/>
          <p:cNvSpPr txBox="1"/>
          <p:nvPr/>
        </p:nvSpPr>
        <p:spPr>
          <a:xfrm>
            <a:off x="7242543" y="2068915"/>
            <a:ext cx="5029200" cy="2662780"/>
          </a:xfrm>
          <a:prstGeom prst="rect">
            <a:avLst/>
          </a:prstGeom>
          <a:noFill/>
        </p:spPr>
        <p:txBody>
          <a:bodyPr wrap="square" lIns="73152" tIns="64008">
            <a:spAutoFit/>
          </a:bodyPr>
          <a:lstStyle/>
          <a:p>
            <a:pPr>
              <a:spcAft>
                <a:spcPts val="1100"/>
              </a:spcAft>
              <a:defRPr sz="2100" b="0">
                <a:solidFill>
                  <a:srgbClr val="2C2C2F"/>
                </a:solidFill>
                <a:latin typeface="微软雅黑"/>
              </a:defRPr>
            </a:pPr>
            <a:r>
              <a:rPr sz="2000" dirty="0" err="1">
                <a:latin typeface="+mn-lt"/>
              </a:rPr>
              <a:t>由中国剩余定理</a:t>
            </a:r>
            <a:r>
              <a:rPr sz="2000" dirty="0">
                <a:latin typeface="+mn-lt"/>
              </a:rPr>
              <a:t> CRT </a:t>
            </a:r>
            <a:r>
              <a:rPr sz="2000" dirty="0" err="1">
                <a:latin typeface="+mn-lt"/>
              </a:rPr>
              <a:t>重建</a:t>
            </a:r>
            <a:r>
              <a:rPr sz="2000" dirty="0">
                <a:latin typeface="+mn-lt"/>
              </a:rPr>
              <a:t>：</a:t>
            </a:r>
          </a:p>
          <a:p>
            <a:pPr>
              <a:spcAft>
                <a:spcPts val="1100"/>
              </a:spcAft>
              <a:defRPr sz="2100" b="0">
                <a:solidFill>
                  <a:srgbClr val="2C2C2F"/>
                </a:solidFill>
                <a:latin typeface="微软雅黑"/>
              </a:defRPr>
            </a:pPr>
            <a:r>
              <a:rPr sz="2000" i="1" dirty="0">
                <a:latin typeface="+mn-lt"/>
              </a:rPr>
              <a:t>X</a:t>
            </a:r>
            <a:r>
              <a:rPr sz="2000" dirty="0">
                <a:latin typeface="+mn-lt"/>
              </a:rPr>
              <a:t> ≡ </a:t>
            </a:r>
            <a:r>
              <a:rPr sz="2000" i="1" dirty="0">
                <a:latin typeface="+mn-lt"/>
              </a:rPr>
              <a:t>M</a:t>
            </a:r>
            <a:r>
              <a:rPr lang="en-US" sz="2000" i="1" dirty="0">
                <a:latin typeface="+mn-lt"/>
              </a:rPr>
              <a:t> </a:t>
            </a:r>
            <a:r>
              <a:rPr sz="2000" dirty="0">
                <a:latin typeface="+mn-lt"/>
              </a:rPr>
              <a:t>³ (mod </a:t>
            </a:r>
            <a:r>
              <a:rPr sz="2000" i="1" dirty="0">
                <a:latin typeface="+mn-lt"/>
              </a:rPr>
              <a:t>N</a:t>
            </a:r>
            <a:r>
              <a:rPr sz="2000" dirty="0">
                <a:latin typeface="+mn-lt"/>
              </a:rPr>
              <a:t>₁</a:t>
            </a:r>
            <a:r>
              <a:rPr sz="2000" i="1" dirty="0">
                <a:latin typeface="+mn-lt"/>
              </a:rPr>
              <a:t>N</a:t>
            </a:r>
            <a:r>
              <a:rPr sz="2000" dirty="0">
                <a:latin typeface="+mn-lt"/>
              </a:rPr>
              <a:t>₂</a:t>
            </a:r>
            <a:r>
              <a:rPr lang="en-GB" altLang="zh-CN" sz="2000" i="1" dirty="0">
                <a:latin typeface="+mn-lt"/>
              </a:rPr>
              <a:t> N </a:t>
            </a:r>
            <a:r>
              <a:rPr sz="2000" dirty="0">
                <a:latin typeface="+mn-lt"/>
              </a:rPr>
              <a:t>₃)</a:t>
            </a:r>
          </a:p>
          <a:p>
            <a:pPr>
              <a:spcAft>
                <a:spcPts val="1100"/>
              </a:spcAft>
              <a:defRPr sz="2100" b="0">
                <a:solidFill>
                  <a:srgbClr val="2C2C2F"/>
                </a:solidFill>
                <a:latin typeface="微软雅黑"/>
              </a:defRPr>
            </a:pPr>
            <a:endParaRPr sz="2000" dirty="0">
              <a:latin typeface="+mn-lt"/>
            </a:endParaRPr>
          </a:p>
          <a:p>
            <a:pPr>
              <a:spcAft>
                <a:spcPts val="1100"/>
              </a:spcAft>
              <a:defRPr sz="2100" b="0">
                <a:solidFill>
                  <a:srgbClr val="2C2C2F"/>
                </a:solidFill>
                <a:latin typeface="微软雅黑"/>
              </a:defRPr>
            </a:pPr>
            <a:r>
              <a:rPr sz="2000" dirty="0" err="1">
                <a:latin typeface="+mn-lt"/>
              </a:rPr>
              <a:t>当</a:t>
            </a:r>
            <a:r>
              <a:rPr sz="2000" dirty="0">
                <a:latin typeface="+mn-lt"/>
              </a:rPr>
              <a:t> 0 ≤ </a:t>
            </a:r>
            <a:r>
              <a:rPr lang="en-GB" altLang="zh-CN" sz="2000" i="1" dirty="0">
                <a:latin typeface="+mn-lt"/>
              </a:rPr>
              <a:t>M</a:t>
            </a:r>
            <a:r>
              <a:rPr sz="2000" dirty="0">
                <a:latin typeface="+mn-lt"/>
              </a:rPr>
              <a:t> &lt; min(</a:t>
            </a:r>
            <a:r>
              <a:rPr lang="en-GB" altLang="zh-CN" sz="2000" i="1" dirty="0">
                <a:latin typeface="+mn-lt"/>
              </a:rPr>
              <a:t>N </a:t>
            </a:r>
            <a:r>
              <a:rPr sz="2000" i="1" dirty="0">
                <a:latin typeface="+mn-lt"/>
              </a:rPr>
              <a:t>ᵢ</a:t>
            </a:r>
            <a:r>
              <a:rPr sz="2000" dirty="0">
                <a:latin typeface="+mn-lt"/>
              </a:rPr>
              <a:t>) </a:t>
            </a:r>
            <a:r>
              <a:rPr sz="2000" dirty="0" err="1">
                <a:latin typeface="+mn-lt"/>
              </a:rPr>
              <a:t>时</a:t>
            </a:r>
            <a:r>
              <a:rPr sz="2000" dirty="0">
                <a:latin typeface="+mn-lt"/>
              </a:rPr>
              <a:t>：</a:t>
            </a:r>
          </a:p>
          <a:p>
            <a:pPr>
              <a:spcAft>
                <a:spcPts val="1100"/>
              </a:spcAft>
              <a:defRPr sz="2100" b="0">
                <a:solidFill>
                  <a:srgbClr val="2C2C2F"/>
                </a:solidFill>
                <a:latin typeface="微软雅黑"/>
              </a:defRPr>
            </a:pPr>
            <a:r>
              <a:rPr lang="en-GB" altLang="zh-CN" sz="2000" i="1" dirty="0">
                <a:latin typeface="+mn-lt"/>
              </a:rPr>
              <a:t>M </a:t>
            </a:r>
            <a:r>
              <a:rPr sz="2000" dirty="0">
                <a:latin typeface="+mn-lt"/>
              </a:rPr>
              <a:t>³ &lt; </a:t>
            </a:r>
            <a:r>
              <a:rPr lang="en-GB" altLang="zh-CN" sz="2000" i="1" dirty="0">
                <a:latin typeface="+mn-lt"/>
              </a:rPr>
              <a:t>N </a:t>
            </a:r>
            <a:r>
              <a:rPr sz="2000" dirty="0">
                <a:latin typeface="+mn-lt"/>
              </a:rPr>
              <a:t>₁</a:t>
            </a:r>
            <a:r>
              <a:rPr lang="en-GB" altLang="zh-CN" sz="2000" i="1" dirty="0">
                <a:latin typeface="+mn-lt"/>
              </a:rPr>
              <a:t> N </a:t>
            </a:r>
            <a:r>
              <a:rPr sz="2000" dirty="0">
                <a:latin typeface="+mn-lt"/>
              </a:rPr>
              <a:t>₂</a:t>
            </a:r>
            <a:r>
              <a:rPr lang="en-GB" altLang="zh-CN" sz="2000" i="1" dirty="0">
                <a:latin typeface="+mn-lt"/>
              </a:rPr>
              <a:t> N </a:t>
            </a:r>
            <a:r>
              <a:rPr sz="2000" dirty="0">
                <a:latin typeface="+mn-lt"/>
              </a:rPr>
              <a:t>₃</a:t>
            </a:r>
          </a:p>
          <a:p>
            <a:pPr>
              <a:spcAft>
                <a:spcPts val="1100"/>
              </a:spcAft>
              <a:defRPr sz="2100" b="0">
                <a:solidFill>
                  <a:srgbClr val="2C2C2F"/>
                </a:solidFill>
                <a:latin typeface="微软雅黑"/>
              </a:defRPr>
            </a:pPr>
            <a:r>
              <a:rPr sz="2000" dirty="0" err="1">
                <a:latin typeface="+mn-lt"/>
              </a:rPr>
              <a:t>因此</a:t>
            </a:r>
            <a:r>
              <a:rPr sz="2000" dirty="0">
                <a:latin typeface="+mn-lt"/>
              </a:rPr>
              <a:t> </a:t>
            </a:r>
            <a:r>
              <a:rPr sz="2000" i="1" dirty="0">
                <a:latin typeface="+mn-lt"/>
              </a:rPr>
              <a:t>X</a:t>
            </a:r>
            <a:r>
              <a:rPr sz="2000" dirty="0">
                <a:latin typeface="+mn-lt"/>
              </a:rPr>
              <a:t> = </a:t>
            </a:r>
            <a:r>
              <a:rPr lang="en-GB" altLang="zh-CN" sz="2000" i="1" dirty="0">
                <a:latin typeface="+mn-lt"/>
              </a:rPr>
              <a:t>M </a:t>
            </a:r>
            <a:r>
              <a:rPr sz="2000" dirty="0">
                <a:latin typeface="+mn-lt"/>
              </a:rPr>
              <a:t>³，开立方得 </a:t>
            </a:r>
            <a:r>
              <a:rPr lang="en-GB" altLang="zh-CN" sz="2000" i="1" dirty="0">
                <a:latin typeface="+mn-lt"/>
              </a:rPr>
              <a:t>M </a:t>
            </a:r>
            <a:r>
              <a:rPr sz="2000" dirty="0"/>
              <a:t>。</a:t>
            </a:r>
          </a:p>
        </p:txBody>
      </p:sp>
      <p:sp>
        <p:nvSpPr>
          <p:cNvPr id="8" name="Rounded Rectangle 11"/>
          <p:cNvSpPr/>
          <p:nvPr/>
        </p:nvSpPr>
        <p:spPr>
          <a:xfrm>
            <a:off x="502920" y="5628386"/>
            <a:ext cx="1115568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2"/>
          <p:cNvSpPr txBox="1"/>
          <p:nvPr/>
        </p:nvSpPr>
        <p:spPr>
          <a:xfrm>
            <a:off x="667512" y="5701538"/>
            <a:ext cx="10835640" cy="418576"/>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t>攻击成因：无随机填充</a:t>
            </a:r>
            <a:r>
              <a:rPr sz="2000" dirty="0"/>
              <a:t> + </a:t>
            </a:r>
            <a:r>
              <a:rPr sz="2000" dirty="0" err="1"/>
              <a:t>相同明文</a:t>
            </a:r>
            <a:r>
              <a:rPr sz="2000" dirty="0"/>
              <a:t> + </a:t>
            </a:r>
            <a:r>
              <a:rPr sz="2000" dirty="0" err="1"/>
              <a:t>较小公共指数</a:t>
            </a:r>
            <a:r>
              <a:rPr sz="2000" dirty="0"/>
              <a:t>。</a:t>
            </a:r>
          </a:p>
        </p:txBody>
      </p:sp>
      <p:sp>
        <p:nvSpPr>
          <p:cNvPr id="22" name="文本框 21"/>
          <p:cNvSpPr txBox="1"/>
          <p:nvPr/>
        </p:nvSpPr>
        <p:spPr>
          <a:xfrm>
            <a:off x="717867" y="862144"/>
            <a:ext cx="27003676"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rPr>
              <a:t>RSA </a:t>
            </a:r>
            <a:r>
              <a:rPr lang="zh-CN" altLang="en-US" sz="2400" dirty="0">
                <a:solidFill>
                  <a:srgbClr val="C00000"/>
                </a:solidFill>
                <a:latin typeface="+mn-lt"/>
              </a:rPr>
              <a:t>攻击二：低指数广播攻击</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8"/>
          <p:cNvSpPr/>
          <p:nvPr/>
        </p:nvSpPr>
        <p:spPr>
          <a:xfrm>
            <a:off x="664463" y="896686"/>
            <a:ext cx="10674097" cy="2422652"/>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TextBox 6"/>
          <p:cNvSpPr txBox="1"/>
          <p:nvPr/>
        </p:nvSpPr>
        <p:spPr>
          <a:xfrm>
            <a:off x="847342" y="947040"/>
            <a:ext cx="4892040"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latin typeface="+mn-lt"/>
              </a:rPr>
              <a:t>信息泄露</a:t>
            </a:r>
            <a:endParaRPr sz="2400" dirty="0">
              <a:latin typeface="+mn-lt"/>
            </a:endParaRPr>
          </a:p>
        </p:txBody>
      </p:sp>
      <p:sp>
        <p:nvSpPr>
          <p:cNvPr id="4" name="TextBox 7"/>
          <p:cNvSpPr txBox="1"/>
          <p:nvPr/>
        </p:nvSpPr>
        <p:spPr>
          <a:xfrm>
            <a:off x="1063752" y="1290398"/>
            <a:ext cx="8864328" cy="777649"/>
          </a:xfrm>
          <a:prstGeom prst="rect">
            <a:avLst/>
          </a:prstGeom>
          <a:noFill/>
        </p:spPr>
        <p:txBody>
          <a:bodyPr wrap="square" lIns="73152" tIns="64008">
            <a:spAutoFit/>
          </a:bodyPr>
          <a:lstStyle/>
          <a:p>
            <a:pPr>
              <a:spcAft>
                <a:spcPts val="400"/>
              </a:spcAft>
              <a:defRPr sz="2100" b="0">
                <a:solidFill>
                  <a:srgbClr val="2C2C2F"/>
                </a:solidFill>
                <a:latin typeface="微软雅黑"/>
              </a:defRPr>
            </a:pPr>
            <a:r>
              <a:rPr sz="2000" dirty="0" err="1">
                <a:latin typeface="+mn-lt"/>
              </a:rPr>
              <a:t>原始</a:t>
            </a:r>
            <a:r>
              <a:rPr sz="2000" dirty="0">
                <a:latin typeface="+mn-lt"/>
              </a:rPr>
              <a:t> RSA </a:t>
            </a:r>
            <a:r>
              <a:rPr sz="2000" dirty="0" err="1">
                <a:latin typeface="+mn-lt"/>
              </a:rPr>
              <a:t>为确定性加密：</a:t>
            </a:r>
            <a:r>
              <a:rPr sz="2000" i="1" dirty="0" err="1">
                <a:latin typeface="+mn-lt"/>
              </a:rPr>
              <a:t>C</a:t>
            </a:r>
            <a:r>
              <a:rPr sz="2000" dirty="0">
                <a:latin typeface="+mn-lt"/>
              </a:rPr>
              <a:t> = </a:t>
            </a:r>
            <a:r>
              <a:rPr sz="2000" i="1" dirty="0">
                <a:latin typeface="+mn-lt"/>
              </a:rPr>
              <a:t>M</a:t>
            </a:r>
            <a:r>
              <a:rPr lang="zh-CN" altLang="en-US" sz="2000" i="1" dirty="0">
                <a:latin typeface="+mn-lt"/>
              </a:rPr>
              <a:t> </a:t>
            </a:r>
            <a:r>
              <a:rPr sz="2000" dirty="0">
                <a:latin typeface="+mn-lt"/>
              </a:rPr>
              <a:t>ᵉ mod </a:t>
            </a:r>
            <a:r>
              <a:rPr sz="2000" i="1" dirty="0">
                <a:latin typeface="+mn-lt"/>
              </a:rPr>
              <a:t>N</a:t>
            </a:r>
            <a:endParaRPr sz="2000" dirty="0">
              <a:latin typeface="+mn-lt"/>
            </a:endParaRPr>
          </a:p>
          <a:p>
            <a:pPr>
              <a:spcAft>
                <a:spcPts val="400"/>
              </a:spcAft>
              <a:defRPr sz="2100" b="0">
                <a:solidFill>
                  <a:srgbClr val="2C2C2F"/>
                </a:solidFill>
                <a:latin typeface="微软雅黑"/>
              </a:defRPr>
            </a:pPr>
            <a:r>
              <a:rPr sz="2000" dirty="0" err="1">
                <a:latin typeface="+mn-lt"/>
              </a:rPr>
              <a:t>给定</a:t>
            </a:r>
            <a:r>
              <a:rPr sz="2000" dirty="0">
                <a:latin typeface="+mn-lt"/>
              </a:rPr>
              <a:t> </a:t>
            </a:r>
            <a:r>
              <a:rPr sz="2000" i="1" dirty="0">
                <a:latin typeface="+mn-lt"/>
              </a:rPr>
              <a:t>M</a:t>
            </a:r>
            <a:r>
              <a:rPr sz="2000" dirty="0">
                <a:latin typeface="+mn-lt"/>
              </a:rPr>
              <a:t>₀、</a:t>
            </a:r>
            <a:r>
              <a:rPr sz="2000" i="1" dirty="0">
                <a:latin typeface="+mn-lt"/>
              </a:rPr>
              <a:t>M</a:t>
            </a:r>
            <a:r>
              <a:rPr sz="2000" dirty="0">
                <a:latin typeface="+mn-lt"/>
              </a:rPr>
              <a:t>₁ </a:t>
            </a:r>
            <a:r>
              <a:rPr sz="2000" dirty="0" err="1">
                <a:latin typeface="+mn-lt"/>
              </a:rPr>
              <a:t>和挑战密文</a:t>
            </a:r>
            <a:r>
              <a:rPr sz="2000" dirty="0">
                <a:latin typeface="+mn-lt"/>
              </a:rPr>
              <a:t> </a:t>
            </a:r>
            <a:r>
              <a:rPr sz="2000" i="1" dirty="0" err="1">
                <a:latin typeface="+mn-lt"/>
              </a:rPr>
              <a:t>C</a:t>
            </a:r>
            <a:r>
              <a:rPr sz="2000" dirty="0" err="1">
                <a:latin typeface="+mn-lt"/>
              </a:rPr>
              <a:t>，攻击者能自行计算两个候选密文并比较</a:t>
            </a:r>
            <a:r>
              <a:rPr sz="2000" dirty="0">
                <a:latin typeface="+mn-lt"/>
              </a:rPr>
              <a:t>。</a:t>
            </a:r>
          </a:p>
        </p:txBody>
      </p:sp>
      <p:sp>
        <p:nvSpPr>
          <p:cNvPr id="5" name="Rounded Rectangle 8"/>
          <p:cNvSpPr/>
          <p:nvPr/>
        </p:nvSpPr>
        <p:spPr>
          <a:xfrm>
            <a:off x="6582537" y="6986720"/>
            <a:ext cx="5303520" cy="353256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9"/>
          <p:cNvSpPr txBox="1"/>
          <p:nvPr/>
        </p:nvSpPr>
        <p:spPr>
          <a:xfrm>
            <a:off x="6780657" y="7108575"/>
            <a:ext cx="4937759" cy="433965"/>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a:latin typeface="+mn-lt"/>
              </a:rPr>
              <a:t>另一类信息泄露</a:t>
            </a:r>
          </a:p>
        </p:txBody>
      </p:sp>
      <p:sp>
        <p:nvSpPr>
          <p:cNvPr id="7" name="TextBox 10"/>
          <p:cNvSpPr txBox="1"/>
          <p:nvPr/>
        </p:nvSpPr>
        <p:spPr>
          <a:xfrm>
            <a:off x="6765417" y="7590224"/>
            <a:ext cx="4937759" cy="2290884"/>
          </a:xfrm>
          <a:prstGeom prst="rect">
            <a:avLst/>
          </a:prstGeom>
          <a:noFill/>
        </p:spPr>
        <p:txBody>
          <a:bodyPr wrap="square" lIns="73152" tIns="64008">
            <a:spAutoFit/>
          </a:bodyPr>
          <a:lstStyle/>
          <a:p>
            <a:pPr>
              <a:spcAft>
                <a:spcPts val="1100"/>
              </a:spcAft>
              <a:defRPr sz="2100" b="0">
                <a:solidFill>
                  <a:srgbClr val="2C2C2F"/>
                </a:solidFill>
                <a:latin typeface="微软雅黑"/>
              </a:defRPr>
            </a:pPr>
            <a:r>
              <a:rPr lang="en-US" dirty="0" err="1">
                <a:latin typeface="+mn-lt"/>
              </a:rPr>
              <a:t>基于</a:t>
            </a:r>
            <a:r>
              <a:rPr dirty="0" err="1">
                <a:latin typeface="+mn-lt"/>
              </a:rPr>
              <a:t>雅可比符号</a:t>
            </a:r>
            <a:r>
              <a:rPr dirty="0">
                <a:latin typeface="+mn-lt"/>
              </a:rPr>
              <a:t>：</a:t>
            </a:r>
          </a:p>
          <a:p>
            <a:pPr>
              <a:spcAft>
                <a:spcPts val="1100"/>
              </a:spcAft>
              <a:defRPr sz="2100" b="0">
                <a:solidFill>
                  <a:srgbClr val="2C2C2F"/>
                </a:solidFill>
                <a:latin typeface="微软雅黑"/>
              </a:defRPr>
            </a:pPr>
            <a:r>
              <a:rPr dirty="0" err="1">
                <a:latin typeface="+mn-lt"/>
              </a:rPr>
              <a:t>当</a:t>
            </a:r>
            <a:r>
              <a:rPr i="1" dirty="0">
                <a:latin typeface="+mn-lt"/>
              </a:rPr>
              <a:t> e </a:t>
            </a:r>
            <a:r>
              <a:rPr dirty="0" err="1">
                <a:latin typeface="+mn-lt"/>
              </a:rPr>
              <a:t>为奇数时</a:t>
            </a:r>
            <a:r>
              <a:rPr dirty="0">
                <a:latin typeface="+mn-lt"/>
              </a:rPr>
              <a:t>，</a:t>
            </a:r>
          </a:p>
          <a:p>
            <a:pPr>
              <a:spcAft>
                <a:spcPts val="1100"/>
              </a:spcAft>
              <a:defRPr sz="2100" b="0">
                <a:solidFill>
                  <a:srgbClr val="2C2C2F"/>
                </a:solidFill>
                <a:latin typeface="微软雅黑"/>
              </a:defRPr>
            </a:pPr>
            <a:r>
              <a:rPr dirty="0">
                <a:latin typeface="+mn-lt"/>
              </a:rPr>
              <a:t>(</a:t>
            </a:r>
            <a:r>
              <a:rPr i="1" dirty="0">
                <a:latin typeface="+mn-lt"/>
              </a:rPr>
              <a:t>C</a:t>
            </a:r>
            <a:r>
              <a:rPr dirty="0">
                <a:latin typeface="+mn-lt"/>
              </a:rPr>
              <a:t>/</a:t>
            </a:r>
            <a:r>
              <a:rPr i="1" dirty="0">
                <a:latin typeface="+mn-lt"/>
              </a:rPr>
              <a:t>N</a:t>
            </a:r>
            <a:r>
              <a:rPr dirty="0">
                <a:latin typeface="+mn-lt"/>
              </a:rPr>
              <a:t>) = (</a:t>
            </a:r>
            <a:r>
              <a:rPr i="1" dirty="0">
                <a:latin typeface="+mn-lt"/>
              </a:rPr>
              <a:t>M</a:t>
            </a:r>
            <a:r>
              <a:rPr dirty="0">
                <a:latin typeface="+mn-lt"/>
              </a:rPr>
              <a:t>ᵉ/</a:t>
            </a:r>
            <a:r>
              <a:rPr i="1" dirty="0">
                <a:latin typeface="+mn-lt"/>
              </a:rPr>
              <a:t>N</a:t>
            </a:r>
            <a:r>
              <a:rPr dirty="0">
                <a:latin typeface="+mn-lt"/>
              </a:rPr>
              <a:t>) = (</a:t>
            </a:r>
            <a:r>
              <a:rPr i="1" dirty="0">
                <a:latin typeface="+mn-lt"/>
              </a:rPr>
              <a:t>M</a:t>
            </a:r>
            <a:r>
              <a:rPr dirty="0">
                <a:latin typeface="+mn-lt"/>
              </a:rPr>
              <a:t>/</a:t>
            </a:r>
            <a:r>
              <a:rPr i="1" dirty="0">
                <a:latin typeface="+mn-lt"/>
              </a:rPr>
              <a:t>N</a:t>
            </a:r>
            <a:r>
              <a:rPr dirty="0">
                <a:latin typeface="+mn-lt"/>
              </a:rPr>
              <a:t>)</a:t>
            </a:r>
          </a:p>
          <a:p>
            <a:pPr>
              <a:spcAft>
                <a:spcPts val="1100"/>
              </a:spcAft>
              <a:defRPr sz="2100" b="0">
                <a:solidFill>
                  <a:srgbClr val="2C2C2F"/>
                </a:solidFill>
                <a:latin typeface="微软雅黑"/>
              </a:defRPr>
            </a:pPr>
            <a:endParaRPr dirty="0">
              <a:latin typeface="+mn-lt"/>
            </a:endParaRPr>
          </a:p>
          <a:p>
            <a:pPr>
              <a:spcAft>
                <a:spcPts val="1100"/>
              </a:spcAft>
              <a:defRPr sz="2100" b="0">
                <a:solidFill>
                  <a:srgbClr val="2C2C2F"/>
                </a:solidFill>
                <a:latin typeface="微软雅黑"/>
              </a:defRPr>
            </a:pPr>
            <a:r>
              <a:rPr dirty="0" err="1">
                <a:latin typeface="+mn-lt"/>
              </a:rPr>
              <a:t>不解密也可推断明文的部分信息</a:t>
            </a:r>
            <a:r>
              <a:rPr dirty="0">
                <a:latin typeface="+mn-lt"/>
              </a:rPr>
              <a:t>。</a:t>
            </a:r>
          </a:p>
        </p:txBody>
      </p:sp>
      <p:sp>
        <p:nvSpPr>
          <p:cNvPr id="8" name="Rounded Rectangle 11"/>
          <p:cNvSpPr/>
          <p:nvPr/>
        </p:nvSpPr>
        <p:spPr>
          <a:xfrm>
            <a:off x="518160" y="5915891"/>
            <a:ext cx="1083564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2"/>
          <p:cNvSpPr txBox="1"/>
          <p:nvPr/>
        </p:nvSpPr>
        <p:spPr>
          <a:xfrm>
            <a:off x="678180" y="5985627"/>
            <a:ext cx="10835640" cy="418576"/>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latin typeface="Times New Roman" panose="02020503050405090304" pitchFamily="18" charset="0"/>
                <a:cs typeface="Times New Roman" panose="02020503050405090304" pitchFamily="18" charset="0"/>
              </a:rPr>
              <a:t>结论：原始</a:t>
            </a:r>
            <a:r>
              <a:rPr sz="2000" dirty="0">
                <a:latin typeface="Times New Roman" panose="02020503050405090304" pitchFamily="18" charset="0"/>
                <a:cs typeface="Times New Roman" panose="02020503050405090304" pitchFamily="18" charset="0"/>
              </a:rPr>
              <a:t> RSA </a:t>
            </a:r>
            <a:r>
              <a:rPr sz="2000" dirty="0" err="1">
                <a:latin typeface="Times New Roman" panose="02020503050405090304" pitchFamily="18" charset="0"/>
                <a:cs typeface="Times New Roman" panose="02020503050405090304" pitchFamily="18" charset="0"/>
              </a:rPr>
              <a:t>加密不是语义安全的，需要随机化编码</a:t>
            </a:r>
            <a:r>
              <a:rPr sz="2000" dirty="0">
                <a:latin typeface="Times New Roman" panose="02020503050405090304" pitchFamily="18" charset="0"/>
                <a:cs typeface="Times New Roman" panose="02020503050405090304" pitchFamily="18" charset="0"/>
              </a:rPr>
              <a:t> / </a:t>
            </a:r>
            <a:r>
              <a:rPr sz="2000" dirty="0" err="1">
                <a:latin typeface="Times New Roman" panose="02020503050405090304" pitchFamily="18" charset="0"/>
                <a:cs typeface="Times New Roman" panose="02020503050405090304" pitchFamily="18" charset="0"/>
              </a:rPr>
              <a:t>填充</a:t>
            </a:r>
            <a:r>
              <a:rPr sz="2000" dirty="0">
                <a:latin typeface="Times New Roman" panose="02020503050405090304" pitchFamily="18" charset="0"/>
                <a:cs typeface="Times New Roman" panose="02020503050405090304" pitchFamily="18" charset="0"/>
              </a:rPr>
              <a:t>。</a:t>
            </a:r>
          </a:p>
        </p:txBody>
      </p:sp>
      <mc:AlternateContent xmlns:mc="http://schemas.openxmlformats.org/markup-compatibility/2006" xmlns:a14="http://schemas.microsoft.com/office/drawing/2010/main">
        <mc:Choice Requires="a14">
          <p:sp>
            <p:nvSpPr>
              <p:cNvPr id="15" name="文本框 14"/>
              <p:cNvSpPr txBox="1"/>
              <p:nvPr/>
            </p:nvSpPr>
            <p:spPr>
              <a:xfrm>
                <a:off x="231649" y="3373412"/>
                <a:ext cx="11960351" cy="2376356"/>
              </a:xfrm>
              <a:prstGeom prst="rect">
                <a:avLst/>
              </a:prstGeom>
              <a:noFill/>
            </p:spPr>
            <p:txBody>
              <a:bodyPr wrap="square">
                <a:spAutoFit/>
              </a:bodyPr>
              <a:lstStyle/>
              <a:p>
                <a:r>
                  <a:rPr lang="zh-CN" altLang="en-US" sz="2000" b="1" dirty="0">
                    <a:latin typeface="+mn-lt"/>
                    <a:ea typeface="+mn-ea"/>
                  </a:rPr>
                  <a:t>勒让德符号</a:t>
                </a:r>
                <a:r>
                  <a:rPr lang="zh-CN" altLang="en-US" sz="2000" dirty="0">
                    <a:latin typeface="+mn-lt"/>
                    <a:ea typeface="+mn-ea"/>
                  </a:rPr>
                  <a:t>。勒让德符号用于判定整数 </a:t>
                </a:r>
                <a:r>
                  <a:rPr lang="en-GB" altLang="zh-CN" sz="2000" i="1" dirty="0">
                    <a:latin typeface="+mn-lt"/>
                    <a:ea typeface="+mn-ea"/>
                  </a:rPr>
                  <a:t>a </a:t>
                </a:r>
                <a:r>
                  <a:rPr lang="zh-CN" altLang="en-US" sz="2000" dirty="0">
                    <a:latin typeface="+mn-lt"/>
                    <a:ea typeface="+mn-ea"/>
                  </a:rPr>
                  <a:t>是否为模奇素数 </a:t>
                </a:r>
                <a:r>
                  <a:rPr lang="en-GB" altLang="zh-CN" sz="2000" i="1" dirty="0">
                    <a:latin typeface="+mn-lt"/>
                    <a:ea typeface="+mn-ea"/>
                  </a:rPr>
                  <a:t>p </a:t>
                </a:r>
                <a:r>
                  <a:rPr lang="zh-CN" altLang="en-US" sz="2000" dirty="0">
                    <a:latin typeface="+mn-lt"/>
                    <a:ea typeface="+mn-ea"/>
                  </a:rPr>
                  <a:t>的二次剩余，定义如下。</a:t>
                </a:r>
                <a:endParaRPr lang="en-US" altLang="zh-CN" sz="2000" dirty="0">
                  <a:latin typeface="+mn-lt"/>
                  <a:ea typeface="+mn-ea"/>
                </a:endParaRPr>
              </a:p>
              <a:p>
                <a:pPr/>
                <a14:m>
                  <m:oMathPara xmlns:m="http://schemas.openxmlformats.org/officeDocument/2006/math">
                    <m:oMathParaPr>
                      <m:jc m:val="centerGroup"/>
                    </m:oMathParaPr>
                    <m:oMath xmlns:m="http://schemas.openxmlformats.org/officeDocument/2006/math">
                      <m:d>
                        <m:dPr>
                          <m:ctrlPr>
                            <a:rPr lang="en-US" altLang="zh-CN" sz="2000" i="1" smtClean="0">
                              <a:latin typeface="Cambria Math" panose="02040503050406030204" pitchFamily="18" charset="0"/>
                              <a:ea typeface="+mn-ea"/>
                            </a:rPr>
                          </m:ctrlPr>
                        </m:dPr>
                        <m:e>
                          <m:f>
                            <m:fPr>
                              <m:ctrlPr>
                                <a:rPr lang="en-US" altLang="zh-CN" sz="2000" i="1" smtClean="0">
                                  <a:latin typeface="Cambria Math" panose="02040503050406030204" pitchFamily="18" charset="0"/>
                                  <a:ea typeface="+mn-ea"/>
                                </a:rPr>
                              </m:ctrlPr>
                            </m:fPr>
                            <m:num>
                              <m:r>
                                <a:rPr lang="en-US" altLang="zh-CN" sz="2000" i="1">
                                  <a:latin typeface="Cambria Math" panose="02040503050406030204" pitchFamily="18" charset="0"/>
                                  <a:ea typeface="+mn-ea"/>
                                </a:rPr>
                                <m:t>𝑎</m:t>
                              </m:r>
                            </m:num>
                            <m:den>
                              <m:r>
                                <a:rPr lang="en-US" altLang="zh-CN" sz="2000" b="0" i="1" smtClean="0">
                                  <a:latin typeface="Cambria Math" panose="02040503050406030204" pitchFamily="18" charset="0"/>
                                  <a:ea typeface="+mn-ea"/>
                                </a:rPr>
                                <m:t>𝑝</m:t>
                              </m:r>
                            </m:den>
                          </m:f>
                        </m:e>
                      </m:d>
                      <m:r>
                        <a:rPr lang="en-US" altLang="zh-CN" sz="2000" b="0" i="1" smtClean="0">
                          <a:latin typeface="Cambria Math" panose="02040503050406030204" pitchFamily="18" charset="0"/>
                          <a:ea typeface="+mn-ea"/>
                        </a:rPr>
                        <m:t>=</m:t>
                      </m:r>
                      <m:d>
                        <m:dPr>
                          <m:begChr m:val="{"/>
                          <m:endChr m:val=""/>
                          <m:ctrlPr>
                            <a:rPr lang="en-US" altLang="zh-CN" sz="2000" b="0" i="1" smtClean="0">
                              <a:latin typeface="Cambria Math" panose="02040503050406030204" pitchFamily="18" charset="0"/>
                              <a:ea typeface="+mn-ea"/>
                            </a:rPr>
                          </m:ctrlPr>
                        </m:dPr>
                        <m:e>
                          <m:m>
                            <m:mPr>
                              <m:mcs>
                                <m:mc>
                                  <m:mcPr>
                                    <m:count m:val="1"/>
                                    <m:mcJc m:val="center"/>
                                  </m:mcPr>
                                </m:mc>
                              </m:mcs>
                              <m:ctrlPr>
                                <a:rPr lang="en-US" altLang="zh-CN" sz="2000" b="0" i="1" smtClean="0">
                                  <a:latin typeface="Cambria Math" panose="02040503050406030204" pitchFamily="18" charset="0"/>
                                  <a:ea typeface="+mn-ea"/>
                                </a:rPr>
                              </m:ctrlPr>
                            </m:mPr>
                            <m:mr>
                              <m:e>
                                <m:r>
                                  <m:rPr>
                                    <m:brk m:alnAt="7"/>
                                  </m:rPr>
                                  <a:rPr lang="en-US" altLang="zh-CN" sz="2000" b="0" i="1" smtClean="0">
                                    <a:latin typeface="Cambria Math" panose="02040503050406030204" pitchFamily="18" charset="0"/>
                                    <a:ea typeface="+mn-ea"/>
                                  </a:rPr>
                                  <m:t>0</m:t>
                                </m:r>
                                <m:r>
                                  <a:rPr lang="zh-CN" altLang="en-US" sz="2000" b="0" i="1" smtClean="0">
                                    <a:latin typeface="Cambria Math" panose="02040503050406030204" pitchFamily="18" charset="0"/>
                                    <a:ea typeface="+mn-ea"/>
                                  </a:rPr>
                                  <m:t>，</m:t>
                                </m:r>
                                <m:r>
                                  <m:rPr>
                                    <m:brk m:alnAt="7"/>
                                  </m:rPr>
                                  <a:rPr lang="zh-CN" altLang="en-US" sz="2000" i="1">
                                    <a:latin typeface="Cambria Math" panose="02040503050406030204" pitchFamily="18" charset="0"/>
                                    <a:ea typeface="+mn-ea"/>
                                  </a:rPr>
                                  <m:t>若</m:t>
                                </m:r>
                                <m:r>
                                  <m:rPr>
                                    <m:brk m:alnAt="7"/>
                                  </m:rPr>
                                  <a:rPr lang="en-US" altLang="zh-CN" sz="2000" b="0" i="1" smtClean="0">
                                    <a:latin typeface="Cambria Math" panose="02040503050406030204" pitchFamily="18" charset="0"/>
                                    <a:ea typeface="+mn-ea"/>
                                  </a:rPr>
                                  <m:t>𝑝</m:t>
                                </m:r>
                                <m:r>
                                  <m:rPr>
                                    <m:brk m:alnAt="7"/>
                                  </m:rPr>
                                  <a:rPr lang="zh-CN" altLang="en-US" sz="2000" i="1">
                                    <a:latin typeface="Cambria Math" panose="02040503050406030204" pitchFamily="18" charset="0"/>
                                    <a:ea typeface="+mn-ea"/>
                                  </a:rPr>
                                  <m:t>整</m:t>
                                </m:r>
                                <m:r>
                                  <a:rPr lang="zh-CN" altLang="en-US" sz="2000" i="1">
                                    <a:latin typeface="Cambria Math" panose="02040503050406030204" pitchFamily="18" charset="0"/>
                                    <a:ea typeface="+mn-ea"/>
                                  </a:rPr>
                                  <m:t>除</m:t>
                                </m:r>
                                <m:r>
                                  <m:rPr>
                                    <m:brk m:alnAt="7"/>
                                  </m:rPr>
                                  <a:rPr lang="en-US" altLang="zh-CN" sz="2000" i="1" smtClean="0">
                                    <a:latin typeface="Cambria Math" panose="02040503050406030204" pitchFamily="18" charset="0"/>
                                    <a:ea typeface="+mn-ea"/>
                                  </a:rPr>
                                  <m:t>𝑎</m:t>
                                </m:r>
                              </m:e>
                            </m:mr>
                            <m:mr>
                              <m:e>
                                <m:r>
                                  <m:rPr>
                                    <m:brk m:alnAt="7"/>
                                  </m:rPr>
                                  <a:rPr lang="en-US" altLang="zh-CN" sz="2000" b="0" i="1" smtClean="0">
                                    <a:latin typeface="Cambria Math" panose="02040503050406030204" pitchFamily="18" charset="0"/>
                                  </a:rPr>
                                  <m:t>1</m:t>
                                </m:r>
                                <m:r>
                                  <a:rPr lang="zh-CN" altLang="en-US" sz="2000" i="1">
                                    <a:latin typeface="Cambria Math" panose="02040503050406030204" pitchFamily="18" charset="0"/>
                                  </a:rPr>
                                  <m:t>，</m:t>
                                </m:r>
                                <m:r>
                                  <a:rPr lang="zh-CN" altLang="en-US" sz="2000" i="1">
                                    <a:latin typeface="Cambria Math" panose="02040503050406030204" pitchFamily="18" charset="0"/>
                                  </a:rPr>
                                  <m:t>若</m:t>
                                </m:r>
                                <m:r>
                                  <m:rPr>
                                    <m:brk m:alnAt="7"/>
                                  </m:rPr>
                                  <a:rPr lang="en-US" altLang="zh-CN" sz="2000" i="1">
                                    <a:latin typeface="Cambria Math" panose="02040503050406030204" pitchFamily="18" charset="0"/>
                                  </a:rPr>
                                  <m:t>𝑎</m:t>
                                </m:r>
                                <m:r>
                                  <m:rPr>
                                    <m:brk m:alnAt="7"/>
                                  </m:rPr>
                                  <a:rPr lang="zh-CN" altLang="en-US" sz="2000" i="1">
                                    <a:latin typeface="Cambria Math" panose="02040503050406030204" pitchFamily="18" charset="0"/>
                                  </a:rPr>
                                  <m:t>是</m:t>
                                </m:r>
                                <m:r>
                                  <a:rPr lang="zh-CN" altLang="en-US" sz="2000" i="1">
                                    <a:latin typeface="Cambria Math" panose="02040503050406030204" pitchFamily="18" charset="0"/>
                                  </a:rPr>
                                  <m:t>模</m:t>
                                </m:r>
                                <m:r>
                                  <m:rPr>
                                    <m:brk m:alnAt="7"/>
                                  </m:rPr>
                                  <a:rPr lang="en-US" altLang="zh-CN" sz="2000" i="1">
                                    <a:latin typeface="Cambria Math" panose="02040503050406030204" pitchFamily="18" charset="0"/>
                                  </a:rPr>
                                  <m:t>𝑝</m:t>
                                </m:r>
                                <m:r>
                                  <m:rPr>
                                    <m:brk m:alnAt="7"/>
                                  </m:rPr>
                                  <a:rPr lang="zh-CN" altLang="en-US" sz="2000" i="1">
                                    <a:latin typeface="Cambria Math" panose="02040503050406030204" pitchFamily="18" charset="0"/>
                                  </a:rPr>
                                  <m:t>的</m:t>
                                </m:r>
                                <m:r>
                                  <a:rPr lang="zh-CN" altLang="en-US" sz="2000" i="1">
                                    <a:latin typeface="Cambria Math" panose="02040503050406030204" pitchFamily="18" charset="0"/>
                                  </a:rPr>
                                  <m:t>二次剩余</m:t>
                                </m:r>
                              </m:e>
                            </m:mr>
                            <m:mr>
                              <m:e>
                                <m:r>
                                  <m:rPr>
                                    <m:brk m:alnAt="7"/>
                                  </m:rP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zh-CN" altLang="en-US" sz="2000" i="1">
                                    <a:latin typeface="Cambria Math" panose="02040503050406030204" pitchFamily="18" charset="0"/>
                                  </a:rPr>
                                  <m:t>，</m:t>
                                </m:r>
                                <m:r>
                                  <a:rPr lang="zh-CN" altLang="en-US" sz="2000" i="1">
                                    <a:latin typeface="Cambria Math" panose="02040503050406030204" pitchFamily="18" charset="0"/>
                                  </a:rPr>
                                  <m:t>若</m:t>
                                </m:r>
                                <m:r>
                                  <m:rPr>
                                    <m:brk m:alnAt="7"/>
                                  </m:rPr>
                                  <a:rPr lang="en-US" altLang="zh-CN" sz="2000" i="1">
                                    <a:latin typeface="Cambria Math" panose="02040503050406030204" pitchFamily="18" charset="0"/>
                                  </a:rPr>
                                  <m:t>𝑎</m:t>
                                </m:r>
                                <m:r>
                                  <m:rPr>
                                    <m:brk m:alnAt="7"/>
                                  </m:rPr>
                                  <a:rPr lang="zh-CN" altLang="en-US" sz="2000" i="1">
                                    <a:latin typeface="Cambria Math" panose="02040503050406030204" pitchFamily="18" charset="0"/>
                                  </a:rPr>
                                  <m:t>是</m:t>
                                </m:r>
                                <m:r>
                                  <a:rPr lang="zh-CN" altLang="en-US" sz="2000" i="1">
                                    <a:latin typeface="Cambria Math" panose="02040503050406030204" pitchFamily="18" charset="0"/>
                                  </a:rPr>
                                  <m:t>模</m:t>
                                </m:r>
                                <m:r>
                                  <m:rPr>
                                    <m:brk m:alnAt="7"/>
                                  </m:rPr>
                                  <a:rPr lang="en-US" altLang="zh-CN" sz="2000" i="1">
                                    <a:latin typeface="Cambria Math" panose="02040503050406030204" pitchFamily="18" charset="0"/>
                                  </a:rPr>
                                  <m:t>𝑝</m:t>
                                </m:r>
                                <m:r>
                                  <m:rPr>
                                    <m:brk m:alnAt="7"/>
                                  </m:rPr>
                                  <a:rPr lang="zh-CN" altLang="en-US" sz="2000" i="1">
                                    <a:latin typeface="Cambria Math" panose="02040503050406030204" pitchFamily="18" charset="0"/>
                                  </a:rPr>
                                  <m:t>的</m:t>
                                </m:r>
                                <m:r>
                                  <a:rPr lang="zh-CN" altLang="en-US" sz="2000" i="1">
                                    <a:latin typeface="Cambria Math" panose="02040503050406030204" pitchFamily="18" charset="0"/>
                                  </a:rPr>
                                  <m:t>二次非剩余</m:t>
                                </m:r>
                              </m:e>
                            </m:mr>
                          </m:m>
                        </m:e>
                      </m:d>
                    </m:oMath>
                  </m:oMathPara>
                </a14:m>
                <a:endParaRPr lang="en-US" altLang="zh-CN" sz="2000" dirty="0">
                  <a:latin typeface="+mn-lt"/>
                  <a:ea typeface="+mn-ea"/>
                </a:endParaRPr>
              </a:p>
              <a:p>
                <a:r>
                  <a:rPr lang="zh-CN" altLang="en-US" sz="2000" dirty="0">
                    <a:latin typeface="+mn-lt"/>
                    <a:ea typeface="+mn-ea"/>
                  </a:rPr>
                  <a:t>将勒让德符号从奇素数模扩展到任意奇正整数模下可以得到雅可比（</a:t>
                </a:r>
                <a:r>
                  <a:rPr lang="en-GB" altLang="zh-CN" sz="2000" dirty="0">
                    <a:latin typeface="+mn-lt"/>
                    <a:ea typeface="+mn-ea"/>
                  </a:rPr>
                  <a:t>Jacobi</a:t>
                </a:r>
                <a:r>
                  <a:rPr lang="zh-CN" altLang="en-GB" sz="2000" dirty="0">
                    <a:latin typeface="+mn-lt"/>
                    <a:ea typeface="+mn-ea"/>
                  </a:rPr>
                  <a:t>）</a:t>
                </a:r>
                <a:r>
                  <a:rPr lang="zh-CN" altLang="en-US" sz="2000" dirty="0">
                    <a:latin typeface="+mn-lt"/>
                    <a:ea typeface="+mn-ea"/>
                  </a:rPr>
                  <a:t>符号。 具体而言，对于一个奇合数模 </a:t>
                </a:r>
                <a:r>
                  <a:rPr lang="en-GB" altLang="zh-CN" sz="2000" i="1" dirty="0">
                    <a:latin typeface="+mn-lt"/>
                    <a:ea typeface="+mn-ea"/>
                  </a:rPr>
                  <a:t>N</a:t>
                </a:r>
                <a:r>
                  <a:rPr lang="zh-CN" altLang="en-GB" sz="2000" dirty="0">
                    <a:latin typeface="+mn-lt"/>
                    <a:ea typeface="+mn-ea"/>
                  </a:rPr>
                  <a:t>，</a:t>
                </a:r>
                <a:r>
                  <a:rPr lang="zh-CN" altLang="en-US" sz="2000" dirty="0">
                    <a:latin typeface="+mn-lt"/>
                    <a:ea typeface="+mn-ea"/>
                  </a:rPr>
                  <a:t>首先将其分解为素数幂的 </a:t>
                </a:r>
                <a14:m>
                  <m:oMath xmlns:m="http://schemas.openxmlformats.org/officeDocument/2006/math">
                    <m:r>
                      <a:rPr lang="en-US" altLang="zh-CN" sz="2000" i="1" dirty="0">
                        <a:latin typeface="Cambria Math" panose="02040503050406030204" pitchFamily="18" charset="0"/>
                        <a:ea typeface="+mn-ea"/>
                      </a:rPr>
                      <m:t>𝑁</m:t>
                    </m:r>
                    <m:r>
                      <a:rPr lang="en-US" altLang="zh-CN" sz="2000" b="0" i="1" dirty="0" smtClean="0">
                        <a:latin typeface="Cambria Math" panose="02040503050406030204" pitchFamily="18" charset="0"/>
                        <a:ea typeface="+mn-ea"/>
                      </a:rPr>
                      <m:t>=</m:t>
                    </m:r>
                    <m:sSubSup>
                      <m:sSubSupPr>
                        <m:ctrlPr>
                          <a:rPr lang="en-US" altLang="zh-CN" sz="2000" b="0" i="1" dirty="0" smtClean="0">
                            <a:latin typeface="Cambria Math" panose="02040503050406030204" pitchFamily="18" charset="0"/>
                            <a:ea typeface="+mn-ea"/>
                          </a:rPr>
                        </m:ctrlPr>
                      </m:sSubSupPr>
                      <m:e>
                        <m:r>
                          <a:rPr lang="en-US" altLang="zh-CN" sz="2000" b="0" i="1" dirty="0" smtClean="0">
                            <a:latin typeface="Cambria Math" panose="02040503050406030204" pitchFamily="18" charset="0"/>
                            <a:ea typeface="+mn-ea"/>
                          </a:rPr>
                          <m:t>𝑝</m:t>
                        </m:r>
                      </m:e>
                      <m:sub>
                        <m:r>
                          <a:rPr lang="en-US" altLang="zh-CN" sz="2000" b="0" i="1" dirty="0" smtClean="0">
                            <a:latin typeface="Cambria Math" panose="02040503050406030204" pitchFamily="18" charset="0"/>
                            <a:ea typeface="+mn-ea"/>
                          </a:rPr>
                          <m:t>1</m:t>
                        </m:r>
                      </m:sub>
                      <m:sup>
                        <m:sSub>
                          <m:sSubPr>
                            <m:ctrlPr>
                              <a:rPr lang="en-US" altLang="zh-CN" sz="2000" b="0" i="1" dirty="0" smtClean="0">
                                <a:latin typeface="Cambria Math" panose="02040503050406030204" pitchFamily="18" charset="0"/>
                                <a:ea typeface="+mn-ea"/>
                              </a:rPr>
                            </m:ctrlPr>
                          </m:sSubPr>
                          <m:e>
                            <m:r>
                              <a:rPr lang="en-US" altLang="zh-CN" sz="2000" b="0" i="1" dirty="0" smtClean="0">
                                <a:latin typeface="Cambria Math" panose="02040503050406030204" pitchFamily="18" charset="0"/>
                                <a:ea typeface="+mn-ea"/>
                              </a:rPr>
                              <m:t>𝑒</m:t>
                            </m:r>
                          </m:e>
                          <m:sub>
                            <m:r>
                              <a:rPr lang="en-US" altLang="zh-CN" sz="2000" b="0" i="1" dirty="0" smtClean="0">
                                <a:latin typeface="Cambria Math" panose="02040503050406030204" pitchFamily="18" charset="0"/>
                                <a:ea typeface="+mn-ea"/>
                              </a:rPr>
                              <m:t>1</m:t>
                            </m:r>
                          </m:sub>
                        </m:sSub>
                      </m:sup>
                    </m:sSubSup>
                    <m:r>
                      <a:rPr lang="en-US" altLang="zh-CN" sz="2000" b="0" i="1" dirty="0" smtClean="0">
                        <a:latin typeface="Cambria Math" panose="02040503050406030204" pitchFamily="18" charset="0"/>
                        <a:ea typeface="Cambria Math" panose="02040503050406030204" pitchFamily="18" charset="0"/>
                      </a:rPr>
                      <m:t>×</m:t>
                    </m:r>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𝑝</m:t>
                        </m:r>
                      </m:e>
                      <m:sub>
                        <m:r>
                          <a:rPr lang="en-US" altLang="zh-CN" sz="2000" b="0" i="1" dirty="0" smtClean="0">
                            <a:latin typeface="Cambria Math" panose="02040503050406030204" pitchFamily="18" charset="0"/>
                          </a:rPr>
                          <m:t>2</m:t>
                        </m:r>
                      </m:sub>
                      <m:sup>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𝑒</m:t>
                            </m:r>
                          </m:e>
                          <m:sub>
                            <m:r>
                              <a:rPr lang="en-US" altLang="zh-CN" sz="2000" b="0" i="1" dirty="0" smtClean="0">
                                <a:latin typeface="Cambria Math" panose="02040503050406030204" pitchFamily="18" charset="0"/>
                              </a:rPr>
                              <m:t>2</m:t>
                            </m:r>
                          </m:sub>
                        </m:sSub>
                      </m:sup>
                    </m:sSub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m:t>
                    </m:r>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𝑝</m:t>
                        </m:r>
                      </m:e>
                      <m:sub>
                        <m:r>
                          <a:rPr lang="en-US" altLang="zh-CN" sz="2000" b="0" i="1" dirty="0" smtClean="0">
                            <a:latin typeface="Cambria Math" panose="02040503050406030204" pitchFamily="18" charset="0"/>
                          </a:rPr>
                          <m:t>𝑘</m:t>
                        </m:r>
                      </m:sub>
                      <m:sup>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𝑒</m:t>
                            </m:r>
                          </m:e>
                          <m:sub>
                            <m:r>
                              <a:rPr lang="en-US" altLang="zh-CN" sz="2000" b="0" i="1" dirty="0" smtClean="0">
                                <a:latin typeface="Cambria Math" panose="02040503050406030204" pitchFamily="18" charset="0"/>
                              </a:rPr>
                              <m:t>𝑘</m:t>
                            </m:r>
                          </m:sub>
                        </m:sSub>
                      </m:sup>
                    </m:sSubSup>
                  </m:oMath>
                </a14:m>
                <a:r>
                  <a:rPr lang="zh-CN" altLang="en-GB" sz="2000" dirty="0">
                    <a:latin typeface="+mn-lt"/>
                    <a:ea typeface="+mn-ea"/>
                  </a:rPr>
                  <a:t>，</a:t>
                </a:r>
                <a:r>
                  <a:rPr lang="zh-CN" altLang="en-US" sz="2000" dirty="0">
                    <a:latin typeface="+mn-lt"/>
                    <a:ea typeface="+mn-ea"/>
                  </a:rPr>
                  <a:t>即可得到</a:t>
                </a:r>
                <a14:m>
                  <m:oMath xmlns:m="http://schemas.openxmlformats.org/officeDocument/2006/math">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𝑎</m:t>
                            </m:r>
                          </m:num>
                          <m:den>
                            <m:r>
                              <a:rPr lang="en-US" altLang="zh-CN" sz="2000" b="0" i="1" smtClean="0">
                                <a:latin typeface="Cambria Math" panose="02040503050406030204" pitchFamily="18" charset="0"/>
                              </a:rPr>
                              <m:t>𝑁</m:t>
                            </m:r>
                          </m:den>
                        </m:f>
                      </m:e>
                    </m:d>
                  </m:oMath>
                </a14:m>
                <a:r>
                  <a:rPr lang="en-US" altLang="zh-CN" sz="2000" dirty="0">
                    <a:latin typeface="+mn-lt"/>
                    <a:ea typeface="+mn-ea"/>
                  </a:rPr>
                  <a:t>=</a:t>
                </a:r>
                <a14:m>
                  <m:oMath xmlns:m="http://schemas.openxmlformats.org/officeDocument/2006/math">
                    <m:nary>
                      <m:naryPr>
                        <m:chr m:val="∏"/>
                        <m:ctrlPr>
                          <a:rPr lang="en-US" altLang="zh-CN" sz="2000" i="1" dirty="0" smtClean="0">
                            <a:latin typeface="Cambria Math" panose="02040503050406030204" pitchFamily="18" charset="0"/>
                            <a:ea typeface="+mn-ea"/>
                          </a:rPr>
                        </m:ctrlPr>
                      </m:naryPr>
                      <m:sub>
                        <m:r>
                          <m:rPr>
                            <m:brk m:alnAt="23"/>
                          </m:rPr>
                          <a:rPr lang="en-US" altLang="zh-CN" sz="2000" b="0" i="1" dirty="0" smtClean="0">
                            <a:latin typeface="Cambria Math" panose="02040503050406030204" pitchFamily="18" charset="0"/>
                            <a:ea typeface="+mn-ea"/>
                          </a:rPr>
                          <m:t>𝑖</m:t>
                        </m:r>
                        <m:r>
                          <a:rPr lang="en-US" altLang="zh-CN" sz="2000" b="0" i="1" dirty="0" smtClean="0">
                            <a:latin typeface="Cambria Math" panose="02040503050406030204" pitchFamily="18" charset="0"/>
                            <a:ea typeface="+mn-ea"/>
                          </a:rPr>
                          <m:t>=</m:t>
                        </m:r>
                        <m:r>
                          <a:rPr lang="en-US" altLang="zh-CN" sz="2000" b="0" i="1" dirty="0" smtClean="0">
                            <a:latin typeface="Cambria Math" panose="02040503050406030204" pitchFamily="18" charset="0"/>
                            <a:ea typeface="+mn-ea"/>
                          </a:rPr>
                          <m:t>1</m:t>
                        </m:r>
                      </m:sub>
                      <m:sup>
                        <m:r>
                          <a:rPr lang="en-US" altLang="zh-CN" sz="2000" b="0" i="1" dirty="0" smtClean="0">
                            <a:latin typeface="Cambria Math" panose="02040503050406030204" pitchFamily="18" charset="0"/>
                            <a:ea typeface="+mn-ea"/>
                          </a:rPr>
                          <m:t>𝑘</m:t>
                        </m:r>
                      </m:sup>
                      <m:e>
                        <m:sSup>
                          <m:sSupPr>
                            <m:ctrlPr>
                              <a:rPr lang="en-US" altLang="zh-CN" sz="2000" i="1" dirty="0" smtClean="0">
                                <a:latin typeface="Cambria Math" panose="02040503050406030204" pitchFamily="18" charset="0"/>
                                <a:ea typeface="+mn-ea"/>
                              </a:rPr>
                            </m:ctrlPr>
                          </m:sSupPr>
                          <m:e>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𝑎</m:t>
                                    </m:r>
                                  </m:num>
                                  <m:den>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𝑖</m:t>
                                        </m:r>
                                      </m:sub>
                                    </m:sSub>
                                  </m:den>
                                </m:f>
                              </m:e>
                            </m:d>
                          </m:e>
                          <m:sup>
                            <m:sSub>
                              <m:sSubPr>
                                <m:ctrlPr>
                                  <a:rPr lang="en-US" altLang="zh-CN" sz="2000" i="1" dirty="0" smtClean="0">
                                    <a:latin typeface="Cambria Math" panose="02040503050406030204" pitchFamily="18" charset="0"/>
                                    <a:ea typeface="+mn-ea"/>
                                  </a:rPr>
                                </m:ctrlPr>
                              </m:sSubPr>
                              <m:e>
                                <m:r>
                                  <a:rPr lang="en-US" altLang="zh-CN" sz="2000" b="0" i="1" dirty="0" smtClean="0">
                                    <a:latin typeface="Cambria Math" panose="02040503050406030204" pitchFamily="18" charset="0"/>
                                    <a:ea typeface="+mn-ea"/>
                                  </a:rPr>
                                  <m:t>𝑒</m:t>
                                </m:r>
                              </m:e>
                              <m:sub>
                                <m:r>
                                  <a:rPr lang="en-US" altLang="zh-CN" sz="2000" b="0" i="1" dirty="0" smtClean="0">
                                    <a:latin typeface="Cambria Math" panose="02040503050406030204" pitchFamily="18" charset="0"/>
                                    <a:ea typeface="+mn-ea"/>
                                  </a:rPr>
                                  <m:t>𝑖</m:t>
                                </m:r>
                              </m:sub>
                            </m:sSub>
                          </m:sup>
                        </m:sSup>
                      </m:e>
                    </m:nary>
                    <m:r>
                      <a:rPr lang="zh-CN" altLang="en-US" sz="2000" b="0" i="0" dirty="0" smtClean="0">
                        <a:latin typeface="Cambria Math" panose="02040503050406030204" pitchFamily="18" charset="0"/>
                        <a:ea typeface="+mn-ea"/>
                      </a:rPr>
                      <m:t>。</m:t>
                    </m:r>
                  </m:oMath>
                </a14:m>
                <a:endParaRPr lang="zh-CN" altLang="en-US" sz="2000" dirty="0">
                  <a:latin typeface="+mn-lt"/>
                  <a:ea typeface="+mn-ea"/>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231649" y="3373412"/>
                <a:ext cx="11960351" cy="2376356"/>
              </a:xfrm>
              <a:prstGeom prst="rect">
                <a:avLst/>
              </a:prstGeom>
              <a:blipFill>
                <a:blip r:embed="rId3"/>
                <a:stretch>
                  <a:fillRect l="-530" t="-97872" b="-122872"/>
                </a:stretch>
              </a:blipFill>
            </p:spPr>
            <p:txBody>
              <a:bodyPr/>
              <a:lstStyle/>
              <a:p>
                <a:r>
                  <a:rPr lang="zh-CN" altLang="en-US">
                    <a:noFill/>
                  </a:rPr>
                  <a:t> </a:t>
                </a:r>
              </a:p>
            </p:txBody>
          </p:sp>
        </mc:Fallback>
      </mc:AlternateContent>
      <p:sp>
        <p:nvSpPr>
          <p:cNvPr id="17" name="TextBox 9"/>
          <p:cNvSpPr txBox="1"/>
          <p:nvPr/>
        </p:nvSpPr>
        <p:spPr>
          <a:xfrm>
            <a:off x="868372" y="2084084"/>
            <a:ext cx="10427822"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另一类信息泄露</a:t>
            </a:r>
            <a:endParaRPr sz="2400" dirty="0"/>
          </a:p>
        </p:txBody>
      </p:sp>
      <mc:AlternateContent xmlns:mc="http://schemas.openxmlformats.org/markup-compatibility/2006" xmlns:a14="http://schemas.microsoft.com/office/drawing/2010/main">
        <mc:Choice Requires="a14">
          <p:sp>
            <p:nvSpPr>
              <p:cNvPr id="18" name="TextBox 10"/>
              <p:cNvSpPr txBox="1"/>
              <p:nvPr/>
            </p:nvSpPr>
            <p:spPr>
              <a:xfrm>
                <a:off x="1068997" y="2421142"/>
                <a:ext cx="10248533" cy="943592"/>
              </a:xfrm>
              <a:prstGeom prst="rect">
                <a:avLst/>
              </a:prstGeom>
              <a:noFill/>
            </p:spPr>
            <p:txBody>
              <a:bodyPr wrap="square" lIns="73152" tIns="64008">
                <a:spAutoFit/>
              </a:bodyPr>
              <a:lstStyle/>
              <a:p>
                <a:pPr>
                  <a:spcAft>
                    <a:spcPts val="400"/>
                  </a:spcAft>
                  <a:defRPr sz="2100" b="0">
                    <a:solidFill>
                      <a:srgbClr val="2C2C2F"/>
                    </a:solidFill>
                    <a:latin typeface="微软雅黑"/>
                  </a:defRPr>
                </a:pPr>
                <a:r>
                  <a:rPr lang="zh-CN" altLang="en-US" sz="2000" dirty="0">
                    <a:latin typeface="+mn-lt"/>
                  </a:rPr>
                  <a:t>根据</a:t>
                </a:r>
                <a:r>
                  <a:rPr lang="zh-CN" altLang="en-US" sz="2000" dirty="0" err="1">
                    <a:latin typeface="+mn-lt"/>
                  </a:rPr>
                  <a:t>雅可比符号</a:t>
                </a:r>
                <a:r>
                  <a:rPr lang="zh-CN" altLang="en-US" sz="2000" dirty="0">
                    <a:latin typeface="+mn-lt"/>
                  </a:rPr>
                  <a:t>定义可知：</a:t>
                </a:r>
                <a:r>
                  <a:rPr lang="zh-CN" altLang="en-US" sz="2000" dirty="0" err="1">
                    <a:latin typeface="+mn-lt"/>
                  </a:rPr>
                  <a:t>当</a:t>
                </a:r>
                <a:r>
                  <a:rPr lang="zh-CN" altLang="en-US" sz="2000" dirty="0">
                    <a:latin typeface="+mn-lt"/>
                  </a:rPr>
                  <a:t> </a:t>
                </a:r>
                <a:r>
                  <a:rPr lang="en-GB" sz="2000" i="1" dirty="0">
                    <a:latin typeface="+mn-lt"/>
                  </a:rPr>
                  <a:t>e</a:t>
                </a:r>
                <a:r>
                  <a:rPr lang="en-GB" sz="2000" dirty="0">
                    <a:latin typeface="+mn-lt"/>
                  </a:rPr>
                  <a:t> </a:t>
                </a:r>
                <a:r>
                  <a:rPr lang="zh-CN" altLang="en-US" sz="2000" dirty="0" err="1">
                    <a:latin typeface="+mn-lt"/>
                  </a:rPr>
                  <a:t>为奇数时</a:t>
                </a:r>
                <a:r>
                  <a:rPr lang="zh-CN" altLang="en-US" sz="2000" dirty="0">
                    <a:latin typeface="+mn-lt"/>
                  </a:rPr>
                  <a:t>，</a:t>
                </a:r>
                <a:r>
                  <a:rPr lang="zh-CN" altLang="en-US" sz="2000" dirty="0">
                    <a:latin typeface="+mn-lt"/>
                    <a:ea typeface="+mn-ea"/>
                  </a:rPr>
                  <a:t> </a:t>
                </a:r>
                <a14:m>
                  <m:oMath xmlns:m="http://schemas.openxmlformats.org/officeDocument/2006/math">
                    <m:d>
                      <m:dPr>
                        <m:ctrlPr>
                          <a:rPr lang="ar-AE" altLang="zh-CN" sz="2000" i="1" smtClean="0">
                            <a:latin typeface="Cambria Math" panose="02040503050406030204" pitchFamily="18" charset="0"/>
                            <a:ea typeface="+mn-ea"/>
                          </a:rPr>
                        </m:ctrlPr>
                      </m:dPr>
                      <m:e>
                        <m:f>
                          <m:fPr>
                            <m:ctrlPr>
                              <a:rPr lang="ar-AE" altLang="zh-CN" sz="2000" i="1" smtClean="0">
                                <a:latin typeface="Cambria Math" panose="02040503050406030204" pitchFamily="18" charset="0"/>
                                <a:ea typeface="+mn-ea"/>
                              </a:rPr>
                            </m:ctrlPr>
                          </m:fPr>
                          <m:num>
                            <m:r>
                              <a:rPr lang="en-GB" altLang="zh-CN" sz="2000" i="1">
                                <a:latin typeface="Cambria Math" panose="02040503050406030204" pitchFamily="18" charset="0"/>
                                <a:ea typeface="+mn-ea"/>
                              </a:rPr>
                              <m:t>𝐶</m:t>
                            </m:r>
                          </m:num>
                          <m:den>
                            <m:r>
                              <a:rPr lang="en-GB" altLang="zh-CN" sz="2000" i="1">
                                <a:latin typeface="Cambria Math" panose="02040503050406030204" pitchFamily="18" charset="0"/>
                                <a:ea typeface="+mn-ea"/>
                              </a:rPr>
                              <m:t>𝑁</m:t>
                            </m:r>
                          </m:den>
                        </m:f>
                      </m:e>
                    </m:d>
                  </m:oMath>
                </a14:m>
                <a:r>
                  <a:rPr lang="ar-AE" sz="2000" dirty="0">
                    <a:latin typeface="+mn-lt"/>
                  </a:rPr>
                  <a:t>=</a:t>
                </a:r>
                <a:r>
                  <a:rPr lang="ar-AE" altLang="zh-CN" sz="2000" dirty="0">
                    <a:solidFill>
                      <a:srgbClr val="2C2C2F"/>
                    </a:solidFill>
                    <a:latin typeface="+mn-lt"/>
                  </a:rPr>
                  <a:t> </a:t>
                </a:r>
                <a14:m>
                  <m:oMath xmlns:m="http://schemas.openxmlformats.org/officeDocument/2006/math">
                    <m:d>
                      <m:dPr>
                        <m:ctrlPr>
                          <a:rPr lang="ar-AE" altLang="zh-CN" sz="2000" i="1">
                            <a:solidFill>
                              <a:srgbClr val="2C2C2F"/>
                            </a:solidFill>
                            <a:latin typeface="Cambria Math" panose="02040503050406030204" pitchFamily="18" charset="0"/>
                          </a:rPr>
                        </m:ctrlPr>
                      </m:dPr>
                      <m:e>
                        <m:f>
                          <m:fPr>
                            <m:ctrlPr>
                              <a:rPr lang="ar-AE" altLang="zh-CN" sz="2000" i="1" smtClean="0">
                                <a:solidFill>
                                  <a:srgbClr val="2C2C2F"/>
                                </a:solidFill>
                                <a:latin typeface="Cambria Math" panose="02040503050406030204" pitchFamily="18" charset="0"/>
                              </a:rPr>
                            </m:ctrlPr>
                          </m:fPr>
                          <m:num>
                            <m:sSup>
                              <m:sSupPr>
                                <m:ctrlPr>
                                  <a:rPr lang="ar-AE" altLang="zh-CN" sz="2000" i="1" smtClean="0">
                                    <a:solidFill>
                                      <a:srgbClr val="2C2C2F"/>
                                    </a:solidFill>
                                    <a:latin typeface="Cambria Math" panose="02040503050406030204" pitchFamily="18" charset="0"/>
                                  </a:rPr>
                                </m:ctrlPr>
                              </m:sSupPr>
                              <m:e>
                                <m:r>
                                  <a:rPr lang="ar-AE" altLang="zh-CN" sz="2000" b="0" i="1" smtClean="0">
                                    <a:solidFill>
                                      <a:srgbClr val="2C2C2F"/>
                                    </a:solidFill>
                                    <a:latin typeface="Cambria Math" panose="02040503050406030204" pitchFamily="18" charset="0"/>
                                  </a:rPr>
                                  <m:t>𝑀</m:t>
                                </m:r>
                              </m:e>
                              <m:sup>
                                <m:r>
                                  <a:rPr lang="en-US" altLang="zh-CN" sz="2000" b="0" i="1" smtClean="0">
                                    <a:solidFill>
                                      <a:srgbClr val="2C2C2F"/>
                                    </a:solidFill>
                                    <a:latin typeface="Cambria Math" panose="02040503050406030204" pitchFamily="18" charset="0"/>
                                  </a:rPr>
                                  <m:t>𝑒</m:t>
                                </m:r>
                              </m:sup>
                            </m:sSup>
                          </m:num>
                          <m:den>
                            <m:r>
                              <a:rPr lang="en-GB" altLang="zh-CN" sz="2000" i="1">
                                <a:solidFill>
                                  <a:srgbClr val="2C2C2F"/>
                                </a:solidFill>
                                <a:latin typeface="Cambria Math" panose="02040503050406030204" pitchFamily="18" charset="0"/>
                              </a:rPr>
                              <m:t>𝑁</m:t>
                            </m:r>
                          </m:den>
                        </m:f>
                      </m:e>
                    </m:d>
                  </m:oMath>
                </a14:m>
                <a:r>
                  <a:rPr lang="en-US" sz="2000" dirty="0">
                    <a:latin typeface="+mn-lt"/>
                  </a:rPr>
                  <a:t>=</a:t>
                </a:r>
                <a:r>
                  <a:rPr lang="ar-AE" altLang="zh-CN" sz="2000" dirty="0">
                    <a:solidFill>
                      <a:srgbClr val="2C2C2F"/>
                    </a:solidFill>
                    <a:latin typeface="+mn-lt"/>
                  </a:rPr>
                  <a:t> </a:t>
                </a:r>
                <a14:m>
                  <m:oMath xmlns:m="http://schemas.openxmlformats.org/officeDocument/2006/math">
                    <m:d>
                      <m:dPr>
                        <m:ctrlPr>
                          <a:rPr lang="ar-AE" altLang="zh-CN" sz="2000" i="1">
                            <a:solidFill>
                              <a:srgbClr val="2C2C2F"/>
                            </a:solidFill>
                            <a:latin typeface="Cambria Math" panose="02040503050406030204" pitchFamily="18" charset="0"/>
                          </a:rPr>
                        </m:ctrlPr>
                      </m:dPr>
                      <m:e>
                        <m:f>
                          <m:fPr>
                            <m:ctrlPr>
                              <a:rPr lang="ar-AE" altLang="zh-CN" sz="2000" i="1">
                                <a:solidFill>
                                  <a:srgbClr val="2C2C2F"/>
                                </a:solidFill>
                                <a:latin typeface="Cambria Math" panose="02040503050406030204" pitchFamily="18" charset="0"/>
                              </a:rPr>
                            </m:ctrlPr>
                          </m:fPr>
                          <m:num>
                            <m:r>
                              <a:rPr lang="en-US" altLang="zh-CN" sz="2000" b="0" i="1" smtClean="0">
                                <a:solidFill>
                                  <a:srgbClr val="2C2C2F"/>
                                </a:solidFill>
                                <a:latin typeface="Cambria Math" panose="02040503050406030204" pitchFamily="18" charset="0"/>
                              </a:rPr>
                              <m:t>𝑀</m:t>
                            </m:r>
                          </m:num>
                          <m:den>
                            <m:r>
                              <a:rPr lang="en-GB" altLang="zh-CN" sz="2000" i="1">
                                <a:solidFill>
                                  <a:srgbClr val="2C2C2F"/>
                                </a:solidFill>
                                <a:latin typeface="Cambria Math" panose="02040503050406030204" pitchFamily="18" charset="0"/>
                              </a:rPr>
                              <m:t>𝑁</m:t>
                            </m:r>
                          </m:den>
                        </m:f>
                      </m:e>
                    </m:d>
                  </m:oMath>
                </a14:m>
                <a:endParaRPr lang="ar-AE" sz="2000" dirty="0">
                  <a:latin typeface="+mn-lt"/>
                </a:endParaRPr>
              </a:p>
              <a:p>
                <a:pPr>
                  <a:spcAft>
                    <a:spcPts val="400"/>
                  </a:spcAft>
                  <a:defRPr sz="2100" b="0">
                    <a:solidFill>
                      <a:srgbClr val="2C2C2F"/>
                    </a:solidFill>
                    <a:latin typeface="微软雅黑"/>
                  </a:defRPr>
                </a:pPr>
                <a:r>
                  <a:rPr lang="zh-CN" altLang="en-US" sz="2000" dirty="0" err="1">
                    <a:latin typeface="+mn-lt"/>
                  </a:rPr>
                  <a:t>不解密也可推断明文的部分信息</a:t>
                </a:r>
                <a:r>
                  <a:rPr lang="zh-CN" altLang="en-US" sz="2000" dirty="0">
                    <a:latin typeface="+mn-lt"/>
                  </a:rPr>
                  <a:t>。</a:t>
                </a:r>
              </a:p>
            </p:txBody>
          </p:sp>
        </mc:Choice>
        <mc:Fallback xmlns="">
          <p:sp>
            <p:nvSpPr>
              <p:cNvPr id="18" name="TextBox 10"/>
              <p:cNvSpPr txBox="1">
                <a:spLocks noRot="1" noChangeAspect="1" noMove="1" noResize="1" noEditPoints="1" noAdjustHandles="1" noChangeArrowheads="1" noChangeShapeType="1" noTextEdit="1"/>
              </p:cNvSpPr>
              <p:nvPr/>
            </p:nvSpPr>
            <p:spPr>
              <a:xfrm>
                <a:off x="1068997" y="2421142"/>
                <a:ext cx="10248533" cy="943592"/>
              </a:xfrm>
              <a:prstGeom prst="rect">
                <a:avLst/>
              </a:prstGeom>
              <a:blipFill>
                <a:blip r:embed="rId4"/>
                <a:stretch>
                  <a:fillRect l="-773" b="-10323"/>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p:cNvSpPr txBox="1"/>
          <p:nvPr/>
        </p:nvSpPr>
        <p:spPr>
          <a:xfrm>
            <a:off x="502920" y="81140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cs typeface="+mn-cs"/>
              </a:rPr>
              <a:t>RSA </a:t>
            </a:r>
            <a:r>
              <a:rPr lang="zh-CN" altLang="en-US" sz="2400" dirty="0">
                <a:solidFill>
                  <a:srgbClr val="C00000"/>
                </a:solidFill>
                <a:latin typeface="+mn-lt"/>
                <a:cs typeface="+mn-cs"/>
              </a:rPr>
              <a:t>改进一：单向陷门置换与随机化</a:t>
            </a:r>
          </a:p>
        </p:txBody>
      </p:sp>
      <p:sp>
        <p:nvSpPr>
          <p:cNvPr id="4" name="矩形 3"/>
          <p:cNvSpPr>
            <a:spLocks noGrp="1"/>
          </p:cNvSpPr>
          <p:nvPr/>
        </p:nvSpPr>
        <p:spPr>
          <a:xfrm>
            <a:off x="1381126" y="2876550"/>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Times New Roman" panose="02020503050405090304"/>
              <a:ea typeface="微软雅黑"/>
              <a:cs typeface="Times New Roman" panose="02020503050405090304"/>
            </a:endParaRPr>
          </a:p>
        </p:txBody>
      </p:sp>
      <p:sp>
        <p:nvSpPr>
          <p:cNvPr id="5" name="Rounded Rectangle 9"/>
          <p:cNvSpPr/>
          <p:nvPr/>
        </p:nvSpPr>
        <p:spPr>
          <a:xfrm>
            <a:off x="372543" y="1266526"/>
            <a:ext cx="11183112" cy="3510004"/>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38738" y="1417309"/>
                <a:ext cx="10755232" cy="3121496"/>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微软雅黑" panose="020B0503020204020204" charset="-122"/>
                    <a:ea typeface="微软雅黑" panose="020B0503020204020204" charset="-122"/>
                  </a:rPr>
                  <a:t>定义 </a:t>
                </a:r>
                <a:r>
                  <a:rPr lang="en-US" altLang="zh-CN" sz="2000" b="1" dirty="0">
                    <a:solidFill>
                      <a:srgbClr val="C00000"/>
                    </a:solidFill>
                    <a:latin typeface="微软雅黑" panose="020B0503020204020204" charset="-122"/>
                    <a:ea typeface="微软雅黑" panose="020B0503020204020204" charset="-122"/>
                  </a:rPr>
                  <a:t>3</a:t>
                </a:r>
                <a:r>
                  <a:rPr lang="en-US" altLang="zh-CN" sz="2000" b="1" i="0" dirty="0">
                    <a:solidFill>
                      <a:srgbClr val="C00000"/>
                    </a:solidFill>
                    <a:latin typeface="微软雅黑" panose="020B0503020204020204" charset="-122"/>
                    <a:ea typeface="微软雅黑" panose="020B0503020204020204" charset="-122"/>
                  </a:rPr>
                  <a:t>.13</a:t>
                </a:r>
                <a:r>
                  <a:rPr lang="zh-CN" altLang="en-US" sz="2000" b="1" dirty="0">
                    <a:solidFill>
                      <a:srgbClr val="C00000"/>
                    </a:solidFill>
                    <a:latin typeface="微软雅黑" panose="020B0503020204020204" charset="-122"/>
                    <a:ea typeface="微软雅黑" panose="020B0503020204020204" charset="-122"/>
                  </a:rPr>
                  <a:t>　陷门置换（</a:t>
                </a:r>
                <a:r>
                  <a:rPr lang="zh-CN" altLang="en-US" sz="2000" b="1" i="0" dirty="0">
                    <a:solidFill>
                      <a:srgbClr val="C00000"/>
                    </a:solidFill>
                    <a:latin typeface="微软雅黑" panose="020B0503020204020204" charset="-122"/>
                    <a:ea typeface="微软雅黑" panose="020B0503020204020204" charset="-122"/>
                  </a:rPr>
                  <a:t>教材原文）：</a:t>
                </a:r>
                <a:endParaRPr lang="en-US" altLang="zh-CN" sz="2000" b="1" i="0" dirty="0">
                  <a:solidFill>
                    <a:srgbClr val="C00000"/>
                  </a:solidFill>
                  <a:latin typeface="微软雅黑" panose="020B0503020204020204" charset="-122"/>
                  <a:ea typeface="微软雅黑" panose="020B0503020204020204" charset="-122"/>
                </a:endParaRPr>
              </a:p>
              <a:p>
                <a:pPr lvl="0" indent="266700" rtl="0" eaLnBrk="0" fontAlgn="base" hangingPunct="0">
                  <a:lnSpc>
                    <a:spcPct val="130000"/>
                  </a:lnSpc>
                  <a:spcBef>
                    <a:spcPct val="0"/>
                  </a:spcBef>
                  <a:spcAft>
                    <a:spcPct val="0"/>
                  </a:spcAft>
                </a:pP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假设中</a:t>
                </a:r>
                <a:r>
                  <a:rPr kumimoji="0" lang="zh-CN" altLang="en-US" sz="2000" b="0" i="0" u="none" strike="noStrike" cap="none" normalizeH="0" baseline="0" dirty="0">
                    <a:ln>
                      <a:noFill/>
                    </a:ln>
                    <a:solidFill>
                      <a:schemeClr val="tx1"/>
                    </a:solidFill>
                    <a:effectLst/>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𝑓</m:t>
                    </m:r>
                    <m:r>
                      <a:rPr lang="en-US" altLang="zh-CN" sz="2000" b="0" i="1" dirty="0" smtClean="0">
                        <a:latin typeface="Cambria Math" panose="02040503050406030204" pitchFamily="18" charset="0"/>
                        <a:ea typeface="+mn-ea"/>
                        <a:cs typeface="Times New Roman" panose="02020503050405090304" pitchFamily="18" charset="0"/>
                      </a:rPr>
                      <m:t>:</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smtClean="0">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dirty="0" smtClean="0">
                        <a:latin typeface="Cambria Math" panose="02040503050406030204" pitchFamily="18" charset="0"/>
                        <a:ea typeface="Cambria Math" panose="02040503050406030204" pitchFamily="18" charset="0"/>
                        <a:cs typeface="Times New Roman" panose="02020503050405090304" pitchFamily="18" charset="0"/>
                      </a:rPr>
                      <m:t>𝒳</m:t>
                    </m:r>
                  </m:oMath>
                </a14:m>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为一个置换（可看作是定义域</a:t>
                </a:r>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b="0" i="1" dirty="0" smtClean="0">
                        <a:latin typeface="Cambria Math" panose="02040503050406030204" pitchFamily="18" charset="0"/>
                        <a:ea typeface="Cambria Math" panose="02040503050406030204" pitchFamily="18" charset="0"/>
                        <a:cs typeface="Times New Roman" panose="02020503050405090304" pitchFamily="18" charset="0"/>
                      </a:rPr>
                      <m:t> </m:t>
                    </m:r>
                  </m:oMath>
                </a14:m>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到值域</a:t>
                </a:r>
                <a14:m>
                  <m:oMath xmlns:m="http://schemas.openxmlformats.org/officeDocument/2006/math">
                    <m:r>
                      <a:rPr lang="en-US" altLang="zh-CN" sz="2000" b="0" i="0" dirty="0" smtClean="0">
                        <a:latin typeface="Cambria Math" panose="02040503050406030204" pitchFamily="18" charset="0"/>
                        <a:ea typeface="Cambria Math" panose="02040503050406030204" pitchFamily="18" charset="0"/>
                        <a:cs typeface="Times New Roman" panose="02020503050405090304" pitchFamily="18" charset="0"/>
                      </a:rPr>
                      <m:t> </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b="0" i="1" dirty="0" smtClean="0">
                        <a:latin typeface="Cambria Math" panose="02040503050406030204" pitchFamily="18" charset="0"/>
                        <a:ea typeface="Cambria Math" panose="02040503050406030204" pitchFamily="18" charset="0"/>
                        <a:cs typeface="Times New Roman" panose="02020503050405090304" pitchFamily="18" charset="0"/>
                      </a:rPr>
                      <m:t> </m:t>
                    </m:r>
                  </m:oMath>
                </a14:m>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的映射）、</a:t>
                </a:r>
                <a14:m>
                  <m:oMath xmlns:m="http://schemas.openxmlformats.org/officeDocument/2006/math">
                    <m:sSup>
                      <m:sSupPr>
                        <m:ctrlP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m:t>
                        </m:r>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1</m:t>
                        </m:r>
                      </m:sup>
                    </m:sSup>
                  </m:oMath>
                </a14:m>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是</a:t>
                </a:r>
                <a14:m>
                  <m:oMath xmlns:m="http://schemas.openxmlformats.org/officeDocument/2006/math">
                    <m:r>
                      <a:rPr lang="en-US" altLang="zh-CN" sz="2000" b="0" i="0" dirty="0" smtClean="0">
                        <a:latin typeface="Cambria Math" panose="02040503050406030204" pitchFamily="18" charset="0"/>
                        <a:cs typeface="Times New Roman" panose="02020503050405090304" pitchFamily="18" charset="0"/>
                      </a:rPr>
                      <m:t> </m:t>
                    </m:r>
                    <m:r>
                      <a:rPr lang="en-US" altLang="zh-CN" sz="2000" i="1" dirty="0">
                        <a:latin typeface="Cambria Math" panose="02040503050406030204" pitchFamily="18" charset="0"/>
                        <a:cs typeface="Times New Roman" panose="02020503050405090304" pitchFamily="18" charset="0"/>
                      </a:rPr>
                      <m:t>𝑓</m:t>
                    </m:r>
                  </m:oMath>
                </a14:m>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 </a:t>
                </a: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的逆置换。令</a:t>
                </a:r>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 </a:t>
                </a:r>
                <a:r>
                  <a:rPr kumimoji="0" lang="en-US" altLang="zh-CN" sz="2000" b="0" i="1" u="none" strike="noStrike" cap="none" normalizeH="0" baseline="0" dirty="0">
                    <a:ln>
                      <a:noFill/>
                    </a:ln>
                    <a:solidFill>
                      <a:schemeClr val="tx1"/>
                    </a:solidFill>
                    <a:effectLst/>
                    <a:latin typeface="+mn-lt"/>
                    <a:ea typeface="+mn-ea"/>
                    <a:cs typeface="Times New Roman" panose="02020503050405090304" pitchFamily="18" charset="0"/>
                  </a:rPr>
                  <a:t>T</a:t>
                </a:r>
                <a:r>
                  <a:rPr kumimoji="0" lang="zh-CN" altLang="en-US" sz="2000" b="0" i="1" u="none" strike="noStrike" cap="none" normalizeH="0" baseline="0" dirty="0">
                    <a:ln>
                      <a:noFill/>
                    </a:ln>
                    <a:solidFill>
                      <a:schemeClr val="tx1"/>
                    </a:solidFill>
                    <a:effectLst/>
                    <a:latin typeface="+mn-lt"/>
                    <a:ea typeface="+mn-ea"/>
                    <a:cs typeface="Times New Roman" panose="02020503050405090304" pitchFamily="18" charset="0"/>
                  </a:rPr>
                  <a:t> </a:t>
                </a:r>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a:t>
                </a:r>
                <a:r>
                  <a:rPr kumimoji="0" lang="zh-CN" altLang="en-US" sz="2000" b="0" i="0" u="none" strike="noStrike" cap="none" normalizeH="0" baseline="0" dirty="0">
                    <a:ln>
                      <a:noFill/>
                    </a:ln>
                    <a:solidFill>
                      <a:schemeClr val="tx1"/>
                    </a:solidFill>
                    <a:effectLst/>
                    <a:latin typeface="+mn-lt"/>
                    <a:ea typeface="+mn-ea"/>
                    <a:cs typeface="Times New Roman" panose="02020503050405090304" pitchFamily="18" charset="0"/>
                  </a:rPr>
                  <a:t> </a:t>
                </a:r>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𝑓</m:t>
                    </m:r>
                    <m:r>
                      <a:rPr lang="en-US" altLang="zh-CN" sz="2000" b="0" i="0" dirty="0" smtClean="0">
                        <a:latin typeface="Cambria Math" panose="02040503050406030204" pitchFamily="18" charset="0"/>
                        <a:cs typeface="Times New Roman" panose="02020503050405090304" pitchFamily="18" charset="0"/>
                      </a:rPr>
                      <m:t>, </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oMath>
                </a14:m>
                <a:r>
                  <a:rPr kumimoji="0" lang="en-US" altLang="zh-CN" sz="2000" b="0" i="0" u="none" strike="noStrike" cap="none" normalizeH="0" baseline="0" dirty="0">
                    <a:ln>
                      <a:noFill/>
                    </a:ln>
                    <a:solidFill>
                      <a:schemeClr val="tx1"/>
                    </a:solidFill>
                    <a:effectLst/>
                    <a:latin typeface="+mn-lt"/>
                    <a:ea typeface="+mn-ea"/>
                    <a:cs typeface="Times New Roman" panose="02020503050405090304" pitchFamily="18" charset="0"/>
                  </a:rPr>
                  <a:t>) </a:t>
                </a: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是定义在</a:t>
                </a:r>
                <a:r>
                  <a:rPr kumimoji="0" lang="zh-CN" altLang="en-US" sz="2000" b="0" i="0" u="none" strike="noStrike" cap="none" normalizeH="0" baseline="0" dirty="0">
                    <a:ln>
                      <a:noFill/>
                    </a:ln>
                    <a:solidFill>
                      <a:schemeClr val="tx1"/>
                    </a:solidFill>
                    <a:effectLst/>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zh-CN" altLang="en-US" sz="2000" b="0" i="1" dirty="0" smtClean="0">
                        <a:latin typeface="Cambria Math" panose="02040503050406030204" pitchFamily="18" charset="0"/>
                        <a:ea typeface="Cambria Math" panose="02040503050406030204" pitchFamily="18" charset="0"/>
                        <a:cs typeface="Times New Roman" panose="02020503050405090304" pitchFamily="18" charset="0"/>
                      </a:rPr>
                      <m:t> </m:t>
                    </m:r>
                  </m:oMath>
                </a14:m>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上的</a:t>
                </a:r>
                <a:r>
                  <a:rPr lang="zh-CN" altLang="en-US" sz="2000" dirty="0">
                    <a:latin typeface="+mn-lt"/>
                    <a:ea typeface="+mn-ea"/>
                    <a:cs typeface="Times New Roman" panose="02020503050405090304" pitchFamily="18" charset="0"/>
                  </a:rPr>
                  <a:t>一组算法</a:t>
                </a: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，其各算法描述如下。</a:t>
                </a:r>
                <a:endParaRPr kumimoji="0" lang="zh-CN" altLang="zh-CN" sz="3200" b="0" i="0" u="none" strike="noStrike" cap="none" normalizeH="0" baseline="0" dirty="0">
                  <a:ln>
                    <a:noFill/>
                  </a:ln>
                  <a:solidFill>
                    <a:schemeClr val="tx1"/>
                  </a:solidFill>
                  <a:effectLst/>
                  <a:latin typeface="+mn-lt"/>
                  <a:ea typeface="+mn-ea"/>
                </a:endParaRPr>
              </a:p>
              <a:p>
                <a:pPr marL="285750" marR="0" lvl="0" indent="-285750" algn="l" defTabSz="914400" rtl="0" eaLnBrk="0" fontAlgn="base" latinLnBrk="0" hangingPunct="0">
                  <a:lnSpc>
                    <a:spcPct val="130000"/>
                  </a:lnSpc>
                  <a:spcBef>
                    <a:spcPct val="0"/>
                  </a:spcBef>
                  <a:spcAft>
                    <a:spcPct val="0"/>
                  </a:spcAft>
                  <a:buClr>
                    <a:srgbClr val="C00000"/>
                  </a:buClr>
                  <a:buSzTx/>
                  <a:buFont typeface="Wingdings" panose="05000000000000000000" pitchFamily="2" charset="2"/>
                  <a:buChar char="p"/>
                </a:pPr>
                <a:r>
                  <a:rPr lang="zh-CN" altLang="zh-CN" sz="2000" dirty="0">
                    <a:latin typeface="+mn-lt"/>
                    <a:ea typeface="+mn-ea"/>
                    <a:cs typeface="Times New Roman" panose="02020503050405090304" pitchFamily="18" charset="0"/>
                  </a:rPr>
                  <a:t>陷门公私钥生成算法</a:t>
                </a:r>
                <a:r>
                  <a:rPr lang="en-US" altLang="zh-CN" sz="2000" dirty="0">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TGen(λ)。输入为安全参数</a:t>
                </a:r>
                <a:r>
                  <a:rPr lang="en-US" altLang="zh-CN" sz="2000" dirty="0">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λ</a:t>
                </a:r>
                <a:r>
                  <a:rPr lang="zh-CN" altLang="en-US" sz="2000" dirty="0">
                    <a:latin typeface="+mn-lt"/>
                    <a:ea typeface="+mn-ea"/>
                    <a:cs typeface="Times New Roman" panose="02020503050405090304" pitchFamily="18" charset="0"/>
                  </a:rPr>
                  <a:t>，输出为公私钥对</a:t>
                </a:r>
                <a:r>
                  <a:rPr lang="en-US" altLang="zh-CN" sz="2000" dirty="0">
                    <a:latin typeface="+mn-lt"/>
                    <a:ea typeface="+mn-ea"/>
                    <a:cs typeface="Times New Roman" panose="02020503050405090304" pitchFamily="18" charset="0"/>
                  </a:rPr>
                  <a:t> (pk</a:t>
                </a:r>
                <a14:m>
                  <m:oMath xmlns:m="http://schemas.openxmlformats.org/officeDocument/2006/math">
                    <m:r>
                      <a:rPr lang="en-US" altLang="zh-CN" sz="2000" b="0" i="1" dirty="0" smtClean="0">
                        <a:latin typeface="Cambria Math" panose="02040503050406030204" pitchFamily="18" charset="0"/>
                        <a:cs typeface="Times New Roman" panose="02020503050405090304" pitchFamily="18" charset="0"/>
                      </a:rPr>
                      <m:t>′</m:t>
                    </m:r>
                  </m:oMath>
                </a14:m>
                <a:r>
                  <a:rPr lang="en-US" altLang="zh-CN" sz="2000" dirty="0">
                    <a:latin typeface="+mn-lt"/>
                    <a:ea typeface="+mn-ea"/>
                    <a:cs typeface="Times New Roman" panose="02020503050405090304" pitchFamily="18" charset="0"/>
                  </a:rPr>
                  <a:t>, </a:t>
                </a:r>
                <a:r>
                  <a:rPr lang="en-US" altLang="zh-CN" sz="2000" dirty="0" err="1">
                    <a:latin typeface="+mn-lt"/>
                    <a:ea typeface="+mn-ea"/>
                    <a:cs typeface="Times New Roman" panose="02020503050405090304" pitchFamily="18" charset="0"/>
                  </a:rPr>
                  <a:t>sk</a:t>
                </a:r>
                <a:r>
                  <a:rPr lang="en-US" altLang="zh-CN" sz="2000" dirty="0">
                    <a:latin typeface="+mn-lt"/>
                    <a:ea typeface="+mn-ea"/>
                    <a:cs typeface="Times New Roman" panose="02020503050405090304" pitchFamily="18" charset="0"/>
                  </a:rPr>
                  <a:t>')</a:t>
                </a:r>
                <a:r>
                  <a:rPr lang="zh-CN" altLang="en-US" sz="2000" dirty="0">
                    <a:latin typeface="+mn-lt"/>
                    <a:ea typeface="+mn-ea"/>
                    <a:cs typeface="Times New Roman" panose="02020503050405090304" pitchFamily="18" charset="0"/>
                  </a:rPr>
                  <a:t>。 </a:t>
                </a:r>
              </a:p>
              <a:p>
                <a:pPr marL="285750" lvl="0" indent="-285750" rtl="0" eaLnBrk="0" fontAlgn="base" hangingPunct="0">
                  <a:lnSpc>
                    <a:spcPct val="130000"/>
                  </a:lnSpc>
                  <a:spcBef>
                    <a:spcPct val="0"/>
                  </a:spcBef>
                  <a:spcAft>
                    <a:spcPct val="0"/>
                  </a:spcAft>
                  <a:buClr>
                    <a:srgbClr val="C00000"/>
                  </a:buClr>
                  <a:buFont typeface="Wingdings" panose="05000000000000000000" pitchFamily="2" charset="2"/>
                  <a:buChar char="p"/>
                </a:pPr>
                <a:r>
                  <a:rPr lang="zh-CN" altLang="en-US" sz="2000" dirty="0">
                    <a:latin typeface="+mn-lt"/>
                    <a:ea typeface="+mn-ea"/>
                    <a:cs typeface="Times New Roman" panose="02020503050405090304" pitchFamily="18" charset="0"/>
                  </a:rPr>
                  <a:t>置换算法 </a:t>
                </a:r>
                <a14:m>
                  <m:oMath xmlns:m="http://schemas.openxmlformats.org/officeDocument/2006/math">
                    <m:r>
                      <a:rPr lang="en-US" altLang="zh-CN" sz="2000" i="1" dirty="0" smtClean="0">
                        <a:latin typeface="Cambria Math" panose="02040503050406030204" pitchFamily="18" charset="0"/>
                        <a:cs typeface="Times New Roman" panose="02020503050405090304" pitchFamily="18" charset="0"/>
                      </a:rPr>
                      <m:t>𝑓</m:t>
                    </m:r>
                    <m:r>
                      <a:rPr lang="en-US" altLang="zh-CN" sz="2000" b="0" i="1" dirty="0" smtClean="0">
                        <a:latin typeface="Cambria Math" panose="02040503050406030204" pitchFamily="18" charset="0"/>
                        <a:cs typeface="Times New Roman" panose="02020503050405090304" pitchFamily="18" charset="0"/>
                      </a:rPr>
                      <m:t>(</m:t>
                    </m:r>
                    <m:r>
                      <a:rPr lang="en-US" altLang="zh-CN" sz="2000" b="0" i="1" dirty="0" smtClean="0">
                        <a:latin typeface="Cambria Math" panose="02040503050406030204" pitchFamily="18" charset="0"/>
                        <a:cs typeface="Times New Roman" panose="02020503050405090304" pitchFamily="18" charset="0"/>
                      </a:rPr>
                      <m:t>𝑥</m:t>
                    </m:r>
                    <m:r>
                      <a:rPr lang="en-US" altLang="zh-CN" sz="2000" b="0" i="1" dirty="0" smtClean="0">
                        <a:latin typeface="Cambria Math" panose="02040503050406030204" pitchFamily="18" charset="0"/>
                        <a:cs typeface="Times New Roman" panose="02020503050405090304" pitchFamily="18" charset="0"/>
                      </a:rPr>
                      <m:t>, </m:t>
                    </m:r>
                    <m:r>
                      <m:rPr>
                        <m:sty m:val="p"/>
                      </m:rPr>
                      <a:rPr lang="en-US" altLang="zh-CN" sz="2000" b="0" i="0" dirty="0" smtClean="0">
                        <a:latin typeface="Cambria Math" panose="02040503050406030204" pitchFamily="18" charset="0"/>
                        <a:cs typeface="Times New Roman" panose="02020503050405090304" pitchFamily="18" charset="0"/>
                      </a:rPr>
                      <m:t>pk</m:t>
                    </m:r>
                    <m:r>
                      <a:rPr lang="en-US" altLang="zh-CN" sz="2000" b="0" i="1" dirty="0" smtClean="0">
                        <a:latin typeface="Cambria Math" panose="02040503050406030204" pitchFamily="18" charset="0"/>
                        <a:cs typeface="Times New Roman" panose="02020503050405090304" pitchFamily="18" charset="0"/>
                      </a:rPr>
                      <m:t>′</m:t>
                    </m:r>
                    <m:r>
                      <a:rPr lang="en-US" altLang="zh-CN" sz="2000" b="0" i="1" dirty="0" smtClean="0">
                        <a:latin typeface="Cambria Math" panose="02040503050406030204" pitchFamily="18" charset="0"/>
                        <a:cs typeface="Times New Roman" panose="02020503050405090304" pitchFamily="18" charset="0"/>
                      </a:rPr>
                      <m:t>)</m:t>
                    </m:r>
                  </m:oMath>
                </a14:m>
                <a:r>
                  <a:rPr lang="zh-CN" altLang="en-US" sz="2000" dirty="0">
                    <a:latin typeface="+mn-lt"/>
                    <a:ea typeface="+mn-ea"/>
                    <a:cs typeface="Times New Roman" panose="02020503050405090304" pitchFamily="18" charset="0"/>
                  </a:rPr>
                  <a:t>。输入为</a:t>
                </a:r>
                <a:r>
                  <a:rPr lang="en-US" altLang="zh-CN" sz="2000" dirty="0">
                    <a:latin typeface="+mn-lt"/>
                    <a:ea typeface="+mn-ea"/>
                    <a:cs typeface="Times New Roman" panose="02020503050405090304" pitchFamily="18" charset="0"/>
                  </a:rPr>
                  <a:t> pk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和</a:t>
                </a:r>
                <a14:m>
                  <m:oMath xmlns:m="http://schemas.openxmlformats.org/officeDocument/2006/math">
                    <m:r>
                      <a:rPr lang="en-US" altLang="zh-CN" sz="2000" b="0" i="0" dirty="0" smtClean="0">
                        <a:latin typeface="Cambria Math" panose="02040503050406030204" pitchFamily="18" charset="0"/>
                        <a:cs typeface="Times New Roman" panose="02020503050405090304" pitchFamily="18" charset="0"/>
                      </a:rPr>
                      <m:t> </m:t>
                    </m:r>
                    <m:r>
                      <a:rPr lang="en-US" altLang="zh-CN" sz="2000" i="1" dirty="0">
                        <a:latin typeface="Cambria Math" panose="02040503050406030204" pitchFamily="18" charset="0"/>
                        <a:cs typeface="Times New Roman" panose="02020503050405090304" pitchFamily="18" charset="0"/>
                      </a:rPr>
                      <m:t>𝑥</m:t>
                    </m:r>
                    <m:r>
                      <a:rPr lang="en-US" altLang="zh-CN" sz="2000" i="1" dirty="0">
                        <a:latin typeface="Cambria Math" panose="02040503050406030204" pitchFamily="18" charset="0"/>
                        <a:cs typeface="Times New Roman" panose="02020503050405090304" pitchFamily="18" charset="0"/>
                      </a:rPr>
                      <m:t> </m:t>
                    </m:r>
                  </m:oMath>
                </a14:m>
                <a:r>
                  <a:rPr lang="en-US" altLang="zh-CN" sz="2000" dirty="0" err="1">
                    <a:latin typeface="+mn-lt"/>
                    <a:ea typeface="+mn-ea"/>
                    <a:cs typeface="Times New Roman" panose="02020503050405090304" pitchFamily="18" charset="0"/>
                  </a:rPr>
                  <a:t>∈</a:t>
                </a:r>
                <a:r>
                  <a:rPr lang="en-US" altLang="zh-CN" sz="2000" dirty="0">
                    <a:ea typeface="Cambria Math" panose="02040503050406030204" pitchFamily="18" charset="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，输出为</a:t>
                </a:r>
                <a:r>
                  <a:rPr lang="en-US" altLang="zh-CN" sz="2000" dirty="0">
                    <a:latin typeface="+mn-lt"/>
                    <a:ea typeface="+mn-ea"/>
                    <a:cs typeface="Times New Roman" panose="02020503050405090304" pitchFamily="18" charset="0"/>
                  </a:rPr>
                  <a:t> </a:t>
                </a:r>
                <a:r>
                  <a:rPr lang="en-US" altLang="zh-CN" sz="2000" i="1" dirty="0">
                    <a:latin typeface="+mn-lt"/>
                    <a:ea typeface="+mn-ea"/>
                    <a:cs typeface="Times New Roman" panose="02020503050405090304" pitchFamily="18" charset="0"/>
                  </a:rPr>
                  <a:t>y </a:t>
                </a:r>
                <a:r>
                  <a:rPr lang="en-US" altLang="zh-CN" sz="2000" dirty="0">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a:t>
                </a:r>
              </a:p>
              <a:p>
                <a:pPr marL="285750" lvl="0" indent="-285750" rtl="0" eaLnBrk="0" fontAlgn="base" hangingPunct="0">
                  <a:lnSpc>
                    <a:spcPct val="130000"/>
                  </a:lnSpc>
                  <a:spcBef>
                    <a:spcPct val="0"/>
                  </a:spcBef>
                  <a:spcAft>
                    <a:spcPct val="0"/>
                  </a:spcAft>
                  <a:buClr>
                    <a:srgbClr val="C00000"/>
                  </a:buClr>
                  <a:buFont typeface="Wingdings" panose="05000000000000000000" pitchFamily="2" charset="2"/>
                  <a:buChar char="p"/>
                </a:pPr>
                <a:r>
                  <a:rPr lang="zh-CN" altLang="en-US" sz="2000" dirty="0">
                    <a:latin typeface="+mn-lt"/>
                    <a:ea typeface="+mn-ea"/>
                    <a:cs typeface="Times New Roman" panose="02020503050405090304" pitchFamily="18" charset="0"/>
                  </a:rPr>
                  <a:t>逆置换算法 </a:t>
                </a:r>
                <a14:m>
                  <m:oMath xmlns:m="http://schemas.openxmlformats.org/officeDocument/2006/math">
                    <m:sSup>
                      <m:sSupPr>
                        <m:ctrlP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m:t>
                        </m:r>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1</m:t>
                        </m:r>
                      </m:sup>
                    </m:sSup>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 </m:t>
                    </m:r>
                  </m:oMath>
                </a14:m>
                <a:r>
                  <a:rPr lang="en-US" altLang="zh-CN" sz="2000" dirty="0">
                    <a:latin typeface="+mn-lt"/>
                    <a:ea typeface="+mn-ea"/>
                    <a:cs typeface="Times New Roman" panose="02020503050405090304" pitchFamily="18" charset="0"/>
                  </a:rPr>
                  <a:t>(</a:t>
                </a:r>
                <a:r>
                  <a:rPr lang="en-US" altLang="zh-CN" sz="2000" i="1" dirty="0">
                    <a:latin typeface="+mn-lt"/>
                    <a:ea typeface="+mn-ea"/>
                    <a:cs typeface="Times New Roman" panose="02020503050405090304" pitchFamily="18" charset="0"/>
                  </a:rPr>
                  <a:t>y</a:t>
                </a:r>
                <a:r>
                  <a:rPr lang="en-US" altLang="zh-CN" sz="2000" dirty="0">
                    <a:latin typeface="+mn-lt"/>
                    <a:ea typeface="+mn-ea"/>
                    <a:cs typeface="Times New Roman" panose="02020503050405090304" pitchFamily="18" charset="0"/>
                  </a:rPr>
                  <a:t>, </a:t>
                </a:r>
                <a:r>
                  <a:rPr lang="en-US" altLang="zh-CN" sz="2000" dirty="0" err="1">
                    <a:latin typeface="+mn-lt"/>
                    <a:ea typeface="+mn-ea"/>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latin typeface="+mn-lt"/>
                    <a:ea typeface="+mn-ea"/>
                    <a:cs typeface="Times New Roman" panose="02020503050405090304" pitchFamily="18" charset="0"/>
                  </a:rPr>
                  <a:t>)</a:t>
                </a:r>
                <a:r>
                  <a:rPr lang="zh-CN" altLang="en-US" sz="2000" dirty="0">
                    <a:latin typeface="+mn-lt"/>
                    <a:ea typeface="+mn-ea"/>
                    <a:cs typeface="Times New Roman" panose="02020503050405090304" pitchFamily="18" charset="0"/>
                  </a:rPr>
                  <a:t>。：输入为</a:t>
                </a:r>
                <a:r>
                  <a:rPr lang="en-US" altLang="zh-CN" sz="2000" dirty="0">
                    <a:latin typeface="+mn-lt"/>
                    <a:ea typeface="+mn-ea"/>
                    <a:cs typeface="Times New Roman" panose="02020503050405090304" pitchFamily="18" charset="0"/>
                  </a:rPr>
                  <a:t> 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和</a:t>
                </a:r>
                <a:r>
                  <a:rPr lang="en-US" altLang="zh-CN" sz="2000" dirty="0">
                    <a:latin typeface="+mn-lt"/>
                    <a:ea typeface="+mn-ea"/>
                    <a:cs typeface="Times New Roman" panose="02020503050405090304" pitchFamily="18" charset="0"/>
                  </a:rPr>
                  <a:t> </a:t>
                </a:r>
                <a:r>
                  <a:rPr lang="en-US" altLang="zh-CN" sz="2000" i="1" dirty="0">
                    <a:cs typeface="Times New Roman" panose="02020503050405090304" pitchFamily="18" charset="0"/>
                  </a:rPr>
                  <a:t>y </a:t>
                </a:r>
                <a:r>
                  <a:rPr lang="en-US" altLang="zh-CN" sz="2000" dirty="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，输出为</a:t>
                </a:r>
                <a:r>
                  <a:rPr lang="en-US" altLang="zh-CN" sz="2000" dirty="0">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𝑥</m:t>
                    </m:r>
                    <m:r>
                      <a:rPr lang="en-US" altLang="zh-CN" sz="2000" i="1" dirty="0">
                        <a:latin typeface="Cambria Math" panose="02040503050406030204" pitchFamily="18" charset="0"/>
                        <a:cs typeface="Times New Roman" panose="02020503050405090304" pitchFamily="18" charset="0"/>
                      </a:rPr>
                      <m:t> </m:t>
                    </m:r>
                  </m:oMath>
                </a14:m>
                <a:r>
                  <a:rPr lang="en-US" altLang="zh-CN" sz="2000" dirty="0" err="1">
                    <a:cs typeface="Times New Roman" panose="02020503050405090304" pitchFamily="18" charset="0"/>
                  </a:rPr>
                  <a:t>∈</a:t>
                </a:r>
                <a:r>
                  <a:rPr lang="en-US" altLang="zh-CN" sz="2000" dirty="0">
                    <a:ea typeface="Cambria Math" panose="02040503050406030204" pitchFamily="18" charset="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a:t>
                </a:r>
                <a:endParaRPr lang="en-US" altLang="zh-CN" sz="2000" dirty="0">
                  <a:latin typeface="+mn-lt"/>
                  <a:ea typeface="+mn-ea"/>
                  <a:cs typeface="Times New Roman" panose="02020503050405090304" pitchFamily="18" charset="0"/>
                </a:endParaRPr>
              </a:p>
              <a:p>
                <a:pPr lvl="0" rtl="0" eaLnBrk="0" fontAlgn="base" hangingPunct="0">
                  <a:lnSpc>
                    <a:spcPct val="130000"/>
                  </a:lnSpc>
                  <a:spcBef>
                    <a:spcPct val="0"/>
                  </a:spcBef>
                  <a:spcAft>
                    <a:spcPct val="0"/>
                  </a:spcAft>
                  <a:buClr>
                    <a:srgbClr val="C00000"/>
                  </a:buClr>
                </a:pPr>
                <a:r>
                  <a:rPr lang="zh-CN" altLang="en-US" sz="2000" dirty="0">
                    <a:latin typeface="+mn-lt"/>
                    <a:ea typeface="+mn-ea"/>
                    <a:cs typeface="Times New Roman" panose="02020503050405090304" pitchFamily="18" charset="0"/>
                  </a:rPr>
                  <a:t>对于任意</a:t>
                </a:r>
                <a:r>
                  <a:rPr lang="en-US" altLang="zh-CN" sz="2000" dirty="0">
                    <a:latin typeface="+mn-lt"/>
                    <a:ea typeface="+mn-ea"/>
                    <a:cs typeface="Times New Roman" panose="02020503050405090304" pitchFamily="18" charset="0"/>
                  </a:rPr>
                  <a:t> TGen(</a:t>
                </a:r>
                <a:r>
                  <a:rPr lang="en-US" altLang="zh-CN" sz="2000" dirty="0" err="1">
                    <a:latin typeface="+mn-lt"/>
                    <a:ea typeface="+mn-ea"/>
                    <a:cs typeface="Times New Roman" panose="02020503050405090304" pitchFamily="18" charset="0"/>
                  </a:rPr>
                  <a:t>λ</a:t>
                </a:r>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输出的公私钥对</a:t>
                </a:r>
                <a:r>
                  <a:rPr lang="en-US" altLang="zh-CN" sz="2000" dirty="0">
                    <a:latin typeface="+mn-lt"/>
                    <a:ea typeface="+mn-ea"/>
                    <a:cs typeface="Times New Roman" panose="02020503050405090304" pitchFamily="18" charset="0"/>
                  </a:rPr>
                  <a:t> (pk</a:t>
                </a:r>
                <a:r>
                  <a:rPr lang="en-US" altLang="zh-CN" sz="2000" dirty="0">
                    <a:cs typeface="Times New Roman" panose="02020503050405090304" pitchFamily="18" charset="0"/>
                  </a:rPr>
                  <a:t>'</a:t>
                </a:r>
                <a:r>
                  <a:rPr lang="en-US" altLang="zh-CN" sz="2000" dirty="0">
                    <a:latin typeface="+mn-lt"/>
                    <a:ea typeface="+mn-ea"/>
                    <a:cs typeface="Times New Roman" panose="02020503050405090304" pitchFamily="18" charset="0"/>
                  </a:rPr>
                  <a:t>,</a:t>
                </a:r>
                <a:r>
                  <a:rPr lang="zh-CN" altLang="en-US" sz="2000" dirty="0">
                    <a:latin typeface="+mn-lt"/>
                    <a:ea typeface="+mn-ea"/>
                    <a:cs typeface="Times New Roman" panose="02020503050405090304" pitchFamily="18" charset="0"/>
                  </a:rPr>
                  <a:t> </a:t>
                </a:r>
                <a:r>
                  <a:rPr lang="en-US" altLang="zh-CN" sz="2000" dirty="0" err="1">
                    <a:latin typeface="+mn-lt"/>
                    <a:ea typeface="+mn-ea"/>
                    <a:cs typeface="Times New Roman" panose="02020503050405090304" pitchFamily="18" charset="0"/>
                  </a:rPr>
                  <a:t>sk</a:t>
                </a:r>
                <a:r>
                  <a:rPr lang="en-US" altLang="zh-CN" sz="2000" dirty="0">
                    <a:cs typeface="Times New Roman" panose="02020503050405090304" pitchFamily="18" charset="0"/>
                  </a:rPr>
                  <a:t>'</a:t>
                </a:r>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和任意</a:t>
                </a:r>
                <a:r>
                  <a:rPr lang="en-US" altLang="zh-CN" sz="2000" dirty="0">
                    <a:latin typeface="+mn-lt"/>
                    <a:ea typeface="+mn-ea"/>
                    <a:cs typeface="Times New Roman" panose="02020503050405090304" pitchFamily="18" charset="0"/>
                  </a:rPr>
                  <a:t> </a:t>
                </a:r>
                <a14:m>
                  <m:oMath xmlns:m="http://schemas.openxmlformats.org/officeDocument/2006/math">
                    <m:r>
                      <a:rPr lang="en-US" altLang="zh-CN" sz="2000" i="1" dirty="0" smtClean="0">
                        <a:latin typeface="Cambria Math" panose="02040503050406030204" pitchFamily="18" charset="0"/>
                        <a:cs typeface="Times New Roman" panose="02020503050405090304" pitchFamily="18" charset="0"/>
                      </a:rPr>
                      <m:t>𝑥</m:t>
                    </m:r>
                    <m:r>
                      <a:rPr lang="en-US" altLang="zh-CN" sz="2000" i="1" dirty="0" smtClean="0">
                        <a:latin typeface="Cambria Math" panose="02040503050406030204" pitchFamily="18" charset="0"/>
                        <a:cs typeface="Times New Roman" panose="02020503050405090304" pitchFamily="18" charset="0"/>
                      </a:rPr>
                      <m:t> </m:t>
                    </m:r>
                  </m:oMath>
                </a14:m>
                <a:r>
                  <a:rPr lang="en-US" altLang="zh-CN" sz="2000" dirty="0" err="1">
                    <a:latin typeface="+mn-lt"/>
                    <a:ea typeface="+mn-ea"/>
                    <a:cs typeface="Times New Roman" panose="02020503050405090304" pitchFamily="18" charset="0"/>
                  </a:rPr>
                  <a:t>∈</a:t>
                </a:r>
                <a:r>
                  <a:rPr lang="en-US" altLang="zh-CN" sz="2000" dirty="0">
                    <a:ea typeface="Cambria Math" panose="02040503050406030204" pitchFamily="18" charset="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，若</a:t>
                </a:r>
                <a:r>
                  <a:rPr lang="en-US" altLang="zh-CN" sz="2000" dirty="0">
                    <a:latin typeface="+mn-lt"/>
                    <a:ea typeface="+mn-ea"/>
                    <a:cs typeface="Times New Roman" panose="02020503050405090304" pitchFamily="18" charset="0"/>
                  </a:rPr>
                  <a:t>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r>
                      <a:rPr lang="en-US" altLang="zh-CN" sz="2000" i="1">
                        <a:latin typeface="Cambria Math" panose="02040503050406030204" pitchFamily="18" charset="0"/>
                        <a:cs typeface="Times New Roman" panose="02020503050405090304" pitchFamily="18" charset="0"/>
                      </a:rPr>
                      <m:t> </m:t>
                    </m:r>
                  </m:oMath>
                </a14:m>
                <a:r>
                  <a:rPr lang="en-US" altLang="zh-CN" sz="2000" dirty="0">
                    <a:cs typeface="Times New Roman" panose="02020503050405090304" pitchFamily="18" charset="0"/>
                  </a:rPr>
                  <a:t>(</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𝑓</m:t>
                    </m:r>
                    <m:r>
                      <a:rPr lang="en-US" altLang="zh-CN" sz="2000" i="1" dirty="0">
                        <a:latin typeface="Cambria Math" panose="02040503050406030204" pitchFamily="18" charset="0"/>
                        <a:cs typeface="Times New Roman" panose="02020503050405090304" pitchFamily="18" charset="0"/>
                      </a:rPr>
                      <m:t>(</m:t>
                    </m:r>
                    <m:r>
                      <a:rPr lang="en-US" altLang="zh-CN" sz="2000" i="1" dirty="0">
                        <a:latin typeface="Cambria Math" panose="02040503050406030204" pitchFamily="18" charset="0"/>
                        <a:cs typeface="Times New Roman" panose="02020503050405090304" pitchFamily="18" charset="0"/>
                      </a:rPr>
                      <m:t>𝑥</m:t>
                    </m:r>
                    <m:r>
                      <a:rPr lang="en-US" altLang="zh-CN" sz="2000" i="1" dirty="0">
                        <a:latin typeface="Cambria Math" panose="02040503050406030204" pitchFamily="18" charset="0"/>
                        <a:cs typeface="Times New Roman" panose="02020503050405090304" pitchFamily="18" charset="0"/>
                      </a:rPr>
                      <m:t>, </m:t>
                    </m:r>
                    <m:r>
                      <m:rPr>
                        <m:sty m:val="p"/>
                      </m:rPr>
                      <a:rPr lang="en-US" altLang="zh-CN" sz="2000" dirty="0">
                        <a:latin typeface="Cambria Math" panose="02040503050406030204" pitchFamily="18" charset="0"/>
                        <a:cs typeface="Times New Roman" panose="02020503050405090304" pitchFamily="18" charset="0"/>
                      </a:rPr>
                      <m:t>pk</m:t>
                    </m:r>
                    <m:r>
                      <a:rPr lang="en-US" altLang="zh-CN" sz="2000" i="1" dirty="0">
                        <a:latin typeface="Cambria Math" panose="02040503050406030204" pitchFamily="18" charset="0"/>
                        <a:cs typeface="Times New Roman" panose="02020503050405090304" pitchFamily="18" charset="0"/>
                      </a:rPr>
                      <m:t>′</m:t>
                    </m:r>
                    <m:r>
                      <a:rPr lang="en-US" altLang="zh-CN" sz="2000" i="1" dirty="0">
                        <a:latin typeface="Cambria Math" panose="02040503050406030204" pitchFamily="18" charset="0"/>
                        <a:cs typeface="Times New Roman" panose="02020503050405090304" pitchFamily="18" charset="0"/>
                      </a:rPr>
                      <m:t>)</m:t>
                    </m:r>
                  </m:oMath>
                </a14:m>
                <a:r>
                  <a:rPr lang="en-US" altLang="zh-CN" sz="2000" dirty="0">
                    <a:cs typeface="Times New Roman" panose="02020503050405090304" pitchFamily="18" charset="0"/>
                  </a:rPr>
                  <a:t>, </a:t>
                </a:r>
                <a:r>
                  <a:rPr lang="en-US" altLang="zh-CN" sz="2000" dirty="0" err="1">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𝑥</m:t>
                    </m:r>
                  </m:oMath>
                </a14:m>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始终成立，</a:t>
                </a:r>
                <a:endParaRPr lang="en-US" altLang="zh-CN" sz="2000" dirty="0">
                  <a:latin typeface="+mn-lt"/>
                  <a:ea typeface="+mn-ea"/>
                  <a:cs typeface="Times New Roman" panose="02020503050405090304" pitchFamily="18" charset="0"/>
                </a:endParaRPr>
              </a:p>
              <a:p>
                <a:pPr lvl="0" rtl="0" eaLnBrk="0" fontAlgn="base" hangingPunct="0">
                  <a:lnSpc>
                    <a:spcPct val="130000"/>
                  </a:lnSpc>
                  <a:spcBef>
                    <a:spcPct val="0"/>
                  </a:spcBef>
                  <a:spcAft>
                    <a:spcPct val="0"/>
                  </a:spcAft>
                  <a:buClr>
                    <a:srgbClr val="C00000"/>
                  </a:buClr>
                </a:pPr>
                <a:r>
                  <a:rPr lang="zh-CN" altLang="en-US" sz="2000" dirty="0">
                    <a:latin typeface="+mn-lt"/>
                    <a:ea typeface="+mn-ea"/>
                    <a:cs typeface="Times New Roman" panose="02020503050405090304" pitchFamily="18" charset="0"/>
                  </a:rPr>
                  <a:t>则称</a:t>
                </a:r>
                <a:r>
                  <a:rPr lang="en-US" altLang="zh-CN" sz="2000" dirty="0">
                    <a:latin typeface="+mn-lt"/>
                    <a:ea typeface="+mn-ea"/>
                    <a:cs typeface="Times New Roman" panose="02020503050405090304" pitchFamily="18" charset="0"/>
                  </a:rPr>
                  <a:t> </a:t>
                </a:r>
                <a:r>
                  <a:rPr lang="en-US" altLang="zh-CN" sz="2000" i="1" dirty="0">
                    <a:latin typeface="+mn-lt"/>
                    <a:ea typeface="+mn-ea"/>
                    <a:cs typeface="Times New Roman" panose="02020503050405090304" pitchFamily="18" charset="0"/>
                  </a:rPr>
                  <a:t>T</a:t>
                </a:r>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为一个陷门置换、</a:t>
                </a:r>
                <a:r>
                  <a:rPr lang="en-US" altLang="zh-CN" sz="2000" dirty="0" err="1">
                    <a:latin typeface="+mn-lt"/>
                    <a:ea typeface="+mn-ea"/>
                    <a:cs typeface="Times New Roman" panose="02020503050405090304" pitchFamily="18" charset="0"/>
                  </a:rPr>
                  <a:t>sk</a:t>
                </a:r>
                <a:r>
                  <a:rPr lang="en-US" altLang="zh-CN" sz="2000" dirty="0">
                    <a:cs typeface="Times New Roman" panose="02020503050405090304" pitchFamily="18" charset="0"/>
                  </a:rPr>
                  <a:t>'</a:t>
                </a:r>
                <a:r>
                  <a:rPr lang="zh-CN" altLang="en-US" sz="2000" dirty="0">
                    <a:latin typeface="+mn-lt"/>
                    <a:ea typeface="+mn-ea"/>
                    <a:cs typeface="Times New Roman" panose="02020503050405090304" pitchFamily="18" charset="0"/>
                  </a:rPr>
                  <a:t>为陷门。 </a:t>
                </a:r>
                <a:endParaRPr lang="en-US" altLang="zh-CN" sz="2000" dirty="0">
                  <a:latin typeface="+mn-lt"/>
                  <a:ea typeface="+mn-ea"/>
                  <a:cs typeface="Times New Roman" panose="02020503050405090304" pitchFamily="18" charset="0"/>
                </a:endParaRPr>
              </a:p>
              <a:p>
                <a:pPr lvl="0" rtl="0" eaLnBrk="0" fontAlgn="base" hangingPunct="0">
                  <a:lnSpc>
                    <a:spcPct val="130000"/>
                  </a:lnSpc>
                  <a:spcBef>
                    <a:spcPct val="0"/>
                  </a:spcBef>
                  <a:spcAft>
                    <a:spcPct val="0"/>
                  </a:spcAft>
                  <a:buClr>
                    <a:srgbClr val="C00000"/>
                  </a:buClr>
                </a:pPr>
                <a:endParaRPr kumimoji="0" lang="zh-CN" altLang="en-US" sz="4400" b="0" i="0" u="none" strike="noStrike" cap="none" normalizeH="0" baseline="0" dirty="0">
                  <a:ln>
                    <a:noFill/>
                  </a:ln>
                  <a:solidFill>
                    <a:schemeClr val="tx1"/>
                  </a:solidFill>
                  <a:effectLst/>
                  <a:latin typeface="Arial" panose="020B0604020202090204" pitchFamily="34" charset="0"/>
                </a:endParaRPr>
              </a:p>
              <a:p>
                <a:pPr algn="just">
                  <a:lnSpc>
                    <a:spcPct val="130000"/>
                  </a:lnSpc>
                  <a:spcAft>
                    <a:spcPts val="600"/>
                  </a:spcAft>
                  <a:buClr>
                    <a:srgbClr val="C00000"/>
                  </a:buClr>
                </a:pPr>
                <a:endParaRPr lang="zh-CN" altLang="zh-CN" sz="2000" dirty="0"/>
              </a:p>
              <a:p>
                <a:pPr algn="just">
                  <a:lnSpc>
                    <a:spcPct val="130000"/>
                  </a:lnSpc>
                  <a:spcAft>
                    <a:spcPts val="600"/>
                  </a:spcAft>
                  <a:buClr>
                    <a:srgbClr val="C00000"/>
                  </a:buClr>
                </a:pPr>
                <a:r>
                  <a:rPr lang="zh-CN" altLang="zh-CN" sz="2400" dirty="0">
                    <a:effectLst/>
                    <a:latin typeface="+mn-ea"/>
                    <a:ea typeface="+mn-ea"/>
                  </a:rPr>
                  <a:t> </a:t>
                </a:r>
                <a:endParaRPr lang="zh-CN" altLang="en-US" sz="2400" b="1" i="0" dirty="0">
                  <a:solidFill>
                    <a:srgbClr val="C00000"/>
                  </a:solidFill>
                  <a:latin typeface="+mn-ea"/>
                  <a:ea typeface="+mn-ea"/>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8738" y="1417309"/>
                <a:ext cx="10755232" cy="3121496"/>
              </a:xfrm>
              <a:prstGeom prst="rect">
                <a:avLst/>
              </a:prstGeom>
              <a:blipFill>
                <a:blip r:embed="rId3"/>
                <a:stretch>
                  <a:fillRect l="-1533" t="-2429" b="-48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00A9CEA-B16A-E47F-D937-42CD26B58D4D}"/>
                  </a:ext>
                </a:extLst>
              </p:cNvPr>
              <p:cNvSpPr txBox="1"/>
              <p:nvPr/>
            </p:nvSpPr>
            <p:spPr>
              <a:xfrm>
                <a:off x="770021" y="4991309"/>
                <a:ext cx="10612355" cy="1200329"/>
              </a:xfrm>
              <a:prstGeom prst="rect">
                <a:avLst/>
              </a:prstGeom>
              <a:noFill/>
            </p:spPr>
            <p:txBody>
              <a:bodyPr wrap="square" rtlCol="0">
                <a:spAutoFit/>
              </a:bodyPr>
              <a:lstStyle/>
              <a:p>
                <a:pPr lvl="0" rtl="0" eaLnBrk="0" fontAlgn="base" hangingPunct="0">
                  <a:lnSpc>
                    <a:spcPct val="130000"/>
                  </a:lnSpc>
                  <a:spcBef>
                    <a:spcPct val="0"/>
                  </a:spcBef>
                  <a:spcAft>
                    <a:spcPct val="0"/>
                  </a:spcAft>
                  <a:buClr>
                    <a:srgbClr val="C00000"/>
                  </a:buClr>
                </a:pPr>
                <a:r>
                  <a:rPr lang="zh-CN" altLang="en-US" sz="2000" dirty="0">
                    <a:latin typeface="+mn-lt"/>
                    <a:ea typeface="+mn-ea"/>
                    <a:cs typeface="Times New Roman" panose="02020503050405090304" pitchFamily="18" charset="0"/>
                  </a:rPr>
                  <a:t>对于上述定义的</a:t>
                </a:r>
                <a:r>
                  <a:rPr lang="zh-CN" altLang="en-US" sz="2000" dirty="0">
                    <a:cs typeface="Times New Roman" panose="02020503050405090304" pitchFamily="18" charset="0"/>
                  </a:rPr>
                  <a:t>陷门置换 </a:t>
                </a:r>
                <a:r>
                  <a:rPr lang="en-US" altLang="zh-CN" sz="2000" i="1" dirty="0">
                    <a:cs typeface="Times New Roman" panose="02020503050405090304" pitchFamily="18" charset="0"/>
                  </a:rPr>
                  <a:t>T</a:t>
                </a:r>
                <a:r>
                  <a:rPr lang="en-US" altLang="zh-CN" sz="2000" dirty="0">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𝑓</m:t>
                    </m:r>
                    <m:r>
                      <a:rPr lang="en-US" altLang="zh-CN" sz="2000" dirty="0">
                        <a:latin typeface="Cambria Math" panose="02040503050406030204" pitchFamily="18" charset="0"/>
                        <a:cs typeface="Times New Roman" panose="02020503050405090304" pitchFamily="18" charset="0"/>
                      </a:rPr>
                      <m:t>, </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oMath>
                </a14:m>
                <a:r>
                  <a:rPr lang="en-US" altLang="zh-CN" sz="2000" dirty="0">
                    <a:cs typeface="Times New Roman" panose="02020503050405090304" pitchFamily="18" charset="0"/>
                  </a:rPr>
                  <a:t>)</a:t>
                </a:r>
                <a:r>
                  <a:rPr lang="zh-CN" altLang="en-US" sz="2000" dirty="0">
                    <a:cs typeface="Times New Roman" panose="02020503050405090304" pitchFamily="18" charset="0"/>
                  </a:rPr>
                  <a:t> 和给定的 </a:t>
                </a:r>
                <a:r>
                  <a:rPr lang="en-US" altLang="zh-CN" sz="2000" i="1" dirty="0">
                    <a:cs typeface="Times New Roman" panose="02020503050405090304" pitchFamily="18" charset="0"/>
                  </a:rPr>
                  <a:t>y </a:t>
                </a:r>
                <a:r>
                  <a:rPr lang="en-US" altLang="zh-CN" sz="2000" dirty="0">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𝒳</m:t>
                    </m:r>
                    <m:r>
                      <a:rPr lang="en-US" altLang="zh-CN" sz="2000" i="1" dirty="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a:t>
                </a:r>
                <a:r>
                  <a:rPr lang="zh-CN" altLang="en-US" sz="2000" dirty="0"/>
                  <a:t>若不存在多项式时间算法能够在不知道陷门 </a:t>
                </a:r>
                <a:r>
                  <a:rPr lang="en-US" altLang="zh-CN" sz="2000" dirty="0">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zh-CN" altLang="en-US" sz="2000" dirty="0"/>
                  <a:t> 的情况下求解出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r>
                      <a:rPr lang="en-US" altLang="zh-CN" sz="2000" i="1">
                        <a:latin typeface="Cambria Math" panose="02040503050406030204" pitchFamily="18" charset="0"/>
                        <a:cs typeface="Times New Roman" panose="02020503050405090304" pitchFamily="18" charset="0"/>
                      </a:rPr>
                      <m:t> </m:t>
                    </m:r>
                  </m:oMath>
                </a14:m>
                <a:r>
                  <a:rPr lang="en-US" altLang="zh-CN" sz="2000" dirty="0">
                    <a:cs typeface="Times New Roman" panose="02020503050405090304" pitchFamily="18" charset="0"/>
                  </a:rPr>
                  <a:t>(</a:t>
                </a:r>
                <a:r>
                  <a:rPr lang="en-US" altLang="zh-CN" sz="2000" i="1" dirty="0">
                    <a:cs typeface="Times New Roman" panose="02020503050405090304" pitchFamily="18" charset="0"/>
                  </a:rPr>
                  <a:t>y</a:t>
                </a:r>
                <a:r>
                  <a:rPr lang="en-US" altLang="zh-CN" sz="2000" dirty="0">
                    <a:cs typeface="Times New Roman" panose="02020503050405090304" pitchFamily="18" charset="0"/>
                  </a:rPr>
                  <a:t>, </a:t>
                </a:r>
                <a:r>
                  <a:rPr lang="en-US" altLang="zh-CN" sz="2000" dirty="0" err="1">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cs typeface="Times New Roman" panose="02020503050405090304" pitchFamily="18" charset="0"/>
                  </a:rPr>
                  <a:t>)</a:t>
                </a:r>
                <a:r>
                  <a:rPr lang="zh-CN" altLang="en-US" sz="2000" dirty="0">
                    <a:cs typeface="Times New Roman" panose="02020503050405090304" pitchFamily="18" charset="0"/>
                  </a:rPr>
                  <a:t> </a:t>
                </a:r>
                <a:r>
                  <a:rPr lang="zh-CN" altLang="en-US" sz="2000" dirty="0"/>
                  <a:t>对应的值，则称 </a:t>
                </a:r>
                <a:r>
                  <a:rPr lang="en-US" altLang="zh-CN" sz="2000" i="1" dirty="0">
                    <a:cs typeface="Times New Roman" panose="02020503050405090304" pitchFamily="18" charset="0"/>
                  </a:rPr>
                  <a:t>T</a:t>
                </a:r>
                <a:r>
                  <a:rPr lang="en" altLang="zh-CN" sz="2000" dirty="0"/>
                  <a:t> </a:t>
                </a:r>
                <a:r>
                  <a:rPr lang="zh-CN" altLang="en-US" sz="2000" dirty="0"/>
                  <a:t>为一个单向陷门置换。</a:t>
                </a:r>
                <a:endParaRPr lang="en-US" altLang="zh-CN" sz="2000" dirty="0">
                  <a:latin typeface="+mn-lt"/>
                  <a:ea typeface="+mn-ea"/>
                  <a:cs typeface="Times New Roman" panose="02020503050405090304" pitchFamily="18" charset="0"/>
                </a:endParaRPr>
              </a:p>
              <a:p>
                <a:endParaRPr kumimoji="1" lang="zh-CN" altLang="en-US" sz="2000" dirty="0"/>
              </a:p>
            </p:txBody>
          </p:sp>
        </mc:Choice>
        <mc:Fallback xmlns="">
          <p:sp>
            <p:nvSpPr>
              <p:cNvPr id="2" name="文本框 1">
                <a:extLst>
                  <a:ext uri="{FF2B5EF4-FFF2-40B4-BE49-F238E27FC236}">
                    <a16:creationId xmlns:a16="http://schemas.microsoft.com/office/drawing/2014/main" id="{C00A9CEA-B16A-E47F-D937-42CD26B58D4D}"/>
                  </a:ext>
                </a:extLst>
              </p:cNvPr>
              <p:cNvSpPr txBox="1">
                <a:spLocks noRot="1" noChangeAspect="1" noMove="1" noResize="1" noEditPoints="1" noAdjustHandles="1" noChangeArrowheads="1" noChangeShapeType="1" noTextEdit="1"/>
              </p:cNvSpPr>
              <p:nvPr/>
            </p:nvSpPr>
            <p:spPr>
              <a:xfrm>
                <a:off x="770021" y="4991309"/>
                <a:ext cx="10612355" cy="1200329"/>
              </a:xfrm>
              <a:prstGeom prst="rect">
                <a:avLst/>
              </a:prstGeom>
              <a:blipFill>
                <a:blip r:embed="rId4"/>
                <a:stretch>
                  <a:fillRect l="-597"/>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p:cNvSpPr txBox="1"/>
          <p:nvPr/>
        </p:nvSpPr>
        <p:spPr>
          <a:xfrm>
            <a:off x="502920" y="81140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cs typeface="+mn-cs"/>
              </a:rPr>
              <a:t>RSA </a:t>
            </a:r>
            <a:r>
              <a:rPr lang="zh-CN" altLang="en-US" sz="2400" dirty="0">
                <a:solidFill>
                  <a:srgbClr val="C00000"/>
                </a:solidFill>
                <a:latin typeface="+mn-lt"/>
                <a:cs typeface="+mn-cs"/>
              </a:rPr>
              <a:t>改进一：单向陷门置换与随机化</a:t>
            </a:r>
          </a:p>
        </p:txBody>
      </p:sp>
      <mc:AlternateContent xmlns:mc="http://schemas.openxmlformats.org/markup-compatibility/2006" xmlns:a14="http://schemas.microsoft.com/office/drawing/2010/main">
        <mc:Choice Requires="a14">
          <p:sp>
            <p:nvSpPr>
              <p:cNvPr id="2" name="文本框 1"/>
              <p:cNvSpPr txBox="1"/>
              <p:nvPr/>
            </p:nvSpPr>
            <p:spPr>
              <a:xfrm>
                <a:off x="703905" y="5635136"/>
                <a:ext cx="10651958" cy="830997"/>
              </a:xfrm>
              <a:prstGeom prst="rect">
                <a:avLst/>
              </a:prstGeom>
              <a:noFill/>
            </p:spPr>
            <p:txBody>
              <a:bodyPr wrap="square">
                <a:spAutoFit/>
              </a:bodyPr>
              <a:lstStyle/>
              <a:p>
                <a:pPr algn="just"/>
                <a:r>
                  <a:rPr lang="zh-CN" altLang="zh-CN" sz="2000" dirty="0">
                    <a:solidFill>
                      <a:srgbClr val="000000"/>
                    </a:solidFill>
                    <a:effectLst/>
                    <a:latin typeface="+mn-lt"/>
                    <a:ea typeface="+mn-ea"/>
                    <a:cs typeface="Times New Roman" panose="02020503050405090304" pitchFamily="18" charset="0"/>
                  </a:rPr>
                  <a:t>上述构造的主要缺点是数据扩展较为严重，主要原因在于</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比特明文被加密为</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r>
                      <a:rPr lang="zh-CN" altLang="en-US" sz="2000" b="0" i="1"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比特密文，若上述</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𝑓</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a:t>
                </a:r>
                <a:r>
                  <a:rPr lang="en-US" altLang="zh-CN" sz="2000" dirty="0">
                    <a:solidFill>
                      <a:srgbClr val="000000"/>
                    </a:solidFill>
                    <a:effectLst/>
                    <a:latin typeface="+mn-lt"/>
                    <a:ea typeface="+mn-ea"/>
                    <a:cs typeface="Times New Roman" panose="02020503050405090304" pitchFamily="18" charset="0"/>
                  </a:rPr>
                  <a:t>RSA</a:t>
                </a:r>
                <a:r>
                  <a:rPr lang="zh-CN" altLang="zh-CN" sz="2000" dirty="0">
                    <a:solidFill>
                      <a:srgbClr val="000000"/>
                    </a:solidFill>
                    <a:effectLst/>
                    <a:latin typeface="+mn-lt"/>
                    <a:ea typeface="+mn-ea"/>
                    <a:cs typeface="Times New Roman" panose="02020503050405090304" pitchFamily="18" charset="0"/>
                  </a:rPr>
                  <a:t>密码体制中的加密函数，为保证体制安全，</a:t>
                </a:r>
                <a:r>
                  <a:rPr lang="zh-CN" altLang="en-US" sz="2000" dirty="0">
                    <a:solidFill>
                      <a:srgbClr val="000000"/>
                    </a:solidFill>
                    <a:effectLst/>
                    <a:latin typeface="+mn-lt"/>
                    <a:ea typeface="+mn-ea"/>
                    <a:cs typeface="Times New Roman" panose="02020503050405090304" pitchFamily="18" charset="0"/>
                  </a:rPr>
                  <a:t>目前</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oMath>
                </a14:m>
                <a:r>
                  <a:rPr lang="zh-CN" altLang="en-US" sz="2000" dirty="0">
                    <a:solidFill>
                      <a:srgbClr val="000000"/>
                    </a:solidFill>
                    <a:latin typeface="+mn-lt"/>
                    <a:ea typeface="+mn-ea"/>
                    <a:cs typeface="Times New Roman" panose="02020503050405090304" pitchFamily="18" charset="0"/>
                  </a:rPr>
                  <a:t>至少为</a:t>
                </a:r>
                <a14:m>
                  <m:oMath xmlns:m="http://schemas.openxmlformats.org/officeDocument/2006/math">
                    <m:r>
                      <a:rPr lang="en-US" altLang="zh-CN" sz="2000">
                        <a:solidFill>
                          <a:srgbClr val="000000"/>
                        </a:solidFill>
                        <a:latin typeface="Cambria Math" panose="02040503050406030204" pitchFamily="18" charset="0"/>
                        <a:ea typeface="+mn-ea"/>
                        <a:cs typeface="Times New Roman" panose="02020503050405090304" pitchFamily="18" charset="0"/>
                      </a:rPr>
                      <m:t>2048</m:t>
                    </m:r>
                  </m:oMath>
                </a14:m>
                <a:r>
                  <a:rPr lang="zh-CN" altLang="en-US" sz="2000" dirty="0">
                    <a:solidFill>
                      <a:srgbClr val="000000"/>
                    </a:solidFill>
                    <a:latin typeface="+mn-lt"/>
                    <a:ea typeface="+mn-ea"/>
                    <a:cs typeface="Times New Roman" panose="02020503050405090304" pitchFamily="18" charset="0"/>
                  </a:rPr>
                  <a:t>比特</a:t>
                </a:r>
                <a:r>
                  <a:rPr lang="zh-CN" altLang="en-US" sz="2800" dirty="0">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3905" y="5635136"/>
                <a:ext cx="10651958" cy="830997"/>
              </a:xfrm>
              <a:prstGeom prst="rect">
                <a:avLst/>
              </a:prstGeom>
              <a:blipFill>
                <a:blip r:embed="rId3"/>
                <a:stretch>
                  <a:fillRect l="-572" t="-3650" r="-2918" b="-18978"/>
                </a:stretch>
              </a:blipFill>
            </p:spPr>
            <p:txBody>
              <a:bodyPr/>
              <a:lstStyle/>
              <a:p>
                <a:r>
                  <a:rPr lang="zh-CN" altLang="en-US">
                    <a:noFill/>
                  </a:rPr>
                  <a:t> </a:t>
                </a:r>
              </a:p>
            </p:txBody>
          </p:sp>
        </mc:Fallback>
      </mc:AlternateContent>
      <p:sp>
        <p:nvSpPr>
          <p:cNvPr id="7" name="Rounded Rectangle 8"/>
          <p:cNvSpPr/>
          <p:nvPr/>
        </p:nvSpPr>
        <p:spPr>
          <a:xfrm>
            <a:off x="929484" y="1271258"/>
            <a:ext cx="10426379" cy="434105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文本框 7"/>
              <p:cNvSpPr txBox="1"/>
              <p:nvPr/>
            </p:nvSpPr>
            <p:spPr>
              <a:xfrm>
                <a:off x="1135007" y="1262254"/>
                <a:ext cx="9813083" cy="4341060"/>
              </a:xfrm>
              <a:prstGeom prst="rect">
                <a:avLst/>
              </a:prstGeom>
              <a:noFill/>
            </p:spPr>
            <p:txBody>
              <a:bodyPr wrap="square">
                <a:spAutoFit/>
              </a:bodyPr>
              <a:lstStyle/>
              <a:p>
                <a:pPr indent="266700" algn="just">
                  <a:lnSpc>
                    <a:spcPct val="130000"/>
                  </a:lnSpc>
                  <a:spcBef>
                    <a:spcPts val="300"/>
                  </a:spcBef>
                  <a:spcAft>
                    <a:spcPts val="300"/>
                  </a:spcAft>
                </a:pPr>
                <a:r>
                  <a:rPr lang="zh-CN" altLang="zh-CN" sz="2000" dirty="0">
                    <a:solidFill>
                      <a:srgbClr val="000000"/>
                    </a:solidFill>
                    <a:effectLst/>
                    <a:latin typeface="+mn-lt"/>
                    <a:ea typeface="+mn-ea"/>
                    <a:cs typeface="Times New Roman" panose="02020503050405090304" pitchFamily="18" charset="0"/>
                  </a:rPr>
                  <a:t>设</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为正整数</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en-US" altLang="zh-CN" sz="2000" i="1" dirty="0">
                    <a:latin typeface="+mn-lt"/>
                    <a:ea typeface="+mn-ea"/>
                    <a:cs typeface="Times New Roman" panose="02020503050405090304" pitchFamily="18" charset="0"/>
                  </a:rPr>
                  <a:t>T</a:t>
                </a:r>
                <a:r>
                  <a:rPr lang="en-US" altLang="zh-CN" sz="2000" dirty="0">
                    <a:latin typeface="+mn-lt"/>
                    <a:ea typeface="+mn-ea"/>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𝑓</m:t>
                    </m:r>
                    <m:r>
                      <a:rPr lang="en-US" altLang="zh-CN" sz="2000" dirty="0">
                        <a:latin typeface="Cambria Math" panose="02040503050406030204" pitchFamily="18" charset="0"/>
                        <a:ea typeface="+mn-ea"/>
                        <a:cs typeface="Times New Roman" panose="02020503050405090304" pitchFamily="18" charset="0"/>
                      </a:rPr>
                      <m:t>, </m:t>
                    </m:r>
                    <m:sSup>
                      <m:sSupPr>
                        <m:ctrlPr>
                          <a:rPr lang="en-US" altLang="zh-CN" sz="2000" i="1">
                            <a:latin typeface="Cambria Math" panose="02040503050406030204" pitchFamily="18" charset="0"/>
                            <a:ea typeface="+mn-ea"/>
                            <a:cs typeface="Times New Roman" panose="02020503050405090304" pitchFamily="18" charset="0"/>
                          </a:rPr>
                        </m:ctrlPr>
                      </m:sSupPr>
                      <m:e>
                        <m:r>
                          <a:rPr lang="en-US" altLang="zh-CN" sz="2000" i="1" dirty="0">
                            <a:latin typeface="Cambria Math" panose="02040503050406030204" pitchFamily="18" charset="0"/>
                            <a:ea typeface="+mn-ea"/>
                            <a:cs typeface="Times New Roman" panose="02020503050405090304" pitchFamily="18" charset="0"/>
                          </a:rPr>
                          <m:t>𝑓</m:t>
                        </m:r>
                      </m:e>
                      <m:sup>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cs typeface="Times New Roman" panose="02020503050405090304" pitchFamily="18" charset="0"/>
                          </a:rPr>
                          <m:t>1</m:t>
                        </m:r>
                      </m:sup>
                    </m:sSup>
                  </m:oMath>
                </a14:m>
                <a:r>
                  <a:rPr lang="en-US" altLang="zh-CN" sz="2000" dirty="0">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是定义在</a:t>
                </a:r>
                <a:r>
                  <a:rPr lang="zh-CN" altLang="en-US" sz="2000" dirty="0">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𝒳</m:t>
                    </m:r>
                    <m:r>
                      <a:rPr lang="zh-CN" altLang="en-US" sz="2000" i="1" dirty="0">
                        <a:latin typeface="Cambria Math" panose="02040503050406030204" pitchFamily="18" charset="0"/>
                        <a:ea typeface="+mn-ea"/>
                        <a:cs typeface="Times New Roman" panose="02020503050405090304" pitchFamily="18" charset="0"/>
                      </a:rPr>
                      <m:t> </m:t>
                    </m:r>
                  </m:oMath>
                </a14:m>
                <a:r>
                  <a:rPr lang="zh-CN" altLang="zh-CN" sz="2000" dirty="0">
                    <a:latin typeface="+mn-lt"/>
                    <a:ea typeface="+mn-ea"/>
                    <a:cs typeface="Times New Roman" panose="02020503050405090304" pitchFamily="18" charset="0"/>
                  </a:rPr>
                  <a:t>上的</a:t>
                </a:r>
                <a:r>
                  <a:rPr lang="zh-CN" altLang="en-US" sz="2000" dirty="0">
                    <a:latin typeface="+mn-lt"/>
                    <a:ea typeface="+mn-ea"/>
                    <a:cs typeface="Times New Roman" panose="02020503050405090304" pitchFamily="18" charset="0"/>
                  </a:rPr>
                  <a:t>单向</a:t>
                </a:r>
                <a:r>
                  <a:rPr lang="zh-CN" altLang="en-US" sz="2000" dirty="0">
                    <a:cs typeface="Times New Roman" panose="02020503050405090304" pitchFamily="18" charset="0"/>
                  </a:rPr>
                  <a:t>陷</a:t>
                </a:r>
                <a:r>
                  <a:rPr lang="zh-CN" altLang="en-US" sz="2000" dirty="0">
                    <a:latin typeface="+mn-lt"/>
                    <a:ea typeface="+mn-ea"/>
                    <a:cs typeface="Times New Roman" panose="02020503050405090304" pitchFamily="18" charset="0"/>
                  </a:rPr>
                  <a:t>门置换，其中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𝒳</m:t>
                    </m:r>
                  </m:oMath>
                </a14:m>
                <a:r>
                  <a:rPr lang="en-US" altLang="zh-CN" sz="2000" dirty="0">
                    <a:latin typeface="+mn-lt"/>
                    <a:ea typeface="+mn-ea"/>
                    <a:cs typeface="Times New Roman" panose="02020503050405090304" pitchFamily="18" charset="0"/>
                  </a:rPr>
                  <a:t>=</a:t>
                </a:r>
                <a14:m>
                  <m:oMath xmlns:m="http://schemas.openxmlformats.org/officeDocument/2006/math">
                    <m:sSup>
                      <m:sSupPr>
                        <m:ctrlPr>
                          <a:rPr lang="en-US" altLang="zh-CN" sz="2000" i="1" dirty="0" smtClean="0">
                            <a:latin typeface="Cambria Math" panose="02040503050406030204" pitchFamily="18" charset="0"/>
                            <a:ea typeface="+mn-ea"/>
                            <a:cs typeface="Times New Roman" panose="02020503050405090304" pitchFamily="18" charset="0"/>
                          </a:rPr>
                        </m:ctrlPr>
                      </m:sSupPr>
                      <m:e>
                        <m:r>
                          <a:rPr lang="en-US" altLang="zh-CN" sz="2000" b="0" i="1" dirty="0" smtClean="0">
                            <a:latin typeface="Cambria Math" panose="02040503050406030204" pitchFamily="18" charset="0"/>
                            <a:ea typeface="+mn-ea"/>
                            <a:cs typeface="Times New Roman" panose="02020503050405090304" pitchFamily="18" charset="0"/>
                          </a:rPr>
                          <m:t>{</m:t>
                        </m:r>
                        <m:r>
                          <a:rPr lang="en-US" altLang="zh-CN" sz="2000" b="0" i="1" dirty="0" smtClean="0">
                            <a:latin typeface="Cambria Math" panose="02040503050406030204" pitchFamily="18" charset="0"/>
                            <a:ea typeface="+mn-ea"/>
                            <a:cs typeface="Times New Roman" panose="02020503050405090304" pitchFamily="18" charset="0"/>
                          </a:rPr>
                          <m:t>0</m:t>
                        </m:r>
                        <m:r>
                          <a:rPr lang="en-US" altLang="zh-CN" sz="2000" b="0" i="1" dirty="0" smtClean="0">
                            <a:latin typeface="Cambria Math" panose="02040503050406030204" pitchFamily="18" charset="0"/>
                            <a:ea typeface="+mn-ea"/>
                            <a:cs typeface="Times New Roman" panose="02020503050405090304" pitchFamily="18" charset="0"/>
                          </a:rPr>
                          <m:t>,</m:t>
                        </m:r>
                        <m:r>
                          <a:rPr lang="en-US" altLang="zh-CN" sz="2000" b="0" i="1" dirty="0" smtClean="0">
                            <a:latin typeface="Cambria Math" panose="02040503050406030204" pitchFamily="18" charset="0"/>
                            <a:ea typeface="+mn-ea"/>
                            <a:cs typeface="Times New Roman" panose="02020503050405090304" pitchFamily="18" charset="0"/>
                          </a:rPr>
                          <m:t>1</m:t>
                        </m:r>
                        <m:r>
                          <a:rPr lang="en-US" altLang="zh-CN" sz="2000" b="0" i="1" dirty="0" smtClean="0">
                            <a:latin typeface="Cambria Math" panose="02040503050406030204" pitchFamily="18" charset="0"/>
                            <a:ea typeface="+mn-ea"/>
                            <a:cs typeface="Times New Roman" panose="02020503050405090304" pitchFamily="18" charset="0"/>
                          </a:rPr>
                          <m:t>}</m:t>
                        </m:r>
                      </m:e>
                      <m:sup>
                        <m:r>
                          <a:rPr lang="en-US" altLang="zh-CN" sz="2000" b="0" i="1" dirty="0" smtClean="0">
                            <a:latin typeface="Cambria Math" panose="02040503050406030204" pitchFamily="18" charset="0"/>
                            <a:ea typeface="+mn-ea"/>
                            <a:cs typeface="Times New Roman" panose="02020503050405090304" pitchFamily="18" charset="0"/>
                          </a:rPr>
                          <m:t>𝑘</m:t>
                        </m:r>
                      </m:sup>
                    </m:sSup>
                  </m:oMath>
                </a14:m>
                <a:r>
                  <a:rPr lang="zh-CN" altLang="en-US" sz="2000" dirty="0">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cs typeface="Times New Roman" panose="02020503050405090304" pitchFamily="18" charset="0"/>
                  </a:rPr>
                  <a:t>设</a:t>
                </a:r>
                <a:r>
                  <a:rPr lang="en-US" altLang="zh-CN" sz="2000" dirty="0">
                    <a:solidFill>
                      <a:srgbClr val="000000"/>
                    </a:solidFill>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𝑙</m:t>
                    </m:r>
                  </m:oMath>
                </a14:m>
                <a:r>
                  <a:rPr lang="en-US" altLang="zh-CN" sz="2000" dirty="0">
                    <a:solidFill>
                      <a:srgbClr val="000000"/>
                    </a:solidFill>
                    <a:cs typeface="Times New Roman" panose="02020503050405090304" pitchFamily="18" charset="0"/>
                  </a:rPr>
                  <a:t> </a:t>
                </a:r>
                <a:r>
                  <a:rPr lang="zh-CN" altLang="zh-CN" sz="2000" dirty="0">
                    <a:solidFill>
                      <a:srgbClr val="000000"/>
                    </a:solidFill>
                    <a:cs typeface="Times New Roman" panose="02020503050405090304" pitchFamily="18" charset="0"/>
                  </a:rPr>
                  <a:t>为正整数</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明文空间</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sup>
                    </m:sSup>
                  </m:oMath>
                </a14:m>
                <a:r>
                  <a:rPr lang="zh-CN" altLang="zh-CN" sz="2000" dirty="0">
                    <a:solidFill>
                      <a:srgbClr val="000000"/>
                    </a:solidFill>
                    <a:effectLst/>
                    <a:latin typeface="+mn-lt"/>
                    <a:ea typeface="+mn-ea"/>
                    <a:cs typeface="Times New Roman" panose="02020503050405090304" pitchFamily="18" charset="0"/>
                  </a:rPr>
                  <a:t>，密文空间</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𝒞</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sup>
                    </m:sSup>
                  </m:oMath>
                </a14:m>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cs typeface="Times New Roman" panose="02020503050405090304" pitchFamily="18" charset="0"/>
                  </a:rPr>
                  <a:t>密</a:t>
                </a:r>
                <a:r>
                  <a:rPr lang="zh-CN" altLang="en-US" sz="2000" dirty="0">
                    <a:solidFill>
                      <a:srgbClr val="000000"/>
                    </a:solidFill>
                    <a:cs typeface="Times New Roman" panose="02020503050405090304" pitchFamily="18" charset="0"/>
                  </a:rPr>
                  <a:t>钥</a:t>
                </a:r>
                <a:r>
                  <a:rPr lang="zh-CN" altLang="zh-CN" sz="2000" dirty="0">
                    <a:solidFill>
                      <a:srgbClr val="000000"/>
                    </a:solidFill>
                    <a:cs typeface="Times New Roman" panose="02020503050405090304" pitchFamily="18" charset="0"/>
                  </a:rPr>
                  <a:t>空间</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a:rPr lang="zh-CN" altLang="en-US" sz="2000" i="1" smtClean="0">
                        <a:solidFill>
                          <a:srgbClr val="000000"/>
                        </a:solidFill>
                        <a:latin typeface="Cambria Math" panose="02040503050406030204" pitchFamily="18" charset="0"/>
                        <a:cs typeface="Times New Roman" panose="02020503050405090304" pitchFamily="18" charset="0"/>
                      </a:rPr>
                      <m:t>𝒦</m:t>
                    </m:r>
                    <m:r>
                      <a:rPr lang="en-US" altLang="zh-CN" sz="2000" b="0" i="1" smtClean="0">
                        <a:solidFill>
                          <a:srgbClr val="000000"/>
                        </a:solidFill>
                        <a:latin typeface="Cambria Math" panose="02040503050406030204" pitchFamily="18" charset="0"/>
                        <a:cs typeface="Times New Roman" panose="02020503050405090304" pitchFamily="18" charset="0"/>
                      </a:rPr>
                      <m:t>=</m:t>
                    </m:r>
                    <m:d>
                      <m:dPr>
                        <m:begChr m:val="{"/>
                        <m:endChr m:val="}"/>
                        <m:ctrlPr>
                          <a:rPr lang="en-US" altLang="zh-CN" sz="2000" b="0" i="1" smtClean="0">
                            <a:solidFill>
                              <a:srgbClr val="000000"/>
                            </a:solidFill>
                            <a:latin typeface="Cambria Math" panose="02040503050406030204" pitchFamily="18" charset="0"/>
                            <a:cs typeface="Times New Roman" panose="02020503050405090304" pitchFamily="18" charset="0"/>
                          </a:rPr>
                        </m:ctrlPr>
                      </m:dPr>
                      <m:e>
                        <m:d>
                          <m:dPr>
                            <m:ctrlPr>
                              <a:rPr lang="en-US" altLang="zh-CN" sz="2000" b="0" i="1" smtClean="0">
                                <a:solidFill>
                                  <a:srgbClr val="000000"/>
                                </a:solidFill>
                                <a:latin typeface="Cambria Math" panose="02040503050406030204" pitchFamily="18" charset="0"/>
                                <a:cs typeface="Times New Roman" panose="02020503050405090304" pitchFamily="18" charset="0"/>
                              </a:rPr>
                            </m:ctrlPr>
                          </m:d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p</m:t>
                            </m:r>
                            <m:sSup>
                              <m:sSupPr>
                                <m:ctrlPr>
                                  <a:rPr lang="en-US" altLang="zh-CN" sz="2000" b="0" i="1" smtClean="0">
                                    <a:solidFill>
                                      <a:srgbClr val="000000"/>
                                    </a:solidFill>
                                    <a:latin typeface="Cambria Math" panose="02040503050406030204" pitchFamily="18" charset="0"/>
                                    <a:cs typeface="Times New Roman" panose="02020503050405090304" pitchFamily="18" charset="0"/>
                                  </a:rPr>
                                </m:ctrlPr>
                              </m:sSup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k</m:t>
                                </m:r>
                              </m:e>
                              <m:sup>
                                <m:r>
                                  <a:rPr lang="en-US" altLang="zh-CN" sz="2000" b="0" i="0" smtClean="0">
                                    <a:solidFill>
                                      <a:srgbClr val="000000"/>
                                    </a:solidFill>
                                    <a:latin typeface="Cambria Math" panose="02040503050406030204" pitchFamily="18" charset="0"/>
                                    <a:cs typeface="Times New Roman" panose="02020503050405090304" pitchFamily="18" charset="0"/>
                                  </a:rPr>
                                  <m:t>′</m:t>
                                </m:r>
                              </m:sup>
                            </m:sSup>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𝐺</m:t>
                            </m:r>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𝑇</m:t>
                            </m:r>
                          </m:e>
                        </m:d>
                      </m:e>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sk</m:t>
                        </m:r>
                        <m:r>
                          <a:rPr lang="en-US" altLang="zh-CN" sz="2000" b="0" i="0" smtClean="0">
                            <a:solidFill>
                              <a:srgbClr val="000000"/>
                            </a:solidFill>
                            <a:latin typeface="Cambria Math" panose="02040503050406030204" pitchFamily="18" charset="0"/>
                            <a:cs typeface="Times New Roman" panose="02020503050405090304" pitchFamily="18" charset="0"/>
                          </a:rPr>
                          <m:t>=</m:t>
                        </m:r>
                        <m:sSup>
                          <m:sSupPr>
                            <m:ctrlPr>
                              <a:rPr lang="en-US" altLang="zh-CN" sz="2000" b="0" i="1" smtClean="0">
                                <a:solidFill>
                                  <a:srgbClr val="000000"/>
                                </a:solidFill>
                                <a:latin typeface="Cambria Math" panose="02040503050406030204" pitchFamily="18" charset="0"/>
                                <a:cs typeface="Times New Roman" panose="02020503050405090304" pitchFamily="18" charset="0"/>
                              </a:rPr>
                            </m:ctrlPr>
                          </m:sSup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sk</m:t>
                            </m:r>
                          </m:e>
                          <m:sup>
                            <m:r>
                              <a:rPr lang="en-US" altLang="zh-CN" sz="2000" b="0" i="0" smtClean="0">
                                <a:solidFill>
                                  <a:srgbClr val="000000"/>
                                </a:solidFill>
                                <a:latin typeface="Cambria Math" panose="02040503050406030204" pitchFamily="18" charset="0"/>
                                <a:cs typeface="Times New Roman" panose="02020503050405090304" pitchFamily="18" charset="0"/>
                              </a:rPr>
                              <m:t>′</m:t>
                            </m:r>
                          </m:sup>
                        </m:sSup>
                      </m:e>
                    </m:d>
                    <m:r>
                      <a:rPr lang="zh-CN" altLang="en-US" sz="2000" b="0" i="0" smtClean="0">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cs typeface="Times New Roman" panose="02020503050405090304" pitchFamily="18" charset="0"/>
                  </a:rPr>
                  <a:t>其中</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𝐺</m:t>
                    </m:r>
                  </m:oMath>
                </a14:m>
                <a:r>
                  <a:rPr lang="zh-CN" altLang="en-US" sz="2000" dirty="0">
                    <a:solidFill>
                      <a:srgbClr val="000000"/>
                    </a:solidFill>
                    <a:cs typeface="Times New Roman" panose="02020503050405090304" pitchFamily="18" charset="0"/>
                  </a:rPr>
                  <a:t>为</a:t>
                </a:r>
                <a:r>
                  <a:rPr lang="zh-CN" altLang="zh-CN" sz="2000" dirty="0">
                    <a:solidFill>
                      <a:srgbClr val="000000"/>
                    </a:solidFill>
                    <a:cs typeface="Times New Roman" panose="02020503050405090304" pitchFamily="18" charset="0"/>
                  </a:rPr>
                  <a:t>安全</a:t>
                </a:r>
                <a:r>
                  <a:rPr lang="zh-CN" altLang="en-US" sz="2000" dirty="0">
                    <a:solidFill>
                      <a:srgbClr val="000000"/>
                    </a:solidFill>
                    <a:cs typeface="Times New Roman" panose="02020503050405090304" pitchFamily="18" charset="0"/>
                  </a:rPr>
                  <a:t>杂凑</a:t>
                </a:r>
                <a:r>
                  <a:rPr lang="zh-CN" altLang="zh-CN" sz="2000" dirty="0">
                    <a:solidFill>
                      <a:srgbClr val="000000"/>
                    </a:solidFill>
                    <a:cs typeface="Times New Roman" panose="02020503050405090304" pitchFamily="18" charset="0"/>
                  </a:rPr>
                  <a:t>函数</a:t>
                </a:r>
                <a:r>
                  <a:rPr lang="zh-CN" altLang="en-US" sz="2000" dirty="0">
                    <a:solidFill>
                      <a:srgbClr val="000000"/>
                    </a:solidFill>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定义在</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𝒞</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cs typeface="Times New Roman" panose="02020503050405090304" pitchFamily="18" charset="0"/>
                      </a:rPr>
                      <m:t>𝒦</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上的语义安全公钥加密方案</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由如下算法组成：</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m:t>
                    </m:r>
                    <m:r>
                      <m:rPr>
                        <m:nor/>
                      </m:rPr>
                      <a:rPr lang="zh-CN" altLang="zh-CN" sz="2000" dirty="0">
                        <a:latin typeface="DejaVu Math TeX Gyre" panose="02000503000000000000" charset="0"/>
                        <a:cs typeface="Times New Roman" panose="02020503050405090304" pitchFamily="18" charset="0"/>
                      </a:rPr>
                      <m:t>λ</m:t>
                    </m:r>
                    <m:r>
                      <m:rPr>
                        <m:nor/>
                      </m:rPr>
                      <a:rPr lang="en-US" altLang="zh-CN" sz="2000">
                        <a:solidFill>
                          <a:srgbClr val="000000"/>
                        </a:solidFill>
                        <a:effectLst/>
                        <a:latin typeface="+mn-lt"/>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：输入为安全参数</a:t>
                </a:r>
                <a:r>
                  <a:rPr lang="zh-CN" altLang="en-US" sz="2000" dirty="0">
                    <a:solidFill>
                      <a:srgbClr val="000000"/>
                    </a:solidFill>
                    <a:effectLst/>
                    <a:latin typeface="+mn-lt"/>
                    <a:ea typeface="+mn-ea"/>
                    <a:cs typeface="Times New Roman" panose="02020503050405090304" pitchFamily="18" charset="0"/>
                  </a:rPr>
                  <a:t> </a:t>
                </a:r>
                <a:r>
                  <a:rPr lang="zh-CN" altLang="zh-CN" sz="2000" dirty="0">
                    <a:cs typeface="Times New Roman" panose="02020503050405090304" pitchFamily="18" charset="0"/>
                  </a:rPr>
                  <a:t>λ</a:t>
                </a:r>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latin typeface="+mn-lt"/>
                    <a:ea typeface="+mn-ea"/>
                    <a:cs typeface="Times New Roman" panose="02020503050405090304" pitchFamily="18" charset="0"/>
                  </a:rPr>
                  <a:t>选择</a:t>
                </a:r>
                <a:r>
                  <a:rPr lang="zh-CN" altLang="en-US" sz="2000" dirty="0">
                    <a:cs typeface="Times New Roman" panose="02020503050405090304" pitchFamily="18" charset="0"/>
                  </a:rPr>
                  <a:t>单向陷门置换 </a:t>
                </a:r>
                <a:r>
                  <a:rPr lang="en-US" altLang="zh-CN" sz="2000" i="1" dirty="0">
                    <a:cs typeface="Times New Roman" panose="02020503050405090304" pitchFamily="18" charset="0"/>
                  </a:rPr>
                  <a:t>T</a:t>
                </a:r>
                <a:r>
                  <a:rPr lang="en-US" altLang="zh-CN" sz="2000" dirty="0">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𝑓</m:t>
                    </m:r>
                    <m:r>
                      <a:rPr lang="en-US" altLang="zh-CN" sz="2000" dirty="0">
                        <a:latin typeface="Cambria Math" panose="02040503050406030204" pitchFamily="18" charset="0"/>
                        <a:cs typeface="Times New Roman" panose="02020503050405090304" pitchFamily="18" charset="0"/>
                      </a:rPr>
                      <m:t>, </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oMath>
                </a14:m>
                <a:r>
                  <a:rPr lang="en-US" altLang="zh-CN" sz="2000" dirty="0">
                    <a:cs typeface="Times New Roman" panose="02020503050405090304" pitchFamily="18" charset="0"/>
                  </a:rPr>
                  <a:t>)</a:t>
                </a:r>
                <a:r>
                  <a:rPr lang="zh-CN" altLang="en-US" sz="2000" dirty="0">
                    <a:cs typeface="Times New Roman" panose="02020503050405090304" pitchFamily="18" charset="0"/>
                  </a:rPr>
                  <a:t>，并运行 </a:t>
                </a:r>
                <a:r>
                  <a:rPr lang="zh-CN" altLang="zh-CN" sz="2000" dirty="0">
                    <a:cs typeface="Times New Roman" panose="02020503050405090304" pitchFamily="18" charset="0"/>
                  </a:rPr>
                  <a:t>TGen(λ)</a:t>
                </a:r>
                <a:r>
                  <a:rPr lang="zh-CN" altLang="en-US" sz="2000" dirty="0">
                    <a:cs typeface="Times New Roman" panose="02020503050405090304" pitchFamily="18" charset="0"/>
                  </a:rPr>
                  <a:t> 生成对</a:t>
                </a:r>
                <a:r>
                  <a:rPr lang="en-US" altLang="zh-CN" sz="2000" dirty="0">
                    <a:cs typeface="Times New Roman" panose="02020503050405090304" pitchFamily="18" charset="0"/>
                  </a:rPr>
                  <a:t> (pk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cs typeface="Times New Roman" panose="02020503050405090304" pitchFamily="18" charset="0"/>
                  </a:rPr>
                  <a:t>, </a:t>
                </a:r>
                <a:r>
                  <a:rPr lang="en-US" altLang="zh-CN" sz="2000" dirty="0" err="1">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cs typeface="Times New Roman" panose="02020503050405090304" pitchFamily="18" charset="0"/>
                  </a:rPr>
                  <a:t>)</a:t>
                </a:r>
                <a:r>
                  <a:rPr lang="zh-CN" altLang="en-US" sz="2000" dirty="0">
                    <a:cs typeface="Times New Roman" panose="02020503050405090304" pitchFamily="18" charset="0"/>
                  </a:rPr>
                  <a:t>。选择杂凑函数 </a:t>
                </a:r>
                <a14:m>
                  <m:oMath xmlns:m="http://schemas.openxmlformats.org/officeDocument/2006/math">
                    <m:r>
                      <a:rPr lang="en-US" altLang="zh-CN" sz="2000" i="1">
                        <a:latin typeface="Cambria Math" panose="02040503050406030204" pitchFamily="18" charset="0"/>
                      </a:rPr>
                      <m:t>𝐺</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i="1">
                            <a:latin typeface="Cambria Math" panose="02040503050406030204" pitchFamily="18" charset="0"/>
                          </a:rPr>
                          <m:t>𝑘</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i="1">
                            <a:latin typeface="Cambria Math" panose="02040503050406030204" pitchFamily="18" charset="0"/>
                          </a:rPr>
                          <m:t>𝑙</m:t>
                        </m:r>
                      </m:sup>
                    </m:sSup>
                  </m:oMath>
                </a14:m>
                <a:r>
                  <a:rPr lang="zh-CN" altLang="zh-CN" sz="2000" dirty="0">
                    <a:effectLst/>
                  </a:rPr>
                  <a:t> </a:t>
                </a:r>
                <a:r>
                  <a:rPr lang="zh-CN" altLang="en-US" sz="2000" dirty="0">
                    <a:effectLst/>
                  </a:rPr>
                  <a:t>，</a:t>
                </a:r>
                <a:r>
                  <a:rPr lang="zh-CN" altLang="zh-CN" sz="2000" dirty="0">
                    <a:solidFill>
                      <a:srgbClr val="000000"/>
                    </a:solidFill>
                    <a:effectLst/>
                    <a:latin typeface="+mn-lt"/>
                    <a:ea typeface="+mn-ea"/>
                    <a:cs typeface="Times New Roman" panose="02020503050405090304" pitchFamily="18" charset="0"/>
                  </a:rPr>
                  <a:t>输出</a:t>
                </a:r>
                <a:r>
                  <a:rPr lang="zh-CN" altLang="en-US" sz="2000" dirty="0"/>
                  <a:t>公钥加密方案的公私钥对</a:t>
                </a:r>
                <a14:m>
                  <m:oMath xmlns:m="http://schemas.openxmlformats.org/officeDocument/2006/math">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i="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，其中</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p>
                      <m:sSupPr>
                        <m:ctrlPr>
                          <a:rPr lang="en-US" altLang="zh-CN" sz="2000" i="1" dirty="0">
                            <a:latin typeface="Cambria Math" panose="02040503050406030204" pitchFamily="18" charset="0"/>
                            <a:cs typeface="Times New Roman" panose="02020503050405090304" pitchFamily="18" charset="0"/>
                          </a:rPr>
                        </m:ctrlPr>
                      </m:sSupPr>
                      <m:e>
                        <m:r>
                          <m:rPr>
                            <m:nor/>
                          </m:rPr>
                          <a:rPr lang="en-US" altLang="zh-CN" sz="2000" dirty="0">
                            <a:latin typeface="DejaVu Math TeX Gyre" panose="02000503000000000000" charset="0"/>
                            <a:cs typeface="Times New Roman" panose="02020503050405090304" pitchFamily="18" charset="0"/>
                          </a:rPr>
                          <m:t>pk</m:t>
                        </m:r>
                      </m:e>
                      <m:sup>
                        <m:r>
                          <a:rPr lang="en-US" altLang="zh-CN" sz="2000" i="1" dirty="0">
                            <a:latin typeface="Cambria Math" panose="02040503050406030204" pitchFamily="18" charset="0"/>
                            <a:cs typeface="Times New Roman" panose="02020503050405090304" pitchFamily="18" charset="0"/>
                          </a:rPr>
                          <m:t>′</m:t>
                        </m:r>
                      </m:sup>
                    </m:sSup>
                    <m:r>
                      <m:rPr>
                        <m:nor/>
                      </m:rPr>
                      <a:rPr lang="en-US" altLang="zh-CN" sz="2000" dirty="0">
                        <a:latin typeface="DejaVu Math TeX Gyre" panose="02000503000000000000" charset="0"/>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𝐺</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𝑇</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，私钥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sk</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𝑀</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pk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：输入</a:t>
                </a:r>
                <a:r>
                  <a:rPr lang="zh-CN" altLang="en-US" sz="2000" dirty="0">
                    <a:solidFill>
                      <a:srgbClr val="000000"/>
                    </a:solidFill>
                    <a:latin typeface="+mn-lt"/>
                    <a:ea typeface="+mn-ea"/>
                    <a:cs typeface="Times New Roman" panose="02020503050405090304" pitchFamily="18" charset="0"/>
                  </a:rPr>
                  <a:t>明文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𝑀</m:t>
                    </m:r>
                    <m:r>
                      <a:rPr lang="en-US" altLang="zh-CN" sz="2000" i="1">
                        <a:solidFill>
                          <a:srgbClr val="000000"/>
                        </a:solidFill>
                        <a:latin typeface="Cambria Math" panose="02040503050406030204" pitchFamily="18" charset="0"/>
                        <a:cs typeface="Times New Roman" panose="02020503050405090304" pitchFamily="18" charset="0"/>
                      </a:rPr>
                      <m:t> ∈</m:t>
                    </m:r>
                  </m:oMath>
                </a14:m>
                <a:r>
                  <a:rPr lang="zh-CN" altLang="zh-CN" sz="2000" dirty="0">
                    <a:solidFill>
                      <a:srgbClr val="000000"/>
                    </a:solidFill>
                    <a:cs typeface="Times New Roman" panose="02020503050405090304" pitchFamily="18" charset="0"/>
                  </a:rPr>
                  <a:t> </a:t>
                </a:r>
                <a14:m>
                  <m:oMath xmlns:m="http://schemas.openxmlformats.org/officeDocument/2006/math">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e>
                      <m:sup>
                        <m:r>
                          <a:rPr lang="en-US" altLang="zh-CN" sz="2000" i="1">
                            <a:solidFill>
                              <a:srgbClr val="000000"/>
                            </a:solidFill>
                            <a:latin typeface="Cambria Math" panose="02040503050406030204" pitchFamily="18" charset="0"/>
                            <a:cs typeface="Times New Roman" panose="02020503050405090304" pitchFamily="18" charset="0"/>
                          </a:rPr>
                          <m:t>𝑙</m:t>
                        </m:r>
                      </m:sup>
                    </m:sSup>
                  </m:oMath>
                </a14:m>
                <a:r>
                  <a:rPr lang="zh-CN" altLang="en-US" sz="2000" dirty="0">
                    <a:solidFill>
                      <a:srgbClr val="000000"/>
                    </a:solidFill>
                    <a:latin typeface="+mn-lt"/>
                    <a:ea typeface="+mn-ea"/>
                    <a:cs typeface="Times New Roman" panose="02020503050405090304" pitchFamily="18" charset="0"/>
                  </a:rPr>
                  <a:t>、公钥</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m:rPr>
                        <m:sty m:val="p"/>
                      </m:rPr>
                      <a:rPr lang="en-US" altLang="zh-CN" sz="2000">
                        <a:solidFill>
                          <a:srgbClr val="000000"/>
                        </a:solidFill>
                        <a:latin typeface="Cambria Math" panose="02040503050406030204" pitchFamily="18" charset="0"/>
                        <a:cs typeface="Times New Roman" panose="02020503050405090304" pitchFamily="18" charset="0"/>
                      </a:rPr>
                      <m:t>pk</m:t>
                    </m:r>
                    <m:r>
                      <a:rPr lang="zh-CN" altLang="en-US" sz="2000" b="0" i="0" smtClean="0">
                        <a:solidFill>
                          <a:srgbClr val="000000"/>
                        </a:solidFill>
                        <a:latin typeface="Cambria Math" panose="02040503050406030204" pitchFamily="18" charset="0"/>
                        <a:cs typeface="Times New Roman" panose="02020503050405090304" pitchFamily="18" charset="0"/>
                      </a:rPr>
                      <m:t>  </m:t>
                    </m:r>
                  </m:oMath>
                </a14:m>
                <a:r>
                  <a:rPr lang="zh-CN" altLang="en-US" sz="2000" dirty="0">
                    <a:solidFill>
                      <a:srgbClr val="000000"/>
                    </a:solidFill>
                    <a:latin typeface="+mn-lt"/>
                    <a:ea typeface="+mn-ea"/>
                    <a:cs typeface="Times New Roman" panose="02020503050405090304" pitchFamily="18" charset="0"/>
                  </a:rPr>
                  <a:t>时，先</a:t>
                </a:r>
                <a:r>
                  <a:rPr lang="zh-CN" altLang="zh-CN" sz="2000" dirty="0">
                    <a:solidFill>
                      <a:srgbClr val="000000"/>
                    </a:solidFill>
                    <a:effectLst/>
                    <a:latin typeface="+mn-lt"/>
                    <a:ea typeface="+mn-ea"/>
                    <a:cs typeface="Times New Roman" panose="02020503050405090304" pitchFamily="18" charset="0"/>
                  </a:rPr>
                  <a:t>随机选取</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𝑟</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d>
                          <m:dPr>
                            <m:begChr m:val="{"/>
                            <m:endChr m:val="}"/>
                            <m:ctrlPr>
                              <a:rPr lang="en-US"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a:solidFill>
                                  <a:srgbClr val="000000"/>
                                </a:solidFill>
                                <a:effectLst/>
                                <a:latin typeface="Cambria Math" panose="02040503050406030204" pitchFamily="18" charset="0"/>
                                <a:ea typeface="+mn-ea"/>
                                <a:cs typeface="Times New Roman" panose="02020503050405090304" pitchFamily="18" charset="0"/>
                              </a:rPr>
                              <m:t>0</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a:solidFill>
                                  <a:srgbClr val="000000"/>
                                </a:solidFill>
                                <a:effectLst/>
                                <a:latin typeface="Cambria Math" panose="02040503050406030204" pitchFamily="18" charset="0"/>
                                <a:ea typeface="+mn-ea"/>
                                <a:cs typeface="Times New Roman" panose="02020503050405090304" pitchFamily="18" charset="0"/>
                              </a:rPr>
                              <m:t>1</m:t>
                            </m:r>
                          </m:e>
                        </m:d>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sup>
                    </m:sSup>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smtClean="0">
                            <a:solidFill>
                              <a:srgbClr val="000000"/>
                            </a:solidFill>
                            <a:latin typeface="Cambria Math" panose="02040503050406030204" pitchFamily="18" charset="0"/>
                            <a:ea typeface="+mn-ea"/>
                            <a:cs typeface="Times New Roman" panose="02020503050405090304" pitchFamily="18" charset="0"/>
                          </a:rPr>
                          <m:t>𝐶</m:t>
                        </m:r>
                      </m:e>
                      <m:sub>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𝑓</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𝑟</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pk</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e>
                    </m:d>
                    <m:r>
                      <a:rPr lang="zh-CN" altLang="en-US" sz="2000" i="1">
                        <a:solidFill>
                          <a:srgbClr val="000000"/>
                        </a:solidFill>
                        <a:latin typeface="Cambria Math" panose="02040503050406030204" pitchFamily="18" charset="0"/>
                        <a:cs typeface="Times New Roman" panose="02020503050405090304" pitchFamily="18" charset="0"/>
                      </a:rPr>
                      <m:t>∈</m:t>
                    </m:r>
                    <m:r>
                      <m:rPr>
                        <m:nor/>
                      </m:rPr>
                      <a:rPr lang="zh-CN" altLang="zh-CN" sz="2000" dirty="0">
                        <a:solidFill>
                          <a:srgbClr val="000000"/>
                        </a:solidFill>
                        <a:latin typeface="DejaVu Math TeX Gyre" panose="02000503000000000000" charset="0"/>
                        <a:cs typeface="Times New Roman" panose="02020503050405090304" pitchFamily="18" charset="0"/>
                      </a:rPr>
                      <m:t> </m:t>
                    </m:r>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e>
                      <m:sup>
                        <m:r>
                          <a:rPr lang="en-US" altLang="zh-CN" sz="2000" b="0" i="1" smtClean="0">
                            <a:solidFill>
                              <a:srgbClr val="000000"/>
                            </a:solidFill>
                            <a:latin typeface="Cambria Math" panose="02040503050406030204" pitchFamily="18" charset="0"/>
                            <a:cs typeface="Times New Roman" panose="02020503050405090304" pitchFamily="18" charset="0"/>
                          </a:rPr>
                          <m:t>𝑘</m:t>
                        </m:r>
                      </m:sup>
                    </m:sSup>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b="0" i="1" smtClean="0">
                            <a:solidFill>
                              <a:srgbClr val="000000"/>
                            </a:solidFill>
                            <a:latin typeface="Cambria Math" panose="02040503050406030204" pitchFamily="18" charset="0"/>
                            <a:cs typeface="Times New Roman" panose="02020503050405090304" pitchFamily="18" charset="0"/>
                          </a:rPr>
                          <m:t>2</m:t>
                        </m:r>
                      </m:sub>
                    </m:sSub>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𝐺</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𝑟</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𝑀</m:t>
                    </m:r>
                    <m:r>
                      <a:rPr lang="zh-CN" altLang="en-US" sz="2000" i="1">
                        <a:solidFill>
                          <a:srgbClr val="000000"/>
                        </a:solidFill>
                        <a:latin typeface="Cambria Math" panose="02040503050406030204" pitchFamily="18" charset="0"/>
                        <a:cs typeface="Times New Roman" panose="02020503050405090304" pitchFamily="18" charset="0"/>
                      </a:rPr>
                      <m:t>∈</m:t>
                    </m:r>
                    <m:r>
                      <m:rPr>
                        <m:nor/>
                      </m:rPr>
                      <a:rPr lang="zh-CN" altLang="zh-CN" sz="2000" dirty="0">
                        <a:solidFill>
                          <a:srgbClr val="000000"/>
                        </a:solidFill>
                        <a:latin typeface="DejaVu Math TeX Gyre" panose="02000503000000000000" charset="0"/>
                        <a:cs typeface="Times New Roman" panose="02020503050405090304" pitchFamily="18" charset="0"/>
                      </a:rPr>
                      <m:t> </m:t>
                    </m:r>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e>
                      <m:sup>
                        <m:r>
                          <a:rPr lang="en-US" altLang="zh-CN" sz="2000" i="1">
                            <a:solidFill>
                              <a:srgbClr val="000000"/>
                            </a:solidFill>
                            <a:latin typeface="Cambria Math" panose="02040503050406030204" pitchFamily="18" charset="0"/>
                            <a:cs typeface="Times New Roman" panose="02020503050405090304" pitchFamily="18" charset="0"/>
                          </a:rPr>
                          <m:t>𝑙</m:t>
                        </m:r>
                      </m:sup>
                    </m:sSup>
                  </m:oMath>
                </a14:m>
                <a:r>
                  <a:rPr lang="zh-CN" altLang="zh-CN" sz="2000" dirty="0">
                    <a:solidFill>
                      <a:srgbClr val="000000"/>
                    </a:solidFill>
                    <a:effectLst/>
                    <a:latin typeface="+mn-lt"/>
                    <a:ea typeface="+mn-ea"/>
                    <a:cs typeface="Times New Roman" panose="02020503050405090304" pitchFamily="18" charset="0"/>
                  </a:rPr>
                  <a:t>，输出</a:t>
                </a:r>
                <a:r>
                  <a:rPr lang="zh-CN" altLang="en-US" sz="2000" dirty="0">
                    <a:solidFill>
                      <a:srgbClr val="000000"/>
                    </a:solidFill>
                    <a:latin typeface="+mn-lt"/>
                    <a:ea typeface="+mn-ea"/>
                    <a:cs typeface="Times New Roman" panose="02020503050405090304" pitchFamily="18" charset="0"/>
                  </a:rPr>
                  <a:t>密文</a:t>
                </a:r>
                <a:r>
                  <a:rPr lang="en-US" altLang="zh-CN"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effectLst/>
                    <a:latin typeface="+mn-lt"/>
                    <a:ea typeface="+mn-ea"/>
                    <a:cs typeface="Times New Roman" panose="02020503050405090304" pitchFamily="18" charset="0"/>
                  </a:rPr>
                  <a:t>C</a:t>
                </a:r>
                <a:r>
                  <a:rPr lang="en-US" altLang="zh-CN" sz="2000" dirty="0">
                    <a:solidFill>
                      <a:srgbClr val="000000"/>
                    </a:solidFill>
                    <a:effectLst/>
                    <a:latin typeface="+mn-lt"/>
                    <a:ea typeface="+mn-ea"/>
                    <a:cs typeface="Times New Roman" panose="02020503050405090304" pitchFamily="18" charset="0"/>
                  </a:rPr>
                  <a:t>=(</a:t>
                </a:r>
                <a:r>
                  <a:rPr lang="en-US" altLang="zh-CN" sz="2000" dirty="0">
                    <a:solidFill>
                      <a:srgbClr val="000000"/>
                    </a:solidFill>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b="0" i="1" smtClean="0">
                        <a:solidFill>
                          <a:srgbClr val="000000"/>
                        </a:solidFill>
                        <a:latin typeface="Cambria Math" panose="02040503050406030204" pitchFamily="18" charset="0"/>
                        <a:cs typeface="Times New Roman" panose="02020503050405090304" pitchFamily="18" charset="0"/>
                      </a:rPr>
                      <m:t>, </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r>
                      <a:rPr lang="en-US" altLang="zh-CN" sz="2000" i="1">
                        <a:solidFill>
                          <a:srgbClr val="000000"/>
                        </a:solidFill>
                        <a:latin typeface="Cambria Math" panose="02040503050406030204" pitchFamily="18" charset="0"/>
                        <a:cs typeface="Times New Roman" panose="02020503050405090304" pitchFamily="18" charset="0"/>
                      </a:rPr>
                      <m:t> </m:t>
                    </m:r>
                  </m:oMath>
                </a14:m>
                <a:r>
                  <a:rPr lang="en-US"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Dec</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𝐶</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sk</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cs typeface="Times New Roman" panose="02020503050405090304" pitchFamily="18" charset="0"/>
                  </a:rPr>
                  <a:t>输入</a:t>
                </a:r>
                <a:r>
                  <a:rPr lang="zh-CN" altLang="en-US" sz="2000" dirty="0">
                    <a:solidFill>
                      <a:srgbClr val="000000"/>
                    </a:solidFill>
                    <a:cs typeface="Times New Roman" panose="02020503050405090304" pitchFamily="18" charset="0"/>
                  </a:rPr>
                  <a:t>密文</a:t>
                </a:r>
                <a:r>
                  <a:rPr lang="en-US" altLang="zh-CN" sz="2000" dirty="0">
                    <a:solidFill>
                      <a:srgbClr val="000000"/>
                    </a:solidFill>
                    <a:cs typeface="Times New Roman" panose="02020503050405090304" pitchFamily="18" charset="0"/>
                  </a:rPr>
                  <a:t> </a:t>
                </a:r>
                <a:r>
                  <a:rPr lang="en-US" altLang="zh-CN" sz="2000" i="1" dirty="0">
                    <a:solidFill>
                      <a:srgbClr val="000000"/>
                    </a:solidFill>
                    <a:cs typeface="Times New Roman" panose="02020503050405090304" pitchFamily="18" charset="0"/>
                  </a:rPr>
                  <a:t>C</a:t>
                </a:r>
                <a:r>
                  <a:rPr lang="en-US" altLang="zh-CN" sz="2000" dirty="0">
                    <a:solidFill>
                      <a:srgbClr val="000000"/>
                    </a:solidFill>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i="1">
                        <a:solidFill>
                          <a:srgbClr val="000000"/>
                        </a:solidFill>
                        <a:latin typeface="Cambria Math" panose="02040503050406030204" pitchFamily="18" charset="0"/>
                        <a:cs typeface="Times New Roman" panose="02020503050405090304" pitchFamily="18" charset="0"/>
                      </a:rPr>
                      <m:t>, </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r>
                      <a:rPr lang="en-US" altLang="zh-CN" sz="2000" i="1">
                        <a:solidFill>
                          <a:srgbClr val="000000"/>
                        </a:solidFill>
                        <a:latin typeface="Cambria Math" panose="02040503050406030204" pitchFamily="18" charset="0"/>
                        <a:cs typeface="Times New Roman" panose="02020503050405090304" pitchFamily="18" charset="0"/>
                      </a:rPr>
                      <m:t> </m:t>
                    </m:r>
                  </m:oMath>
                </a14:m>
                <a:r>
                  <a:rPr lang="en-US" altLang="zh-CN" sz="2000" dirty="0">
                    <a:solidFill>
                      <a:srgbClr val="000000"/>
                    </a:solidFill>
                    <a:cs typeface="Times New Roman" panose="02020503050405090304" pitchFamily="18" charset="0"/>
                  </a:rPr>
                  <a:t>) </a:t>
                </a:r>
                <a:r>
                  <a:rPr lang="zh-CN" altLang="en-US" sz="2000" dirty="0">
                    <a:solidFill>
                      <a:srgbClr val="000000"/>
                    </a:solidFill>
                    <a:cs typeface="Times New Roman" panose="02020503050405090304" pitchFamily="18" charset="0"/>
                  </a:rPr>
                  <a:t>、私钥</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m:rPr>
                        <m:sty m:val="p"/>
                      </m:rPr>
                      <a:rPr lang="en-US" altLang="zh-CN" sz="2000" i="1">
                        <a:solidFill>
                          <a:srgbClr val="000000"/>
                        </a:solidFill>
                        <a:latin typeface="Cambria Math" panose="02040503050406030204" pitchFamily="18" charset="0"/>
                        <a:cs typeface="Times New Roman" panose="02020503050405090304" pitchFamily="18" charset="0"/>
                      </a:rPr>
                      <m:t>s</m:t>
                    </m:r>
                    <m:r>
                      <m:rPr>
                        <m:sty m:val="p"/>
                      </m:rPr>
                      <a:rPr lang="en-US" altLang="zh-CN" sz="2000">
                        <a:solidFill>
                          <a:srgbClr val="000000"/>
                        </a:solidFill>
                        <a:latin typeface="Cambria Math" panose="02040503050406030204" pitchFamily="18" charset="0"/>
                        <a:cs typeface="Times New Roman" panose="02020503050405090304" pitchFamily="18" charset="0"/>
                      </a:rPr>
                      <m:t>k</m:t>
                    </m:r>
                  </m:oMath>
                </a14:m>
                <a:r>
                  <a:rPr lang="zh-CN" altLang="en-US" sz="2000" dirty="0">
                    <a:solidFill>
                      <a:srgbClr val="000000"/>
                    </a:solidFill>
                    <a:cs typeface="Times New Roman" panose="02020503050405090304" pitchFamily="18" charset="0"/>
                  </a:rPr>
                  <a:t> 时，</a:t>
                </a:r>
                <a:r>
                  <a:rPr lang="en-US" altLang="zh-CN" sz="2000" dirty="0">
                    <a:solidFill>
                      <a:srgbClr val="000000"/>
                    </a:solidFill>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计算</a:t>
                </a:r>
                <a:r>
                  <a:rPr lang="zh-CN" altLang="en-US"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effectLst/>
                    <a:latin typeface="+mn-lt"/>
                    <a:ea typeface="+mn-ea"/>
                    <a:cs typeface="Times New Roman" panose="02020503050405090304" pitchFamily="18" charset="0"/>
                  </a:rPr>
                  <a:t>M</a:t>
                </a:r>
                <a:r>
                  <a:rPr lang="en-US" altLang="zh-CN" sz="2000" dirty="0">
                    <a:solidFill>
                      <a:srgbClr val="000000"/>
                    </a:solidFill>
                    <a:effectLst/>
                    <a:latin typeface="+mn-lt"/>
                    <a:ea typeface="+mn-ea"/>
                    <a:cs typeface="Times New Roman" panose="02020503050405090304" pitchFamily="18" charset="0"/>
                  </a:rPr>
                  <a:t>=</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𝐺</m:t>
                    </m:r>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𝑓</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a:solidFill>
                                  <a:srgbClr val="000000"/>
                                </a:solidFill>
                                <a:effectLst/>
                                <a:latin typeface="Cambria Math" panose="02040503050406030204" pitchFamily="18" charset="0"/>
                                <a:ea typeface="+mn-ea"/>
                                <a:cs typeface="Times New Roman" panose="02020503050405090304" pitchFamily="18" charset="0"/>
                              </a:rPr>
                              <m:t>1</m:t>
                            </m:r>
                          </m:sup>
                        </m:sSup>
                        <m:d>
                          <m:d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dPr>
                          <m:e>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1">
                                <a:solidFill>
                                  <a:srgbClr val="000000"/>
                                </a:solidFill>
                                <a:latin typeface="Cambria Math" panose="02040503050406030204" pitchFamily="18" charset="0"/>
                                <a:cs typeface="Times New Roman" panose="02020503050405090304" pitchFamily="18" charset="0"/>
                              </a:rPr>
                              <m:t>s</m:t>
                            </m:r>
                            <m:r>
                              <m:rPr>
                                <m:sty m:val="p"/>
                              </m:rPr>
                              <a:rPr lang="en-US" altLang="zh-CN" sz="2000">
                                <a:solidFill>
                                  <a:srgbClr val="000000"/>
                                </a:solidFill>
                                <a:latin typeface="Cambria Math" panose="02040503050406030204" pitchFamily="18" charset="0"/>
                                <a:cs typeface="Times New Roman" panose="02020503050405090304" pitchFamily="18" charset="0"/>
                              </a:rPr>
                              <m:t>k</m:t>
                            </m:r>
                          </m:e>
                        </m:d>
                      </m:e>
                    </m:d>
                    <m:r>
                      <a:rPr lang="en-US" altLang="zh-CN" sz="2000">
                        <a:solidFill>
                          <a:srgbClr val="000000"/>
                        </a:solidFill>
                        <a:effectLst/>
                        <a:latin typeface="Cambria Math" panose="02040503050406030204" pitchFamily="18" charset="0"/>
                        <a:ea typeface="+mn-ea"/>
                        <a:cs typeface="Times New Roman" panose="02020503050405090304" pitchFamily="18" charset="0"/>
                      </a:rPr>
                      <m:t>⨁</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输出</a:t>
                </a:r>
                <a14:m>
                  <m:oMath xmlns:m="http://schemas.openxmlformats.org/officeDocument/2006/math">
                    <m:r>
                      <m:rPr>
                        <m:nor/>
                      </m:rPr>
                      <a:rPr lang="en-US" altLang="zh-CN" sz="2000" i="1" dirty="0">
                        <a:solidFill>
                          <a:srgbClr val="000000"/>
                        </a:solidFill>
                        <a:latin typeface="+mn-lt"/>
                        <a:cs typeface="Times New Roman" panose="02020503050405090304" pitchFamily="18" charset="0"/>
                      </a:rPr>
                      <m:t>M</m:t>
                    </m:r>
                  </m:oMath>
                </a14:m>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1135007" y="1262254"/>
                <a:ext cx="9813083" cy="4341060"/>
              </a:xfrm>
              <a:prstGeom prst="rect">
                <a:avLst/>
              </a:prstGeom>
              <a:blipFill>
                <a:blip r:embed="rId4"/>
                <a:stretch>
                  <a:fillRect l="-646" r="-3230" b="-2041"/>
                </a:stretch>
              </a:blipFill>
            </p:spPr>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p:cNvSpPr txBox="1"/>
          <p:nvPr/>
        </p:nvSpPr>
        <p:spPr>
          <a:xfrm>
            <a:off x="502920" y="81140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cs typeface="+mn-cs"/>
              </a:rPr>
              <a:t>RSA </a:t>
            </a:r>
            <a:r>
              <a:rPr lang="zh-CN" altLang="en-US" sz="2400" dirty="0">
                <a:solidFill>
                  <a:srgbClr val="C00000"/>
                </a:solidFill>
                <a:latin typeface="+mn-lt"/>
                <a:cs typeface="+mn-cs"/>
              </a:rPr>
              <a:t>改进二：</a:t>
            </a:r>
            <a:r>
              <a:rPr lang="zh-CN" altLang="en-US" sz="2400" dirty="0">
                <a:solidFill>
                  <a:srgbClr val="C00000"/>
                </a:solidFill>
                <a:latin typeface="+mn-lt"/>
              </a:rPr>
              <a:t>最优非对称加密填充</a:t>
            </a:r>
            <a:r>
              <a:rPr lang="en-GB" altLang="zh-CN" sz="2400" dirty="0">
                <a:solidFill>
                  <a:srgbClr val="C00000"/>
                </a:solidFill>
                <a:latin typeface="+mn-lt"/>
              </a:rPr>
              <a:t>OAEP</a:t>
            </a:r>
            <a:endParaRPr lang="en-GB" altLang="zh-CN" sz="2400" dirty="0">
              <a:solidFill>
                <a:srgbClr val="C00000"/>
              </a:solidFill>
              <a:latin typeface="+mn-lt"/>
              <a:cs typeface="+mn-cs"/>
            </a:endParaRPr>
          </a:p>
        </p:txBody>
      </p:sp>
      <p:sp>
        <p:nvSpPr>
          <p:cNvPr id="4" name="Rounded Rectangle 8"/>
          <p:cNvSpPr/>
          <p:nvPr/>
        </p:nvSpPr>
        <p:spPr>
          <a:xfrm>
            <a:off x="502920" y="1380932"/>
            <a:ext cx="11183112" cy="4983236"/>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5" name="文本框 4"/>
              <p:cNvSpPr txBox="1"/>
              <p:nvPr/>
            </p:nvSpPr>
            <p:spPr>
              <a:xfrm>
                <a:off x="502920" y="1488794"/>
                <a:ext cx="10943209" cy="4875374"/>
              </a:xfrm>
              <a:prstGeom prst="rect">
                <a:avLst/>
              </a:prstGeom>
              <a:noFill/>
            </p:spPr>
            <p:txBody>
              <a:bodyPr wrap="square">
                <a:spAutoFit/>
              </a:bodyPr>
              <a:lstStyle/>
              <a:p>
                <a:pPr indent="266700" algn="just">
                  <a:lnSpc>
                    <a:spcPct val="130000"/>
                  </a:lnSpc>
                  <a:spcBef>
                    <a:spcPts val="300"/>
                  </a:spcBef>
                  <a:spcAft>
                    <a:spcPts val="300"/>
                  </a:spcAft>
                </a:pPr>
                <a:r>
                  <a:rPr lang="zh-CN" altLang="zh-CN" sz="2000" dirty="0">
                    <a:solidFill>
                      <a:srgbClr val="000000"/>
                    </a:solidFill>
                    <a:effectLst/>
                    <a:latin typeface="+mn-lt"/>
                    <a:ea typeface="+mn-ea"/>
                    <a:cs typeface="Times New Roman" panose="02020503050405090304" pitchFamily="18" charset="0"/>
                  </a:rPr>
                  <a:t>设</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为正整数</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en-US" altLang="zh-CN" sz="2000" i="1" dirty="0">
                    <a:latin typeface="+mn-lt"/>
                    <a:ea typeface="+mn-ea"/>
                    <a:cs typeface="Times New Roman" panose="02020503050405090304" pitchFamily="18" charset="0"/>
                  </a:rPr>
                  <a:t>T</a:t>
                </a:r>
                <a:r>
                  <a:rPr lang="en-US" altLang="zh-CN" sz="2000" dirty="0">
                    <a:latin typeface="+mn-lt"/>
                    <a:ea typeface="+mn-ea"/>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𝑓</m:t>
                    </m:r>
                    <m:r>
                      <a:rPr lang="en-US" altLang="zh-CN" sz="2000" dirty="0">
                        <a:latin typeface="Cambria Math" panose="02040503050406030204" pitchFamily="18" charset="0"/>
                        <a:ea typeface="+mn-ea"/>
                        <a:cs typeface="Times New Roman" panose="02020503050405090304" pitchFamily="18" charset="0"/>
                      </a:rPr>
                      <m:t>, </m:t>
                    </m:r>
                    <m:sSup>
                      <m:sSupPr>
                        <m:ctrlPr>
                          <a:rPr lang="en-US" altLang="zh-CN" sz="2000" i="1">
                            <a:latin typeface="Cambria Math" panose="02040503050406030204" pitchFamily="18" charset="0"/>
                            <a:ea typeface="+mn-ea"/>
                            <a:cs typeface="Times New Roman" panose="02020503050405090304" pitchFamily="18" charset="0"/>
                          </a:rPr>
                        </m:ctrlPr>
                      </m:sSupPr>
                      <m:e>
                        <m:r>
                          <a:rPr lang="en-US" altLang="zh-CN" sz="2000" i="1" dirty="0">
                            <a:latin typeface="Cambria Math" panose="02040503050406030204" pitchFamily="18" charset="0"/>
                            <a:ea typeface="+mn-ea"/>
                            <a:cs typeface="Times New Roman" panose="02020503050405090304" pitchFamily="18" charset="0"/>
                          </a:rPr>
                          <m:t>𝑓</m:t>
                        </m:r>
                      </m:e>
                      <m:sup>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cs typeface="Times New Roman" panose="02020503050405090304" pitchFamily="18" charset="0"/>
                          </a:rPr>
                          <m:t>1</m:t>
                        </m:r>
                      </m:sup>
                    </m:sSup>
                  </m:oMath>
                </a14:m>
                <a:r>
                  <a:rPr lang="en-US" altLang="zh-CN" sz="2000" dirty="0">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是定义在</a:t>
                </a:r>
                <a:r>
                  <a:rPr lang="zh-CN" altLang="en-US" sz="2000" dirty="0">
                    <a:latin typeface="+mn-lt"/>
                    <a:ea typeface="+mn-ea"/>
                    <a:cs typeface="Times New Roman" panose="02020503050405090304" pitchFamily="18" charset="0"/>
                  </a:rPr>
                  <a:t>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𝒳</m:t>
                    </m:r>
                    <m:r>
                      <a:rPr lang="zh-CN" altLang="en-US" sz="2000" i="1" dirty="0">
                        <a:latin typeface="Cambria Math" panose="02040503050406030204" pitchFamily="18" charset="0"/>
                        <a:ea typeface="+mn-ea"/>
                        <a:cs typeface="Times New Roman" panose="02020503050405090304" pitchFamily="18" charset="0"/>
                      </a:rPr>
                      <m:t> </m:t>
                    </m:r>
                  </m:oMath>
                </a14:m>
                <a:r>
                  <a:rPr lang="zh-CN" altLang="zh-CN" sz="2000" dirty="0">
                    <a:latin typeface="+mn-lt"/>
                    <a:ea typeface="+mn-ea"/>
                    <a:cs typeface="Times New Roman" panose="02020503050405090304" pitchFamily="18" charset="0"/>
                  </a:rPr>
                  <a:t>上的</a:t>
                </a:r>
                <a:r>
                  <a:rPr lang="zh-CN" altLang="en-US" sz="2000" dirty="0">
                    <a:latin typeface="+mn-lt"/>
                    <a:ea typeface="+mn-ea"/>
                    <a:cs typeface="Times New Roman" panose="02020503050405090304" pitchFamily="18" charset="0"/>
                  </a:rPr>
                  <a:t>单向</a:t>
                </a:r>
                <a:r>
                  <a:rPr lang="zh-CN" altLang="en-US" sz="2000" dirty="0">
                    <a:latin typeface="+mn-lt"/>
                    <a:cs typeface="Times New Roman" panose="02020503050405090304" pitchFamily="18" charset="0"/>
                  </a:rPr>
                  <a:t>陷</a:t>
                </a:r>
                <a:r>
                  <a:rPr lang="zh-CN" altLang="en-US" sz="2000" dirty="0">
                    <a:latin typeface="+mn-lt"/>
                    <a:ea typeface="+mn-ea"/>
                    <a:cs typeface="Times New Roman" panose="02020503050405090304" pitchFamily="18" charset="0"/>
                  </a:rPr>
                  <a:t>门置换，其中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𝒳</m:t>
                    </m:r>
                  </m:oMath>
                </a14:m>
                <a:r>
                  <a:rPr lang="en-US" altLang="zh-CN" sz="2000" dirty="0">
                    <a:latin typeface="+mn-lt"/>
                    <a:ea typeface="+mn-ea"/>
                    <a:cs typeface="Times New Roman" panose="02020503050405090304" pitchFamily="18" charset="0"/>
                  </a:rPr>
                  <a:t>=</a:t>
                </a:r>
                <a14:m>
                  <m:oMath xmlns:m="http://schemas.openxmlformats.org/officeDocument/2006/math">
                    <m:sSup>
                      <m:sSupPr>
                        <m:ctrlPr>
                          <a:rPr lang="en-US" altLang="zh-CN" sz="2000" i="1" dirty="0" smtClean="0">
                            <a:latin typeface="Cambria Math" panose="02040503050406030204" pitchFamily="18" charset="0"/>
                            <a:ea typeface="+mn-ea"/>
                            <a:cs typeface="Times New Roman" panose="02020503050405090304" pitchFamily="18" charset="0"/>
                          </a:rPr>
                        </m:ctrlPr>
                      </m:sSupPr>
                      <m:e>
                        <m:r>
                          <a:rPr lang="en-US" altLang="zh-CN" sz="2000" b="0" i="1" dirty="0" smtClean="0">
                            <a:latin typeface="Cambria Math" panose="02040503050406030204" pitchFamily="18" charset="0"/>
                            <a:ea typeface="+mn-ea"/>
                            <a:cs typeface="Times New Roman" panose="02020503050405090304" pitchFamily="18" charset="0"/>
                          </a:rPr>
                          <m:t>{</m:t>
                        </m:r>
                        <m:r>
                          <a:rPr lang="en-US" altLang="zh-CN" sz="2000" b="0" i="1" dirty="0" smtClean="0">
                            <a:latin typeface="Cambria Math" panose="02040503050406030204" pitchFamily="18" charset="0"/>
                            <a:ea typeface="+mn-ea"/>
                            <a:cs typeface="Times New Roman" panose="02020503050405090304" pitchFamily="18" charset="0"/>
                          </a:rPr>
                          <m:t>0</m:t>
                        </m:r>
                        <m:r>
                          <a:rPr lang="en-US" altLang="zh-CN" sz="2000" b="0" i="1" dirty="0" smtClean="0">
                            <a:latin typeface="Cambria Math" panose="02040503050406030204" pitchFamily="18" charset="0"/>
                            <a:ea typeface="+mn-ea"/>
                            <a:cs typeface="Times New Roman" panose="02020503050405090304" pitchFamily="18" charset="0"/>
                          </a:rPr>
                          <m:t>,</m:t>
                        </m:r>
                        <m:r>
                          <a:rPr lang="en-US" altLang="zh-CN" sz="2000" b="0" i="1" dirty="0" smtClean="0">
                            <a:latin typeface="Cambria Math" panose="02040503050406030204" pitchFamily="18" charset="0"/>
                            <a:ea typeface="+mn-ea"/>
                            <a:cs typeface="Times New Roman" panose="02020503050405090304" pitchFamily="18" charset="0"/>
                          </a:rPr>
                          <m:t>1</m:t>
                        </m:r>
                        <m:r>
                          <a:rPr lang="en-US" altLang="zh-CN" sz="2000" b="0" i="1" dirty="0" smtClean="0">
                            <a:latin typeface="Cambria Math" panose="02040503050406030204" pitchFamily="18" charset="0"/>
                            <a:ea typeface="+mn-ea"/>
                            <a:cs typeface="Times New Roman" panose="02020503050405090304" pitchFamily="18" charset="0"/>
                          </a:rPr>
                          <m:t>}</m:t>
                        </m:r>
                      </m:e>
                      <m:sup>
                        <m:r>
                          <a:rPr lang="en-US" altLang="zh-CN" sz="2000" b="0" i="1" dirty="0" smtClean="0">
                            <a:latin typeface="Cambria Math" panose="02040503050406030204" pitchFamily="18" charset="0"/>
                            <a:ea typeface="+mn-ea"/>
                            <a:cs typeface="Times New Roman" panose="02020503050405090304" pitchFamily="18" charset="0"/>
                          </a:rPr>
                          <m:t>𝑘</m:t>
                        </m:r>
                      </m:sup>
                    </m:sSup>
                  </m:oMath>
                </a14:m>
                <a:r>
                  <a:rPr lang="zh-CN" altLang="en-US" sz="2000" dirty="0">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latin typeface="+mn-lt"/>
                    <a:cs typeface="Times New Roman" panose="02020503050405090304" pitchFamily="18" charset="0"/>
                  </a:rPr>
                  <a:t>设</a:t>
                </a:r>
                <a:r>
                  <a:rPr lang="en-US" altLang="zh-CN" sz="2000" dirty="0">
                    <a:solidFill>
                      <a:srgbClr val="000000"/>
                    </a:solidFill>
                    <a:latin typeface="+mn-lt"/>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𝑙</m:t>
                    </m:r>
                  </m:oMath>
                </a14:m>
                <a:r>
                  <a:rPr lang="en-US" altLang="zh-CN" sz="2000" dirty="0">
                    <a:solidFill>
                      <a:srgbClr val="000000"/>
                    </a:solidFill>
                    <a:latin typeface="+mn-lt"/>
                    <a:cs typeface="Times New Roman" panose="02020503050405090304" pitchFamily="18" charset="0"/>
                  </a:rPr>
                  <a:t> </a:t>
                </a:r>
                <a:r>
                  <a:rPr lang="zh-CN" altLang="en-US" sz="2000" dirty="0">
                    <a:latin typeface="+mn-lt"/>
                  </a:rPr>
                  <a:t>为小于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𝑘</m:t>
                    </m:r>
                  </m:oMath>
                </a14:m>
                <a:r>
                  <a:rPr lang="en-US" altLang="zh-CN" sz="2000" dirty="0">
                    <a:solidFill>
                      <a:srgbClr val="000000"/>
                    </a:solidFill>
                    <a:latin typeface="+mn-lt"/>
                    <a:cs typeface="Times New Roman" panose="02020503050405090304" pitchFamily="18" charset="0"/>
                  </a:rPr>
                  <a:t> </a:t>
                </a:r>
                <a:r>
                  <a:rPr lang="zh-CN" altLang="en-US" sz="2000" dirty="0">
                    <a:solidFill>
                      <a:srgbClr val="000000"/>
                    </a:solidFill>
                    <a:latin typeface="+mn-lt"/>
                    <a:cs typeface="Times New Roman" panose="02020503050405090304" pitchFamily="18" charset="0"/>
                  </a:rPr>
                  <a:t>的</a:t>
                </a:r>
                <a:r>
                  <a:rPr lang="zh-CN" altLang="zh-CN" sz="2000" dirty="0">
                    <a:solidFill>
                      <a:srgbClr val="000000"/>
                    </a:solidFill>
                    <a:latin typeface="+mn-lt"/>
                    <a:cs typeface="Times New Roman" panose="02020503050405090304" pitchFamily="18" charset="0"/>
                  </a:rPr>
                  <a:t>正整数</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dirty="0"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dirty="0">
                            <a:solidFill>
                              <a:srgbClr val="000000"/>
                            </a:solidFill>
                            <a:latin typeface="Cambria Math" panose="02040503050406030204" pitchFamily="18" charset="0"/>
                            <a:ea typeface="+mn-ea"/>
                            <a:cs typeface="Times New Roman" panose="02020503050405090304" pitchFamily="18" charset="0"/>
                          </a:rPr>
                          <m:t>𝑘</m:t>
                        </m:r>
                      </m:e>
                      <m:sub>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𝑘</m:t>
                    </m:r>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𝑙</m:t>
                    </m:r>
                  </m:oMath>
                </a14:m>
                <a:r>
                  <a:rPr lang="en-US" altLang="zh-CN" sz="2000" dirty="0">
                    <a:solidFill>
                      <a:srgbClr val="000000"/>
                    </a:solidFill>
                    <a:effectLst/>
                    <a:latin typeface="+mn-lt"/>
                    <a:ea typeface="+mn-ea"/>
                    <a:cs typeface="Times New Roman" panose="02020503050405090304" pitchFamily="18" charset="0"/>
                  </a:rPr>
                  <a:t> </a:t>
                </a:r>
                <a:r>
                  <a:rPr lang="zh-CN" altLang="en-US"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明文空间</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𝑙</m:t>
                        </m:r>
                      </m:sup>
                    </m:sSup>
                  </m:oMath>
                </a14:m>
                <a:r>
                  <a:rPr lang="zh-CN" altLang="zh-CN" sz="2000" dirty="0">
                    <a:solidFill>
                      <a:srgbClr val="000000"/>
                    </a:solidFill>
                    <a:effectLst/>
                    <a:latin typeface="+mn-lt"/>
                    <a:ea typeface="+mn-ea"/>
                    <a:cs typeface="Times New Roman" panose="02020503050405090304" pitchFamily="18" charset="0"/>
                  </a:rPr>
                  <a:t>，密文空间</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𝒞</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sup>
                        <m:r>
                          <a:rPr lang="en-US" altLang="zh-CN" sz="2000" i="1">
                            <a:solidFill>
                              <a:srgbClr val="000000"/>
                            </a:solidFill>
                            <a:effectLst/>
                            <a:latin typeface="Cambria Math" panose="02040503050406030204" pitchFamily="18" charset="0"/>
                            <a:ea typeface="+mn-ea"/>
                            <a:cs typeface="Times New Roman" panose="02020503050405090304" pitchFamily="18" charset="0"/>
                          </a:rPr>
                          <m:t>𝑘</m:t>
                        </m:r>
                      </m:sup>
                    </m:sSup>
                  </m:oMath>
                </a14:m>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latin typeface="+mn-lt"/>
                    <a:cs typeface="Times New Roman" panose="02020503050405090304" pitchFamily="18" charset="0"/>
                  </a:rPr>
                  <a:t>密</a:t>
                </a:r>
                <a:r>
                  <a:rPr lang="zh-CN" altLang="en-US" sz="2000" dirty="0">
                    <a:solidFill>
                      <a:srgbClr val="000000"/>
                    </a:solidFill>
                    <a:latin typeface="+mn-lt"/>
                    <a:cs typeface="Times New Roman" panose="02020503050405090304" pitchFamily="18" charset="0"/>
                  </a:rPr>
                  <a:t>钥</a:t>
                </a:r>
                <a:r>
                  <a:rPr lang="zh-CN" altLang="zh-CN" sz="2000" dirty="0">
                    <a:solidFill>
                      <a:srgbClr val="000000"/>
                    </a:solidFill>
                    <a:latin typeface="+mn-lt"/>
                    <a:cs typeface="Times New Roman" panose="02020503050405090304" pitchFamily="18" charset="0"/>
                  </a:rPr>
                  <a:t>空间</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a:rPr lang="zh-CN" altLang="en-US" sz="2000" i="1" smtClean="0">
                        <a:solidFill>
                          <a:srgbClr val="000000"/>
                        </a:solidFill>
                        <a:latin typeface="Cambria Math" panose="02040503050406030204" pitchFamily="18" charset="0"/>
                        <a:cs typeface="Times New Roman" panose="02020503050405090304" pitchFamily="18" charset="0"/>
                      </a:rPr>
                      <m:t>𝒦</m:t>
                    </m:r>
                    <m:r>
                      <a:rPr lang="en-US" altLang="zh-CN" sz="2000" b="0" i="1" smtClean="0">
                        <a:solidFill>
                          <a:srgbClr val="000000"/>
                        </a:solidFill>
                        <a:latin typeface="Cambria Math" panose="02040503050406030204" pitchFamily="18" charset="0"/>
                        <a:cs typeface="Times New Roman" panose="02020503050405090304" pitchFamily="18" charset="0"/>
                      </a:rPr>
                      <m:t>=</m:t>
                    </m:r>
                    <m:d>
                      <m:dPr>
                        <m:begChr m:val="{"/>
                        <m:endChr m:val="}"/>
                        <m:ctrlPr>
                          <a:rPr lang="en-US" altLang="zh-CN" sz="2000" b="0" i="1" smtClean="0">
                            <a:solidFill>
                              <a:srgbClr val="000000"/>
                            </a:solidFill>
                            <a:latin typeface="Cambria Math" panose="02040503050406030204" pitchFamily="18" charset="0"/>
                            <a:cs typeface="Times New Roman" panose="02020503050405090304" pitchFamily="18" charset="0"/>
                          </a:rPr>
                        </m:ctrlPr>
                      </m:dPr>
                      <m:e>
                        <m:d>
                          <m:dPr>
                            <m:ctrlPr>
                              <a:rPr lang="en-US" altLang="zh-CN" sz="2000" b="0" i="1" smtClean="0">
                                <a:solidFill>
                                  <a:srgbClr val="000000"/>
                                </a:solidFill>
                                <a:latin typeface="Cambria Math" panose="02040503050406030204" pitchFamily="18" charset="0"/>
                                <a:cs typeface="Times New Roman" panose="02020503050405090304" pitchFamily="18" charset="0"/>
                              </a:rPr>
                            </m:ctrlPr>
                          </m:d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p</m:t>
                            </m:r>
                            <m:sSup>
                              <m:sSupPr>
                                <m:ctrlPr>
                                  <a:rPr lang="en-US" altLang="zh-CN" sz="2000" b="0" i="1" smtClean="0">
                                    <a:solidFill>
                                      <a:srgbClr val="000000"/>
                                    </a:solidFill>
                                    <a:latin typeface="Cambria Math" panose="02040503050406030204" pitchFamily="18" charset="0"/>
                                    <a:cs typeface="Times New Roman" panose="02020503050405090304" pitchFamily="18" charset="0"/>
                                  </a:rPr>
                                </m:ctrlPr>
                              </m:sSup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k</m:t>
                                </m:r>
                              </m:e>
                              <m:sup>
                                <m:r>
                                  <a:rPr lang="en-US" altLang="zh-CN" sz="2000" b="0" i="0" smtClean="0">
                                    <a:solidFill>
                                      <a:srgbClr val="000000"/>
                                    </a:solidFill>
                                    <a:latin typeface="Cambria Math" panose="02040503050406030204" pitchFamily="18" charset="0"/>
                                    <a:cs typeface="Times New Roman" panose="02020503050405090304" pitchFamily="18" charset="0"/>
                                  </a:rPr>
                                  <m:t>′</m:t>
                                </m:r>
                              </m:sup>
                            </m:sSup>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𝐺</m:t>
                            </m:r>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𝐻</m:t>
                            </m:r>
                            <m:r>
                              <a:rPr lang="en-US" altLang="zh-CN" sz="2000" b="0" i="1" smtClean="0">
                                <a:solidFill>
                                  <a:srgbClr val="000000"/>
                                </a:solidFill>
                                <a:latin typeface="Cambria Math" panose="02040503050406030204" pitchFamily="18" charset="0"/>
                                <a:cs typeface="Times New Roman" panose="02020503050405090304" pitchFamily="18" charset="0"/>
                              </a:rPr>
                              <m:t>, </m:t>
                            </m:r>
                            <m:r>
                              <a:rPr lang="en-US" altLang="zh-CN" sz="2000" b="0" i="1" smtClean="0">
                                <a:solidFill>
                                  <a:srgbClr val="000000"/>
                                </a:solidFill>
                                <a:latin typeface="Cambria Math" panose="02040503050406030204" pitchFamily="18" charset="0"/>
                                <a:cs typeface="Times New Roman" panose="02020503050405090304" pitchFamily="18" charset="0"/>
                              </a:rPr>
                              <m:t>𝑇</m:t>
                            </m:r>
                          </m:e>
                        </m:d>
                      </m:e>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sk</m:t>
                        </m:r>
                        <m:r>
                          <a:rPr lang="en-US" altLang="zh-CN" sz="2000" b="0" i="0" smtClean="0">
                            <a:solidFill>
                              <a:srgbClr val="000000"/>
                            </a:solidFill>
                            <a:latin typeface="Cambria Math" panose="02040503050406030204" pitchFamily="18" charset="0"/>
                            <a:cs typeface="Times New Roman" panose="02020503050405090304" pitchFamily="18" charset="0"/>
                          </a:rPr>
                          <m:t>=</m:t>
                        </m:r>
                        <m:sSup>
                          <m:sSupPr>
                            <m:ctrlPr>
                              <a:rPr lang="en-US" altLang="zh-CN" sz="2000" b="0" i="1" smtClean="0">
                                <a:solidFill>
                                  <a:srgbClr val="000000"/>
                                </a:solidFill>
                                <a:latin typeface="Cambria Math" panose="02040503050406030204" pitchFamily="18" charset="0"/>
                                <a:cs typeface="Times New Roman" panose="02020503050405090304" pitchFamily="18" charset="0"/>
                              </a:rPr>
                            </m:ctrlPr>
                          </m:sSupPr>
                          <m:e>
                            <m:r>
                              <m:rPr>
                                <m:sty m:val="p"/>
                              </m:rPr>
                              <a:rPr lang="en-US" altLang="zh-CN" sz="2000" b="0" i="0" smtClean="0">
                                <a:solidFill>
                                  <a:srgbClr val="000000"/>
                                </a:solidFill>
                                <a:latin typeface="Cambria Math" panose="02040503050406030204" pitchFamily="18" charset="0"/>
                                <a:cs typeface="Times New Roman" panose="02020503050405090304" pitchFamily="18" charset="0"/>
                              </a:rPr>
                              <m:t>sk</m:t>
                            </m:r>
                          </m:e>
                          <m:sup>
                            <m:r>
                              <a:rPr lang="en-US" altLang="zh-CN" sz="2000" b="0" i="0" smtClean="0">
                                <a:solidFill>
                                  <a:srgbClr val="000000"/>
                                </a:solidFill>
                                <a:latin typeface="Cambria Math" panose="02040503050406030204" pitchFamily="18" charset="0"/>
                                <a:cs typeface="Times New Roman" panose="02020503050405090304" pitchFamily="18" charset="0"/>
                              </a:rPr>
                              <m:t>′</m:t>
                            </m:r>
                          </m:sup>
                        </m:sSup>
                      </m:e>
                    </m:d>
                    <m:r>
                      <a:rPr lang="zh-CN" altLang="en-US" sz="2000" b="0" i="0" smtClean="0">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latin typeface="+mn-lt"/>
                    <a:cs typeface="Times New Roman" panose="02020503050405090304" pitchFamily="18" charset="0"/>
                  </a:rPr>
                  <a:t>其中</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𝐺</m:t>
                    </m:r>
                    <m:r>
                      <a:rPr lang="zh-CN" altLang="en-US" sz="2000" b="0" i="1" smtClean="0">
                        <a:solidFill>
                          <a:srgbClr val="000000"/>
                        </a:solidFill>
                        <a:latin typeface="Cambria Math" panose="02040503050406030204" pitchFamily="18" charset="0"/>
                        <a:cs typeface="Times New Roman" panose="02020503050405090304" pitchFamily="18" charset="0"/>
                      </a:rPr>
                      <m:t> </m:t>
                    </m:r>
                    <m:r>
                      <a:rPr lang="zh-CN" altLang="en-US" sz="2000" i="1">
                        <a:solidFill>
                          <a:srgbClr val="000000"/>
                        </a:solidFill>
                        <a:latin typeface="Cambria Math" panose="02040503050406030204" pitchFamily="18" charset="0"/>
                        <a:cs typeface="Times New Roman" panose="02020503050405090304" pitchFamily="18" charset="0"/>
                      </a:rPr>
                      <m:t>和</m:t>
                    </m:r>
                    <m:r>
                      <a:rPr lang="zh-CN" altLang="en-US" sz="2000" b="0" i="1" smtClean="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𝐻</m:t>
                    </m:r>
                  </m:oMath>
                </a14:m>
                <a:r>
                  <a:rPr lang="zh-CN" altLang="en-US" sz="2000" dirty="0">
                    <a:solidFill>
                      <a:srgbClr val="000000"/>
                    </a:solidFill>
                    <a:latin typeface="+mn-lt"/>
                    <a:cs typeface="Times New Roman" panose="02020503050405090304" pitchFamily="18" charset="0"/>
                  </a:rPr>
                  <a:t> 为</a:t>
                </a:r>
                <a:r>
                  <a:rPr lang="zh-CN" altLang="zh-CN" sz="2000" dirty="0">
                    <a:solidFill>
                      <a:srgbClr val="000000"/>
                    </a:solidFill>
                    <a:latin typeface="+mn-lt"/>
                    <a:cs typeface="Times New Roman" panose="02020503050405090304" pitchFamily="18" charset="0"/>
                  </a:rPr>
                  <a:t>安全</a:t>
                </a:r>
                <a:r>
                  <a:rPr lang="zh-CN" altLang="en-US" sz="2000" dirty="0">
                    <a:solidFill>
                      <a:srgbClr val="000000"/>
                    </a:solidFill>
                    <a:latin typeface="+mn-lt"/>
                    <a:cs typeface="Times New Roman" panose="02020503050405090304" pitchFamily="18" charset="0"/>
                  </a:rPr>
                  <a:t>杂凑</a:t>
                </a:r>
                <a:r>
                  <a:rPr lang="zh-CN" altLang="zh-CN" sz="2000" dirty="0">
                    <a:solidFill>
                      <a:srgbClr val="000000"/>
                    </a:solidFill>
                    <a:latin typeface="+mn-lt"/>
                    <a:cs typeface="Times New Roman" panose="02020503050405090304" pitchFamily="18" charset="0"/>
                  </a:rPr>
                  <a:t>函数</a:t>
                </a:r>
                <a:r>
                  <a:rPr lang="zh-CN" altLang="en-US" sz="2000" dirty="0">
                    <a:solidFill>
                      <a:srgbClr val="000000"/>
                    </a:solidFill>
                    <a:latin typeface="+mn-lt"/>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定义在</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𝒞</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cs typeface="Times New Roman" panose="02020503050405090304" pitchFamily="18" charset="0"/>
                      </a:rPr>
                      <m:t>𝒦</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上的语义安全公钥加密方案</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由如下算法组成：</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m:t>
                    </m:r>
                    <m:r>
                      <m:rPr>
                        <m:nor/>
                      </m:rPr>
                      <a:rPr lang="zh-CN" altLang="zh-CN" sz="2000" dirty="0">
                        <a:latin typeface="+mn-lt"/>
                        <a:cs typeface="Times New Roman" panose="02020503050405090304" pitchFamily="18" charset="0"/>
                      </a:rPr>
                      <m:t>λ</m:t>
                    </m:r>
                    <m:r>
                      <m:rPr>
                        <m:nor/>
                      </m:rPr>
                      <a:rPr lang="en-US" altLang="zh-CN" sz="2000">
                        <a:solidFill>
                          <a:srgbClr val="000000"/>
                        </a:solidFill>
                        <a:effectLst/>
                        <a:latin typeface="+mn-lt"/>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：输入为安全参数</a:t>
                </a:r>
                <a:r>
                  <a:rPr lang="zh-CN" altLang="en-US" sz="2000" dirty="0">
                    <a:solidFill>
                      <a:srgbClr val="000000"/>
                    </a:solidFill>
                    <a:effectLst/>
                    <a:latin typeface="+mn-lt"/>
                    <a:ea typeface="+mn-ea"/>
                    <a:cs typeface="Times New Roman" panose="02020503050405090304" pitchFamily="18" charset="0"/>
                  </a:rPr>
                  <a:t> </a:t>
                </a:r>
                <a:r>
                  <a:rPr lang="zh-CN" altLang="zh-CN" sz="2000" dirty="0">
                    <a:latin typeface="+mn-lt"/>
                    <a:cs typeface="Times New Roman" panose="02020503050405090304" pitchFamily="18" charset="0"/>
                  </a:rPr>
                  <a:t>λ</a:t>
                </a:r>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latin typeface="+mn-lt"/>
                    <a:ea typeface="+mn-ea"/>
                    <a:cs typeface="Times New Roman" panose="02020503050405090304" pitchFamily="18" charset="0"/>
                  </a:rPr>
                  <a:t>选择</a:t>
                </a:r>
                <a:r>
                  <a:rPr lang="zh-CN" altLang="en-US" sz="2000" dirty="0">
                    <a:latin typeface="+mn-lt"/>
                    <a:cs typeface="Times New Roman" panose="02020503050405090304" pitchFamily="18" charset="0"/>
                  </a:rPr>
                  <a:t>单向陷门置换 </a:t>
                </a:r>
                <a:r>
                  <a:rPr lang="en-US" altLang="zh-CN" sz="2000" i="1" dirty="0">
                    <a:latin typeface="+mn-lt"/>
                    <a:cs typeface="Times New Roman" panose="02020503050405090304" pitchFamily="18" charset="0"/>
                  </a:rPr>
                  <a:t>T</a:t>
                </a:r>
                <a:r>
                  <a:rPr lang="en-US" altLang="zh-CN" sz="2000" dirty="0">
                    <a:latin typeface="+mn-lt"/>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𝑓</m:t>
                    </m:r>
                    <m:r>
                      <a:rPr lang="en-US" altLang="zh-CN" sz="2000" dirty="0">
                        <a:latin typeface="Cambria Math" panose="02040503050406030204" pitchFamily="18" charset="0"/>
                        <a:cs typeface="Times New Roman" panose="02020503050405090304" pitchFamily="18" charset="0"/>
                      </a:rPr>
                      <m:t>, </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dirty="0">
                            <a:latin typeface="Cambria Math" panose="02040503050406030204" pitchFamily="18" charset="0"/>
                            <a:cs typeface="Times New Roman" panose="02020503050405090304" pitchFamily="18" charset="0"/>
                          </a:rPr>
                          <m:t>𝑓</m:t>
                        </m:r>
                      </m:e>
                      <m:sup>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1</m:t>
                        </m:r>
                      </m:sup>
                    </m:sSup>
                  </m:oMath>
                </a14:m>
                <a:r>
                  <a:rPr lang="en-US" altLang="zh-CN" sz="2000" dirty="0">
                    <a:latin typeface="+mn-lt"/>
                    <a:cs typeface="Times New Roman" panose="02020503050405090304" pitchFamily="18" charset="0"/>
                  </a:rPr>
                  <a:t>)</a:t>
                </a:r>
                <a:r>
                  <a:rPr lang="zh-CN" altLang="en-US" sz="2000" dirty="0">
                    <a:latin typeface="+mn-lt"/>
                    <a:cs typeface="Times New Roman" panose="02020503050405090304" pitchFamily="18" charset="0"/>
                  </a:rPr>
                  <a:t>，并运行 </a:t>
                </a:r>
                <a:r>
                  <a:rPr lang="zh-CN" altLang="zh-CN" sz="2000" dirty="0">
                    <a:latin typeface="+mn-lt"/>
                    <a:cs typeface="Times New Roman" panose="02020503050405090304" pitchFamily="18" charset="0"/>
                  </a:rPr>
                  <a:t>TGen(λ)</a:t>
                </a:r>
                <a:r>
                  <a:rPr lang="zh-CN" altLang="en-US" sz="2000" dirty="0">
                    <a:latin typeface="+mn-lt"/>
                    <a:cs typeface="Times New Roman" panose="02020503050405090304" pitchFamily="18" charset="0"/>
                  </a:rPr>
                  <a:t> 生成对</a:t>
                </a:r>
                <a:r>
                  <a:rPr lang="en-US" altLang="zh-CN" sz="2000" dirty="0">
                    <a:latin typeface="+mn-lt"/>
                    <a:cs typeface="Times New Roman" panose="02020503050405090304" pitchFamily="18" charset="0"/>
                  </a:rPr>
                  <a:t> (pk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latin typeface="+mn-lt"/>
                    <a:cs typeface="Times New Roman" panose="02020503050405090304" pitchFamily="18" charset="0"/>
                  </a:rPr>
                  <a:t>, </a:t>
                </a:r>
                <a:r>
                  <a:rPr lang="en-US" altLang="zh-CN" sz="2000" dirty="0" err="1">
                    <a:latin typeface="+mn-lt"/>
                    <a:cs typeface="Times New Roman" panose="02020503050405090304" pitchFamily="18" charset="0"/>
                  </a:rPr>
                  <a:t>sk</a:t>
                </a:r>
                <a14:m>
                  <m:oMath xmlns:m="http://schemas.openxmlformats.org/officeDocument/2006/math">
                    <m:r>
                      <a:rPr lang="en-US" altLang="zh-CN" sz="2000" i="1" dirty="0">
                        <a:latin typeface="Cambria Math" panose="02040503050406030204" pitchFamily="18" charset="0"/>
                        <a:cs typeface="Times New Roman" panose="02020503050405090304" pitchFamily="18" charset="0"/>
                      </a:rPr>
                      <m:t>′</m:t>
                    </m:r>
                  </m:oMath>
                </a14:m>
                <a:r>
                  <a:rPr lang="en-US" altLang="zh-CN" sz="2000" dirty="0">
                    <a:latin typeface="+mn-lt"/>
                    <a:cs typeface="Times New Roman" panose="02020503050405090304" pitchFamily="18" charset="0"/>
                  </a:rPr>
                  <a:t>)</a:t>
                </a:r>
                <a:r>
                  <a:rPr lang="zh-CN" altLang="en-US" sz="2000" dirty="0">
                    <a:latin typeface="+mn-lt"/>
                    <a:cs typeface="Times New Roman" panose="02020503050405090304" pitchFamily="18" charset="0"/>
                  </a:rPr>
                  <a:t>。选择杂凑函数</a:t>
                </a:r>
                <a14:m>
                  <m:oMath xmlns:m="http://schemas.openxmlformats.org/officeDocument/2006/math">
                    <m:r>
                      <a:rPr lang="en-US" altLang="zh-CN" sz="2000" i="1">
                        <a:latin typeface="Cambria Math" panose="02040503050406030204" pitchFamily="18" charset="0"/>
                      </a:rPr>
                      <m:t>𝐺</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i="1">
                            <a:latin typeface="Cambria Math" panose="02040503050406030204" pitchFamily="18" charset="0"/>
                          </a:rPr>
                          <m:t>𝑘</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i="1">
                            <a:latin typeface="Cambria Math" panose="02040503050406030204" pitchFamily="18" charset="0"/>
                          </a:rPr>
                          <m:t>𝑙</m:t>
                        </m:r>
                      </m:sup>
                    </m:sSup>
                    <m:r>
                      <a:rPr lang="zh-CN" altLang="en-US" sz="2000" b="0" i="0" smtClean="0">
                        <a:latin typeface="Cambria Math" panose="02040503050406030204" pitchFamily="18" charset="0"/>
                      </a:rPr>
                      <m:t> </m:t>
                    </m:r>
                  </m:oMath>
                </a14:m>
                <a:r>
                  <a:rPr lang="zh-CN" altLang="en-US" sz="2000" dirty="0">
                    <a:effectLst/>
                    <a:latin typeface="+mn-lt"/>
                  </a:rPr>
                  <a:t>和</a:t>
                </a:r>
                <a14:m>
                  <m:oMath xmlns:m="http://schemas.openxmlformats.org/officeDocument/2006/math">
                    <m:r>
                      <a:rPr lang="zh-CN" altLang="en-US" sz="2000" b="0" i="0" smtClean="0">
                        <a:latin typeface="Cambria Math" panose="02040503050406030204" pitchFamily="18" charset="0"/>
                      </a:rPr>
                      <m:t> </m:t>
                    </m:r>
                    <m:r>
                      <a:rPr lang="en-US" altLang="zh-CN" sz="2000" i="1">
                        <a:latin typeface="Cambria Math" panose="02040503050406030204" pitchFamily="18" charset="0"/>
                      </a:rPr>
                      <m:t>𝐻</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b="0" i="1" smtClean="0">
                            <a:latin typeface="Cambria Math" panose="02040503050406030204" pitchFamily="18" charset="0"/>
                          </a:rPr>
                          <m:t>𝑙</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𝑘</m:t>
                            </m:r>
                          </m:e>
                          <m:sub>
                            <m:r>
                              <a:rPr lang="en-US" altLang="zh-CN" sz="2000" i="1" dirty="0">
                                <a:solidFill>
                                  <a:srgbClr val="000000"/>
                                </a:solidFill>
                                <a:latin typeface="Cambria Math" panose="02040503050406030204" pitchFamily="18" charset="0"/>
                                <a:cs typeface="Times New Roman" panose="02020503050405090304" pitchFamily="18" charset="0"/>
                              </a:rPr>
                              <m:t>0</m:t>
                            </m:r>
                          </m:sub>
                        </m:sSub>
                      </m:sup>
                    </m:sSup>
                    <m:r>
                      <a:rPr lang="en-US" altLang="zh-CN" sz="2000" i="1">
                        <a:latin typeface="Cambria Math" panose="02040503050406030204" pitchFamily="18" charset="0"/>
                      </a:rPr>
                      <m:t> </m:t>
                    </m:r>
                  </m:oMath>
                </a14:m>
                <a:r>
                  <a:rPr lang="zh-CN" altLang="en-US" sz="2000" dirty="0">
                    <a:effectLst/>
                    <a:latin typeface="+mn-lt"/>
                  </a:rPr>
                  <a:t>，</a:t>
                </a:r>
                <a:r>
                  <a:rPr lang="zh-CN" altLang="zh-CN" sz="2000" dirty="0">
                    <a:solidFill>
                      <a:srgbClr val="000000"/>
                    </a:solidFill>
                    <a:effectLst/>
                    <a:latin typeface="+mn-lt"/>
                    <a:ea typeface="+mn-ea"/>
                    <a:cs typeface="Times New Roman" panose="02020503050405090304" pitchFamily="18" charset="0"/>
                  </a:rPr>
                  <a:t>输出</a:t>
                </a:r>
                <a:r>
                  <a:rPr lang="zh-CN" altLang="en-US" sz="2000" dirty="0">
                    <a:latin typeface="+mn-lt"/>
                  </a:rPr>
                  <a:t>公钥加密方案的公私钥对</a:t>
                </a:r>
                <a14:m>
                  <m:oMath xmlns:m="http://schemas.openxmlformats.org/officeDocument/2006/math">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i="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，其中</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a:solidFill>
                          <a:srgbClr val="000000"/>
                        </a:solidFill>
                        <a:latin typeface="Cambria Math" panose="02040503050406030204" pitchFamily="18" charset="0"/>
                        <a:cs typeface="Times New Roman" panose="02020503050405090304" pitchFamily="18" charset="0"/>
                      </a:rPr>
                      <m:t>pk</m:t>
                    </m:r>
                    <m:r>
                      <a:rPr lang="en-US" altLang="zh-CN" sz="2000" i="1">
                        <a:solidFill>
                          <a:srgbClr val="000000"/>
                        </a:solidFill>
                        <a:latin typeface="Cambria Math" panose="02040503050406030204" pitchFamily="18" charset="0"/>
                        <a:cs typeface="Times New Roman" panose="02020503050405090304" pitchFamily="18" charset="0"/>
                      </a:rPr>
                      <m:t>′</m:t>
                    </m:r>
                    <m:r>
                      <m:rPr>
                        <m:nor/>
                      </m:rPr>
                      <a:rPr lang="en-US" altLang="zh-CN" sz="2000" dirty="0">
                        <a:latin typeface="+mn-lt"/>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𝐺</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𝐻</m:t>
                    </m:r>
                    <m:r>
                      <a:rPr lang="en-US" altLang="zh-CN" sz="2000" b="0" i="1" smtClean="0">
                        <a:solidFill>
                          <a:srgbClr val="000000"/>
                        </a:solidFill>
                        <a:latin typeface="Cambria Math" panose="02040503050406030204" pitchFamily="18" charset="0"/>
                        <a:cs typeface="Times New Roman" panose="02020503050405090304" pitchFamily="18" charset="0"/>
                      </a:rPr>
                      <m:t>, </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𝑇</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，私钥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sk</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𝑀</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pk</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：输入</a:t>
                </a:r>
                <a:r>
                  <a:rPr lang="zh-CN" altLang="en-US" sz="2000" dirty="0">
                    <a:solidFill>
                      <a:srgbClr val="000000"/>
                    </a:solidFill>
                    <a:latin typeface="+mn-lt"/>
                    <a:ea typeface="+mn-ea"/>
                    <a:cs typeface="Times New Roman" panose="02020503050405090304" pitchFamily="18" charset="0"/>
                  </a:rPr>
                  <a:t>明文</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𝑀</m:t>
                    </m:r>
                    <m:r>
                      <a:rPr lang="en-US" altLang="zh-CN" sz="2000" i="1">
                        <a:solidFill>
                          <a:srgbClr val="000000"/>
                        </a:solidFill>
                        <a:latin typeface="Cambria Math" panose="02040503050406030204" pitchFamily="18" charset="0"/>
                        <a:cs typeface="Times New Roman" panose="02020503050405090304" pitchFamily="18" charset="0"/>
                      </a:rPr>
                      <m:t> ∈</m:t>
                    </m:r>
                  </m:oMath>
                </a14:m>
                <a:r>
                  <a:rPr lang="zh-CN" altLang="zh-CN" sz="2000" dirty="0">
                    <a:solidFill>
                      <a:srgbClr val="000000"/>
                    </a:solidFill>
                    <a:latin typeface="+mn-lt"/>
                    <a:cs typeface="Times New Roman" panose="02020503050405090304" pitchFamily="18" charset="0"/>
                  </a:rPr>
                  <a:t> </a:t>
                </a:r>
                <a14:m>
                  <m:oMath xmlns:m="http://schemas.openxmlformats.org/officeDocument/2006/math">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e>
                      <m:sup>
                        <m:r>
                          <a:rPr lang="en-US" altLang="zh-CN" sz="2000" i="1">
                            <a:solidFill>
                              <a:srgbClr val="000000"/>
                            </a:solidFill>
                            <a:latin typeface="Cambria Math" panose="02040503050406030204" pitchFamily="18" charset="0"/>
                            <a:cs typeface="Times New Roman" panose="02020503050405090304" pitchFamily="18" charset="0"/>
                          </a:rPr>
                          <m:t>𝑙</m:t>
                        </m:r>
                      </m:sup>
                    </m:sSup>
                  </m:oMath>
                </a14:m>
                <a:r>
                  <a:rPr lang="zh-CN" altLang="en-US" sz="2000" dirty="0">
                    <a:solidFill>
                      <a:srgbClr val="000000"/>
                    </a:solidFill>
                    <a:latin typeface="+mn-lt"/>
                    <a:ea typeface="+mn-ea"/>
                    <a:cs typeface="Times New Roman" panose="02020503050405090304" pitchFamily="18" charset="0"/>
                  </a:rPr>
                  <a:t>、公钥 </a:t>
                </a:r>
                <a14:m>
                  <m:oMath xmlns:m="http://schemas.openxmlformats.org/officeDocument/2006/math">
                    <m:r>
                      <m:rPr>
                        <m:sty m:val="p"/>
                      </m:rPr>
                      <a:rPr lang="en-US" altLang="zh-CN" sz="2000">
                        <a:solidFill>
                          <a:srgbClr val="000000"/>
                        </a:solidFill>
                        <a:latin typeface="Cambria Math" panose="02040503050406030204" pitchFamily="18" charset="0"/>
                        <a:cs typeface="Times New Roman" panose="02020503050405090304" pitchFamily="18" charset="0"/>
                      </a:rPr>
                      <m:t>pk</m:t>
                    </m:r>
                  </m:oMath>
                </a14:m>
                <a:r>
                  <a:rPr lang="zh-CN" altLang="en-US" sz="2000" dirty="0">
                    <a:solidFill>
                      <a:srgbClr val="000000"/>
                    </a:solidFill>
                    <a:latin typeface="+mn-lt"/>
                    <a:ea typeface="+mn-ea"/>
                    <a:cs typeface="Times New Roman" panose="02020503050405090304" pitchFamily="18" charset="0"/>
                  </a:rPr>
                  <a:t> 时，先</a:t>
                </a:r>
                <a:r>
                  <a:rPr lang="zh-CN" altLang="zh-CN" sz="2000" dirty="0">
                    <a:solidFill>
                      <a:srgbClr val="000000"/>
                    </a:solidFill>
                    <a:effectLst/>
                    <a:latin typeface="+mn-lt"/>
                    <a:ea typeface="+mn-ea"/>
                    <a:cs typeface="Times New Roman" panose="02020503050405090304" pitchFamily="18" charset="0"/>
                  </a:rPr>
                  <a:t>随机选取</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𝑟</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pPr>
                      <m:e>
                        <m:d>
                          <m:dPr>
                            <m:begChr m:val="{"/>
                            <m:endChr m:val="}"/>
                            <m:ctrlPr>
                              <a:rPr lang="en-US" altLang="zh-CN" sz="200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a:solidFill>
                                  <a:srgbClr val="000000"/>
                                </a:solidFill>
                                <a:effectLst/>
                                <a:latin typeface="Cambria Math" panose="02040503050406030204" pitchFamily="18" charset="0"/>
                                <a:ea typeface="+mn-ea"/>
                                <a:cs typeface="Times New Roman" panose="02020503050405090304" pitchFamily="18" charset="0"/>
                              </a:rPr>
                              <m:t>0</m:t>
                            </m:r>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a:solidFill>
                                  <a:srgbClr val="000000"/>
                                </a:solidFill>
                                <a:effectLst/>
                                <a:latin typeface="Cambria Math" panose="02040503050406030204" pitchFamily="18" charset="0"/>
                                <a:ea typeface="+mn-ea"/>
                                <a:cs typeface="Times New Roman" panose="02020503050405090304" pitchFamily="18" charset="0"/>
                              </a:rPr>
                              <m:t>1</m:t>
                            </m:r>
                          </m:e>
                        </m:d>
                      </m:e>
                      <m:sup>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𝑘</m:t>
                            </m:r>
                          </m:e>
                          <m:sub>
                            <m:r>
                              <a:rPr lang="en-US" altLang="zh-CN" sz="2000" i="1" dirty="0">
                                <a:solidFill>
                                  <a:srgbClr val="000000"/>
                                </a:solidFill>
                                <a:latin typeface="Cambria Math" panose="02040503050406030204" pitchFamily="18" charset="0"/>
                                <a:cs typeface="Times New Roman" panose="02020503050405090304" pitchFamily="18" charset="0"/>
                              </a:rPr>
                              <m:t>0</m:t>
                            </m:r>
                          </m:sub>
                        </m:sSub>
                      </m:sup>
                    </m:sSup>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计算</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smtClean="0">
                            <a:solidFill>
                              <a:srgbClr val="000000"/>
                            </a:solidFill>
                            <a:latin typeface="Cambria Math" panose="02040503050406030204" pitchFamily="18" charset="0"/>
                            <a:ea typeface="+mn-ea"/>
                            <a:cs typeface="Times New Roman" panose="02020503050405090304" pitchFamily="18" charset="0"/>
                          </a:rPr>
                          <m:t>𝐶</m:t>
                        </m:r>
                      </m:e>
                      <m:sub>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𝑀</m:t>
                    </m:r>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𝐺</m:t>
                    </m:r>
                    <m:d>
                      <m:dPr>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i="1">
                            <a:solidFill>
                              <a:srgbClr val="000000"/>
                            </a:solidFill>
                            <a:latin typeface="Cambria Math" panose="02040503050406030204" pitchFamily="18" charset="0"/>
                            <a:cs typeface="Times New Roman" panose="02020503050405090304" pitchFamily="18" charset="0"/>
                          </a:rPr>
                          <m:t>𝑟</m:t>
                        </m:r>
                      </m:e>
                    </m:d>
                    <m:r>
                      <a:rPr lang="zh-CN" altLang="en-US" sz="2000" i="1">
                        <a:solidFill>
                          <a:srgbClr val="000000"/>
                        </a:solidFill>
                        <a:latin typeface="Cambria Math" panose="02040503050406030204" pitchFamily="18" charset="0"/>
                        <a:cs typeface="Times New Roman" panose="02020503050405090304" pitchFamily="18" charset="0"/>
                      </a:rPr>
                      <m:t>∈</m:t>
                    </m:r>
                    <m:r>
                      <m:rPr>
                        <m:nor/>
                      </m:rPr>
                      <a:rPr lang="zh-CN" altLang="zh-CN" sz="2000" dirty="0">
                        <a:solidFill>
                          <a:srgbClr val="000000"/>
                        </a:solidFill>
                        <a:latin typeface="+mn-lt"/>
                        <a:cs typeface="Times New Roman" panose="02020503050405090304" pitchFamily="18" charset="0"/>
                      </a:rPr>
                      <m:t> </m:t>
                    </m:r>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d>
                          <m:dPr>
                            <m:begChr m:val="{"/>
                            <m:endChr m:val="}"/>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e>
                        </m:d>
                      </m:e>
                      <m:sup>
                        <m:r>
                          <a:rPr lang="en-US" altLang="zh-CN" sz="2000" i="1">
                            <a:solidFill>
                              <a:srgbClr val="000000"/>
                            </a:solidFill>
                            <a:latin typeface="Cambria Math" panose="02040503050406030204" pitchFamily="18" charset="0"/>
                            <a:cs typeface="Times New Roman" panose="02020503050405090304" pitchFamily="18" charset="0"/>
                          </a:rPr>
                          <m:t>𝑙</m:t>
                        </m:r>
                      </m:sup>
                    </m:sSup>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  </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b="0" i="1" smtClean="0">
                            <a:solidFill>
                              <a:srgbClr val="000000"/>
                            </a:solidFill>
                            <a:latin typeface="Cambria Math" panose="02040503050406030204" pitchFamily="18" charset="0"/>
                            <a:cs typeface="Times New Roman" panose="02020503050405090304" pitchFamily="18" charset="0"/>
                          </a:rPr>
                          <m:t>2</m:t>
                        </m:r>
                      </m:sub>
                    </m:sSub>
                    <m:r>
                      <a:rPr lang="en-US" altLang="zh-CN" sz="2000" b="0" i="1" smtClean="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𝑟</m:t>
                    </m:r>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b="0" i="1" smtClean="0">
                        <a:solidFill>
                          <a:srgbClr val="000000"/>
                        </a:solidFill>
                        <a:latin typeface="Cambria Math" panose="02040503050406030204" pitchFamily="18" charset="0"/>
                        <a:cs typeface="Times New Roman" panose="02020503050405090304" pitchFamily="18" charset="0"/>
                      </a:rPr>
                      <m:t>𝐻</m:t>
                    </m:r>
                    <m:r>
                      <a:rPr lang="en-US" altLang="zh-CN" sz="2000" b="0" i="1" smtClean="0">
                        <a:solidFill>
                          <a:srgbClr val="000000"/>
                        </a:solidFill>
                        <a:latin typeface="Cambria Math" panose="02040503050406030204" pitchFamily="18" charset="0"/>
                        <a:cs typeface="Times New Roman" panose="02020503050405090304" pitchFamily="18" charset="0"/>
                      </a:rPr>
                      <m:t>(</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b="0" i="1" smtClean="0">
                        <a:solidFill>
                          <a:srgbClr val="000000"/>
                        </a:solidFill>
                        <a:latin typeface="Cambria Math" panose="02040503050406030204" pitchFamily="18" charset="0"/>
                        <a:cs typeface="Times New Roman" panose="02020503050405090304" pitchFamily="18" charset="0"/>
                      </a:rPr>
                      <m:t>)</m:t>
                    </m:r>
                    <m:r>
                      <a:rPr lang="zh-CN" altLang="en-US" sz="2000" i="1">
                        <a:solidFill>
                          <a:srgbClr val="000000"/>
                        </a:solidFill>
                        <a:latin typeface="Cambria Math" panose="02040503050406030204" pitchFamily="18" charset="0"/>
                        <a:cs typeface="Times New Roman" panose="02020503050405090304" pitchFamily="18" charset="0"/>
                      </a:rPr>
                      <m:t>∈</m:t>
                    </m:r>
                    <m:r>
                      <m:rPr>
                        <m:nor/>
                      </m:rPr>
                      <a:rPr lang="zh-CN" altLang="zh-CN" sz="2000" dirty="0">
                        <a:solidFill>
                          <a:srgbClr val="000000"/>
                        </a:solidFill>
                        <a:latin typeface="+mn-lt"/>
                        <a:cs typeface="Times New Roman" panose="02020503050405090304" pitchFamily="18" charset="0"/>
                      </a:rPr>
                      <m:t> </m:t>
                    </m:r>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d>
                          <m:dPr>
                            <m:begChr m:val="{"/>
                            <m:endChr m:val="}"/>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e>
                        </m:d>
                      </m:e>
                      <m:sup>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𝑘</m:t>
                            </m:r>
                          </m:e>
                          <m:sub>
                            <m:r>
                              <a:rPr lang="en-US" altLang="zh-CN" sz="2000" i="1" dirty="0">
                                <a:solidFill>
                                  <a:srgbClr val="000000"/>
                                </a:solidFill>
                                <a:latin typeface="Cambria Math" panose="02040503050406030204" pitchFamily="18" charset="0"/>
                                <a:cs typeface="Times New Roman" panose="02020503050405090304" pitchFamily="18" charset="0"/>
                              </a:rPr>
                              <m:t>0</m:t>
                            </m:r>
                          </m:sub>
                        </m:sSub>
                      </m:sup>
                    </m:sSup>
                  </m:oMath>
                </a14:m>
                <a:r>
                  <a:rPr lang="zh-CN" altLang="zh-CN" sz="2000" dirty="0">
                    <a:solidFill>
                      <a:srgbClr val="000000"/>
                    </a:solidFill>
                    <a:effectLst/>
                    <a:latin typeface="+mn-lt"/>
                    <a:ea typeface="+mn-ea"/>
                    <a:cs typeface="Times New Roman" panose="02020503050405090304" pitchFamily="18" charset="0"/>
                  </a:rPr>
                  <a:t>，</a:t>
                </a:r>
                <a:r>
                  <a:rPr lang="en-US" altLang="zh-CN" sz="2000" i="1" dirty="0">
                    <a:solidFill>
                      <a:srgbClr val="000000"/>
                    </a:solidFill>
                    <a:latin typeface="+mn-lt"/>
                    <a:cs typeface="Times New Roman" panose="02020503050405090304" pitchFamily="18" charset="0"/>
                  </a:rPr>
                  <a:t> C=</a:t>
                </a:r>
                <a:r>
                  <a:rPr lang="en-US" altLang="zh-CN" sz="2000" dirty="0">
                    <a:solidFill>
                      <a:srgbClr val="000000"/>
                    </a:solidFill>
                    <a:latin typeface="+mn-lt"/>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𝑓</m:t>
                    </m:r>
                    <m:d>
                      <m:dPr>
                        <m:ctrlPr>
                          <a:rPr lang="zh-CN" altLang="zh-CN" sz="2000" i="1">
                            <a:solidFill>
                              <a:srgbClr val="000000"/>
                            </a:solidFill>
                            <a:latin typeface="Cambria Math" panose="02040503050406030204" pitchFamily="18" charset="0"/>
                            <a:cs typeface="Times New Roman" panose="02020503050405090304" pitchFamily="18" charset="0"/>
                          </a:rPr>
                        </m:ctrlPr>
                      </m:dPr>
                      <m:e>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b="0" i="1" smtClean="0">
                            <a:solidFill>
                              <a:srgbClr val="000000"/>
                            </a:solidFill>
                            <a:latin typeface="Cambria Math" panose="02040503050406030204" pitchFamily="18" charset="0"/>
                            <a:cs typeface="Times New Roman" panose="02020503050405090304" pitchFamily="18" charset="0"/>
                          </a:rPr>
                          <m:t>||</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r>
                          <a:rPr lang="en-US" altLang="zh-CN" sz="2000" i="1">
                            <a:solidFill>
                              <a:srgbClr val="000000"/>
                            </a:solidFill>
                            <a:latin typeface="Cambria Math" panose="02040503050406030204" pitchFamily="18" charset="0"/>
                            <a:cs typeface="Times New Roman" panose="02020503050405090304" pitchFamily="18" charset="0"/>
                          </a:rPr>
                          <m:t>, </m:t>
                        </m:r>
                        <m:r>
                          <m:rPr>
                            <m:sty m:val="p"/>
                          </m:rPr>
                          <a:rPr lang="en-US" altLang="zh-CN" sz="2000">
                            <a:solidFill>
                              <a:srgbClr val="000000"/>
                            </a:solidFill>
                            <a:latin typeface="Cambria Math" panose="02040503050406030204" pitchFamily="18" charset="0"/>
                            <a:cs typeface="Times New Roman" panose="02020503050405090304" pitchFamily="18" charset="0"/>
                          </a:rPr>
                          <m:t>pk</m:t>
                        </m:r>
                        <m:r>
                          <a:rPr lang="en-US" altLang="zh-CN" sz="2000" i="1">
                            <a:solidFill>
                              <a:srgbClr val="000000"/>
                            </a:solidFill>
                            <a:latin typeface="Cambria Math" panose="02040503050406030204" pitchFamily="18" charset="0"/>
                            <a:cs typeface="Times New Roman" panose="02020503050405090304" pitchFamily="18" charset="0"/>
                          </a:rPr>
                          <m:t>′</m:t>
                        </m:r>
                      </m:e>
                    </m:d>
                    <m:r>
                      <a:rPr lang="zh-CN" altLang="en-US" sz="2000" i="1">
                        <a:solidFill>
                          <a:srgbClr val="000000"/>
                        </a:solidFill>
                        <a:latin typeface="Cambria Math" panose="02040503050406030204" pitchFamily="18" charset="0"/>
                        <a:cs typeface="Times New Roman" panose="02020503050405090304" pitchFamily="18" charset="0"/>
                      </a:rPr>
                      <m:t>∈</m:t>
                    </m:r>
                    <m:r>
                      <m:rPr>
                        <m:nor/>
                      </m:rPr>
                      <a:rPr lang="zh-CN" altLang="zh-CN" sz="2000" dirty="0">
                        <a:solidFill>
                          <a:srgbClr val="000000"/>
                        </a:solidFill>
                        <a:latin typeface="+mn-lt"/>
                        <a:cs typeface="Times New Roman" panose="02020503050405090304" pitchFamily="18" charset="0"/>
                      </a:rPr>
                      <m:t> </m:t>
                    </m:r>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d>
                          <m:dPr>
                            <m:begChr m:val="{"/>
                            <m:endChr m:val="}"/>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e>
                        </m:d>
                      </m:e>
                      <m:sup>
                        <m:r>
                          <a:rPr lang="en-US" altLang="zh-CN" sz="2000" i="1">
                            <a:solidFill>
                              <a:srgbClr val="000000"/>
                            </a:solidFill>
                            <a:latin typeface="Cambria Math" panose="02040503050406030204" pitchFamily="18" charset="0"/>
                            <a:cs typeface="Times New Roman" panose="02020503050405090304" pitchFamily="18" charset="0"/>
                          </a:rPr>
                          <m:t>𝑘</m:t>
                        </m:r>
                      </m:sup>
                    </m:sSup>
                    <m:r>
                      <a:rPr lang="zh-CN" altLang="en-US" sz="2000" b="0" i="0" smtClean="0">
                        <a:solidFill>
                          <a:srgbClr val="000000"/>
                        </a:solidFill>
                        <a:latin typeface="Cambria Math" panose="02040503050406030204" pitchFamily="18" charset="0"/>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输出</a:t>
                </a:r>
                <a:r>
                  <a:rPr lang="zh-CN" altLang="en-US" sz="2000" dirty="0">
                    <a:solidFill>
                      <a:srgbClr val="000000"/>
                    </a:solidFill>
                    <a:latin typeface="+mn-lt"/>
                    <a:ea typeface="+mn-ea"/>
                    <a:cs typeface="Times New Roman" panose="02020503050405090304" pitchFamily="18" charset="0"/>
                  </a:rPr>
                  <a:t>密文</a:t>
                </a:r>
                <a:r>
                  <a:rPr lang="en-US" altLang="zh-CN"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effectLst/>
                    <a:latin typeface="+mn-lt"/>
                    <a:ea typeface="+mn-ea"/>
                    <a:cs typeface="Times New Roman" panose="02020503050405090304" pitchFamily="18" charset="0"/>
                  </a:rPr>
                  <a:t>C</a:t>
                </a:r>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Dec</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𝐶</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sk</m:t>
                    </m:r>
                    <m:r>
                      <a:rPr lang="en-US" altLang="zh-CN" sz="2000" b="0" i="0"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latin typeface="+mn-lt"/>
                    <a:cs typeface="Times New Roman" panose="02020503050405090304" pitchFamily="18" charset="0"/>
                  </a:rPr>
                  <a:t>输入</a:t>
                </a:r>
                <a:r>
                  <a:rPr lang="zh-CN" altLang="en-US" sz="2000" dirty="0">
                    <a:solidFill>
                      <a:srgbClr val="000000"/>
                    </a:solidFill>
                    <a:latin typeface="+mn-lt"/>
                    <a:cs typeface="Times New Roman" panose="02020503050405090304" pitchFamily="18" charset="0"/>
                  </a:rPr>
                  <a:t>密文</a:t>
                </a:r>
                <a:r>
                  <a:rPr lang="en-US" altLang="zh-CN" sz="2000" dirty="0">
                    <a:solidFill>
                      <a:srgbClr val="000000"/>
                    </a:solidFill>
                    <a:latin typeface="+mn-lt"/>
                    <a:cs typeface="Times New Roman" panose="02020503050405090304" pitchFamily="18" charset="0"/>
                  </a:rPr>
                  <a:t> </a:t>
                </a:r>
                <a:r>
                  <a:rPr lang="en-US" altLang="zh-CN" sz="2000" i="1" dirty="0">
                    <a:solidFill>
                      <a:srgbClr val="000000"/>
                    </a:solidFill>
                    <a:latin typeface="+mn-lt"/>
                    <a:cs typeface="Times New Roman" panose="02020503050405090304" pitchFamily="18" charset="0"/>
                  </a:rPr>
                  <a:t>C</a:t>
                </a:r>
                <a:r>
                  <a:rPr lang="zh-CN" altLang="en-US" sz="2000" dirty="0">
                    <a:solidFill>
                      <a:srgbClr val="000000"/>
                    </a:solidFill>
                    <a:latin typeface="+mn-lt"/>
                    <a:cs typeface="Times New Roman" panose="02020503050405090304" pitchFamily="18" charset="0"/>
                  </a:rPr>
                  <a:t>、私钥</a:t>
                </a:r>
                <a14:m>
                  <m:oMath xmlns:m="http://schemas.openxmlformats.org/officeDocument/2006/math">
                    <m:r>
                      <a:rPr lang="zh-CN" altLang="en-US" sz="2000" b="0" i="0" smtClean="0">
                        <a:solidFill>
                          <a:srgbClr val="000000"/>
                        </a:solidFill>
                        <a:latin typeface="Cambria Math" panose="02040503050406030204" pitchFamily="18" charset="0"/>
                        <a:cs typeface="Times New Roman" panose="02020503050405090304" pitchFamily="18" charset="0"/>
                      </a:rPr>
                      <m:t> </m:t>
                    </m:r>
                    <m:r>
                      <m:rPr>
                        <m:sty m:val="p"/>
                      </m:rPr>
                      <a:rPr lang="en-US" altLang="zh-CN" sz="2000" i="1">
                        <a:solidFill>
                          <a:srgbClr val="000000"/>
                        </a:solidFill>
                        <a:latin typeface="Cambria Math" panose="02040503050406030204" pitchFamily="18" charset="0"/>
                        <a:cs typeface="Times New Roman" panose="02020503050405090304" pitchFamily="18" charset="0"/>
                      </a:rPr>
                      <m:t>s</m:t>
                    </m:r>
                    <m:r>
                      <m:rPr>
                        <m:sty m:val="p"/>
                      </m:rPr>
                      <a:rPr lang="en-US" altLang="zh-CN" sz="2000">
                        <a:solidFill>
                          <a:srgbClr val="000000"/>
                        </a:solidFill>
                        <a:latin typeface="Cambria Math" panose="02040503050406030204" pitchFamily="18" charset="0"/>
                        <a:cs typeface="Times New Roman" panose="02020503050405090304" pitchFamily="18" charset="0"/>
                      </a:rPr>
                      <m:t>k</m:t>
                    </m:r>
                  </m:oMath>
                </a14:m>
                <a:r>
                  <a:rPr lang="zh-CN" altLang="en-US" sz="2000" dirty="0">
                    <a:solidFill>
                      <a:srgbClr val="000000"/>
                    </a:solidFill>
                    <a:latin typeface="+mn-lt"/>
                    <a:cs typeface="Times New Roman" panose="02020503050405090304" pitchFamily="18" charset="0"/>
                  </a:rPr>
                  <a:t> 时，</a:t>
                </a:r>
                <a:r>
                  <a:rPr lang="en-US" altLang="zh-CN" sz="2000" dirty="0">
                    <a:solidFill>
                      <a:srgbClr val="000000"/>
                    </a:solidFill>
                    <a:latin typeface="+mn-lt"/>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计算</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i="1">
                        <a:solidFill>
                          <a:srgbClr val="000000"/>
                        </a:solidFill>
                        <a:latin typeface="Cambria Math" panose="02040503050406030204" pitchFamily="18" charset="0"/>
                        <a:cs typeface="Times New Roman" panose="02020503050405090304" pitchFamily="18" charset="0"/>
                      </a:rPr>
                      <m:t>||</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oMath>
                </a14:m>
                <a:r>
                  <a:rPr lang="en-US" altLang="zh-CN"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latin typeface="+mn-lt"/>
                    <a:cs typeface="Times New Roman" panose="02020503050405090304" pitchFamily="18" charset="0"/>
                  </a:rPr>
                  <a:t> </a:t>
                </a:r>
                <a14:m>
                  <m:oMath xmlns:m="http://schemas.openxmlformats.org/officeDocument/2006/math">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𝑓</m:t>
                        </m:r>
                      </m:e>
                      <m:sup>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a:solidFill>
                              <a:srgbClr val="000000"/>
                            </a:solidFill>
                            <a:latin typeface="Cambria Math" panose="02040503050406030204" pitchFamily="18" charset="0"/>
                            <a:cs typeface="Times New Roman" panose="02020503050405090304" pitchFamily="18" charset="0"/>
                          </a:rPr>
                          <m:t>1</m:t>
                        </m:r>
                      </m:sup>
                    </m:sSup>
                    <m:d>
                      <m:dPr>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solidFill>
                              <a:srgbClr val="000000"/>
                            </a:solidFill>
                            <a:latin typeface="+mn-lt"/>
                            <a:cs typeface="Times New Roman" panose="02020503050405090304" pitchFamily="18" charset="0"/>
                          </a:rPr>
                          <m:t>C</m:t>
                        </m:r>
                        <m:r>
                          <a:rPr lang="en-US" altLang="zh-CN" sz="2000">
                            <a:solidFill>
                              <a:srgbClr val="000000"/>
                            </a:solidFill>
                            <a:latin typeface="Cambria Math" panose="02040503050406030204" pitchFamily="18" charset="0"/>
                            <a:cs typeface="Times New Roman" panose="02020503050405090304" pitchFamily="18" charset="0"/>
                          </a:rPr>
                          <m:t>,</m:t>
                        </m:r>
                        <m:r>
                          <m:rPr>
                            <m:sty m:val="p"/>
                          </m:rPr>
                          <a:rPr lang="en-US" altLang="zh-CN" sz="2000" i="1">
                            <a:solidFill>
                              <a:srgbClr val="000000"/>
                            </a:solidFill>
                            <a:latin typeface="Cambria Math" panose="02040503050406030204" pitchFamily="18" charset="0"/>
                            <a:cs typeface="Times New Roman" panose="02020503050405090304" pitchFamily="18" charset="0"/>
                          </a:rPr>
                          <m:t>s</m:t>
                        </m:r>
                        <m:r>
                          <m:rPr>
                            <m:sty m:val="p"/>
                          </m:rPr>
                          <a:rPr lang="en-US" altLang="zh-CN" sz="2000">
                            <a:solidFill>
                              <a:srgbClr val="000000"/>
                            </a:solidFill>
                            <a:latin typeface="Cambria Math" panose="02040503050406030204" pitchFamily="18" charset="0"/>
                            <a:cs typeface="Times New Roman" panose="02020503050405090304" pitchFamily="18" charset="0"/>
                          </a:rPr>
                          <m:t>k</m:t>
                        </m:r>
                      </m:e>
                    </m:d>
                  </m:oMath>
                </a14:m>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𝑟</m:t>
                    </m:r>
                  </m:oMath>
                </a14:m>
                <a:r>
                  <a:rPr lang="en-US" altLang="zh-CN" sz="2000" dirty="0">
                    <a:solidFill>
                      <a:srgbClr val="000000"/>
                    </a:solidFill>
                    <a:effectLst/>
                    <a:latin typeface="+mn-lt"/>
                    <a:ea typeface="+mn-ea"/>
                    <a:cs typeface="Times New Roman" panose="02020503050405090304" pitchFamily="18" charset="0"/>
                  </a:rPr>
                  <a:t>=</a:t>
                </a:r>
                <a:r>
                  <a:rPr lang="en-US" altLang="zh-CN" sz="2000" dirty="0">
                    <a:solidFill>
                      <a:srgbClr val="000000"/>
                    </a:solidFill>
                    <a:latin typeface="+mn-lt"/>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2</m:t>
                        </m:r>
                      </m:sub>
                    </m:sSub>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𝐻</m:t>
                    </m:r>
                    <m:r>
                      <a:rPr lang="en-US" altLang="zh-CN" sz="2000" i="1">
                        <a:solidFill>
                          <a:srgbClr val="000000"/>
                        </a:solidFill>
                        <a:latin typeface="Cambria Math" panose="02040503050406030204" pitchFamily="18" charset="0"/>
                        <a:cs typeface="Times New Roman" panose="02020503050405090304" pitchFamily="18" charset="0"/>
                      </a:rPr>
                      <m:t>(</m:t>
                    </m:r>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r>
                      <a:rPr lang="en-US" altLang="zh-CN" sz="2000" i="1">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𝑀</m:t>
                    </m:r>
                  </m:oMath>
                </a14:m>
                <a:r>
                  <a:rPr lang="en-US" altLang="zh-CN" sz="2000" dirty="0">
                    <a:solidFill>
                      <a:srgbClr val="000000"/>
                    </a:solidFill>
                    <a:effectLst/>
                    <a:latin typeface="+mn-lt"/>
                    <a:ea typeface="+mn-ea"/>
                    <a:cs typeface="Times New Roman" panose="02020503050405090304" pitchFamily="18" charset="0"/>
                  </a:rPr>
                  <a:t>=</a:t>
                </a:r>
                <a:r>
                  <a:rPr lang="en-US" altLang="zh-CN" sz="2000" dirty="0">
                    <a:solidFill>
                      <a:srgbClr val="000000"/>
                    </a:solidFill>
                    <a:latin typeface="+mn-lt"/>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𝐶</m:t>
                        </m:r>
                      </m:e>
                      <m:sub>
                        <m:r>
                          <a:rPr lang="en-US" altLang="zh-CN" sz="2000" i="1">
                            <a:solidFill>
                              <a:srgbClr val="000000"/>
                            </a:solidFill>
                            <a:latin typeface="Cambria Math" panose="02040503050406030204" pitchFamily="18" charset="0"/>
                            <a:cs typeface="Times New Roman" panose="02020503050405090304" pitchFamily="18" charset="0"/>
                          </a:rPr>
                          <m:t>1</m:t>
                        </m:r>
                      </m:sub>
                    </m:sSub>
                  </m:oMath>
                </a14:m>
                <a:r>
                  <a:rPr lang="en-US" altLang="zh-CN" sz="2000" dirty="0">
                    <a:solidFill>
                      <a:srgbClr val="000000"/>
                    </a:solidFill>
                    <a:latin typeface="+mn-lt"/>
                    <a:cs typeface="Times New Roman" panose="02020503050405090304" pitchFamily="18" charset="0"/>
                  </a:rPr>
                  <a:t> </a:t>
                </a:r>
                <a14:m>
                  <m:oMath xmlns:m="http://schemas.openxmlformats.org/officeDocument/2006/math">
                    <m:r>
                      <a:rPr lang="en-US" altLang="zh-CN" sz="2000">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𝐺</m:t>
                    </m:r>
                    <m:d>
                      <m:dPr>
                        <m:ctrlPr>
                          <a:rPr lang="en-US" altLang="zh-CN" sz="2000" i="1">
                            <a:solidFill>
                              <a:srgbClr val="000000"/>
                            </a:solidFill>
                            <a:latin typeface="Cambria Math" panose="02040503050406030204" pitchFamily="18" charset="0"/>
                            <a:cs typeface="Times New Roman" panose="02020503050405090304" pitchFamily="18" charset="0"/>
                          </a:rPr>
                        </m:ctrlPr>
                      </m:dPr>
                      <m:e>
                        <m:r>
                          <a:rPr lang="en-US" altLang="zh-CN" sz="2000" i="1">
                            <a:solidFill>
                              <a:srgbClr val="000000"/>
                            </a:solidFill>
                            <a:latin typeface="Cambria Math" panose="02040503050406030204" pitchFamily="18" charset="0"/>
                            <a:cs typeface="Times New Roman" panose="02020503050405090304" pitchFamily="18" charset="0"/>
                          </a:rPr>
                          <m:t>𝑟</m:t>
                        </m:r>
                      </m:e>
                    </m:d>
                    <m:r>
                      <a:rPr lang="zh-CN" altLang="en-US" sz="2000" b="0" i="0" smtClean="0">
                        <a:solidFill>
                          <a:srgbClr val="000000"/>
                        </a:solidFill>
                        <a:latin typeface="Cambria Math" panose="02040503050406030204" pitchFamily="18" charset="0"/>
                        <a:cs typeface="Times New Roman" panose="02020503050405090304" pitchFamily="18" charset="0"/>
                      </a:rPr>
                      <m:t>，</m:t>
                    </m:r>
                  </m:oMath>
                </a14:m>
                <a:r>
                  <a:rPr lang="en-US" altLang="zh-CN"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输出</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nor/>
                      </m:rPr>
                      <a:rPr lang="en-US" altLang="zh-CN" sz="2000" i="1" dirty="0">
                        <a:solidFill>
                          <a:srgbClr val="000000"/>
                        </a:solidFill>
                        <a:latin typeface="+mn-lt"/>
                        <a:cs typeface="Times New Roman" panose="02020503050405090304" pitchFamily="18" charset="0"/>
                      </a:rPr>
                      <m:t>M</m:t>
                    </m:r>
                  </m:oMath>
                </a14:m>
                <a:r>
                  <a:rPr lang="zh-CN" altLang="zh-CN" sz="2000" dirty="0">
                    <a:solidFill>
                      <a:srgbClr val="000000"/>
                    </a:solidFill>
                    <a:effectLst/>
                    <a:latin typeface="+mn-lt"/>
                    <a:ea typeface="+mn-ea"/>
                    <a:cs typeface="Times New Roman" panose="02020503050405090304" pitchFamily="18" charset="0"/>
                  </a:rPr>
                  <a:t>。</a:t>
                </a:r>
                <a:endParaRPr lang="zh-CN" altLang="zh-CN" sz="2800" dirty="0">
                  <a:effectLst/>
                  <a:latin typeface="+mn-lt"/>
                  <a:ea typeface="+mn-ea"/>
                  <a:cs typeface="Times New Roman" panose="0202050305040509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502920" y="1488794"/>
                <a:ext cx="10943209" cy="4875374"/>
              </a:xfrm>
              <a:prstGeom prst="rect">
                <a:avLst/>
              </a:prstGeom>
              <a:blipFill>
                <a:blip r:embed="rId3"/>
                <a:stretch>
                  <a:fillRect l="-613" r="-557"/>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7A1E5-2B4A-1871-1A0E-9E12E2F71882}"/>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12CC2542-5107-855E-0AE4-56520DB7D923}"/>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AB3F9A5A-7488-E9D0-5433-7B76976D19B9}"/>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D317DE07-40EC-A6AD-3294-EC0F806F2611}"/>
              </a:ext>
            </a:extLst>
          </p:cNvPr>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文本框 2">
            <a:extLst>
              <a:ext uri="{FF2B5EF4-FFF2-40B4-BE49-F238E27FC236}">
                <a16:creationId xmlns:a16="http://schemas.microsoft.com/office/drawing/2014/main" id="{E357B3BA-FA86-6786-953A-85967AFD8FF4}"/>
              </a:ext>
            </a:extLst>
          </p:cNvPr>
          <p:cNvSpPr txBox="1"/>
          <p:nvPr/>
        </p:nvSpPr>
        <p:spPr>
          <a:xfrm>
            <a:off x="502920" y="81140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cs typeface="+mn-cs"/>
              </a:rPr>
              <a:t>RSA </a:t>
            </a:r>
            <a:r>
              <a:rPr lang="zh-CN" altLang="en-US" sz="2400" dirty="0">
                <a:solidFill>
                  <a:srgbClr val="C00000"/>
                </a:solidFill>
                <a:latin typeface="+mn-lt"/>
                <a:cs typeface="+mn-cs"/>
              </a:rPr>
              <a:t>改进二：</a:t>
            </a:r>
            <a:r>
              <a:rPr lang="zh-CN" altLang="en-US" sz="2400" dirty="0">
                <a:solidFill>
                  <a:srgbClr val="C00000"/>
                </a:solidFill>
                <a:latin typeface="+mn-lt"/>
              </a:rPr>
              <a:t>最优非对称加密填充</a:t>
            </a:r>
            <a:r>
              <a:rPr lang="en-GB" altLang="zh-CN" sz="2400" dirty="0">
                <a:solidFill>
                  <a:srgbClr val="C00000"/>
                </a:solidFill>
                <a:latin typeface="+mn-lt"/>
              </a:rPr>
              <a:t>OAEP</a:t>
            </a:r>
            <a:endParaRPr lang="en-GB" altLang="zh-CN" sz="2400" dirty="0">
              <a:solidFill>
                <a:srgbClr val="C00000"/>
              </a:solidFill>
              <a:latin typeface="+mn-lt"/>
              <a:cs typeface="+mn-cs"/>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17BC8B3-E77F-B85F-A535-EEDAB9499B8A}"/>
                  </a:ext>
                </a:extLst>
              </p:cNvPr>
              <p:cNvSpPr txBox="1"/>
              <p:nvPr/>
            </p:nvSpPr>
            <p:spPr>
              <a:xfrm>
                <a:off x="1621536" y="1912035"/>
                <a:ext cx="8309592" cy="2053704"/>
              </a:xfrm>
              <a:prstGeom prst="rect">
                <a:avLst/>
              </a:prstGeom>
              <a:noFill/>
            </p:spPr>
            <p:txBody>
              <a:bodyPr wrap="square">
                <a:spAutoFit/>
              </a:bodyPr>
              <a:lstStyle/>
              <a:p>
                <a:pPr indent="266700" algn="just">
                  <a:lnSpc>
                    <a:spcPct val="130000"/>
                  </a:lnSpc>
                  <a:spcBef>
                    <a:spcPts val="300"/>
                  </a:spcBef>
                  <a:spcAft>
                    <a:spcPts val="300"/>
                  </a:spcAft>
                </a:pPr>
                <a:r>
                  <a:rPr lang="zh-CN" altLang="en-US" sz="2000" dirty="0"/>
                  <a:t>在上述构造方法中，若用 </a:t>
                </a:r>
                <a:r>
                  <a:rPr lang="en-GB" altLang="zh-CN" sz="2000" dirty="0"/>
                  <a:t>RSA </a:t>
                </a:r>
                <a:r>
                  <a:rPr lang="zh-CN" altLang="en-US" sz="2000" dirty="0"/>
                  <a:t>公钥加密方案的密钥生成算法、加密算法、解密算法分别实例化单向陷门置换的 </a:t>
                </a:r>
                <a:r>
                  <a:rPr lang="en-US" altLang="zh-CN" sz="2000" dirty="0">
                    <a:latin typeface="+mn-lt"/>
                    <a:ea typeface="+mn-ea"/>
                    <a:cs typeface="Times New Roman" panose="02020503050405090304" pitchFamily="18" charset="0"/>
                  </a:rPr>
                  <a:t>TGen, </a:t>
                </a:r>
                <a14:m>
                  <m:oMath xmlns:m="http://schemas.openxmlformats.org/officeDocument/2006/math">
                    <m:r>
                      <a:rPr lang="en-US" altLang="zh-CN" sz="2000" i="1" dirty="0">
                        <a:latin typeface="Cambria Math" panose="02040503050406030204" pitchFamily="18" charset="0"/>
                        <a:ea typeface="+mn-ea"/>
                        <a:cs typeface="Times New Roman" panose="02020503050405090304" pitchFamily="18" charset="0"/>
                      </a:rPr>
                      <m:t>𝑓</m:t>
                    </m:r>
                    <m:r>
                      <a:rPr lang="en-US" altLang="zh-CN" sz="2000" dirty="0">
                        <a:latin typeface="Cambria Math" panose="02040503050406030204" pitchFamily="18" charset="0"/>
                        <a:ea typeface="+mn-ea"/>
                        <a:cs typeface="Times New Roman" panose="02020503050405090304" pitchFamily="18" charset="0"/>
                      </a:rPr>
                      <m:t>, </m:t>
                    </m:r>
                    <m:sSup>
                      <m:sSupPr>
                        <m:ctrlPr>
                          <a:rPr lang="en-US" altLang="zh-CN" sz="2000" i="1">
                            <a:latin typeface="Cambria Math" panose="02040503050406030204" pitchFamily="18" charset="0"/>
                            <a:ea typeface="+mn-ea"/>
                            <a:cs typeface="Times New Roman" panose="02020503050405090304" pitchFamily="18" charset="0"/>
                          </a:rPr>
                        </m:ctrlPr>
                      </m:sSupPr>
                      <m:e>
                        <m:r>
                          <a:rPr lang="en-US" altLang="zh-CN" sz="2000" i="1" dirty="0">
                            <a:latin typeface="Cambria Math" panose="02040503050406030204" pitchFamily="18" charset="0"/>
                            <a:ea typeface="+mn-ea"/>
                            <a:cs typeface="Times New Roman" panose="02020503050405090304" pitchFamily="18" charset="0"/>
                          </a:rPr>
                          <m:t>𝑓</m:t>
                        </m:r>
                      </m:e>
                      <m:sup>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cs typeface="Times New Roman" panose="02020503050405090304" pitchFamily="18" charset="0"/>
                          </a:rPr>
                          <m:t>1</m:t>
                        </m:r>
                      </m:sup>
                    </m:sSup>
                    <m:r>
                      <a:rPr lang="en-US" altLang="zh-CN" sz="2000" i="1">
                        <a:latin typeface="Cambria Math" panose="02040503050406030204" pitchFamily="18" charset="0"/>
                        <a:ea typeface="+mn-ea"/>
                        <a:cs typeface="Times New Roman" panose="02020503050405090304" pitchFamily="18" charset="0"/>
                      </a:rPr>
                      <m:t> </m:t>
                    </m:r>
                  </m:oMath>
                </a14:m>
                <a:r>
                  <a:rPr lang="zh-CN" altLang="en-GB" sz="2000" dirty="0"/>
                  <a:t>，</a:t>
                </a:r>
                <a:r>
                  <a:rPr lang="zh-CN" altLang="en-US" sz="2000" dirty="0"/>
                  <a:t>我们可得到基于 </a:t>
                </a:r>
                <a:r>
                  <a:rPr lang="en-GB" altLang="zh-CN" sz="2000" dirty="0"/>
                  <a:t>RSA </a:t>
                </a:r>
                <a:r>
                  <a:rPr lang="zh-CN" altLang="en-US" sz="2000" dirty="0"/>
                  <a:t>的最优非对称加密填充的公钥加密方案。在该方案中，密文长度较明文长度扩展了 </a:t>
                </a:r>
                <a14:m>
                  <m:oMath xmlns:m="http://schemas.openxmlformats.org/officeDocument/2006/math">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𝑘</m:t>
                        </m:r>
                      </m:e>
                      <m:sub>
                        <m:r>
                          <a:rPr lang="en-US" altLang="zh-CN" sz="2000" i="1" dirty="0">
                            <a:solidFill>
                              <a:srgbClr val="000000"/>
                            </a:solidFill>
                            <a:latin typeface="Cambria Math" panose="02040503050406030204" pitchFamily="18" charset="0"/>
                            <a:cs typeface="Times New Roman" panose="02020503050405090304" pitchFamily="18" charset="0"/>
                          </a:rPr>
                          <m:t>0</m:t>
                        </m:r>
                      </m:sub>
                    </m:sSub>
                  </m:oMath>
                </a14:m>
                <a:r>
                  <a:rPr lang="en-US" altLang="zh-CN" sz="2000" dirty="0"/>
                  <a:t>=</a:t>
                </a:r>
                <a:r>
                  <a:rPr lang="zh-CN" altLang="en-US" sz="2000" dirty="0"/>
                  <a:t>𝑘−𝑙  比特（与模数</a:t>
                </a:r>
                <a:r>
                  <a:rPr lang="en-US" altLang="zh-CN" sz="2000" i="1" dirty="0"/>
                  <a:t>N</a:t>
                </a:r>
                <a:r>
                  <a:rPr lang="zh-CN" altLang="en-US" sz="2000" dirty="0"/>
                  <a:t>和消息长度相关）。若使用</a:t>
                </a:r>
                <a:r>
                  <a:rPr lang="en-US" altLang="zh-CN" sz="2000" dirty="0"/>
                  <a:t>256</a:t>
                </a:r>
                <a:r>
                  <a:rPr lang="zh-CN" altLang="en-US" sz="2000" dirty="0"/>
                  <a:t>比特输出的</a:t>
                </a:r>
                <a:r>
                  <a:rPr lang="zh-CN" altLang="zh-CN" sz="2000" dirty="0">
                    <a:solidFill>
                      <a:srgbClr val="000000"/>
                    </a:solidFill>
                    <a:cs typeface="Times New Roman" panose="02020503050405090304" pitchFamily="18" charset="0"/>
                  </a:rPr>
                  <a:t>安全</a:t>
                </a:r>
                <a:r>
                  <a:rPr lang="zh-CN" altLang="en-US" sz="2000" dirty="0">
                    <a:solidFill>
                      <a:srgbClr val="000000"/>
                    </a:solidFill>
                    <a:cs typeface="Times New Roman" panose="02020503050405090304" pitchFamily="18" charset="0"/>
                  </a:rPr>
                  <a:t>杂凑</a:t>
                </a:r>
                <a:r>
                  <a:rPr lang="zh-CN" altLang="zh-CN" sz="2000" dirty="0">
                    <a:solidFill>
                      <a:srgbClr val="000000"/>
                    </a:solidFill>
                    <a:cs typeface="Times New Roman" panose="02020503050405090304" pitchFamily="18" charset="0"/>
                  </a:rPr>
                  <a:t>函数</a:t>
                </a:r>
                <a:r>
                  <a:rPr lang="zh-CN" altLang="en-US" sz="2000" dirty="0">
                    <a:solidFill>
                      <a:srgbClr val="000000"/>
                    </a:solidFill>
                    <a:cs typeface="Times New Roman" panose="02020503050405090304" pitchFamily="18" charset="0"/>
                  </a:rPr>
                  <a:t>，</a:t>
                </a:r>
                <a:r>
                  <a:rPr lang="zh-CN" altLang="en-US" sz="2000" dirty="0"/>
                  <a:t>则</a:t>
                </a:r>
                <a14:m>
                  <m:oMath xmlns:m="http://schemas.openxmlformats.org/officeDocument/2006/math">
                    <m:r>
                      <a:rPr lang="en-US" altLang="zh-CN" sz="2000" b="0" i="0" dirty="0" smtClean="0">
                        <a:solidFill>
                          <a:srgbClr val="000000"/>
                        </a:solidFill>
                        <a:latin typeface="Cambria Math" panose="02040503050406030204" pitchFamily="18" charset="0"/>
                        <a:cs typeface="Times New Roman" panose="02020503050405090304" pitchFamily="18" charset="0"/>
                      </a:rPr>
                      <m:t> </m:t>
                    </m:r>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𝑘</m:t>
                        </m:r>
                      </m:e>
                      <m:sub>
                        <m:r>
                          <a:rPr lang="en-US" altLang="zh-CN" sz="2000" i="1" dirty="0">
                            <a:solidFill>
                              <a:srgbClr val="000000"/>
                            </a:solidFill>
                            <a:latin typeface="Cambria Math" panose="02040503050406030204" pitchFamily="18" charset="0"/>
                            <a:cs typeface="Times New Roman" panose="02020503050405090304" pitchFamily="18" charset="0"/>
                          </a:rPr>
                          <m:t>0</m:t>
                        </m:r>
                      </m:sub>
                    </m:sSub>
                  </m:oMath>
                </a14:m>
                <a:r>
                  <a:rPr lang="en-GB" altLang="zh-CN" sz="2000" dirty="0"/>
                  <a:t> </a:t>
                </a:r>
                <a:r>
                  <a:rPr lang="zh-CN" altLang="en-US" sz="2000" dirty="0"/>
                  <a:t>至少为</a:t>
                </a:r>
                <a:r>
                  <a:rPr lang="en-GB" altLang="zh-CN" sz="2000" dirty="0"/>
                  <a:t> 256</a:t>
                </a:r>
                <a:r>
                  <a:rPr lang="zh-CN" altLang="en-US" sz="2000" dirty="0"/>
                  <a:t>。</a:t>
                </a:r>
                <a:endParaRPr lang="zh-CN" altLang="zh-CN" sz="2800" dirty="0">
                  <a:effectLst/>
                  <a:latin typeface="+mn-lt"/>
                  <a:ea typeface="+mn-ea"/>
                  <a:cs typeface="Times New Roman" panose="02020503050405090304" pitchFamily="18" charset="0"/>
                </a:endParaRPr>
              </a:p>
            </p:txBody>
          </p:sp>
        </mc:Choice>
        <mc:Fallback xmlns="">
          <p:sp>
            <p:nvSpPr>
              <p:cNvPr id="6" name="文本框 5">
                <a:extLst>
                  <a:ext uri="{FF2B5EF4-FFF2-40B4-BE49-F238E27FC236}">
                    <a16:creationId xmlns:a16="http://schemas.microsoft.com/office/drawing/2014/main" id="{117BC8B3-E77F-B85F-A535-EEDAB9499B8A}"/>
                  </a:ext>
                </a:extLst>
              </p:cNvPr>
              <p:cNvSpPr txBox="1">
                <a:spLocks noRot="1" noChangeAspect="1" noMove="1" noResize="1" noEditPoints="1" noAdjustHandles="1" noChangeArrowheads="1" noChangeShapeType="1" noTextEdit="1"/>
              </p:cNvSpPr>
              <p:nvPr/>
            </p:nvSpPr>
            <p:spPr>
              <a:xfrm>
                <a:off x="1621536" y="1912035"/>
                <a:ext cx="8309592" cy="2053704"/>
              </a:xfrm>
              <a:prstGeom prst="rect">
                <a:avLst/>
              </a:prstGeom>
              <a:blipFill>
                <a:blip r:embed="rId3"/>
                <a:stretch>
                  <a:fillRect l="-734" r="-734" b="-44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88950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4AF17-9262-1F7C-9E6C-95B3D9203800}"/>
            </a:ext>
          </a:extLst>
        </p:cNvPr>
        <p:cNvGrpSpPr/>
        <p:nvPr/>
      </p:nvGrpSpPr>
      <p:grpSpPr>
        <a:xfrm>
          <a:off x="0" y="0"/>
          <a:ext cx="0" cy="0"/>
          <a:chOff x="0" y="0"/>
          <a:chExt cx="0" cy="0"/>
        </a:xfrm>
      </p:grpSpPr>
      <p:sp>
        <p:nvSpPr>
          <p:cNvPr id="15" name="Rounded Rectangle 9">
            <a:extLst>
              <a:ext uri="{FF2B5EF4-FFF2-40B4-BE49-F238E27FC236}">
                <a16:creationId xmlns:a16="http://schemas.microsoft.com/office/drawing/2014/main" id="{8DB9D132-768F-D3D0-72C8-FDBFD540435F}"/>
              </a:ext>
            </a:extLst>
          </p:cNvPr>
          <p:cNvSpPr/>
          <p:nvPr/>
        </p:nvSpPr>
        <p:spPr>
          <a:xfrm>
            <a:off x="717867" y="3681997"/>
            <a:ext cx="10721581" cy="1410108"/>
          </a:xfrm>
          <a:prstGeom prst="roundRect">
            <a:avLst/>
          </a:prstGeom>
          <a:solidFill>
            <a:srgbClr val="FFF1F1"/>
          </a:solidFill>
          <a:ln w="889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cxnSp>
        <p:nvCxnSpPr>
          <p:cNvPr id="21" name="Connector 4">
            <a:extLst>
              <a:ext uri="{FF2B5EF4-FFF2-40B4-BE49-F238E27FC236}">
                <a16:creationId xmlns:a16="http://schemas.microsoft.com/office/drawing/2014/main" id="{2BD60971-EA25-51FD-5A41-E6EC7D76B92C}"/>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189B891E-4AC1-9A2C-50C6-3300F682D6ED}"/>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3</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623C16A7-0BE4-F6A1-E7F7-50B824280DE9}"/>
              </a:ext>
            </a:extLst>
          </p:cNvPr>
          <p:cNvSpPr txBox="1"/>
          <p:nvPr/>
        </p:nvSpPr>
        <p:spPr>
          <a:xfrm>
            <a:off x="1066800" y="191135"/>
            <a:ext cx="8730343" cy="1477328"/>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sym typeface="+mn-ea"/>
              </a:rPr>
              <a:t>经典算法</a:t>
            </a:r>
            <a:r>
              <a:rPr lang="en-GB" altLang="zh-CN" sz="3200" b="1" dirty="0">
                <a:solidFill>
                  <a:srgbClr val="C90012"/>
                </a:solidFill>
                <a:latin typeface="Times New Roman" panose="02020503050405090304" charset="-122"/>
                <a:ea typeface="微软雅黑" panose="020B0503020204020204" charset="-122"/>
              </a:rPr>
              <a:t>RSA</a:t>
            </a:r>
            <a:r>
              <a:rPr lang="zh-CN" altLang="en-GB" sz="3200" b="1" dirty="0">
                <a:solidFill>
                  <a:srgbClr val="C90012"/>
                </a:solidFill>
                <a:latin typeface="Times New Roman" panose="02020503050405090304" charset="-122"/>
                <a:ea typeface="微软雅黑" panose="020B0503020204020204" charset="-122"/>
              </a:rPr>
              <a:t>、</a:t>
            </a:r>
            <a:r>
              <a:rPr lang="en-GB" altLang="zh-CN" sz="3200" b="1" dirty="0">
                <a:solidFill>
                  <a:srgbClr val="C90012"/>
                </a:solidFill>
                <a:latin typeface="Times New Roman" panose="02020503050405090304" charset="-122"/>
                <a:ea typeface="微软雅黑" panose="020B0503020204020204" charset="-122"/>
              </a:rPr>
              <a:t>ElGamal</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SM2</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3" name="文本框 12">
            <a:extLst>
              <a:ext uri="{FF2B5EF4-FFF2-40B4-BE49-F238E27FC236}">
                <a16:creationId xmlns:a16="http://schemas.microsoft.com/office/drawing/2014/main" id="{6E5A01FB-DCDB-EFE8-9E73-E3DE8BDA9975}"/>
              </a:ext>
            </a:extLst>
          </p:cNvPr>
          <p:cNvSpPr txBox="1"/>
          <p:nvPr/>
        </p:nvSpPr>
        <p:spPr>
          <a:xfrm>
            <a:off x="502920" y="905085"/>
            <a:ext cx="5495544" cy="461665"/>
          </a:xfrm>
          <a:prstGeom prst="rect">
            <a:avLst/>
          </a:prstGeom>
          <a:noFill/>
        </p:spPr>
        <p:txBody>
          <a:bodyPr wrap="square">
            <a:spAutoFit/>
          </a:bodyPr>
          <a:lstStyle/>
          <a:p>
            <a:r>
              <a:rPr lang="en-GB" altLang="zh-CN" sz="2400" b="1" dirty="0">
                <a:solidFill>
                  <a:srgbClr val="C00000"/>
                </a:solidFill>
              </a:rPr>
              <a:t>ElGamal</a:t>
            </a:r>
            <a:r>
              <a:rPr lang="zh-CN" altLang="en-GB" sz="2400" b="1" dirty="0">
                <a:solidFill>
                  <a:srgbClr val="C00000"/>
                </a:solidFill>
              </a:rPr>
              <a:t>｜</a:t>
            </a:r>
            <a:r>
              <a:rPr lang="zh-CN" altLang="en-US" sz="2400" b="1" dirty="0">
                <a:solidFill>
                  <a:srgbClr val="C00000"/>
                </a:solidFill>
              </a:rPr>
              <a:t>密钥生成、加密与解密</a:t>
            </a:r>
          </a:p>
        </p:txBody>
      </p:sp>
      <p:sp>
        <p:nvSpPr>
          <p:cNvPr id="16" name="Rounded Rectangle 9">
            <a:extLst>
              <a:ext uri="{FF2B5EF4-FFF2-40B4-BE49-F238E27FC236}">
                <a16:creationId xmlns:a16="http://schemas.microsoft.com/office/drawing/2014/main" id="{7634E577-8DC1-A5AF-B110-527D4770F6DF}"/>
              </a:ext>
            </a:extLst>
          </p:cNvPr>
          <p:cNvSpPr/>
          <p:nvPr/>
        </p:nvSpPr>
        <p:spPr>
          <a:xfrm>
            <a:off x="717867" y="2194738"/>
            <a:ext cx="10721581" cy="1410108"/>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0">
            <a:extLst>
              <a:ext uri="{FF2B5EF4-FFF2-40B4-BE49-F238E27FC236}">
                <a16:creationId xmlns:a16="http://schemas.microsoft.com/office/drawing/2014/main" id="{C922D47C-588C-BE9D-3E2B-08264C8C4FC5}"/>
              </a:ext>
            </a:extLst>
          </p:cNvPr>
          <p:cNvSpPr txBox="1"/>
          <p:nvPr/>
        </p:nvSpPr>
        <p:spPr>
          <a:xfrm>
            <a:off x="877824" y="2272637"/>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sz="2400" dirty="0">
                <a:latin typeface="+mn-lt"/>
              </a:rPr>
              <a:t>Gen(</a:t>
            </a:r>
            <a:r>
              <a:rPr sz="2400" dirty="0" err="1">
                <a:latin typeface="+mn-lt"/>
              </a:rPr>
              <a:t>λ</a:t>
            </a:r>
            <a:r>
              <a:rPr sz="2400" dirty="0">
                <a:latin typeface="+mn-lt"/>
              </a:rPr>
              <a:t>)</a:t>
            </a:r>
            <a:r>
              <a:rPr lang="zh-CN" altLang="en-GB" sz="2400" dirty="0">
                <a:latin typeface="+mn-lt"/>
              </a:rPr>
              <a:t>算法</a:t>
            </a:r>
            <a:endParaRPr sz="2400" dirty="0"/>
          </a:p>
        </p:txBody>
      </p:sp>
      <mc:AlternateContent xmlns:mc="http://schemas.openxmlformats.org/markup-compatibility/2006" xmlns:a14="http://schemas.microsoft.com/office/drawing/2010/main">
        <mc:Choice Requires="a14">
          <p:sp>
            <p:nvSpPr>
              <p:cNvPr id="18" name="TextBox 11">
                <a:extLst>
                  <a:ext uri="{FF2B5EF4-FFF2-40B4-BE49-F238E27FC236}">
                    <a16:creationId xmlns:a16="http://schemas.microsoft.com/office/drawing/2014/main" id="{0D05AB2A-C3DF-9091-FBBD-D1BC92205F25}"/>
                  </a:ext>
                </a:extLst>
              </p:cNvPr>
              <p:cNvSpPr txBox="1"/>
              <p:nvPr/>
            </p:nvSpPr>
            <p:spPr>
              <a:xfrm>
                <a:off x="877824" y="2675449"/>
                <a:ext cx="10200855" cy="870431"/>
              </a:xfrm>
              <a:prstGeom prst="rect">
                <a:avLst/>
              </a:prstGeom>
              <a:noFill/>
            </p:spPr>
            <p:txBody>
              <a:bodyPr wrap="square" lIns="64008" tIns="32004" rIns="36576">
                <a:spAutoFit/>
              </a:bodyPr>
              <a:lstStyle/>
              <a:p>
                <a:pPr lvl="0" algn="just" hangingPunct="0">
                  <a:lnSpc>
                    <a:spcPct val="130000"/>
                  </a:lnSpc>
                </a:pPr>
                <a:r>
                  <a:rPr lang="zh-CN" altLang="zh-CN" sz="2000" kern="0" dirty="0">
                    <a:solidFill>
                      <a:srgbClr val="000000"/>
                    </a:solidFill>
                    <a:effectLst/>
                    <a:latin typeface="+mj-ea"/>
                    <a:ea typeface="+mj-ea"/>
                    <a:cs typeface="宋体" pitchFamily="2" charset="-122"/>
                  </a:rPr>
                  <a:t>当输入安全参数</a:t>
                </a:r>
                <a:r>
                  <a:rPr lang="en-US" altLang="zh-CN" sz="2000" kern="0" dirty="0">
                    <a:solidFill>
                      <a:srgbClr val="000000"/>
                    </a:solidFill>
                    <a:latin typeface="+mj-ea"/>
                    <a:ea typeface="+mj-ea"/>
                    <a:cs typeface="宋体" pitchFamily="2" charset="-122"/>
                  </a:rPr>
                  <a:t> </a:t>
                </a:r>
                <a14:m>
                  <m:oMath xmlns:m="http://schemas.openxmlformats.org/officeDocument/2006/math">
                    <m:r>
                      <a:rPr lang="en-US" altLang="zh-CN" sz="2000" i="1" kern="0">
                        <a:solidFill>
                          <a:srgbClr val="000000"/>
                        </a:solidFill>
                        <a:effectLst/>
                        <a:latin typeface="Cambria Math" panose="02040503050406030204" pitchFamily="18" charset="0"/>
                        <a:ea typeface="+mj-ea"/>
                        <a:cs typeface="宋体" pitchFamily="2" charset="-122"/>
                      </a:rPr>
                      <m:t>𝜆</m:t>
                    </m:r>
                    <m:r>
                      <a:rPr lang="zh-CN" altLang="en-US" sz="2000" b="0" i="1" kern="0" smtClean="0">
                        <a:solidFill>
                          <a:srgbClr val="000000"/>
                        </a:solidFill>
                        <a:effectLst/>
                        <a:latin typeface="Cambria Math" panose="02040503050406030204" pitchFamily="18" charset="0"/>
                        <a:ea typeface="+mj-ea"/>
                        <a:cs typeface="宋体" pitchFamily="2" charset="-122"/>
                      </a:rPr>
                      <m:t> </m:t>
                    </m:r>
                  </m:oMath>
                </a14:m>
                <a:r>
                  <a:rPr lang="zh-CN" altLang="zh-CN" sz="2000" kern="0" dirty="0">
                    <a:solidFill>
                      <a:srgbClr val="000000"/>
                    </a:solidFill>
                    <a:effectLst/>
                    <a:latin typeface="+mj-ea"/>
                    <a:ea typeface="+mj-ea"/>
                    <a:cs typeface="宋体" pitchFamily="2" charset="-122"/>
                  </a:rPr>
                  <a:t>时，该算法随机选择</a:t>
                </a:r>
                <a14:m>
                  <m:oMath xmlns:m="http://schemas.openxmlformats.org/officeDocument/2006/math">
                    <m:r>
                      <a:rPr lang="zh-CN" altLang="en-US" sz="2000" b="0" i="0" kern="0" smtClean="0">
                        <a:solidFill>
                          <a:srgbClr val="000000"/>
                        </a:solidFill>
                        <a:effectLst/>
                        <a:latin typeface="Cambria Math" panose="02040503050406030204" pitchFamily="18" charset="0"/>
                        <a:ea typeface="+mj-ea"/>
                        <a:cs typeface="宋体" pitchFamily="2" charset="-122"/>
                      </a:rPr>
                      <m:t> </m:t>
                    </m:r>
                    <m:r>
                      <m:rPr>
                        <m:sty m:val="p"/>
                      </m:rPr>
                      <a:rPr lang="en-US" altLang="zh-CN" sz="2000" i="0" kern="0">
                        <a:solidFill>
                          <a:srgbClr val="000000"/>
                        </a:solidFill>
                        <a:effectLst/>
                        <a:latin typeface="Cambria Math" panose="02040503050406030204" pitchFamily="18" charset="0"/>
                        <a:ea typeface="+mj-ea"/>
                        <a:cs typeface="宋体" pitchFamily="2" charset="-122"/>
                      </a:rPr>
                      <m:t>sk</m:t>
                    </m:r>
                    <m:r>
                      <a:rPr lang="en-US" altLang="zh-CN" sz="2000" i="1" kern="0">
                        <a:solidFill>
                          <a:srgbClr val="000000"/>
                        </a:solidFill>
                        <a:effectLst/>
                        <a:latin typeface="Cambria Math" panose="02040503050406030204" pitchFamily="18" charset="0"/>
                        <a:ea typeface="+mj-ea"/>
                        <a:cs typeface="宋体" pitchFamily="2" charset="-122"/>
                      </a:rPr>
                      <m:t>∈</m:t>
                    </m:r>
                    <m:sSub>
                      <m:sSubPr>
                        <m:ctrlPr>
                          <a:rPr lang="zh-CN" altLang="zh-CN" sz="2000" i="1">
                            <a:solidFill>
                              <a:srgbClr val="000000"/>
                            </a:solidFill>
                            <a:effectLst/>
                            <a:latin typeface="Cambria Math" panose="02040503050406030204" pitchFamily="18" charset="0"/>
                            <a:ea typeface="+mj-ea"/>
                          </a:rPr>
                        </m:ctrlPr>
                      </m:sSubPr>
                      <m:e>
                        <m:r>
                          <a:rPr lang="en-US" altLang="zh-CN" sz="2000" i="1" kern="0">
                            <a:solidFill>
                              <a:srgbClr val="000000"/>
                            </a:solidFill>
                            <a:effectLst/>
                            <a:latin typeface="Cambria Math" panose="02040503050406030204" pitchFamily="18" charset="0"/>
                            <a:ea typeface="+mj-ea"/>
                            <a:cs typeface="宋体" pitchFamily="2" charset="-122"/>
                          </a:rPr>
                          <m:t>ℤ</m:t>
                        </m:r>
                      </m:e>
                      <m:sub>
                        <m:r>
                          <a:rPr lang="en-US" altLang="zh-CN" sz="2000" i="1" kern="0">
                            <a:solidFill>
                              <a:srgbClr val="000000"/>
                            </a:solidFill>
                            <a:effectLst/>
                            <a:latin typeface="Cambria Math" panose="02040503050406030204" pitchFamily="18" charset="0"/>
                            <a:ea typeface="+mj-ea"/>
                            <a:cs typeface="宋体" pitchFamily="2" charset="-122"/>
                          </a:rPr>
                          <m:t>𝑝</m:t>
                        </m:r>
                        <m:r>
                          <a:rPr lang="en-US" altLang="zh-CN" sz="2000" i="1"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1</m:t>
                        </m:r>
                      </m:sub>
                    </m:sSub>
                  </m:oMath>
                </a14:m>
                <a:r>
                  <a:rPr lang="zh-CN" altLang="en-US" sz="2000" kern="0" dirty="0">
                    <a:solidFill>
                      <a:srgbClr val="000000"/>
                    </a:solidFill>
                    <a:effectLst/>
                    <a:latin typeface="+mj-ea"/>
                    <a:ea typeface="+mj-ea"/>
                    <a:cs typeface="宋体" pitchFamily="2" charset="-122"/>
                  </a:rPr>
                  <a:t>，</a:t>
                </a:r>
                <a:r>
                  <a:rPr lang="zh-CN" altLang="zh-CN" sz="2000" kern="0" dirty="0">
                    <a:solidFill>
                      <a:srgbClr val="000000"/>
                    </a:solidFill>
                    <a:effectLst/>
                    <a:latin typeface="+mj-ea"/>
                    <a:ea typeface="+mj-ea"/>
                    <a:cs typeface="宋体" pitchFamily="2" charset="-122"/>
                  </a:rPr>
                  <a:t>计算</a:t>
                </a:r>
                <a14:m>
                  <m:oMath xmlns:m="http://schemas.openxmlformats.org/officeDocument/2006/math">
                    <m:sSup>
                      <m:sSupPr>
                        <m:ctrlPr>
                          <a:rPr lang="zh-CN" altLang="zh-CN" sz="2000" i="1">
                            <a:solidFill>
                              <a:srgbClr val="000000"/>
                            </a:solidFill>
                            <a:effectLst/>
                            <a:latin typeface="Cambria Math" panose="02040503050406030204" pitchFamily="18" charset="0"/>
                            <a:ea typeface="+mj-ea"/>
                          </a:rPr>
                        </m:ctrlPr>
                      </m:sSupPr>
                      <m:e>
                        <m:r>
                          <a:rPr lang="zh-CN" altLang="en-US" sz="2000" b="0" i="1" smtClean="0">
                            <a:solidFill>
                              <a:srgbClr val="000000"/>
                            </a:solidFill>
                            <a:effectLst/>
                            <a:latin typeface="Cambria Math" panose="02040503050406030204" pitchFamily="18" charset="0"/>
                            <a:ea typeface="+mj-ea"/>
                          </a:rPr>
                          <m:t> </m:t>
                        </m:r>
                        <m:r>
                          <a:rPr lang="en-US" altLang="zh-CN" sz="2000" i="1" kern="0">
                            <a:solidFill>
                              <a:srgbClr val="000000"/>
                            </a:solidFill>
                            <a:effectLst/>
                            <a:latin typeface="Cambria Math" panose="02040503050406030204" pitchFamily="18" charset="0"/>
                            <a:ea typeface="+mj-ea"/>
                            <a:cs typeface="宋体" pitchFamily="2" charset="-122"/>
                          </a:rPr>
                          <m:t>𝑌</m:t>
                        </m:r>
                        <m:r>
                          <a:rPr lang="en-US" altLang="zh-CN" sz="2000" kern="0">
                            <a:solidFill>
                              <a:srgbClr val="000000"/>
                            </a:solidFill>
                            <a:effectLst/>
                            <a:latin typeface="Cambria Math" panose="02040503050406030204" pitchFamily="18" charset="0"/>
                            <a:ea typeface="+mj-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m:rPr>
                            <m:sty m:val="p"/>
                          </m:rPr>
                          <a:rPr lang="en-US" altLang="zh-CN" sz="2000" i="0" kern="0">
                            <a:solidFill>
                              <a:srgbClr val="000000"/>
                            </a:solidFill>
                            <a:effectLst/>
                            <a:latin typeface="Cambria Math" panose="02040503050406030204" pitchFamily="18" charset="0"/>
                            <a:ea typeface="+mj-ea"/>
                            <a:cs typeface="宋体" pitchFamily="2" charset="-122"/>
                          </a:rPr>
                          <m:t>s</m:t>
                        </m:r>
                        <m:r>
                          <m:rPr>
                            <m:sty m:val="p"/>
                          </m:rPr>
                          <a:rPr lang="en-US" altLang="zh-CN" sz="2000" i="1" kern="0">
                            <a:solidFill>
                              <a:srgbClr val="000000"/>
                            </a:solidFill>
                            <a:latin typeface="Cambria Math" panose="02040503050406030204" pitchFamily="18" charset="0"/>
                            <a:ea typeface="+mj-ea"/>
                            <a:cs typeface="宋体" pitchFamily="2" charset="-122"/>
                          </a:rPr>
                          <m:t>k</m:t>
                        </m:r>
                      </m:sup>
                    </m:sSup>
                  </m:oMath>
                </a14:m>
                <a:r>
                  <a:rPr lang="en-US" altLang="zh-CN" sz="2000" kern="0" dirty="0">
                    <a:solidFill>
                      <a:srgbClr val="000000"/>
                    </a:solidFill>
                    <a:effectLst/>
                    <a:latin typeface="+mj-ea"/>
                    <a:ea typeface="+mj-ea"/>
                    <a:cs typeface="宋体" pitchFamily="2" charset="-122"/>
                  </a:rPr>
                  <a:t> </a:t>
                </a:r>
                <a14:m>
                  <m:oMath xmlns:m="http://schemas.openxmlformats.org/officeDocument/2006/math">
                    <m:r>
                      <m:rPr>
                        <m:sty m:val="p"/>
                      </m:rPr>
                      <a:rPr lang="en-US" altLang="zh-CN" sz="2000" kern="0">
                        <a:solidFill>
                          <a:srgbClr val="000000"/>
                        </a:solidFill>
                        <a:effectLst/>
                        <a:latin typeface="Cambria Math" panose="02040503050406030204" pitchFamily="18" charset="0"/>
                        <a:ea typeface="+mj-ea"/>
                        <a:cs typeface="宋体" pitchFamily="2" charset="-122"/>
                      </a:rPr>
                      <m:t>mod</m:t>
                    </m:r>
                    <m:r>
                      <a:rPr lang="en-US" altLang="zh-CN" sz="2000" i="1" kern="0">
                        <a:solidFill>
                          <a:srgbClr val="000000"/>
                        </a:solidFill>
                        <a:effectLst/>
                        <a:latin typeface="Cambria Math" panose="02040503050406030204" pitchFamily="18" charset="0"/>
                        <a:ea typeface="+mj-ea"/>
                        <a:cs typeface="宋体" pitchFamily="2" charset="-122"/>
                      </a:rPr>
                      <m:t> </m:t>
                    </m:r>
                    <m:r>
                      <a:rPr lang="en-US" altLang="zh-CN" sz="2000" i="1" kern="0">
                        <a:solidFill>
                          <a:srgbClr val="000000"/>
                        </a:solidFill>
                        <a:effectLst/>
                        <a:latin typeface="Cambria Math" panose="02040503050406030204" pitchFamily="18" charset="0"/>
                        <a:ea typeface="+mj-ea"/>
                        <a:cs typeface="宋体" pitchFamily="2" charset="-122"/>
                      </a:rPr>
                      <m:t>𝑝</m:t>
                    </m:r>
                  </m:oMath>
                </a14:m>
                <a:r>
                  <a:rPr lang="zh-CN" altLang="zh-CN" sz="2000" kern="0" dirty="0">
                    <a:solidFill>
                      <a:srgbClr val="000000"/>
                    </a:solidFill>
                    <a:effectLst/>
                    <a:latin typeface="+mj-ea"/>
                    <a:ea typeface="+mj-ea"/>
                    <a:cs typeface="宋体" pitchFamily="2" charset="-122"/>
                  </a:rPr>
                  <a:t>，输出公私钥对</a:t>
                </a:r>
                <a14:m>
                  <m:oMath xmlns:m="http://schemas.openxmlformats.org/officeDocument/2006/math">
                    <m:r>
                      <a:rPr lang="en-US" altLang="zh-CN" sz="2000" i="1" kern="0">
                        <a:solidFill>
                          <a:srgbClr val="000000"/>
                        </a:solidFill>
                        <a:effectLst/>
                        <a:latin typeface="Cambria Math" panose="02040503050406030204" pitchFamily="18" charset="0"/>
                        <a:ea typeface="+mj-ea"/>
                        <a:cs typeface="宋体" pitchFamily="2" charset="-122"/>
                      </a:rPr>
                      <m:t>(</m:t>
                    </m:r>
                    <m:r>
                      <m:rPr>
                        <m:sty m:val="p"/>
                      </m:rPr>
                      <a:rPr lang="en-US" altLang="zh-CN" sz="2000" b="0" i="0" kern="0" smtClean="0">
                        <a:solidFill>
                          <a:srgbClr val="000000"/>
                        </a:solidFill>
                        <a:effectLst/>
                        <a:latin typeface="Cambria Math" panose="02040503050406030204" pitchFamily="18" charset="0"/>
                        <a:ea typeface="+mj-ea"/>
                        <a:cs typeface="宋体" pitchFamily="2" charset="-122"/>
                      </a:rPr>
                      <m:t>pk</m:t>
                    </m:r>
                    <m:r>
                      <a:rPr lang="en-US" altLang="zh-CN" sz="2000" i="1" kern="0">
                        <a:solidFill>
                          <a:srgbClr val="000000"/>
                        </a:solidFill>
                        <a:effectLst/>
                        <a:latin typeface="Cambria Math" panose="02040503050406030204" pitchFamily="18" charset="0"/>
                        <a:ea typeface="+mj-ea"/>
                        <a:cs typeface="宋体" pitchFamily="2" charset="-122"/>
                      </a:rPr>
                      <m:t>,</m:t>
                    </m:r>
                    <m:r>
                      <a:rPr lang="en-US" altLang="zh-CN" sz="2000" b="0" i="1" kern="0" smtClean="0">
                        <a:solidFill>
                          <a:srgbClr val="000000"/>
                        </a:solidFill>
                        <a:effectLst/>
                        <a:latin typeface="Cambria Math" panose="02040503050406030204" pitchFamily="18" charset="0"/>
                        <a:ea typeface="+mj-ea"/>
                        <a:cs typeface="宋体" pitchFamily="2" charset="-122"/>
                      </a:rPr>
                      <m:t> </m:t>
                    </m:r>
                    <m:r>
                      <m:rPr>
                        <m:sty m:val="p"/>
                      </m:rPr>
                      <a:rPr lang="en-US" altLang="zh-CN" sz="2000" i="0" kern="0">
                        <a:solidFill>
                          <a:srgbClr val="000000"/>
                        </a:solidFill>
                        <a:effectLst/>
                        <a:latin typeface="Cambria Math" panose="02040503050406030204" pitchFamily="18" charset="0"/>
                        <a:ea typeface="+mj-ea"/>
                        <a:cs typeface="宋体" pitchFamily="2" charset="-122"/>
                      </a:rPr>
                      <m:t>sk</m:t>
                    </m:r>
                    <m:r>
                      <a:rPr lang="en-US" altLang="zh-CN" sz="2000" i="1" kern="0">
                        <a:solidFill>
                          <a:srgbClr val="000000"/>
                        </a:solidFill>
                        <a:effectLst/>
                        <a:latin typeface="Cambria Math" panose="02040503050406030204" pitchFamily="18" charset="0"/>
                        <a:ea typeface="+mj-ea"/>
                        <a:cs typeface="宋体" pitchFamily="2" charset="-122"/>
                      </a:rPr>
                      <m:t>)</m:t>
                    </m:r>
                  </m:oMath>
                </a14:m>
                <a:r>
                  <a:rPr lang="zh-CN" altLang="zh-CN" sz="2000" kern="0" dirty="0">
                    <a:solidFill>
                      <a:srgbClr val="000000"/>
                    </a:solidFill>
                    <a:effectLst/>
                    <a:latin typeface="+mj-ea"/>
                    <a:ea typeface="+mj-ea"/>
                    <a:cs typeface="宋体" pitchFamily="2" charset="-122"/>
                  </a:rPr>
                  <a:t>，其中</a:t>
                </a:r>
                <a14:m>
                  <m:oMath xmlns:m="http://schemas.openxmlformats.org/officeDocument/2006/math">
                    <m:r>
                      <m:rPr>
                        <m:sty m:val="p"/>
                      </m:rPr>
                      <a:rPr lang="en-US" altLang="zh-CN" sz="2000" kern="0">
                        <a:solidFill>
                          <a:srgbClr val="000000"/>
                        </a:solidFill>
                        <a:latin typeface="Cambria Math" panose="02040503050406030204" pitchFamily="18" charset="0"/>
                        <a:cs typeface="宋体" pitchFamily="2" charset="-122"/>
                      </a:rPr>
                      <m:t>pk</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𝑝</m:t>
                    </m:r>
                    <m:r>
                      <a:rPr lang="en-US" altLang="zh-CN" sz="2000" kern="0">
                        <a:solidFill>
                          <a:srgbClr val="000000"/>
                        </a:solidFill>
                        <a:effectLst/>
                        <a:latin typeface="Cambria Math" panose="02040503050406030204" pitchFamily="18" charset="0"/>
                        <a:ea typeface="+mj-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𝑌</m:t>
                    </m:r>
                    <m:r>
                      <a:rPr lang="en-US" altLang="zh-CN" sz="2000" kern="0">
                        <a:solidFill>
                          <a:srgbClr val="000000"/>
                        </a:solidFill>
                        <a:effectLst/>
                        <a:latin typeface="Cambria Math" panose="02040503050406030204" pitchFamily="18" charset="0"/>
                        <a:ea typeface="+mj-ea"/>
                        <a:cs typeface="宋体" pitchFamily="2" charset="-122"/>
                      </a:rPr>
                      <m:t>)</m:t>
                    </m:r>
                  </m:oMath>
                </a14:m>
                <a:r>
                  <a:rPr lang="zh-CN" altLang="zh-CN" sz="2000" kern="0" dirty="0">
                    <a:solidFill>
                      <a:srgbClr val="000000"/>
                    </a:solidFill>
                    <a:effectLst/>
                    <a:latin typeface="+mj-ea"/>
                    <a:ea typeface="+mj-ea"/>
                    <a:cs typeface="宋体" pitchFamily="2" charset="-122"/>
                  </a:rPr>
                  <a:t>。</a:t>
                </a:r>
                <a:endParaRPr lang="zh-CN" altLang="zh-CN" sz="2000" dirty="0">
                  <a:effectLst/>
                  <a:latin typeface="+mj-ea"/>
                  <a:ea typeface="+mj-ea"/>
                  <a:cs typeface="宋体" pitchFamily="2" charset="-122"/>
                </a:endParaRPr>
              </a:p>
            </p:txBody>
          </p:sp>
        </mc:Choice>
        <mc:Fallback xmlns="">
          <p:sp>
            <p:nvSpPr>
              <p:cNvPr id="18" name="TextBox 11">
                <a:extLst>
                  <a:ext uri="{FF2B5EF4-FFF2-40B4-BE49-F238E27FC236}">
                    <a16:creationId xmlns:a16="http://schemas.microsoft.com/office/drawing/2014/main" id="{0D05AB2A-C3DF-9091-FBBD-D1BC92205F25}"/>
                  </a:ext>
                </a:extLst>
              </p:cNvPr>
              <p:cNvSpPr txBox="1">
                <a:spLocks noRot="1" noChangeAspect="1" noMove="1" noResize="1" noEditPoints="1" noAdjustHandles="1" noChangeArrowheads="1" noChangeShapeType="1" noTextEdit="1"/>
              </p:cNvSpPr>
              <p:nvPr/>
            </p:nvSpPr>
            <p:spPr>
              <a:xfrm>
                <a:off x="877824" y="2675449"/>
                <a:ext cx="10200855" cy="870431"/>
              </a:xfrm>
              <a:prstGeom prst="rect">
                <a:avLst/>
              </a:prstGeom>
              <a:blipFill>
                <a:blip r:embed="rId2"/>
                <a:stretch>
                  <a:fillRect l="-995" r="-1119" b="-1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175A17C-CAD2-001A-5790-37AC291DB071}"/>
                  </a:ext>
                </a:extLst>
              </p:cNvPr>
              <p:cNvSpPr txBox="1"/>
              <p:nvPr/>
            </p:nvSpPr>
            <p:spPr>
              <a:xfrm>
                <a:off x="416586" y="1252970"/>
                <a:ext cx="11314870" cy="943592"/>
              </a:xfrm>
              <a:prstGeom prst="rect">
                <a:avLst/>
              </a:prstGeom>
              <a:noFill/>
            </p:spPr>
            <p:txBody>
              <a:bodyPr wrap="square">
                <a:spAutoFit/>
              </a:bodyPr>
              <a:lstStyle/>
              <a:p>
                <a:pPr indent="266700" algn="just">
                  <a:lnSpc>
                    <a:spcPct val="130000"/>
                  </a:lnSpc>
                </a:pPr>
                <a:r>
                  <a:rPr lang="zh-CN" altLang="zh-CN" sz="2000" dirty="0">
                    <a:solidFill>
                      <a:srgbClr val="000000"/>
                    </a:solidFill>
                    <a:effectLst/>
                    <a:latin typeface="+mn-lt"/>
                    <a:ea typeface="+mn-ea"/>
                    <a:cs typeface="宋体" pitchFamily="2" charset="-122"/>
                  </a:rPr>
                  <a:t>设</a:t>
                </a:r>
                <a:r>
                  <a:rPr lang="zh-CN" altLang="en-US"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𝑝</m:t>
                    </m:r>
                    <m:r>
                      <a:rPr lang="zh-CN" altLang="en-US" sz="2000" b="0" i="1" smtClean="0">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为一素数，</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zh-CN" altLang="en-US" sz="2000" dirty="0">
                    <a:solidFill>
                      <a:srgbClr val="000000"/>
                    </a:solidFill>
                    <a:effectLst/>
                    <a:latin typeface="+mn-lt"/>
                    <a:ea typeface="+mn-ea"/>
                    <a:cs typeface="宋体" pitchFamily="2" charset="-122"/>
                  </a:rPr>
                  <a:t> 为</a:t>
                </a:r>
                <a:r>
                  <a:rPr lang="en-US" altLang="zh-CN" sz="2000" dirty="0">
                    <a:solidFill>
                      <a:srgbClr val="000000"/>
                    </a:solidFill>
                    <a:latin typeface="+mn-lt"/>
                    <a:ea typeface="+mn-ea"/>
                    <a:cs typeface="宋体" pitchFamily="2" charset="-122"/>
                  </a:rPr>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ea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r>
                      <a:rPr lang="zh-CN" altLang="en-US" sz="2000" b="0" i="0" smtClean="0">
                        <a:latin typeface="Cambria Math" panose="02040503050406030204" pitchFamily="18" charset="0"/>
                      </a:rPr>
                      <m:t> </m:t>
                    </m:r>
                  </m:oMath>
                </a14:m>
                <a:r>
                  <a:rPr lang="zh-CN" altLang="zh-CN" sz="2000" dirty="0">
                    <a:solidFill>
                      <a:srgbClr val="000000"/>
                    </a:solidFill>
                    <a:effectLst/>
                    <a:latin typeface="+mn-lt"/>
                    <a:ea typeface="+mn-ea"/>
                    <a:cs typeface="宋体" pitchFamily="2" charset="-122"/>
                  </a:rPr>
                  <a:t>的生成元。令</a:t>
                </a:r>
                <a:r>
                  <a:rPr lang="zh-CN" altLang="en-US" sz="2000" dirty="0">
                    <a:solidFill>
                      <a:srgbClr val="000000"/>
                    </a:solidFill>
                    <a:effectLst/>
                    <a:latin typeface="+mn-lt"/>
                    <a:ea typeface="+mn-ea"/>
                    <a:cs typeface="宋体" pitchFamily="2" charset="-122"/>
                  </a:rPr>
                  <a:t>明文空间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ℳ</m:t>
                    </m:r>
                    <m:r>
                      <a:rPr lang="en-US" altLang="zh-CN" sz="2000" i="1">
                        <a:solidFill>
                          <a:srgbClr val="000000"/>
                        </a:solidFill>
                        <a:effectLst/>
                        <a:latin typeface="Cambria Math" panose="02040503050406030204" pitchFamily="18" charset="0"/>
                        <a:ea typeface="+mn-ea"/>
                        <a:cs typeface="宋体" pitchFamily="2" charset="-122"/>
                      </a:rPr>
                      <m:t>=</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oMath>
                </a14:m>
                <a:r>
                  <a:rPr lang="zh-CN" altLang="zh-CN" sz="2000" dirty="0">
                    <a:solidFill>
                      <a:srgbClr val="000000"/>
                    </a:solidFill>
                    <a:effectLst/>
                    <a:latin typeface="+mn-lt"/>
                    <a:ea typeface="+mn-ea"/>
                    <a:cs typeface="宋体" pitchFamily="2" charset="-122"/>
                  </a:rPr>
                  <a:t>，</a:t>
                </a:r>
                <a:r>
                  <a:rPr lang="zh-CN" altLang="en-US" sz="2000" dirty="0">
                    <a:solidFill>
                      <a:srgbClr val="000000"/>
                    </a:solidFill>
                    <a:latin typeface="+mn-lt"/>
                    <a:ea typeface="+mn-ea"/>
                    <a:cs typeface="宋体" pitchFamily="2" charset="-122"/>
                  </a:rPr>
                  <a:t>密文空间</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𝒞</m:t>
                    </m:r>
                    <m:r>
                      <a:rPr lang="en-US" altLang="zh-CN" sz="2000" i="1">
                        <a:solidFill>
                          <a:srgbClr val="000000"/>
                        </a:solidFill>
                        <a:effectLst/>
                        <a:latin typeface="Cambria Math" panose="02040503050406030204" pitchFamily="18" charset="0"/>
                        <a:ea typeface="+mn-ea"/>
                        <a:cs typeface="宋体" pitchFamily="2" charset="-122"/>
                      </a:rPr>
                      <m:t>=</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r>
                      <a:rPr lang="en-US" altLang="zh-CN" sz="2000" i="1">
                        <a:solidFill>
                          <a:srgbClr val="000000"/>
                        </a:solidFill>
                        <a:effectLst/>
                        <a:latin typeface="Cambria Math" panose="02040503050406030204" pitchFamily="18" charset="0"/>
                        <a:ea typeface="+mn-ea"/>
                        <a:cs typeface="宋体" pitchFamily="2" charset="-122"/>
                      </a:rPr>
                      <m:t>×</m:t>
                    </m:r>
                    <m:sSubSup>
                      <m:sSubSupPr>
                        <m:ctrlPr>
                          <a:rPr lang="zh-CN" altLang="zh-CN" sz="2000" i="1">
                            <a:solidFill>
                              <a:srgbClr val="000000"/>
                            </a:solidFill>
                            <a:effectLst/>
                            <a:latin typeface="Cambria Math" panose="02040503050406030204" pitchFamily="18" charset="0"/>
                            <a:ea typeface="+mn-ea"/>
                            <a:cs typeface="宋体" pitchFamily="2" charset="-122"/>
                          </a:rPr>
                        </m:ctrlPr>
                      </m:sSubSupPr>
                      <m:e>
                        <m:r>
                          <a:rPr lang="en-US" altLang="zh-CN" sz="2000" i="1">
                            <a:solidFill>
                              <a:srgbClr val="000000"/>
                            </a:solidFill>
                            <a:effectLst/>
                            <a:latin typeface="Cambria Math" panose="02040503050406030204" pitchFamily="18" charset="0"/>
                            <a:ea typeface="+mn-ea"/>
                            <a:cs typeface="宋体" pitchFamily="2" charset="-122"/>
                          </a:rPr>
                          <m:t>ℤ</m:t>
                        </m:r>
                      </m:e>
                      <m:sub>
                        <m:r>
                          <a:rPr lang="en-US" altLang="zh-CN" sz="2000" i="1">
                            <a:solidFill>
                              <a:srgbClr val="000000"/>
                            </a:solidFill>
                            <a:effectLst/>
                            <a:latin typeface="Cambria Math" panose="02040503050406030204" pitchFamily="18" charset="0"/>
                            <a:ea typeface="+mn-ea"/>
                            <a:cs typeface="宋体" pitchFamily="2" charset="-122"/>
                          </a:rPr>
                          <m:t>𝑝</m:t>
                        </m:r>
                      </m:sub>
                      <m:sup>
                        <m:r>
                          <a:rPr lang="en-US" altLang="zh-CN" sz="2000" i="1">
                            <a:solidFill>
                              <a:srgbClr val="000000"/>
                            </a:solidFill>
                            <a:effectLst/>
                            <a:latin typeface="Cambria Math" panose="02040503050406030204" pitchFamily="18" charset="0"/>
                            <a:ea typeface="+mn-ea"/>
                            <a:cs typeface="宋体" pitchFamily="2" charset="-122"/>
                          </a:rPr>
                          <m:t>∗</m:t>
                        </m:r>
                      </m:sup>
                    </m:sSubSup>
                  </m:oMath>
                </a14:m>
                <a:r>
                  <a:rPr lang="zh-CN" altLang="zh-CN" sz="2000" dirty="0">
                    <a:solidFill>
                      <a:srgbClr val="000000"/>
                    </a:solidFill>
                    <a:effectLst/>
                    <a:latin typeface="+mn-lt"/>
                    <a:ea typeface="+mn-ea"/>
                    <a:cs typeface="宋体" pitchFamily="2" charset="-122"/>
                  </a:rPr>
                  <a:t>，</a:t>
                </a:r>
                <a:r>
                  <a:rPr lang="zh-CN" altLang="en-US" sz="2000" dirty="0">
                    <a:solidFill>
                      <a:srgbClr val="000000"/>
                    </a:solidFill>
                    <a:effectLst/>
                    <a:latin typeface="+mn-lt"/>
                    <a:ea typeface="+mn-ea"/>
                    <a:cs typeface="宋体" pitchFamily="2" charset="-122"/>
                  </a:rPr>
                  <a:t>密钥空间</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𝒦</m:t>
                    </m:r>
                    <m:r>
                      <a:rPr lang="en-US" altLang="zh-CN" sz="2000">
                        <a:solidFill>
                          <a:srgbClr val="000000"/>
                        </a:solidFill>
                        <a:effectLst/>
                        <a:latin typeface="Cambria Math" panose="02040503050406030204" pitchFamily="18" charset="0"/>
                        <a:ea typeface="+mn-ea"/>
                        <a:cs typeface="宋体" pitchFamily="2" charset="-122"/>
                      </a:rPr>
                      <m:t>=</m:t>
                    </m:r>
                    <m:d>
                      <m:dPr>
                        <m:begChr m:val="{"/>
                        <m:endChr m:val="}"/>
                        <m:ctrlPr>
                          <a:rPr lang="zh-CN" altLang="zh-CN" sz="2000" i="1">
                            <a:solidFill>
                              <a:srgbClr val="000000"/>
                            </a:solidFill>
                            <a:effectLst/>
                            <a:latin typeface="Cambria Math" panose="02040503050406030204" pitchFamily="18" charset="0"/>
                            <a:ea typeface="+mn-ea"/>
                            <a:cs typeface="宋体" pitchFamily="2" charset="-122"/>
                          </a:rPr>
                        </m:ctrlPr>
                      </m:dPr>
                      <m:e>
                        <m:d>
                          <m:dPr>
                            <m:ctrlPr>
                              <a:rPr lang="zh-CN" altLang="zh-CN" sz="2000" i="1">
                                <a:solidFill>
                                  <a:srgbClr val="000000"/>
                                </a:solidFill>
                                <a:effectLst/>
                                <a:latin typeface="Cambria Math" panose="02040503050406030204" pitchFamily="18" charset="0"/>
                                <a:ea typeface="+mn-ea"/>
                                <a:cs typeface="宋体" pitchFamily="2" charset="-122"/>
                              </a:rPr>
                            </m:ctrlPr>
                          </m:dPr>
                          <m:e>
                            <m:r>
                              <a:rPr lang="en-US" altLang="zh-CN" sz="2000" i="1">
                                <a:solidFill>
                                  <a:srgbClr val="000000"/>
                                </a:solidFill>
                                <a:effectLst/>
                                <a:latin typeface="Cambria Math" panose="02040503050406030204" pitchFamily="18" charset="0"/>
                                <a:ea typeface="+mn-ea"/>
                                <a:cs typeface="宋体" pitchFamily="2" charset="-122"/>
                              </a:rPr>
                              <m:t>𝑝</m:t>
                            </m:r>
                            <m:r>
                              <a:rPr lang="en-US" altLang="zh-CN" sz="2000">
                                <a:solidFill>
                                  <a:srgbClr val="000000"/>
                                </a:solidFill>
                                <a:effectLst/>
                                <a:latin typeface="Cambria Math" panose="02040503050406030204" pitchFamily="18" charset="0"/>
                                <a:ea typeface="+mn-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a:solidFill>
                                  <a:srgbClr val="000000"/>
                                </a:solidFill>
                                <a:effectLst/>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sk</m:t>
                            </m:r>
                            <m:r>
                              <a:rPr lang="en-US" altLang="zh-CN" sz="2000">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𝑌</m:t>
                            </m:r>
                          </m:e>
                        </m:d>
                      </m:e>
                      <m:e>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𝑌</m:t>
                            </m:r>
                            <m:r>
                              <a:rPr lang="en-US" altLang="zh-CN" sz="2000">
                                <a:solidFill>
                                  <a:srgbClr val="000000"/>
                                </a:solidFill>
                                <a:effectLst/>
                                <a:latin typeface="Cambria Math" panose="02040503050406030204" pitchFamily="18" charset="0"/>
                                <a:ea typeface="+mn-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m:rPr>
                                <m:sty m:val="p"/>
                              </m:rPr>
                              <a:rPr lang="en-US" altLang="zh-CN" sz="2000" i="0">
                                <a:solidFill>
                                  <a:srgbClr val="000000"/>
                                </a:solidFill>
                                <a:effectLst/>
                                <a:latin typeface="Cambria Math" panose="02040503050406030204" pitchFamily="18" charset="0"/>
                                <a:ea typeface="+mn-ea"/>
                                <a:cs typeface="宋体" pitchFamily="2" charset="-122"/>
                              </a:rPr>
                              <m:t>s</m:t>
                            </m:r>
                            <m:r>
                              <m:rPr>
                                <m:sty m:val="p"/>
                              </m:rPr>
                              <a:rPr lang="en-US" altLang="zh-CN" sz="2000" i="1">
                                <a:solidFill>
                                  <a:srgbClr val="000000"/>
                                </a:solidFill>
                                <a:latin typeface="Cambria Math" panose="02040503050406030204" pitchFamily="18" charset="0"/>
                                <a:ea typeface="+mn-ea"/>
                                <a:cs typeface="宋体" pitchFamily="2" charset="-122"/>
                              </a:rPr>
                              <m:t>k</m:t>
                            </m:r>
                          </m:sup>
                        </m:sSup>
                        <m:r>
                          <a:rPr lang="en-US" altLang="zh-CN" sz="2000">
                            <a:solidFill>
                              <a:srgbClr val="000000"/>
                            </a:solidFill>
                            <a:effectLst/>
                            <a:latin typeface="Cambria Math" panose="02040503050406030204" pitchFamily="18" charset="0"/>
                            <a:ea typeface="+mn-ea"/>
                            <a:cs typeface="宋体" pitchFamily="2" charset="-122"/>
                          </a:rPr>
                          <m:t> </m:t>
                        </m:r>
                        <m:r>
                          <m:rPr>
                            <m:sty m:val="p"/>
                          </m:rPr>
                          <a:rPr lang="en-US" altLang="zh-CN" sz="2000">
                            <a:solidFill>
                              <a:srgbClr val="000000"/>
                            </a:solidFill>
                            <a:effectLst/>
                            <a:latin typeface="Cambria Math" panose="02040503050406030204" pitchFamily="18" charset="0"/>
                            <a:ea typeface="+mn-ea"/>
                            <a:cs typeface="宋体" pitchFamily="2" charset="-122"/>
                          </a:rPr>
                          <m:t>mod</m:t>
                        </m:r>
                        <m:r>
                          <a:rPr lang="en-US" altLang="zh-CN" sz="2000">
                            <a:solidFill>
                              <a:srgbClr val="000000"/>
                            </a:solidFill>
                            <a:effectLst/>
                            <a:latin typeface="Cambria Math" panose="02040503050406030204" pitchFamily="18" charset="0"/>
                            <a:ea typeface="+mn-ea"/>
                            <a:cs typeface="宋体" pitchFamily="2" charset="-122"/>
                          </a:rPr>
                          <m:t> </m:t>
                        </m:r>
                        <m:r>
                          <a:rPr lang="en-US" altLang="zh-CN" sz="2000" i="1">
                            <a:solidFill>
                              <a:srgbClr val="000000"/>
                            </a:solidFill>
                            <a:effectLst/>
                            <a:latin typeface="Cambria Math" panose="02040503050406030204" pitchFamily="18" charset="0"/>
                            <a:ea typeface="+mn-ea"/>
                            <a:cs typeface="宋体" pitchFamily="2" charset="-122"/>
                          </a:rPr>
                          <m:t>𝑝</m:t>
                        </m:r>
                      </m:e>
                    </m:d>
                  </m:oMath>
                </a14:m>
                <a:r>
                  <a:rPr lang="zh-CN" altLang="zh-CN" sz="2000" dirty="0">
                    <a:solidFill>
                      <a:srgbClr val="000000"/>
                    </a:solidFill>
                    <a:effectLst/>
                    <a:latin typeface="+mn-lt"/>
                    <a:ea typeface="+mn-ea"/>
                    <a:cs typeface="宋体" pitchFamily="2" charset="-122"/>
                  </a:rPr>
                  <a:t>。</a:t>
                </a:r>
                <a:r>
                  <a:rPr lang="en-US" altLang="zh-CN" sz="2000" dirty="0">
                    <a:solidFill>
                      <a:srgbClr val="000000"/>
                    </a:solidFill>
                    <a:effectLst/>
                    <a:latin typeface="+mn-lt"/>
                    <a:ea typeface="+mn-ea"/>
                    <a:cs typeface="宋体" pitchFamily="2" charset="-122"/>
                  </a:rPr>
                  <a:t>ElGamal</a:t>
                </a:r>
                <a:r>
                  <a:rPr lang="zh-CN" altLang="zh-CN" sz="2000" dirty="0">
                    <a:solidFill>
                      <a:srgbClr val="000000"/>
                    </a:solidFill>
                    <a:effectLst/>
                    <a:latin typeface="+mn-lt"/>
                    <a:ea typeface="+mn-ea"/>
                    <a:cs typeface="宋体" pitchFamily="2" charset="-122"/>
                  </a:rPr>
                  <a:t>公钥加密方案</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宋体" pitchFamily="2" charset="-122"/>
                      </a:rPr>
                      <m:t>PKE</m:t>
                    </m:r>
                    <m:r>
                      <m:rPr>
                        <m:nor/>
                      </m:rPr>
                      <a:rPr lang="en-US" altLang="zh-CN" sz="2000">
                        <a:solidFill>
                          <a:srgbClr val="000000"/>
                        </a:solidFill>
                        <a:effectLst/>
                        <a:latin typeface="+mn-lt"/>
                        <a:ea typeface="+mn-ea"/>
                        <a:cs typeface="宋体" pitchFamily="2" charset="-122"/>
                      </a:rPr>
                      <m:t>=(</m:t>
                    </m:r>
                    <m:r>
                      <m:rPr>
                        <m:nor/>
                      </m:rPr>
                      <a:rPr lang="en-US" altLang="zh-CN" sz="2000">
                        <a:solidFill>
                          <a:srgbClr val="000000"/>
                        </a:solidFill>
                        <a:effectLst/>
                        <a:latin typeface="+mn-lt"/>
                        <a:ea typeface="+mn-ea"/>
                        <a:cs typeface="宋体" pitchFamily="2" charset="-122"/>
                      </a:rPr>
                      <m:t>Gen</m:t>
                    </m:r>
                    <m:r>
                      <m:rPr>
                        <m:nor/>
                      </m:rPr>
                      <a:rPr lang="en-US" altLang="zh-CN" sz="2000">
                        <a:solidFill>
                          <a:srgbClr val="000000"/>
                        </a:solidFill>
                        <a:effectLst/>
                        <a:latin typeface="+mn-lt"/>
                        <a:ea typeface="+mn-ea"/>
                        <a:cs typeface="宋体" pitchFamily="2" charset="-122"/>
                      </a:rPr>
                      <m:t>, </m:t>
                    </m:r>
                    <m:r>
                      <m:rPr>
                        <m:nor/>
                      </m:rPr>
                      <a:rPr lang="en-US" altLang="zh-CN" sz="2000">
                        <a:solidFill>
                          <a:srgbClr val="000000"/>
                        </a:solidFill>
                        <a:effectLst/>
                        <a:latin typeface="+mn-lt"/>
                        <a:ea typeface="+mn-ea"/>
                        <a:cs typeface="宋体" pitchFamily="2" charset="-122"/>
                      </a:rPr>
                      <m:t>Enc</m:t>
                    </m:r>
                    <m:r>
                      <m:rPr>
                        <m:nor/>
                      </m:rPr>
                      <a:rPr lang="en-US" altLang="zh-CN" sz="2000">
                        <a:solidFill>
                          <a:srgbClr val="000000"/>
                        </a:solidFill>
                        <a:effectLst/>
                        <a:latin typeface="+mn-lt"/>
                        <a:ea typeface="+mn-ea"/>
                        <a:cs typeface="宋体" pitchFamily="2" charset="-122"/>
                      </a:rPr>
                      <m:t>,</m:t>
                    </m:r>
                    <m:r>
                      <m:rPr>
                        <m:nor/>
                      </m:rPr>
                      <a:rPr lang="en-US" altLang="zh-CN" sz="2000" i="1">
                        <a:solidFill>
                          <a:srgbClr val="000000"/>
                        </a:solidFill>
                        <a:effectLst/>
                        <a:latin typeface="+mn-lt"/>
                        <a:ea typeface="+mn-ea"/>
                        <a:cs typeface="宋体" pitchFamily="2" charset="-122"/>
                      </a:rPr>
                      <m:t> </m:t>
                    </m:r>
                    <m:r>
                      <m:rPr>
                        <m:nor/>
                      </m:rPr>
                      <a:rPr lang="en-US" altLang="zh-CN" sz="2000">
                        <a:solidFill>
                          <a:srgbClr val="000000"/>
                        </a:solidFill>
                        <a:effectLst/>
                        <a:latin typeface="+mn-lt"/>
                        <a:ea typeface="+mn-ea"/>
                        <a:cs typeface="宋体" pitchFamily="2" charset="-122"/>
                      </a:rPr>
                      <m:t>Dec</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各个算法描述如下。</a:t>
                </a:r>
                <a:endParaRPr lang="zh-CN" altLang="zh-CN" sz="2000" dirty="0">
                  <a:effectLst/>
                  <a:latin typeface="+mn-lt"/>
                  <a:ea typeface="+mn-ea"/>
                  <a:cs typeface="宋体" pitchFamily="2" charset="-122"/>
                </a:endParaRPr>
              </a:p>
            </p:txBody>
          </p:sp>
        </mc:Choice>
        <mc:Fallback xmlns="">
          <p:sp>
            <p:nvSpPr>
              <p:cNvPr id="3" name="文本框 2">
                <a:extLst>
                  <a:ext uri="{FF2B5EF4-FFF2-40B4-BE49-F238E27FC236}">
                    <a16:creationId xmlns:a16="http://schemas.microsoft.com/office/drawing/2014/main" id="{B175A17C-CAD2-001A-5790-37AC291DB071}"/>
                  </a:ext>
                </a:extLst>
              </p:cNvPr>
              <p:cNvSpPr txBox="1">
                <a:spLocks noRot="1" noChangeAspect="1" noMove="1" noResize="1" noEditPoints="1" noAdjustHandles="1" noChangeArrowheads="1" noChangeShapeType="1" noTextEdit="1"/>
              </p:cNvSpPr>
              <p:nvPr/>
            </p:nvSpPr>
            <p:spPr>
              <a:xfrm>
                <a:off x="416586" y="1252970"/>
                <a:ext cx="11314870" cy="943592"/>
              </a:xfrm>
              <a:prstGeom prst="rect">
                <a:avLst/>
              </a:prstGeom>
              <a:blipFill>
                <a:blip r:embed="rId3"/>
                <a:stretch>
                  <a:fillRect b="-9333"/>
                </a:stretch>
              </a:blipFill>
            </p:spPr>
            <p:txBody>
              <a:bodyPr/>
              <a:lstStyle/>
              <a:p>
                <a:r>
                  <a:rPr lang="zh-CN" altLang="en-US">
                    <a:noFill/>
                  </a:rPr>
                  <a:t> </a:t>
                </a:r>
              </a:p>
            </p:txBody>
          </p:sp>
        </mc:Fallback>
      </mc:AlternateContent>
      <p:sp>
        <p:nvSpPr>
          <p:cNvPr id="5" name="TextBox 10">
            <a:extLst>
              <a:ext uri="{FF2B5EF4-FFF2-40B4-BE49-F238E27FC236}">
                <a16:creationId xmlns:a16="http://schemas.microsoft.com/office/drawing/2014/main" id="{974C5A72-3F07-5415-7392-A55D23CBDC16}"/>
              </a:ext>
            </a:extLst>
          </p:cNvPr>
          <p:cNvSpPr txBox="1"/>
          <p:nvPr/>
        </p:nvSpPr>
        <p:spPr>
          <a:xfrm>
            <a:off x="877824" y="3760644"/>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Enc(</a:t>
            </a:r>
            <a:r>
              <a:rPr lang="en-GB" altLang="zh-CN" sz="2400" i="1" dirty="0">
                <a:latin typeface="+mn-lt"/>
              </a:rPr>
              <a:t>M</a:t>
            </a:r>
            <a:r>
              <a:rPr lang="en-GB" altLang="zh-CN" sz="2400" dirty="0">
                <a:latin typeface="+mn-lt"/>
              </a:rPr>
              <a:t>, pk)</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6" name="TextBox 11">
                <a:extLst>
                  <a:ext uri="{FF2B5EF4-FFF2-40B4-BE49-F238E27FC236}">
                    <a16:creationId xmlns:a16="http://schemas.microsoft.com/office/drawing/2014/main" id="{321FF1F9-9D57-7E40-B407-0CAC29BF634A}"/>
                  </a:ext>
                </a:extLst>
              </p:cNvPr>
              <p:cNvSpPr txBox="1"/>
              <p:nvPr/>
            </p:nvSpPr>
            <p:spPr>
              <a:xfrm>
                <a:off x="877824" y="4163456"/>
                <a:ext cx="10200855" cy="915443"/>
              </a:xfrm>
              <a:prstGeom prst="rect">
                <a:avLst/>
              </a:prstGeom>
              <a:noFill/>
            </p:spPr>
            <p:txBody>
              <a:bodyPr wrap="square" lIns="64008" tIns="32004" rIns="36576">
                <a:spAutoFit/>
              </a:bodyPr>
              <a:lstStyle/>
              <a:p>
                <a:pPr lvl="0" algn="just" hangingPunct="0">
                  <a:lnSpc>
                    <a:spcPct val="130000"/>
                  </a:lnSpc>
                </a:pPr>
                <a:r>
                  <a:rPr lang="zh-CN" altLang="zh-CN" sz="2000" dirty="0">
                    <a:latin typeface="+mn-lt"/>
                  </a:rPr>
                  <a:t>当输入公钥</a:t>
                </a:r>
                <a:r>
                  <a:rPr lang="en-US" altLang="zh-CN" sz="2000" dirty="0">
                    <a:latin typeface="+mn-lt"/>
                  </a:rPr>
                  <a:t> </a:t>
                </a:r>
                <a14:m>
                  <m:oMath xmlns:m="http://schemas.openxmlformats.org/officeDocument/2006/math">
                    <m:r>
                      <m:rPr>
                        <m:sty m:val="p"/>
                      </m:rPr>
                      <a:rPr lang="en-US" altLang="zh-CN" sz="2000" kern="0">
                        <a:solidFill>
                          <a:srgbClr val="000000"/>
                        </a:solidFill>
                        <a:latin typeface="Cambria Math" panose="02040503050406030204" pitchFamily="18" charset="0"/>
                        <a:cs typeface="宋体" pitchFamily="2" charset="-122"/>
                      </a:rPr>
                      <m:t>pk</m:t>
                    </m:r>
                    <m:r>
                      <a:rPr lang="en-US" altLang="zh-CN" sz="2000"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𝑝</m:t>
                    </m:r>
                    <m:r>
                      <a:rPr lang="en-US" altLang="zh-CN" sz="2000" kern="0">
                        <a:solidFill>
                          <a:srgbClr val="000000"/>
                        </a:solidFill>
                        <a:latin typeface="Cambria Math" panose="02040503050406030204" pitchFamily="18" charset="0"/>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𝑌</m:t>
                    </m:r>
                    <m:r>
                      <a:rPr lang="en-US" altLang="zh-CN" sz="2000" kern="0">
                        <a:solidFill>
                          <a:srgbClr val="000000"/>
                        </a:solidFill>
                        <a:latin typeface="Cambria Math" panose="02040503050406030204" pitchFamily="18" charset="0"/>
                        <a:cs typeface="宋体" pitchFamily="2" charset="-122"/>
                      </a:rPr>
                      <m:t>)</m:t>
                    </m:r>
                  </m:oMath>
                </a14:m>
                <a:r>
                  <a:rPr lang="zh-CN" altLang="zh-CN" sz="2000" dirty="0">
                    <a:latin typeface="+mn-lt"/>
                  </a:rPr>
                  <a:t>、明文</a:t>
                </a:r>
                <a14:m>
                  <m:oMath xmlns:m="http://schemas.openxmlformats.org/officeDocument/2006/math">
                    <m:r>
                      <a:rPr lang="en-US" altLang="zh-CN" sz="2000" i="1">
                        <a:latin typeface="Cambria Math" panose="02040503050406030204" pitchFamily="18" charset="0"/>
                      </a:rPr>
                      <m:t>𝑀</m:t>
                    </m:r>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oMath>
                </a14:m>
                <a:r>
                  <a:rPr lang="zh-CN" altLang="zh-CN" sz="2000" dirty="0">
                    <a:latin typeface="+mn-lt"/>
                  </a:rPr>
                  <a:t>时，该算法选择随机数</a:t>
                </a:r>
                <a:r>
                  <a:rPr lang="en-US" altLang="zh-CN" sz="2000" dirty="0">
                    <a:latin typeface="+mn-lt"/>
                  </a:rPr>
                  <a:t> </a:t>
                </a:r>
                <a14:m>
                  <m:oMath xmlns:m="http://schemas.openxmlformats.org/officeDocument/2006/math">
                    <m:r>
                      <a:rPr lang="en-US" altLang="zh-CN" sz="2000" i="1">
                        <a:latin typeface="Cambria Math" panose="02040503050406030204" pitchFamily="18" charset="0"/>
                      </a:rPr>
                      <m:t>𝑟</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r>
                          <a:rPr lang="en-US" altLang="zh-CN" sz="2000" i="1">
                            <a:latin typeface="Cambria Math" panose="02040503050406030204" pitchFamily="18" charset="0"/>
                          </a:rPr>
                          <m:t>−</m:t>
                        </m:r>
                        <m:r>
                          <a:rPr lang="en-US" altLang="zh-CN" sz="2000" i="1">
                            <a:latin typeface="Cambria Math" panose="02040503050406030204" pitchFamily="18" charset="0"/>
                          </a:rPr>
                          <m:t>1</m:t>
                        </m:r>
                      </m:sub>
                    </m:sSub>
                  </m:oMath>
                </a14:m>
                <a:r>
                  <a:rPr lang="zh-CN" altLang="zh-CN" sz="2000" dirty="0">
                    <a:latin typeface="+mn-lt"/>
                  </a:rPr>
                  <a:t>，计算</a:t>
                </a:r>
                <a:r>
                  <a:rPr lang="en-US" altLang="zh-CN" sz="2000" dirty="0">
                    <a:latin typeface="+mn-lt"/>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rPr>
                          <m:t>𝑟</m:t>
                        </m:r>
                      </m:sup>
                    </m:sSup>
                    <m:r>
                      <a:rPr lang="en-US" altLang="zh-CN" sz="2000">
                        <a:latin typeface="Cambria Math" panose="02040503050406030204" pitchFamily="18" charset="0"/>
                      </a:rPr>
                      <m:t> </m:t>
                    </m:r>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latin typeface="+mn-lt"/>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solidFill>
                          <a:srgbClr val="000000"/>
                        </a:solidFill>
                        <a:latin typeface="Cambria Math" panose="02040503050406030204" pitchFamily="18" charset="0"/>
                        <a:cs typeface="宋体" pitchFamily="2" charset="-122"/>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𝑌</m:t>
                        </m:r>
                      </m:e>
                      <m:sup>
                        <m:r>
                          <a:rPr lang="en-US" altLang="zh-CN" sz="2000" i="1">
                            <a:latin typeface="Cambria Math" panose="02040503050406030204" pitchFamily="18" charset="0"/>
                          </a:rPr>
                          <m:t>𝑟</m:t>
                        </m:r>
                      </m:sup>
                    </m:sSup>
                  </m:oMath>
                </a14:m>
                <a:r>
                  <a:rPr lang="en-US" altLang="zh-CN" sz="2000" dirty="0">
                    <a:latin typeface="+mn-lt"/>
                  </a:rPr>
                  <a:t> </a:t>
                </a:r>
                <a14:m>
                  <m:oMath xmlns:m="http://schemas.openxmlformats.org/officeDocument/2006/math">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latin typeface="+mn-lt"/>
                  </a:rPr>
                  <a:t>，输出密文</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𝐶</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oMath>
                </a14:m>
                <a:r>
                  <a:rPr lang="zh-CN" altLang="zh-CN" sz="2000" dirty="0">
                    <a:latin typeface="+mn-lt"/>
                  </a:rPr>
                  <a:t>，其中</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ℤ</m:t>
                        </m:r>
                      </m:e>
                      <m:sub>
                        <m:r>
                          <a:rPr lang="en-US" altLang="zh-CN" sz="2000" i="1">
                            <a:latin typeface="Cambria Math" panose="02040503050406030204" pitchFamily="18" charset="0"/>
                          </a:rPr>
                          <m:t>𝑝</m:t>
                        </m:r>
                      </m:sub>
                      <m:sup>
                        <m:r>
                          <a:rPr lang="en-US" altLang="zh-CN" sz="2000" i="1">
                            <a:latin typeface="Cambria Math" panose="02040503050406030204" pitchFamily="18" charset="0"/>
                          </a:rPr>
                          <m:t>∗</m:t>
                        </m:r>
                      </m:sup>
                    </m:sSubSup>
                  </m:oMath>
                </a14:m>
                <a:r>
                  <a:rPr lang="zh-CN" altLang="zh-CN" sz="2000" dirty="0">
                    <a:latin typeface="+mn-lt"/>
                  </a:rPr>
                  <a:t>。</a:t>
                </a:r>
                <a:r>
                  <a:rPr lang="zh-CN" altLang="zh-CN" sz="2000" dirty="0">
                    <a:effectLst/>
                    <a:latin typeface="+mn-lt"/>
                  </a:rPr>
                  <a:t> </a:t>
                </a:r>
                <a:endParaRPr lang="zh-CN" altLang="zh-CN" sz="2000" dirty="0">
                  <a:effectLst/>
                  <a:latin typeface="+mn-lt"/>
                  <a:ea typeface="微软雅黑" panose="020B0503020204020204" charset="-122"/>
                  <a:cs typeface="宋体" pitchFamily="2" charset="-122"/>
                </a:endParaRPr>
              </a:p>
            </p:txBody>
          </p:sp>
        </mc:Choice>
        <mc:Fallback xmlns="">
          <p:sp>
            <p:nvSpPr>
              <p:cNvPr id="6" name="TextBox 11">
                <a:extLst>
                  <a:ext uri="{FF2B5EF4-FFF2-40B4-BE49-F238E27FC236}">
                    <a16:creationId xmlns:a16="http://schemas.microsoft.com/office/drawing/2014/main" id="{321FF1F9-9D57-7E40-B407-0CAC29BF634A}"/>
                  </a:ext>
                </a:extLst>
              </p:cNvPr>
              <p:cNvSpPr txBox="1">
                <a:spLocks noRot="1" noChangeAspect="1" noMove="1" noResize="1" noEditPoints="1" noAdjustHandles="1" noChangeArrowheads="1" noChangeShapeType="1" noTextEdit="1"/>
              </p:cNvSpPr>
              <p:nvPr/>
            </p:nvSpPr>
            <p:spPr>
              <a:xfrm>
                <a:off x="877824" y="4163456"/>
                <a:ext cx="10200855" cy="915443"/>
              </a:xfrm>
              <a:prstGeom prst="rect">
                <a:avLst/>
              </a:prstGeom>
              <a:blipFill>
                <a:blip r:embed="rId4"/>
                <a:stretch>
                  <a:fillRect l="-995" r="-124" b="-9589"/>
                </a:stretch>
              </a:blipFill>
            </p:spPr>
            <p:txBody>
              <a:bodyPr/>
              <a:lstStyle/>
              <a:p>
                <a:r>
                  <a:rPr lang="zh-CN" altLang="en-US">
                    <a:noFill/>
                  </a:rPr>
                  <a:t> </a:t>
                </a:r>
              </a:p>
            </p:txBody>
          </p:sp>
        </mc:Fallback>
      </mc:AlternateContent>
      <p:sp>
        <p:nvSpPr>
          <p:cNvPr id="7" name="Rounded Rectangle 9">
            <a:extLst>
              <a:ext uri="{FF2B5EF4-FFF2-40B4-BE49-F238E27FC236}">
                <a16:creationId xmlns:a16="http://schemas.microsoft.com/office/drawing/2014/main" id="{2D3F3F26-081E-AF4B-33FD-22C737D2355A}"/>
              </a:ext>
            </a:extLst>
          </p:cNvPr>
          <p:cNvSpPr/>
          <p:nvPr/>
        </p:nvSpPr>
        <p:spPr>
          <a:xfrm>
            <a:off x="717867" y="5170752"/>
            <a:ext cx="10721581" cy="1254432"/>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10">
            <a:extLst>
              <a:ext uri="{FF2B5EF4-FFF2-40B4-BE49-F238E27FC236}">
                <a16:creationId xmlns:a16="http://schemas.microsoft.com/office/drawing/2014/main" id="{52111EA2-50D7-2F06-B751-5CE8D346E829}"/>
              </a:ext>
            </a:extLst>
          </p:cNvPr>
          <p:cNvSpPr txBox="1"/>
          <p:nvPr/>
        </p:nvSpPr>
        <p:spPr>
          <a:xfrm>
            <a:off x="877824" y="5203648"/>
            <a:ext cx="2825496" cy="447815"/>
          </a:xfrm>
          <a:prstGeom prst="rect">
            <a:avLst/>
          </a:prstGeom>
          <a:noFill/>
        </p:spPr>
        <p:txBody>
          <a:bodyPr wrap="square" lIns="64008" tIns="32004" rIns="36576">
            <a:spAutoFit/>
          </a:bodyPr>
          <a:lstStyle/>
          <a:p>
            <a:pPr>
              <a:spcAft>
                <a:spcPts val="500"/>
              </a:spcAft>
              <a:defRPr sz="2000" b="1">
                <a:solidFill>
                  <a:srgbClr val="C00000"/>
                </a:solidFill>
                <a:latin typeface="微软雅黑"/>
              </a:defRPr>
            </a:pPr>
            <a:r>
              <a:rPr lang="en-GB" altLang="zh-CN" sz="2400" dirty="0">
                <a:latin typeface="+mn-lt"/>
              </a:rPr>
              <a:t>Dec(C, </a:t>
            </a:r>
            <a:r>
              <a:rPr lang="en-GB" altLang="zh-CN" sz="2400" dirty="0" err="1">
                <a:latin typeface="+mn-lt"/>
              </a:rPr>
              <a:t>sk</a:t>
            </a:r>
            <a:r>
              <a:rPr lang="en-GB" altLang="zh-CN" sz="2400" dirty="0">
                <a:latin typeface="+mn-lt"/>
              </a:rPr>
              <a:t>)</a:t>
            </a:r>
            <a:r>
              <a:rPr lang="zh-CN" altLang="en-GB" sz="2400" dirty="0">
                <a:latin typeface="+mn-lt"/>
              </a:rPr>
              <a:t>算法</a:t>
            </a:r>
            <a:endParaRPr lang="zh-CN" altLang="en-US" sz="2400" dirty="0"/>
          </a:p>
        </p:txBody>
      </p:sp>
      <mc:AlternateContent xmlns:mc="http://schemas.openxmlformats.org/markup-compatibility/2006" xmlns:a14="http://schemas.microsoft.com/office/drawing/2010/main">
        <mc:Choice Requires="a14">
          <p:sp>
            <p:nvSpPr>
              <p:cNvPr id="10" name="TextBox 11">
                <a:extLst>
                  <a:ext uri="{FF2B5EF4-FFF2-40B4-BE49-F238E27FC236}">
                    <a16:creationId xmlns:a16="http://schemas.microsoft.com/office/drawing/2014/main" id="{2B30BDEC-2C5A-DC9E-2EE3-52820E188AC2}"/>
                  </a:ext>
                </a:extLst>
              </p:cNvPr>
              <p:cNvSpPr txBox="1"/>
              <p:nvPr/>
            </p:nvSpPr>
            <p:spPr>
              <a:xfrm>
                <a:off x="877823" y="5554733"/>
                <a:ext cx="10200855" cy="885242"/>
              </a:xfrm>
              <a:prstGeom prst="rect">
                <a:avLst/>
              </a:prstGeom>
              <a:noFill/>
            </p:spPr>
            <p:txBody>
              <a:bodyPr wrap="square" lIns="64008" tIns="32004" rIns="36576">
                <a:spAutoFit/>
              </a:bodyPr>
              <a:lstStyle/>
              <a:p>
                <a:pPr lvl="0" algn="just" hangingPunct="0">
                  <a:lnSpc>
                    <a:spcPct val="130000"/>
                  </a:lnSpc>
                </a:pPr>
                <a:r>
                  <a:rPr lang="zh-CN" altLang="zh-CN" sz="2000" dirty="0"/>
                  <a:t>当输入私钥</a:t>
                </a:r>
                <a:r>
                  <a:rPr lang="en-US" altLang="zh-CN" sz="2000" dirty="0"/>
                  <a:t> </a:t>
                </a:r>
                <a14:m>
                  <m:oMath xmlns:m="http://schemas.openxmlformats.org/officeDocument/2006/math">
                    <m:r>
                      <m:rPr>
                        <m:sty m:val="p"/>
                      </m:rPr>
                      <a:rPr lang="en-US" altLang="zh-CN" sz="2000" i="0">
                        <a:latin typeface="Cambria Math" panose="02040503050406030204" pitchFamily="18" charset="0"/>
                      </a:rPr>
                      <m:t>sk</m:t>
                    </m:r>
                  </m:oMath>
                </a14:m>
                <a:r>
                  <a:rPr lang="zh-CN" altLang="zh-CN" sz="2000" dirty="0"/>
                  <a:t>、密文</a:t>
                </a:r>
                <a:r>
                  <a:rPr lang="en-US" altLang="zh-CN" sz="2000" dirty="0"/>
                  <a:t> </a:t>
                </a:r>
                <a14:m>
                  <m:oMath xmlns:m="http://schemas.openxmlformats.org/officeDocument/2006/math">
                    <m:r>
                      <a:rPr lang="en-US" altLang="zh-CN" sz="2000" i="1">
                        <a:latin typeface="Cambria Math" panose="02040503050406030204" pitchFamily="18" charset="0"/>
                      </a:rPr>
                      <m:t>𝐶</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oMath>
                </a14:m>
                <a:r>
                  <a:rPr lang="en-US" altLang="zh-CN" sz="2000" dirty="0"/>
                  <a:t> </a:t>
                </a:r>
                <a:r>
                  <a:rPr lang="zh-CN" altLang="zh-CN" sz="2000" dirty="0"/>
                  <a:t>时，该算法计算</a:t>
                </a:r>
                <a:r>
                  <a:rPr lang="en-US" altLang="zh-CN" sz="2000" dirty="0"/>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𝑀</m:t>
                        </m:r>
                        <m:r>
                          <a:rPr lang="en-US" altLang="zh-CN" sz="2000" i="1">
                            <a:latin typeface="Cambria Math" panose="02040503050406030204" pitchFamily="18" charset="0"/>
                          </a:rPr>
                          <m:t>=</m:t>
                        </m:r>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e>
                          <m:sup>
                            <m:r>
                              <m:rPr>
                                <m:sty m:val="p"/>
                              </m:rPr>
                              <a:rPr lang="en-US" altLang="zh-CN" sz="2000" i="0">
                                <a:latin typeface="Cambria Math" panose="02040503050406030204" pitchFamily="18" charset="0"/>
                              </a:rPr>
                              <m:t>s</m:t>
                            </m:r>
                            <m:r>
                              <m:rPr>
                                <m:sty m:val="p"/>
                              </m:rPr>
                              <a:rPr lang="en-US" altLang="zh-CN" sz="2000" b="0" i="0" smtClean="0">
                                <a:latin typeface="Cambria Math" panose="02040503050406030204" pitchFamily="18" charset="0"/>
                              </a:rPr>
                              <m:t>k</m:t>
                            </m:r>
                          </m:sup>
                        </m:sSup>
                        <m:r>
                          <a:rPr lang="en-US" altLang="zh-CN" sz="2000" i="1">
                            <a:latin typeface="Cambria Math" panose="02040503050406030204" pitchFamily="18" charset="0"/>
                          </a:rPr>
                          <m:t>)</m:t>
                        </m:r>
                      </m:e>
                      <m:sup>
                        <m:r>
                          <a:rPr lang="en-US" altLang="zh-CN" sz="2000" i="1">
                            <a:latin typeface="Cambria Math" panose="02040503050406030204" pitchFamily="18" charset="0"/>
                          </a:rPr>
                          <m:t>−</m:t>
                        </m:r>
                        <m:r>
                          <a:rPr lang="en-US" altLang="zh-CN" sz="2000" i="1">
                            <a:latin typeface="Cambria Math" panose="02040503050406030204" pitchFamily="18" charset="0"/>
                          </a:rPr>
                          <m:t>1</m:t>
                        </m:r>
                      </m:sup>
                    </m:sSup>
                    <m:r>
                      <a:rPr lang="en-US" altLang="zh-CN" sz="2000" i="1">
                        <a:latin typeface="Cambria Math" panose="02040503050406030204" pitchFamily="18" charset="0"/>
                      </a:rPr>
                      <m:t> </m:t>
                    </m:r>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oMath>
                </a14:m>
                <a:r>
                  <a:rPr lang="zh-CN" altLang="zh-CN" sz="2000" dirty="0"/>
                  <a:t>，输出解密结果</a:t>
                </a:r>
                <a14:m>
                  <m:oMath xmlns:m="http://schemas.openxmlformats.org/officeDocument/2006/math">
                    <m:r>
                      <a:rPr lang="en-US" altLang="zh-CN" sz="2000" i="1">
                        <a:latin typeface="Cambria Math" panose="02040503050406030204" pitchFamily="18" charset="0"/>
                      </a:rPr>
                      <m:t>𝑀</m:t>
                    </m:r>
                  </m:oMath>
                </a14:m>
                <a:r>
                  <a:rPr lang="zh-CN" altLang="zh-CN" sz="2000" dirty="0"/>
                  <a:t>。</a:t>
                </a:r>
                <a:endParaRPr lang="zh-CN" altLang="zh-CN" sz="2000" dirty="0">
                  <a:effectLst/>
                  <a:latin typeface="Times New Roman" panose="02020503050405090304" pitchFamily="18" charset="0"/>
                  <a:ea typeface="微软雅黑" panose="020B0503020204020204" charset="-122"/>
                  <a:cs typeface="宋体" pitchFamily="2" charset="-122"/>
                </a:endParaRPr>
              </a:p>
            </p:txBody>
          </p:sp>
        </mc:Choice>
        <mc:Fallback xmlns="">
          <p:sp>
            <p:nvSpPr>
              <p:cNvPr id="10" name="TextBox 11"/>
              <p:cNvSpPr txBox="1">
                <a:spLocks noRot="1" noChangeAspect="1" noMove="1" noResize="1" noEditPoints="1" noAdjustHandles="1" noChangeArrowheads="1" noChangeShapeType="1" noTextEdit="1"/>
              </p:cNvSpPr>
              <p:nvPr/>
            </p:nvSpPr>
            <p:spPr>
              <a:xfrm>
                <a:off x="877823" y="5554733"/>
                <a:ext cx="10200855" cy="885242"/>
              </a:xfrm>
              <a:prstGeom prst="rect">
                <a:avLst/>
              </a:prstGeom>
              <a:blipFill>
                <a:blip r:embed="rId5"/>
                <a:stretch>
                  <a:fillRect l="-995" r="-1119" b="-128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67863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4" name="文本框 3"/>
          <p:cNvSpPr txBox="1"/>
          <p:nvPr/>
        </p:nvSpPr>
        <p:spPr>
          <a:xfrm>
            <a:off x="502920" y="81221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b="1" dirty="0">
                <a:solidFill>
                  <a:srgbClr val="C00000"/>
                </a:solidFill>
                <a:latin typeface="+mn-lt"/>
                <a:ea typeface="微软雅黑" panose="020B0503020204020204" charset="-122"/>
              </a:rPr>
              <a:t>ElGamal</a:t>
            </a:r>
            <a:r>
              <a:rPr lang="zh-CN" altLang="en-GB" sz="2400" b="1" dirty="0">
                <a:solidFill>
                  <a:srgbClr val="C00000"/>
                </a:solidFill>
                <a:latin typeface="+mn-lt"/>
                <a:ea typeface="微软雅黑" panose="020B0503020204020204" charset="-122"/>
              </a:rPr>
              <a:t>：</a:t>
            </a:r>
            <a:r>
              <a:rPr lang="zh-CN" altLang="en-US" sz="2400" b="1" dirty="0">
                <a:solidFill>
                  <a:srgbClr val="C00000"/>
                </a:solidFill>
                <a:latin typeface="+mn-lt"/>
                <a:ea typeface="微软雅黑" panose="020B0503020204020204" charset="-122"/>
              </a:rPr>
              <a:t>安全性所依赖的数学问题</a:t>
            </a:r>
          </a:p>
        </p:txBody>
      </p:sp>
      <p:sp>
        <p:nvSpPr>
          <p:cNvPr id="5" name="Rounded Rectangle 9"/>
          <p:cNvSpPr/>
          <p:nvPr/>
        </p:nvSpPr>
        <p:spPr>
          <a:xfrm>
            <a:off x="372543" y="1425023"/>
            <a:ext cx="11183112" cy="138682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5"/>
              <p:cNvSpPr txBox="1"/>
              <p:nvPr/>
            </p:nvSpPr>
            <p:spPr>
              <a:xfrm>
                <a:off x="638738" y="1575805"/>
                <a:ext cx="10914524"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.14</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DL</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indent="266700" rtl="0" eaLnBrk="0" fontAlgn="base" hangingPunct="0">
                  <a:lnSpc>
                    <a:spcPct val="130000"/>
                  </a:lnSpc>
                  <a:spcBef>
                    <a:spcPct val="0"/>
                  </a:spcBef>
                  <a:spcAft>
                    <a:spcPct val="0"/>
                  </a:spcAft>
                </a:pP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假设</a:t>
                </a:r>
                <a14:m>
                  <m:oMath xmlns:m="http://schemas.openxmlformats.org/officeDocument/2006/math">
                    <m:r>
                      <a:rPr kumimoji="0" lang="zh-CN" altLang="en-US" sz="2000" b="0" i="0"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 </m:t>
                    </m:r>
                    <m:r>
                      <a:rPr kumimoji="0" lang="zh-CN" altLang="en-US"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𝔾</m:t>
                    </m:r>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en-US" sz="2000" dirty="0">
                    <a:latin typeface="+mn-lt"/>
                    <a:ea typeface="+mn-ea"/>
                    <a:cs typeface="Times New Roman" panose="02020503050405090304" pitchFamily="18" charset="0"/>
                  </a:rPr>
                  <a:t> 是一个乘法循环群。给定</a:t>
                </a:r>
                <a:r>
                  <a:rPr lang="en-US" altLang="zh-CN" sz="2000" dirty="0">
                    <a:latin typeface="+mn-lt"/>
                    <a:ea typeface="+mn-ea"/>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en-US" altLang="zh-CN" sz="2000" dirty="0">
                    <a:latin typeface="+mn-lt"/>
                    <a:ea typeface="+mn-ea"/>
                    <a:cs typeface="Times New Roman" panose="02020503050405090304" pitchFamily="18" charset="0"/>
                  </a:rPr>
                  <a:t>,</a:t>
                </a:r>
                <a:r>
                  <a:rPr lang="en-US" altLang="zh-CN" sz="2000" i="1" dirty="0">
                    <a:latin typeface="+mn-lt"/>
                    <a:ea typeface="+mn-ea"/>
                    <a:cs typeface="Times New Roman" panose="02020503050405090304" pitchFamily="18" charset="0"/>
                  </a:rPr>
                  <a:t> h</a:t>
                </a:r>
                <a:r>
                  <a:rPr lang="en-US" altLang="zh-CN" sz="2000" dirty="0">
                    <a:latin typeface="+mn-lt"/>
                    <a:ea typeface="+mn-ea"/>
                    <a:cs typeface="Times New Roman" panose="02020503050405090304" pitchFamily="18" charset="0"/>
                  </a:rPr>
                  <a:t>)</a:t>
                </a:r>
                <a14:m>
                  <m:oMath xmlns:m="http://schemas.openxmlformats.org/officeDocument/2006/math">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 </m:t>
                    </m:r>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m:t>
                    </m:r>
                    <m:sSup>
                      <m:sSupPr>
                        <m:ctrlP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ctrlPr>
                      </m:sSupPr>
                      <m:e>
                        <m:r>
                          <a:rPr lang="zh-CN" altLang="en-US" sz="2000" i="1">
                            <a:latin typeface="Cambria Math" panose="02040503050406030204" pitchFamily="18" charset="0"/>
                            <a:cs typeface="Times New Roman" panose="02020503050405090304" pitchFamily="18" charset="0"/>
                          </a:rPr>
                          <m:t>𝔾</m:t>
                        </m:r>
                      </m:e>
                      <m:sup>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2</m:t>
                        </m:r>
                      </m:sup>
                    </m:sSup>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m:t>
                    </m:r>
                  </m:oMath>
                </a14:m>
                <a:r>
                  <a:rPr lang="zh-CN" altLang="en-US" sz="2000" dirty="0">
                    <a:latin typeface="+mn-lt"/>
                    <a:ea typeface="+mn-ea"/>
                    <a:cs typeface="Times New Roman" panose="02020503050405090304" pitchFamily="18" charset="0"/>
                  </a:rPr>
                  <a:t>要求解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oMath>
                </a14:m>
                <a:r>
                  <a:rPr lang="en-US" altLang="zh-CN" sz="2000" i="1"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使得 </a:t>
                </a:r>
                <a:r>
                  <a:rPr lang="en-US" altLang="zh-CN" sz="2000" i="1" dirty="0">
                    <a:latin typeface="+mn-lt"/>
                    <a:ea typeface="+mn-ea"/>
                    <a:cs typeface="Times New Roman" panose="02020503050405090304" pitchFamily="18" charset="0"/>
                  </a:rPr>
                  <a:t>h</a:t>
                </a:r>
                <a:r>
                  <a:rPr lang="en-US" altLang="zh-CN" sz="2000" dirty="0">
                    <a:latin typeface="+mn-lt"/>
                    <a:ea typeface="+mn-ea"/>
                    <a:cs typeface="Times New Roman" panose="02020503050405090304" pitchFamily="18" charset="0"/>
                  </a:rPr>
                  <a:t>=</a:t>
                </a:r>
                <a14:m>
                  <m:oMath xmlns:m="http://schemas.openxmlformats.org/officeDocument/2006/math">
                    <m:sSup>
                      <m:sSupPr>
                        <m:ctrlPr>
                          <a:rPr lang="en-US" altLang="zh-CN" sz="2000" i="1" smtClean="0">
                            <a:latin typeface="Cambria Math" panose="02040503050406030204" pitchFamily="18" charset="0"/>
                            <a:ea typeface="+mn-ea"/>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sup>
                    </m:sSup>
                  </m:oMath>
                </a14:m>
                <a:r>
                  <a:rPr lang="en-US" altLang="zh-CN" sz="2000" dirty="0">
                    <a:latin typeface="+mn-lt"/>
                    <a:ea typeface="+mn-ea"/>
                    <a:cs typeface="Times New Roman" panose="02020503050405090304" pitchFamily="18" charset="0"/>
                  </a:rPr>
                  <a:t> </a:t>
                </a:r>
                <a:r>
                  <a:rPr lang="zh-CN" altLang="en-US" sz="2000" dirty="0">
                    <a:latin typeface="+mn-lt"/>
                    <a:ea typeface="+mn-ea"/>
                    <a:cs typeface="Times New Roman" panose="02020503050405090304" pitchFamily="18" charset="0"/>
                  </a:rPr>
                  <a:t>成立，这被称为离散对数问题。</a:t>
                </a:r>
              </a:p>
              <a:p>
                <a:pPr algn="just">
                  <a:lnSpc>
                    <a:spcPct val="130000"/>
                  </a:lnSpc>
                  <a:spcAft>
                    <a:spcPts val="600"/>
                  </a:spcAft>
                  <a:buClr>
                    <a:srgbClr val="C00000"/>
                  </a:buClr>
                </a:pPr>
                <a:endParaRPr lang="zh-CN" altLang="zh-CN" sz="2000" dirty="0">
                  <a:latin typeface="+mn-lt"/>
                </a:endParaRPr>
              </a:p>
              <a:p>
                <a:pPr algn="just">
                  <a:lnSpc>
                    <a:spcPct val="130000"/>
                  </a:lnSpc>
                  <a:spcAft>
                    <a:spcPts val="600"/>
                  </a:spcAft>
                  <a:buClr>
                    <a:srgbClr val="C00000"/>
                  </a:buClr>
                </a:pPr>
                <a:r>
                  <a:rPr lang="zh-CN" altLang="zh-CN" sz="2400" dirty="0">
                    <a:effectLst/>
                    <a:latin typeface="+mn-lt"/>
                    <a:ea typeface="+mn-ea"/>
                  </a:rPr>
                  <a:t> </a:t>
                </a:r>
                <a:endParaRPr lang="zh-CN" altLang="en-US" sz="2400" b="1" i="0" dirty="0">
                  <a:solidFill>
                    <a:srgbClr val="C00000"/>
                  </a:solidFill>
                  <a:latin typeface="+mn-lt"/>
                  <a:ea typeface="+mn-ea"/>
                </a:endParaRPr>
              </a:p>
            </p:txBody>
          </p:sp>
        </mc:Choice>
        <mc:Fallback xmlns="">
          <p:sp>
            <p:nvSpPr>
              <p:cNvPr id="8" name="TextBox 5"/>
              <p:cNvSpPr txBox="1">
                <a:spLocks noRot="1" noChangeAspect="1" noMove="1" noResize="1" noEditPoints="1" noAdjustHandles="1" noChangeArrowheads="1" noChangeShapeType="1" noTextEdit="1"/>
              </p:cNvSpPr>
              <p:nvPr/>
            </p:nvSpPr>
            <p:spPr>
              <a:xfrm>
                <a:off x="638738" y="1575805"/>
                <a:ext cx="10914524" cy="1101101"/>
              </a:xfrm>
              <a:prstGeom prst="rect">
                <a:avLst/>
              </a:prstGeom>
              <a:blipFill>
                <a:blip r:embed="rId3"/>
                <a:stretch>
                  <a:fillRect l="-1453" t="-7182" b="-171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C01EEA7-E6D3-935A-C3E3-EFDA3CF48FFB}"/>
                  </a:ext>
                </a:extLst>
              </p:cNvPr>
              <p:cNvSpPr txBox="1"/>
              <p:nvPr/>
            </p:nvSpPr>
            <p:spPr>
              <a:xfrm>
                <a:off x="804672" y="3114979"/>
                <a:ext cx="10631424" cy="1666546"/>
              </a:xfrm>
              <a:prstGeom prst="rect">
                <a:avLst/>
              </a:prstGeom>
              <a:noFill/>
            </p:spPr>
            <p:txBody>
              <a:bodyPr wrap="square">
                <a:spAutoFit/>
              </a:bodyPr>
              <a:lstStyle/>
              <a:p>
                <a:pPr marL="285750" indent="-285750">
                  <a:lnSpc>
                    <a:spcPct val="130000"/>
                  </a:lnSpc>
                  <a:buFont typeface="Wingdings" pitchFamily="2" charset="2"/>
                  <a:buChar char="l"/>
                </a:pPr>
                <a:r>
                  <a:rPr lang="zh-CN" altLang="en-US" sz="2000" dirty="0"/>
                  <a:t>求解离散对数问题是攻破 </a:t>
                </a:r>
                <a:r>
                  <a:rPr lang="en" altLang="zh-CN" sz="2000" dirty="0"/>
                  <a:t>ElGamal </a:t>
                </a:r>
                <a:r>
                  <a:rPr lang="zh-CN" altLang="en-US" sz="2000" dirty="0"/>
                  <a:t>公钥加密方案最直接的方法之一。</a:t>
                </a:r>
                <a:endParaRPr lang="en-US" altLang="zh-CN" sz="2000" dirty="0"/>
              </a:p>
              <a:p>
                <a:pPr marL="285750" indent="-285750">
                  <a:lnSpc>
                    <a:spcPct val="130000"/>
                  </a:lnSpc>
                  <a:buFont typeface="Wingdings" pitchFamily="2" charset="2"/>
                  <a:buChar char="l"/>
                </a:pPr>
                <a:r>
                  <a:rPr lang="zh-CN" altLang="en-US" sz="2000" dirty="0"/>
                  <a:t>在 </a:t>
                </a:r>
                <a:r>
                  <a:rPr lang="en" altLang="zh-CN" sz="2000" dirty="0"/>
                  <a:t>ElGamal </a:t>
                </a:r>
                <a:r>
                  <a:rPr lang="zh-CN" altLang="en-US" sz="2000" dirty="0"/>
                  <a:t>公钥加密方案中，对于 </a:t>
                </a:r>
                <a14:m>
                  <m:oMath xmlns:m="http://schemas.openxmlformats.org/officeDocument/2006/math">
                    <m:r>
                      <m:rPr>
                        <m:sty m:val="p"/>
                      </m:rPr>
                      <a:rPr lang="en-US" altLang="zh-CN" sz="2000" kern="0" smtClean="0">
                        <a:solidFill>
                          <a:srgbClr val="000000"/>
                        </a:solidFill>
                        <a:latin typeface="Cambria Math" panose="02040503050406030204" pitchFamily="18" charset="0"/>
                        <a:cs typeface="宋体" pitchFamily="2" charset="-122"/>
                      </a:rPr>
                      <m:t>pk</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𝑝</m:t>
                    </m:r>
                    <m:r>
                      <a:rPr lang="en-US" altLang="zh-CN" sz="2000" kern="0">
                        <a:solidFill>
                          <a:srgbClr val="000000"/>
                        </a:solidFill>
                        <a:effectLst/>
                        <a:latin typeface="Cambria Math" panose="02040503050406030204" pitchFamily="18" charset="0"/>
                        <a:ea typeface="+mj-ea"/>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𝑌</m:t>
                    </m:r>
                    <m:r>
                      <a:rPr lang="en-US" altLang="zh-CN" sz="2000" kern="0">
                        <a:solidFill>
                          <a:srgbClr val="000000"/>
                        </a:solidFill>
                        <a:effectLst/>
                        <a:latin typeface="Cambria Math" panose="02040503050406030204" pitchFamily="18" charset="0"/>
                        <a:ea typeface="+mj-ea"/>
                        <a:cs typeface="宋体" pitchFamily="2" charset="-122"/>
                      </a:rPr>
                      <m:t>)</m:t>
                    </m:r>
                    <m:r>
                      <a:rPr lang="en-US" altLang="zh-CN" sz="2000" i="1" kern="0">
                        <a:solidFill>
                          <a:srgbClr val="000000"/>
                        </a:solidFill>
                        <a:effectLst/>
                        <a:latin typeface="Cambria Math" panose="02040503050406030204" pitchFamily="18" charset="0"/>
                        <a:ea typeface="+mj-ea"/>
                        <a:cs typeface="宋体" pitchFamily="2" charset="-122"/>
                      </a:rPr>
                      <m:t> </m:t>
                    </m:r>
                  </m:oMath>
                </a14:m>
                <a:r>
                  <a:rPr lang="zh-CN" altLang="en" sz="2000" dirty="0"/>
                  <a:t>，</a:t>
                </a:r>
                <a:r>
                  <a:rPr lang="zh-CN" altLang="en-US" sz="2000" dirty="0"/>
                  <a:t>若攻击者能够找到 </a:t>
                </a:r>
                <a:r>
                  <a:rPr lang="en" altLang="zh-CN" sz="2000" i="1" dirty="0" err="1"/>
                  <a:t>i</a:t>
                </a:r>
                <a:r>
                  <a:rPr lang="en" altLang="zh-CN" sz="2000" i="1" dirty="0"/>
                  <a:t> </a:t>
                </a:r>
                <a:r>
                  <a:rPr lang="zh-CN" altLang="en-US" sz="2000" dirty="0"/>
                  <a:t>使得 </a:t>
                </a:r>
                <a14:m>
                  <m:oMath xmlns:m="http://schemas.openxmlformats.org/officeDocument/2006/math">
                    <m:sSup>
                      <m:sSupPr>
                        <m:ctrlPr>
                          <a:rPr lang="zh-CN" altLang="zh-CN"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 </m:t>
                        </m:r>
                        <m:r>
                          <a:rPr lang="en-US" altLang="zh-CN" sz="2000" i="1" kern="0">
                            <a:solidFill>
                              <a:srgbClr val="000000"/>
                            </a:solidFill>
                            <a:latin typeface="Cambria Math" panose="02040503050406030204" pitchFamily="18" charset="0"/>
                            <a:cs typeface="宋体" pitchFamily="2" charset="-122"/>
                          </a:rPr>
                          <m:t>𝑌</m:t>
                        </m:r>
                        <m:r>
                          <a:rPr lang="en-US" altLang="zh-CN" sz="2000" i="0" kern="0">
                            <a:solidFill>
                              <a:srgbClr val="000000"/>
                            </a:solidFill>
                            <a:latin typeface="Cambria Math" panose="02040503050406030204" pitchFamily="18" charset="0"/>
                            <a:cs typeface="宋体" pitchFamily="2" charset="-122"/>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kern="0">
                            <a:solidFill>
                              <a:srgbClr val="000000"/>
                            </a:solidFill>
                            <a:latin typeface="Cambria Math" panose="02040503050406030204" pitchFamily="18" charset="0"/>
                            <a:cs typeface="宋体" pitchFamily="2" charset="-122"/>
                          </a:rPr>
                          <m:t>𝑖</m:t>
                        </m:r>
                      </m:sup>
                    </m:sSup>
                  </m:oMath>
                </a14:m>
                <a:r>
                  <a:rPr lang="zh-CN" altLang="en-US" sz="2000" dirty="0"/>
                  <a:t> 成立，则攻击者即可获得私钥 </a:t>
                </a:r>
                <a14:m>
                  <m:oMath xmlns:m="http://schemas.openxmlformats.org/officeDocument/2006/math">
                    <m:r>
                      <m:rPr>
                        <m:sty m:val="p"/>
                      </m:rPr>
                      <a:rPr lang="en-US" altLang="zh-CN" sz="2000" kern="0">
                        <a:solidFill>
                          <a:srgbClr val="000000"/>
                        </a:solidFill>
                        <a:latin typeface="Cambria Math" panose="02040503050406030204" pitchFamily="18" charset="0"/>
                        <a:cs typeface="宋体" pitchFamily="2" charset="-122"/>
                      </a:rPr>
                      <m:t>sk</m:t>
                    </m:r>
                    <m:r>
                      <a:rPr lang="en-US" altLang="zh-CN" sz="2000" i="1" kern="0">
                        <a:solidFill>
                          <a:srgbClr val="000000"/>
                        </a:solidFill>
                        <a:latin typeface="Cambria Math" panose="02040503050406030204" pitchFamily="18" charset="0"/>
                        <a:cs typeface="宋体" pitchFamily="2" charset="-122"/>
                      </a:rPr>
                      <m:t> </m:t>
                    </m:r>
                  </m:oMath>
                </a14:m>
                <a:r>
                  <a:rPr lang="en-US" altLang="zh-CN" sz="2000" dirty="0"/>
                  <a:t>=</a:t>
                </a:r>
                <a:r>
                  <a:rPr lang="zh-CN" altLang="en-US" sz="2000" dirty="0"/>
                  <a:t> </a:t>
                </a:r>
                <a:r>
                  <a:rPr lang="en-US" altLang="zh-CN" sz="2000" i="1" dirty="0"/>
                  <a:t>i</a:t>
                </a:r>
                <a:r>
                  <a:rPr lang="zh-CN" altLang="en" sz="2000" dirty="0"/>
                  <a:t>，</a:t>
                </a:r>
                <a:r>
                  <a:rPr lang="zh-CN" altLang="en-US" sz="2000" dirty="0"/>
                  <a:t>从而完全攻破 </a:t>
                </a:r>
                <a:r>
                  <a:rPr lang="en" altLang="zh-CN" sz="2000" dirty="0"/>
                  <a:t>ElGamal </a:t>
                </a:r>
                <a:r>
                  <a:rPr lang="zh-CN" altLang="en-US" sz="2000" dirty="0"/>
                  <a:t>公钥加密方案。因此，</a:t>
                </a:r>
                <a:r>
                  <a:rPr lang="en" altLang="zh-CN" sz="2000" dirty="0"/>
                  <a:t>ElGamal </a:t>
                </a:r>
                <a:r>
                  <a:rPr lang="zh-CN" altLang="en-US" sz="2000" dirty="0"/>
                  <a:t>公钥加密方案的安全性需假设离散对数问题是难解的。</a:t>
                </a:r>
                <a:endParaRPr lang="en-US" altLang="zh-CN" sz="2000" dirty="0"/>
              </a:p>
            </p:txBody>
          </p:sp>
        </mc:Choice>
        <mc:Fallback xmlns="">
          <p:sp>
            <p:nvSpPr>
              <p:cNvPr id="6" name="文本框 5">
                <a:extLst>
                  <a:ext uri="{FF2B5EF4-FFF2-40B4-BE49-F238E27FC236}">
                    <a16:creationId xmlns:a16="http://schemas.microsoft.com/office/drawing/2014/main" id="{7C01EEA7-E6D3-935A-C3E3-EFDA3CF48FFB}"/>
                  </a:ext>
                </a:extLst>
              </p:cNvPr>
              <p:cNvSpPr txBox="1">
                <a:spLocks noRot="1" noChangeAspect="1" noMove="1" noResize="1" noEditPoints="1" noAdjustHandles="1" noChangeArrowheads="1" noChangeShapeType="1" noTextEdit="1"/>
              </p:cNvSpPr>
              <p:nvPr/>
            </p:nvSpPr>
            <p:spPr>
              <a:xfrm>
                <a:off x="804672" y="3114979"/>
                <a:ext cx="10631424" cy="1666546"/>
              </a:xfrm>
              <a:prstGeom prst="rect">
                <a:avLst/>
              </a:prstGeom>
              <a:blipFill>
                <a:blip r:embed="rId4"/>
                <a:stretch>
                  <a:fillRect l="-477" b="-5303"/>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F829-E9EB-4800-8183-1A24D84208FC}"/>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207A2248-3EC6-35E2-CE2D-B2E3C9ADC23F}"/>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A05B9AED-61C2-5B06-3DDF-01F6846B22FF}"/>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CDCA10D6-A070-8C2C-5F9C-0059F5DCD00F}"/>
              </a:ext>
            </a:extLst>
          </p:cNvPr>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4" name="文本框 3">
            <a:extLst>
              <a:ext uri="{FF2B5EF4-FFF2-40B4-BE49-F238E27FC236}">
                <a16:creationId xmlns:a16="http://schemas.microsoft.com/office/drawing/2014/main" id="{206BAA01-490B-C8BA-FE4F-7EE533D15B82}"/>
              </a:ext>
            </a:extLst>
          </p:cNvPr>
          <p:cNvSpPr txBox="1"/>
          <p:nvPr/>
        </p:nvSpPr>
        <p:spPr>
          <a:xfrm>
            <a:off x="502920" y="81221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b="1" dirty="0">
                <a:solidFill>
                  <a:srgbClr val="C00000"/>
                </a:solidFill>
                <a:latin typeface="+mn-lt"/>
                <a:ea typeface="微软雅黑" panose="020B0503020204020204" charset="-122"/>
              </a:rPr>
              <a:t>ElGamal</a:t>
            </a:r>
            <a:r>
              <a:rPr lang="zh-CN" altLang="en-GB" sz="2400" b="1" dirty="0">
                <a:solidFill>
                  <a:srgbClr val="C00000"/>
                </a:solidFill>
                <a:latin typeface="+mn-lt"/>
                <a:ea typeface="微软雅黑" panose="020B0503020204020204" charset="-122"/>
              </a:rPr>
              <a:t>：</a:t>
            </a:r>
            <a:r>
              <a:rPr lang="zh-CN" altLang="en-US" sz="2400" b="1" dirty="0">
                <a:solidFill>
                  <a:srgbClr val="C00000"/>
                </a:solidFill>
                <a:latin typeface="+mn-lt"/>
                <a:ea typeface="微软雅黑" panose="020B0503020204020204" charset="-122"/>
              </a:rPr>
              <a:t>安全性所依赖的数学问题</a:t>
            </a:r>
          </a:p>
        </p:txBody>
      </p:sp>
      <p:sp>
        <p:nvSpPr>
          <p:cNvPr id="2" name="矩形 1">
            <a:extLst>
              <a:ext uri="{FF2B5EF4-FFF2-40B4-BE49-F238E27FC236}">
                <a16:creationId xmlns:a16="http://schemas.microsoft.com/office/drawing/2014/main" id="{45478E04-1346-2FA3-8212-166AD7956033}"/>
              </a:ext>
            </a:extLst>
          </p:cNvPr>
          <p:cNvSpPr>
            <a:spLocks noGrp="1"/>
          </p:cNvSpPr>
          <p:nvPr/>
        </p:nvSpPr>
        <p:spPr>
          <a:xfrm>
            <a:off x="1368934" y="2585771"/>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endParaRPr sz="1480" b="0" baseline="-25000" dirty="0">
              <a:solidFill>
                <a:srgbClr val="303030"/>
              </a:solidFill>
              <a:latin typeface="Times New Roman" panose="02020503050405090304"/>
              <a:ea typeface="微软雅黑"/>
              <a:cs typeface="Times New Roman" panose="02020503050405090304"/>
            </a:endParaRPr>
          </a:p>
        </p:txBody>
      </p:sp>
      <p:sp>
        <p:nvSpPr>
          <p:cNvPr id="10" name="Rounded Rectangle 9">
            <a:extLst>
              <a:ext uri="{FF2B5EF4-FFF2-40B4-BE49-F238E27FC236}">
                <a16:creationId xmlns:a16="http://schemas.microsoft.com/office/drawing/2014/main" id="{17D51CC3-158A-496D-F61D-017F0ACE08AC}"/>
              </a:ext>
            </a:extLst>
          </p:cNvPr>
          <p:cNvSpPr/>
          <p:nvPr/>
        </p:nvSpPr>
        <p:spPr>
          <a:xfrm>
            <a:off x="357958" y="2237491"/>
            <a:ext cx="11183112" cy="1493141"/>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5">
                <a:extLst>
                  <a:ext uri="{FF2B5EF4-FFF2-40B4-BE49-F238E27FC236}">
                    <a16:creationId xmlns:a16="http://schemas.microsoft.com/office/drawing/2014/main" id="{1DB8D4C9-5AA9-B521-FAFE-66506CB8EF4B}"/>
                  </a:ext>
                </a:extLst>
              </p:cNvPr>
              <p:cNvSpPr txBox="1"/>
              <p:nvPr/>
            </p:nvSpPr>
            <p:spPr>
              <a:xfrm>
                <a:off x="624152" y="2388273"/>
                <a:ext cx="10916917"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.15</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CDH</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indent="266700" rtl="0" eaLnBrk="0" fontAlgn="base" hangingPunct="0">
                  <a:lnSpc>
                    <a:spcPct val="130000"/>
                  </a:lnSpc>
                  <a:spcBef>
                    <a:spcPct val="0"/>
                  </a:spcBef>
                  <a:spcAft>
                    <a:spcPct val="0"/>
                  </a:spcAft>
                </a:pP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假设</a:t>
                </a:r>
                <a:r>
                  <a:rPr kumimoji="0" lang="zh-CN" altLang="en-US" sz="2000" b="0" i="0" u="none" strike="noStrike" cap="none" normalizeH="0" baseline="0" dirty="0">
                    <a:ln>
                      <a:noFill/>
                    </a:ln>
                    <a:solidFill>
                      <a:schemeClr val="tx1"/>
                    </a:solidFill>
                    <a:effectLst/>
                    <a:latin typeface="+mn-lt"/>
                    <a:ea typeface="+mn-ea"/>
                    <a:cs typeface="Times New Roman" panose="02020503050405090304" pitchFamily="18" charset="0"/>
                  </a:rPr>
                  <a:t> </a:t>
                </a:r>
                <a14:m>
                  <m:oMath xmlns:m="http://schemas.openxmlformats.org/officeDocument/2006/math">
                    <m:r>
                      <a:rPr kumimoji="0" lang="zh-CN" altLang="en-US"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𝔾</m:t>
                    </m:r>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en-US" sz="2000" dirty="0">
                    <a:latin typeface="+mn-lt"/>
                    <a:ea typeface="+mn-ea"/>
                    <a:cs typeface="Times New Roman" panose="02020503050405090304" pitchFamily="18" charset="0"/>
                  </a:rPr>
                  <a:t> 是一个乘法循环群。给定</a:t>
                </a:r>
                <a:r>
                  <a:rPr lang="en-US" altLang="zh-CN" sz="2000" dirty="0">
                    <a:latin typeface="+mn-lt"/>
                    <a:ea typeface="+mn-ea"/>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en-US" altLang="zh-CN" sz="2000" dirty="0">
                    <a:latin typeface="+mn-lt"/>
                    <a:ea typeface="+mn-ea"/>
                    <a:cs typeface="Times New Roman" panose="02020503050405090304" pitchFamily="18" charset="0"/>
                  </a:rPr>
                  <a:t>,</a:t>
                </a:r>
                <a:r>
                  <a:rPr lang="en-US" altLang="zh-CN" sz="2000" i="1" dirty="0">
                    <a:latin typeface="+mn-lt"/>
                    <a:ea typeface="+mn-ea"/>
                    <a:cs typeface="Times New Roman" panose="02020503050405090304" pitchFamily="18" charset="0"/>
                  </a:rPr>
                  <a:t> </a:t>
                </a:r>
                <a14:m>
                  <m:oMath xmlns:m="http://schemas.openxmlformats.org/officeDocument/2006/math">
                    <m:sSup>
                      <m:sSupPr>
                        <m:ctrlPr>
                          <a:rPr lang="en-US" altLang="zh-CN" sz="2000" i="1" smtClean="0">
                            <a:latin typeface="Cambria Math" panose="02040503050406030204" pitchFamily="18" charset="0"/>
                            <a:ea typeface="+mn-ea"/>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𝛼</m:t>
                        </m:r>
                      </m:sup>
                    </m:sSup>
                  </m:oMath>
                </a14:m>
                <a:r>
                  <a:rPr lang="en-US" altLang="zh-CN" sz="2000" dirty="0">
                    <a:latin typeface="+mn-lt"/>
                    <a:ea typeface="+mn-ea"/>
                    <a:cs typeface="Times New Roman" panose="02020503050405090304" pitchFamily="18" charset="0"/>
                  </a:rPr>
                  <a:t>, </a:t>
                </a:r>
                <a14:m>
                  <m:oMath xmlns:m="http://schemas.openxmlformats.org/officeDocument/2006/math">
                    <m:sSup>
                      <m:sSupPr>
                        <m:ctrlPr>
                          <a:rPr lang="en-US" altLang="zh-CN" sz="2000" i="1" smtClean="0">
                            <a:latin typeface="Cambria Math" panose="02040503050406030204" pitchFamily="18" charset="0"/>
                            <a:ea typeface="+mn-ea"/>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US" altLang="zh-CN" sz="2000" dirty="0">
                    <a:latin typeface="+mn-lt"/>
                    <a:ea typeface="+mn-ea"/>
                    <a:cs typeface="Times New Roman" panose="02020503050405090304" pitchFamily="18" charset="0"/>
                  </a:rPr>
                  <a:t>)</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m:t>
                    </m:r>
                    <m:sSup>
                      <m:sSupPr>
                        <m:ctrlP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ctrlPr>
                      </m:sSupPr>
                      <m:e>
                        <m:r>
                          <a:rPr lang="zh-CN" altLang="en-US" sz="2000" i="1">
                            <a:latin typeface="Cambria Math" panose="02040503050406030204" pitchFamily="18" charset="0"/>
                            <a:cs typeface="Times New Roman" panose="02020503050405090304" pitchFamily="18" charset="0"/>
                          </a:rPr>
                          <m:t>𝔾</m:t>
                        </m:r>
                      </m:e>
                      <m:sup>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3</m:t>
                        </m:r>
                      </m:sup>
                    </m:sSup>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m:t>
                    </m:r>
                  </m:oMath>
                </a14:m>
                <a:r>
                  <a:rPr lang="zh-CN" altLang="en-US" sz="2000" dirty="0">
                    <a:latin typeface="+mn-lt"/>
                    <a:ea typeface="+mn-ea"/>
                    <a:cs typeface="Times New Roman" panose="02020503050405090304" pitchFamily="18" charset="0"/>
                  </a:rPr>
                  <a:t>要求解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latin typeface="+mn-lt"/>
                    <a:ea typeface="+mn-ea"/>
                    <a:cs typeface="Times New Roman" panose="02020503050405090304" pitchFamily="18" charset="0"/>
                  </a:rPr>
                  <a:t>，这被称为</a:t>
                </a:r>
                <a:r>
                  <a:rPr lang="en-GB" altLang="zh-CN" sz="2000" dirty="0"/>
                  <a:t>CDH </a:t>
                </a:r>
                <a:r>
                  <a:rPr lang="zh-CN" altLang="en-US" sz="2000" dirty="0">
                    <a:latin typeface="+mn-lt"/>
                    <a:ea typeface="+mn-ea"/>
                    <a:cs typeface="Times New Roman" panose="02020503050405090304" pitchFamily="18" charset="0"/>
                  </a:rPr>
                  <a:t>问题，其中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oMath>
                </a14:m>
                <a:r>
                  <a:rPr lang="zh-CN" altLang="en-US" sz="2000" dirty="0">
                    <a:latin typeface="+mn-lt"/>
                    <a:ea typeface="+mn-ea"/>
                    <a:cs typeface="Times New Roman" panose="02020503050405090304" pitchFamily="18" charset="0"/>
                  </a:rPr>
                  <a:t> 和</a:t>
                </a:r>
                <a14:m>
                  <m:oMath xmlns:m="http://schemas.openxmlformats.org/officeDocument/2006/math">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 </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oMath>
                </a14:m>
                <a:r>
                  <a:rPr lang="zh-CN" altLang="en-US" sz="2000" dirty="0"/>
                  <a:t> 的值未知。</a:t>
                </a:r>
                <a:endParaRPr lang="zh-CN" altLang="zh-CN" sz="2000" dirty="0">
                  <a:latin typeface="+mn-lt"/>
                </a:endParaRPr>
              </a:p>
              <a:p>
                <a:pPr algn="just">
                  <a:lnSpc>
                    <a:spcPct val="130000"/>
                  </a:lnSpc>
                  <a:spcAft>
                    <a:spcPts val="600"/>
                  </a:spcAft>
                  <a:buClr>
                    <a:srgbClr val="C00000"/>
                  </a:buClr>
                </a:pPr>
                <a:r>
                  <a:rPr lang="zh-CN" altLang="zh-CN" sz="2400" dirty="0">
                    <a:effectLst/>
                    <a:latin typeface="+mn-lt"/>
                    <a:ea typeface="+mn-ea"/>
                  </a:rPr>
                  <a:t> </a:t>
                </a:r>
                <a:endParaRPr lang="zh-CN" altLang="en-US" sz="2400" b="1" i="0" dirty="0">
                  <a:solidFill>
                    <a:srgbClr val="C00000"/>
                  </a:solidFill>
                  <a:latin typeface="+mn-lt"/>
                  <a:ea typeface="+mn-ea"/>
                </a:endParaRPr>
              </a:p>
            </p:txBody>
          </p:sp>
        </mc:Choice>
        <mc:Fallback xmlns="">
          <p:sp>
            <p:nvSpPr>
              <p:cNvPr id="11" name="TextBox 5">
                <a:extLst>
                  <a:ext uri="{FF2B5EF4-FFF2-40B4-BE49-F238E27FC236}">
                    <a16:creationId xmlns:a16="http://schemas.microsoft.com/office/drawing/2014/main" id="{1DB8D4C9-5AA9-B521-FAFE-66506CB8EF4B}"/>
                  </a:ext>
                </a:extLst>
              </p:cNvPr>
              <p:cNvSpPr txBox="1">
                <a:spLocks noRot="1" noChangeAspect="1" noMove="1" noResize="1" noEditPoints="1" noAdjustHandles="1" noChangeArrowheads="1" noChangeShapeType="1" noTextEdit="1"/>
              </p:cNvSpPr>
              <p:nvPr/>
            </p:nvSpPr>
            <p:spPr>
              <a:xfrm>
                <a:off x="624152" y="2388273"/>
                <a:ext cx="10916917" cy="1101101"/>
              </a:xfrm>
              <a:prstGeom prst="rect">
                <a:avLst/>
              </a:prstGeom>
              <a:blipFill>
                <a:blip r:embed="rId3"/>
                <a:stretch>
                  <a:fillRect l="-1396" t="-7222" r="-112" b="-18889"/>
                </a:stretch>
              </a:blipFill>
            </p:spPr>
            <p:txBody>
              <a:bodyPr/>
              <a:lstStyle/>
              <a:p>
                <a:r>
                  <a:rPr lang="zh-CN" altLang="en-US">
                    <a:noFill/>
                  </a:rPr>
                  <a:t> </a:t>
                </a:r>
              </a:p>
            </p:txBody>
          </p:sp>
        </mc:Fallback>
      </mc:AlternateContent>
      <p:sp>
        <p:nvSpPr>
          <p:cNvPr id="12" name="Rounded Rectangle 9">
            <a:extLst>
              <a:ext uri="{FF2B5EF4-FFF2-40B4-BE49-F238E27FC236}">
                <a16:creationId xmlns:a16="http://schemas.microsoft.com/office/drawing/2014/main" id="{19D43BDF-FAAA-EAF8-1EB1-CA3A30755C97}"/>
              </a:ext>
            </a:extLst>
          </p:cNvPr>
          <p:cNvSpPr/>
          <p:nvPr/>
        </p:nvSpPr>
        <p:spPr>
          <a:xfrm>
            <a:off x="357958" y="4301089"/>
            <a:ext cx="11183112" cy="1493141"/>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5">
                <a:extLst>
                  <a:ext uri="{FF2B5EF4-FFF2-40B4-BE49-F238E27FC236}">
                    <a16:creationId xmlns:a16="http://schemas.microsoft.com/office/drawing/2014/main" id="{72DA6078-1CB1-4360-CFEB-2150E6777FDA}"/>
                  </a:ext>
                </a:extLst>
              </p:cNvPr>
              <p:cNvSpPr txBox="1"/>
              <p:nvPr/>
            </p:nvSpPr>
            <p:spPr>
              <a:xfrm>
                <a:off x="624153" y="4451871"/>
                <a:ext cx="10755232"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.16</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DDH</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indent="266700" rtl="0" eaLnBrk="0" fontAlgn="base" hangingPunct="0">
                  <a:lnSpc>
                    <a:spcPct val="130000"/>
                  </a:lnSpc>
                  <a:spcBef>
                    <a:spcPct val="0"/>
                  </a:spcBef>
                  <a:spcAft>
                    <a:spcPct val="0"/>
                  </a:spcAft>
                </a:pPr>
                <a:r>
                  <a:rPr kumimoji="0" lang="zh-CN" altLang="zh-CN" sz="2000" b="0" i="0" u="none" strike="noStrike" cap="none" normalizeH="0" baseline="0" dirty="0">
                    <a:ln>
                      <a:noFill/>
                    </a:ln>
                    <a:solidFill>
                      <a:schemeClr val="tx1"/>
                    </a:solidFill>
                    <a:effectLst/>
                    <a:latin typeface="+mn-lt"/>
                    <a:ea typeface="+mn-ea"/>
                    <a:cs typeface="Times New Roman" panose="02020503050405090304" pitchFamily="18" charset="0"/>
                  </a:rPr>
                  <a:t>假设</a:t>
                </a:r>
                <a:r>
                  <a:rPr kumimoji="0" lang="zh-CN" altLang="en-US" sz="2000" b="0" i="0" u="none" strike="noStrike" cap="none" normalizeH="0" baseline="0" dirty="0">
                    <a:ln>
                      <a:noFill/>
                    </a:ln>
                    <a:solidFill>
                      <a:schemeClr val="tx1"/>
                    </a:solidFill>
                    <a:effectLst/>
                    <a:latin typeface="+mn-lt"/>
                    <a:ea typeface="+mn-ea"/>
                    <a:cs typeface="Times New Roman" panose="02020503050405090304" pitchFamily="18" charset="0"/>
                  </a:rPr>
                  <a:t> </a:t>
                </a:r>
                <a14:m>
                  <m:oMath xmlns:m="http://schemas.openxmlformats.org/officeDocument/2006/math">
                    <m:r>
                      <a:rPr kumimoji="0" lang="zh-CN" altLang="en-US"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𝔾</m:t>
                    </m:r>
                    <m:r>
                      <a:rPr kumimoji="0" lang="en-US" altLang="zh-CN" sz="2000" b="0" i="1" u="none" strike="noStrike" cap="none" normalizeH="0" baseline="0" smtClean="0">
                        <a:ln>
                          <a:noFill/>
                        </a:ln>
                        <a:solidFill>
                          <a:schemeClr val="tx1"/>
                        </a:solidFill>
                        <a:effectLst/>
                        <a:latin typeface="Cambria Math" panose="02040503050406030204" pitchFamily="18" charset="0"/>
                        <a:ea typeface="+mn-ea"/>
                        <a:cs typeface="Times New Roman" panose="020205030504050903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en-US" sz="2000" dirty="0">
                    <a:latin typeface="+mn-lt"/>
                    <a:ea typeface="+mn-ea"/>
                    <a:cs typeface="Times New Roman" panose="02020503050405090304" pitchFamily="18" charset="0"/>
                  </a:rPr>
                  <a:t> 是一个乘法循环群。给定</a:t>
                </a:r>
                <a:r>
                  <a:rPr lang="en-US" altLang="zh-CN" sz="2000" dirty="0">
                    <a:latin typeface="+mn-lt"/>
                    <a:ea typeface="+mn-ea"/>
                    <a:cs typeface="Times New Roman" panose="02020503050405090304" pitchFamily="18" charset="0"/>
                  </a:rPr>
                  <a:t> (</a:t>
                </a:r>
                <a14:m>
                  <m:oMath xmlns:m="http://schemas.openxmlformats.org/officeDocument/2006/math">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oMath>
                </a14:m>
                <a:r>
                  <a:rPr lang="en-US" altLang="zh-CN" sz="2000" dirty="0">
                    <a:cs typeface="Times New Roman" panose="02020503050405090304" pitchFamily="18" charset="0"/>
                  </a:rPr>
                  <a:t>,</a:t>
                </a:r>
                <a:r>
                  <a:rPr lang="en-US" altLang="zh-CN" sz="2000" i="1" dirty="0">
                    <a:cs typeface="Times New Roman" panose="02020503050405090304" pitchFamily="18" charset="0"/>
                  </a:rPr>
                  <a:t>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sup>
                    </m:sSup>
                  </m:oMath>
                </a14:m>
                <a:r>
                  <a:rPr lang="en-US" altLang="zh-CN" sz="2000" dirty="0">
                    <a:cs typeface="Times New Roman" panose="02020503050405090304" pitchFamily="18" charset="0"/>
                  </a:rPr>
                  <a:t>,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US" altLang="zh-CN" sz="2000" dirty="0">
                    <a:latin typeface="+mn-lt"/>
                    <a:ea typeface="+mn-ea"/>
                    <a:cs typeface="Times New Roman" panose="02020503050405090304" pitchFamily="18" charset="0"/>
                  </a:rPr>
                  <a:t>,</a:t>
                </a:r>
                <a:r>
                  <a:rPr lang="en-US" altLang="zh-CN" sz="2000" i="1" dirty="0">
                    <a:latin typeface="+mn-lt"/>
                    <a:ea typeface="+mn-ea"/>
                    <a:cs typeface="Times New Roman" panose="02020503050405090304" pitchFamily="18" charset="0"/>
                  </a:rPr>
                  <a:t> h</a:t>
                </a:r>
                <a:r>
                  <a:rPr lang="en-US" altLang="zh-CN" sz="2000" dirty="0">
                    <a:latin typeface="+mn-lt"/>
                    <a:ea typeface="+mn-ea"/>
                    <a:cs typeface="Times New Roman" panose="02020503050405090304" pitchFamily="18" charset="0"/>
                  </a:rPr>
                  <a:t>)</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m:t>
                    </m:r>
                    <m:sSup>
                      <m:sSupPr>
                        <m:ctrlP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ctrlPr>
                      </m:sSupPr>
                      <m:e>
                        <m:r>
                          <a:rPr lang="zh-CN" altLang="en-US" sz="2000" i="1">
                            <a:latin typeface="Cambria Math" panose="02040503050406030204" pitchFamily="18" charset="0"/>
                            <a:cs typeface="Times New Roman" panose="02020503050405090304" pitchFamily="18" charset="0"/>
                          </a:rPr>
                          <m:t>𝔾</m:t>
                        </m:r>
                      </m:e>
                      <m:sup>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4</m:t>
                        </m:r>
                      </m:sup>
                    </m:sSup>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m:t>
                    </m:r>
                  </m:oMath>
                </a14:m>
                <a:r>
                  <a:rPr lang="zh-CN" altLang="en-US" sz="2000" dirty="0">
                    <a:latin typeface="+mn-lt"/>
                    <a:ea typeface="+mn-ea"/>
                    <a:cs typeface="Times New Roman" panose="02020503050405090304" pitchFamily="18" charset="0"/>
                  </a:rPr>
                  <a:t>要判断 </a:t>
                </a:r>
                <a:r>
                  <a:rPr lang="en-US" altLang="zh-CN" sz="2000" i="1" dirty="0">
                    <a:latin typeface="+mn-lt"/>
                    <a:ea typeface="+mn-ea"/>
                    <a:cs typeface="Times New Roman" panose="02020503050405090304" pitchFamily="18" charset="0"/>
                  </a:rPr>
                  <a:t>h</a:t>
                </a:r>
                <a:r>
                  <a:rPr lang="en-US" altLang="zh-CN" sz="2000" dirty="0">
                    <a:latin typeface="+mn-lt"/>
                    <a:ea typeface="+mn-ea"/>
                    <a:cs typeface="Times New Roman" panose="02020503050405090304" pitchFamily="18" charset="0"/>
                  </a:rPr>
                  <a:t>=</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zh-CN" altLang="en-US" sz="2000" dirty="0">
                    <a:latin typeface="+mn-lt"/>
                    <a:ea typeface="+mn-ea"/>
                    <a:cs typeface="Times New Roman" panose="02020503050405090304" pitchFamily="18" charset="0"/>
                  </a:rPr>
                  <a:t> 是否成立，这被称为</a:t>
                </a:r>
                <a:r>
                  <a:rPr lang="en-US" altLang="zh-CN" sz="2000" dirty="0">
                    <a:latin typeface="+mn-lt"/>
                    <a:ea typeface="+mn-ea"/>
                    <a:cs typeface="Times New Roman" panose="02020503050405090304" pitchFamily="18" charset="0"/>
                  </a:rPr>
                  <a:t>DDH</a:t>
                </a:r>
                <a:r>
                  <a:rPr lang="zh-CN" altLang="en-US" sz="2000" dirty="0">
                    <a:latin typeface="+mn-lt"/>
                    <a:ea typeface="+mn-ea"/>
                    <a:cs typeface="Times New Roman" panose="02020503050405090304" pitchFamily="18" charset="0"/>
                  </a:rPr>
                  <a:t>问题，</a:t>
                </a:r>
                <a:r>
                  <a:rPr lang="zh-CN" altLang="en-US" sz="2000" dirty="0">
                    <a:cs typeface="Times New Roman" panose="02020503050405090304" pitchFamily="18" charset="0"/>
                  </a:rPr>
                  <a:t>其中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oMath>
                </a14:m>
                <a:r>
                  <a:rPr lang="zh-CN" altLang="en-US" sz="2000" dirty="0">
                    <a:cs typeface="Times New Roman" panose="02020503050405090304" pitchFamily="18" charset="0"/>
                  </a:rPr>
                  <a:t> 和</a:t>
                </a:r>
                <a14:m>
                  <m:oMath xmlns:m="http://schemas.openxmlformats.org/officeDocument/2006/math">
                    <m:r>
                      <a:rPr lang="zh-CN" altLang="en-US" sz="2000" b="0" i="0" smtClean="0">
                        <a:latin typeface="Cambria Math" panose="02040503050406030204" pitchFamily="18" charset="0"/>
                        <a:ea typeface="Cambria Math" panose="02040503050406030204" pitchFamily="18" charset="0"/>
                        <a:cs typeface="Times New Roman" panose="02020503050405090304" pitchFamily="18" charset="0"/>
                      </a:rPr>
                      <m:t> </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r>
                      <a:rPr lang="zh-CN" altLang="en-US" sz="2000" b="0" i="1" smtClean="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sz="2000" dirty="0"/>
                  <a:t>的值未知、</a:t>
                </a:r>
                <a:r>
                  <a:rPr lang="en-US" altLang="zh-CN" sz="2000" dirty="0">
                    <a:cs typeface="Times New Roman" panose="02020503050405090304" pitchFamily="18" charset="0"/>
                  </a:rPr>
                  <a:t>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 ∈</m:t>
                    </m:r>
                    <m:r>
                      <a:rPr lang="zh-CN" altLang="en-US" sz="2000" i="1">
                        <a:latin typeface="Cambria Math" panose="02040503050406030204" pitchFamily="18" charset="0"/>
                        <a:cs typeface="Times New Roman" panose="02020503050405090304" pitchFamily="18" charset="0"/>
                      </a:rPr>
                      <m:t>𝔾</m:t>
                    </m:r>
                  </m:oMath>
                </a14:m>
                <a:r>
                  <a:rPr lang="zh-CN" altLang="en-US" sz="2000" dirty="0"/>
                  <a:t>。</a:t>
                </a:r>
                <a:endParaRPr lang="zh-CN" altLang="en-US" sz="2000" dirty="0">
                  <a:cs typeface="Times New Roman" panose="02020503050405090304" pitchFamily="18" charset="0"/>
                </a:endParaRPr>
              </a:p>
            </p:txBody>
          </p:sp>
        </mc:Choice>
        <mc:Fallback xmlns="">
          <p:sp>
            <p:nvSpPr>
              <p:cNvPr id="13" name="TextBox 5">
                <a:extLst>
                  <a:ext uri="{FF2B5EF4-FFF2-40B4-BE49-F238E27FC236}">
                    <a16:creationId xmlns:a16="http://schemas.microsoft.com/office/drawing/2014/main" id="{72DA6078-1CB1-4360-CFEB-2150E6777FDA}"/>
                  </a:ext>
                </a:extLst>
              </p:cNvPr>
              <p:cNvSpPr txBox="1">
                <a:spLocks noRot="1" noChangeAspect="1" noMove="1" noResize="1" noEditPoints="1" noAdjustHandles="1" noChangeArrowheads="1" noChangeShapeType="1" noTextEdit="1"/>
              </p:cNvSpPr>
              <p:nvPr/>
            </p:nvSpPr>
            <p:spPr>
              <a:xfrm>
                <a:off x="624153" y="4451871"/>
                <a:ext cx="10755232" cy="1101101"/>
              </a:xfrm>
              <a:prstGeom prst="rect">
                <a:avLst/>
              </a:prstGeom>
              <a:blipFill>
                <a:blip r:embed="rId4"/>
                <a:stretch>
                  <a:fillRect l="-1416" t="-7182" r="-1020" b="-2044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AA5A2046-AA4C-C34A-EE8D-138F62BD018E}"/>
              </a:ext>
            </a:extLst>
          </p:cNvPr>
          <p:cNvSpPr txBox="1"/>
          <p:nvPr/>
        </p:nvSpPr>
        <p:spPr>
          <a:xfrm>
            <a:off x="636344" y="1448336"/>
            <a:ext cx="10289212" cy="853311"/>
          </a:xfrm>
          <a:prstGeom prst="rect">
            <a:avLst/>
          </a:prstGeom>
          <a:noFill/>
        </p:spPr>
        <p:txBody>
          <a:bodyPr wrap="square">
            <a:spAutoFit/>
          </a:bodyPr>
          <a:lstStyle/>
          <a:p>
            <a:pPr>
              <a:lnSpc>
                <a:spcPct val="130000"/>
              </a:lnSpc>
            </a:pPr>
            <a:r>
              <a:rPr lang="zh-CN" altLang="en-US" sz="2000" dirty="0"/>
              <a:t>除离散对数问题外，</a:t>
            </a:r>
            <a:r>
              <a:rPr lang="en" altLang="zh-CN" sz="2000" dirty="0"/>
              <a:t>ElGamal </a:t>
            </a:r>
            <a:r>
              <a:rPr lang="zh-CN" altLang="en-US" sz="2000" dirty="0"/>
              <a:t>公钥加密方案的安全性也依赖于计算 </a:t>
            </a:r>
            <a:r>
              <a:rPr lang="en" altLang="zh-CN" sz="2000" dirty="0"/>
              <a:t>Diffie-Hellman </a:t>
            </a:r>
            <a:r>
              <a:rPr lang="zh-CN" altLang="en-US" sz="2000" dirty="0"/>
              <a:t>问题 （</a:t>
            </a:r>
            <a:r>
              <a:rPr lang="en" altLang="zh-CN" sz="2000" dirty="0"/>
              <a:t>CDH </a:t>
            </a:r>
            <a:r>
              <a:rPr lang="zh-CN" altLang="en-US" sz="2000" dirty="0"/>
              <a:t>问题）和判定 </a:t>
            </a:r>
            <a:r>
              <a:rPr lang="en" altLang="zh-CN" sz="2000" dirty="0"/>
              <a:t>Diffie-Hellman </a:t>
            </a:r>
            <a:r>
              <a:rPr lang="zh-CN" altLang="en-US" sz="2000" dirty="0"/>
              <a:t>问题（</a:t>
            </a:r>
            <a:r>
              <a:rPr lang="en" altLang="zh-CN" sz="2000" dirty="0"/>
              <a:t>DDH </a:t>
            </a:r>
            <a:r>
              <a:rPr lang="zh-CN" altLang="en-US" sz="2000" dirty="0"/>
              <a:t>问题）的难解性。</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0C65E3B-A698-483C-9B4C-DA2F283C283E}"/>
                  </a:ext>
                </a:extLst>
              </p:cNvPr>
              <p:cNvSpPr txBox="1"/>
              <p:nvPr/>
            </p:nvSpPr>
            <p:spPr>
              <a:xfrm>
                <a:off x="2638800" y="3778434"/>
                <a:ext cx="1659600" cy="400110"/>
              </a:xfrm>
              <a:prstGeom prst="rect">
                <a:avLst/>
              </a:prstGeom>
              <a:noFill/>
            </p:spPr>
            <p:txBody>
              <a:bodyPr wrap="square">
                <a:spAutoFit/>
              </a:bodyPr>
              <a:lstStyle/>
              <a:p>
                <a14:m>
                  <m:oMath xmlns:m="http://schemas.openxmlformats.org/officeDocument/2006/math">
                    <m:sSub>
                      <m:sSubPr>
                        <m:ctrlPr>
                          <a:rPr lang="zh-CN" altLang="zh-CN" sz="2000" i="1" smtClean="0">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solidFill>
                          <a:srgbClr val="000000"/>
                        </a:solidFill>
                        <a:latin typeface="Cambria Math" panose="02040503050406030204" pitchFamily="18" charset="0"/>
                        <a:cs typeface="宋体" pitchFamily="2" charset="-122"/>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𝑌</m:t>
                        </m:r>
                      </m:e>
                      <m:sup>
                        <m:r>
                          <a:rPr lang="en-US" altLang="zh-CN" sz="2000" i="1">
                            <a:latin typeface="Cambria Math" panose="02040503050406030204" pitchFamily="18" charset="0"/>
                          </a:rPr>
                          <m:t>𝑟</m:t>
                        </m:r>
                      </m:sup>
                    </m:sSup>
                  </m:oMath>
                </a14:m>
                <a:r>
                  <a:rPr lang="en-US" altLang="zh-CN" sz="2000" dirty="0">
                    <a:latin typeface="+mn-lt"/>
                  </a:rPr>
                  <a:t> </a:t>
                </a:r>
                <a:endParaRPr lang="zh-CN" altLang="en-US" sz="2000" dirty="0"/>
              </a:p>
            </p:txBody>
          </p:sp>
        </mc:Choice>
        <mc:Fallback xmlns="">
          <p:sp>
            <p:nvSpPr>
              <p:cNvPr id="15" name="文本框 14">
                <a:extLst>
                  <a:ext uri="{FF2B5EF4-FFF2-40B4-BE49-F238E27FC236}">
                    <a16:creationId xmlns:a16="http://schemas.microsoft.com/office/drawing/2014/main" id="{A0C65E3B-A698-483C-9B4C-DA2F283C283E}"/>
                  </a:ext>
                </a:extLst>
              </p:cNvPr>
              <p:cNvSpPr txBox="1">
                <a:spLocks noRot="1" noChangeAspect="1" noMove="1" noResize="1" noEditPoints="1" noAdjustHandles="1" noChangeArrowheads="1" noChangeShapeType="1" noTextEdit="1"/>
              </p:cNvSpPr>
              <p:nvPr/>
            </p:nvSpPr>
            <p:spPr>
              <a:xfrm>
                <a:off x="2638800" y="3778434"/>
                <a:ext cx="1659600" cy="400110"/>
              </a:xfrm>
              <a:prstGeom prst="rect">
                <a:avLst/>
              </a:prstGeom>
              <a:blipFill>
                <a:blip r:embed="rId5"/>
                <a:stretch>
                  <a:fillRect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0D0212E-E42E-41A5-BC3C-F1E20914EB3D}"/>
                  </a:ext>
                </a:extLst>
              </p:cNvPr>
              <p:cNvSpPr txBox="1"/>
              <p:nvPr/>
            </p:nvSpPr>
            <p:spPr>
              <a:xfrm>
                <a:off x="4298400" y="3793823"/>
                <a:ext cx="3316934" cy="400110"/>
              </a:xfrm>
              <a:prstGeom prst="rect">
                <a:avLst/>
              </a:prstGeom>
              <a:noFill/>
            </p:spPr>
            <p:txBody>
              <a:bodyPr wrap="none" rtlCol="0">
                <a:spAutoFit/>
              </a:bodyPr>
              <a:lstStyle/>
              <a:p>
                <a:r>
                  <a:rPr lang="zh-CN" altLang="en-US" sz="2000" dirty="0"/>
                  <a:t>这里求</a:t>
                </a:r>
                <a14:m>
                  <m:oMath xmlns:m="http://schemas.openxmlformats.org/officeDocument/2006/math">
                    <m:sSup>
                      <m:sSupPr>
                        <m:ctrlPr>
                          <a:rPr lang="zh-CN" altLang="zh-CN" sz="2000" i="1" smtClean="0">
                            <a:latin typeface="Cambria Math" panose="02040503050406030204" pitchFamily="18" charset="0"/>
                          </a:rPr>
                        </m:ctrlPr>
                      </m:sSupPr>
                      <m:e>
                        <m:r>
                          <a:rPr lang="en-US" altLang="zh-CN" sz="2000" i="1">
                            <a:latin typeface="Cambria Math" panose="02040503050406030204" pitchFamily="18" charset="0"/>
                          </a:rPr>
                          <m:t>𝑌</m:t>
                        </m:r>
                      </m:e>
                      <m:sup>
                        <m:r>
                          <a:rPr lang="en-US" altLang="zh-CN" sz="2000" i="1">
                            <a:latin typeface="Cambria Math" panose="02040503050406030204" pitchFamily="18" charset="0"/>
                          </a:rPr>
                          <m:t>𝑟</m:t>
                        </m:r>
                      </m:sup>
                    </m:sSup>
                  </m:oMath>
                </a14:m>
                <a:r>
                  <a:rPr lang="zh-CN" altLang="en-US" sz="2000" dirty="0"/>
                  <a:t>是一个</a:t>
                </a:r>
                <a:r>
                  <a:rPr lang="en-US" altLang="zh-CN" sz="2000" dirty="0"/>
                  <a:t>CDH</a:t>
                </a:r>
                <a:r>
                  <a:rPr lang="zh-CN" altLang="en-US" sz="2000" dirty="0"/>
                  <a:t>问题。</a:t>
                </a:r>
              </a:p>
            </p:txBody>
          </p:sp>
        </mc:Choice>
        <mc:Fallback xmlns="">
          <p:sp>
            <p:nvSpPr>
              <p:cNvPr id="5" name="文本框 4">
                <a:extLst>
                  <a:ext uri="{FF2B5EF4-FFF2-40B4-BE49-F238E27FC236}">
                    <a16:creationId xmlns:a16="http://schemas.microsoft.com/office/drawing/2014/main" id="{C0D0212E-E42E-41A5-BC3C-F1E20914EB3D}"/>
                  </a:ext>
                </a:extLst>
              </p:cNvPr>
              <p:cNvSpPr txBox="1">
                <a:spLocks noRot="1" noChangeAspect="1" noMove="1" noResize="1" noEditPoints="1" noAdjustHandles="1" noChangeArrowheads="1" noChangeShapeType="1" noTextEdit="1"/>
              </p:cNvSpPr>
              <p:nvPr/>
            </p:nvSpPr>
            <p:spPr>
              <a:xfrm>
                <a:off x="4298400" y="3793823"/>
                <a:ext cx="3316934" cy="400110"/>
              </a:xfrm>
              <a:prstGeom prst="rect">
                <a:avLst/>
              </a:prstGeom>
              <a:blipFill>
                <a:blip r:embed="rId6"/>
                <a:stretch>
                  <a:fillRect l="-1838" t="-7576" r="-147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F9A67E5-93E5-4DAB-9748-38A9339ACB8D}"/>
                  </a:ext>
                </a:extLst>
              </p:cNvPr>
              <p:cNvSpPr txBox="1"/>
              <p:nvPr/>
            </p:nvSpPr>
            <p:spPr>
              <a:xfrm>
                <a:off x="3051000" y="5931251"/>
                <a:ext cx="4138890" cy="401713"/>
              </a:xfrm>
              <a:prstGeom prst="rect">
                <a:avLst/>
              </a:prstGeom>
              <a:noFill/>
            </p:spPr>
            <p:txBody>
              <a:bodyPr wrap="none" rtlCol="0">
                <a:spAutoFit/>
              </a:bodyPr>
              <a:lstStyle/>
              <a:p>
                <a:r>
                  <a:rPr lang="zh-CN" altLang="en-US" sz="2000" dirty="0"/>
                  <a:t>这里</a:t>
                </a:r>
                <a14:m>
                  <m:oMath xmlns:m="http://schemas.openxmlformats.org/officeDocument/2006/math">
                    <m:r>
                      <a:rPr lang="en-US" altLang="zh-CN" sz="2000" i="1" dirty="0">
                        <a:latin typeface="Cambria Math" panose="02040503050406030204" pitchFamily="18" charset="0"/>
                      </a:rPr>
                      <m:t>𝐶</m:t>
                    </m:r>
                    <m:r>
                      <a:rPr lang="en-US" altLang="zh-CN" sz="2000" b="0" i="1" baseline="-25000" dirty="0" smtClean="0">
                        <a:latin typeface="Cambria Math" panose="02040503050406030204" pitchFamily="18" charset="0"/>
                      </a:rPr>
                      <m:t>2</m:t>
                    </m:r>
                    <m:r>
                      <a:rPr lang="en-US" altLang="zh-CN" sz="2000" i="1">
                        <a:solidFill>
                          <a:srgbClr val="000000"/>
                        </a:solidFill>
                        <a:latin typeface="Cambria Math" panose="02040503050406030204" pitchFamily="18" charset="0"/>
                        <a:cs typeface="宋体" pitchFamily="2" charset="-122"/>
                      </a:rPr>
                      <m:t>×</m:t>
                    </m:r>
                    <m:sSup>
                      <m:sSupPr>
                        <m:ctrlPr>
                          <a:rPr lang="zh-CN" altLang="zh-CN" sz="2000" i="1">
                            <a:latin typeface="Cambria Math" panose="02040503050406030204" pitchFamily="18" charset="0"/>
                          </a:rPr>
                        </m:ctrlPr>
                      </m:sSupPr>
                      <m:e>
                        <m:r>
                          <a:rPr lang="en-US" altLang="zh-CN" sz="2000" b="0" i="1">
                            <a:latin typeface="Cambria Math" panose="02040503050406030204" pitchFamily="18" charset="0"/>
                          </a:rPr>
                          <m:t>𝑀</m:t>
                        </m:r>
                        <m:r>
                          <a:rPr lang="en-US" altLang="zh-CN" sz="2000" i="1" baseline="-25000">
                            <a:latin typeface="Cambria Math" panose="02040503050406030204" pitchFamily="18" charset="0"/>
                          </a:rPr>
                          <m:t>𝑖</m:t>
                        </m:r>
                      </m:e>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p>
                    </m:sSup>
                    <m:r>
                      <a:rPr lang="zh-CN" altLang="en-US" sz="2000" i="1">
                        <a:latin typeface="Cambria Math" panose="02040503050406030204" pitchFamily="18" charset="0"/>
                      </a:rPr>
                      <m:t>存在</m:t>
                    </m:r>
                  </m:oMath>
                </a14:m>
                <a:r>
                  <a:rPr lang="zh-CN" altLang="en-US" sz="2000" dirty="0"/>
                  <a:t>一个</a:t>
                </a:r>
                <a:r>
                  <a:rPr lang="en-US" altLang="zh-CN" sz="2000" dirty="0"/>
                  <a:t>DDH</a:t>
                </a:r>
                <a:r>
                  <a:rPr lang="zh-CN" altLang="en-US" sz="2000" dirty="0"/>
                  <a:t>问题。</a:t>
                </a:r>
              </a:p>
            </p:txBody>
          </p:sp>
        </mc:Choice>
        <mc:Fallback xmlns="">
          <p:sp>
            <p:nvSpPr>
              <p:cNvPr id="16" name="文本框 15">
                <a:extLst>
                  <a:ext uri="{FF2B5EF4-FFF2-40B4-BE49-F238E27FC236}">
                    <a16:creationId xmlns:a16="http://schemas.microsoft.com/office/drawing/2014/main" id="{0F9A67E5-93E5-4DAB-9748-38A9339ACB8D}"/>
                  </a:ext>
                </a:extLst>
              </p:cNvPr>
              <p:cNvSpPr txBox="1">
                <a:spLocks noRot="1" noChangeAspect="1" noMove="1" noResize="1" noEditPoints="1" noAdjustHandles="1" noChangeArrowheads="1" noChangeShapeType="1" noTextEdit="1"/>
              </p:cNvSpPr>
              <p:nvPr/>
            </p:nvSpPr>
            <p:spPr>
              <a:xfrm>
                <a:off x="3051000" y="5931251"/>
                <a:ext cx="4138890" cy="401713"/>
              </a:xfrm>
              <a:prstGeom prst="rect">
                <a:avLst/>
              </a:prstGeom>
              <a:blipFill>
                <a:blip r:embed="rId7"/>
                <a:stretch>
                  <a:fillRect l="-1473" t="-9091" r="-73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1073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Rounded Rectangle 5"/>
          <p:cNvSpPr/>
          <p:nvPr/>
        </p:nvSpPr>
        <p:spPr>
          <a:xfrm>
            <a:off x="1421774" y="1386430"/>
            <a:ext cx="3871831" cy="3558921"/>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1604653" y="1505302"/>
            <a:ext cx="4937759"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latin typeface="+mn-lt"/>
              </a:rPr>
              <a:t>两次加密使用相同</a:t>
            </a:r>
            <a:r>
              <a:rPr sz="2400" dirty="0">
                <a:latin typeface="+mn-lt"/>
              </a:rPr>
              <a:t> </a:t>
            </a:r>
            <a:r>
              <a:rPr sz="2400" i="1" dirty="0">
                <a:latin typeface="+mn-lt"/>
              </a:rPr>
              <a:t>r</a:t>
            </a:r>
          </a:p>
        </p:txBody>
      </p:sp>
      <mc:AlternateContent xmlns:mc="http://schemas.openxmlformats.org/markup-compatibility/2006" xmlns:a14="http://schemas.microsoft.com/office/drawing/2010/main">
        <mc:Choice Requires="a14">
          <p:sp>
            <p:nvSpPr>
              <p:cNvPr id="7" name="TextBox 7"/>
              <p:cNvSpPr txBox="1"/>
              <p:nvPr/>
            </p:nvSpPr>
            <p:spPr>
              <a:xfrm>
                <a:off x="1604653" y="1989934"/>
                <a:ext cx="4937759" cy="2662780"/>
              </a:xfrm>
              <a:prstGeom prst="rect">
                <a:avLst/>
              </a:prstGeom>
              <a:noFill/>
            </p:spPr>
            <p:txBody>
              <a:bodyPr wrap="square" lIns="73152" tIns="64008">
                <a:spAutoFit/>
              </a:bodyPr>
              <a:lstStyle/>
              <a:p>
                <a:pPr>
                  <a:spcAft>
                    <a:spcPts val="1100"/>
                  </a:spcAft>
                  <a:defRPr sz="2200" b="0">
                    <a:solidFill>
                      <a:srgbClr val="2C2C2F"/>
                    </a:solidFill>
                    <a:latin typeface="微软雅黑"/>
                  </a:defRPr>
                </a:pPr>
                <a:r>
                  <a:rPr sz="2000" dirty="0">
                    <a:latin typeface="+mn-lt"/>
                  </a:rPr>
                  <a:t>ElGamal </a:t>
                </a:r>
                <a:r>
                  <a:rPr sz="2000" dirty="0" err="1">
                    <a:latin typeface="+mn-lt"/>
                  </a:rPr>
                  <a:t>密文</a:t>
                </a:r>
                <a:r>
                  <a:rPr sz="2000" dirty="0">
                    <a:latin typeface="+mn-lt"/>
                  </a:rPr>
                  <a:t>：</a:t>
                </a:r>
              </a:p>
              <a:p>
                <a:pPr>
                  <a:spcAft>
                    <a:spcPts val="1100"/>
                  </a:spcAft>
                  <a:defRPr sz="2200" b="0">
                    <a:solidFill>
                      <a:srgbClr val="2C2C2F"/>
                    </a:solidFill>
                    <a:latin typeface="微软雅黑"/>
                  </a:defRPr>
                </a:pPr>
                <a:r>
                  <a:rPr sz="2000" dirty="0">
                    <a:latin typeface="+mn-lt"/>
                  </a:rPr>
                  <a:t>(</a:t>
                </a:r>
                <a:r>
                  <a:rPr sz="2000" i="1" dirty="0">
                    <a:latin typeface="+mn-lt"/>
                  </a:rPr>
                  <a:t>C</a:t>
                </a:r>
                <a:r>
                  <a:rPr sz="2000" dirty="0">
                    <a:latin typeface="+mn-lt"/>
                  </a:rPr>
                  <a:t>₁,</a:t>
                </a:r>
                <a:r>
                  <a:rPr lang="zh-CN" altLang="en-US" sz="2000" dirty="0">
                    <a:latin typeface="+mn-lt"/>
                  </a:rPr>
                  <a:t> </a:t>
                </a:r>
                <a:r>
                  <a:rPr sz="2000" i="1" dirty="0">
                    <a:latin typeface="+mn-lt"/>
                  </a:rPr>
                  <a:t>C</a:t>
                </a:r>
                <a:r>
                  <a:rPr sz="2000" dirty="0">
                    <a:latin typeface="+mn-lt"/>
                  </a:rPr>
                  <a:t>₂) = (</a:t>
                </a:r>
                <a:r>
                  <a:rPr sz="2000" i="1" dirty="0" err="1">
                    <a:latin typeface="+mn-lt"/>
                  </a:rPr>
                  <a:t>gʳ</a:t>
                </a:r>
                <a:r>
                  <a:rPr sz="2000" dirty="0">
                    <a:latin typeface="+mn-lt"/>
                  </a:rPr>
                  <a:t>, </a:t>
                </a:r>
                <a:r>
                  <a:rPr sz="2000" i="1" dirty="0">
                    <a:latin typeface="+mn-lt"/>
                  </a:rPr>
                  <a:t>M</a:t>
                </a:r>
                <a:r>
                  <a:rPr lang="en-US" altLang="zh-CN" sz="2000" dirty="0">
                    <a:ea typeface="Cambria Math" panose="02040503050406030204" pitchFamily="18" charset="0"/>
                    <a:cs typeface="Times New Roman" panose="02020503050405090304" pitchFamily="18" charset="0"/>
                  </a:rPr>
                  <a: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 </m:t>
                    </m:r>
                  </m:oMath>
                </a14:m>
                <a:r>
                  <a:rPr sz="2000" i="1" dirty="0" err="1">
                    <a:latin typeface="+mn-lt"/>
                  </a:rPr>
                  <a:t>Yʳ</a:t>
                </a:r>
                <a:r>
                  <a:rPr sz="2000" dirty="0">
                    <a:latin typeface="+mn-lt"/>
                  </a:rPr>
                  <a:t>)</a:t>
                </a:r>
              </a:p>
              <a:p>
                <a:pPr>
                  <a:spcAft>
                    <a:spcPts val="1100"/>
                  </a:spcAft>
                  <a:defRPr sz="2200" b="0">
                    <a:solidFill>
                      <a:srgbClr val="2C2C2F"/>
                    </a:solidFill>
                    <a:latin typeface="微软雅黑"/>
                  </a:defRPr>
                </a:pPr>
                <a:endParaRPr sz="2000" dirty="0">
                  <a:latin typeface="+mn-lt"/>
                </a:endParaRPr>
              </a:p>
              <a:p>
                <a:pPr>
                  <a:spcAft>
                    <a:spcPts val="1100"/>
                  </a:spcAft>
                  <a:defRPr sz="2200" b="0">
                    <a:solidFill>
                      <a:srgbClr val="2C2C2F"/>
                    </a:solidFill>
                    <a:latin typeface="微软雅黑"/>
                  </a:defRPr>
                </a:pPr>
                <a:r>
                  <a:rPr sz="2000" dirty="0">
                    <a:latin typeface="+mn-lt"/>
                  </a:rPr>
                  <a:t>对 </a:t>
                </a:r>
                <a:r>
                  <a:rPr sz="2000" i="1" dirty="0">
                    <a:latin typeface="+mn-lt"/>
                  </a:rPr>
                  <a:t>M</a:t>
                </a:r>
                <a:r>
                  <a:rPr sz="2000" dirty="0">
                    <a:latin typeface="+mn-lt"/>
                  </a:rPr>
                  <a:t>₁、</a:t>
                </a:r>
                <a:r>
                  <a:rPr lang="en-GB" altLang="zh-CN" sz="2000" i="1" dirty="0">
                    <a:latin typeface="+mn-lt"/>
                  </a:rPr>
                  <a:t>M </a:t>
                </a:r>
                <a:r>
                  <a:rPr sz="2000" dirty="0">
                    <a:latin typeface="+mn-lt"/>
                  </a:rPr>
                  <a:t>₂ </a:t>
                </a:r>
                <a:r>
                  <a:rPr sz="2000" dirty="0" err="1">
                    <a:latin typeface="+mn-lt"/>
                  </a:rPr>
                  <a:t>重用</a:t>
                </a:r>
                <a:r>
                  <a:rPr sz="2000" dirty="0">
                    <a:latin typeface="+mn-lt"/>
                  </a:rPr>
                  <a:t> </a:t>
                </a:r>
                <a:r>
                  <a:rPr sz="2000" i="1" dirty="0">
                    <a:latin typeface="+mn-lt"/>
                  </a:rPr>
                  <a:t>r</a:t>
                </a:r>
                <a:r>
                  <a:rPr sz="2000" dirty="0">
                    <a:latin typeface="+mn-lt"/>
                  </a:rPr>
                  <a:t>：</a:t>
                </a:r>
              </a:p>
              <a:p>
                <a:pPr>
                  <a:spcAft>
                    <a:spcPts val="1100"/>
                  </a:spcAft>
                  <a:defRPr sz="2200" b="0">
                    <a:solidFill>
                      <a:srgbClr val="2C2C2F"/>
                    </a:solidFill>
                    <a:latin typeface="微软雅黑"/>
                  </a:defRPr>
                </a:pPr>
                <a:r>
                  <a:rPr sz="2000" i="1" dirty="0">
                    <a:latin typeface="+mn-lt"/>
                  </a:rPr>
                  <a:t>C</a:t>
                </a:r>
                <a:r>
                  <a:rPr sz="2000" dirty="0">
                    <a:latin typeface="+mn-lt"/>
                  </a:rPr>
                  <a:t>₂,₁ = </a:t>
                </a:r>
                <a:r>
                  <a:rPr lang="en-GB" altLang="zh-CN" sz="2000" i="1" dirty="0">
                    <a:latin typeface="+mn-lt"/>
                  </a:rPr>
                  <a:t>M </a:t>
                </a:r>
                <a:r>
                  <a:rPr sz="2000" dirty="0">
                    <a:latin typeface="+mn-lt"/>
                  </a:rPr>
                  <a:t>₁</a:t>
                </a:r>
                <a:r>
                  <a:rPr lang="en-GB" altLang="zh-CN" sz="2000" i="1" dirty="0">
                    <a:latin typeface="+mn-lt"/>
                  </a:rPr>
                  <a: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 </m:t>
                    </m:r>
                  </m:oMath>
                </a14:m>
                <a:r>
                  <a:rPr lang="en-GB" altLang="zh-CN" sz="2000" i="1" dirty="0" err="1">
                    <a:latin typeface="+mn-lt"/>
                  </a:rPr>
                  <a:t>Yʳ</a:t>
                </a:r>
                <a:endParaRPr sz="2000" dirty="0">
                  <a:latin typeface="+mn-lt"/>
                </a:endParaRPr>
              </a:p>
              <a:p>
                <a:pPr>
                  <a:spcAft>
                    <a:spcPts val="1100"/>
                  </a:spcAft>
                  <a:defRPr sz="2200" b="0">
                    <a:solidFill>
                      <a:srgbClr val="2C2C2F"/>
                    </a:solidFill>
                    <a:latin typeface="微软雅黑"/>
                  </a:defRPr>
                </a:pPr>
                <a:r>
                  <a:rPr sz="2000" i="1" dirty="0">
                    <a:latin typeface="+mn-lt"/>
                  </a:rPr>
                  <a:t>C</a:t>
                </a:r>
                <a:r>
                  <a:rPr sz="2000" dirty="0">
                    <a:latin typeface="+mn-lt"/>
                  </a:rPr>
                  <a:t>₂,₂ = </a:t>
                </a:r>
                <a:r>
                  <a:rPr lang="en-GB" altLang="zh-CN" sz="2000" i="1" dirty="0">
                    <a:latin typeface="+mn-lt"/>
                  </a:rPr>
                  <a:t>M </a:t>
                </a:r>
                <a:r>
                  <a:rPr sz="2000" dirty="0">
                    <a:latin typeface="+mn-lt"/>
                  </a:rPr>
                  <a:t>₂</a:t>
                </a:r>
                <a:r>
                  <a:rPr lang="en-US" altLang="zh-CN" sz="2000" dirty="0">
                    <a:ea typeface="Cambria Math" panose="02040503050406030204" pitchFamily="18" charset="0"/>
                    <a:cs typeface="Times New Roman" panose="02020503050405090304" pitchFamily="18" charset="0"/>
                  </a:rPr>
                  <a: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 </m:t>
                    </m:r>
                  </m:oMath>
                </a14:m>
                <a:r>
                  <a:rPr sz="2000" i="1" dirty="0" err="1">
                    <a:latin typeface="+mn-lt"/>
                  </a:rPr>
                  <a:t>Yʳ</a:t>
                </a:r>
                <a:endParaRPr sz="2000" i="1" dirty="0">
                  <a:latin typeface="+mn-lt"/>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1604653" y="1989934"/>
                <a:ext cx="4937759" cy="2662780"/>
              </a:xfrm>
              <a:prstGeom prst="rect">
                <a:avLst/>
              </a:prstGeom>
              <a:blipFill>
                <a:blip r:embed="rId3"/>
                <a:stretch>
                  <a:fillRect l="-1538" t="-474" b="-2844"/>
                </a:stretch>
              </a:blipFill>
            </p:spPr>
            <p:txBody>
              <a:bodyPr/>
              <a:lstStyle/>
              <a:p>
                <a:r>
                  <a:rPr lang="zh-CN" altLang="en-US">
                    <a:noFill/>
                  </a:rPr>
                  <a:t> </a:t>
                </a:r>
              </a:p>
            </p:txBody>
          </p:sp>
        </mc:Fallback>
      </mc:AlternateContent>
      <p:sp>
        <p:nvSpPr>
          <p:cNvPr id="15" name="Rounded Rectangle 8"/>
          <p:cNvSpPr/>
          <p:nvPr/>
        </p:nvSpPr>
        <p:spPr>
          <a:xfrm>
            <a:off x="6599691" y="1415547"/>
            <a:ext cx="4170535" cy="3526917"/>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9"/>
          <p:cNvSpPr txBox="1"/>
          <p:nvPr/>
        </p:nvSpPr>
        <p:spPr>
          <a:xfrm>
            <a:off x="6661028" y="1502415"/>
            <a:ext cx="4329802"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err="1"/>
              <a:t>已知一个明文即可推导另一个</a:t>
            </a:r>
            <a:endParaRPr sz="2400" dirty="0"/>
          </a:p>
        </p:txBody>
      </p:sp>
      <mc:AlternateContent xmlns:mc="http://schemas.openxmlformats.org/markup-compatibility/2006" xmlns:a14="http://schemas.microsoft.com/office/drawing/2010/main">
        <mc:Choice Requires="a14">
          <p:sp>
            <p:nvSpPr>
              <p:cNvPr id="17" name="TextBox 10"/>
              <p:cNvSpPr txBox="1"/>
              <p:nvPr/>
            </p:nvSpPr>
            <p:spPr>
              <a:xfrm>
                <a:off x="6773427" y="2131115"/>
                <a:ext cx="4928616" cy="2662780"/>
              </a:xfrm>
              <a:prstGeom prst="rect">
                <a:avLst/>
              </a:prstGeom>
              <a:noFill/>
            </p:spPr>
            <p:txBody>
              <a:bodyPr wrap="square" lIns="73152" tIns="64008">
                <a:spAutoFit/>
              </a:bodyPr>
              <a:lstStyle/>
              <a:p>
                <a:pPr>
                  <a:spcAft>
                    <a:spcPts val="1100"/>
                  </a:spcAft>
                  <a:defRPr sz="2000" b="0">
                    <a:solidFill>
                      <a:srgbClr val="2C2C2F"/>
                    </a:solidFill>
                    <a:latin typeface="微软雅黑"/>
                  </a:defRPr>
                </a:pPr>
                <a:r>
                  <a:rPr dirty="0" err="1">
                    <a:latin typeface="+mn-lt"/>
                  </a:rPr>
                  <a:t>由密文之比可得</a:t>
                </a:r>
                <a:r>
                  <a:rPr dirty="0">
                    <a:latin typeface="+mn-lt"/>
                  </a:rPr>
                  <a:t>：</a:t>
                </a:r>
              </a:p>
              <a:p>
                <a:pPr>
                  <a:spcAft>
                    <a:spcPts val="1100"/>
                  </a:spcAft>
                  <a:defRPr sz="2000" b="0">
                    <a:solidFill>
                      <a:srgbClr val="2C2C2F"/>
                    </a:solidFill>
                    <a:latin typeface="微软雅黑"/>
                  </a:defRPr>
                </a:pPr>
                <a:r>
                  <a:rPr i="1" dirty="0">
                    <a:latin typeface="+mn-lt"/>
                  </a:rPr>
                  <a:t>C</a:t>
                </a:r>
                <a:r>
                  <a:rPr dirty="0">
                    <a:latin typeface="+mn-lt"/>
                  </a:rPr>
                  <a:t>₂,₂ / </a:t>
                </a:r>
                <a:r>
                  <a:rPr i="1" dirty="0">
                    <a:latin typeface="+mn-lt"/>
                  </a:rPr>
                  <a:t>C</a:t>
                </a:r>
                <a:r>
                  <a:rPr dirty="0">
                    <a:latin typeface="+mn-lt"/>
                  </a:rPr>
                  <a:t>₂,₁ = </a:t>
                </a:r>
                <a:r>
                  <a:rPr lang="en-GB" altLang="zh-CN" sz="2000" i="1" dirty="0">
                    <a:latin typeface="+mn-lt"/>
                  </a:rPr>
                  <a:t>M </a:t>
                </a:r>
                <a:r>
                  <a:rPr dirty="0">
                    <a:latin typeface="+mn-lt"/>
                  </a:rPr>
                  <a:t>₂ / </a:t>
                </a:r>
                <a:r>
                  <a:rPr lang="en-GB" altLang="zh-CN" sz="2000" i="1" dirty="0">
                    <a:latin typeface="+mn-lt"/>
                  </a:rPr>
                  <a:t>M </a:t>
                </a:r>
                <a:r>
                  <a:rPr dirty="0">
                    <a:latin typeface="+mn-lt"/>
                  </a:rPr>
                  <a:t>₁</a:t>
                </a:r>
              </a:p>
              <a:p>
                <a:pPr>
                  <a:spcAft>
                    <a:spcPts val="1100"/>
                  </a:spcAft>
                  <a:defRPr sz="2000" b="0">
                    <a:solidFill>
                      <a:srgbClr val="2C2C2F"/>
                    </a:solidFill>
                    <a:latin typeface="微软雅黑"/>
                  </a:defRPr>
                </a:pPr>
                <a:endParaRPr dirty="0">
                  <a:latin typeface="+mn-lt"/>
                </a:endParaRPr>
              </a:p>
              <a:p>
                <a:pPr>
                  <a:spcAft>
                    <a:spcPts val="1100"/>
                  </a:spcAft>
                  <a:defRPr sz="2000" b="0">
                    <a:solidFill>
                      <a:srgbClr val="2C2C2F"/>
                    </a:solidFill>
                    <a:latin typeface="微软雅黑"/>
                  </a:defRPr>
                </a:pPr>
                <a:r>
                  <a:rPr dirty="0" err="1">
                    <a:latin typeface="+mn-lt"/>
                  </a:rPr>
                  <a:t>所以</a:t>
                </a:r>
                <a:r>
                  <a:rPr dirty="0">
                    <a:latin typeface="+mn-lt"/>
                  </a:rPr>
                  <a:t>：</a:t>
                </a:r>
              </a:p>
              <a:p>
                <a:pPr>
                  <a:spcAft>
                    <a:spcPts val="1100"/>
                  </a:spcAft>
                  <a:defRPr sz="2000" b="0">
                    <a:solidFill>
                      <a:srgbClr val="2C2C2F"/>
                    </a:solidFill>
                    <a:latin typeface="微软雅黑"/>
                  </a:defRPr>
                </a:pPr>
                <a:r>
                  <a:rPr lang="en-GB" altLang="zh-CN" sz="2000" i="1" dirty="0">
                    <a:latin typeface="+mn-lt"/>
                  </a:rPr>
                  <a:t>M </a:t>
                </a:r>
                <a:r>
                  <a:rPr dirty="0">
                    <a:latin typeface="+mn-lt"/>
                  </a:rPr>
                  <a:t>₂ = </a:t>
                </a:r>
                <a:r>
                  <a:rPr lang="en-GB" altLang="zh-CN" sz="2000" i="1" dirty="0">
                    <a:latin typeface="+mn-lt"/>
                  </a:rPr>
                  <a:t>M </a:t>
                </a:r>
                <a:r>
                  <a:rPr dirty="0">
                    <a:latin typeface="+mn-lt"/>
                  </a:rPr>
                  <a:t>₁ </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503050405090304" pitchFamily="18" charset="0"/>
                      </a:rPr>
                      <m:t>×</m:t>
                    </m:r>
                  </m:oMath>
                </a14:m>
                <a:r>
                  <a:rPr dirty="0">
                    <a:latin typeface="+mn-lt"/>
                  </a:rPr>
                  <a:t> </a:t>
                </a:r>
                <a:r>
                  <a:rPr i="1" dirty="0">
                    <a:latin typeface="+mn-lt"/>
                  </a:rPr>
                  <a:t>C</a:t>
                </a:r>
                <a:r>
                  <a:rPr dirty="0">
                    <a:latin typeface="+mn-lt"/>
                  </a:rPr>
                  <a:t>₂,₂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oMath>
                </a14:m>
                <a:r>
                  <a:rPr dirty="0">
                    <a:latin typeface="+mn-lt"/>
                  </a:rPr>
                  <a:t> (</a:t>
                </a:r>
                <a:r>
                  <a:rPr i="1" dirty="0">
                    <a:latin typeface="+mn-lt"/>
                  </a:rPr>
                  <a:t>C</a:t>
                </a:r>
                <a:r>
                  <a:rPr dirty="0">
                    <a:latin typeface="+mn-lt"/>
                  </a:rPr>
                  <a:t>₂,₁)⁻¹</a:t>
                </a:r>
              </a:p>
              <a:p>
                <a:pPr>
                  <a:spcAft>
                    <a:spcPts val="1100"/>
                  </a:spcAft>
                  <a:defRPr sz="2000" b="0">
                    <a:solidFill>
                      <a:srgbClr val="2C2C2F"/>
                    </a:solidFill>
                    <a:latin typeface="微软雅黑"/>
                  </a:defRPr>
                </a:pPr>
                <a:r>
                  <a:rPr dirty="0">
                    <a:latin typeface="+mn-lt"/>
                  </a:rPr>
                  <a:t>（</a:t>
                </a:r>
                <a:r>
                  <a:rPr dirty="0" err="1">
                    <a:latin typeface="+mn-lt"/>
                  </a:rPr>
                  <a:t>群运算下计算</a:t>
                </a:r>
                <a:r>
                  <a:rPr dirty="0">
                    <a:latin typeface="+mn-lt"/>
                  </a:rPr>
                  <a:t>）</a:t>
                </a:r>
              </a:p>
            </p:txBody>
          </p:sp>
        </mc:Choice>
        <mc:Fallback xmlns="">
          <p:sp>
            <p:nvSpPr>
              <p:cNvPr id="17" name="TextBox 10"/>
              <p:cNvSpPr txBox="1">
                <a:spLocks noRot="1" noChangeAspect="1" noMove="1" noResize="1" noEditPoints="1" noAdjustHandles="1" noChangeArrowheads="1" noChangeShapeType="1" noTextEdit="1"/>
              </p:cNvSpPr>
              <p:nvPr/>
            </p:nvSpPr>
            <p:spPr>
              <a:xfrm>
                <a:off x="6773427" y="2131115"/>
                <a:ext cx="4928616" cy="2662780"/>
              </a:xfrm>
              <a:prstGeom prst="rect">
                <a:avLst/>
              </a:prstGeom>
              <a:blipFill>
                <a:blip r:embed="rId4"/>
                <a:stretch>
                  <a:fillRect l="-1542" t="-952" b="-2857"/>
                </a:stretch>
              </a:blipFill>
            </p:spPr>
            <p:txBody>
              <a:bodyPr/>
              <a:lstStyle/>
              <a:p>
                <a:r>
                  <a:rPr lang="zh-CN" altLang="en-US">
                    <a:noFill/>
                  </a:rPr>
                  <a:t> </a:t>
                </a:r>
              </a:p>
            </p:txBody>
          </p:sp>
        </mc:Fallback>
      </mc:AlternateContent>
      <p:sp>
        <p:nvSpPr>
          <p:cNvPr id="18" name="Rounded Rectangle 11"/>
          <p:cNvSpPr/>
          <p:nvPr/>
        </p:nvSpPr>
        <p:spPr>
          <a:xfrm>
            <a:off x="601776" y="5698440"/>
            <a:ext cx="1115568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2"/>
          <p:cNvSpPr txBox="1"/>
          <p:nvPr/>
        </p:nvSpPr>
        <p:spPr>
          <a:xfrm>
            <a:off x="766368" y="5771592"/>
            <a:ext cx="10835640" cy="418576"/>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t>安全启示：每次</a:t>
            </a:r>
            <a:r>
              <a:rPr sz="2000" dirty="0"/>
              <a:t> </a:t>
            </a:r>
            <a:r>
              <a:rPr sz="2000" dirty="0">
                <a:latin typeface="+mn-lt"/>
              </a:rPr>
              <a:t>ElGamal</a:t>
            </a:r>
            <a:r>
              <a:rPr sz="2000" dirty="0"/>
              <a:t> </a:t>
            </a:r>
            <a:r>
              <a:rPr sz="2000" dirty="0" err="1"/>
              <a:t>加密都必须使用独立、不可预测的一次性随机数</a:t>
            </a:r>
            <a:r>
              <a:rPr sz="2000" dirty="0"/>
              <a:t>。</a:t>
            </a:r>
          </a:p>
        </p:txBody>
      </p:sp>
      <p:sp>
        <p:nvSpPr>
          <p:cNvPr id="5" name="文本框 4"/>
          <p:cNvSpPr txBox="1"/>
          <p:nvPr/>
        </p:nvSpPr>
        <p:spPr>
          <a:xfrm>
            <a:off x="502920" y="812214"/>
            <a:ext cx="315047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2400" b="1" dirty="0">
                <a:solidFill>
                  <a:srgbClr val="C00000"/>
                </a:solidFill>
              </a:rPr>
              <a:t>ElGamal </a:t>
            </a:r>
            <a:r>
              <a:rPr lang="zh-CN" altLang="en-US" sz="2400" b="1" dirty="0">
                <a:solidFill>
                  <a:srgbClr val="C00000"/>
                </a:solidFill>
              </a:rPr>
              <a:t>攻击一：加密随机数复用（注意事项，非算法攻击）</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Rounded Rectangle 5"/>
          <p:cNvSpPr/>
          <p:nvPr/>
        </p:nvSpPr>
        <p:spPr>
          <a:xfrm>
            <a:off x="667512" y="1413257"/>
            <a:ext cx="10757790" cy="3810677"/>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6"/>
          <p:cNvSpPr txBox="1"/>
          <p:nvPr/>
        </p:nvSpPr>
        <p:spPr>
          <a:xfrm>
            <a:off x="850392" y="1532129"/>
            <a:ext cx="4919472" cy="418576"/>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000" dirty="0" err="1"/>
              <a:t>二次剩余判定</a:t>
            </a:r>
            <a:endParaRPr sz="2000" dirty="0"/>
          </a:p>
        </p:txBody>
      </p:sp>
      <mc:AlternateContent xmlns:mc="http://schemas.openxmlformats.org/markup-compatibility/2006">
        <mc:Choice xmlns:a14="http://schemas.microsoft.com/office/drawing/2010/main" Requires="a14">
          <p:sp>
            <p:nvSpPr>
              <p:cNvPr id="22" name="文本框 21"/>
              <p:cNvSpPr txBox="1"/>
              <p:nvPr/>
            </p:nvSpPr>
            <p:spPr>
              <a:xfrm>
                <a:off x="766698" y="1869218"/>
                <a:ext cx="10658604" cy="3337517"/>
              </a:xfrm>
              <a:prstGeom prst="rect">
                <a:avLst/>
              </a:prstGeom>
              <a:noFill/>
            </p:spPr>
            <p:txBody>
              <a:bodyPr wrap="square" rtlCol="0">
                <a:spAutoFit/>
              </a:bodyPr>
              <a:lstStyle/>
              <a:p>
                <a:pPr>
                  <a:lnSpc>
                    <a:spcPct val="130000"/>
                  </a:lnSpc>
                  <a:defRPr sz="2100" b="0">
                    <a:solidFill>
                      <a:srgbClr val="2C2C2F"/>
                    </a:solidFill>
                    <a:latin typeface="微软雅黑"/>
                  </a:defRPr>
                </a:pPr>
                <a:r>
                  <a:rPr lang="zh-CN" altLang="en-US" sz="2000" dirty="0">
                    <a:latin typeface="+mn-lt"/>
                  </a:rPr>
                  <a:t>对奇素数 </a:t>
                </a:r>
                <a:r>
                  <a:rPr lang="en-GB" altLang="zh-CN" sz="2000" i="1" dirty="0">
                    <a:latin typeface="+mn-lt"/>
                  </a:rPr>
                  <a:t>p </a:t>
                </a:r>
                <a:r>
                  <a:rPr lang="zh-CN" altLang="en-GB" sz="2000" dirty="0">
                    <a:latin typeface="+mn-lt"/>
                  </a:rPr>
                  <a:t>，</a:t>
                </a:r>
                <a:r>
                  <a:rPr lang="zh-CN" altLang="en-US" sz="2000" dirty="0">
                    <a:latin typeface="+mn-lt"/>
                  </a:rPr>
                  <a:t>二次剩余循环群 </a:t>
                </a:r>
                <a:r>
                  <a:rPr lang="en-GB" altLang="zh-CN" sz="2000" dirty="0">
                    <a:latin typeface="+mn-lt"/>
                  </a:rPr>
                  <a:t>QR(</a:t>
                </a:r>
                <a:r>
                  <a:rPr lang="en-GB" altLang="zh-CN" sz="2000" i="1" dirty="0">
                    <a:latin typeface="+mn-lt"/>
                  </a:rPr>
                  <a:t>p</a:t>
                </a:r>
                <a:r>
                  <a:rPr lang="en-GB" altLang="zh-CN" sz="2000" dirty="0">
                    <a:latin typeface="+mn-lt"/>
                  </a:rPr>
                  <a:t>) ={</a:t>
                </a:r>
                <a:r>
                  <a:rPr lang="en-GB" altLang="zh-CN" sz="2000" i="1" dirty="0">
                    <a:latin typeface="+mn-lt"/>
                  </a:rPr>
                  <a:t>x</a:t>
                </a:r>
                <a:r>
                  <a:rPr lang="en-GB" altLang="zh-CN" sz="2000" baseline="30000" dirty="0">
                    <a:latin typeface="+mn-lt"/>
                  </a:rPr>
                  <a:t>2 </a:t>
                </a:r>
                <a:r>
                  <a:rPr lang="en-GB" altLang="zh-CN" sz="2000" dirty="0">
                    <a:latin typeface="+mn-lt"/>
                  </a:rPr>
                  <a:t>mod </a:t>
                </a:r>
                <a:r>
                  <a:rPr lang="en-GB" altLang="zh-CN" sz="2000" i="1" dirty="0">
                    <a:latin typeface="+mn-lt"/>
                  </a:rPr>
                  <a:t>p| x</a:t>
                </a:r>
                <a:r>
                  <a:rPr lang="en-GB" altLang="zh-CN" sz="2000" baseline="30000" dirty="0">
                    <a:latin typeface="+mn-lt"/>
                  </a:rPr>
                  <a:t>2</a:t>
                </a:r>
                <a:r>
                  <a:rPr lang="en-GB" altLang="zh-CN" sz="2000" dirty="0">
                    <a:latin typeface="+mn-lt"/>
                  </a:rPr>
                  <a:t> ∈</a:t>
                </a:r>
                <a14:m>
                  <m:oMath xmlns:m="http://schemas.openxmlformats.org/officeDocument/2006/math">
                    <m:sSubSup>
                      <m:sSubSupPr>
                        <m:ctrlPr>
                          <a:rPr lang="ar-AE" altLang="zh-CN" sz="2000" i="1">
                            <a:latin typeface="Cambria Math" panose="02040503050406030204" pitchFamily="18" charset="0"/>
                          </a:rPr>
                        </m:ctrlPr>
                      </m:sSubSupPr>
                      <m:e>
                        <m:r>
                          <a:rPr lang="ar-AE" altLang="zh-CN" sz="2000" i="1">
                            <a:latin typeface="Cambria Math" panose="02040503050406030204" pitchFamily="18" charset="0"/>
                            <a:ea typeface="Cambria Math" panose="02040503050406030204" pitchFamily="18" charset="0"/>
                          </a:rPr>
                          <m:t>ℤ</m:t>
                        </m:r>
                      </m:e>
                      <m:sub>
                        <m:r>
                          <a:rPr lang="ar-AE" altLang="zh-CN" sz="2000" i="1">
                            <a:latin typeface="Cambria Math" panose="02040503050406030204" pitchFamily="18" charset="0"/>
                          </a:rPr>
                          <m:t>𝑝</m:t>
                        </m:r>
                      </m:sub>
                      <m:sup>
                        <m:r>
                          <a:rPr lang="ar-AE" altLang="zh-CN" sz="2000" b="1" i="1">
                            <a:latin typeface="Cambria Math" panose="02040503050406030204" pitchFamily="18" charset="0"/>
                          </a:rPr>
                          <m:t>∗</m:t>
                        </m:r>
                      </m:sup>
                    </m:sSubSup>
                    <m:r>
                      <a:rPr lang="ar-AE" altLang="zh-CN" sz="2000" b="1" i="1" smtClean="0">
                        <a:latin typeface="Cambria Math" panose="02040503050406030204" pitchFamily="18" charset="0"/>
                      </a:rPr>
                      <m:t>}</m:t>
                    </m:r>
                  </m:oMath>
                </a14:m>
                <a:r>
                  <a:rPr lang="zh-CN" altLang="en-US" sz="2000" dirty="0">
                    <a:latin typeface="+mn-lt"/>
                  </a:rPr>
                  <a:t> 表示所有模奇素数 </a:t>
                </a:r>
                <a:r>
                  <a:rPr lang="en-GB" altLang="zh-CN" sz="2000" i="1" dirty="0">
                    <a:latin typeface="+mn-lt"/>
                  </a:rPr>
                  <a:t>p</a:t>
                </a:r>
                <a:r>
                  <a:rPr lang="en-GB" altLang="zh-CN" sz="2000" dirty="0">
                    <a:latin typeface="+mn-lt"/>
                  </a:rPr>
                  <a:t> </a:t>
                </a:r>
                <a:r>
                  <a:rPr lang="zh-CN" altLang="en-US" sz="2000" dirty="0">
                    <a:latin typeface="+mn-lt"/>
                  </a:rPr>
                  <a:t>的二次剩余组成的集合，</a:t>
                </a:r>
                <a:r>
                  <a:rPr lang="en-GB" altLang="zh-CN" sz="2000" dirty="0">
                    <a:solidFill>
                      <a:srgbClr val="2C2C2F"/>
                    </a:solidFill>
                    <a:latin typeface="+mn-lt"/>
                  </a:rPr>
                  <a:t> QR(</a:t>
                </a:r>
                <a:r>
                  <a:rPr lang="en-GB" altLang="zh-CN" sz="2000" i="1" dirty="0">
                    <a:solidFill>
                      <a:srgbClr val="2C2C2F"/>
                    </a:solidFill>
                    <a:latin typeface="+mn-lt"/>
                  </a:rPr>
                  <a:t>p</a:t>
                </a:r>
                <a:r>
                  <a:rPr lang="en-GB" altLang="zh-CN" sz="2000" dirty="0">
                    <a:solidFill>
                      <a:srgbClr val="2C2C2F"/>
                    </a:solidFill>
                    <a:latin typeface="+mn-lt"/>
                  </a:rPr>
                  <a:t>)</a:t>
                </a:r>
                <a:r>
                  <a:rPr lang="zh-CN" altLang="en-US" sz="2000" dirty="0">
                    <a:solidFill>
                      <a:srgbClr val="2C2C2F"/>
                    </a:solidFill>
                    <a:latin typeface="+mn-lt"/>
                  </a:rPr>
                  <a:t> </a:t>
                </a:r>
                <a:r>
                  <a:rPr lang="zh-CN" altLang="en-US" sz="2000" dirty="0">
                    <a:latin typeface="+mn-lt"/>
                  </a:rPr>
                  <a:t>具备如下性质。</a:t>
                </a:r>
                <a:endParaRPr lang="en-US" altLang="zh-CN" sz="2000" dirty="0">
                  <a:latin typeface="+mn-lt"/>
                </a:endParaRPr>
              </a:p>
              <a:p>
                <a:pPr marL="342900" indent="-342900">
                  <a:lnSpc>
                    <a:spcPct val="130000"/>
                  </a:lnSpc>
                  <a:buFont typeface="Wingdings" panose="05000000000000000000" pitchFamily="2" charset="2"/>
                  <a:buChar char="l"/>
                  <a:defRPr sz="2100" b="0">
                    <a:solidFill>
                      <a:srgbClr val="2C2C2F"/>
                    </a:solidFill>
                    <a:latin typeface="微软雅黑"/>
                  </a:defRPr>
                </a:pPr>
                <a:r>
                  <a:rPr lang="zh-CN" altLang="en-US" sz="2000" b="1" dirty="0">
                    <a:latin typeface="+mn-lt"/>
                  </a:rPr>
                  <a:t>性质 </a:t>
                </a:r>
                <a:r>
                  <a:rPr lang="en-US" altLang="zh-CN" sz="2000" b="1" dirty="0">
                    <a:latin typeface="+mn-lt"/>
                  </a:rPr>
                  <a:t>1</a:t>
                </a:r>
                <a:r>
                  <a:rPr lang="zh-CN" altLang="en-US" sz="2000" dirty="0">
                    <a:latin typeface="+mn-lt"/>
                  </a:rPr>
                  <a:t>。 </a:t>
                </a:r>
                <a:r>
                  <a:rPr lang="en-GB" altLang="zh-CN" sz="2000" dirty="0">
                    <a:latin typeface="+mn-lt"/>
                  </a:rPr>
                  <a:t>QR(</a:t>
                </a:r>
                <a:r>
                  <a:rPr lang="en-GB" altLang="zh-CN" sz="2000" i="1" dirty="0">
                    <a:latin typeface="+mn-lt"/>
                  </a:rPr>
                  <a:t>p</a:t>
                </a:r>
                <a:r>
                  <a:rPr lang="en-GB" altLang="zh-CN" sz="2000" dirty="0">
                    <a:latin typeface="+mn-lt"/>
                  </a:rPr>
                  <a:t>)</a:t>
                </a:r>
                <a:r>
                  <a:rPr lang="zh-CN" altLang="en-US" sz="2000" dirty="0">
                    <a:latin typeface="+mn-lt"/>
                  </a:rPr>
                  <a:t> 的元素个数为 </a:t>
                </a:r>
                <a:r>
                  <a:rPr lang="en-US" altLang="zh-CN" sz="2000" dirty="0">
                    <a:latin typeface="+mn-lt"/>
                  </a:rPr>
                  <a:t>(</a:t>
                </a:r>
                <a:r>
                  <a:rPr lang="en-GB" altLang="zh-CN" sz="2000" i="1" dirty="0">
                    <a:latin typeface="+mn-lt"/>
                  </a:rPr>
                  <a:t>p</a:t>
                </a:r>
                <a:r>
                  <a:rPr lang="en-GB" altLang="zh-CN" sz="2000" dirty="0">
                    <a:latin typeface="+mn-lt"/>
                  </a:rPr>
                  <a:t> −1</a:t>
                </a:r>
                <a:r>
                  <a:rPr lang="en-US" altLang="zh-CN" sz="2000" dirty="0">
                    <a:latin typeface="+mn-lt"/>
                  </a:rPr>
                  <a:t>)</a:t>
                </a:r>
                <a:r>
                  <a:rPr lang="en-GB" altLang="zh-CN" sz="2000" dirty="0">
                    <a:latin typeface="+mn-lt"/>
                  </a:rPr>
                  <a:t>/2  </a:t>
                </a:r>
                <a:r>
                  <a:rPr lang="zh-CN" altLang="en-GB" sz="2000" dirty="0">
                    <a:latin typeface="+mn-lt"/>
                  </a:rPr>
                  <a:t>，</a:t>
                </a:r>
                <a:r>
                  <a:rPr lang="zh-CN" altLang="en-US" sz="2000" dirty="0">
                    <a:latin typeface="+mn-lt"/>
                  </a:rPr>
                  <a:t>即 </a:t>
                </a:r>
                <a:r>
                  <a:rPr lang="en-US" altLang="zh-CN" sz="2000" dirty="0">
                    <a:latin typeface="+mn-lt"/>
                  </a:rPr>
                  <a:t>|</a:t>
                </a:r>
                <a:r>
                  <a:rPr lang="en-GB" altLang="zh-CN" sz="2000" dirty="0">
                    <a:latin typeface="+mn-lt"/>
                  </a:rPr>
                  <a:t> QR(</a:t>
                </a:r>
                <a:r>
                  <a:rPr lang="en-GB" altLang="zh-CN" sz="2000" i="1" dirty="0">
                    <a:latin typeface="+mn-lt"/>
                  </a:rPr>
                  <a:t>p</a:t>
                </a:r>
                <a:r>
                  <a:rPr lang="en-GB" altLang="zh-CN" sz="2000" dirty="0">
                    <a:latin typeface="+mn-lt"/>
                  </a:rPr>
                  <a:t>)</a:t>
                </a:r>
                <a:r>
                  <a:rPr lang="zh-CN" altLang="en-US" sz="2000" dirty="0">
                    <a:latin typeface="+mn-lt"/>
                  </a:rPr>
                  <a:t> </a:t>
                </a:r>
                <a:r>
                  <a:rPr lang="en-US" altLang="zh-CN" sz="2000" dirty="0">
                    <a:latin typeface="+mn-lt"/>
                  </a:rPr>
                  <a:t>|</a:t>
                </a:r>
                <a:r>
                  <a:rPr lang="en-GB" altLang="zh-CN" sz="2000" dirty="0">
                    <a:latin typeface="+mn-lt"/>
                  </a:rPr>
                  <a:t>= </a:t>
                </a:r>
                <a:r>
                  <a:rPr lang="en-US" altLang="zh-CN" sz="2000" dirty="0">
                    <a:latin typeface="+mn-lt"/>
                  </a:rPr>
                  <a:t>(</a:t>
                </a:r>
                <a:r>
                  <a:rPr lang="en-GB" altLang="zh-CN" sz="2000" i="1" dirty="0">
                    <a:latin typeface="+mn-lt"/>
                  </a:rPr>
                  <a:t>p</a:t>
                </a:r>
                <a:r>
                  <a:rPr lang="en-GB" altLang="zh-CN" sz="2000" dirty="0">
                    <a:latin typeface="+mn-lt"/>
                  </a:rPr>
                  <a:t> −1</a:t>
                </a:r>
                <a:r>
                  <a:rPr lang="en-US" altLang="zh-CN" sz="2000" dirty="0">
                    <a:latin typeface="+mn-lt"/>
                  </a:rPr>
                  <a:t>)</a:t>
                </a:r>
                <a:r>
                  <a:rPr lang="en-GB" altLang="zh-CN" sz="2000" dirty="0">
                    <a:latin typeface="+mn-lt"/>
                  </a:rPr>
                  <a:t>/2 </a:t>
                </a:r>
                <a:r>
                  <a:rPr lang="zh-CN" altLang="en-GB" sz="2000" dirty="0">
                    <a:latin typeface="+mn-lt"/>
                  </a:rPr>
                  <a:t>。 </a:t>
                </a:r>
                <a:endParaRPr lang="en-US" altLang="zh-CN" sz="2000" dirty="0">
                  <a:latin typeface="+mn-lt"/>
                </a:endParaRPr>
              </a:p>
              <a:p>
                <a:pPr marL="342900" indent="-342900">
                  <a:lnSpc>
                    <a:spcPct val="130000"/>
                  </a:lnSpc>
                  <a:buFont typeface="Wingdings" panose="05000000000000000000" pitchFamily="2" charset="2"/>
                  <a:buChar char="l"/>
                  <a:defRPr sz="2100" b="0">
                    <a:solidFill>
                      <a:srgbClr val="2C2C2F"/>
                    </a:solidFill>
                    <a:latin typeface="微软雅黑"/>
                  </a:defRPr>
                </a:pPr>
                <a:r>
                  <a:rPr lang="zh-CN" altLang="en-US" sz="2000" b="1" dirty="0">
                    <a:latin typeface="+mn-lt"/>
                  </a:rPr>
                  <a:t>性质 </a:t>
                </a:r>
                <a:r>
                  <a:rPr lang="en-US" altLang="zh-CN" sz="2000" b="1" dirty="0">
                    <a:latin typeface="+mn-lt"/>
                  </a:rPr>
                  <a:t>2</a:t>
                </a:r>
                <a:r>
                  <a:rPr lang="zh-CN" altLang="en-US" sz="2000" dirty="0">
                    <a:latin typeface="+mn-lt"/>
                  </a:rPr>
                  <a:t>。假设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en-US" sz="2000" dirty="0">
                    <a:latin typeface="+mn-lt"/>
                  </a:rPr>
                  <a:t>是 </a:t>
                </a:r>
                <a14:m>
                  <m:oMath xmlns:m="http://schemas.openxmlformats.org/officeDocument/2006/math">
                    <m:sSubSup>
                      <m:sSubSupPr>
                        <m:ctrlPr>
                          <a:rPr lang="ar-AE" altLang="zh-CN" sz="2000" i="1" smtClean="0">
                            <a:latin typeface="Cambria Math" panose="02040503050406030204" pitchFamily="18" charset="0"/>
                          </a:rPr>
                        </m:ctrlPr>
                      </m:sSubSupPr>
                      <m:e>
                        <m:r>
                          <a:rPr lang="ar-AE" altLang="zh-CN" sz="2000" i="1" smtClean="0">
                            <a:latin typeface="Cambria Math" panose="02040503050406030204" pitchFamily="18" charset="0"/>
                            <a:ea typeface="Cambria Math" panose="02040503050406030204" pitchFamily="18" charset="0"/>
                          </a:rPr>
                          <m:t>ℤ</m:t>
                        </m:r>
                      </m:e>
                      <m:sub>
                        <m:r>
                          <a:rPr lang="ar-AE" altLang="zh-CN" sz="2000" b="0" i="1" smtClean="0">
                            <a:latin typeface="Cambria Math" panose="02040503050406030204" pitchFamily="18" charset="0"/>
                          </a:rPr>
                          <m:t>𝑝</m:t>
                        </m:r>
                      </m:sub>
                      <m:sup>
                        <m:r>
                          <a:rPr lang="ar-AE" altLang="zh-CN" sz="2000" b="1" i="1" smtClean="0">
                            <a:latin typeface="Cambria Math" panose="02040503050406030204" pitchFamily="18" charset="0"/>
                          </a:rPr>
                          <m:t>∗</m:t>
                        </m:r>
                      </m:sup>
                    </m:sSubSup>
                  </m:oMath>
                </a14:m>
                <a:r>
                  <a:rPr lang="zh-CN" altLang="en-US" sz="2000" dirty="0">
                    <a:latin typeface="+mn-lt"/>
                  </a:rPr>
                  <a:t> 的生成元、 </a:t>
                </a:r>
                <a:r>
                  <a:rPr lang="en-GB" altLang="zh-CN" sz="2000" i="1" dirty="0">
                    <a:latin typeface="+mn-lt"/>
                  </a:rPr>
                  <a:t>k</a:t>
                </a:r>
                <a:r>
                  <a:rPr lang="en-GB" altLang="zh-CN" sz="2000" dirty="0">
                    <a:latin typeface="+mn-lt"/>
                  </a:rPr>
                  <a:t> </a:t>
                </a:r>
                <a:r>
                  <a:rPr lang="zh-CN" altLang="en-US" sz="2000" dirty="0">
                    <a:latin typeface="+mn-lt"/>
                  </a:rPr>
                  <a:t>为偶数，则 </a:t>
                </a:r>
                <a14:m>
                  <m:oMath xmlns:m="http://schemas.openxmlformats.org/officeDocument/2006/math">
                    <m:sSup>
                      <m:sSupPr>
                        <m:ctrlPr>
                          <a:rPr lang="en-US" altLang="zh-CN" sz="2000" i="1" smtClean="0">
                            <a:latin typeface="Cambria Math" panose="020405030504060302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rPr>
                          <m:t>𝑘</m:t>
                        </m:r>
                      </m:sup>
                    </m:s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i="1">
                                <a:latin typeface="Cambria Math" panose="02040503050406030204" pitchFamily="18" charset="0"/>
                              </a:rPr>
                              <m:t>(</m:t>
                            </m:r>
                            <m:r>
                              <a:rPr lang="en-US" altLang="zh-CN" sz="2000" i="1">
                                <a:latin typeface="Cambria Math" panose="02040503050406030204" pitchFamily="18" charset="0"/>
                              </a:rPr>
                              <m:t>𝑘</m:t>
                            </m:r>
                            <m:r>
                              <a:rPr lang="en-US" altLang="zh-CN" sz="2000" i="1">
                                <a:latin typeface="Cambria Math" panose="02040503050406030204" pitchFamily="18" charset="0"/>
                              </a:rPr>
                              <m:t>/</m:t>
                            </m:r>
                            <m:r>
                              <a:rPr lang="en-US" altLang="zh-CN" sz="2000" i="1">
                                <a:latin typeface="Cambria Math" panose="02040503050406030204" pitchFamily="18" charset="0"/>
                              </a:rPr>
                              <m:t>2</m:t>
                            </m:r>
                            <m:r>
                              <a:rPr lang="en-US" altLang="zh-CN" sz="2000" i="1">
                                <a:latin typeface="Cambria Math" panose="02040503050406030204" pitchFamily="18" charset="0"/>
                              </a:rPr>
                              <m:t>)</m:t>
                            </m:r>
                          </m:sup>
                        </m:sSup>
                        <m:r>
                          <a:rPr lang="en-US" altLang="zh-CN" sz="2000" b="0" i="1" smtClean="0">
                            <a:latin typeface="Cambria Math" panose="02040503050406030204" pitchFamily="18" charset="0"/>
                          </a:rPr>
                          <m:t>)</m:t>
                        </m:r>
                      </m:e>
                      <m:sup>
                        <m:r>
                          <a:rPr lang="en-US" altLang="zh-CN" sz="2000" b="0" i="1" smtClean="0">
                            <a:latin typeface="Cambria Math" panose="02040503050406030204" pitchFamily="18" charset="0"/>
                          </a:rPr>
                          <m:t>2</m:t>
                        </m:r>
                      </m:sup>
                    </m:sSup>
                    <m:r>
                      <a:rPr lang="en-US" altLang="zh-CN" sz="2000" i="1">
                        <a:latin typeface="Cambria Math" panose="02040503050406030204" pitchFamily="18" charset="0"/>
                      </a:rPr>
                      <m:t> ∈ </m:t>
                    </m:r>
                    <m:r>
                      <a:rPr lang="en-US" altLang="zh-CN" sz="2000" i="1">
                        <a:latin typeface="Cambria Math" panose="02040503050406030204" pitchFamily="18" charset="0"/>
                      </a:rPr>
                      <m:t>𝑄𝑅</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𝑝</m:t>
                        </m:r>
                      </m:e>
                    </m:d>
                  </m:oMath>
                </a14:m>
                <a:r>
                  <a:rPr lang="zh-CN" altLang="en-US" sz="2000" dirty="0">
                    <a:latin typeface="+mn-lt"/>
                  </a:rPr>
                  <a:t>，即 </a:t>
                </a:r>
                <a14:m>
                  <m:oMath xmlns:m="http://schemas.openxmlformats.org/officeDocument/2006/math">
                    <m:r>
                      <a:rPr lang="en-US" altLang="zh-CN" sz="2000" i="1" smtClean="0">
                        <a:latin typeface="Cambria Math" panose="02040503050406030204" pitchFamily="18" charset="0"/>
                      </a:rPr>
                      <m:t>𝑄𝑅</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𝑝</m:t>
                        </m:r>
                      </m:e>
                    </m:d>
                    <m:r>
                      <a:rPr lang="en-US" altLang="zh-CN" sz="2000" b="0" i="0" smtClean="0">
                        <a:latin typeface="Cambria Math" panose="02040503050406030204" pitchFamily="18" charset="0"/>
                      </a:rPr>
                      <m:t>={</m:t>
                    </m:r>
                    <m:sSup>
                      <m:sSupPr>
                        <m:ctrlPr>
                          <a:rPr lang="en-US" altLang="zh-CN" sz="2000" i="1">
                            <a:latin typeface="Cambria Math" panose="02040503050406030204" pitchFamily="18" charset="0"/>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𝑖</m:t>
                        </m:r>
                      </m:sup>
                    </m:sSup>
                    <m:r>
                      <a:rPr lang="zh-CN" altLang="en-US" sz="2000" b="0" i="1" smtClean="0">
                        <a:latin typeface="Cambria Math" panose="02040503050406030204" pitchFamily="18" charset="0"/>
                      </a:rPr>
                      <m:t> </m:t>
                    </m:r>
                    <m:r>
                      <m:rPr>
                        <m:sty m:val="p"/>
                      </m:rPr>
                      <a:rPr lang="en-US" altLang="zh-CN" sz="2000" i="1">
                        <a:latin typeface="Cambria Math" panose="02040503050406030204" pitchFamily="18" charset="0"/>
                      </a:rPr>
                      <m:t>mo</m:t>
                    </m:r>
                    <m:r>
                      <m:rPr>
                        <m:sty m:val="p"/>
                      </m:rPr>
                      <a:rPr lang="en-US" altLang="zh-CN" sz="2000" i="1" smtClean="0">
                        <a:latin typeface="Cambria Math" panose="02040503050406030204" pitchFamily="18" charset="0"/>
                      </a:rPr>
                      <m:t>d</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3</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0" smtClean="0">
                        <a:latin typeface="Cambria Math" panose="02040503050406030204" pitchFamily="18" charset="0"/>
                      </a:rPr>
                      <m:t>}</m:t>
                    </m:r>
                  </m:oMath>
                </a14:m>
                <a:r>
                  <a:rPr lang="zh-CN" altLang="en-US" sz="2000" dirty="0">
                    <a:latin typeface="+mn-lt"/>
                  </a:rPr>
                  <a:t>。</a:t>
                </a:r>
                <a:endParaRPr lang="en-US" altLang="zh-CN" sz="2000" dirty="0">
                  <a:latin typeface="+mn-lt"/>
                </a:endParaRPr>
              </a:p>
              <a:p>
                <a:pPr marL="342900" indent="-342900">
                  <a:lnSpc>
                    <a:spcPct val="130000"/>
                  </a:lnSpc>
                  <a:buFont typeface="Wingdings" panose="05000000000000000000" pitchFamily="2" charset="2"/>
                  <a:buChar char="l"/>
                  <a:defRPr sz="2100" b="0">
                    <a:solidFill>
                      <a:srgbClr val="2C2C2F"/>
                    </a:solidFill>
                    <a:latin typeface="微软雅黑"/>
                  </a:defRPr>
                </a:pPr>
                <a:r>
                  <a:rPr lang="zh-CN" altLang="en-US" sz="2000" b="1" dirty="0">
                    <a:latin typeface="+mn-lt"/>
                  </a:rPr>
                  <a:t>性质 </a:t>
                </a:r>
                <a:r>
                  <a:rPr lang="en-US" altLang="zh-CN" sz="2000" b="1" dirty="0">
                    <a:latin typeface="+mn-lt"/>
                  </a:rPr>
                  <a:t>3</a:t>
                </a:r>
                <a:r>
                  <a:rPr lang="zh-CN" altLang="en-US" sz="2000" dirty="0">
                    <a:latin typeface="+mn-lt"/>
                  </a:rPr>
                  <a:t>。对于任意</a:t>
                </a:r>
                <a:r>
                  <a:rPr lang="en-US" altLang="zh-CN" sz="2000" dirty="0">
                    <a:latin typeface="+mn-lt"/>
                  </a:rPr>
                  <a:t> </a:t>
                </a:r>
                <a:r>
                  <a:rPr lang="en-US" altLang="zh-CN" sz="2000" i="1" dirty="0">
                    <a:latin typeface="+mn-lt"/>
                  </a:rPr>
                  <a:t>x </a:t>
                </a:r>
                <a:r>
                  <a:rPr lang="en-US" altLang="zh-CN" sz="2000" dirty="0">
                    <a:latin typeface="+mn-lt"/>
                  </a:rPr>
                  <a:t>∈</a:t>
                </a:r>
                <a14:m>
                  <m:oMath xmlns:m="http://schemas.openxmlformats.org/officeDocument/2006/math">
                    <m:sSubSup>
                      <m:sSubSupPr>
                        <m:ctrlPr>
                          <a:rPr lang="ar-AE" altLang="zh-CN" sz="2000" i="1">
                            <a:latin typeface="Cambria Math" panose="02040503050406030204" pitchFamily="18" charset="0"/>
                          </a:rPr>
                        </m:ctrlPr>
                      </m:sSubSupPr>
                      <m:e>
                        <m:r>
                          <a:rPr lang="zh-CN" altLang="en-US" sz="2000" i="1">
                            <a:latin typeface="Cambria Math" panose="02040503050406030204" pitchFamily="18" charset="0"/>
                          </a:rPr>
                          <m:t> </m:t>
                        </m:r>
                        <m:r>
                          <a:rPr lang="ar-AE" altLang="zh-CN" sz="2000" i="1">
                            <a:latin typeface="Cambria Math" panose="02040503050406030204" pitchFamily="18" charset="0"/>
                            <a:ea typeface="Cambria Math" panose="02040503050406030204" pitchFamily="18" charset="0"/>
                          </a:rPr>
                          <m:t>ℤ</m:t>
                        </m:r>
                      </m:e>
                      <m:sub>
                        <m:r>
                          <a:rPr lang="ar-AE" altLang="zh-CN" sz="2000" i="1">
                            <a:latin typeface="Cambria Math" panose="02040503050406030204" pitchFamily="18" charset="0"/>
                          </a:rPr>
                          <m:t>𝑝</m:t>
                        </m:r>
                      </m:sub>
                      <m:sup>
                        <m:r>
                          <a:rPr lang="ar-AE" altLang="zh-CN" sz="2000" b="1" i="1">
                            <a:latin typeface="Cambria Math" panose="02040503050406030204" pitchFamily="18" charset="0"/>
                          </a:rPr>
                          <m:t>∗</m:t>
                        </m:r>
                      </m:sup>
                    </m:sSubSup>
                  </m:oMath>
                </a14:m>
                <a:r>
                  <a:rPr lang="zh-CN" altLang="en-GB" sz="2000" dirty="0">
                    <a:latin typeface="+mn-lt"/>
                  </a:rPr>
                  <a:t>， </a:t>
                </a:r>
                <a:r>
                  <a:rPr lang="en-US" altLang="zh-CN" sz="2000" i="1" dirty="0">
                    <a:solidFill>
                      <a:srgbClr val="2C2C2F"/>
                    </a:solidFill>
                    <a:latin typeface="+mn-lt"/>
                  </a:rPr>
                  <a:t>x </a:t>
                </a:r>
                <a:r>
                  <a:rPr lang="en-US" altLang="zh-CN" sz="2000" dirty="0">
                    <a:solidFill>
                      <a:srgbClr val="2C2C2F"/>
                    </a:solidFill>
                    <a:latin typeface="+mn-lt"/>
                  </a:rPr>
                  <a:t>∈ QR(</a:t>
                </a:r>
                <a:r>
                  <a:rPr lang="en-US" altLang="zh-CN" sz="2000" i="1" dirty="0">
                    <a:solidFill>
                      <a:srgbClr val="2C2C2F"/>
                    </a:solidFill>
                    <a:latin typeface="+mn-lt"/>
                  </a:rPr>
                  <a:t>p</a:t>
                </a:r>
                <a:r>
                  <a:rPr lang="en-US" altLang="zh-CN" sz="2000" dirty="0">
                    <a:solidFill>
                      <a:srgbClr val="2C2C2F"/>
                    </a:solidFill>
                    <a:latin typeface="+mn-lt"/>
                  </a:rPr>
                  <a:t>) </a:t>
                </a:r>
                <a:r>
                  <a:rPr lang="zh-CN" altLang="en-US" sz="2000" dirty="0">
                    <a:latin typeface="+mn-lt"/>
                  </a:rPr>
                  <a:t>当且仅当 </a:t>
                </a:r>
                <a:r>
                  <a:rPr lang="en-GB" altLang="zh-CN" sz="2000" i="1" dirty="0">
                    <a:solidFill>
                      <a:srgbClr val="2C2C2F"/>
                    </a:solidFill>
                    <a:latin typeface="+mn-lt"/>
                  </a:rPr>
                  <a:t>x</a:t>
                </a:r>
                <a:r>
                  <a:rPr lang="en-GB" altLang="zh-CN" sz="2000" baseline="30000" dirty="0">
                    <a:solidFill>
                      <a:srgbClr val="2C2C2F"/>
                    </a:solidFill>
                    <a:latin typeface="+mn-lt"/>
                  </a:rPr>
                  <a:t>((</a:t>
                </a:r>
                <a:r>
                  <a:rPr lang="en-GB" altLang="zh-CN" sz="2000" i="1" baseline="30000" dirty="0">
                    <a:solidFill>
                      <a:srgbClr val="2C2C2F"/>
                    </a:solidFill>
                    <a:latin typeface="+mn-lt"/>
                  </a:rPr>
                  <a:t>p</a:t>
                </a:r>
                <a:r>
                  <a:rPr lang="en-GB" altLang="zh-CN" sz="2000" baseline="30000" dirty="0">
                    <a:solidFill>
                      <a:srgbClr val="2C2C2F"/>
                    </a:solidFill>
                    <a:latin typeface="+mn-lt"/>
                  </a:rPr>
                  <a:t>−1)/2) </a:t>
                </a:r>
                <a:r>
                  <a:rPr lang="en-GB" altLang="zh-CN" sz="2000" dirty="0">
                    <a:solidFill>
                      <a:srgbClr val="2C2C2F"/>
                    </a:solidFill>
                    <a:latin typeface="+mn-lt"/>
                  </a:rPr>
                  <a:t>≡ 1 (mod </a:t>
                </a:r>
                <a:r>
                  <a:rPr lang="en-GB" altLang="zh-CN" sz="2000" i="1" dirty="0">
                    <a:solidFill>
                      <a:srgbClr val="2C2C2F"/>
                    </a:solidFill>
                    <a:latin typeface="+mn-lt"/>
                  </a:rPr>
                  <a:t>p</a:t>
                </a:r>
                <a:r>
                  <a:rPr lang="en-GB" altLang="zh-CN" sz="2000" dirty="0">
                    <a:solidFill>
                      <a:srgbClr val="2C2C2F"/>
                    </a:solidFill>
                    <a:latin typeface="+mn-lt"/>
                  </a:rPr>
                  <a:t>)</a:t>
                </a:r>
                <a:r>
                  <a:rPr lang="zh-CN" altLang="en-US" sz="2000" dirty="0">
                    <a:solidFill>
                      <a:srgbClr val="2C2C2F"/>
                    </a:solidFill>
                    <a:latin typeface="+mn-lt"/>
                  </a:rPr>
                  <a:t> </a:t>
                </a:r>
                <a:r>
                  <a:rPr lang="zh-CN" altLang="en-US" sz="2000" dirty="0">
                    <a:latin typeface="+mn-lt"/>
                  </a:rPr>
                  <a:t>成立。</a:t>
                </a:r>
                <a:endParaRPr lang="en-US" altLang="zh-CN" sz="2000" dirty="0">
                  <a:latin typeface="+mn-lt"/>
                </a:endParaRPr>
              </a:p>
              <a:p>
                <a:pPr marL="342900" indent="-342900">
                  <a:lnSpc>
                    <a:spcPct val="130000"/>
                  </a:lnSpc>
                  <a:buFont typeface="Wingdings" panose="05000000000000000000" pitchFamily="2" charset="2"/>
                  <a:buChar char="l"/>
                  <a:defRPr sz="2100" b="0">
                    <a:solidFill>
                      <a:srgbClr val="2C2C2F"/>
                    </a:solidFill>
                    <a:latin typeface="微软雅黑"/>
                  </a:defRPr>
                </a:pPr>
                <a:r>
                  <a:rPr lang="zh-CN" altLang="en-US" sz="2000" b="1" dirty="0">
                    <a:latin typeface="+mn-lt"/>
                  </a:rPr>
                  <a:t>性质 </a:t>
                </a:r>
                <a:r>
                  <a:rPr lang="en-US" altLang="zh-CN" sz="2000" b="1" dirty="0">
                    <a:latin typeface="+mn-lt"/>
                  </a:rPr>
                  <a:t>4</a:t>
                </a:r>
                <a:r>
                  <a:rPr lang="zh-CN" altLang="en-US" sz="2000" dirty="0">
                    <a:latin typeface="+mn-lt"/>
                  </a:rPr>
                  <a:t>。假设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r>
                  <a:rPr lang="zh-CN" altLang="en-US" sz="2000" i="1" dirty="0">
                    <a:latin typeface="Times New Roman" panose="02020503050405090304" pitchFamily="18" charset="0"/>
                    <a:ea typeface="微软雅黑" panose="020B0503020204020204" charset="-122"/>
                    <a:cs typeface="Times New Roman" panose="02020503050405090304" pitchFamily="18" charset="0"/>
                  </a:rPr>
                  <a:t> </a:t>
                </a:r>
                <a:r>
                  <a:rPr lang="zh-CN" altLang="en-US" sz="2000" dirty="0">
                    <a:latin typeface="+mn-lt"/>
                  </a:rPr>
                  <a:t>是 </a:t>
                </a:r>
                <a14:m>
                  <m:oMath xmlns:m="http://schemas.openxmlformats.org/officeDocument/2006/math">
                    <m:sSubSup>
                      <m:sSubSupPr>
                        <m:ctrlPr>
                          <a:rPr lang="ar-AE" altLang="zh-CN" sz="2000" i="1" smtClean="0">
                            <a:latin typeface="Cambria Math" panose="02040503050406030204" pitchFamily="18" charset="0"/>
                          </a:rPr>
                        </m:ctrlPr>
                      </m:sSubSupPr>
                      <m:e>
                        <m:r>
                          <a:rPr lang="ar-AE" altLang="zh-CN" sz="2000" b="0" i="1" smtClean="0">
                            <a:latin typeface="Cambria Math" panose="02040503050406030204" pitchFamily="18" charset="0"/>
                            <a:ea typeface="Cambria Math" panose="02040503050406030204" pitchFamily="18" charset="0"/>
                          </a:rPr>
                          <m:t>ℤ</m:t>
                        </m:r>
                      </m:e>
                      <m:sub>
                        <m:r>
                          <a:rPr lang="ar-AE" altLang="zh-CN" sz="2000" b="0" i="1" smtClean="0">
                            <a:latin typeface="Cambria Math" panose="02040503050406030204" pitchFamily="18" charset="0"/>
                          </a:rPr>
                          <m:t>𝑝</m:t>
                        </m:r>
                      </m:sub>
                      <m:sup>
                        <m:r>
                          <a:rPr lang="ar-AE" altLang="zh-CN" sz="2000" b="0" i="1" smtClean="0">
                            <a:latin typeface="Cambria Math" panose="02040503050406030204" pitchFamily="18" charset="0"/>
                          </a:rPr>
                          <m:t>∗</m:t>
                        </m:r>
                      </m:sup>
                    </m:sSubSup>
                  </m:oMath>
                </a14:m>
                <a:r>
                  <a:rPr lang="zh-CN" altLang="en-US" sz="2000" dirty="0">
                    <a:latin typeface="+mn-lt"/>
                  </a:rPr>
                  <a:t> 的生成元、 </a:t>
                </a:r>
                <a14:m>
                  <m:oMath xmlns:m="http://schemas.openxmlformats.org/officeDocument/2006/math">
                    <m:r>
                      <a:rPr lang="zh-CN" altLang="en-US" sz="2000" i="1" smtClean="0">
                        <a:latin typeface="Cambria Math" panose="02040503050406030204" pitchFamily="18" charset="0"/>
                      </a:rPr>
                      <m:t>𝛽</m:t>
                    </m:r>
                  </m:oMath>
                </a14:m>
                <a:r>
                  <a:rPr lang="en-US" altLang="zh-CN" sz="2000" i="1" dirty="0">
                    <a:solidFill>
                      <a:srgbClr val="2C2C2F"/>
                    </a:solidFill>
                    <a:latin typeface="+mn-lt"/>
                  </a:rPr>
                  <a:t> </a:t>
                </a:r>
                <a:r>
                  <a:rPr lang="en-US" altLang="zh-CN" sz="2000" dirty="0">
                    <a:solidFill>
                      <a:srgbClr val="2C2C2F"/>
                    </a:solidFill>
                    <a:latin typeface="+mn-lt"/>
                  </a:rPr>
                  <a:t>∈</a:t>
                </a:r>
                <a14:m>
                  <m:oMath xmlns:m="http://schemas.openxmlformats.org/officeDocument/2006/math">
                    <m:sSubSup>
                      <m:sSubSupPr>
                        <m:ctrlPr>
                          <a:rPr lang="ar-AE" altLang="zh-CN" sz="2000" i="1">
                            <a:latin typeface="Cambria Math" panose="02040503050406030204" pitchFamily="18" charset="0"/>
                          </a:rPr>
                        </m:ctrlPr>
                      </m:sSubSupPr>
                      <m:e>
                        <m:r>
                          <a:rPr lang="zh-CN" altLang="en-US" sz="2000" b="0" i="1" smtClean="0">
                            <a:latin typeface="Cambria Math" panose="02040503050406030204" pitchFamily="18" charset="0"/>
                          </a:rPr>
                          <m:t> </m:t>
                        </m:r>
                        <m:r>
                          <a:rPr lang="ar-AE" altLang="zh-CN" sz="2000" i="1">
                            <a:latin typeface="Cambria Math" panose="02040503050406030204" pitchFamily="18" charset="0"/>
                            <a:ea typeface="Cambria Math" panose="02040503050406030204" pitchFamily="18" charset="0"/>
                          </a:rPr>
                          <m:t>ℤ</m:t>
                        </m:r>
                      </m:e>
                      <m:sub>
                        <m:r>
                          <a:rPr lang="ar-AE" altLang="zh-CN" sz="2000" i="1">
                            <a:latin typeface="Cambria Math" panose="02040503050406030204" pitchFamily="18" charset="0"/>
                          </a:rPr>
                          <m:t>𝑝</m:t>
                        </m:r>
                      </m:sub>
                      <m:sup>
                        <m:r>
                          <a:rPr lang="ar-AE" altLang="zh-CN" sz="2000" b="1" i="1">
                            <a:latin typeface="Cambria Math" panose="02040503050406030204" pitchFamily="18" charset="0"/>
                          </a:rPr>
                          <m:t>∗</m:t>
                        </m:r>
                      </m:sup>
                    </m:sSubSup>
                  </m:oMath>
                </a14:m>
                <a:r>
                  <a:rPr lang="zh-CN" altLang="en-GB" sz="2000" dirty="0">
                    <a:latin typeface="+mn-lt"/>
                  </a:rPr>
                  <a:t>，</a:t>
                </a:r>
                <a:r>
                  <a:rPr lang="zh-CN" altLang="en-US" sz="2000" dirty="0">
                    <a:latin typeface="+mn-lt"/>
                  </a:rPr>
                  <a:t>则 </a:t>
                </a:r>
                <a14:m>
                  <m:oMath xmlns:m="http://schemas.openxmlformats.org/officeDocument/2006/math">
                    <m:r>
                      <a:rPr lang="zh-CN" altLang="en-US" sz="2000" i="1">
                        <a:latin typeface="Cambria Math" panose="02040503050406030204" pitchFamily="18" charset="0"/>
                      </a:rPr>
                      <m:t>𝛽</m:t>
                    </m:r>
                  </m:oMath>
                </a14:m>
                <a:r>
                  <a:rPr lang="el-GR" altLang="zh-CN" sz="2000" dirty="0">
                    <a:latin typeface="+mn-lt"/>
                  </a:rPr>
                  <a:t> ∈</a:t>
                </a:r>
                <a:r>
                  <a:rPr lang="en-US" altLang="zh-CN" sz="2000" i="1" dirty="0">
                    <a:solidFill>
                      <a:srgbClr val="2C2C2F"/>
                    </a:solidFill>
                    <a:latin typeface="+mn-lt"/>
                  </a:rPr>
                  <a:t> QR(p)</a:t>
                </a:r>
                <a:r>
                  <a:rPr lang="zh-CN" altLang="en-US" sz="2000" dirty="0">
                    <a:latin typeface="+mn-lt"/>
                  </a:rPr>
                  <a:t>当且仅当 </a:t>
                </a:r>
                <a:r>
                  <a:rPr lang="en-GB" altLang="zh-CN" sz="2000" dirty="0">
                    <a:latin typeface="+mn-lt"/>
                  </a:rPr>
                  <a:t>log</a:t>
                </a:r>
                <a14:m>
                  <m:oMath xmlns:m="http://schemas.openxmlformats.org/officeDocument/2006/math">
                    <m:r>
                      <m:rPr>
                        <m:nor/>
                      </m:rPr>
                      <a:rPr lang="en-US" altLang="zh-CN" sz="2000" i="1" baseline="-25000" dirty="0">
                        <a:latin typeface="Times New Roman" panose="02020503050405090304" pitchFamily="18" charset="0"/>
                        <a:ea typeface="微软雅黑" panose="020B0503020204020204" charset="-122"/>
                        <a:cs typeface="Times New Roman" panose="02020503050405090304" pitchFamily="18" charset="0"/>
                      </a:rPr>
                      <m:t>g</m:t>
                    </m:r>
                    <m:r>
                      <a:rPr lang="zh-CN" altLang="en-US" sz="2000" i="1" baseline="30000">
                        <a:latin typeface="Cambria Math" panose="02040503050406030204" pitchFamily="18" charset="0"/>
                      </a:rPr>
                      <m:t>𝛽</m:t>
                    </m:r>
                  </m:oMath>
                </a14:m>
                <a:r>
                  <a:rPr lang="zh-CN" altLang="en-US" sz="2000" dirty="0">
                    <a:latin typeface="+mn-lt"/>
                  </a:rPr>
                  <a:t>是偶数。</a:t>
                </a:r>
                <a:endParaRPr lang="en-US" altLang="zh-CN" sz="2000" dirty="0">
                  <a:latin typeface="+mn-lt"/>
                </a:endParaRPr>
              </a:p>
              <a:p>
                <a:endParaRPr kumimoji="1" lang="zh-CN" altLang="en-US" sz="2000" dirty="0">
                  <a:latin typeface="+mn-lt"/>
                </a:endParaRPr>
              </a:p>
            </p:txBody>
          </p:sp>
        </mc:Choice>
        <mc:Fallback>
          <p:sp>
            <p:nvSpPr>
              <p:cNvPr id="22" name="文本框 21"/>
              <p:cNvSpPr txBox="1">
                <a:spLocks noRot="1" noChangeAspect="1" noMove="1" noResize="1" noEditPoints="1" noAdjustHandles="1" noChangeArrowheads="1" noChangeShapeType="1" noTextEdit="1"/>
              </p:cNvSpPr>
              <p:nvPr/>
            </p:nvSpPr>
            <p:spPr>
              <a:xfrm>
                <a:off x="766698" y="1869218"/>
                <a:ext cx="10658604" cy="3337517"/>
              </a:xfrm>
              <a:prstGeom prst="rect">
                <a:avLst/>
              </a:prstGeom>
              <a:blipFill>
                <a:blip r:embed="rId3"/>
                <a:stretch>
                  <a:fillRect l="-629"/>
                </a:stretch>
              </a:blipFill>
            </p:spPr>
            <p:txBody>
              <a:bodyPr/>
              <a:lstStyle/>
              <a:p>
                <a:r>
                  <a:rPr lang="zh-CN" altLang="en-US">
                    <a:noFill/>
                  </a:rPr>
                  <a:t> </a:t>
                </a:r>
              </a:p>
            </p:txBody>
          </p:sp>
        </mc:Fallback>
      </mc:AlternateContent>
      <p:sp>
        <p:nvSpPr>
          <p:cNvPr id="11" name="文本框 10"/>
          <p:cNvSpPr txBox="1"/>
          <p:nvPr/>
        </p:nvSpPr>
        <p:spPr>
          <a:xfrm>
            <a:off x="502920" y="812214"/>
            <a:ext cx="315047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2400" b="1" dirty="0">
                <a:solidFill>
                  <a:srgbClr val="C00000"/>
                </a:solidFill>
              </a:rPr>
              <a:t>ElGamal </a:t>
            </a:r>
            <a:r>
              <a:rPr lang="zh-CN" altLang="en-US" sz="2400" b="1" dirty="0">
                <a:solidFill>
                  <a:srgbClr val="C00000"/>
                </a:solidFill>
              </a:rPr>
              <a:t>攻击二：二次剩余信息泄露</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0" name="Rounded Rectangle 8"/>
          <p:cNvSpPr/>
          <p:nvPr/>
        </p:nvSpPr>
        <p:spPr>
          <a:xfrm>
            <a:off x="801623" y="2059771"/>
            <a:ext cx="9750071" cy="268639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TextBox 10"/>
              <p:cNvSpPr txBox="1"/>
              <p:nvPr/>
            </p:nvSpPr>
            <p:spPr>
              <a:xfrm>
                <a:off x="932815" y="2135606"/>
                <a:ext cx="9618879" cy="2819233"/>
              </a:xfrm>
              <a:prstGeom prst="rect">
                <a:avLst/>
              </a:prstGeom>
              <a:noFill/>
            </p:spPr>
            <p:txBody>
              <a:bodyPr wrap="square" lIns="73152" tIns="64008">
                <a:spAutoFit/>
              </a:bodyPr>
              <a:lstStyle/>
              <a:p>
                <a:pPr>
                  <a:lnSpc>
                    <a:spcPct val="130000"/>
                  </a:lnSpc>
                  <a:defRPr sz="2000" b="0">
                    <a:solidFill>
                      <a:srgbClr val="2C2C2F"/>
                    </a:solidFill>
                    <a:latin typeface="微软雅黑"/>
                  </a:defRPr>
                </a:pPr>
                <a:r>
                  <a:rPr lang="zh-CN" altLang="en-US" sz="2000" dirty="0">
                    <a:latin typeface="+mn-lt"/>
                  </a:rPr>
                  <a:t>假设选取的两个消息</a:t>
                </a:r>
                <a:r>
                  <a:rPr lang="en-GB" altLang="zh-CN" sz="2000" i="1" dirty="0">
                    <a:latin typeface="+mn-lt"/>
                  </a:rPr>
                  <a:t>M</a:t>
                </a:r>
                <a:r>
                  <a:rPr lang="en-US" altLang="zh-CN" sz="2000" baseline="-25000" dirty="0">
                    <a:latin typeface="+mn-lt"/>
                  </a:rPr>
                  <a:t>1</a:t>
                </a:r>
                <a:r>
                  <a:rPr lang="zh-CN" altLang="en-US" sz="2000" dirty="0">
                    <a:latin typeface="+mn-lt"/>
                  </a:rPr>
                  <a:t>和</a:t>
                </a:r>
                <a:r>
                  <a:rPr lang="en-GB" altLang="zh-CN" sz="2000" i="1" dirty="0">
                    <a:latin typeface="+mn-lt"/>
                  </a:rPr>
                  <a:t>M</a:t>
                </a:r>
                <a:r>
                  <a:rPr lang="en-US" altLang="zh-CN" sz="2000" baseline="-25000" dirty="0">
                    <a:latin typeface="+mn-lt"/>
                  </a:rPr>
                  <a:t>2</a:t>
                </a:r>
                <a:r>
                  <a:rPr lang="zh-CN" altLang="en-US" sz="2000" baseline="-25000" dirty="0">
                    <a:latin typeface="+mn-lt"/>
                  </a:rPr>
                  <a:t>，</a:t>
                </a:r>
                <a:r>
                  <a:rPr lang="zh-CN" altLang="en-US" sz="2000" dirty="0">
                    <a:latin typeface="+mn-lt"/>
                  </a:rPr>
                  <a:t>第一个属于</a:t>
                </a:r>
                <a:r>
                  <a:rPr lang="en-GB" altLang="zh-CN" sz="2000" dirty="0">
                    <a:latin typeface="+mn-lt"/>
                  </a:rPr>
                  <a:t>QR(</a:t>
                </a:r>
                <a:r>
                  <a:rPr lang="en-GB" altLang="zh-CN" sz="2000" i="1" dirty="0">
                    <a:latin typeface="+mn-lt"/>
                  </a:rPr>
                  <a:t>p</a:t>
                </a:r>
                <a:r>
                  <a:rPr lang="en-GB" altLang="zh-CN" sz="2000" dirty="0">
                    <a:latin typeface="+mn-lt"/>
                  </a:rPr>
                  <a:t>) </a:t>
                </a:r>
                <a:r>
                  <a:rPr lang="zh-CN" altLang="en-US" sz="2000" dirty="0">
                    <a:latin typeface="+mn-lt"/>
                  </a:rPr>
                  <a:t>但另一个不属于</a:t>
                </a:r>
                <a:endParaRPr lang="en-US" sz="2000" dirty="0">
                  <a:latin typeface="+mn-lt"/>
                </a:endParaRPr>
              </a:p>
              <a:p>
                <a:pPr marL="342900" indent="-342900">
                  <a:lnSpc>
                    <a:spcPct val="130000"/>
                  </a:lnSpc>
                  <a:buFont typeface="Wingdings" panose="05000000000000000000" pitchFamily="2" charset="2"/>
                  <a:buChar char="l"/>
                  <a:defRPr sz="2000" b="0">
                    <a:solidFill>
                      <a:srgbClr val="2C2C2F"/>
                    </a:solidFill>
                    <a:latin typeface="微软雅黑"/>
                  </a:defRPr>
                </a:pPr>
                <a:r>
                  <a:rPr lang="zh-CN" altLang="en-US" sz="2000" dirty="0">
                    <a:latin typeface="+mn-lt"/>
                  </a:rPr>
                  <a:t>判断 </a:t>
                </a:r>
                <a:r>
                  <a:rPr lang="en-US" altLang="zh-CN" sz="2000" i="1" dirty="0">
                    <a:latin typeface="+mn-lt"/>
                  </a:rPr>
                  <a:t>C</a:t>
                </a:r>
                <a:r>
                  <a:rPr lang="en-US" altLang="zh-CN" sz="2000" baseline="-25000" dirty="0">
                    <a:latin typeface="+mn-lt"/>
                  </a:rPr>
                  <a:t>2</a:t>
                </a:r>
                <a:r>
                  <a:rPr lang="zh-CN" altLang="en-US" sz="2000" baseline="30000" dirty="0">
                    <a:latin typeface="+mn-lt"/>
                  </a:rPr>
                  <a:t> </a:t>
                </a:r>
                <a:r>
                  <a:rPr lang="en-US" altLang="zh-CN" sz="2000" baseline="30000" dirty="0">
                    <a:latin typeface="+mn-lt"/>
                  </a:rPr>
                  <a:t>((</a:t>
                </a:r>
                <a:r>
                  <a:rPr lang="en-US" altLang="zh-CN" sz="2000" i="1" baseline="30000" dirty="0">
                    <a:latin typeface="+mn-lt"/>
                  </a:rPr>
                  <a:t>p</a:t>
                </a:r>
                <a:r>
                  <a:rPr lang="zh-CN" altLang="en-US" sz="2000" baseline="30000" dirty="0">
                    <a:latin typeface="+mn-lt"/>
                  </a:rPr>
                  <a:t>−</a:t>
                </a:r>
                <a:r>
                  <a:rPr lang="en-US" altLang="zh-CN" sz="2000" baseline="30000" dirty="0">
                    <a:latin typeface="+mn-lt"/>
                  </a:rPr>
                  <a:t>1)/2) </a:t>
                </a:r>
                <a:r>
                  <a:rPr lang="zh-CN" altLang="en-US" sz="2000" dirty="0">
                    <a:latin typeface="+mn-lt"/>
                  </a:rPr>
                  <a:t>≡ </a:t>
                </a:r>
                <a:r>
                  <a:rPr lang="en-US" altLang="zh-CN" sz="2000" dirty="0">
                    <a:latin typeface="+mn-lt"/>
                  </a:rPr>
                  <a:t>1 (mod </a:t>
                </a:r>
                <a:r>
                  <a:rPr lang="en-US" altLang="zh-CN" sz="2000" i="1" dirty="0">
                    <a:latin typeface="+mn-lt"/>
                  </a:rPr>
                  <a:t>p</a:t>
                </a:r>
                <a:r>
                  <a:rPr lang="en-US" altLang="zh-CN" sz="2000" dirty="0">
                    <a:latin typeface="+mn-lt"/>
                  </a:rPr>
                  <a:t>)</a:t>
                </a:r>
                <a:r>
                  <a:rPr lang="zh-CN" altLang="en-US" sz="2000" dirty="0">
                    <a:latin typeface="+mn-lt"/>
                  </a:rPr>
                  <a:t> </a:t>
                </a:r>
                <a:r>
                  <a:rPr lang="zh-CN" altLang="en-US" sz="2000" dirty="0"/>
                  <a:t>是否成立以判断 </a:t>
                </a:r>
                <a:r>
                  <a:rPr lang="en-US" altLang="zh-CN" sz="2000" i="1" dirty="0">
                    <a:latin typeface="+mn-lt"/>
                  </a:rPr>
                  <a:t>C</a:t>
                </a:r>
                <a:r>
                  <a:rPr lang="zh-CN" altLang="en-US" sz="2000" dirty="0">
                    <a:latin typeface="+mn-lt"/>
                  </a:rPr>
                  <a:t>₂ </a:t>
                </a:r>
                <a:r>
                  <a:rPr lang="zh-CN" altLang="en-US" sz="2000" dirty="0"/>
                  <a:t>是否属于 </a:t>
                </a:r>
                <a:r>
                  <a:rPr lang="en-US" altLang="zh-CN" sz="2000" dirty="0">
                    <a:latin typeface="+mn-lt"/>
                  </a:rPr>
                  <a:t>QR(</a:t>
                </a:r>
                <a:r>
                  <a:rPr lang="en-US" altLang="zh-CN" sz="2000" i="1" dirty="0">
                    <a:latin typeface="+mn-lt"/>
                  </a:rPr>
                  <a:t>p</a:t>
                </a:r>
                <a:r>
                  <a:rPr lang="en-US" altLang="zh-CN" sz="2000" dirty="0">
                    <a:latin typeface="+mn-lt"/>
                  </a:rPr>
                  <a:t>) </a:t>
                </a:r>
                <a:r>
                  <a:rPr lang="zh-CN" altLang="en-US" sz="2000" dirty="0">
                    <a:latin typeface="+mn-lt"/>
                  </a:rPr>
                  <a:t>。</a:t>
                </a:r>
              </a:p>
              <a:p>
                <a:pPr marL="342900" indent="-342900">
                  <a:lnSpc>
                    <a:spcPct val="130000"/>
                  </a:lnSpc>
                  <a:buFont typeface="Wingdings" panose="05000000000000000000" pitchFamily="2" charset="2"/>
                  <a:buChar char="l"/>
                  <a:defRPr sz="2000" b="0">
                    <a:solidFill>
                      <a:srgbClr val="2C2C2F"/>
                    </a:solidFill>
                    <a:latin typeface="微软雅黑"/>
                  </a:defRPr>
                </a:pPr>
                <a:r>
                  <a:rPr lang="zh-CN" altLang="en-US" sz="2000" dirty="0">
                    <a:latin typeface="+mn-lt"/>
                  </a:rPr>
                  <a:t>根据性质</a:t>
                </a:r>
                <a:r>
                  <a:rPr lang="en-US" altLang="zh-CN" sz="2000" dirty="0">
                    <a:latin typeface="+mn-lt"/>
                  </a:rPr>
                  <a:t>4</a:t>
                </a:r>
                <a:r>
                  <a:rPr lang="zh-CN" altLang="en-US" sz="2000" dirty="0">
                    <a:latin typeface="+mn-lt"/>
                  </a:rPr>
                  <a:t>可知，</a:t>
                </a:r>
                <a:r>
                  <a:rPr lang="zh-CN" altLang="en-US" sz="2000" dirty="0"/>
                  <a:t>攻击者由 </a:t>
                </a:r>
                <a:r>
                  <a:rPr lang="en-GB" altLang="zh-CN" sz="2000" i="1" dirty="0">
                    <a:latin typeface="+mn-lt"/>
                  </a:rPr>
                  <a:t>r</a:t>
                </a:r>
                <a:r>
                  <a:rPr lang="en-GB" altLang="zh-CN" sz="2000" dirty="0">
                    <a:latin typeface="+mn-lt"/>
                  </a:rPr>
                  <a:t> ×</a:t>
                </a:r>
                <a:r>
                  <a:rPr lang="en-GB" altLang="zh-CN" sz="2000" dirty="0" err="1">
                    <a:latin typeface="+mn-lt"/>
                  </a:rPr>
                  <a:t>sk</a:t>
                </a:r>
                <a:r>
                  <a:rPr lang="en-GB" altLang="zh-CN" sz="2000" dirty="0">
                    <a:latin typeface="+mn-lt"/>
                  </a:rPr>
                  <a:t> </a:t>
                </a:r>
                <a:r>
                  <a:rPr lang="zh-CN" altLang="en-US" sz="2000" dirty="0"/>
                  <a:t>的奇偶性可判断</a:t>
                </a:r>
                <a:r>
                  <a:rPr lang="zh-CN" altLang="en-US" sz="2000" dirty="0">
                    <a:latin typeface="+mn-lt"/>
                  </a:rPr>
                  <a:t>判断 </a:t>
                </a:r>
                <a:r>
                  <a:rPr lang="en-GB" altLang="zh-CN" sz="2000" i="1" dirty="0" err="1">
                    <a:latin typeface="+mn-lt"/>
                  </a:rPr>
                  <a:t>Yʳ</a:t>
                </a:r>
                <a:r>
                  <a:rPr lang="en-GB" altLang="zh-CN" sz="2000" dirty="0">
                    <a:latin typeface="+mn-lt"/>
                  </a:rPr>
                  <a:t> ∈ QR(</a:t>
                </a:r>
                <a:r>
                  <a:rPr lang="en-GB" altLang="zh-CN" sz="2000" i="1" dirty="0">
                    <a:latin typeface="+mn-lt"/>
                  </a:rPr>
                  <a:t>p</a:t>
                </a:r>
                <a:r>
                  <a:rPr lang="en-GB" altLang="zh-CN" sz="2000" dirty="0">
                    <a:latin typeface="+mn-lt"/>
                  </a:rPr>
                  <a:t>) </a:t>
                </a:r>
                <a:r>
                  <a:rPr lang="zh-CN" altLang="en-GB" sz="2000" dirty="0">
                    <a:latin typeface="+mn-lt"/>
                  </a:rPr>
                  <a:t>是否</a:t>
                </a:r>
                <a:r>
                  <a:rPr lang="zh-CN" altLang="en-US" sz="2000" dirty="0">
                    <a:latin typeface="+mn-lt"/>
                  </a:rPr>
                  <a:t>成立（可结合性质</a:t>
                </a:r>
                <a:r>
                  <a:rPr lang="en-US" altLang="zh-CN" sz="2000" dirty="0">
                    <a:latin typeface="+mn-lt"/>
                  </a:rPr>
                  <a:t>1</a:t>
                </a:r>
                <a:r>
                  <a:rPr lang="zh-CN" altLang="en-US" sz="2000" dirty="0">
                    <a:latin typeface="+mn-lt"/>
                  </a:rPr>
                  <a:t>判断</a:t>
                </a:r>
                <a:r>
                  <a:rPr lang="en-US" altLang="zh-CN" sz="2000" i="1" dirty="0">
                    <a:latin typeface="+mn-lt"/>
                  </a:rPr>
                  <a:t>C</a:t>
                </a:r>
                <a:r>
                  <a:rPr lang="en-US" altLang="zh-CN" sz="2000" dirty="0">
                    <a:latin typeface="+mn-lt"/>
                  </a:rPr>
                  <a:t>₁</a:t>
                </a:r>
                <a:r>
                  <a:rPr lang="zh-CN" altLang="en-US" sz="2000" dirty="0">
                    <a:latin typeface="+mn-lt"/>
                  </a:rPr>
                  <a:t>和</a:t>
                </a:r>
                <a:r>
                  <a:rPr lang="en-US" altLang="zh-CN" sz="2000" i="1" dirty="0">
                    <a:latin typeface="+mn-lt"/>
                  </a:rPr>
                  <a:t>Y</a:t>
                </a:r>
                <a:r>
                  <a:rPr lang="en-US" altLang="zh-CN" sz="2000" dirty="0">
                    <a:latin typeface="+mn-lt"/>
                  </a:rPr>
                  <a:t> </a:t>
                </a:r>
                <a:r>
                  <a:rPr lang="zh-CN" altLang="en-US" sz="2000" dirty="0">
                    <a:latin typeface="+mn-lt"/>
                  </a:rPr>
                  <a:t>是否属于 </a:t>
                </a:r>
                <a:r>
                  <a:rPr lang="en-US" altLang="zh-CN" sz="2000" dirty="0">
                    <a:latin typeface="+mn-lt"/>
                  </a:rPr>
                  <a:t>QR(</a:t>
                </a:r>
                <a:r>
                  <a:rPr lang="en-US" altLang="zh-CN" sz="2000" i="1" dirty="0">
                    <a:latin typeface="+mn-lt"/>
                  </a:rPr>
                  <a:t>p</a:t>
                </a:r>
                <a:r>
                  <a:rPr lang="en-US" altLang="zh-CN" sz="2000" dirty="0">
                    <a:latin typeface="+mn-lt"/>
                  </a:rPr>
                  <a:t>) </a:t>
                </a:r>
                <a:r>
                  <a:rPr lang="zh-CN" altLang="en-US" sz="2000" dirty="0">
                    <a:latin typeface="+mn-lt"/>
                  </a:rPr>
                  <a:t>及</a:t>
                </a:r>
                <a:r>
                  <a:rPr lang="zh-CN" altLang="en-US" sz="2000" dirty="0"/>
                  <a:t> </a:t>
                </a:r>
                <a:r>
                  <a:rPr lang="en-GB" altLang="zh-CN" sz="2000" i="1" dirty="0">
                    <a:latin typeface="+mn-lt"/>
                  </a:rPr>
                  <a:t>r</a:t>
                </a:r>
                <a:r>
                  <a:rPr lang="en-GB" altLang="zh-CN" sz="2000" dirty="0">
                    <a:latin typeface="+mn-lt"/>
                  </a:rPr>
                  <a:t> ×</a:t>
                </a:r>
                <a:r>
                  <a:rPr lang="en-GB" altLang="zh-CN" sz="2000" dirty="0" err="1">
                    <a:latin typeface="+mn-lt"/>
                  </a:rPr>
                  <a:t>sk</a:t>
                </a:r>
                <a:r>
                  <a:rPr lang="en-GB" altLang="zh-CN" sz="2000" dirty="0">
                    <a:latin typeface="+mn-lt"/>
                  </a:rPr>
                  <a:t> </a:t>
                </a:r>
                <a:r>
                  <a:rPr lang="zh-CN" altLang="en-US" sz="2000" dirty="0"/>
                  <a:t>的奇偶性</a:t>
                </a:r>
                <a:r>
                  <a:rPr lang="zh-CN" altLang="en-US" sz="2000" dirty="0">
                    <a:latin typeface="+mn-lt"/>
                  </a:rPr>
                  <a:t>）。</a:t>
                </a:r>
                <a:endParaRPr lang="en-US" altLang="zh-CN" sz="2000" dirty="0">
                  <a:latin typeface="+mn-lt"/>
                </a:endParaRPr>
              </a:p>
              <a:p>
                <a:pPr marL="342900" indent="-342900">
                  <a:lnSpc>
                    <a:spcPct val="130000"/>
                  </a:lnSpc>
                  <a:buFont typeface="Wingdings" panose="05000000000000000000" pitchFamily="2" charset="2"/>
                  <a:buChar char="l"/>
                  <a:defRPr sz="2000" b="0">
                    <a:solidFill>
                      <a:srgbClr val="2C2C2F"/>
                    </a:solidFill>
                    <a:latin typeface="微软雅黑"/>
                  </a:defRPr>
                </a:pPr>
                <a:r>
                  <a:rPr lang="zh-CN" altLang="en-US" sz="2000" dirty="0">
                    <a:latin typeface="+mn-lt"/>
                  </a:rPr>
                  <a:t>因</a:t>
                </a:r>
                <a:r>
                  <a:rPr lang="en-GB" altLang="zh-CN" sz="2000" i="1" dirty="0">
                    <a:latin typeface="+mn-lt"/>
                  </a:rPr>
                  <a:t>C</a:t>
                </a:r>
                <a:r>
                  <a:rPr lang="en-GB" altLang="zh-CN" sz="2000" dirty="0">
                    <a:latin typeface="+mn-lt"/>
                  </a:rPr>
                  <a:t>₂ = </a:t>
                </a:r>
                <a:r>
                  <a:rPr lang="en-GB" altLang="zh-CN" sz="2000" i="1" dirty="0">
                    <a:latin typeface="+mn-lt"/>
                  </a:rPr>
                  <a:t>M</a:t>
                </a:r>
                <a:r>
                  <a:rPr lang="en-GB" altLang="zh-CN" sz="2000" dirty="0">
                    <a:latin typeface="+mn-lt"/>
                  </a:rPr>
                  <a:t> </a:t>
                </a:r>
                <a14:m>
                  <m:oMath xmlns:m="http://schemas.openxmlformats.org/officeDocument/2006/math">
                    <m:r>
                      <a:rPr lang="en-GB" altLang="zh-CN" sz="2000" i="1" smtClean="0">
                        <a:latin typeface="Cambria Math" panose="02040503050406030204" pitchFamily="18" charset="0"/>
                        <a:ea typeface="Cambria Math" panose="02040503050406030204" pitchFamily="18" charset="0"/>
                        <a:cs typeface="Times New Roman" panose="02020503050405090304" pitchFamily="18" charset="0"/>
                      </a:rPr>
                      <m:t>×</m:t>
                    </m:r>
                  </m:oMath>
                </a14:m>
                <a:r>
                  <a:rPr lang="en-GB" altLang="zh-CN" sz="2000" dirty="0">
                    <a:latin typeface="+mn-lt"/>
                  </a:rPr>
                  <a:t> </a:t>
                </a:r>
                <a:r>
                  <a:rPr lang="en-GB" altLang="zh-CN" sz="2000" i="1" dirty="0" err="1">
                    <a:latin typeface="+mn-lt"/>
                  </a:rPr>
                  <a:t>Yʳ</a:t>
                </a:r>
                <a:r>
                  <a:rPr lang="zh-CN" altLang="en-US" sz="2000" dirty="0">
                    <a:latin typeface="+mn-lt"/>
                  </a:rPr>
                  <a:t>，若</a:t>
                </a:r>
                <a:r>
                  <a:rPr lang="en-US" altLang="zh-CN" sz="2000" dirty="0">
                    <a:latin typeface="+mn-lt"/>
                  </a:rPr>
                  <a:t> </a:t>
                </a:r>
                <a:r>
                  <a:rPr lang="en-GB" altLang="zh-CN" sz="2000" i="1" dirty="0">
                    <a:solidFill>
                      <a:srgbClr val="2C2C2F"/>
                    </a:solidFill>
                    <a:latin typeface="+mn-lt"/>
                  </a:rPr>
                  <a:t>Y</a:t>
                </a:r>
                <a:r>
                  <a:rPr lang="zh-CN" altLang="en-US" sz="2000" i="1" dirty="0">
                    <a:solidFill>
                      <a:srgbClr val="2C2C2F"/>
                    </a:solidFill>
                    <a:latin typeface="+mn-lt"/>
                  </a:rPr>
                  <a:t> </a:t>
                </a:r>
                <a:r>
                  <a:rPr lang="en-GB" altLang="zh-CN" sz="2000" i="1" baseline="30000" dirty="0">
                    <a:solidFill>
                      <a:srgbClr val="2C2C2F"/>
                    </a:solidFill>
                    <a:latin typeface="+mn-lt"/>
                  </a:rPr>
                  <a:t>r  </a:t>
                </a:r>
                <a:r>
                  <a:rPr lang="zh-CN" altLang="en-GB" sz="2000" dirty="0">
                    <a:solidFill>
                      <a:srgbClr val="2C2C2F"/>
                    </a:solidFill>
                    <a:latin typeface="+mn-lt"/>
                  </a:rPr>
                  <a:t>与</a:t>
                </a:r>
                <a:r>
                  <a:rPr lang="en-GB" altLang="zh-CN" sz="2000" dirty="0">
                    <a:solidFill>
                      <a:srgbClr val="2C2C2F"/>
                    </a:solidFill>
                    <a:latin typeface="+mn-lt"/>
                  </a:rPr>
                  <a:t> </a:t>
                </a:r>
                <a:r>
                  <a:rPr lang="en-GB" altLang="zh-CN" sz="2000" i="1" dirty="0">
                    <a:solidFill>
                      <a:srgbClr val="2C2C2F"/>
                    </a:solidFill>
                    <a:latin typeface="+mn-lt"/>
                  </a:rPr>
                  <a:t>C</a:t>
                </a:r>
                <a:r>
                  <a:rPr lang="en-GB" altLang="zh-CN" sz="2000" dirty="0">
                    <a:solidFill>
                      <a:srgbClr val="2C2C2F"/>
                    </a:solidFill>
                    <a:latin typeface="+mn-lt"/>
                  </a:rPr>
                  <a:t>₂</a:t>
                </a:r>
                <a:r>
                  <a:rPr lang="en-GB" altLang="zh-CN" sz="2000" dirty="0">
                    <a:latin typeface="+mn-lt"/>
                  </a:rPr>
                  <a:t> </a:t>
                </a:r>
                <a:r>
                  <a:rPr lang="zh-CN" altLang="en-US" sz="2000" dirty="0">
                    <a:latin typeface="+mn-lt"/>
                  </a:rPr>
                  <a:t>同为二次剩余或同为二次非剩余，则攻击者判定</a:t>
                </a:r>
                <a:r>
                  <a:rPr lang="en-US" altLang="zh-CN" sz="2000" dirty="0">
                    <a:latin typeface="+mn-lt"/>
                  </a:rPr>
                  <a:t> </a:t>
                </a:r>
                <a:r>
                  <a:rPr lang="en-GB" altLang="zh-CN" sz="2000" i="1" dirty="0">
                    <a:latin typeface="+mn-lt"/>
                  </a:rPr>
                  <a:t>C</a:t>
                </a:r>
                <a:r>
                  <a:rPr lang="en-GB" altLang="zh-CN" sz="2000" i="1" baseline="-25000" dirty="0">
                    <a:latin typeface="+mn-lt"/>
                  </a:rPr>
                  <a:t>i </a:t>
                </a:r>
                <a:r>
                  <a:rPr lang="zh-CN" altLang="en-US" sz="2000" dirty="0">
                    <a:latin typeface="+mn-lt"/>
                  </a:rPr>
                  <a:t>是对</a:t>
                </a:r>
                <a:r>
                  <a:rPr lang="en-US" altLang="zh-CN" sz="2000" dirty="0">
                    <a:latin typeface="+mn-lt"/>
                  </a:rPr>
                  <a:t> </a:t>
                </a:r>
                <a:r>
                  <a:rPr lang="en-GB" altLang="zh-CN" sz="2000" i="1" dirty="0">
                    <a:latin typeface="+mn-lt"/>
                  </a:rPr>
                  <a:t>M</a:t>
                </a:r>
                <a:r>
                  <a:rPr lang="en-GB" altLang="zh-CN" sz="2000" baseline="-25000" dirty="0">
                    <a:latin typeface="+mn-lt"/>
                  </a:rPr>
                  <a:t>1</a:t>
                </a:r>
                <a:r>
                  <a:rPr lang="zh-CN" altLang="en-US" sz="2000" dirty="0">
                    <a:latin typeface="+mn-lt"/>
                  </a:rPr>
                  <a:t>加密得到的密文；否则判定</a:t>
                </a:r>
                <a:r>
                  <a:rPr lang="en-US" altLang="zh-CN" sz="2000" dirty="0">
                    <a:latin typeface="+mn-lt"/>
                  </a:rPr>
                  <a:t> </a:t>
                </a:r>
                <a:r>
                  <a:rPr lang="en-GB" altLang="zh-CN" sz="2000" i="1" dirty="0">
                    <a:latin typeface="+mn-lt"/>
                  </a:rPr>
                  <a:t>C</a:t>
                </a:r>
                <a:r>
                  <a:rPr lang="en-GB" altLang="zh-CN" sz="2000" i="1" baseline="-25000" dirty="0">
                    <a:latin typeface="+mn-lt"/>
                  </a:rPr>
                  <a:t>i </a:t>
                </a:r>
                <a:r>
                  <a:rPr lang="zh-CN" altLang="en-US" sz="2000" dirty="0">
                    <a:latin typeface="+mn-lt"/>
                  </a:rPr>
                  <a:t>是对</a:t>
                </a:r>
                <a:r>
                  <a:rPr lang="en-GB" altLang="zh-CN" sz="2000" i="1" dirty="0">
                    <a:latin typeface="+mn-lt"/>
                  </a:rPr>
                  <a:t>M</a:t>
                </a:r>
                <a:r>
                  <a:rPr lang="en-US" altLang="zh-CN" sz="2000" baseline="-25000" dirty="0">
                    <a:latin typeface="+mn-lt"/>
                  </a:rPr>
                  <a:t>2</a:t>
                </a:r>
                <a:r>
                  <a:rPr lang="en-GB" altLang="zh-CN" sz="2000" baseline="-25000" dirty="0">
                    <a:latin typeface="+mn-lt"/>
                  </a:rPr>
                  <a:t> </a:t>
                </a:r>
                <a:r>
                  <a:rPr lang="zh-CN" altLang="en-US" sz="2000" dirty="0">
                    <a:latin typeface="+mn-lt"/>
                  </a:rPr>
                  <a:t>加密得到的密文。</a:t>
                </a:r>
                <a:endParaRPr lang="en-GB" altLang="zh-CN" sz="2000" dirty="0">
                  <a:latin typeface="+mn-lt"/>
                </a:endParaRPr>
              </a:p>
              <a:p>
                <a:pPr>
                  <a:spcAft>
                    <a:spcPts val="1100"/>
                  </a:spcAft>
                  <a:defRPr sz="2000" b="0">
                    <a:solidFill>
                      <a:srgbClr val="2C2C2F"/>
                    </a:solidFill>
                    <a:latin typeface="微软雅黑"/>
                  </a:defRPr>
                </a:pPr>
                <a:endParaRPr lang="en-GB" altLang="zh-CN" sz="2000" dirty="0">
                  <a:latin typeface="+mn-lt"/>
                </a:endParaRPr>
              </a:p>
            </p:txBody>
          </p:sp>
        </mc:Choice>
        <mc:Fallback>
          <p:sp>
            <p:nvSpPr>
              <p:cNvPr id="12" name="TextBox 10"/>
              <p:cNvSpPr txBox="1">
                <a:spLocks noRot="1" noChangeAspect="1" noMove="1" noResize="1" noEditPoints="1" noAdjustHandles="1" noChangeArrowheads="1" noChangeShapeType="1" noTextEdit="1"/>
              </p:cNvSpPr>
              <p:nvPr/>
            </p:nvSpPr>
            <p:spPr>
              <a:xfrm>
                <a:off x="932815" y="2135606"/>
                <a:ext cx="9618879" cy="2819233"/>
              </a:xfrm>
              <a:prstGeom prst="rect">
                <a:avLst/>
              </a:prstGeom>
              <a:blipFill>
                <a:blip r:embed="rId3"/>
                <a:stretch>
                  <a:fillRect l="-824" r="-253"/>
                </a:stretch>
              </a:blipFill>
            </p:spPr>
            <p:txBody>
              <a:bodyPr/>
              <a:lstStyle/>
              <a:p>
                <a:r>
                  <a:rPr lang="zh-CN" altLang="en-US">
                    <a:noFill/>
                  </a:rPr>
                  <a:t> </a:t>
                </a:r>
              </a:p>
            </p:txBody>
          </p:sp>
        </mc:Fallback>
      </mc:AlternateContent>
      <p:sp>
        <p:nvSpPr>
          <p:cNvPr id="13" name="Rounded Rectangle 11"/>
          <p:cNvSpPr/>
          <p:nvPr/>
        </p:nvSpPr>
        <p:spPr>
          <a:xfrm>
            <a:off x="502920" y="5797296"/>
            <a:ext cx="1115568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12"/>
              <p:cNvSpPr txBox="1"/>
              <p:nvPr/>
            </p:nvSpPr>
            <p:spPr>
              <a:xfrm>
                <a:off x="667512" y="5870448"/>
                <a:ext cx="10835640" cy="446084"/>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lang="zh-CN" altLang="en-US" sz="2000" dirty="0">
                    <a:latin typeface="+mn-lt"/>
                  </a:rPr>
                  <a:t>注意：</a:t>
                </a:r>
                <a:r>
                  <a:rPr lang="zh-CN" altLang="en-US" sz="2000" dirty="0" err="1">
                    <a:latin typeface="+mn-lt"/>
                  </a:rPr>
                  <a:t>此处讨论</a:t>
                </a:r>
                <a:r>
                  <a:rPr lang="zh-CN" altLang="en-US" sz="2000" dirty="0">
                    <a:latin typeface="+mn-lt"/>
                  </a:rPr>
                  <a:t>的是</a:t>
                </a:r>
                <a:r>
                  <a:rPr lang="zh-CN" altLang="en-US" sz="2000" dirty="0" err="1">
                    <a:latin typeface="+mn-lt"/>
                  </a:rPr>
                  <a:t>在完整乘法群</a:t>
                </a:r>
                <a:r>
                  <a:rPr lang="zh-CN" altLang="en-US" sz="2000" dirty="0">
                    <a:latin typeface="+mn-lt"/>
                  </a:rPr>
                  <a:t> </a:t>
                </a:r>
                <a14:m>
                  <m:oMath xmlns:m="http://schemas.openxmlformats.org/officeDocument/2006/math">
                    <m:sSubSup>
                      <m:sSubSupPr>
                        <m:ctrlPr>
                          <a:rPr lang="ar-AE" altLang="zh-CN" sz="2000" i="1" smtClean="0">
                            <a:latin typeface="Cambria Math" panose="02040503050406030204" pitchFamily="18" charset="0"/>
                          </a:rPr>
                        </m:ctrlPr>
                      </m:sSubSupPr>
                      <m:e>
                        <m:r>
                          <a:rPr lang="ar-AE" altLang="zh-CN" sz="2000" b="0" i="1" smtClean="0">
                            <a:latin typeface="Cambria Math" panose="02040503050406030204" pitchFamily="18" charset="0"/>
                            <a:ea typeface="Cambria Math" panose="02040503050406030204" pitchFamily="18" charset="0"/>
                          </a:rPr>
                          <m:t>ℤ</m:t>
                        </m:r>
                      </m:e>
                      <m:sub>
                        <m:r>
                          <a:rPr lang="ar-AE" altLang="zh-CN" sz="2000" b="0" i="1" smtClean="0">
                            <a:latin typeface="Cambria Math" panose="02040503050406030204" pitchFamily="18" charset="0"/>
                          </a:rPr>
                          <m:t>𝑝</m:t>
                        </m:r>
                      </m:sub>
                      <m:sup>
                        <m:r>
                          <a:rPr lang="zh-CN" altLang="en-US" sz="2000" b="0" i="1" smtClean="0">
                            <a:latin typeface="Cambria Math" panose="02040503050406030204" pitchFamily="18" charset="0"/>
                          </a:rPr>
                          <m:t>∗</m:t>
                        </m:r>
                      </m:sup>
                    </m:sSubSup>
                  </m:oMath>
                </a14:m>
                <a:r>
                  <a:rPr lang="zh-CN" altLang="en-US" sz="2000" dirty="0">
                    <a:latin typeface="+mn-lt"/>
                  </a:rPr>
                  <a:t> 上的原始</a:t>
                </a:r>
                <a:r>
                  <a:rPr lang="zh-CN" altLang="en-US" sz="2000" b="1" dirty="0">
                    <a:solidFill>
                      <a:srgbClr val="9C1E26"/>
                    </a:solidFill>
                    <a:latin typeface="+mn-lt"/>
                  </a:rPr>
                  <a:t>构造 </a:t>
                </a:r>
                <a:r>
                  <a:rPr lang="en-GB" altLang="zh-CN" sz="2000" b="1" dirty="0">
                    <a:solidFill>
                      <a:srgbClr val="9C1E26"/>
                    </a:solidFill>
                    <a:latin typeface="+mn-lt"/>
                  </a:rPr>
                  <a:t>ElGamal </a:t>
                </a:r>
                <a:r>
                  <a:rPr lang="zh-CN" altLang="en-GB" sz="2000" b="1" dirty="0">
                    <a:solidFill>
                      <a:srgbClr val="9C1E26"/>
                    </a:solidFill>
                    <a:latin typeface="微软雅黑"/>
                  </a:rPr>
                  <a:t>方案</a:t>
                </a:r>
                <a:r>
                  <a:rPr lang="zh-CN" altLang="en-US" sz="2000" dirty="0"/>
                  <a:t>。</a:t>
                </a:r>
                <a:endParaRPr sz="2000" dirty="0"/>
              </a:p>
            </p:txBody>
          </p:sp>
        </mc:Choice>
        <mc:Fallback xmlns="">
          <p:sp>
            <p:nvSpPr>
              <p:cNvPr id="20" name="TextBox 12"/>
              <p:cNvSpPr txBox="1">
                <a:spLocks noRot="1" noChangeAspect="1" noMove="1" noResize="1" noEditPoints="1" noAdjustHandles="1" noChangeArrowheads="1" noChangeShapeType="1" noTextEdit="1"/>
              </p:cNvSpPr>
              <p:nvPr/>
            </p:nvSpPr>
            <p:spPr>
              <a:xfrm>
                <a:off x="667512" y="5870448"/>
                <a:ext cx="10835640" cy="446084"/>
              </a:xfrm>
              <a:prstGeom prst="rect">
                <a:avLst/>
              </a:prstGeom>
              <a:blipFill>
                <a:blip r:embed="rId4"/>
                <a:stretch>
                  <a:fillRect l="-703" t="-2778" b="-16667"/>
                </a:stretch>
              </a:blipFill>
            </p:spPr>
            <p:txBody>
              <a:bodyPr/>
              <a:lstStyle/>
              <a:p>
                <a:r>
                  <a:rPr lang="zh-CN" altLang="en-US">
                    <a:noFill/>
                  </a:rPr>
                  <a:t> </a:t>
                </a:r>
              </a:p>
            </p:txBody>
          </p:sp>
        </mc:Fallback>
      </mc:AlternateContent>
      <p:sp>
        <p:nvSpPr>
          <p:cNvPr id="11" name="文本框 10"/>
          <p:cNvSpPr txBox="1"/>
          <p:nvPr/>
        </p:nvSpPr>
        <p:spPr>
          <a:xfrm>
            <a:off x="502920" y="812214"/>
            <a:ext cx="315047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2400" b="1" dirty="0">
                <a:solidFill>
                  <a:srgbClr val="C00000"/>
                </a:solidFill>
              </a:rPr>
              <a:t>ElGamal </a:t>
            </a:r>
            <a:r>
              <a:rPr lang="zh-CN" altLang="en-US" sz="2400" b="1" dirty="0">
                <a:solidFill>
                  <a:srgbClr val="C00000"/>
                </a:solidFill>
              </a:rPr>
              <a:t>攻击二：二次剩余信息泄露</a:t>
            </a:r>
          </a:p>
        </p:txBody>
      </p:sp>
      <mc:AlternateContent xmlns:mc="http://schemas.openxmlformats.org/markup-compatibility/2006" xmlns:a14="http://schemas.microsoft.com/office/drawing/2010/main">
        <mc:Choice Requires="a14">
          <p:sp>
            <p:nvSpPr>
              <p:cNvPr id="4" name="文本框 3"/>
              <p:cNvSpPr txBox="1"/>
              <p:nvPr/>
            </p:nvSpPr>
            <p:spPr>
              <a:xfrm>
                <a:off x="539015" y="1477212"/>
                <a:ext cx="16008016" cy="415498"/>
              </a:xfrm>
              <a:prstGeom prst="rect">
                <a:avLst/>
              </a:prstGeom>
              <a:noFill/>
            </p:spPr>
            <p:txBody>
              <a:bodyPr wrap="square">
                <a:spAutoFit/>
              </a:bodyPr>
              <a:lstStyle/>
              <a:p>
                <a:pPr>
                  <a:spcAft>
                    <a:spcPts val="1100"/>
                  </a:spcAft>
                  <a:defRPr sz="2100" b="0">
                    <a:solidFill>
                      <a:srgbClr val="2C2C2F"/>
                    </a:solidFill>
                    <a:latin typeface="微软雅黑"/>
                  </a:defRPr>
                </a:pPr>
                <a:r>
                  <a:rPr lang="zh-CN" altLang="en-US" sz="2000" dirty="0">
                    <a:latin typeface="+mn-lt"/>
                  </a:rPr>
                  <a:t>原始 </a:t>
                </a:r>
                <a:r>
                  <a:rPr lang="en-GB" altLang="zh-CN" sz="2000" dirty="0">
                    <a:latin typeface="+mn-lt"/>
                  </a:rPr>
                  <a:t>ElGamal</a:t>
                </a:r>
                <a:r>
                  <a:rPr lang="zh-CN" altLang="en-GB" sz="2000" dirty="0">
                    <a:latin typeface="+mn-lt"/>
                  </a:rPr>
                  <a:t>：</a:t>
                </a:r>
                <a:r>
                  <a:rPr lang="en-GB" altLang="zh-CN" sz="2000" i="1" dirty="0">
                    <a:latin typeface="+mn-lt"/>
                  </a:rPr>
                  <a:t>C</a:t>
                </a:r>
                <a:r>
                  <a:rPr lang="en-GB" altLang="zh-CN" sz="2000" dirty="0">
                    <a:latin typeface="+mn-lt"/>
                  </a:rPr>
                  <a:t>₁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a:rPr lang="en-US" altLang="zh-CN" sz="2000" b="0" i="1" baseline="30000" smtClean="0">
                        <a:latin typeface="Cambria Math" panose="02040503050406030204" pitchFamily="18" charset="0"/>
                        <a:cs typeface="Times New Roman" panose="02020503050405090304" pitchFamily="18" charset="0"/>
                      </a:rPr>
                      <m:t>𝑟</m:t>
                    </m:r>
                  </m:oMath>
                </a14:m>
                <a:r>
                  <a:rPr lang="zh-CN" altLang="en-GB" sz="2000" dirty="0" err="1">
                    <a:latin typeface="+mn-lt"/>
                  </a:rPr>
                  <a:t>，</a:t>
                </a:r>
                <a:r>
                  <a:rPr lang="en-GB" altLang="zh-CN" sz="2000" i="1" dirty="0">
                    <a:latin typeface="+mn-lt"/>
                  </a:rPr>
                  <a:t>Y</a:t>
                </a:r>
                <a:r>
                  <a:rPr lang="en-GB" altLang="zh-CN" sz="2000" dirty="0">
                    <a:latin typeface="+mn-lt"/>
                  </a:rPr>
                  <a:t> =</a:t>
                </a:r>
                <a:r>
                  <a:rPr lang="en-US" altLang="zh-CN" sz="2000" i="1" dirty="0">
                    <a:latin typeface="Times New Roman" panose="02020503050405090304" pitchFamily="18" charset="0"/>
                    <a:ea typeface="微软雅黑" panose="020B0503020204020204" charset="-122"/>
                    <a:cs typeface="Times New Roman" panose="02020503050405090304" pitchFamily="18" charset="0"/>
                  </a:rPr>
                  <a:t>g</a:t>
                </a:r>
                <a14:m>
                  <m:oMath xmlns:m="http://schemas.openxmlformats.org/officeDocument/2006/math">
                    <m:r>
                      <m:rPr>
                        <m:sty m:val="p"/>
                      </m:rPr>
                      <a:rPr lang="en-US" altLang="zh-CN" sz="2000" b="0" i="0" baseline="30000" smtClean="0">
                        <a:latin typeface="Cambria Math" panose="02040503050406030204" pitchFamily="18" charset="0"/>
                        <a:cs typeface="Times New Roman" panose="02020503050405090304" pitchFamily="18" charset="0"/>
                      </a:rPr>
                      <m:t>sk</m:t>
                    </m:r>
                  </m:oMath>
                </a14:m>
                <a:r>
                  <a:rPr lang="zh-CN" altLang="en-US" sz="2000" dirty="0">
                    <a:latin typeface="+mn-lt"/>
                  </a:rPr>
                  <a:t>，</a:t>
                </a:r>
                <a:r>
                  <a:rPr lang="en-GB" altLang="zh-CN" sz="2000" i="1" dirty="0">
                    <a:latin typeface="+mn-lt"/>
                  </a:rPr>
                  <a:t>C</a:t>
                </a:r>
                <a:r>
                  <a:rPr lang="en-GB" altLang="zh-CN" sz="2000" dirty="0">
                    <a:latin typeface="+mn-lt"/>
                  </a:rPr>
                  <a:t>₂ = </a:t>
                </a:r>
                <a:r>
                  <a:rPr lang="en-GB" altLang="zh-CN" sz="2000" i="1" dirty="0">
                    <a:latin typeface="+mn-lt"/>
                  </a:rPr>
                  <a:t>M</a:t>
                </a:r>
                <a:r>
                  <a:rPr lang="en-GB" altLang="zh-CN" sz="2000" dirty="0">
                    <a:latin typeface="+mn-lt"/>
                  </a:rPr>
                  <a:t> </a:t>
                </a:r>
                <a14:m>
                  <m:oMath xmlns:m="http://schemas.openxmlformats.org/officeDocument/2006/math">
                    <m:r>
                      <a:rPr lang="en-GB" altLang="zh-CN" sz="2000" i="1" smtClean="0">
                        <a:latin typeface="Cambria Math" panose="02040503050406030204" pitchFamily="18" charset="0"/>
                        <a:ea typeface="Cambria Math" panose="02040503050406030204" pitchFamily="18" charset="0"/>
                        <a:cs typeface="Times New Roman" panose="02020503050405090304" pitchFamily="18" charset="0"/>
                      </a:rPr>
                      <m:t>×</m:t>
                    </m:r>
                  </m:oMath>
                </a14:m>
                <a:r>
                  <a:rPr lang="en-GB" altLang="zh-CN" sz="2000" dirty="0">
                    <a:latin typeface="+mn-lt"/>
                  </a:rPr>
                  <a:t> </a:t>
                </a:r>
                <a:r>
                  <a:rPr lang="en-GB" altLang="zh-CN" sz="2000" i="1" dirty="0" err="1">
                    <a:latin typeface="+mn-lt"/>
                  </a:rPr>
                  <a:t>Yʳ</a:t>
                </a:r>
                <a:endParaRPr lang="en-GB" altLang="zh-CN" sz="2000" i="1" dirty="0">
                  <a:latin typeface="+mn-lt"/>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39015" y="1477212"/>
                <a:ext cx="16008016" cy="415498"/>
              </a:xfrm>
              <a:prstGeom prst="rect">
                <a:avLst/>
              </a:prstGeom>
              <a:blipFill>
                <a:blip r:embed="rId5"/>
                <a:stretch>
                  <a:fillRect l="-397" t="-9091" b="-21212"/>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1" name="文本框 10"/>
          <p:cNvSpPr txBox="1"/>
          <p:nvPr/>
        </p:nvSpPr>
        <p:spPr>
          <a:xfrm>
            <a:off x="502920" y="81221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rPr>
              <a:t>ElGamal </a:t>
            </a:r>
            <a:r>
              <a:rPr lang="zh-CN" altLang="en-US" sz="2400" dirty="0">
                <a:solidFill>
                  <a:srgbClr val="C00000"/>
                </a:solidFill>
                <a:latin typeface="+mn-lt"/>
              </a:rPr>
              <a:t>改进：杂凑</a:t>
            </a:r>
            <a:r>
              <a:rPr lang="en-GB" altLang="zh-CN" sz="2400" dirty="0">
                <a:solidFill>
                  <a:srgbClr val="C00000"/>
                </a:solidFill>
                <a:latin typeface="+mn-lt"/>
              </a:rPr>
              <a:t>ElGamal</a:t>
            </a:r>
            <a:r>
              <a:rPr lang="zh-CN" altLang="en-US" sz="2400" dirty="0">
                <a:solidFill>
                  <a:srgbClr val="C00000"/>
                </a:solidFill>
                <a:latin typeface="+mn-lt"/>
              </a:rPr>
              <a:t>公钥加密方案</a:t>
            </a:r>
          </a:p>
        </p:txBody>
      </p:sp>
      <p:sp>
        <p:nvSpPr>
          <p:cNvPr id="8" name="Rounded Rectangle 8">
            <a:extLst>
              <a:ext uri="{FF2B5EF4-FFF2-40B4-BE49-F238E27FC236}">
                <a16:creationId xmlns:a16="http://schemas.microsoft.com/office/drawing/2014/main" id="{701C04A6-E071-4625-ABF0-8F144B633B4B}"/>
              </a:ext>
            </a:extLst>
          </p:cNvPr>
          <p:cNvSpPr/>
          <p:nvPr/>
        </p:nvSpPr>
        <p:spPr>
          <a:xfrm>
            <a:off x="577062" y="1614630"/>
            <a:ext cx="11029338" cy="341817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FFC930A-60C3-492F-BDF0-4C45CB4318E1}"/>
                  </a:ext>
                </a:extLst>
              </p:cNvPr>
              <p:cNvSpPr txBox="1"/>
              <p:nvPr/>
            </p:nvSpPr>
            <p:spPr>
              <a:xfrm>
                <a:off x="705600" y="1765612"/>
                <a:ext cx="10684800" cy="2994025"/>
              </a:xfrm>
              <a:prstGeom prst="rect">
                <a:avLst/>
              </a:prstGeom>
              <a:noFill/>
            </p:spPr>
            <p:txBody>
              <a:bodyPr wrap="square">
                <a:spAutoFit/>
              </a:bodyPr>
              <a:lstStyle/>
              <a:p>
                <a:pPr indent="266700" algn="just">
                  <a:lnSpc>
                    <a:spcPct val="132000"/>
                  </a:lnSpc>
                  <a:buNone/>
                </a:pPr>
                <a:r>
                  <a:rPr lang="zh-CN" altLang="en-US" sz="2000" dirty="0">
                    <a:solidFill>
                      <a:srgbClr val="000000"/>
                    </a:solidFill>
                    <a:latin typeface="+mn-lt"/>
                    <a:ea typeface="+mn-ea"/>
                    <a:cs typeface="Times New Roman" panose="02020503050405090304" pitchFamily="18" charset="0"/>
                  </a:rPr>
                  <a:t>杂凑</a:t>
                </a:r>
                <a:r>
                  <a:rPr lang="en-US" altLang="zh-CN" sz="2000" dirty="0">
                    <a:solidFill>
                      <a:srgbClr val="000000"/>
                    </a:solidFill>
                    <a:effectLst/>
                    <a:latin typeface="+mn-lt"/>
                    <a:ea typeface="+mn-ea"/>
                    <a:cs typeface="宋体" pitchFamily="2" charset="-122"/>
                  </a:rPr>
                  <a:t>ElGamal</a:t>
                </a:r>
                <a:r>
                  <a:rPr lang="zh-CN" altLang="zh-CN" sz="2000" dirty="0">
                    <a:solidFill>
                      <a:srgbClr val="000000"/>
                    </a:solidFill>
                    <a:effectLst/>
                    <a:latin typeface="+mn-lt"/>
                    <a:ea typeface="+mn-ea"/>
                    <a:cs typeface="Times New Roman" panose="02020503050405090304" pitchFamily="18" charset="0"/>
                  </a:rPr>
                  <a:t>公钥加密</a:t>
                </a:r>
                <a:r>
                  <a:rPr lang="zh-CN" altLang="en-US" sz="2000" dirty="0">
                    <a:solidFill>
                      <a:srgbClr val="000000"/>
                    </a:solidFill>
                    <a:effectLst/>
                    <a:latin typeface="+mn-lt"/>
                    <a:ea typeface="+mn-ea"/>
                    <a:cs typeface="Times New Roman" panose="02020503050405090304" pitchFamily="18" charset="0"/>
                  </a:rPr>
                  <a:t>方案</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smtClean="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由如下算法组成。</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latin typeface="+mn-lt"/>
                        <a:ea typeface="+mn-ea"/>
                        <a:cs typeface="Times New Roman" panose="02020503050405090304" pitchFamily="18" charset="0"/>
                      </a:rPr>
                      <m:t>Gen</m:t>
                    </m:r>
                    <m:r>
                      <m:rPr>
                        <m:nor/>
                      </m:rPr>
                      <a:rPr lang="en-US" altLang="zh-CN" sz="2000">
                        <a:solidFill>
                          <a:srgbClr val="000000"/>
                        </a:solidFill>
                        <a:latin typeface="+mn-lt"/>
                        <a:ea typeface="+mn-ea"/>
                        <a:cs typeface="Times New Roman" panose="02020503050405090304" pitchFamily="18" charset="0"/>
                      </a:rPr>
                      <m:t>(</m:t>
                    </m:r>
                    <m:r>
                      <m:rPr>
                        <m:nor/>
                      </m:rPr>
                      <a:rPr lang="zh-CN" altLang="zh-CN" sz="2000" dirty="0">
                        <a:latin typeface="+mn-lt"/>
                        <a:ea typeface="+mn-ea"/>
                        <a:cs typeface="Times New Roman" panose="02020503050405090304" pitchFamily="18" charset="0"/>
                      </a:rPr>
                      <m:t>λ</m:t>
                    </m:r>
                    <m:r>
                      <m:rPr>
                        <m:nor/>
                      </m:rPr>
                      <a:rPr lang="en-US" altLang="zh-CN" sz="2000">
                        <a:solidFill>
                          <a:srgbClr val="000000"/>
                        </a:solidFill>
                        <a:latin typeface="+mn-lt"/>
                        <a:ea typeface="+mn-ea"/>
                        <a:cs typeface="Times New Roman" panose="02020503050405090304" pitchFamily="18" charset="0"/>
                      </a:rPr>
                      <m:t>)</m:t>
                    </m:r>
                  </m:oMath>
                </a14:m>
                <a:r>
                  <a:rPr lang="zh-CN" altLang="zh-CN" sz="2000" dirty="0">
                    <a:solidFill>
                      <a:srgbClr val="000000"/>
                    </a:solidFill>
                    <a:latin typeface="+mn-lt"/>
                    <a:ea typeface="+mn-ea"/>
                    <a:cs typeface="Times New Roman" panose="02020503050405090304" pitchFamily="18" charset="0"/>
                  </a:rPr>
                  <a:t>：输入为安全参数</a:t>
                </a:r>
                <a:r>
                  <a:rPr lang="en-US" altLang="zh-CN" sz="2000" dirty="0">
                    <a:solidFill>
                      <a:srgbClr val="000000"/>
                    </a:solidFill>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λ</a:t>
                </a:r>
                <a:r>
                  <a:rPr lang="zh-CN" altLang="en-US" sz="2000" dirty="0">
                    <a:latin typeface="+mn-lt"/>
                    <a:ea typeface="+mn-ea"/>
                    <a:cs typeface="Times New Roman" panose="02020503050405090304" pitchFamily="18" charset="0"/>
                  </a:rPr>
                  <a:t>，随机选择 </a:t>
                </a:r>
                <a:r>
                  <a:rPr lang="en-US" altLang="zh-CN" sz="2000" dirty="0">
                    <a:latin typeface="+mn-lt"/>
                    <a:ea typeface="+mn-ea"/>
                    <a:cs typeface="Times New Roman" panose="02020503050405090304" pitchFamily="18" charset="0"/>
                  </a:rPr>
                  <a:t>sk</a:t>
                </a:r>
                <a14:m>
                  <m:oMath xmlns:m="http://schemas.openxmlformats.org/officeDocument/2006/math">
                    <m:r>
                      <a:rPr lang="en-US" altLang="zh-CN" sz="2000" i="1" dirty="0" smtClean="0">
                        <a:latin typeface="Cambria Math" panose="02040503050406030204" pitchFamily="18" charset="0"/>
                        <a:ea typeface="+mn-ea"/>
                        <a:cs typeface="Times New Roman" panose="02020503050405090304" pitchFamily="18" charset="0"/>
                      </a:rPr>
                      <m:t>∈</m:t>
                    </m:r>
                    <m:sSub>
                      <m:sSubPr>
                        <m:ctrlPr>
                          <a:rPr lang="en-US" altLang="zh-CN" sz="2000" i="1" dirty="0" smtClean="0">
                            <a:latin typeface="Cambria Math" panose="02040503050406030204" pitchFamily="18" charset="0"/>
                            <a:ea typeface="+mn-ea"/>
                            <a:cs typeface="Times New Roman" panose="02020503050405090304" pitchFamily="18" charset="0"/>
                          </a:rPr>
                        </m:ctrlPr>
                      </m:sSubPr>
                      <m:e>
                        <m:r>
                          <a:rPr lang="en-US" altLang="zh-CN" sz="2000" i="1" dirty="0" smtClean="0">
                            <a:latin typeface="Cambria Math" panose="02040503050406030204" pitchFamily="18" charset="0"/>
                            <a:ea typeface="+mn-ea"/>
                            <a:cs typeface="Times New Roman" panose="02020503050405090304" pitchFamily="18" charset="0"/>
                          </a:rPr>
                          <m:t>ℤ</m:t>
                        </m:r>
                      </m:e>
                      <m:sub>
                        <m:r>
                          <a:rPr lang="en-US" altLang="zh-CN" sz="2000" b="0" i="1" dirty="0" smtClean="0">
                            <a:latin typeface="Cambria Math" panose="02040503050406030204" pitchFamily="18" charset="0"/>
                            <a:ea typeface="+mn-ea"/>
                            <a:cs typeface="Times New Roman" panose="02020503050405090304" pitchFamily="18" charset="0"/>
                          </a:rPr>
                          <m:t>𝑞</m:t>
                        </m:r>
                      </m:sub>
                    </m:sSub>
                  </m:oMath>
                </a14:m>
                <a:r>
                  <a:rPr lang="zh-CN" altLang="en-US"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dirty="0">
                        <a:solidFill>
                          <a:srgbClr val="000000"/>
                        </a:solidFill>
                        <a:latin typeface="Cambria Math" panose="02040503050406030204" pitchFamily="18" charset="0"/>
                        <a:ea typeface="+mn-ea"/>
                        <a:cs typeface="宋体" pitchFamily="2" charset="-122"/>
                      </a:rPr>
                      <m:t>𝑌</m:t>
                    </m:r>
                    <m:r>
                      <a:rPr lang="en-US" altLang="zh-CN" sz="2000" b="0" i="1" dirty="0" smtClean="0">
                        <a:solidFill>
                          <a:srgbClr val="000000"/>
                        </a:solidFill>
                        <a:latin typeface="Cambria Math" panose="02040503050406030204" pitchFamily="18" charset="0"/>
                        <a:ea typeface="+mn-ea"/>
                        <a:cs typeface="宋体" pitchFamily="2" charset="-122"/>
                      </a:rPr>
                      <m:t>=</m:t>
                    </m:r>
                    <m:sSup>
                      <m:sSupPr>
                        <m:ctrlPr>
                          <a:rPr lang="en-US" altLang="zh-CN" sz="2000" b="0" i="1" dirty="0" smtClean="0">
                            <a:solidFill>
                              <a:srgbClr val="000000"/>
                            </a:solidFill>
                            <a:latin typeface="Cambria Math" panose="02040503050406030204" pitchFamily="18" charset="0"/>
                            <a:ea typeface="+mn-ea"/>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m:rPr>
                            <m:sty m:val="p"/>
                          </m:rPr>
                          <a:rPr lang="en-US" altLang="zh-CN" sz="2000" b="0" i="0" dirty="0" smtClean="0">
                            <a:solidFill>
                              <a:srgbClr val="000000"/>
                            </a:solidFill>
                            <a:latin typeface="Cambria Math" panose="02040503050406030204" pitchFamily="18" charset="0"/>
                            <a:ea typeface="+mn-ea"/>
                          </a:rPr>
                          <m:t>sk</m:t>
                        </m:r>
                      </m:sup>
                    </m:sSup>
                  </m:oMath>
                </a14:m>
                <a:r>
                  <a:rPr lang="zh-CN" altLang="en-US" sz="2000" dirty="0">
                    <a:solidFill>
                      <a:srgbClr val="000000"/>
                    </a:solidFill>
                    <a:effectLst/>
                    <a:latin typeface="+mn-lt"/>
                    <a:ea typeface="+mn-ea"/>
                    <a:cs typeface="宋体" pitchFamily="2" charset="-122"/>
                  </a:rPr>
                  <a:t>，选择安全杂凑函数</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H</a:t>
                </a:r>
                <a14:m>
                  <m:oMath xmlns:m="http://schemas.openxmlformats.org/officeDocument/2006/math">
                    <m:r>
                      <a:rPr lang="en-US" altLang="zh-CN" sz="2000" i="1">
                        <a:latin typeface="Cambria Math" panose="02040503050406030204" pitchFamily="18" charset="0"/>
                        <a:ea typeface="+mn-ea"/>
                      </a:rPr>
                      <m:t>:</m:t>
                    </m:r>
                    <m:r>
                      <a:rPr lang="zh-CN" altLang="en-US" sz="2000" i="1">
                        <a:latin typeface="Cambria Math" panose="02040503050406030204" pitchFamily="18" charset="0"/>
                        <a:ea typeface="+mn-ea"/>
                        <a:cs typeface="Times New Roman" panose="02020503050405090304" pitchFamily="18" charset="0"/>
                      </a:rPr>
                      <m:t>𝔾</m:t>
                    </m:r>
                    <m:r>
                      <a:rPr lang="en-US" altLang="zh-CN" sz="2000" i="1">
                        <a:latin typeface="Cambria Math" panose="02040503050406030204" pitchFamily="18" charset="0"/>
                        <a:ea typeface="+mn-ea"/>
                      </a:rPr>
                      <m:t>→</m:t>
                    </m:r>
                    <m:sSup>
                      <m:sSupPr>
                        <m:ctrlPr>
                          <a:rPr lang="zh-CN" altLang="zh-CN" sz="2000" i="1">
                            <a:latin typeface="Cambria Math" panose="02040503050406030204" pitchFamily="18" charset="0"/>
                            <a:ea typeface="+mn-ea"/>
                          </a:rPr>
                        </m:ctrlPr>
                      </m:sSupPr>
                      <m:e>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0</m:t>
                        </m:r>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1</m:t>
                        </m:r>
                        <m:r>
                          <a:rPr lang="en-US" altLang="zh-CN" sz="2000" i="1">
                            <a:latin typeface="Cambria Math" panose="02040503050406030204" pitchFamily="18" charset="0"/>
                            <a:ea typeface="+mn-ea"/>
                          </a:rPr>
                          <m:t>}</m:t>
                        </m:r>
                      </m:e>
                      <m:sup>
                        <m:r>
                          <a:rPr lang="en-US" altLang="zh-CN" sz="2000" b="0" i="1" smtClean="0">
                            <a:latin typeface="Cambria Math" panose="02040503050406030204" pitchFamily="18" charset="0"/>
                            <a:ea typeface="+mn-ea"/>
                          </a:rPr>
                          <m:t>𝑛</m:t>
                        </m:r>
                      </m:sup>
                    </m:sSup>
                  </m:oMath>
                </a14:m>
                <a:r>
                  <a:rPr lang="zh-CN" altLang="en-US" sz="2000" dirty="0">
                    <a:solidFill>
                      <a:srgbClr val="000000"/>
                    </a:solidFill>
                    <a:effectLst/>
                    <a:latin typeface="+mn-lt"/>
                    <a:ea typeface="+mn-ea"/>
                    <a:cs typeface="宋体" pitchFamily="2" charset="-122"/>
                  </a:rPr>
                  <a:t>，</a:t>
                </a:r>
                <a:r>
                  <a:rPr lang="zh-CN" altLang="zh-CN" sz="2000" dirty="0">
                    <a:solidFill>
                      <a:srgbClr val="000000"/>
                    </a:solidFill>
                    <a:effectLst/>
                    <a:latin typeface="+mn-lt"/>
                    <a:ea typeface="+mn-ea"/>
                    <a:cs typeface="宋体" pitchFamily="2" charset="-122"/>
                  </a:rPr>
                  <a:t>输出公私钥对</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r>
                      <m:rPr>
                        <m:sty m:val="p"/>
                      </m:rPr>
                      <a:rPr lang="en-US" altLang="zh-CN" sz="2000" i="0">
                        <a:solidFill>
                          <a:srgbClr val="000000"/>
                        </a:solidFill>
                        <a:effectLst/>
                        <a:latin typeface="Cambria Math" panose="02040503050406030204" pitchFamily="18" charset="0"/>
                        <a:ea typeface="+mn-ea"/>
                        <a:cs typeface="宋体" pitchFamily="2" charset="-122"/>
                      </a:rPr>
                      <m:t>pk</m:t>
                    </m:r>
                    <m:r>
                      <a:rPr lang="en-US" altLang="zh-CN" sz="2000" i="0">
                        <a:solidFill>
                          <a:srgbClr val="000000"/>
                        </a:solidFill>
                        <a:effectLst/>
                        <a:latin typeface="Cambria Math" panose="02040503050406030204" pitchFamily="18" charset="0"/>
                        <a:ea typeface="+mn-ea"/>
                        <a:cs typeface="宋体" pitchFamily="2" charset="-122"/>
                      </a:rPr>
                      <m:t>,</m:t>
                    </m:r>
                    <m:r>
                      <m:rPr>
                        <m:sty m:val="p"/>
                      </m:rPr>
                      <a:rPr lang="en-US" altLang="zh-CN" sz="2000" i="0">
                        <a:solidFill>
                          <a:srgbClr val="000000"/>
                        </a:solidFill>
                        <a:effectLst/>
                        <a:latin typeface="Cambria Math" panose="02040503050406030204" pitchFamily="18" charset="0"/>
                        <a:ea typeface="+mn-ea"/>
                        <a:cs typeface="宋体" pitchFamily="2" charset="-122"/>
                      </a:rPr>
                      <m:t>sk</m:t>
                    </m:r>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a:t>
                </a:r>
                <a14:m>
                  <m:oMath xmlns:m="http://schemas.openxmlformats.org/officeDocument/2006/math">
                    <m:r>
                      <a:rPr lang="zh-CN" altLang="en-US" sz="2000" i="1" dirty="0">
                        <a:solidFill>
                          <a:srgbClr val="000000"/>
                        </a:solidFill>
                        <a:latin typeface="Cambria Math" panose="02040503050406030204" pitchFamily="18" charset="0"/>
                        <a:ea typeface="+mn-ea"/>
                        <a:cs typeface="宋体" pitchFamily="2" charset="-122"/>
                      </a:rPr>
                      <m:t>其中</m:t>
                    </m:r>
                    <m:r>
                      <a:rPr lang="en-US" altLang="zh-CN" sz="2000" b="0" i="1" dirty="0" smtClean="0">
                        <a:solidFill>
                          <a:srgbClr val="000000"/>
                        </a:solidFill>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pk</m:t>
                    </m:r>
                    <m:r>
                      <a:rPr lang="en-US" altLang="zh-CN" sz="2000" i="1">
                        <a:solidFill>
                          <a:srgbClr val="000000"/>
                        </a:solidFill>
                        <a:effectLst/>
                        <a:latin typeface="Cambria Math" panose="02040503050406030204" pitchFamily="18" charset="0"/>
                        <a:ea typeface="+mn-ea"/>
                        <a:cs typeface="宋体" pitchFamily="2" charset="-122"/>
                      </a:rPr>
                      <m:t>=(</m:t>
                    </m:r>
                    <m:r>
                      <a:rPr lang="zh-CN" altLang="en-US" sz="2000" i="1">
                        <a:latin typeface="Cambria Math" panose="02040503050406030204" pitchFamily="18" charset="0"/>
                        <a:ea typeface="+mn-ea"/>
                        <a:cs typeface="Times New Roman" panose="02020503050405090304" pitchFamily="18" charset="0"/>
                      </a:rPr>
                      <m:t>𝔾</m:t>
                    </m:r>
                    <m:r>
                      <a:rPr lang="en-US" altLang="zh-CN" sz="2000" b="0" i="1" smtClean="0">
                        <a:latin typeface="Cambria Math" panose="02040503050406030204" pitchFamily="18" charset="0"/>
                        <a:ea typeface="+mn-ea"/>
                        <a:cs typeface="Times New Roman" panose="02020503050405090304" pitchFamily="18" charset="0"/>
                      </a:rPr>
                      <m:t>,</m:t>
                    </m:r>
                    <m:r>
                      <a:rPr lang="en-US" altLang="zh-CN" sz="2000" b="0" i="1" smtClean="0">
                        <a:latin typeface="Cambria Math" panose="02040503050406030204" pitchFamily="18" charset="0"/>
                        <a:ea typeface="+mn-ea"/>
                        <a:cs typeface="Times New Roman" panose="02020503050405090304" pitchFamily="18" charset="0"/>
                      </a:rPr>
                      <m:t>𝑞</m:t>
                    </m:r>
                    <m:r>
                      <a:rPr lang="en-US" altLang="zh-CN" sz="2000" b="0" i="1" smtClean="0">
                        <a:latin typeface="Cambria Math" panose="02040503050406030204" pitchFamily="18" charset="0"/>
                        <a:ea typeface="+mn-ea"/>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b="0" i="1" smtClean="0">
                        <a:latin typeface="Cambria Math" panose="02040503050406030204" pitchFamily="18" charset="0"/>
                        <a:ea typeface="+mn-ea"/>
                        <a:cs typeface="Times New Roman" panose="02020503050405090304" pitchFamily="18" charset="0"/>
                      </a:rPr>
                      <m:t>, </m:t>
                    </m:r>
                    <m:r>
                      <a:rPr lang="en-US" altLang="zh-CN" sz="2000" i="1" dirty="0">
                        <a:solidFill>
                          <a:srgbClr val="000000"/>
                        </a:solidFill>
                        <a:latin typeface="Cambria Math" panose="02040503050406030204" pitchFamily="18" charset="0"/>
                        <a:ea typeface="+mn-ea"/>
                        <a:cs typeface="宋体" pitchFamily="2" charset="-122"/>
                      </a:rPr>
                      <m:t>𝑌</m:t>
                    </m:r>
                    <m:r>
                      <a:rPr lang="en-US" altLang="zh-CN" sz="2000" i="1">
                        <a:solidFill>
                          <a:srgbClr val="000000"/>
                        </a:solidFill>
                        <a:effectLst/>
                        <a:latin typeface="Cambria Math" panose="02040503050406030204" pitchFamily="18" charset="0"/>
                        <a:ea typeface="+mn-ea"/>
                        <a:cs typeface="宋体" pitchFamily="2" charset="-122"/>
                      </a:rPr>
                      <m:t>,</m:t>
                    </m:r>
                    <m:r>
                      <a:rPr lang="en-US" altLang="zh-CN" sz="2000" i="1">
                        <a:solidFill>
                          <a:srgbClr val="000000"/>
                        </a:solidFill>
                        <a:latin typeface="Cambria Math" panose="02040503050406030204" pitchFamily="18" charset="0"/>
                        <a:ea typeface="+mn-ea"/>
                        <a:cs typeface="宋体" pitchFamily="2" charset="-122"/>
                      </a:rPr>
                      <m:t>𝐻</m:t>
                    </m:r>
                    <m:r>
                      <a:rPr lang="en-US" altLang="zh-CN" sz="2000" i="1">
                        <a:solidFill>
                          <a:srgbClr val="000000"/>
                        </a:solidFill>
                        <a:effectLst/>
                        <a:latin typeface="Cambria Math" panose="02040503050406030204" pitchFamily="18" charset="0"/>
                        <a:ea typeface="+mn-ea"/>
                        <a:cs typeface="宋体" pitchFamily="2" charset="-122"/>
                      </a:rPr>
                      <m:t>)</m:t>
                    </m:r>
                  </m:oMath>
                </a14:m>
                <a:r>
                  <a:rPr lang="zh-CN" altLang="en-US" sz="2000" dirty="0">
                    <a:solidFill>
                      <a:srgbClr val="000000"/>
                    </a:solidFill>
                    <a:effectLst/>
                    <a:latin typeface="+mn-lt"/>
                    <a:ea typeface="+mn-ea"/>
                    <a:cs typeface="宋体" pitchFamily="2" charset="-122"/>
                  </a:rPr>
                  <a:t>，</a:t>
                </a:r>
                <a:r>
                  <a:rPr lang="en-US" altLang="zh-CN" sz="2000" dirty="0">
                    <a:cs typeface="Times New Roman" panose="02020503050405090304" pitchFamily="18" charset="0"/>
                  </a:rPr>
                  <a:t> </a:t>
                </a:r>
                <a:r>
                  <a:rPr lang="zh-CN" altLang="en-US" sz="2000" dirty="0">
                    <a:solidFill>
                      <a:srgbClr val="000000"/>
                    </a:solidFill>
                    <a:effectLst/>
                    <a:latin typeface="+mn-lt"/>
                    <a:ea typeface="+mn-ea"/>
                    <a:cs typeface="宋体" pitchFamily="2" charset="-122"/>
                  </a:rPr>
                  <a:t>群</a:t>
                </a:r>
                <a14:m>
                  <m:oMath xmlns:m="http://schemas.openxmlformats.org/officeDocument/2006/math">
                    <m:r>
                      <a:rPr lang="zh-CN" altLang="en-US" sz="2000" b="0" i="0" smtClean="0">
                        <a:latin typeface="Cambria Math" panose="02040503050406030204" pitchFamily="18" charset="0"/>
                        <a:cs typeface="Times New Roman" panose="02020503050405090304" pitchFamily="18" charset="0"/>
                      </a:rPr>
                      <m:t> </m:t>
                    </m:r>
                    <m:r>
                      <a:rPr lang="zh-CN" altLang="en-US" sz="2000" i="1">
                        <a:latin typeface="Cambria Math" panose="02040503050406030204" pitchFamily="18" charset="0"/>
                        <a:cs typeface="Times New Roman" panose="02020503050405090304" pitchFamily="18" charset="0"/>
                      </a:rPr>
                      <m:t>𝔾</m:t>
                    </m:r>
                    <m:r>
                      <a:rPr lang="en-US" altLang="zh-CN" sz="2000" b="0" i="1" smtClean="0">
                        <a:latin typeface="Cambria Math" panose="02040503050406030204" pitchFamily="18" charset="0"/>
                        <a:cs typeface="Times New Roman" panose="020205030504050903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en-US" sz="2000" dirty="0">
                    <a:solidFill>
                      <a:srgbClr val="000000"/>
                    </a:solidFill>
                    <a:effectLst/>
                    <a:latin typeface="+mn-lt"/>
                    <a:ea typeface="+mn-ea"/>
                    <a:cs typeface="宋体" pitchFamily="2" charset="-122"/>
                  </a:rPr>
                  <a:t> 是 </a:t>
                </a:r>
                <a14:m>
                  <m:oMath xmlns:m="http://schemas.openxmlformats.org/officeDocument/2006/math">
                    <m:sSubSup>
                      <m:sSubSupPr>
                        <m:ctrlPr>
                          <a:rPr lang="ar-AE" altLang="zh-CN" sz="2000" i="1">
                            <a:latin typeface="Cambria Math" panose="02040503050406030204" pitchFamily="18" charset="0"/>
                          </a:rPr>
                        </m:ctrlPr>
                      </m:sSubSupPr>
                      <m:e>
                        <m:r>
                          <a:rPr lang="ar-AE" altLang="zh-CN" sz="2000" i="1">
                            <a:latin typeface="Cambria Math" panose="02040503050406030204" pitchFamily="18" charset="0"/>
                            <a:ea typeface="Cambria Math" panose="02040503050406030204" pitchFamily="18" charset="0"/>
                          </a:rPr>
                          <m:t>ℤ</m:t>
                        </m:r>
                      </m:e>
                      <m:sub>
                        <m:r>
                          <a:rPr lang="ar-AE" altLang="zh-CN" sz="2000" i="1">
                            <a:latin typeface="Cambria Math" panose="02040503050406030204" pitchFamily="18" charset="0"/>
                          </a:rPr>
                          <m:t>𝑝</m:t>
                        </m:r>
                      </m:sub>
                      <m:sup>
                        <m:r>
                          <a:rPr lang="ar-AE" altLang="zh-CN" sz="2000" b="1" i="1">
                            <a:latin typeface="Cambria Math" panose="02040503050406030204" pitchFamily="18" charset="0"/>
                          </a:rPr>
                          <m:t>∗</m:t>
                        </m:r>
                      </m:sup>
                    </m:sSubSup>
                    <m:r>
                      <a:rPr lang="ar-AE" altLang="zh-CN" sz="2000" b="1" i="1">
                        <a:latin typeface="Cambria Math" panose="02040503050406030204" pitchFamily="18" charset="0"/>
                      </a:rPr>
                      <m:t> </m:t>
                    </m:r>
                  </m:oMath>
                </a14:m>
                <a:r>
                  <a:rPr lang="zh-CN" altLang="en-US" sz="2000" dirty="0">
                    <a:solidFill>
                      <a:srgbClr val="000000"/>
                    </a:solidFill>
                    <a:cs typeface="宋体" pitchFamily="2" charset="-122"/>
                  </a:rPr>
                  <a:t>上的 </a:t>
                </a:r>
                <a14:m>
                  <m:oMath xmlns:m="http://schemas.openxmlformats.org/officeDocument/2006/math">
                    <m:r>
                      <a:rPr lang="en-US" altLang="zh-CN" sz="2000" i="1">
                        <a:latin typeface="Cambria Math" panose="02040503050406030204" pitchFamily="18" charset="0"/>
                        <a:cs typeface="Times New Roman" panose="02020503050405090304" pitchFamily="18" charset="0"/>
                      </a:rPr>
                      <m:t>𝑞</m:t>
                    </m:r>
                  </m:oMath>
                </a14:m>
                <a:r>
                  <a:rPr lang="zh-CN" altLang="en-US" sz="2000" dirty="0">
                    <a:solidFill>
                      <a:srgbClr val="000000"/>
                    </a:solidFill>
                    <a:cs typeface="宋体" pitchFamily="2" charset="-122"/>
                  </a:rPr>
                  <a:t>阶乘法循环子群，</a:t>
                </a:r>
                <a:r>
                  <a:rPr lang="en-US" altLang="zh-CN" sz="2000" dirty="0">
                    <a:cs typeface="Times New Roman" panose="02020503050405090304" pitchFamily="18" charset="0"/>
                  </a:rPr>
                  <a:t> </a:t>
                </a:r>
                <a14:m>
                  <m:oMath xmlns:m="http://schemas.openxmlformats.org/officeDocument/2006/math">
                    <m:r>
                      <a:rPr lang="en-US" altLang="zh-CN" sz="2000" i="1">
                        <a:latin typeface="Cambria Math" panose="02040503050406030204" pitchFamily="18" charset="0"/>
                        <a:cs typeface="Times New Roman" panose="02020503050405090304" pitchFamily="18" charset="0"/>
                      </a:rPr>
                      <m:t>𝑞</m:t>
                    </m:r>
                  </m:oMath>
                </a14:m>
                <a:r>
                  <a:rPr lang="zh-CN" altLang="en-US" sz="2000" dirty="0">
                    <a:solidFill>
                      <a:srgbClr val="000000"/>
                    </a:solidFill>
                    <a:cs typeface="宋体" pitchFamily="2" charset="-122"/>
                  </a:rPr>
                  <a:t> 为素数</a:t>
                </a:r>
                <a:r>
                  <a:rPr lang="zh-CN" altLang="zh-CN" sz="200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宋体" pitchFamily="2" charset="-122"/>
                      </a:rPr>
                      <m:t>Enc</m:t>
                    </m:r>
                    <m:r>
                      <m:rPr>
                        <m:nor/>
                      </m:rPr>
                      <a:rPr lang="en-US" altLang="zh-CN" sz="2000">
                        <a:solidFill>
                          <a:srgbClr val="000000"/>
                        </a:solidFill>
                        <a:effectLst/>
                        <a:latin typeface="+mn-lt"/>
                        <a:ea typeface="+mn-ea"/>
                        <a:cs typeface="宋体" pitchFamily="2" charset="-122"/>
                      </a:rPr>
                      <m:t>(</m:t>
                    </m:r>
                    <m:r>
                      <m:rPr>
                        <m:nor/>
                      </m:rPr>
                      <a:rPr lang="en-US" altLang="zh-CN" sz="2000" b="0" i="1" smtClean="0">
                        <a:solidFill>
                          <a:srgbClr val="000000"/>
                        </a:solidFill>
                        <a:effectLst/>
                        <a:latin typeface="+mn-lt"/>
                        <a:ea typeface="+mn-ea"/>
                        <a:cs typeface="宋体" pitchFamily="2" charset="-122"/>
                      </a:rPr>
                      <m:t>M</m:t>
                    </m:r>
                    <m:r>
                      <m:rPr>
                        <m:nor/>
                      </m:rPr>
                      <a:rPr lang="en-US" altLang="zh-CN" sz="2000" b="0" i="0" smtClean="0">
                        <a:solidFill>
                          <a:srgbClr val="000000"/>
                        </a:solidFill>
                        <a:effectLst/>
                        <a:latin typeface="+mn-lt"/>
                        <a:ea typeface="+mn-ea"/>
                        <a:cs typeface="宋体" pitchFamily="2" charset="-122"/>
                      </a:rPr>
                      <m:t>, </m:t>
                    </m:r>
                    <m:r>
                      <m:rPr>
                        <m:nor/>
                      </m:rPr>
                      <a:rPr lang="en-US" altLang="zh-CN" sz="2000" b="0" i="0" smtClean="0">
                        <a:solidFill>
                          <a:srgbClr val="000000"/>
                        </a:solidFill>
                        <a:effectLst/>
                        <a:latin typeface="+mn-lt"/>
                        <a:ea typeface="+mn-ea"/>
                        <a:cs typeface="宋体" pitchFamily="2" charset="-122"/>
                      </a:rPr>
                      <m:t>pk</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：输入公钥</a:t>
                </a:r>
                <a:r>
                  <a:rPr lang="en-US" altLang="zh-CN" sz="2000" dirty="0">
                    <a:solidFill>
                      <a:srgbClr val="000000"/>
                    </a:solidFill>
                    <a:effectLst/>
                    <a:latin typeface="+mn-lt"/>
                    <a:ea typeface="+mn-ea"/>
                    <a:cs typeface="宋体" pitchFamily="2" charset="-122"/>
                  </a:rPr>
                  <a:t> </a:t>
                </a:r>
                <a14:m>
                  <m:oMath xmlns:m="http://schemas.openxmlformats.org/officeDocument/2006/math">
                    <m:r>
                      <m:rPr>
                        <m:sty m:val="p"/>
                      </m:rPr>
                      <a:rPr lang="en-US" altLang="zh-CN" sz="2000">
                        <a:solidFill>
                          <a:srgbClr val="000000"/>
                        </a:solidFill>
                        <a:latin typeface="Cambria Math" panose="02040503050406030204" pitchFamily="18" charset="0"/>
                        <a:ea typeface="+mn-ea"/>
                        <a:cs typeface="宋体" pitchFamily="2" charset="-122"/>
                      </a:rPr>
                      <m:t>pk</m:t>
                    </m:r>
                    <m:r>
                      <a:rPr lang="en-US" altLang="zh-CN" sz="2000" i="1">
                        <a:solidFill>
                          <a:srgbClr val="000000"/>
                        </a:solidFill>
                        <a:latin typeface="Cambria Math" panose="02040503050406030204" pitchFamily="18" charset="0"/>
                        <a:ea typeface="+mn-ea"/>
                        <a:cs typeface="宋体" pitchFamily="2" charset="-122"/>
                      </a:rPr>
                      <m:t>=(</m:t>
                    </m:r>
                    <m:r>
                      <a:rPr lang="zh-CN" altLang="en-US" sz="2000" i="1">
                        <a:latin typeface="Cambria Math" panose="02040503050406030204" pitchFamily="18" charset="0"/>
                        <a:ea typeface="+mn-ea"/>
                        <a:cs typeface="Times New Roman" panose="02020503050405090304" pitchFamily="18" charset="0"/>
                      </a:rPr>
                      <m:t>𝔾</m:t>
                    </m:r>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𝑞</m:t>
                    </m:r>
                    <m:r>
                      <a:rPr lang="en-US" altLang="zh-CN" sz="2000" i="1">
                        <a:latin typeface="Cambria Math" panose="02040503050406030204" pitchFamily="18" charset="0"/>
                        <a:ea typeface="+mn-ea"/>
                        <a:cs typeface="Times New Roman" panose="02020503050405090304" pitchFamily="18" charset="0"/>
                      </a:rPr>
                      <m:t>,</m:t>
                    </m:r>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r>
                      <a:rPr lang="en-US" altLang="zh-CN" sz="2000" i="1">
                        <a:latin typeface="Cambria Math" panose="02040503050406030204" pitchFamily="18" charset="0"/>
                        <a:ea typeface="+mn-ea"/>
                        <a:cs typeface="Times New Roman" panose="02020503050405090304" pitchFamily="18" charset="0"/>
                      </a:rPr>
                      <m:t>, </m:t>
                    </m:r>
                    <m:r>
                      <a:rPr lang="en-US" altLang="zh-CN" sz="2000" i="1" dirty="0">
                        <a:solidFill>
                          <a:srgbClr val="000000"/>
                        </a:solidFill>
                        <a:latin typeface="Cambria Math" panose="02040503050406030204" pitchFamily="18" charset="0"/>
                        <a:ea typeface="+mn-ea"/>
                        <a:cs typeface="宋体" pitchFamily="2" charset="-122"/>
                      </a:rPr>
                      <m:t>𝑌</m:t>
                    </m:r>
                    <m:r>
                      <a:rPr lang="en-US" altLang="zh-CN" sz="2000" i="1">
                        <a:solidFill>
                          <a:srgbClr val="000000"/>
                        </a:solidFill>
                        <a:latin typeface="Cambria Math" panose="02040503050406030204" pitchFamily="18" charset="0"/>
                        <a:ea typeface="+mn-ea"/>
                        <a:cs typeface="宋体" pitchFamily="2" charset="-122"/>
                      </a:rPr>
                      <m:t>,</m:t>
                    </m:r>
                    <m:r>
                      <a:rPr lang="en-US" altLang="zh-CN" sz="2000" i="1">
                        <a:solidFill>
                          <a:srgbClr val="000000"/>
                        </a:solidFill>
                        <a:latin typeface="Cambria Math" panose="02040503050406030204" pitchFamily="18" charset="0"/>
                        <a:ea typeface="+mn-ea"/>
                        <a:cs typeface="宋体" pitchFamily="2" charset="-122"/>
                      </a:rPr>
                      <m:t>𝐻</m:t>
                    </m:r>
                    <m:r>
                      <a:rPr lang="en-US" altLang="zh-CN" sz="2000" i="1">
                        <a:solidFill>
                          <a:srgbClr val="000000"/>
                        </a:solidFill>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，明文</a:t>
                </a:r>
                <a:r>
                  <a:rPr lang="zh-CN" altLang="en-US" sz="2000" dirty="0">
                    <a:solidFill>
                      <a:srgbClr val="000000"/>
                    </a:solidFill>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M</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latin typeface="+mn-lt"/>
                    <a:ea typeface="+mn-ea"/>
                  </a:rPr>
                  <a:t> </a:t>
                </a:r>
                <a14:m>
                  <m:oMath xmlns:m="http://schemas.openxmlformats.org/officeDocument/2006/math">
                    <m:sSup>
                      <m:sSupPr>
                        <m:ctrlPr>
                          <a:rPr lang="zh-CN" altLang="zh-CN" sz="2000" i="1">
                            <a:latin typeface="Cambria Math" panose="02040503050406030204" pitchFamily="18" charset="0"/>
                            <a:ea typeface="+mn-ea"/>
                          </a:rPr>
                        </m:ctrlPr>
                      </m:sSupPr>
                      <m:e>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0</m:t>
                        </m:r>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1</m:t>
                        </m:r>
                        <m:r>
                          <a:rPr lang="en-US" altLang="zh-CN" sz="2000" i="1">
                            <a:latin typeface="Cambria Math" panose="02040503050406030204" pitchFamily="18" charset="0"/>
                            <a:ea typeface="+mn-ea"/>
                          </a:rPr>
                          <m:t>}</m:t>
                        </m:r>
                      </m:e>
                      <m:sup>
                        <m:r>
                          <a:rPr lang="en-US" altLang="zh-CN" sz="2000" i="1">
                            <a:latin typeface="Cambria Math" panose="02040503050406030204" pitchFamily="18" charset="0"/>
                            <a:ea typeface="+mn-ea"/>
                          </a:rPr>
                          <m:t>𝑛</m:t>
                        </m:r>
                      </m:sup>
                    </m:sSup>
                  </m:oMath>
                </a14:m>
                <a:r>
                  <a:rPr lang="zh-CN" altLang="en-US" sz="2000" dirty="0">
                    <a:solidFill>
                      <a:srgbClr val="000000"/>
                    </a:solidFill>
                    <a:effectLst/>
                    <a:latin typeface="+mn-lt"/>
                    <a:ea typeface="+mn-ea"/>
                    <a:cs typeface="宋体" pitchFamily="2" charset="-122"/>
                  </a:rPr>
                  <a:t>，先</a:t>
                </a:r>
                <a:r>
                  <a:rPr lang="zh-CN" altLang="zh-CN" sz="2000" dirty="0">
                    <a:solidFill>
                      <a:srgbClr val="000000"/>
                    </a:solidFill>
                    <a:effectLst/>
                    <a:latin typeface="+mn-lt"/>
                    <a:ea typeface="+mn-ea"/>
                    <a:cs typeface="宋体" pitchFamily="2" charset="-122"/>
                  </a:rPr>
                  <a:t>随机选择随机数</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r</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sSub>
                      <m:sSubPr>
                        <m:ctrlPr>
                          <a:rPr lang="en-US" altLang="zh-CN" sz="2000" i="1" dirty="0">
                            <a:latin typeface="Cambria Math" panose="02040503050406030204" pitchFamily="18" charset="0"/>
                            <a:cs typeface="Times New Roman" panose="02020503050405090304" pitchFamily="18" charset="0"/>
                          </a:rPr>
                        </m:ctrlPr>
                      </m:sSubPr>
                      <m:e>
                        <m:r>
                          <a:rPr lang="en-US" altLang="zh-CN" sz="2000" i="1" dirty="0">
                            <a:latin typeface="Cambria Math" panose="02040503050406030204" pitchFamily="18" charset="0"/>
                            <a:cs typeface="Times New Roman" panose="02020503050405090304" pitchFamily="18" charset="0"/>
                          </a:rPr>
                          <m:t>ℤ</m:t>
                        </m:r>
                      </m:e>
                      <m:sub>
                        <m:r>
                          <a:rPr lang="en-US" altLang="zh-CN" sz="2000" i="1" dirty="0">
                            <a:latin typeface="Cambria Math" panose="02040503050406030204" pitchFamily="18" charset="0"/>
                            <a:cs typeface="Times New Roman" panose="02020503050405090304" pitchFamily="18" charset="0"/>
                          </a:rPr>
                          <m:t>𝑞</m:t>
                        </m:r>
                      </m:sub>
                    </m:sSub>
                  </m:oMath>
                </a14:m>
                <a:r>
                  <a:rPr lang="zh-CN" altLang="zh-CN"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宋体" pitchFamily="2" charset="-122"/>
                          </a:rPr>
                        </m:ctrlPr>
                      </m:sSubPr>
                      <m:e>
                        <m:r>
                          <a:rPr lang="en-US" altLang="zh-CN" sz="2000" b="0" i="1" smtClean="0">
                            <a:solidFill>
                              <a:srgbClr val="000000"/>
                            </a:solidFill>
                            <a:effectLst/>
                            <a:latin typeface="Cambria Math" panose="02040503050406030204" pitchFamily="18" charset="0"/>
                            <a:ea typeface="+mn-ea"/>
                            <a:cs typeface="宋体" pitchFamily="2" charset="-122"/>
                          </a:rPr>
                          <m:t>𝐶</m:t>
                        </m:r>
                      </m:e>
                      <m:sub>
                        <m:r>
                          <a:rPr lang="en-US" altLang="zh-CN" sz="2000" i="1">
                            <a:solidFill>
                              <a:srgbClr val="000000"/>
                            </a:solidFill>
                            <a:effectLst/>
                            <a:latin typeface="Cambria Math" panose="02040503050406030204" pitchFamily="18" charset="0"/>
                            <a:ea typeface="+mn-ea"/>
                            <a:cs typeface="宋体" pitchFamily="2" charset="-122"/>
                          </a:rPr>
                          <m:t>1</m:t>
                        </m:r>
                      </m:sub>
                    </m:sSub>
                    <m:r>
                      <a:rPr lang="en-US" altLang="zh-CN" sz="2000" i="1">
                        <a:solidFill>
                          <a:srgbClr val="000000"/>
                        </a:solidFill>
                        <a:effectLst/>
                        <a:latin typeface="Cambria Math" panose="02040503050406030204" pitchFamily="18" charset="0"/>
                        <a:ea typeface="+mn-ea"/>
                        <a:cs typeface="宋体" pitchFamily="2" charset="-122"/>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sup>
                        <m:r>
                          <a:rPr lang="en-US" altLang="zh-CN" sz="2000" b="0" i="1" smtClean="0">
                            <a:solidFill>
                              <a:srgbClr val="000000"/>
                            </a:solidFill>
                            <a:effectLst/>
                            <a:latin typeface="Cambria Math" panose="02040503050406030204" pitchFamily="18" charset="0"/>
                            <a:ea typeface="+mn-ea"/>
                            <a:cs typeface="宋体" pitchFamily="2" charset="-122"/>
                          </a:rPr>
                          <m:t>𝑟</m:t>
                        </m:r>
                      </m:sup>
                    </m:sSup>
                    <m:r>
                      <a:rPr lang="en-US" altLang="zh-CN" sz="2000" i="1">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宋体" pitchFamily="2" charset="-122"/>
                          </a:rPr>
                        </m:ctrlPr>
                      </m:sSubPr>
                      <m:e>
                        <m:r>
                          <a:rPr lang="en-US" altLang="zh-CN" sz="2000" b="0" i="1" smtClean="0">
                            <a:solidFill>
                              <a:srgbClr val="000000"/>
                            </a:solidFill>
                            <a:effectLst/>
                            <a:latin typeface="Cambria Math" panose="02040503050406030204" pitchFamily="18" charset="0"/>
                            <a:ea typeface="+mn-ea"/>
                            <a:cs typeface="宋体" pitchFamily="2" charset="-122"/>
                          </a:rPr>
                          <m:t>𝐶</m:t>
                        </m:r>
                      </m:e>
                      <m:sub>
                        <m:r>
                          <a:rPr lang="en-US" altLang="zh-CN" sz="2000" i="1">
                            <a:solidFill>
                              <a:srgbClr val="000000"/>
                            </a:solidFill>
                            <a:effectLst/>
                            <a:latin typeface="Cambria Math" panose="02040503050406030204" pitchFamily="18" charset="0"/>
                            <a:ea typeface="+mn-ea"/>
                            <a:cs typeface="宋体" pitchFamily="2" charset="-122"/>
                          </a:rPr>
                          <m:t>2</m:t>
                        </m:r>
                      </m:sub>
                    </m:sSub>
                    <m:r>
                      <a:rPr lang="en-US" altLang="zh-CN" sz="2000" i="1">
                        <a:solidFill>
                          <a:srgbClr val="000000"/>
                        </a:solidFill>
                        <a:effectLst/>
                        <a:latin typeface="Cambria Math" panose="02040503050406030204" pitchFamily="18" charset="0"/>
                        <a:ea typeface="+mn-ea"/>
                        <a:cs typeface="宋体" pitchFamily="2" charset="-122"/>
                      </a:rPr>
                      <m:t>=</m:t>
                    </m:r>
                    <m:r>
                      <a:rPr lang="en-US" altLang="zh-CN" sz="2000" b="0" i="1" smtClean="0">
                        <a:solidFill>
                          <a:srgbClr val="000000"/>
                        </a:solidFill>
                        <a:effectLst/>
                        <a:latin typeface="Cambria Math" panose="02040503050406030204" pitchFamily="18" charset="0"/>
                        <a:ea typeface="+mn-ea"/>
                        <a:cs typeface="宋体" pitchFamily="2" charset="-122"/>
                      </a:rPr>
                      <m:t>𝑀</m:t>
                    </m:r>
                    <m:r>
                      <a:rPr lang="en-US" altLang="zh-CN" sz="2000">
                        <a:solidFill>
                          <a:srgbClr val="000000"/>
                        </a:solidFill>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𝐻</m:t>
                        </m:r>
                        <m:r>
                          <a:rPr lang="en-US" altLang="zh-CN" sz="2000" i="1">
                            <a:solidFill>
                              <a:srgbClr val="000000"/>
                            </a:solidFill>
                            <a:effectLst/>
                            <a:latin typeface="Cambria Math" panose="02040503050406030204" pitchFamily="18" charset="0"/>
                            <a:ea typeface="+mn-ea"/>
                            <a:cs typeface="宋体" pitchFamily="2" charset="-122"/>
                          </a:rPr>
                          <m:t>(</m:t>
                        </m:r>
                        <m:r>
                          <a:rPr lang="en-US" altLang="zh-CN" sz="2000" b="0" i="1" smtClean="0">
                            <a:solidFill>
                              <a:srgbClr val="000000"/>
                            </a:solidFill>
                            <a:effectLst/>
                            <a:latin typeface="Cambria Math" panose="02040503050406030204" pitchFamily="18" charset="0"/>
                            <a:ea typeface="+mn-ea"/>
                            <a:cs typeface="宋体" pitchFamily="2" charset="-122"/>
                          </a:rPr>
                          <m:t>𝑌</m:t>
                        </m:r>
                      </m:e>
                      <m:sup>
                        <m:r>
                          <a:rPr lang="en-US" altLang="zh-CN" sz="2000" b="0" i="1" smtClean="0">
                            <a:solidFill>
                              <a:srgbClr val="000000"/>
                            </a:solidFill>
                            <a:effectLst/>
                            <a:latin typeface="Cambria Math" panose="02040503050406030204" pitchFamily="18" charset="0"/>
                            <a:ea typeface="+mn-ea"/>
                            <a:cs typeface="宋体" pitchFamily="2" charset="-122"/>
                          </a:rPr>
                          <m:t>𝑟</m:t>
                        </m:r>
                      </m:sup>
                    </m:sSup>
                    <m:r>
                      <a:rPr lang="en-US" altLang="zh-CN" sz="2000" i="1">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，输出密文</a:t>
                </a:r>
                <a14:m>
                  <m:oMath xmlns:m="http://schemas.openxmlformats.org/officeDocument/2006/math">
                    <m:r>
                      <m:rPr>
                        <m:nor/>
                      </m:rPr>
                      <a:rPr lang="en-US" altLang="zh-CN" sz="2000" i="1">
                        <a:solidFill>
                          <a:srgbClr val="000000"/>
                        </a:solidFill>
                        <a:latin typeface="+mn-lt"/>
                        <a:cs typeface="Arial" panose="020B0604020202020204" pitchFamily="34" charset="0"/>
                      </a:rPr>
                      <m:t>C</m:t>
                    </m:r>
                    <m:r>
                      <a:rPr lang="en-US" altLang="zh-CN" sz="2000" i="1">
                        <a:solidFill>
                          <a:srgbClr val="000000"/>
                        </a:solidFill>
                        <a:effectLst/>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effectLst/>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 。</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宋体" pitchFamily="2" charset="-122"/>
                      </a:rPr>
                      <m:t>Dec</m:t>
                    </m:r>
                    <m:r>
                      <m:rPr>
                        <m:nor/>
                      </m:rPr>
                      <a:rPr lang="en-US" altLang="zh-CN" sz="2000">
                        <a:solidFill>
                          <a:srgbClr val="000000"/>
                        </a:solidFill>
                        <a:effectLst/>
                        <a:latin typeface="+mn-lt"/>
                        <a:ea typeface="+mn-ea"/>
                        <a:cs typeface="宋体" pitchFamily="2" charset="-122"/>
                      </a:rPr>
                      <m:t>(</m:t>
                    </m:r>
                    <m:r>
                      <m:rPr>
                        <m:nor/>
                      </m:rPr>
                      <a:rPr lang="en-US" altLang="zh-CN" sz="2000" b="0" i="1" smtClean="0">
                        <a:solidFill>
                          <a:srgbClr val="000000"/>
                        </a:solidFill>
                        <a:effectLst/>
                        <a:latin typeface="+mn-lt"/>
                        <a:ea typeface="+mn-ea"/>
                        <a:cs typeface="宋体" pitchFamily="2" charset="-122"/>
                      </a:rPr>
                      <m:t>C</m:t>
                    </m:r>
                    <m:r>
                      <m:rPr>
                        <m:nor/>
                      </m:rPr>
                      <a:rPr lang="en-US" altLang="zh-CN" sz="2000" b="0" i="0" smtClean="0">
                        <a:solidFill>
                          <a:srgbClr val="000000"/>
                        </a:solidFill>
                        <a:effectLst/>
                        <a:latin typeface="+mn-lt"/>
                        <a:ea typeface="+mn-ea"/>
                        <a:cs typeface="宋体" pitchFamily="2" charset="-122"/>
                      </a:rPr>
                      <m:t>, </m:t>
                    </m:r>
                    <m:r>
                      <m:rPr>
                        <m:nor/>
                      </m:rPr>
                      <a:rPr lang="en-US" altLang="zh-CN" sz="2000" b="0" i="0" smtClean="0">
                        <a:solidFill>
                          <a:srgbClr val="000000"/>
                        </a:solidFill>
                        <a:effectLst/>
                        <a:latin typeface="+mn-lt"/>
                        <a:ea typeface="+mn-ea"/>
                        <a:cs typeface="宋体" pitchFamily="2" charset="-122"/>
                      </a:rPr>
                      <m:t>sk</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：输入为私钥</a:t>
                </a:r>
                <a14:m>
                  <m:oMath xmlns:m="http://schemas.openxmlformats.org/officeDocument/2006/math">
                    <m:r>
                      <a:rPr lang="en-US" altLang="zh-CN" sz="2000" b="0" i="0" smtClean="0">
                        <a:solidFill>
                          <a:srgbClr val="000000"/>
                        </a:solidFill>
                        <a:effectLst/>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sk</m:t>
                    </m:r>
                  </m:oMath>
                </a14:m>
                <a:r>
                  <a:rPr lang="zh-CN" altLang="zh-CN" sz="2000" dirty="0">
                    <a:solidFill>
                      <a:srgbClr val="000000"/>
                    </a:solidFill>
                    <a:effectLst/>
                    <a:latin typeface="+mn-lt"/>
                    <a:ea typeface="+mn-ea"/>
                    <a:cs typeface="宋体" pitchFamily="2" charset="-122"/>
                  </a:rPr>
                  <a:t>，密文</a:t>
                </a:r>
                <a:r>
                  <a:rPr lang="en-US" altLang="zh-CN" sz="2000" dirty="0">
                    <a:solidFill>
                      <a:srgbClr val="000000"/>
                    </a:solidFill>
                    <a:effectLst/>
                    <a:latin typeface="+mn-lt"/>
                    <a:ea typeface="+mn-ea"/>
                    <a:cs typeface="宋体" pitchFamily="2" charset="-122"/>
                  </a:rPr>
                  <a:t> </a:t>
                </a:r>
                <a14:m>
                  <m:oMath xmlns:m="http://schemas.openxmlformats.org/officeDocument/2006/math">
                    <m:r>
                      <m:rPr>
                        <m:nor/>
                      </m:rPr>
                      <a:rPr lang="en-US" altLang="zh-CN" sz="2000" i="1">
                        <a:solidFill>
                          <a:srgbClr val="000000"/>
                        </a:solidFill>
                        <a:latin typeface="+mn-lt"/>
                        <a:cs typeface="Arial" panose="020B0604020202020204" pitchFamily="34" charset="0"/>
                      </a:rPr>
                      <m:t>C</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m:t>
                    </m:r>
                  </m:oMath>
                </a14:m>
                <a:r>
                  <a:rPr lang="zh-CN" altLang="zh-CN"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M</a:t>
                </a:r>
                <a:r>
                  <a:rPr lang="en-US" altLang="zh-CN" sz="2000" dirty="0">
                    <a:solidFill>
                      <a:srgbClr val="000000"/>
                    </a:solidFill>
                    <a:effectLst/>
                    <a:latin typeface="+mn-lt"/>
                    <a:ea typeface="+mn-ea"/>
                    <a:cs typeface="宋体" pitchFamily="2" charset="-122"/>
                  </a:rPr>
                  <a:t>=</a:t>
                </a:r>
                <a:r>
                  <a:rPr lang="zh-CN" altLang="zh-CN" sz="2000" dirty="0">
                    <a:solidFill>
                      <a:srgbClr val="000000"/>
                    </a:solidFill>
                    <a:cs typeface="宋体" pitchFamily="2" charset="-122"/>
                  </a:rPr>
                  <a:t>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a:solidFill>
                          <a:srgbClr val="000000"/>
                        </a:solidFill>
                        <a:latin typeface="Cambria Math" panose="02040503050406030204" pitchFamily="18" charset="0"/>
                        <a:cs typeface="Times New Roman" panose="02020503050405090304" pitchFamily="18" charset="0"/>
                      </a:rPr>
                      <m:t>⨁</m:t>
                    </m:r>
                    <m:sSup>
                      <m:sSupPr>
                        <m:ctrlPr>
                          <a:rPr lang="zh-CN" altLang="zh-CN" sz="2000" i="1">
                            <a:solidFill>
                              <a:srgbClr val="000000"/>
                            </a:solidFill>
                            <a:latin typeface="Cambria Math" panose="02040503050406030204" pitchFamily="18" charset="0"/>
                            <a:cs typeface="宋体" pitchFamily="2" charset="-122"/>
                          </a:rPr>
                        </m:ctrlPr>
                      </m:sSupPr>
                      <m:e>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e>
                      <m:sup>
                        <m:r>
                          <m:rPr>
                            <m:sty m:val="p"/>
                          </m:rPr>
                          <a:rPr lang="en-US" altLang="zh-CN" sz="2000" b="0" i="0" smtClean="0">
                            <a:solidFill>
                              <a:srgbClr val="000000"/>
                            </a:solidFill>
                            <a:latin typeface="Cambria Math" panose="02040503050406030204" pitchFamily="18" charset="0"/>
                            <a:cs typeface="宋体" pitchFamily="2" charset="-122"/>
                          </a:rPr>
                          <m:t>sk</m:t>
                        </m:r>
                      </m:sup>
                    </m:sSup>
                    <m:r>
                      <a:rPr lang="en-US" altLang="zh-CN" sz="2000" b="0" i="1" smtClean="0">
                        <a:solidFill>
                          <a:srgbClr val="000000"/>
                        </a:solidFill>
                        <a:latin typeface="Cambria Math" panose="02040503050406030204" pitchFamily="18" charset="0"/>
                        <a:cs typeface="宋体" pitchFamily="2" charset="-122"/>
                      </a:rPr>
                      <m:t>)</m:t>
                    </m:r>
                  </m:oMath>
                </a14:m>
                <a:r>
                  <a:rPr lang="zh-CN" altLang="zh-CN" sz="2000" dirty="0">
                    <a:solidFill>
                      <a:srgbClr val="000000"/>
                    </a:solidFill>
                    <a:effectLst/>
                    <a:latin typeface="+mn-lt"/>
                    <a:ea typeface="+mn-ea"/>
                    <a:cs typeface="宋体" pitchFamily="2" charset="-122"/>
                  </a:rPr>
                  <a:t>，输出解密结果</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cs typeface="宋体" pitchFamily="2" charset="-122"/>
                  </a:rPr>
                  <a:t>M </a:t>
                </a:r>
                <a:r>
                  <a:rPr lang="zh-CN" altLang="zh-CN" sz="200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10" name="文本框 9">
                <a:extLst>
                  <a:ext uri="{FF2B5EF4-FFF2-40B4-BE49-F238E27FC236}">
                    <a16:creationId xmlns:a16="http://schemas.microsoft.com/office/drawing/2014/main" id="{7FFC930A-60C3-492F-BDF0-4C45CB4318E1}"/>
                  </a:ext>
                </a:extLst>
              </p:cNvPr>
              <p:cNvSpPr txBox="1">
                <a:spLocks noRot="1" noChangeAspect="1" noMove="1" noResize="1" noEditPoints="1" noAdjustHandles="1" noChangeArrowheads="1" noChangeShapeType="1" noTextEdit="1"/>
              </p:cNvSpPr>
              <p:nvPr/>
            </p:nvSpPr>
            <p:spPr>
              <a:xfrm>
                <a:off x="705600" y="1765612"/>
                <a:ext cx="10684800" cy="2994025"/>
              </a:xfrm>
              <a:prstGeom prst="rect">
                <a:avLst/>
              </a:prstGeom>
              <a:blipFill>
                <a:blip r:embed="rId3"/>
                <a:stretch>
                  <a:fillRect l="-513" r="-570" b="-2851"/>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4</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2462213"/>
          </a:xfrm>
          <a:prstGeom prst="rect">
            <a:avLst/>
          </a:prstGeom>
          <a:noFill/>
        </p:spPr>
        <p:txBody>
          <a:bodyPr wrap="square" lIns="0" tIns="0" rIns="0" bIns="0" anchor="t">
            <a:spAutoFit/>
          </a:bodyPr>
          <a:lstStyle/>
          <a:p>
            <a:pPr>
              <a:defRPr sz="1800" b="1">
                <a:solidFill>
                  <a:srgbClr val="C90012"/>
                </a:solidFill>
              </a:defRPr>
            </a:pPr>
            <a:r>
              <a:rPr lang="en-US" altLang="zh-CN" sz="3200" b="1" dirty="0">
                <a:solidFill>
                  <a:srgbClr val="C90012"/>
                </a:solidFill>
                <a:latin typeface="Times New Roman" panose="02020503050405090304" charset="-122"/>
                <a:ea typeface="微软雅黑" panose="020B0503020204020204" charset="-122"/>
              </a:rPr>
              <a:t>RSA</a:t>
            </a:r>
            <a:r>
              <a:rPr lang="zh-CN" altLang="en-US" sz="3200" b="1" dirty="0">
                <a:solidFill>
                  <a:srgbClr val="C90012"/>
                </a:solidFill>
                <a:latin typeface="Times New Roman" panose="02020503050405090304" charset="-122"/>
                <a:ea typeface="微软雅黑" panose="020B0503020204020204" charset="-122"/>
              </a:rPr>
              <a:t>与</a:t>
            </a:r>
            <a:r>
              <a:rPr lang="en-GB" altLang="zh-CN" sz="3200" b="1" dirty="0">
                <a:solidFill>
                  <a:srgbClr val="C90012"/>
                </a:solidFill>
                <a:latin typeface="Times New Roman" panose="02020503050405090304" charset="-122"/>
                <a:ea typeface="微软雅黑" panose="020B0503020204020204" charset="-122"/>
              </a:rPr>
              <a:t>ElGamal</a:t>
            </a:r>
            <a:r>
              <a:rPr lang="zh-CN" altLang="en-GB" sz="3200" b="1" dirty="0">
                <a:solidFill>
                  <a:srgbClr val="C90012"/>
                </a:solidFill>
                <a:latin typeface="Times New Roman" panose="02020503050405090304" charset="-122"/>
                <a:ea typeface="微软雅黑" panose="020B0503020204020204" charset="-122"/>
              </a:rPr>
              <a:t>的</a:t>
            </a:r>
            <a:r>
              <a:rPr lang="zh-CN" altLang="en-US" sz="3200" b="1" dirty="0">
                <a:solidFill>
                  <a:srgbClr val="C90012"/>
                </a:solidFill>
                <a:latin typeface="Times New Roman" panose="02020503050405090304" charset="-122"/>
                <a:ea typeface="微软雅黑" panose="020B0503020204020204" charset="-122"/>
              </a:rPr>
              <a:t>改进</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11" name="文本框 10"/>
          <p:cNvSpPr txBox="1"/>
          <p:nvPr/>
        </p:nvSpPr>
        <p:spPr>
          <a:xfrm>
            <a:off x="502920" y="812214"/>
            <a:ext cx="31504758" cy="461665"/>
          </a:xfrm>
          <a:prstGeom prst="rect">
            <a:avLst/>
          </a:prstGeom>
          <a:noFill/>
        </p:spPr>
        <p:txBody>
          <a:bodyPr wrap="square">
            <a:spAutoFit/>
          </a:bodyPr>
          <a:lstStyle/>
          <a:p>
            <a:pPr>
              <a:spcAft>
                <a:spcPts val="1100"/>
              </a:spcAft>
              <a:defRPr sz="2700" b="1">
                <a:solidFill>
                  <a:srgbClr val="9C1E26"/>
                </a:solidFill>
                <a:latin typeface="微软雅黑"/>
              </a:defRPr>
            </a:pPr>
            <a:r>
              <a:rPr lang="en-GB" altLang="zh-CN" sz="2400" dirty="0">
                <a:solidFill>
                  <a:srgbClr val="C00000"/>
                </a:solidFill>
                <a:latin typeface="+mn-lt"/>
              </a:rPr>
              <a:t>ElGamal </a:t>
            </a:r>
            <a:r>
              <a:rPr lang="zh-CN" altLang="en-US" sz="2400" dirty="0">
                <a:solidFill>
                  <a:srgbClr val="C00000"/>
                </a:solidFill>
                <a:latin typeface="+mn-lt"/>
              </a:rPr>
              <a:t>改进：杂凑</a:t>
            </a:r>
            <a:r>
              <a:rPr lang="en-GB" altLang="zh-CN" sz="2400" dirty="0">
                <a:solidFill>
                  <a:srgbClr val="C00000"/>
                </a:solidFill>
                <a:latin typeface="+mn-lt"/>
              </a:rPr>
              <a:t>ElGamal</a:t>
            </a:r>
            <a:r>
              <a:rPr lang="zh-CN" altLang="en-US" sz="2400" dirty="0">
                <a:solidFill>
                  <a:srgbClr val="C00000"/>
                </a:solidFill>
                <a:latin typeface="+mn-lt"/>
              </a:rPr>
              <a:t>公钥加密方案</a:t>
            </a:r>
          </a:p>
        </p:txBody>
      </p:sp>
      <p:sp>
        <p:nvSpPr>
          <p:cNvPr id="2" name="Rounded Rectangle 5"/>
          <p:cNvSpPr/>
          <p:nvPr/>
        </p:nvSpPr>
        <p:spPr>
          <a:xfrm>
            <a:off x="600020" y="1526179"/>
            <a:ext cx="5358384" cy="2914644"/>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6"/>
          <p:cNvSpPr txBox="1"/>
          <p:nvPr/>
        </p:nvSpPr>
        <p:spPr>
          <a:xfrm>
            <a:off x="782900" y="1645050"/>
            <a:ext cx="4992624"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a:latin typeface="+mn-lt"/>
              </a:rPr>
              <a:t>RSA</a:t>
            </a:r>
          </a:p>
        </p:txBody>
      </p:sp>
      <p:sp>
        <p:nvSpPr>
          <p:cNvPr id="6" name="TextBox 7"/>
          <p:cNvSpPr txBox="1"/>
          <p:nvPr/>
        </p:nvSpPr>
        <p:spPr>
          <a:xfrm>
            <a:off x="782900" y="2129682"/>
            <a:ext cx="4992624" cy="1316258"/>
          </a:xfrm>
          <a:prstGeom prst="rect">
            <a:avLst/>
          </a:prstGeom>
          <a:noFill/>
        </p:spPr>
        <p:txBody>
          <a:bodyPr wrap="square" lIns="73152" tIns="64008">
            <a:spAutoFit/>
          </a:bodyPr>
          <a:lstStyle/>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数学假设</a:t>
            </a:r>
            <a:r>
              <a:rPr sz="2000" dirty="0" err="1">
                <a:latin typeface="+mn-lt"/>
              </a:rPr>
              <a:t>：大整数分解困难</a:t>
            </a:r>
            <a:endParaRPr sz="2000" dirty="0">
              <a:latin typeface="+mn-lt"/>
            </a:endParaRPr>
          </a:p>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典型问题</a:t>
            </a:r>
            <a:r>
              <a:rPr sz="2000" dirty="0" err="1">
                <a:latin typeface="+mn-lt"/>
              </a:rPr>
              <a:t>：共模、低指数、确定性</a:t>
            </a:r>
            <a:endParaRPr sz="2000" dirty="0">
              <a:latin typeface="+mn-lt"/>
            </a:endParaRPr>
          </a:p>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改进方法</a:t>
            </a:r>
            <a:r>
              <a:rPr sz="2000" dirty="0" err="1">
                <a:latin typeface="+mn-lt"/>
              </a:rPr>
              <a:t>：随机化、陷门置换、OAEP</a:t>
            </a:r>
          </a:p>
        </p:txBody>
      </p:sp>
      <p:sp>
        <p:nvSpPr>
          <p:cNvPr id="7" name="Rounded Rectangle 8"/>
          <p:cNvSpPr/>
          <p:nvPr/>
        </p:nvSpPr>
        <p:spPr>
          <a:xfrm>
            <a:off x="6196148" y="1526179"/>
            <a:ext cx="5294376" cy="2914644"/>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p:cNvSpPr txBox="1"/>
          <p:nvPr/>
        </p:nvSpPr>
        <p:spPr>
          <a:xfrm>
            <a:off x="6379028" y="1645050"/>
            <a:ext cx="4928616" cy="480131"/>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sz="2400" dirty="0">
                <a:latin typeface="+mn-lt"/>
              </a:rPr>
              <a:t>ElGamal</a:t>
            </a:r>
          </a:p>
        </p:txBody>
      </p:sp>
      <p:sp>
        <p:nvSpPr>
          <p:cNvPr id="10" name="TextBox 10"/>
          <p:cNvSpPr txBox="1"/>
          <p:nvPr/>
        </p:nvSpPr>
        <p:spPr>
          <a:xfrm>
            <a:off x="6379028" y="2129682"/>
            <a:ext cx="4928616" cy="1316258"/>
          </a:xfrm>
          <a:prstGeom prst="rect">
            <a:avLst/>
          </a:prstGeom>
          <a:noFill/>
        </p:spPr>
        <p:txBody>
          <a:bodyPr wrap="square" lIns="73152" tIns="64008">
            <a:spAutoFit/>
          </a:bodyPr>
          <a:lstStyle/>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数学假设</a:t>
            </a:r>
            <a:r>
              <a:rPr sz="2000" dirty="0" err="1">
                <a:latin typeface="+mn-lt"/>
              </a:rPr>
              <a:t>：DL</a:t>
            </a:r>
            <a:r>
              <a:rPr sz="2000" dirty="0">
                <a:latin typeface="+mn-lt"/>
              </a:rPr>
              <a:t> / CDH / DDH </a:t>
            </a:r>
            <a:r>
              <a:rPr sz="2000" dirty="0" err="1">
                <a:latin typeface="+mn-lt"/>
              </a:rPr>
              <a:t>困难</a:t>
            </a:r>
            <a:endParaRPr sz="2000" dirty="0">
              <a:latin typeface="+mn-lt"/>
            </a:endParaRPr>
          </a:p>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典型问题</a:t>
            </a:r>
            <a:r>
              <a:rPr sz="2000" dirty="0" err="1">
                <a:latin typeface="+mn-lt"/>
              </a:rPr>
              <a:t>：随机数复用、二次剩余泄露</a:t>
            </a:r>
            <a:endParaRPr sz="2000" dirty="0">
              <a:latin typeface="+mn-lt"/>
            </a:endParaRPr>
          </a:p>
          <a:p>
            <a:pPr marL="342900" indent="-342900">
              <a:spcAft>
                <a:spcPts val="1100"/>
              </a:spcAft>
              <a:buFont typeface="Wingdings" panose="05000000000000000000" pitchFamily="2" charset="2"/>
              <a:buChar char="l"/>
              <a:defRPr sz="2000" b="0">
                <a:solidFill>
                  <a:srgbClr val="2C2C2F"/>
                </a:solidFill>
                <a:latin typeface="微软雅黑"/>
              </a:defRPr>
            </a:pPr>
            <a:r>
              <a:rPr sz="2000" b="1" dirty="0" err="1">
                <a:latin typeface="+mn-lt"/>
              </a:rPr>
              <a:t>改进方法</a:t>
            </a:r>
            <a:r>
              <a:rPr sz="2000" dirty="0" err="1">
                <a:latin typeface="+mn-lt"/>
              </a:rPr>
              <a:t>：素数阶子群、杂凑</a:t>
            </a:r>
            <a:r>
              <a:rPr sz="2000" dirty="0">
                <a:latin typeface="+mn-lt"/>
              </a:rPr>
              <a:t> ElGamal</a:t>
            </a:r>
          </a:p>
        </p:txBody>
      </p:sp>
      <p:sp>
        <p:nvSpPr>
          <p:cNvPr id="12" name="Rounded Rectangle 11"/>
          <p:cNvSpPr/>
          <p:nvPr/>
        </p:nvSpPr>
        <p:spPr>
          <a:xfrm>
            <a:off x="457200" y="4946905"/>
            <a:ext cx="11155680" cy="502920"/>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5020057"/>
            <a:ext cx="10835640" cy="418576"/>
          </a:xfrm>
          <a:prstGeom prst="rect">
            <a:avLst/>
          </a:prstGeom>
          <a:noFill/>
        </p:spPr>
        <p:txBody>
          <a:bodyPr wrap="square" lIns="73152" tIns="64008">
            <a:spAutoFit/>
          </a:bodyPr>
          <a:lstStyle/>
          <a:p>
            <a:pPr>
              <a:spcAft>
                <a:spcPts val="1100"/>
              </a:spcAft>
              <a:defRPr sz="1700" b="1">
                <a:solidFill>
                  <a:srgbClr val="9C1E26"/>
                </a:solidFill>
                <a:latin typeface="微软雅黑"/>
              </a:defRPr>
            </a:pPr>
            <a:r>
              <a:rPr sz="2000" dirty="0" err="1"/>
              <a:t>核心结论：算法安全既依赖困难问题，也依赖参数、随机性和构造细节</a:t>
            </a:r>
            <a:r>
              <a:rPr sz="2000"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4" name="TextBox 6"/>
          <p:cNvSpPr txBox="1"/>
          <p:nvPr/>
        </p:nvSpPr>
        <p:spPr>
          <a:xfrm>
            <a:off x="502920" y="850392"/>
            <a:ext cx="11155680" cy="430887"/>
          </a:xfrm>
          <a:prstGeom prst="rect">
            <a:avLst/>
          </a:prstGeom>
          <a:noFill/>
        </p:spPr>
        <p:txBody>
          <a:bodyPr wrap="square" lIns="27432" tIns="27432" rIns="27432" bIns="18288">
            <a:spAutoFit/>
          </a:bodyPr>
          <a:lstStyle/>
          <a:p>
            <a:pPr>
              <a:spcAft>
                <a:spcPts val="900"/>
              </a:spcAft>
            </a:pPr>
            <a:r>
              <a:rPr lang="zh-CN" altLang="en-US" sz="2500" b="1" dirty="0">
                <a:solidFill>
                  <a:srgbClr val="2C2D33"/>
                </a:solidFill>
                <a:latin typeface="微软雅黑"/>
              </a:rPr>
              <a:t>思考：</a:t>
            </a:r>
            <a:r>
              <a:rPr sz="2500" b="1" dirty="0" err="1">
                <a:solidFill>
                  <a:srgbClr val="2C2D33"/>
                </a:solidFill>
                <a:latin typeface="微软雅黑"/>
              </a:rPr>
              <a:t>为什么需要</a:t>
            </a:r>
            <a:r>
              <a:rPr lang="zh-CN" altLang="en-US" sz="2500" b="1" dirty="0">
                <a:solidFill>
                  <a:srgbClr val="2C2D33"/>
                </a:solidFill>
                <a:latin typeface="微软雅黑"/>
              </a:rPr>
              <a:t>对</a:t>
            </a:r>
            <a:r>
              <a:rPr sz="2500" b="1" dirty="0" err="1">
                <a:solidFill>
                  <a:srgbClr val="2C2D33"/>
                </a:solidFill>
                <a:latin typeface="微软雅黑"/>
              </a:rPr>
              <a:t>公钥加密</a:t>
            </a:r>
            <a:r>
              <a:rPr lang="zh-CN" altLang="en-US" sz="2500" b="1" dirty="0">
                <a:solidFill>
                  <a:srgbClr val="2C2D33"/>
                </a:solidFill>
                <a:latin typeface="微软雅黑"/>
              </a:rPr>
              <a:t>方案进行安全分析，如何分析？</a:t>
            </a:r>
            <a:r>
              <a:rPr sz="2500" b="1" dirty="0" err="1">
                <a:solidFill>
                  <a:srgbClr val="2C2D33"/>
                </a:solidFill>
                <a:latin typeface="微软雅黑"/>
              </a:rPr>
              <a:t>安全模型</a:t>
            </a:r>
            <a:r>
              <a:rPr sz="2500" b="1" dirty="0">
                <a:solidFill>
                  <a:srgbClr val="2C2D33"/>
                </a:solidFill>
                <a:latin typeface="微软雅黑"/>
              </a:rPr>
              <a:t>？</a:t>
            </a:r>
          </a:p>
        </p:txBody>
      </p:sp>
      <p:sp>
        <p:nvSpPr>
          <p:cNvPr id="5" name="Rounded Rectangle 8"/>
          <p:cNvSpPr/>
          <p:nvPr/>
        </p:nvSpPr>
        <p:spPr>
          <a:xfrm>
            <a:off x="594360" y="1527048"/>
            <a:ext cx="5303520" cy="3611880"/>
          </a:xfrm>
          <a:prstGeom prst="roundRect">
            <a:avLst/>
          </a:prstGeom>
          <a:solidFill>
            <a:srgbClr val="F6F8FB"/>
          </a:solidFill>
          <a:ln w="11430">
            <a:solidFill>
              <a:srgbClr val="E1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10"/>
          <p:cNvSpPr txBox="1"/>
          <p:nvPr/>
        </p:nvSpPr>
        <p:spPr>
          <a:xfrm>
            <a:off x="822960" y="1664207"/>
            <a:ext cx="4846320" cy="353943"/>
          </a:xfrm>
          <a:prstGeom prst="rect">
            <a:avLst/>
          </a:prstGeom>
          <a:noFill/>
        </p:spPr>
        <p:txBody>
          <a:bodyPr wrap="square" lIns="27432" tIns="27432" rIns="27432" bIns="18288">
            <a:spAutoFit/>
          </a:bodyPr>
          <a:lstStyle/>
          <a:p>
            <a:pPr>
              <a:spcAft>
                <a:spcPts val="900"/>
              </a:spcAft>
            </a:pPr>
            <a:r>
              <a:rPr sz="2000" b="1" dirty="0" err="1">
                <a:solidFill>
                  <a:srgbClr val="AC1A23"/>
                </a:solidFill>
                <a:latin typeface="微软雅黑"/>
              </a:rPr>
              <a:t>安全模型的两个核心要素</a:t>
            </a:r>
            <a:endParaRPr sz="2000" b="1" dirty="0">
              <a:solidFill>
                <a:srgbClr val="AC1A23"/>
              </a:solidFill>
              <a:latin typeface="微软雅黑"/>
            </a:endParaRPr>
          </a:p>
        </p:txBody>
      </p:sp>
      <p:sp>
        <p:nvSpPr>
          <p:cNvPr id="8" name="TextBox 11"/>
          <p:cNvSpPr txBox="1"/>
          <p:nvPr/>
        </p:nvSpPr>
        <p:spPr>
          <a:xfrm>
            <a:off x="822960" y="2203704"/>
            <a:ext cx="4846320" cy="2046714"/>
          </a:xfrm>
          <a:prstGeom prst="rect">
            <a:avLst/>
          </a:prstGeom>
          <a:noFill/>
        </p:spPr>
        <p:txBody>
          <a:bodyPr wrap="square" lIns="27432" tIns="27432" rIns="27432" bIns="18288">
            <a:spAutoFit/>
          </a:bodyPr>
          <a:lstStyle/>
          <a:p>
            <a:pPr>
              <a:spcAft>
                <a:spcPts val="900"/>
              </a:spcAft>
            </a:pPr>
            <a:r>
              <a:rPr sz="2000" b="0" dirty="0" err="1">
                <a:solidFill>
                  <a:srgbClr val="2C2D33"/>
                </a:solidFill>
                <a:latin typeface="微软雅黑"/>
              </a:rPr>
              <a:t>攻击类型：敌手拥有哪些能力</a:t>
            </a:r>
            <a:r>
              <a:rPr sz="2000" b="0" dirty="0">
                <a:solidFill>
                  <a:srgbClr val="2C2D33"/>
                </a:solidFill>
                <a:latin typeface="微软雅黑"/>
              </a:rPr>
              <a:t>？</a:t>
            </a:r>
          </a:p>
          <a:p>
            <a:pPr>
              <a:spcAft>
                <a:spcPts val="900"/>
              </a:spcAft>
            </a:pPr>
            <a:r>
              <a:rPr sz="2000" b="0" dirty="0" err="1">
                <a:solidFill>
                  <a:srgbClr val="2C2D33"/>
                </a:solidFill>
                <a:latin typeface="微软雅黑"/>
              </a:rPr>
              <a:t>例如：选择明文、访问解密预言机</a:t>
            </a:r>
            <a:r>
              <a:rPr sz="2000" b="0" dirty="0">
                <a:solidFill>
                  <a:srgbClr val="2C2D33"/>
                </a:solidFill>
                <a:latin typeface="微软雅黑"/>
              </a:rPr>
              <a:t>。</a:t>
            </a:r>
          </a:p>
          <a:p>
            <a:pPr>
              <a:spcAft>
                <a:spcPts val="900"/>
              </a:spcAft>
            </a:pPr>
            <a:endParaRPr sz="2000" b="0" dirty="0">
              <a:solidFill>
                <a:srgbClr val="2C2D33"/>
              </a:solidFill>
              <a:latin typeface="微软雅黑"/>
            </a:endParaRPr>
          </a:p>
          <a:p>
            <a:pPr>
              <a:spcAft>
                <a:spcPts val="900"/>
              </a:spcAft>
            </a:pPr>
            <a:r>
              <a:rPr sz="2000" b="0" dirty="0" err="1">
                <a:solidFill>
                  <a:srgbClr val="2C2D33"/>
                </a:solidFill>
                <a:latin typeface="微软雅黑"/>
              </a:rPr>
              <a:t>攻击目标：敌手希望实现什么</a:t>
            </a:r>
            <a:r>
              <a:rPr sz="2000" b="0" dirty="0">
                <a:solidFill>
                  <a:srgbClr val="2C2D33"/>
                </a:solidFill>
                <a:latin typeface="微软雅黑"/>
              </a:rPr>
              <a:t>？</a:t>
            </a:r>
          </a:p>
          <a:p>
            <a:pPr>
              <a:spcAft>
                <a:spcPts val="900"/>
              </a:spcAft>
            </a:pPr>
            <a:r>
              <a:rPr sz="2000" b="0" dirty="0" err="1">
                <a:solidFill>
                  <a:srgbClr val="2C2D33"/>
                </a:solidFill>
                <a:latin typeface="微软雅黑"/>
              </a:rPr>
              <a:t>例如：识别挑战密文对应的明文</a:t>
            </a:r>
            <a:r>
              <a:rPr sz="2000" b="0" dirty="0">
                <a:solidFill>
                  <a:srgbClr val="2C2D33"/>
                </a:solidFill>
                <a:latin typeface="微软雅黑"/>
              </a:rPr>
              <a:t>。</a:t>
            </a:r>
          </a:p>
        </p:txBody>
      </p:sp>
      <p:sp>
        <p:nvSpPr>
          <p:cNvPr id="10" name="Rounded Rectangle 12"/>
          <p:cNvSpPr/>
          <p:nvPr/>
        </p:nvSpPr>
        <p:spPr>
          <a:xfrm>
            <a:off x="6144768" y="1527048"/>
            <a:ext cx="5440680" cy="3611880"/>
          </a:xfrm>
          <a:prstGeom prst="roundRect">
            <a:avLst/>
          </a:prstGeom>
          <a:solidFill>
            <a:srgbClr val="F6F8FB"/>
          </a:solidFill>
          <a:ln w="11430">
            <a:solidFill>
              <a:srgbClr val="E1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4"/>
          <p:cNvSpPr txBox="1"/>
          <p:nvPr/>
        </p:nvSpPr>
        <p:spPr>
          <a:xfrm>
            <a:off x="6373368" y="1664207"/>
            <a:ext cx="4983480" cy="353943"/>
          </a:xfrm>
          <a:prstGeom prst="rect">
            <a:avLst/>
          </a:prstGeom>
          <a:noFill/>
        </p:spPr>
        <p:txBody>
          <a:bodyPr wrap="square" lIns="27432" tIns="27432" rIns="27432" bIns="18288">
            <a:spAutoFit/>
          </a:bodyPr>
          <a:lstStyle/>
          <a:p>
            <a:pPr>
              <a:spcAft>
                <a:spcPts val="900"/>
              </a:spcAft>
            </a:pPr>
            <a:r>
              <a:rPr sz="2000" b="1">
                <a:solidFill>
                  <a:srgbClr val="AC1A23"/>
                </a:solidFill>
                <a:latin typeface="微软雅黑"/>
              </a:rPr>
              <a:t>基于游戏的定义方式</a:t>
            </a:r>
          </a:p>
        </p:txBody>
      </p:sp>
      <p:sp>
        <p:nvSpPr>
          <p:cNvPr id="13" name="TextBox 15"/>
          <p:cNvSpPr txBox="1"/>
          <p:nvPr/>
        </p:nvSpPr>
        <p:spPr>
          <a:xfrm>
            <a:off x="6373368" y="2203704"/>
            <a:ext cx="4983480" cy="2354491"/>
          </a:xfrm>
          <a:prstGeom prst="rect">
            <a:avLst/>
          </a:prstGeom>
          <a:noFill/>
        </p:spPr>
        <p:txBody>
          <a:bodyPr wrap="square" lIns="27432" tIns="27432" rIns="27432" bIns="18288">
            <a:spAutoFit/>
          </a:bodyPr>
          <a:lstStyle/>
          <a:p>
            <a:pPr>
              <a:spcAft>
                <a:spcPts val="900"/>
              </a:spcAft>
            </a:pPr>
            <a:r>
              <a:rPr sz="2000" b="1" dirty="0" err="1">
                <a:solidFill>
                  <a:srgbClr val="2C2D33"/>
                </a:solidFill>
                <a:latin typeface="微软雅黑"/>
              </a:rPr>
              <a:t>挑战者</a:t>
            </a:r>
            <a:r>
              <a:rPr sz="2000" b="0" dirty="0">
                <a:solidFill>
                  <a:srgbClr val="2C2D33"/>
                </a:solidFill>
                <a:latin typeface="微软雅黑"/>
              </a:rPr>
              <a:t> ：</a:t>
            </a:r>
            <a:r>
              <a:rPr sz="2000" b="0" dirty="0" err="1">
                <a:solidFill>
                  <a:srgbClr val="2C2D33"/>
                </a:solidFill>
                <a:latin typeface="微软雅黑"/>
              </a:rPr>
              <a:t>生成密钥、执行加密或解密</a:t>
            </a:r>
            <a:r>
              <a:rPr sz="2000" b="0" dirty="0">
                <a:solidFill>
                  <a:srgbClr val="2C2D33"/>
                </a:solidFill>
                <a:latin typeface="微软雅黑"/>
              </a:rPr>
              <a:t>。</a:t>
            </a:r>
          </a:p>
          <a:p>
            <a:pPr>
              <a:spcAft>
                <a:spcPts val="900"/>
              </a:spcAft>
            </a:pPr>
            <a:endParaRPr sz="2000" b="0" dirty="0">
              <a:solidFill>
                <a:srgbClr val="2C2D33"/>
              </a:solidFill>
              <a:latin typeface="微软雅黑"/>
            </a:endParaRPr>
          </a:p>
          <a:p>
            <a:pPr>
              <a:spcAft>
                <a:spcPts val="900"/>
              </a:spcAft>
            </a:pPr>
            <a:r>
              <a:rPr sz="2000" b="1" dirty="0" err="1">
                <a:solidFill>
                  <a:srgbClr val="2C2D33"/>
                </a:solidFill>
                <a:latin typeface="微软雅黑"/>
              </a:rPr>
              <a:t>敌手</a:t>
            </a:r>
            <a:r>
              <a:rPr sz="2000" b="0" dirty="0">
                <a:solidFill>
                  <a:srgbClr val="2C2D33"/>
                </a:solidFill>
                <a:latin typeface="微软雅黑"/>
              </a:rPr>
              <a:t> ：</a:t>
            </a:r>
            <a:r>
              <a:rPr sz="2000" b="0" dirty="0" err="1">
                <a:solidFill>
                  <a:srgbClr val="2C2D33"/>
                </a:solidFill>
                <a:latin typeface="微软雅黑"/>
              </a:rPr>
              <a:t>根据允许的问询发起攻击</a:t>
            </a:r>
            <a:r>
              <a:rPr sz="2000" b="0" dirty="0">
                <a:solidFill>
                  <a:srgbClr val="2C2D33"/>
                </a:solidFill>
                <a:latin typeface="微软雅黑"/>
              </a:rPr>
              <a:t>。</a:t>
            </a:r>
          </a:p>
          <a:p>
            <a:pPr>
              <a:spcAft>
                <a:spcPts val="900"/>
              </a:spcAft>
            </a:pPr>
            <a:endParaRPr sz="2000" b="0" dirty="0">
              <a:solidFill>
                <a:srgbClr val="2C2D33"/>
              </a:solidFill>
              <a:latin typeface="微软雅黑"/>
            </a:endParaRPr>
          </a:p>
          <a:p>
            <a:pPr>
              <a:spcAft>
                <a:spcPts val="900"/>
              </a:spcAft>
            </a:pPr>
            <a:r>
              <a:rPr sz="2000" b="0" dirty="0" err="1">
                <a:solidFill>
                  <a:srgbClr val="2C2D33"/>
                </a:solidFill>
                <a:latin typeface="微软雅黑"/>
              </a:rPr>
              <a:t>通过敌手是否能猜出挑战比特，衡量方案的保密性</a:t>
            </a:r>
            <a:r>
              <a:rPr sz="2000" b="0" dirty="0">
                <a:solidFill>
                  <a:srgbClr val="2C2D33"/>
                </a:solidFill>
                <a:latin typeface="微软雅黑"/>
              </a:rPr>
              <a:t>。</a:t>
            </a:r>
          </a:p>
        </p:txBody>
      </p:sp>
      <p:sp>
        <p:nvSpPr>
          <p:cNvPr id="15" name="Rounded Rectangle 16"/>
          <p:cNvSpPr/>
          <p:nvPr/>
        </p:nvSpPr>
        <p:spPr>
          <a:xfrm>
            <a:off x="603504" y="5705856"/>
            <a:ext cx="10972800" cy="530352"/>
          </a:xfrm>
          <a:prstGeom prst="roundRect">
            <a:avLst/>
          </a:prstGeom>
          <a:solidFill>
            <a:srgbClr val="FFF4F4"/>
          </a:solidFill>
          <a:ln w="11430">
            <a:solidFill>
              <a:srgbClr val="E1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7"/>
          <p:cNvSpPr txBox="1"/>
          <p:nvPr/>
        </p:nvSpPr>
        <p:spPr>
          <a:xfrm>
            <a:off x="768096" y="5815584"/>
            <a:ext cx="10698480" cy="353943"/>
          </a:xfrm>
          <a:prstGeom prst="rect">
            <a:avLst/>
          </a:prstGeom>
          <a:noFill/>
        </p:spPr>
        <p:txBody>
          <a:bodyPr wrap="square" lIns="27432" tIns="27432" rIns="27432" bIns="18288">
            <a:spAutoFit/>
          </a:bodyPr>
          <a:lstStyle/>
          <a:p>
            <a:pPr>
              <a:spcAft>
                <a:spcPts val="500"/>
              </a:spcAft>
            </a:pPr>
            <a:r>
              <a:rPr sz="2000" b="1" dirty="0" err="1">
                <a:solidFill>
                  <a:srgbClr val="AC1A23"/>
                </a:solidFill>
                <a:latin typeface="微软雅黑"/>
              </a:rPr>
              <a:t>目标：在明确的攻击能力下，定义并衡量敌手区分密文的优势</a:t>
            </a:r>
            <a:r>
              <a:rPr sz="2000" b="1" dirty="0">
                <a:solidFill>
                  <a:srgbClr val="AC1A23"/>
                </a:solidFill>
                <a:latin typeface="微软雅黑"/>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3" name="Rounded Rectangle 9"/>
          <p:cNvSpPr/>
          <p:nvPr/>
        </p:nvSpPr>
        <p:spPr>
          <a:xfrm>
            <a:off x="770022" y="2013184"/>
            <a:ext cx="10489164" cy="4336240"/>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mc:AlternateContent xmlns:mc="http://schemas.openxmlformats.org/markup-compatibility/2006" xmlns:a14="http://schemas.microsoft.com/office/drawing/2010/main">
        <mc:Choice Requires="a14">
          <p:sp>
            <p:nvSpPr>
              <p:cNvPr id="4" name="TextBox 11"/>
              <p:cNvSpPr txBox="1"/>
              <p:nvPr/>
            </p:nvSpPr>
            <p:spPr>
              <a:xfrm>
                <a:off x="932815" y="2268750"/>
                <a:ext cx="10192385" cy="3986091"/>
              </a:xfrm>
              <a:prstGeom prst="rect">
                <a:avLst/>
              </a:prstGeom>
              <a:noFill/>
            </p:spPr>
            <p:txBody>
              <a:bodyPr wrap="square" lIns="64008" tIns="32004" rIns="36576">
                <a:spAutoFit/>
              </a:bodyPr>
              <a:lstStyle/>
              <a:p>
                <a:pPr algn="just">
                  <a:lnSpc>
                    <a:spcPct val="130000"/>
                  </a:lnSpc>
                  <a:spcBef>
                    <a:spcPts val="300"/>
                  </a:spcBef>
                  <a:spcAft>
                    <a:spcPts val="300"/>
                  </a:spcAft>
                </a:pPr>
                <a:r>
                  <a:rPr lang="zh-CN" altLang="en-US" sz="2000" b="1" dirty="0">
                    <a:latin typeface="+mn-lt"/>
                    <a:ea typeface="+mn-ea"/>
                  </a:rPr>
                  <a:t>安全模型 </a:t>
                </a:r>
                <a:r>
                  <a:rPr lang="en-GB" altLang="zh-CN" sz="2000" b="1" dirty="0">
                    <a:latin typeface="+mn-lt"/>
                    <a:ea typeface="+mn-ea"/>
                  </a:rPr>
                  <a:t>IND-CPA</a:t>
                </a:r>
                <a:r>
                  <a:rPr lang="zh-CN" altLang="en-GB" sz="2000" dirty="0">
                    <a:latin typeface="+mn-lt"/>
                    <a:ea typeface="+mn-ea"/>
                  </a:rPr>
                  <a:t>。</a:t>
                </a:r>
                <a:r>
                  <a:rPr lang="zh-CN" altLang="zh-CN" sz="2000" dirty="0">
                    <a:solidFill>
                      <a:srgbClr val="000000"/>
                    </a:solidFill>
                    <a:effectLst/>
                    <a:latin typeface="+mn-lt"/>
                    <a:ea typeface="+mn-ea"/>
                    <a:cs typeface="Times New Roman" panose="02020503050405090304" pitchFamily="18" charset="0"/>
                  </a:rPr>
                  <a:t>给定一定义在</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zh-CN" altLang="en-US" sz="2000" i="1">
                        <a:latin typeface="Cambria Math" panose="02040503050406030204" pitchFamily="18" charset="0"/>
                        <a:ea typeface="+mn-ea"/>
                      </a:rPr>
                      <m:t>𝒞</m:t>
                    </m:r>
                    <m:r>
                      <a:rPr lang="en-US" altLang="zh-CN" sz="2000" b="0" i="1" smtClean="0">
                        <a:latin typeface="Cambria Math" panose="02040503050406030204" pitchFamily="18" charset="0"/>
                        <a:ea typeface="+mn-ea"/>
                      </a:rPr>
                      <m:t>,</m:t>
                    </m:r>
                    <m:r>
                      <a:rPr lang="zh-CN" altLang="en-US" sz="2000" i="1">
                        <a:latin typeface="Cambria Math" panose="02040503050406030204" pitchFamily="18" charset="0"/>
                        <a:ea typeface="+mn-ea"/>
                      </a:rPr>
                      <m:t>𝒦</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上的公钥加密方案</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t>假设 </a:t>
                </a:r>
                <a14:m>
                  <m:oMath xmlns:m="http://schemas.openxmlformats.org/officeDocument/2006/math">
                    <m:r>
                      <a:rPr lang="en-US" altLang="zh-CN" sz="2000" i="1">
                        <a:latin typeface="Cambria Math" panose="02040503050406030204" pitchFamily="18" charset="0"/>
                      </a:rPr>
                      <m:t>ℬ</m:t>
                    </m:r>
                  </m:oMath>
                </a14:m>
                <a:r>
                  <a:rPr lang="zh-CN" altLang="en-US" sz="2000" dirty="0"/>
                  <a:t> 是一个挑战者 、</a:t>
                </a:r>
                <a14:m>
                  <m:oMath xmlns:m="http://schemas.openxmlformats.org/officeDocument/2006/math">
                    <m:r>
                      <a:rPr lang="zh-CN" altLang="en-US" sz="2000" i="1">
                        <a:latin typeface="Cambria Math" panose="02040503050406030204" pitchFamily="18" charset="0"/>
                      </a:rPr>
                      <m:t>𝒜</m:t>
                    </m:r>
                    <m:r>
                      <a:rPr lang="zh-CN" altLang="en-US" sz="2000">
                        <a:latin typeface="Cambria Math" panose="02040503050406030204" pitchFamily="18" charset="0"/>
                      </a:rPr>
                      <m:t> </m:t>
                    </m:r>
                    <m:r>
                      <a:rPr lang="zh-CN" altLang="en-US" sz="2000" i="1">
                        <a:latin typeface="Cambria Math" panose="02040503050406030204" pitchFamily="18" charset="0"/>
                      </a:rPr>
                      <m:t>是</m:t>
                    </m:r>
                    <m:r>
                      <m:rPr>
                        <m:nor/>
                      </m:rPr>
                      <a:rPr lang="zh-CN" altLang="en-US" sz="2000" dirty="0">
                        <a:latin typeface="DejaVu Math TeX Gyre" panose="02000503000000000000" charset="0"/>
                      </a:rPr>
                      <m:t>一个敌手</m:t>
                    </m:r>
                    <m:r>
                      <a:rPr lang="zh-CN" altLang="en-US" sz="2000">
                        <a:latin typeface="Cambria Math" panose="02040503050406030204" pitchFamily="18" charset="0"/>
                      </a:rPr>
                      <m:t>。</m:t>
                    </m:r>
                    <m:r>
                      <a:rPr lang="zh-CN" altLang="en-US" sz="2000" i="1">
                        <a:latin typeface="Cambria Math" panose="02040503050406030204" pitchFamily="18" charset="0"/>
                      </a:rPr>
                      <m:t> </m:t>
                    </m:r>
                    <m:r>
                      <a:rPr lang="en-US" altLang="zh-CN" sz="2000" i="1">
                        <a:latin typeface="Cambria Math" panose="02040503050406030204" pitchFamily="18" charset="0"/>
                      </a:rPr>
                      <m:t>ℬ</m:t>
                    </m:r>
                  </m:oMath>
                </a14:m>
                <a:r>
                  <a:rPr lang="en-US" altLang="zh-CN" sz="2000" dirty="0"/>
                  <a:t> </a:t>
                </a:r>
                <a:r>
                  <a:rPr lang="zh-CN" altLang="en-US" sz="2000" dirty="0"/>
                  <a:t>与 </a:t>
                </a:r>
                <a14:m>
                  <m:oMath xmlns:m="http://schemas.openxmlformats.org/officeDocument/2006/math">
                    <m:r>
                      <a:rPr lang="zh-CN" altLang="en-US" sz="2000" i="1">
                        <a:latin typeface="Cambria Math" panose="02040503050406030204" pitchFamily="18" charset="0"/>
                      </a:rPr>
                      <m:t>𝒜</m:t>
                    </m:r>
                    <m:r>
                      <a:rPr lang="zh-CN" altLang="en-US" sz="2000" b="0" i="1" smtClean="0">
                        <a:latin typeface="Cambria Math" panose="02040503050406030204" pitchFamily="18" charset="0"/>
                      </a:rPr>
                      <m:t> </m:t>
                    </m:r>
                  </m:oMath>
                </a14:m>
                <a:r>
                  <a:rPr lang="zh-CN" altLang="en-US" sz="2000" dirty="0">
                    <a:latin typeface="+mn-lt"/>
                    <a:ea typeface="+mn-ea"/>
                  </a:rPr>
                  <a:t>运行的交互式游戏分为如下 </a:t>
                </a:r>
                <a:r>
                  <a:rPr lang="en-US" altLang="zh-CN" sz="2000" dirty="0">
                    <a:latin typeface="+mn-lt"/>
                    <a:ea typeface="+mn-ea"/>
                  </a:rPr>
                  <a:t>4 </a:t>
                </a:r>
                <a:r>
                  <a:rPr lang="zh-CN" altLang="en-US" sz="2000" dirty="0">
                    <a:latin typeface="+mn-lt"/>
                    <a:ea typeface="+mn-ea"/>
                  </a:rPr>
                  <a:t>个阶段</a:t>
                </a:r>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初始化阶段。</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生成</a:t>
                </a:r>
                <a:r>
                  <a:rPr lang="zh-CN" altLang="en-US" sz="2000" dirty="0">
                    <a:solidFill>
                      <a:srgbClr val="000000"/>
                    </a:solidFill>
                    <a:effectLst/>
                    <a:latin typeface="+mn-lt"/>
                    <a:ea typeface="+mn-ea"/>
                    <a:cs typeface="Times New Roman" panose="02020503050405090304" pitchFamily="18" charset="0"/>
                  </a:rPr>
                  <a:t>公私钥对 </a:t>
                </a:r>
                <a14:m>
                  <m:oMath xmlns:m="http://schemas.openxmlformats.org/officeDocument/2006/math">
                    <m:box>
                      <m:box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box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box>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并将</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发送给敌手</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问询阶段。</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可以向</a:t>
                </a:r>
                <a14:m>
                  <m:oMath xmlns:m="http://schemas.openxmlformats.org/officeDocument/2006/math">
                    <m:r>
                      <a:rPr lang="zh-CN" altLang="en-US" sz="2000" b="0" i="0" smtClean="0">
                        <a:latin typeface="Cambria Math" panose="02040503050406030204" pitchFamily="18" charset="0"/>
                        <a:ea typeface="+mn-ea"/>
                      </a:rPr>
                      <m:t> </m:t>
                    </m:r>
                    <m:r>
                      <a:rPr lang="en-US" altLang="zh-CN" sz="2000" i="1">
                        <a:latin typeface="Cambria Math" panose="02040503050406030204" pitchFamily="18" charset="0"/>
                        <a:ea typeface="+mn-ea"/>
                      </a:rPr>
                      <m:t>ℬ</m:t>
                    </m:r>
                    <m:r>
                      <a:rPr lang="zh-CN" altLang="en-US" sz="2000" b="0" i="1" smtClean="0">
                        <a:latin typeface="Cambria Math" panose="02040503050406030204" pitchFamily="18" charset="0"/>
                        <a:ea typeface="+mn-ea"/>
                      </a:rPr>
                      <m:t> </m:t>
                    </m:r>
                  </m:oMath>
                </a14:m>
                <a:r>
                  <a:rPr lang="zh-CN" altLang="en-US" sz="2000" dirty="0">
                    <a:latin typeface="+mn-lt"/>
                    <a:ea typeface="+mn-ea"/>
                  </a:rPr>
                  <a:t>发起加密预言机问询，即 </a:t>
                </a:r>
                <a14:m>
                  <m:oMath xmlns:m="http://schemas.openxmlformats.org/officeDocument/2006/math">
                    <m:r>
                      <a:rPr lang="en-US" altLang="zh-CN" sz="2000" i="1">
                        <a:solidFill>
                          <a:srgbClr val="000000"/>
                        </a:solidFill>
                        <a:latin typeface="Cambria Math" panose="02040503050406030204" pitchFamily="18" charset="0"/>
                        <a:ea typeface="+mn-ea"/>
                        <a:cs typeface="Times New Roman" panose="02020503050405090304" pitchFamily="18" charset="0"/>
                      </a:rPr>
                      <m:t>𝒜</m:t>
                    </m:r>
                  </m:oMath>
                </a14:m>
                <a:r>
                  <a:rPr lang="zh-CN" altLang="en-US" sz="2000" dirty="0">
                    <a:latin typeface="+mn-lt"/>
                    <a:ea typeface="+mn-ea"/>
                  </a:rPr>
                  <a:t> 向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询问任意明文对应的密文。</a:t>
                </a:r>
                <a:r>
                  <a:rPr lang="en-US" altLang="zh-CN" sz="2000" dirty="0">
                    <a:latin typeface="+mn-lt"/>
                    <a:ea typeface="+mn-ea"/>
                  </a:rPr>
                  <a:t>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需要返回正确的密文。</a:t>
                </a:r>
                <a:endParaRPr lang="en-US" altLang="zh-CN" sz="2000" dirty="0">
                  <a:solidFill>
                    <a:srgbClr val="000000"/>
                  </a:solidFill>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挑战阶段。</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选择</a:t>
                </a:r>
                <a:r>
                  <a:rPr lang="zh-CN" altLang="en-US" sz="2000" dirty="0">
                    <a:solidFill>
                      <a:srgbClr val="000000"/>
                    </a:solidFill>
                    <a:effectLst/>
                    <a:latin typeface="+mn-lt"/>
                    <a:ea typeface="+mn-ea"/>
                    <a:cs typeface="Times New Roman" panose="02020503050405090304" pitchFamily="18" charset="0"/>
                  </a:rPr>
                  <a:t>两个</a:t>
                </a:r>
                <a:r>
                  <a:rPr lang="zh-CN" altLang="zh-CN" sz="2000" dirty="0">
                    <a:solidFill>
                      <a:srgbClr val="000000"/>
                    </a:solidFill>
                    <a:effectLst/>
                    <a:latin typeface="+mn-lt"/>
                    <a:ea typeface="+mn-ea"/>
                    <a:cs typeface="Times New Roman" panose="02020503050405090304" pitchFamily="18" charset="0"/>
                  </a:rPr>
                  <a:t>等长的</a:t>
                </a:r>
                <a:r>
                  <a:rPr lang="zh-CN" altLang="en-US" sz="2000" dirty="0">
                    <a:solidFill>
                      <a:srgbClr val="000000"/>
                    </a:solidFill>
                    <a:effectLst/>
                    <a:latin typeface="+mn-lt"/>
                    <a:ea typeface="+mn-ea"/>
                    <a:cs typeface="Times New Roman" panose="02020503050405090304" pitchFamily="18" charset="0"/>
                  </a:rPr>
                  <a:t>明文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effectLst/>
                    <a:latin typeface="+mn-lt"/>
                    <a:ea typeface="+mn-ea"/>
                    <a:cs typeface="Times New Roman" panose="02020503050405090304" pitchFamily="18" charset="0"/>
                  </a:rPr>
                  <a:t>并</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给挑战者</a:t>
                </a:r>
                <a14:m>
                  <m:oMath xmlns:m="http://schemas.openxmlformats.org/officeDocument/2006/math">
                    <m:r>
                      <a:rPr lang="en-US" altLang="zh-CN" sz="2000" i="1">
                        <a:latin typeface="Cambria Math" panose="02040503050406030204" pitchFamily="18" charset="0"/>
                        <a:ea typeface="+mn-ea"/>
                      </a:rPr>
                      <m:t>ℬ</m:t>
                    </m:r>
                    <m:r>
                      <a:rPr lang="zh-CN" altLang="en-US" sz="2000" b="0" i="0" smtClean="0">
                        <a:latin typeface="Cambria Math" panose="02040503050406030204" pitchFamily="18" charset="0"/>
                        <a:ea typeface="+mn-ea"/>
                      </a:rPr>
                      <m:t>，</m:t>
                    </m:r>
                  </m:oMath>
                </a14:m>
                <a:r>
                  <a:rPr lang="zh-CN" altLang="en-US" sz="2000" dirty="0">
                    <a:solidFill>
                      <a:srgbClr val="000000"/>
                    </a:solidFill>
                    <a:effectLst/>
                    <a:latin typeface="+mn-lt"/>
                    <a:ea typeface="+mn-ea"/>
                    <a:cs typeface="Times New Roman" panose="02020503050405090304" pitchFamily="18" charset="0"/>
                  </a:rPr>
                  <a:t>其中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sSub>
                      <m:sSubPr>
                        <m:ctrlPr>
                          <a:rPr lang="zh-CN" altLang="zh-CN" sz="2000" i="1" smtClean="0">
                            <a:solidFill>
                              <a:srgbClr val="000000"/>
                            </a:solidFill>
                            <a:latin typeface="Cambria Math" panose="02040503050406030204" pitchFamily="18" charset="0"/>
                            <a:ea typeface="+mn-ea"/>
                            <a:cs typeface="Times New Roman" panose="02020503050405090304" pitchFamily="18" charset="0"/>
                          </a:rPr>
                        </m:ctrlPr>
                      </m:sSubPr>
                      <m:e>
                        <m:r>
                          <a:rPr lang="zh-CN" altLang="en-US" sz="2000" i="1" smtClean="0">
                            <a:solidFill>
                              <a:srgbClr val="000000"/>
                            </a:solidFill>
                            <a:latin typeface="Cambria Math" panose="02040503050406030204" pitchFamily="18" charset="0"/>
                            <a:ea typeface="+mn-ea"/>
                            <a:cs typeface="Times New Roman" panose="02020503050405090304" pitchFamily="18" charset="0"/>
                          </a:rPr>
                          <m:t>≠</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dirty="0">
                    <a:effectLst/>
                    <a:latin typeface="+mn-lt"/>
                    <a:ea typeface="+mn-ea"/>
                    <a:cs typeface="Times New Roman" panose="02020503050405090304" pitchFamily="18" charset="0"/>
                  </a:rPr>
                  <a:t>。</a:t>
                </a:r>
                <a:r>
                  <a:rPr lang="en-US" altLang="zh-CN" sz="2000" dirty="0"/>
                  <a:t> </a:t>
                </a:r>
                <a14:m>
                  <m:oMath xmlns:m="http://schemas.openxmlformats.org/officeDocument/2006/math">
                    <m:r>
                      <a:rPr lang="en-US" altLang="zh-CN" sz="2000" i="1">
                        <a:latin typeface="Cambria Math" panose="02040503050406030204" pitchFamily="18" charset="0"/>
                      </a:rPr>
                      <m:t>ℬ</m:t>
                    </m:r>
                  </m:oMath>
                </a14:m>
                <a:r>
                  <a:rPr lang="zh-CN" altLang="zh-CN" sz="2000" dirty="0">
                    <a:solidFill>
                      <a:srgbClr val="000000"/>
                    </a:solidFill>
                    <a:cs typeface="Times New Roman" panose="02020503050405090304" pitchFamily="18" charset="0"/>
                  </a:rPr>
                  <a:t>随机选择一比特</a:t>
                </a:r>
                <a:r>
                  <a:rPr lang="zh-CN" altLang="en-US" sz="2000" dirty="0">
                    <a:solidFill>
                      <a:srgbClr val="000000"/>
                    </a:solidFill>
                    <a:cs typeface="Times New Roman" panose="02020503050405090304" pitchFamily="18" charset="0"/>
                  </a:rPr>
                  <a:t>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𝑏</m:t>
                    </m:r>
                    <m:r>
                      <a:rPr lang="en-US" altLang="zh-CN" sz="2000" i="1">
                        <a:solidFill>
                          <a:srgbClr val="000000"/>
                        </a:solidFill>
                        <a:latin typeface="Cambria Math" panose="02040503050406030204" pitchFamily="18" charset="0"/>
                        <a:ea typeface="Cambria Math" panose="02040503050406030204" pitchFamily="18" charset="0"/>
                        <a:cs typeface="Times New Roman" panose="02020503050405090304" pitchFamily="18" charset="0"/>
                      </a:rPr>
                      <m:t>∈</m:t>
                    </m:r>
                    <m:r>
                      <a:rPr lang="zh-CN" altLang="zh-CN" sz="2000" i="1" dirty="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a:t>
                </a:r>
                <a:r>
                  <a:rPr lang="zh-CN" altLang="zh-CN" sz="2000" dirty="0">
                    <a:solidFill>
                      <a:srgbClr val="000000"/>
                    </a:solidFill>
                    <a:effectLst/>
                    <a:latin typeface="+mn-lt"/>
                    <a:ea typeface="+mn-ea"/>
                    <a:cs typeface="Times New Roman" panose="02020503050405090304" pitchFamily="18" charset="0"/>
                  </a:rPr>
                  <a:t>计算</a:t>
                </a:r>
                <a:r>
                  <a:rPr lang="zh-CN" altLang="en-US"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latin typeface="+mn-lt"/>
                    <a:ea typeface="+mn-ea"/>
                    <a:cs typeface="Times New Roman" panose="02020503050405090304" pitchFamily="18" charset="0"/>
                  </a:rPr>
                  <a:t>C</a:t>
                </a:r>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，将</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latin typeface="+mn-lt"/>
                    <a:ea typeface="+mn-ea"/>
                    <a:cs typeface="Times New Roman" panose="02020503050405090304" pitchFamily="18" charset="0"/>
                  </a:rPr>
                  <a:t>给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en-US" altLang="zh-CN" sz="2000" dirty="0">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kern="0" dirty="0">
                    <a:solidFill>
                      <a:srgbClr val="000000"/>
                    </a:solidFill>
                    <a:latin typeface="+mn-lt"/>
                    <a:ea typeface="+mn-ea"/>
                    <a:cs typeface="Times New Roman" panose="02020503050405090304" pitchFamily="18" charset="0"/>
                  </a:rPr>
                  <a:t>响应阶段。</a:t>
                </a:r>
                <a14:m>
                  <m:oMath xmlns:m="http://schemas.openxmlformats.org/officeDocument/2006/math">
                    <m:r>
                      <a:rPr lang="en-US" altLang="zh-CN" sz="2000" i="1" kern="0">
                        <a:solidFill>
                          <a:srgbClr val="000000"/>
                        </a:solidFill>
                        <a:effectLst/>
                        <a:latin typeface="Cambria Math" panose="02040503050406030204" pitchFamily="18" charset="0"/>
                        <a:ea typeface="+mn-ea"/>
                        <a:cs typeface="宋体" pitchFamily="2" charset="-122"/>
                      </a:rPr>
                      <m:t>𝒜</m:t>
                    </m:r>
                    <m:r>
                      <a:rPr lang="zh-CN" altLang="en-US" sz="2000" b="0" i="1" kern="0" smtClean="0">
                        <a:solidFill>
                          <a:srgbClr val="000000"/>
                        </a:solidFill>
                        <a:effectLst/>
                        <a:latin typeface="Cambria Math" panose="02040503050406030204" pitchFamily="18" charset="0"/>
                        <a:ea typeface="+mn-ea"/>
                        <a:cs typeface="宋体" pitchFamily="2" charset="-122"/>
                      </a:rPr>
                      <m:t> </m:t>
                    </m:r>
                    <m:r>
                      <a:rPr lang="zh-CN" altLang="en-US" sz="2000" i="1" kern="0">
                        <a:solidFill>
                          <a:srgbClr val="000000"/>
                        </a:solidFill>
                        <a:latin typeface="Cambria Math" panose="02040503050406030204" pitchFamily="18" charset="0"/>
                        <a:ea typeface="+mn-ea"/>
                        <a:cs typeface="宋体" pitchFamily="2" charset="-122"/>
                      </a:rPr>
                      <m:t>猜测</m:t>
                    </m:r>
                    <m:r>
                      <a:rPr lang="zh-CN" altLang="en-US" sz="2000" b="0" i="1" kern="0" smtClean="0">
                        <a:solidFill>
                          <a:srgbClr val="000000"/>
                        </a:solidFill>
                        <a:latin typeface="Cambria Math" panose="02040503050406030204" pitchFamily="18" charset="0"/>
                        <a:ea typeface="+mn-ea"/>
                        <a:cs typeface="宋体" pitchFamily="2" charset="-122"/>
                      </a:rPr>
                      <m:t> </m:t>
                    </m:r>
                    <m:r>
                      <a:rPr lang="en-US" altLang="zh-CN" sz="2000" i="1">
                        <a:solidFill>
                          <a:srgbClr val="000000"/>
                        </a:solidFill>
                        <a:latin typeface="Cambria Math" panose="02040503050406030204" pitchFamily="18" charset="0"/>
                        <a:ea typeface="+mn-ea"/>
                        <a:cs typeface="Times New Roman" panose="02020503050405090304" pitchFamily="18" charset="0"/>
                      </a:rPr>
                      <m:t>𝐶</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zh-CN" altLang="en-US" sz="2000" i="1" smtClean="0">
                        <a:solidFill>
                          <a:srgbClr val="000000"/>
                        </a:solidFill>
                        <a:latin typeface="Cambria Math" panose="02040503050406030204" pitchFamily="18" charset="0"/>
                        <a:ea typeface="+mn-ea"/>
                        <a:cs typeface="Times New Roman" panose="02020503050405090304" pitchFamily="18" charset="0"/>
                      </a:rPr>
                      <m:t>是</m:t>
                    </m:r>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oMath>
                </a14:m>
                <a:r>
                  <a:rPr lang="zh-CN" altLang="en-US" sz="2000" kern="0" dirty="0">
                    <a:solidFill>
                      <a:srgbClr val="000000"/>
                    </a:solidFill>
                    <a:latin typeface="+mn-lt"/>
                    <a:ea typeface="+mn-ea"/>
                    <a:cs typeface="宋体" pitchFamily="2" charset="-122"/>
                  </a:rPr>
                  <a:t> 对应的密文还是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kern="0" dirty="0">
                    <a:solidFill>
                      <a:srgbClr val="000000"/>
                    </a:solidFill>
                    <a:latin typeface="+mn-lt"/>
                    <a:ea typeface="+mn-ea"/>
                    <a:cs typeface="宋体" pitchFamily="2" charset="-122"/>
                  </a:rPr>
                  <a:t> 对应的密文，并输出其猜测比特</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zh-CN" altLang="en-US" sz="2000" b="0" i="1" smtClean="0">
                            <a:solidFill>
                              <a:srgbClr val="000000"/>
                            </a:solidFill>
                            <a:effectLst/>
                            <a:latin typeface="Cambria Math" panose="02040503050406030204" pitchFamily="18" charset="0"/>
                            <a:ea typeface="+mn-ea"/>
                          </a:rPr>
                          <m:t> </m:t>
                        </m:r>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0</m:t>
                    </m:r>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1</m:t>
                    </m:r>
                    <m:r>
                      <a:rPr lang="en-US" altLang="zh-CN" sz="2000" i="1" kern="0">
                        <a:solidFill>
                          <a:srgbClr val="000000"/>
                        </a:solidFill>
                        <a:effectLst/>
                        <a:latin typeface="Cambria Math" panose="02040503050406030204" pitchFamily="18" charset="0"/>
                        <a:ea typeface="+mn-ea"/>
                        <a:cs typeface="宋体" pitchFamily="2" charset="-122"/>
                      </a:rPr>
                      <m:t>}</m:t>
                    </m:r>
                  </m:oMath>
                </a14:m>
                <a:r>
                  <a:rPr lang="zh-CN" altLang="zh-CN" sz="2000" kern="0" dirty="0">
                    <a:solidFill>
                      <a:srgbClr val="000000"/>
                    </a:solidFill>
                    <a:effectLst/>
                    <a:latin typeface="+mn-lt"/>
                    <a:ea typeface="+mn-ea"/>
                    <a:cs typeface="宋体" pitchFamily="2" charset="-122"/>
                  </a:rPr>
                  <a:t>。若</a:t>
                </a:r>
                <a:r>
                  <a:rPr lang="zh-CN" altLang="en-US" sz="2000" kern="0" dirty="0">
                    <a:solidFill>
                      <a:srgbClr val="000000"/>
                    </a:solidFill>
                    <a:effectLst/>
                    <a:latin typeface="+mn-lt"/>
                    <a:ea typeface="+mn-ea"/>
                    <a:cs typeface="宋体" pitchFamily="2" charset="-122"/>
                  </a:rPr>
                  <a:t> </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𝑏</m:t>
                    </m:r>
                  </m:oMath>
                </a14:m>
                <a:r>
                  <a:rPr lang="zh-CN" altLang="zh-CN" sz="2000" kern="0" dirty="0">
                    <a:solidFill>
                      <a:srgbClr val="000000"/>
                    </a:solidFill>
                    <a:effectLst/>
                    <a:latin typeface="+mn-lt"/>
                    <a:ea typeface="+mn-ea"/>
                    <a:cs typeface="宋体" pitchFamily="2" charset="-122"/>
                  </a:rPr>
                  <a:t>，</a:t>
                </a:r>
                <a:r>
                  <a:rPr lang="zh-CN" altLang="en-US" sz="2000" kern="0" dirty="0">
                    <a:solidFill>
                      <a:srgbClr val="000000"/>
                    </a:solidFill>
                    <a:effectLst/>
                    <a:latin typeface="+mn-lt"/>
                    <a:ea typeface="+mn-ea"/>
                    <a:cs typeface="宋体" pitchFamily="2" charset="-122"/>
                  </a:rPr>
                  <a:t>则</a:t>
                </a:r>
                <a14:m>
                  <m:oMath xmlns:m="http://schemas.openxmlformats.org/officeDocument/2006/math">
                    <m:r>
                      <a:rPr lang="zh-CN" altLang="en-US" sz="2000" b="0" i="0"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𝒜</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oMath>
                </a14:m>
                <a:r>
                  <a:rPr lang="zh-CN" altLang="en-US" sz="2000" kern="0" dirty="0">
                    <a:solidFill>
                      <a:srgbClr val="000000"/>
                    </a:solidFill>
                    <a:effectLst/>
                    <a:latin typeface="+mn-lt"/>
                    <a:ea typeface="+mn-ea"/>
                    <a:cs typeface="宋体" pitchFamily="2" charset="-122"/>
                  </a:rPr>
                  <a:t>获胜</a:t>
                </a:r>
                <a:r>
                  <a:rPr lang="zh-CN" altLang="en-US" sz="2000" kern="0" dirty="0">
                    <a:solidFill>
                      <a:srgbClr val="000000"/>
                    </a:solidFill>
                    <a:latin typeface="+mn-lt"/>
                    <a:ea typeface="+mn-ea"/>
                    <a:cs typeface="宋体" pitchFamily="2" charset="-122"/>
                  </a:rPr>
                  <a:t>且游戏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1</a:t>
                </a:r>
                <a:r>
                  <a:rPr lang="zh-CN" altLang="zh-CN" sz="2000" kern="0" dirty="0">
                    <a:solidFill>
                      <a:srgbClr val="000000"/>
                    </a:solidFill>
                    <a:effectLst/>
                    <a:latin typeface="+mn-lt"/>
                    <a:ea typeface="+mn-ea"/>
                    <a:cs typeface="宋体" pitchFamily="2" charset="-122"/>
                  </a:rPr>
                  <a:t>；否则，</a:t>
                </a:r>
                <a:r>
                  <a:rPr lang="zh-CN" altLang="en-US" sz="2000" kern="0" dirty="0">
                    <a:solidFill>
                      <a:srgbClr val="000000"/>
                    </a:solidFill>
                    <a:effectLst/>
                    <a:latin typeface="+mn-lt"/>
                    <a:ea typeface="+mn-ea"/>
                    <a:cs typeface="宋体" pitchFamily="2" charset="-122"/>
                  </a:rPr>
                  <a:t>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0</a:t>
                </a:r>
                <a:r>
                  <a:rPr lang="zh-CN" altLang="zh-CN" sz="2000" kern="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4" name="TextBox 11"/>
              <p:cNvSpPr txBox="1">
                <a:spLocks noRot="1" noChangeAspect="1" noMove="1" noResize="1" noEditPoints="1" noAdjustHandles="1" noChangeArrowheads="1" noChangeShapeType="1" noTextEdit="1"/>
              </p:cNvSpPr>
              <p:nvPr/>
            </p:nvSpPr>
            <p:spPr>
              <a:xfrm>
                <a:off x="932815" y="2268750"/>
                <a:ext cx="10192385" cy="3986091"/>
              </a:xfrm>
              <a:prstGeom prst="rect">
                <a:avLst/>
              </a:prstGeom>
              <a:blipFill>
                <a:blip r:embed="rId2"/>
                <a:stretch>
                  <a:fillRect l="-897" r="-2333" b="-1835"/>
                </a:stretch>
              </a:blipFill>
            </p:spPr>
            <p:txBody>
              <a:bodyPr/>
              <a:lstStyle/>
              <a:p>
                <a:r>
                  <a:rPr lang="zh-CN" altLang="en-US">
                    <a:noFill/>
                  </a:rPr>
                  <a:t> </a:t>
                </a:r>
              </a:p>
            </p:txBody>
          </p:sp>
        </mc:Fallback>
      </mc:AlternateContent>
      <p:sp>
        <p:nvSpPr>
          <p:cNvPr id="5" name="文本框 4"/>
          <p:cNvSpPr txBox="1"/>
          <p:nvPr/>
        </p:nvSpPr>
        <p:spPr>
          <a:xfrm>
            <a:off x="438565" y="1100535"/>
            <a:ext cx="11314870" cy="853375"/>
          </a:xfrm>
          <a:prstGeom prst="rect">
            <a:avLst/>
          </a:prstGeom>
          <a:noFill/>
        </p:spPr>
        <p:txBody>
          <a:bodyPr wrap="square">
            <a:spAutoFit/>
          </a:bodyPr>
          <a:lstStyle/>
          <a:p>
            <a:pPr indent="266700" algn="just">
              <a:lnSpc>
                <a:spcPct val="130000"/>
              </a:lnSpc>
            </a:pPr>
            <a:r>
              <a:rPr lang="zh-CN" altLang="en-US" sz="2000" dirty="0"/>
              <a:t>对于公钥加密方案，常见的安全模型通常用于捕获</a:t>
            </a:r>
            <a:r>
              <a:rPr lang="en-GB" altLang="zh-CN" sz="2000" dirty="0"/>
              <a:t>IND-CPA</a:t>
            </a:r>
            <a:r>
              <a:rPr lang="zh-CN" altLang="en-GB" sz="2000" dirty="0"/>
              <a:t>、</a:t>
            </a:r>
            <a:r>
              <a:rPr lang="en-GB" altLang="zh-CN" sz="2000" dirty="0"/>
              <a:t>IND</a:t>
            </a:r>
            <a:r>
              <a:rPr lang="en-US" altLang="zh-CN" sz="2000" dirty="0"/>
              <a:t>-</a:t>
            </a:r>
            <a:r>
              <a:rPr lang="en-GB" altLang="zh-CN" sz="2000" dirty="0"/>
              <a:t>CCA1 </a:t>
            </a:r>
            <a:r>
              <a:rPr lang="zh-CN" altLang="en-US" sz="2000" dirty="0"/>
              <a:t>和 </a:t>
            </a:r>
            <a:r>
              <a:rPr lang="en-GB" altLang="zh-CN" sz="2000" dirty="0"/>
              <a:t>IND-CCA2 </a:t>
            </a:r>
            <a:r>
              <a:rPr lang="zh-CN" altLang="en-US" sz="2000" dirty="0"/>
              <a:t>安全性概念。</a:t>
            </a:r>
            <a:endParaRPr lang="zh-CN" altLang="zh-CN" sz="2000" dirty="0">
              <a:effectLst/>
              <a:latin typeface="+mn-lt"/>
              <a:ea typeface="+mn-ea"/>
              <a:cs typeface="宋体"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CAF3-2708-1BE9-AE66-90DDAB6AB3A8}"/>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2406A51A-BBF0-8D17-7370-999055C17941}"/>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D184E5DB-A98B-CBC3-394B-4D44EAEF5A9F}"/>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C46DE257-AFEF-43EB-D9C0-4040C12B86F7}"/>
              </a:ext>
            </a:extLst>
          </p:cNvPr>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a:extLst>
              <a:ext uri="{FF2B5EF4-FFF2-40B4-BE49-F238E27FC236}">
                <a16:creationId xmlns:a16="http://schemas.microsoft.com/office/drawing/2014/main" id="{E69CC1D1-984D-1402-FE74-A0AFBC92B0A4}"/>
              </a:ext>
            </a:extLst>
          </p:cNvPr>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7" name="Rounded Rectangle 9">
            <a:extLst>
              <a:ext uri="{FF2B5EF4-FFF2-40B4-BE49-F238E27FC236}">
                <a16:creationId xmlns:a16="http://schemas.microsoft.com/office/drawing/2014/main" id="{777F5925-3335-D98F-0B84-71BB248484A2}"/>
              </a:ext>
            </a:extLst>
          </p:cNvPr>
          <p:cNvSpPr/>
          <p:nvPr/>
        </p:nvSpPr>
        <p:spPr>
          <a:xfrm>
            <a:off x="670549" y="2009207"/>
            <a:ext cx="10666636" cy="2696357"/>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5">
                <a:extLst>
                  <a:ext uri="{FF2B5EF4-FFF2-40B4-BE49-F238E27FC236}">
                    <a16:creationId xmlns:a16="http://schemas.microsoft.com/office/drawing/2014/main" id="{4BA6C5F3-D7EF-3F93-B107-E61884F41B8C}"/>
                  </a:ext>
                </a:extLst>
              </p:cNvPr>
              <p:cNvSpPr txBox="1"/>
              <p:nvPr/>
            </p:nvSpPr>
            <p:spPr>
              <a:xfrm>
                <a:off x="1196284" y="2255684"/>
                <a:ext cx="9810893"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.17</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IND-CPA</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a:lnSpc>
                    <a:spcPct val="120000"/>
                  </a:lnSpc>
                </a:pPr>
                <a:r>
                  <a:rPr lang="zh-CN" altLang="en-US" sz="2000" dirty="0"/>
                  <a:t>假设</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b="0" i="1" dirty="0" smtClean="0">
                            <a:latin typeface="Cambria Math" panose="02040503050406030204" pitchFamily="18" charset="0"/>
                          </a:rPr>
                        </m:ctrlPr>
                      </m:dPr>
                      <m:e>
                        <m:sSubSup>
                          <m:sSubSupPr>
                            <m:ctrlPr>
                              <a:rPr lang="en-US" altLang="zh-CN" sz="2000" b="0" i="1" dirty="0" smtClean="0">
                                <a:latin typeface="Cambria Math" panose="02040503050406030204" pitchFamily="18" charset="0"/>
                              </a:rPr>
                            </m:ctrlPr>
                          </m:sSubSupPr>
                          <m:e>
                            <m:r>
                              <m:rPr>
                                <m:sty m:val="p"/>
                              </m:rPr>
                              <a:rPr lang="en-US" altLang="zh-CN" sz="2000" b="0" i="0" dirty="0" smtClean="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b="0" i="0" dirty="0" smtClean="0">
                                <a:latin typeface="Cambria Math" panose="02040503050406030204" pitchFamily="18" charset="0"/>
                              </a:rPr>
                              <m:t>CPA</m:t>
                            </m:r>
                          </m:sup>
                        </m:sSubSup>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1</m:t>
                        </m:r>
                      </m:e>
                    </m:d>
                  </m:oMath>
                </a14:m>
                <a:r>
                  <a:rPr lang="zh-CN" altLang="en-US" sz="2000" dirty="0"/>
                  <a:t>为</a:t>
                </a:r>
                <a:r>
                  <a:rPr lang="en-US" altLang="zh-CN" sz="2000" dirty="0"/>
                  <a:t> </a:t>
                </a:r>
                <a14:m>
                  <m:oMath xmlns:m="http://schemas.openxmlformats.org/officeDocument/2006/math">
                    <m:r>
                      <a:rPr lang="zh-CN" altLang="en-US" sz="2000" i="1">
                        <a:latin typeface="Cambria Math" panose="02040503050406030204" pitchFamily="18" charset="0"/>
                      </a:rPr>
                      <m:t>𝒜</m:t>
                    </m:r>
                  </m:oMath>
                </a14:m>
                <a:r>
                  <a:rPr lang="zh-CN" altLang="en-US" sz="2000" dirty="0"/>
                  <a:t> </a:t>
                </a:r>
                <a:r>
                  <a:rPr lang="en-US" altLang="zh-CN" sz="2000" dirty="0"/>
                  <a:t> </a:t>
                </a:r>
                <a:r>
                  <a:rPr lang="zh-CN" altLang="en-US" sz="2000" dirty="0"/>
                  <a:t>赢得上述游戏且游戏输出 </a:t>
                </a:r>
                <a:r>
                  <a:rPr lang="en-US" altLang="zh-CN" sz="2000" dirty="0"/>
                  <a:t>1 </a:t>
                </a:r>
                <a:r>
                  <a:rPr lang="zh-CN" altLang="en-US" sz="2000" dirty="0"/>
                  <a:t>的概率。因</a:t>
                </a:r>
                <a14:m>
                  <m:oMath xmlns:m="http://schemas.openxmlformats.org/officeDocument/2006/math">
                    <m:r>
                      <a:rPr lang="zh-CN" altLang="en-US" sz="2000" b="0" i="0" smtClean="0">
                        <a:latin typeface="Cambria Math" panose="02040503050406030204" pitchFamily="18" charset="0"/>
                      </a:rPr>
                      <m:t> </m:t>
                    </m:r>
                    <m:r>
                      <a:rPr lang="zh-CN" altLang="en-US" sz="2000" i="1">
                        <a:latin typeface="Cambria Math" panose="02040503050406030204" pitchFamily="18" charset="0"/>
                      </a:rPr>
                      <m:t>𝒜</m:t>
                    </m:r>
                  </m:oMath>
                </a14:m>
                <a:r>
                  <a:rPr lang="zh-CN" altLang="en-US" sz="2000" dirty="0"/>
                  <a:t> 猜对</a:t>
                </a:r>
                <a:r>
                  <a:rPr lang="zh-CN" altLang="zh-CN" sz="2000" dirty="0">
                    <a:solidFill>
                      <a:srgbClr val="000000"/>
                    </a:solidFill>
                    <a:cs typeface="Times New Roman" panose="02020503050405090304" pitchFamily="18" charset="0"/>
                  </a:rPr>
                  <a:t>比特</a:t>
                </a:r>
                <a:r>
                  <a:rPr lang="zh-CN" altLang="en-US" sz="2000" dirty="0">
                    <a:solidFill>
                      <a:srgbClr val="000000"/>
                    </a:solidFill>
                    <a:cs typeface="Times New Roman" panose="02020503050405090304" pitchFamily="18" charset="0"/>
                  </a:rPr>
                  <a:t> </a:t>
                </a:r>
                <a:r>
                  <a:rPr lang="en-US" altLang="zh-CN" sz="2000" dirty="0"/>
                  <a:t>b</a:t>
                </a:r>
                <a:r>
                  <a:rPr lang="zh-CN" altLang="en-US" sz="2000" dirty="0"/>
                  <a:t> 的概率为 </a:t>
                </a:r>
                <a14:m>
                  <m:oMath xmlns:m="http://schemas.openxmlformats.org/officeDocument/2006/math">
                    <m:f>
                      <m:fPr>
                        <m:ctrlPr>
                          <a:rPr lang="zh-CN"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oMath>
                </a14:m>
                <a:r>
                  <a:rPr lang="zh-CN" altLang="en-US" sz="2000" dirty="0"/>
                  <a:t>，所以我们可定义 </a:t>
                </a:r>
                <a14:m>
                  <m:oMath xmlns:m="http://schemas.openxmlformats.org/officeDocument/2006/math">
                    <m:r>
                      <a:rPr lang="zh-CN" altLang="en-US" sz="2000" i="1">
                        <a:latin typeface="Cambria Math" panose="02040503050406030204" pitchFamily="18" charset="0"/>
                      </a:rPr>
                      <m:t>𝒜</m:t>
                    </m:r>
                  </m:oMath>
                </a14:m>
                <a:r>
                  <a:rPr lang="zh-CN" altLang="en-US" sz="2000" dirty="0"/>
                  <a:t>  赢得上述游戏的优势为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i="0" dirty="0" smtClean="0">
                            <a:latin typeface="Cambria Math" panose="02040503050406030204" pitchFamily="18" charset="0"/>
                          </a:rPr>
                          <m:t>Adv</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CPA</m:t>
                        </m:r>
                      </m:sup>
                    </m:sSubSup>
                    <m:r>
                      <a:rPr lang="en-US" altLang="zh-CN" sz="2000" i="0" dirty="0">
                        <a:latin typeface="Cambria Math" panose="02040503050406030204" pitchFamily="18" charset="0"/>
                      </a:rPr>
                      <m:t>=</m:t>
                    </m:r>
                  </m:oMath>
                </a14:m>
                <a:r>
                  <a:rPr lang="en-US" altLang="zh-CN" sz="2000" dirty="0"/>
                  <a:t>| </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m:rPr>
                                <m:sty m:val="p"/>
                              </m:rPr>
                              <a:rPr lang="en-US" altLang="zh-CN" sz="2000" i="0" dirty="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CPA</m:t>
                            </m:r>
                          </m:sup>
                        </m:sSubSup>
                        <m:r>
                          <a:rPr lang="en-US" altLang="zh-CN" sz="2000" i="0" dirty="0">
                            <a:latin typeface="Cambria Math" panose="02040503050406030204" pitchFamily="18" charset="0"/>
                          </a:rPr>
                          <m:t>=</m:t>
                        </m:r>
                        <m:r>
                          <a:rPr lang="en-US" altLang="zh-CN" sz="2000" i="1" dirty="0">
                            <a:latin typeface="Cambria Math" panose="02040503050406030204" pitchFamily="18" charset="0"/>
                          </a:rPr>
                          <m:t>1</m:t>
                        </m:r>
                      </m:e>
                    </m:d>
                    <m:r>
                      <a:rPr lang="en-US" altLang="zh-CN" sz="2000" i="1" dirty="0">
                        <a:latin typeface="Cambria Math" panose="02040503050406030204" pitchFamily="18" charset="0"/>
                      </a:rPr>
                      <m:t> </m:t>
                    </m:r>
                    <m:r>
                      <a:rPr lang="en-US" altLang="zh-CN" sz="2000" b="0" i="0" dirty="0" smtClean="0">
                        <a:latin typeface="Cambria Math" panose="02040503050406030204" pitchFamily="18" charset="0"/>
                      </a:rPr>
                      <m:t>−</m:t>
                    </m:r>
                  </m:oMath>
                </a14:m>
                <a:r>
                  <a:rPr lang="zh-CN" altLang="zh-CN" sz="2000" dirty="0"/>
                  <a:t> </a:t>
                </a:r>
                <a14:m>
                  <m:oMath xmlns:m="http://schemas.openxmlformats.org/officeDocument/2006/math">
                    <m:f>
                      <m:fPr>
                        <m:ctrlPr>
                          <a:rPr lang="zh-CN"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r>
                      <a:rPr lang="en-US" altLang="zh-CN" sz="2000" i="1">
                        <a:latin typeface="Cambria Math" panose="02040503050406030204" pitchFamily="18" charset="0"/>
                      </a:rPr>
                      <m:t> </m:t>
                    </m:r>
                  </m:oMath>
                </a14:m>
                <a:r>
                  <a:rPr lang="en-US" altLang="zh-CN" sz="2000" dirty="0"/>
                  <a:t>|</a:t>
                </a:r>
                <a:r>
                  <a:rPr lang="zh-CN" altLang="en-US" sz="2000" dirty="0"/>
                  <a:t>。若在任意概率多项式时间内，敌手 </a:t>
                </a:r>
                <a14:m>
                  <m:oMath xmlns:m="http://schemas.openxmlformats.org/officeDocument/2006/math">
                    <m:r>
                      <a:rPr lang="zh-CN" altLang="en-US" sz="2000" i="1">
                        <a:latin typeface="Cambria Math" panose="02040503050406030204" pitchFamily="18" charset="0"/>
                      </a:rPr>
                      <m:t>𝒜</m:t>
                    </m:r>
                    <m:r>
                      <a:rPr lang="zh-CN" altLang="en-US" sz="2000" b="0" i="1" smtClean="0">
                        <a:latin typeface="Cambria Math" panose="02040503050406030204" pitchFamily="18" charset="0"/>
                      </a:rPr>
                      <m:t> </m:t>
                    </m:r>
                  </m:oMath>
                </a14:m>
                <a:r>
                  <a:rPr lang="zh-CN" altLang="en-US" sz="2000" dirty="0"/>
                  <a:t>赢得上述游戏的优势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CPA</m:t>
                        </m:r>
                      </m:sup>
                    </m:sSubSup>
                  </m:oMath>
                </a14:m>
                <a:r>
                  <a:rPr lang="zh-CN" altLang="en-US" sz="2000" dirty="0"/>
                  <a:t> 是可忽略的，则称公钥加密方案 </a:t>
                </a:r>
                <a14:m>
                  <m:oMath xmlns:m="http://schemas.openxmlformats.org/officeDocument/2006/math">
                    <m:r>
                      <m:rPr>
                        <m:sty m:val="p"/>
                      </m:rPr>
                      <a:rPr lang="en-US" altLang="zh-CN" sz="2000">
                        <a:solidFill>
                          <a:srgbClr val="000000"/>
                        </a:solidFill>
                        <a:latin typeface="Cambria Math" panose="02040503050406030204" pitchFamily="18" charset="0"/>
                        <a:cs typeface="Times New Roman" panose="02020503050405090304" pitchFamily="18" charset="0"/>
                      </a:rPr>
                      <m:t>PKE</m:t>
                    </m:r>
                    <m:r>
                      <m:rPr>
                        <m:nor/>
                      </m:rPr>
                      <a:rPr lang="en-US" altLang="zh-CN" sz="2000">
                        <a:solidFill>
                          <a:srgbClr val="000000"/>
                        </a:solidFill>
                        <a:latin typeface="DejaVu Math TeX Gyre" panose="02000503000000000000" charset="0"/>
                        <a:cs typeface="Times New Roman" panose="02020503050405090304" pitchFamily="18" charset="0"/>
                      </a:rPr>
                      <m:t>=(</m:t>
                    </m:r>
                    <m:r>
                      <m:rPr>
                        <m:nor/>
                      </m:rPr>
                      <a:rPr lang="en-US" altLang="zh-CN" sz="2000">
                        <a:solidFill>
                          <a:srgbClr val="000000"/>
                        </a:solidFill>
                        <a:latin typeface="DejaVu Math TeX Gyre" panose="02000503000000000000" charset="0"/>
                        <a:cs typeface="Times New Roman" panose="02020503050405090304" pitchFamily="18" charset="0"/>
                      </a:rPr>
                      <m:t>Gen</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Enc</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Dec</m:t>
                    </m:r>
                    <m:r>
                      <m:rPr>
                        <m:nor/>
                      </m:rPr>
                      <a:rPr lang="en-US" altLang="zh-CN" sz="2000">
                        <a:solidFill>
                          <a:srgbClr val="000000"/>
                        </a:solidFill>
                        <a:latin typeface="DejaVu Math TeX Gyre" panose="02000503000000000000" charset="0"/>
                        <a:cs typeface="Times New Roman" panose="02020503050405090304" pitchFamily="18" charset="0"/>
                      </a:rPr>
                      <m:t>)</m:t>
                    </m:r>
                  </m:oMath>
                </a14:m>
                <a:r>
                  <a:rPr lang="zh-CN" altLang="en-US" sz="2000" dirty="0"/>
                  <a:t> 是 </a:t>
                </a:r>
                <a:r>
                  <a:rPr lang="en-GB" altLang="zh-CN" sz="2000" dirty="0"/>
                  <a:t>IND-CPA </a:t>
                </a:r>
                <a:r>
                  <a:rPr lang="zh-CN" altLang="en-US" sz="2000" dirty="0"/>
                  <a:t>安全的。</a:t>
                </a:r>
                <a:endParaRPr lang="zh-CN" altLang="en-US" sz="2000" dirty="0">
                  <a:latin typeface="+mn-lt"/>
                  <a:ea typeface="+mn-ea"/>
                  <a:cs typeface="Times New Roman" panose="02020503050405090304" pitchFamily="18" charset="0"/>
                </a:endParaRPr>
              </a:p>
              <a:p>
                <a:pPr algn="just">
                  <a:lnSpc>
                    <a:spcPct val="130000"/>
                  </a:lnSpc>
                  <a:spcAft>
                    <a:spcPts val="600"/>
                  </a:spcAft>
                  <a:buClr>
                    <a:srgbClr val="C00000"/>
                  </a:buClr>
                </a:pPr>
                <a:endParaRPr lang="zh-CN" altLang="zh-CN" dirty="0">
                  <a:latin typeface="+mn-lt"/>
                </a:endParaRPr>
              </a:p>
              <a:p>
                <a:pPr algn="just">
                  <a:lnSpc>
                    <a:spcPct val="130000"/>
                  </a:lnSpc>
                  <a:spcAft>
                    <a:spcPts val="600"/>
                  </a:spcAft>
                  <a:buClr>
                    <a:srgbClr val="C00000"/>
                  </a:buClr>
                </a:pP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8" name="TextBox 5">
                <a:extLst>
                  <a:ext uri="{FF2B5EF4-FFF2-40B4-BE49-F238E27FC236}">
                    <a16:creationId xmlns:a16="http://schemas.microsoft.com/office/drawing/2014/main" id="{4BA6C5F3-D7EF-3F93-B107-E61884F41B8C}"/>
                  </a:ext>
                </a:extLst>
              </p:cNvPr>
              <p:cNvSpPr txBox="1">
                <a:spLocks noRot="1" noChangeAspect="1" noMove="1" noResize="1" noEditPoints="1" noAdjustHandles="1" noChangeArrowheads="1" noChangeShapeType="1" noTextEdit="1"/>
              </p:cNvSpPr>
              <p:nvPr/>
            </p:nvSpPr>
            <p:spPr>
              <a:xfrm>
                <a:off x="1196284" y="2255684"/>
                <a:ext cx="9810893" cy="1101101"/>
              </a:xfrm>
              <a:prstGeom prst="rect">
                <a:avLst/>
              </a:prstGeom>
              <a:blipFill>
                <a:blip r:embed="rId2"/>
                <a:stretch>
                  <a:fillRect l="-1553" t="-7182" r="-1429" b="-99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2987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3" name="Rounded Rectangle 9"/>
          <p:cNvSpPr/>
          <p:nvPr/>
        </p:nvSpPr>
        <p:spPr>
          <a:xfrm>
            <a:off x="911907" y="1380000"/>
            <a:ext cx="10213293" cy="4435175"/>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TextBox 11"/>
              <p:cNvSpPr txBox="1"/>
              <p:nvPr/>
            </p:nvSpPr>
            <p:spPr>
              <a:xfrm>
                <a:off x="1066801" y="1635565"/>
                <a:ext cx="9802871" cy="3986091"/>
              </a:xfrm>
              <a:prstGeom prst="rect">
                <a:avLst/>
              </a:prstGeom>
              <a:noFill/>
            </p:spPr>
            <p:txBody>
              <a:bodyPr wrap="square" lIns="64008" tIns="32004" rIns="36576">
                <a:spAutoFit/>
              </a:bodyPr>
              <a:lstStyle/>
              <a:p>
                <a:pPr algn="just">
                  <a:lnSpc>
                    <a:spcPct val="130000"/>
                  </a:lnSpc>
                  <a:spcBef>
                    <a:spcPts val="300"/>
                  </a:spcBef>
                  <a:spcAft>
                    <a:spcPts val="300"/>
                  </a:spcAft>
                </a:pPr>
                <a:r>
                  <a:rPr lang="zh-CN" altLang="en-US" sz="2000" b="1" dirty="0">
                    <a:latin typeface="+mn-lt"/>
                    <a:ea typeface="+mn-ea"/>
                  </a:rPr>
                  <a:t>安全模型 </a:t>
                </a:r>
                <a:r>
                  <a:rPr lang="en-GB" altLang="zh-CN" sz="2000" b="1" dirty="0">
                    <a:latin typeface="+mn-lt"/>
                    <a:ea typeface="+mn-ea"/>
                  </a:rPr>
                  <a:t>IND-CCA1</a:t>
                </a:r>
                <a:r>
                  <a:rPr lang="zh-CN" altLang="en-GB" sz="2000" dirty="0">
                    <a:latin typeface="+mn-lt"/>
                    <a:ea typeface="+mn-ea"/>
                  </a:rPr>
                  <a:t>。</a:t>
                </a:r>
                <a:r>
                  <a:rPr lang="zh-CN" altLang="zh-CN" sz="2000" dirty="0">
                    <a:solidFill>
                      <a:srgbClr val="000000"/>
                    </a:solidFill>
                    <a:effectLst/>
                    <a:latin typeface="+mn-lt"/>
                    <a:ea typeface="+mn-ea"/>
                    <a:cs typeface="Times New Roman" panose="02020503050405090304" pitchFamily="18" charset="0"/>
                  </a:rPr>
                  <a:t>给定一定义在</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zh-CN" altLang="en-US" sz="2000" i="1">
                        <a:latin typeface="Cambria Math" panose="02040503050406030204" pitchFamily="18" charset="0"/>
                        <a:ea typeface="+mn-ea"/>
                      </a:rPr>
                      <m:t>𝒞</m:t>
                    </m:r>
                    <m:r>
                      <a:rPr lang="en-US" altLang="zh-CN" sz="2000" b="0" i="1" smtClean="0">
                        <a:latin typeface="Cambria Math" panose="02040503050406030204" pitchFamily="18" charset="0"/>
                        <a:ea typeface="+mn-ea"/>
                      </a:rPr>
                      <m:t>,</m:t>
                    </m:r>
                    <m:r>
                      <a:rPr lang="zh-CN" altLang="en-US" sz="2000" i="1">
                        <a:latin typeface="Cambria Math" panose="02040503050406030204" pitchFamily="18" charset="0"/>
                        <a:ea typeface="+mn-ea"/>
                      </a:rPr>
                      <m:t>𝒦</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上的公钥加密方案</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t>假设 </a:t>
                </a:r>
                <a14:m>
                  <m:oMath xmlns:m="http://schemas.openxmlformats.org/officeDocument/2006/math">
                    <m:r>
                      <a:rPr lang="en-US" altLang="zh-CN" sz="2000" i="1">
                        <a:latin typeface="Cambria Math" panose="02040503050406030204" pitchFamily="18" charset="0"/>
                      </a:rPr>
                      <m:t>ℬ</m:t>
                    </m:r>
                  </m:oMath>
                </a14:m>
                <a:r>
                  <a:rPr lang="zh-CN" altLang="en-US" sz="2000" dirty="0"/>
                  <a:t> 是一个挑战者 、</a:t>
                </a:r>
                <a14:m>
                  <m:oMath xmlns:m="http://schemas.openxmlformats.org/officeDocument/2006/math">
                    <m:r>
                      <a:rPr lang="zh-CN" altLang="en-US" sz="2000" i="1">
                        <a:latin typeface="Cambria Math" panose="02040503050406030204" pitchFamily="18" charset="0"/>
                      </a:rPr>
                      <m:t>𝒜</m:t>
                    </m:r>
                    <m:r>
                      <a:rPr lang="zh-CN" altLang="en-US" sz="2000">
                        <a:latin typeface="Cambria Math" panose="02040503050406030204" pitchFamily="18" charset="0"/>
                      </a:rPr>
                      <m:t> </m:t>
                    </m:r>
                    <m:r>
                      <a:rPr lang="zh-CN" altLang="en-US" sz="2000" i="1">
                        <a:latin typeface="Cambria Math" panose="02040503050406030204" pitchFamily="18" charset="0"/>
                      </a:rPr>
                      <m:t>是</m:t>
                    </m:r>
                    <m:r>
                      <m:rPr>
                        <m:nor/>
                      </m:rPr>
                      <a:rPr lang="zh-CN" altLang="en-US" sz="2000" dirty="0">
                        <a:latin typeface="DejaVu Math TeX Gyre" panose="02000503000000000000" charset="0"/>
                      </a:rPr>
                      <m:t>一个敌手</m:t>
                    </m:r>
                    <m:r>
                      <a:rPr lang="zh-CN" altLang="en-US" sz="2000">
                        <a:latin typeface="Cambria Math" panose="02040503050406030204" pitchFamily="18" charset="0"/>
                      </a:rPr>
                      <m:t>。</m:t>
                    </m:r>
                    <m:r>
                      <a:rPr lang="zh-CN" altLang="en-US" sz="2000" i="1">
                        <a:latin typeface="Cambria Math" panose="02040503050406030204" pitchFamily="18" charset="0"/>
                      </a:rPr>
                      <m:t> </m:t>
                    </m:r>
                    <m:r>
                      <a:rPr lang="en-US" altLang="zh-CN" sz="2000" i="1">
                        <a:latin typeface="Cambria Math" panose="02040503050406030204" pitchFamily="18" charset="0"/>
                      </a:rPr>
                      <m:t>ℬ</m:t>
                    </m:r>
                  </m:oMath>
                </a14:m>
                <a:r>
                  <a:rPr lang="en-US" altLang="zh-CN" sz="2000" dirty="0">
                    <a:latin typeface="+mn-lt"/>
                    <a:ea typeface="+mn-ea"/>
                  </a:rPr>
                  <a:t> </a:t>
                </a:r>
                <a:r>
                  <a:rPr lang="zh-CN" altLang="en-US" sz="2000" dirty="0">
                    <a:latin typeface="+mn-lt"/>
                    <a:ea typeface="+mn-ea"/>
                  </a:rPr>
                  <a:t>与</a:t>
                </a:r>
                <a14:m>
                  <m:oMath xmlns:m="http://schemas.openxmlformats.org/officeDocument/2006/math">
                    <m:r>
                      <a:rPr lang="zh-CN" altLang="en-US" sz="2000" i="1">
                        <a:latin typeface="Cambria Math" panose="02040503050406030204" pitchFamily="18" charset="0"/>
                      </a:rPr>
                      <m:t>𝒜</m:t>
                    </m:r>
                  </m:oMath>
                </a14:m>
                <a:r>
                  <a:rPr lang="zh-CN" altLang="en-US" sz="2000" dirty="0">
                    <a:latin typeface="+mn-lt"/>
                    <a:ea typeface="+mn-ea"/>
                  </a:rPr>
                  <a:t> 运行的交互式游戏分为如下 </a:t>
                </a:r>
                <a:r>
                  <a:rPr lang="en-US" altLang="zh-CN" sz="2000" dirty="0">
                    <a:latin typeface="+mn-lt"/>
                    <a:ea typeface="+mn-ea"/>
                  </a:rPr>
                  <a:t>4 </a:t>
                </a:r>
                <a:r>
                  <a:rPr lang="zh-CN" altLang="en-US" sz="2000" dirty="0">
                    <a:latin typeface="+mn-lt"/>
                    <a:ea typeface="+mn-ea"/>
                  </a:rPr>
                  <a:t>个阶段</a:t>
                </a:r>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初始化阶段。</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生成</a:t>
                </a:r>
                <a:r>
                  <a:rPr lang="zh-CN" altLang="en-US" sz="2000" dirty="0">
                    <a:solidFill>
                      <a:srgbClr val="000000"/>
                    </a:solidFill>
                    <a:effectLst/>
                    <a:latin typeface="+mn-lt"/>
                    <a:ea typeface="+mn-ea"/>
                    <a:cs typeface="Times New Roman" panose="02020503050405090304" pitchFamily="18" charset="0"/>
                  </a:rPr>
                  <a:t>公私钥对 </a:t>
                </a:r>
                <a14:m>
                  <m:oMath xmlns:m="http://schemas.openxmlformats.org/officeDocument/2006/math">
                    <m:box>
                      <m:box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box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box>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并将</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发送给敌手</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问询阶段。</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可以向</a:t>
                </a:r>
                <a14:m>
                  <m:oMath xmlns:m="http://schemas.openxmlformats.org/officeDocument/2006/math">
                    <m:r>
                      <a:rPr lang="zh-CN" altLang="en-US" sz="2000" b="0" i="0" smtClean="0">
                        <a:latin typeface="Cambria Math" panose="02040503050406030204" pitchFamily="18" charset="0"/>
                        <a:ea typeface="+mn-ea"/>
                      </a:rPr>
                      <m:t> </m:t>
                    </m:r>
                    <m:r>
                      <a:rPr lang="en-US" altLang="zh-CN" sz="2000" i="1">
                        <a:latin typeface="Cambria Math" panose="02040503050406030204" pitchFamily="18" charset="0"/>
                        <a:ea typeface="+mn-ea"/>
                      </a:rPr>
                      <m:t>ℬ</m:t>
                    </m:r>
                    <m:r>
                      <a:rPr lang="zh-CN" altLang="en-US" sz="2000" b="0" i="1" smtClean="0">
                        <a:latin typeface="Cambria Math" panose="02040503050406030204" pitchFamily="18" charset="0"/>
                        <a:ea typeface="+mn-ea"/>
                      </a:rPr>
                      <m:t> </m:t>
                    </m:r>
                  </m:oMath>
                </a14:m>
                <a:r>
                  <a:rPr lang="zh-CN" altLang="en-US" sz="2000" dirty="0">
                    <a:latin typeface="+mn-lt"/>
                    <a:ea typeface="+mn-ea"/>
                  </a:rPr>
                  <a:t>发起解密预言机问询，即 </a:t>
                </a:r>
                <a14:m>
                  <m:oMath xmlns:m="http://schemas.openxmlformats.org/officeDocument/2006/math">
                    <m:r>
                      <a:rPr lang="en-US" altLang="zh-CN" sz="2000" i="1">
                        <a:solidFill>
                          <a:srgbClr val="000000"/>
                        </a:solidFill>
                        <a:latin typeface="Cambria Math" panose="02040503050406030204" pitchFamily="18" charset="0"/>
                        <a:ea typeface="+mn-ea"/>
                        <a:cs typeface="Times New Roman" panose="02020503050405090304" pitchFamily="18" charset="0"/>
                      </a:rPr>
                      <m:t>𝒜</m:t>
                    </m:r>
                  </m:oMath>
                </a14:m>
                <a:r>
                  <a:rPr lang="zh-CN" altLang="en-US" sz="2000" dirty="0">
                    <a:latin typeface="+mn-lt"/>
                    <a:ea typeface="+mn-ea"/>
                  </a:rPr>
                  <a:t> 向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询问任意</a:t>
                </a:r>
                <a:r>
                  <a:rPr lang="zh-CN" altLang="en-US" sz="2000" dirty="0"/>
                  <a:t>密文</a:t>
                </a:r>
                <a:r>
                  <a:rPr lang="zh-CN" altLang="en-US" sz="2000" dirty="0">
                    <a:latin typeface="+mn-lt"/>
                    <a:ea typeface="+mn-ea"/>
                  </a:rPr>
                  <a:t>对应的明文。</a:t>
                </a:r>
                <a:r>
                  <a:rPr lang="en-US" altLang="zh-CN" sz="2000" dirty="0">
                    <a:latin typeface="+mn-lt"/>
                    <a:ea typeface="+mn-ea"/>
                  </a:rPr>
                  <a:t>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需要返回正确的解密结果。</a:t>
                </a:r>
                <a:endParaRPr lang="en-US" altLang="zh-CN" sz="2000" dirty="0">
                  <a:solidFill>
                    <a:srgbClr val="000000"/>
                  </a:solidFill>
                  <a:effectLst/>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挑战阶段。</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选择</a:t>
                </a:r>
                <a:r>
                  <a:rPr lang="zh-CN" altLang="en-US" sz="2000" dirty="0">
                    <a:solidFill>
                      <a:srgbClr val="000000"/>
                    </a:solidFill>
                    <a:effectLst/>
                    <a:latin typeface="+mn-lt"/>
                    <a:ea typeface="+mn-ea"/>
                    <a:cs typeface="Times New Roman" panose="02020503050405090304" pitchFamily="18" charset="0"/>
                  </a:rPr>
                  <a:t>两个</a:t>
                </a:r>
                <a:r>
                  <a:rPr lang="zh-CN" altLang="zh-CN" sz="2000" dirty="0">
                    <a:solidFill>
                      <a:srgbClr val="000000"/>
                    </a:solidFill>
                    <a:effectLst/>
                    <a:latin typeface="+mn-lt"/>
                    <a:ea typeface="+mn-ea"/>
                    <a:cs typeface="Times New Roman" panose="02020503050405090304" pitchFamily="18" charset="0"/>
                  </a:rPr>
                  <a:t>等长的</a:t>
                </a:r>
                <a:r>
                  <a:rPr lang="zh-CN" altLang="en-US" sz="2000" dirty="0">
                    <a:solidFill>
                      <a:srgbClr val="000000"/>
                    </a:solidFill>
                    <a:effectLst/>
                    <a:latin typeface="+mn-lt"/>
                    <a:ea typeface="+mn-ea"/>
                    <a:cs typeface="Times New Roman" panose="02020503050405090304" pitchFamily="18" charset="0"/>
                  </a:rPr>
                  <a:t>明文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effectLst/>
                    <a:latin typeface="+mn-lt"/>
                    <a:ea typeface="+mn-ea"/>
                    <a:cs typeface="Times New Roman" panose="02020503050405090304" pitchFamily="18" charset="0"/>
                  </a:rPr>
                  <a:t>并</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给挑战者</a:t>
                </a:r>
                <a14:m>
                  <m:oMath xmlns:m="http://schemas.openxmlformats.org/officeDocument/2006/math">
                    <m:r>
                      <a:rPr lang="en-US" altLang="zh-CN" sz="2000" i="1">
                        <a:latin typeface="Cambria Math" panose="02040503050406030204" pitchFamily="18" charset="0"/>
                        <a:ea typeface="+mn-ea"/>
                      </a:rPr>
                      <m:t>ℬ</m:t>
                    </m:r>
                    <m:r>
                      <a:rPr lang="zh-CN" altLang="en-US" sz="2000" b="0" i="0" smtClean="0">
                        <a:latin typeface="Cambria Math" panose="02040503050406030204" pitchFamily="18" charset="0"/>
                        <a:ea typeface="+mn-ea"/>
                      </a:rPr>
                      <m:t>，</m:t>
                    </m:r>
                  </m:oMath>
                </a14:m>
                <a:r>
                  <a:rPr lang="zh-CN" altLang="en-US" sz="2000" dirty="0">
                    <a:solidFill>
                      <a:srgbClr val="000000"/>
                    </a:solidFill>
                    <a:effectLst/>
                    <a:latin typeface="+mn-lt"/>
                    <a:ea typeface="+mn-ea"/>
                    <a:cs typeface="Times New Roman" panose="02020503050405090304" pitchFamily="18" charset="0"/>
                  </a:rPr>
                  <a:t>其中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sSub>
                      <m:sSubPr>
                        <m:ctrlPr>
                          <a:rPr lang="zh-CN" altLang="zh-CN" sz="2000" i="1" smtClean="0">
                            <a:solidFill>
                              <a:srgbClr val="000000"/>
                            </a:solidFill>
                            <a:latin typeface="Cambria Math" panose="02040503050406030204" pitchFamily="18" charset="0"/>
                            <a:ea typeface="+mn-ea"/>
                            <a:cs typeface="Times New Roman" panose="02020503050405090304" pitchFamily="18" charset="0"/>
                          </a:rPr>
                        </m:ctrlPr>
                      </m:sSubPr>
                      <m:e>
                        <m:r>
                          <a:rPr lang="zh-CN" altLang="en-US" sz="2000" i="1" smtClean="0">
                            <a:solidFill>
                              <a:srgbClr val="000000"/>
                            </a:solidFill>
                            <a:latin typeface="Cambria Math" panose="02040503050406030204" pitchFamily="18" charset="0"/>
                            <a:ea typeface="+mn-ea"/>
                            <a:cs typeface="Times New Roman" panose="02020503050405090304" pitchFamily="18" charset="0"/>
                          </a:rPr>
                          <m:t>≠</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dirty="0">
                    <a:effectLst/>
                    <a:latin typeface="+mn-lt"/>
                    <a:ea typeface="+mn-ea"/>
                    <a:cs typeface="Times New Roman" panose="02020503050405090304" pitchFamily="18" charset="0"/>
                  </a:rPr>
                  <a:t>。</a:t>
                </a:r>
                <a14:m>
                  <m:oMath xmlns:m="http://schemas.openxmlformats.org/officeDocument/2006/math">
                    <m:r>
                      <a:rPr lang="en-US" altLang="zh-CN" sz="2000" i="1">
                        <a:latin typeface="Cambria Math" panose="02040503050406030204" pitchFamily="18" charset="0"/>
                        <a:ea typeface="+mn-ea"/>
                      </a:rPr>
                      <m:t>ℬ</m:t>
                    </m:r>
                  </m:oMath>
                </a14:m>
                <a:r>
                  <a:rPr lang="zh-CN" altLang="zh-CN" sz="2000" dirty="0">
                    <a:solidFill>
                      <a:srgbClr val="000000"/>
                    </a:solidFill>
                    <a:effectLst/>
                    <a:latin typeface="+mn-lt"/>
                    <a:ea typeface="+mn-ea"/>
                    <a:cs typeface="Times New Roman" panose="02020503050405090304" pitchFamily="18" charset="0"/>
                  </a:rPr>
                  <a:t>随机选择一比特</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r>
                      <a:rPr lang="en-US" altLang="zh-CN" sz="2000" i="1" smtClean="0">
                        <a:solidFill>
                          <a:srgbClr val="000000"/>
                        </a:solidFill>
                        <a:effectLst/>
                        <a:latin typeface="Cambria Math" panose="02040503050406030204" pitchFamily="18" charset="0"/>
                        <a:ea typeface="Cambria Math" panose="02040503050406030204" pitchFamily="18" charset="0"/>
                        <a:cs typeface="Times New Roman" panose="02020503050405090304" pitchFamily="18" charset="0"/>
                      </a:rPr>
                      <m:t>∈</m:t>
                    </m:r>
                    <m:r>
                      <a:rPr lang="zh-CN" altLang="zh-CN" sz="2000" i="1" dirty="0" smtClean="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r>
                      <m:rPr>
                        <m:nor/>
                      </m:rPr>
                      <a:rPr lang="zh-CN" altLang="en-US" sz="2000" dirty="0">
                        <a:solidFill>
                          <a:srgbClr val="000000"/>
                        </a:solidFill>
                        <a:latin typeface="DejaVu Math TeX Gyre" panose="02000503000000000000" charset="0"/>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，计算</a:t>
                </a:r>
                <a:r>
                  <a:rPr lang="zh-CN" altLang="en-US"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latin typeface="+mn-lt"/>
                    <a:ea typeface="+mn-ea"/>
                    <a:cs typeface="Times New Roman" panose="02020503050405090304" pitchFamily="18" charset="0"/>
                  </a:rPr>
                  <a:t>C</a:t>
                </a:r>
                <a:r>
                  <a:rPr lang="zh-CN" altLang="en-US" sz="2000" i="1" dirty="0">
                    <a:solidFill>
                      <a:srgbClr val="000000"/>
                    </a:solidFill>
                    <a:latin typeface="+mn-lt"/>
                    <a:ea typeface="+mn-ea"/>
                    <a:cs typeface="Times New Roman" panose="02020503050405090304" pitchFamily="18" charset="0"/>
                  </a:rPr>
                  <a:t> </a:t>
                </a:r>
                <a:r>
                  <a:rPr lang="en-US" altLang="zh-CN" sz="2000" dirty="0">
                    <a:solidFill>
                      <a:srgbClr val="000000"/>
                    </a:solidFill>
                    <a:latin typeface="+mn-lt"/>
                    <a:ea typeface="+mn-ea"/>
                    <a:cs typeface="Times New Roman" panose="02020503050405090304" pitchFamily="18" charset="0"/>
                  </a:rPr>
                  <a:t>=</a:t>
                </a:r>
                <a:r>
                  <a:rPr lang="zh-CN" altLang="en-US" sz="2000" dirty="0">
                    <a:solidFill>
                      <a:srgbClr val="000000"/>
                    </a:solidFill>
                    <a:latin typeface="+mn-lt"/>
                    <a:ea typeface="+mn-ea"/>
                    <a:cs typeface="Times New Roman" panose="02020503050405090304" pitchFamily="18" charset="0"/>
                  </a:rPr>
                  <a:t> </a:t>
                </a: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，将</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latin typeface="+mn-lt"/>
                    <a:ea typeface="+mn-ea"/>
                    <a:cs typeface="Times New Roman" panose="02020503050405090304" pitchFamily="18" charset="0"/>
                  </a:rPr>
                  <a:t>给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en-US" altLang="zh-CN" sz="2000" dirty="0">
                  <a:latin typeface="+mn-lt"/>
                  <a:ea typeface="+mn-ea"/>
                  <a:cs typeface="Times New Roman" panose="02020503050405090304" pitchFamily="18" charset="0"/>
                </a:endParaRPr>
              </a:p>
              <a:p>
                <a:pPr marL="342900" lvl="0" indent="-342900" algn="just">
                  <a:lnSpc>
                    <a:spcPct val="130000"/>
                  </a:lnSpc>
                  <a:spcBef>
                    <a:spcPts val="300"/>
                  </a:spcBef>
                  <a:spcAft>
                    <a:spcPts val="300"/>
                  </a:spcAft>
                  <a:buFont typeface="Wingdings" panose="05000000000000000000" pitchFamily="2" charset="2"/>
                  <a:buChar char=""/>
                </a:pPr>
                <a:r>
                  <a:rPr lang="zh-CN" altLang="en-US" sz="2000" kern="0" dirty="0">
                    <a:solidFill>
                      <a:srgbClr val="000000"/>
                    </a:solidFill>
                    <a:latin typeface="+mn-lt"/>
                    <a:ea typeface="+mn-ea"/>
                    <a:cs typeface="Times New Roman" panose="02020503050405090304" pitchFamily="18" charset="0"/>
                  </a:rPr>
                  <a:t>响应阶段。</a:t>
                </a:r>
                <a14:m>
                  <m:oMath xmlns:m="http://schemas.openxmlformats.org/officeDocument/2006/math">
                    <m:r>
                      <a:rPr lang="en-US" altLang="zh-CN" sz="2000" i="1" kern="0">
                        <a:solidFill>
                          <a:srgbClr val="000000"/>
                        </a:solidFill>
                        <a:effectLst/>
                        <a:latin typeface="Cambria Math" panose="02040503050406030204" pitchFamily="18" charset="0"/>
                        <a:ea typeface="+mn-ea"/>
                        <a:cs typeface="宋体" pitchFamily="2" charset="-122"/>
                      </a:rPr>
                      <m:t>𝒜</m:t>
                    </m:r>
                    <m:r>
                      <a:rPr lang="zh-CN" altLang="en-US" sz="2000" b="0" i="1" kern="0" smtClean="0">
                        <a:solidFill>
                          <a:srgbClr val="000000"/>
                        </a:solidFill>
                        <a:effectLst/>
                        <a:latin typeface="Cambria Math" panose="02040503050406030204" pitchFamily="18" charset="0"/>
                        <a:ea typeface="+mn-ea"/>
                        <a:cs typeface="宋体" pitchFamily="2" charset="-122"/>
                      </a:rPr>
                      <m:t> </m:t>
                    </m:r>
                    <m:r>
                      <a:rPr lang="zh-CN" altLang="en-US" sz="2000" i="1" kern="0">
                        <a:solidFill>
                          <a:srgbClr val="000000"/>
                        </a:solidFill>
                        <a:latin typeface="Cambria Math" panose="02040503050406030204" pitchFamily="18" charset="0"/>
                        <a:ea typeface="+mn-ea"/>
                        <a:cs typeface="宋体" pitchFamily="2" charset="-122"/>
                      </a:rPr>
                      <m:t>猜测</m:t>
                    </m:r>
                    <m:r>
                      <a:rPr lang="zh-CN" altLang="en-US" sz="2000" b="0" i="1" kern="0" smtClean="0">
                        <a:solidFill>
                          <a:srgbClr val="000000"/>
                        </a:solidFill>
                        <a:latin typeface="Cambria Math" panose="02040503050406030204" pitchFamily="18" charset="0"/>
                        <a:ea typeface="+mn-ea"/>
                        <a:cs typeface="宋体" pitchFamily="2" charset="-122"/>
                      </a:rPr>
                      <m:t> </m:t>
                    </m:r>
                    <m:r>
                      <a:rPr lang="en-US" altLang="zh-CN" sz="2000" i="1">
                        <a:solidFill>
                          <a:srgbClr val="000000"/>
                        </a:solidFill>
                        <a:latin typeface="Cambria Math" panose="02040503050406030204" pitchFamily="18" charset="0"/>
                        <a:ea typeface="+mn-ea"/>
                        <a:cs typeface="Times New Roman" panose="02020503050405090304" pitchFamily="18" charset="0"/>
                      </a:rPr>
                      <m:t>𝐶</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zh-CN" altLang="en-US" sz="2000" i="1" smtClean="0">
                        <a:solidFill>
                          <a:srgbClr val="000000"/>
                        </a:solidFill>
                        <a:latin typeface="Cambria Math" panose="02040503050406030204" pitchFamily="18" charset="0"/>
                        <a:ea typeface="+mn-ea"/>
                        <a:cs typeface="Times New Roman" panose="02020503050405090304" pitchFamily="18" charset="0"/>
                      </a:rPr>
                      <m:t>是</m:t>
                    </m:r>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oMath>
                </a14:m>
                <a:r>
                  <a:rPr lang="zh-CN" altLang="en-US" sz="2000" kern="0" dirty="0">
                    <a:solidFill>
                      <a:srgbClr val="000000"/>
                    </a:solidFill>
                    <a:latin typeface="+mn-lt"/>
                    <a:ea typeface="+mn-ea"/>
                    <a:cs typeface="宋体" pitchFamily="2" charset="-122"/>
                  </a:rPr>
                  <a:t> 对应的密文还是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kern="0" dirty="0">
                    <a:solidFill>
                      <a:srgbClr val="000000"/>
                    </a:solidFill>
                    <a:latin typeface="+mn-lt"/>
                    <a:ea typeface="+mn-ea"/>
                    <a:cs typeface="宋体" pitchFamily="2" charset="-122"/>
                  </a:rPr>
                  <a:t> 对应的密文，并输出其猜测比特</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zh-CN" altLang="en-US" sz="2000" b="0" i="1" smtClean="0">
                            <a:solidFill>
                              <a:srgbClr val="000000"/>
                            </a:solidFill>
                            <a:effectLst/>
                            <a:latin typeface="Cambria Math" panose="02040503050406030204" pitchFamily="18" charset="0"/>
                            <a:ea typeface="+mn-ea"/>
                          </a:rPr>
                          <m:t> </m:t>
                        </m:r>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0</m:t>
                    </m:r>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1</m:t>
                    </m:r>
                    <m:r>
                      <a:rPr lang="en-US" altLang="zh-CN" sz="2000" i="1" kern="0">
                        <a:solidFill>
                          <a:srgbClr val="000000"/>
                        </a:solidFill>
                        <a:effectLst/>
                        <a:latin typeface="Cambria Math" panose="02040503050406030204" pitchFamily="18" charset="0"/>
                        <a:ea typeface="+mn-ea"/>
                        <a:cs typeface="宋体" pitchFamily="2" charset="-122"/>
                      </a:rPr>
                      <m:t>}</m:t>
                    </m:r>
                  </m:oMath>
                </a14:m>
                <a:r>
                  <a:rPr lang="zh-CN" altLang="zh-CN" sz="2000" kern="0" dirty="0">
                    <a:solidFill>
                      <a:srgbClr val="000000"/>
                    </a:solidFill>
                    <a:effectLst/>
                    <a:latin typeface="+mn-lt"/>
                    <a:ea typeface="+mn-ea"/>
                    <a:cs typeface="宋体" pitchFamily="2" charset="-122"/>
                  </a:rPr>
                  <a:t>。若</a:t>
                </a:r>
                <a:r>
                  <a:rPr lang="zh-CN" altLang="en-US" sz="2000" kern="0" dirty="0">
                    <a:solidFill>
                      <a:srgbClr val="000000"/>
                    </a:solidFill>
                    <a:effectLst/>
                    <a:latin typeface="+mn-lt"/>
                    <a:ea typeface="+mn-ea"/>
                    <a:cs typeface="宋体" pitchFamily="2" charset="-122"/>
                  </a:rPr>
                  <a:t> </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𝑏</m:t>
                    </m:r>
                  </m:oMath>
                </a14:m>
                <a:r>
                  <a:rPr lang="zh-CN" altLang="zh-CN" sz="2000" kern="0" dirty="0">
                    <a:solidFill>
                      <a:srgbClr val="000000"/>
                    </a:solidFill>
                    <a:effectLst/>
                    <a:latin typeface="+mn-lt"/>
                    <a:ea typeface="+mn-ea"/>
                    <a:cs typeface="宋体" pitchFamily="2" charset="-122"/>
                  </a:rPr>
                  <a:t>，</a:t>
                </a:r>
                <a:r>
                  <a:rPr lang="zh-CN" altLang="en-US" sz="2000" kern="0" dirty="0">
                    <a:solidFill>
                      <a:srgbClr val="000000"/>
                    </a:solidFill>
                    <a:effectLst/>
                    <a:latin typeface="+mn-lt"/>
                    <a:ea typeface="+mn-ea"/>
                    <a:cs typeface="宋体" pitchFamily="2" charset="-122"/>
                  </a:rPr>
                  <a:t>则</a:t>
                </a:r>
                <a14:m>
                  <m:oMath xmlns:m="http://schemas.openxmlformats.org/officeDocument/2006/math">
                    <m:r>
                      <a:rPr lang="zh-CN" altLang="en-US" sz="2000" b="0" i="0"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𝒜</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oMath>
                </a14:m>
                <a:r>
                  <a:rPr lang="zh-CN" altLang="en-US" sz="2000" kern="0" dirty="0">
                    <a:solidFill>
                      <a:srgbClr val="000000"/>
                    </a:solidFill>
                    <a:effectLst/>
                    <a:latin typeface="+mn-lt"/>
                    <a:ea typeface="+mn-ea"/>
                    <a:cs typeface="宋体" pitchFamily="2" charset="-122"/>
                  </a:rPr>
                  <a:t>获胜</a:t>
                </a:r>
                <a:r>
                  <a:rPr lang="zh-CN" altLang="en-US" sz="2000" kern="0" dirty="0">
                    <a:solidFill>
                      <a:srgbClr val="000000"/>
                    </a:solidFill>
                    <a:latin typeface="+mn-lt"/>
                    <a:ea typeface="+mn-ea"/>
                    <a:cs typeface="宋体" pitchFamily="2" charset="-122"/>
                  </a:rPr>
                  <a:t>且游戏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1</a:t>
                </a:r>
                <a:r>
                  <a:rPr lang="zh-CN" altLang="zh-CN" sz="2000" kern="0" dirty="0">
                    <a:solidFill>
                      <a:srgbClr val="000000"/>
                    </a:solidFill>
                    <a:effectLst/>
                    <a:latin typeface="+mn-lt"/>
                    <a:ea typeface="+mn-ea"/>
                    <a:cs typeface="宋体" pitchFamily="2" charset="-122"/>
                  </a:rPr>
                  <a:t>；否则，</a:t>
                </a:r>
                <a:r>
                  <a:rPr lang="zh-CN" altLang="en-US" sz="2000" kern="0" dirty="0">
                    <a:solidFill>
                      <a:srgbClr val="000000"/>
                    </a:solidFill>
                    <a:effectLst/>
                    <a:latin typeface="+mn-lt"/>
                    <a:ea typeface="+mn-ea"/>
                    <a:cs typeface="宋体" pitchFamily="2" charset="-122"/>
                  </a:rPr>
                  <a:t>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0</a:t>
                </a:r>
                <a:r>
                  <a:rPr lang="zh-CN" altLang="zh-CN" sz="2000" kern="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4" name="TextBox 11"/>
              <p:cNvSpPr txBox="1">
                <a:spLocks noRot="1" noChangeAspect="1" noMove="1" noResize="1" noEditPoints="1" noAdjustHandles="1" noChangeArrowheads="1" noChangeShapeType="1" noTextEdit="1"/>
              </p:cNvSpPr>
              <p:nvPr/>
            </p:nvSpPr>
            <p:spPr>
              <a:xfrm>
                <a:off x="1066801" y="1635565"/>
                <a:ext cx="9802871" cy="3986091"/>
              </a:xfrm>
              <a:prstGeom prst="rect">
                <a:avLst/>
              </a:prstGeom>
              <a:blipFill>
                <a:blip r:embed="rId2"/>
                <a:stretch>
                  <a:fillRect l="-933" r="-3794" b="-1835"/>
                </a:stretch>
              </a:blipFill>
            </p:spPr>
            <p:txBody>
              <a:bodyPr/>
              <a:lstStyle/>
              <a:p>
                <a:r>
                  <a:rPr lang="zh-CN" altLang="en-US">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5C72D-5E13-B681-9993-A8FF3366A3D7}"/>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67C30364-DAC9-BDA6-D64D-0614D59347EA}"/>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885EE1E3-E871-AEF3-E277-0CD48B46DC22}"/>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FA626610-D9BD-8D22-CC95-5EFABDC80C99}"/>
              </a:ext>
            </a:extLst>
          </p:cNvPr>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a:extLst>
              <a:ext uri="{FF2B5EF4-FFF2-40B4-BE49-F238E27FC236}">
                <a16:creationId xmlns:a16="http://schemas.microsoft.com/office/drawing/2014/main" id="{303CB66E-AC90-5171-7FEE-BDB01AE02D53}"/>
              </a:ext>
            </a:extLst>
          </p:cNvPr>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7" name="Rounded Rectangle 9">
            <a:extLst>
              <a:ext uri="{FF2B5EF4-FFF2-40B4-BE49-F238E27FC236}">
                <a16:creationId xmlns:a16="http://schemas.microsoft.com/office/drawing/2014/main" id="{CD936366-CD33-5AEA-D775-14B7CC3987C6}"/>
              </a:ext>
            </a:extLst>
          </p:cNvPr>
          <p:cNvSpPr/>
          <p:nvPr/>
        </p:nvSpPr>
        <p:spPr>
          <a:xfrm>
            <a:off x="1211179" y="2023940"/>
            <a:ext cx="9769642" cy="2537783"/>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5">
                <a:extLst>
                  <a:ext uri="{FF2B5EF4-FFF2-40B4-BE49-F238E27FC236}">
                    <a16:creationId xmlns:a16="http://schemas.microsoft.com/office/drawing/2014/main" id="{20AA7C20-A788-D1C0-2D76-27233970E43A}"/>
                  </a:ext>
                </a:extLst>
              </p:cNvPr>
              <p:cNvSpPr txBox="1"/>
              <p:nvPr/>
            </p:nvSpPr>
            <p:spPr>
              <a:xfrm>
                <a:off x="1441232" y="2158809"/>
                <a:ext cx="9460342" cy="106139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.18</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IND-CCA1</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a:lnSpc>
                    <a:spcPct val="130000"/>
                  </a:lnSpc>
                </a:pPr>
                <a:r>
                  <a:rPr lang="zh-CN" altLang="en-US" sz="2000" dirty="0"/>
                  <a:t>假设 </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b="0" i="1" dirty="0" smtClean="0">
                            <a:latin typeface="Cambria Math" panose="02040503050406030204" pitchFamily="18" charset="0"/>
                          </a:rPr>
                        </m:ctrlPr>
                      </m:dPr>
                      <m:e>
                        <m:sSubSup>
                          <m:sSubSupPr>
                            <m:ctrlPr>
                              <a:rPr lang="en-US" altLang="zh-CN" sz="2000" b="0" i="1" dirty="0" smtClean="0">
                                <a:latin typeface="Cambria Math" panose="02040503050406030204" pitchFamily="18" charset="0"/>
                              </a:rPr>
                            </m:ctrlPr>
                          </m:sSubSupPr>
                          <m:e>
                            <m:r>
                              <m:rPr>
                                <m:sty m:val="p"/>
                              </m:rPr>
                              <a:rPr lang="en-US" altLang="zh-CN" sz="2000" b="0" i="0" dirty="0" smtClean="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b="0" i="0" dirty="0" smtClean="0">
                                <a:latin typeface="Cambria Math" panose="02040503050406030204" pitchFamily="18" charset="0"/>
                              </a:rPr>
                              <m:t>C</m:t>
                            </m:r>
                            <m:r>
                              <m:rPr>
                                <m:sty m:val="p"/>
                              </m:rPr>
                              <a:rPr lang="en-US" altLang="zh-CN" sz="2000" i="1" dirty="0">
                                <a:latin typeface="Cambria Math" panose="02040503050406030204" pitchFamily="18" charset="0"/>
                              </a:rPr>
                              <m:t>C</m:t>
                            </m:r>
                            <m:r>
                              <m:rPr>
                                <m:sty m:val="p"/>
                              </m:rPr>
                              <a:rPr lang="en-US" altLang="zh-CN" sz="2000" b="0" i="0" dirty="0" smtClean="0">
                                <a:latin typeface="Cambria Math" panose="02040503050406030204" pitchFamily="18" charset="0"/>
                              </a:rPr>
                              <m:t>A</m:t>
                            </m:r>
                            <m:r>
                              <a:rPr lang="en-US" altLang="zh-CN" sz="2000" b="0" i="0" dirty="0" smtClean="0">
                                <a:latin typeface="Cambria Math" panose="02040503050406030204" pitchFamily="18" charset="0"/>
                              </a:rPr>
                              <m:t>1</m:t>
                            </m:r>
                          </m:sup>
                        </m:sSubSup>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1</m:t>
                        </m:r>
                      </m:e>
                    </m:d>
                  </m:oMath>
                </a14:m>
                <a:r>
                  <a:rPr lang="zh-CN" altLang="en-US" sz="2000" dirty="0"/>
                  <a:t> 为</a:t>
                </a:r>
                <a:r>
                  <a:rPr lang="en-US" altLang="zh-CN" sz="2000" dirty="0"/>
                  <a:t> </a:t>
                </a:r>
                <a14:m>
                  <m:oMath xmlns:m="http://schemas.openxmlformats.org/officeDocument/2006/math">
                    <m:r>
                      <a:rPr lang="zh-CN" altLang="en-US" sz="2000" i="1">
                        <a:latin typeface="Cambria Math" panose="02040503050406030204" pitchFamily="18" charset="0"/>
                      </a:rPr>
                      <m:t>𝒜</m:t>
                    </m:r>
                  </m:oMath>
                </a14:m>
                <a:r>
                  <a:rPr lang="zh-CN" altLang="en-US" sz="2000" dirty="0"/>
                  <a:t> </a:t>
                </a:r>
                <a:r>
                  <a:rPr lang="en-US" altLang="zh-CN" sz="2000" dirty="0"/>
                  <a:t> </a:t>
                </a:r>
                <a:r>
                  <a:rPr lang="zh-CN" altLang="en-US" sz="2000" dirty="0"/>
                  <a:t>赢得上述游戏且游戏输出 </a:t>
                </a:r>
                <a:r>
                  <a:rPr lang="en-US" altLang="zh-CN" sz="2000" dirty="0"/>
                  <a:t>1 </a:t>
                </a:r>
                <a:r>
                  <a:rPr lang="zh-CN" altLang="en-US" sz="2000" dirty="0"/>
                  <a:t>的概率。我们定义 </a:t>
                </a:r>
                <a14:m>
                  <m:oMath xmlns:m="http://schemas.openxmlformats.org/officeDocument/2006/math">
                    <m:r>
                      <a:rPr lang="zh-CN" altLang="en-US" sz="2000" i="1">
                        <a:latin typeface="Cambria Math" panose="02040503050406030204" pitchFamily="18" charset="0"/>
                      </a:rPr>
                      <m:t>𝒜</m:t>
                    </m:r>
                  </m:oMath>
                </a14:m>
                <a:r>
                  <a:rPr lang="zh-CN" altLang="en-US" sz="2000" dirty="0"/>
                  <a:t>  赢得上述游戏的优势为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i="0" dirty="0" smtClean="0">
                            <a:latin typeface="Cambria Math" panose="02040503050406030204" pitchFamily="18" charset="0"/>
                          </a:rPr>
                          <m:t>Adv</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m:t>
                        </m:r>
                        <m:r>
                          <m:rPr>
                            <m:sty m:val="p"/>
                          </m:rPr>
                          <a:rPr lang="en-US" altLang="zh-CN" sz="2000" b="0" i="0" dirty="0" smtClean="0">
                            <a:latin typeface="Cambria Math" panose="02040503050406030204" pitchFamily="18" charset="0"/>
                          </a:rPr>
                          <m:t>C</m:t>
                        </m:r>
                        <m:r>
                          <m:rPr>
                            <m:sty m:val="p"/>
                          </m:rPr>
                          <a:rPr lang="en-US" altLang="zh-CN" sz="2000" i="0" dirty="0">
                            <a:latin typeface="Cambria Math" panose="02040503050406030204" pitchFamily="18" charset="0"/>
                          </a:rPr>
                          <m:t>A</m:t>
                        </m:r>
                        <m:r>
                          <a:rPr lang="en-US" altLang="zh-CN" sz="2000" b="0" i="0" dirty="0" smtClean="0">
                            <a:latin typeface="Cambria Math" panose="02040503050406030204" pitchFamily="18" charset="0"/>
                          </a:rPr>
                          <m:t>1</m:t>
                        </m:r>
                      </m:sup>
                    </m:sSubSup>
                    <m:r>
                      <a:rPr lang="en-US" altLang="zh-CN" sz="2000" i="0" dirty="0">
                        <a:latin typeface="Cambria Math" panose="02040503050406030204" pitchFamily="18" charset="0"/>
                      </a:rPr>
                      <m:t>=</m:t>
                    </m:r>
                  </m:oMath>
                </a14:m>
                <a:r>
                  <a:rPr lang="en-US" altLang="zh-CN" sz="2000" dirty="0"/>
                  <a:t>| </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m:rPr>
                                <m:sty m:val="p"/>
                              </m:rPr>
                              <a:rPr lang="en-US" altLang="zh-CN" sz="2000" i="0" dirty="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m:t>
                            </m:r>
                            <m:r>
                              <m:rPr>
                                <m:sty m:val="p"/>
                              </m:rPr>
                              <a:rPr lang="en-US" altLang="zh-CN" sz="2000" b="0" i="0" dirty="0" smtClean="0">
                                <a:latin typeface="Cambria Math" panose="02040503050406030204" pitchFamily="18" charset="0"/>
                              </a:rPr>
                              <m:t>C</m:t>
                            </m:r>
                            <m:r>
                              <m:rPr>
                                <m:sty m:val="p"/>
                              </m:rPr>
                              <a:rPr lang="en-US" altLang="zh-CN" sz="2000" i="0" dirty="0">
                                <a:latin typeface="Cambria Math" panose="02040503050406030204" pitchFamily="18" charset="0"/>
                              </a:rPr>
                              <m:t>A</m:t>
                            </m:r>
                            <m:r>
                              <a:rPr lang="en-US" altLang="zh-CN" sz="2000" b="0" i="0" dirty="0" smtClean="0">
                                <a:latin typeface="Cambria Math" panose="02040503050406030204" pitchFamily="18" charset="0"/>
                              </a:rPr>
                              <m:t>1</m:t>
                            </m:r>
                          </m:sup>
                        </m:sSubSup>
                        <m:r>
                          <a:rPr lang="en-US" altLang="zh-CN" sz="2000" i="1" dirty="0">
                            <a:latin typeface="Cambria Math" panose="02040503050406030204" pitchFamily="18" charset="0"/>
                          </a:rPr>
                          <m:t>=</m:t>
                        </m:r>
                        <m:r>
                          <a:rPr lang="en-US" altLang="zh-CN" sz="2000" i="1" dirty="0">
                            <a:latin typeface="Cambria Math" panose="02040503050406030204" pitchFamily="18" charset="0"/>
                          </a:rPr>
                          <m:t>1</m:t>
                        </m:r>
                      </m:e>
                    </m:d>
                    <m:r>
                      <a:rPr lang="en-US" altLang="zh-CN" sz="2000" i="1" dirty="0">
                        <a:latin typeface="Cambria Math" panose="02040503050406030204" pitchFamily="18" charset="0"/>
                      </a:rPr>
                      <m:t> </m:t>
                    </m:r>
                    <m:r>
                      <a:rPr lang="en-US" altLang="zh-CN" sz="2000" b="0" i="0" dirty="0" smtClean="0">
                        <a:latin typeface="Cambria Math" panose="02040503050406030204" pitchFamily="18" charset="0"/>
                      </a:rPr>
                      <m:t>−</m:t>
                    </m:r>
                  </m:oMath>
                </a14:m>
                <a:r>
                  <a:rPr lang="zh-CN" altLang="zh-CN" sz="2000" dirty="0"/>
                  <a:t> </a:t>
                </a:r>
                <a14:m>
                  <m:oMath xmlns:m="http://schemas.openxmlformats.org/officeDocument/2006/math">
                    <m:f>
                      <m:fPr>
                        <m:ctrlPr>
                          <a:rPr lang="zh-CN"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r>
                      <a:rPr lang="en-US" altLang="zh-CN" sz="2000" i="1">
                        <a:latin typeface="Cambria Math" panose="02040503050406030204" pitchFamily="18" charset="0"/>
                      </a:rPr>
                      <m:t> </m:t>
                    </m:r>
                  </m:oMath>
                </a14:m>
                <a:r>
                  <a:rPr lang="en-US" altLang="zh-CN" sz="2000" dirty="0"/>
                  <a:t>|</a:t>
                </a:r>
                <a:r>
                  <a:rPr lang="zh-CN" altLang="en-US" sz="2000" dirty="0"/>
                  <a:t>。若在任意概率多项式时间内，敌手 </a:t>
                </a:r>
                <a14:m>
                  <m:oMath xmlns:m="http://schemas.openxmlformats.org/officeDocument/2006/math">
                    <m:r>
                      <a:rPr lang="zh-CN" altLang="en-US" sz="2000" i="1">
                        <a:latin typeface="Cambria Math" panose="02040503050406030204" pitchFamily="18" charset="0"/>
                      </a:rPr>
                      <m:t>𝒜</m:t>
                    </m:r>
                    <m:r>
                      <a:rPr lang="zh-CN" altLang="en-US" sz="2000" b="0" i="1" smtClean="0">
                        <a:latin typeface="Cambria Math" panose="02040503050406030204" pitchFamily="18" charset="0"/>
                      </a:rPr>
                      <m:t> </m:t>
                    </m:r>
                  </m:oMath>
                </a14:m>
                <a:r>
                  <a:rPr lang="zh-CN" altLang="en-US" sz="2000" dirty="0"/>
                  <a:t>赢得上述游戏的优势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m:t>
                        </m:r>
                        <m:r>
                          <m:rPr>
                            <m:sty m:val="p"/>
                          </m:rPr>
                          <a:rPr lang="en-US" altLang="zh-CN" sz="2000" b="0" i="0" dirty="0" smtClean="0">
                            <a:latin typeface="Cambria Math" panose="02040503050406030204" pitchFamily="18" charset="0"/>
                          </a:rPr>
                          <m:t>C</m:t>
                        </m:r>
                        <m:r>
                          <m:rPr>
                            <m:sty m:val="p"/>
                          </m:rPr>
                          <a:rPr lang="en-US" altLang="zh-CN" sz="2000" dirty="0">
                            <a:latin typeface="Cambria Math" panose="02040503050406030204" pitchFamily="18" charset="0"/>
                          </a:rPr>
                          <m:t>A</m:t>
                        </m:r>
                        <m:r>
                          <a:rPr lang="en-US" altLang="zh-CN" sz="2000" b="0" i="0" dirty="0" smtClean="0">
                            <a:latin typeface="Cambria Math" panose="02040503050406030204" pitchFamily="18" charset="0"/>
                          </a:rPr>
                          <m:t>1</m:t>
                        </m:r>
                      </m:sup>
                    </m:sSubSup>
                  </m:oMath>
                </a14:m>
                <a:r>
                  <a:rPr lang="zh-CN" altLang="en-US" sz="2000" dirty="0"/>
                  <a:t> 是可忽略的，则称公钥加密方案 </a:t>
                </a:r>
                <a14:m>
                  <m:oMath xmlns:m="http://schemas.openxmlformats.org/officeDocument/2006/math">
                    <m:r>
                      <m:rPr>
                        <m:sty m:val="p"/>
                      </m:rPr>
                      <a:rPr lang="en-US" altLang="zh-CN" sz="2000">
                        <a:solidFill>
                          <a:srgbClr val="000000"/>
                        </a:solidFill>
                        <a:latin typeface="Cambria Math" panose="02040503050406030204" pitchFamily="18" charset="0"/>
                        <a:cs typeface="Times New Roman" panose="02020503050405090304" pitchFamily="18" charset="0"/>
                      </a:rPr>
                      <m:t>PKE</m:t>
                    </m:r>
                    <m:r>
                      <m:rPr>
                        <m:nor/>
                      </m:rPr>
                      <a:rPr lang="en-US" altLang="zh-CN" sz="2000">
                        <a:solidFill>
                          <a:srgbClr val="000000"/>
                        </a:solidFill>
                        <a:latin typeface="DejaVu Math TeX Gyre" panose="02000503000000000000" charset="0"/>
                        <a:cs typeface="Times New Roman" panose="02020503050405090304" pitchFamily="18" charset="0"/>
                      </a:rPr>
                      <m:t>=(</m:t>
                    </m:r>
                    <m:r>
                      <m:rPr>
                        <m:nor/>
                      </m:rPr>
                      <a:rPr lang="en-US" altLang="zh-CN" sz="2000">
                        <a:solidFill>
                          <a:srgbClr val="000000"/>
                        </a:solidFill>
                        <a:latin typeface="DejaVu Math TeX Gyre" panose="02000503000000000000" charset="0"/>
                        <a:cs typeface="Times New Roman" panose="02020503050405090304" pitchFamily="18" charset="0"/>
                      </a:rPr>
                      <m:t>Gen</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Enc</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Dec</m:t>
                    </m:r>
                    <m:r>
                      <m:rPr>
                        <m:nor/>
                      </m:rPr>
                      <a:rPr lang="en-US" altLang="zh-CN" sz="2000">
                        <a:solidFill>
                          <a:srgbClr val="000000"/>
                        </a:solidFill>
                        <a:latin typeface="DejaVu Math TeX Gyre" panose="02000503000000000000" charset="0"/>
                        <a:cs typeface="Times New Roman" panose="02020503050405090304" pitchFamily="18" charset="0"/>
                      </a:rPr>
                      <m:t>)</m:t>
                    </m:r>
                  </m:oMath>
                </a14:m>
                <a:r>
                  <a:rPr lang="zh-CN" altLang="en-US" sz="2000" dirty="0"/>
                  <a:t> 是 </a:t>
                </a:r>
                <a:r>
                  <a:rPr lang="en-GB" altLang="zh-CN" sz="2000" dirty="0"/>
                  <a:t>IND-CCA1 </a:t>
                </a:r>
                <a:r>
                  <a:rPr lang="zh-CN" altLang="en-US" sz="2000" dirty="0"/>
                  <a:t>安全的。</a:t>
                </a:r>
                <a:endParaRPr lang="zh-CN" altLang="en-US" sz="2000" dirty="0">
                  <a:latin typeface="+mn-lt"/>
                  <a:ea typeface="+mn-ea"/>
                  <a:cs typeface="Times New Roman" panose="02020503050405090304" pitchFamily="18" charset="0"/>
                </a:endParaRPr>
              </a:p>
              <a:p>
                <a:pPr algn="just">
                  <a:lnSpc>
                    <a:spcPct val="130000"/>
                  </a:lnSpc>
                  <a:spcAft>
                    <a:spcPts val="600"/>
                  </a:spcAft>
                  <a:buClr>
                    <a:srgbClr val="C00000"/>
                  </a:buClr>
                </a:pPr>
                <a:endParaRPr lang="zh-CN" altLang="zh-CN" dirty="0">
                  <a:latin typeface="+mn-lt"/>
                </a:endParaRPr>
              </a:p>
              <a:p>
                <a:pPr algn="just">
                  <a:lnSpc>
                    <a:spcPct val="130000"/>
                  </a:lnSpc>
                  <a:spcAft>
                    <a:spcPts val="600"/>
                  </a:spcAft>
                  <a:buClr>
                    <a:srgbClr val="C00000"/>
                  </a:buClr>
                </a:pP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8" name="TextBox 5">
                <a:extLst>
                  <a:ext uri="{FF2B5EF4-FFF2-40B4-BE49-F238E27FC236}">
                    <a16:creationId xmlns:a16="http://schemas.microsoft.com/office/drawing/2014/main" id="{20AA7C20-A788-D1C0-2D76-27233970E43A}"/>
                  </a:ext>
                </a:extLst>
              </p:cNvPr>
              <p:cNvSpPr txBox="1">
                <a:spLocks noRot="1" noChangeAspect="1" noMove="1" noResize="1" noEditPoints="1" noAdjustHandles="1" noChangeArrowheads="1" noChangeShapeType="1" noTextEdit="1"/>
              </p:cNvSpPr>
              <p:nvPr/>
            </p:nvSpPr>
            <p:spPr>
              <a:xfrm>
                <a:off x="1441232" y="2158809"/>
                <a:ext cx="9460342" cy="1061391"/>
              </a:xfrm>
              <a:prstGeom prst="rect">
                <a:avLst/>
              </a:prstGeom>
              <a:blipFill>
                <a:blip r:embed="rId2"/>
                <a:stretch>
                  <a:fillRect l="-1611" t="-7471" b="-1195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37578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3" name="Rounded Rectangle 9"/>
          <p:cNvSpPr/>
          <p:nvPr/>
        </p:nvSpPr>
        <p:spPr>
          <a:xfrm>
            <a:off x="790647" y="1407462"/>
            <a:ext cx="10415909" cy="4818676"/>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TextBox 11"/>
              <p:cNvSpPr txBox="1"/>
              <p:nvPr/>
            </p:nvSpPr>
            <p:spPr>
              <a:xfrm>
                <a:off x="1066799" y="1779943"/>
                <a:ext cx="9892251" cy="4190314"/>
              </a:xfrm>
              <a:prstGeom prst="rect">
                <a:avLst/>
              </a:prstGeom>
              <a:noFill/>
            </p:spPr>
            <p:txBody>
              <a:bodyPr wrap="square" lIns="64008" tIns="32004" rIns="36576">
                <a:spAutoFit/>
              </a:bodyPr>
              <a:lstStyle/>
              <a:p>
                <a:pPr algn="just">
                  <a:spcBef>
                    <a:spcPts val="300"/>
                  </a:spcBef>
                  <a:spcAft>
                    <a:spcPts val="300"/>
                  </a:spcAft>
                </a:pPr>
                <a:r>
                  <a:rPr lang="zh-CN" altLang="en-US" sz="2000" b="1" dirty="0">
                    <a:latin typeface="+mn-lt"/>
                    <a:ea typeface="+mn-ea"/>
                  </a:rPr>
                  <a:t>安全模型 </a:t>
                </a:r>
                <a:r>
                  <a:rPr lang="en-GB" altLang="zh-CN" sz="2000" b="1" dirty="0">
                    <a:latin typeface="+mn-lt"/>
                    <a:ea typeface="+mn-ea"/>
                  </a:rPr>
                  <a:t>IND-CCA2</a:t>
                </a:r>
                <a:r>
                  <a:rPr lang="zh-CN" altLang="en-GB" sz="2000" dirty="0">
                    <a:latin typeface="+mn-lt"/>
                    <a:ea typeface="+mn-ea"/>
                  </a:rPr>
                  <a:t>。</a:t>
                </a:r>
                <a:r>
                  <a:rPr lang="zh-CN" altLang="zh-CN" sz="2000" dirty="0">
                    <a:solidFill>
                      <a:srgbClr val="000000"/>
                    </a:solidFill>
                    <a:effectLst/>
                    <a:latin typeface="+mn-lt"/>
                    <a:ea typeface="+mn-ea"/>
                    <a:cs typeface="Times New Roman" panose="02020503050405090304" pitchFamily="18" charset="0"/>
                  </a:rPr>
                  <a:t>给定一定义在</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rPr>
                      <m:t>ℳ</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zh-CN" altLang="en-US" sz="2000" i="1">
                        <a:latin typeface="Cambria Math" panose="02040503050406030204" pitchFamily="18" charset="0"/>
                        <a:ea typeface="+mn-ea"/>
                      </a:rPr>
                      <m:t>𝒞</m:t>
                    </m:r>
                    <m:r>
                      <a:rPr lang="en-US" altLang="zh-CN" sz="2000" b="0" i="1" smtClean="0">
                        <a:latin typeface="Cambria Math" panose="02040503050406030204" pitchFamily="18" charset="0"/>
                        <a:ea typeface="+mn-ea"/>
                      </a:rPr>
                      <m:t>,</m:t>
                    </m:r>
                    <m:r>
                      <a:rPr lang="zh-CN" altLang="en-US" sz="2000" i="1">
                        <a:latin typeface="Cambria Math" panose="02040503050406030204" pitchFamily="18" charset="0"/>
                        <a:ea typeface="+mn-ea"/>
                      </a:rPr>
                      <m:t>𝒦</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上的公钥加密方案</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latin typeface="+mn-lt"/>
                    <a:ea typeface="+mn-ea"/>
                  </a:rPr>
                  <a:t>假设 </a:t>
                </a:r>
                <a14:m>
                  <m:oMath xmlns:m="http://schemas.openxmlformats.org/officeDocument/2006/math">
                    <m:r>
                      <a:rPr lang="en-US" altLang="zh-CN" sz="2000" i="1" smtClean="0">
                        <a:latin typeface="Cambria Math" panose="02040503050406030204" pitchFamily="18" charset="0"/>
                        <a:ea typeface="+mn-ea"/>
                      </a:rPr>
                      <m:t>ℬ</m:t>
                    </m:r>
                  </m:oMath>
                </a14:m>
                <a:r>
                  <a:rPr lang="zh-CN" altLang="en-US" sz="2000" dirty="0">
                    <a:latin typeface="+mn-lt"/>
                    <a:ea typeface="+mn-ea"/>
                  </a:rPr>
                  <a:t> 是</a:t>
                </a:r>
                <a:r>
                  <a:rPr lang="zh-CN" altLang="en-US" sz="2000" dirty="0">
                    <a:latin typeface="+mn-lt"/>
                  </a:rPr>
                  <a:t>一个挑战者 </a:t>
                </a:r>
                <a:r>
                  <a:rPr lang="zh-CN" altLang="en-US" sz="2000" dirty="0">
                    <a:latin typeface="+mn-lt"/>
                    <a:ea typeface="+mn-ea"/>
                  </a:rPr>
                  <a:t>、</a:t>
                </a:r>
                <a14:m>
                  <m:oMath xmlns:m="http://schemas.openxmlformats.org/officeDocument/2006/math">
                    <m:r>
                      <a:rPr lang="zh-CN" altLang="en-US" sz="2000" i="1" smtClean="0">
                        <a:latin typeface="Cambria Math" panose="02040503050406030204" pitchFamily="18" charset="0"/>
                        <a:ea typeface="+mn-ea"/>
                      </a:rPr>
                      <m:t>𝒜</m:t>
                    </m:r>
                    <m:r>
                      <a:rPr lang="zh-CN" altLang="en-US" sz="2000" b="0" i="0" smtClean="0">
                        <a:latin typeface="Cambria Math" panose="02040503050406030204" pitchFamily="18" charset="0"/>
                        <a:ea typeface="+mn-ea"/>
                      </a:rPr>
                      <m:t> </m:t>
                    </m:r>
                    <m:r>
                      <a:rPr lang="zh-CN" altLang="en-US" sz="2000" i="1">
                        <a:latin typeface="Cambria Math" panose="02040503050406030204" pitchFamily="18" charset="0"/>
                        <a:ea typeface="+mn-ea"/>
                      </a:rPr>
                      <m:t>是</m:t>
                    </m:r>
                    <m:r>
                      <m:rPr>
                        <m:nor/>
                      </m:rPr>
                      <a:rPr lang="zh-CN" altLang="en-US" sz="2000" dirty="0">
                        <a:latin typeface="+mn-lt"/>
                      </a:rPr>
                      <m:t>一个敌手</m:t>
                    </m:r>
                    <m:r>
                      <a:rPr lang="zh-CN" altLang="en-US" sz="2000" b="0" i="0" smtClean="0">
                        <a:latin typeface="Cambria Math" panose="02040503050406030204" pitchFamily="18" charset="0"/>
                        <a:ea typeface="+mn-ea"/>
                      </a:rPr>
                      <m:t>。</m:t>
                    </m:r>
                    <m:r>
                      <a:rPr lang="en-US" altLang="zh-CN" sz="2000" i="1">
                        <a:latin typeface="Cambria Math" panose="02040503050406030204" pitchFamily="18" charset="0"/>
                      </a:rPr>
                      <m:t>ℬ</m:t>
                    </m:r>
                  </m:oMath>
                </a14:m>
                <a:r>
                  <a:rPr lang="en-US" altLang="zh-CN" sz="2000" dirty="0">
                    <a:latin typeface="+mn-lt"/>
                    <a:ea typeface="+mn-ea"/>
                  </a:rPr>
                  <a:t> </a:t>
                </a:r>
                <a:r>
                  <a:rPr lang="zh-CN" altLang="en-US" sz="2000" dirty="0">
                    <a:latin typeface="+mn-lt"/>
                    <a:ea typeface="+mn-ea"/>
                  </a:rPr>
                  <a:t>与</a:t>
                </a:r>
                <a14:m>
                  <m:oMath xmlns:m="http://schemas.openxmlformats.org/officeDocument/2006/math">
                    <m:r>
                      <a:rPr lang="zh-CN" altLang="en-US" sz="2000" i="1">
                        <a:latin typeface="Cambria Math" panose="02040503050406030204" pitchFamily="18" charset="0"/>
                      </a:rPr>
                      <m:t>𝒜</m:t>
                    </m:r>
                  </m:oMath>
                </a14:m>
                <a:r>
                  <a:rPr lang="zh-CN" altLang="en-US" sz="2000" dirty="0">
                    <a:latin typeface="+mn-lt"/>
                    <a:ea typeface="+mn-ea"/>
                  </a:rPr>
                  <a:t> 运行的交互式游戏分为如下 </a:t>
                </a:r>
                <a:r>
                  <a:rPr lang="en-US" altLang="zh-CN" sz="2000" dirty="0">
                    <a:latin typeface="+mn-lt"/>
                    <a:ea typeface="+mn-ea"/>
                  </a:rPr>
                  <a:t>4 </a:t>
                </a:r>
                <a:r>
                  <a:rPr lang="zh-CN" altLang="en-US" sz="2000" dirty="0">
                    <a:latin typeface="+mn-lt"/>
                    <a:ea typeface="+mn-ea"/>
                  </a:rPr>
                  <a:t>个阶段</a:t>
                </a:r>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初始化阶段。</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生成</a:t>
                </a:r>
                <a:r>
                  <a:rPr lang="zh-CN" altLang="en-US" sz="2000" dirty="0">
                    <a:solidFill>
                      <a:srgbClr val="000000"/>
                    </a:solidFill>
                    <a:effectLst/>
                    <a:latin typeface="+mn-lt"/>
                    <a:ea typeface="+mn-ea"/>
                    <a:cs typeface="Times New Roman" panose="02020503050405090304" pitchFamily="18" charset="0"/>
                  </a:rPr>
                  <a:t>公私钥对 </a:t>
                </a:r>
                <a14:m>
                  <m:oMath xmlns:m="http://schemas.openxmlformats.org/officeDocument/2006/math">
                    <m:box>
                      <m:box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boxPr>
                      <m:e>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i="0">
                            <a:solidFill>
                              <a:srgbClr val="000000"/>
                            </a:solidFill>
                            <a:effectLst/>
                            <a:latin typeface="Cambria Math" panose="02040503050406030204" pitchFamily="18" charset="0"/>
                            <a:ea typeface="+mn-ea"/>
                            <a:cs typeface="Times New Roman" panose="02020503050405090304" pitchFamily="18" charset="0"/>
                          </a:rPr>
                          <m:t>sk</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e>
                    </m:box>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并将</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发送给敌手</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zh-CN" altLang="zh-CN" sz="2000" dirty="0">
                  <a:effectLst/>
                  <a:latin typeface="+mn-lt"/>
                  <a:ea typeface="+mn-ea"/>
                  <a:cs typeface="Times New Roman" panose="02020503050405090304" pitchFamily="18" charset="0"/>
                </a:endParaRPr>
              </a:p>
              <a:p>
                <a:pPr marL="342900" lvl="0" indent="-342900" algn="just">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问询阶段</a:t>
                </a:r>
                <a:r>
                  <a:rPr lang="en-US" altLang="zh-CN" sz="2000" dirty="0">
                    <a:solidFill>
                      <a:srgbClr val="000000"/>
                    </a:solidFill>
                    <a:effectLst/>
                    <a:latin typeface="+mn-lt"/>
                    <a:ea typeface="+mn-ea"/>
                    <a:cs typeface="Times New Roman" panose="02020503050405090304" pitchFamily="18" charset="0"/>
                  </a:rPr>
                  <a:t>1</a:t>
                </a:r>
                <a:r>
                  <a:rPr lang="zh-CN" altLang="en-US" sz="2000" dirty="0">
                    <a:solidFill>
                      <a:srgbClr val="000000"/>
                    </a:solidFill>
                    <a:effectLst/>
                    <a:latin typeface="+mn-lt"/>
                    <a:ea typeface="+mn-ea"/>
                    <a:cs typeface="Times New Roman" panose="02020503050405090304" pitchFamily="18" charset="0"/>
                  </a:rPr>
                  <a:t>。</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可以向</a:t>
                </a:r>
                <a14:m>
                  <m:oMath xmlns:m="http://schemas.openxmlformats.org/officeDocument/2006/math">
                    <m:r>
                      <a:rPr lang="zh-CN" altLang="en-US" sz="2000" b="0" i="0" smtClean="0">
                        <a:latin typeface="Cambria Math" panose="02040503050406030204" pitchFamily="18" charset="0"/>
                        <a:ea typeface="+mn-ea"/>
                      </a:rPr>
                      <m:t> </m:t>
                    </m:r>
                    <m:r>
                      <a:rPr lang="en-US" altLang="zh-CN" sz="2000" i="1">
                        <a:latin typeface="Cambria Math" panose="02040503050406030204" pitchFamily="18" charset="0"/>
                        <a:ea typeface="+mn-ea"/>
                      </a:rPr>
                      <m:t>ℬ</m:t>
                    </m:r>
                    <m:r>
                      <a:rPr lang="zh-CN" altLang="en-US" sz="2000" b="0" i="1" smtClean="0">
                        <a:latin typeface="Cambria Math" panose="02040503050406030204" pitchFamily="18" charset="0"/>
                        <a:ea typeface="+mn-ea"/>
                      </a:rPr>
                      <m:t> </m:t>
                    </m:r>
                  </m:oMath>
                </a14:m>
                <a:r>
                  <a:rPr lang="zh-CN" altLang="en-US" sz="2000" dirty="0">
                    <a:latin typeface="+mn-lt"/>
                    <a:ea typeface="+mn-ea"/>
                  </a:rPr>
                  <a:t>发起解密预言机问询，即 </a:t>
                </a:r>
                <a14:m>
                  <m:oMath xmlns:m="http://schemas.openxmlformats.org/officeDocument/2006/math">
                    <m:r>
                      <a:rPr lang="en-US" altLang="zh-CN" sz="2000" i="1">
                        <a:solidFill>
                          <a:srgbClr val="000000"/>
                        </a:solidFill>
                        <a:latin typeface="Cambria Math" panose="02040503050406030204" pitchFamily="18" charset="0"/>
                        <a:ea typeface="+mn-ea"/>
                        <a:cs typeface="Times New Roman" panose="02020503050405090304" pitchFamily="18" charset="0"/>
                      </a:rPr>
                      <m:t>𝒜</m:t>
                    </m:r>
                  </m:oMath>
                </a14:m>
                <a:r>
                  <a:rPr lang="zh-CN" altLang="en-US" sz="2000" dirty="0">
                    <a:latin typeface="+mn-lt"/>
                    <a:ea typeface="+mn-ea"/>
                  </a:rPr>
                  <a:t> 向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询问任意</a:t>
                </a:r>
                <a:r>
                  <a:rPr lang="zh-CN" altLang="en-US" sz="2000" dirty="0">
                    <a:latin typeface="+mn-lt"/>
                  </a:rPr>
                  <a:t>密文</a:t>
                </a:r>
                <a:r>
                  <a:rPr lang="zh-CN" altLang="en-US" sz="2000" dirty="0">
                    <a:latin typeface="+mn-lt"/>
                    <a:ea typeface="+mn-ea"/>
                  </a:rPr>
                  <a:t>对应的明文。</a:t>
                </a:r>
                <a:r>
                  <a:rPr lang="en-US" altLang="zh-CN" sz="2000" dirty="0">
                    <a:latin typeface="+mn-lt"/>
                    <a:ea typeface="+mn-ea"/>
                  </a:rPr>
                  <a:t>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latin typeface="+mn-lt"/>
                    <a:ea typeface="+mn-ea"/>
                  </a:rPr>
                  <a:t> 需要返回正确的解密结果。</a:t>
                </a:r>
                <a:endParaRPr lang="en-US" altLang="zh-CN" sz="2000" dirty="0">
                  <a:solidFill>
                    <a:srgbClr val="000000"/>
                  </a:solidFill>
                  <a:effectLst/>
                  <a:latin typeface="+mn-lt"/>
                  <a:ea typeface="+mn-ea"/>
                  <a:cs typeface="Times New Roman" panose="02020503050405090304" pitchFamily="18" charset="0"/>
                </a:endParaRPr>
              </a:p>
              <a:p>
                <a:pPr marL="342900" lvl="0" indent="-342900" algn="just">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挑战阶段。</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选择</a:t>
                </a:r>
                <a:r>
                  <a:rPr lang="zh-CN" altLang="en-US" sz="2000" dirty="0">
                    <a:solidFill>
                      <a:srgbClr val="000000"/>
                    </a:solidFill>
                    <a:effectLst/>
                    <a:latin typeface="+mn-lt"/>
                    <a:ea typeface="+mn-ea"/>
                    <a:cs typeface="Times New Roman" panose="02020503050405090304" pitchFamily="18" charset="0"/>
                  </a:rPr>
                  <a:t>两个</a:t>
                </a:r>
                <a:r>
                  <a:rPr lang="zh-CN" altLang="zh-CN" sz="2000" dirty="0">
                    <a:solidFill>
                      <a:srgbClr val="000000"/>
                    </a:solidFill>
                    <a:effectLst/>
                    <a:latin typeface="+mn-lt"/>
                    <a:ea typeface="+mn-ea"/>
                    <a:cs typeface="Times New Roman" panose="02020503050405090304" pitchFamily="18" charset="0"/>
                  </a:rPr>
                  <a:t>等长的</a:t>
                </a:r>
                <a:r>
                  <a:rPr lang="zh-CN" altLang="en-US" sz="2000" dirty="0">
                    <a:solidFill>
                      <a:srgbClr val="000000"/>
                    </a:solidFill>
                    <a:effectLst/>
                    <a:latin typeface="+mn-lt"/>
                    <a:ea typeface="+mn-ea"/>
                    <a:cs typeface="Times New Roman" panose="02020503050405090304" pitchFamily="18" charset="0"/>
                  </a:rPr>
                  <a:t>明文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a:rPr lang="en-US" altLang="zh-CN" sz="2000" i="1">
                        <a:solidFill>
                          <a:srgbClr val="000000"/>
                        </a:solidFill>
                        <a:effectLst/>
                        <a:latin typeface="Cambria Math" panose="02040503050406030204" pitchFamily="18" charset="0"/>
                        <a:ea typeface="+mn-ea"/>
                        <a:cs typeface="Times New Roman" panose="02020503050405090304" pitchFamily="18" charset="0"/>
                      </a:rPr>
                      <m:t>ℳ</m:t>
                    </m:r>
                  </m:oMath>
                </a14:m>
                <a:r>
                  <a:rPr lang="zh-CN" altLang="zh-CN" sz="2000" dirty="0">
                    <a:solidFill>
                      <a:srgbClr val="000000"/>
                    </a:solidFill>
                    <a:effectLst/>
                    <a:latin typeface="+mn-lt"/>
                    <a:ea typeface="+mn-ea"/>
                    <a:cs typeface="Times New Roman" panose="02020503050405090304" pitchFamily="18" charset="0"/>
                  </a:rPr>
                  <a:t>，</a:t>
                </a:r>
                <a:r>
                  <a:rPr lang="zh-CN" altLang="en-US" sz="2000" dirty="0">
                    <a:solidFill>
                      <a:srgbClr val="000000"/>
                    </a:solidFill>
                    <a:effectLst/>
                    <a:latin typeface="+mn-lt"/>
                    <a:ea typeface="+mn-ea"/>
                    <a:cs typeface="Times New Roman" panose="02020503050405090304" pitchFamily="18" charset="0"/>
                  </a:rPr>
                  <a:t>并</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0</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给挑战者</a:t>
                </a:r>
                <a14:m>
                  <m:oMath xmlns:m="http://schemas.openxmlformats.org/officeDocument/2006/math">
                    <m:r>
                      <a:rPr lang="en-US" altLang="zh-CN" sz="2000" i="1">
                        <a:latin typeface="Cambria Math" panose="02040503050406030204" pitchFamily="18" charset="0"/>
                        <a:ea typeface="+mn-ea"/>
                      </a:rPr>
                      <m:t>ℬ</m:t>
                    </m:r>
                    <m:r>
                      <a:rPr lang="zh-CN" altLang="en-US" sz="2000" b="0" i="0" smtClean="0">
                        <a:latin typeface="Cambria Math" panose="02040503050406030204" pitchFamily="18" charset="0"/>
                        <a:ea typeface="+mn-ea"/>
                      </a:rPr>
                      <m:t>，</m:t>
                    </m:r>
                  </m:oMath>
                </a14:m>
                <a:r>
                  <a:rPr lang="zh-CN" altLang="en-US" sz="2000" dirty="0">
                    <a:solidFill>
                      <a:srgbClr val="000000"/>
                    </a:solidFill>
                    <a:effectLst/>
                    <a:latin typeface="+mn-lt"/>
                    <a:ea typeface="+mn-ea"/>
                    <a:cs typeface="Times New Roman" panose="02020503050405090304" pitchFamily="18" charset="0"/>
                  </a:rPr>
                  <a:t>其中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sSub>
                      <m:sSubPr>
                        <m:ctrlPr>
                          <a:rPr lang="zh-CN" altLang="zh-CN" sz="2000" i="1" smtClean="0">
                            <a:solidFill>
                              <a:srgbClr val="000000"/>
                            </a:solidFill>
                            <a:latin typeface="Cambria Math" panose="02040503050406030204" pitchFamily="18" charset="0"/>
                            <a:ea typeface="+mn-ea"/>
                            <a:cs typeface="Times New Roman" panose="02020503050405090304" pitchFamily="18" charset="0"/>
                          </a:rPr>
                        </m:ctrlPr>
                      </m:sSubPr>
                      <m:e>
                        <m:r>
                          <a:rPr lang="zh-CN" altLang="en-US" sz="2000" i="1" smtClean="0">
                            <a:solidFill>
                              <a:srgbClr val="000000"/>
                            </a:solidFill>
                            <a:latin typeface="Cambria Math" panose="02040503050406030204" pitchFamily="18" charset="0"/>
                            <a:ea typeface="+mn-ea"/>
                            <a:cs typeface="Times New Roman" panose="02020503050405090304" pitchFamily="18" charset="0"/>
                          </a:rPr>
                          <m:t>≠</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dirty="0">
                    <a:effectLst/>
                    <a:latin typeface="+mn-lt"/>
                    <a:ea typeface="+mn-ea"/>
                    <a:cs typeface="Times New Roman" panose="02020503050405090304" pitchFamily="18" charset="0"/>
                  </a:rPr>
                  <a:t>。</a:t>
                </a:r>
                <a14:m>
                  <m:oMath xmlns:m="http://schemas.openxmlformats.org/officeDocument/2006/math">
                    <m:r>
                      <a:rPr lang="en-US" altLang="zh-CN" sz="2000" i="1">
                        <a:latin typeface="Cambria Math" panose="02040503050406030204" pitchFamily="18" charset="0"/>
                        <a:ea typeface="+mn-ea"/>
                      </a:rPr>
                      <m:t>ℬ</m:t>
                    </m:r>
                  </m:oMath>
                </a14:m>
                <a:r>
                  <a:rPr lang="zh-CN" altLang="zh-CN" sz="2000" dirty="0">
                    <a:solidFill>
                      <a:srgbClr val="000000"/>
                    </a:solidFill>
                    <a:effectLst/>
                    <a:latin typeface="+mn-lt"/>
                    <a:ea typeface="+mn-ea"/>
                    <a:cs typeface="Times New Roman" panose="02020503050405090304" pitchFamily="18" charset="0"/>
                  </a:rPr>
                  <a:t>随机选择一比特</a:t>
                </a:r>
                <a:r>
                  <a:rPr lang="zh-CN" altLang="en-US" sz="2000" dirty="0">
                    <a:solidFill>
                      <a:srgbClr val="000000"/>
                    </a:solidFill>
                    <a:effectLst/>
                    <a:latin typeface="+mn-lt"/>
                    <a:ea typeface="+mn-ea"/>
                    <a:cs typeface="Times New Roman" panose="02020503050405090304" pitchFamily="18" charset="0"/>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r>
                      <a:rPr lang="en-US" altLang="zh-CN" sz="2000" i="1" smtClean="0">
                        <a:solidFill>
                          <a:srgbClr val="000000"/>
                        </a:solidFill>
                        <a:effectLst/>
                        <a:latin typeface="Cambria Math" panose="02040503050406030204" pitchFamily="18" charset="0"/>
                        <a:ea typeface="Cambria Math" panose="02040503050406030204" pitchFamily="18" charset="0"/>
                        <a:cs typeface="Times New Roman" panose="02020503050405090304" pitchFamily="18" charset="0"/>
                      </a:rPr>
                      <m:t>∈</m:t>
                    </m:r>
                    <m:r>
                      <a:rPr lang="zh-CN" altLang="zh-CN" sz="2000" i="1" dirty="0" smtClean="0">
                        <a:solidFill>
                          <a:srgbClr val="000000"/>
                        </a:solidFill>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0</m:t>
                    </m:r>
                    <m:r>
                      <a:rPr lang="en-US" altLang="zh-CN" sz="2000" i="1">
                        <a:solidFill>
                          <a:srgbClr val="000000"/>
                        </a:solidFill>
                        <a:latin typeface="Cambria Math" panose="02040503050406030204" pitchFamily="18" charset="0"/>
                        <a:cs typeface="Times New Roman" panose="02020503050405090304" pitchFamily="18" charset="0"/>
                      </a:rPr>
                      <m:t>,</m:t>
                    </m:r>
                    <m:r>
                      <a:rPr lang="en-US" altLang="zh-CN" sz="2000" i="1">
                        <a:solidFill>
                          <a:srgbClr val="000000"/>
                        </a:solidFill>
                        <a:latin typeface="Cambria Math" panose="02040503050406030204" pitchFamily="18" charset="0"/>
                        <a:cs typeface="Times New Roman" panose="02020503050405090304" pitchFamily="18" charset="0"/>
                      </a:rPr>
                      <m:t>1</m:t>
                    </m:r>
                    <m:r>
                      <a:rPr lang="en-US" altLang="zh-CN" sz="2000" i="1">
                        <a:solidFill>
                          <a:srgbClr val="000000"/>
                        </a:solidFill>
                        <a:latin typeface="Cambria Math" panose="02040503050406030204" pitchFamily="18" charset="0"/>
                        <a:cs typeface="Times New Roman" panose="02020503050405090304" pitchFamily="18" charset="0"/>
                      </a:rPr>
                      <m:t>}</m:t>
                    </m:r>
                    <m:r>
                      <m:rPr>
                        <m:nor/>
                      </m:rPr>
                      <a:rPr lang="zh-CN" altLang="en-US" sz="2000" dirty="0">
                        <a:solidFill>
                          <a:srgbClr val="000000"/>
                        </a:solidFill>
                        <a:latin typeface="+mn-lt"/>
                        <a:cs typeface="Times New Roman" panose="02020503050405090304" pitchFamily="18" charset="0"/>
                      </a:rPr>
                      <m:t> </m:t>
                    </m:r>
                  </m:oMath>
                </a14:m>
                <a:r>
                  <a:rPr lang="zh-CN" altLang="zh-CN" sz="2000" dirty="0">
                    <a:solidFill>
                      <a:srgbClr val="000000"/>
                    </a:solidFill>
                    <a:effectLst/>
                    <a:latin typeface="+mn-lt"/>
                    <a:ea typeface="+mn-ea"/>
                    <a:cs typeface="Times New Roman" panose="02020503050405090304" pitchFamily="18" charset="0"/>
                  </a:rPr>
                  <a:t>，计算</a:t>
                </a:r>
                <a:r>
                  <a:rPr lang="zh-CN" altLang="en-US" sz="2000" dirty="0">
                    <a:solidFill>
                      <a:srgbClr val="000000"/>
                    </a:solidFill>
                    <a:effectLst/>
                    <a:latin typeface="+mn-lt"/>
                    <a:ea typeface="+mn-ea"/>
                    <a:cs typeface="Times New Roman" panose="02020503050405090304" pitchFamily="18" charset="0"/>
                  </a:rPr>
                  <a:t> </a:t>
                </a:r>
                <a:r>
                  <a:rPr lang="en-US" altLang="zh-CN" sz="2000" i="1" dirty="0">
                    <a:solidFill>
                      <a:srgbClr val="000000"/>
                    </a:solidFill>
                    <a:latin typeface="+mn-lt"/>
                    <a:ea typeface="+mn-ea"/>
                    <a:cs typeface="Times New Roman" panose="02020503050405090304" pitchFamily="18" charset="0"/>
                  </a:rPr>
                  <a:t>C</a:t>
                </a:r>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effectLst/>
                            <a:latin typeface="Cambria Math" panose="02040503050406030204" pitchFamily="18" charset="0"/>
                            <a:ea typeface="+mn-ea"/>
                            <a:cs typeface="Times New Roman" panose="02020503050405090304" pitchFamily="18" charset="0"/>
                          </a:rPr>
                          <m:t>𝑏</m:t>
                        </m:r>
                      </m:sub>
                    </m:sSub>
                    <m:r>
                      <a:rPr lang="en-US" altLang="zh-CN" sz="2000" i="1">
                        <a:solidFill>
                          <a:srgbClr val="000000"/>
                        </a:solidFill>
                        <a:effectLst/>
                        <a:latin typeface="Cambria Math" panose="02040503050406030204" pitchFamily="18" charset="0"/>
                        <a:ea typeface="+mn-ea"/>
                        <a:cs typeface="Times New Roman" panose="02020503050405090304" pitchFamily="18" charset="0"/>
                      </a:rPr>
                      <m:t>,</m:t>
                    </m:r>
                    <m:r>
                      <m:rPr>
                        <m:sty m:val="p"/>
                      </m:rPr>
                      <a:rPr lang="en-US" altLang="zh-CN" sz="2000" b="0" i="0">
                        <a:solidFill>
                          <a:srgbClr val="000000"/>
                        </a:solidFill>
                        <a:effectLst/>
                        <a:latin typeface="Cambria Math" panose="02040503050406030204" pitchFamily="18" charset="0"/>
                        <a:ea typeface="+mn-ea"/>
                        <a:cs typeface="Times New Roman" panose="02020503050405090304" pitchFamily="18" charset="0"/>
                      </a:rPr>
                      <m:t>pk</m:t>
                    </m:r>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m:t>
                    </m:r>
                  </m:oMath>
                </a14:m>
                <a:r>
                  <a:rPr lang="zh-CN" altLang="zh-CN" sz="2000" dirty="0">
                    <a:solidFill>
                      <a:srgbClr val="000000"/>
                    </a:solidFill>
                    <a:effectLst/>
                    <a:latin typeface="+mn-lt"/>
                    <a:ea typeface="+mn-ea"/>
                    <a:cs typeface="Times New Roman" panose="02020503050405090304" pitchFamily="18" charset="0"/>
                  </a:rPr>
                  <a:t>，将</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Times New Roman" panose="02020503050405090304" pitchFamily="18" charset="0"/>
                      </a:rPr>
                      <m:t> </m:t>
                    </m:r>
                    <m:r>
                      <a:rPr lang="en-US" altLang="zh-CN" sz="2000" i="1">
                        <a:solidFill>
                          <a:srgbClr val="000000"/>
                        </a:solidFill>
                        <a:effectLst/>
                        <a:latin typeface="Cambria Math" panose="02040503050406030204" pitchFamily="18" charset="0"/>
                        <a:ea typeface="+mn-ea"/>
                        <a:cs typeface="Times New Roman" panose="02020503050405090304" pitchFamily="18" charset="0"/>
                      </a:rPr>
                      <m:t>𝐶</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发送</a:t>
                </a:r>
                <a:r>
                  <a:rPr lang="zh-CN" altLang="en-US" sz="2000" dirty="0">
                    <a:solidFill>
                      <a:srgbClr val="000000"/>
                    </a:solidFill>
                    <a:latin typeface="+mn-lt"/>
                    <a:ea typeface="+mn-ea"/>
                    <a:cs typeface="Times New Roman" panose="02020503050405090304" pitchFamily="18" charset="0"/>
                  </a:rPr>
                  <a:t>给 </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zh-CN" sz="2000" dirty="0">
                    <a:solidFill>
                      <a:srgbClr val="000000"/>
                    </a:solidFill>
                    <a:effectLst/>
                    <a:latin typeface="+mn-lt"/>
                    <a:ea typeface="+mn-ea"/>
                    <a:cs typeface="Times New Roman" panose="02020503050405090304" pitchFamily="18" charset="0"/>
                  </a:rPr>
                  <a:t>。</a:t>
                </a:r>
                <a:endParaRPr lang="en-US" altLang="zh-CN" sz="2000" dirty="0">
                  <a:solidFill>
                    <a:srgbClr val="000000"/>
                  </a:solidFill>
                  <a:effectLst/>
                  <a:latin typeface="+mn-lt"/>
                  <a:ea typeface="+mn-ea"/>
                  <a:cs typeface="Times New Roman" panose="02020503050405090304" pitchFamily="18" charset="0"/>
                </a:endParaRPr>
              </a:p>
              <a:p>
                <a:pPr marL="342900" lvl="0" indent="-342900" algn="just">
                  <a:spcBef>
                    <a:spcPts val="300"/>
                  </a:spcBef>
                  <a:spcAft>
                    <a:spcPts val="300"/>
                  </a:spcAft>
                  <a:buFont typeface="Wingdings" panose="05000000000000000000" pitchFamily="2" charset="2"/>
                  <a:buChar char=""/>
                </a:pPr>
                <a:r>
                  <a:rPr lang="zh-CN" altLang="en-US" sz="2000" dirty="0">
                    <a:solidFill>
                      <a:srgbClr val="000000"/>
                    </a:solidFill>
                    <a:effectLst/>
                    <a:latin typeface="+mn-lt"/>
                    <a:ea typeface="+mn-ea"/>
                    <a:cs typeface="Times New Roman" panose="02020503050405090304" pitchFamily="18" charset="0"/>
                  </a:rPr>
                  <a:t>问询阶段</a:t>
                </a:r>
                <a:r>
                  <a:rPr lang="en-US" altLang="zh-CN" sz="2000" dirty="0">
                    <a:solidFill>
                      <a:srgbClr val="000000"/>
                    </a:solidFill>
                    <a:latin typeface="+mn-lt"/>
                    <a:ea typeface="+mn-ea"/>
                    <a:cs typeface="Times New Roman" panose="02020503050405090304" pitchFamily="18" charset="0"/>
                  </a:rPr>
                  <a:t>2</a:t>
                </a:r>
                <a:r>
                  <a:rPr lang="zh-CN" altLang="en-US" sz="2000" dirty="0">
                    <a:solidFill>
                      <a:srgbClr val="000000"/>
                    </a:solidFill>
                    <a:effectLst/>
                    <a:latin typeface="+mn-lt"/>
                    <a:ea typeface="+mn-ea"/>
                    <a:cs typeface="Times New Roman" panose="02020503050405090304" pitchFamily="18" charset="0"/>
                  </a:rPr>
                  <a:t>。</a:t>
                </a:r>
                <a14:m>
                  <m:oMath xmlns:m="http://schemas.openxmlformats.org/officeDocument/2006/math">
                    <m:r>
                      <a:rPr lang="en-US" altLang="zh-CN" sz="2000" i="1">
                        <a:solidFill>
                          <a:srgbClr val="000000"/>
                        </a:solidFill>
                        <a:effectLst/>
                        <a:latin typeface="Cambria Math" panose="02040503050406030204" pitchFamily="18" charset="0"/>
                        <a:ea typeface="+mn-ea"/>
                        <a:cs typeface="Times New Roman" panose="02020503050405090304" pitchFamily="18" charset="0"/>
                      </a:rPr>
                      <m:t>𝒜</m:t>
                    </m:r>
                  </m:oMath>
                </a14:m>
                <a:r>
                  <a:rPr lang="zh-CN" altLang="en-US" sz="2000" dirty="0">
                    <a:solidFill>
                      <a:srgbClr val="000000"/>
                    </a:solidFill>
                    <a:effectLst/>
                    <a:latin typeface="+mn-lt"/>
                    <a:ea typeface="+mn-ea"/>
                    <a:cs typeface="Times New Roman" panose="02020503050405090304" pitchFamily="18" charset="0"/>
                  </a:rPr>
                  <a:t> 继续向</a:t>
                </a:r>
                <a14:m>
                  <m:oMath xmlns:m="http://schemas.openxmlformats.org/officeDocument/2006/math">
                    <m:r>
                      <a:rPr lang="zh-CN" altLang="en-US" sz="2000" b="0" i="0" smtClean="0">
                        <a:latin typeface="Cambria Math" panose="02040503050406030204" pitchFamily="18" charset="0"/>
                        <a:ea typeface="+mn-ea"/>
                      </a:rPr>
                      <m:t> </m:t>
                    </m:r>
                    <m:r>
                      <a:rPr lang="en-US" altLang="zh-CN" sz="2000" i="1">
                        <a:latin typeface="Cambria Math" panose="02040503050406030204" pitchFamily="18" charset="0"/>
                        <a:ea typeface="+mn-ea"/>
                      </a:rPr>
                      <m:t>ℬ</m:t>
                    </m:r>
                    <m:r>
                      <a:rPr lang="zh-CN" altLang="en-US" sz="2000" b="0" i="1" smtClean="0">
                        <a:latin typeface="Cambria Math" panose="02040503050406030204" pitchFamily="18" charset="0"/>
                        <a:ea typeface="+mn-ea"/>
                      </a:rPr>
                      <m:t> </m:t>
                    </m:r>
                  </m:oMath>
                </a14:m>
                <a:r>
                  <a:rPr lang="zh-CN" altLang="en-US" sz="2000" dirty="0">
                    <a:latin typeface="+mn-lt"/>
                    <a:ea typeface="+mn-ea"/>
                  </a:rPr>
                  <a:t>发起解密预言机问询，</a:t>
                </a:r>
                <a:r>
                  <a:rPr lang="zh-CN" altLang="en-US" sz="2000" dirty="0">
                    <a:latin typeface="+mn-lt"/>
                  </a:rPr>
                  <a:t>并得到正确的解密结果。此阶段与问询阶段</a:t>
                </a:r>
                <a:r>
                  <a:rPr lang="en-US" altLang="zh-CN" sz="2000" dirty="0">
                    <a:latin typeface="+mn-lt"/>
                  </a:rPr>
                  <a:t>1</a:t>
                </a:r>
                <a:r>
                  <a:rPr lang="zh-CN" altLang="en-US" sz="2000" dirty="0">
                    <a:latin typeface="+mn-lt"/>
                  </a:rPr>
                  <a:t>相同。然而，为防止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𝒜</m:t>
                    </m:r>
                  </m:oMath>
                </a14:m>
                <a:r>
                  <a:rPr lang="zh-CN" altLang="en-US" sz="2000" dirty="0">
                    <a:latin typeface="+mn-lt"/>
                  </a:rPr>
                  <a:t> 通过平凡攻击攻破公钥加密方案， </a:t>
                </a:r>
                <a14:m>
                  <m:oMath xmlns:m="http://schemas.openxmlformats.org/officeDocument/2006/math">
                    <m:r>
                      <a:rPr lang="en-US" altLang="zh-CN" sz="2000" i="1">
                        <a:solidFill>
                          <a:srgbClr val="000000"/>
                        </a:solidFill>
                        <a:latin typeface="Cambria Math" panose="02040503050406030204" pitchFamily="18" charset="0"/>
                        <a:cs typeface="Times New Roman" panose="02020503050405090304" pitchFamily="18" charset="0"/>
                      </a:rPr>
                      <m:t>𝒜</m:t>
                    </m:r>
                  </m:oMath>
                </a14:m>
                <a:r>
                  <a:rPr lang="zh-CN" altLang="en-US" sz="2000" dirty="0">
                    <a:latin typeface="+mn-lt"/>
                  </a:rPr>
                  <a:t> 不能向 </a:t>
                </a:r>
                <a14:m>
                  <m:oMath xmlns:m="http://schemas.openxmlformats.org/officeDocument/2006/math">
                    <m:r>
                      <a:rPr lang="en-US" altLang="zh-CN" sz="2000" i="1">
                        <a:latin typeface="Cambria Math" panose="02040503050406030204" pitchFamily="18" charset="0"/>
                      </a:rPr>
                      <m:t>ℬ</m:t>
                    </m:r>
                    <m:r>
                      <a:rPr lang="zh-CN" altLang="en-US" sz="2000" b="0" i="1" smtClean="0">
                        <a:latin typeface="Cambria Math" panose="02040503050406030204" pitchFamily="18" charset="0"/>
                      </a:rPr>
                      <m:t> </m:t>
                    </m:r>
                  </m:oMath>
                </a14:m>
                <a:r>
                  <a:rPr lang="zh-CN" altLang="en-US" sz="2000" dirty="0">
                    <a:latin typeface="+mn-lt"/>
                  </a:rPr>
                  <a:t>询问挑战阶段获得的密文 </a:t>
                </a:r>
                <a:r>
                  <a:rPr lang="en-US" altLang="zh-CN" sz="2000" i="1" dirty="0">
                    <a:solidFill>
                      <a:srgbClr val="000000"/>
                    </a:solidFill>
                    <a:latin typeface="+mn-lt"/>
                    <a:cs typeface="Times New Roman" panose="02020503050405090304" pitchFamily="18" charset="0"/>
                  </a:rPr>
                  <a:t>C</a:t>
                </a:r>
                <a:r>
                  <a:rPr lang="zh-CN" altLang="en-US" sz="2000" dirty="0">
                    <a:solidFill>
                      <a:srgbClr val="000000"/>
                    </a:solidFill>
                    <a:latin typeface="+mn-lt"/>
                    <a:cs typeface="Times New Roman" panose="02020503050405090304" pitchFamily="18" charset="0"/>
                  </a:rPr>
                  <a:t>。</a:t>
                </a:r>
                <a:endParaRPr lang="en-US" altLang="zh-CN" sz="2000" dirty="0">
                  <a:latin typeface="+mn-lt"/>
                  <a:ea typeface="+mn-ea"/>
                  <a:cs typeface="Times New Roman" panose="02020503050405090304" pitchFamily="18" charset="0"/>
                </a:endParaRPr>
              </a:p>
              <a:p>
                <a:pPr marL="342900" lvl="0" indent="-342900" algn="just">
                  <a:spcBef>
                    <a:spcPts val="300"/>
                  </a:spcBef>
                  <a:spcAft>
                    <a:spcPts val="300"/>
                  </a:spcAft>
                  <a:buFont typeface="Wingdings" panose="05000000000000000000" pitchFamily="2" charset="2"/>
                  <a:buChar char=""/>
                </a:pPr>
                <a:r>
                  <a:rPr lang="zh-CN" altLang="en-US" sz="2000" kern="0" dirty="0">
                    <a:solidFill>
                      <a:srgbClr val="000000"/>
                    </a:solidFill>
                    <a:latin typeface="+mn-lt"/>
                    <a:ea typeface="+mn-ea"/>
                    <a:cs typeface="Times New Roman" panose="02020503050405090304" pitchFamily="18" charset="0"/>
                  </a:rPr>
                  <a:t>响应阶段。</a:t>
                </a:r>
                <a14:m>
                  <m:oMath xmlns:m="http://schemas.openxmlformats.org/officeDocument/2006/math">
                    <m:r>
                      <a:rPr lang="en-US" altLang="zh-CN" sz="2000" i="1" kern="0">
                        <a:solidFill>
                          <a:srgbClr val="000000"/>
                        </a:solidFill>
                        <a:effectLst/>
                        <a:latin typeface="Cambria Math" panose="02040503050406030204" pitchFamily="18" charset="0"/>
                        <a:ea typeface="+mn-ea"/>
                        <a:cs typeface="宋体" pitchFamily="2" charset="-122"/>
                      </a:rPr>
                      <m:t>𝒜</m:t>
                    </m:r>
                    <m:r>
                      <a:rPr lang="zh-CN" altLang="en-US" sz="2000" b="0" i="1" kern="0" smtClean="0">
                        <a:solidFill>
                          <a:srgbClr val="000000"/>
                        </a:solidFill>
                        <a:effectLst/>
                        <a:latin typeface="Cambria Math" panose="02040503050406030204" pitchFamily="18" charset="0"/>
                        <a:ea typeface="+mn-ea"/>
                        <a:cs typeface="宋体" pitchFamily="2" charset="-122"/>
                      </a:rPr>
                      <m:t> </m:t>
                    </m:r>
                    <m:r>
                      <a:rPr lang="zh-CN" altLang="en-US" sz="2000" i="1" kern="0">
                        <a:solidFill>
                          <a:srgbClr val="000000"/>
                        </a:solidFill>
                        <a:latin typeface="Cambria Math" panose="02040503050406030204" pitchFamily="18" charset="0"/>
                        <a:ea typeface="+mn-ea"/>
                        <a:cs typeface="宋体" pitchFamily="2" charset="-122"/>
                      </a:rPr>
                      <m:t>猜测</m:t>
                    </m:r>
                    <m:r>
                      <a:rPr lang="zh-CN" altLang="en-US" sz="2000" b="0" i="1" kern="0" smtClean="0">
                        <a:solidFill>
                          <a:srgbClr val="000000"/>
                        </a:solidFill>
                        <a:latin typeface="Cambria Math" panose="02040503050406030204" pitchFamily="18" charset="0"/>
                        <a:ea typeface="+mn-ea"/>
                        <a:cs typeface="宋体" pitchFamily="2" charset="-122"/>
                      </a:rPr>
                      <m:t> </m:t>
                    </m:r>
                    <m:r>
                      <a:rPr lang="en-US" altLang="zh-CN" sz="2000" i="1">
                        <a:solidFill>
                          <a:srgbClr val="000000"/>
                        </a:solidFill>
                        <a:latin typeface="Cambria Math" panose="02040503050406030204" pitchFamily="18" charset="0"/>
                        <a:ea typeface="+mn-ea"/>
                        <a:cs typeface="Times New Roman" panose="02020503050405090304" pitchFamily="18" charset="0"/>
                      </a:rPr>
                      <m:t>𝐶</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zh-CN" altLang="en-US" sz="2000" i="1" smtClean="0">
                        <a:solidFill>
                          <a:srgbClr val="000000"/>
                        </a:solidFill>
                        <a:latin typeface="Cambria Math" panose="02040503050406030204" pitchFamily="18" charset="0"/>
                        <a:ea typeface="+mn-ea"/>
                        <a:cs typeface="Times New Roman" panose="02020503050405090304" pitchFamily="18" charset="0"/>
                      </a:rPr>
                      <m:t>是</m:t>
                    </m:r>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0</m:t>
                        </m:r>
                      </m:sub>
                    </m:sSub>
                  </m:oMath>
                </a14:m>
                <a:r>
                  <a:rPr lang="zh-CN" altLang="en-US" sz="2000" kern="0" dirty="0">
                    <a:solidFill>
                      <a:srgbClr val="000000"/>
                    </a:solidFill>
                    <a:latin typeface="+mn-lt"/>
                    <a:ea typeface="+mn-ea"/>
                    <a:cs typeface="宋体" pitchFamily="2" charset="-122"/>
                  </a:rPr>
                  <a:t> 对应的密文还是 </a:t>
                </a:r>
                <a14:m>
                  <m:oMath xmlns:m="http://schemas.openxmlformats.org/officeDocument/2006/math">
                    <m:sSub>
                      <m:sSubPr>
                        <m:ctrlPr>
                          <a:rPr lang="zh-CN"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𝑀</m:t>
                        </m:r>
                      </m:e>
                      <m:sub>
                        <m:r>
                          <a:rPr lang="en-US" altLang="zh-CN" sz="2000" i="1">
                            <a:solidFill>
                              <a:srgbClr val="000000"/>
                            </a:solidFill>
                            <a:latin typeface="Cambria Math" panose="02040503050406030204" pitchFamily="18" charset="0"/>
                            <a:ea typeface="+mn-ea"/>
                            <a:cs typeface="Times New Roman" panose="02020503050405090304" pitchFamily="18" charset="0"/>
                          </a:rPr>
                          <m:t>1</m:t>
                        </m:r>
                      </m:sub>
                    </m:sSub>
                  </m:oMath>
                </a14:m>
                <a:r>
                  <a:rPr lang="zh-CN" altLang="en-US" sz="2000" kern="0" dirty="0">
                    <a:solidFill>
                      <a:srgbClr val="000000"/>
                    </a:solidFill>
                    <a:latin typeface="+mn-lt"/>
                    <a:ea typeface="+mn-ea"/>
                    <a:cs typeface="宋体" pitchFamily="2" charset="-122"/>
                  </a:rPr>
                  <a:t> 对应的密文，并输出其猜测比特</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zh-CN" altLang="en-US" sz="2000" b="0" i="1" smtClean="0">
                            <a:solidFill>
                              <a:srgbClr val="000000"/>
                            </a:solidFill>
                            <a:effectLst/>
                            <a:latin typeface="Cambria Math" panose="02040503050406030204" pitchFamily="18" charset="0"/>
                            <a:ea typeface="+mn-ea"/>
                          </a:rPr>
                          <m:t> </m:t>
                        </m:r>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0</m:t>
                    </m:r>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1</m:t>
                    </m:r>
                    <m:r>
                      <a:rPr lang="en-US" altLang="zh-CN" sz="2000" i="1" kern="0">
                        <a:solidFill>
                          <a:srgbClr val="000000"/>
                        </a:solidFill>
                        <a:effectLst/>
                        <a:latin typeface="Cambria Math" panose="02040503050406030204" pitchFamily="18" charset="0"/>
                        <a:ea typeface="+mn-ea"/>
                        <a:cs typeface="宋体" pitchFamily="2" charset="-122"/>
                      </a:rPr>
                      <m:t>}</m:t>
                    </m:r>
                  </m:oMath>
                </a14:m>
                <a:r>
                  <a:rPr lang="zh-CN" altLang="zh-CN" sz="2000" kern="0" dirty="0">
                    <a:solidFill>
                      <a:srgbClr val="000000"/>
                    </a:solidFill>
                    <a:effectLst/>
                    <a:latin typeface="+mn-lt"/>
                    <a:ea typeface="+mn-ea"/>
                    <a:cs typeface="宋体" pitchFamily="2" charset="-122"/>
                  </a:rPr>
                  <a:t>。若</a:t>
                </a:r>
                <a:r>
                  <a:rPr lang="zh-CN" altLang="en-US" sz="2000" kern="0" dirty="0">
                    <a:solidFill>
                      <a:srgbClr val="000000"/>
                    </a:solidFill>
                    <a:effectLst/>
                    <a:latin typeface="+mn-lt"/>
                    <a:ea typeface="+mn-ea"/>
                    <a:cs typeface="宋体" pitchFamily="2" charset="-122"/>
                  </a:rPr>
                  <a:t> </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mn-ea"/>
                          </a:rPr>
                        </m:ctrlPr>
                      </m:accPr>
                      <m:e>
                        <m:r>
                          <a:rPr lang="en-US" altLang="zh-CN" sz="2000" i="1" kern="0">
                            <a:solidFill>
                              <a:srgbClr val="000000"/>
                            </a:solidFill>
                            <a:effectLst/>
                            <a:latin typeface="Cambria Math" panose="02040503050406030204" pitchFamily="18" charset="0"/>
                            <a:ea typeface="+mn-ea"/>
                            <a:cs typeface="宋体" pitchFamily="2" charset="-122"/>
                          </a:rPr>
                          <m:t>𝑏</m:t>
                        </m:r>
                      </m:e>
                    </m:acc>
                    <m:r>
                      <a:rPr lang="en-US" altLang="zh-CN" sz="2000" i="1" kern="0">
                        <a:solidFill>
                          <a:srgbClr val="000000"/>
                        </a:solidFill>
                        <a:effectLst/>
                        <a:latin typeface="Cambria Math" panose="02040503050406030204" pitchFamily="18" charset="0"/>
                        <a:ea typeface="+mn-ea"/>
                        <a:cs typeface="宋体" pitchFamily="2" charset="-122"/>
                      </a:rPr>
                      <m:t>=</m:t>
                    </m:r>
                    <m:r>
                      <a:rPr lang="en-US" altLang="zh-CN" sz="2000" i="1" kern="0">
                        <a:solidFill>
                          <a:srgbClr val="000000"/>
                        </a:solidFill>
                        <a:effectLst/>
                        <a:latin typeface="Cambria Math" panose="02040503050406030204" pitchFamily="18" charset="0"/>
                        <a:ea typeface="+mn-ea"/>
                        <a:cs typeface="宋体" pitchFamily="2" charset="-122"/>
                      </a:rPr>
                      <m:t>𝑏</m:t>
                    </m:r>
                  </m:oMath>
                </a14:m>
                <a:r>
                  <a:rPr lang="zh-CN" altLang="zh-CN" sz="2000" kern="0" dirty="0">
                    <a:solidFill>
                      <a:srgbClr val="000000"/>
                    </a:solidFill>
                    <a:effectLst/>
                    <a:latin typeface="+mn-lt"/>
                    <a:ea typeface="+mn-ea"/>
                    <a:cs typeface="宋体" pitchFamily="2" charset="-122"/>
                  </a:rPr>
                  <a:t>，</a:t>
                </a:r>
                <a:r>
                  <a:rPr lang="zh-CN" altLang="en-US" sz="2000" kern="0" dirty="0">
                    <a:solidFill>
                      <a:srgbClr val="000000"/>
                    </a:solidFill>
                    <a:effectLst/>
                    <a:latin typeface="+mn-lt"/>
                    <a:ea typeface="+mn-ea"/>
                    <a:cs typeface="宋体" pitchFamily="2" charset="-122"/>
                  </a:rPr>
                  <a:t>则</a:t>
                </a:r>
                <a14:m>
                  <m:oMath xmlns:m="http://schemas.openxmlformats.org/officeDocument/2006/math">
                    <m:r>
                      <a:rPr lang="zh-CN" altLang="en-US" sz="2000" b="0" i="0" smtClean="0">
                        <a:solidFill>
                          <a:srgbClr val="000000"/>
                        </a:solidFill>
                        <a:latin typeface="Cambria Math" panose="02040503050406030204" pitchFamily="18" charset="0"/>
                        <a:ea typeface="+mn-ea"/>
                        <a:cs typeface="Times New Roman" panose="02020503050405090304" pitchFamily="18" charset="0"/>
                      </a:rPr>
                      <m:t> </m:t>
                    </m:r>
                    <m:r>
                      <a:rPr lang="en-US" altLang="zh-CN" sz="2000" i="1">
                        <a:solidFill>
                          <a:srgbClr val="000000"/>
                        </a:solidFill>
                        <a:latin typeface="Cambria Math" panose="02040503050406030204" pitchFamily="18" charset="0"/>
                        <a:ea typeface="+mn-ea"/>
                        <a:cs typeface="Times New Roman" panose="02020503050405090304" pitchFamily="18" charset="0"/>
                      </a:rPr>
                      <m:t>𝒜</m:t>
                    </m:r>
                    <m:r>
                      <a:rPr lang="zh-CN" altLang="en-US" sz="2000" b="0" i="1" smtClean="0">
                        <a:solidFill>
                          <a:srgbClr val="000000"/>
                        </a:solidFill>
                        <a:latin typeface="Cambria Math" panose="02040503050406030204" pitchFamily="18" charset="0"/>
                        <a:ea typeface="+mn-ea"/>
                        <a:cs typeface="Times New Roman" panose="02020503050405090304" pitchFamily="18" charset="0"/>
                      </a:rPr>
                      <m:t> </m:t>
                    </m:r>
                  </m:oMath>
                </a14:m>
                <a:r>
                  <a:rPr lang="zh-CN" altLang="en-US" sz="2000" kern="0" dirty="0">
                    <a:solidFill>
                      <a:srgbClr val="000000"/>
                    </a:solidFill>
                    <a:effectLst/>
                    <a:latin typeface="+mn-lt"/>
                    <a:ea typeface="+mn-ea"/>
                    <a:cs typeface="宋体" pitchFamily="2" charset="-122"/>
                  </a:rPr>
                  <a:t>获胜</a:t>
                </a:r>
                <a:r>
                  <a:rPr lang="zh-CN" altLang="en-US" sz="2000" kern="0" dirty="0">
                    <a:solidFill>
                      <a:srgbClr val="000000"/>
                    </a:solidFill>
                    <a:latin typeface="+mn-lt"/>
                    <a:ea typeface="+mn-ea"/>
                    <a:cs typeface="宋体" pitchFamily="2" charset="-122"/>
                  </a:rPr>
                  <a:t>且游戏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1</a:t>
                </a:r>
                <a:r>
                  <a:rPr lang="zh-CN" altLang="zh-CN" sz="2000" kern="0" dirty="0">
                    <a:solidFill>
                      <a:srgbClr val="000000"/>
                    </a:solidFill>
                    <a:effectLst/>
                    <a:latin typeface="+mn-lt"/>
                    <a:ea typeface="+mn-ea"/>
                    <a:cs typeface="宋体" pitchFamily="2" charset="-122"/>
                  </a:rPr>
                  <a:t>；否则，</a:t>
                </a:r>
                <a:r>
                  <a:rPr lang="zh-CN" altLang="en-US" sz="2000" kern="0" dirty="0">
                    <a:solidFill>
                      <a:srgbClr val="000000"/>
                    </a:solidFill>
                    <a:effectLst/>
                    <a:latin typeface="+mn-lt"/>
                    <a:ea typeface="+mn-ea"/>
                    <a:cs typeface="宋体" pitchFamily="2" charset="-122"/>
                  </a:rPr>
                  <a:t>游戏</a:t>
                </a:r>
                <a:r>
                  <a:rPr lang="zh-CN" altLang="zh-CN" sz="2000" kern="0" dirty="0">
                    <a:solidFill>
                      <a:srgbClr val="000000"/>
                    </a:solidFill>
                    <a:effectLst/>
                    <a:latin typeface="+mn-lt"/>
                    <a:ea typeface="+mn-ea"/>
                    <a:cs typeface="宋体" pitchFamily="2" charset="-122"/>
                  </a:rPr>
                  <a:t>输出</a:t>
                </a:r>
                <a:r>
                  <a:rPr lang="en-US" altLang="zh-CN" sz="2000" kern="0" dirty="0">
                    <a:solidFill>
                      <a:srgbClr val="000000"/>
                    </a:solidFill>
                    <a:effectLst/>
                    <a:latin typeface="+mn-lt"/>
                    <a:ea typeface="+mn-ea"/>
                    <a:cs typeface="宋体" pitchFamily="2" charset="-122"/>
                  </a:rPr>
                  <a:t>0</a:t>
                </a:r>
                <a:r>
                  <a:rPr lang="zh-CN" altLang="zh-CN" sz="2000" kern="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4" name="TextBox 11"/>
              <p:cNvSpPr txBox="1">
                <a:spLocks noRot="1" noChangeAspect="1" noMove="1" noResize="1" noEditPoints="1" noAdjustHandles="1" noChangeArrowheads="1" noChangeShapeType="1" noTextEdit="1"/>
              </p:cNvSpPr>
              <p:nvPr/>
            </p:nvSpPr>
            <p:spPr>
              <a:xfrm>
                <a:off x="1066799" y="1779943"/>
                <a:ext cx="9892251" cy="4190314"/>
              </a:xfrm>
              <a:prstGeom prst="rect">
                <a:avLst/>
              </a:prstGeom>
              <a:blipFill>
                <a:blip r:embed="rId3"/>
                <a:stretch>
                  <a:fillRect l="-924" t="-1164" r="-4744" b="-1747"/>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62712-CFEC-FCC9-204E-4D1D6E2252A2}"/>
            </a:ext>
          </a:extLst>
        </p:cNvPr>
        <p:cNvGrpSpPr/>
        <p:nvPr/>
      </p:nvGrpSpPr>
      <p:grpSpPr>
        <a:xfrm>
          <a:off x="0" y="0"/>
          <a:ext cx="0" cy="0"/>
          <a:chOff x="0" y="0"/>
          <a:chExt cx="0" cy="0"/>
        </a:xfrm>
      </p:grpSpPr>
      <p:cxnSp>
        <p:nvCxnSpPr>
          <p:cNvPr id="21" name="Connector 4">
            <a:extLst>
              <a:ext uri="{FF2B5EF4-FFF2-40B4-BE49-F238E27FC236}">
                <a16:creationId xmlns:a16="http://schemas.microsoft.com/office/drawing/2014/main" id="{E14C23D5-88FA-5F81-5A13-93D1D3593D73}"/>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B402A7F8-F883-8054-4FE3-69A6D6C341BD}"/>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255BFE65-2CED-E38E-57D1-5EDFE8550AA6}"/>
              </a:ext>
            </a:extLst>
          </p:cNvPr>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a:extLst>
              <a:ext uri="{FF2B5EF4-FFF2-40B4-BE49-F238E27FC236}">
                <a16:creationId xmlns:a16="http://schemas.microsoft.com/office/drawing/2014/main" id="{8FC3280B-86AF-96D6-C94B-AF5DE9001B56}"/>
              </a:ext>
            </a:extLst>
          </p:cNvPr>
          <p:cNvSpPr txBox="1"/>
          <p:nvPr/>
        </p:nvSpPr>
        <p:spPr>
          <a:xfrm>
            <a:off x="502920" y="790624"/>
            <a:ext cx="4265023" cy="400110"/>
          </a:xfrm>
          <a:prstGeom prst="rect">
            <a:avLst/>
          </a:prstGeom>
          <a:noFill/>
        </p:spPr>
        <p:txBody>
          <a:bodyPr wrap="square">
            <a:spAutoFit/>
          </a:bodyPr>
          <a:lstStyle/>
          <a:p>
            <a:r>
              <a:rPr lang="zh-CN" altLang="en-US" sz="2000" b="1" dirty="0">
                <a:solidFill>
                  <a:srgbClr val="C00000"/>
                </a:solidFill>
              </a:rPr>
              <a:t>公钥加密的安全模型</a:t>
            </a:r>
          </a:p>
        </p:txBody>
      </p:sp>
      <p:sp>
        <p:nvSpPr>
          <p:cNvPr id="7" name="Rounded Rectangle 9">
            <a:extLst>
              <a:ext uri="{FF2B5EF4-FFF2-40B4-BE49-F238E27FC236}">
                <a16:creationId xmlns:a16="http://schemas.microsoft.com/office/drawing/2014/main" id="{CA04A07F-BE69-423B-3593-163306C65D3B}"/>
              </a:ext>
            </a:extLst>
          </p:cNvPr>
          <p:cNvSpPr/>
          <p:nvPr/>
        </p:nvSpPr>
        <p:spPr>
          <a:xfrm>
            <a:off x="1066801" y="2158927"/>
            <a:ext cx="9940376" cy="2517619"/>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5">
                <a:extLst>
                  <a:ext uri="{FF2B5EF4-FFF2-40B4-BE49-F238E27FC236}">
                    <a16:creationId xmlns:a16="http://schemas.microsoft.com/office/drawing/2014/main" id="{9F8806CB-DF09-AFE4-F789-837E60352485}"/>
                  </a:ext>
                </a:extLst>
              </p:cNvPr>
              <p:cNvSpPr txBox="1"/>
              <p:nvPr/>
            </p:nvSpPr>
            <p:spPr>
              <a:xfrm>
                <a:off x="1304770" y="2292877"/>
                <a:ext cx="9625670"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.19</a:t>
                </a:r>
                <a:r>
                  <a:rPr lang="zh-CN" altLang="en-US" sz="2000" b="1" dirty="0">
                    <a:solidFill>
                      <a:srgbClr val="C00000"/>
                    </a:solidFill>
                    <a:latin typeface="+mn-lt"/>
                    <a:ea typeface="微软雅黑" panose="020B0503020204020204" charset="-122"/>
                  </a:rPr>
                  <a:t>　</a:t>
                </a:r>
                <a:r>
                  <a:rPr lang="en-US" altLang="zh-CN" sz="2000" b="1" dirty="0">
                    <a:solidFill>
                      <a:srgbClr val="C00000"/>
                    </a:solidFill>
                    <a:latin typeface="+mn-lt"/>
                    <a:ea typeface="微软雅黑" panose="020B0503020204020204" charset="-122"/>
                  </a:rPr>
                  <a:t>IND-CCA2</a:t>
                </a:r>
                <a:r>
                  <a:rPr lang="zh-CN" altLang="en-US" sz="2000" b="1" dirty="0">
                    <a:solidFill>
                      <a:srgbClr val="C00000"/>
                    </a:solidFill>
                    <a:latin typeface="+mn-lt"/>
                    <a:ea typeface="微软雅黑" panose="020B0503020204020204" charset="-122"/>
                  </a:rPr>
                  <a:t>（</a:t>
                </a:r>
                <a:r>
                  <a:rPr lang="zh-CN" altLang="en-US" sz="2000" b="1" i="0" dirty="0">
                    <a:solidFill>
                      <a:srgbClr val="C00000"/>
                    </a:solidFill>
                    <a:latin typeface="+mn-lt"/>
                    <a:ea typeface="微软雅黑" panose="020B0503020204020204" charset="-122"/>
                  </a:rPr>
                  <a:t>教材原文）：</a:t>
                </a:r>
                <a:endParaRPr lang="en-US" altLang="zh-CN" sz="2000" b="1" i="0" dirty="0">
                  <a:solidFill>
                    <a:srgbClr val="C00000"/>
                  </a:solidFill>
                  <a:latin typeface="+mn-lt"/>
                  <a:ea typeface="微软雅黑" panose="020B0503020204020204" charset="-122"/>
                </a:endParaRPr>
              </a:p>
              <a:p>
                <a:pPr>
                  <a:lnSpc>
                    <a:spcPct val="130000"/>
                  </a:lnSpc>
                </a:pPr>
                <a:r>
                  <a:rPr lang="zh-CN" altLang="en-US" sz="2000" dirty="0"/>
                  <a:t>假设</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b="0" i="1" dirty="0" smtClean="0">
                            <a:latin typeface="Cambria Math" panose="02040503050406030204" pitchFamily="18" charset="0"/>
                          </a:rPr>
                        </m:ctrlPr>
                      </m:dPr>
                      <m:e>
                        <m:sSubSup>
                          <m:sSubSupPr>
                            <m:ctrlPr>
                              <a:rPr lang="en-US" altLang="zh-CN" sz="2000" b="0" i="1" dirty="0" smtClean="0">
                                <a:latin typeface="Cambria Math" panose="02040503050406030204" pitchFamily="18" charset="0"/>
                              </a:rPr>
                            </m:ctrlPr>
                          </m:sSubSupPr>
                          <m:e>
                            <m:r>
                              <m:rPr>
                                <m:sty m:val="p"/>
                              </m:rPr>
                              <a:rPr lang="en-US" altLang="zh-CN" sz="2000" b="0" i="0" dirty="0" smtClean="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b="0" i="0" dirty="0" smtClean="0">
                                <a:latin typeface="Cambria Math" panose="02040503050406030204" pitchFamily="18" charset="0"/>
                              </a:rPr>
                              <m:t>C</m:t>
                            </m:r>
                            <m:r>
                              <m:rPr>
                                <m:sty m:val="p"/>
                              </m:rPr>
                              <a:rPr lang="en-US" altLang="zh-CN" sz="2000" i="1" dirty="0">
                                <a:latin typeface="Cambria Math" panose="02040503050406030204" pitchFamily="18" charset="0"/>
                              </a:rPr>
                              <m:t>C</m:t>
                            </m:r>
                            <m:r>
                              <m:rPr>
                                <m:sty m:val="p"/>
                              </m:rPr>
                              <a:rPr lang="en-US" altLang="zh-CN" sz="2000" b="0" i="0" dirty="0" smtClean="0">
                                <a:latin typeface="Cambria Math" panose="02040503050406030204" pitchFamily="18" charset="0"/>
                              </a:rPr>
                              <m:t>A</m:t>
                            </m:r>
                            <m:r>
                              <a:rPr lang="en-US" altLang="zh-CN" sz="2000" b="0" i="0" dirty="0" smtClean="0">
                                <a:latin typeface="Cambria Math" panose="02040503050406030204" pitchFamily="18" charset="0"/>
                              </a:rPr>
                              <m:t>2</m:t>
                            </m:r>
                          </m:sup>
                        </m:sSubSup>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1</m:t>
                        </m:r>
                      </m:e>
                    </m:d>
                  </m:oMath>
                </a14:m>
                <a:r>
                  <a:rPr lang="zh-CN" altLang="en-US" sz="2000" dirty="0"/>
                  <a:t>为</a:t>
                </a:r>
                <a:r>
                  <a:rPr lang="en-US" altLang="zh-CN" sz="2000" dirty="0"/>
                  <a:t> </a:t>
                </a:r>
                <a14:m>
                  <m:oMath xmlns:m="http://schemas.openxmlformats.org/officeDocument/2006/math">
                    <m:r>
                      <a:rPr lang="zh-CN" altLang="en-US" sz="2000" i="1">
                        <a:latin typeface="Cambria Math" panose="02040503050406030204" pitchFamily="18" charset="0"/>
                      </a:rPr>
                      <m:t>𝒜</m:t>
                    </m:r>
                  </m:oMath>
                </a14:m>
                <a:r>
                  <a:rPr lang="zh-CN" altLang="en-US" sz="2000" dirty="0"/>
                  <a:t> </a:t>
                </a:r>
                <a:r>
                  <a:rPr lang="en-US" altLang="zh-CN" sz="2000" dirty="0"/>
                  <a:t> </a:t>
                </a:r>
                <a:r>
                  <a:rPr lang="zh-CN" altLang="en-US" sz="2000" dirty="0"/>
                  <a:t>赢得上述游戏且游戏输出 </a:t>
                </a:r>
                <a:r>
                  <a:rPr lang="en-US" altLang="zh-CN" sz="2000" dirty="0"/>
                  <a:t>1 </a:t>
                </a:r>
                <a:r>
                  <a:rPr lang="zh-CN" altLang="en-US" sz="2000" dirty="0"/>
                  <a:t>的概率。我们定义 </a:t>
                </a:r>
                <a14:m>
                  <m:oMath xmlns:m="http://schemas.openxmlformats.org/officeDocument/2006/math">
                    <m:r>
                      <a:rPr lang="zh-CN" altLang="en-US" sz="2000" i="1">
                        <a:latin typeface="Cambria Math" panose="02040503050406030204" pitchFamily="18" charset="0"/>
                      </a:rPr>
                      <m:t>𝒜</m:t>
                    </m:r>
                  </m:oMath>
                </a14:m>
                <a:r>
                  <a:rPr lang="zh-CN" altLang="en-US" sz="2000" dirty="0"/>
                  <a:t>  赢得上述游戏的优势为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i="0" dirty="0" smtClean="0">
                            <a:latin typeface="Cambria Math" panose="02040503050406030204" pitchFamily="18" charset="0"/>
                          </a:rPr>
                          <m:t>Adv</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m:t>
                        </m:r>
                        <m:r>
                          <m:rPr>
                            <m:sty m:val="p"/>
                          </m:rPr>
                          <a:rPr lang="en-US" altLang="zh-CN" sz="2000" i="1" dirty="0" smtClean="0">
                            <a:latin typeface="Cambria Math" panose="02040503050406030204" pitchFamily="18" charset="0"/>
                          </a:rPr>
                          <m:t>C</m:t>
                        </m:r>
                        <m:r>
                          <m:rPr>
                            <m:sty m:val="p"/>
                          </m:rPr>
                          <a:rPr lang="en-US" altLang="zh-CN" sz="2000" i="0" dirty="0">
                            <a:latin typeface="Cambria Math" panose="02040503050406030204" pitchFamily="18" charset="0"/>
                          </a:rPr>
                          <m:t>A</m:t>
                        </m:r>
                        <m:r>
                          <a:rPr lang="en-US" altLang="zh-CN" sz="2000" b="0" i="0" dirty="0" smtClean="0">
                            <a:latin typeface="Cambria Math" panose="02040503050406030204" pitchFamily="18" charset="0"/>
                          </a:rPr>
                          <m:t>2</m:t>
                        </m:r>
                      </m:sup>
                    </m:sSubSup>
                    <m:r>
                      <a:rPr lang="en-US" altLang="zh-CN" sz="2000" i="0" dirty="0">
                        <a:latin typeface="Cambria Math" panose="02040503050406030204" pitchFamily="18" charset="0"/>
                      </a:rPr>
                      <m:t>=</m:t>
                    </m:r>
                  </m:oMath>
                </a14:m>
                <a:r>
                  <a:rPr lang="en-US" altLang="zh-CN" sz="2000" dirty="0"/>
                  <a:t>| </a:t>
                </a:r>
                <a14:m>
                  <m:oMath xmlns:m="http://schemas.openxmlformats.org/officeDocument/2006/math">
                    <m:r>
                      <m:rPr>
                        <m:sty m:val="p"/>
                      </m:rPr>
                      <a:rPr lang="en-US" altLang="zh-CN" sz="2000" i="1" dirty="0">
                        <a:latin typeface="Cambria Math" panose="02040503050406030204" pitchFamily="18" charset="0"/>
                      </a:rPr>
                      <m:t>Pr</m:t>
                    </m:r>
                    <m:d>
                      <m:dPr>
                        <m:begChr m:val="["/>
                        <m:endChr m:val="]"/>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m:rPr>
                                <m:sty m:val="p"/>
                              </m:rPr>
                              <a:rPr lang="en-US" altLang="zh-CN" sz="2000" i="0" dirty="0">
                                <a:latin typeface="Cambria Math" panose="02040503050406030204" pitchFamily="18" charset="0"/>
                              </a:rPr>
                              <m:t>PE</m:t>
                            </m:r>
                          </m:e>
                          <m:sub>
                            <m:r>
                              <a:rPr lang="zh-CN" altLang="en-US" sz="2000" i="0">
                                <a:latin typeface="Cambria Math" panose="02040503050406030204" pitchFamily="18" charset="0"/>
                              </a:rPr>
                              <m:t>𝒜</m:t>
                            </m:r>
                          </m:sub>
                          <m:sup>
                            <m:r>
                              <m:rPr>
                                <m:sty m:val="p"/>
                              </m:rPr>
                              <a:rPr lang="en-US" altLang="zh-CN" sz="2000" i="0" dirty="0">
                                <a:latin typeface="Cambria Math" panose="02040503050406030204" pitchFamily="18" charset="0"/>
                              </a:rPr>
                              <m:t>C</m:t>
                            </m:r>
                            <m:r>
                              <m:rPr>
                                <m:sty m:val="p"/>
                              </m:rPr>
                              <a:rPr lang="en-US" altLang="zh-CN" sz="2000" b="0" i="0" dirty="0" smtClean="0">
                                <a:latin typeface="Cambria Math" panose="02040503050406030204" pitchFamily="18" charset="0"/>
                              </a:rPr>
                              <m:t>C</m:t>
                            </m:r>
                            <m:r>
                              <m:rPr>
                                <m:sty m:val="p"/>
                              </m:rPr>
                              <a:rPr lang="en-US" altLang="zh-CN" sz="2000" i="0" dirty="0">
                                <a:latin typeface="Cambria Math" panose="02040503050406030204" pitchFamily="18" charset="0"/>
                              </a:rPr>
                              <m:t>A</m:t>
                            </m:r>
                            <m:r>
                              <a:rPr lang="en-US" altLang="zh-CN" sz="2000" b="0" i="0" dirty="0" smtClean="0">
                                <a:latin typeface="Cambria Math" panose="02040503050406030204" pitchFamily="18" charset="0"/>
                              </a:rPr>
                              <m:t>2</m:t>
                            </m:r>
                          </m:sup>
                        </m:sSubSup>
                        <m:r>
                          <a:rPr lang="en-US" altLang="zh-CN" sz="2000" i="1" dirty="0">
                            <a:latin typeface="Cambria Math" panose="02040503050406030204" pitchFamily="18" charset="0"/>
                          </a:rPr>
                          <m:t>=</m:t>
                        </m:r>
                        <m:r>
                          <a:rPr lang="en-US" altLang="zh-CN" sz="2000" i="1" dirty="0">
                            <a:latin typeface="Cambria Math" panose="02040503050406030204" pitchFamily="18" charset="0"/>
                          </a:rPr>
                          <m:t>1</m:t>
                        </m:r>
                      </m:e>
                    </m:d>
                    <m:r>
                      <a:rPr lang="en-US" altLang="zh-CN" sz="2000" i="1" dirty="0">
                        <a:latin typeface="Cambria Math" panose="02040503050406030204" pitchFamily="18" charset="0"/>
                      </a:rPr>
                      <m:t> </m:t>
                    </m:r>
                    <m:r>
                      <a:rPr lang="en-US" altLang="zh-CN" sz="2000" b="0" i="0" dirty="0" smtClean="0">
                        <a:latin typeface="Cambria Math" panose="02040503050406030204" pitchFamily="18" charset="0"/>
                      </a:rPr>
                      <m:t>−</m:t>
                    </m:r>
                  </m:oMath>
                </a14:m>
                <a:r>
                  <a:rPr lang="zh-CN" altLang="zh-CN" sz="2000" dirty="0"/>
                  <a:t> </a:t>
                </a:r>
                <a14:m>
                  <m:oMath xmlns:m="http://schemas.openxmlformats.org/officeDocument/2006/math">
                    <m:f>
                      <m:fPr>
                        <m:ctrlPr>
                          <a:rPr lang="zh-CN"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r>
                      <a:rPr lang="en-US" altLang="zh-CN" sz="2000" i="1">
                        <a:latin typeface="Cambria Math" panose="02040503050406030204" pitchFamily="18" charset="0"/>
                      </a:rPr>
                      <m:t> </m:t>
                    </m:r>
                  </m:oMath>
                </a14:m>
                <a:r>
                  <a:rPr lang="en-US" altLang="zh-CN" sz="2000" dirty="0"/>
                  <a:t>|</a:t>
                </a:r>
                <a:r>
                  <a:rPr lang="zh-CN" altLang="en-US" sz="2000" dirty="0"/>
                  <a:t>。若在任意概率多项式时间内，敌手 </a:t>
                </a:r>
                <a14:m>
                  <m:oMath xmlns:m="http://schemas.openxmlformats.org/officeDocument/2006/math">
                    <m:r>
                      <a:rPr lang="zh-CN" altLang="en-US" sz="2000" i="1">
                        <a:latin typeface="Cambria Math" panose="02040503050406030204" pitchFamily="18" charset="0"/>
                      </a:rPr>
                      <m:t>𝒜</m:t>
                    </m:r>
                    <m:r>
                      <a:rPr lang="zh-CN" altLang="en-US" sz="2000" b="0" i="1" smtClean="0">
                        <a:latin typeface="Cambria Math" panose="02040503050406030204" pitchFamily="18" charset="0"/>
                      </a:rPr>
                      <m:t> </m:t>
                    </m:r>
                  </m:oMath>
                </a14:m>
                <a:r>
                  <a:rPr lang="zh-CN" altLang="en-US" sz="2000" dirty="0"/>
                  <a:t>赢得上述游戏的优势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m:t>
                        </m:r>
                        <m:r>
                          <m:rPr>
                            <m:sty m:val="p"/>
                          </m:rPr>
                          <a:rPr lang="en-US" altLang="zh-CN" sz="2000" b="0" i="0" dirty="0" smtClean="0">
                            <a:latin typeface="Cambria Math" panose="02040503050406030204" pitchFamily="18" charset="0"/>
                          </a:rPr>
                          <m:t>C</m:t>
                        </m:r>
                        <m:r>
                          <m:rPr>
                            <m:sty m:val="p"/>
                          </m:rPr>
                          <a:rPr lang="en-US" altLang="zh-CN" sz="2000" dirty="0">
                            <a:latin typeface="Cambria Math" panose="02040503050406030204" pitchFamily="18" charset="0"/>
                          </a:rPr>
                          <m:t>A</m:t>
                        </m:r>
                        <m:r>
                          <a:rPr lang="en-US" altLang="zh-CN" sz="2000" b="0" i="0" dirty="0" smtClean="0">
                            <a:latin typeface="Cambria Math" panose="02040503050406030204" pitchFamily="18" charset="0"/>
                          </a:rPr>
                          <m:t>2</m:t>
                        </m:r>
                      </m:sup>
                    </m:sSubSup>
                  </m:oMath>
                </a14:m>
                <a:r>
                  <a:rPr lang="zh-CN" altLang="en-US" sz="2000" dirty="0"/>
                  <a:t> 是可忽略的，则称公钥加密方案 </a:t>
                </a:r>
                <a14:m>
                  <m:oMath xmlns:m="http://schemas.openxmlformats.org/officeDocument/2006/math">
                    <m:r>
                      <m:rPr>
                        <m:sty m:val="p"/>
                      </m:rPr>
                      <a:rPr lang="en-US" altLang="zh-CN" sz="2000">
                        <a:solidFill>
                          <a:srgbClr val="000000"/>
                        </a:solidFill>
                        <a:latin typeface="Cambria Math" panose="02040503050406030204" pitchFamily="18" charset="0"/>
                        <a:cs typeface="Times New Roman" panose="02020503050405090304" pitchFamily="18" charset="0"/>
                      </a:rPr>
                      <m:t>PKE</m:t>
                    </m:r>
                    <m:r>
                      <m:rPr>
                        <m:nor/>
                      </m:rPr>
                      <a:rPr lang="en-US" altLang="zh-CN" sz="2000">
                        <a:solidFill>
                          <a:srgbClr val="000000"/>
                        </a:solidFill>
                        <a:latin typeface="DejaVu Math TeX Gyre" panose="02000503000000000000" charset="0"/>
                        <a:cs typeface="Times New Roman" panose="02020503050405090304" pitchFamily="18" charset="0"/>
                      </a:rPr>
                      <m:t>=(</m:t>
                    </m:r>
                    <m:r>
                      <m:rPr>
                        <m:nor/>
                      </m:rPr>
                      <a:rPr lang="en-US" altLang="zh-CN" sz="2000">
                        <a:solidFill>
                          <a:srgbClr val="000000"/>
                        </a:solidFill>
                        <a:latin typeface="DejaVu Math TeX Gyre" panose="02000503000000000000" charset="0"/>
                        <a:cs typeface="Times New Roman" panose="02020503050405090304" pitchFamily="18" charset="0"/>
                      </a:rPr>
                      <m:t>Gen</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Enc</m:t>
                    </m:r>
                    <m:r>
                      <m:rPr>
                        <m:nor/>
                      </m:rPr>
                      <a:rPr lang="en-US" altLang="zh-CN" sz="2000">
                        <a:solidFill>
                          <a:srgbClr val="000000"/>
                        </a:solidFill>
                        <a:latin typeface="DejaVu Math TeX Gyre" panose="02000503000000000000" charset="0"/>
                        <a:cs typeface="Times New Roman" panose="02020503050405090304" pitchFamily="18" charset="0"/>
                      </a:rPr>
                      <m:t>, </m:t>
                    </m:r>
                    <m:r>
                      <m:rPr>
                        <m:nor/>
                      </m:rPr>
                      <a:rPr lang="en-US" altLang="zh-CN" sz="2000">
                        <a:solidFill>
                          <a:srgbClr val="000000"/>
                        </a:solidFill>
                        <a:latin typeface="DejaVu Math TeX Gyre" panose="02000503000000000000" charset="0"/>
                        <a:cs typeface="Times New Roman" panose="02020503050405090304" pitchFamily="18" charset="0"/>
                      </a:rPr>
                      <m:t>Dec</m:t>
                    </m:r>
                    <m:r>
                      <m:rPr>
                        <m:nor/>
                      </m:rPr>
                      <a:rPr lang="en-US" altLang="zh-CN" sz="2000">
                        <a:solidFill>
                          <a:srgbClr val="000000"/>
                        </a:solidFill>
                        <a:latin typeface="DejaVu Math TeX Gyre" panose="02000503000000000000" charset="0"/>
                        <a:cs typeface="Times New Roman" panose="02020503050405090304" pitchFamily="18" charset="0"/>
                      </a:rPr>
                      <m:t>)</m:t>
                    </m:r>
                  </m:oMath>
                </a14:m>
                <a:r>
                  <a:rPr lang="zh-CN" altLang="en-US" sz="2000" dirty="0"/>
                  <a:t> 是 </a:t>
                </a:r>
                <a:r>
                  <a:rPr lang="en-GB" altLang="zh-CN" sz="2000" dirty="0"/>
                  <a:t>IND-CCA2 </a:t>
                </a:r>
                <a:r>
                  <a:rPr lang="zh-CN" altLang="en-US" sz="2000" dirty="0"/>
                  <a:t>安全的。</a:t>
                </a:r>
                <a:endParaRPr lang="zh-CN" altLang="en-US" sz="2000" dirty="0">
                  <a:latin typeface="+mn-lt"/>
                  <a:ea typeface="+mn-ea"/>
                  <a:cs typeface="Times New Roman" panose="02020503050405090304" pitchFamily="18" charset="0"/>
                </a:endParaRPr>
              </a:p>
              <a:p>
                <a:pPr algn="just">
                  <a:lnSpc>
                    <a:spcPct val="130000"/>
                  </a:lnSpc>
                  <a:spcAft>
                    <a:spcPts val="600"/>
                  </a:spcAft>
                  <a:buClr>
                    <a:srgbClr val="C00000"/>
                  </a:buClr>
                </a:pPr>
                <a:endParaRPr lang="zh-CN" altLang="zh-CN" dirty="0">
                  <a:latin typeface="+mn-lt"/>
                </a:endParaRPr>
              </a:p>
              <a:p>
                <a:pPr algn="just">
                  <a:lnSpc>
                    <a:spcPct val="130000"/>
                  </a:lnSpc>
                  <a:spcAft>
                    <a:spcPts val="600"/>
                  </a:spcAft>
                  <a:buClr>
                    <a:srgbClr val="C00000"/>
                  </a:buClr>
                </a:pP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8" name="TextBox 5">
                <a:extLst>
                  <a:ext uri="{FF2B5EF4-FFF2-40B4-BE49-F238E27FC236}">
                    <a16:creationId xmlns:a16="http://schemas.microsoft.com/office/drawing/2014/main" id="{9F8806CB-DF09-AFE4-F789-837E60352485}"/>
                  </a:ext>
                </a:extLst>
              </p:cNvPr>
              <p:cNvSpPr txBox="1">
                <a:spLocks noRot="1" noChangeAspect="1" noMove="1" noResize="1" noEditPoints="1" noAdjustHandles="1" noChangeArrowheads="1" noChangeShapeType="1" noTextEdit="1"/>
              </p:cNvSpPr>
              <p:nvPr/>
            </p:nvSpPr>
            <p:spPr>
              <a:xfrm>
                <a:off x="1304770" y="2292877"/>
                <a:ext cx="9625670" cy="1101101"/>
              </a:xfrm>
              <a:prstGeom prst="rect">
                <a:avLst/>
              </a:prstGeom>
              <a:blipFill>
                <a:blip r:embed="rId3"/>
                <a:stretch>
                  <a:fillRect l="-1583" t="-7182" b="-1110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5837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862144"/>
            <a:ext cx="4265023"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三种</a:t>
            </a:r>
            <a:r>
              <a:rPr lang="en-GB" altLang="zh-CN" sz="2000" b="1" dirty="0">
                <a:solidFill>
                  <a:srgbClr val="C90012"/>
                </a:solidFill>
                <a:latin typeface="Times New Roman" panose="02020503050405090304"/>
                <a:ea typeface="微软雅黑"/>
                <a:cs typeface="Times New Roman" panose="02020503050405090304"/>
              </a:rPr>
              <a:t>IND</a:t>
            </a:r>
            <a:r>
              <a:rPr lang="zh-CN" altLang="en-US" sz="2000" b="1" dirty="0">
                <a:solidFill>
                  <a:srgbClr val="C90012"/>
                </a:solidFill>
                <a:latin typeface="Times New Roman" panose="02020503050405090304"/>
                <a:ea typeface="微软雅黑"/>
                <a:cs typeface="Times New Roman" panose="02020503050405090304"/>
              </a:rPr>
              <a:t>模型的比较</a:t>
            </a:r>
          </a:p>
        </p:txBody>
      </p:sp>
      <p:graphicFrame>
        <p:nvGraphicFramePr>
          <p:cNvPr id="5" name="表格 4"/>
          <p:cNvGraphicFramePr/>
          <p:nvPr/>
        </p:nvGraphicFramePr>
        <p:xfrm>
          <a:off x="714375" y="1476375"/>
          <a:ext cx="10763250" cy="3429000"/>
        </p:xfrm>
        <a:graphic>
          <a:graphicData uri="http://schemas.openxmlformats.org/drawingml/2006/table">
            <a:tbl>
              <a:tblPr/>
              <a:tblGrid>
                <a:gridCol w="3587750">
                  <a:extLst>
                    <a:ext uri="{9D8B030D-6E8A-4147-A177-3AD203B41FA5}">
                      <a16:colId xmlns:a16="http://schemas.microsoft.com/office/drawing/2014/main" val="20000"/>
                    </a:ext>
                  </a:extLst>
                </a:gridCol>
                <a:gridCol w="3587750">
                  <a:extLst>
                    <a:ext uri="{9D8B030D-6E8A-4147-A177-3AD203B41FA5}">
                      <a16:colId xmlns:a16="http://schemas.microsoft.com/office/drawing/2014/main" val="20001"/>
                    </a:ext>
                  </a:extLst>
                </a:gridCol>
                <a:gridCol w="3587750">
                  <a:extLst>
                    <a:ext uri="{9D8B030D-6E8A-4147-A177-3AD203B41FA5}">
                      <a16:colId xmlns:a16="http://schemas.microsoft.com/office/drawing/2014/main" val="20002"/>
                    </a:ext>
                  </a:extLst>
                </a:gridCol>
              </a:tblGrid>
              <a:tr h="857250">
                <a:tc>
                  <a:txBody>
                    <a:bodyPr/>
                    <a:lstStyle/>
                    <a:p>
                      <a:pPr algn="l"/>
                      <a:r>
                        <a:rPr sz="2000" b="1">
                          <a:solidFill>
                            <a:srgbClr val="C90012"/>
                          </a:solidFill>
                          <a:latin typeface="Times New Roman" panose="02020503050405090304"/>
                          <a:ea typeface="微软雅黑"/>
                          <a:cs typeface="Times New Roman" panose="02020503050405090304"/>
                        </a:rPr>
                        <a:t>模型</a:t>
                      </a:r>
                    </a:p>
                  </a:txBody>
                  <a:tcPr anchor="ctr">
                    <a:solidFill>
                      <a:srgbClr val="FFF1F1"/>
                    </a:solidFill>
                  </a:tcPr>
                </a:tc>
                <a:tc>
                  <a:txBody>
                    <a:bodyPr/>
                    <a:lstStyle/>
                    <a:p>
                      <a:pPr algn="l"/>
                      <a:r>
                        <a:rPr sz="2000" b="1" dirty="0" err="1">
                          <a:solidFill>
                            <a:srgbClr val="C90012"/>
                          </a:solidFill>
                          <a:latin typeface="Times New Roman" panose="02020503050405090304"/>
                          <a:ea typeface="微软雅黑"/>
                          <a:cs typeface="Times New Roman" panose="02020503050405090304"/>
                        </a:rPr>
                        <a:t>挑战前解密</a:t>
                      </a:r>
                      <a:r>
                        <a:rPr lang="zh-CN" altLang="en-US" sz="2000" b="1" dirty="0">
                          <a:solidFill>
                            <a:srgbClr val="C90012"/>
                          </a:solidFill>
                          <a:latin typeface="Times New Roman" panose="02020503050405090304"/>
                          <a:ea typeface="微软雅黑"/>
                          <a:cs typeface="Times New Roman" panose="02020503050405090304"/>
                        </a:rPr>
                        <a:t>预言机</a:t>
                      </a:r>
                      <a:r>
                        <a:rPr lang="en-US" sz="2000" b="1" dirty="0" err="1">
                          <a:solidFill>
                            <a:srgbClr val="C90012"/>
                          </a:solidFill>
                          <a:latin typeface="Times New Roman" panose="02020503050405090304"/>
                          <a:ea typeface="微软雅黑"/>
                          <a:cs typeface="Times New Roman" panose="02020503050405090304"/>
                        </a:rPr>
                        <a:t>问询</a:t>
                      </a:r>
                      <a:endParaRPr sz="2000" b="1" dirty="0">
                        <a:solidFill>
                          <a:srgbClr val="C90012"/>
                        </a:solidFill>
                        <a:latin typeface="Times New Roman" panose="02020503050405090304"/>
                        <a:ea typeface="微软雅黑"/>
                        <a:cs typeface="Times New Roman" panose="02020503050405090304"/>
                      </a:endParaRPr>
                    </a:p>
                  </a:txBody>
                  <a:tcPr anchor="ctr">
                    <a:solidFill>
                      <a:srgbClr val="FFF1F1"/>
                    </a:solidFill>
                  </a:tcPr>
                </a:tc>
                <a:tc>
                  <a:txBody>
                    <a:bodyPr/>
                    <a:lstStyle/>
                    <a:p>
                      <a:pPr algn="l"/>
                      <a:r>
                        <a:rPr sz="2000" b="1" dirty="0" err="1">
                          <a:solidFill>
                            <a:srgbClr val="C90012"/>
                          </a:solidFill>
                          <a:latin typeface="Times New Roman" panose="02020503050405090304"/>
                          <a:ea typeface="微软雅黑"/>
                          <a:cs typeface="Times New Roman" panose="02020503050405090304"/>
                        </a:rPr>
                        <a:t>挑战后解密</a:t>
                      </a:r>
                      <a:r>
                        <a:rPr lang="zh-CN" altLang="en-US" sz="2000" b="1" dirty="0">
                          <a:solidFill>
                            <a:srgbClr val="C90012"/>
                          </a:solidFill>
                          <a:latin typeface="Times New Roman" panose="02020503050405090304"/>
                          <a:ea typeface="微软雅黑"/>
                          <a:cs typeface="Times New Roman" panose="02020503050405090304"/>
                        </a:rPr>
                        <a:t>预言机问询</a:t>
                      </a:r>
                      <a:endParaRPr sz="2000" b="1" dirty="0">
                        <a:solidFill>
                          <a:srgbClr val="C90012"/>
                        </a:solidFill>
                        <a:latin typeface="Times New Roman" panose="02020503050405090304"/>
                        <a:ea typeface="微软雅黑"/>
                        <a:cs typeface="Times New Roman" panose="02020503050405090304"/>
                      </a:endParaRPr>
                    </a:p>
                  </a:txBody>
                  <a:tcPr anchor="ctr">
                    <a:solidFill>
                      <a:srgbClr val="FFF1F1"/>
                    </a:solidFill>
                  </a:tcPr>
                </a:tc>
                <a:extLst>
                  <a:ext uri="{0D108BD9-81ED-4DB2-BD59-A6C34878D82A}">
                    <a16:rowId xmlns:a16="http://schemas.microsoft.com/office/drawing/2014/main" val="10000"/>
                  </a:ext>
                </a:extLst>
              </a:tr>
              <a:tr h="857250">
                <a:tc>
                  <a:txBody>
                    <a:bodyPr/>
                    <a:lstStyle/>
                    <a:p>
                      <a:pPr algn="l"/>
                      <a:r>
                        <a:rPr sz="2000" b="0">
                          <a:solidFill>
                            <a:srgbClr val="303030"/>
                          </a:solidFill>
                          <a:latin typeface="Times New Roman" panose="02020503050405090304"/>
                          <a:ea typeface="微软雅黑"/>
                          <a:cs typeface="Times New Roman" panose="02020503050405090304"/>
                        </a:rPr>
                        <a:t>IND-CPA</a:t>
                      </a:r>
                    </a:p>
                  </a:txBody>
                  <a:tcPr anchor="ctr">
                    <a:solidFill>
                      <a:srgbClr val="FFFFFF"/>
                    </a:solidFill>
                  </a:tcPr>
                </a:tc>
                <a:tc>
                  <a:txBody>
                    <a:bodyPr/>
                    <a:lstStyle/>
                    <a:p>
                      <a:pPr algn="l"/>
                      <a:r>
                        <a:rPr sz="2000" b="0">
                          <a:solidFill>
                            <a:srgbClr val="303030"/>
                          </a:solidFill>
                          <a:latin typeface="Times New Roman" panose="02020503050405090304"/>
                          <a:ea typeface="微软雅黑"/>
                          <a:cs typeface="Times New Roman" panose="02020503050405090304"/>
                        </a:rPr>
                        <a:t>不允许</a:t>
                      </a:r>
                    </a:p>
                  </a:txBody>
                  <a:tcPr anchor="ctr">
                    <a:solidFill>
                      <a:srgbClr val="FFFFFF"/>
                    </a:solidFill>
                  </a:tcPr>
                </a:tc>
                <a:tc>
                  <a:txBody>
                    <a:bodyPr/>
                    <a:lstStyle/>
                    <a:p>
                      <a:pPr algn="l"/>
                      <a:r>
                        <a:rPr sz="2000" b="0">
                          <a:solidFill>
                            <a:srgbClr val="303030"/>
                          </a:solidFill>
                          <a:latin typeface="Times New Roman" panose="02020503050405090304"/>
                          <a:ea typeface="微软雅黑"/>
                          <a:cs typeface="Times New Roman" panose="02020503050405090304"/>
                        </a:rPr>
                        <a:t>不允许</a:t>
                      </a:r>
                    </a:p>
                  </a:txBody>
                  <a:tcPr anchor="ctr">
                    <a:solidFill>
                      <a:srgbClr val="FFFFFF"/>
                    </a:solidFill>
                  </a:tcPr>
                </a:tc>
                <a:extLst>
                  <a:ext uri="{0D108BD9-81ED-4DB2-BD59-A6C34878D82A}">
                    <a16:rowId xmlns:a16="http://schemas.microsoft.com/office/drawing/2014/main" val="10001"/>
                  </a:ext>
                </a:extLst>
              </a:tr>
              <a:tr h="857250">
                <a:tc>
                  <a:txBody>
                    <a:bodyPr/>
                    <a:lstStyle/>
                    <a:p>
                      <a:pPr algn="l"/>
                      <a:r>
                        <a:rPr sz="2000" b="0">
                          <a:solidFill>
                            <a:srgbClr val="303030"/>
                          </a:solidFill>
                          <a:latin typeface="Times New Roman" panose="02020503050405090304"/>
                          <a:ea typeface="微软雅黑"/>
                          <a:cs typeface="Times New Roman" panose="02020503050405090304"/>
                        </a:rPr>
                        <a:t>IND-CCA1</a:t>
                      </a:r>
                    </a:p>
                  </a:txBody>
                  <a:tcPr anchor="ctr">
                    <a:solidFill>
                      <a:srgbClr val="FFFFFF"/>
                    </a:solidFill>
                  </a:tcPr>
                </a:tc>
                <a:tc>
                  <a:txBody>
                    <a:bodyPr/>
                    <a:lstStyle/>
                    <a:p>
                      <a:pPr algn="l"/>
                      <a:r>
                        <a:rPr sz="2000" b="0">
                          <a:solidFill>
                            <a:srgbClr val="303030"/>
                          </a:solidFill>
                          <a:latin typeface="Times New Roman" panose="02020503050405090304"/>
                          <a:ea typeface="微软雅黑"/>
                          <a:cs typeface="Times New Roman" panose="02020503050405090304"/>
                        </a:rPr>
                        <a:t>允许</a:t>
                      </a:r>
                    </a:p>
                  </a:txBody>
                  <a:tcPr anchor="ctr">
                    <a:solidFill>
                      <a:srgbClr val="FFFFFF"/>
                    </a:solidFill>
                  </a:tcPr>
                </a:tc>
                <a:tc>
                  <a:txBody>
                    <a:bodyPr/>
                    <a:lstStyle/>
                    <a:p>
                      <a:pPr algn="l"/>
                      <a:r>
                        <a:rPr sz="2000" b="0">
                          <a:solidFill>
                            <a:srgbClr val="303030"/>
                          </a:solidFill>
                          <a:latin typeface="Times New Roman" panose="02020503050405090304"/>
                          <a:ea typeface="微软雅黑"/>
                          <a:cs typeface="Times New Roman" panose="02020503050405090304"/>
                        </a:rPr>
                        <a:t>不允许</a:t>
                      </a:r>
                    </a:p>
                  </a:txBody>
                  <a:tcPr anchor="ctr">
                    <a:solidFill>
                      <a:srgbClr val="FFFFFF"/>
                    </a:solidFill>
                  </a:tcPr>
                </a:tc>
                <a:extLst>
                  <a:ext uri="{0D108BD9-81ED-4DB2-BD59-A6C34878D82A}">
                    <a16:rowId xmlns:a16="http://schemas.microsoft.com/office/drawing/2014/main" val="10002"/>
                  </a:ext>
                </a:extLst>
              </a:tr>
              <a:tr h="857250">
                <a:tc>
                  <a:txBody>
                    <a:bodyPr/>
                    <a:lstStyle/>
                    <a:p>
                      <a:pPr algn="l"/>
                      <a:r>
                        <a:rPr sz="2000" b="0">
                          <a:solidFill>
                            <a:srgbClr val="303030"/>
                          </a:solidFill>
                          <a:latin typeface="Times New Roman" panose="02020503050405090304"/>
                          <a:ea typeface="微软雅黑"/>
                          <a:cs typeface="Times New Roman" panose="02020503050405090304"/>
                        </a:rPr>
                        <a:t>IND-CCA2</a:t>
                      </a:r>
                    </a:p>
                  </a:txBody>
                  <a:tcPr anchor="ctr">
                    <a:solidFill>
                      <a:srgbClr val="FFFFFF"/>
                    </a:solidFill>
                  </a:tcPr>
                </a:tc>
                <a:tc>
                  <a:txBody>
                    <a:bodyPr/>
                    <a:lstStyle/>
                    <a:p>
                      <a:pPr algn="l"/>
                      <a:r>
                        <a:rPr sz="2000" b="0">
                          <a:solidFill>
                            <a:srgbClr val="303030"/>
                          </a:solidFill>
                          <a:latin typeface="Times New Roman" panose="02020503050405090304"/>
                          <a:ea typeface="微软雅黑"/>
                          <a:cs typeface="Times New Roman" panose="02020503050405090304"/>
                        </a:rPr>
                        <a:t>允许</a:t>
                      </a:r>
                    </a:p>
                  </a:txBody>
                  <a:tcPr anchor="ctr">
                    <a:solidFill>
                      <a:srgbClr val="FFFFFF"/>
                    </a:solidFill>
                  </a:tcPr>
                </a:tc>
                <a:tc>
                  <a:txBody>
                    <a:bodyPr/>
                    <a:lstStyle/>
                    <a:p>
                      <a:pPr algn="l"/>
                      <a:r>
                        <a:rPr sz="2000" b="0" dirty="0" err="1">
                          <a:solidFill>
                            <a:srgbClr val="303030"/>
                          </a:solidFill>
                          <a:latin typeface="Times New Roman" panose="02020503050405090304"/>
                          <a:ea typeface="微软雅黑"/>
                          <a:cs typeface="Times New Roman" panose="02020503050405090304"/>
                        </a:rPr>
                        <a:t>允许，但不能提交</a:t>
                      </a:r>
                      <a:r>
                        <a:rPr lang="zh-CN" altLang="en-US" sz="2000" b="0" dirty="0">
                          <a:solidFill>
                            <a:srgbClr val="303030"/>
                          </a:solidFill>
                          <a:latin typeface="Times New Roman" panose="02020503050405090304"/>
                          <a:ea typeface="微软雅黑"/>
                          <a:cs typeface="Times New Roman" panose="02020503050405090304"/>
                        </a:rPr>
                        <a:t>挑战阶段的</a:t>
                      </a:r>
                      <a:r>
                        <a:rPr sz="2000" b="0" dirty="0">
                          <a:solidFill>
                            <a:srgbClr val="303030"/>
                          </a:solidFill>
                          <a:latin typeface="Times New Roman" panose="02020503050405090304"/>
                          <a:ea typeface="微软雅黑"/>
                          <a:cs typeface="Times New Roman" panose="02020503050405090304"/>
                        </a:rPr>
                        <a:t>C</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矩形 5"/>
          <p:cNvSpPr>
            <a:spLocks noGrp="1"/>
          </p:cNvSpPr>
          <p:nvPr/>
        </p:nvSpPr>
        <p:spPr>
          <a:xfrm>
            <a:off x="809625" y="5286375"/>
            <a:ext cx="10572750" cy="619125"/>
          </a:xfrm>
          <a:prstGeom prst="rect">
            <a:avLst/>
          </a:prstGeom>
          <a:noFill/>
          <a:ln w="0">
            <a:noFill/>
          </a:ln>
        </p:spPr>
        <p:txBody>
          <a:bodyPr wrap="square" lIns="0" tIns="0" rIns="0" bIns="0" anchor="ctr">
            <a:noAutofit/>
          </a:bodyPr>
          <a:lstStyle>
            <a:defPPr algn="l">
              <a:defRPr sz="2025" b="0">
                <a:solidFill>
                  <a:srgbClr val="C90012"/>
                </a:solidFill>
                <a:latin typeface="Times New Roman" panose="02020503050405090304"/>
                <a:ea typeface="微软雅黑"/>
                <a:cs typeface="Times New Roman" panose="02020503050405090304"/>
              </a:defRPr>
            </a:defPPr>
          </a:lstStyle>
          <a:p>
            <a:pPr algn="l">
              <a:defRPr sz="2025" b="0">
                <a:solidFill>
                  <a:srgbClr val="C90012"/>
                </a:solidFill>
                <a:latin typeface="Times New Roman" panose="02020503050405090304"/>
                <a:ea typeface="微软雅黑"/>
                <a:cs typeface="Times New Roman" panose="02020503050405090304"/>
              </a:defRPr>
            </a:pPr>
            <a:r>
              <a:rPr sz="2025" b="0" dirty="0">
                <a:solidFill>
                  <a:srgbClr val="C90012"/>
                </a:solidFill>
                <a:latin typeface="Times New Roman" panose="02020503050405090304"/>
                <a:ea typeface="微软雅黑"/>
                <a:cs typeface="Times New Roman" panose="02020503050405090304"/>
              </a:rPr>
              <a:t>安全强度：IND-CCA2</a:t>
            </a:r>
            <a:r>
              <a:rPr lang="en-US" sz="2025" b="0" dirty="0">
                <a:solidFill>
                  <a:srgbClr val="C90012"/>
                </a:solidFill>
                <a:latin typeface="Times New Roman" panose="02020503050405090304"/>
                <a:ea typeface="微软雅黑"/>
                <a:cs typeface="Times New Roman" panose="02020503050405090304"/>
              </a:rPr>
              <a:t> &gt; </a:t>
            </a:r>
            <a:r>
              <a:rPr sz="2025" b="0" dirty="0">
                <a:solidFill>
                  <a:srgbClr val="C90012"/>
                </a:solidFill>
                <a:latin typeface="Times New Roman" panose="02020503050405090304"/>
                <a:ea typeface="微软雅黑"/>
                <a:cs typeface="Times New Roman" panose="02020503050405090304"/>
              </a:rPr>
              <a:t>IND-CCA1</a:t>
            </a:r>
            <a:r>
              <a:rPr lang="en-US" sz="2025" b="0" dirty="0">
                <a:solidFill>
                  <a:srgbClr val="C90012"/>
                </a:solidFill>
                <a:latin typeface="Times New Roman" panose="02020503050405090304"/>
                <a:ea typeface="微软雅黑"/>
                <a:cs typeface="Times New Roman" panose="02020503050405090304"/>
              </a:rPr>
              <a:t> &gt; </a:t>
            </a:r>
            <a:r>
              <a:rPr sz="2025" b="0" dirty="0">
                <a:solidFill>
                  <a:srgbClr val="C90012"/>
                </a:solidFill>
                <a:latin typeface="Times New Roman" panose="02020503050405090304"/>
                <a:ea typeface="微软雅黑"/>
                <a:cs typeface="Times New Roman" panose="02020503050405090304"/>
              </a:rPr>
              <a:t>IND-CPA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矩形 2"/>
          <p:cNvSpPr>
            <a:spLocks noGrp="1"/>
          </p:cNvSpPr>
          <p:nvPr/>
        </p:nvSpPr>
        <p:spPr>
          <a:xfrm>
            <a:off x="718457" y="4184504"/>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mn-lt"/>
                <a:ea typeface="+mn-ea"/>
                <a:cs typeface="Times New Roman" panose="02020503050405090304"/>
              </a:rPr>
              <a:t>02</a:t>
            </a:r>
          </a:p>
        </p:txBody>
      </p:sp>
      <mc:AlternateContent xmlns:mc="http://schemas.openxmlformats.org/markup-compatibility/2006" xmlns:a14="http://schemas.microsoft.com/office/drawing/2010/main">
        <mc:Choice Requires="a14">
          <p:sp>
            <p:nvSpPr>
              <p:cNvPr id="4" name="矩形 3"/>
              <p:cNvSpPr>
                <a:spLocks noGrp="1"/>
              </p:cNvSpPr>
              <p:nvPr/>
            </p:nvSpPr>
            <p:spPr>
              <a:xfrm>
                <a:off x="1337582" y="418579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mn-lt"/>
                    <a:ea typeface="+mn-ea"/>
                  </a:rPr>
                  <a:t>敌手提交</a:t>
                </a:r>
                <a:r>
                  <a:rPr lang="zh-CN" altLang="en-US" sz="2000" b="0" dirty="0">
                    <a:solidFill>
                      <a:srgbClr val="303030"/>
                    </a:solidFill>
                    <a:latin typeface="+mn-lt"/>
                    <a:ea typeface="+mn-ea"/>
                  </a:rPr>
                  <a:t> </a:t>
                </a:r>
                <a:r>
                  <a:rPr sz="2000" b="0" dirty="0">
                    <a:solidFill>
                      <a:srgbClr val="303030"/>
                    </a:solidFill>
                    <a:latin typeface="+mn-lt"/>
                    <a:ea typeface="+mn-ea"/>
                  </a:rPr>
                  <a:t>(</a:t>
                </a:r>
                <a14:m>
                  <m:oMath xmlns:m="http://schemas.openxmlformats.org/officeDocument/2006/math">
                    <m:sSub>
                      <m:sSubPr>
                        <m:ctrlPr>
                          <a:rPr lang="zh-CN" altLang="zh-CN" sz="2000" i="1" smtClean="0">
                            <a:solidFill>
                              <a:srgbClr val="000000"/>
                            </a:solidFill>
                            <a:latin typeface="Cambria Math" panose="02040503050406030204" pitchFamily="18" charset="0"/>
                            <a:ea typeface="+mn-ea"/>
                            <a:cs typeface="宋体" pitchFamily="2" charset="-122"/>
                          </a:rPr>
                        </m:ctrlPr>
                      </m:sSubPr>
                      <m:e>
                        <m:r>
                          <a:rPr lang="en-US" altLang="zh-CN" sz="2000" i="1">
                            <a:solidFill>
                              <a:srgbClr val="000000"/>
                            </a:solidFill>
                            <a:latin typeface="Cambria Math" panose="02040503050406030204" pitchFamily="18" charset="0"/>
                            <a:ea typeface="+mn-ea"/>
                            <a:cs typeface="宋体" pitchFamily="2" charset="-122"/>
                          </a:rPr>
                          <m:t>𝐶</m:t>
                        </m:r>
                      </m:e>
                      <m:sub>
                        <m:r>
                          <a:rPr lang="en-US" altLang="zh-CN" sz="2000" i="1">
                            <a:solidFill>
                              <a:srgbClr val="000000"/>
                            </a:solidFill>
                            <a:latin typeface="Cambria Math" panose="02040503050406030204" pitchFamily="18" charset="0"/>
                            <a:ea typeface="+mn-ea"/>
                            <a:cs typeface="宋体" pitchFamily="2" charset="-122"/>
                          </a:rPr>
                          <m:t>1</m:t>
                        </m:r>
                      </m:sub>
                    </m:sSub>
                  </m:oMath>
                </a14:m>
                <a:r>
                  <a:rPr sz="2000" b="0" dirty="0">
                    <a:solidFill>
                      <a:srgbClr val="303030"/>
                    </a:solidFill>
                    <a:latin typeface="+mn-lt"/>
                    <a:ea typeface="+mn-ea"/>
                  </a:rPr>
                  <a:t>,</a:t>
                </a:r>
                <a:r>
                  <a:rPr lang="zh-CN" altLang="en-US" sz="2000" b="0" dirty="0">
                    <a:solidFill>
                      <a:srgbClr val="303030"/>
                    </a:solidFill>
                    <a:latin typeface="+mn-lt"/>
                    <a:ea typeface="+mn-ea"/>
                  </a:rPr>
                  <a:t>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 </m:t>
                    </m:r>
                  </m:oMath>
                </a14:m>
                <a:r>
                  <a:rPr sz="2000" b="0" dirty="0">
                    <a:solidFill>
                      <a:srgbClr val="303030"/>
                    </a:solidFill>
                    <a:latin typeface="+mn-lt"/>
                    <a:ea typeface="+mn-ea"/>
                  </a:rPr>
                  <a:t>⊕</a:t>
                </a:r>
                <a:r>
                  <a:rPr sz="2000" b="0" dirty="0" err="1">
                    <a:solidFill>
                      <a:srgbClr val="303030"/>
                    </a:solidFill>
                    <a:latin typeface="+mn-lt"/>
                    <a:ea typeface="+mn-ea"/>
                  </a:rPr>
                  <a:t>Δ</a:t>
                </a:r>
                <a:r>
                  <a:rPr sz="2000" b="0" dirty="0">
                    <a:solidFill>
                      <a:srgbClr val="303030"/>
                    </a:solidFill>
                    <a:latin typeface="+mn-lt"/>
                    <a:ea typeface="+mn-ea"/>
                  </a:rPr>
                  <a:t>)，</a:t>
                </a:r>
                <a:r>
                  <a:rPr sz="2000" b="0" dirty="0" err="1">
                    <a:solidFill>
                      <a:srgbClr val="303030"/>
                    </a:solidFill>
                    <a:latin typeface="+mn-lt"/>
                    <a:ea typeface="+mn-ea"/>
                  </a:rPr>
                  <a:t>其中</a:t>
                </a:r>
                <a:r>
                  <a:rPr lang="zh-CN" altLang="en-US" sz="2000" b="0" dirty="0">
                    <a:solidFill>
                      <a:srgbClr val="303030"/>
                    </a:solidFill>
                    <a:latin typeface="+mn-lt"/>
                    <a:ea typeface="+mn-ea"/>
                  </a:rPr>
                  <a:t> </a:t>
                </a:r>
                <a:r>
                  <a:rPr sz="2000" b="0" dirty="0">
                    <a:solidFill>
                      <a:srgbClr val="303030"/>
                    </a:solidFill>
                    <a:latin typeface="+mn-lt"/>
                    <a:ea typeface="+mn-ea"/>
                  </a:rPr>
                  <a:t>Δ≠0</a:t>
                </a:r>
              </a:p>
            </p:txBody>
          </p:sp>
        </mc:Choice>
        <mc:Fallback xmlns="">
          <p:sp>
            <p:nvSpPr>
              <p:cNvPr id="4" name="矩形 3"/>
              <p:cNvSpPr>
                <a:spLocks noGrp="1" noRot="1" noChangeAspect="1" noMove="1" noResize="1" noEditPoints="1" noAdjustHandles="1" noChangeArrowheads="1" noChangeShapeType="1" noTextEdit="1"/>
              </p:cNvSpPr>
              <p:nvPr/>
            </p:nvSpPr>
            <p:spPr>
              <a:xfrm>
                <a:off x="1337582" y="4185798"/>
                <a:ext cx="10001250" cy="552450"/>
              </a:xfrm>
              <a:prstGeom prst="rect">
                <a:avLst/>
              </a:prstGeom>
              <a:blipFill>
                <a:blip r:embed="rId2"/>
                <a:stretch>
                  <a:fillRect l="-1523" b="-6667"/>
                </a:stretch>
              </a:blipFill>
              <a:ln w="0">
                <a:noFill/>
              </a:ln>
            </p:spPr>
            <p:txBody>
              <a:bodyPr/>
              <a:lstStyle/>
              <a:p>
                <a:r>
                  <a:rPr lang="zh-CN" altLang="en-US">
                    <a:noFill/>
                  </a:rPr>
                  <a:t> </a:t>
                </a:r>
              </a:p>
            </p:txBody>
          </p:sp>
        </mc:Fallback>
      </mc:AlternateContent>
      <p:sp>
        <p:nvSpPr>
          <p:cNvPr id="7" name="矩形 6"/>
          <p:cNvSpPr>
            <a:spLocks noGrp="1"/>
          </p:cNvSpPr>
          <p:nvPr/>
        </p:nvSpPr>
        <p:spPr>
          <a:xfrm>
            <a:off x="718457" y="4588622"/>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mn-lt"/>
                <a:ea typeface="+mn-ea"/>
                <a:cs typeface="Times New Roman" panose="02020503050405090304"/>
              </a:rPr>
              <a:t>03</a:t>
            </a:r>
          </a:p>
        </p:txBody>
      </p:sp>
      <p:sp>
        <p:nvSpPr>
          <p:cNvPr id="8" name="矩形 7"/>
          <p:cNvSpPr>
            <a:spLocks noGrp="1"/>
          </p:cNvSpPr>
          <p:nvPr/>
        </p:nvSpPr>
        <p:spPr>
          <a:xfrm>
            <a:off x="1337582" y="4621277"/>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mn-lt"/>
                <a:ea typeface="+mn-ea"/>
                <a:cs typeface="Times New Roman" panose="02020503050405090304"/>
              </a:rPr>
              <a:t>解密返回</a:t>
            </a:r>
            <a:r>
              <a:rPr lang="zh-CN" altLang="en-US" sz="2000" b="0" dirty="0">
                <a:solidFill>
                  <a:srgbClr val="303030"/>
                </a:solidFill>
                <a:latin typeface="+mn-lt"/>
                <a:ea typeface="+mn-ea"/>
                <a:cs typeface="Times New Roman" panose="02020503050405090304"/>
              </a:rPr>
              <a:t> </a:t>
            </a:r>
            <a:r>
              <a:rPr sz="2000" b="0" i="1" dirty="0" err="1">
                <a:solidFill>
                  <a:srgbClr val="303030"/>
                </a:solidFill>
                <a:latin typeface="+mn-lt"/>
                <a:ea typeface="+mn-ea"/>
                <a:cs typeface="Times New Roman" panose="02020503050405090304"/>
              </a:rPr>
              <a:t>M</a:t>
            </a:r>
            <a:r>
              <a:rPr sz="2000" b="0" i="1" baseline="-25000" dirty="0" err="1">
                <a:solidFill>
                  <a:srgbClr val="303030"/>
                </a:solidFill>
                <a:latin typeface="+mn-lt"/>
                <a:ea typeface="+mn-ea"/>
                <a:cs typeface="Times New Roman" panose="02020503050405090304"/>
              </a:rPr>
              <a:t>b</a:t>
            </a:r>
            <a:r>
              <a:rPr sz="2000" b="0" dirty="0" err="1">
                <a:solidFill>
                  <a:srgbClr val="303030"/>
                </a:solidFill>
                <a:latin typeface="+mn-lt"/>
                <a:ea typeface="+mn-ea"/>
                <a:cs typeface="Times New Roman" panose="02020503050405090304"/>
              </a:rPr>
              <a:t>⊕Δ，敌手再异或</a:t>
            </a:r>
            <a:r>
              <a:rPr lang="zh-CN" altLang="en-US" sz="2000" b="0" dirty="0">
                <a:solidFill>
                  <a:srgbClr val="303030"/>
                </a:solidFill>
                <a:latin typeface="+mn-lt"/>
                <a:ea typeface="+mn-ea"/>
                <a:cs typeface="Times New Roman" panose="02020503050405090304"/>
              </a:rPr>
              <a:t> </a:t>
            </a:r>
            <a:r>
              <a:rPr sz="2000" b="0" dirty="0" err="1">
                <a:solidFill>
                  <a:srgbClr val="303030"/>
                </a:solidFill>
                <a:latin typeface="+mn-lt"/>
                <a:ea typeface="+mn-ea"/>
                <a:cs typeface="Times New Roman" panose="02020503050405090304"/>
              </a:rPr>
              <a:t>Δ</a:t>
            </a:r>
            <a:r>
              <a:rPr lang="zh-CN" altLang="en-US" sz="2000" b="0" dirty="0">
                <a:solidFill>
                  <a:srgbClr val="303030"/>
                </a:solidFill>
                <a:latin typeface="+mn-lt"/>
                <a:ea typeface="+mn-ea"/>
                <a:cs typeface="Times New Roman" panose="02020503050405090304"/>
              </a:rPr>
              <a:t> 即可得到 </a:t>
            </a:r>
            <a:r>
              <a:rPr lang="en-GB" altLang="zh-CN" sz="2000" b="0" i="1" dirty="0">
                <a:solidFill>
                  <a:srgbClr val="303030"/>
                </a:solidFill>
                <a:latin typeface="+mn-lt"/>
                <a:ea typeface="+mn-ea"/>
                <a:cs typeface="Times New Roman" panose="02020503050405090304"/>
              </a:rPr>
              <a:t>M</a:t>
            </a:r>
            <a:r>
              <a:rPr lang="en-GB" altLang="zh-CN" sz="2000" b="0" i="1" baseline="-25000" dirty="0">
                <a:solidFill>
                  <a:srgbClr val="303030"/>
                </a:solidFill>
                <a:latin typeface="+mn-lt"/>
                <a:ea typeface="+mn-ea"/>
                <a:cs typeface="Times New Roman" panose="02020503050405090304"/>
              </a:rPr>
              <a:t>b </a:t>
            </a:r>
            <a:r>
              <a:rPr lang="zh-CN" altLang="en-US" sz="2000" b="0" dirty="0">
                <a:solidFill>
                  <a:srgbClr val="303030"/>
                </a:solidFill>
                <a:latin typeface="+mn-lt"/>
                <a:ea typeface="+mn-ea"/>
                <a:cs typeface="Times New Roman" panose="02020503050405090304"/>
              </a:rPr>
              <a:t>，使其可准确猜测挑战比特 </a:t>
            </a:r>
            <a:r>
              <a:rPr lang="en-US" altLang="zh-CN" sz="2000" b="0" i="1" dirty="0">
                <a:solidFill>
                  <a:srgbClr val="303030"/>
                </a:solidFill>
                <a:latin typeface="+mn-lt"/>
                <a:ea typeface="+mn-ea"/>
                <a:cs typeface="Times New Roman" panose="02020503050405090304"/>
              </a:rPr>
              <a:t>b</a:t>
            </a:r>
            <a:r>
              <a:rPr lang="zh-CN" altLang="en-US" sz="2000" b="0" i="1" dirty="0">
                <a:solidFill>
                  <a:srgbClr val="303030"/>
                </a:solidFill>
                <a:latin typeface="+mn-lt"/>
                <a:ea typeface="+mn-ea"/>
                <a:cs typeface="Times New Roman" panose="02020503050405090304"/>
              </a:rPr>
              <a:t> </a:t>
            </a:r>
            <a:r>
              <a:rPr lang="zh-CN" altLang="en-US" sz="2000" b="0" dirty="0">
                <a:solidFill>
                  <a:srgbClr val="303030"/>
                </a:solidFill>
                <a:latin typeface="+mn-lt"/>
                <a:ea typeface="+mn-ea"/>
                <a:cs typeface="Times New Roman" panose="02020503050405090304"/>
              </a:rPr>
              <a:t>。</a:t>
            </a:r>
            <a:endParaRPr sz="2000" b="0" dirty="0">
              <a:solidFill>
                <a:srgbClr val="303030"/>
              </a:solidFill>
              <a:latin typeface="+mn-lt"/>
              <a:ea typeface="+mn-ea"/>
              <a:cs typeface="Times New Roman" panose="02020503050405090304"/>
            </a:endParaRPr>
          </a:p>
        </p:txBody>
      </p:sp>
      <p:sp>
        <p:nvSpPr>
          <p:cNvPr id="10" name="矩形 9"/>
          <p:cNvSpPr>
            <a:spLocks noGrp="1"/>
          </p:cNvSpPr>
          <p:nvPr/>
        </p:nvSpPr>
        <p:spPr>
          <a:xfrm>
            <a:off x="718457" y="5064660"/>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mn-lt"/>
                <a:ea typeface="+mn-ea"/>
                <a:cs typeface="Times New Roman" panose="02020503050405090304"/>
              </a:rPr>
              <a:t>04</a:t>
            </a:r>
          </a:p>
        </p:txBody>
      </p:sp>
      <mc:AlternateContent xmlns:mc="http://schemas.openxmlformats.org/markup-compatibility/2006" xmlns:a14="http://schemas.microsoft.com/office/drawing/2010/main">
        <mc:Choice Requires="a14">
          <p:sp>
            <p:nvSpPr>
              <p:cNvPr id="11" name="矩形 10"/>
              <p:cNvSpPr>
                <a:spLocks noGrp="1"/>
              </p:cNvSpPr>
              <p:nvPr/>
            </p:nvSpPr>
            <p:spPr>
              <a:xfrm>
                <a:off x="1337582" y="504288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mn-lt"/>
                    <a:ea typeface="+mn-ea"/>
                  </a:rPr>
                  <a:t>说明为什么仅禁止询问</a:t>
                </a:r>
                <a:r>
                  <a:rPr lang="en-US" sz="2000" b="0" dirty="0">
                    <a:solidFill>
                      <a:srgbClr val="303030"/>
                    </a:solidFill>
                    <a:latin typeface="+mn-lt"/>
                    <a:ea typeface="+mn-ea"/>
                  </a:rPr>
                  <a:t> </a:t>
                </a:r>
                <a14:m>
                  <m:oMath xmlns:m="http://schemas.openxmlformats.org/officeDocument/2006/math">
                    <m:r>
                      <m:rPr>
                        <m:nor/>
                      </m:rPr>
                      <a:rPr lang="en-US" altLang="zh-CN" sz="2000" i="1" smtClean="0">
                        <a:solidFill>
                          <a:srgbClr val="000000"/>
                        </a:solidFill>
                        <a:latin typeface="+mn-lt"/>
                        <a:ea typeface="+mn-ea"/>
                        <a:cs typeface="宋体" pitchFamily="2" charset="-122"/>
                      </a:rPr>
                      <m:t>C</m:t>
                    </m:r>
                    <m:r>
                      <a:rPr lang="en-US" altLang="zh-CN" sz="2000" i="1">
                        <a:solidFill>
                          <a:srgbClr val="000000"/>
                        </a:solidFill>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ea typeface="+mn-ea"/>
                            <a:cs typeface="宋体" pitchFamily="2" charset="-122"/>
                          </a:rPr>
                        </m:ctrlPr>
                      </m:sSubPr>
                      <m:e>
                        <m:r>
                          <a:rPr lang="en-US" altLang="zh-CN" sz="2000" i="1">
                            <a:solidFill>
                              <a:srgbClr val="000000"/>
                            </a:solidFill>
                            <a:latin typeface="Cambria Math" panose="02040503050406030204" pitchFamily="18" charset="0"/>
                            <a:ea typeface="+mn-ea"/>
                            <a:cs typeface="宋体" pitchFamily="2" charset="-122"/>
                          </a:rPr>
                          <m:t>𝐶</m:t>
                        </m:r>
                      </m:e>
                      <m:sub>
                        <m:r>
                          <a:rPr lang="en-US" altLang="zh-CN" sz="2000" i="1">
                            <a:solidFill>
                              <a:srgbClr val="000000"/>
                            </a:solidFill>
                            <a:latin typeface="Cambria Math" panose="02040503050406030204" pitchFamily="18" charset="0"/>
                            <a:ea typeface="+mn-ea"/>
                            <a:cs typeface="宋体" pitchFamily="2" charset="-122"/>
                          </a:rPr>
                          <m:t>1</m:t>
                        </m:r>
                      </m:sub>
                    </m:sSub>
                    <m:r>
                      <a:rPr lang="en-US" altLang="zh-CN" sz="2000" i="1">
                        <a:solidFill>
                          <a:srgbClr val="000000"/>
                        </a:solidFill>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ea typeface="+mn-ea"/>
                            <a:cs typeface="宋体" pitchFamily="2" charset="-122"/>
                          </a:rPr>
                        </m:ctrlPr>
                      </m:sSubPr>
                      <m:e>
                        <m:r>
                          <a:rPr lang="en-US" altLang="zh-CN" sz="2000" i="1">
                            <a:solidFill>
                              <a:srgbClr val="000000"/>
                            </a:solidFill>
                            <a:latin typeface="Cambria Math" panose="02040503050406030204" pitchFamily="18" charset="0"/>
                            <a:ea typeface="+mn-ea"/>
                            <a:cs typeface="宋体" pitchFamily="2" charset="-122"/>
                          </a:rPr>
                          <m:t>𝐶</m:t>
                        </m:r>
                      </m:e>
                      <m:sub>
                        <m:r>
                          <a:rPr lang="en-US" altLang="zh-CN" sz="2000" i="1">
                            <a:solidFill>
                              <a:srgbClr val="000000"/>
                            </a:solidFill>
                            <a:latin typeface="Cambria Math" panose="02040503050406030204" pitchFamily="18" charset="0"/>
                            <a:ea typeface="+mn-ea"/>
                            <a:cs typeface="宋体" pitchFamily="2" charset="-122"/>
                          </a:rPr>
                          <m:t>2</m:t>
                        </m:r>
                      </m:sub>
                    </m:sSub>
                    <m:r>
                      <a:rPr lang="en-US" altLang="zh-CN" sz="2000" i="1">
                        <a:solidFill>
                          <a:srgbClr val="000000"/>
                        </a:solidFill>
                        <a:latin typeface="Cambria Math" panose="02040503050406030204" pitchFamily="18" charset="0"/>
                        <a:ea typeface="+mn-ea"/>
                        <a:cs typeface="宋体" pitchFamily="2" charset="-122"/>
                      </a:rPr>
                      <m:t>)</m:t>
                    </m:r>
                  </m:oMath>
                </a14:m>
                <a:r>
                  <a:rPr lang="en-US" sz="2000" b="0" dirty="0">
                    <a:solidFill>
                      <a:srgbClr val="303030"/>
                    </a:solidFill>
                    <a:latin typeface="+mn-lt"/>
                    <a:ea typeface="+mn-ea"/>
                  </a:rPr>
                  <a:t> </a:t>
                </a:r>
                <a:r>
                  <a:rPr sz="2000" b="0" dirty="0" err="1">
                    <a:solidFill>
                      <a:srgbClr val="303030"/>
                    </a:solidFill>
                    <a:latin typeface="+mn-lt"/>
                    <a:ea typeface="+mn-ea"/>
                  </a:rPr>
                  <a:t>仍不足以保护该构造</a:t>
                </a:r>
                <a:endParaRPr sz="2000" b="0" dirty="0">
                  <a:solidFill>
                    <a:srgbClr val="303030"/>
                  </a:solidFill>
                  <a:latin typeface="+mn-lt"/>
                  <a:ea typeface="+mn-ea"/>
                </a:endParaRPr>
              </a:p>
            </p:txBody>
          </p:sp>
        </mc:Choice>
        <mc:Fallback xmlns="">
          <p:sp>
            <p:nvSpPr>
              <p:cNvPr id="11" name="矩形 10"/>
              <p:cNvSpPr>
                <a:spLocks noGrp="1" noRot="1" noChangeAspect="1" noMove="1" noResize="1" noEditPoints="1" noAdjustHandles="1" noChangeArrowheads="1" noChangeShapeType="1" noTextEdit="1"/>
              </p:cNvSpPr>
              <p:nvPr/>
            </p:nvSpPr>
            <p:spPr>
              <a:xfrm>
                <a:off x="1337582" y="5042888"/>
                <a:ext cx="10001250" cy="552450"/>
              </a:xfrm>
              <a:prstGeom prst="rect">
                <a:avLst/>
              </a:prstGeom>
              <a:blipFill>
                <a:blip r:embed="rId3"/>
                <a:stretch>
                  <a:fillRect l="-1523" b="-5495"/>
                </a:stretch>
              </a:blipFill>
              <a:ln w="0">
                <a:noFill/>
              </a:ln>
            </p:spPr>
            <p:txBody>
              <a:bodyPr/>
              <a:lstStyle/>
              <a:p>
                <a:r>
                  <a:rPr lang="zh-CN" altLang="en-US">
                    <a:noFill/>
                  </a:rPr>
                  <a:t> </a:t>
                </a:r>
              </a:p>
            </p:txBody>
          </p:sp>
        </mc:Fallback>
      </mc:AlternateContent>
      <p:sp>
        <p:nvSpPr>
          <p:cNvPr id="12" name="圆角矩形 11"/>
          <p:cNvSpPr>
            <a:spLocks noGrp="1"/>
          </p:cNvSpPr>
          <p:nvPr/>
        </p:nvSpPr>
        <p:spPr>
          <a:xfrm>
            <a:off x="718457" y="5768161"/>
            <a:ext cx="10668000" cy="638175"/>
          </a:xfrm>
          <a:prstGeom prst="roundRect">
            <a:avLst>
              <a:gd name="adj" fmla="val 11940"/>
            </a:avLst>
          </a:prstGeom>
          <a:solidFill>
            <a:srgbClr val="FFF1F1"/>
          </a:solidFill>
          <a:ln w="9525">
            <a:solidFill>
              <a:srgbClr val="F3CACA"/>
            </a:solidFill>
          </a:ln>
        </p:spPr>
      </p:sp>
      <p:sp>
        <p:nvSpPr>
          <p:cNvPr id="13" name="矩形 12"/>
          <p:cNvSpPr>
            <a:spLocks noGrp="1"/>
          </p:cNvSpPr>
          <p:nvPr/>
        </p:nvSpPr>
        <p:spPr>
          <a:xfrm>
            <a:off x="956582" y="5863411"/>
            <a:ext cx="10191750" cy="447675"/>
          </a:xfrm>
          <a:prstGeom prst="rect">
            <a:avLst/>
          </a:prstGeom>
          <a:noFill/>
          <a:ln w="0">
            <a:noFill/>
          </a:ln>
        </p:spPr>
        <p:txBody>
          <a:bodyPr wrap="square" lIns="0" tIns="0" rIns="0" bIns="0" anchor="ctr">
            <a:noAutofit/>
          </a:bodyPr>
          <a:lstStyle>
            <a:defPPr algn="ctr">
              <a:defRPr sz="2325" b="0">
                <a:solidFill>
                  <a:srgbClr val="C90012"/>
                </a:solidFill>
                <a:latin typeface="Times New Roman" panose="02020503050405090304"/>
                <a:ea typeface="微软雅黑"/>
                <a:cs typeface="Times New Roman" panose="02020503050405090304"/>
              </a:defRPr>
            </a:defPPr>
          </a:lstStyle>
          <a:p>
            <a:pPr algn="ctr">
              <a:defRPr sz="2325" b="0">
                <a:solidFill>
                  <a:srgbClr val="C90012"/>
                </a:solidFill>
                <a:latin typeface="Times New Roman" panose="02020503050405090304"/>
                <a:ea typeface="微软雅黑"/>
                <a:cs typeface="Times New Roman" panose="02020503050405090304"/>
              </a:defRPr>
            </a:pPr>
            <a:r>
              <a:rPr sz="2000" b="0" dirty="0">
                <a:solidFill>
                  <a:srgbClr val="C90012"/>
                </a:solidFill>
                <a:latin typeface="+mn-lt"/>
                <a:ea typeface="+mn-ea"/>
                <a:cs typeface="Times New Roman" panose="02020503050405090304"/>
              </a:rPr>
              <a:t>(</a:t>
            </a:r>
            <a:r>
              <a:rPr sz="2000" b="0" i="1" dirty="0">
                <a:solidFill>
                  <a:srgbClr val="C90012"/>
                </a:solidFill>
                <a:latin typeface="+mn-lt"/>
                <a:ea typeface="+mn-ea"/>
                <a:cs typeface="Times New Roman" panose="02020503050405090304"/>
              </a:rPr>
              <a:t>M</a:t>
            </a:r>
            <a:r>
              <a:rPr sz="2000" b="0" i="1" baseline="-25000" dirty="0">
                <a:solidFill>
                  <a:srgbClr val="C90012"/>
                </a:solidFill>
                <a:latin typeface="+mn-lt"/>
                <a:ea typeface="+mn-ea"/>
                <a:cs typeface="Times New Roman" panose="02020503050405090304"/>
              </a:rPr>
              <a:t>b</a:t>
            </a:r>
            <a:r>
              <a:rPr sz="2000" b="0" dirty="0">
                <a:solidFill>
                  <a:srgbClr val="C90012"/>
                </a:solidFill>
                <a:latin typeface="+mn-lt"/>
                <a:ea typeface="+mn-ea"/>
                <a:cs typeface="Times New Roman" panose="02020503050405090304"/>
              </a:rPr>
              <a:t> ⊕ </a:t>
            </a:r>
            <a:r>
              <a:rPr sz="2000" b="0" dirty="0" err="1">
                <a:solidFill>
                  <a:srgbClr val="C90012"/>
                </a:solidFill>
                <a:latin typeface="+mn-lt"/>
                <a:ea typeface="+mn-ea"/>
                <a:cs typeface="Times New Roman" panose="02020503050405090304"/>
              </a:rPr>
              <a:t>Δ</a:t>
            </a:r>
            <a:r>
              <a:rPr sz="2000" b="0" dirty="0">
                <a:solidFill>
                  <a:srgbClr val="C90012"/>
                </a:solidFill>
                <a:latin typeface="+mn-lt"/>
                <a:ea typeface="+mn-ea"/>
                <a:cs typeface="Times New Roman" panose="02020503050405090304"/>
              </a:rPr>
              <a:t>) ⊕ </a:t>
            </a:r>
            <a:r>
              <a:rPr sz="2000" b="0" dirty="0" err="1">
                <a:solidFill>
                  <a:srgbClr val="C90012"/>
                </a:solidFill>
                <a:latin typeface="+mn-lt"/>
                <a:ea typeface="+mn-ea"/>
                <a:cs typeface="Times New Roman" panose="02020503050405090304"/>
              </a:rPr>
              <a:t>Δ</a:t>
            </a:r>
            <a:r>
              <a:rPr sz="2000" b="0" dirty="0">
                <a:solidFill>
                  <a:srgbClr val="C90012"/>
                </a:solidFill>
                <a:latin typeface="+mn-lt"/>
                <a:ea typeface="+mn-ea"/>
                <a:cs typeface="Times New Roman" panose="02020503050405090304"/>
              </a:rPr>
              <a:t> = </a:t>
            </a:r>
            <a:r>
              <a:rPr sz="2000" b="0" i="1" dirty="0">
                <a:solidFill>
                  <a:srgbClr val="C90012"/>
                </a:solidFill>
                <a:latin typeface="+mn-lt"/>
                <a:ea typeface="+mn-ea"/>
                <a:cs typeface="Times New Roman" panose="02020503050405090304"/>
              </a:rPr>
              <a:t>M</a:t>
            </a:r>
            <a:r>
              <a:rPr sz="2000" b="0" i="1" baseline="-25000" dirty="0">
                <a:solidFill>
                  <a:srgbClr val="C90012"/>
                </a:solidFill>
                <a:latin typeface="+mn-lt"/>
                <a:ea typeface="+mn-ea"/>
                <a:cs typeface="Times New Roman" panose="02020503050405090304"/>
              </a:rPr>
              <a:t>b</a:t>
            </a:r>
          </a:p>
        </p:txBody>
      </p:sp>
      <p:sp>
        <p:nvSpPr>
          <p:cNvPr id="15" name="矩形 14"/>
          <p:cNvSpPr>
            <a:spLocks noGrp="1"/>
          </p:cNvSpPr>
          <p:nvPr/>
        </p:nvSpPr>
        <p:spPr>
          <a:xfrm>
            <a:off x="718457" y="374571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dirty="0">
                <a:solidFill>
                  <a:srgbClr val="C90012"/>
                </a:solidFill>
                <a:latin typeface="+mn-lt"/>
                <a:ea typeface="+mn-ea"/>
                <a:cs typeface="Times New Roman" panose="02020503050405090304"/>
              </a:rPr>
              <a:t>01</a:t>
            </a:r>
          </a:p>
        </p:txBody>
      </p:sp>
      <mc:AlternateContent xmlns:mc="http://schemas.openxmlformats.org/markup-compatibility/2006" xmlns:a14="http://schemas.microsoft.com/office/drawing/2010/main">
        <mc:Choice Requires="a14">
          <p:sp>
            <p:nvSpPr>
              <p:cNvPr id="16" name="矩形 15"/>
              <p:cNvSpPr>
                <a:spLocks noGrp="1"/>
              </p:cNvSpPr>
              <p:nvPr/>
            </p:nvSpPr>
            <p:spPr>
              <a:xfrm>
                <a:off x="1337582" y="3767488"/>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mn-lt"/>
                    <a:ea typeface="+mn-ea"/>
                  </a:rPr>
                  <a:t>杂凑ElGamal的挑战密文为</a:t>
                </a:r>
                <a:r>
                  <a:rPr lang="en-US" sz="2000" b="0" dirty="0">
                    <a:solidFill>
                      <a:srgbClr val="303030"/>
                    </a:solidFill>
                    <a:latin typeface="+mn-lt"/>
                    <a:ea typeface="+mn-ea"/>
                  </a:rPr>
                  <a:t> </a:t>
                </a:r>
                <a14:m>
                  <m:oMath xmlns:m="http://schemas.openxmlformats.org/officeDocument/2006/math">
                    <m:r>
                      <m:rPr>
                        <m:nor/>
                      </m:rPr>
                      <a:rPr lang="en-US" altLang="zh-CN" sz="2000" i="1" smtClean="0">
                        <a:solidFill>
                          <a:srgbClr val="000000"/>
                        </a:solidFill>
                        <a:latin typeface="+mn-lt"/>
                        <a:ea typeface="+mn-ea"/>
                        <a:cs typeface="宋体" pitchFamily="2" charset="-122"/>
                      </a:rPr>
                      <m:t>C</m:t>
                    </m:r>
                    <m:r>
                      <a:rPr lang="en-US" altLang="zh-CN" sz="2000" i="1">
                        <a:solidFill>
                          <a:srgbClr val="000000"/>
                        </a:solidFill>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ea typeface="+mn-ea"/>
                            <a:cs typeface="宋体" pitchFamily="2" charset="-122"/>
                          </a:rPr>
                        </m:ctrlPr>
                      </m:sSubPr>
                      <m:e>
                        <m:r>
                          <a:rPr lang="en-US" altLang="zh-CN" sz="2000" i="1">
                            <a:solidFill>
                              <a:srgbClr val="000000"/>
                            </a:solidFill>
                            <a:latin typeface="Cambria Math" panose="02040503050406030204" pitchFamily="18" charset="0"/>
                            <a:ea typeface="+mn-ea"/>
                            <a:cs typeface="宋体" pitchFamily="2" charset="-122"/>
                          </a:rPr>
                          <m:t>𝐶</m:t>
                        </m:r>
                      </m:e>
                      <m:sub>
                        <m:r>
                          <a:rPr lang="en-US" altLang="zh-CN" sz="2000" i="1">
                            <a:solidFill>
                              <a:srgbClr val="000000"/>
                            </a:solidFill>
                            <a:latin typeface="Cambria Math" panose="02040503050406030204" pitchFamily="18" charset="0"/>
                            <a:ea typeface="+mn-ea"/>
                            <a:cs typeface="宋体" pitchFamily="2" charset="-122"/>
                          </a:rPr>
                          <m:t>1</m:t>
                        </m:r>
                      </m:sub>
                    </m:sSub>
                    <m:r>
                      <a:rPr lang="en-US" altLang="zh-CN" sz="2000" i="1">
                        <a:solidFill>
                          <a:srgbClr val="000000"/>
                        </a:solidFill>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ea typeface="+mn-ea"/>
                            <a:cs typeface="宋体" pitchFamily="2" charset="-122"/>
                          </a:rPr>
                        </m:ctrlPr>
                      </m:sSubPr>
                      <m:e>
                        <m:r>
                          <a:rPr lang="en-US" altLang="zh-CN" sz="2000" i="1">
                            <a:solidFill>
                              <a:srgbClr val="000000"/>
                            </a:solidFill>
                            <a:latin typeface="Cambria Math" panose="02040503050406030204" pitchFamily="18" charset="0"/>
                            <a:ea typeface="+mn-ea"/>
                            <a:cs typeface="宋体" pitchFamily="2" charset="-122"/>
                          </a:rPr>
                          <m:t>𝐶</m:t>
                        </m:r>
                      </m:e>
                      <m:sub>
                        <m:r>
                          <a:rPr lang="en-US" altLang="zh-CN" sz="2000" i="1">
                            <a:solidFill>
                              <a:srgbClr val="000000"/>
                            </a:solidFill>
                            <a:latin typeface="Cambria Math" panose="02040503050406030204" pitchFamily="18" charset="0"/>
                            <a:ea typeface="+mn-ea"/>
                            <a:cs typeface="宋体" pitchFamily="2" charset="-122"/>
                          </a:rPr>
                          <m:t>2</m:t>
                        </m:r>
                      </m:sub>
                    </m:sSub>
                    <m:r>
                      <a:rPr lang="en-US" altLang="zh-CN" sz="2000" i="1">
                        <a:solidFill>
                          <a:srgbClr val="000000"/>
                        </a:solidFill>
                        <a:latin typeface="Cambria Math" panose="02040503050406030204" pitchFamily="18" charset="0"/>
                        <a:ea typeface="+mn-ea"/>
                        <a:cs typeface="宋体" pitchFamily="2" charset="-122"/>
                      </a:rPr>
                      <m:t>)</m:t>
                    </m:r>
                  </m:oMath>
                </a14:m>
                <a:endParaRPr sz="2000" b="0" dirty="0">
                  <a:solidFill>
                    <a:srgbClr val="303030"/>
                  </a:solidFill>
                  <a:latin typeface="+mn-lt"/>
                  <a:ea typeface="+mn-ea"/>
                </a:endParaRPr>
              </a:p>
            </p:txBody>
          </p:sp>
        </mc:Choice>
        <mc:Fallback xmlns="">
          <p:sp>
            <p:nvSpPr>
              <p:cNvPr id="16" name="矩形 15"/>
              <p:cNvSpPr>
                <a:spLocks noGrp="1" noRot="1" noChangeAspect="1" noMove="1" noResize="1" noEditPoints="1" noAdjustHandles="1" noChangeArrowheads="1" noChangeShapeType="1" noTextEdit="1"/>
              </p:cNvSpPr>
              <p:nvPr/>
            </p:nvSpPr>
            <p:spPr>
              <a:xfrm>
                <a:off x="1337582" y="3767488"/>
                <a:ext cx="10001250" cy="552450"/>
              </a:xfrm>
              <a:prstGeom prst="rect">
                <a:avLst/>
              </a:prstGeom>
              <a:blipFill>
                <a:blip r:embed="rId4"/>
                <a:stretch>
                  <a:fillRect l="-1523" b="-5495"/>
                </a:stretch>
              </a:blipFill>
              <a:ln w="0">
                <a:noFill/>
              </a:ln>
            </p:spPr>
            <p:txBody>
              <a:bodyPr/>
              <a:lstStyle/>
              <a:p>
                <a:r>
                  <a:rPr lang="zh-CN" altLang="en-US">
                    <a:noFill/>
                  </a:rPr>
                  <a:t> </a:t>
                </a:r>
              </a:p>
            </p:txBody>
          </p:sp>
        </mc:Fallback>
      </mc:AlternateContent>
      <p:sp>
        <p:nvSpPr>
          <p:cNvPr id="22" name="Rounded Rectangle 8"/>
          <p:cNvSpPr/>
          <p:nvPr/>
        </p:nvSpPr>
        <p:spPr>
          <a:xfrm>
            <a:off x="585058" y="923618"/>
            <a:ext cx="10746972" cy="2631954"/>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文本框 22"/>
              <p:cNvSpPr txBox="1"/>
              <p:nvPr/>
            </p:nvSpPr>
            <p:spPr>
              <a:xfrm>
                <a:off x="640010" y="901044"/>
                <a:ext cx="10668000" cy="2563907"/>
              </a:xfrm>
              <a:prstGeom prst="rect">
                <a:avLst/>
              </a:prstGeom>
              <a:noFill/>
            </p:spPr>
            <p:txBody>
              <a:bodyPr wrap="square">
                <a:spAutoFit/>
              </a:bodyPr>
              <a:lstStyle/>
              <a:p>
                <a:pPr indent="266700" algn="just">
                  <a:lnSpc>
                    <a:spcPct val="132000"/>
                  </a:lnSpc>
                  <a:buNone/>
                </a:pPr>
                <a:r>
                  <a:rPr lang="zh-CN" altLang="en-US" sz="2000" dirty="0">
                    <a:solidFill>
                      <a:srgbClr val="000000"/>
                    </a:solidFill>
                    <a:latin typeface="+mn-lt"/>
                    <a:ea typeface="+mn-ea"/>
                    <a:cs typeface="Times New Roman" panose="02020503050405090304" pitchFamily="18" charset="0"/>
                  </a:rPr>
                  <a:t>杂凑</a:t>
                </a:r>
                <a:r>
                  <a:rPr lang="en-US" altLang="zh-CN" sz="2000" dirty="0">
                    <a:solidFill>
                      <a:srgbClr val="000000"/>
                    </a:solidFill>
                    <a:effectLst/>
                    <a:latin typeface="+mn-lt"/>
                    <a:ea typeface="+mn-ea"/>
                    <a:cs typeface="宋体" pitchFamily="2" charset="-122"/>
                  </a:rPr>
                  <a:t>ElGamal</a:t>
                </a:r>
                <a:r>
                  <a:rPr lang="zh-CN" altLang="zh-CN" sz="2000" dirty="0">
                    <a:solidFill>
                      <a:srgbClr val="000000"/>
                    </a:solidFill>
                    <a:effectLst/>
                    <a:latin typeface="+mn-lt"/>
                    <a:ea typeface="+mn-ea"/>
                    <a:cs typeface="Times New Roman" panose="02020503050405090304" pitchFamily="18" charset="0"/>
                  </a:rPr>
                  <a:t>公钥加密</a:t>
                </a:r>
                <a:r>
                  <a:rPr lang="zh-CN" altLang="en-US" sz="2000" dirty="0">
                    <a:solidFill>
                      <a:srgbClr val="000000"/>
                    </a:solidFill>
                    <a:effectLst/>
                    <a:latin typeface="+mn-lt"/>
                    <a:ea typeface="+mn-ea"/>
                    <a:cs typeface="Times New Roman" panose="02020503050405090304" pitchFamily="18" charset="0"/>
                  </a:rPr>
                  <a:t>方案</a:t>
                </a:r>
                <a14:m>
                  <m:oMath xmlns:m="http://schemas.openxmlformats.org/officeDocument/2006/math">
                    <m:r>
                      <m:rPr>
                        <m:sty m:val="p"/>
                      </m:rPr>
                      <a:rPr lang="en-US" altLang="zh-CN" sz="2000" i="0" smtClean="0">
                        <a:solidFill>
                          <a:srgbClr val="000000"/>
                        </a:solidFill>
                        <a:effectLst/>
                        <a:latin typeface="Cambria Math" panose="02040503050406030204" pitchFamily="18" charset="0"/>
                        <a:ea typeface="+mn-ea"/>
                        <a:cs typeface="Times New Roman" panose="02020503050405090304" pitchFamily="18" charset="0"/>
                      </a:rPr>
                      <m:t>PKE</m:t>
                    </m:r>
                    <m:r>
                      <m:rPr>
                        <m:nor/>
                      </m:rPr>
                      <a:rPr lang="en-US" altLang="zh-CN" sz="2000">
                        <a:solidFill>
                          <a:srgbClr val="000000"/>
                        </a:solidFill>
                        <a:effectLst/>
                        <a:latin typeface="+mn-lt"/>
                        <a:ea typeface="+mn-ea"/>
                        <a:cs typeface="Times New Roman" panose="02020503050405090304" pitchFamily="18" charset="0"/>
                      </a:rPr>
                      <m:t>=(</m:t>
                    </m:r>
                    <m:r>
                      <m:rPr>
                        <m:nor/>
                      </m:rPr>
                      <a:rPr lang="en-US" altLang="zh-CN" sz="2000">
                        <a:solidFill>
                          <a:srgbClr val="000000"/>
                        </a:solidFill>
                        <a:effectLst/>
                        <a:latin typeface="+mn-lt"/>
                        <a:ea typeface="+mn-ea"/>
                        <a:cs typeface="Times New Roman" panose="02020503050405090304" pitchFamily="18" charset="0"/>
                      </a:rPr>
                      <m:t>Gen</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Enc</m:t>
                    </m:r>
                    <m:r>
                      <m:rPr>
                        <m:nor/>
                      </m:rPr>
                      <a:rPr lang="en-US" altLang="zh-CN" sz="2000">
                        <a:solidFill>
                          <a:srgbClr val="000000"/>
                        </a:solidFill>
                        <a:effectLst/>
                        <a:latin typeface="+mn-lt"/>
                        <a:ea typeface="+mn-ea"/>
                        <a:cs typeface="Times New Roman" panose="02020503050405090304" pitchFamily="18" charset="0"/>
                      </a:rPr>
                      <m:t>, </m:t>
                    </m:r>
                    <m:r>
                      <m:rPr>
                        <m:nor/>
                      </m:rPr>
                      <a:rPr lang="en-US" altLang="zh-CN" sz="2000">
                        <a:solidFill>
                          <a:srgbClr val="000000"/>
                        </a:solidFill>
                        <a:effectLst/>
                        <a:latin typeface="+mn-lt"/>
                        <a:ea typeface="+mn-ea"/>
                        <a:cs typeface="Times New Roman" panose="02020503050405090304" pitchFamily="18" charset="0"/>
                      </a:rPr>
                      <m:t>Dec</m:t>
                    </m:r>
                    <m:r>
                      <m:rPr>
                        <m:nor/>
                      </m:rPr>
                      <a:rPr lang="en-US" altLang="zh-CN" sz="2000">
                        <a:solidFill>
                          <a:srgbClr val="000000"/>
                        </a:solidFill>
                        <a:effectLst/>
                        <a:latin typeface="+mn-lt"/>
                        <a:ea typeface="+mn-ea"/>
                        <a:cs typeface="Times New Roman" panose="02020503050405090304" pitchFamily="18" charset="0"/>
                      </a:rPr>
                      <m:t>)</m:t>
                    </m:r>
                  </m:oMath>
                </a14:m>
                <a:r>
                  <a:rPr lang="zh-CN" altLang="en-US" sz="2000" dirty="0">
                    <a:solidFill>
                      <a:srgbClr val="000000"/>
                    </a:solidFill>
                    <a:effectLst/>
                    <a:latin typeface="+mn-lt"/>
                    <a:ea typeface="+mn-ea"/>
                    <a:cs typeface="Times New Roman" panose="02020503050405090304" pitchFamily="18" charset="0"/>
                  </a:rPr>
                  <a:t> </a:t>
                </a:r>
                <a:r>
                  <a:rPr lang="zh-CN" altLang="zh-CN" sz="2000" dirty="0">
                    <a:solidFill>
                      <a:srgbClr val="000000"/>
                    </a:solidFill>
                    <a:effectLst/>
                    <a:latin typeface="+mn-lt"/>
                    <a:ea typeface="+mn-ea"/>
                    <a:cs typeface="Times New Roman" panose="02020503050405090304" pitchFamily="18" charset="0"/>
                  </a:rPr>
                  <a:t>由如下算法组成。</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latin typeface="+mn-lt"/>
                        <a:ea typeface="+mn-ea"/>
                        <a:cs typeface="Times New Roman" panose="02020503050405090304" pitchFamily="18" charset="0"/>
                      </a:rPr>
                      <m:t>Gen</m:t>
                    </m:r>
                    <m:r>
                      <m:rPr>
                        <m:nor/>
                      </m:rPr>
                      <a:rPr lang="en-US" altLang="zh-CN" sz="2000">
                        <a:solidFill>
                          <a:srgbClr val="000000"/>
                        </a:solidFill>
                        <a:latin typeface="+mn-lt"/>
                        <a:ea typeface="+mn-ea"/>
                        <a:cs typeface="Times New Roman" panose="02020503050405090304" pitchFamily="18" charset="0"/>
                      </a:rPr>
                      <m:t>(</m:t>
                    </m:r>
                    <m:r>
                      <m:rPr>
                        <m:nor/>
                      </m:rPr>
                      <a:rPr lang="zh-CN" altLang="zh-CN" sz="2000" dirty="0">
                        <a:latin typeface="+mn-lt"/>
                        <a:ea typeface="+mn-ea"/>
                        <a:cs typeface="Times New Roman" panose="02020503050405090304" pitchFamily="18" charset="0"/>
                      </a:rPr>
                      <m:t>λ</m:t>
                    </m:r>
                    <m:r>
                      <m:rPr>
                        <m:nor/>
                      </m:rPr>
                      <a:rPr lang="en-US" altLang="zh-CN" sz="2000">
                        <a:solidFill>
                          <a:srgbClr val="000000"/>
                        </a:solidFill>
                        <a:latin typeface="+mn-lt"/>
                        <a:ea typeface="+mn-ea"/>
                        <a:cs typeface="Times New Roman" panose="02020503050405090304" pitchFamily="18" charset="0"/>
                      </a:rPr>
                      <m:t>)</m:t>
                    </m:r>
                  </m:oMath>
                </a14:m>
                <a:r>
                  <a:rPr lang="zh-CN" altLang="zh-CN" sz="2000" dirty="0">
                    <a:solidFill>
                      <a:srgbClr val="000000"/>
                    </a:solidFill>
                    <a:latin typeface="+mn-lt"/>
                    <a:ea typeface="+mn-ea"/>
                    <a:cs typeface="Times New Roman" panose="02020503050405090304" pitchFamily="18" charset="0"/>
                  </a:rPr>
                  <a:t>：输入为安全参数</a:t>
                </a:r>
                <a:r>
                  <a:rPr lang="en-US" altLang="zh-CN" sz="2000" dirty="0">
                    <a:solidFill>
                      <a:srgbClr val="000000"/>
                    </a:solidFill>
                    <a:latin typeface="+mn-lt"/>
                    <a:ea typeface="+mn-ea"/>
                    <a:cs typeface="Times New Roman" panose="02020503050405090304" pitchFamily="18" charset="0"/>
                  </a:rPr>
                  <a:t> </a:t>
                </a:r>
                <a:r>
                  <a:rPr lang="zh-CN" altLang="zh-CN" sz="2000" dirty="0">
                    <a:latin typeface="+mn-lt"/>
                    <a:ea typeface="+mn-ea"/>
                    <a:cs typeface="Times New Roman" panose="02020503050405090304" pitchFamily="18" charset="0"/>
                  </a:rPr>
                  <a:t>λ</a:t>
                </a:r>
                <a:r>
                  <a:rPr lang="zh-CN" altLang="en-US" sz="2000" dirty="0">
                    <a:latin typeface="+mn-lt"/>
                    <a:ea typeface="+mn-ea"/>
                    <a:cs typeface="Times New Roman" panose="02020503050405090304" pitchFamily="18" charset="0"/>
                  </a:rPr>
                  <a:t>，随机选择 </a:t>
                </a:r>
                <a:r>
                  <a:rPr lang="en-US" altLang="zh-CN" sz="2000" dirty="0">
                    <a:latin typeface="+mn-lt"/>
                    <a:ea typeface="+mn-ea"/>
                    <a:cs typeface="Times New Roman" panose="02020503050405090304" pitchFamily="18" charset="0"/>
                  </a:rPr>
                  <a:t>sk</a:t>
                </a:r>
                <a14:m>
                  <m:oMath xmlns:m="http://schemas.openxmlformats.org/officeDocument/2006/math">
                    <m:r>
                      <a:rPr lang="en-US" altLang="zh-CN" sz="2000" i="1" dirty="0" smtClean="0">
                        <a:latin typeface="Cambria Math" panose="02040503050406030204" pitchFamily="18" charset="0"/>
                        <a:ea typeface="+mn-ea"/>
                        <a:cs typeface="Times New Roman" panose="02020503050405090304" pitchFamily="18" charset="0"/>
                      </a:rPr>
                      <m:t>∈</m:t>
                    </m:r>
                    <m:sSub>
                      <m:sSubPr>
                        <m:ctrlPr>
                          <a:rPr lang="en-US" altLang="zh-CN" sz="2000" i="1" dirty="0" smtClean="0">
                            <a:latin typeface="Cambria Math" panose="02040503050406030204" pitchFamily="18" charset="0"/>
                            <a:ea typeface="+mn-ea"/>
                            <a:cs typeface="Times New Roman" panose="02020503050405090304" pitchFamily="18" charset="0"/>
                          </a:rPr>
                        </m:ctrlPr>
                      </m:sSubPr>
                      <m:e>
                        <m:r>
                          <a:rPr lang="en-US" altLang="zh-CN" sz="2000" i="1" dirty="0" smtClean="0">
                            <a:latin typeface="Cambria Math" panose="02040503050406030204" pitchFamily="18" charset="0"/>
                            <a:ea typeface="+mn-ea"/>
                            <a:cs typeface="Times New Roman" panose="02020503050405090304" pitchFamily="18" charset="0"/>
                          </a:rPr>
                          <m:t>ℤ</m:t>
                        </m:r>
                      </m:e>
                      <m:sub>
                        <m:r>
                          <a:rPr lang="en-US" altLang="zh-CN" sz="2000" i="1" dirty="0">
                            <a:latin typeface="Cambria Math" panose="02040503050406030204" pitchFamily="18" charset="0"/>
                            <a:ea typeface="+mn-ea"/>
                            <a:cs typeface="Times New Roman" panose="02020503050405090304" pitchFamily="18" charset="0"/>
                          </a:rPr>
                          <m:t>𝑞</m:t>
                        </m:r>
                      </m:sub>
                    </m:sSub>
                  </m:oMath>
                </a14:m>
                <a:r>
                  <a:rPr lang="zh-CN" altLang="en-US"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dirty="0">
                        <a:solidFill>
                          <a:srgbClr val="000000"/>
                        </a:solidFill>
                        <a:latin typeface="Cambria Math" panose="02040503050406030204" pitchFamily="18" charset="0"/>
                        <a:ea typeface="+mn-ea"/>
                        <a:cs typeface="宋体" pitchFamily="2" charset="-122"/>
                      </a:rPr>
                      <m:t>𝑌</m:t>
                    </m:r>
                    <m:r>
                      <a:rPr lang="en-US" altLang="zh-CN" sz="2000" b="0" i="1" dirty="0" smtClean="0">
                        <a:solidFill>
                          <a:srgbClr val="000000"/>
                        </a:solidFill>
                        <a:latin typeface="Cambria Math" panose="02040503050406030204" pitchFamily="18" charset="0"/>
                        <a:ea typeface="+mn-ea"/>
                        <a:cs typeface="宋体" pitchFamily="2" charset="-122"/>
                      </a:rPr>
                      <m:t>=</m:t>
                    </m:r>
                    <m:sSup>
                      <m:sSupPr>
                        <m:ctrlPr>
                          <a:rPr lang="en-US" altLang="zh-CN" sz="2000" b="0" i="1" dirty="0" smtClean="0">
                            <a:solidFill>
                              <a:srgbClr val="000000"/>
                            </a:solidFill>
                            <a:latin typeface="Cambria Math" panose="02040503050406030204" pitchFamily="18" charset="0"/>
                            <a:ea typeface="+mn-ea"/>
                          </a:rPr>
                        </m:ctrlPr>
                      </m:sSupPr>
                      <m:e>
                        <m:r>
                          <a:rPr lang="en-US" altLang="zh-CN" sz="2000" b="0" i="1" dirty="0" smtClean="0">
                            <a:solidFill>
                              <a:srgbClr val="000000"/>
                            </a:solidFill>
                            <a:latin typeface="Cambria Math" panose="02040503050406030204" pitchFamily="18" charset="0"/>
                            <a:ea typeface="+mn-ea"/>
                          </a:rPr>
                          <m:t>𝑔</m:t>
                        </m:r>
                      </m:e>
                      <m:sup>
                        <m:r>
                          <m:rPr>
                            <m:sty m:val="p"/>
                          </m:rPr>
                          <a:rPr lang="en-US" altLang="zh-CN" sz="2000" b="0" i="0" dirty="0" smtClean="0">
                            <a:solidFill>
                              <a:srgbClr val="000000"/>
                            </a:solidFill>
                            <a:latin typeface="Cambria Math" panose="02040503050406030204" pitchFamily="18" charset="0"/>
                            <a:ea typeface="+mn-ea"/>
                          </a:rPr>
                          <m:t>sk</m:t>
                        </m:r>
                      </m:sup>
                    </m:sSup>
                  </m:oMath>
                </a14:m>
                <a:r>
                  <a:rPr lang="zh-CN" altLang="en-US" sz="2000" dirty="0">
                    <a:solidFill>
                      <a:srgbClr val="000000"/>
                    </a:solidFill>
                    <a:effectLst/>
                    <a:latin typeface="+mn-lt"/>
                    <a:ea typeface="+mn-ea"/>
                    <a:cs typeface="宋体" pitchFamily="2" charset="-122"/>
                  </a:rPr>
                  <a:t>，选择安全杂凑函数</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H</a:t>
                </a:r>
                <a14:m>
                  <m:oMath xmlns:m="http://schemas.openxmlformats.org/officeDocument/2006/math">
                    <m:r>
                      <a:rPr lang="en-US" altLang="zh-CN" sz="2000" i="1">
                        <a:latin typeface="Cambria Math" panose="02040503050406030204" pitchFamily="18" charset="0"/>
                        <a:ea typeface="+mn-ea"/>
                      </a:rPr>
                      <m:t>:</m:t>
                    </m:r>
                    <m:r>
                      <a:rPr lang="zh-CN" altLang="en-US" sz="2000" i="1">
                        <a:latin typeface="Cambria Math" panose="02040503050406030204" pitchFamily="18" charset="0"/>
                        <a:ea typeface="+mn-ea"/>
                        <a:cs typeface="Times New Roman" panose="02020503050405090304" pitchFamily="18" charset="0"/>
                      </a:rPr>
                      <m:t>𝔾</m:t>
                    </m:r>
                    <m:r>
                      <a:rPr lang="en-US" altLang="zh-CN" sz="2000" i="1">
                        <a:latin typeface="Cambria Math" panose="02040503050406030204" pitchFamily="18" charset="0"/>
                        <a:ea typeface="+mn-ea"/>
                      </a:rPr>
                      <m:t>→</m:t>
                    </m:r>
                    <m:sSup>
                      <m:sSupPr>
                        <m:ctrlPr>
                          <a:rPr lang="zh-CN" altLang="zh-CN" sz="2000" i="1">
                            <a:latin typeface="Cambria Math" panose="02040503050406030204" pitchFamily="18" charset="0"/>
                            <a:ea typeface="+mn-ea"/>
                          </a:rPr>
                        </m:ctrlPr>
                      </m:sSupPr>
                      <m:e>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0</m:t>
                        </m:r>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1</m:t>
                        </m:r>
                        <m:r>
                          <a:rPr lang="en-US" altLang="zh-CN" sz="2000" i="1">
                            <a:latin typeface="Cambria Math" panose="02040503050406030204" pitchFamily="18" charset="0"/>
                            <a:ea typeface="+mn-ea"/>
                          </a:rPr>
                          <m:t>}</m:t>
                        </m:r>
                      </m:e>
                      <m:sup>
                        <m:r>
                          <a:rPr lang="en-US" altLang="zh-CN" sz="2000" b="0" i="1" smtClean="0">
                            <a:latin typeface="Cambria Math" panose="02040503050406030204" pitchFamily="18" charset="0"/>
                            <a:ea typeface="+mn-ea"/>
                          </a:rPr>
                          <m:t>𝑛</m:t>
                        </m:r>
                      </m:sup>
                    </m:sSup>
                  </m:oMath>
                </a14:m>
                <a:r>
                  <a:rPr lang="zh-CN" altLang="en-US" sz="2000" dirty="0">
                    <a:solidFill>
                      <a:srgbClr val="000000"/>
                    </a:solidFill>
                    <a:effectLst/>
                    <a:latin typeface="+mn-lt"/>
                    <a:ea typeface="+mn-ea"/>
                    <a:cs typeface="宋体" pitchFamily="2" charset="-122"/>
                  </a:rPr>
                  <a:t>，</a:t>
                </a:r>
                <a:r>
                  <a:rPr lang="zh-CN" altLang="zh-CN" sz="2000" dirty="0">
                    <a:solidFill>
                      <a:srgbClr val="000000"/>
                    </a:solidFill>
                    <a:effectLst/>
                    <a:latin typeface="+mn-lt"/>
                    <a:ea typeface="+mn-ea"/>
                    <a:cs typeface="宋体" pitchFamily="2" charset="-122"/>
                  </a:rPr>
                  <a:t>输出公私钥对</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r>
                      <m:rPr>
                        <m:sty m:val="p"/>
                      </m:rPr>
                      <a:rPr lang="en-US" altLang="zh-CN" sz="2000" i="0">
                        <a:solidFill>
                          <a:srgbClr val="000000"/>
                        </a:solidFill>
                        <a:effectLst/>
                        <a:latin typeface="Cambria Math" panose="02040503050406030204" pitchFamily="18" charset="0"/>
                        <a:ea typeface="+mn-ea"/>
                        <a:cs typeface="宋体" pitchFamily="2" charset="-122"/>
                      </a:rPr>
                      <m:t>pk</m:t>
                    </m:r>
                    <m:r>
                      <a:rPr lang="en-US" altLang="zh-CN" sz="2000" i="0">
                        <a:solidFill>
                          <a:srgbClr val="000000"/>
                        </a:solidFill>
                        <a:effectLst/>
                        <a:latin typeface="Cambria Math" panose="02040503050406030204" pitchFamily="18" charset="0"/>
                        <a:ea typeface="+mn-ea"/>
                        <a:cs typeface="宋体" pitchFamily="2" charset="-122"/>
                      </a:rPr>
                      <m:t>,</m:t>
                    </m:r>
                    <m:r>
                      <m:rPr>
                        <m:sty m:val="p"/>
                      </m:rPr>
                      <a:rPr lang="en-US" altLang="zh-CN" sz="2000" i="0">
                        <a:solidFill>
                          <a:srgbClr val="000000"/>
                        </a:solidFill>
                        <a:effectLst/>
                        <a:latin typeface="Cambria Math" panose="02040503050406030204" pitchFamily="18" charset="0"/>
                        <a:ea typeface="+mn-ea"/>
                        <a:cs typeface="宋体" pitchFamily="2" charset="-122"/>
                      </a:rPr>
                      <m:t>sk</m:t>
                    </m:r>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a:t>
                </a:r>
                <a14:m>
                  <m:oMath xmlns:m="http://schemas.openxmlformats.org/officeDocument/2006/math">
                    <m:r>
                      <a:rPr lang="zh-CN" altLang="en-US" sz="2000" i="1" dirty="0">
                        <a:solidFill>
                          <a:srgbClr val="000000"/>
                        </a:solidFill>
                        <a:latin typeface="Cambria Math" panose="02040503050406030204" pitchFamily="18" charset="0"/>
                        <a:ea typeface="+mn-ea"/>
                        <a:cs typeface="宋体" pitchFamily="2" charset="-122"/>
                      </a:rPr>
                      <m:t>其中</m:t>
                    </m:r>
                    <m:r>
                      <a:rPr lang="en-US" altLang="zh-CN" sz="2000" b="0" i="1" dirty="0" smtClean="0">
                        <a:solidFill>
                          <a:srgbClr val="000000"/>
                        </a:solidFill>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pk</m:t>
                    </m:r>
                    <m:r>
                      <a:rPr lang="en-US" altLang="zh-CN" sz="2000" i="1">
                        <a:solidFill>
                          <a:srgbClr val="000000"/>
                        </a:solidFill>
                        <a:effectLst/>
                        <a:latin typeface="Cambria Math" panose="02040503050406030204" pitchFamily="18" charset="0"/>
                        <a:ea typeface="+mn-ea"/>
                        <a:cs typeface="宋体" pitchFamily="2" charset="-122"/>
                      </a:rPr>
                      <m:t>=(</m:t>
                    </m:r>
                    <m:r>
                      <a:rPr lang="zh-CN" altLang="en-US" sz="2000" i="1">
                        <a:latin typeface="Cambria Math" panose="02040503050406030204" pitchFamily="18" charset="0"/>
                        <a:ea typeface="+mn-ea"/>
                        <a:cs typeface="Times New Roman" panose="02020503050405090304" pitchFamily="18" charset="0"/>
                      </a:rPr>
                      <m:t>𝔾</m:t>
                    </m:r>
                    <m:r>
                      <a:rPr lang="en-US" altLang="zh-CN" sz="2000" b="0" i="1" smtClean="0">
                        <a:latin typeface="Cambria Math" panose="02040503050406030204" pitchFamily="18" charset="0"/>
                        <a:ea typeface="+mn-ea"/>
                        <a:cs typeface="Times New Roman" panose="02020503050405090304" pitchFamily="18" charset="0"/>
                      </a:rPr>
                      <m:t>,</m:t>
                    </m:r>
                    <m:r>
                      <a:rPr lang="en-US" altLang="zh-CN" sz="2000" b="0" i="1" smtClean="0">
                        <a:latin typeface="Cambria Math" panose="02040503050406030204" pitchFamily="18" charset="0"/>
                        <a:ea typeface="+mn-ea"/>
                        <a:cs typeface="Times New Roman" panose="02020503050405090304" pitchFamily="18" charset="0"/>
                      </a:rPr>
                      <m:t>𝑞</m:t>
                    </m:r>
                    <m:r>
                      <a:rPr lang="en-US" altLang="zh-CN" sz="2000" b="0" i="1" smtClean="0">
                        <a:latin typeface="Cambria Math" panose="02040503050406030204" pitchFamily="18" charset="0"/>
                        <a:ea typeface="+mn-ea"/>
                        <a:cs typeface="Times New Roman" panose="02020503050405090304" pitchFamily="18" charset="0"/>
                      </a:rPr>
                      <m:t>,</m:t>
                    </m:r>
                    <m:r>
                      <a:rPr lang="en-US" altLang="zh-CN" sz="2000" b="0" i="1" smtClean="0">
                        <a:latin typeface="Cambria Math" panose="02040503050406030204" pitchFamily="18" charset="0"/>
                        <a:ea typeface="+mn-ea"/>
                        <a:cs typeface="Times New Roman" panose="02020503050405090304" pitchFamily="18" charset="0"/>
                      </a:rPr>
                      <m:t>𝑔</m:t>
                    </m:r>
                    <m:r>
                      <a:rPr lang="en-US" altLang="zh-CN" sz="2000" b="0" i="1" smtClean="0">
                        <a:latin typeface="Cambria Math" panose="02040503050406030204" pitchFamily="18" charset="0"/>
                        <a:ea typeface="+mn-ea"/>
                        <a:cs typeface="Times New Roman" panose="02020503050405090304" pitchFamily="18" charset="0"/>
                      </a:rPr>
                      <m:t>, </m:t>
                    </m:r>
                    <m:r>
                      <a:rPr lang="en-US" altLang="zh-CN" sz="2000" i="1" dirty="0">
                        <a:solidFill>
                          <a:srgbClr val="000000"/>
                        </a:solidFill>
                        <a:latin typeface="Cambria Math" panose="02040503050406030204" pitchFamily="18" charset="0"/>
                        <a:ea typeface="+mn-ea"/>
                        <a:cs typeface="宋体" pitchFamily="2" charset="-122"/>
                      </a:rPr>
                      <m:t>𝑌</m:t>
                    </m:r>
                    <m:r>
                      <a:rPr lang="en-US" altLang="zh-CN" sz="2000" i="1">
                        <a:solidFill>
                          <a:srgbClr val="000000"/>
                        </a:solidFill>
                        <a:effectLst/>
                        <a:latin typeface="Cambria Math" panose="02040503050406030204" pitchFamily="18" charset="0"/>
                        <a:ea typeface="+mn-ea"/>
                        <a:cs typeface="宋体" pitchFamily="2" charset="-122"/>
                      </a:rPr>
                      <m:t>,</m:t>
                    </m:r>
                    <m:r>
                      <a:rPr lang="en-US" altLang="zh-CN" sz="2000" i="1">
                        <a:solidFill>
                          <a:srgbClr val="000000"/>
                        </a:solidFill>
                        <a:latin typeface="Cambria Math" panose="02040503050406030204" pitchFamily="18" charset="0"/>
                        <a:ea typeface="+mn-ea"/>
                        <a:cs typeface="宋体" pitchFamily="2" charset="-122"/>
                      </a:rPr>
                      <m:t>𝐻</m:t>
                    </m:r>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 。</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宋体" pitchFamily="2" charset="-122"/>
                      </a:rPr>
                      <m:t>Enc</m:t>
                    </m:r>
                    <m:r>
                      <m:rPr>
                        <m:nor/>
                      </m:rPr>
                      <a:rPr lang="en-US" altLang="zh-CN" sz="2000">
                        <a:solidFill>
                          <a:srgbClr val="000000"/>
                        </a:solidFill>
                        <a:effectLst/>
                        <a:latin typeface="+mn-lt"/>
                        <a:ea typeface="+mn-ea"/>
                        <a:cs typeface="宋体" pitchFamily="2" charset="-122"/>
                      </a:rPr>
                      <m:t>(</m:t>
                    </m:r>
                    <m:r>
                      <m:rPr>
                        <m:nor/>
                      </m:rPr>
                      <a:rPr lang="en-US" altLang="zh-CN" sz="2000" b="0" i="1" smtClean="0">
                        <a:solidFill>
                          <a:srgbClr val="000000"/>
                        </a:solidFill>
                        <a:effectLst/>
                        <a:latin typeface="+mn-lt"/>
                        <a:ea typeface="+mn-ea"/>
                        <a:cs typeface="宋体" pitchFamily="2" charset="-122"/>
                      </a:rPr>
                      <m:t>M</m:t>
                    </m:r>
                    <m:r>
                      <m:rPr>
                        <m:nor/>
                      </m:rPr>
                      <a:rPr lang="en-US" altLang="zh-CN" sz="2000" b="0" i="0" smtClean="0">
                        <a:solidFill>
                          <a:srgbClr val="000000"/>
                        </a:solidFill>
                        <a:effectLst/>
                        <a:latin typeface="+mn-lt"/>
                        <a:ea typeface="+mn-ea"/>
                        <a:cs typeface="宋体" pitchFamily="2" charset="-122"/>
                      </a:rPr>
                      <m:t>, </m:t>
                    </m:r>
                    <m:r>
                      <m:rPr>
                        <m:nor/>
                      </m:rPr>
                      <a:rPr lang="en-US" altLang="zh-CN" sz="2000" b="0" i="0" smtClean="0">
                        <a:solidFill>
                          <a:srgbClr val="000000"/>
                        </a:solidFill>
                        <a:effectLst/>
                        <a:latin typeface="+mn-lt"/>
                        <a:ea typeface="+mn-ea"/>
                        <a:cs typeface="宋体" pitchFamily="2" charset="-122"/>
                      </a:rPr>
                      <m:t>pk</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：输入公钥</a:t>
                </a:r>
                <a:r>
                  <a:rPr lang="en-US" altLang="zh-CN" sz="2000" dirty="0">
                    <a:solidFill>
                      <a:srgbClr val="000000"/>
                    </a:solidFill>
                    <a:effectLst/>
                    <a:latin typeface="+mn-lt"/>
                    <a:ea typeface="+mn-ea"/>
                    <a:cs typeface="宋体" pitchFamily="2" charset="-122"/>
                  </a:rPr>
                  <a:t> </a:t>
                </a:r>
                <a14:m>
                  <m:oMath xmlns:m="http://schemas.openxmlformats.org/officeDocument/2006/math">
                    <m:r>
                      <m:rPr>
                        <m:sty m:val="p"/>
                      </m:rPr>
                      <a:rPr lang="en-US" altLang="zh-CN" sz="2000">
                        <a:solidFill>
                          <a:srgbClr val="000000"/>
                        </a:solidFill>
                        <a:latin typeface="Cambria Math" panose="02040503050406030204" pitchFamily="18" charset="0"/>
                        <a:ea typeface="+mn-ea"/>
                        <a:cs typeface="宋体" pitchFamily="2" charset="-122"/>
                      </a:rPr>
                      <m:t>pk</m:t>
                    </m:r>
                    <m:r>
                      <a:rPr lang="en-US" altLang="zh-CN" sz="2000" i="1">
                        <a:solidFill>
                          <a:srgbClr val="000000"/>
                        </a:solidFill>
                        <a:latin typeface="Cambria Math" panose="02040503050406030204" pitchFamily="18" charset="0"/>
                        <a:ea typeface="+mn-ea"/>
                        <a:cs typeface="宋体" pitchFamily="2" charset="-122"/>
                      </a:rPr>
                      <m:t>=(</m:t>
                    </m:r>
                    <m:r>
                      <a:rPr lang="zh-CN" altLang="en-US" sz="2000" i="1">
                        <a:latin typeface="Cambria Math" panose="02040503050406030204" pitchFamily="18" charset="0"/>
                        <a:ea typeface="+mn-ea"/>
                        <a:cs typeface="Times New Roman" panose="02020503050405090304" pitchFamily="18" charset="0"/>
                      </a:rPr>
                      <m:t>𝔾</m:t>
                    </m:r>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cs typeface="Times New Roman" panose="02020503050405090304" pitchFamily="18" charset="0"/>
                      </a:rPr>
                      <m:t>𝑞</m:t>
                    </m:r>
                    <m:r>
                      <a:rPr lang="en-US" altLang="zh-CN" sz="2000" i="1">
                        <a:latin typeface="Cambria Math" panose="02040503050406030204" pitchFamily="18" charset="0"/>
                        <a:ea typeface="+mn-ea"/>
                        <a:cs typeface="Times New Roman" panose="02020503050405090304" pitchFamily="18" charset="0"/>
                      </a:rPr>
                      <m:t>,</m:t>
                    </m:r>
                    <m:r>
                      <a:rPr lang="en-US" altLang="zh-CN" sz="2000" i="1">
                        <a:latin typeface="Cambria Math" panose="02040503050406030204" pitchFamily="18" charset="0"/>
                        <a:ea typeface="+mn-ea"/>
                        <a:cs typeface="Times New Roman" panose="02020503050405090304" pitchFamily="18" charset="0"/>
                      </a:rPr>
                      <m:t>𝑔</m:t>
                    </m:r>
                    <m:r>
                      <a:rPr lang="en-US" altLang="zh-CN" sz="2000" i="1">
                        <a:latin typeface="Cambria Math" panose="02040503050406030204" pitchFamily="18" charset="0"/>
                        <a:ea typeface="+mn-ea"/>
                        <a:cs typeface="Times New Roman" panose="02020503050405090304" pitchFamily="18" charset="0"/>
                      </a:rPr>
                      <m:t>, </m:t>
                    </m:r>
                    <m:r>
                      <a:rPr lang="en-US" altLang="zh-CN" sz="2000" i="1" dirty="0">
                        <a:solidFill>
                          <a:srgbClr val="000000"/>
                        </a:solidFill>
                        <a:latin typeface="Cambria Math" panose="02040503050406030204" pitchFamily="18" charset="0"/>
                        <a:ea typeface="+mn-ea"/>
                        <a:cs typeface="宋体" pitchFamily="2" charset="-122"/>
                      </a:rPr>
                      <m:t>𝑌</m:t>
                    </m:r>
                    <m:r>
                      <a:rPr lang="en-US" altLang="zh-CN" sz="2000" i="1">
                        <a:solidFill>
                          <a:srgbClr val="000000"/>
                        </a:solidFill>
                        <a:latin typeface="Cambria Math" panose="02040503050406030204" pitchFamily="18" charset="0"/>
                        <a:ea typeface="+mn-ea"/>
                        <a:cs typeface="宋体" pitchFamily="2" charset="-122"/>
                      </a:rPr>
                      <m:t>,</m:t>
                    </m:r>
                    <m:r>
                      <a:rPr lang="en-US" altLang="zh-CN" sz="2000" i="1">
                        <a:solidFill>
                          <a:srgbClr val="000000"/>
                        </a:solidFill>
                        <a:latin typeface="Cambria Math" panose="02040503050406030204" pitchFamily="18" charset="0"/>
                        <a:ea typeface="+mn-ea"/>
                        <a:cs typeface="宋体" pitchFamily="2" charset="-122"/>
                      </a:rPr>
                      <m:t>𝐻</m:t>
                    </m:r>
                    <m:r>
                      <a:rPr lang="en-US" altLang="zh-CN" sz="2000" i="1">
                        <a:solidFill>
                          <a:srgbClr val="000000"/>
                        </a:solidFill>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，明文</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M</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latin typeface="+mn-lt"/>
                    <a:ea typeface="+mn-ea"/>
                  </a:rPr>
                  <a:t> </a:t>
                </a:r>
                <a14:m>
                  <m:oMath xmlns:m="http://schemas.openxmlformats.org/officeDocument/2006/math">
                    <m:sSup>
                      <m:sSupPr>
                        <m:ctrlPr>
                          <a:rPr lang="zh-CN" altLang="zh-CN" sz="2000" i="1">
                            <a:latin typeface="Cambria Math" panose="02040503050406030204" pitchFamily="18" charset="0"/>
                            <a:ea typeface="+mn-ea"/>
                          </a:rPr>
                        </m:ctrlPr>
                      </m:sSupPr>
                      <m:e>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0</m:t>
                        </m:r>
                        <m:r>
                          <a:rPr lang="en-US" altLang="zh-CN" sz="2000" i="1">
                            <a:latin typeface="Cambria Math" panose="02040503050406030204" pitchFamily="18" charset="0"/>
                            <a:ea typeface="+mn-ea"/>
                          </a:rPr>
                          <m:t>,</m:t>
                        </m:r>
                        <m:r>
                          <a:rPr lang="en-US" altLang="zh-CN" sz="2000" i="1">
                            <a:latin typeface="Cambria Math" panose="02040503050406030204" pitchFamily="18" charset="0"/>
                            <a:ea typeface="+mn-ea"/>
                          </a:rPr>
                          <m:t>1</m:t>
                        </m:r>
                        <m:r>
                          <a:rPr lang="en-US" altLang="zh-CN" sz="2000" i="1">
                            <a:latin typeface="Cambria Math" panose="02040503050406030204" pitchFamily="18" charset="0"/>
                            <a:ea typeface="+mn-ea"/>
                          </a:rPr>
                          <m:t>}</m:t>
                        </m:r>
                      </m:e>
                      <m:sup>
                        <m:r>
                          <a:rPr lang="en-US" altLang="zh-CN" sz="2000" i="1">
                            <a:latin typeface="Cambria Math" panose="02040503050406030204" pitchFamily="18" charset="0"/>
                            <a:ea typeface="+mn-ea"/>
                          </a:rPr>
                          <m:t>𝑛</m:t>
                        </m:r>
                      </m:sup>
                    </m:sSup>
                  </m:oMath>
                </a14:m>
                <a:r>
                  <a:rPr lang="zh-CN" altLang="en-US" sz="2000" dirty="0">
                    <a:solidFill>
                      <a:srgbClr val="000000"/>
                    </a:solidFill>
                    <a:effectLst/>
                    <a:latin typeface="+mn-lt"/>
                    <a:ea typeface="+mn-ea"/>
                    <a:cs typeface="宋体" pitchFamily="2" charset="-122"/>
                  </a:rPr>
                  <a:t>，先</a:t>
                </a:r>
                <a:r>
                  <a:rPr lang="zh-CN" altLang="zh-CN" sz="2000" dirty="0">
                    <a:solidFill>
                      <a:srgbClr val="000000"/>
                    </a:solidFill>
                    <a:effectLst/>
                    <a:latin typeface="+mn-lt"/>
                    <a:ea typeface="+mn-ea"/>
                    <a:cs typeface="宋体" pitchFamily="2" charset="-122"/>
                  </a:rPr>
                  <a:t>随机选择随机数</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r</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m:t>
                    </m:r>
                    <m:sSub>
                      <m:sSubPr>
                        <m:ctrlPr>
                          <a:rPr lang="zh-CN" altLang="zh-CN" sz="2000" i="1" smtClean="0">
                            <a:solidFill>
                              <a:srgbClr val="000000"/>
                            </a:solidFill>
                            <a:effectLst/>
                            <a:latin typeface="Cambria Math" panose="02040503050406030204" pitchFamily="18" charset="0"/>
                            <a:ea typeface="+mn-ea"/>
                            <a:cs typeface="宋体" pitchFamily="2" charset="-122"/>
                          </a:rPr>
                        </m:ctrlPr>
                      </m:sSubPr>
                      <m:e>
                        <m:r>
                          <a:rPr lang="en-US" altLang="zh-CN" sz="2000" i="1">
                            <a:solidFill>
                              <a:srgbClr val="000000"/>
                            </a:solidFill>
                            <a:effectLst/>
                            <a:latin typeface="Cambria Math" panose="02040503050406030204" pitchFamily="18" charset="0"/>
                            <a:ea typeface="+mn-ea"/>
                            <a:cs typeface="宋体" pitchFamily="2" charset="-122"/>
                          </a:rPr>
                          <m:t>𝑍</m:t>
                        </m:r>
                      </m:e>
                      <m:sub>
                        <m:r>
                          <a:rPr lang="en-US" altLang="zh-CN" sz="2000" i="1">
                            <a:solidFill>
                              <a:srgbClr val="000000"/>
                            </a:solidFill>
                            <a:effectLst/>
                            <a:latin typeface="Cambria Math" panose="02040503050406030204" pitchFamily="18" charset="0"/>
                            <a:ea typeface="+mn-ea"/>
                            <a:cs typeface="宋体" pitchFamily="2" charset="-122"/>
                          </a:rPr>
                          <m:t>𝑝</m:t>
                        </m:r>
                      </m:sub>
                    </m:sSub>
                  </m:oMath>
                </a14:m>
                <a:r>
                  <a:rPr lang="zh-CN" altLang="zh-CN"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宋体" pitchFamily="2" charset="-122"/>
                          </a:rPr>
                        </m:ctrlPr>
                      </m:sSubPr>
                      <m:e>
                        <m:r>
                          <a:rPr lang="en-US" altLang="zh-CN" sz="2000" b="0" i="1" smtClean="0">
                            <a:solidFill>
                              <a:srgbClr val="000000"/>
                            </a:solidFill>
                            <a:effectLst/>
                            <a:latin typeface="Cambria Math" panose="02040503050406030204" pitchFamily="18" charset="0"/>
                            <a:ea typeface="+mn-ea"/>
                            <a:cs typeface="宋体" pitchFamily="2" charset="-122"/>
                          </a:rPr>
                          <m:t>𝐶</m:t>
                        </m:r>
                      </m:e>
                      <m:sub>
                        <m:r>
                          <a:rPr lang="en-US" altLang="zh-CN" sz="2000" i="1">
                            <a:solidFill>
                              <a:srgbClr val="000000"/>
                            </a:solidFill>
                            <a:effectLst/>
                            <a:latin typeface="Cambria Math" panose="02040503050406030204" pitchFamily="18" charset="0"/>
                            <a:ea typeface="+mn-ea"/>
                            <a:cs typeface="宋体" pitchFamily="2" charset="-122"/>
                          </a:rPr>
                          <m:t>1</m:t>
                        </m:r>
                      </m:sub>
                    </m:sSub>
                    <m:r>
                      <a:rPr lang="en-US" altLang="zh-CN" sz="2000" i="1">
                        <a:solidFill>
                          <a:srgbClr val="000000"/>
                        </a:solidFill>
                        <a:effectLst/>
                        <a:latin typeface="Cambria Math" panose="02040503050406030204" pitchFamily="18" charset="0"/>
                        <a:ea typeface="+mn-ea"/>
                        <a:cs typeface="宋体" pitchFamily="2" charset="-122"/>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b="0" i="1" smtClean="0">
                            <a:solidFill>
                              <a:srgbClr val="000000"/>
                            </a:solidFill>
                            <a:effectLst/>
                            <a:latin typeface="Cambria Math" panose="02040503050406030204" pitchFamily="18" charset="0"/>
                            <a:ea typeface="+mn-ea"/>
                            <a:cs typeface="宋体" pitchFamily="2" charset="-122"/>
                          </a:rPr>
                          <m:t>𝑔</m:t>
                        </m:r>
                      </m:e>
                      <m:sup>
                        <m:r>
                          <a:rPr lang="en-US" altLang="zh-CN" sz="2000" b="0" i="1" smtClean="0">
                            <a:solidFill>
                              <a:srgbClr val="000000"/>
                            </a:solidFill>
                            <a:effectLst/>
                            <a:latin typeface="Cambria Math" panose="02040503050406030204" pitchFamily="18" charset="0"/>
                            <a:ea typeface="+mn-ea"/>
                            <a:cs typeface="宋体" pitchFamily="2" charset="-122"/>
                          </a:rPr>
                          <m:t>𝑟</m:t>
                        </m:r>
                      </m:sup>
                    </m:sSup>
                    <m:r>
                      <a:rPr lang="en-US" altLang="zh-CN" sz="2000" i="1">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宋体" pitchFamily="2" charset="-122"/>
                          </a:rPr>
                        </m:ctrlPr>
                      </m:sSubPr>
                      <m:e>
                        <m:r>
                          <a:rPr lang="en-US" altLang="zh-CN" sz="2000" b="0" i="1" smtClean="0">
                            <a:solidFill>
                              <a:srgbClr val="000000"/>
                            </a:solidFill>
                            <a:effectLst/>
                            <a:latin typeface="Cambria Math" panose="02040503050406030204" pitchFamily="18" charset="0"/>
                            <a:ea typeface="+mn-ea"/>
                            <a:cs typeface="宋体" pitchFamily="2" charset="-122"/>
                          </a:rPr>
                          <m:t>𝐶</m:t>
                        </m:r>
                      </m:e>
                      <m:sub>
                        <m:r>
                          <a:rPr lang="en-US" altLang="zh-CN" sz="2000" i="1">
                            <a:solidFill>
                              <a:srgbClr val="000000"/>
                            </a:solidFill>
                            <a:effectLst/>
                            <a:latin typeface="Cambria Math" panose="02040503050406030204" pitchFamily="18" charset="0"/>
                            <a:ea typeface="+mn-ea"/>
                            <a:cs typeface="宋体" pitchFamily="2" charset="-122"/>
                          </a:rPr>
                          <m:t>2</m:t>
                        </m:r>
                      </m:sub>
                    </m:sSub>
                    <m:r>
                      <a:rPr lang="en-US" altLang="zh-CN" sz="2000" i="1">
                        <a:solidFill>
                          <a:srgbClr val="000000"/>
                        </a:solidFill>
                        <a:effectLst/>
                        <a:latin typeface="Cambria Math" panose="02040503050406030204" pitchFamily="18" charset="0"/>
                        <a:ea typeface="+mn-ea"/>
                        <a:cs typeface="宋体" pitchFamily="2" charset="-122"/>
                      </a:rPr>
                      <m:t>=</m:t>
                    </m:r>
                    <m:r>
                      <a:rPr lang="en-US" altLang="zh-CN" sz="2000" b="0" i="1" smtClean="0">
                        <a:solidFill>
                          <a:srgbClr val="000000"/>
                        </a:solidFill>
                        <a:effectLst/>
                        <a:latin typeface="Cambria Math" panose="02040503050406030204" pitchFamily="18" charset="0"/>
                        <a:ea typeface="+mn-ea"/>
                        <a:cs typeface="宋体" pitchFamily="2" charset="-122"/>
                      </a:rPr>
                      <m:t>𝑀</m:t>
                    </m:r>
                    <m:r>
                      <a:rPr lang="en-US" altLang="zh-CN" sz="2000">
                        <a:solidFill>
                          <a:srgbClr val="000000"/>
                        </a:solidFill>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effectLst/>
                            <a:latin typeface="Cambria Math" panose="02040503050406030204" pitchFamily="18" charset="0"/>
                            <a:ea typeface="+mn-ea"/>
                            <a:cs typeface="宋体" pitchFamily="2" charset="-122"/>
                          </a:rPr>
                        </m:ctrlPr>
                      </m:sSupPr>
                      <m:e>
                        <m:r>
                          <a:rPr lang="en-US" altLang="zh-CN" sz="2000" i="1">
                            <a:solidFill>
                              <a:srgbClr val="000000"/>
                            </a:solidFill>
                            <a:effectLst/>
                            <a:latin typeface="Cambria Math" panose="02040503050406030204" pitchFamily="18" charset="0"/>
                            <a:ea typeface="+mn-ea"/>
                            <a:cs typeface="宋体" pitchFamily="2" charset="-122"/>
                          </a:rPr>
                          <m:t>𝐻</m:t>
                        </m:r>
                        <m:r>
                          <a:rPr lang="en-US" altLang="zh-CN" sz="2000" i="1">
                            <a:solidFill>
                              <a:srgbClr val="000000"/>
                            </a:solidFill>
                            <a:effectLst/>
                            <a:latin typeface="Cambria Math" panose="02040503050406030204" pitchFamily="18" charset="0"/>
                            <a:ea typeface="+mn-ea"/>
                            <a:cs typeface="宋体" pitchFamily="2" charset="-122"/>
                          </a:rPr>
                          <m:t>(</m:t>
                        </m:r>
                        <m:r>
                          <a:rPr lang="en-US" altLang="zh-CN" sz="2000" b="0" i="1" smtClean="0">
                            <a:solidFill>
                              <a:srgbClr val="000000"/>
                            </a:solidFill>
                            <a:effectLst/>
                            <a:latin typeface="Cambria Math" panose="02040503050406030204" pitchFamily="18" charset="0"/>
                            <a:ea typeface="+mn-ea"/>
                            <a:cs typeface="宋体" pitchFamily="2" charset="-122"/>
                          </a:rPr>
                          <m:t>𝑌</m:t>
                        </m:r>
                      </m:e>
                      <m:sup>
                        <m:r>
                          <a:rPr lang="en-US" altLang="zh-CN" sz="2000" b="0" i="1" smtClean="0">
                            <a:solidFill>
                              <a:srgbClr val="000000"/>
                            </a:solidFill>
                            <a:effectLst/>
                            <a:latin typeface="Cambria Math" panose="02040503050406030204" pitchFamily="18" charset="0"/>
                            <a:ea typeface="+mn-ea"/>
                            <a:cs typeface="宋体" pitchFamily="2" charset="-122"/>
                          </a:rPr>
                          <m:t>𝑟</m:t>
                        </m:r>
                      </m:sup>
                    </m:sSup>
                    <m:r>
                      <a:rPr lang="en-US" altLang="zh-CN" sz="2000" i="1">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，输出密文</a:t>
                </a:r>
                <a14:m>
                  <m:oMath xmlns:m="http://schemas.openxmlformats.org/officeDocument/2006/math">
                    <m:r>
                      <m:rPr>
                        <m:nor/>
                      </m:rPr>
                      <a:rPr lang="en-US" altLang="zh-CN" sz="2000" i="1">
                        <a:solidFill>
                          <a:srgbClr val="000000"/>
                        </a:solidFill>
                        <a:latin typeface="DejaVu Math TeX Gyre" panose="02000503000000000000" charset="0"/>
                        <a:cs typeface="宋体" pitchFamily="2" charset="-122"/>
                      </a:rPr>
                      <m:t>C</m:t>
                    </m:r>
                    <m:r>
                      <a:rPr lang="en-US" altLang="zh-CN" sz="2000" i="1">
                        <a:solidFill>
                          <a:srgbClr val="000000"/>
                        </a:solidFill>
                        <a:effectLst/>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effectLst/>
                        <a:latin typeface="Cambria Math" panose="02040503050406030204" pitchFamily="18" charset="0"/>
                        <a:ea typeface="+mn-ea"/>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effectLst/>
                        <a:latin typeface="Cambria Math" panose="02040503050406030204" pitchFamily="18" charset="0"/>
                        <a:ea typeface="+mn-ea"/>
                        <a:cs typeface="宋体" pitchFamily="2" charset="-122"/>
                      </a:rPr>
                      <m:t>)</m:t>
                    </m:r>
                  </m:oMath>
                </a14:m>
                <a:r>
                  <a:rPr lang="zh-CN" altLang="zh-CN" sz="2000" dirty="0">
                    <a:solidFill>
                      <a:srgbClr val="000000"/>
                    </a:solidFill>
                    <a:effectLst/>
                    <a:latin typeface="+mn-lt"/>
                    <a:ea typeface="+mn-ea"/>
                    <a:cs typeface="宋体" pitchFamily="2" charset="-122"/>
                  </a:rPr>
                  <a:t> 。</a:t>
                </a:r>
                <a:endParaRPr lang="zh-CN" altLang="zh-CN" sz="2000" dirty="0">
                  <a:effectLst/>
                  <a:latin typeface="+mn-lt"/>
                  <a:ea typeface="+mn-ea"/>
                  <a:cs typeface="宋体" pitchFamily="2" charset="-122"/>
                </a:endParaRPr>
              </a:p>
              <a:p>
                <a:pPr marL="342900" lvl="0" indent="-342900" algn="just" hangingPunct="0">
                  <a:lnSpc>
                    <a:spcPct val="130000"/>
                  </a:lnSpc>
                  <a:buFont typeface="Wingdings" panose="05000000000000000000" pitchFamily="2" charset="2"/>
                  <a:buChar char=""/>
                </a:pPr>
                <a14:m>
                  <m:oMath xmlns:m="http://schemas.openxmlformats.org/officeDocument/2006/math">
                    <m:r>
                      <m:rPr>
                        <m:nor/>
                      </m:rPr>
                      <a:rPr lang="en-US" altLang="zh-CN" sz="2000">
                        <a:solidFill>
                          <a:srgbClr val="000000"/>
                        </a:solidFill>
                        <a:effectLst/>
                        <a:latin typeface="+mn-lt"/>
                        <a:ea typeface="+mn-ea"/>
                        <a:cs typeface="宋体" pitchFamily="2" charset="-122"/>
                      </a:rPr>
                      <m:t>Dec</m:t>
                    </m:r>
                    <m:r>
                      <m:rPr>
                        <m:nor/>
                      </m:rPr>
                      <a:rPr lang="en-US" altLang="zh-CN" sz="2000">
                        <a:solidFill>
                          <a:srgbClr val="000000"/>
                        </a:solidFill>
                        <a:effectLst/>
                        <a:latin typeface="+mn-lt"/>
                        <a:ea typeface="+mn-ea"/>
                        <a:cs typeface="宋体" pitchFamily="2" charset="-122"/>
                      </a:rPr>
                      <m:t>(</m:t>
                    </m:r>
                    <m:r>
                      <m:rPr>
                        <m:nor/>
                      </m:rPr>
                      <a:rPr lang="en-US" altLang="zh-CN" sz="2000" b="0" i="1" smtClean="0">
                        <a:solidFill>
                          <a:srgbClr val="000000"/>
                        </a:solidFill>
                        <a:effectLst/>
                        <a:latin typeface="+mn-lt"/>
                        <a:ea typeface="+mn-ea"/>
                        <a:cs typeface="宋体" pitchFamily="2" charset="-122"/>
                      </a:rPr>
                      <m:t>C</m:t>
                    </m:r>
                    <m:r>
                      <m:rPr>
                        <m:nor/>
                      </m:rPr>
                      <a:rPr lang="en-US" altLang="zh-CN" sz="2000" b="0" i="0" smtClean="0">
                        <a:solidFill>
                          <a:srgbClr val="000000"/>
                        </a:solidFill>
                        <a:effectLst/>
                        <a:latin typeface="+mn-lt"/>
                        <a:ea typeface="+mn-ea"/>
                        <a:cs typeface="宋体" pitchFamily="2" charset="-122"/>
                      </a:rPr>
                      <m:t>, </m:t>
                    </m:r>
                    <m:r>
                      <m:rPr>
                        <m:nor/>
                      </m:rPr>
                      <a:rPr lang="en-US" altLang="zh-CN" sz="2000" b="0" i="0" smtClean="0">
                        <a:solidFill>
                          <a:srgbClr val="000000"/>
                        </a:solidFill>
                        <a:effectLst/>
                        <a:latin typeface="+mn-lt"/>
                        <a:ea typeface="+mn-ea"/>
                        <a:cs typeface="宋体" pitchFamily="2" charset="-122"/>
                      </a:rPr>
                      <m:t>sk</m:t>
                    </m:r>
                    <m:r>
                      <m:rPr>
                        <m:nor/>
                      </m:rPr>
                      <a:rPr lang="en-US" altLang="zh-CN" sz="2000">
                        <a:solidFill>
                          <a:srgbClr val="000000"/>
                        </a:solidFill>
                        <a:effectLst/>
                        <a:latin typeface="+mn-lt"/>
                        <a:ea typeface="+mn-ea"/>
                        <a:cs typeface="宋体" pitchFamily="2" charset="-122"/>
                      </a:rPr>
                      <m:t>)</m:t>
                    </m:r>
                  </m:oMath>
                </a14:m>
                <a:r>
                  <a:rPr lang="zh-CN" altLang="zh-CN" sz="2000" dirty="0">
                    <a:solidFill>
                      <a:srgbClr val="000000"/>
                    </a:solidFill>
                    <a:effectLst/>
                    <a:latin typeface="+mn-lt"/>
                    <a:ea typeface="+mn-ea"/>
                    <a:cs typeface="宋体" pitchFamily="2" charset="-122"/>
                  </a:rPr>
                  <a:t>：输入为私钥</a:t>
                </a:r>
                <a14:m>
                  <m:oMath xmlns:m="http://schemas.openxmlformats.org/officeDocument/2006/math">
                    <m:r>
                      <a:rPr lang="en-US" altLang="zh-CN" sz="2000" b="0" i="0" smtClean="0">
                        <a:solidFill>
                          <a:srgbClr val="000000"/>
                        </a:solidFill>
                        <a:effectLst/>
                        <a:latin typeface="Cambria Math" panose="02040503050406030204" pitchFamily="18" charset="0"/>
                        <a:ea typeface="+mn-ea"/>
                        <a:cs typeface="宋体" pitchFamily="2" charset="-122"/>
                      </a:rPr>
                      <m:t> </m:t>
                    </m:r>
                    <m:r>
                      <m:rPr>
                        <m:sty m:val="p"/>
                      </m:rPr>
                      <a:rPr lang="en-US" altLang="zh-CN" sz="2000" i="0">
                        <a:solidFill>
                          <a:srgbClr val="000000"/>
                        </a:solidFill>
                        <a:effectLst/>
                        <a:latin typeface="Cambria Math" panose="02040503050406030204" pitchFamily="18" charset="0"/>
                        <a:ea typeface="+mn-ea"/>
                        <a:cs typeface="宋体" pitchFamily="2" charset="-122"/>
                      </a:rPr>
                      <m:t>sk</m:t>
                    </m:r>
                  </m:oMath>
                </a14:m>
                <a:r>
                  <a:rPr lang="zh-CN" altLang="zh-CN" sz="2000" dirty="0">
                    <a:solidFill>
                      <a:srgbClr val="000000"/>
                    </a:solidFill>
                    <a:effectLst/>
                    <a:latin typeface="+mn-lt"/>
                    <a:ea typeface="+mn-ea"/>
                    <a:cs typeface="宋体" pitchFamily="2" charset="-122"/>
                  </a:rPr>
                  <a:t>，密文</a:t>
                </a:r>
                <a:r>
                  <a:rPr lang="en-US" altLang="zh-CN" sz="2000" dirty="0">
                    <a:solidFill>
                      <a:srgbClr val="000000"/>
                    </a:solidFill>
                    <a:effectLst/>
                    <a:latin typeface="+mn-lt"/>
                    <a:ea typeface="+mn-ea"/>
                    <a:cs typeface="宋体" pitchFamily="2" charset="-122"/>
                  </a:rPr>
                  <a:t> </a:t>
                </a:r>
                <a14:m>
                  <m:oMath xmlns:m="http://schemas.openxmlformats.org/officeDocument/2006/math">
                    <m:r>
                      <m:rPr>
                        <m:nor/>
                      </m:rPr>
                      <a:rPr lang="en-US" altLang="zh-CN" sz="2000" i="1">
                        <a:solidFill>
                          <a:srgbClr val="000000"/>
                        </a:solidFill>
                        <a:latin typeface="DejaVu Math TeX Gyre" panose="02000503000000000000" charset="0"/>
                        <a:cs typeface="宋体" pitchFamily="2" charset="-122"/>
                      </a:rPr>
                      <m:t>C</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m:t>
                    </m:r>
                  </m:oMath>
                </a14:m>
                <a:r>
                  <a:rPr lang="zh-CN" altLang="zh-CN" sz="2000" dirty="0">
                    <a:solidFill>
                      <a:srgbClr val="000000"/>
                    </a:solidFill>
                    <a:effectLst/>
                    <a:latin typeface="+mn-lt"/>
                    <a:ea typeface="+mn-ea"/>
                    <a:cs typeface="宋体" pitchFamily="2" charset="-122"/>
                  </a:rPr>
                  <a:t>，计算</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effectLst/>
                    <a:latin typeface="+mn-lt"/>
                    <a:ea typeface="+mn-ea"/>
                    <a:cs typeface="宋体" pitchFamily="2" charset="-122"/>
                  </a:rPr>
                  <a:t>M</a:t>
                </a:r>
                <a:r>
                  <a:rPr lang="en-US" altLang="zh-CN" sz="2000" dirty="0">
                    <a:solidFill>
                      <a:srgbClr val="000000"/>
                    </a:solidFill>
                    <a:effectLst/>
                    <a:latin typeface="+mn-lt"/>
                    <a:ea typeface="+mn-ea"/>
                    <a:cs typeface="宋体" pitchFamily="2" charset="-122"/>
                  </a:rPr>
                  <a:t>=</a:t>
                </a:r>
                <a:r>
                  <a:rPr lang="zh-CN" altLang="zh-CN" sz="2000" dirty="0">
                    <a:solidFill>
                      <a:srgbClr val="000000"/>
                    </a:solidFill>
                    <a:cs typeface="宋体" pitchFamily="2" charset="-122"/>
                  </a:rPr>
                  <a:t>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a:solidFill>
                          <a:srgbClr val="000000"/>
                        </a:solidFill>
                        <a:latin typeface="Cambria Math" panose="02040503050406030204" pitchFamily="18" charset="0"/>
                        <a:cs typeface="Times New Roman" panose="02020503050405090304" pitchFamily="18" charset="0"/>
                      </a:rPr>
                      <m:t>⨁</m:t>
                    </m:r>
                    <m:sSup>
                      <m:sSupPr>
                        <m:ctrlPr>
                          <a:rPr lang="zh-CN" altLang="zh-CN" sz="2000" i="1">
                            <a:solidFill>
                              <a:srgbClr val="000000"/>
                            </a:solidFill>
                            <a:latin typeface="Cambria Math" panose="02040503050406030204" pitchFamily="18" charset="0"/>
                            <a:cs typeface="宋体" pitchFamily="2" charset="-122"/>
                          </a:rPr>
                        </m:ctrlPr>
                      </m:sSupPr>
                      <m:e>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e>
                      <m:sup>
                        <m:r>
                          <m:rPr>
                            <m:sty m:val="p"/>
                          </m:rPr>
                          <a:rPr lang="en-US" altLang="zh-CN" sz="2000" b="0" i="0" smtClean="0">
                            <a:solidFill>
                              <a:srgbClr val="000000"/>
                            </a:solidFill>
                            <a:latin typeface="Cambria Math" panose="02040503050406030204" pitchFamily="18" charset="0"/>
                            <a:cs typeface="宋体" pitchFamily="2" charset="-122"/>
                          </a:rPr>
                          <m:t>sk</m:t>
                        </m:r>
                      </m:sup>
                    </m:sSup>
                    <m:r>
                      <a:rPr lang="en-US" altLang="zh-CN" sz="2000" b="0" i="1" smtClean="0">
                        <a:solidFill>
                          <a:srgbClr val="000000"/>
                        </a:solidFill>
                        <a:latin typeface="Cambria Math" panose="02040503050406030204" pitchFamily="18" charset="0"/>
                        <a:cs typeface="宋体" pitchFamily="2" charset="-122"/>
                      </a:rPr>
                      <m:t>)</m:t>
                    </m:r>
                  </m:oMath>
                </a14:m>
                <a:r>
                  <a:rPr lang="zh-CN" altLang="zh-CN" sz="2000" dirty="0">
                    <a:solidFill>
                      <a:srgbClr val="000000"/>
                    </a:solidFill>
                    <a:effectLst/>
                    <a:latin typeface="+mn-lt"/>
                    <a:ea typeface="+mn-ea"/>
                    <a:cs typeface="宋体" pitchFamily="2" charset="-122"/>
                  </a:rPr>
                  <a:t>，输出解密结果</a:t>
                </a:r>
                <a:r>
                  <a:rPr lang="en-US" altLang="zh-CN" sz="2000" dirty="0">
                    <a:solidFill>
                      <a:srgbClr val="000000"/>
                    </a:solidFill>
                    <a:effectLst/>
                    <a:latin typeface="+mn-lt"/>
                    <a:ea typeface="+mn-ea"/>
                    <a:cs typeface="宋体" pitchFamily="2" charset="-122"/>
                  </a:rPr>
                  <a:t> </a:t>
                </a:r>
                <a:r>
                  <a:rPr lang="en-US" altLang="zh-CN" sz="2000" i="1" dirty="0">
                    <a:solidFill>
                      <a:srgbClr val="000000"/>
                    </a:solidFill>
                    <a:cs typeface="宋体" pitchFamily="2" charset="-122"/>
                  </a:rPr>
                  <a:t>M </a:t>
                </a:r>
                <a:r>
                  <a:rPr lang="zh-CN" altLang="zh-CN" sz="2000" dirty="0">
                    <a:solidFill>
                      <a:srgbClr val="000000"/>
                    </a:solidFill>
                    <a:effectLst/>
                    <a:latin typeface="+mn-lt"/>
                    <a:ea typeface="+mn-ea"/>
                    <a:cs typeface="宋体" pitchFamily="2" charset="-122"/>
                  </a:rPr>
                  <a:t>。</a:t>
                </a:r>
                <a:endParaRPr lang="zh-CN" altLang="zh-CN" sz="2000" dirty="0">
                  <a:effectLst/>
                  <a:latin typeface="+mn-lt"/>
                  <a:ea typeface="+mn-ea"/>
                  <a:cs typeface="宋体"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40010" y="901044"/>
                <a:ext cx="10668000" cy="2563907"/>
              </a:xfrm>
              <a:prstGeom prst="rect">
                <a:avLst/>
              </a:prstGeom>
              <a:blipFill>
                <a:blip r:embed="rId5"/>
                <a:stretch>
                  <a:fillRect l="-514" r="-571" b="-3571"/>
                </a:stretch>
              </a:blipFill>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7971"/>
            <a:ext cx="4265023"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随机预言机</a:t>
            </a:r>
          </a:p>
        </p:txBody>
      </p:sp>
      <p:sp>
        <p:nvSpPr>
          <p:cNvPr id="6" name="文本框 5"/>
          <p:cNvSpPr txBox="1"/>
          <p:nvPr/>
        </p:nvSpPr>
        <p:spPr>
          <a:xfrm>
            <a:off x="805543" y="1262254"/>
            <a:ext cx="10678886" cy="2853923"/>
          </a:xfrm>
          <a:prstGeom prst="rect">
            <a:avLst/>
          </a:prstGeom>
          <a:noFill/>
        </p:spPr>
        <p:txBody>
          <a:bodyPr wrap="square">
            <a:spAutoFit/>
          </a:bodyPr>
          <a:lstStyle/>
          <a:p>
            <a:pPr algn="just">
              <a:lnSpc>
                <a:spcPct val="130000"/>
              </a:lnSpc>
            </a:pPr>
            <a:r>
              <a:rPr lang="zh-CN" altLang="en-US" sz="2000" dirty="0">
                <a:latin typeface="+mn-lt"/>
              </a:rPr>
              <a:t>        根据安全证明中是否使用随机预言机（</a:t>
            </a:r>
            <a:r>
              <a:rPr lang="en-GB" altLang="zh-CN" sz="2000" dirty="0">
                <a:latin typeface="+mn-lt"/>
              </a:rPr>
              <a:t>Random Oracle</a:t>
            </a:r>
            <a:r>
              <a:rPr lang="zh-CN" altLang="en-GB" sz="2000" dirty="0">
                <a:latin typeface="+mn-lt"/>
              </a:rPr>
              <a:t>），</a:t>
            </a:r>
            <a:r>
              <a:rPr lang="zh-CN" altLang="en-US" sz="2000" dirty="0">
                <a:latin typeface="+mn-lt"/>
              </a:rPr>
              <a:t>我们可将安全模型分为两类： 随机预言机模型（</a:t>
            </a:r>
            <a:r>
              <a:rPr lang="en-GB" altLang="zh-CN" sz="2000" dirty="0">
                <a:latin typeface="+mn-lt"/>
              </a:rPr>
              <a:t>Random Oracle Model</a:t>
            </a:r>
            <a:r>
              <a:rPr lang="zh-CN" altLang="en-GB" sz="2000" dirty="0">
                <a:latin typeface="+mn-lt"/>
              </a:rPr>
              <a:t>）</a:t>
            </a:r>
            <a:r>
              <a:rPr lang="zh-CN" altLang="en-US" sz="2000" dirty="0">
                <a:latin typeface="+mn-lt"/>
              </a:rPr>
              <a:t>和标准模型（</a:t>
            </a:r>
            <a:r>
              <a:rPr lang="en-GB" altLang="zh-CN" sz="2000" dirty="0">
                <a:latin typeface="+mn-lt"/>
              </a:rPr>
              <a:t>Standard Model</a:t>
            </a:r>
            <a:r>
              <a:rPr lang="zh-CN" altLang="en-GB" sz="2000" dirty="0">
                <a:latin typeface="+mn-lt"/>
              </a:rPr>
              <a:t>）。</a:t>
            </a:r>
            <a:endParaRPr lang="en-US" altLang="zh-CN" sz="2000" dirty="0">
              <a:latin typeface="+mn-lt"/>
            </a:endParaRPr>
          </a:p>
          <a:p>
            <a:pPr algn="just">
              <a:lnSpc>
                <a:spcPct val="130000"/>
              </a:lnSpc>
            </a:pPr>
            <a:r>
              <a:rPr lang="zh-CN" altLang="en-US" sz="2000" dirty="0">
                <a:latin typeface="+mn-lt"/>
              </a:rPr>
              <a:t>        在密码学中，预言机常被理解为一个由挑战者控制的“黑盒”（所谓黑盒，即盒子的内部构造是未知的，只有挑战者可控制其输出）。安全模型中的敌手可与预言机交互（或称预言机问询）。</a:t>
            </a:r>
            <a:endParaRPr lang="en-US" altLang="zh-CN" sz="2000" dirty="0">
              <a:latin typeface="+mn-lt"/>
            </a:endParaRPr>
          </a:p>
          <a:p>
            <a:pPr algn="just">
              <a:lnSpc>
                <a:spcPct val="130000"/>
              </a:lnSpc>
            </a:pPr>
            <a:r>
              <a:rPr lang="zh-CN" altLang="en-US" sz="2000" dirty="0">
                <a:latin typeface="+mn-lt"/>
              </a:rPr>
              <a:t>        敌手向预言机输入一个值 </a:t>
            </a:r>
            <a:r>
              <a:rPr lang="en-GB" altLang="zh-CN" sz="2000" i="1" dirty="0">
                <a:latin typeface="+mn-lt"/>
              </a:rPr>
              <a:t>x</a:t>
            </a:r>
            <a:r>
              <a:rPr lang="en-GB" altLang="zh-CN" sz="2000" dirty="0">
                <a:latin typeface="+mn-lt"/>
              </a:rPr>
              <a:t> </a:t>
            </a:r>
            <a:r>
              <a:rPr lang="zh-CN" altLang="en-GB" sz="2000" dirty="0">
                <a:latin typeface="+mn-lt"/>
              </a:rPr>
              <a:t>，</a:t>
            </a:r>
            <a:r>
              <a:rPr lang="zh-CN" altLang="en-US" sz="2000" dirty="0">
                <a:latin typeface="+mn-lt"/>
              </a:rPr>
              <a:t>预言机输出一个值 </a:t>
            </a:r>
            <a:r>
              <a:rPr lang="en-GB" altLang="zh-CN" sz="2000" i="1" dirty="0">
                <a:latin typeface="+mn-lt"/>
              </a:rPr>
              <a:t>y </a:t>
            </a:r>
            <a:r>
              <a:rPr lang="zh-CN" altLang="en-GB" sz="2000" dirty="0">
                <a:latin typeface="+mn-lt"/>
              </a:rPr>
              <a:t>。</a:t>
            </a:r>
            <a:r>
              <a:rPr lang="zh-CN" altLang="en-US" sz="2000" dirty="0">
                <a:latin typeface="+mn-lt"/>
              </a:rPr>
              <a:t>比如，在 安全模型 </a:t>
            </a:r>
            <a:r>
              <a:rPr lang="en-GB" altLang="zh-CN" sz="2000" dirty="0">
                <a:latin typeface="+mn-lt"/>
              </a:rPr>
              <a:t>IND-CPA </a:t>
            </a:r>
            <a:r>
              <a:rPr lang="zh-CN" altLang="en-US" sz="2000" dirty="0">
                <a:latin typeface="+mn-lt"/>
              </a:rPr>
              <a:t>中，加密预言机问询中 </a:t>
            </a:r>
            <a:r>
              <a:rPr lang="en-GB" altLang="zh-CN" sz="2000" i="1" dirty="0">
                <a:latin typeface="+mn-lt"/>
              </a:rPr>
              <a:t>x</a:t>
            </a:r>
            <a:r>
              <a:rPr lang="en-GB" altLang="zh-CN" sz="2000" dirty="0">
                <a:latin typeface="+mn-lt"/>
              </a:rPr>
              <a:t> </a:t>
            </a:r>
            <a:r>
              <a:rPr lang="zh-CN" altLang="en-US" sz="2000" dirty="0">
                <a:latin typeface="+mn-lt"/>
              </a:rPr>
              <a:t>对应敌手选择的明文， </a:t>
            </a:r>
            <a:r>
              <a:rPr lang="en-GB" altLang="zh-CN" sz="2000" i="1" dirty="0">
                <a:latin typeface="+mn-lt"/>
              </a:rPr>
              <a:t>y</a:t>
            </a:r>
            <a:r>
              <a:rPr lang="en-GB" altLang="zh-CN" sz="2000" dirty="0">
                <a:latin typeface="+mn-lt"/>
              </a:rPr>
              <a:t> </a:t>
            </a:r>
            <a:r>
              <a:rPr lang="zh-CN" altLang="en-US" sz="2000" dirty="0">
                <a:latin typeface="+mn-lt"/>
              </a:rPr>
              <a:t>则对应挑战者回复的密文。</a:t>
            </a:r>
          </a:p>
        </p:txBody>
      </p:sp>
      <p:sp>
        <p:nvSpPr>
          <p:cNvPr id="17" name="矩形 16"/>
          <p:cNvSpPr>
            <a:spLocks noGrp="1"/>
          </p:cNvSpPr>
          <p:nvPr/>
        </p:nvSpPr>
        <p:spPr>
          <a:xfrm>
            <a:off x="1240972" y="411736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01</a:t>
            </a:r>
          </a:p>
        </p:txBody>
      </p:sp>
      <p:sp>
        <p:nvSpPr>
          <p:cNvPr id="18" name="矩形 17"/>
          <p:cNvSpPr>
            <a:spLocks noGrp="1"/>
          </p:cNvSpPr>
          <p:nvPr/>
        </p:nvSpPr>
        <p:spPr>
          <a:xfrm>
            <a:off x="1860097" y="411736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a:solidFill>
                  <a:srgbClr val="303030"/>
                </a:solidFill>
                <a:latin typeface="Times New Roman" panose="02020503050405090304"/>
                <a:ea typeface="微软雅黑"/>
                <a:cs typeface="Times New Roman" panose="02020503050405090304"/>
              </a:rPr>
              <a:t>把杂凑函数理想化为随机函数</a:t>
            </a:r>
          </a:p>
        </p:txBody>
      </p:sp>
      <p:sp>
        <p:nvSpPr>
          <p:cNvPr id="19" name="矩形 18"/>
          <p:cNvSpPr>
            <a:spLocks noGrp="1"/>
          </p:cNvSpPr>
          <p:nvPr/>
        </p:nvSpPr>
        <p:spPr>
          <a:xfrm>
            <a:off x="1240972" y="472696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02</a:t>
            </a:r>
          </a:p>
        </p:txBody>
      </p:sp>
      <p:sp>
        <p:nvSpPr>
          <p:cNvPr id="20" name="矩形 19"/>
          <p:cNvSpPr>
            <a:spLocks noGrp="1"/>
          </p:cNvSpPr>
          <p:nvPr/>
        </p:nvSpPr>
        <p:spPr>
          <a:xfrm>
            <a:off x="1860097" y="472696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首次问询</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x</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时，均匀抽取输出</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y</a:t>
            </a:r>
            <a:r>
              <a:rPr lang="zh-CN" altLang="en-US" sz="2000" b="0"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并记录</a:t>
            </a:r>
            <a:endParaRPr sz="2000" b="0" dirty="0">
              <a:solidFill>
                <a:srgbClr val="303030"/>
              </a:solidFill>
              <a:latin typeface="Times New Roman" panose="02020503050405090304"/>
              <a:ea typeface="微软雅黑"/>
              <a:cs typeface="Times New Roman" panose="02020503050405090304"/>
            </a:endParaRPr>
          </a:p>
        </p:txBody>
      </p:sp>
      <p:sp>
        <p:nvSpPr>
          <p:cNvPr id="24" name="矩形 23"/>
          <p:cNvSpPr>
            <a:spLocks noGrp="1"/>
          </p:cNvSpPr>
          <p:nvPr/>
        </p:nvSpPr>
        <p:spPr>
          <a:xfrm>
            <a:off x="1240972" y="533656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03</a:t>
            </a:r>
          </a:p>
        </p:txBody>
      </p:sp>
      <p:sp>
        <p:nvSpPr>
          <p:cNvPr id="25" name="矩形 24"/>
          <p:cNvSpPr>
            <a:spLocks noGrp="1"/>
          </p:cNvSpPr>
          <p:nvPr/>
        </p:nvSpPr>
        <p:spPr>
          <a:xfrm>
            <a:off x="1860097" y="533656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重复问询</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x</a:t>
            </a:r>
            <a:r>
              <a:rPr lang="zh-CN" altLang="en-US" sz="2000" b="0" i="1" dirty="0">
                <a:solidFill>
                  <a:srgbClr val="303030"/>
                </a:solidFill>
                <a:latin typeface="Times New Roman" panose="02020503050405090304"/>
                <a:ea typeface="微软雅黑"/>
                <a:cs typeface="Times New Roman" panose="02020503050405090304"/>
              </a:rPr>
              <a:t> </a:t>
            </a:r>
            <a:r>
              <a:rPr sz="2000" b="0" dirty="0" err="1">
                <a:solidFill>
                  <a:srgbClr val="303030"/>
                </a:solidFill>
                <a:latin typeface="Times New Roman" panose="02020503050405090304"/>
                <a:ea typeface="微软雅黑"/>
                <a:cs typeface="Times New Roman" panose="02020503050405090304"/>
              </a:rPr>
              <a:t>时，返回已经记录的相同</a:t>
            </a:r>
            <a:r>
              <a:rPr lang="zh-CN" altLang="en-US" sz="2000" b="0" dirty="0">
                <a:solidFill>
                  <a:srgbClr val="303030"/>
                </a:solidFill>
                <a:latin typeface="Times New Roman" panose="02020503050405090304"/>
                <a:ea typeface="微软雅黑"/>
                <a:cs typeface="Times New Roman" panose="02020503050405090304"/>
              </a:rPr>
              <a:t> </a:t>
            </a:r>
            <a:r>
              <a:rPr sz="2000" b="0" i="1" dirty="0">
                <a:solidFill>
                  <a:srgbClr val="303030"/>
                </a:solidFill>
                <a:latin typeface="Times New Roman" panose="02020503050405090304"/>
                <a:ea typeface="微软雅黑"/>
                <a:cs typeface="Times New Roman" panose="02020503050405090304"/>
              </a:rPr>
              <a:t>y</a:t>
            </a:r>
          </a:p>
        </p:txBody>
      </p:sp>
      <p:sp>
        <p:nvSpPr>
          <p:cNvPr id="26" name="矩形 25"/>
          <p:cNvSpPr>
            <a:spLocks noGrp="1"/>
          </p:cNvSpPr>
          <p:nvPr/>
        </p:nvSpPr>
        <p:spPr>
          <a:xfrm>
            <a:off x="1240972" y="5946166"/>
            <a:ext cx="447675" cy="552450"/>
          </a:xfrm>
          <a:prstGeom prst="rect">
            <a:avLst/>
          </a:prstGeom>
          <a:noFill/>
          <a:ln w="0">
            <a:noFill/>
          </a:ln>
        </p:spPr>
        <p:txBody>
          <a:bodyPr wrap="square" lIns="0" tIns="0" rIns="0" bIns="0" anchor="ctr">
            <a:noAutofit/>
          </a:bodyPr>
          <a:lstStyle>
            <a:defPPr algn="l">
              <a:defRPr sz="1725" b="1">
                <a:solidFill>
                  <a:srgbClr val="C90012"/>
                </a:solidFill>
                <a:latin typeface="Times New Roman" panose="02020503050405090304"/>
                <a:ea typeface="微软雅黑"/>
                <a:cs typeface="Times New Roman" panose="02020503050405090304"/>
              </a:defRPr>
            </a:defPPr>
          </a:lstStyle>
          <a:p>
            <a:pPr algn="l">
              <a:defRPr sz="1725" b="1">
                <a:solidFill>
                  <a:srgbClr val="C90012"/>
                </a:solidFill>
                <a:latin typeface="Times New Roman" panose="02020503050405090304"/>
                <a:ea typeface="微软雅黑"/>
                <a:cs typeface="Times New Roman" panose="02020503050405090304"/>
              </a:defRPr>
            </a:pPr>
            <a:r>
              <a:rPr sz="2000" b="1">
                <a:solidFill>
                  <a:srgbClr val="C90012"/>
                </a:solidFill>
                <a:latin typeface="Times New Roman" panose="02020503050405090304"/>
                <a:ea typeface="微软雅黑"/>
                <a:cs typeface="Times New Roman" panose="02020503050405090304"/>
              </a:rPr>
              <a:t>04</a:t>
            </a:r>
          </a:p>
        </p:txBody>
      </p:sp>
      <p:sp>
        <p:nvSpPr>
          <p:cNvPr id="27" name="矩形 26"/>
          <p:cNvSpPr>
            <a:spLocks noGrp="1"/>
          </p:cNvSpPr>
          <p:nvPr/>
        </p:nvSpPr>
        <p:spPr>
          <a:xfrm>
            <a:off x="1860097" y="5946166"/>
            <a:ext cx="10001250" cy="552450"/>
          </a:xfrm>
          <a:prstGeom prst="rect">
            <a:avLst/>
          </a:prstGeom>
          <a:noFill/>
          <a:ln w="0">
            <a:noFill/>
          </a:ln>
        </p:spPr>
        <p:txBody>
          <a:bodyPr wrap="square" lIns="0" tIns="0" rIns="0" bIns="0" anchor="ctr">
            <a:noAutofit/>
          </a:bodyPr>
          <a:lstStyle>
            <a:defPPr algn="l">
              <a:defRPr sz="2025" b="0">
                <a:solidFill>
                  <a:srgbClr val="303030"/>
                </a:solidFill>
                <a:latin typeface="Times New Roman" panose="02020503050405090304"/>
                <a:ea typeface="微软雅黑"/>
                <a:cs typeface="Times New Roman" panose="02020503050405090304"/>
              </a:defRPr>
            </a:defPPr>
          </a:lstStyle>
          <a:p>
            <a:pPr algn="l">
              <a:defRPr sz="2025" b="0">
                <a:solidFill>
                  <a:srgbClr val="303030"/>
                </a:solidFill>
                <a:latin typeface="Times New Roman" panose="02020503050405090304"/>
                <a:ea typeface="微软雅黑"/>
                <a:cs typeface="Times New Roman" panose="02020503050405090304"/>
              </a:defRPr>
            </a:pPr>
            <a:r>
              <a:rPr sz="2000" b="0" dirty="0" err="1">
                <a:solidFill>
                  <a:srgbClr val="303030"/>
                </a:solidFill>
                <a:latin typeface="Times New Roman" panose="02020503050405090304"/>
                <a:ea typeface="微软雅黑"/>
                <a:cs typeface="Times New Roman" panose="02020503050405090304"/>
              </a:rPr>
              <a:t>敌手、合法算法与模拟器共享一致的问询规则</a:t>
            </a:r>
            <a:endParaRPr sz="2000" b="0" dirty="0">
              <a:solidFill>
                <a:srgbClr val="303030"/>
              </a:solidFill>
              <a:latin typeface="Times New Roman" panose="02020503050405090304"/>
              <a:ea typeface="微软雅黑"/>
              <a:cs typeface="Times New Roman" panose="020205030504050903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8"/>
          <p:cNvSpPr/>
          <p:nvPr/>
        </p:nvSpPr>
        <p:spPr>
          <a:xfrm>
            <a:off x="453762" y="1664229"/>
            <a:ext cx="11096554" cy="3308462"/>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p:cNvSpPr txBox="1"/>
              <p:nvPr/>
            </p:nvSpPr>
            <p:spPr>
              <a:xfrm>
                <a:off x="570641" y="1988648"/>
                <a:ext cx="10869672" cy="2715743"/>
              </a:xfrm>
              <a:prstGeom prst="rect">
                <a:avLst/>
              </a:prstGeom>
              <a:noFill/>
            </p:spPr>
            <p:txBody>
              <a:bodyPr wrap="square">
                <a:spAutoFit/>
              </a:bodyPr>
              <a:lstStyle/>
              <a:p>
                <a:pPr algn="just">
                  <a:lnSpc>
                    <a:spcPct val="132000"/>
                  </a:lnSpc>
                </a:pPr>
                <a:r>
                  <a:rPr lang="zh-CN" altLang="zh-CN" sz="2000" b="1" dirty="0">
                    <a:solidFill>
                      <a:srgbClr val="000000"/>
                    </a:solidFill>
                    <a:effectLst/>
                    <a:latin typeface="+mn-lt"/>
                    <a:ea typeface="+mn-ea"/>
                    <a:cs typeface="Times New Roman" panose="02020503050405090304" pitchFamily="18" charset="0"/>
                  </a:rPr>
                  <a:t>定理</a:t>
                </a:r>
                <a:r>
                  <a:rPr lang="zh-CN" altLang="zh-CN" sz="2000" b="1" dirty="0">
                    <a:solidFill>
                      <a:srgbClr val="000000"/>
                    </a:solidFill>
                    <a:effectLst/>
                    <a:latin typeface="+mn-lt"/>
                    <a:ea typeface="+mn-ea"/>
                    <a:cs typeface="宋体" pitchFamily="2" charset="-122"/>
                  </a:rPr>
                  <a:t> </a:t>
                </a:r>
                <a:r>
                  <a:rPr lang="en-US" altLang="zh-CN" sz="2000" b="1" dirty="0">
                    <a:solidFill>
                      <a:srgbClr val="000000"/>
                    </a:solidFill>
                    <a:effectLst/>
                    <a:latin typeface="+mn-lt"/>
                    <a:ea typeface="+mn-ea"/>
                    <a:cs typeface="宋体" pitchFamily="2" charset="-122"/>
                  </a:rPr>
                  <a:t>3</a:t>
                </a:r>
                <a:r>
                  <a:rPr lang="en-US" altLang="zh-CN" sz="2000" b="1" dirty="0">
                    <a:solidFill>
                      <a:srgbClr val="000000"/>
                    </a:solidFill>
                    <a:latin typeface="+mn-lt"/>
                    <a:ea typeface="+mn-ea"/>
                    <a:cs typeface="宋体" pitchFamily="2" charset="-122"/>
                  </a:rPr>
                  <a:t>.</a:t>
                </a:r>
                <a:r>
                  <a:rPr lang="en-US" altLang="zh-CN" sz="2000" b="1" dirty="0">
                    <a:solidFill>
                      <a:srgbClr val="000000"/>
                    </a:solidFill>
                    <a:effectLst/>
                    <a:latin typeface="+mn-lt"/>
                    <a:ea typeface="+mn-ea"/>
                    <a:cs typeface="宋体" pitchFamily="2" charset="-122"/>
                  </a:rPr>
                  <a:t>1 </a:t>
                </a:r>
                <a:r>
                  <a:rPr lang="zh-CN" altLang="zh-CN" sz="2000" dirty="0">
                    <a:solidFill>
                      <a:srgbClr val="000000"/>
                    </a:solidFill>
                    <a:effectLst/>
                    <a:latin typeface="+mn-lt"/>
                    <a:ea typeface="+mn-ea"/>
                    <a:cs typeface="Times New Roman" panose="02020503050405090304" pitchFamily="18" charset="0"/>
                  </a:rPr>
                  <a:t>假设</a:t>
                </a:r>
                <a:r>
                  <a:rPr lang="zh-CN" altLang="en-US" sz="2000" dirty="0">
                    <a:solidFill>
                      <a:srgbClr val="000000"/>
                    </a:solidFill>
                    <a:latin typeface="+mn-lt"/>
                    <a:ea typeface="+mn-ea"/>
                    <a:cs typeface="Times New Roman" panose="02020503050405090304" pitchFamily="18" charset="0"/>
                  </a:rPr>
                  <a:t>杂凑</a:t>
                </a:r>
                <a:r>
                  <a:rPr lang="en-US" altLang="zh-CN" sz="2000" dirty="0">
                    <a:solidFill>
                      <a:srgbClr val="000000"/>
                    </a:solidFill>
                    <a:effectLst/>
                    <a:latin typeface="+mn-lt"/>
                    <a:ea typeface="+mn-ea"/>
                    <a:cs typeface="宋体" pitchFamily="2" charset="-122"/>
                  </a:rPr>
                  <a:t>ElGamal</a:t>
                </a:r>
                <a:r>
                  <a:rPr lang="zh-CN" altLang="zh-CN" sz="2000" dirty="0">
                    <a:solidFill>
                      <a:srgbClr val="000000"/>
                    </a:solidFill>
                    <a:effectLst/>
                    <a:latin typeface="+mn-lt"/>
                    <a:ea typeface="+mn-ea"/>
                    <a:cs typeface="Times New Roman" panose="02020503050405090304" pitchFamily="18" charset="0"/>
                  </a:rPr>
                  <a:t>公钥加密方案中的</a:t>
                </a:r>
                <a:r>
                  <a:rPr lang="zh-CN" altLang="en-US" sz="2000" dirty="0">
                    <a:solidFill>
                      <a:srgbClr val="000000"/>
                    </a:solidFill>
                    <a:effectLst/>
                    <a:latin typeface="+mn-lt"/>
                    <a:ea typeface="+mn-ea"/>
                    <a:cs typeface="Times New Roman" panose="02020503050405090304" pitchFamily="18" charset="0"/>
                  </a:rPr>
                  <a:t>杂凑</a:t>
                </a:r>
                <a:r>
                  <a:rPr lang="zh-CN" altLang="zh-CN" sz="2000" dirty="0">
                    <a:solidFill>
                      <a:srgbClr val="000000"/>
                    </a:solidFill>
                    <a:effectLst/>
                    <a:latin typeface="+mn-lt"/>
                    <a:ea typeface="+mn-ea"/>
                    <a:cs typeface="Times New Roman" panose="02020503050405090304" pitchFamily="18" charset="0"/>
                  </a:rPr>
                  <a:t>函数</a:t>
                </a:r>
                <a:r>
                  <a:rPr lang="zh-CN" altLang="en-US" sz="2000" dirty="0">
                    <a:solidFill>
                      <a:srgbClr val="000000"/>
                    </a:solidFill>
                    <a:latin typeface="+mn-lt"/>
                    <a:ea typeface="+mn-ea"/>
                    <a:cs typeface="Times New Roman" panose="02020503050405090304" pitchFamily="18" charset="0"/>
                  </a:rPr>
                  <a:t>被视为随机预言机、</a:t>
                </a:r>
                <a:r>
                  <a:rPr lang="en-GB" altLang="zh-CN" sz="2000" dirty="0">
                    <a:solidFill>
                      <a:srgbClr val="000000"/>
                    </a:solidFill>
                    <a:effectLst/>
                    <a:latin typeface="+mn-lt"/>
                    <a:ea typeface="+mn-ea"/>
                    <a:cs typeface="Times New Roman" panose="02020503050405090304" pitchFamily="18" charset="0"/>
                  </a:rPr>
                  <a:t>CDH </a:t>
                </a:r>
                <a:r>
                  <a:rPr lang="zh-CN" altLang="en-US" sz="2000" dirty="0">
                    <a:solidFill>
                      <a:srgbClr val="000000"/>
                    </a:solidFill>
                    <a:effectLst/>
                    <a:latin typeface="+mn-lt"/>
                    <a:ea typeface="+mn-ea"/>
                    <a:cs typeface="Times New Roman" panose="02020503050405090304" pitchFamily="18" charset="0"/>
                  </a:rPr>
                  <a:t>问题是困难的。若敌手</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宋体" pitchFamily="2" charset="-122"/>
                      </a:rPr>
                      <m:t> </m:t>
                    </m:r>
                    <m:r>
                      <a:rPr lang="en-US" altLang="zh-CN" sz="2000" i="1" smtClean="0">
                        <a:solidFill>
                          <a:srgbClr val="000000"/>
                        </a:solidFill>
                        <a:effectLst/>
                        <a:latin typeface="Cambria Math" panose="02040503050406030204" pitchFamily="18" charset="0"/>
                        <a:ea typeface="+mn-ea"/>
                        <a:cs typeface="宋体" pitchFamily="2" charset="-122"/>
                      </a:rPr>
                      <m:t>𝒜</m:t>
                    </m:r>
                  </m:oMath>
                </a14:m>
                <a:r>
                  <a:rPr lang="zh-CN" altLang="en-US" sz="2000" dirty="0">
                    <a:solidFill>
                      <a:srgbClr val="000000"/>
                    </a:solidFill>
                    <a:effectLst/>
                    <a:latin typeface="+mn-lt"/>
                    <a:ea typeface="+mn-ea"/>
                    <a:cs typeface="Times New Roman" panose="02020503050405090304" pitchFamily="18" charset="0"/>
                  </a:rPr>
                  <a:t> 能以</a:t>
                </a:r>
                <a14:m>
                  <m:oMath xmlns:m="http://schemas.openxmlformats.org/officeDocument/2006/math">
                    <m:sSubSup>
                      <m:sSubSupPr>
                        <m:ctrlPr>
                          <a:rPr lang="en-US" altLang="zh-CN" sz="2000" i="1" dirty="0">
                            <a:latin typeface="Cambria Math" panose="02040503050406030204" pitchFamily="18" charset="0"/>
                            <a:ea typeface="+mn-ea"/>
                          </a:rPr>
                        </m:ctrlPr>
                      </m:sSubSupPr>
                      <m:e>
                        <m:r>
                          <m:rPr>
                            <m:sty m:val="p"/>
                          </m:rPr>
                          <a:rPr lang="en-US" altLang="zh-CN" sz="2000" dirty="0">
                            <a:latin typeface="Cambria Math" panose="02040503050406030204" pitchFamily="18" charset="0"/>
                            <a:ea typeface="+mn-ea"/>
                          </a:rPr>
                          <m:t>Adv</m:t>
                        </m:r>
                      </m:e>
                      <m:sub>
                        <m:r>
                          <a:rPr lang="zh-CN" altLang="en-US" sz="2000">
                            <a:latin typeface="Cambria Math" panose="02040503050406030204" pitchFamily="18" charset="0"/>
                            <a:ea typeface="+mn-ea"/>
                          </a:rPr>
                          <m:t>𝒜</m:t>
                        </m:r>
                      </m:sub>
                      <m:sup>
                        <m:r>
                          <m:rPr>
                            <m:sty m:val="p"/>
                          </m:rPr>
                          <a:rPr lang="en-US" altLang="zh-CN" sz="2000" dirty="0">
                            <a:latin typeface="Cambria Math" panose="02040503050406030204" pitchFamily="18" charset="0"/>
                            <a:ea typeface="+mn-ea"/>
                          </a:rPr>
                          <m:t>CPA</m:t>
                        </m:r>
                      </m:sup>
                    </m:sSubSup>
                  </m:oMath>
                </a14:m>
                <a:r>
                  <a:rPr lang="zh-CN" altLang="en-US" sz="2000" dirty="0">
                    <a:solidFill>
                      <a:srgbClr val="000000"/>
                    </a:solidFill>
                    <a:effectLst/>
                    <a:latin typeface="+mn-lt"/>
                    <a:ea typeface="+mn-ea"/>
                    <a:cs typeface="Times New Roman" panose="02020503050405090304" pitchFamily="18" charset="0"/>
                  </a:rPr>
                  <a:t> 的优势在时间 </a:t>
                </a:r>
                <a14:m>
                  <m:oMath xmlns:m="http://schemas.openxmlformats.org/officeDocument/2006/math">
                    <m:sSub>
                      <m:sSubPr>
                        <m:ctrlPr>
                          <a:rPr lang="en-US" altLang="zh-CN" sz="20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𝑡</m:t>
                        </m:r>
                      </m:e>
                      <m:sub>
                        <m:r>
                          <a:rPr lang="en-US" altLang="zh-CN" sz="2000" i="1">
                            <a:solidFill>
                              <a:srgbClr val="000000"/>
                            </a:solidFill>
                            <a:latin typeface="Cambria Math" panose="02040503050406030204" pitchFamily="18" charset="0"/>
                            <a:ea typeface="+mn-ea"/>
                            <a:cs typeface="宋体" pitchFamily="2" charset="-122"/>
                          </a:rPr>
                          <m:t>𝒜</m:t>
                        </m:r>
                      </m:sub>
                    </m:sSub>
                  </m:oMath>
                </a14:m>
                <a:r>
                  <a:rPr lang="zh-CN" altLang="en-US" sz="2000" dirty="0">
                    <a:solidFill>
                      <a:srgbClr val="000000"/>
                    </a:solidFill>
                    <a:effectLst/>
                    <a:latin typeface="+mn-lt"/>
                    <a:ea typeface="+mn-ea"/>
                    <a:cs typeface="Times New Roman" panose="02020503050405090304" pitchFamily="18" charset="0"/>
                  </a:rPr>
                  <a:t> </a:t>
                </a:r>
                <a:r>
                  <a:rPr lang="zh-CN" altLang="en-US" sz="2000" dirty="0">
                    <a:solidFill>
                      <a:srgbClr val="000000"/>
                    </a:solidFill>
                    <a:latin typeface="+mn-lt"/>
                    <a:ea typeface="+mn-ea"/>
                    <a:cs typeface="Times New Roman" panose="02020503050405090304" pitchFamily="18" charset="0"/>
                  </a:rPr>
                  <a:t>内赢得安全模型 </a:t>
                </a:r>
                <a:r>
                  <a:rPr lang="en-GB" altLang="zh-CN" sz="2000" dirty="0">
                    <a:solidFill>
                      <a:srgbClr val="000000"/>
                    </a:solidFill>
                    <a:latin typeface="+mn-lt"/>
                    <a:ea typeface="+mn-ea"/>
                    <a:cs typeface="Times New Roman" panose="02020503050405090304" pitchFamily="18" charset="0"/>
                  </a:rPr>
                  <a:t>IND-CPA </a:t>
                </a:r>
                <a:r>
                  <a:rPr lang="zh-CN" altLang="en-US" sz="2000" dirty="0">
                    <a:solidFill>
                      <a:srgbClr val="000000"/>
                    </a:solidFill>
                    <a:latin typeface="+mn-lt"/>
                    <a:ea typeface="+mn-ea"/>
                    <a:cs typeface="Times New Roman" panose="02020503050405090304" pitchFamily="18" charset="0"/>
                  </a:rPr>
                  <a:t>中的游戏，则挑战者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solidFill>
                      <a:srgbClr val="000000"/>
                    </a:solidFill>
                    <a:latin typeface="+mn-lt"/>
                    <a:ea typeface="+mn-ea"/>
                    <a:cs typeface="Times New Roman" panose="02020503050405090304" pitchFamily="18" charset="0"/>
                  </a:rPr>
                  <a:t> 以至少为 </a:t>
                </a:r>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sSubSup>
                      <m:sSubSupPr>
                        <m:ctrlPr>
                          <a:rPr lang="en-US" altLang="zh-CN" sz="2000" i="1" dirty="0">
                            <a:latin typeface="Cambria Math" panose="02040503050406030204" pitchFamily="18" charset="0"/>
                            <a:ea typeface="+mn-ea"/>
                          </a:rPr>
                        </m:ctrlPr>
                      </m:sSubSupPr>
                      <m:e>
                        <m:r>
                          <m:rPr>
                            <m:sty m:val="p"/>
                          </m:rPr>
                          <a:rPr lang="en-US" altLang="zh-CN" sz="2000" dirty="0">
                            <a:latin typeface="Cambria Math" panose="02040503050406030204" pitchFamily="18" charset="0"/>
                            <a:ea typeface="+mn-ea"/>
                          </a:rPr>
                          <m:t>Adv</m:t>
                        </m:r>
                      </m:e>
                      <m:sub>
                        <m:r>
                          <a:rPr lang="zh-CN" altLang="en-US" sz="2000">
                            <a:latin typeface="Cambria Math" panose="02040503050406030204" pitchFamily="18" charset="0"/>
                            <a:ea typeface="+mn-ea"/>
                          </a:rPr>
                          <m:t>𝒜</m:t>
                        </m:r>
                      </m:sub>
                      <m:sup>
                        <m:r>
                          <m:rPr>
                            <m:sty m:val="p"/>
                          </m:rPr>
                          <a:rPr lang="en-US" altLang="zh-CN" sz="2000" dirty="0">
                            <a:latin typeface="Cambria Math" panose="02040503050406030204" pitchFamily="18" charset="0"/>
                            <a:ea typeface="+mn-ea"/>
                          </a:rPr>
                          <m:t>CPA</m:t>
                        </m:r>
                      </m:sup>
                    </m:sSubSup>
                  </m:oMath>
                </a14:m>
                <a:r>
                  <a:rPr lang="zh-CN" altLang="en-US" sz="2000" dirty="0">
                    <a:solidFill>
                      <a:srgbClr val="000000"/>
                    </a:solidFill>
                    <a:latin typeface="+mn-lt"/>
                    <a:ea typeface="+mn-ea"/>
                    <a:cs typeface="Times New Roman" panose="02020503050405090304" pitchFamily="18" charset="0"/>
                  </a:rPr>
                  <a:t> </a:t>
                </a:r>
                <a:r>
                  <a:rPr lang="en-US" altLang="zh-CN" sz="2000" dirty="0">
                    <a:solidFill>
                      <a:srgbClr val="000000"/>
                    </a:solidFill>
                    <a:latin typeface="+mn-lt"/>
                    <a:ea typeface="+mn-ea"/>
                    <a:cs typeface="Times New Roman" panose="02020503050405090304" pitchFamily="18" charset="0"/>
                  </a:rPr>
                  <a:t>- </a:t>
                </a:r>
                <a14:m>
                  <m:oMath xmlns:m="http://schemas.openxmlformats.org/officeDocument/2006/math">
                    <m:f>
                      <m:fPr>
                        <m:ctrlPr>
                          <a:rPr lang="en-US" altLang="zh-CN" sz="2000" i="1" dirty="0" smtClean="0">
                            <a:solidFill>
                              <a:srgbClr val="000000"/>
                            </a:solidFill>
                            <a:latin typeface="Cambria Math" panose="02040503050406030204" pitchFamily="18" charset="0"/>
                            <a:ea typeface="+mn-ea"/>
                            <a:cs typeface="Times New Roman" panose="02020503050405090304" pitchFamily="18" charset="0"/>
                          </a:rPr>
                        </m:ctrlPr>
                      </m:fPr>
                      <m:num>
                        <m:r>
                          <a:rPr lang="en-US" altLang="zh-CN" sz="2000" b="0" i="1" dirty="0" smtClean="0">
                            <a:solidFill>
                              <a:srgbClr val="000000"/>
                            </a:solidFill>
                            <a:latin typeface="Cambria Math" panose="02040503050406030204" pitchFamily="18" charset="0"/>
                            <a:ea typeface="+mn-ea"/>
                            <a:cs typeface="Times New Roman" panose="02020503050405090304" pitchFamily="18" charset="0"/>
                          </a:rPr>
                          <m:t>1</m:t>
                        </m:r>
                      </m:num>
                      <m:den>
                        <m:sSup>
                          <m:sSupPr>
                            <m:ctrlPr>
                              <a:rPr lang="en-US" altLang="zh-CN" sz="2000" i="1" dirty="0" smtClean="0">
                                <a:solidFill>
                                  <a:srgbClr val="000000"/>
                                </a:solidFill>
                                <a:latin typeface="Cambria Math" panose="02040503050406030204" pitchFamily="18" charset="0"/>
                                <a:ea typeface="+mn-ea"/>
                                <a:cs typeface="Times New Roman" panose="02020503050405090304" pitchFamily="18" charset="0"/>
                              </a:rPr>
                            </m:ctrlPr>
                          </m:sSupPr>
                          <m:e>
                            <m:r>
                              <a:rPr lang="en-US" altLang="zh-CN" sz="2000" b="0" i="1" dirty="0" smtClean="0">
                                <a:solidFill>
                                  <a:srgbClr val="000000"/>
                                </a:solidFill>
                                <a:latin typeface="Cambria Math" panose="02040503050406030204" pitchFamily="18" charset="0"/>
                                <a:ea typeface="+mn-ea"/>
                                <a:cs typeface="Times New Roman" panose="02020503050405090304" pitchFamily="18" charset="0"/>
                              </a:rPr>
                              <m:t>2</m:t>
                            </m:r>
                          </m:e>
                          <m:sup>
                            <m:r>
                              <a:rPr lang="en-US" altLang="zh-CN" sz="2000" b="0" i="1" dirty="0" smtClean="0">
                                <a:solidFill>
                                  <a:srgbClr val="000000"/>
                                </a:solidFill>
                                <a:latin typeface="Cambria Math" panose="02040503050406030204" pitchFamily="18" charset="0"/>
                                <a:ea typeface="+mn-ea"/>
                                <a:cs typeface="Times New Roman" panose="02020503050405090304" pitchFamily="18" charset="0"/>
                              </a:rPr>
                              <m:t>𝑛</m:t>
                            </m:r>
                          </m:sup>
                        </m:sSup>
                      </m:den>
                    </m:f>
                    <m:r>
                      <a:rPr lang="en-US" altLang="zh-CN" sz="2000" b="0" i="0" dirty="0" smtClean="0">
                        <a:solidFill>
                          <a:srgbClr val="000000"/>
                        </a:solidFill>
                        <a:latin typeface="Cambria Math" panose="02040503050406030204" pitchFamily="18" charset="0"/>
                        <a:ea typeface="+mn-ea"/>
                        <a:cs typeface="Times New Roman" panose="02020503050405090304" pitchFamily="18" charset="0"/>
                      </a:rPr>
                      <m:t>)</m:t>
                    </m:r>
                  </m:oMath>
                </a14:m>
                <a:r>
                  <a:rPr lang="en-US" altLang="zh-CN" sz="2000" dirty="0">
                    <a:solidFill>
                      <a:srgbClr val="000000"/>
                    </a:solidFill>
                    <a:effectLst/>
                    <a:latin typeface="+mn-lt"/>
                    <a:ea typeface="+mn-ea"/>
                    <a:cs typeface="Times New Roman" panose="02020503050405090304" pitchFamily="18" charset="0"/>
                  </a:rPr>
                  <a:t>/</a:t>
                </a:r>
                <a14:m>
                  <m:oMath xmlns:m="http://schemas.openxmlformats.org/officeDocument/2006/math">
                    <m:sSub>
                      <m:sSubPr>
                        <m:ctrlPr>
                          <a:rPr lang="en-US" altLang="zh-CN" sz="2000" i="1" dirty="0"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𝑞</m:t>
                        </m:r>
                      </m:e>
                      <m:sub>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𝐻</m:t>
                        </m:r>
                      </m:sub>
                    </m:sSub>
                  </m:oMath>
                </a14:m>
                <a:r>
                  <a:rPr lang="zh-CN" altLang="en-US" sz="2000" dirty="0">
                    <a:solidFill>
                      <a:srgbClr val="000000"/>
                    </a:solidFill>
                    <a:effectLst/>
                    <a:latin typeface="+mn-lt"/>
                    <a:ea typeface="+mn-ea"/>
                    <a:cs typeface="Times New Roman" panose="02020503050405090304" pitchFamily="18" charset="0"/>
                  </a:rPr>
                  <a:t> 的优势在时间内</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𝑡</m:t>
                        </m:r>
                      </m:e>
                      <m:sub>
                        <m:r>
                          <a:rPr lang="en-US" altLang="zh-CN" sz="2000" i="1">
                            <a:solidFill>
                              <a:srgbClr val="000000"/>
                            </a:solidFill>
                            <a:latin typeface="Cambria Math" panose="02040503050406030204" pitchFamily="18" charset="0"/>
                            <a:ea typeface="+mn-ea"/>
                            <a:cs typeface="宋体" pitchFamily="2" charset="-122"/>
                          </a:rPr>
                          <m:t>𝒜</m:t>
                        </m:r>
                      </m:sub>
                    </m:sSub>
                  </m:oMath>
                </a14:m>
                <a:r>
                  <a:rPr lang="zh-CN" altLang="en-US" sz="2000" dirty="0">
                    <a:solidFill>
                      <a:srgbClr val="000000"/>
                    </a:solidFill>
                    <a:latin typeface="+mn-lt"/>
                    <a:ea typeface="+mn-ea"/>
                    <a:cs typeface="Times New Roman" panose="02020503050405090304" pitchFamily="18" charset="0"/>
                  </a:rPr>
                  <a:t> </a:t>
                </a:r>
                <a:r>
                  <a:rPr lang="en-US" altLang="zh-CN" sz="2000" dirty="0">
                    <a:solidFill>
                      <a:srgbClr val="000000"/>
                    </a:solidFill>
                    <a:latin typeface="+mn-lt"/>
                    <a:ea typeface="+mn-ea"/>
                    <a:cs typeface="Times New Roman" panose="02020503050405090304" pitchFamily="18" charset="0"/>
                  </a:rPr>
                  <a:t>+</a:t>
                </a:r>
                <a:r>
                  <a:rPr lang="en-US" altLang="zh-CN" sz="2000" i="1" dirty="0">
                    <a:solidFill>
                      <a:srgbClr val="000000"/>
                    </a:solidFill>
                    <a:latin typeface="+mn-lt"/>
                    <a:ea typeface="+mn-ea"/>
                    <a:cs typeface="Times New Roman" panose="02020503050405090304" pitchFamily="18" charset="0"/>
                  </a:rPr>
                  <a:t>O</a:t>
                </a:r>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sSub>
                      <m:sSubPr>
                        <m:ctrlPr>
                          <a:rPr lang="en-US" altLang="zh-CN" sz="2000" i="1" dirty="0">
                            <a:solidFill>
                              <a:srgbClr val="000000"/>
                            </a:solidFill>
                            <a:latin typeface="Cambria Math" panose="02040503050406030204" pitchFamily="18" charset="0"/>
                            <a:ea typeface="+mn-ea"/>
                            <a:cs typeface="Times New Roman" panose="02020503050405090304" pitchFamily="18" charset="0"/>
                          </a:rPr>
                        </m:ctrlPr>
                      </m:sSubPr>
                      <m:e>
                        <m:r>
                          <a:rPr lang="en-US" altLang="zh-CN" sz="2000" i="1" dirty="0">
                            <a:solidFill>
                              <a:srgbClr val="000000"/>
                            </a:solidFill>
                            <a:latin typeface="Cambria Math" panose="02040503050406030204" pitchFamily="18" charset="0"/>
                            <a:ea typeface="+mn-ea"/>
                            <a:cs typeface="Times New Roman" panose="02020503050405090304" pitchFamily="18" charset="0"/>
                          </a:rPr>
                          <m:t>𝑞</m:t>
                        </m:r>
                      </m:e>
                      <m:sub>
                        <m:r>
                          <a:rPr lang="en-US" altLang="zh-CN" sz="2000" i="1" dirty="0">
                            <a:solidFill>
                              <a:srgbClr val="000000"/>
                            </a:solidFill>
                            <a:latin typeface="Cambria Math" panose="02040503050406030204" pitchFamily="18" charset="0"/>
                            <a:ea typeface="+mn-ea"/>
                            <a:cs typeface="Times New Roman" panose="02020503050405090304" pitchFamily="18" charset="0"/>
                          </a:rPr>
                          <m:t>𝐻</m:t>
                        </m:r>
                      </m:sub>
                    </m:sSub>
                  </m:oMath>
                </a14:m>
                <a:r>
                  <a:rPr lang="en-US" altLang="zh-CN" sz="2000" dirty="0">
                    <a:solidFill>
                      <a:srgbClr val="000000"/>
                    </a:solidFill>
                    <a:latin typeface="+mn-lt"/>
                    <a:ea typeface="+mn-ea"/>
                    <a:cs typeface="Times New Roman" panose="02020503050405090304" pitchFamily="18" charset="0"/>
                  </a:rPr>
                  <a:t>+1)</a:t>
                </a:r>
                <a14:m>
                  <m:oMath xmlns:m="http://schemas.openxmlformats.org/officeDocument/2006/math">
                    <m:r>
                      <a:rPr lang="en-US" altLang="zh-CN" sz="2000" i="1" smtClean="0">
                        <a:solidFill>
                          <a:srgbClr val="000000"/>
                        </a:solidFill>
                        <a:latin typeface="Cambria Math" panose="02040503050406030204" pitchFamily="18" charset="0"/>
                        <a:ea typeface="+mn-ea"/>
                        <a:cs typeface="Times New Roman" panose="02020503050405090304" pitchFamily="18" charset="0"/>
                      </a:rPr>
                      <m:t>×</m:t>
                    </m:r>
                    <m:r>
                      <a:rPr lang="en-US" altLang="zh-CN" sz="2000" i="1" smtClean="0">
                        <a:solidFill>
                          <a:srgbClr val="000000"/>
                        </a:solidFill>
                        <a:latin typeface="Cambria Math" panose="02040503050406030204" pitchFamily="18" charset="0"/>
                        <a:ea typeface="+mn-ea"/>
                        <a:cs typeface="Times New Roman" panose="02020503050405090304" pitchFamily="18" charset="0"/>
                      </a:rPr>
                      <m:t>𝜏</m:t>
                    </m:r>
                    <m:r>
                      <a:rPr lang="en-US" altLang="zh-CN" sz="2000" b="0" i="1" smtClean="0">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内</m:t>
                    </m:r>
                  </m:oMath>
                </a14:m>
                <a:r>
                  <a:rPr lang="zh-CN" altLang="zh-CN" sz="2000" dirty="0">
                    <a:solidFill>
                      <a:srgbClr val="000000"/>
                    </a:solidFill>
                    <a:effectLst/>
                    <a:latin typeface="+mn-lt"/>
                    <a:ea typeface="+mn-ea"/>
                    <a:cs typeface="宋体" pitchFamily="2" charset="-122"/>
                  </a:rPr>
                  <a:t>给出</a:t>
                </a:r>
                <a:r>
                  <a:rPr lang="en-US" altLang="zh-CN" sz="2000" dirty="0">
                    <a:solidFill>
                      <a:srgbClr val="000000"/>
                    </a:solidFill>
                    <a:effectLst/>
                    <a:latin typeface="+mn-lt"/>
                    <a:ea typeface="+mn-ea"/>
                    <a:cs typeface="宋体" pitchFamily="2" charset="-122"/>
                  </a:rPr>
                  <a:t>CDH</a:t>
                </a:r>
                <a:r>
                  <a:rPr lang="zh-CN" altLang="zh-CN" sz="2000" dirty="0">
                    <a:solidFill>
                      <a:srgbClr val="000000"/>
                    </a:solidFill>
                    <a:effectLst/>
                    <a:latin typeface="+mn-lt"/>
                    <a:ea typeface="+mn-ea"/>
                    <a:cs typeface="宋体" pitchFamily="2" charset="-122"/>
                  </a:rPr>
                  <a:t>困难问题实例的解，其中</a:t>
                </a:r>
                <a:r>
                  <a:rPr lang="en-US" altLang="zh-CN" sz="2000" dirty="0">
                    <a:solidFill>
                      <a:srgbClr val="000000"/>
                    </a:solidFill>
                    <a:effectLst/>
                    <a:latin typeface="+mn-lt"/>
                    <a:ea typeface="+mn-ea"/>
                    <a:cs typeface="宋体" pitchFamily="2" charset="-122"/>
                  </a:rPr>
                  <a:t> </a:t>
                </a:r>
                <a14:m>
                  <m:oMath xmlns:m="http://schemas.openxmlformats.org/officeDocument/2006/math">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宋体" pitchFamily="2" charset="-122"/>
                          </a:rPr>
                          <m:t>𝑞</m:t>
                        </m:r>
                      </m:e>
                      <m:sub>
                        <m:r>
                          <a:rPr lang="en-US" altLang="zh-CN" sz="2000" i="1">
                            <a:solidFill>
                              <a:srgbClr val="000000"/>
                            </a:solidFill>
                            <a:effectLst/>
                            <a:latin typeface="Cambria Math" panose="02040503050406030204" pitchFamily="18" charset="0"/>
                            <a:ea typeface="+mn-ea"/>
                            <a:cs typeface="宋体" pitchFamily="2" charset="-122"/>
                          </a:rPr>
                          <m:t>𝐻</m:t>
                        </m:r>
                      </m:sub>
                    </m:sSub>
                  </m:oMath>
                </a14:m>
                <a:r>
                  <a:rPr lang="en-US" altLang="zh-CN" sz="2000" dirty="0">
                    <a:solidFill>
                      <a:srgbClr val="000000"/>
                    </a:solidFill>
                    <a:effectLst/>
                    <a:latin typeface="+mn-lt"/>
                    <a:ea typeface="+mn-ea"/>
                    <a:cs typeface="宋体" pitchFamily="2" charset="-122"/>
                  </a:rPr>
                  <a:t> </a:t>
                </a:r>
                <a:r>
                  <a:rPr lang="zh-CN" altLang="zh-CN" sz="2000" dirty="0">
                    <a:solidFill>
                      <a:srgbClr val="000000"/>
                    </a:solidFill>
                    <a:effectLst/>
                    <a:latin typeface="+mn-lt"/>
                    <a:ea typeface="+mn-ea"/>
                    <a:cs typeface="宋体" pitchFamily="2" charset="-122"/>
                  </a:rPr>
                  <a:t>为敌手</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𝒜</m:t>
                    </m:r>
                    <m:r>
                      <a:rPr lang="en-US" altLang="zh-CN" sz="2000" b="0" i="1" smtClean="0">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访问</a:t>
                </a:r>
                <a:r>
                  <a:rPr lang="zh-CN" altLang="en-US" sz="2000" dirty="0">
                    <a:solidFill>
                      <a:srgbClr val="000000"/>
                    </a:solidFill>
                    <a:effectLst/>
                    <a:latin typeface="+mn-lt"/>
                    <a:ea typeface="+mn-ea"/>
                    <a:cs typeface="宋体" pitchFamily="2" charset="-122"/>
                  </a:rPr>
                  <a:t>随机</a:t>
                </a:r>
                <a:r>
                  <a:rPr lang="zh-CN" altLang="zh-CN" sz="2000" dirty="0">
                    <a:solidFill>
                      <a:srgbClr val="000000"/>
                    </a:solidFill>
                    <a:effectLst/>
                    <a:latin typeface="+mn-lt"/>
                    <a:ea typeface="+mn-ea"/>
                    <a:cs typeface="宋体" pitchFamily="2" charset="-122"/>
                  </a:rPr>
                  <a:t>预言机的总次数</a:t>
                </a:r>
                <a:r>
                  <a:rPr lang="zh-CN" altLang="en-US" sz="2000" dirty="0">
                    <a:solidFill>
                      <a:srgbClr val="000000"/>
                    </a:solidFill>
                    <a:latin typeface="+mn-lt"/>
                    <a:ea typeface="+mn-ea"/>
                    <a:cs typeface="宋体" pitchFamily="2" charset="-122"/>
                  </a:rPr>
                  <a:t>，</a:t>
                </a:r>
                <a:r>
                  <a:rPr lang="en-US" altLang="zh-CN" sz="2000" dirty="0">
                    <a:solidFill>
                      <a:srgbClr val="000000"/>
                    </a:solidFill>
                    <a:latin typeface="+mn-lt"/>
                    <a:ea typeface="+mn-ea"/>
                    <a:cs typeface="宋体" pitchFamily="2" charset="-122"/>
                  </a:rPr>
                  <a:t> </a:t>
                </a:r>
                <a14:m>
                  <m:oMath xmlns:m="http://schemas.openxmlformats.org/officeDocument/2006/math">
                    <m:r>
                      <a:rPr lang="en-US" altLang="zh-CN" sz="2000">
                        <a:solidFill>
                          <a:srgbClr val="000000"/>
                        </a:solidFill>
                        <a:latin typeface="Cambria Math" panose="02040503050406030204" pitchFamily="18" charset="0"/>
                        <a:ea typeface="+mn-ea"/>
                        <a:cs typeface="宋体" pitchFamily="2" charset="-122"/>
                      </a:rPr>
                      <m:t>𝜏</m:t>
                    </m:r>
                  </m:oMath>
                </a14:m>
                <a:r>
                  <a:rPr lang="en-US" altLang="zh-CN" sz="2000" dirty="0">
                    <a:solidFill>
                      <a:srgbClr val="000000"/>
                    </a:solidFill>
                    <a:latin typeface="+mn-lt"/>
                    <a:ea typeface="+mn-ea"/>
                    <a:cs typeface="宋体" pitchFamily="2" charset="-122"/>
                  </a:rPr>
                  <a:t> </a:t>
                </a:r>
                <a:r>
                  <a:rPr lang="zh-CN" altLang="en-US" sz="2000" dirty="0">
                    <a:solidFill>
                      <a:srgbClr val="000000"/>
                    </a:solidFill>
                    <a:latin typeface="+mn-lt"/>
                    <a:ea typeface="+mn-ea"/>
                    <a:cs typeface="宋体" pitchFamily="2" charset="-122"/>
                  </a:rPr>
                  <a:t>为单位时间（这里我们假设除指数运算外其他所有操作都花费单位时间</a:t>
                </a:r>
                <a14:m>
                  <m:oMath xmlns:m="http://schemas.openxmlformats.org/officeDocument/2006/math">
                    <m:r>
                      <a:rPr lang="en-US" altLang="zh-CN" sz="2000">
                        <a:solidFill>
                          <a:srgbClr val="000000"/>
                        </a:solidFill>
                        <a:latin typeface="Cambria Math" panose="02040503050406030204" pitchFamily="18" charset="0"/>
                        <a:ea typeface="+mn-ea"/>
                        <a:cs typeface="宋体" pitchFamily="2" charset="-122"/>
                      </a:rPr>
                      <m:t>𝜏</m:t>
                    </m:r>
                  </m:oMath>
                </a14:m>
                <a:r>
                  <a:rPr lang="zh-CN" altLang="en-US" sz="2000" dirty="0">
                    <a:solidFill>
                      <a:srgbClr val="000000"/>
                    </a:solidFill>
                    <a:latin typeface="+mn-lt"/>
                    <a:ea typeface="+mn-ea"/>
                    <a:cs typeface="宋体" pitchFamily="2" charset="-122"/>
                  </a:rPr>
                  <a:t>）。因</a:t>
                </a:r>
                <a:r>
                  <a:rPr lang="en-US" altLang="zh-CN" sz="2000" dirty="0">
                    <a:solidFill>
                      <a:srgbClr val="000000"/>
                    </a:solidFill>
                    <a:latin typeface="+mn-lt"/>
                    <a:ea typeface="+mn-ea"/>
                    <a:cs typeface="宋体" pitchFamily="2" charset="-122"/>
                  </a:rPr>
                  <a:t> </a:t>
                </a:r>
                <a:r>
                  <a:rPr lang="en-GB" altLang="zh-CN" sz="2000" dirty="0">
                    <a:solidFill>
                      <a:srgbClr val="000000"/>
                    </a:solidFill>
                    <a:latin typeface="+mn-lt"/>
                    <a:ea typeface="+mn-ea"/>
                    <a:cs typeface="宋体" pitchFamily="2" charset="-122"/>
                  </a:rPr>
                  <a:t>CDH </a:t>
                </a:r>
                <a:r>
                  <a:rPr lang="zh-CN" altLang="en-US" sz="2000" dirty="0">
                    <a:solidFill>
                      <a:srgbClr val="000000"/>
                    </a:solidFill>
                    <a:latin typeface="+mn-lt"/>
                    <a:ea typeface="+mn-ea"/>
                    <a:cs typeface="宋体" pitchFamily="2" charset="-122"/>
                  </a:rPr>
                  <a:t>问题是困难的，从而我们可推导出</a:t>
                </a:r>
                <a14:m>
                  <m:oMath xmlns:m="http://schemas.openxmlformats.org/officeDocument/2006/math">
                    <m:sSubSup>
                      <m:sSubSupPr>
                        <m:ctrlPr>
                          <a:rPr lang="en-US" altLang="zh-CN" sz="2000" i="1" dirty="0">
                            <a:latin typeface="Cambria Math" panose="02040503050406030204" pitchFamily="18" charset="0"/>
                            <a:ea typeface="+mn-ea"/>
                          </a:rPr>
                        </m:ctrlPr>
                      </m:sSubSupPr>
                      <m:e>
                        <m:r>
                          <m:rPr>
                            <m:sty m:val="p"/>
                          </m:rPr>
                          <a:rPr lang="en-US" altLang="zh-CN" sz="2000" dirty="0">
                            <a:latin typeface="Cambria Math" panose="02040503050406030204" pitchFamily="18" charset="0"/>
                            <a:ea typeface="+mn-ea"/>
                          </a:rPr>
                          <m:t>Adv</m:t>
                        </m:r>
                      </m:e>
                      <m:sub>
                        <m:r>
                          <a:rPr lang="zh-CN" altLang="en-US" sz="2000">
                            <a:latin typeface="Cambria Math" panose="02040503050406030204" pitchFamily="18" charset="0"/>
                            <a:ea typeface="+mn-ea"/>
                          </a:rPr>
                          <m:t>𝒜</m:t>
                        </m:r>
                      </m:sub>
                      <m:sup>
                        <m:r>
                          <m:rPr>
                            <m:sty m:val="p"/>
                          </m:rPr>
                          <a:rPr lang="en-US" altLang="zh-CN" sz="2000" dirty="0">
                            <a:latin typeface="Cambria Math" panose="02040503050406030204" pitchFamily="18" charset="0"/>
                            <a:ea typeface="+mn-ea"/>
                          </a:rPr>
                          <m:t>CPA</m:t>
                        </m:r>
                      </m:sup>
                    </m:sSubSup>
                  </m:oMath>
                </a14:m>
                <a:r>
                  <a:rPr lang="zh-CN" altLang="en-US" sz="2000" dirty="0">
                    <a:solidFill>
                      <a:srgbClr val="000000"/>
                    </a:solidFill>
                    <a:latin typeface="+mn-lt"/>
                    <a:ea typeface="+mn-ea"/>
                    <a:cs typeface="宋体" pitchFamily="2" charset="-122"/>
                  </a:rPr>
                  <a:t>是可忽略的，即杂凑 </a:t>
                </a:r>
                <a:r>
                  <a:rPr lang="en-GB" altLang="zh-CN" sz="2000" dirty="0">
                    <a:solidFill>
                      <a:srgbClr val="000000"/>
                    </a:solidFill>
                    <a:latin typeface="+mn-lt"/>
                    <a:ea typeface="+mn-ea"/>
                    <a:cs typeface="宋体" pitchFamily="2" charset="-122"/>
                  </a:rPr>
                  <a:t>ElGamal </a:t>
                </a:r>
                <a:r>
                  <a:rPr lang="zh-CN" altLang="en-US" sz="2000" dirty="0">
                    <a:solidFill>
                      <a:srgbClr val="000000"/>
                    </a:solidFill>
                    <a:latin typeface="+mn-lt"/>
                    <a:ea typeface="+mn-ea"/>
                    <a:cs typeface="宋体" pitchFamily="2" charset="-122"/>
                  </a:rPr>
                  <a:t>公钥加密方案在随机预言机模型下满足 </a:t>
                </a:r>
                <a:r>
                  <a:rPr lang="en-GB" altLang="zh-CN" sz="2000" dirty="0">
                    <a:solidFill>
                      <a:srgbClr val="000000"/>
                    </a:solidFill>
                    <a:latin typeface="+mn-lt"/>
                    <a:ea typeface="+mn-ea"/>
                    <a:cs typeface="宋体" pitchFamily="2" charset="-122"/>
                  </a:rPr>
                  <a:t>IND-CPA </a:t>
                </a:r>
                <a:r>
                  <a:rPr lang="zh-CN" altLang="en-US" sz="2000" dirty="0">
                    <a:solidFill>
                      <a:srgbClr val="000000"/>
                    </a:solidFill>
                    <a:latin typeface="+mn-lt"/>
                    <a:ea typeface="+mn-ea"/>
                    <a:cs typeface="宋体" pitchFamily="2" charset="-122"/>
                  </a:rPr>
                  <a:t>安全性要求。</a:t>
                </a:r>
                <a:endParaRPr lang="en-US" altLang="zh-CN" sz="2000" dirty="0">
                  <a:solidFill>
                    <a:srgbClr val="000000"/>
                  </a:solidFill>
                  <a:latin typeface="+mn-lt"/>
                  <a:ea typeface="+mn-ea"/>
                  <a:cs typeface="宋体" pitchFamily="2"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70641" y="1988648"/>
                <a:ext cx="10869672" cy="2715743"/>
              </a:xfrm>
              <a:prstGeom prst="rect">
                <a:avLst/>
              </a:prstGeom>
              <a:blipFill>
                <a:blip r:embed="rId3"/>
                <a:stretch>
                  <a:fillRect l="-617" r="-561" b="-291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8D268D6-599F-E120-5778-4A4AD0739D53}"/>
              </a:ext>
            </a:extLst>
          </p:cNvPr>
          <p:cNvSpPr txBox="1"/>
          <p:nvPr/>
        </p:nvSpPr>
        <p:spPr>
          <a:xfrm>
            <a:off x="502920" y="797971"/>
            <a:ext cx="6050280"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杂凑 </a:t>
            </a:r>
            <a:r>
              <a:rPr lang="en-GB" altLang="zh-CN" sz="2000" b="1" dirty="0">
                <a:solidFill>
                  <a:srgbClr val="C90012"/>
                </a:solidFill>
                <a:latin typeface="Times New Roman" panose="02020503050405090304"/>
                <a:ea typeface="微软雅黑"/>
                <a:cs typeface="Times New Roman" panose="02020503050405090304"/>
              </a:rPr>
              <a:t>ElGamal </a:t>
            </a:r>
            <a:r>
              <a:rPr lang="zh-CN" altLang="en-US" sz="2000" b="1" dirty="0">
                <a:solidFill>
                  <a:srgbClr val="C90012"/>
                </a:solidFill>
                <a:latin typeface="Times New Roman" panose="02020503050405090304"/>
                <a:ea typeface="微软雅黑"/>
                <a:cs typeface="Times New Roman" panose="02020503050405090304"/>
              </a:rPr>
              <a:t>公钥加密方案的可证明安全</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p:cNvSpPr txBox="1"/>
              <p:nvPr/>
            </p:nvSpPr>
            <p:spPr>
              <a:xfrm>
                <a:off x="570641" y="1187270"/>
                <a:ext cx="10869672" cy="5439566"/>
              </a:xfrm>
              <a:prstGeom prst="rect">
                <a:avLst/>
              </a:prstGeom>
              <a:noFill/>
            </p:spPr>
            <p:txBody>
              <a:bodyPr wrap="square">
                <a:spAutoFit/>
              </a:bodyPr>
              <a:lstStyle/>
              <a:p>
                <a:pPr algn="just">
                  <a:lnSpc>
                    <a:spcPct val="132000"/>
                  </a:lnSpc>
                </a:pPr>
                <a:r>
                  <a:rPr lang="zh-CN" altLang="zh-CN" sz="2000" b="1" dirty="0">
                    <a:solidFill>
                      <a:srgbClr val="000000"/>
                    </a:solidFill>
                    <a:effectLst/>
                    <a:latin typeface="+mn-lt"/>
                    <a:ea typeface="+mn-ea"/>
                    <a:cs typeface="Times New Roman" panose="02020503050405090304" pitchFamily="18" charset="0"/>
                  </a:rPr>
                  <a:t>证明：</a:t>
                </a:r>
                <a:r>
                  <a:rPr lang="zh-CN" altLang="en-US" sz="2000" dirty="0">
                    <a:solidFill>
                      <a:srgbClr val="000000"/>
                    </a:solidFill>
                    <a:effectLst/>
                    <a:latin typeface="+mn-lt"/>
                    <a:ea typeface="+mn-ea"/>
                    <a:cs typeface="Times New Roman" panose="02020503050405090304" pitchFamily="18" charset="0"/>
                  </a:rPr>
                  <a:t>假设</a:t>
                </a:r>
                <a:r>
                  <a:rPr lang="zh-CN" altLang="zh-CN" sz="2000" dirty="0">
                    <a:solidFill>
                      <a:srgbClr val="000000"/>
                    </a:solidFill>
                    <a:effectLst/>
                    <a:latin typeface="+mn-lt"/>
                    <a:ea typeface="+mn-ea"/>
                    <a:cs typeface="Times New Roman" panose="02020503050405090304" pitchFamily="18" charset="0"/>
                  </a:rPr>
                  <a:t>挑战者</a:t>
                </a:r>
                <a14:m>
                  <m:oMath xmlns:m="http://schemas.openxmlformats.org/officeDocument/2006/math">
                    <m:r>
                      <a:rPr lang="en-US" altLang="zh-CN" sz="2000" i="1">
                        <a:latin typeface="Cambria Math" panose="02040503050406030204" pitchFamily="18" charset="0"/>
                        <a:ea typeface="+mn-ea"/>
                      </a:rPr>
                      <m:t>ℬ</m:t>
                    </m:r>
                  </m:oMath>
                </a14:m>
                <a:r>
                  <a:rPr lang="zh-CN" altLang="zh-CN" sz="2000" dirty="0">
                    <a:solidFill>
                      <a:srgbClr val="000000"/>
                    </a:solidFill>
                    <a:effectLst/>
                    <a:latin typeface="+mn-lt"/>
                    <a:ea typeface="+mn-ea"/>
                    <a:cs typeface="Times New Roman" panose="02020503050405090304" pitchFamily="18" charset="0"/>
                  </a:rPr>
                  <a:t>被</a:t>
                </a:r>
                <a:r>
                  <a:rPr lang="zh-CN" altLang="en-US" sz="2000" dirty="0">
                    <a:solidFill>
                      <a:srgbClr val="000000"/>
                    </a:solidFill>
                    <a:latin typeface="+mn-lt"/>
                    <a:ea typeface="+mn-ea"/>
                    <a:cs typeface="Times New Roman" panose="02020503050405090304" pitchFamily="18" charset="0"/>
                  </a:rPr>
                  <a:t>给予</a:t>
                </a:r>
                <a:r>
                  <a:rPr lang="zh-CN" altLang="zh-CN" sz="2000" dirty="0">
                    <a:solidFill>
                      <a:srgbClr val="000000"/>
                    </a:solidFill>
                    <a:effectLst/>
                    <a:latin typeface="+mn-lt"/>
                    <a:ea typeface="+mn-ea"/>
                    <a:cs typeface="Times New Roman" panose="02020503050405090304" pitchFamily="18" charset="0"/>
                  </a:rPr>
                  <a:t>一</a:t>
                </a:r>
                <a:r>
                  <a:rPr lang="zh-CN" altLang="en-US" sz="2000" dirty="0">
                    <a:solidFill>
                      <a:srgbClr val="000000"/>
                    </a:solidFill>
                    <a:effectLst/>
                    <a:latin typeface="+mn-lt"/>
                    <a:ea typeface="+mn-ea"/>
                    <a:cs typeface="Times New Roman" panose="02020503050405090304" pitchFamily="18" charset="0"/>
                  </a:rPr>
                  <a:t>个群上</a:t>
                </a:r>
                <a:r>
                  <a:rPr lang="en-US" altLang="zh-CN" sz="2000" dirty="0">
                    <a:solidFill>
                      <a:srgbClr val="000000"/>
                    </a:solidFill>
                    <a:effectLst/>
                    <a:latin typeface="+mn-lt"/>
                    <a:ea typeface="+mn-ea"/>
                    <a:cs typeface="宋体" pitchFamily="2" charset="-122"/>
                  </a:rPr>
                  <a:t>CDH</a:t>
                </a:r>
                <a:r>
                  <a:rPr lang="zh-CN" altLang="zh-CN" sz="2000" dirty="0">
                    <a:solidFill>
                      <a:srgbClr val="000000"/>
                    </a:solidFill>
                    <a:effectLst/>
                    <a:latin typeface="+mn-lt"/>
                    <a:ea typeface="+mn-ea"/>
                    <a:cs typeface="Times New Roman" panose="02020503050405090304" pitchFamily="18" charset="0"/>
                  </a:rPr>
                  <a:t>问题实例</a:t>
                </a:r>
                <a14:m>
                  <m:oMath xmlns:m="http://schemas.openxmlformats.org/officeDocument/2006/math">
                    <m:d>
                      <m:dPr>
                        <m:ctrlPr>
                          <a:rPr lang="en-US" altLang="zh-CN" sz="2000" b="0" i="1">
                            <a:solidFill>
                              <a:srgbClr val="000000"/>
                            </a:solidFill>
                            <a:effectLst/>
                            <a:latin typeface="Cambria Math" panose="02040503050406030204" pitchFamily="18" charset="0"/>
                            <a:ea typeface="+mn-ea"/>
                            <a:cs typeface="Times New Roman" panose="02020503050405090304" pitchFamily="18" charset="0"/>
                          </a:rPr>
                        </m:ctrlPr>
                      </m:dPr>
                      <m:e>
                        <m:r>
                          <a:rPr lang="en-US" altLang="zh-CN" sz="2000" b="0" i="1" smtClean="0">
                            <a:solidFill>
                              <a:srgbClr val="000000"/>
                            </a:solidFill>
                            <a:effectLst/>
                            <a:latin typeface="Cambria Math" panose="02040503050406030204" pitchFamily="18" charset="0"/>
                            <a:ea typeface="+mn-ea"/>
                            <a:cs typeface="Times New Roman" panose="02020503050405090304" pitchFamily="18" charset="0"/>
                          </a:rPr>
                          <m:t>𝑔</m:t>
                        </m:r>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zh-CN" altLang="zh-CN" sz="2000" i="1">
                                <a:solidFill>
                                  <a:srgbClr val="000000"/>
                                </a:solidFill>
                                <a:latin typeface="Cambria Math" panose="02040503050406030204" pitchFamily="18" charset="0"/>
                                <a:ea typeface="+mn-ea"/>
                                <a:cs typeface="Times New Roman" panose="02020503050405090304" pitchFamily="18" charset="0"/>
                              </a:rPr>
                            </m:ctrlPr>
                          </m:sSupPr>
                          <m:e>
                            <m:r>
                              <a:rPr lang="en-US" altLang="zh-CN" sz="2000" i="1">
                                <a:solidFill>
                                  <a:srgbClr val="000000"/>
                                </a:solidFill>
                                <a:latin typeface="Cambria Math" panose="02040503050406030204" pitchFamily="18" charset="0"/>
                                <a:ea typeface="+mn-ea"/>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sup>
                        </m:sSup>
                        <m:r>
                          <a:rPr lang="en-US" altLang="zh-CN" sz="2000" i="1">
                            <a:solidFill>
                              <a:srgbClr val="000000"/>
                            </a:solidFill>
                            <a:effectLst/>
                            <a:latin typeface="Cambria Math" panose="02040503050406030204" pitchFamily="18" charset="0"/>
                            <a:ea typeface="+mn-ea"/>
                            <a:cs typeface="Times New Roman" panose="02020503050405090304" pitchFamily="18" charset="0"/>
                          </a:rPr>
                          <m:t>,</m:t>
                        </m:r>
                        <m:sSup>
                          <m:sSupPr>
                            <m:ctrlPr>
                              <a:rPr lang="en-US" altLang="zh-CN" sz="2000" i="1">
                                <a:latin typeface="Cambria Math" panose="02040503050406030204" pitchFamily="18" charset="0"/>
                                <a:ea typeface="+mn-ea"/>
                                <a:cs typeface="Times New Roman" panose="02020503050405090304" pitchFamily="18" charset="0"/>
                              </a:rPr>
                            </m:ctrlPr>
                          </m:sSupPr>
                          <m:e>
                            <m:r>
                              <a:rPr lang="en-US" altLang="zh-CN" sz="2000" i="1">
                                <a:latin typeface="Cambria Math" panose="02040503050406030204" pitchFamily="18" charset="0"/>
                                <a:ea typeface="+mn-ea"/>
                                <a:cs typeface="Times New Roman" panose="02020503050405090304" pitchFamily="18" charset="0"/>
                              </a:rPr>
                              <m:t>𝑔</m:t>
                            </m:r>
                          </m:e>
                          <m:sup>
                            <m:r>
                              <a:rPr lang="en-US" altLang="zh-CN" sz="2000" i="1">
                                <a:latin typeface="Cambria Math" panose="02040503050406030204" pitchFamily="18" charset="0"/>
                                <a:ea typeface="+mn-ea"/>
                                <a:cs typeface="Times New Roman" panose="02020503050405090304" pitchFamily="18" charset="0"/>
                              </a:rPr>
                              <m:t>𝛽</m:t>
                            </m:r>
                          </m:sup>
                        </m:sSup>
                      </m:e>
                    </m:d>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接下来</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我们在安全模型</m:t>
                    </m:r>
                    <m:r>
                      <a:rPr lang="zh-CN" altLang="en-US" sz="2000" i="1">
                        <a:solidFill>
                          <a:srgbClr val="000000"/>
                        </a:solidFill>
                        <a:latin typeface="Cambria Math" panose="02040503050406030204" pitchFamily="18" charset="0"/>
                        <a:ea typeface="+mn-ea"/>
                        <a:cs typeface="Times New Roman" panose="02020503050405090304" pitchFamily="18" charset="0"/>
                      </a:rPr>
                      <m:t> </m:t>
                    </m:r>
                    <m:r>
                      <m:rPr>
                        <m:sty m:val="p"/>
                      </m:rPr>
                      <a:rPr lang="en-GB" altLang="zh-CN" sz="2000" i="0">
                        <a:solidFill>
                          <a:srgbClr val="000000"/>
                        </a:solidFill>
                        <a:latin typeface="Cambria Math" panose="02040503050406030204" pitchFamily="18" charset="0"/>
                        <a:ea typeface="+mn-ea"/>
                        <a:cs typeface="Times New Roman" panose="02020503050405090304" pitchFamily="18" charset="0"/>
                      </a:rPr>
                      <m:t>IND</m:t>
                    </m:r>
                    <m:r>
                      <a:rPr lang="en-GB" altLang="zh-CN" sz="2000" i="0">
                        <a:solidFill>
                          <a:srgbClr val="000000"/>
                        </a:solidFill>
                        <a:latin typeface="Cambria Math" panose="02040503050406030204" pitchFamily="18" charset="0"/>
                        <a:ea typeface="+mn-ea"/>
                        <a:cs typeface="Times New Roman" panose="02020503050405090304" pitchFamily="18" charset="0"/>
                      </a:rPr>
                      <m:t>−</m:t>
                    </m:r>
                    <m:r>
                      <m:rPr>
                        <m:sty m:val="p"/>
                      </m:rPr>
                      <a:rPr lang="en-GB" altLang="zh-CN" sz="2000" i="0">
                        <a:solidFill>
                          <a:srgbClr val="000000"/>
                        </a:solidFill>
                        <a:latin typeface="Cambria Math" panose="02040503050406030204" pitchFamily="18" charset="0"/>
                        <a:ea typeface="+mn-ea"/>
                        <a:cs typeface="Times New Roman" panose="02020503050405090304" pitchFamily="18" charset="0"/>
                      </a:rPr>
                      <m:t>CPA</m:t>
                    </m:r>
                    <m:r>
                      <a:rPr lang="en-GB" altLang="zh-CN" sz="2000" i="0">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下证明该定理</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注意</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这里</m:t>
                    </m:r>
                    <m:r>
                      <a:rPr lang="en-US" altLang="zh-CN" sz="2000" i="1">
                        <a:latin typeface="Cambria Math" panose="02040503050406030204" pitchFamily="18" charset="0"/>
                        <a:ea typeface="+mn-ea"/>
                      </a:rPr>
                      <m:t>ℬ</m:t>
                    </m:r>
                    <m:r>
                      <a:rPr lang="zh-CN" altLang="en-US" sz="2000" i="1">
                        <a:solidFill>
                          <a:srgbClr val="000000"/>
                        </a:solidFill>
                        <a:latin typeface="Cambria Math" panose="02040503050406030204" pitchFamily="18" charset="0"/>
                        <a:ea typeface="+mn-ea"/>
                        <a:cs typeface="Times New Roman" panose="02020503050405090304" pitchFamily="18" charset="0"/>
                      </a:rPr>
                      <m:t>需要将</m:t>
                    </m:r>
                    <m:r>
                      <a:rPr lang="zh-CN" altLang="en-US" sz="2000" i="1">
                        <a:solidFill>
                          <a:srgbClr val="000000"/>
                        </a:solidFill>
                        <a:latin typeface="Cambria Math" panose="02040503050406030204" pitchFamily="18" charset="0"/>
                        <a:ea typeface="+mn-ea"/>
                        <a:cs typeface="Times New Roman" panose="02020503050405090304" pitchFamily="18" charset="0"/>
                      </a:rPr>
                      <m:t> </m:t>
                    </m:r>
                    <m:r>
                      <m:rPr>
                        <m:sty m:val="p"/>
                      </m:rPr>
                      <a:rPr lang="en-GB" altLang="zh-CN" sz="2000" i="0">
                        <a:solidFill>
                          <a:srgbClr val="000000"/>
                        </a:solidFill>
                        <a:latin typeface="Cambria Math" panose="02040503050406030204" pitchFamily="18" charset="0"/>
                        <a:ea typeface="+mn-ea"/>
                        <a:cs typeface="Times New Roman" panose="02020503050405090304" pitchFamily="18" charset="0"/>
                      </a:rPr>
                      <m:t>CDH</m:t>
                    </m:r>
                    <m:r>
                      <a:rPr lang="en-GB" altLang="zh-CN" sz="2000" i="1">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问题实例嵌入整个证明过程</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并</m:t>
                    </m:r>
                    <m:r>
                      <a:rPr lang="zh-CN" altLang="en-US" sz="2000" i="1">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使得挑战密文需要包含这个</m:t>
                    </m:r>
                    <m:r>
                      <a:rPr lang="zh-CN" altLang="en-US" sz="2000" i="1">
                        <a:solidFill>
                          <a:srgbClr val="000000"/>
                        </a:solidFill>
                        <a:latin typeface="Cambria Math" panose="02040503050406030204" pitchFamily="18" charset="0"/>
                        <a:ea typeface="+mn-ea"/>
                        <a:cs typeface="Times New Roman" panose="02020503050405090304" pitchFamily="18" charset="0"/>
                      </a:rPr>
                      <m:t> </m:t>
                    </m:r>
                    <m:r>
                      <m:rPr>
                        <m:sty m:val="p"/>
                      </m:rPr>
                      <a:rPr lang="en-GB" altLang="zh-CN" sz="2000" i="0">
                        <a:solidFill>
                          <a:srgbClr val="000000"/>
                        </a:solidFill>
                        <a:latin typeface="Cambria Math" panose="02040503050406030204" pitchFamily="18" charset="0"/>
                        <a:ea typeface="+mn-ea"/>
                        <a:cs typeface="Times New Roman" panose="02020503050405090304" pitchFamily="18" charset="0"/>
                      </a:rPr>
                      <m:t>CDH</m:t>
                    </m:r>
                    <m:r>
                      <a:rPr lang="en-GB" altLang="zh-CN" sz="2000" i="1">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问题实例的求解问题</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根据该模型</m:t>
                    </m:r>
                    <m:r>
                      <a:rPr lang="zh-CN" altLang="en-US" sz="2000" i="1">
                        <a:solidFill>
                          <a:srgbClr val="000000"/>
                        </a:solidFill>
                        <a:latin typeface="Cambria Math" panose="02040503050406030204" pitchFamily="18" charset="0"/>
                        <a:ea typeface="+mn-ea"/>
                        <a:cs typeface="Times New Roman" panose="02020503050405090304" pitchFamily="18" charset="0"/>
                      </a:rPr>
                      <m:t>，</m:t>
                    </m:r>
                    <m:r>
                      <a:rPr lang="zh-CN" altLang="en-US" sz="2000" i="1">
                        <a:solidFill>
                          <a:srgbClr val="000000"/>
                        </a:solidFill>
                        <a:latin typeface="Cambria Math" panose="02040503050406030204" pitchFamily="18" charset="0"/>
                        <a:ea typeface="+mn-ea"/>
                        <a:cs typeface="Times New Roman" panose="02020503050405090304" pitchFamily="18" charset="0"/>
                      </a:rPr>
                      <m:t>证明的整个过程分</m:t>
                    </m:r>
                    <m:r>
                      <a:rPr lang="zh-CN" altLang="en-US" sz="2000" i="1">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为如下几个阶段</m:t>
                    </m:r>
                    <m:r>
                      <a:rPr lang="zh-CN" altLang="en-US" sz="2000" i="1">
                        <a:solidFill>
                          <a:srgbClr val="000000"/>
                        </a:solidFill>
                        <a:latin typeface="Cambria Math" panose="02040503050406030204" pitchFamily="18" charset="0"/>
                        <a:ea typeface="+mn-ea"/>
                        <a:cs typeface="Times New Roman" panose="02020503050405090304" pitchFamily="18" charset="0"/>
                      </a:rPr>
                      <m:t>。</m:t>
                    </m:r>
                  </m:oMath>
                </a14:m>
                <a:endParaRPr lang="en-US" altLang="zh-CN" sz="2000" b="0" i="1" dirty="0">
                  <a:solidFill>
                    <a:srgbClr val="000000"/>
                  </a:solidFill>
                  <a:effectLst/>
                  <a:latin typeface="+mn-lt"/>
                  <a:ea typeface="+mn-ea"/>
                  <a:cs typeface="Times New Roman" panose="02020503050405090304" pitchFamily="18" charset="0"/>
                </a:endParaRPr>
              </a:p>
              <a:p>
                <a:pPr marL="342900" indent="-342900" algn="just">
                  <a:lnSpc>
                    <a:spcPct val="130000"/>
                  </a:lnSpc>
                  <a:spcBef>
                    <a:spcPts val="300"/>
                  </a:spcBef>
                  <a:spcAft>
                    <a:spcPts val="300"/>
                  </a:spcAft>
                  <a:buFont typeface="Wingdings" panose="05000000000000000000" pitchFamily="2" charset="2"/>
                  <a:buChar char=""/>
                </a:pPr>
                <a:r>
                  <a:rPr lang="zh-CN" altLang="zh-CN" sz="2000" b="1" dirty="0">
                    <a:solidFill>
                      <a:srgbClr val="000000"/>
                    </a:solidFill>
                    <a:effectLst/>
                    <a:latin typeface="+mn-lt"/>
                    <a:ea typeface="+mn-ea"/>
                    <a:cs typeface="Times New Roman" panose="02020503050405090304" pitchFamily="18" charset="0"/>
                  </a:rPr>
                  <a:t>初始化阶段：</a:t>
                </a:r>
                <a14:m>
                  <m:oMath xmlns:m="http://schemas.openxmlformats.org/officeDocument/2006/math">
                    <m:r>
                      <a:rPr lang="en-US" altLang="zh-CN" sz="2000" i="1">
                        <a:latin typeface="Cambria Math" panose="02040503050406030204" pitchFamily="18" charset="0"/>
                      </a:rPr>
                      <m:t>ℬ</m:t>
                    </m:r>
                  </m:oMath>
                </a14:m>
                <a:r>
                  <a:rPr lang="zh-CN" altLang="en-US" sz="2000" dirty="0">
                    <a:latin typeface="+mn-lt"/>
                  </a:rPr>
                  <a:t> 按照杂凑 </a:t>
                </a:r>
                <a:r>
                  <a:rPr lang="en-GB" altLang="zh-CN" sz="2000" dirty="0">
                    <a:latin typeface="+mn-lt"/>
                  </a:rPr>
                  <a:t>ElGamal </a:t>
                </a:r>
                <a:r>
                  <a:rPr lang="zh-CN" altLang="en-US" sz="2000" dirty="0">
                    <a:latin typeface="+mn-lt"/>
                  </a:rPr>
                  <a:t>公钥加密方案的 </a:t>
                </a:r>
                <a14:m>
                  <m:oMath xmlns:m="http://schemas.openxmlformats.org/officeDocument/2006/math">
                    <m:r>
                      <m:rPr>
                        <m:nor/>
                      </m:rPr>
                      <a:rPr lang="en-US" altLang="zh-CN" sz="2000">
                        <a:solidFill>
                          <a:srgbClr val="000000"/>
                        </a:solidFill>
                        <a:latin typeface="Times New Roman" panose="02020503050405090304" pitchFamily="18" charset="0"/>
                        <a:cs typeface="Times New Roman" panose="02020503050405090304" pitchFamily="18" charset="0"/>
                      </a:rPr>
                      <m:t>Gen</m:t>
                    </m:r>
                    <m:r>
                      <m:rPr>
                        <m:nor/>
                      </m:rPr>
                      <a:rPr lang="en-US" altLang="zh-CN" sz="2000">
                        <a:solidFill>
                          <a:srgbClr val="000000"/>
                        </a:solidFill>
                        <a:latin typeface="Times New Roman" panose="02020503050405090304" pitchFamily="18" charset="0"/>
                        <a:cs typeface="Times New Roman" panose="02020503050405090304" pitchFamily="18" charset="0"/>
                      </a:rPr>
                      <m:t>(</m:t>
                    </m:r>
                    <m:r>
                      <m:rPr>
                        <m:nor/>
                      </m:rPr>
                      <a:rPr lang="zh-CN" altLang="zh-CN" sz="2000" dirty="0">
                        <a:latin typeface="Times New Roman" panose="02020503050405090304" pitchFamily="18" charset="0"/>
                        <a:cs typeface="Times New Roman" panose="02020503050405090304" pitchFamily="18" charset="0"/>
                      </a:rPr>
                      <m:t>λ</m:t>
                    </m:r>
                    <m:r>
                      <m:rPr>
                        <m:nor/>
                      </m:rPr>
                      <a:rPr lang="en-US" altLang="zh-CN" sz="2000">
                        <a:solidFill>
                          <a:srgbClr val="000000"/>
                        </a:solidFill>
                        <a:latin typeface="Times New Roman" panose="02020503050405090304" pitchFamily="18" charset="0"/>
                        <a:cs typeface="Times New Roman" panose="02020503050405090304" pitchFamily="18" charset="0"/>
                      </a:rPr>
                      <m:t>)</m:t>
                    </m:r>
                  </m:oMath>
                </a14:m>
                <a:r>
                  <a:rPr lang="zh-CN" altLang="en-US" sz="2000" dirty="0">
                    <a:latin typeface="+mn-lt"/>
                  </a:rPr>
                  <a:t> 生成</a:t>
                </a:r>
                <a:r>
                  <a:rPr lang="en-US" altLang="zh-CN" sz="2000" dirty="0">
                    <a:latin typeface="+mn-lt"/>
                  </a:rPr>
                  <a:t> (</a:t>
                </a:r>
                <a14:m>
                  <m:oMath xmlns:m="http://schemas.openxmlformats.org/officeDocument/2006/math">
                    <m:r>
                      <a:rPr lang="zh-CN" altLang="en-US" sz="2000" i="1">
                        <a:latin typeface="Cambria Math" panose="02040503050406030204" pitchFamily="18" charset="0"/>
                        <a:cs typeface="Times New Roman" panose="02020503050405090304" pitchFamily="18" charset="0"/>
                      </a:rPr>
                      <m:t>𝔾</m:t>
                    </m:r>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𝑞</m:t>
                    </m:r>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𝑔</m:t>
                    </m:r>
                    <m:r>
                      <a:rPr lang="en-US" altLang="zh-CN" sz="2000" i="1">
                        <a:latin typeface="Cambria Math" panose="02040503050406030204" pitchFamily="18" charset="0"/>
                        <a:cs typeface="Times New Roman" panose="02020503050405090304" pitchFamily="18" charset="0"/>
                      </a:rPr>
                      <m:t>, </m:t>
                    </m:r>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oMath>
                </a14:m>
                <a:r>
                  <a:rPr lang="zh-CN" altLang="zh-CN" sz="2000" dirty="0">
                    <a:solidFill>
                      <a:srgbClr val="000000"/>
                    </a:solidFill>
                    <a:latin typeface="Times New Roman" panose="02020503050405090304" pitchFamily="18" charset="0"/>
                    <a:cs typeface="Times New Roman" panose="02020503050405090304" pitchFamily="18" charset="0"/>
                  </a:rPr>
                  <a:t> </a:t>
                </a:r>
                <a:r>
                  <a:rPr lang="zh-CN" altLang="en-GB" sz="2000" dirty="0">
                    <a:latin typeface="+mn-lt"/>
                  </a:rPr>
                  <a:t>，</a:t>
                </a:r>
                <a:r>
                  <a:rPr lang="zh-CN" altLang="en-US" sz="2000" dirty="0">
                    <a:latin typeface="+mn-lt"/>
                  </a:rPr>
                  <a:t>设置 </a:t>
                </a:r>
                <a:r>
                  <a:rPr lang="en-US" altLang="zh-CN" sz="2000" i="1" dirty="0">
                    <a:latin typeface="+mn-lt"/>
                  </a:rPr>
                  <a:t>Y</a:t>
                </a:r>
                <a:r>
                  <a:rPr lang="en-US" altLang="zh-CN" sz="2000" dirty="0">
                    <a:latin typeface="+mn-lt"/>
                  </a:rPr>
                  <a:t>=</a:t>
                </a:r>
                <a:r>
                  <a:rPr lang="zh-CN" altLang="zh-CN" sz="2000" dirty="0">
                    <a:solidFill>
                      <a:srgbClr val="000000"/>
                    </a:solidFill>
                    <a:cs typeface="Times New Roman" panose="02020503050405090304" pitchFamily="18" charset="0"/>
                  </a:rPr>
                  <a:t> </a:t>
                </a:r>
                <a14:m>
                  <m:oMath xmlns:m="http://schemas.openxmlformats.org/officeDocument/2006/math">
                    <m:sSup>
                      <m:sSupPr>
                        <m:ctrlPr>
                          <a:rPr lang="zh-CN" altLang="zh-CN" sz="2000" i="1">
                            <a:solidFill>
                              <a:srgbClr val="000000"/>
                            </a:solidFill>
                            <a:latin typeface="Cambria Math" panose="02040503050406030204" pitchFamily="18" charset="0"/>
                            <a:cs typeface="Times New Roman" panose="02020503050405090304" pitchFamily="18" charset="0"/>
                          </a:rPr>
                        </m:ctrlPr>
                      </m:sSupPr>
                      <m:e>
                        <m:r>
                          <a:rPr lang="en-US" altLang="zh-CN" sz="2000" i="1">
                            <a:solidFill>
                              <a:srgbClr val="000000"/>
                            </a:solidFill>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sup>
                    </m:sSup>
                    <m:r>
                      <a:rPr lang="en-US" altLang="zh-CN" sz="2000" i="1">
                        <a:solidFill>
                          <a:srgbClr val="000000"/>
                        </a:solidFill>
                        <a:latin typeface="Cambria Math" panose="02040503050406030204" pitchFamily="18" charset="0"/>
                        <a:cs typeface="Times New Roman" panose="02020503050405090304" pitchFamily="18" charset="0"/>
                      </a:rPr>
                      <m:t>, </m:t>
                    </m:r>
                  </m:oMath>
                </a14:m>
                <a:r>
                  <a:rPr lang="zh-CN" altLang="en-US" sz="2000" dirty="0">
                    <a:latin typeface="+mn-lt"/>
                  </a:rPr>
                  <a:t>将</a:t>
                </a:r>
                <a14:m>
                  <m:oMath xmlns:m="http://schemas.openxmlformats.org/officeDocument/2006/math">
                    <m:r>
                      <a:rPr lang="zh-CN" altLang="en-US" sz="2000" i="1" dirty="0">
                        <a:solidFill>
                          <a:srgbClr val="000000"/>
                        </a:solidFill>
                        <a:latin typeface="Cambria Math" panose="02040503050406030204" pitchFamily="18" charset="0"/>
                        <a:cs typeface="宋体" pitchFamily="2" charset="-122"/>
                      </a:rPr>
                      <m:t>其中</m:t>
                    </m:r>
                    <m:r>
                      <a:rPr lang="en-US" altLang="zh-CN" sz="2000" i="1" dirty="0">
                        <a:solidFill>
                          <a:srgbClr val="000000"/>
                        </a:solidFill>
                        <a:latin typeface="Cambria Math" panose="02040503050406030204" pitchFamily="18" charset="0"/>
                        <a:cs typeface="宋体" pitchFamily="2" charset="-122"/>
                      </a:rPr>
                      <m:t> </m:t>
                    </m:r>
                    <m:r>
                      <m:rPr>
                        <m:sty m:val="p"/>
                      </m:rPr>
                      <a:rPr lang="en-US" altLang="zh-CN" sz="2000">
                        <a:solidFill>
                          <a:srgbClr val="000000"/>
                        </a:solidFill>
                        <a:latin typeface="Cambria Math" panose="02040503050406030204" pitchFamily="18" charset="0"/>
                        <a:cs typeface="宋体" pitchFamily="2" charset="-122"/>
                      </a:rPr>
                      <m:t>pk</m:t>
                    </m:r>
                    <m:r>
                      <a:rPr lang="en-US" altLang="zh-CN" sz="2000" i="1">
                        <a:solidFill>
                          <a:srgbClr val="000000"/>
                        </a:solidFill>
                        <a:latin typeface="Cambria Math" panose="02040503050406030204" pitchFamily="18" charset="0"/>
                        <a:cs typeface="宋体" pitchFamily="2" charset="-122"/>
                      </a:rPr>
                      <m:t>=(</m:t>
                    </m:r>
                    <m:r>
                      <a:rPr lang="zh-CN" altLang="en-US" sz="2000" i="1">
                        <a:latin typeface="Cambria Math" panose="02040503050406030204" pitchFamily="18" charset="0"/>
                        <a:cs typeface="Times New Roman" panose="02020503050405090304" pitchFamily="18" charset="0"/>
                      </a:rPr>
                      <m:t>𝔾</m:t>
                    </m:r>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𝑞</m:t>
                    </m:r>
                    <m:r>
                      <a:rPr lang="en-US" altLang="zh-CN" sz="2000" i="1">
                        <a:latin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cs typeface="Times New Roman" panose="02020503050405090304" pitchFamily="18" charset="0"/>
                      </a:rPr>
                      <m:t>𝑔</m:t>
                    </m:r>
                    <m:r>
                      <a:rPr lang="en-US" altLang="zh-CN" sz="2000" i="1">
                        <a:latin typeface="Cambria Math" panose="02040503050406030204" pitchFamily="18" charset="0"/>
                        <a:cs typeface="Times New Roman" panose="02020503050405090304" pitchFamily="18" charset="0"/>
                      </a:rPr>
                      <m:t>, </m:t>
                    </m:r>
                    <m:r>
                      <a:rPr lang="en-US" altLang="zh-CN" sz="2000" i="1" dirty="0">
                        <a:solidFill>
                          <a:srgbClr val="000000"/>
                        </a:solidFill>
                        <a:latin typeface="Cambria Math" panose="02040503050406030204" pitchFamily="18" charset="0"/>
                        <a:cs typeface="宋体" pitchFamily="2" charset="-122"/>
                      </a:rPr>
                      <m:t>𝑌</m:t>
                    </m:r>
                    <m:r>
                      <a:rPr lang="en-US" altLang="zh-CN" sz="2000" i="1">
                        <a:solidFill>
                          <a:srgbClr val="000000"/>
                        </a:solidFill>
                        <a:latin typeface="Cambria Math" panose="02040503050406030204" pitchFamily="18" charset="0"/>
                        <a:cs typeface="宋体" pitchFamily="2" charset="-122"/>
                      </a:rPr>
                      <m:t>,</m:t>
                    </m:r>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oMath>
                </a14:m>
                <a:r>
                  <a:rPr lang="zh-CN" altLang="en-US" sz="2000" dirty="0">
                    <a:latin typeface="+mn-lt"/>
                  </a:rPr>
                  <a:t>发送给</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r>
                      <a:rPr lang="en-US" altLang="zh-CN" sz="2000" i="1">
                        <a:solidFill>
                          <a:srgbClr val="000000"/>
                        </a:solidFill>
                        <a:latin typeface="Cambria Math" panose="02040503050406030204" pitchFamily="18" charset="0"/>
                        <a:cs typeface="宋体" pitchFamily="2" charset="-122"/>
                      </a:rPr>
                      <m:t> </m:t>
                    </m:r>
                  </m:oMath>
                </a14:m>
                <a:r>
                  <a:rPr lang="zh-CN" altLang="en-US" sz="2000" dirty="0">
                    <a:latin typeface="+mn-lt"/>
                  </a:rPr>
                  <a:t>。注意，这里若</a:t>
                </a:r>
                <a:r>
                  <a:rPr lang="zh-CN" altLang="en-US" sz="2000" i="1" dirty="0">
                    <a:latin typeface="+mn-lt"/>
                  </a:rPr>
                  <a:t> </a:t>
                </a:r>
                <a:r>
                  <a:rPr lang="en-GB" altLang="zh-CN" sz="2000" i="1" dirty="0">
                    <a:latin typeface="+mn-lt"/>
                  </a:rPr>
                  <a:t>Y </a:t>
                </a:r>
                <a:r>
                  <a:rPr lang="zh-CN" altLang="en-US" sz="2000" dirty="0">
                    <a:latin typeface="+mn-lt"/>
                  </a:rPr>
                  <a:t>由杂凑 </a:t>
                </a:r>
                <a:r>
                  <a:rPr lang="en-GB" altLang="zh-CN" sz="2000" dirty="0">
                    <a:latin typeface="+mn-lt"/>
                  </a:rPr>
                  <a:t>ElGamal </a:t>
                </a:r>
                <a:r>
                  <a:rPr lang="zh-CN" altLang="en-US" sz="2000" dirty="0">
                    <a:latin typeface="+mn-lt"/>
                  </a:rPr>
                  <a:t>公钥加密方案的 </a:t>
                </a:r>
                <a14:m>
                  <m:oMath xmlns:m="http://schemas.openxmlformats.org/officeDocument/2006/math">
                    <m:r>
                      <m:rPr>
                        <m:nor/>
                      </m:rPr>
                      <a:rPr lang="en-US" altLang="zh-CN" sz="2000">
                        <a:solidFill>
                          <a:srgbClr val="000000"/>
                        </a:solidFill>
                        <a:latin typeface="Times New Roman" panose="02020503050405090304" pitchFamily="18" charset="0"/>
                        <a:cs typeface="Times New Roman" panose="02020503050405090304" pitchFamily="18" charset="0"/>
                      </a:rPr>
                      <m:t>Gen</m:t>
                    </m:r>
                    <m:r>
                      <m:rPr>
                        <m:nor/>
                      </m:rPr>
                      <a:rPr lang="en-US" altLang="zh-CN" sz="2000">
                        <a:solidFill>
                          <a:srgbClr val="000000"/>
                        </a:solidFill>
                        <a:latin typeface="Times New Roman" panose="02020503050405090304" pitchFamily="18" charset="0"/>
                        <a:cs typeface="Times New Roman" panose="02020503050405090304" pitchFamily="18" charset="0"/>
                      </a:rPr>
                      <m:t>(</m:t>
                    </m:r>
                    <m:r>
                      <m:rPr>
                        <m:nor/>
                      </m:rPr>
                      <a:rPr lang="zh-CN" altLang="zh-CN" sz="2000" dirty="0">
                        <a:latin typeface="Times New Roman" panose="02020503050405090304" pitchFamily="18" charset="0"/>
                        <a:cs typeface="Times New Roman" panose="02020503050405090304" pitchFamily="18" charset="0"/>
                      </a:rPr>
                      <m:t>λ</m:t>
                    </m:r>
                    <m:r>
                      <m:rPr>
                        <m:nor/>
                      </m:rPr>
                      <a:rPr lang="en-US" altLang="zh-CN" sz="2000">
                        <a:solidFill>
                          <a:srgbClr val="000000"/>
                        </a:solidFill>
                        <a:latin typeface="Times New Roman" panose="02020503050405090304" pitchFamily="18" charset="0"/>
                        <a:cs typeface="Times New Roman" panose="02020503050405090304" pitchFamily="18" charset="0"/>
                      </a:rPr>
                      <m:t>)</m:t>
                    </m:r>
                  </m:oMath>
                </a14:m>
                <a:r>
                  <a:rPr lang="zh-CN" altLang="en-US" sz="2000" dirty="0">
                    <a:latin typeface="+mn-lt"/>
                  </a:rPr>
                  <a:t>生成，则显然 </a:t>
                </a:r>
                <a14:m>
                  <m:oMath xmlns:m="http://schemas.openxmlformats.org/officeDocument/2006/math">
                    <m:r>
                      <a:rPr lang="en-US" altLang="zh-CN" sz="2000" i="1">
                        <a:latin typeface="Cambria Math" panose="02040503050406030204" pitchFamily="18" charset="0"/>
                      </a:rPr>
                      <m:t>ℬ</m:t>
                    </m:r>
                  </m:oMath>
                </a14:m>
                <a:r>
                  <a:rPr lang="zh-CN" altLang="en-US" sz="2000" dirty="0">
                    <a:latin typeface="+mn-lt"/>
                  </a:rPr>
                  <a:t> 会知道 </a:t>
                </a:r>
                <a:r>
                  <a:rPr lang="en-GB" altLang="zh-CN" sz="2000" i="1" dirty="0">
                    <a:latin typeface="+mn-lt"/>
                  </a:rPr>
                  <a:t>Y</a:t>
                </a:r>
                <a:r>
                  <a:rPr lang="en-GB" altLang="zh-CN" sz="2000" dirty="0">
                    <a:latin typeface="+mn-lt"/>
                  </a:rPr>
                  <a:t> </a:t>
                </a:r>
                <a:r>
                  <a:rPr lang="zh-CN" altLang="en-US" sz="2000" dirty="0">
                    <a:latin typeface="+mn-lt"/>
                  </a:rPr>
                  <a:t>对应的私钥。这样对于在挑战阶段生成的密文，因其格式为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m:t>
                    </m:r>
                    <m:r>
                      <a:rPr lang="en-US" altLang="zh-CN" sz="2000" i="1">
                        <a:solidFill>
                          <a:srgbClr val="000000"/>
                        </a:solidFill>
                        <a:latin typeface="Cambria Math" panose="02040503050406030204" pitchFamily="18" charset="0"/>
                        <a:cs typeface="宋体" pitchFamily="2" charset="-122"/>
                      </a:rPr>
                      <m:t>𝑀</m:t>
                    </m:r>
                    <m:r>
                      <a:rPr lang="en-US" altLang="zh-CN" sz="2000">
                        <a:solidFill>
                          <a:srgbClr val="000000"/>
                        </a:solidFill>
                        <a:latin typeface="Cambria Math" panose="02040503050406030204" pitchFamily="18" charset="0"/>
                        <a:cs typeface="Times New Roman" panose="02020503050405090304" pitchFamily="18" charset="0"/>
                      </a:rPr>
                      <m:t>⨁</m:t>
                    </m:r>
                    <m:sSup>
                      <m:sSupPr>
                        <m:ctrlPr>
                          <a:rPr lang="zh-CN" altLang="zh-CN" sz="2000" i="1">
                            <a:solidFill>
                              <a:srgbClr val="000000"/>
                            </a:solidFill>
                            <a:latin typeface="Cambria Math" panose="02040503050406030204" pitchFamily="18" charset="0"/>
                            <a:cs typeface="宋体" pitchFamily="2" charset="-122"/>
                          </a:rPr>
                        </m:ctrlPr>
                      </m:sSupPr>
                      <m:e>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r>
                          <a:rPr lang="en-US" altLang="zh-CN" sz="2000" i="1">
                            <a:solidFill>
                              <a:srgbClr val="000000"/>
                            </a:solidFill>
                            <a:latin typeface="Cambria Math" panose="02040503050406030204" pitchFamily="18" charset="0"/>
                            <a:cs typeface="宋体" pitchFamily="2" charset="-122"/>
                          </a:rPr>
                          <m:t>𝑌</m:t>
                        </m:r>
                      </m:e>
                      <m:sup>
                        <m:r>
                          <a:rPr lang="en-US" altLang="zh-CN" sz="2000" i="1">
                            <a:solidFill>
                              <a:srgbClr val="000000"/>
                            </a:solidFill>
                            <a:latin typeface="Cambria Math" panose="02040503050406030204" pitchFamily="18" charset="0"/>
                            <a:cs typeface="宋体" pitchFamily="2" charset="-122"/>
                          </a:rPr>
                          <m:t>𝑟</m:t>
                        </m:r>
                      </m:sup>
                    </m:sSup>
                    <m:r>
                      <a:rPr lang="en-US" altLang="zh-CN" sz="2000" i="1">
                        <a:solidFill>
                          <a:srgbClr val="000000"/>
                        </a:solidFill>
                        <a:latin typeface="Cambria Math" panose="02040503050406030204" pitchFamily="18" charset="0"/>
                        <a:cs typeface="宋体" pitchFamily="2" charset="-122"/>
                      </a:rPr>
                      <m:t>) </m:t>
                    </m:r>
                  </m:oMath>
                </a14:m>
                <a:r>
                  <a:rPr lang="en-GB" altLang="zh-CN" sz="2000" dirty="0">
                    <a:latin typeface="+mn-lt"/>
                  </a:rPr>
                  <a:t> </a:t>
                </a:r>
                <a:r>
                  <a:rPr lang="zh-CN" altLang="en-GB" sz="2000" dirty="0">
                    <a:latin typeface="+mn-lt"/>
                  </a:rPr>
                  <a:t>，</a:t>
                </a:r>
                <a:r>
                  <a:rPr lang="zh-CN" altLang="en-US" sz="2000" dirty="0">
                    <a:latin typeface="+mn-lt"/>
                  </a:rPr>
                  <a:t>所以这里将不包含 </a:t>
                </a:r>
                <a:r>
                  <a:rPr lang="en-GB" altLang="zh-CN" sz="2000" dirty="0">
                    <a:latin typeface="+mn-lt"/>
                  </a:rPr>
                  <a:t>CDH </a:t>
                </a:r>
                <a:r>
                  <a:rPr lang="zh-CN" altLang="en-US" sz="2000" dirty="0">
                    <a:latin typeface="+mn-lt"/>
                  </a:rPr>
                  <a:t>问题实例的解。 因此，我们将 </a:t>
                </a:r>
                <a:r>
                  <a:rPr lang="en-GB" altLang="zh-CN" sz="2000" i="1" dirty="0">
                    <a:latin typeface="+mn-lt"/>
                  </a:rPr>
                  <a:t>Y</a:t>
                </a:r>
                <a:r>
                  <a:rPr lang="en-GB" altLang="zh-CN" sz="2000" dirty="0">
                    <a:latin typeface="+mn-lt"/>
                  </a:rPr>
                  <a:t> </a:t>
                </a:r>
                <a:r>
                  <a:rPr lang="zh-CN" altLang="en-US" sz="2000" dirty="0">
                    <a:latin typeface="+mn-lt"/>
                  </a:rPr>
                  <a:t>设置成 </a:t>
                </a:r>
                <a:r>
                  <a:rPr lang="en-GB" altLang="zh-CN" sz="2000" dirty="0">
                    <a:latin typeface="+mn-lt"/>
                  </a:rPr>
                  <a:t>CDH </a:t>
                </a:r>
                <a:r>
                  <a:rPr lang="zh-CN" altLang="en-US" sz="2000" dirty="0">
                    <a:latin typeface="+mn-lt"/>
                  </a:rPr>
                  <a:t>问题实例中的一个值。</a:t>
                </a:r>
                <a:endParaRPr lang="en-US" altLang="zh-CN" sz="2000" dirty="0">
                  <a:latin typeface="+mn-lt"/>
                </a:endParaRPr>
              </a:p>
              <a:p>
                <a:pPr marL="285750" indent="-285750" algn="just">
                  <a:lnSpc>
                    <a:spcPct val="132000"/>
                  </a:lnSpc>
                  <a:buFont typeface="Wingdings" panose="05000000000000000000" pitchFamily="2" charset="2"/>
                  <a:buChar char="l"/>
                </a:pPr>
                <a:r>
                  <a:rPr lang="zh-CN" altLang="zh-CN" sz="2000" b="1" dirty="0">
                    <a:solidFill>
                      <a:srgbClr val="000000"/>
                    </a:solidFill>
                    <a:effectLst/>
                    <a:latin typeface="+mn-lt"/>
                    <a:ea typeface="+mn-ea"/>
                    <a:cs typeface="Times New Roman" panose="02020503050405090304" pitchFamily="18" charset="0"/>
                  </a:rPr>
                  <a:t>问询阶段</a:t>
                </a:r>
                <a:r>
                  <a:rPr lang="zh-CN" altLang="zh-CN" sz="2000" b="1" dirty="0">
                    <a:solidFill>
                      <a:srgbClr val="000000"/>
                    </a:solidFill>
                    <a:ea typeface="+mn-ea"/>
                    <a:cs typeface="Times New Roman" panose="02020503050405090304" pitchFamily="18" charset="0"/>
                  </a:rPr>
                  <a:t>：</a:t>
                </a:r>
                <a:r>
                  <a:rPr lang="en-US" altLang="zh-CN" sz="2000" dirty="0">
                    <a:solidFill>
                      <a:srgbClr val="000000"/>
                    </a:solidFill>
                    <a:cs typeface="宋体" pitchFamily="2" charset="-122"/>
                  </a:rPr>
                  <a:t>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solidFill>
                      <a:srgbClr val="000000"/>
                    </a:solidFill>
                    <a:ea typeface="+mn-ea"/>
                    <a:cs typeface="Times New Roman" panose="02020503050405090304" pitchFamily="18" charset="0"/>
                  </a:rPr>
                  <a:t> 向 </a:t>
                </a:r>
                <a14:m>
                  <m:oMath xmlns:m="http://schemas.openxmlformats.org/officeDocument/2006/math">
                    <m:r>
                      <a:rPr lang="en-US" altLang="zh-CN" sz="2000" i="1">
                        <a:latin typeface="Cambria Math" panose="02040503050406030204" pitchFamily="18" charset="0"/>
                      </a:rPr>
                      <m:t>ℬ</m:t>
                    </m:r>
                  </m:oMath>
                </a14:m>
                <a:r>
                  <a:rPr lang="zh-CN" altLang="en-US" sz="2000" dirty="0">
                    <a:solidFill>
                      <a:srgbClr val="000000"/>
                    </a:solidFill>
                    <a:ea typeface="+mn-ea"/>
                    <a:cs typeface="Times New Roman" panose="02020503050405090304" pitchFamily="18" charset="0"/>
                  </a:rPr>
                  <a:t> 发起随机预言机问询，具体过程如下。</a:t>
                </a:r>
                <a:endParaRPr lang="en-US" altLang="zh-CN" sz="2000" dirty="0">
                  <a:solidFill>
                    <a:srgbClr val="000000"/>
                  </a:solidFill>
                  <a:ea typeface="+mn-ea"/>
                  <a:cs typeface="Times New Roman" panose="02020503050405090304" pitchFamily="18" charset="0"/>
                </a:endParaRPr>
              </a:p>
              <a:p>
                <a:pPr algn="just">
                  <a:lnSpc>
                    <a:spcPct val="132000"/>
                  </a:lnSpc>
                </a:pPr>
                <a:r>
                  <a:rPr lang="zh-CN" altLang="en-US" sz="2000" dirty="0">
                    <a:solidFill>
                      <a:srgbClr val="000000"/>
                    </a:solidFill>
                    <a:ea typeface="+mn-ea"/>
                    <a:cs typeface="Times New Roman" panose="02020503050405090304" pitchFamily="18" charset="0"/>
                  </a:rPr>
                  <a:t>      </a:t>
                </a:r>
                <a14:m>
                  <m:oMath xmlns:m="http://schemas.openxmlformats.org/officeDocument/2006/math">
                    <m:r>
                      <a:rPr lang="zh-CN" altLang="en-US" sz="2000" b="0" i="0" smtClean="0">
                        <a:latin typeface="Cambria Math" panose="02040503050406030204" pitchFamily="18" charset="0"/>
                      </a:rPr>
                      <m:t> </m:t>
                    </m:r>
                    <m:r>
                      <a:rPr lang="en-US" altLang="zh-CN" sz="2000" i="1">
                        <a:latin typeface="Cambria Math" panose="02040503050406030204" pitchFamily="18" charset="0"/>
                      </a:rPr>
                      <m:t>ℬ</m:t>
                    </m:r>
                  </m:oMath>
                </a14:m>
                <a:r>
                  <a:rPr lang="zh-CN" altLang="en-US" sz="2000" dirty="0">
                    <a:solidFill>
                      <a:srgbClr val="000000"/>
                    </a:solidFill>
                    <a:ea typeface="+mn-ea"/>
                    <a:cs typeface="Times New Roman" panose="02020503050405090304" pitchFamily="18" charset="0"/>
                  </a:rPr>
                  <a:t> </a:t>
                </a:r>
                <a:r>
                  <a:rPr lang="zh-CN" altLang="en-US" sz="2000" dirty="0"/>
                  <a:t> 在本地维护一个初始化的空列表 </a:t>
                </a:r>
                <a:r>
                  <a:rPr lang="en-GB" altLang="zh-CN" sz="2000" i="1" dirty="0"/>
                  <a:t>H</a:t>
                </a:r>
                <a:r>
                  <a:rPr lang="en-GB" altLang="zh-CN" sz="2000" baseline="-25000" dirty="0"/>
                  <a:t>list</a:t>
                </a:r>
                <a:r>
                  <a:rPr lang="en-GB" altLang="zh-CN" sz="2000" dirty="0"/>
                  <a:t> </a:t>
                </a:r>
                <a:r>
                  <a:rPr lang="zh-CN" altLang="en-GB" sz="2000" dirty="0"/>
                  <a:t>。</a:t>
                </a:r>
                <a:r>
                  <a:rPr lang="zh-CN" altLang="en-US" sz="2000" dirty="0"/>
                  <a:t>假设该次问询为第 </a:t>
                </a:r>
                <a:r>
                  <a:rPr lang="en-GB" altLang="zh-CN" sz="2000" i="1" dirty="0" err="1"/>
                  <a:t>i</a:t>
                </a:r>
                <a:r>
                  <a:rPr lang="en-GB" altLang="zh-CN" sz="2000" dirty="0"/>
                  <a:t> </a:t>
                </a:r>
                <a:r>
                  <a:rPr lang="zh-CN" altLang="en-US" sz="2000" dirty="0"/>
                  <a:t>次问询，输入为 </a:t>
                </a:r>
                <a:r>
                  <a:rPr lang="en-GB" altLang="zh-CN" sz="2000" i="1" dirty="0"/>
                  <a:t>S</a:t>
                </a:r>
                <a:r>
                  <a:rPr lang="en-GB" altLang="zh-CN" sz="2000" i="1" baseline="-25000" dirty="0"/>
                  <a:t>i</a:t>
                </a:r>
                <a:r>
                  <a:rPr lang="en-GB" altLang="zh-CN" sz="2000" dirty="0"/>
                  <a:t> </a:t>
                </a:r>
                <a:r>
                  <a:rPr lang="zh-CN" altLang="en-GB" sz="2000" dirty="0"/>
                  <a:t>。</a:t>
                </a:r>
                <a:r>
                  <a:rPr lang="zh-CN" altLang="en-US" sz="2000" dirty="0"/>
                  <a:t>若 </a:t>
                </a:r>
                <a:r>
                  <a:rPr lang="en-GB" altLang="zh-CN" sz="2000" i="1" dirty="0"/>
                  <a:t>H</a:t>
                </a:r>
                <a:r>
                  <a:rPr lang="en-GB" altLang="zh-CN" sz="2000" baseline="-25000" dirty="0"/>
                  <a:t>list</a:t>
                </a:r>
                <a:r>
                  <a:rPr lang="en-GB" altLang="zh-CN" sz="2000" dirty="0"/>
                  <a:t> </a:t>
                </a:r>
                <a:r>
                  <a:rPr lang="zh-CN" altLang="en-US" sz="2000" dirty="0"/>
                  <a:t>中存在一个元</a:t>
                </a:r>
                <a:r>
                  <a:rPr lang="en-US" altLang="zh-CN" sz="2000" dirty="0"/>
                  <a:t> (</a:t>
                </a:r>
                <a:r>
                  <a:rPr lang="en-GB" altLang="zh-CN" sz="2000" i="1" dirty="0" err="1"/>
                  <a:t>S</a:t>
                </a:r>
                <a:r>
                  <a:rPr lang="en-GB" altLang="zh-CN" sz="2000" i="1" baseline="-25000" dirty="0" err="1"/>
                  <a:t>j</a:t>
                </a:r>
                <a:r>
                  <a:rPr lang="en-US" altLang="zh-CN" sz="2000" dirty="0"/>
                  <a:t>, </a:t>
                </a:r>
                <a:r>
                  <a:rPr lang="en-US" altLang="zh-CN" sz="2000" i="1" dirty="0" err="1"/>
                  <a:t>h</a:t>
                </a:r>
                <a:r>
                  <a:rPr lang="en-US" altLang="zh-CN" sz="2000" i="1" baseline="-25000" dirty="0" err="1"/>
                  <a:t>j</a:t>
                </a:r>
                <a:r>
                  <a:rPr lang="en-US" altLang="zh-CN" sz="2000" dirty="0"/>
                  <a:t>)</a:t>
                </a:r>
                <a:r>
                  <a:rPr lang="zh-CN" altLang="en-US" sz="2000" dirty="0"/>
                  <a:t>使得 </a:t>
                </a:r>
                <a:r>
                  <a:rPr lang="en-GB" altLang="zh-CN" sz="2000" i="1" dirty="0"/>
                  <a:t>S</a:t>
                </a:r>
                <a:r>
                  <a:rPr lang="en-GB" altLang="zh-CN" sz="2000" i="1" baseline="-25000" dirty="0"/>
                  <a:t>i </a:t>
                </a:r>
                <a:r>
                  <a:rPr lang="en-GB" altLang="zh-CN" sz="2000" dirty="0"/>
                  <a:t>=</a:t>
                </a:r>
                <a:r>
                  <a:rPr lang="en-GB" altLang="zh-CN" sz="2000" i="1" dirty="0"/>
                  <a:t> </a:t>
                </a:r>
                <a:r>
                  <a:rPr lang="en-GB" altLang="zh-CN" sz="2000" i="1" dirty="0" err="1"/>
                  <a:t>S</a:t>
                </a:r>
                <a:r>
                  <a:rPr lang="en-GB" altLang="zh-CN" sz="2000" i="1" baseline="-25000" dirty="0" err="1"/>
                  <a:t>j</a:t>
                </a:r>
                <a:r>
                  <a:rPr lang="en-GB" altLang="zh-CN" sz="2000" dirty="0"/>
                  <a:t> </a:t>
                </a:r>
                <a:r>
                  <a:rPr lang="zh-CN" altLang="en-GB" sz="2000" dirty="0"/>
                  <a:t>，</a:t>
                </a:r>
                <a:r>
                  <a:rPr lang="zh-CN" altLang="en-US" sz="2000" dirty="0"/>
                  <a:t>则</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ℬ</m:t>
                    </m:r>
                  </m:oMath>
                </a14:m>
                <a:r>
                  <a:rPr lang="en-US" altLang="zh-CN" sz="2000" dirty="0"/>
                  <a:t> </a:t>
                </a:r>
                <a:r>
                  <a:rPr lang="zh-CN" altLang="en-US" sz="2000" dirty="0"/>
                  <a:t>返回 </a:t>
                </a:r>
                <a:r>
                  <a:rPr lang="en-US" altLang="zh-CN" sz="2000" i="1" dirty="0" err="1"/>
                  <a:t>h</a:t>
                </a:r>
                <a:r>
                  <a:rPr lang="en-US" altLang="zh-CN" sz="2000" i="1" baseline="-25000" dirty="0" err="1"/>
                  <a:t>j</a:t>
                </a:r>
                <a:r>
                  <a:rPr lang="en-GB" altLang="zh-CN" sz="2000" dirty="0"/>
                  <a:t> </a:t>
                </a:r>
                <a:r>
                  <a:rPr lang="zh-CN" altLang="en-US" sz="2000" dirty="0"/>
                  <a:t>给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r>
                      <a:rPr lang="en-US" altLang="zh-CN" sz="2000" i="1">
                        <a:solidFill>
                          <a:srgbClr val="000000"/>
                        </a:solidFill>
                        <a:latin typeface="Cambria Math" panose="02040503050406030204" pitchFamily="18" charset="0"/>
                        <a:cs typeface="宋体" pitchFamily="2" charset="-122"/>
                      </a:rPr>
                      <m:t> </m:t>
                    </m:r>
                  </m:oMath>
                </a14:m>
                <a:r>
                  <a:rPr lang="zh-CN" altLang="en-US" sz="2000" dirty="0"/>
                  <a:t>；否则， </a:t>
                </a:r>
                <a14:m>
                  <m:oMath xmlns:m="http://schemas.openxmlformats.org/officeDocument/2006/math">
                    <m:r>
                      <a:rPr lang="en-US" altLang="zh-CN" sz="2000" i="1">
                        <a:latin typeface="Cambria Math" panose="02040503050406030204" pitchFamily="18" charset="0"/>
                      </a:rPr>
                      <m:t>ℬ</m:t>
                    </m:r>
                  </m:oMath>
                </a14:m>
                <a:r>
                  <a:rPr lang="zh-CN" altLang="en-US" sz="2000" dirty="0"/>
                  <a:t> 随机选择 </a:t>
                </a:r>
                <a:r>
                  <a:rPr lang="en-US" altLang="zh-CN" sz="2000" i="1" dirty="0"/>
                  <a:t>h</a:t>
                </a:r>
                <a:r>
                  <a:rPr lang="en-US" altLang="zh-CN" sz="2000" i="1" baseline="-25000" dirty="0"/>
                  <a:t>i</a:t>
                </a:r>
                <a:r>
                  <a:rPr lang="en-GB" altLang="zh-CN" sz="2000" dirty="0"/>
                  <a:t> ∈{0,1}</a:t>
                </a:r>
                <a:r>
                  <a:rPr lang="en-GB" altLang="zh-CN" sz="2000" i="1" baseline="30000" dirty="0"/>
                  <a:t> n </a:t>
                </a:r>
                <a:r>
                  <a:rPr lang="zh-CN" altLang="en-US" sz="2000" dirty="0"/>
                  <a:t>并将 </a:t>
                </a:r>
                <a:r>
                  <a:rPr lang="en-US" altLang="zh-CN" sz="2000" i="1" dirty="0"/>
                  <a:t>h</a:t>
                </a:r>
                <a:r>
                  <a:rPr lang="en-US" altLang="zh-CN" sz="2000" i="1" baseline="-25000" dirty="0"/>
                  <a:t>i</a:t>
                </a:r>
                <a:r>
                  <a:rPr lang="en-GB" altLang="zh-CN" sz="2000" dirty="0"/>
                  <a:t> </a:t>
                </a:r>
                <a:r>
                  <a:rPr lang="zh-CN" altLang="en-US" sz="2000" dirty="0"/>
                  <a:t>发送给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，将 </a:t>
                </a:r>
                <a:r>
                  <a:rPr lang="en-US" altLang="zh-CN" sz="2000" dirty="0"/>
                  <a:t>(</a:t>
                </a:r>
                <a:r>
                  <a:rPr lang="en-GB" altLang="zh-CN" sz="2000" i="1" dirty="0"/>
                  <a:t>S</a:t>
                </a:r>
                <a:r>
                  <a:rPr lang="en-GB" altLang="zh-CN" sz="2000" i="1" baseline="-25000" dirty="0"/>
                  <a:t>i</a:t>
                </a:r>
                <a:r>
                  <a:rPr lang="en-US" altLang="zh-CN" sz="2000" dirty="0"/>
                  <a:t>, </a:t>
                </a:r>
                <a:r>
                  <a:rPr lang="en-US" altLang="zh-CN" sz="2000" i="1" dirty="0"/>
                  <a:t>h</a:t>
                </a:r>
                <a:r>
                  <a:rPr lang="en-US" altLang="zh-CN" sz="2000" i="1" baseline="-25000" dirty="0"/>
                  <a:t>i</a:t>
                </a:r>
                <a:r>
                  <a:rPr lang="en-US" altLang="zh-CN" sz="2000" dirty="0"/>
                  <a:t>) </a:t>
                </a:r>
                <a:r>
                  <a:rPr lang="zh-CN" altLang="en-US" sz="2000" dirty="0"/>
                  <a:t>添加至</a:t>
                </a:r>
                <a:r>
                  <a:rPr lang="en-GB" altLang="zh-CN" sz="2000" i="1" dirty="0" err="1"/>
                  <a:t>H</a:t>
                </a:r>
                <a:r>
                  <a:rPr lang="en-GB" altLang="zh-CN" sz="2000" baseline="-25000" dirty="0" err="1"/>
                  <a:t>list</a:t>
                </a:r>
                <a:r>
                  <a:rPr lang="en-GB" altLang="zh-CN" sz="2000" baseline="-25000" dirty="0"/>
                  <a:t> </a:t>
                </a:r>
                <a:r>
                  <a:rPr lang="zh-CN" altLang="en-GB" sz="2000" dirty="0"/>
                  <a:t>。</a:t>
                </a:r>
                <a:endParaRPr lang="en-US" altLang="zh-CN" sz="2000" dirty="0">
                  <a:solidFill>
                    <a:srgbClr val="000000"/>
                  </a:solidFill>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70641" y="1187270"/>
                <a:ext cx="10869672" cy="5439566"/>
              </a:xfrm>
              <a:prstGeom prst="rect">
                <a:avLst/>
              </a:prstGeom>
              <a:blipFill>
                <a:blip r:embed="rId3"/>
                <a:stretch>
                  <a:fillRect l="-617" r="-561" b="-112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8D268D6-599F-E120-5778-4A4AD0739D53}"/>
              </a:ext>
            </a:extLst>
          </p:cNvPr>
          <p:cNvSpPr txBox="1"/>
          <p:nvPr/>
        </p:nvSpPr>
        <p:spPr>
          <a:xfrm>
            <a:off x="502920" y="797971"/>
            <a:ext cx="6050280"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杂凑 </a:t>
            </a:r>
            <a:r>
              <a:rPr lang="en-GB" altLang="zh-CN" sz="2000" b="1" dirty="0">
                <a:solidFill>
                  <a:srgbClr val="C90012"/>
                </a:solidFill>
                <a:latin typeface="Times New Roman" panose="02020503050405090304"/>
                <a:ea typeface="微软雅黑"/>
                <a:cs typeface="Times New Roman" panose="02020503050405090304"/>
              </a:rPr>
              <a:t>ElGamal </a:t>
            </a:r>
            <a:r>
              <a:rPr lang="zh-CN" altLang="en-US" sz="2000" b="1" dirty="0">
                <a:solidFill>
                  <a:srgbClr val="C90012"/>
                </a:solidFill>
                <a:latin typeface="Times New Roman" panose="02020503050405090304"/>
                <a:ea typeface="微软雅黑"/>
                <a:cs typeface="Times New Roman" panose="02020503050405090304"/>
              </a:rPr>
              <a:t>公钥加密方案的可证明安全</a:t>
            </a:r>
          </a:p>
        </p:txBody>
      </p:sp>
    </p:spTree>
    <p:extLst>
      <p:ext uri="{BB962C8B-B14F-4D97-AF65-F5344CB8AC3E}">
        <p14:creationId xmlns:p14="http://schemas.microsoft.com/office/powerpoint/2010/main" val="40803690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7971"/>
            <a:ext cx="6050280"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杂凑 </a:t>
            </a:r>
            <a:r>
              <a:rPr lang="en-GB" altLang="zh-CN" sz="2000" b="1" dirty="0">
                <a:solidFill>
                  <a:srgbClr val="C90012"/>
                </a:solidFill>
                <a:latin typeface="Times New Roman" panose="02020503050405090304"/>
                <a:ea typeface="微软雅黑"/>
                <a:cs typeface="Times New Roman" panose="02020503050405090304"/>
              </a:rPr>
              <a:t>ElGamal </a:t>
            </a:r>
            <a:r>
              <a:rPr lang="zh-CN" altLang="en-US" sz="2000" b="1" dirty="0">
                <a:solidFill>
                  <a:srgbClr val="C90012"/>
                </a:solidFill>
                <a:latin typeface="Times New Roman" panose="02020503050405090304"/>
                <a:ea typeface="微软雅黑"/>
                <a:cs typeface="Times New Roman" panose="02020503050405090304"/>
              </a:rPr>
              <a:t>公钥加密方案的可证明安全</a:t>
            </a:r>
          </a:p>
        </p:txBody>
      </p:sp>
      <mc:AlternateContent xmlns:mc="http://schemas.openxmlformats.org/markup-compatibility/2006" xmlns:a14="http://schemas.microsoft.com/office/drawing/2010/main">
        <mc:Choice Requires="a14">
          <p:sp>
            <p:nvSpPr>
              <p:cNvPr id="4" name="文本框 3"/>
              <p:cNvSpPr txBox="1"/>
              <p:nvPr/>
            </p:nvSpPr>
            <p:spPr>
              <a:xfrm>
                <a:off x="502919" y="1187270"/>
                <a:ext cx="11246777" cy="4632294"/>
              </a:xfrm>
              <a:prstGeom prst="rect">
                <a:avLst/>
              </a:prstGeom>
              <a:noFill/>
            </p:spPr>
            <p:txBody>
              <a:bodyPr wrap="square">
                <a:spAutoFit/>
              </a:bodyPr>
              <a:lstStyle/>
              <a:p>
                <a:pPr algn="just">
                  <a:lnSpc>
                    <a:spcPct val="132000"/>
                  </a:lnSpc>
                </a:pPr>
                <a:r>
                  <a:rPr lang="zh-CN" altLang="en-US" sz="2000" dirty="0">
                    <a:solidFill>
                      <a:srgbClr val="C00000"/>
                    </a:solidFill>
                    <a:ea typeface="+mn-ea"/>
                    <a:cs typeface="Times New Roman" panose="02020503050405090304" pitchFamily="18" charset="0"/>
                  </a:rPr>
                  <a:t>续上文</a:t>
                </a:r>
                <a:endParaRPr lang="en-US" altLang="zh-CN" sz="2000" dirty="0">
                  <a:solidFill>
                    <a:srgbClr val="C00000"/>
                  </a:solidFill>
                  <a:ea typeface="+mn-ea"/>
                  <a:cs typeface="Times New Roman" panose="02020503050405090304" pitchFamily="18" charset="0"/>
                </a:endParaRPr>
              </a:p>
              <a:p>
                <a:pPr marL="285750" indent="-285750" algn="just">
                  <a:lnSpc>
                    <a:spcPct val="132000"/>
                  </a:lnSpc>
                  <a:buFont typeface="Wingdings" panose="05000000000000000000" pitchFamily="2" charset="2"/>
                  <a:buChar char="l"/>
                </a:pPr>
                <a:r>
                  <a:rPr lang="zh-CN" altLang="en-US" sz="2000" b="1" dirty="0"/>
                  <a:t>挑战阶段：</a:t>
                </a:r>
                <a:r>
                  <a:rPr lang="zh-CN" altLang="en-US" sz="2000" dirty="0"/>
                  <a:t> </a:t>
                </a:r>
                <a14:m>
                  <m:oMath xmlns:m="http://schemas.openxmlformats.org/officeDocument/2006/math">
                    <m:r>
                      <a:rPr lang="en-US" altLang="zh-CN" sz="2000" i="1" smtClean="0">
                        <a:solidFill>
                          <a:srgbClr val="000000"/>
                        </a:solidFill>
                        <a:latin typeface="Cambria Math" panose="02040503050406030204" pitchFamily="18" charset="0"/>
                        <a:cs typeface="宋体" pitchFamily="2" charset="-122"/>
                      </a:rPr>
                      <m:t>𝒜</m:t>
                    </m:r>
                  </m:oMath>
                </a14:m>
                <a:r>
                  <a:rPr lang="zh-CN" altLang="en-US" sz="2000" dirty="0"/>
                  <a:t> 选择两个等长的消息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0</m:t>
                        </m:r>
                      </m:sub>
                    </m:sSub>
                    <m:r>
                      <a:rPr lang="en-US" altLang="zh-CN" sz="2000" i="1">
                        <a:solidFill>
                          <a:srgbClr val="000000"/>
                        </a:solidFill>
                        <a:latin typeface="Cambria Math" panose="02040503050406030204" pitchFamily="18" charset="0"/>
                        <a:cs typeface="Times New Roman" panose="02020503050405090304" pitchFamily="18" charset="0"/>
                      </a:rPr>
                      <m:t>,</m:t>
                    </m:r>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1</m:t>
                        </m:r>
                      </m:sub>
                    </m:sSub>
                    <m:r>
                      <m:rPr>
                        <m:nor/>
                      </m:rPr>
                      <a:rPr lang="en-GB" altLang="zh-CN" sz="2000" dirty="0">
                        <a:latin typeface="DejaVu Math TeX Gyre" panose="02000503000000000000" charset="0"/>
                      </a:rPr>
                      <m:t>∈</m:t>
                    </m:r>
                    <m:r>
                      <m:rPr>
                        <m:nor/>
                      </m:rPr>
                      <a:rPr lang="en-GB" altLang="zh-CN" sz="2000" dirty="0">
                        <a:latin typeface="DejaVu Math TeX Gyre" panose="02000503000000000000" charset="0"/>
                      </a:rPr>
                      <m:t>{</m:t>
                    </m:r>
                    <m:r>
                      <m:rPr>
                        <m:nor/>
                      </m:rPr>
                      <a:rPr lang="en-GB" altLang="zh-CN" sz="2000" dirty="0">
                        <a:latin typeface="DejaVu Math TeX Gyre" panose="02000503000000000000" charset="0"/>
                      </a:rPr>
                      <m:t>0,1</m:t>
                    </m:r>
                    <m:r>
                      <m:rPr>
                        <m:nor/>
                      </m:rPr>
                      <a:rPr lang="en-GB" altLang="zh-CN" sz="2000" dirty="0">
                        <a:latin typeface="DejaVu Math TeX Gyre" panose="02000503000000000000" charset="0"/>
                      </a:rPr>
                      <m:t>}</m:t>
                    </m:r>
                    <m:r>
                      <m:rPr>
                        <m:nor/>
                      </m:rPr>
                      <a:rPr lang="en-GB" altLang="zh-CN" sz="2000" i="1" baseline="30000" dirty="0">
                        <a:latin typeface="DejaVu Math TeX Gyre" panose="02000503000000000000" charset="0"/>
                      </a:rPr>
                      <m:t> </m:t>
                    </m:r>
                    <m:r>
                      <m:rPr>
                        <m:nor/>
                      </m:rPr>
                      <a:rPr lang="en-GB" altLang="zh-CN" sz="2000" i="1" baseline="30000" dirty="0">
                        <a:latin typeface="DejaVu Math TeX Gyre" panose="02000503000000000000" charset="0"/>
                      </a:rPr>
                      <m:t>n</m:t>
                    </m:r>
                  </m:oMath>
                </a14:m>
                <a:r>
                  <a:rPr lang="zh-CN" altLang="en-US" sz="2000" dirty="0"/>
                  <a:t>并将 </a:t>
                </a:r>
                <a:r>
                  <a:rPr lang="en-US" altLang="zh-CN" sz="2000" dirty="0"/>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0</m:t>
                        </m:r>
                      </m:sub>
                    </m:sSub>
                    <m:r>
                      <a:rPr lang="en-US" altLang="zh-CN" sz="2000" i="1">
                        <a:solidFill>
                          <a:srgbClr val="000000"/>
                        </a:solidFill>
                        <a:latin typeface="Cambria Math" panose="02040503050406030204" pitchFamily="18" charset="0"/>
                        <a:cs typeface="Times New Roman" panose="02020503050405090304" pitchFamily="18" charset="0"/>
                      </a:rPr>
                      <m:t>,</m:t>
                    </m:r>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1</m:t>
                        </m:r>
                      </m:sub>
                    </m:sSub>
                  </m:oMath>
                </a14:m>
                <a:r>
                  <a:rPr lang="en-GB" altLang="zh-CN" sz="2000" dirty="0"/>
                  <a:t>) </a:t>
                </a:r>
                <a:r>
                  <a:rPr lang="zh-CN" altLang="en-US" sz="2000" dirty="0"/>
                  <a:t>提交给 </a:t>
                </a:r>
                <a14:m>
                  <m:oMath xmlns:m="http://schemas.openxmlformats.org/officeDocument/2006/math">
                    <m:r>
                      <a:rPr lang="en-US" altLang="zh-CN" sz="2000" i="1">
                        <a:latin typeface="Cambria Math" panose="02040503050406030204" pitchFamily="18" charset="0"/>
                      </a:rPr>
                      <m:t>ℬ</m:t>
                    </m:r>
                  </m:oMath>
                </a14:m>
                <a:r>
                  <a:rPr lang="zh-CN" altLang="en-US" sz="2000" dirty="0"/>
                  <a:t>。</a:t>
                </a:r>
                <a:r>
                  <a:rPr lang="en-US" altLang="zh-CN" sz="2000" dirty="0"/>
                  <a:t> </a:t>
                </a:r>
                <a14:m>
                  <m:oMath xmlns:m="http://schemas.openxmlformats.org/officeDocument/2006/math">
                    <m:r>
                      <a:rPr lang="en-US" altLang="zh-CN" sz="2000" i="1">
                        <a:latin typeface="Cambria Math" panose="02040503050406030204" pitchFamily="18" charset="0"/>
                      </a:rPr>
                      <m:t>ℬ</m:t>
                    </m:r>
                  </m:oMath>
                </a14:m>
                <a:r>
                  <a:rPr lang="zh-CN" altLang="en-US" sz="2000" dirty="0"/>
                  <a:t> 随机选择其中一比特 </a:t>
                </a:r>
                <a:r>
                  <a:rPr lang="en-GB" altLang="zh-CN" sz="2000" i="1" dirty="0"/>
                  <a:t>b</a:t>
                </a:r>
                <a:r>
                  <a:rPr lang="en-GB" altLang="zh-CN" sz="2000" dirty="0"/>
                  <a:t>∈{0,1} </a:t>
                </a:r>
                <a:r>
                  <a:rPr lang="zh-CN" altLang="en-GB" sz="2000" dirty="0"/>
                  <a:t>，</a:t>
                </a:r>
                <a:r>
                  <a:rPr lang="zh-CN" altLang="en-US" sz="2000" dirty="0"/>
                  <a:t>设置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cs typeface="Times New Roman" panose="02020503050405090304" pitchFamily="18" charset="0"/>
                          </a:rPr>
                          <m:t>𝛽</m:t>
                        </m:r>
                      </m:sup>
                    </m:sSup>
                  </m:oMath>
                </a14:m>
                <a:r>
                  <a:rPr lang="zh-CN" altLang="en-GB" sz="2000" dirty="0"/>
                  <a:t>，</a:t>
                </a:r>
                <a:r>
                  <a:rPr lang="zh-CN" altLang="en-US" sz="2000" dirty="0"/>
                  <a:t>随机选择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oMath>
                </a14:m>
                <a:r>
                  <a:rPr lang="en-GB" altLang="zh-CN" sz="2000" dirty="0"/>
                  <a:t> </a:t>
                </a:r>
                <a14:m>
                  <m:oMath xmlns:m="http://schemas.openxmlformats.org/officeDocument/2006/math">
                    <m:r>
                      <m:rPr>
                        <m:nor/>
                      </m:rPr>
                      <a:rPr lang="en-GB" altLang="zh-CN" sz="2000" dirty="0">
                        <a:latin typeface="DejaVu Math TeX Gyre" panose="02000503000000000000" charset="0"/>
                      </a:rPr>
                      <m:t>∈</m:t>
                    </m:r>
                    <m:r>
                      <m:rPr>
                        <m:nor/>
                      </m:rPr>
                      <a:rPr lang="en-GB" altLang="zh-CN" sz="2000" dirty="0">
                        <a:latin typeface="DejaVu Math TeX Gyre" panose="02000503000000000000" charset="0"/>
                      </a:rPr>
                      <m:t>{</m:t>
                    </m:r>
                    <m:r>
                      <m:rPr>
                        <m:nor/>
                      </m:rPr>
                      <a:rPr lang="en-GB" altLang="zh-CN" sz="2000" dirty="0">
                        <a:latin typeface="DejaVu Math TeX Gyre" panose="02000503000000000000" charset="0"/>
                      </a:rPr>
                      <m:t>0,1</m:t>
                    </m:r>
                    <m:r>
                      <m:rPr>
                        <m:nor/>
                      </m:rPr>
                      <a:rPr lang="en-GB" altLang="zh-CN" sz="2000" dirty="0">
                        <a:latin typeface="DejaVu Math TeX Gyre" panose="02000503000000000000" charset="0"/>
                      </a:rPr>
                      <m:t>}</m:t>
                    </m:r>
                    <m:r>
                      <m:rPr>
                        <m:nor/>
                      </m:rPr>
                      <a:rPr lang="en-GB" altLang="zh-CN" sz="2000" i="1" baseline="30000" dirty="0">
                        <a:latin typeface="DejaVu Math TeX Gyre" panose="02000503000000000000" charset="0"/>
                      </a:rPr>
                      <m:t> </m:t>
                    </m:r>
                    <m:r>
                      <m:rPr>
                        <m:nor/>
                      </m:rPr>
                      <a:rPr lang="en-GB" altLang="zh-CN" sz="2000" i="1" baseline="30000" dirty="0">
                        <a:latin typeface="DejaVu Math TeX Gyre" panose="02000503000000000000" charset="0"/>
                      </a:rPr>
                      <m:t>n</m:t>
                    </m:r>
                    <m:r>
                      <a:rPr lang="en-GB" altLang="zh-CN" sz="2000" i="1" baseline="30000" dirty="0">
                        <a:latin typeface="Cambria Math" panose="02040503050406030204" pitchFamily="18" charset="0"/>
                      </a:rPr>
                      <m:t> </m:t>
                    </m:r>
                  </m:oMath>
                </a14:m>
                <a:r>
                  <a:rPr lang="zh-CN" altLang="en-GB" sz="2000" dirty="0"/>
                  <a:t>，</a:t>
                </a:r>
                <a:r>
                  <a:rPr lang="zh-CN" altLang="en-US" sz="2000" dirty="0"/>
                  <a:t>设置挑战密文 </a:t>
                </a:r>
                <a14:m>
                  <m:oMath xmlns:m="http://schemas.openxmlformats.org/officeDocument/2006/math">
                    <m:r>
                      <m:rPr>
                        <m:nor/>
                      </m:rPr>
                      <a:rPr lang="en-US" altLang="zh-CN" sz="2000" i="1">
                        <a:solidFill>
                          <a:srgbClr val="000000"/>
                        </a:solidFill>
                        <a:latin typeface="Times New Roman" panose="02020503050405090304" pitchFamily="18" charset="0"/>
                        <a:cs typeface="Times New Roman" panose="02020503050405090304" pitchFamily="18" charset="0"/>
                      </a:rPr>
                      <m:t>C</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m:t>
                    </m:r>
                  </m:oMath>
                </a14:m>
                <a:r>
                  <a:rPr lang="zh-CN" altLang="en-US" sz="2000" dirty="0"/>
                  <a:t> 并将 </a:t>
                </a:r>
                <a14:m>
                  <m:oMath xmlns:m="http://schemas.openxmlformats.org/officeDocument/2006/math">
                    <m:r>
                      <m:rPr>
                        <m:nor/>
                      </m:rPr>
                      <a:rPr lang="en-US" altLang="zh-CN" sz="2000" i="1">
                        <a:solidFill>
                          <a:srgbClr val="000000"/>
                        </a:solidFill>
                        <a:latin typeface="Times New Roman" panose="02020503050405090304" pitchFamily="18" charset="0"/>
                        <a:cs typeface="Times New Roman" panose="02020503050405090304" pitchFamily="18" charset="0"/>
                      </a:rPr>
                      <m:t>C</m:t>
                    </m:r>
                  </m:oMath>
                </a14:m>
                <a:r>
                  <a:rPr lang="en-US" altLang="zh-CN" sz="2000" dirty="0"/>
                  <a:t> </a:t>
                </a:r>
                <a:r>
                  <a:rPr lang="zh-CN" altLang="en-US" sz="2000" dirty="0"/>
                  <a:t>发送给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。注意， 通过设置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cs typeface="Times New Roman" panose="02020503050405090304" pitchFamily="18" charset="0"/>
                          </a:rPr>
                          <m:t>𝛽</m:t>
                        </m:r>
                      </m:sup>
                    </m:sSup>
                  </m:oMath>
                </a14:m>
                <a:r>
                  <a:rPr lang="zh-CN" altLang="en-US" sz="2000" dirty="0"/>
                  <a:t>将困难问题实例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cs typeface="Times New Roman" panose="02020503050405090304" pitchFamily="18" charset="0"/>
                          </a:rPr>
                          <m:t>𝛽</m:t>
                        </m:r>
                      </m:sup>
                    </m:sSup>
                  </m:oMath>
                </a14:m>
                <a:r>
                  <a:rPr lang="zh-CN" altLang="en-US" sz="2000" dirty="0"/>
                  <a:t>嵌入挑 战密文。 　</a:t>
                </a:r>
                <a:endParaRPr lang="en-US" altLang="zh-CN" sz="2000" dirty="0"/>
              </a:p>
              <a:p>
                <a:pPr marL="285750" indent="-285750" algn="just">
                  <a:lnSpc>
                    <a:spcPct val="132000"/>
                  </a:lnSpc>
                  <a:buFont typeface="Wingdings" panose="05000000000000000000" pitchFamily="2" charset="2"/>
                  <a:buChar char="l"/>
                </a:pPr>
                <a:r>
                  <a:rPr lang="zh-CN" altLang="en-US" sz="2000" b="1" dirty="0"/>
                  <a:t>响应阶段：</a:t>
                </a:r>
                <a:r>
                  <a:rPr lang="zh-CN" altLang="en-US" sz="2000" dirty="0"/>
                  <a:t> </a:t>
                </a:r>
                <a14:m>
                  <m:oMath xmlns:m="http://schemas.openxmlformats.org/officeDocument/2006/math">
                    <m:r>
                      <a:rPr lang="en-US" altLang="zh-CN" sz="2000" i="1" smtClean="0">
                        <a:solidFill>
                          <a:srgbClr val="000000"/>
                        </a:solidFill>
                        <a:latin typeface="Cambria Math" panose="02040503050406030204" pitchFamily="18" charset="0"/>
                        <a:cs typeface="宋体" pitchFamily="2" charset="-122"/>
                      </a:rPr>
                      <m:t>𝒜</m:t>
                    </m:r>
                  </m:oMath>
                </a14:m>
                <a:r>
                  <a:rPr lang="zh-CN" altLang="en-US" sz="2000" dirty="0"/>
                  <a:t> 输出一比特 </a:t>
                </a:r>
                <a14:m>
                  <m:oMath xmlns:m="http://schemas.openxmlformats.org/officeDocument/2006/math">
                    <m:acc>
                      <m:accPr>
                        <m:chr m:val="̂"/>
                        <m:ctrlPr>
                          <a:rPr lang="zh-CN" altLang="zh-CN"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 </m:t>
                        </m:r>
                        <m:r>
                          <a:rPr lang="en-US" altLang="zh-CN" sz="2000" i="1" kern="0">
                            <a:solidFill>
                              <a:srgbClr val="000000"/>
                            </a:solidFill>
                            <a:latin typeface="Cambria Math" panose="02040503050406030204" pitchFamily="18" charset="0"/>
                            <a:cs typeface="宋体" pitchFamily="2" charset="-122"/>
                          </a:rPr>
                          <m:t>𝑏</m:t>
                        </m:r>
                      </m:e>
                    </m:acc>
                    <m:r>
                      <a:rPr lang="en-US" altLang="zh-CN" sz="2000" i="1"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0</m:t>
                    </m:r>
                    <m:r>
                      <a:rPr lang="en-US" altLang="zh-CN" sz="2000" i="1"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1</m:t>
                    </m:r>
                    <m:r>
                      <a:rPr lang="en-US" altLang="zh-CN" sz="2000" i="1" kern="0">
                        <a:solidFill>
                          <a:srgbClr val="000000"/>
                        </a:solidFill>
                        <a:latin typeface="Cambria Math" panose="02040503050406030204" pitchFamily="18" charset="0"/>
                        <a:cs typeface="宋体" pitchFamily="2" charset="-122"/>
                      </a:rPr>
                      <m:t>} </m:t>
                    </m:r>
                  </m:oMath>
                </a14:m>
                <a:r>
                  <a:rPr lang="zh-CN" altLang="en-GB" sz="2000" dirty="0"/>
                  <a:t>。</a:t>
                </a:r>
                <a:r>
                  <a:rPr lang="zh-CN" altLang="en-US" sz="2000" dirty="0"/>
                  <a:t>若 </a:t>
                </a:r>
                <a14:m>
                  <m:oMath xmlns:m="http://schemas.openxmlformats.org/officeDocument/2006/math">
                    <m:acc>
                      <m:accPr>
                        <m:chr m:val="̂"/>
                        <m:ctrlPr>
                          <a:rPr lang="zh-CN" altLang="zh-CN" sz="2000" i="1">
                            <a:solidFill>
                              <a:srgbClr val="000000"/>
                            </a:solidFill>
                            <a:latin typeface="Cambria Math" panose="02040503050406030204" pitchFamily="18" charset="0"/>
                          </a:rPr>
                        </m:ctrlPr>
                      </m:accPr>
                      <m:e>
                        <m:r>
                          <a:rPr lang="en-US" altLang="zh-CN" sz="2000" i="1" kern="0">
                            <a:solidFill>
                              <a:srgbClr val="000000"/>
                            </a:solidFill>
                            <a:latin typeface="Cambria Math" panose="02040503050406030204" pitchFamily="18" charset="0"/>
                            <a:cs typeface="宋体" pitchFamily="2" charset="-122"/>
                          </a:rPr>
                          <m:t>𝑏</m:t>
                        </m:r>
                      </m:e>
                    </m:acc>
                    <m:r>
                      <a:rPr lang="en-US" altLang="zh-CN" sz="2000" i="1"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𝑏</m:t>
                    </m:r>
                    <m:r>
                      <a:rPr lang="en-US" altLang="zh-CN" sz="2000" i="1" kern="0">
                        <a:solidFill>
                          <a:srgbClr val="000000"/>
                        </a:solidFill>
                        <a:latin typeface="Cambria Math" panose="02040503050406030204" pitchFamily="18" charset="0"/>
                        <a:cs typeface="宋体" pitchFamily="2" charset="-122"/>
                      </a:rPr>
                      <m:t> </m:t>
                    </m:r>
                  </m:oMath>
                </a14:m>
                <a:r>
                  <a:rPr lang="zh-CN" altLang="en-GB" sz="2000" dirty="0"/>
                  <a:t>，</a:t>
                </a:r>
                <a:r>
                  <a:rPr lang="zh-CN" altLang="en-US" sz="2000" dirty="0"/>
                  <a:t>则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获胜；否则，</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失败。 </a:t>
                </a:r>
                <a:endParaRPr lang="en-US" altLang="zh-CN" sz="2000" dirty="0"/>
              </a:p>
              <a:p>
                <a:pPr algn="just">
                  <a:lnSpc>
                    <a:spcPct val="132000"/>
                  </a:lnSpc>
                </a:pPr>
                <a:r>
                  <a:rPr lang="en-US" altLang="zh-CN" sz="2000" dirty="0"/>
                  <a:t>     </a:t>
                </a:r>
                <a:r>
                  <a:rPr lang="zh-CN" altLang="en-US" sz="2000" dirty="0"/>
                  <a:t>当 </a:t>
                </a:r>
                <a14:m>
                  <m:oMath xmlns:m="http://schemas.openxmlformats.org/officeDocument/2006/math">
                    <m:r>
                      <a:rPr lang="en-US" altLang="zh-CN" sz="2000" i="1" smtClean="0">
                        <a:latin typeface="Cambria Math" panose="02040503050406030204" pitchFamily="18" charset="0"/>
                      </a:rPr>
                      <m:t>ℬ</m:t>
                    </m:r>
                  </m:oMath>
                </a14:m>
                <a:r>
                  <a:rPr lang="zh-CN" altLang="en-US" sz="2000" dirty="0"/>
                  <a:t> 得到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的输出 </a:t>
                </a:r>
                <a14:m>
                  <m:oMath xmlns:m="http://schemas.openxmlformats.org/officeDocument/2006/math">
                    <m:acc>
                      <m:accPr>
                        <m:chr m:val="̂"/>
                        <m:ctrlPr>
                          <a:rPr lang="zh-CN" altLang="zh-CN" sz="2000" i="1">
                            <a:solidFill>
                              <a:srgbClr val="000000"/>
                            </a:solidFill>
                            <a:latin typeface="Cambria Math" panose="02040503050406030204" pitchFamily="18" charset="0"/>
                          </a:rPr>
                        </m:ctrlPr>
                      </m:accPr>
                      <m:e>
                        <m:r>
                          <a:rPr lang="en-US" altLang="zh-CN" sz="2000" i="1" kern="0">
                            <a:solidFill>
                              <a:srgbClr val="000000"/>
                            </a:solidFill>
                            <a:latin typeface="Cambria Math" panose="02040503050406030204" pitchFamily="18" charset="0"/>
                            <a:cs typeface="宋体" pitchFamily="2" charset="-122"/>
                          </a:rPr>
                          <m:t>𝑏</m:t>
                        </m:r>
                      </m:e>
                    </m:acc>
                  </m:oMath>
                </a14:m>
                <a:r>
                  <a:rPr lang="zh-CN" altLang="en-US" sz="2000" dirty="0"/>
                  <a:t>且 </a:t>
                </a:r>
                <a14:m>
                  <m:oMath xmlns:m="http://schemas.openxmlformats.org/officeDocument/2006/math">
                    <m:acc>
                      <m:accPr>
                        <m:chr m:val="̂"/>
                        <m:ctrlPr>
                          <a:rPr lang="zh-CN" altLang="zh-CN" sz="2000" i="1">
                            <a:solidFill>
                              <a:srgbClr val="000000"/>
                            </a:solidFill>
                            <a:latin typeface="Cambria Math" panose="02040503050406030204" pitchFamily="18" charset="0"/>
                          </a:rPr>
                        </m:ctrlPr>
                      </m:accPr>
                      <m:e>
                        <m:r>
                          <a:rPr lang="en-US" altLang="zh-CN" sz="2000" i="1" kern="0">
                            <a:solidFill>
                              <a:srgbClr val="000000"/>
                            </a:solidFill>
                            <a:latin typeface="Cambria Math" panose="02040503050406030204" pitchFamily="18" charset="0"/>
                            <a:cs typeface="宋体" pitchFamily="2" charset="-122"/>
                          </a:rPr>
                          <m:t>𝑏</m:t>
                        </m:r>
                      </m:e>
                    </m:acc>
                    <m:r>
                      <a:rPr lang="en-US" altLang="zh-CN" sz="2000" i="1" kern="0">
                        <a:solidFill>
                          <a:srgbClr val="000000"/>
                        </a:solidFill>
                        <a:latin typeface="Cambria Math" panose="02040503050406030204" pitchFamily="18" charset="0"/>
                        <a:cs typeface="宋体" pitchFamily="2" charset="-122"/>
                      </a:rPr>
                      <m:t>=</m:t>
                    </m:r>
                    <m:r>
                      <a:rPr lang="en-US" altLang="zh-CN" sz="2000" i="1" kern="0">
                        <a:solidFill>
                          <a:srgbClr val="000000"/>
                        </a:solidFill>
                        <a:latin typeface="Cambria Math" panose="02040503050406030204" pitchFamily="18" charset="0"/>
                        <a:cs typeface="宋体" pitchFamily="2" charset="-122"/>
                      </a:rPr>
                      <m:t>𝑏</m:t>
                    </m:r>
                  </m:oMath>
                </a14:m>
                <a:r>
                  <a:rPr lang="zh-CN" altLang="en-US" sz="2000" dirty="0"/>
                  <a:t>时，随机从 </a:t>
                </a:r>
                <a:r>
                  <a:rPr lang="en-GB" altLang="zh-CN" sz="2000" i="1" dirty="0"/>
                  <a:t>H</a:t>
                </a:r>
                <a:r>
                  <a:rPr lang="en-GB" altLang="zh-CN" sz="2000" baseline="-25000" dirty="0"/>
                  <a:t>list</a:t>
                </a:r>
                <a:r>
                  <a:rPr lang="en-GB" altLang="zh-CN" sz="2000" dirty="0"/>
                  <a:t> </a:t>
                </a:r>
                <a:r>
                  <a:rPr lang="zh-CN" altLang="en-US" sz="2000" dirty="0"/>
                  <a:t>中取出一个元组。假设该元组</a:t>
                </a:r>
                <a:r>
                  <a:rPr lang="en-US" altLang="zh-CN" sz="2000" dirty="0"/>
                  <a:t> (</a:t>
                </a:r>
                <a:r>
                  <a:rPr lang="en-GB" altLang="zh-CN" sz="2000" i="1" dirty="0"/>
                  <a:t>S</a:t>
                </a:r>
                <a:r>
                  <a:rPr lang="en-GB" altLang="zh-CN" sz="2000" i="1" baseline="-25000" dirty="0"/>
                  <a:t>i</a:t>
                </a:r>
                <a:r>
                  <a:rPr lang="en-US" altLang="zh-CN" sz="2000" dirty="0"/>
                  <a:t>, </a:t>
                </a:r>
                <a:r>
                  <a:rPr lang="en-US" altLang="zh-CN" sz="2000" i="1" dirty="0"/>
                  <a:t>h</a:t>
                </a:r>
                <a:r>
                  <a:rPr lang="en-US" altLang="zh-CN" sz="2000" i="1" baseline="-25000" dirty="0"/>
                  <a:t>i</a:t>
                </a:r>
                <a:r>
                  <a:rPr lang="en-US" altLang="zh-CN" sz="2000" dirty="0"/>
                  <a:t>) </a:t>
                </a:r>
                <a:r>
                  <a:rPr lang="zh-CN" altLang="en-GB" sz="2000" dirty="0"/>
                  <a:t>。  </a:t>
                </a:r>
                <a:r>
                  <a:rPr lang="zh-CN" altLang="en-US" sz="2000" dirty="0"/>
                  <a:t>输出 </a:t>
                </a:r>
                <a:r>
                  <a:rPr lang="en-GB" altLang="zh-CN" sz="2000" i="1" dirty="0"/>
                  <a:t>S</a:t>
                </a:r>
                <a:r>
                  <a:rPr lang="en-GB" altLang="zh-CN" sz="2000" i="1" baseline="-25000" dirty="0"/>
                  <a:t>i</a:t>
                </a:r>
                <a:r>
                  <a:rPr lang="en-GB" altLang="zh-CN" sz="2000" dirty="0"/>
                  <a:t> </a:t>
                </a:r>
                <a:r>
                  <a:rPr lang="zh-CN" altLang="en-US" sz="2000" dirty="0"/>
                  <a:t>作为 </a:t>
                </a:r>
                <a:r>
                  <a:rPr lang="en-GB" altLang="zh-CN" sz="2000" dirty="0"/>
                  <a:t>CDH </a:t>
                </a:r>
                <a:r>
                  <a:rPr lang="zh-CN" altLang="en-US" sz="2000" dirty="0"/>
                  <a:t>问题实例的解。我们计算 </a:t>
                </a:r>
                <a14:m>
                  <m:oMath xmlns:m="http://schemas.openxmlformats.org/officeDocument/2006/math">
                    <m:r>
                      <a:rPr lang="en-US" altLang="zh-CN" sz="2000" i="1">
                        <a:latin typeface="Cambria Math" panose="02040503050406030204" pitchFamily="18" charset="0"/>
                      </a:rPr>
                      <m:t>ℬ</m:t>
                    </m:r>
                  </m:oMath>
                </a14:m>
                <a:r>
                  <a:rPr lang="zh-CN" altLang="en-US" sz="2000" dirty="0"/>
                  <a:t> 解决 </a:t>
                </a:r>
                <a:r>
                  <a:rPr lang="en-GB" altLang="zh-CN" sz="2000" dirty="0"/>
                  <a:t>CDH </a:t>
                </a:r>
                <a:r>
                  <a:rPr lang="zh-CN" altLang="en-US" sz="2000" dirty="0"/>
                  <a:t>问题实例的概率。首先我们考虑 </a:t>
                </a:r>
                <a14:m>
                  <m:oMath xmlns:m="http://schemas.openxmlformats.org/officeDocument/2006/math">
                    <m:r>
                      <a:rPr lang="en-US" altLang="zh-CN" sz="2000" i="1">
                        <a:latin typeface="Cambria Math" panose="02040503050406030204" pitchFamily="18" charset="0"/>
                      </a:rPr>
                      <m:t>ℬ</m:t>
                    </m:r>
                  </m:oMath>
                </a14:m>
                <a:r>
                  <a:rPr lang="zh-CN" altLang="en-US" sz="2000" dirty="0"/>
                  <a:t> 在上述模拟过程中不终止的概率。显然，在上述模拟过程中 </a:t>
                </a:r>
                <a14:m>
                  <m:oMath xmlns:m="http://schemas.openxmlformats.org/officeDocument/2006/math">
                    <m:r>
                      <a:rPr lang="en-US" altLang="zh-CN" sz="2000" i="1">
                        <a:latin typeface="Cambria Math" panose="02040503050406030204" pitchFamily="18" charset="0"/>
                      </a:rPr>
                      <m:t>ℬ</m:t>
                    </m:r>
                  </m:oMath>
                </a14:m>
                <a:r>
                  <a:rPr lang="zh-CN" altLang="en-US" sz="2000" dirty="0"/>
                  <a:t> 不终止的概率为 </a:t>
                </a:r>
                <a:r>
                  <a:rPr lang="en-US" altLang="zh-CN" sz="2000" dirty="0"/>
                  <a:t>1</a:t>
                </a:r>
                <a:r>
                  <a:rPr lang="zh-CN" altLang="en-US" sz="2000" dirty="0"/>
                  <a:t>。若 </a:t>
                </a:r>
                <a14:m>
                  <m:oMath xmlns:m="http://schemas.openxmlformats.org/officeDocument/2006/math">
                    <m:r>
                      <a:rPr lang="en-US" altLang="zh-CN" sz="2000" i="1">
                        <a:latin typeface="Cambria Math" panose="02040503050406030204" pitchFamily="18" charset="0"/>
                      </a:rPr>
                      <m:t>ℬ</m:t>
                    </m:r>
                  </m:oMath>
                </a14:m>
                <a:r>
                  <a:rPr lang="zh-CN" altLang="en-US" sz="2000" dirty="0"/>
                  <a:t> 在上述模拟过程中不终止，则 </a:t>
                </a:r>
                <a14:m>
                  <m:oMath xmlns:m="http://schemas.openxmlformats.org/officeDocument/2006/math">
                    <m:r>
                      <a:rPr lang="en-US" altLang="zh-CN" sz="2000" i="1">
                        <a:latin typeface="Cambria Math" panose="02040503050406030204" pitchFamily="18" charset="0"/>
                      </a:rPr>
                      <m:t>ℬ</m:t>
                    </m:r>
                  </m:oMath>
                </a14:m>
                <a:r>
                  <a:rPr lang="zh-CN" altLang="en-US" sz="2000" dirty="0"/>
                  <a:t> 为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模拟了与真实攻击不可区分的场景。此时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攻破 </a:t>
                </a:r>
                <a:r>
                  <a:rPr lang="en-GB" altLang="zh-CN" sz="2000" dirty="0"/>
                  <a:t>ElGamal </a:t>
                </a:r>
                <a:r>
                  <a:rPr lang="zh-CN" altLang="en-US" sz="2000" dirty="0"/>
                  <a:t>公钥加密方案的优势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CPA</m:t>
                        </m:r>
                      </m:sup>
                    </m:sSubSup>
                  </m:oMath>
                </a14:m>
                <a:r>
                  <a:rPr lang="zh-CN" altLang="en-US" sz="2000" dirty="0">
                    <a:solidFill>
                      <a:srgbClr val="000000"/>
                    </a:solidFill>
                    <a:cs typeface="Times New Roman" panose="02020503050405090304" pitchFamily="18" charset="0"/>
                  </a:rPr>
                  <a:t> </a:t>
                </a:r>
                <a:r>
                  <a:rPr lang="zh-CN" altLang="en-GB" sz="2000" dirty="0"/>
                  <a:t>。</a:t>
                </a:r>
                <a:r>
                  <a:rPr lang="zh-CN" altLang="en-US" sz="2000" dirty="0"/>
                  <a:t>接下来，我们计算 </a:t>
                </a:r>
                <a:r>
                  <a:rPr lang="en-GB" altLang="zh-CN" sz="2000" i="1" dirty="0"/>
                  <a:t>S</a:t>
                </a:r>
                <a:r>
                  <a:rPr lang="en-GB" altLang="zh-CN" sz="2000" i="1" baseline="-25000" dirty="0"/>
                  <a:t>i</a:t>
                </a:r>
                <a:r>
                  <a:rPr lang="en-GB" altLang="zh-CN" sz="2000" dirty="0"/>
                  <a:t> </a:t>
                </a:r>
                <a:r>
                  <a:rPr lang="zh-CN" altLang="en-US" sz="2000" dirty="0"/>
                  <a:t>为 </a:t>
                </a:r>
                <a:r>
                  <a:rPr lang="en-GB" altLang="zh-CN" sz="2000" dirty="0"/>
                  <a:t>CDH </a:t>
                </a:r>
                <a:r>
                  <a:rPr lang="zh-CN" altLang="en-US" sz="2000" dirty="0"/>
                  <a:t>问题实例的解的概率。 当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拿到挑战密文 </a:t>
                </a:r>
                <a14:m>
                  <m:oMath xmlns:m="http://schemas.openxmlformats.org/officeDocument/2006/math">
                    <m:r>
                      <m:rPr>
                        <m:nor/>
                      </m:rPr>
                      <a:rPr lang="en-US" altLang="zh-CN" sz="2000" i="1">
                        <a:solidFill>
                          <a:srgbClr val="000000"/>
                        </a:solidFill>
                        <a:latin typeface="Times New Roman" panose="02020503050405090304" pitchFamily="18" charset="0"/>
                        <a:cs typeface="Times New Roman" panose="02020503050405090304" pitchFamily="18" charset="0"/>
                      </a:rPr>
                      <m:t>C</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i="1">
                        <a:solidFill>
                          <a:srgbClr val="000000"/>
                        </a:solidFill>
                        <a:latin typeface="Cambria Math" panose="02040503050406030204" pitchFamily="18" charset="0"/>
                        <a:cs typeface="宋体" pitchFamily="2" charset="-122"/>
                      </a:rPr>
                      <m:t>)</m:t>
                    </m:r>
                  </m:oMath>
                </a14:m>
                <a:r>
                  <a:rPr lang="zh-CN" altLang="en-US" sz="2000" dirty="0"/>
                  <a:t> 后，若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要判断 </a:t>
                </a:r>
                <a14:m>
                  <m:oMath xmlns:m="http://schemas.openxmlformats.org/officeDocument/2006/math">
                    <m:r>
                      <m:rPr>
                        <m:nor/>
                      </m:rPr>
                      <a:rPr lang="en-US" altLang="zh-CN" sz="2000" i="1">
                        <a:solidFill>
                          <a:srgbClr val="000000"/>
                        </a:solidFill>
                        <a:latin typeface="Times New Roman" panose="02020503050405090304" pitchFamily="18" charset="0"/>
                        <a:cs typeface="Times New Roman" panose="02020503050405090304" pitchFamily="18" charset="0"/>
                      </a:rPr>
                      <m:t>C</m:t>
                    </m:r>
                  </m:oMath>
                </a14:m>
                <a:r>
                  <a:rPr lang="en-GB" altLang="zh-CN" sz="2000" dirty="0"/>
                  <a:t> </a:t>
                </a:r>
                <a:r>
                  <a:rPr lang="zh-CN" altLang="en-US" sz="2000" dirty="0"/>
                  <a:t>是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0</m:t>
                        </m:r>
                      </m:sub>
                    </m:sSub>
                  </m:oMath>
                </a14:m>
                <a:r>
                  <a:rPr lang="en-GB" altLang="zh-CN" sz="2000" dirty="0"/>
                  <a:t> </a:t>
                </a:r>
                <a:r>
                  <a:rPr lang="zh-CN" altLang="en-US" sz="2000" dirty="0"/>
                  <a:t>还是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1</m:t>
                        </m:r>
                      </m:sub>
                    </m:sSub>
                  </m:oMath>
                </a14:m>
                <a:r>
                  <a:rPr lang="en-GB" altLang="zh-CN" sz="2000" dirty="0"/>
                  <a:t> </a:t>
                </a:r>
                <a:r>
                  <a:rPr lang="zh-CN" altLang="en-US" sz="2000" dirty="0"/>
                  <a:t>对应的密文，本质上其要判断</a:t>
                </a:r>
                <a:endParaRPr lang="zh-CN" altLang="zh-CN" sz="2000" dirty="0">
                  <a:solidFill>
                    <a:srgbClr val="000000"/>
                  </a:solidFill>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02919" y="1187270"/>
                <a:ext cx="11246777" cy="4632294"/>
              </a:xfrm>
              <a:prstGeom prst="rect">
                <a:avLst/>
              </a:prstGeom>
              <a:blipFill>
                <a:blip r:embed="rId2"/>
                <a:stretch>
                  <a:fillRect l="-542" r="-2818" b="-1447"/>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2" name="文本框 1"/>
          <p:cNvSpPr txBox="1"/>
          <p:nvPr/>
        </p:nvSpPr>
        <p:spPr>
          <a:xfrm>
            <a:off x="502920" y="797971"/>
            <a:ext cx="6050280" cy="400110"/>
          </a:xfrm>
          <a:prstGeom prst="rect">
            <a:avLst/>
          </a:prstGeom>
          <a:noFill/>
        </p:spPr>
        <p:txBody>
          <a:bodyPr wrap="square">
            <a:spAutoFit/>
          </a:bodyPr>
          <a:lstStyle/>
          <a:p>
            <a:pPr algn="l">
              <a:defRPr sz="2700" b="1">
                <a:solidFill>
                  <a:srgbClr val="C90012"/>
                </a:solidFill>
                <a:latin typeface="Times New Roman" panose="02020503050405090304"/>
                <a:ea typeface="微软雅黑"/>
                <a:cs typeface="Times New Roman" panose="02020503050405090304"/>
              </a:defRPr>
            </a:pPr>
            <a:r>
              <a:rPr lang="zh-CN" altLang="en-US" sz="2000" b="1" dirty="0">
                <a:solidFill>
                  <a:srgbClr val="C90012"/>
                </a:solidFill>
                <a:latin typeface="Times New Roman" panose="02020503050405090304"/>
                <a:ea typeface="微软雅黑"/>
                <a:cs typeface="Times New Roman" panose="02020503050405090304"/>
              </a:rPr>
              <a:t>杂凑 </a:t>
            </a:r>
            <a:r>
              <a:rPr lang="en-GB" altLang="zh-CN" sz="2000" b="1" dirty="0">
                <a:solidFill>
                  <a:srgbClr val="C90012"/>
                </a:solidFill>
                <a:latin typeface="Times New Roman" panose="02020503050405090304"/>
                <a:ea typeface="微软雅黑"/>
                <a:cs typeface="Times New Roman" panose="02020503050405090304"/>
              </a:rPr>
              <a:t>ElGamal </a:t>
            </a:r>
            <a:r>
              <a:rPr lang="zh-CN" altLang="en-US" sz="2000" b="1" dirty="0">
                <a:solidFill>
                  <a:srgbClr val="C90012"/>
                </a:solidFill>
                <a:latin typeface="Times New Roman" panose="02020503050405090304"/>
                <a:ea typeface="微软雅黑"/>
                <a:cs typeface="Times New Roman" panose="02020503050405090304"/>
              </a:rPr>
              <a:t>公钥加密方案的可证明安全</a:t>
            </a:r>
          </a:p>
        </p:txBody>
      </p:sp>
      <mc:AlternateContent xmlns:mc="http://schemas.openxmlformats.org/markup-compatibility/2006" xmlns:a14="http://schemas.microsoft.com/office/drawing/2010/main">
        <mc:Choice Requires="a14">
          <p:sp>
            <p:nvSpPr>
              <p:cNvPr id="4" name="文本框 3"/>
              <p:cNvSpPr txBox="1"/>
              <p:nvPr/>
            </p:nvSpPr>
            <p:spPr>
              <a:xfrm>
                <a:off x="796212" y="1439197"/>
                <a:ext cx="10596528" cy="4502836"/>
              </a:xfrm>
              <a:prstGeom prst="rect">
                <a:avLst/>
              </a:prstGeom>
              <a:noFill/>
            </p:spPr>
            <p:txBody>
              <a:bodyPr wrap="square">
                <a:spAutoFit/>
              </a:bodyPr>
              <a:lstStyle/>
              <a:p>
                <a:pPr algn="just">
                  <a:lnSpc>
                    <a:spcPct val="132000"/>
                  </a:lnSpc>
                </a:pPr>
                <a:r>
                  <a:rPr lang="zh-CN" altLang="en-US" dirty="0">
                    <a:solidFill>
                      <a:srgbClr val="C00000"/>
                    </a:solidFill>
                    <a:ea typeface="+mn-ea"/>
                    <a:cs typeface="Times New Roman" panose="02020503050405090304" pitchFamily="18" charset="0"/>
                  </a:rPr>
                  <a:t>续上文</a:t>
                </a:r>
                <a:endParaRPr lang="en-US" altLang="zh-CN" dirty="0">
                  <a:solidFill>
                    <a:srgbClr val="C00000"/>
                  </a:solidFill>
                  <a:ea typeface="+mn-ea"/>
                  <a:cs typeface="Times New Roman" panose="02020503050405090304" pitchFamily="18" charset="0"/>
                </a:endParaRPr>
              </a:p>
              <a:p>
                <a:pPr algn="just">
                  <a:lnSpc>
                    <a:spcPct val="132000"/>
                  </a:lnSpc>
                </a:pPr>
                <a:r>
                  <a:rPr lang="zh-CN" altLang="en-US" sz="2000" dirty="0"/>
                  <a:t> </a:t>
                </a:r>
                <a14:m>
                  <m:oMath xmlns:m="http://schemas.openxmlformats.org/officeDocument/2006/math">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2</m:t>
                        </m:r>
                      </m:sub>
                    </m:sSub>
                    <m:r>
                      <a:rPr lang="en-US" altLang="zh-CN" sz="2000">
                        <a:solidFill>
                          <a:srgbClr val="000000"/>
                        </a:solidFill>
                        <a:latin typeface="Cambria Math" panose="02040503050406030204" pitchFamily="18" charset="0"/>
                        <a:cs typeface="Times New Roman" panose="02020503050405090304" pitchFamily="18" charset="0"/>
                      </a:rPr>
                      <m:t>⨁</m:t>
                    </m:r>
                    <m:sSup>
                      <m:sSupPr>
                        <m:ctrlPr>
                          <a:rPr lang="zh-CN" altLang="zh-CN" sz="2000" i="1">
                            <a:solidFill>
                              <a:srgbClr val="000000"/>
                            </a:solidFill>
                            <a:latin typeface="Cambria Math" panose="02040503050406030204" pitchFamily="18" charset="0"/>
                            <a:cs typeface="宋体" pitchFamily="2" charset="-122"/>
                          </a:rPr>
                        </m:ctrlPr>
                      </m:sSupPr>
                      <m:e>
                        <m:r>
                          <a:rPr lang="en-US" altLang="zh-CN" sz="2000" i="1">
                            <a:solidFill>
                              <a:srgbClr val="000000"/>
                            </a:solidFill>
                            <a:latin typeface="Cambria Math" panose="02040503050406030204" pitchFamily="18" charset="0"/>
                            <a:cs typeface="宋体" pitchFamily="2" charset="-122"/>
                          </a:rPr>
                          <m:t>𝐻</m:t>
                        </m:r>
                        <m:r>
                          <a:rPr lang="en-US" altLang="zh-CN" sz="2000" i="1">
                            <a:solidFill>
                              <a:srgbClr val="000000"/>
                            </a:solidFill>
                            <a:latin typeface="Cambria Math" panose="02040503050406030204" pitchFamily="18" charset="0"/>
                            <a:cs typeface="宋体" pitchFamily="2" charset="-122"/>
                          </a:rPr>
                          <m:t>(</m:t>
                        </m:r>
                        <m:sSub>
                          <m:sSubPr>
                            <m:ctrlPr>
                              <a:rPr lang="zh-CN" altLang="zh-CN" sz="2000" i="1">
                                <a:solidFill>
                                  <a:srgbClr val="000000"/>
                                </a:solidFill>
                                <a:latin typeface="Cambria Math" panose="02040503050406030204" pitchFamily="18" charset="0"/>
                                <a:cs typeface="宋体" pitchFamily="2" charset="-122"/>
                              </a:rPr>
                            </m:ctrlPr>
                          </m:sSubPr>
                          <m:e>
                            <m:r>
                              <a:rPr lang="en-US" altLang="zh-CN" sz="2000" i="1">
                                <a:solidFill>
                                  <a:srgbClr val="000000"/>
                                </a:solidFill>
                                <a:latin typeface="Cambria Math" panose="02040503050406030204" pitchFamily="18" charset="0"/>
                                <a:cs typeface="宋体" pitchFamily="2" charset="-122"/>
                              </a:rPr>
                              <m:t>𝐶</m:t>
                            </m:r>
                          </m:e>
                          <m:sub>
                            <m:r>
                              <a:rPr lang="en-US" altLang="zh-CN" sz="2000" i="1">
                                <a:solidFill>
                                  <a:srgbClr val="000000"/>
                                </a:solidFill>
                                <a:latin typeface="Cambria Math" panose="02040503050406030204" pitchFamily="18" charset="0"/>
                                <a:cs typeface="宋体" pitchFamily="2" charset="-122"/>
                              </a:rPr>
                              <m:t>1</m:t>
                            </m:r>
                          </m:sub>
                        </m:sSub>
                      </m:e>
                      <m:sup>
                        <m:r>
                          <m:rPr>
                            <m:sty m:val="p"/>
                          </m:rPr>
                          <a:rPr lang="en-US" altLang="zh-CN" sz="2000">
                            <a:solidFill>
                              <a:srgbClr val="000000"/>
                            </a:solidFill>
                            <a:latin typeface="Cambria Math" panose="02040503050406030204" pitchFamily="18" charset="0"/>
                            <a:cs typeface="宋体" pitchFamily="2" charset="-122"/>
                          </a:rPr>
                          <m:t>sk</m:t>
                        </m:r>
                      </m:sup>
                    </m:sSup>
                    <m:r>
                      <a:rPr lang="en-US" altLang="zh-CN" sz="2000" i="1">
                        <a:solidFill>
                          <a:srgbClr val="000000"/>
                        </a:solidFill>
                        <a:latin typeface="Cambria Math" panose="02040503050406030204" pitchFamily="18" charset="0"/>
                        <a:cs typeface="宋体" pitchFamily="2" charset="-122"/>
                      </a:rPr>
                      <m:t>)</m:t>
                    </m:r>
                    <m:r>
                      <a:rPr lang="zh-CN" altLang="en-US" sz="2000" i="1">
                        <a:solidFill>
                          <a:srgbClr val="000000"/>
                        </a:solidFill>
                        <a:latin typeface="Cambria Math" panose="02040503050406030204" pitchFamily="18" charset="0"/>
                        <a:cs typeface="宋体" pitchFamily="2" charset="-122"/>
                      </a:rPr>
                      <m:t> </m:t>
                    </m:r>
                  </m:oMath>
                </a14:m>
                <a:r>
                  <a:rPr lang="zh-CN" altLang="en-US" sz="2000" dirty="0"/>
                  <a:t>等于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0</m:t>
                        </m:r>
                      </m:sub>
                    </m:sSub>
                  </m:oMath>
                </a14:m>
                <a:r>
                  <a:rPr lang="en-GB" altLang="zh-CN" sz="2000" dirty="0"/>
                  <a:t> </a:t>
                </a:r>
                <a:r>
                  <a:rPr lang="zh-CN" altLang="en-US" sz="2000" dirty="0"/>
                  <a:t>还是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𝑀</m:t>
                        </m:r>
                      </m:e>
                      <m:sub>
                        <m:r>
                          <a:rPr lang="en-US" altLang="zh-CN" sz="2000" i="1">
                            <a:solidFill>
                              <a:srgbClr val="000000"/>
                            </a:solidFill>
                            <a:latin typeface="Cambria Math" panose="02040503050406030204" pitchFamily="18" charset="0"/>
                            <a:cs typeface="Times New Roman" panose="02020503050405090304" pitchFamily="18" charset="0"/>
                          </a:rPr>
                          <m:t>1</m:t>
                        </m:r>
                      </m:sub>
                    </m:sSub>
                  </m:oMath>
                </a14:m>
                <a:r>
                  <a:rPr lang="en-GB" altLang="zh-CN" sz="2000" dirty="0"/>
                  <a:t> </a:t>
                </a:r>
                <a:r>
                  <a:rPr lang="zh-CN" altLang="en-GB" sz="2000" dirty="0"/>
                  <a:t>。</a:t>
                </a:r>
                <a:r>
                  <a:rPr lang="zh-CN" altLang="en-US" sz="2000" dirty="0"/>
                  <a:t>我们注意到，如果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未询问过随机预言机 </a:t>
                </a:r>
                <a:r>
                  <a:rPr lang="en-GB" altLang="zh-CN" sz="2000" i="1" dirty="0"/>
                  <a:t>H</a:t>
                </a:r>
                <a:r>
                  <a:rPr lang="en-GB" altLang="zh-CN" sz="2000" dirty="0"/>
                  <a:t> </a:t>
                </a:r>
                <a:r>
                  <a:rPr lang="zh-CN" altLang="en-US" sz="2000" dirty="0"/>
                  <a:t>关 于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GB" altLang="zh-CN" sz="2000" dirty="0"/>
                  <a:t> </a:t>
                </a:r>
                <a:r>
                  <a:rPr lang="zh-CN" altLang="en-US" sz="2000" dirty="0"/>
                  <a:t>的杂凑值，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猜测到 </a:t>
                </a:r>
                <a:r>
                  <a:rPr lang="en-US" altLang="zh-CN" sz="2000" i="1" dirty="0"/>
                  <a:t>H</a:t>
                </a:r>
                <a:r>
                  <a:rPr lang="en-US" altLang="zh-CN" sz="2000" dirty="0"/>
                  <a:t>(</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US" altLang="zh-CN" sz="2000" dirty="0"/>
                  <a:t>)</a:t>
                </a:r>
                <a:r>
                  <a:rPr lang="zh-CN" altLang="en-US" sz="2000" dirty="0"/>
                  <a:t>的值的概率为 </a:t>
                </a:r>
                <a14:m>
                  <m:oMath xmlns:m="http://schemas.openxmlformats.org/officeDocument/2006/math">
                    <m:f>
                      <m:fPr>
                        <m:ctrlPr>
                          <a:rPr lang="en-US" altLang="zh-CN" sz="2000" i="1" dirty="0">
                            <a:solidFill>
                              <a:srgbClr val="000000"/>
                            </a:solidFill>
                            <a:latin typeface="Cambria Math" panose="02040503050406030204" pitchFamily="18" charset="0"/>
                            <a:cs typeface="Times New Roman" panose="02020503050405090304" pitchFamily="18" charset="0"/>
                          </a:rPr>
                        </m:ctrlPr>
                      </m:fPr>
                      <m:num>
                        <m:r>
                          <a:rPr lang="en-US" altLang="zh-CN" sz="2000"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sz="2000" i="1" dirty="0">
                                <a:solidFill>
                                  <a:srgbClr val="000000"/>
                                </a:solidFill>
                                <a:latin typeface="Cambria Math" panose="02040503050406030204" pitchFamily="18" charset="0"/>
                                <a:cs typeface="Times New Roman" panose="02020503050405090304" pitchFamily="18" charset="0"/>
                              </a:rPr>
                            </m:ctrlPr>
                          </m:sSupPr>
                          <m:e>
                            <m:r>
                              <a:rPr lang="en-US" altLang="zh-CN" sz="2000" i="1" dirty="0">
                                <a:solidFill>
                                  <a:srgbClr val="000000"/>
                                </a:solidFill>
                                <a:latin typeface="Cambria Math" panose="02040503050406030204" pitchFamily="18" charset="0"/>
                                <a:cs typeface="Times New Roman" panose="02020503050405090304" pitchFamily="18" charset="0"/>
                              </a:rPr>
                              <m:t>2</m:t>
                            </m:r>
                          </m:e>
                          <m:sup>
                            <m:r>
                              <a:rPr lang="en-US" altLang="zh-CN" sz="2000" i="1" dirty="0">
                                <a:solidFill>
                                  <a:srgbClr val="000000"/>
                                </a:solidFill>
                                <a:latin typeface="Cambria Math" panose="02040503050406030204" pitchFamily="18" charset="0"/>
                                <a:cs typeface="Times New Roman" panose="02020503050405090304" pitchFamily="18" charset="0"/>
                              </a:rPr>
                              <m:t>𝑛</m:t>
                            </m:r>
                          </m:sup>
                        </m:sSup>
                      </m:den>
                    </m:f>
                    <m:r>
                      <a:rPr lang="en-US" altLang="zh-CN" sz="2000" i="1" dirty="0">
                        <a:solidFill>
                          <a:srgbClr val="000000"/>
                        </a:solidFill>
                        <a:latin typeface="Cambria Math" panose="02040503050406030204" pitchFamily="18" charset="0"/>
                        <a:cs typeface="Times New Roman" panose="02020503050405090304" pitchFamily="18" charset="0"/>
                      </a:rPr>
                      <m:t> </m:t>
                    </m:r>
                  </m:oMath>
                </a14:m>
                <a:r>
                  <a:rPr lang="zh-CN" altLang="en-GB" sz="2000" dirty="0"/>
                  <a:t>（</a:t>
                </a:r>
                <a:r>
                  <a:rPr lang="zh-CN" altLang="en-US" sz="2000" dirty="0"/>
                  <a:t>该值是一个可忽略的值）。排除该可忽略的概率后，若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要有优势获胜，则其一定询问过随机预言机 </a:t>
                </a:r>
                <a:r>
                  <a:rPr lang="en-GB" altLang="zh-CN" sz="2000" i="1" dirty="0"/>
                  <a:t>H</a:t>
                </a:r>
                <a:r>
                  <a:rPr lang="en-GB" altLang="zh-CN" sz="2000" dirty="0"/>
                  <a:t> </a:t>
                </a:r>
                <a:r>
                  <a:rPr lang="zh-CN" altLang="en-US" sz="2000" dirty="0"/>
                  <a:t>关 于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GB" altLang="zh-CN" sz="2000" dirty="0"/>
                  <a:t> </a:t>
                </a:r>
                <a:r>
                  <a:rPr lang="zh-CN" altLang="en-US" sz="2000" dirty="0"/>
                  <a:t>的杂凑值。 显然，询问过随机预言机 </a:t>
                </a:r>
                <a:r>
                  <a:rPr lang="en-GB" altLang="zh-CN" sz="2000" i="1" dirty="0"/>
                  <a:t>H</a:t>
                </a:r>
                <a:r>
                  <a:rPr lang="en-GB" altLang="zh-CN" sz="2000" dirty="0"/>
                  <a:t> </a:t>
                </a:r>
                <a:r>
                  <a:rPr lang="zh-CN" altLang="en-US" sz="2000" dirty="0"/>
                  <a:t>关于 </a:t>
                </a:r>
                <a14:m>
                  <m:oMath xmlns:m="http://schemas.openxmlformats.org/officeDocument/2006/math">
                    <m:sSup>
                      <m:sSupPr>
                        <m:ctrlPr>
                          <a:rPr lang="en-US" altLang="zh-CN" sz="2000" i="1">
                            <a:latin typeface="Cambria Math" panose="02040503050406030204" pitchFamily="18" charset="0"/>
                            <a:cs typeface="Times New Roman" panose="02020503050405090304" pitchFamily="18" charset="0"/>
                          </a:rPr>
                        </m:ctrlPr>
                      </m:sSupPr>
                      <m:e>
                        <m:r>
                          <a:rPr lang="en-US" altLang="zh-CN" sz="2000" i="1">
                            <a:latin typeface="Cambria Math" panose="02040503050406030204" pitchFamily="18" charset="0"/>
                            <a:cs typeface="Times New Roman" panose="02020503050405090304" pitchFamily="18" charset="0"/>
                          </a:rPr>
                          <m:t>𝑔</m:t>
                        </m:r>
                      </m:e>
                      <m:sup>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sup>
                    </m:sSup>
                  </m:oMath>
                </a14:m>
                <a:r>
                  <a:rPr lang="en-GB" altLang="zh-CN" sz="2000" dirty="0"/>
                  <a:t> </a:t>
                </a:r>
                <a:r>
                  <a:rPr lang="zh-CN" altLang="en-US" sz="2000" dirty="0"/>
                  <a:t>的杂凑值的概率为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CPA</m:t>
                        </m:r>
                      </m:sup>
                    </m:sSubSup>
                  </m:oMath>
                </a14:m>
                <a:r>
                  <a:rPr lang="zh-CN" altLang="en-US" sz="2000" dirty="0">
                    <a:solidFill>
                      <a:srgbClr val="000000"/>
                    </a:solidFill>
                    <a:cs typeface="Times New Roman" panose="02020503050405090304" pitchFamily="18" charset="0"/>
                  </a:rPr>
                  <a:t> </a:t>
                </a:r>
                <a:r>
                  <a:rPr lang="en-US" altLang="zh-CN" sz="2000" dirty="0">
                    <a:solidFill>
                      <a:srgbClr val="000000"/>
                    </a:solidFill>
                    <a:cs typeface="Times New Roman" panose="02020503050405090304" pitchFamily="18" charset="0"/>
                  </a:rPr>
                  <a:t>- </a:t>
                </a:r>
                <a14:m>
                  <m:oMath xmlns:m="http://schemas.openxmlformats.org/officeDocument/2006/math">
                    <m:f>
                      <m:fPr>
                        <m:ctrlPr>
                          <a:rPr lang="en-US" altLang="zh-CN" sz="2000" i="1" dirty="0">
                            <a:solidFill>
                              <a:srgbClr val="000000"/>
                            </a:solidFill>
                            <a:latin typeface="Cambria Math" panose="02040503050406030204" pitchFamily="18" charset="0"/>
                            <a:cs typeface="Times New Roman" panose="02020503050405090304" pitchFamily="18" charset="0"/>
                          </a:rPr>
                        </m:ctrlPr>
                      </m:fPr>
                      <m:num>
                        <m:r>
                          <a:rPr lang="en-US" altLang="zh-CN" sz="2000"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sz="2000" i="1" dirty="0">
                                <a:solidFill>
                                  <a:srgbClr val="000000"/>
                                </a:solidFill>
                                <a:latin typeface="Cambria Math" panose="02040503050406030204" pitchFamily="18" charset="0"/>
                                <a:cs typeface="Times New Roman" panose="02020503050405090304" pitchFamily="18" charset="0"/>
                              </a:rPr>
                            </m:ctrlPr>
                          </m:sSupPr>
                          <m:e>
                            <m:r>
                              <a:rPr lang="en-US" altLang="zh-CN" sz="2000" i="1" dirty="0">
                                <a:solidFill>
                                  <a:srgbClr val="000000"/>
                                </a:solidFill>
                                <a:latin typeface="Cambria Math" panose="02040503050406030204" pitchFamily="18" charset="0"/>
                                <a:cs typeface="Times New Roman" panose="02020503050405090304" pitchFamily="18" charset="0"/>
                              </a:rPr>
                              <m:t>2</m:t>
                            </m:r>
                          </m:e>
                          <m:sup>
                            <m:r>
                              <a:rPr lang="en-US" altLang="zh-CN" sz="2000" i="1" dirty="0">
                                <a:solidFill>
                                  <a:srgbClr val="000000"/>
                                </a:solidFill>
                                <a:latin typeface="Cambria Math" panose="02040503050406030204" pitchFamily="18" charset="0"/>
                                <a:cs typeface="Times New Roman" panose="02020503050405090304" pitchFamily="18" charset="0"/>
                              </a:rPr>
                              <m:t>𝑛</m:t>
                            </m:r>
                          </m:sup>
                        </m:sSup>
                      </m:den>
                    </m:f>
                    <m:r>
                      <a:rPr lang="en-US" altLang="zh-CN" sz="2000" i="1" dirty="0">
                        <a:solidFill>
                          <a:srgbClr val="000000"/>
                        </a:solidFill>
                        <a:latin typeface="Cambria Math" panose="02040503050406030204" pitchFamily="18" charset="0"/>
                        <a:cs typeface="Times New Roman" panose="02020503050405090304" pitchFamily="18" charset="0"/>
                      </a:rPr>
                      <m:t> </m:t>
                    </m:r>
                  </m:oMath>
                </a14:m>
                <a:r>
                  <a:rPr lang="zh-CN" altLang="en-GB" sz="2000" dirty="0"/>
                  <a:t>。</a:t>
                </a:r>
                <a:r>
                  <a:rPr lang="zh-CN" altLang="en-US" sz="2000" dirty="0"/>
                  <a:t>因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询问 </a:t>
                </a:r>
                <a:r>
                  <a:rPr lang="en-GB" altLang="zh-CN" sz="2000" dirty="0"/>
                  <a:t>H </a:t>
                </a:r>
                <a:r>
                  <a:rPr lang="zh-CN" altLang="en-US" sz="2000" dirty="0"/>
                  <a:t>的次数 至多为 </a:t>
                </a:r>
                <a:r>
                  <a:rPr lang="en-GB" altLang="zh-CN" sz="2000" i="1" dirty="0" err="1"/>
                  <a:t>q</a:t>
                </a:r>
                <a:r>
                  <a:rPr lang="en-GB" altLang="zh-CN" sz="2000" i="1" baseline="-25000" dirty="0" err="1"/>
                  <a:t>H</a:t>
                </a:r>
                <a:r>
                  <a:rPr lang="en-GB" altLang="zh-CN" sz="2000" dirty="0"/>
                  <a:t> </a:t>
                </a:r>
                <a:r>
                  <a:rPr lang="zh-CN" altLang="en-US" sz="2000" dirty="0"/>
                  <a:t>次，所以 </a:t>
                </a:r>
                <a:r>
                  <a:rPr lang="en-GB" altLang="zh-CN" sz="2000" dirty="0"/>
                  <a:t>Hlist </a:t>
                </a:r>
                <a:r>
                  <a:rPr lang="zh-CN" altLang="en-US" sz="2000" dirty="0"/>
                  <a:t>中元组总数至多为 </a:t>
                </a:r>
                <a:r>
                  <a:rPr lang="en-GB" altLang="zh-CN" sz="2000" i="1" dirty="0" err="1"/>
                  <a:t>q</a:t>
                </a:r>
                <a:r>
                  <a:rPr lang="en-GB" altLang="zh-CN" sz="2000" i="1" baseline="-25000" dirty="0" err="1"/>
                  <a:t>H</a:t>
                </a:r>
                <a:r>
                  <a:rPr lang="en-GB" altLang="zh-CN" sz="2000" dirty="0"/>
                  <a:t> </a:t>
                </a:r>
                <a:r>
                  <a:rPr lang="zh-CN" altLang="en-US" sz="2000" dirty="0"/>
                  <a:t>个。在这种情况下， </a:t>
                </a:r>
                <a:r>
                  <a:rPr lang="en-GB" altLang="zh-CN" sz="2000" i="1" dirty="0"/>
                  <a:t>S</a:t>
                </a:r>
                <a:r>
                  <a:rPr lang="en-GB" altLang="zh-CN" sz="2000" i="1" baseline="-25000" dirty="0"/>
                  <a:t>i</a:t>
                </a:r>
                <a:r>
                  <a:rPr lang="en-GB" altLang="zh-CN" sz="2000" dirty="0"/>
                  <a:t> </a:t>
                </a:r>
                <a:r>
                  <a:rPr lang="zh-CN" altLang="en-US" sz="2000" dirty="0"/>
                  <a:t>为 </a:t>
                </a:r>
                <a:r>
                  <a:rPr lang="en-GB" altLang="zh-CN" sz="2000" dirty="0"/>
                  <a:t>CDH </a:t>
                </a:r>
                <a:r>
                  <a:rPr lang="zh-CN" altLang="en-US" sz="2000" dirty="0"/>
                  <a:t>问题实例的解 的概率为</a:t>
                </a:r>
                <a14:m>
                  <m:oMath xmlns:m="http://schemas.openxmlformats.org/officeDocument/2006/math">
                    <m:f>
                      <m:fPr>
                        <m:ctrlPr>
                          <a:rPr lang="en-US" altLang="zh-CN" sz="2000" i="1" dirty="0">
                            <a:solidFill>
                              <a:srgbClr val="000000"/>
                            </a:solidFill>
                            <a:latin typeface="Cambria Math" panose="02040503050406030204" pitchFamily="18" charset="0"/>
                            <a:cs typeface="Times New Roman" panose="02020503050405090304" pitchFamily="18" charset="0"/>
                          </a:rPr>
                        </m:ctrlPr>
                      </m:fPr>
                      <m:num>
                        <m:r>
                          <a:rPr lang="en-US" altLang="zh-CN" sz="2000" i="1" dirty="0">
                            <a:solidFill>
                              <a:srgbClr val="000000"/>
                            </a:solidFill>
                            <a:latin typeface="Cambria Math" panose="02040503050406030204" pitchFamily="18" charset="0"/>
                            <a:cs typeface="Times New Roman" panose="02020503050405090304" pitchFamily="18" charset="0"/>
                          </a:rPr>
                          <m:t>1</m:t>
                        </m:r>
                      </m:num>
                      <m:den>
                        <m:r>
                          <m:rPr>
                            <m:nor/>
                          </m:rPr>
                          <a:rPr lang="en-GB" altLang="zh-CN" sz="2000" i="1" dirty="0">
                            <a:latin typeface="DejaVu Math TeX Gyre" panose="02000503000000000000" charset="0"/>
                          </a:rPr>
                          <m:t>q</m:t>
                        </m:r>
                        <m:r>
                          <m:rPr>
                            <m:nor/>
                          </m:rPr>
                          <a:rPr lang="en-GB" altLang="zh-CN" sz="2000" i="1" baseline="-25000" dirty="0">
                            <a:latin typeface="DejaVu Math TeX Gyre" panose="02000503000000000000" charset="0"/>
                          </a:rPr>
                          <m:t>H</m:t>
                        </m:r>
                      </m:den>
                    </m:f>
                  </m:oMath>
                </a14:m>
                <a:r>
                  <a:rPr lang="zh-CN" altLang="en-US" sz="2000" dirty="0"/>
                  <a:t> </a:t>
                </a:r>
                <a:r>
                  <a:rPr lang="zh-CN" altLang="en-GB" sz="2000" dirty="0"/>
                  <a:t>。</a:t>
                </a:r>
                <a:endParaRPr lang="en-US" altLang="zh-CN" sz="2000" dirty="0"/>
              </a:p>
              <a:p>
                <a:pPr algn="just">
                  <a:lnSpc>
                    <a:spcPct val="132000"/>
                  </a:lnSpc>
                </a:pPr>
                <a:r>
                  <a:rPr lang="zh-CN" altLang="en-US" sz="2000" dirty="0"/>
                  <a:t>        </a:t>
                </a:r>
                <a:r>
                  <a:rPr lang="zh-CN" altLang="en-GB" sz="2000" dirty="0"/>
                  <a:t> </a:t>
                </a:r>
                <a:r>
                  <a:rPr lang="zh-CN" altLang="en-US" sz="2000" dirty="0"/>
                  <a:t>综上，</a:t>
                </a:r>
                <a14:m>
                  <m:oMath xmlns:m="http://schemas.openxmlformats.org/officeDocument/2006/math">
                    <m:r>
                      <a:rPr lang="en-US" altLang="zh-CN" sz="2000" i="1">
                        <a:latin typeface="Cambria Math" panose="02040503050406030204" pitchFamily="18" charset="0"/>
                      </a:rPr>
                      <m:t>ℬ</m:t>
                    </m:r>
                  </m:oMath>
                </a14:m>
                <a:r>
                  <a:rPr lang="zh-CN" altLang="en-US" sz="2000" dirty="0"/>
                  <a:t> 解决 </a:t>
                </a:r>
                <a:r>
                  <a:rPr lang="en-GB" altLang="zh-CN" sz="2000" dirty="0"/>
                  <a:t>CDH </a:t>
                </a:r>
                <a:r>
                  <a:rPr lang="zh-CN" altLang="en-US" sz="2000" dirty="0"/>
                  <a:t>问题实例的概率大于或等于 </a:t>
                </a:r>
                <a:r>
                  <a:rPr lang="en-US" altLang="zh-CN" sz="2000" dirty="0">
                    <a:solidFill>
                      <a:srgbClr val="000000"/>
                    </a:solidFill>
                    <a:cs typeface="Times New Roman" panose="02020503050405090304" pitchFamily="18" charset="0"/>
                  </a:rPr>
                  <a:t>(</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CPA</m:t>
                        </m:r>
                      </m:sup>
                    </m:sSubSup>
                  </m:oMath>
                </a14:m>
                <a:r>
                  <a:rPr lang="zh-CN" altLang="en-US" sz="2000" dirty="0">
                    <a:solidFill>
                      <a:srgbClr val="000000"/>
                    </a:solidFill>
                    <a:cs typeface="Times New Roman" panose="02020503050405090304" pitchFamily="18" charset="0"/>
                  </a:rPr>
                  <a:t> </a:t>
                </a:r>
                <a:r>
                  <a:rPr lang="en-US" altLang="zh-CN" sz="2000" dirty="0">
                    <a:solidFill>
                      <a:srgbClr val="000000"/>
                    </a:solidFill>
                    <a:cs typeface="Times New Roman" panose="02020503050405090304" pitchFamily="18" charset="0"/>
                  </a:rPr>
                  <a:t>- </a:t>
                </a:r>
                <a14:m>
                  <m:oMath xmlns:m="http://schemas.openxmlformats.org/officeDocument/2006/math">
                    <m:f>
                      <m:fPr>
                        <m:ctrlPr>
                          <a:rPr lang="en-US" altLang="zh-CN" sz="2000" i="1" dirty="0">
                            <a:solidFill>
                              <a:srgbClr val="000000"/>
                            </a:solidFill>
                            <a:latin typeface="Cambria Math" panose="02040503050406030204" pitchFamily="18" charset="0"/>
                            <a:cs typeface="Times New Roman" panose="02020503050405090304" pitchFamily="18" charset="0"/>
                          </a:rPr>
                        </m:ctrlPr>
                      </m:fPr>
                      <m:num>
                        <m:r>
                          <a:rPr lang="en-US" altLang="zh-CN" sz="2000"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sz="2000" i="1" dirty="0">
                                <a:solidFill>
                                  <a:srgbClr val="000000"/>
                                </a:solidFill>
                                <a:latin typeface="Cambria Math" panose="02040503050406030204" pitchFamily="18" charset="0"/>
                                <a:cs typeface="Times New Roman" panose="02020503050405090304" pitchFamily="18" charset="0"/>
                              </a:rPr>
                            </m:ctrlPr>
                          </m:sSupPr>
                          <m:e>
                            <m:r>
                              <a:rPr lang="en-US" altLang="zh-CN" sz="2000" i="1" dirty="0">
                                <a:solidFill>
                                  <a:srgbClr val="000000"/>
                                </a:solidFill>
                                <a:latin typeface="Cambria Math" panose="02040503050406030204" pitchFamily="18" charset="0"/>
                                <a:cs typeface="Times New Roman" panose="02020503050405090304" pitchFamily="18" charset="0"/>
                              </a:rPr>
                              <m:t>2</m:t>
                            </m:r>
                          </m:e>
                          <m:sup>
                            <m:r>
                              <a:rPr lang="en-US" altLang="zh-CN" sz="2000" i="1" dirty="0">
                                <a:solidFill>
                                  <a:srgbClr val="000000"/>
                                </a:solidFill>
                                <a:latin typeface="Cambria Math" panose="02040503050406030204" pitchFamily="18" charset="0"/>
                                <a:cs typeface="Times New Roman" panose="02020503050405090304" pitchFamily="18" charset="0"/>
                              </a:rPr>
                              <m:t>𝑛</m:t>
                            </m:r>
                          </m:sup>
                        </m:sSup>
                      </m:den>
                    </m:f>
                    <m:r>
                      <a:rPr lang="en-US" altLang="zh-CN" sz="2000" dirty="0">
                        <a:solidFill>
                          <a:srgbClr val="000000"/>
                        </a:solidFill>
                        <a:latin typeface="Cambria Math" panose="02040503050406030204" pitchFamily="18" charset="0"/>
                        <a:cs typeface="Times New Roman" panose="02020503050405090304" pitchFamily="18" charset="0"/>
                      </a:rPr>
                      <m:t>)</m:t>
                    </m:r>
                  </m:oMath>
                </a14:m>
                <a:r>
                  <a:rPr lang="en-US" altLang="zh-CN" sz="2000" dirty="0">
                    <a:solidFill>
                      <a:srgbClr val="000000"/>
                    </a:solidFill>
                    <a:cs typeface="Times New Roman" panose="02020503050405090304" pitchFamily="18" charset="0"/>
                  </a:rPr>
                  <a:t>/</a:t>
                </a:r>
                <a14:m>
                  <m:oMath xmlns:m="http://schemas.openxmlformats.org/officeDocument/2006/math">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i="1" dirty="0">
                            <a:solidFill>
                              <a:srgbClr val="000000"/>
                            </a:solidFill>
                            <a:latin typeface="Cambria Math" panose="02040503050406030204" pitchFamily="18" charset="0"/>
                            <a:cs typeface="Times New Roman" panose="02020503050405090304" pitchFamily="18" charset="0"/>
                          </a:rPr>
                          <m:t>𝐻</m:t>
                        </m:r>
                      </m:sub>
                    </m:sSub>
                    <m:r>
                      <a:rPr lang="en-US" altLang="zh-CN" sz="2000" i="1" dirty="0">
                        <a:solidFill>
                          <a:srgbClr val="000000"/>
                        </a:solidFill>
                        <a:latin typeface="Cambria Math" panose="02040503050406030204" pitchFamily="18" charset="0"/>
                        <a:cs typeface="Times New Roman" panose="02020503050405090304" pitchFamily="18" charset="0"/>
                      </a:rPr>
                      <m:t> </m:t>
                    </m:r>
                  </m:oMath>
                </a14:m>
                <a:r>
                  <a:rPr lang="zh-CN" altLang="en-GB" sz="2000" dirty="0"/>
                  <a:t>。</a:t>
                </a:r>
                <a:r>
                  <a:rPr lang="zh-CN" altLang="en-US" sz="2000" dirty="0"/>
                  <a:t>因我们假设求解 </a:t>
                </a:r>
                <a:r>
                  <a:rPr lang="en-GB" altLang="zh-CN" sz="2000" dirty="0"/>
                  <a:t>CDH </a:t>
                </a:r>
                <a:r>
                  <a:rPr lang="zh-CN" altLang="en-US" sz="2000" dirty="0"/>
                  <a:t>问题是困难的，所以可以反推出 </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CPA</m:t>
                        </m:r>
                      </m:sup>
                    </m:sSubSup>
                  </m:oMath>
                </a14:m>
                <a:r>
                  <a:rPr lang="zh-CN" altLang="en-US" sz="2000" dirty="0"/>
                  <a:t> 是可忽略的。 </a:t>
                </a:r>
                <a14:m>
                  <m:oMath xmlns:m="http://schemas.openxmlformats.org/officeDocument/2006/math">
                    <m:r>
                      <a:rPr lang="en-US" altLang="zh-CN" sz="2000" i="1">
                        <a:latin typeface="Cambria Math" panose="02040503050406030204" pitchFamily="18" charset="0"/>
                      </a:rPr>
                      <m:t>ℬ</m:t>
                    </m:r>
                  </m:oMath>
                </a14:m>
                <a:r>
                  <a:rPr lang="zh-CN" altLang="en-US" sz="2000" dirty="0"/>
                  <a:t> 解决 </a:t>
                </a:r>
                <a:r>
                  <a:rPr lang="en-GB" altLang="zh-CN" sz="2000" dirty="0"/>
                  <a:t>CDH </a:t>
                </a:r>
                <a:r>
                  <a:rPr lang="zh-CN" altLang="en-US" sz="2000" dirty="0"/>
                  <a:t>问题实例的时间为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oMath>
                </a14:m>
                <a:r>
                  <a:rPr lang="zh-CN" altLang="en-US" sz="2000" dirty="0"/>
                  <a:t> 获胜的时间 </a:t>
                </a:r>
                <a14:m>
                  <m:oMath xmlns:m="http://schemas.openxmlformats.org/officeDocument/2006/math">
                    <m:sSub>
                      <m:sSubPr>
                        <m:ctrlPr>
                          <a:rPr lang="en-US"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Times New Roman" panose="02020503050405090304" pitchFamily="18" charset="0"/>
                          </a:rPr>
                          <m:t>𝑡</m:t>
                        </m:r>
                      </m:e>
                      <m:sub>
                        <m:r>
                          <a:rPr lang="en-US" altLang="zh-CN" sz="2000" i="1">
                            <a:solidFill>
                              <a:srgbClr val="000000"/>
                            </a:solidFill>
                            <a:latin typeface="Cambria Math" panose="02040503050406030204" pitchFamily="18" charset="0"/>
                            <a:cs typeface="宋体" pitchFamily="2" charset="-122"/>
                          </a:rPr>
                          <m:t>𝒜</m:t>
                        </m:r>
                      </m:sub>
                    </m:sSub>
                  </m:oMath>
                </a14:m>
                <a:r>
                  <a:rPr lang="zh-CN" altLang="en-US" sz="2000" dirty="0"/>
                  <a:t> 加上访问随机预言机 </a:t>
                </a:r>
                <a:r>
                  <a:rPr lang="en-GB" altLang="zh-CN" sz="2000" i="1" dirty="0"/>
                  <a:t>H</a:t>
                </a:r>
                <a:r>
                  <a:rPr lang="en-GB" altLang="zh-CN" sz="2000" dirty="0"/>
                  <a:t> </a:t>
                </a:r>
                <a:r>
                  <a:rPr lang="zh-CN" altLang="en-US" sz="2000" dirty="0"/>
                  <a:t>的时间以及挑战阶段带来的 </a:t>
                </a:r>
                <a:r>
                  <a:rPr lang="en-US" altLang="zh-CN" sz="2000" i="1" dirty="0">
                    <a:solidFill>
                      <a:srgbClr val="000000"/>
                    </a:solidFill>
                    <a:cs typeface="Times New Roman" panose="02020503050405090304" pitchFamily="18" charset="0"/>
                  </a:rPr>
                  <a:t>O</a:t>
                </a:r>
                <a:r>
                  <a:rPr lang="en-US" altLang="zh-CN" sz="2000" dirty="0">
                    <a:solidFill>
                      <a:srgbClr val="000000"/>
                    </a:solidFill>
                    <a:cs typeface="Times New Roman" panose="02020503050405090304" pitchFamily="18" charset="0"/>
                  </a:rPr>
                  <a:t>(</a:t>
                </a:r>
                <a14:m>
                  <m:oMath xmlns:m="http://schemas.openxmlformats.org/officeDocument/2006/math">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i="1" dirty="0">
                            <a:solidFill>
                              <a:srgbClr val="000000"/>
                            </a:solidFill>
                            <a:latin typeface="Cambria Math" panose="02040503050406030204" pitchFamily="18" charset="0"/>
                            <a:cs typeface="Times New Roman" panose="02020503050405090304" pitchFamily="18" charset="0"/>
                          </a:rPr>
                          <m:t>𝐻</m:t>
                        </m:r>
                      </m:sub>
                    </m:sSub>
                  </m:oMath>
                </a14:m>
                <a:r>
                  <a:rPr lang="en-US" altLang="zh-CN" sz="2000" dirty="0">
                    <a:solidFill>
                      <a:srgbClr val="000000"/>
                    </a:solidFill>
                    <a:cs typeface="Times New Roman" panose="02020503050405090304" pitchFamily="18" charset="0"/>
                  </a:rPr>
                  <a:t>+1)</a:t>
                </a:r>
                <a14:m>
                  <m:oMath xmlns:m="http://schemas.openxmlformats.org/officeDocument/2006/math">
                    <m:r>
                      <a:rPr lang="en-US" altLang="zh-CN" sz="2000" i="1" smtClean="0">
                        <a:solidFill>
                          <a:srgbClr val="000000"/>
                        </a:solidFill>
                        <a:latin typeface="Cambria Math" panose="02040503050406030204" pitchFamily="18" charset="0"/>
                        <a:cs typeface="Times New Roman" panose="02020503050405090304" pitchFamily="18" charset="0"/>
                      </a:rPr>
                      <m:t> </m:t>
                    </m:r>
                  </m:oMath>
                </a14:m>
                <a:r>
                  <a:rPr lang="zh-CN" altLang="en-US" sz="2000" dirty="0"/>
                  <a:t>次操作的单位时间。</a:t>
                </a:r>
                <a:endParaRPr lang="zh-CN" altLang="zh-CN" sz="2000" dirty="0">
                  <a:solidFill>
                    <a:srgbClr val="000000"/>
                  </a:solidFill>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96212" y="1439197"/>
                <a:ext cx="10596528" cy="4502836"/>
              </a:xfrm>
              <a:prstGeom prst="rect">
                <a:avLst/>
              </a:prstGeom>
              <a:blipFill>
                <a:blip r:embed="rId3"/>
                <a:stretch>
                  <a:fillRect l="-633" r="-575" b="-1488"/>
                </a:stretch>
              </a:blipFill>
            </p:spPr>
            <p:txBody>
              <a:bodyPr/>
              <a:lstStyle/>
              <a:p>
                <a:r>
                  <a:rPr lang="zh-CN" altLang="en-US">
                    <a:noFill/>
                  </a:rPr>
                  <a:t> </a:t>
                </a:r>
              </a:p>
            </p:txBody>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p:sp>
        <p:nvSpPr>
          <p:cNvPr id="3" name="Rounded Rectangle 9"/>
          <p:cNvSpPr/>
          <p:nvPr/>
        </p:nvSpPr>
        <p:spPr>
          <a:xfrm>
            <a:off x="618768" y="1354067"/>
            <a:ext cx="10835296" cy="1183082"/>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mc:AlternateContent xmlns:mc="http://schemas.openxmlformats.org/markup-compatibility/2006" xmlns:a14="http://schemas.microsoft.com/office/drawing/2010/main">
        <mc:Choice Requires="a14">
          <p:sp>
            <p:nvSpPr>
              <p:cNvPr id="6" name="TextBox 5"/>
              <p:cNvSpPr txBox="1"/>
              <p:nvPr/>
            </p:nvSpPr>
            <p:spPr>
              <a:xfrm>
                <a:off x="866419" y="1403544"/>
                <a:ext cx="10492257"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.20</a:t>
                </a:r>
                <a:r>
                  <a:rPr lang="zh-CN" altLang="en-US" sz="2000" b="1" dirty="0">
                    <a:solidFill>
                      <a:srgbClr val="C00000"/>
                    </a:solidFill>
                    <a:latin typeface="+mn-lt"/>
                    <a:ea typeface="微软雅黑" panose="020B0503020204020204" charset="-122"/>
                  </a:rPr>
                  <a:t>　</a:t>
                </a:r>
                <a:r>
                  <a:rPr lang="zh-CN" altLang="en-US" sz="2000" b="1" dirty="0">
                    <a:solidFill>
                      <a:srgbClr val="C00000"/>
                    </a:solidFill>
                  </a:rPr>
                  <a:t>（素数域 </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ea typeface="Cambria Math" panose="02040503050406030204" pitchFamily="18" charset="0"/>
                          </a:rPr>
                          <m:t>𝔽</m:t>
                        </m:r>
                      </m:e>
                      <m:sub>
                        <m:r>
                          <a:rPr lang="en-US" altLang="zh-CN" sz="2000" b="1" i="1">
                            <a:solidFill>
                              <a:srgbClr val="C00000"/>
                            </a:solidFill>
                            <a:latin typeface="Cambria Math" panose="02040503050406030204" pitchFamily="18" charset="0"/>
                          </a:rPr>
                          <m:t>𝒑</m:t>
                        </m:r>
                      </m:sub>
                    </m:sSub>
                  </m:oMath>
                </a14:m>
                <a:r>
                  <a:rPr lang="zh-CN" altLang="en-US" sz="2000" b="1" dirty="0">
                    <a:solidFill>
                      <a:srgbClr val="C00000"/>
                    </a:solidFill>
                  </a:rPr>
                  <a:t>上</a:t>
                </a:r>
                <a:r>
                  <a:rPr lang="zh-CN" altLang="en-US" sz="2000" b="1" dirty="0">
                    <a:solidFill>
                      <a:srgbClr val="C00000"/>
                    </a:solidFill>
                    <a:latin typeface="+mn-lt"/>
                    <a:ea typeface="微软雅黑" panose="020B0503020204020204" charset="-122"/>
                  </a:rPr>
                  <a:t>）</a:t>
                </a:r>
                <a:r>
                  <a:rPr lang="en-GB" altLang="zh-CN" sz="2000" b="1" dirty="0">
                    <a:solidFill>
                      <a:srgbClr val="C00000"/>
                    </a:solidFill>
                    <a:latin typeface="+mn-lt"/>
                    <a:ea typeface="微软雅黑" panose="020B0503020204020204" charset="-122"/>
                  </a:rPr>
                  <a:t>ECDL </a:t>
                </a:r>
                <a:r>
                  <a:rPr lang="zh-CN" altLang="en-US" sz="2000" b="1" dirty="0">
                    <a:solidFill>
                      <a:srgbClr val="C00000"/>
                    </a:solidFill>
                    <a:latin typeface="+mn-lt"/>
                    <a:ea typeface="微软雅黑" panose="020B0503020204020204" charset="-122"/>
                  </a:rPr>
                  <a:t>问题 （教材原文）</a:t>
                </a:r>
                <a:endParaRPr lang="en-US" altLang="zh-CN" sz="2000" b="1" i="0" dirty="0">
                  <a:solidFill>
                    <a:srgbClr val="C00000"/>
                  </a:solidFill>
                  <a:latin typeface="+mn-lt"/>
                  <a:ea typeface="微软雅黑" panose="020B0503020204020204" charset="-122"/>
                </a:endParaRPr>
              </a:p>
              <a:p>
                <a:r>
                  <a:rPr lang="zh-CN" altLang="en-US" sz="2000" dirty="0"/>
                  <a:t>设</a:t>
                </a:r>
                <a:r>
                  <a:rPr lang="en-US" altLang="zh-CN" sz="2000" dirty="0"/>
                  <a:t>&lt;</a:t>
                </a:r>
                <a:r>
                  <a:rPr lang="en-US" altLang="zh-CN" sz="2000" i="1" dirty="0"/>
                  <a:t>G</a:t>
                </a:r>
                <a:r>
                  <a:rPr lang="en-US" altLang="zh-CN" sz="2000" dirty="0"/>
                  <a:t>&gt;={</a:t>
                </a:r>
                <a14:m>
                  <m:oMath xmlns:m="http://schemas.openxmlformats.org/officeDocument/2006/math">
                    <m:r>
                      <a:rPr lang="en-US" altLang="zh-CN" sz="2000" i="1" kern="0">
                        <a:solidFill>
                          <a:srgbClr val="000000"/>
                        </a:solidFill>
                        <a:latin typeface="Cambria Math" panose="02040503050406030204" pitchFamily="18" charset="0"/>
                        <a:cs typeface="Times New Roman" panose="02020503050405090304" pitchFamily="18" charset="0"/>
                      </a:rPr>
                      <m:t>𝒪</m:t>
                    </m:r>
                  </m:oMath>
                </a14:m>
                <a:r>
                  <a:rPr lang="en-US" altLang="zh-CN" sz="2000" dirty="0"/>
                  <a:t>, </a:t>
                </a:r>
                <a:r>
                  <a:rPr lang="en-US" altLang="zh-CN" sz="2000" i="1" dirty="0"/>
                  <a:t>G</a:t>
                </a:r>
                <a:r>
                  <a:rPr lang="en-US" altLang="zh-CN" sz="2000" dirty="0"/>
                  <a:t>, 2</a:t>
                </a:r>
                <a:r>
                  <a:rPr lang="en-US" altLang="zh-CN" sz="2000" i="1" dirty="0"/>
                  <a:t>G</a:t>
                </a:r>
                <a:r>
                  <a:rPr lang="en-US" altLang="zh-CN" sz="2000" dirty="0"/>
                  <a:t>, …, (</a:t>
                </a:r>
                <a:r>
                  <a:rPr lang="en-US" altLang="zh-CN" sz="2000" i="1" dirty="0"/>
                  <a:t>n</a:t>
                </a:r>
                <a:r>
                  <a:rPr lang="en-US" altLang="zh-CN" sz="2000" dirty="0"/>
                  <a:t>-1)</a:t>
                </a:r>
                <a:r>
                  <a:rPr lang="en-US" altLang="zh-CN" sz="2000" i="1" dirty="0"/>
                  <a:t>G</a:t>
                </a:r>
                <a:r>
                  <a:rPr lang="en-US" altLang="zh-CN" sz="2000" dirty="0"/>
                  <a:t>}</a:t>
                </a:r>
                <a:r>
                  <a:rPr lang="zh-CN" altLang="en-US" sz="2000" dirty="0"/>
                  <a:t> 为 </a:t>
                </a:r>
                <a:r>
                  <a:rPr lang="en-US" altLang="zh-CN" sz="2000" i="1" dirty="0"/>
                  <a:t>E</a:t>
                </a:r>
                <a:r>
                  <a:rPr lang="en-US" altLang="zh-CN" sz="2000" dirty="0"/>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oMath>
                </a14:m>
                <a:r>
                  <a:rPr lang="en-US" altLang="zh-CN" sz="2000" dirty="0"/>
                  <a:t>)</a:t>
                </a:r>
                <a:r>
                  <a:rPr lang="zh-CN" altLang="en-US" sz="2000" dirty="0"/>
                  <a:t> 的循环子群。对于 </a:t>
                </a:r>
                <a14:m>
                  <m:oMath xmlns:m="http://schemas.openxmlformats.org/officeDocument/2006/math">
                    <m:r>
                      <a:rPr lang="en-US" altLang="zh-CN" sz="2000" i="1" dirty="0">
                        <a:latin typeface="Cambria Math" panose="02040503050406030204" pitchFamily="18" charset="0"/>
                      </a:rPr>
                      <m:t>𝑄</m:t>
                    </m:r>
                    <m:r>
                      <a:rPr lang="en-US" altLang="zh-CN" sz="2000" i="1" dirty="0" smtClean="0">
                        <a:latin typeface="Cambria Math" panose="02040503050406030204" pitchFamily="18" charset="0"/>
                        <a:ea typeface="Cambria Math" panose="020405030504060302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oMath>
                </a14:m>
                <a:r>
                  <a:rPr lang="zh-CN" altLang="en-US" sz="2000" dirty="0"/>
                  <a:t>，计算</a:t>
                </a:r>
                <a:r>
                  <a:rPr lang="en-US" altLang="zh-CN" sz="2000" dirty="0"/>
                  <a:t> </a:t>
                </a:r>
                <a:r>
                  <a:rPr lang="en-GB" altLang="zh-CN" sz="2000" i="1" dirty="0"/>
                  <a:t>k </a:t>
                </a:r>
                <a:r>
                  <a:rPr lang="zh-CN" altLang="en-US" sz="2000" dirty="0"/>
                  <a:t>使得 </a:t>
                </a:r>
                <a:r>
                  <a:rPr lang="en-GB" altLang="zh-CN" sz="2000" i="1" dirty="0"/>
                  <a:t>Q</a:t>
                </a:r>
                <a:r>
                  <a:rPr lang="en-GB" altLang="zh-CN" sz="2000" dirty="0"/>
                  <a:t> = </a:t>
                </a:r>
                <a:r>
                  <a:rPr lang="en-GB" altLang="zh-CN" sz="2000" i="1" dirty="0" err="1"/>
                  <a:t>kG</a:t>
                </a:r>
                <a:r>
                  <a:rPr lang="en-GB" altLang="zh-CN" sz="2000" dirty="0"/>
                  <a:t> </a:t>
                </a:r>
                <a:r>
                  <a:rPr lang="zh-CN" altLang="en-US" sz="2000" dirty="0"/>
                  <a:t>称为 </a:t>
                </a:r>
                <a:r>
                  <a:rPr lang="en-GB" altLang="zh-CN" sz="2000" dirty="0"/>
                  <a:t>ECDL </a:t>
                </a:r>
                <a:r>
                  <a:rPr lang="zh-CN" altLang="en-US" sz="2000" dirty="0"/>
                  <a:t>问题，其中 </a:t>
                </a:r>
                <a:r>
                  <a:rPr lang="en-GB" altLang="zh-CN" sz="2000" i="1" dirty="0"/>
                  <a:t>k</a:t>
                </a:r>
                <a:r>
                  <a:rPr lang="en-GB" altLang="zh-CN" sz="2000" dirty="0"/>
                  <a:t> ∈ {0, …, </a:t>
                </a:r>
                <a:r>
                  <a:rPr lang="en-GB" altLang="zh-CN" sz="2000" i="1" dirty="0"/>
                  <a:t>n</a:t>
                </a:r>
                <a:r>
                  <a:rPr lang="en-GB" altLang="zh-CN" sz="2000" dirty="0"/>
                  <a:t>-1} </a:t>
                </a:r>
                <a:r>
                  <a:rPr lang="zh-CN" altLang="en-US" sz="2000" dirty="0"/>
                  <a:t>为未知值。</a:t>
                </a: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66419" y="1403544"/>
                <a:ext cx="10492257" cy="1101101"/>
              </a:xfrm>
              <a:prstGeom prst="rect">
                <a:avLst/>
              </a:prstGeom>
              <a:blipFill>
                <a:blip r:embed="rId3"/>
                <a:stretch>
                  <a:fillRect l="-1453" t="-7182" b="-8840"/>
                </a:stretch>
              </a:blipFill>
            </p:spPr>
            <p:txBody>
              <a:bodyPr/>
              <a:lstStyle/>
              <a:p>
                <a:r>
                  <a:rPr lang="zh-CN" altLang="en-US">
                    <a:noFill/>
                  </a:rPr>
                  <a:t> </a:t>
                </a:r>
              </a:p>
            </p:txBody>
          </p:sp>
        </mc:Fallback>
      </mc:AlternateContent>
      <p:sp>
        <p:nvSpPr>
          <p:cNvPr id="7" name="Rounded Rectangle 9"/>
          <p:cNvSpPr/>
          <p:nvPr/>
        </p:nvSpPr>
        <p:spPr>
          <a:xfrm>
            <a:off x="591706" y="2849468"/>
            <a:ext cx="10835296" cy="1239944"/>
          </a:xfrm>
          <a:prstGeom prst="roundRect">
            <a:avLst/>
          </a:prstGeom>
          <a:solidFill>
            <a:srgbClr val="F7F7F7"/>
          </a:solidFill>
          <a:ln w="889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mc:AlternateContent xmlns:mc="http://schemas.openxmlformats.org/markup-compatibility/2006" xmlns:a14="http://schemas.microsoft.com/office/drawing/2010/main">
        <mc:Choice Requires="a14">
          <p:sp>
            <p:nvSpPr>
              <p:cNvPr id="8" name="TextBox 5"/>
              <p:cNvSpPr txBox="1"/>
              <p:nvPr/>
            </p:nvSpPr>
            <p:spPr>
              <a:xfrm>
                <a:off x="839357" y="2955807"/>
                <a:ext cx="10492257" cy="1101101"/>
              </a:xfrm>
              <a:prstGeom prst="rect">
                <a:avLst/>
              </a:prstGeom>
              <a:noFill/>
            </p:spPr>
            <p:txBody>
              <a:bodyPr wrap="square" lIns="0" tIns="0" rIns="0" bIns="0" anchor="t">
                <a:noAutofit/>
              </a:bodyPr>
              <a:lstStyle/>
              <a:p>
                <a:pPr algn="just">
                  <a:spcAft>
                    <a:spcPts val="600"/>
                  </a:spcAft>
                  <a:buClr>
                    <a:srgbClr val="C00000"/>
                  </a:buClr>
                </a:pPr>
                <a:r>
                  <a:rPr lang="zh-CN" altLang="en-US" sz="2000" b="1" i="0" dirty="0">
                    <a:solidFill>
                      <a:srgbClr val="C00000"/>
                    </a:solidFill>
                    <a:latin typeface="+mn-lt"/>
                    <a:ea typeface="微软雅黑" panose="020B0503020204020204" charset="-122"/>
                  </a:rPr>
                  <a:t>定义 </a:t>
                </a:r>
                <a:r>
                  <a:rPr lang="en-US" altLang="zh-CN" sz="2000" b="1" dirty="0">
                    <a:solidFill>
                      <a:srgbClr val="C00000"/>
                    </a:solidFill>
                    <a:latin typeface="+mn-lt"/>
                    <a:ea typeface="微软雅黑" panose="020B0503020204020204" charset="-122"/>
                  </a:rPr>
                  <a:t>3</a:t>
                </a:r>
                <a:r>
                  <a:rPr lang="en-US" altLang="zh-CN" sz="2000" b="1" i="0" dirty="0">
                    <a:solidFill>
                      <a:srgbClr val="C00000"/>
                    </a:solidFill>
                    <a:latin typeface="+mn-lt"/>
                    <a:ea typeface="微软雅黑" panose="020B0503020204020204" charset="-122"/>
                  </a:rPr>
                  <a:t>.21</a:t>
                </a:r>
                <a:r>
                  <a:rPr lang="zh-CN" altLang="en-US" sz="2000" b="1" dirty="0">
                    <a:solidFill>
                      <a:srgbClr val="C00000"/>
                    </a:solidFill>
                    <a:latin typeface="+mn-lt"/>
                    <a:ea typeface="微软雅黑" panose="020B0503020204020204" charset="-122"/>
                  </a:rPr>
                  <a:t>　</a:t>
                </a:r>
                <a:r>
                  <a:rPr lang="zh-CN" altLang="en-US" sz="2000" b="1" dirty="0">
                    <a:solidFill>
                      <a:srgbClr val="C00000"/>
                    </a:solidFill>
                  </a:rPr>
                  <a:t>（素数域 </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ea typeface="Cambria Math" panose="02040503050406030204" pitchFamily="18" charset="0"/>
                          </a:rPr>
                          <m:t>𝔽</m:t>
                        </m:r>
                      </m:e>
                      <m:sub>
                        <m:r>
                          <a:rPr lang="en-US" altLang="zh-CN" sz="2000" b="1" i="1">
                            <a:solidFill>
                              <a:srgbClr val="C00000"/>
                            </a:solidFill>
                            <a:latin typeface="Cambria Math" panose="02040503050406030204" pitchFamily="18" charset="0"/>
                          </a:rPr>
                          <m:t>𝒑</m:t>
                        </m:r>
                      </m:sub>
                    </m:sSub>
                  </m:oMath>
                </a14:m>
                <a:r>
                  <a:rPr lang="zh-CN" altLang="en-US" sz="2000" b="1" dirty="0">
                    <a:solidFill>
                      <a:srgbClr val="C00000"/>
                    </a:solidFill>
                  </a:rPr>
                  <a:t>上</a:t>
                </a:r>
                <a:r>
                  <a:rPr lang="zh-CN" altLang="en-US" sz="2000" b="1" dirty="0">
                    <a:solidFill>
                      <a:srgbClr val="C00000"/>
                    </a:solidFill>
                    <a:latin typeface="+mn-lt"/>
                    <a:ea typeface="微软雅黑" panose="020B0503020204020204" charset="-122"/>
                  </a:rPr>
                  <a:t>）</a:t>
                </a:r>
                <a:r>
                  <a:rPr lang="en-GB" altLang="zh-CN" sz="2000" b="1" dirty="0">
                    <a:solidFill>
                      <a:srgbClr val="C00000"/>
                    </a:solidFill>
                    <a:latin typeface="+mn-lt"/>
                    <a:ea typeface="微软雅黑" panose="020B0503020204020204" charset="-122"/>
                  </a:rPr>
                  <a:t>ECDH </a:t>
                </a:r>
                <a:r>
                  <a:rPr lang="zh-CN" altLang="en-US" sz="2000" b="1" dirty="0">
                    <a:solidFill>
                      <a:srgbClr val="C00000"/>
                    </a:solidFill>
                    <a:latin typeface="+mn-lt"/>
                    <a:ea typeface="微软雅黑" panose="020B0503020204020204" charset="-122"/>
                  </a:rPr>
                  <a:t>问题 （教材原文）</a:t>
                </a:r>
                <a:endParaRPr lang="en-US" altLang="zh-CN" sz="2000" b="1" i="0" dirty="0">
                  <a:solidFill>
                    <a:srgbClr val="C00000"/>
                  </a:solidFill>
                  <a:latin typeface="+mn-lt"/>
                  <a:ea typeface="微软雅黑" panose="020B0503020204020204" charset="-122"/>
                </a:endParaRPr>
              </a:p>
              <a:p>
                <a:r>
                  <a:rPr lang="zh-CN" altLang="en-US" sz="2000" dirty="0"/>
                  <a:t>设</a:t>
                </a:r>
                <a:r>
                  <a:rPr lang="en-US" altLang="zh-CN" sz="2000" dirty="0"/>
                  <a:t>&lt;</a:t>
                </a:r>
                <a:r>
                  <a:rPr lang="en-US" altLang="zh-CN" sz="2000" i="1" dirty="0"/>
                  <a:t>G</a:t>
                </a:r>
                <a:r>
                  <a:rPr lang="en-US" altLang="zh-CN" sz="2000" dirty="0"/>
                  <a:t>&gt;={</a:t>
                </a:r>
                <a14:m>
                  <m:oMath xmlns:m="http://schemas.openxmlformats.org/officeDocument/2006/math">
                    <m:r>
                      <a:rPr lang="en-US" altLang="zh-CN" sz="2000" i="1" kern="0">
                        <a:solidFill>
                          <a:srgbClr val="000000"/>
                        </a:solidFill>
                        <a:latin typeface="Cambria Math" panose="02040503050406030204" pitchFamily="18" charset="0"/>
                        <a:cs typeface="Times New Roman" panose="02020503050405090304" pitchFamily="18" charset="0"/>
                      </a:rPr>
                      <m:t>𝒪</m:t>
                    </m:r>
                  </m:oMath>
                </a14:m>
                <a:r>
                  <a:rPr lang="en-US" altLang="zh-CN" sz="2000" dirty="0"/>
                  <a:t>, </a:t>
                </a:r>
                <a:r>
                  <a:rPr lang="en-US" altLang="zh-CN" sz="2000" i="1" dirty="0"/>
                  <a:t>G</a:t>
                </a:r>
                <a:r>
                  <a:rPr lang="en-US" altLang="zh-CN" sz="2000" dirty="0"/>
                  <a:t>, 2</a:t>
                </a:r>
                <a:r>
                  <a:rPr lang="en-US" altLang="zh-CN" sz="2000" i="1" dirty="0"/>
                  <a:t>G</a:t>
                </a:r>
                <a:r>
                  <a:rPr lang="en-US" altLang="zh-CN" sz="2000" dirty="0"/>
                  <a:t>, …, (</a:t>
                </a:r>
                <a:r>
                  <a:rPr lang="en-US" altLang="zh-CN" sz="2000" i="1" dirty="0"/>
                  <a:t>n</a:t>
                </a:r>
                <a:r>
                  <a:rPr lang="en-US" altLang="zh-CN" sz="2000" dirty="0"/>
                  <a:t>-1)</a:t>
                </a:r>
                <a:r>
                  <a:rPr lang="en-US" altLang="zh-CN" sz="2000" i="1" dirty="0"/>
                  <a:t>G</a:t>
                </a:r>
                <a:r>
                  <a:rPr lang="en-US" altLang="zh-CN" sz="2000" dirty="0"/>
                  <a:t>}</a:t>
                </a:r>
                <a:r>
                  <a:rPr lang="zh-CN" altLang="en-US" sz="2000" dirty="0"/>
                  <a:t> 为 </a:t>
                </a:r>
                <a:r>
                  <a:rPr lang="en-US" altLang="zh-CN" sz="2000" i="1" dirty="0"/>
                  <a:t>E</a:t>
                </a:r>
                <a:r>
                  <a:rPr lang="en-US" altLang="zh-CN" sz="2000" dirty="0"/>
                  <a:t>(</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kern="0">
                            <a:solidFill>
                              <a:srgbClr val="000000"/>
                            </a:solidFill>
                            <a:latin typeface="Cambria Math" panose="02040503050406030204" pitchFamily="18" charset="0"/>
                            <a:cs typeface="Times New Roman" panose="02020503050405090304" pitchFamily="18" charset="0"/>
                          </a:rPr>
                          <m:t>𝔽</m:t>
                        </m:r>
                      </m:e>
                      <m:sub>
                        <m:r>
                          <a:rPr lang="en-US" altLang="zh-CN" sz="2000" i="1" kern="0">
                            <a:solidFill>
                              <a:srgbClr val="000000"/>
                            </a:solidFill>
                            <a:latin typeface="Cambria Math" panose="02040503050406030204" pitchFamily="18" charset="0"/>
                            <a:cs typeface="Times New Roman" panose="02020503050405090304" pitchFamily="18" charset="0"/>
                          </a:rPr>
                          <m:t>𝑝</m:t>
                        </m:r>
                      </m:sub>
                    </m:sSub>
                  </m:oMath>
                </a14:m>
                <a:r>
                  <a:rPr lang="en-US" altLang="zh-CN" sz="2000" dirty="0"/>
                  <a:t>)</a:t>
                </a:r>
                <a:r>
                  <a:rPr lang="zh-CN" altLang="en-US" sz="2000" dirty="0"/>
                  <a:t> 的循环子群。对于给定 </a:t>
                </a:r>
                <a:r>
                  <a:rPr lang="en-US" altLang="zh-CN" sz="2000" dirty="0"/>
                  <a:t>(</a:t>
                </a:r>
                <a14:m>
                  <m:oMath xmlns:m="http://schemas.openxmlformats.org/officeDocument/2006/math">
                    <m:r>
                      <a:rPr lang="en-US" altLang="zh-CN" sz="2000" i="1" dirty="0">
                        <a:latin typeface="Cambria Math" panose="02040503050406030204" pitchFamily="18" charset="0"/>
                      </a:rPr>
                      <m:t>𝐺</m:t>
                    </m:r>
                    <m:r>
                      <a:rPr lang="en-US" altLang="zh-CN" sz="2000" b="0" i="0" dirty="0" smtClean="0">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sz="2000" b="0" i="1" dirty="0" smtClean="0">
                        <a:latin typeface="Cambria Math" panose="02040503050406030204" pitchFamily="18" charset="0"/>
                      </a:rPr>
                      <m:t>𝐺</m:t>
                    </m:r>
                    <m:r>
                      <a:rPr lang="en-US" altLang="zh-CN" sz="2000" b="0" i="0" dirty="0" smtClean="0">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𝐺</m:t>
                    </m:r>
                    <m:r>
                      <a:rPr lang="en-US" altLang="zh-CN" sz="2000" b="0" i="1" smtClean="0">
                        <a:latin typeface="Cambria Math" panose="02040503050406030204" pitchFamily="18" charset="0"/>
                        <a:ea typeface="Cambria Math" panose="02040503050406030204" pitchFamily="18" charset="0"/>
                        <a:cs typeface="Times New Roman" panose="02020503050405090304" pitchFamily="18" charset="0"/>
                      </a:rPr>
                      <m:t>)∈</m:t>
                    </m:r>
                    <m:d>
                      <m:dPr>
                        <m:begChr m:val="〈"/>
                        <m:endChr m:val="〉"/>
                        <m:ctrlPr>
                          <a:rPr lang="zh-CN" altLang="zh-CN" sz="2000" i="1">
                            <a:solidFill>
                              <a:srgbClr val="000000"/>
                            </a:solidFill>
                            <a:latin typeface="Cambria Math" panose="02040503050406030204" pitchFamily="18" charset="0"/>
                            <a:cs typeface="Times New Roman" panose="02020503050405090304" pitchFamily="18" charset="0"/>
                          </a:rPr>
                        </m:ctrlPr>
                      </m:dPr>
                      <m:e>
                        <m:r>
                          <m:rPr>
                            <m:nor/>
                          </m:rPr>
                          <a:rPr lang="en-US" altLang="zh-CN" sz="2000" i="1" dirty="0">
                            <a:latin typeface="Times New Roman" panose="02020503050405090304" pitchFamily="18" charset="0"/>
                            <a:ea typeface="微软雅黑" panose="020B0503020204020204" charset="-122"/>
                            <a:cs typeface="Times New Roman" panose="02020503050405090304" pitchFamily="18" charset="0"/>
                          </a:rPr>
                          <m:t>g</m:t>
                        </m:r>
                      </m:e>
                    </m:d>
                    <m:r>
                      <m:rPr>
                        <m:nor/>
                      </m:rPr>
                      <a:rPr lang="en-US" altLang="zh-CN" sz="2000" b="0" i="0" baseline="30000" dirty="0" smtClean="0">
                        <a:latin typeface="DejaVu Math TeX Gyre" panose="02000503000000000000" charset="0"/>
                      </a:rPr>
                      <m:t>3</m:t>
                    </m:r>
                  </m:oMath>
                </a14:m>
                <a:r>
                  <a:rPr lang="zh-CN" altLang="en-US" sz="2000" dirty="0"/>
                  <a:t>，求解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𝛼𝛽</m:t>
                    </m:r>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𝐺</m:t>
                    </m:r>
                  </m:oMath>
                </a14:m>
                <a:r>
                  <a:rPr lang="en-GB" altLang="zh-CN" sz="2000" dirty="0"/>
                  <a:t> </a:t>
                </a:r>
                <a:r>
                  <a:rPr lang="zh-CN" altLang="en-US" sz="2000" dirty="0"/>
                  <a:t>称为 </a:t>
                </a:r>
                <a:r>
                  <a:rPr lang="en-GB" altLang="zh-CN" sz="2000" dirty="0"/>
                  <a:t>ECDH </a:t>
                </a:r>
                <a:r>
                  <a:rPr lang="zh-CN" altLang="en-US" sz="2000" dirty="0"/>
                  <a:t>问题，其中</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𝛼</m:t>
                    </m:r>
                  </m:oMath>
                </a14:m>
                <a:r>
                  <a:rPr lang="en-GB" altLang="zh-CN" sz="2000" dirty="0"/>
                  <a:t>,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503050405090304" pitchFamily="18" charset="0"/>
                      </a:rPr>
                      <m:t>𝛽</m:t>
                    </m:r>
                  </m:oMath>
                </a14:m>
                <a:r>
                  <a:rPr lang="en-GB" altLang="zh-CN" sz="2000" dirty="0"/>
                  <a:t> ∈ [1, </a:t>
                </a:r>
                <a:r>
                  <a:rPr lang="en-GB" altLang="zh-CN" sz="2000" i="1" dirty="0"/>
                  <a:t>n</a:t>
                </a:r>
                <a:r>
                  <a:rPr lang="en-GB" altLang="zh-CN" sz="2000" dirty="0"/>
                  <a:t>-1] </a:t>
                </a:r>
                <a:r>
                  <a:rPr lang="zh-CN" altLang="en-US" sz="2000" dirty="0"/>
                  <a:t>为未知值。</a:t>
                </a:r>
                <a:r>
                  <a:rPr lang="zh-CN" altLang="zh-CN" sz="2000" dirty="0">
                    <a:effectLst/>
                    <a:latin typeface="+mn-lt"/>
                    <a:ea typeface="+mn-ea"/>
                  </a:rPr>
                  <a:t> </a:t>
                </a:r>
                <a:endParaRPr lang="zh-CN" altLang="en-US" sz="2000" b="1" i="0" dirty="0">
                  <a:solidFill>
                    <a:srgbClr val="C00000"/>
                  </a:solidFill>
                  <a:latin typeface="+mn-lt"/>
                  <a:ea typeface="+mn-ea"/>
                </a:endParaRPr>
              </a:p>
            </p:txBody>
          </p:sp>
        </mc:Choice>
        <mc:Fallback xmlns="">
          <p:sp>
            <p:nvSpPr>
              <p:cNvPr id="8" name="TextBox 5"/>
              <p:cNvSpPr txBox="1">
                <a:spLocks noRot="1" noChangeAspect="1" noMove="1" noResize="1" noEditPoints="1" noAdjustHandles="1" noChangeArrowheads="1" noChangeShapeType="1" noTextEdit="1"/>
              </p:cNvSpPr>
              <p:nvPr/>
            </p:nvSpPr>
            <p:spPr>
              <a:xfrm>
                <a:off x="839357" y="2955807"/>
                <a:ext cx="10492257" cy="1101101"/>
              </a:xfrm>
              <a:prstGeom prst="rect">
                <a:avLst/>
              </a:prstGeom>
              <a:blipFill>
                <a:blip r:embed="rId4"/>
                <a:stretch>
                  <a:fillRect l="-1511" t="-7182" r="-697" b="-82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732802" y="4628593"/>
                <a:ext cx="8931773" cy="400110"/>
              </a:xfrm>
              <a:prstGeom prst="rect">
                <a:avLst/>
              </a:prstGeom>
              <a:noFill/>
            </p:spPr>
            <p:txBody>
              <a:bodyPr wrap="square">
                <a:spAutoFit/>
              </a:bodyPr>
              <a:lstStyle/>
              <a:p>
                <a:r>
                  <a:rPr lang="zh-CN" altLang="en-US" sz="2000" dirty="0"/>
                  <a:t>通常来说，当 </a:t>
                </a:r>
                <a:r>
                  <a:rPr lang="en-GB" altLang="zh-CN" sz="2000" i="1" dirty="0"/>
                  <a:t>n</a:t>
                </a:r>
                <a:r>
                  <a:rPr lang="en-GB" altLang="zh-CN" sz="2000" dirty="0"/>
                  <a:t> </a:t>
                </a:r>
                <a:r>
                  <a:rPr lang="zh-CN" altLang="en-US" sz="2000" dirty="0"/>
                  <a:t>足够大时，上述群</a:t>
                </a:r>
                <a14:m>
                  <m:oMath xmlns:m="http://schemas.openxmlformats.org/officeDocument/2006/math">
                    <m:r>
                      <a:rPr lang="en-US" altLang="zh-CN" sz="2000" b="0" i="0" smtClean="0">
                        <a:latin typeface="Cambria Math" panose="02040503050406030204" pitchFamily="18" charset="0"/>
                      </a:rPr>
                      <m:t> </m:t>
                    </m:r>
                    <m:r>
                      <a:rPr lang="zh-CN" altLang="en-US" sz="2000" i="1" smtClean="0">
                        <a:latin typeface="Cambria Math" panose="02040503050406030204" pitchFamily="18" charset="0"/>
                      </a:rPr>
                      <m:t>𝔾</m:t>
                    </m:r>
                    <m:r>
                      <a:rPr lang="en-US" altLang="zh-CN" sz="2000" b="0" i="1" smtClean="0">
                        <a:latin typeface="Cambria Math" panose="02040503050406030204" pitchFamily="18" charset="0"/>
                      </a:rPr>
                      <m:t> </m:t>
                    </m:r>
                  </m:oMath>
                </a14:m>
                <a:r>
                  <a:rPr lang="zh-CN" altLang="en-US" sz="2000" dirty="0"/>
                  <a:t>上的 </a:t>
                </a:r>
                <a:r>
                  <a:rPr lang="en-GB" altLang="zh-CN" sz="2000" dirty="0"/>
                  <a:t>ECDL </a:t>
                </a:r>
                <a:r>
                  <a:rPr lang="zh-CN" altLang="en-GB" sz="2000" dirty="0"/>
                  <a:t>和</a:t>
                </a:r>
                <a:r>
                  <a:rPr lang="en-GB" altLang="zh-CN" sz="2000" dirty="0"/>
                  <a:t>ECDH </a:t>
                </a:r>
                <a:r>
                  <a:rPr lang="zh-CN" altLang="en-US" sz="2000" dirty="0"/>
                  <a:t>问题被认为是困难的。</a:t>
                </a:r>
              </a:p>
            </p:txBody>
          </p:sp>
        </mc:Choice>
        <mc:Fallback xmlns="">
          <p:sp>
            <p:nvSpPr>
              <p:cNvPr id="11" name="文本框 10"/>
              <p:cNvSpPr txBox="1">
                <a:spLocks noRot="1" noChangeAspect="1" noMove="1" noResize="1" noEditPoints="1" noAdjustHandles="1" noChangeArrowheads="1" noChangeShapeType="1" noTextEdit="1"/>
              </p:cNvSpPr>
              <p:nvPr/>
            </p:nvSpPr>
            <p:spPr>
              <a:xfrm>
                <a:off x="1732802" y="4628593"/>
                <a:ext cx="8931773" cy="400110"/>
              </a:xfrm>
              <a:prstGeom prst="rect">
                <a:avLst/>
              </a:prstGeom>
              <a:blipFill>
                <a:blip r:embed="rId5"/>
                <a:stretch>
                  <a:fillRect l="-683" t="-7576" r="-3549" b="-25758"/>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B53EBA31-F673-9001-AF6F-E59DE0F57A3E}"/>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1C25A-91AA-48A6-5319-8422F3AA8754}"/>
            </a:ext>
          </a:extLst>
        </p:cNvPr>
        <p:cNvGrpSpPr/>
        <p:nvPr/>
      </p:nvGrpSpPr>
      <p:grpSpPr>
        <a:xfrm>
          <a:off x="0" y="0"/>
          <a:ext cx="0" cy="0"/>
          <a:chOff x="0" y="0"/>
          <a:chExt cx="0" cy="0"/>
        </a:xfrm>
      </p:grpSpPr>
      <p:sp>
        <p:nvSpPr>
          <p:cNvPr id="5" name="Rounded Rectangle 8">
            <a:extLst>
              <a:ext uri="{FF2B5EF4-FFF2-40B4-BE49-F238E27FC236}">
                <a16:creationId xmlns:a16="http://schemas.microsoft.com/office/drawing/2014/main" id="{7AA7895E-7CDC-95BF-4E49-680D36872D08}"/>
              </a:ext>
            </a:extLst>
          </p:cNvPr>
          <p:cNvSpPr/>
          <p:nvPr/>
        </p:nvSpPr>
        <p:spPr>
          <a:xfrm>
            <a:off x="663077" y="1603232"/>
            <a:ext cx="10862798" cy="3953088"/>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21" name="Connector 4">
            <a:extLst>
              <a:ext uri="{FF2B5EF4-FFF2-40B4-BE49-F238E27FC236}">
                <a16:creationId xmlns:a16="http://schemas.microsoft.com/office/drawing/2014/main" id="{300E4E9E-F484-5AE9-54EB-BAC03BD7920D}"/>
              </a:ext>
            </a:extLst>
          </p:cNvPr>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a:extLst>
              <a:ext uri="{FF2B5EF4-FFF2-40B4-BE49-F238E27FC236}">
                <a16:creationId xmlns:a16="http://schemas.microsoft.com/office/drawing/2014/main" id="{40C1A8D5-91F6-469E-C97D-62BFC338CB00}"/>
              </a:ext>
            </a:extLst>
          </p:cNvPr>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a:extLst>
              <a:ext uri="{FF2B5EF4-FFF2-40B4-BE49-F238E27FC236}">
                <a16:creationId xmlns:a16="http://schemas.microsoft.com/office/drawing/2014/main" id="{0483FE43-00B6-2244-1DDB-28013809A50A}"/>
              </a:ext>
            </a:extLst>
          </p:cNvPr>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BAB6526-D85C-6F40-757F-FFA80423112D}"/>
                  </a:ext>
                </a:extLst>
              </p:cNvPr>
              <p:cNvSpPr txBox="1"/>
              <p:nvPr/>
            </p:nvSpPr>
            <p:spPr>
              <a:xfrm>
                <a:off x="754802" y="1813081"/>
                <a:ext cx="10690827" cy="3897349"/>
              </a:xfrm>
              <a:prstGeom prst="rect">
                <a:avLst/>
              </a:prstGeom>
              <a:noFill/>
            </p:spPr>
            <p:txBody>
              <a:bodyPr wrap="square">
                <a:spAutoFit/>
              </a:bodyPr>
              <a:lstStyle/>
              <a:p>
                <a:pPr algn="just">
                  <a:lnSpc>
                    <a:spcPct val="132000"/>
                  </a:lnSpc>
                </a:pPr>
                <a:r>
                  <a:rPr lang="zh-CN" altLang="zh-CN" sz="2000" b="1" dirty="0">
                    <a:solidFill>
                      <a:srgbClr val="000000"/>
                    </a:solidFill>
                    <a:effectLst/>
                    <a:latin typeface="+mn-lt"/>
                    <a:ea typeface="+mn-ea"/>
                    <a:cs typeface="Times New Roman" panose="02020503050405090304" pitchFamily="18" charset="0"/>
                  </a:rPr>
                  <a:t>定理</a:t>
                </a:r>
                <a:r>
                  <a:rPr lang="zh-CN" altLang="zh-CN" sz="2000" b="1" dirty="0">
                    <a:solidFill>
                      <a:srgbClr val="000000"/>
                    </a:solidFill>
                    <a:effectLst/>
                    <a:latin typeface="+mn-lt"/>
                    <a:ea typeface="+mn-ea"/>
                    <a:cs typeface="宋体" pitchFamily="2" charset="-122"/>
                  </a:rPr>
                  <a:t> </a:t>
                </a:r>
                <a:r>
                  <a:rPr lang="en-US" altLang="zh-CN" sz="2000" b="1" dirty="0">
                    <a:solidFill>
                      <a:srgbClr val="000000"/>
                    </a:solidFill>
                    <a:effectLst/>
                    <a:latin typeface="+mn-lt"/>
                    <a:ea typeface="+mn-ea"/>
                    <a:cs typeface="宋体" pitchFamily="2" charset="-122"/>
                  </a:rPr>
                  <a:t>3</a:t>
                </a:r>
                <a:r>
                  <a:rPr lang="en-US" altLang="zh-CN" sz="2000" b="1" dirty="0">
                    <a:solidFill>
                      <a:srgbClr val="000000"/>
                    </a:solidFill>
                    <a:latin typeface="+mn-lt"/>
                    <a:ea typeface="+mn-ea"/>
                    <a:cs typeface="宋体" pitchFamily="2" charset="-122"/>
                  </a:rPr>
                  <a:t>.2</a:t>
                </a:r>
                <a:r>
                  <a:rPr lang="en-US" altLang="zh-CN" sz="2000" b="1" dirty="0">
                    <a:solidFill>
                      <a:srgbClr val="000000"/>
                    </a:solidFill>
                    <a:effectLst/>
                    <a:latin typeface="+mn-lt"/>
                    <a:ea typeface="+mn-ea"/>
                    <a:cs typeface="宋体" pitchFamily="2" charset="-122"/>
                  </a:rPr>
                  <a:t> </a:t>
                </a:r>
                <a:r>
                  <a:rPr lang="zh-CN" altLang="en-US" sz="2000" dirty="0"/>
                  <a:t>假设 </a:t>
                </a:r>
                <a:r>
                  <a:rPr lang="en-GB" altLang="zh-CN" sz="2000" dirty="0"/>
                  <a:t>SM2 </a:t>
                </a:r>
                <a:r>
                  <a:rPr lang="zh-CN" altLang="en-US" sz="2000" dirty="0"/>
                  <a:t>公钥加密方案中的杂凑函数、密钥派生函数均被视为随机预言机、</a:t>
                </a:r>
                <a:r>
                  <a:rPr lang="en-GB" altLang="zh-CN" sz="2000" dirty="0"/>
                  <a:t>ECDH </a:t>
                </a:r>
                <a:r>
                  <a:rPr lang="zh-CN" altLang="en-US" sz="2000" dirty="0"/>
                  <a:t>问题是困难的。</a:t>
                </a:r>
                <a:r>
                  <a:rPr lang="zh-CN" altLang="en-US" sz="2000" dirty="0">
                    <a:solidFill>
                      <a:srgbClr val="000000"/>
                    </a:solidFill>
                    <a:effectLst/>
                    <a:latin typeface="+mn-lt"/>
                    <a:ea typeface="+mn-ea"/>
                    <a:cs typeface="Times New Roman" panose="02020503050405090304" pitchFamily="18" charset="0"/>
                  </a:rPr>
                  <a:t>若敌手</a:t>
                </a:r>
                <a14:m>
                  <m:oMath xmlns:m="http://schemas.openxmlformats.org/officeDocument/2006/math">
                    <m:r>
                      <a:rPr lang="zh-CN" altLang="en-US" sz="2000" b="0" i="0" smtClean="0">
                        <a:solidFill>
                          <a:srgbClr val="000000"/>
                        </a:solidFill>
                        <a:effectLst/>
                        <a:latin typeface="Cambria Math" panose="02040503050406030204" pitchFamily="18" charset="0"/>
                        <a:ea typeface="+mn-ea"/>
                        <a:cs typeface="宋体" pitchFamily="2" charset="-122"/>
                      </a:rPr>
                      <m:t> </m:t>
                    </m:r>
                    <m:r>
                      <a:rPr lang="en-US" altLang="zh-CN" sz="2000" i="1" smtClean="0">
                        <a:solidFill>
                          <a:srgbClr val="000000"/>
                        </a:solidFill>
                        <a:effectLst/>
                        <a:latin typeface="Cambria Math" panose="02040503050406030204" pitchFamily="18" charset="0"/>
                        <a:ea typeface="+mn-ea"/>
                        <a:cs typeface="宋体" pitchFamily="2" charset="-122"/>
                      </a:rPr>
                      <m:t>𝒜</m:t>
                    </m:r>
                  </m:oMath>
                </a14:m>
                <a:r>
                  <a:rPr lang="zh-CN" altLang="en-US" sz="2000" dirty="0">
                    <a:solidFill>
                      <a:srgbClr val="000000"/>
                    </a:solidFill>
                    <a:effectLst/>
                    <a:latin typeface="+mn-lt"/>
                    <a:ea typeface="+mn-ea"/>
                    <a:cs typeface="Times New Roman" panose="02020503050405090304" pitchFamily="18" charset="0"/>
                  </a:rPr>
                  <a:t> 能以</a:t>
                </a:r>
                <a14:m>
                  <m:oMath xmlns:m="http://schemas.openxmlformats.org/officeDocument/2006/math">
                    <m:sSubSup>
                      <m:sSubSupPr>
                        <m:ctrlPr>
                          <a:rPr lang="en-US" altLang="zh-CN" sz="2000" i="1" dirty="0">
                            <a:latin typeface="Cambria Math" panose="02040503050406030204" pitchFamily="18" charset="0"/>
                            <a:ea typeface="+mn-ea"/>
                          </a:rPr>
                        </m:ctrlPr>
                      </m:sSubSupPr>
                      <m:e>
                        <m:r>
                          <m:rPr>
                            <m:sty m:val="p"/>
                          </m:rPr>
                          <a:rPr lang="en-US" altLang="zh-CN" sz="2000" dirty="0">
                            <a:latin typeface="Cambria Math" panose="02040503050406030204" pitchFamily="18" charset="0"/>
                            <a:ea typeface="+mn-ea"/>
                          </a:rPr>
                          <m:t>Adv</m:t>
                        </m:r>
                      </m:e>
                      <m:sub>
                        <m:r>
                          <a:rPr lang="zh-CN" altLang="en-US" sz="2000">
                            <a:latin typeface="Cambria Math" panose="02040503050406030204" pitchFamily="18" charset="0"/>
                            <a:ea typeface="+mn-ea"/>
                          </a:rPr>
                          <m:t>𝒜</m:t>
                        </m:r>
                      </m:sub>
                      <m:sup>
                        <m:r>
                          <m:rPr>
                            <m:sty m:val="p"/>
                          </m:rPr>
                          <a:rPr lang="en-US" altLang="zh-CN" sz="2000" dirty="0">
                            <a:latin typeface="Cambria Math" panose="02040503050406030204" pitchFamily="18" charset="0"/>
                            <a:ea typeface="+mn-ea"/>
                          </a:rPr>
                          <m:t>C</m:t>
                        </m:r>
                        <m:r>
                          <m:rPr>
                            <m:sty m:val="p"/>
                          </m:rPr>
                          <a:rPr lang="en-US" altLang="zh-CN" sz="2000" b="0" i="0" dirty="0" smtClean="0">
                            <a:latin typeface="Cambria Math" panose="02040503050406030204" pitchFamily="18" charset="0"/>
                            <a:ea typeface="+mn-ea"/>
                          </a:rPr>
                          <m:t>C</m:t>
                        </m:r>
                        <m:r>
                          <m:rPr>
                            <m:sty m:val="p"/>
                          </m:rPr>
                          <a:rPr lang="en-US" altLang="zh-CN" sz="2000" dirty="0">
                            <a:latin typeface="Cambria Math" panose="02040503050406030204" pitchFamily="18" charset="0"/>
                            <a:ea typeface="+mn-ea"/>
                          </a:rPr>
                          <m:t>A</m:t>
                        </m:r>
                        <m:r>
                          <a:rPr lang="en-US" altLang="zh-CN" sz="2000" b="0" i="0" dirty="0" smtClean="0">
                            <a:latin typeface="Cambria Math" panose="02040503050406030204" pitchFamily="18" charset="0"/>
                            <a:ea typeface="+mn-ea"/>
                          </a:rPr>
                          <m:t>2</m:t>
                        </m:r>
                      </m:sup>
                    </m:sSubSup>
                  </m:oMath>
                </a14:m>
                <a:r>
                  <a:rPr lang="zh-CN" altLang="en-US" sz="2000" dirty="0">
                    <a:solidFill>
                      <a:srgbClr val="000000"/>
                    </a:solidFill>
                    <a:effectLst/>
                    <a:latin typeface="+mn-lt"/>
                    <a:ea typeface="+mn-ea"/>
                    <a:cs typeface="Times New Roman" panose="02020503050405090304" pitchFamily="18" charset="0"/>
                  </a:rPr>
                  <a:t> 的</a:t>
                </a:r>
                <a:r>
                  <a:rPr lang="zh-CN" altLang="en-US" sz="2000" dirty="0">
                    <a:solidFill>
                      <a:srgbClr val="000000"/>
                    </a:solidFill>
                    <a:latin typeface="+mn-lt"/>
                    <a:ea typeface="+mn-ea"/>
                    <a:cs typeface="Times New Roman" panose="02020503050405090304" pitchFamily="18" charset="0"/>
                  </a:rPr>
                  <a:t>概率</a:t>
                </a:r>
                <a:r>
                  <a:rPr lang="zh-CN" altLang="en-US" sz="2000" dirty="0">
                    <a:solidFill>
                      <a:srgbClr val="000000"/>
                    </a:solidFill>
                    <a:effectLst/>
                    <a:latin typeface="+mn-lt"/>
                    <a:ea typeface="+mn-ea"/>
                    <a:cs typeface="Times New Roman" panose="02020503050405090304" pitchFamily="18" charset="0"/>
                  </a:rPr>
                  <a:t>优势在时间 </a:t>
                </a:r>
                <a14:m>
                  <m:oMath xmlns:m="http://schemas.openxmlformats.org/officeDocument/2006/math">
                    <m:sSub>
                      <m:sSubPr>
                        <m:ctrlPr>
                          <a:rPr lang="en-US" altLang="zh-CN" sz="20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𝑡</m:t>
                        </m:r>
                      </m:e>
                      <m:sub>
                        <m:r>
                          <a:rPr lang="en-US" altLang="zh-CN" sz="2000" i="1">
                            <a:solidFill>
                              <a:srgbClr val="000000"/>
                            </a:solidFill>
                            <a:latin typeface="Cambria Math" panose="02040503050406030204" pitchFamily="18" charset="0"/>
                            <a:ea typeface="+mn-ea"/>
                            <a:cs typeface="宋体" pitchFamily="2" charset="-122"/>
                          </a:rPr>
                          <m:t>𝒜</m:t>
                        </m:r>
                      </m:sub>
                    </m:sSub>
                  </m:oMath>
                </a14:m>
                <a:r>
                  <a:rPr lang="zh-CN" altLang="en-US" sz="2000" dirty="0">
                    <a:solidFill>
                      <a:srgbClr val="000000"/>
                    </a:solidFill>
                    <a:effectLst/>
                    <a:latin typeface="+mn-lt"/>
                    <a:ea typeface="+mn-ea"/>
                    <a:cs typeface="Times New Roman" panose="02020503050405090304" pitchFamily="18" charset="0"/>
                  </a:rPr>
                  <a:t> </a:t>
                </a:r>
                <a:r>
                  <a:rPr lang="zh-CN" altLang="en-US" sz="2000" dirty="0">
                    <a:solidFill>
                      <a:srgbClr val="000000"/>
                    </a:solidFill>
                    <a:latin typeface="+mn-lt"/>
                    <a:ea typeface="+mn-ea"/>
                    <a:cs typeface="Times New Roman" panose="02020503050405090304" pitchFamily="18" charset="0"/>
                  </a:rPr>
                  <a:t>内赢得安全模型 </a:t>
                </a:r>
                <a:r>
                  <a:rPr lang="en-GB" altLang="zh-CN" sz="2000" dirty="0">
                    <a:solidFill>
                      <a:srgbClr val="000000"/>
                    </a:solidFill>
                    <a:latin typeface="+mn-lt"/>
                    <a:ea typeface="+mn-ea"/>
                    <a:cs typeface="Times New Roman" panose="02020503050405090304" pitchFamily="18" charset="0"/>
                  </a:rPr>
                  <a:t>IND-CCA</a:t>
                </a:r>
                <a:r>
                  <a:rPr lang="en-US" altLang="zh-CN" sz="2000" dirty="0">
                    <a:solidFill>
                      <a:srgbClr val="000000"/>
                    </a:solidFill>
                    <a:latin typeface="+mn-lt"/>
                    <a:ea typeface="+mn-ea"/>
                    <a:cs typeface="Times New Roman" panose="02020503050405090304" pitchFamily="18" charset="0"/>
                  </a:rPr>
                  <a:t>2</a:t>
                </a:r>
                <a:r>
                  <a:rPr lang="en-GB" altLang="zh-CN" sz="2000" dirty="0">
                    <a:solidFill>
                      <a:srgbClr val="000000"/>
                    </a:solidFill>
                    <a:latin typeface="+mn-lt"/>
                    <a:ea typeface="+mn-ea"/>
                    <a:cs typeface="Times New Roman" panose="02020503050405090304" pitchFamily="18" charset="0"/>
                  </a:rPr>
                  <a:t> </a:t>
                </a:r>
                <a:r>
                  <a:rPr lang="zh-CN" altLang="en-US" sz="2000" dirty="0">
                    <a:solidFill>
                      <a:srgbClr val="000000"/>
                    </a:solidFill>
                    <a:latin typeface="+mn-lt"/>
                    <a:ea typeface="+mn-ea"/>
                    <a:cs typeface="Times New Roman" panose="02020503050405090304" pitchFamily="18" charset="0"/>
                  </a:rPr>
                  <a:t>中的游戏，则挑战者 </a:t>
                </a:r>
                <a14:m>
                  <m:oMath xmlns:m="http://schemas.openxmlformats.org/officeDocument/2006/math">
                    <m:r>
                      <a:rPr lang="en-US" altLang="zh-CN" sz="2000" i="1">
                        <a:latin typeface="Cambria Math" panose="02040503050406030204" pitchFamily="18" charset="0"/>
                        <a:ea typeface="+mn-ea"/>
                      </a:rPr>
                      <m:t>ℬ</m:t>
                    </m:r>
                  </m:oMath>
                </a14:m>
                <a:r>
                  <a:rPr lang="zh-CN" altLang="en-US" sz="2000" dirty="0">
                    <a:solidFill>
                      <a:srgbClr val="000000"/>
                    </a:solidFill>
                    <a:latin typeface="+mn-lt"/>
                    <a:ea typeface="+mn-ea"/>
                    <a:cs typeface="Times New Roman" panose="02020503050405090304" pitchFamily="18" charset="0"/>
                  </a:rPr>
                  <a:t> 以至少为 </a:t>
                </a:r>
                <a:r>
                  <a:rPr lang="en-US" altLang="zh-CN" sz="2000" dirty="0">
                    <a:solidFill>
                      <a:srgbClr val="000000"/>
                    </a:solidFill>
                    <a:latin typeface="+mn-lt"/>
                    <a:ea typeface="+mn-ea"/>
                    <a:cs typeface="Times New Roman" panose="02020503050405090304" pitchFamily="18" charset="0"/>
                  </a:rPr>
                  <a:t>(1-</a:t>
                </a:r>
                <a:r>
                  <a:rPr lang="en-US" altLang="zh-CN" sz="2000" dirty="0">
                    <a:solidFill>
                      <a:srgbClr val="000000"/>
                    </a:solidFill>
                    <a:cs typeface="Times New Roman" panose="02020503050405090304" pitchFamily="18" charset="0"/>
                  </a:rPr>
                  <a:t> </a:t>
                </a:r>
                <a14:m>
                  <m:oMath xmlns:m="http://schemas.openxmlformats.org/officeDocument/2006/math">
                    <m:f>
                      <m:fPr>
                        <m:ctrlPr>
                          <a:rPr lang="en-US" altLang="zh-CN" sz="2000" i="1" dirty="0">
                            <a:solidFill>
                              <a:srgbClr val="000000"/>
                            </a:solidFill>
                            <a:latin typeface="Cambria Math" panose="02040503050406030204" pitchFamily="18" charset="0"/>
                            <a:cs typeface="Times New Roman" panose="02020503050405090304" pitchFamily="18" charset="0"/>
                          </a:rPr>
                        </m:ctrlPr>
                      </m:fPr>
                      <m:num>
                        <m:r>
                          <a:rPr lang="en-US" altLang="zh-CN" sz="2000"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sz="2000" i="1" dirty="0">
                                <a:solidFill>
                                  <a:srgbClr val="000000"/>
                                </a:solidFill>
                                <a:latin typeface="Cambria Math" panose="02040503050406030204" pitchFamily="18" charset="0"/>
                                <a:cs typeface="Times New Roman" panose="02020503050405090304" pitchFamily="18" charset="0"/>
                              </a:rPr>
                            </m:ctrlPr>
                          </m:sSupPr>
                          <m:e>
                            <m:r>
                              <a:rPr lang="en-US" altLang="zh-CN" sz="2000" dirty="0">
                                <a:solidFill>
                                  <a:srgbClr val="000000"/>
                                </a:solidFill>
                                <a:latin typeface="Cambria Math" panose="02040503050406030204" pitchFamily="18" charset="0"/>
                                <a:cs typeface="Times New Roman" panose="02020503050405090304" pitchFamily="18" charset="0"/>
                              </a:rPr>
                              <m:t>2</m:t>
                            </m:r>
                          </m:e>
                          <m:sup>
                            <m:r>
                              <m:rPr>
                                <m:sty m:val="p"/>
                              </m:rPr>
                              <a:rPr lang="en-US" altLang="zh-CN" sz="2000" dirty="0">
                                <a:solidFill>
                                  <a:srgbClr val="000000"/>
                                </a:solidFill>
                                <a:latin typeface="Cambria Math" panose="02040503050406030204" pitchFamily="18" charset="0"/>
                                <a:cs typeface="Times New Roman" panose="02020503050405090304" pitchFamily="18" charset="0"/>
                              </a:rPr>
                              <m:t>klen</m:t>
                            </m:r>
                            <m:r>
                              <a:rPr lang="en-US" altLang="zh-CN" sz="2000" b="0" i="0" dirty="0" smtClean="0">
                                <a:solidFill>
                                  <a:srgbClr val="000000"/>
                                </a:solidFill>
                                <a:latin typeface="Cambria Math" panose="02040503050406030204" pitchFamily="18" charset="0"/>
                                <a:cs typeface="Times New Roman" panose="02020503050405090304" pitchFamily="18" charset="0"/>
                              </a:rPr>
                              <m:t>+</m:t>
                            </m:r>
                            <m:r>
                              <a:rPr lang="en-US" altLang="zh-CN" sz="2000" b="0" i="0" dirty="0" smtClean="0">
                                <a:solidFill>
                                  <a:srgbClr val="000000"/>
                                </a:solidFill>
                                <a:latin typeface="Cambria Math" panose="02040503050406030204" pitchFamily="18" charset="0"/>
                                <a:cs typeface="Times New Roman" panose="02020503050405090304" pitchFamily="18" charset="0"/>
                              </a:rPr>
                              <m:t>256</m:t>
                            </m:r>
                          </m:sup>
                        </m:sSup>
                      </m:den>
                    </m:f>
                  </m:oMath>
                </a14:m>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sSubSup>
                      <m:sSubSupPr>
                        <m:ctrlPr>
                          <a:rPr lang="en-US" altLang="zh-CN" sz="2000" i="1" dirty="0">
                            <a:latin typeface="Cambria Math" panose="02040503050406030204" pitchFamily="18" charset="0"/>
                            <a:ea typeface="+mn-ea"/>
                          </a:rPr>
                        </m:ctrlPr>
                      </m:sSubSupPr>
                      <m:e>
                        <m:r>
                          <m:rPr>
                            <m:sty m:val="p"/>
                          </m:rPr>
                          <a:rPr lang="en-US" altLang="zh-CN" sz="2000" dirty="0">
                            <a:latin typeface="Cambria Math" panose="02040503050406030204" pitchFamily="18" charset="0"/>
                            <a:ea typeface="+mn-ea"/>
                          </a:rPr>
                          <m:t>Adv</m:t>
                        </m:r>
                      </m:e>
                      <m:sub>
                        <m:r>
                          <a:rPr lang="zh-CN" altLang="en-US" sz="2000">
                            <a:latin typeface="Cambria Math" panose="02040503050406030204" pitchFamily="18" charset="0"/>
                            <a:ea typeface="+mn-ea"/>
                          </a:rPr>
                          <m:t>𝒜</m:t>
                        </m:r>
                      </m:sub>
                      <m:sup>
                        <m:r>
                          <m:rPr>
                            <m:sty m:val="p"/>
                          </m:rPr>
                          <a:rPr lang="en-US" altLang="zh-CN" sz="2000" dirty="0">
                            <a:latin typeface="Cambria Math" panose="02040503050406030204" pitchFamily="18" charset="0"/>
                            <a:ea typeface="+mn-ea"/>
                          </a:rPr>
                          <m:t>C</m:t>
                        </m:r>
                        <m:r>
                          <m:rPr>
                            <m:sty m:val="p"/>
                          </m:rPr>
                          <a:rPr lang="en-US" altLang="zh-CN" sz="2000" b="0" i="0" dirty="0" smtClean="0">
                            <a:latin typeface="Cambria Math" panose="02040503050406030204" pitchFamily="18" charset="0"/>
                            <a:ea typeface="+mn-ea"/>
                          </a:rPr>
                          <m:t>CA</m:t>
                        </m:r>
                        <m:r>
                          <a:rPr lang="en-US" altLang="zh-CN" sz="2000" b="0" i="1" dirty="0" smtClean="0">
                            <a:latin typeface="Cambria Math" panose="02040503050406030204" pitchFamily="18" charset="0"/>
                            <a:ea typeface="+mn-ea"/>
                          </a:rPr>
                          <m:t>2</m:t>
                        </m:r>
                      </m:sup>
                    </m:sSubSup>
                  </m:oMath>
                </a14:m>
                <a:r>
                  <a:rPr lang="zh-CN" altLang="en-US" sz="2000" dirty="0">
                    <a:solidFill>
                      <a:srgbClr val="000000"/>
                    </a:solidFill>
                    <a:latin typeface="+mn-lt"/>
                    <a:ea typeface="+mn-ea"/>
                    <a:cs typeface="Times New Roman" panose="02020503050405090304" pitchFamily="18" charset="0"/>
                  </a:rPr>
                  <a:t> </a:t>
                </a:r>
                <a:r>
                  <a:rPr lang="en-US" altLang="zh-CN" sz="2000" dirty="0">
                    <a:solidFill>
                      <a:srgbClr val="000000"/>
                    </a:solidFill>
                    <a:latin typeface="+mn-lt"/>
                    <a:ea typeface="+mn-ea"/>
                    <a:cs typeface="Times New Roman" panose="02020503050405090304" pitchFamily="18" charset="0"/>
                  </a:rPr>
                  <a:t>- </a:t>
                </a:r>
                <a14:m>
                  <m:oMath xmlns:m="http://schemas.openxmlformats.org/officeDocument/2006/math">
                    <m:f>
                      <m:fPr>
                        <m:ctrlPr>
                          <a:rPr lang="en-US" altLang="zh-CN" sz="2000" i="1" dirty="0" smtClean="0">
                            <a:solidFill>
                              <a:srgbClr val="000000"/>
                            </a:solidFill>
                            <a:latin typeface="Cambria Math" panose="02040503050406030204" pitchFamily="18" charset="0"/>
                            <a:ea typeface="+mn-ea"/>
                            <a:cs typeface="Times New Roman" panose="02020503050405090304" pitchFamily="18" charset="0"/>
                          </a:rPr>
                        </m:ctrlPr>
                      </m:fPr>
                      <m:num>
                        <m:r>
                          <a:rPr lang="en-US" altLang="zh-CN" sz="2000" b="0" i="1" dirty="0" smtClean="0">
                            <a:solidFill>
                              <a:srgbClr val="000000"/>
                            </a:solidFill>
                            <a:latin typeface="Cambria Math" panose="02040503050406030204" pitchFamily="18" charset="0"/>
                            <a:ea typeface="+mn-ea"/>
                            <a:cs typeface="Times New Roman" panose="02020503050405090304" pitchFamily="18" charset="0"/>
                          </a:rPr>
                          <m:t>1</m:t>
                        </m:r>
                      </m:num>
                      <m:den>
                        <m:sSup>
                          <m:sSupPr>
                            <m:ctrlPr>
                              <a:rPr lang="en-US" altLang="zh-CN" sz="2000" i="1" dirty="0" smtClean="0">
                                <a:solidFill>
                                  <a:srgbClr val="000000"/>
                                </a:solidFill>
                                <a:latin typeface="Cambria Math" panose="02040503050406030204" pitchFamily="18" charset="0"/>
                                <a:ea typeface="+mn-ea"/>
                                <a:cs typeface="Times New Roman" panose="02020503050405090304" pitchFamily="18" charset="0"/>
                              </a:rPr>
                            </m:ctrlPr>
                          </m:sSupPr>
                          <m:e>
                            <m:r>
                              <a:rPr lang="en-US" altLang="zh-CN" sz="2000" b="0" i="0" dirty="0" smtClean="0">
                                <a:solidFill>
                                  <a:srgbClr val="000000"/>
                                </a:solidFill>
                                <a:latin typeface="Cambria Math" panose="02040503050406030204" pitchFamily="18" charset="0"/>
                                <a:ea typeface="+mn-ea"/>
                                <a:cs typeface="Times New Roman" panose="02020503050405090304" pitchFamily="18" charset="0"/>
                              </a:rPr>
                              <m:t>2</m:t>
                            </m:r>
                          </m:e>
                          <m:sup>
                            <m:r>
                              <m:rPr>
                                <m:sty m:val="p"/>
                              </m:rPr>
                              <a:rPr lang="en-US" altLang="zh-CN" sz="2000" b="0" i="0" dirty="0" smtClean="0">
                                <a:solidFill>
                                  <a:srgbClr val="000000"/>
                                </a:solidFill>
                                <a:latin typeface="Cambria Math" panose="02040503050406030204" pitchFamily="18" charset="0"/>
                                <a:ea typeface="+mn-ea"/>
                                <a:cs typeface="Times New Roman" panose="02020503050405090304" pitchFamily="18" charset="0"/>
                              </a:rPr>
                              <m:t>klen</m:t>
                            </m:r>
                          </m:sup>
                        </m:sSup>
                      </m:den>
                    </m:f>
                    <m:r>
                      <a:rPr lang="en-US" altLang="zh-CN" sz="2000" b="0" i="0" dirty="0" smtClean="0">
                        <a:solidFill>
                          <a:srgbClr val="000000"/>
                        </a:solidFill>
                        <a:latin typeface="Cambria Math" panose="02040503050406030204" pitchFamily="18" charset="0"/>
                        <a:ea typeface="+mn-ea"/>
                        <a:cs typeface="Times New Roman" panose="02020503050405090304" pitchFamily="18" charset="0"/>
                      </a:rPr>
                      <m:t>)</m:t>
                    </m:r>
                  </m:oMath>
                </a14:m>
                <a:r>
                  <a:rPr lang="en-US" altLang="zh-CN" sz="2000" dirty="0">
                    <a:solidFill>
                      <a:srgbClr val="000000"/>
                    </a:solidFill>
                    <a:effectLst/>
                    <a:latin typeface="+mn-lt"/>
                    <a:ea typeface="+mn-ea"/>
                    <a:cs typeface="Times New Roman" panose="02020503050405090304" pitchFamily="18" charset="0"/>
                  </a:rPr>
                  <a:t>/</a:t>
                </a:r>
                <a14:m>
                  <m:oMath xmlns:m="http://schemas.openxmlformats.org/officeDocument/2006/math">
                    <m:sSub>
                      <m:sSubPr>
                        <m:ctrlPr>
                          <a:rPr lang="en-US" altLang="zh-CN" sz="2000" i="1" dirty="0"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𝑞</m:t>
                        </m:r>
                      </m:e>
                      <m:sub>
                        <m:r>
                          <a:rPr lang="en-US" altLang="zh-CN" sz="2000" b="0" i="1" dirty="0" smtClean="0">
                            <a:solidFill>
                              <a:srgbClr val="000000"/>
                            </a:solidFill>
                            <a:effectLst/>
                            <a:latin typeface="Cambria Math" panose="02040503050406030204" pitchFamily="18" charset="0"/>
                            <a:ea typeface="+mn-ea"/>
                            <a:cs typeface="Times New Roman" panose="02020503050405090304" pitchFamily="18" charset="0"/>
                          </a:rPr>
                          <m:t>𝐾</m:t>
                        </m:r>
                      </m:sub>
                    </m:sSub>
                  </m:oMath>
                </a14:m>
                <a:r>
                  <a:rPr lang="zh-CN" altLang="en-US" sz="2000" dirty="0">
                    <a:solidFill>
                      <a:srgbClr val="000000"/>
                    </a:solidFill>
                    <a:effectLst/>
                    <a:latin typeface="+mn-lt"/>
                    <a:ea typeface="+mn-ea"/>
                    <a:cs typeface="Times New Roman" panose="02020503050405090304" pitchFamily="18" charset="0"/>
                  </a:rPr>
                  <a:t> 的优势在时间内</a:t>
                </a:r>
                <a:r>
                  <a:rPr lang="en-US" altLang="zh-CN" sz="2000" dirty="0">
                    <a:solidFill>
                      <a:srgbClr val="000000"/>
                    </a:solidFill>
                    <a:effectLst/>
                    <a:latin typeface="+mn-lt"/>
                    <a:ea typeface="+mn-ea"/>
                    <a:cs typeface="Times New Roman" panose="02020503050405090304" pitchFamily="18" charset="0"/>
                  </a:rPr>
                  <a:t> </a:t>
                </a:r>
                <a14:m>
                  <m:oMath xmlns:m="http://schemas.openxmlformats.org/officeDocument/2006/math">
                    <m:sSub>
                      <m:sSubPr>
                        <m:ctrlPr>
                          <a:rPr lang="en-US" altLang="zh-CN" sz="2000" i="1">
                            <a:solidFill>
                              <a:srgbClr val="000000"/>
                            </a:solidFill>
                            <a:latin typeface="Cambria Math" panose="02040503050406030204" pitchFamily="18" charset="0"/>
                            <a:ea typeface="+mn-ea"/>
                            <a:cs typeface="Times New Roman" panose="02020503050405090304" pitchFamily="18" charset="0"/>
                          </a:rPr>
                        </m:ctrlPr>
                      </m:sSubPr>
                      <m:e>
                        <m:r>
                          <a:rPr lang="en-US" altLang="zh-CN" sz="2000" i="1">
                            <a:solidFill>
                              <a:srgbClr val="000000"/>
                            </a:solidFill>
                            <a:latin typeface="Cambria Math" panose="02040503050406030204" pitchFamily="18" charset="0"/>
                            <a:ea typeface="+mn-ea"/>
                            <a:cs typeface="Times New Roman" panose="02020503050405090304" pitchFamily="18" charset="0"/>
                          </a:rPr>
                          <m:t>𝑡</m:t>
                        </m:r>
                      </m:e>
                      <m:sub>
                        <m:r>
                          <a:rPr lang="en-US" altLang="zh-CN" sz="2000" i="1">
                            <a:solidFill>
                              <a:srgbClr val="000000"/>
                            </a:solidFill>
                            <a:latin typeface="Cambria Math" panose="02040503050406030204" pitchFamily="18" charset="0"/>
                            <a:ea typeface="+mn-ea"/>
                            <a:cs typeface="宋体" pitchFamily="2" charset="-122"/>
                          </a:rPr>
                          <m:t>𝒜</m:t>
                        </m:r>
                      </m:sub>
                    </m:sSub>
                  </m:oMath>
                </a14:m>
                <a:r>
                  <a:rPr lang="zh-CN" altLang="en-US" sz="2000" dirty="0">
                    <a:solidFill>
                      <a:srgbClr val="000000"/>
                    </a:solidFill>
                    <a:latin typeface="+mn-lt"/>
                    <a:ea typeface="+mn-ea"/>
                    <a:cs typeface="Times New Roman" panose="02020503050405090304" pitchFamily="18" charset="0"/>
                  </a:rPr>
                  <a:t> </a:t>
                </a:r>
                <a:r>
                  <a:rPr lang="en-US" altLang="zh-CN" sz="2000" dirty="0">
                    <a:solidFill>
                      <a:srgbClr val="000000"/>
                    </a:solidFill>
                    <a:latin typeface="+mn-lt"/>
                    <a:ea typeface="+mn-ea"/>
                    <a:cs typeface="Times New Roman" panose="02020503050405090304" pitchFamily="18" charset="0"/>
                  </a:rPr>
                  <a:t>+</a:t>
                </a:r>
                <a:r>
                  <a:rPr lang="en-US" altLang="zh-CN" sz="2000" i="1" dirty="0">
                    <a:solidFill>
                      <a:srgbClr val="000000"/>
                    </a:solidFill>
                    <a:latin typeface="+mn-lt"/>
                    <a:ea typeface="+mn-ea"/>
                    <a:cs typeface="Times New Roman" panose="02020503050405090304" pitchFamily="18" charset="0"/>
                  </a:rPr>
                  <a:t>O</a:t>
                </a:r>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sSub>
                      <m:sSubPr>
                        <m:ctrlPr>
                          <a:rPr lang="en-US" altLang="zh-CN" sz="2000" i="1" dirty="0">
                            <a:solidFill>
                              <a:srgbClr val="000000"/>
                            </a:solidFill>
                            <a:latin typeface="Cambria Math" panose="02040503050406030204" pitchFamily="18" charset="0"/>
                            <a:ea typeface="+mn-ea"/>
                            <a:cs typeface="Times New Roman" panose="02020503050405090304" pitchFamily="18" charset="0"/>
                          </a:rPr>
                        </m:ctrlPr>
                      </m:sSubPr>
                      <m:e>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b="0" i="1" dirty="0" smtClean="0">
                                <a:solidFill>
                                  <a:srgbClr val="000000"/>
                                </a:solidFill>
                                <a:latin typeface="Cambria Math" panose="02040503050406030204" pitchFamily="18" charset="0"/>
                                <a:cs typeface="Times New Roman" panose="02020503050405090304" pitchFamily="18" charset="0"/>
                              </a:rPr>
                              <m:t>𝐾</m:t>
                            </m:r>
                          </m:sub>
                        </m:sSub>
                        <m:r>
                          <a:rPr lang="en-US" altLang="zh-CN" sz="2000" b="0" i="1" dirty="0" smtClean="0">
                            <a:solidFill>
                              <a:srgbClr val="000000"/>
                            </a:solidFill>
                            <a:latin typeface="Cambria Math" panose="02040503050406030204" pitchFamily="18" charset="0"/>
                            <a:cs typeface="Times New Roman" panose="02020503050405090304" pitchFamily="18" charset="0"/>
                          </a:rPr>
                          <m:t>+</m:t>
                        </m:r>
                        <m:r>
                          <a:rPr lang="en-US" altLang="zh-CN" sz="2000" i="1" dirty="0">
                            <a:solidFill>
                              <a:srgbClr val="000000"/>
                            </a:solidFill>
                            <a:latin typeface="Cambria Math" panose="02040503050406030204" pitchFamily="18" charset="0"/>
                            <a:ea typeface="+mn-ea"/>
                            <a:cs typeface="Times New Roman" panose="02020503050405090304" pitchFamily="18" charset="0"/>
                          </a:rPr>
                          <m:t>𝑞</m:t>
                        </m:r>
                      </m:e>
                      <m:sub>
                        <m:r>
                          <a:rPr lang="en-US" altLang="zh-CN" sz="2000" i="1" dirty="0">
                            <a:solidFill>
                              <a:srgbClr val="000000"/>
                            </a:solidFill>
                            <a:latin typeface="Cambria Math" panose="02040503050406030204" pitchFamily="18" charset="0"/>
                            <a:ea typeface="+mn-ea"/>
                            <a:cs typeface="Times New Roman" panose="02020503050405090304" pitchFamily="18" charset="0"/>
                          </a:rPr>
                          <m:t>𝐻</m:t>
                        </m:r>
                      </m:sub>
                    </m:sSub>
                  </m:oMath>
                </a14:m>
                <a:r>
                  <a:rPr lang="en-US" altLang="zh-CN" sz="2000" dirty="0">
                    <a:solidFill>
                      <a:srgbClr val="000000"/>
                    </a:solidFill>
                    <a:latin typeface="+mn-lt"/>
                    <a:ea typeface="+mn-ea"/>
                    <a:cs typeface="Times New Roman" panose="02020503050405090304" pitchFamily="18" charset="0"/>
                  </a:rPr>
                  <a:t>+1+</a:t>
                </a:r>
                <a:r>
                  <a:rPr lang="en-US" altLang="zh-CN" sz="2000" dirty="0">
                    <a:solidFill>
                      <a:srgbClr val="000000"/>
                    </a:solidFill>
                    <a:cs typeface="Times New Roman" panose="02020503050405090304" pitchFamily="18" charset="0"/>
                  </a:rPr>
                  <a:t> </a:t>
                </a:r>
                <a14:m>
                  <m:oMath xmlns:m="http://schemas.openxmlformats.org/officeDocument/2006/math">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sSub>
                              <m:sSubPr>
                                <m:ctrlPr>
                                  <a:rPr lang="en-US" altLang="zh-CN" sz="2000" i="1" dirty="0">
                                    <a:solidFill>
                                      <a:srgbClr val="000000"/>
                                    </a:solidFill>
                                    <a:latin typeface="Cambria Math" panose="02040503050406030204" pitchFamily="18" charset="0"/>
                                    <a:cs typeface="Times New Roman" panose="02020503050405090304" pitchFamily="18" charset="0"/>
                                  </a:rPr>
                                </m:ctrlPr>
                              </m:sSubPr>
                              <m:e>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b="0" i="1" dirty="0" smtClean="0">
                                    <a:solidFill>
                                      <a:srgbClr val="000000"/>
                                    </a:solidFill>
                                    <a:latin typeface="Cambria Math" panose="02040503050406030204" pitchFamily="18" charset="0"/>
                                    <a:cs typeface="Times New Roman" panose="02020503050405090304" pitchFamily="18" charset="0"/>
                                  </a:rPr>
                                  <m:t>𝐷</m:t>
                                </m:r>
                              </m:sub>
                            </m:sSub>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i="1" dirty="0">
                                <a:solidFill>
                                  <a:srgbClr val="000000"/>
                                </a:solidFill>
                                <a:latin typeface="Cambria Math" panose="02040503050406030204" pitchFamily="18" charset="0"/>
                                <a:cs typeface="Times New Roman" panose="02020503050405090304" pitchFamily="18" charset="0"/>
                              </a:rPr>
                              <m:t>𝐾</m:t>
                            </m:r>
                          </m:sub>
                        </m:sSub>
                        <m:r>
                          <a:rPr lang="en-US" altLang="zh-CN" sz="2000" i="1" dirty="0">
                            <a:solidFill>
                              <a:srgbClr val="000000"/>
                            </a:solidFill>
                            <a:latin typeface="Cambria Math" panose="02040503050406030204" pitchFamily="18" charset="0"/>
                            <a:cs typeface="Times New Roman" panose="02020503050405090304" pitchFamily="18" charset="0"/>
                          </a:rPr>
                          <m:t>𝑞</m:t>
                        </m:r>
                      </m:e>
                      <m:sub>
                        <m:r>
                          <a:rPr lang="en-US" altLang="zh-CN" sz="2000" i="1" dirty="0">
                            <a:solidFill>
                              <a:srgbClr val="000000"/>
                            </a:solidFill>
                            <a:latin typeface="Cambria Math" panose="02040503050406030204" pitchFamily="18" charset="0"/>
                            <a:cs typeface="Times New Roman" panose="02020503050405090304" pitchFamily="18" charset="0"/>
                          </a:rPr>
                          <m:t>𝐻</m:t>
                        </m:r>
                      </m:sub>
                    </m:sSub>
                  </m:oMath>
                </a14:m>
                <a:r>
                  <a:rPr lang="en-US" altLang="zh-CN" sz="2000" dirty="0">
                    <a:solidFill>
                      <a:srgbClr val="000000"/>
                    </a:solidFill>
                    <a:latin typeface="+mn-lt"/>
                    <a:ea typeface="+mn-ea"/>
                    <a:cs typeface="Times New Roman" panose="02020503050405090304" pitchFamily="18" charset="0"/>
                  </a:rPr>
                  <a:t>)</a:t>
                </a:r>
                <a14:m>
                  <m:oMath xmlns:m="http://schemas.openxmlformats.org/officeDocument/2006/math">
                    <m:r>
                      <a:rPr lang="en-US" altLang="zh-CN" sz="2000" i="1" smtClean="0">
                        <a:solidFill>
                          <a:srgbClr val="000000"/>
                        </a:solidFill>
                        <a:latin typeface="Cambria Math" panose="02040503050406030204" pitchFamily="18" charset="0"/>
                        <a:ea typeface="+mn-ea"/>
                        <a:cs typeface="Times New Roman" panose="02020503050405090304" pitchFamily="18" charset="0"/>
                      </a:rPr>
                      <m:t>×</m:t>
                    </m:r>
                    <m:r>
                      <a:rPr lang="en-US" altLang="zh-CN" sz="2000" i="1" smtClean="0">
                        <a:solidFill>
                          <a:srgbClr val="000000"/>
                        </a:solidFill>
                        <a:latin typeface="Cambria Math" panose="02040503050406030204" pitchFamily="18" charset="0"/>
                        <a:ea typeface="+mn-ea"/>
                        <a:cs typeface="Times New Roman" panose="02020503050405090304" pitchFamily="18" charset="0"/>
                      </a:rPr>
                      <m:t>𝜏</m:t>
                    </m:r>
                    <m:r>
                      <a:rPr lang="en-US" altLang="zh-CN" sz="2000" b="0" i="1" smtClean="0">
                        <a:solidFill>
                          <a:srgbClr val="000000"/>
                        </a:solidFill>
                        <a:latin typeface="Cambria Math" panose="02040503050406030204" pitchFamily="18" charset="0"/>
                        <a:ea typeface="+mn-ea"/>
                        <a:cs typeface="Times New Roman" panose="02020503050405090304" pitchFamily="18" charset="0"/>
                      </a:rPr>
                      <m:t> </m:t>
                    </m:r>
                    <m:r>
                      <a:rPr lang="zh-CN" altLang="en-US" sz="2000" i="1">
                        <a:solidFill>
                          <a:srgbClr val="000000"/>
                        </a:solidFill>
                        <a:latin typeface="Cambria Math" panose="02040503050406030204" pitchFamily="18" charset="0"/>
                        <a:ea typeface="+mn-ea"/>
                        <a:cs typeface="Times New Roman" panose="02020503050405090304" pitchFamily="18" charset="0"/>
                      </a:rPr>
                      <m:t>内</m:t>
                    </m:r>
                  </m:oMath>
                </a14:m>
                <a:r>
                  <a:rPr lang="zh-CN" altLang="zh-CN" sz="2000" dirty="0">
                    <a:solidFill>
                      <a:srgbClr val="000000"/>
                    </a:solidFill>
                    <a:effectLst/>
                    <a:latin typeface="+mn-lt"/>
                    <a:ea typeface="+mn-ea"/>
                    <a:cs typeface="宋体" pitchFamily="2" charset="-122"/>
                  </a:rPr>
                  <a:t>给出</a:t>
                </a:r>
                <a:r>
                  <a:rPr lang="en-US" altLang="zh-CN" sz="2000" dirty="0">
                    <a:solidFill>
                      <a:srgbClr val="000000"/>
                    </a:solidFill>
                    <a:effectLst/>
                    <a:latin typeface="+mn-lt"/>
                    <a:ea typeface="+mn-ea"/>
                    <a:cs typeface="宋体" pitchFamily="2" charset="-122"/>
                  </a:rPr>
                  <a:t>ECDH</a:t>
                </a:r>
                <a:r>
                  <a:rPr lang="zh-CN" altLang="zh-CN" sz="2000" dirty="0">
                    <a:solidFill>
                      <a:srgbClr val="000000"/>
                    </a:solidFill>
                    <a:effectLst/>
                    <a:latin typeface="+mn-lt"/>
                    <a:ea typeface="+mn-ea"/>
                    <a:cs typeface="宋体" pitchFamily="2" charset="-122"/>
                  </a:rPr>
                  <a:t>问题实例的解，其中</a:t>
                </a:r>
                <a:r>
                  <a:rPr lang="zh-CN" altLang="en-US" sz="2000" dirty="0">
                    <a:solidFill>
                      <a:srgbClr val="000000"/>
                    </a:solidFill>
                    <a:effectLst/>
                    <a:latin typeface="+mn-lt"/>
                    <a:ea typeface="+mn-ea"/>
                    <a:cs typeface="宋体" pitchFamily="2" charset="-122"/>
                  </a:rPr>
                  <a:t>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宋体" pitchFamily="2" charset="-122"/>
                          </a:rPr>
                          <m:t>𝑞</m:t>
                        </m:r>
                      </m:e>
                      <m:sub>
                        <m:r>
                          <a:rPr lang="en-US" altLang="zh-CN" sz="2000" b="0" i="1" smtClean="0">
                            <a:solidFill>
                              <a:srgbClr val="000000"/>
                            </a:solidFill>
                            <a:latin typeface="Cambria Math" panose="02040503050406030204" pitchFamily="18" charset="0"/>
                            <a:cs typeface="宋体" pitchFamily="2" charset="-122"/>
                          </a:rPr>
                          <m:t>𝐾</m:t>
                        </m:r>
                      </m:sub>
                    </m:sSub>
                  </m:oMath>
                </a14:m>
                <a:r>
                  <a:rPr lang="en-US" altLang="zh-CN" sz="2000" dirty="0">
                    <a:solidFill>
                      <a:srgbClr val="000000"/>
                    </a:solidFill>
                    <a:cs typeface="宋体" pitchFamily="2" charset="-122"/>
                  </a:rPr>
                  <a:t> </a:t>
                </a:r>
                <a:r>
                  <a:rPr lang="zh-CN" altLang="zh-CN" sz="2000" dirty="0">
                    <a:solidFill>
                      <a:srgbClr val="000000"/>
                    </a:solidFill>
                    <a:cs typeface="宋体" pitchFamily="2" charset="-122"/>
                  </a:rPr>
                  <a:t>为</a:t>
                </a:r>
                <a:r>
                  <a:rPr lang="en-US" altLang="zh-CN" sz="2000" dirty="0">
                    <a:solidFill>
                      <a:srgbClr val="000000"/>
                    </a:solidFill>
                    <a:cs typeface="宋体" pitchFamily="2" charset="-122"/>
                  </a:rPr>
                  <a:t>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r>
                      <a:rPr lang="en-US" altLang="zh-CN" sz="2000" i="1" smtClean="0">
                        <a:solidFill>
                          <a:srgbClr val="000000"/>
                        </a:solidFill>
                        <a:latin typeface="Cambria Math" panose="02040503050406030204" pitchFamily="18" charset="0"/>
                        <a:cs typeface="宋体" pitchFamily="2" charset="-122"/>
                      </a:rPr>
                      <m:t> </m:t>
                    </m:r>
                  </m:oMath>
                </a14:m>
                <a:r>
                  <a:rPr lang="zh-CN" altLang="zh-CN" sz="2000" dirty="0">
                    <a:solidFill>
                      <a:srgbClr val="000000"/>
                    </a:solidFill>
                    <a:cs typeface="宋体" pitchFamily="2" charset="-122"/>
                  </a:rPr>
                  <a:t>访问</a:t>
                </a:r>
                <a:r>
                  <a:rPr lang="zh-CN" altLang="en-US" sz="2000" dirty="0"/>
                  <a:t>被视为随机预 言机的密钥派生函数的总次数</a:t>
                </a:r>
                <a14:m>
                  <m:oMath xmlns:m="http://schemas.openxmlformats.org/officeDocument/2006/math">
                    <m:r>
                      <a:rPr lang="zh-CN" altLang="en-US" sz="2000">
                        <a:solidFill>
                          <a:srgbClr val="000000"/>
                        </a:solidFill>
                        <a:latin typeface="Cambria Math" panose="02040503050406030204" pitchFamily="18" charset="0"/>
                        <a:ea typeface="+mn-ea"/>
                        <a:cs typeface="Times New Roman" panose="02020503050405090304" pitchFamily="18" charset="0"/>
                      </a:rPr>
                      <m:t>，</m:t>
                    </m:r>
                    <m:sSub>
                      <m:sSubPr>
                        <m:ctrlPr>
                          <a:rPr lang="zh-CN" altLang="zh-CN" sz="20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2000" i="1">
                            <a:solidFill>
                              <a:srgbClr val="000000"/>
                            </a:solidFill>
                            <a:effectLst/>
                            <a:latin typeface="Cambria Math" panose="02040503050406030204" pitchFamily="18" charset="0"/>
                            <a:ea typeface="+mn-ea"/>
                            <a:cs typeface="宋体" pitchFamily="2" charset="-122"/>
                          </a:rPr>
                          <m:t>𝑞</m:t>
                        </m:r>
                      </m:e>
                      <m:sub>
                        <m:r>
                          <a:rPr lang="en-US" altLang="zh-CN" sz="2000" i="1">
                            <a:solidFill>
                              <a:srgbClr val="000000"/>
                            </a:solidFill>
                            <a:effectLst/>
                            <a:latin typeface="Cambria Math" panose="02040503050406030204" pitchFamily="18" charset="0"/>
                            <a:ea typeface="+mn-ea"/>
                            <a:cs typeface="宋体" pitchFamily="2" charset="-122"/>
                          </a:rPr>
                          <m:t>𝐻</m:t>
                        </m:r>
                      </m:sub>
                    </m:sSub>
                  </m:oMath>
                </a14:m>
                <a:r>
                  <a:rPr lang="en-US" altLang="zh-CN" sz="2000" dirty="0">
                    <a:solidFill>
                      <a:srgbClr val="000000"/>
                    </a:solidFill>
                    <a:effectLst/>
                    <a:latin typeface="+mn-lt"/>
                    <a:ea typeface="+mn-ea"/>
                    <a:cs typeface="宋体" pitchFamily="2" charset="-122"/>
                  </a:rPr>
                  <a:t> </a:t>
                </a:r>
                <a:r>
                  <a:rPr lang="zh-CN" altLang="zh-CN" sz="2000" dirty="0">
                    <a:solidFill>
                      <a:srgbClr val="000000"/>
                    </a:solidFill>
                    <a:effectLst/>
                    <a:latin typeface="+mn-lt"/>
                    <a:ea typeface="+mn-ea"/>
                    <a:cs typeface="宋体" pitchFamily="2" charset="-122"/>
                  </a:rPr>
                  <a:t>为</a:t>
                </a:r>
                <a:r>
                  <a:rPr lang="en-US" altLang="zh-CN" sz="2000" dirty="0">
                    <a:solidFill>
                      <a:srgbClr val="000000"/>
                    </a:solidFill>
                    <a:effectLst/>
                    <a:latin typeface="+mn-lt"/>
                    <a:ea typeface="+mn-ea"/>
                    <a:cs typeface="宋体" pitchFamily="2" charset="-122"/>
                  </a:rPr>
                  <a:t> </a:t>
                </a:r>
                <a14:m>
                  <m:oMath xmlns:m="http://schemas.openxmlformats.org/officeDocument/2006/math">
                    <m:r>
                      <a:rPr lang="en-US" altLang="zh-CN" sz="2000" i="1">
                        <a:solidFill>
                          <a:srgbClr val="000000"/>
                        </a:solidFill>
                        <a:effectLst/>
                        <a:latin typeface="Cambria Math" panose="02040503050406030204" pitchFamily="18" charset="0"/>
                        <a:ea typeface="+mn-ea"/>
                        <a:cs typeface="宋体" pitchFamily="2" charset="-122"/>
                      </a:rPr>
                      <m:t>𝒜</m:t>
                    </m:r>
                    <m:r>
                      <a:rPr lang="en-US" altLang="zh-CN" sz="2000" b="0" i="1" smtClean="0">
                        <a:solidFill>
                          <a:srgbClr val="000000"/>
                        </a:solidFill>
                        <a:effectLst/>
                        <a:latin typeface="Cambria Math" panose="02040503050406030204" pitchFamily="18" charset="0"/>
                        <a:ea typeface="+mn-ea"/>
                        <a:cs typeface="宋体" pitchFamily="2" charset="-122"/>
                      </a:rPr>
                      <m:t> </m:t>
                    </m:r>
                  </m:oMath>
                </a14:m>
                <a:r>
                  <a:rPr lang="zh-CN" altLang="zh-CN" sz="2000" dirty="0">
                    <a:solidFill>
                      <a:srgbClr val="000000"/>
                    </a:solidFill>
                    <a:effectLst/>
                    <a:latin typeface="+mn-lt"/>
                    <a:ea typeface="+mn-ea"/>
                    <a:cs typeface="宋体" pitchFamily="2" charset="-122"/>
                  </a:rPr>
                  <a:t>访问</a:t>
                </a:r>
                <a:r>
                  <a:rPr lang="zh-CN" altLang="en-US" sz="2000" dirty="0">
                    <a:solidFill>
                      <a:srgbClr val="000000"/>
                    </a:solidFill>
                    <a:effectLst/>
                    <a:latin typeface="+mn-lt"/>
                    <a:ea typeface="+mn-ea"/>
                    <a:cs typeface="宋体" pitchFamily="2" charset="-122"/>
                  </a:rPr>
                  <a:t>随机</a:t>
                </a:r>
                <a:r>
                  <a:rPr lang="zh-CN" altLang="zh-CN" sz="2000" dirty="0">
                    <a:solidFill>
                      <a:srgbClr val="000000"/>
                    </a:solidFill>
                    <a:effectLst/>
                    <a:latin typeface="+mn-lt"/>
                    <a:ea typeface="+mn-ea"/>
                    <a:cs typeface="宋体" pitchFamily="2" charset="-122"/>
                  </a:rPr>
                  <a:t>预言机的总次数</a:t>
                </a:r>
                <a:r>
                  <a:rPr lang="zh-CN" altLang="en-US" sz="2000" dirty="0">
                    <a:solidFill>
                      <a:srgbClr val="000000"/>
                    </a:solidFill>
                    <a:latin typeface="+mn-lt"/>
                    <a:ea typeface="+mn-ea"/>
                    <a:cs typeface="宋体" pitchFamily="2" charset="-122"/>
                  </a:rPr>
                  <a:t>，</a:t>
                </a:r>
                <a:r>
                  <a:rPr lang="zh-CN" altLang="zh-CN" sz="2000" dirty="0">
                    <a:solidFill>
                      <a:srgbClr val="000000"/>
                    </a:solidFill>
                    <a:cs typeface="Times New Roman" panose="02020503050405090304" pitchFamily="18" charset="0"/>
                  </a:rPr>
                  <a:t> </a:t>
                </a:r>
                <a14:m>
                  <m:oMath xmlns:m="http://schemas.openxmlformats.org/officeDocument/2006/math">
                    <m:sSub>
                      <m:sSubPr>
                        <m:ctrlPr>
                          <a:rPr lang="zh-CN" altLang="zh-CN" sz="2000" i="1">
                            <a:solidFill>
                              <a:srgbClr val="000000"/>
                            </a:solidFill>
                            <a:latin typeface="Cambria Math" panose="02040503050406030204" pitchFamily="18" charset="0"/>
                            <a:cs typeface="Times New Roman" panose="02020503050405090304" pitchFamily="18" charset="0"/>
                          </a:rPr>
                        </m:ctrlPr>
                      </m:sSubPr>
                      <m:e>
                        <m:r>
                          <a:rPr lang="en-US" altLang="zh-CN" sz="2000" i="1">
                            <a:solidFill>
                              <a:srgbClr val="000000"/>
                            </a:solidFill>
                            <a:latin typeface="Cambria Math" panose="02040503050406030204" pitchFamily="18" charset="0"/>
                            <a:cs typeface="宋体" pitchFamily="2" charset="-122"/>
                          </a:rPr>
                          <m:t>𝑞</m:t>
                        </m:r>
                      </m:e>
                      <m:sub>
                        <m:r>
                          <a:rPr lang="en-US" altLang="zh-CN" sz="2000" i="1">
                            <a:solidFill>
                              <a:srgbClr val="000000"/>
                            </a:solidFill>
                            <a:latin typeface="Cambria Math" panose="02040503050406030204" pitchFamily="18" charset="0"/>
                            <a:cs typeface="宋体" pitchFamily="2" charset="-122"/>
                          </a:rPr>
                          <m:t>𝐷</m:t>
                        </m:r>
                      </m:sub>
                    </m:sSub>
                  </m:oMath>
                </a14:m>
                <a:r>
                  <a:rPr lang="en-US" altLang="zh-CN" sz="2000" dirty="0">
                    <a:solidFill>
                      <a:srgbClr val="000000"/>
                    </a:solidFill>
                    <a:cs typeface="宋体" pitchFamily="2" charset="-122"/>
                  </a:rPr>
                  <a:t> </a:t>
                </a:r>
                <a:r>
                  <a:rPr lang="zh-CN" altLang="zh-CN" sz="2000" dirty="0">
                    <a:solidFill>
                      <a:srgbClr val="000000"/>
                    </a:solidFill>
                    <a:cs typeface="宋体" pitchFamily="2" charset="-122"/>
                  </a:rPr>
                  <a:t>为</a:t>
                </a:r>
                <a:r>
                  <a:rPr lang="en-US" altLang="zh-CN" sz="2000" dirty="0">
                    <a:solidFill>
                      <a:srgbClr val="000000"/>
                    </a:solidFill>
                    <a:cs typeface="宋体" pitchFamily="2" charset="-122"/>
                  </a:rPr>
                  <a:t> </a:t>
                </a:r>
                <a14:m>
                  <m:oMath xmlns:m="http://schemas.openxmlformats.org/officeDocument/2006/math">
                    <m:r>
                      <a:rPr lang="en-US" altLang="zh-CN" sz="2000" i="1">
                        <a:solidFill>
                          <a:srgbClr val="000000"/>
                        </a:solidFill>
                        <a:latin typeface="Cambria Math" panose="02040503050406030204" pitchFamily="18" charset="0"/>
                        <a:cs typeface="宋体" pitchFamily="2" charset="-122"/>
                      </a:rPr>
                      <m:t>𝒜</m:t>
                    </m:r>
                    <m:r>
                      <a:rPr lang="en-US" altLang="zh-CN" sz="2000" i="1">
                        <a:solidFill>
                          <a:srgbClr val="000000"/>
                        </a:solidFill>
                        <a:latin typeface="Cambria Math" panose="02040503050406030204" pitchFamily="18" charset="0"/>
                        <a:cs typeface="宋体" pitchFamily="2" charset="-122"/>
                      </a:rPr>
                      <m:t> </m:t>
                    </m:r>
                  </m:oMath>
                </a14:m>
                <a:r>
                  <a:rPr lang="zh-CN" altLang="en-US" sz="2000" dirty="0"/>
                  <a:t>发起解密预言机问询的总次数，</a:t>
                </a:r>
                <a14:m>
                  <m:oMath xmlns:m="http://schemas.openxmlformats.org/officeDocument/2006/math">
                    <m:r>
                      <a:rPr lang="en-US" altLang="zh-CN" sz="2000">
                        <a:solidFill>
                          <a:srgbClr val="000000"/>
                        </a:solidFill>
                        <a:latin typeface="Cambria Math" panose="02040503050406030204" pitchFamily="18" charset="0"/>
                        <a:ea typeface="+mn-ea"/>
                        <a:cs typeface="宋体" pitchFamily="2" charset="-122"/>
                      </a:rPr>
                      <m:t>𝜏</m:t>
                    </m:r>
                  </m:oMath>
                </a14:m>
                <a:r>
                  <a:rPr lang="en-US" altLang="zh-CN" sz="2000" dirty="0">
                    <a:solidFill>
                      <a:srgbClr val="000000"/>
                    </a:solidFill>
                    <a:latin typeface="+mn-lt"/>
                    <a:ea typeface="+mn-ea"/>
                    <a:cs typeface="宋体" pitchFamily="2" charset="-122"/>
                  </a:rPr>
                  <a:t> </a:t>
                </a:r>
                <a:r>
                  <a:rPr lang="zh-CN" altLang="en-US" sz="2000" dirty="0">
                    <a:solidFill>
                      <a:srgbClr val="000000"/>
                    </a:solidFill>
                    <a:latin typeface="+mn-lt"/>
                    <a:ea typeface="+mn-ea"/>
                    <a:cs typeface="宋体" pitchFamily="2" charset="-122"/>
                  </a:rPr>
                  <a:t>为单位时间（这里我们假设</a:t>
                </a:r>
                <a:r>
                  <a:rPr lang="zh-CN" altLang="en-US" sz="2000" dirty="0"/>
                  <a:t>除倍点运算外所有其他操作都花费单位时间</a:t>
                </a:r>
                <a14:m>
                  <m:oMath xmlns:m="http://schemas.openxmlformats.org/officeDocument/2006/math">
                    <m:r>
                      <a:rPr lang="en-US" altLang="zh-CN" sz="2000">
                        <a:solidFill>
                          <a:srgbClr val="000000"/>
                        </a:solidFill>
                        <a:latin typeface="Cambria Math" panose="02040503050406030204" pitchFamily="18" charset="0"/>
                        <a:ea typeface="+mn-ea"/>
                        <a:cs typeface="宋体" pitchFamily="2" charset="-122"/>
                      </a:rPr>
                      <m:t>𝜏</m:t>
                    </m:r>
                  </m:oMath>
                </a14:m>
                <a:r>
                  <a:rPr lang="zh-CN" altLang="en-US" sz="2000" dirty="0">
                    <a:solidFill>
                      <a:srgbClr val="000000"/>
                    </a:solidFill>
                    <a:latin typeface="+mn-lt"/>
                    <a:ea typeface="+mn-ea"/>
                    <a:cs typeface="宋体" pitchFamily="2" charset="-122"/>
                  </a:rPr>
                  <a:t>）。因</a:t>
                </a:r>
                <a:r>
                  <a:rPr lang="en-US" altLang="zh-CN" sz="2000" dirty="0">
                    <a:solidFill>
                      <a:srgbClr val="000000"/>
                    </a:solidFill>
                    <a:latin typeface="+mn-lt"/>
                    <a:ea typeface="+mn-ea"/>
                    <a:cs typeface="宋体" pitchFamily="2" charset="-122"/>
                  </a:rPr>
                  <a:t> E</a:t>
                </a:r>
                <a:r>
                  <a:rPr lang="en-GB" altLang="zh-CN" sz="2000" dirty="0">
                    <a:solidFill>
                      <a:srgbClr val="000000"/>
                    </a:solidFill>
                    <a:latin typeface="+mn-lt"/>
                    <a:ea typeface="+mn-ea"/>
                    <a:cs typeface="宋体" pitchFamily="2" charset="-122"/>
                  </a:rPr>
                  <a:t>CDH </a:t>
                </a:r>
                <a:r>
                  <a:rPr lang="zh-CN" altLang="en-US" sz="2000" dirty="0">
                    <a:solidFill>
                      <a:srgbClr val="000000"/>
                    </a:solidFill>
                    <a:latin typeface="+mn-lt"/>
                    <a:ea typeface="+mn-ea"/>
                    <a:cs typeface="宋体" pitchFamily="2" charset="-122"/>
                  </a:rPr>
                  <a:t>问题是困难的，从而我们可推导出</a:t>
                </a:r>
                <a14:m>
                  <m:oMath xmlns:m="http://schemas.openxmlformats.org/officeDocument/2006/math">
                    <m:sSubSup>
                      <m:sSubSupPr>
                        <m:ctrlPr>
                          <a:rPr lang="en-US" altLang="zh-CN" sz="2000" i="1" dirty="0">
                            <a:latin typeface="Cambria Math" panose="02040503050406030204" pitchFamily="18" charset="0"/>
                          </a:rPr>
                        </m:ctrlPr>
                      </m:sSubSupPr>
                      <m:e>
                        <m:r>
                          <m:rPr>
                            <m:sty m:val="p"/>
                          </m:rPr>
                          <a:rPr lang="en-US" altLang="zh-CN" sz="2000" dirty="0">
                            <a:latin typeface="Cambria Math" panose="02040503050406030204" pitchFamily="18" charset="0"/>
                          </a:rPr>
                          <m:t>Adv</m:t>
                        </m:r>
                      </m:e>
                      <m:sub>
                        <m:r>
                          <a:rPr lang="zh-CN" altLang="en-US" sz="2000">
                            <a:latin typeface="Cambria Math" panose="02040503050406030204" pitchFamily="18" charset="0"/>
                          </a:rPr>
                          <m:t>𝒜</m:t>
                        </m:r>
                      </m:sub>
                      <m:sup>
                        <m:r>
                          <m:rPr>
                            <m:sty m:val="p"/>
                          </m:rPr>
                          <a:rPr lang="en-US" altLang="zh-CN" sz="2000" dirty="0">
                            <a:latin typeface="Cambria Math" panose="02040503050406030204" pitchFamily="18" charset="0"/>
                          </a:rPr>
                          <m:t>CCA</m:t>
                        </m:r>
                        <m:r>
                          <a:rPr lang="en-US" altLang="zh-CN" sz="2000" dirty="0">
                            <a:latin typeface="Cambria Math" panose="02040503050406030204" pitchFamily="18" charset="0"/>
                          </a:rPr>
                          <m:t>2</m:t>
                        </m:r>
                      </m:sup>
                    </m:sSubSup>
                  </m:oMath>
                </a14:m>
                <a:r>
                  <a:rPr lang="zh-CN" altLang="en-US" sz="2000" dirty="0">
                    <a:solidFill>
                      <a:srgbClr val="000000"/>
                    </a:solidFill>
                    <a:latin typeface="+mn-lt"/>
                    <a:ea typeface="+mn-ea"/>
                    <a:cs typeface="宋体" pitchFamily="2" charset="-122"/>
                  </a:rPr>
                  <a:t>是可忽略的，即</a:t>
                </a:r>
                <a:r>
                  <a:rPr lang="en-GB" altLang="zh-CN" sz="2000" dirty="0">
                    <a:solidFill>
                      <a:srgbClr val="000000"/>
                    </a:solidFill>
                    <a:latin typeface="+mn-lt"/>
                    <a:ea typeface="+mn-ea"/>
                    <a:cs typeface="宋体" pitchFamily="2" charset="-122"/>
                  </a:rPr>
                  <a:t>SM2 </a:t>
                </a:r>
                <a:r>
                  <a:rPr lang="zh-CN" altLang="en-US" sz="2000" dirty="0">
                    <a:solidFill>
                      <a:srgbClr val="000000"/>
                    </a:solidFill>
                    <a:latin typeface="+mn-lt"/>
                    <a:ea typeface="+mn-ea"/>
                    <a:cs typeface="宋体" pitchFamily="2" charset="-122"/>
                  </a:rPr>
                  <a:t>公钥加密方案在随机预言机模型下满足 </a:t>
                </a:r>
                <a:r>
                  <a:rPr lang="en-GB" altLang="zh-CN" sz="2000" dirty="0">
                    <a:solidFill>
                      <a:srgbClr val="000000"/>
                    </a:solidFill>
                    <a:cs typeface="Times New Roman" panose="02020503050405090304" pitchFamily="18" charset="0"/>
                  </a:rPr>
                  <a:t>IND-CCA</a:t>
                </a:r>
                <a:r>
                  <a:rPr lang="en-US" altLang="zh-CN" sz="2000" dirty="0">
                    <a:solidFill>
                      <a:srgbClr val="000000"/>
                    </a:solidFill>
                    <a:cs typeface="Times New Roman" panose="02020503050405090304" pitchFamily="18" charset="0"/>
                  </a:rPr>
                  <a:t>2</a:t>
                </a:r>
                <a:r>
                  <a:rPr lang="en-GB" altLang="zh-CN" sz="2000" dirty="0">
                    <a:solidFill>
                      <a:srgbClr val="000000"/>
                    </a:solidFill>
                    <a:latin typeface="+mn-lt"/>
                    <a:ea typeface="+mn-ea"/>
                    <a:cs typeface="宋体" pitchFamily="2" charset="-122"/>
                  </a:rPr>
                  <a:t> </a:t>
                </a:r>
                <a:r>
                  <a:rPr lang="zh-CN" altLang="en-US" sz="2000" dirty="0">
                    <a:solidFill>
                      <a:srgbClr val="000000"/>
                    </a:solidFill>
                    <a:latin typeface="+mn-lt"/>
                    <a:ea typeface="+mn-ea"/>
                    <a:cs typeface="宋体" pitchFamily="2" charset="-122"/>
                  </a:rPr>
                  <a:t>安全性要求。</a:t>
                </a:r>
                <a:endParaRPr lang="en-US" altLang="zh-CN" sz="2000" dirty="0">
                  <a:solidFill>
                    <a:srgbClr val="000000"/>
                  </a:solidFill>
                  <a:latin typeface="+mn-lt"/>
                  <a:ea typeface="+mn-ea"/>
                  <a:cs typeface="宋体" pitchFamily="2" charset="-122"/>
                </a:endParaRPr>
              </a:p>
              <a:p>
                <a:pPr algn="just">
                  <a:lnSpc>
                    <a:spcPct val="132000"/>
                  </a:lnSpc>
                </a:pPr>
                <a:r>
                  <a:rPr lang="zh-CN" altLang="en-US" b="1" dirty="0">
                    <a:solidFill>
                      <a:srgbClr val="000000"/>
                    </a:solidFill>
                    <a:latin typeface="+mn-lt"/>
                    <a:ea typeface="+mn-ea"/>
                    <a:cs typeface="宋体" pitchFamily="2" charset="-122"/>
                  </a:rPr>
                  <a:t> </a:t>
                </a:r>
                <a:endParaRPr lang="zh-CN" altLang="zh-CN" sz="2400" dirty="0">
                  <a:effectLst/>
                  <a:latin typeface="+mn-lt"/>
                  <a:ea typeface="DengXian" panose="02010600030101010101" pitchFamily="2" charset="-122"/>
                  <a:cs typeface="Times New Roman" panose="02020503050405090304" pitchFamily="18" charset="0"/>
                </a:endParaRPr>
              </a:p>
            </p:txBody>
          </p:sp>
        </mc:Choice>
        <mc:Fallback xmlns="">
          <p:sp>
            <p:nvSpPr>
              <p:cNvPr id="4" name="文本框 3">
                <a:extLst>
                  <a:ext uri="{FF2B5EF4-FFF2-40B4-BE49-F238E27FC236}">
                    <a16:creationId xmlns:a16="http://schemas.microsoft.com/office/drawing/2014/main" id="{3BAB6526-D85C-6F40-757F-FFA80423112D}"/>
                  </a:ext>
                </a:extLst>
              </p:cNvPr>
              <p:cNvSpPr txBox="1">
                <a:spLocks noRot="1" noChangeAspect="1" noMove="1" noResize="1" noEditPoints="1" noAdjustHandles="1" noChangeArrowheads="1" noChangeShapeType="1" noTextEdit="1"/>
              </p:cNvSpPr>
              <p:nvPr/>
            </p:nvSpPr>
            <p:spPr>
              <a:xfrm>
                <a:off x="754802" y="1813081"/>
                <a:ext cx="10690827" cy="3897349"/>
              </a:xfrm>
              <a:prstGeom prst="rect">
                <a:avLst/>
              </a:prstGeom>
              <a:blipFill>
                <a:blip r:embed="rId3"/>
                <a:stretch>
                  <a:fillRect l="-627" r="-570"/>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BC0B4D10-3A41-043D-0ECB-4ADD4E2EA82D}"/>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extLst>
      <p:ext uri="{BB962C8B-B14F-4D97-AF65-F5344CB8AC3E}">
        <p14:creationId xmlns:p14="http://schemas.microsoft.com/office/powerpoint/2010/main" val="4186020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12" name="文本框 11"/>
              <p:cNvSpPr txBox="1"/>
              <p:nvPr/>
            </p:nvSpPr>
            <p:spPr>
              <a:xfrm>
                <a:off x="381622" y="1262254"/>
                <a:ext cx="11183112" cy="5238422"/>
              </a:xfrm>
              <a:prstGeom prst="rect">
                <a:avLst/>
              </a:prstGeom>
              <a:noFill/>
            </p:spPr>
            <p:txBody>
              <a:bodyPr wrap="square">
                <a:spAutoFit/>
              </a:bodyPr>
              <a:lstStyle/>
              <a:p>
                <a:pPr algn="just">
                  <a:lnSpc>
                    <a:spcPct val="132000"/>
                  </a:lnSpc>
                </a:pPr>
                <a:r>
                  <a:rPr lang="zh-CN" altLang="zh-CN" sz="1800" b="1" dirty="0">
                    <a:solidFill>
                      <a:srgbClr val="000000"/>
                    </a:solidFill>
                    <a:effectLst/>
                    <a:latin typeface="+mn-lt"/>
                    <a:ea typeface="+mn-ea"/>
                    <a:cs typeface="Times New Roman" panose="02020503050405090304" pitchFamily="18" charset="0"/>
                  </a:rPr>
                  <a:t>证明：</a:t>
                </a:r>
                <a:r>
                  <a:rPr lang="zh-CN" altLang="en-US" sz="1800" dirty="0">
                    <a:solidFill>
                      <a:srgbClr val="000000"/>
                    </a:solidFill>
                    <a:effectLst/>
                    <a:latin typeface="+mn-lt"/>
                    <a:ea typeface="+mn-ea"/>
                    <a:cs typeface="Times New Roman" panose="02020503050405090304" pitchFamily="18" charset="0"/>
                  </a:rPr>
                  <a:t>假设</a:t>
                </a:r>
                <a:r>
                  <a:rPr lang="zh-CN" altLang="zh-CN" sz="1800" dirty="0">
                    <a:solidFill>
                      <a:srgbClr val="000000"/>
                    </a:solidFill>
                    <a:effectLst/>
                    <a:latin typeface="+mn-lt"/>
                    <a:ea typeface="+mn-ea"/>
                    <a:cs typeface="Times New Roman" panose="02020503050405090304" pitchFamily="18" charset="0"/>
                  </a:rPr>
                  <a:t>挑战者</a:t>
                </a:r>
                <a14:m>
                  <m:oMath xmlns:m="http://schemas.openxmlformats.org/officeDocument/2006/math">
                    <m:r>
                      <a:rPr lang="en-US" altLang="zh-CN" i="1">
                        <a:latin typeface="Cambria Math" panose="02040503050406030204" pitchFamily="18" charset="0"/>
                        <a:ea typeface="+mn-ea"/>
                      </a:rPr>
                      <m:t>ℬ</m:t>
                    </m:r>
                  </m:oMath>
                </a14:m>
                <a:r>
                  <a:rPr lang="zh-CN" altLang="zh-CN" sz="1800" dirty="0">
                    <a:solidFill>
                      <a:srgbClr val="000000"/>
                    </a:solidFill>
                    <a:effectLst/>
                    <a:latin typeface="+mn-lt"/>
                    <a:ea typeface="+mn-ea"/>
                    <a:cs typeface="Times New Roman" panose="02020503050405090304" pitchFamily="18" charset="0"/>
                  </a:rPr>
                  <a:t>被</a:t>
                </a:r>
                <a:r>
                  <a:rPr lang="zh-CN" altLang="en-US" dirty="0">
                    <a:solidFill>
                      <a:srgbClr val="000000"/>
                    </a:solidFill>
                    <a:latin typeface="+mn-lt"/>
                    <a:ea typeface="+mn-ea"/>
                    <a:cs typeface="Times New Roman" panose="02020503050405090304" pitchFamily="18" charset="0"/>
                  </a:rPr>
                  <a:t>给予</a:t>
                </a:r>
                <a:r>
                  <a:rPr lang="en-US" altLang="zh-CN" dirty="0">
                    <a:solidFill>
                      <a:srgbClr val="000000"/>
                    </a:solidFill>
                    <a:latin typeface="+mn-lt"/>
                    <a:ea typeface="+mn-ea"/>
                    <a:cs typeface="Times New Roman" panose="02020503050405090304" pitchFamily="18" charset="0"/>
                  </a:rPr>
                  <a:t>&lt;</a:t>
                </a:r>
                <a:r>
                  <a:rPr lang="en-US" altLang="zh-CN" i="1" dirty="0">
                    <a:solidFill>
                      <a:srgbClr val="000000"/>
                    </a:solidFill>
                    <a:latin typeface="+mn-lt"/>
                    <a:ea typeface="+mn-ea"/>
                    <a:cs typeface="Times New Roman" panose="02020503050405090304" pitchFamily="18" charset="0"/>
                  </a:rPr>
                  <a:t>G</a:t>
                </a:r>
                <a:r>
                  <a:rPr lang="en-US" altLang="zh-CN" dirty="0">
                    <a:solidFill>
                      <a:srgbClr val="000000"/>
                    </a:solidFill>
                    <a:latin typeface="+mn-lt"/>
                    <a:ea typeface="+mn-ea"/>
                    <a:cs typeface="Times New Roman" panose="02020503050405090304" pitchFamily="18" charset="0"/>
                  </a:rPr>
                  <a:t>&gt;</a:t>
                </a:r>
                <a:r>
                  <a:rPr lang="zh-CN" altLang="en-US" sz="1800" dirty="0">
                    <a:solidFill>
                      <a:srgbClr val="000000"/>
                    </a:solidFill>
                    <a:effectLst/>
                    <a:latin typeface="+mn-lt"/>
                    <a:ea typeface="+mn-ea"/>
                    <a:cs typeface="Times New Roman" panose="02020503050405090304" pitchFamily="18" charset="0"/>
                  </a:rPr>
                  <a:t>上</a:t>
                </a:r>
                <a:r>
                  <a:rPr lang="en-US" altLang="zh-CN" sz="1800" dirty="0">
                    <a:solidFill>
                      <a:srgbClr val="000000"/>
                    </a:solidFill>
                    <a:effectLst/>
                    <a:latin typeface="+mn-lt"/>
                    <a:ea typeface="+mn-ea"/>
                    <a:cs typeface="Times New Roman" panose="02020503050405090304" pitchFamily="18" charset="0"/>
                  </a:rPr>
                  <a:t>E</a:t>
                </a:r>
                <a:r>
                  <a:rPr lang="en-US" altLang="zh-CN" sz="1800" dirty="0">
                    <a:solidFill>
                      <a:srgbClr val="000000"/>
                    </a:solidFill>
                    <a:effectLst/>
                    <a:latin typeface="+mn-lt"/>
                    <a:ea typeface="+mn-ea"/>
                    <a:cs typeface="宋体" pitchFamily="2" charset="-122"/>
                  </a:rPr>
                  <a:t>CDH</a:t>
                </a:r>
                <a:r>
                  <a:rPr lang="zh-CN" altLang="zh-CN" sz="1800" dirty="0">
                    <a:solidFill>
                      <a:srgbClr val="000000"/>
                    </a:solidFill>
                    <a:effectLst/>
                    <a:latin typeface="+mn-lt"/>
                    <a:ea typeface="+mn-ea"/>
                    <a:cs typeface="Times New Roman" panose="02020503050405090304" pitchFamily="18" charset="0"/>
                  </a:rPr>
                  <a:t>问题实例</a:t>
                </a:r>
                <a14:m>
                  <m:oMath xmlns:m="http://schemas.openxmlformats.org/officeDocument/2006/math">
                    <m:r>
                      <m:rPr>
                        <m:nor/>
                      </m:rPr>
                      <a:rPr lang="en-US" altLang="zh-CN" dirty="0">
                        <a:latin typeface="DejaVu Math TeX Gyre" panose="02000503000000000000" charset="0"/>
                      </a:rPr>
                      <m:t>(</m:t>
                    </m:r>
                    <m:r>
                      <a:rPr lang="en-US" altLang="zh-CN" i="1" dirty="0">
                        <a:latin typeface="Cambria Math" panose="02040503050406030204" pitchFamily="18" charset="0"/>
                      </a:rPr>
                      <m:t>𝐺</m:t>
                    </m:r>
                    <m:r>
                      <a:rPr lang="en-US" altLang="zh-CN" dirty="0">
                        <a:latin typeface="Cambria Math" panose="02040503050406030204" pitchFamily="18" charset="0"/>
                      </a:rPr>
                      <m:t>,</m:t>
                    </m:r>
                    <m:r>
                      <a:rPr lang="en-US" altLang="zh-CN"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i="1" dirty="0">
                        <a:latin typeface="Cambria Math" panose="02040503050406030204" pitchFamily="18" charset="0"/>
                      </a:rPr>
                      <m:t>𝐺</m:t>
                    </m:r>
                    <m:r>
                      <a:rPr lang="en-US" altLang="zh-CN" dirty="0">
                        <a:latin typeface="Cambria Math" panose="02040503050406030204" pitchFamily="18" charset="0"/>
                      </a:rPr>
                      <m:t>,</m:t>
                    </m:r>
                    <m:r>
                      <a:rPr lang="en-US" altLang="zh-CN"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r>
                      <a:rPr lang="en-US" altLang="zh-CN" i="1">
                        <a:latin typeface="Cambria Math" panose="02040503050406030204" pitchFamily="18" charset="0"/>
                        <a:ea typeface="Cambria Math" panose="02040503050406030204" pitchFamily="18" charset="0"/>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接下来</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我们在安全模型</m:t>
                    </m:r>
                    <m:r>
                      <a:rPr lang="zh-CN" altLang="en-US" i="1">
                        <a:solidFill>
                          <a:srgbClr val="000000"/>
                        </a:solidFill>
                        <a:latin typeface="Cambria Math" panose="02040503050406030204" pitchFamily="18" charset="0"/>
                        <a:ea typeface="+mn-ea"/>
                        <a:cs typeface="Times New Roman" panose="02020503050405090304" pitchFamily="18" charset="0"/>
                      </a:rPr>
                      <m:t> </m:t>
                    </m:r>
                    <m:r>
                      <m:rPr>
                        <m:sty m:val="p"/>
                      </m:rPr>
                      <a:rPr lang="en-GB" altLang="zh-CN" i="0">
                        <a:solidFill>
                          <a:srgbClr val="000000"/>
                        </a:solidFill>
                        <a:latin typeface="Cambria Math" panose="02040503050406030204" pitchFamily="18" charset="0"/>
                        <a:ea typeface="+mn-ea"/>
                        <a:cs typeface="Times New Roman" panose="02020503050405090304" pitchFamily="18" charset="0"/>
                      </a:rPr>
                      <m:t>IND</m:t>
                    </m:r>
                    <m:r>
                      <a:rPr lang="en-GB" altLang="zh-CN" i="0">
                        <a:solidFill>
                          <a:srgbClr val="000000"/>
                        </a:solidFill>
                        <a:latin typeface="Cambria Math" panose="02040503050406030204" pitchFamily="18" charset="0"/>
                        <a:ea typeface="+mn-ea"/>
                        <a:cs typeface="Times New Roman" panose="02020503050405090304" pitchFamily="18" charset="0"/>
                      </a:rPr>
                      <m:t>−</m:t>
                    </m:r>
                    <m:r>
                      <m:rPr>
                        <m:sty m:val="p"/>
                      </m:rPr>
                      <a:rPr lang="en-GB" altLang="zh-CN" i="0">
                        <a:solidFill>
                          <a:srgbClr val="000000"/>
                        </a:solidFill>
                        <a:latin typeface="Cambria Math" panose="02040503050406030204" pitchFamily="18" charset="0"/>
                        <a:ea typeface="+mn-ea"/>
                        <a:cs typeface="Times New Roman" panose="02020503050405090304" pitchFamily="18" charset="0"/>
                      </a:rPr>
                      <m:t>CCA</m:t>
                    </m:r>
                    <m:r>
                      <a:rPr lang="en-US" altLang="zh-CN" b="0" i="0" smtClean="0">
                        <a:solidFill>
                          <a:srgbClr val="000000"/>
                        </a:solidFill>
                        <a:latin typeface="Cambria Math" panose="02040503050406030204" pitchFamily="18" charset="0"/>
                        <a:ea typeface="+mn-ea"/>
                        <a:cs typeface="Times New Roman" panose="02020503050405090304" pitchFamily="18" charset="0"/>
                      </a:rPr>
                      <m:t>2</m:t>
                    </m:r>
                    <m:r>
                      <a:rPr lang="en-US" altLang="zh-CN" b="0" i="0" smtClean="0">
                        <a:solidFill>
                          <a:srgbClr val="000000"/>
                        </a:solidFill>
                        <a:latin typeface="Cambria Math" panose="02040503050406030204" pitchFamily="18" charset="0"/>
                        <a:ea typeface="+mn-ea"/>
                        <a:cs typeface="Times New Roman" panose="02020503050405090304" pitchFamily="18" charset="0"/>
                      </a:rPr>
                      <m:t> </m:t>
                    </m:r>
                    <m:r>
                      <a:rPr lang="zh-CN" altLang="en-US" i="1">
                        <a:solidFill>
                          <a:srgbClr val="000000"/>
                        </a:solidFill>
                        <a:latin typeface="Cambria Math" panose="02040503050406030204" pitchFamily="18" charset="0"/>
                        <a:ea typeface="+mn-ea"/>
                        <a:cs typeface="Times New Roman" panose="02020503050405090304" pitchFamily="18" charset="0"/>
                      </a:rPr>
                      <m:t>下证明该定理</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注意</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这里</m:t>
                    </m:r>
                    <m:r>
                      <a:rPr lang="en-US" altLang="zh-CN" i="1">
                        <a:latin typeface="Cambria Math" panose="02040503050406030204" pitchFamily="18" charset="0"/>
                        <a:ea typeface="+mn-ea"/>
                      </a:rPr>
                      <m:t>ℬ</m:t>
                    </m:r>
                    <m:r>
                      <a:rPr lang="zh-CN" altLang="en-US" i="1">
                        <a:solidFill>
                          <a:srgbClr val="000000"/>
                        </a:solidFill>
                        <a:latin typeface="Cambria Math" panose="02040503050406030204" pitchFamily="18" charset="0"/>
                        <a:ea typeface="+mn-ea"/>
                        <a:cs typeface="Times New Roman" panose="02020503050405090304" pitchFamily="18" charset="0"/>
                      </a:rPr>
                      <m:t>需要将</m:t>
                    </m:r>
                    <m:r>
                      <m:rPr>
                        <m:nor/>
                      </m:rPr>
                      <a:rPr lang="en-US" altLang="zh-CN" dirty="0">
                        <a:solidFill>
                          <a:srgbClr val="000000"/>
                        </a:solidFill>
                        <a:latin typeface="DejaVu Math TeX Gyre" panose="02000503000000000000" charset="0"/>
                        <a:cs typeface="Times New Roman" panose="02020503050405090304" pitchFamily="18" charset="0"/>
                      </a:rPr>
                      <m:t>E</m:t>
                    </m:r>
                    <m:r>
                      <m:rPr>
                        <m:nor/>
                      </m:rPr>
                      <a:rPr lang="en-US" altLang="zh-CN" dirty="0">
                        <a:solidFill>
                          <a:srgbClr val="000000"/>
                        </a:solidFill>
                        <a:latin typeface="DejaVu Math TeX Gyre" panose="02000503000000000000" charset="0"/>
                        <a:cs typeface="宋体" pitchFamily="2" charset="-122"/>
                      </a:rPr>
                      <m:t>CDH</m:t>
                    </m:r>
                    <m:r>
                      <a:rPr lang="zh-CN" altLang="en-US" i="1">
                        <a:solidFill>
                          <a:srgbClr val="000000"/>
                        </a:solidFill>
                        <a:latin typeface="Cambria Math" panose="02040503050406030204" pitchFamily="18" charset="0"/>
                        <a:ea typeface="+mn-ea"/>
                        <a:cs typeface="Times New Roman" panose="02020503050405090304" pitchFamily="18" charset="0"/>
                      </a:rPr>
                      <m:t>问题实例嵌入整个证明过程</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并使得挑战密文需要包含这个</m:t>
                    </m:r>
                    <m:r>
                      <m:rPr>
                        <m:nor/>
                      </m:rPr>
                      <a:rPr lang="en-US" altLang="zh-CN" dirty="0">
                        <a:solidFill>
                          <a:srgbClr val="000000"/>
                        </a:solidFill>
                        <a:latin typeface="DejaVu Math TeX Gyre" panose="02000503000000000000" charset="0"/>
                        <a:cs typeface="Times New Roman" panose="02020503050405090304" pitchFamily="18" charset="0"/>
                      </a:rPr>
                      <m:t>E</m:t>
                    </m:r>
                    <m:r>
                      <m:rPr>
                        <m:nor/>
                      </m:rPr>
                      <a:rPr lang="en-US" altLang="zh-CN" dirty="0">
                        <a:solidFill>
                          <a:srgbClr val="000000"/>
                        </a:solidFill>
                        <a:latin typeface="DejaVu Math TeX Gyre" panose="02000503000000000000" charset="0"/>
                        <a:cs typeface="宋体" pitchFamily="2" charset="-122"/>
                      </a:rPr>
                      <m:t>CDH</m:t>
                    </m:r>
                    <m:r>
                      <a:rPr lang="en-US" altLang="zh-CN" b="0" i="1" dirty="0" smtClean="0">
                        <a:solidFill>
                          <a:srgbClr val="000000"/>
                        </a:solidFill>
                        <a:latin typeface="Cambria Math" panose="02040503050406030204" pitchFamily="18" charset="0"/>
                        <a:cs typeface="宋体" pitchFamily="2" charset="-122"/>
                      </a:rPr>
                      <m:t> </m:t>
                    </m:r>
                    <m:r>
                      <a:rPr lang="zh-CN" altLang="en-US" i="1">
                        <a:solidFill>
                          <a:srgbClr val="000000"/>
                        </a:solidFill>
                        <a:latin typeface="Cambria Math" panose="02040503050406030204" pitchFamily="18" charset="0"/>
                        <a:ea typeface="+mn-ea"/>
                        <a:cs typeface="Times New Roman" panose="02020503050405090304" pitchFamily="18" charset="0"/>
                      </a:rPr>
                      <m:t>问题实例的求解问题</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根据该模型</m:t>
                    </m:r>
                    <m:r>
                      <a:rPr lang="zh-CN" altLang="en-US" i="1">
                        <a:solidFill>
                          <a:srgbClr val="000000"/>
                        </a:solidFill>
                        <a:latin typeface="Cambria Math" panose="02040503050406030204" pitchFamily="18" charset="0"/>
                        <a:ea typeface="+mn-ea"/>
                        <a:cs typeface="Times New Roman" panose="02020503050405090304" pitchFamily="18" charset="0"/>
                      </a:rPr>
                      <m:t>，</m:t>
                    </m:r>
                    <m:r>
                      <a:rPr lang="zh-CN" altLang="en-US" i="1">
                        <a:solidFill>
                          <a:srgbClr val="000000"/>
                        </a:solidFill>
                        <a:latin typeface="Cambria Math" panose="02040503050406030204" pitchFamily="18" charset="0"/>
                        <a:ea typeface="+mn-ea"/>
                        <a:cs typeface="Times New Roman" panose="02020503050405090304" pitchFamily="18" charset="0"/>
                      </a:rPr>
                      <m:t>证明的整个过程分</m:t>
                    </m:r>
                    <m:r>
                      <a:rPr lang="zh-CN" altLang="en-US" i="1">
                        <a:solidFill>
                          <a:srgbClr val="000000"/>
                        </a:solidFill>
                        <a:latin typeface="Cambria Math" panose="02040503050406030204" pitchFamily="18" charset="0"/>
                        <a:ea typeface="+mn-ea"/>
                        <a:cs typeface="Times New Roman" panose="02020503050405090304" pitchFamily="18" charset="0"/>
                      </a:rPr>
                      <m:t> </m:t>
                    </m:r>
                    <m:r>
                      <a:rPr lang="zh-CN" altLang="en-US" i="1">
                        <a:solidFill>
                          <a:srgbClr val="000000"/>
                        </a:solidFill>
                        <a:latin typeface="Cambria Math" panose="02040503050406030204" pitchFamily="18" charset="0"/>
                        <a:ea typeface="+mn-ea"/>
                        <a:cs typeface="Times New Roman" panose="02020503050405090304" pitchFamily="18" charset="0"/>
                      </a:rPr>
                      <m:t>为如下几个阶段</m:t>
                    </m:r>
                    <m:r>
                      <a:rPr lang="zh-CN" altLang="en-US" i="1">
                        <a:solidFill>
                          <a:srgbClr val="000000"/>
                        </a:solidFill>
                        <a:latin typeface="Cambria Math" panose="02040503050406030204" pitchFamily="18" charset="0"/>
                        <a:ea typeface="+mn-ea"/>
                        <a:cs typeface="Times New Roman" panose="02020503050405090304" pitchFamily="18" charset="0"/>
                      </a:rPr>
                      <m:t>。</m:t>
                    </m:r>
                  </m:oMath>
                </a14:m>
                <a:endParaRPr lang="en-US" altLang="zh-CN" sz="1800" b="0" i="1" dirty="0">
                  <a:solidFill>
                    <a:srgbClr val="000000"/>
                  </a:solidFill>
                  <a:effectLst/>
                  <a:latin typeface="+mn-lt"/>
                  <a:ea typeface="+mn-ea"/>
                  <a:cs typeface="Times New Roman" panose="02020503050405090304" pitchFamily="18" charset="0"/>
                </a:endParaRPr>
              </a:p>
              <a:p>
                <a:pPr marL="342900" indent="-342900" algn="just">
                  <a:lnSpc>
                    <a:spcPct val="130000"/>
                  </a:lnSpc>
                  <a:spcBef>
                    <a:spcPts val="300"/>
                  </a:spcBef>
                  <a:spcAft>
                    <a:spcPts val="300"/>
                  </a:spcAft>
                  <a:buFont typeface="Wingdings" panose="05000000000000000000" pitchFamily="2" charset="2"/>
                  <a:buChar char=""/>
                </a:pPr>
                <a:r>
                  <a:rPr lang="zh-CN" altLang="zh-CN" sz="1800" b="1" dirty="0">
                    <a:solidFill>
                      <a:srgbClr val="000000"/>
                    </a:solidFill>
                    <a:effectLst/>
                    <a:latin typeface="+mn-lt"/>
                    <a:ea typeface="+mn-ea"/>
                    <a:cs typeface="Times New Roman" panose="02020503050405090304" pitchFamily="18" charset="0"/>
                  </a:rPr>
                  <a:t>初始化阶段：</a:t>
                </a:r>
                <a:r>
                  <a:rPr lang="en-US" altLang="zh-CN" dirty="0"/>
                  <a:t> </a:t>
                </a:r>
                <a14:m>
                  <m:oMath xmlns:m="http://schemas.openxmlformats.org/officeDocument/2006/math">
                    <m:r>
                      <a:rPr lang="en-US" altLang="zh-CN" i="1">
                        <a:latin typeface="Cambria Math" panose="02040503050406030204" pitchFamily="18" charset="0"/>
                      </a:rPr>
                      <m:t>ℬ</m:t>
                    </m:r>
                  </m:oMath>
                </a14:m>
                <a:r>
                  <a:rPr lang="zh-CN" altLang="en-US" dirty="0"/>
                  <a:t> 按照杂凑 </a:t>
                </a:r>
                <a:r>
                  <a:rPr lang="en-GB" altLang="zh-CN" dirty="0"/>
                  <a:t>SM2 </a:t>
                </a:r>
                <a:r>
                  <a:rPr lang="zh-CN" altLang="en-US" dirty="0"/>
                  <a:t>公钥加密方案的 </a:t>
                </a:r>
                <a14:m>
                  <m:oMath xmlns:m="http://schemas.openxmlformats.org/officeDocument/2006/math">
                    <m:r>
                      <m:rPr>
                        <m:nor/>
                      </m:rPr>
                      <a:rPr lang="en-US" altLang="zh-CN">
                        <a:solidFill>
                          <a:srgbClr val="000000"/>
                        </a:solidFill>
                        <a:latin typeface="Times New Roman" panose="02020503050405090304" pitchFamily="18" charset="0"/>
                        <a:cs typeface="Times New Roman" panose="02020503050405090304" pitchFamily="18" charset="0"/>
                      </a:rPr>
                      <m:t>Gen</m:t>
                    </m:r>
                    <m:r>
                      <m:rPr>
                        <m:nor/>
                      </m:rPr>
                      <a:rPr lang="en-US" altLang="zh-CN">
                        <a:solidFill>
                          <a:srgbClr val="000000"/>
                        </a:solidFill>
                        <a:latin typeface="Times New Roman" panose="02020503050405090304" pitchFamily="18" charset="0"/>
                        <a:cs typeface="Times New Roman" panose="02020503050405090304" pitchFamily="18" charset="0"/>
                      </a:rPr>
                      <m:t>(</m:t>
                    </m:r>
                    <m:r>
                      <m:rPr>
                        <m:nor/>
                      </m:rPr>
                      <a:rPr lang="zh-CN" altLang="zh-CN" dirty="0">
                        <a:latin typeface="Times New Roman" panose="02020503050405090304" pitchFamily="18" charset="0"/>
                        <a:cs typeface="Times New Roman" panose="02020503050405090304" pitchFamily="18" charset="0"/>
                      </a:rPr>
                      <m:t>λ</m:t>
                    </m:r>
                    <m:r>
                      <m:rPr>
                        <m:nor/>
                      </m:rPr>
                      <a:rPr lang="en-US" altLang="zh-CN">
                        <a:solidFill>
                          <a:srgbClr val="000000"/>
                        </a:solidFill>
                        <a:latin typeface="Times New Roman" panose="02020503050405090304" pitchFamily="18" charset="0"/>
                        <a:cs typeface="Times New Roman" panose="02020503050405090304" pitchFamily="18" charset="0"/>
                      </a:rPr>
                      <m:t>)</m:t>
                    </m:r>
                  </m:oMath>
                </a14:m>
                <a:r>
                  <a:rPr lang="zh-CN" altLang="en-US" dirty="0"/>
                  <a:t> 生成</a:t>
                </a:r>
                <a:r>
                  <a:rPr lang="en-US" altLang="zh-CN" dirty="0"/>
                  <a:t> </a:t>
                </a:r>
                <a:r>
                  <a:rPr lang="en-US" altLang="zh-CN" dirty="0">
                    <a:latin typeface="Times New Roman" panose="02020503050405090304" pitchFamily="18" charset="0"/>
                    <a:cs typeface="Times New Roman" panose="02020503050405090304" pitchFamily="18" charset="0"/>
                  </a:rPr>
                  <a:t>pk=(</a:t>
                </a:r>
                <a14:m>
                  <m:oMath xmlns:m="http://schemas.openxmlformats.org/officeDocument/2006/math">
                    <m:r>
                      <m:rPr>
                        <m:brk m:alnAt="7"/>
                      </m:rPr>
                      <a:rPr lang="en-US" altLang="zh-CN" i="1">
                        <a:latin typeface="Cambria Math" panose="02040503050406030204" pitchFamily="18" charset="0"/>
                      </a:rPr>
                      <m:t>𝑝</m:t>
                    </m:r>
                    <m:r>
                      <a:rPr lang="en-US" altLang="zh-CN" i="1">
                        <a:latin typeface="Cambria Math" panose="02040503050406030204" pitchFamily="18" charset="0"/>
                      </a:rPr>
                      <m:t>, </m:t>
                    </m:r>
                    <m:r>
                      <a:rPr lang="en-US" altLang="zh-CN" i="1">
                        <a:latin typeface="Cambria Math" panose="02040503050406030204" pitchFamily="18" charset="0"/>
                      </a:rPr>
                      <m:t>𝑎</m:t>
                    </m:r>
                    <m:r>
                      <a:rPr lang="en-US" altLang="zh-CN" i="1">
                        <a:latin typeface="Cambria Math" panose="02040503050406030204" pitchFamily="18" charset="0"/>
                      </a:rPr>
                      <m:t>, </m:t>
                    </m:r>
                    <m:r>
                      <a:rPr lang="en-US" altLang="zh-CN" i="1">
                        <a:latin typeface="Cambria Math" panose="02040503050406030204" pitchFamily="18" charset="0"/>
                      </a:rPr>
                      <m:t>𝑏</m:t>
                    </m:r>
                    <m:r>
                      <a:rPr lang="en-US" altLang="zh-CN" i="1">
                        <a:latin typeface="Cambria Math" panose="02040503050406030204" pitchFamily="18" charset="0"/>
                      </a:rPr>
                      <m:t>, </m:t>
                    </m:r>
                    <m:r>
                      <a:rPr lang="en-US" altLang="zh-CN" i="1">
                        <a:latin typeface="Cambria Math" panose="02040503050406030204" pitchFamily="18" charset="0"/>
                      </a:rPr>
                      <m:t>𝐺</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 </m:t>
                    </m:r>
                    <m:r>
                      <a:rPr lang="en-US" altLang="zh-CN" i="1">
                        <a:latin typeface="Cambria Math" panose="02040503050406030204" pitchFamily="18" charset="0"/>
                      </a:rPr>
                      <m:t>h</m:t>
                    </m:r>
                    <m:r>
                      <a:rPr lang="en-US" altLang="zh-CN" i="1">
                        <a:latin typeface="Cambria Math" panose="02040503050406030204" pitchFamily="18" charset="0"/>
                      </a:rPr>
                      <m:t>, </m:t>
                    </m:r>
                    <m:r>
                      <m:rPr>
                        <m:sty m:val="p"/>
                        <m:brk m:alnAt="7"/>
                      </m:rPr>
                      <a:rPr lang="en-US" altLang="zh-CN">
                        <a:latin typeface="Cambria Math" panose="02040503050406030204" pitchFamily="18" charset="0"/>
                      </a:rPr>
                      <m:t>S</m:t>
                    </m:r>
                    <m:r>
                      <m:rPr>
                        <m:sty m:val="p"/>
                      </m:rPr>
                      <a:rPr lang="en-US" altLang="zh-CN">
                        <a:latin typeface="Cambria Math" panose="02040503050406030204" pitchFamily="18" charset="0"/>
                      </a:rPr>
                      <m:t>EED</m:t>
                    </m:r>
                    <m:r>
                      <a:rPr lang="en-US" altLang="zh-CN">
                        <a:latin typeface="Cambria Math" panose="02040503050406030204" pitchFamily="18" charset="0"/>
                      </a:rPr>
                      <m:t>,</m:t>
                    </m:r>
                    <m:r>
                      <a:rPr lang="en-US" altLang="zh-CN" i="1">
                        <a:latin typeface="Cambria Math" panose="02040503050406030204" pitchFamily="18" charset="0"/>
                      </a:rPr>
                      <m:t>𝐻</m:t>
                    </m:r>
                    <m:r>
                      <a:rPr lang="en-US" altLang="zh-CN" i="1">
                        <a:latin typeface="Cambria Math" panose="02040503050406030204" pitchFamily="18" charset="0"/>
                      </a:rPr>
                      <m:t>,</m:t>
                    </m:r>
                    <m:r>
                      <m:rPr>
                        <m:sty m:val="p"/>
                      </m:rPr>
                      <a:rPr lang="en-US" altLang="zh-CN">
                        <a:latin typeface="Cambria Math" panose="02040503050406030204" pitchFamily="18" charset="0"/>
                      </a:rPr>
                      <m:t>KDF</m:t>
                    </m:r>
                    <m:r>
                      <a:rPr lang="en-US" altLang="zh-CN" i="1">
                        <a:latin typeface="Cambria Math" panose="02040503050406030204" pitchFamily="18" charset="0"/>
                      </a:rPr>
                      <m:t>, </m:t>
                    </m:r>
                    <m:r>
                      <m:rPr>
                        <m:sty m:val="p"/>
                      </m:rPr>
                      <a:rPr lang="en-US" altLang="zh-CN">
                        <a:latin typeface="Cambria Math" panose="02040503050406030204" pitchFamily="18" charset="0"/>
                      </a:rPr>
                      <m:t>RNG</m:t>
                    </m:r>
                    <m:r>
                      <a:rPr lang="en-US" altLang="zh-CN" i="1">
                        <a:latin typeface="Cambria Math" panose="02040503050406030204" pitchFamily="18" charset="0"/>
                      </a:rPr>
                      <m:t>, </m:t>
                    </m:r>
                    <m:r>
                      <a:rPr lang="en-US" altLang="zh-CN" i="1">
                        <a:latin typeface="Cambria Math" panose="02040503050406030204" pitchFamily="18" charset="0"/>
                      </a:rPr>
                      <m:t>𝑌</m:t>
                    </m:r>
                  </m:oMath>
                </a14:m>
                <a:r>
                  <a:rPr lang="en-US" altLang="zh-CN" dirty="0">
                    <a:latin typeface="Times New Roman" panose="02020503050405090304" pitchFamily="18" charset="0"/>
                    <a:cs typeface="Times New Roman" panose="02020503050405090304" pitchFamily="18" charset="0"/>
                  </a:rPr>
                  <a:t>)</a:t>
                </a:r>
                <a:r>
                  <a:rPr lang="zh-CN" altLang="zh-CN" dirty="0">
                    <a:solidFill>
                      <a:srgbClr val="000000"/>
                    </a:solidFill>
                    <a:latin typeface="Times New Roman" panose="02020503050405090304" pitchFamily="18" charset="0"/>
                    <a:cs typeface="Times New Roman" panose="02020503050405090304" pitchFamily="18" charset="0"/>
                  </a:rPr>
                  <a:t> </a:t>
                </a:r>
                <a:r>
                  <a:rPr lang="zh-CN" altLang="en-GB" dirty="0"/>
                  <a:t>，</a:t>
                </a:r>
                <a:r>
                  <a:rPr lang="zh-CN" altLang="en-US" dirty="0"/>
                  <a:t>设置 </a:t>
                </a:r>
                <a:r>
                  <a:rPr lang="en-US" altLang="zh-CN" i="1" dirty="0"/>
                  <a:t>Y</a:t>
                </a:r>
                <a:r>
                  <a:rPr lang="en-US" altLang="zh-CN" dirty="0"/>
                  <a:t>=</a:t>
                </a:r>
                <a:r>
                  <a:rPr lang="en-US" altLang="zh-CN" dirty="0">
                    <a:ea typeface="Cambria Math" panose="02040503050406030204" pitchFamily="18" charset="0"/>
                    <a:cs typeface="Times New Roman" panose="020205030504050903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𝛼</m:t>
                    </m:r>
                    <m:r>
                      <a:rPr lang="en-US" altLang="zh-CN" i="1" dirty="0">
                        <a:latin typeface="Cambria Math" panose="02040503050406030204" pitchFamily="18" charset="0"/>
                      </a:rPr>
                      <m:t>𝐺</m:t>
                    </m:r>
                  </m:oMath>
                </a14:m>
                <a:r>
                  <a:rPr lang="zh-CN" altLang="en-GB" dirty="0"/>
                  <a:t>，</a:t>
                </a:r>
                <a:r>
                  <a:rPr lang="zh-CN" altLang="en-US" dirty="0"/>
                  <a:t>将</a:t>
                </a:r>
                <a14:m>
                  <m:oMath xmlns:m="http://schemas.openxmlformats.org/officeDocument/2006/math">
                    <m:r>
                      <a:rPr lang="zh-CN" altLang="en-US" i="1" dirty="0">
                        <a:solidFill>
                          <a:srgbClr val="000000"/>
                        </a:solidFill>
                        <a:latin typeface="Cambria Math" panose="02040503050406030204" pitchFamily="18" charset="0"/>
                        <a:cs typeface="宋体" pitchFamily="2" charset="-122"/>
                      </a:rPr>
                      <m:t>其中</m:t>
                    </m:r>
                    <m:r>
                      <a:rPr lang="en-US" altLang="zh-CN" i="1" dirty="0">
                        <a:solidFill>
                          <a:srgbClr val="000000"/>
                        </a:solidFill>
                        <a:latin typeface="Cambria Math" panose="02040503050406030204" pitchFamily="18" charset="0"/>
                        <a:cs typeface="宋体" pitchFamily="2" charset="-122"/>
                      </a:rPr>
                      <m:t> </m:t>
                    </m:r>
                    <m:r>
                      <m:rPr>
                        <m:sty m:val="p"/>
                      </m:rPr>
                      <a:rPr lang="en-US" altLang="zh-CN">
                        <a:solidFill>
                          <a:srgbClr val="000000"/>
                        </a:solidFill>
                        <a:latin typeface="Cambria Math" panose="02040503050406030204" pitchFamily="18" charset="0"/>
                        <a:cs typeface="宋体" pitchFamily="2" charset="-122"/>
                      </a:rPr>
                      <m:t>pk</m:t>
                    </m:r>
                    <m:r>
                      <a:rPr lang="en-US" altLang="zh-CN" b="0" i="0" smtClean="0">
                        <a:solidFill>
                          <a:srgbClr val="000000"/>
                        </a:solidFill>
                        <a:latin typeface="Cambria Math" panose="02040503050406030204" pitchFamily="18" charset="0"/>
                        <a:cs typeface="宋体" pitchFamily="2" charset="-122"/>
                      </a:rPr>
                      <m:t> </m:t>
                    </m:r>
                  </m:oMath>
                </a14:m>
                <a:r>
                  <a:rPr lang="zh-CN" altLang="en-US" dirty="0"/>
                  <a:t>发送给</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r>
                      <a:rPr lang="en-US" altLang="zh-CN" i="1">
                        <a:solidFill>
                          <a:srgbClr val="000000"/>
                        </a:solidFill>
                        <a:latin typeface="Cambria Math" panose="02040503050406030204" pitchFamily="18" charset="0"/>
                        <a:cs typeface="宋体" pitchFamily="2" charset="-122"/>
                      </a:rPr>
                      <m:t> </m:t>
                    </m:r>
                  </m:oMath>
                </a14:m>
                <a:r>
                  <a:rPr lang="zh-CN" altLang="en-US" dirty="0">
                    <a:latin typeface="+mn-lt"/>
                  </a:rPr>
                  <a:t>。注意，这里若</a:t>
                </a:r>
                <a:r>
                  <a:rPr lang="zh-CN" altLang="en-US" i="1" dirty="0">
                    <a:latin typeface="+mn-lt"/>
                  </a:rPr>
                  <a:t> </a:t>
                </a:r>
                <a:r>
                  <a:rPr lang="en-GB" altLang="zh-CN" i="1" dirty="0">
                    <a:latin typeface="+mn-lt"/>
                  </a:rPr>
                  <a:t>Y </a:t>
                </a:r>
                <a:r>
                  <a:rPr lang="zh-CN" altLang="en-US" dirty="0">
                    <a:latin typeface="+mn-lt"/>
                  </a:rPr>
                  <a:t>由</a:t>
                </a:r>
                <a:r>
                  <a:rPr lang="zh-CN" altLang="en-US" dirty="0"/>
                  <a:t>杂凑 </a:t>
                </a:r>
                <a:r>
                  <a:rPr lang="en-GB" altLang="zh-CN" dirty="0"/>
                  <a:t>ElGamal </a:t>
                </a:r>
                <a:r>
                  <a:rPr lang="zh-CN" altLang="en-US" dirty="0"/>
                  <a:t>公钥加密方案</a:t>
                </a:r>
                <a:r>
                  <a:rPr lang="zh-CN" altLang="en-US" dirty="0">
                    <a:latin typeface="+mn-lt"/>
                  </a:rPr>
                  <a:t>的 </a:t>
                </a:r>
                <a14:m>
                  <m:oMath xmlns:m="http://schemas.openxmlformats.org/officeDocument/2006/math">
                    <m:r>
                      <m:rPr>
                        <m:nor/>
                      </m:rPr>
                      <a:rPr lang="en-US" altLang="zh-CN">
                        <a:solidFill>
                          <a:srgbClr val="000000"/>
                        </a:solidFill>
                        <a:latin typeface="Times New Roman" panose="02020503050405090304" pitchFamily="18" charset="0"/>
                        <a:cs typeface="Times New Roman" panose="02020503050405090304" pitchFamily="18" charset="0"/>
                      </a:rPr>
                      <m:t>Gen</m:t>
                    </m:r>
                    <m:r>
                      <m:rPr>
                        <m:nor/>
                      </m:rPr>
                      <a:rPr lang="en-US" altLang="zh-CN">
                        <a:solidFill>
                          <a:srgbClr val="000000"/>
                        </a:solidFill>
                        <a:latin typeface="Times New Roman" panose="02020503050405090304" pitchFamily="18" charset="0"/>
                        <a:cs typeface="Times New Roman" panose="02020503050405090304" pitchFamily="18" charset="0"/>
                      </a:rPr>
                      <m:t>(</m:t>
                    </m:r>
                    <m:r>
                      <m:rPr>
                        <m:nor/>
                      </m:rPr>
                      <a:rPr lang="zh-CN" altLang="zh-CN" dirty="0">
                        <a:latin typeface="Times New Roman" panose="02020503050405090304" pitchFamily="18" charset="0"/>
                        <a:cs typeface="Times New Roman" panose="02020503050405090304" pitchFamily="18" charset="0"/>
                      </a:rPr>
                      <m:t>λ</m:t>
                    </m:r>
                    <m:r>
                      <m:rPr>
                        <m:nor/>
                      </m:rPr>
                      <a:rPr lang="en-US" altLang="zh-CN">
                        <a:solidFill>
                          <a:srgbClr val="000000"/>
                        </a:solidFill>
                        <a:latin typeface="Times New Roman" panose="02020503050405090304" pitchFamily="18" charset="0"/>
                        <a:cs typeface="Times New Roman" panose="02020503050405090304" pitchFamily="18" charset="0"/>
                      </a:rPr>
                      <m:t>)</m:t>
                    </m:r>
                  </m:oMath>
                </a14:m>
                <a:r>
                  <a:rPr lang="en-US" altLang="zh-CN" dirty="0">
                    <a:latin typeface="+mn-lt"/>
                  </a:rPr>
                  <a:t> </a:t>
                </a:r>
                <a:r>
                  <a:rPr lang="zh-CN" altLang="en-US" dirty="0">
                    <a:latin typeface="+mn-lt"/>
                  </a:rPr>
                  <a:t>生成，则显然 </a:t>
                </a:r>
                <a14:m>
                  <m:oMath xmlns:m="http://schemas.openxmlformats.org/officeDocument/2006/math">
                    <m:r>
                      <a:rPr lang="en-US" altLang="zh-CN" i="1">
                        <a:latin typeface="Cambria Math" panose="02040503050406030204" pitchFamily="18" charset="0"/>
                      </a:rPr>
                      <m:t>ℬ</m:t>
                    </m:r>
                  </m:oMath>
                </a14:m>
                <a:r>
                  <a:rPr lang="zh-CN" altLang="en-US" dirty="0">
                    <a:latin typeface="+mn-lt"/>
                  </a:rPr>
                  <a:t> 会知道 </a:t>
                </a:r>
                <a:r>
                  <a:rPr lang="en-GB" altLang="zh-CN" i="1" dirty="0">
                    <a:latin typeface="+mn-lt"/>
                  </a:rPr>
                  <a:t>Y</a:t>
                </a:r>
                <a:r>
                  <a:rPr lang="en-GB" altLang="zh-CN" dirty="0">
                    <a:latin typeface="+mn-lt"/>
                  </a:rPr>
                  <a:t> </a:t>
                </a:r>
                <a:r>
                  <a:rPr lang="zh-CN" altLang="en-US" dirty="0">
                    <a:latin typeface="+mn-lt"/>
                  </a:rPr>
                  <a:t>对应的私钥。这样对于在挑战阶段生成的密文，因其格式为 </a:t>
                </a:r>
                <a14:m>
                  <m:oMath xmlns:m="http://schemas.openxmlformats.org/officeDocument/2006/math">
                    <m:sSub>
                      <m:sSubPr>
                        <m:ctrlPr>
                          <a:rPr lang="zh-CN" altLang="zh-CN" i="1">
                            <a:solidFill>
                              <a:srgbClr val="000000"/>
                            </a:solidFill>
                            <a:latin typeface="Cambria Math" panose="02040503050406030204" pitchFamily="18" charset="0"/>
                            <a:cs typeface="宋体" pitchFamily="2" charset="-122"/>
                          </a:rPr>
                        </m:ctrlPr>
                      </m:sSubPr>
                      <m:e>
                        <m:r>
                          <a:rPr lang="en-US" altLang="zh-CN" i="1">
                            <a:solidFill>
                              <a:srgbClr val="000000"/>
                            </a:solidFill>
                            <a:latin typeface="Cambria Math" panose="02040503050406030204" pitchFamily="18" charset="0"/>
                            <a:cs typeface="宋体" pitchFamily="2" charset="-122"/>
                          </a:rPr>
                          <m:t>𝐶</m:t>
                        </m:r>
                      </m:e>
                      <m:sub>
                        <m:r>
                          <a:rPr lang="en-US" altLang="zh-CN" i="1">
                            <a:solidFill>
                              <a:srgbClr val="000000"/>
                            </a:solidFill>
                            <a:latin typeface="Cambria Math" panose="02040503050406030204" pitchFamily="18" charset="0"/>
                            <a:cs typeface="宋体" pitchFamily="2" charset="-122"/>
                          </a:rPr>
                          <m:t>2</m:t>
                        </m:r>
                      </m:sub>
                    </m:sSub>
                    <m:r>
                      <a:rPr lang="en-US" altLang="zh-CN" i="1">
                        <a:solidFill>
                          <a:srgbClr val="000000"/>
                        </a:solidFill>
                        <a:latin typeface="Cambria Math" panose="02040503050406030204" pitchFamily="18" charset="0"/>
                        <a:cs typeface="宋体" pitchFamily="2" charset="-122"/>
                      </a:rPr>
                      <m:t>=</m:t>
                    </m:r>
                    <m:r>
                      <a:rPr lang="en-US" altLang="zh-CN" i="1">
                        <a:solidFill>
                          <a:srgbClr val="000000"/>
                        </a:solidFill>
                        <a:latin typeface="Cambria Math" panose="02040503050406030204" pitchFamily="18" charset="0"/>
                        <a:cs typeface="宋体" pitchFamily="2" charset="-122"/>
                      </a:rPr>
                      <m:t>𝑀</m:t>
                    </m:r>
                    <m:r>
                      <a:rPr lang="en-US" altLang="zh-CN">
                        <a:solidFill>
                          <a:srgbClr val="000000"/>
                        </a:solidFill>
                        <a:latin typeface="Cambria Math" panose="02040503050406030204" pitchFamily="18" charset="0"/>
                        <a:cs typeface="Times New Roman" panose="02020503050405090304" pitchFamily="18" charset="0"/>
                      </a:rPr>
                      <m:t>⨁</m:t>
                    </m:r>
                    <m:r>
                      <m:rPr>
                        <m:sty m:val="p"/>
                      </m:rPr>
                      <a:rPr lang="en-US" altLang="zh-CN" b="0" i="0" smtClean="0">
                        <a:solidFill>
                          <a:srgbClr val="000000"/>
                        </a:solidFill>
                        <a:latin typeface="Cambria Math" panose="02040503050406030204" pitchFamily="18" charset="0"/>
                        <a:cs typeface="Times New Roman" panose="02020503050405090304" pitchFamily="18" charset="0"/>
                      </a:rPr>
                      <m:t>KDF</m:t>
                    </m:r>
                    <m:r>
                      <a:rPr lang="en-US" altLang="zh-CN" b="0" i="1" smtClean="0">
                        <a:solidFill>
                          <a:srgbClr val="000000"/>
                        </a:solidFill>
                        <a:latin typeface="Cambria Math" panose="02040503050406030204" pitchFamily="18" charset="0"/>
                        <a:cs typeface="Times New Roman" panose="02020503050405090304" pitchFamily="18" charset="0"/>
                      </a:rPr>
                      <m:t>(</m:t>
                    </m:r>
                    <m:r>
                      <a:rPr lang="en-US" altLang="zh-CN" b="0" i="1" smtClean="0">
                        <a:solidFill>
                          <a:srgbClr val="000000"/>
                        </a:solidFill>
                        <a:latin typeface="Cambria Math" panose="02040503050406030204" pitchFamily="18" charset="0"/>
                        <a:cs typeface="Times New Roman" panose="02020503050405090304" pitchFamily="18" charset="0"/>
                      </a:rPr>
                      <m:t>𝑘𝑌</m:t>
                    </m:r>
                    <m:r>
                      <a:rPr lang="en-US" altLang="zh-CN" i="1">
                        <a:solidFill>
                          <a:srgbClr val="000000"/>
                        </a:solidFill>
                        <a:latin typeface="Cambria Math" panose="02040503050406030204" pitchFamily="18" charset="0"/>
                        <a:cs typeface="宋体" pitchFamily="2" charset="-122"/>
                      </a:rPr>
                      <m:t>) </m:t>
                    </m:r>
                  </m:oMath>
                </a14:m>
                <a:r>
                  <a:rPr lang="en-GB" altLang="zh-CN" dirty="0">
                    <a:latin typeface="+mn-lt"/>
                  </a:rPr>
                  <a:t> </a:t>
                </a:r>
                <a:r>
                  <a:rPr lang="zh-CN" altLang="en-GB" dirty="0">
                    <a:latin typeface="+mn-lt"/>
                  </a:rPr>
                  <a:t>，</a:t>
                </a:r>
                <a:r>
                  <a:rPr lang="zh-CN" altLang="en-US" dirty="0">
                    <a:latin typeface="+mn-lt"/>
                  </a:rPr>
                  <a:t>所以这里将不包含 </a:t>
                </a:r>
                <a:r>
                  <a:rPr lang="en-US" altLang="zh-CN" dirty="0">
                    <a:latin typeface="+mn-lt"/>
                  </a:rPr>
                  <a:t>E</a:t>
                </a:r>
                <a:r>
                  <a:rPr lang="en-GB" altLang="zh-CN" dirty="0">
                    <a:latin typeface="+mn-lt"/>
                  </a:rPr>
                  <a:t>CDH </a:t>
                </a:r>
                <a:r>
                  <a:rPr lang="zh-CN" altLang="en-US" dirty="0">
                    <a:latin typeface="+mn-lt"/>
                  </a:rPr>
                  <a:t>问题实例的解。 因此，我们将 </a:t>
                </a:r>
                <a:r>
                  <a:rPr lang="en-GB" altLang="zh-CN" i="1" dirty="0">
                    <a:latin typeface="+mn-lt"/>
                  </a:rPr>
                  <a:t>Y</a:t>
                </a:r>
                <a:r>
                  <a:rPr lang="en-GB" altLang="zh-CN" dirty="0">
                    <a:latin typeface="+mn-lt"/>
                  </a:rPr>
                  <a:t> </a:t>
                </a:r>
                <a:r>
                  <a:rPr lang="zh-CN" altLang="en-US" dirty="0">
                    <a:latin typeface="+mn-lt"/>
                  </a:rPr>
                  <a:t>设置成 </a:t>
                </a:r>
                <a:r>
                  <a:rPr lang="en-US" altLang="zh-CN" dirty="0">
                    <a:latin typeface="+mn-lt"/>
                  </a:rPr>
                  <a:t>E</a:t>
                </a:r>
                <a:r>
                  <a:rPr lang="en-GB" altLang="zh-CN" dirty="0">
                    <a:latin typeface="+mn-lt"/>
                  </a:rPr>
                  <a:t>CDH </a:t>
                </a:r>
                <a:r>
                  <a:rPr lang="zh-CN" altLang="en-US" dirty="0">
                    <a:latin typeface="+mn-lt"/>
                  </a:rPr>
                  <a:t>问题实例中的一个值。</a:t>
                </a:r>
                <a:endParaRPr lang="en-US" altLang="zh-CN" dirty="0">
                  <a:latin typeface="+mn-lt"/>
                </a:endParaRPr>
              </a:p>
              <a:p>
                <a:pPr marL="285750" indent="-285750" algn="just">
                  <a:lnSpc>
                    <a:spcPct val="132000"/>
                  </a:lnSpc>
                  <a:buFont typeface="Wingdings" panose="05000000000000000000" pitchFamily="2" charset="2"/>
                  <a:buChar char="l"/>
                </a:pPr>
                <a:r>
                  <a:rPr lang="zh-CN" altLang="en-US" b="1" dirty="0">
                    <a:solidFill>
                      <a:srgbClr val="000000"/>
                    </a:solidFill>
                    <a:latin typeface="+mn-lt"/>
                    <a:cs typeface="Times New Roman" panose="02020503050405090304" pitchFamily="18" charset="0"/>
                  </a:rPr>
                  <a:t>问询阶段</a:t>
                </a:r>
                <a:r>
                  <a:rPr lang="en-US" altLang="zh-CN" b="1" dirty="0">
                    <a:solidFill>
                      <a:srgbClr val="000000"/>
                    </a:solidFill>
                    <a:latin typeface="+mn-lt"/>
                    <a:cs typeface="Times New Roman" panose="02020503050405090304" pitchFamily="18" charset="0"/>
                  </a:rPr>
                  <a:t>1:</a:t>
                </a:r>
                <a14:m>
                  <m:oMath xmlns:m="http://schemas.openxmlformats.org/officeDocument/2006/math">
                    <m:r>
                      <a:rPr lang="zh-CN" altLang="en-US" b="0" i="0" smtClean="0">
                        <a:solidFill>
                          <a:srgbClr val="000000"/>
                        </a:solidFill>
                        <a:latin typeface="Cambria Math" panose="02040503050406030204" pitchFamily="18" charset="0"/>
                        <a:cs typeface="宋体" pitchFamily="2" charset="-122"/>
                      </a:rPr>
                      <m:t> </m:t>
                    </m:r>
                    <m:r>
                      <a:rPr lang="en-US" altLang="zh-CN" i="1" smtClean="0">
                        <a:solidFill>
                          <a:srgbClr val="000000"/>
                        </a:solidFill>
                        <a:latin typeface="Cambria Math" panose="02040503050406030204" pitchFamily="18" charset="0"/>
                        <a:cs typeface="宋体" pitchFamily="2" charset="-122"/>
                      </a:rPr>
                      <m:t>𝒜</m:t>
                    </m:r>
                  </m:oMath>
                </a14:m>
                <a:r>
                  <a:rPr lang="zh-CN" altLang="en-US" dirty="0">
                    <a:solidFill>
                      <a:srgbClr val="000000"/>
                    </a:solidFill>
                    <a:ea typeface="+mn-ea"/>
                    <a:cs typeface="Times New Roman" panose="02020503050405090304" pitchFamily="18" charset="0"/>
                  </a:rPr>
                  <a:t> 向 </a:t>
                </a:r>
                <a14:m>
                  <m:oMath xmlns:m="http://schemas.openxmlformats.org/officeDocument/2006/math">
                    <m:r>
                      <a:rPr lang="en-US" altLang="zh-CN" i="1">
                        <a:latin typeface="Cambria Math" panose="02040503050406030204" pitchFamily="18" charset="0"/>
                      </a:rPr>
                      <m:t>ℬ</m:t>
                    </m:r>
                  </m:oMath>
                </a14:m>
                <a:r>
                  <a:rPr lang="zh-CN" altLang="en-US" dirty="0">
                    <a:solidFill>
                      <a:srgbClr val="000000"/>
                    </a:solidFill>
                    <a:ea typeface="+mn-ea"/>
                    <a:cs typeface="Times New Roman" panose="02020503050405090304" pitchFamily="18" charset="0"/>
                  </a:rPr>
                  <a:t> 发起随机预言机问询和解密预言机问询，具体过程如下。</a:t>
                </a:r>
                <a:endParaRPr lang="en-US" altLang="zh-CN" dirty="0">
                  <a:solidFill>
                    <a:srgbClr val="000000"/>
                  </a:solidFill>
                  <a:ea typeface="+mn-ea"/>
                  <a:cs typeface="Times New Roman" panose="02020503050405090304" pitchFamily="18" charset="0"/>
                </a:endParaRPr>
              </a:p>
              <a:p>
                <a:pPr algn="just">
                  <a:lnSpc>
                    <a:spcPct val="132000"/>
                  </a:lnSpc>
                </a:pPr>
                <a:r>
                  <a:rPr lang="zh-CN" altLang="en-US" dirty="0">
                    <a:solidFill>
                      <a:srgbClr val="000000"/>
                    </a:solidFill>
                    <a:ea typeface="+mn-ea"/>
                    <a:cs typeface="Times New Roman" panose="02020503050405090304" pitchFamily="18" charset="0"/>
                  </a:rPr>
                  <a:t>      </a:t>
                </a:r>
                <a:r>
                  <a:rPr lang="zh-CN" altLang="en-US" b="1" dirty="0">
                    <a:solidFill>
                      <a:srgbClr val="000000"/>
                    </a:solidFill>
                    <a:ea typeface="+mn-ea"/>
                    <a:cs typeface="Times New Roman" panose="02020503050405090304" pitchFamily="18" charset="0"/>
                  </a:rPr>
                  <a:t>随机预言机</a:t>
                </a:r>
                <a:r>
                  <a:rPr lang="en-US" altLang="zh-CN" dirty="0">
                    <a:solidFill>
                      <a:srgbClr val="000000"/>
                    </a:solidFill>
                    <a:ea typeface="+mn-ea"/>
                    <a:cs typeface="Times New Roman" panose="02020503050405090304" pitchFamily="18" charset="0"/>
                  </a:rPr>
                  <a:t>KDF</a:t>
                </a:r>
                <a:r>
                  <a:rPr lang="zh-CN" altLang="en-US" b="1" dirty="0">
                    <a:solidFill>
                      <a:srgbClr val="000000"/>
                    </a:solidFill>
                    <a:ea typeface="+mn-ea"/>
                    <a:cs typeface="Times New Roman" panose="02020503050405090304" pitchFamily="18" charset="0"/>
                  </a:rPr>
                  <a:t>问询</a:t>
                </a:r>
                <a:r>
                  <a:rPr lang="zh-CN" altLang="en-US" dirty="0">
                    <a:solidFill>
                      <a:srgbClr val="000000"/>
                    </a:solidFill>
                    <a:ea typeface="+mn-ea"/>
                    <a:cs typeface="Times New Roman" panose="02020503050405090304" pitchFamily="18" charset="0"/>
                  </a:rPr>
                  <a:t>。</a:t>
                </a:r>
                <a14:m>
                  <m:oMath xmlns:m="http://schemas.openxmlformats.org/officeDocument/2006/math">
                    <m:r>
                      <a:rPr lang="en-US" altLang="zh-CN" i="1">
                        <a:latin typeface="Cambria Math" panose="02040503050406030204" pitchFamily="18" charset="0"/>
                      </a:rPr>
                      <m:t>ℬ</m:t>
                    </m:r>
                  </m:oMath>
                </a14:m>
                <a:r>
                  <a:rPr lang="zh-CN" altLang="en-US" dirty="0">
                    <a:solidFill>
                      <a:srgbClr val="000000"/>
                    </a:solidFill>
                    <a:ea typeface="+mn-ea"/>
                    <a:cs typeface="Times New Roman" panose="02020503050405090304" pitchFamily="18" charset="0"/>
                  </a:rPr>
                  <a:t> </a:t>
                </a:r>
                <a:r>
                  <a:rPr lang="zh-CN" altLang="en-US" dirty="0"/>
                  <a:t> 在本地维护一个初始化的空列表 </a:t>
                </a:r>
                <a:r>
                  <a:rPr lang="en-GB" altLang="zh-CN" dirty="0" err="1"/>
                  <a:t>KDF</a:t>
                </a:r>
                <a:r>
                  <a:rPr lang="en-GB" altLang="zh-CN" baseline="-25000" dirty="0" err="1"/>
                  <a:t>list</a:t>
                </a:r>
                <a:r>
                  <a:rPr lang="en-GB" altLang="zh-CN" dirty="0"/>
                  <a:t> </a:t>
                </a:r>
                <a:r>
                  <a:rPr lang="zh-CN" altLang="en-GB" dirty="0"/>
                  <a:t>。</a:t>
                </a:r>
                <a:r>
                  <a:rPr lang="zh-CN" altLang="en-US" dirty="0"/>
                  <a:t>假设该次问询为第 </a:t>
                </a:r>
                <a:r>
                  <a:rPr lang="en-GB" altLang="zh-CN" i="1" dirty="0" err="1"/>
                  <a:t>i</a:t>
                </a:r>
                <a:r>
                  <a:rPr lang="en-GB" altLang="zh-CN" dirty="0"/>
                  <a:t> </a:t>
                </a:r>
                <a:r>
                  <a:rPr lang="zh-CN" altLang="en-US" dirty="0"/>
                  <a:t>次问询，输入为 </a:t>
                </a:r>
                <a:r>
                  <a:rPr lang="en-GB" altLang="zh-CN" i="1" dirty="0"/>
                  <a:t>A</a:t>
                </a:r>
                <a:r>
                  <a:rPr lang="en-GB" altLang="zh-CN" i="1" baseline="-25000" dirty="0"/>
                  <a:t>i</a:t>
                </a:r>
                <a:r>
                  <a:rPr lang="en-GB" altLang="zh-CN" dirty="0"/>
                  <a:t> </a:t>
                </a:r>
                <a:r>
                  <a:rPr lang="zh-CN" altLang="en-GB" dirty="0"/>
                  <a:t>。</a:t>
                </a:r>
                <a:r>
                  <a:rPr lang="zh-CN" altLang="en-US" dirty="0"/>
                  <a:t>若 </a:t>
                </a:r>
                <a:r>
                  <a:rPr lang="en-GB" altLang="zh-CN" dirty="0" err="1"/>
                  <a:t>KDF</a:t>
                </a:r>
                <a:r>
                  <a:rPr lang="en-GB" altLang="zh-CN" baseline="-25000" dirty="0" err="1"/>
                  <a:t>list</a:t>
                </a:r>
                <a:r>
                  <a:rPr lang="en-GB" altLang="zh-CN" dirty="0"/>
                  <a:t> </a:t>
                </a:r>
                <a:r>
                  <a:rPr lang="zh-CN" altLang="en-US" dirty="0"/>
                  <a:t>中存在一个元</a:t>
                </a:r>
                <a:r>
                  <a:rPr lang="en-US" altLang="zh-CN" dirty="0"/>
                  <a:t> (</a:t>
                </a:r>
                <a:r>
                  <a:rPr lang="en-GB" altLang="zh-CN" i="1" dirty="0"/>
                  <a:t>A</a:t>
                </a:r>
                <a:r>
                  <a:rPr lang="en-GB" altLang="zh-CN" i="1" baseline="-25000" dirty="0"/>
                  <a:t>j</a:t>
                </a:r>
                <a:r>
                  <a:rPr lang="en-US" altLang="zh-CN" dirty="0"/>
                  <a:t>, </a:t>
                </a:r>
                <a:r>
                  <a:rPr lang="en-US" altLang="zh-CN" i="1" dirty="0" err="1"/>
                  <a:t>a</a:t>
                </a:r>
                <a:r>
                  <a:rPr lang="en-US" altLang="zh-CN" i="1" baseline="-25000" dirty="0" err="1"/>
                  <a:t>j</a:t>
                </a:r>
                <a:r>
                  <a:rPr lang="en-US" altLang="zh-CN" dirty="0"/>
                  <a:t>)</a:t>
                </a:r>
                <a:r>
                  <a:rPr lang="zh-CN" altLang="en-US" dirty="0"/>
                  <a:t> 使得 </a:t>
                </a:r>
                <a:r>
                  <a:rPr lang="en-GB" altLang="zh-CN" i="1" dirty="0"/>
                  <a:t>A</a:t>
                </a:r>
                <a:r>
                  <a:rPr lang="en-GB" altLang="zh-CN" i="1" baseline="-25000" dirty="0"/>
                  <a:t>i </a:t>
                </a:r>
                <a:r>
                  <a:rPr lang="en-GB" altLang="zh-CN" dirty="0"/>
                  <a:t>=</a:t>
                </a:r>
                <a:r>
                  <a:rPr lang="en-GB" altLang="zh-CN" i="1" dirty="0"/>
                  <a:t> A</a:t>
                </a:r>
                <a:r>
                  <a:rPr lang="en-GB" altLang="zh-CN" i="1" baseline="-25000" dirty="0"/>
                  <a:t>j</a:t>
                </a:r>
                <a:r>
                  <a:rPr lang="en-GB" altLang="zh-CN" dirty="0"/>
                  <a:t> </a:t>
                </a:r>
                <a:r>
                  <a:rPr lang="zh-CN" altLang="en-GB" dirty="0"/>
                  <a:t>，</a:t>
                </a:r>
                <a:r>
                  <a:rPr lang="zh-CN" altLang="en-US" dirty="0"/>
                  <a:t>则</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ℬ</m:t>
                    </m:r>
                  </m:oMath>
                </a14:m>
                <a:r>
                  <a:rPr lang="en-US" altLang="zh-CN" dirty="0"/>
                  <a:t> </a:t>
                </a:r>
                <a:r>
                  <a:rPr lang="zh-CN" altLang="en-US" dirty="0"/>
                  <a:t>返回 </a:t>
                </a:r>
                <a:r>
                  <a:rPr lang="en-US" altLang="zh-CN" i="1" dirty="0" err="1"/>
                  <a:t>a</a:t>
                </a:r>
                <a:r>
                  <a:rPr lang="en-US" altLang="zh-CN" i="1" baseline="-25000" dirty="0" err="1"/>
                  <a:t>j</a:t>
                </a:r>
                <a:r>
                  <a:rPr lang="en-GB" altLang="zh-CN" dirty="0"/>
                  <a:t> </a:t>
                </a:r>
                <a:r>
                  <a:rPr lang="zh-CN" altLang="en-US" dirty="0"/>
                  <a:t>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r>
                      <a:rPr lang="en-US" altLang="zh-CN" i="1">
                        <a:solidFill>
                          <a:srgbClr val="000000"/>
                        </a:solidFill>
                        <a:latin typeface="Cambria Math" panose="02040503050406030204" pitchFamily="18" charset="0"/>
                        <a:cs typeface="宋体" pitchFamily="2" charset="-122"/>
                      </a:rPr>
                      <m:t> </m:t>
                    </m:r>
                  </m:oMath>
                </a14:m>
                <a:r>
                  <a:rPr lang="zh-CN" altLang="en-US" dirty="0"/>
                  <a:t>；否则， </a:t>
                </a:r>
                <a14:m>
                  <m:oMath xmlns:m="http://schemas.openxmlformats.org/officeDocument/2006/math">
                    <m:r>
                      <a:rPr lang="en-US" altLang="zh-CN" i="1">
                        <a:latin typeface="Cambria Math" panose="02040503050406030204" pitchFamily="18" charset="0"/>
                      </a:rPr>
                      <m:t>ℬ</m:t>
                    </m:r>
                  </m:oMath>
                </a14:m>
                <a:r>
                  <a:rPr lang="zh-CN" altLang="en-US" dirty="0"/>
                  <a:t> 随机选择 </a:t>
                </a:r>
                <a:r>
                  <a:rPr lang="en-US" altLang="zh-CN" i="1" dirty="0"/>
                  <a:t>a</a:t>
                </a:r>
                <a:r>
                  <a:rPr lang="en-US" altLang="zh-CN" i="1" baseline="-25000" dirty="0"/>
                  <a:t>i</a:t>
                </a:r>
                <a:r>
                  <a:rPr lang="en-GB" altLang="zh-CN" dirty="0"/>
                  <a:t> ∈{0,1}</a:t>
                </a:r>
                <a:r>
                  <a:rPr lang="en-GB" altLang="zh-CN" i="1" baseline="30000" dirty="0"/>
                  <a:t> </a:t>
                </a:r>
                <a:r>
                  <a:rPr lang="en-GB" altLang="zh-CN" baseline="30000" dirty="0" err="1"/>
                  <a:t>klen</a:t>
                </a:r>
                <a:r>
                  <a:rPr lang="en-GB" altLang="zh-CN" i="1" baseline="30000" dirty="0"/>
                  <a:t> </a:t>
                </a:r>
                <a:r>
                  <a:rPr lang="zh-CN" altLang="en-US" dirty="0"/>
                  <a:t>并将 </a:t>
                </a:r>
                <a:r>
                  <a:rPr lang="en-US" altLang="zh-CN" i="1" dirty="0"/>
                  <a:t>a</a:t>
                </a:r>
                <a:r>
                  <a:rPr lang="en-US" altLang="zh-CN" i="1" baseline="-25000" dirty="0"/>
                  <a:t>i</a:t>
                </a:r>
                <a:r>
                  <a:rPr lang="en-GB" altLang="zh-CN" dirty="0"/>
                  <a:t> </a:t>
                </a:r>
                <a:r>
                  <a:rPr lang="zh-CN" altLang="en-US" dirty="0"/>
                  <a:t>发送给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，将 </a:t>
                </a:r>
                <a:r>
                  <a:rPr lang="en-US" altLang="zh-CN" dirty="0"/>
                  <a:t>(</a:t>
                </a:r>
                <a:r>
                  <a:rPr lang="en-GB" altLang="zh-CN" i="1" dirty="0"/>
                  <a:t>A</a:t>
                </a:r>
                <a:r>
                  <a:rPr lang="en-GB" altLang="zh-CN" i="1" baseline="-25000" dirty="0"/>
                  <a:t>i</a:t>
                </a:r>
                <a:r>
                  <a:rPr lang="en-US" altLang="zh-CN" dirty="0"/>
                  <a:t>, </a:t>
                </a:r>
                <a:r>
                  <a:rPr lang="en-US" altLang="zh-CN" i="1" dirty="0"/>
                  <a:t>a</a:t>
                </a:r>
                <a:r>
                  <a:rPr lang="en-US" altLang="zh-CN" i="1" baseline="-25000" dirty="0"/>
                  <a:t>i</a:t>
                </a:r>
                <a:r>
                  <a:rPr lang="en-US" altLang="zh-CN" dirty="0"/>
                  <a:t>) </a:t>
                </a:r>
                <a:r>
                  <a:rPr lang="zh-CN" altLang="en-US" dirty="0"/>
                  <a:t>添加至</a:t>
                </a:r>
                <a:r>
                  <a:rPr lang="en-GB" altLang="zh-CN" dirty="0" err="1"/>
                  <a:t>KDF</a:t>
                </a:r>
                <a:r>
                  <a:rPr lang="en-GB" altLang="zh-CN" baseline="-25000" dirty="0" err="1"/>
                  <a:t>list</a:t>
                </a:r>
                <a:r>
                  <a:rPr lang="en-GB" altLang="zh-CN" baseline="-25000" dirty="0"/>
                  <a:t> </a:t>
                </a:r>
                <a:r>
                  <a:rPr lang="zh-CN" altLang="en-GB" dirty="0"/>
                  <a:t>。</a:t>
                </a:r>
                <a:endParaRPr lang="en-US" altLang="zh-CN" dirty="0"/>
              </a:p>
              <a:p>
                <a:pPr algn="just">
                  <a:lnSpc>
                    <a:spcPct val="132000"/>
                  </a:lnSpc>
                </a:pPr>
                <a:r>
                  <a:rPr lang="en-US" altLang="zh-CN" dirty="0">
                    <a:solidFill>
                      <a:srgbClr val="000000"/>
                    </a:solidFill>
                    <a:ea typeface="+mn-ea"/>
                    <a:cs typeface="Times New Roman" panose="02020503050405090304" pitchFamily="18" charset="0"/>
                  </a:rPr>
                  <a:t> </a:t>
                </a:r>
                <a:r>
                  <a:rPr lang="zh-CN" altLang="en-US" dirty="0">
                    <a:solidFill>
                      <a:srgbClr val="000000"/>
                    </a:solidFill>
                    <a:ea typeface="+mn-ea"/>
                    <a:cs typeface="Times New Roman" panose="02020503050405090304" pitchFamily="18" charset="0"/>
                  </a:rPr>
                  <a:t> </a:t>
                </a:r>
                <a:r>
                  <a:rPr lang="en-US" altLang="zh-CN" dirty="0">
                    <a:solidFill>
                      <a:srgbClr val="000000"/>
                    </a:solidFill>
                    <a:ea typeface="+mn-ea"/>
                    <a:cs typeface="Times New Roman" panose="02020503050405090304" pitchFamily="18" charset="0"/>
                  </a:rPr>
                  <a:t>    </a:t>
                </a:r>
                <a:r>
                  <a:rPr lang="zh-CN" altLang="en-US" b="1" dirty="0">
                    <a:solidFill>
                      <a:srgbClr val="000000"/>
                    </a:solidFill>
                    <a:ea typeface="+mn-ea"/>
                    <a:cs typeface="Times New Roman" panose="02020503050405090304" pitchFamily="18" charset="0"/>
                  </a:rPr>
                  <a:t>随机预言机</a:t>
                </a:r>
                <a:r>
                  <a:rPr lang="en-US" altLang="zh-CN" i="1" dirty="0">
                    <a:solidFill>
                      <a:srgbClr val="000000"/>
                    </a:solidFill>
                    <a:ea typeface="+mn-ea"/>
                    <a:cs typeface="Times New Roman" panose="02020503050405090304" pitchFamily="18" charset="0"/>
                  </a:rPr>
                  <a:t>H</a:t>
                </a:r>
                <a:r>
                  <a:rPr lang="zh-CN" altLang="en-US" b="1" dirty="0">
                    <a:solidFill>
                      <a:srgbClr val="000000"/>
                    </a:solidFill>
                    <a:ea typeface="+mn-ea"/>
                    <a:cs typeface="Times New Roman" panose="02020503050405090304" pitchFamily="18" charset="0"/>
                  </a:rPr>
                  <a:t>问询。</a:t>
                </a:r>
                <a14:m>
                  <m:oMath xmlns:m="http://schemas.openxmlformats.org/officeDocument/2006/math">
                    <m:r>
                      <a:rPr lang="en-US" altLang="zh-CN" i="1">
                        <a:latin typeface="Cambria Math" panose="02040503050406030204" pitchFamily="18" charset="0"/>
                      </a:rPr>
                      <m:t>ℬ</m:t>
                    </m:r>
                  </m:oMath>
                </a14:m>
                <a:r>
                  <a:rPr lang="zh-CN" altLang="en-US" dirty="0">
                    <a:solidFill>
                      <a:srgbClr val="000000"/>
                    </a:solidFill>
                    <a:ea typeface="+mn-ea"/>
                    <a:cs typeface="Times New Roman" panose="02020503050405090304" pitchFamily="18" charset="0"/>
                  </a:rPr>
                  <a:t> </a:t>
                </a:r>
                <a:r>
                  <a:rPr lang="zh-CN" altLang="en-US" dirty="0"/>
                  <a:t> 在本地维护一个初始化的空列表 </a:t>
                </a:r>
                <a:r>
                  <a:rPr lang="en-GB" altLang="zh-CN" i="1" dirty="0"/>
                  <a:t>H</a:t>
                </a:r>
                <a:r>
                  <a:rPr lang="en-GB" altLang="zh-CN" baseline="-25000" dirty="0"/>
                  <a:t>list</a:t>
                </a:r>
                <a:r>
                  <a:rPr lang="en-GB" altLang="zh-CN" dirty="0"/>
                  <a:t> </a:t>
                </a:r>
                <a:r>
                  <a:rPr lang="zh-CN" altLang="en-GB" dirty="0"/>
                  <a:t>。</a:t>
                </a:r>
                <a:r>
                  <a:rPr lang="zh-CN" altLang="en-US" dirty="0"/>
                  <a:t>假设该次问询为第 </a:t>
                </a:r>
                <a:r>
                  <a:rPr lang="en-GB" altLang="zh-CN" i="1" dirty="0" err="1"/>
                  <a:t>i</a:t>
                </a:r>
                <a:r>
                  <a:rPr lang="en-GB" altLang="zh-CN" dirty="0"/>
                  <a:t> </a:t>
                </a:r>
                <a:r>
                  <a:rPr lang="zh-CN" altLang="en-US" dirty="0"/>
                  <a:t>次问询，输入为 </a:t>
                </a:r>
                <a:r>
                  <a:rPr lang="en-GB" altLang="zh-CN" i="1" dirty="0"/>
                  <a:t>B</a:t>
                </a:r>
                <a:r>
                  <a:rPr lang="en-GB" altLang="zh-CN" i="1" baseline="-25000" dirty="0"/>
                  <a:t>i</a:t>
                </a:r>
                <a:r>
                  <a:rPr lang="en-GB" altLang="zh-CN" dirty="0"/>
                  <a:t> </a:t>
                </a:r>
                <a:r>
                  <a:rPr lang="zh-CN" altLang="en-GB" dirty="0"/>
                  <a:t>。</a:t>
                </a:r>
                <a:r>
                  <a:rPr lang="zh-CN" altLang="en-US" dirty="0"/>
                  <a:t>若 </a:t>
                </a:r>
                <a:r>
                  <a:rPr lang="en-GB" altLang="zh-CN" i="1" dirty="0"/>
                  <a:t>H</a:t>
                </a:r>
                <a:r>
                  <a:rPr lang="en-GB" altLang="zh-CN" baseline="-25000" dirty="0"/>
                  <a:t>list </a:t>
                </a:r>
                <a:r>
                  <a:rPr lang="zh-CN" altLang="en-US" dirty="0"/>
                  <a:t>中存在一个元</a:t>
                </a:r>
                <a:r>
                  <a:rPr lang="en-US" altLang="zh-CN" dirty="0"/>
                  <a:t> (</a:t>
                </a:r>
                <a:r>
                  <a:rPr lang="en-GB" altLang="zh-CN" i="1" dirty="0" err="1"/>
                  <a:t>B</a:t>
                </a:r>
                <a:r>
                  <a:rPr lang="en-GB" altLang="zh-CN" i="1" baseline="-25000" dirty="0" err="1"/>
                  <a:t>j</a:t>
                </a:r>
                <a:r>
                  <a:rPr lang="en-US" altLang="zh-CN" dirty="0"/>
                  <a:t>, </a:t>
                </a:r>
                <a:r>
                  <a:rPr lang="en-US" altLang="zh-CN" i="1" dirty="0" err="1"/>
                  <a:t>b</a:t>
                </a:r>
                <a:r>
                  <a:rPr lang="en-US" altLang="zh-CN" i="1" baseline="-25000" dirty="0" err="1"/>
                  <a:t>j</a:t>
                </a:r>
                <a:r>
                  <a:rPr lang="en-US" altLang="zh-CN" dirty="0"/>
                  <a:t>)</a:t>
                </a:r>
                <a:r>
                  <a:rPr lang="zh-CN" altLang="en-US" dirty="0"/>
                  <a:t> 使得 </a:t>
                </a:r>
                <a:r>
                  <a:rPr lang="en-GB" altLang="zh-CN" i="1" dirty="0"/>
                  <a:t>B</a:t>
                </a:r>
                <a:r>
                  <a:rPr lang="en-GB" altLang="zh-CN" i="1" baseline="-25000" dirty="0"/>
                  <a:t>i </a:t>
                </a:r>
                <a:r>
                  <a:rPr lang="en-GB" altLang="zh-CN" dirty="0"/>
                  <a:t>=</a:t>
                </a:r>
                <a:r>
                  <a:rPr lang="en-GB" altLang="zh-CN" i="1" dirty="0"/>
                  <a:t> </a:t>
                </a:r>
                <a:r>
                  <a:rPr lang="en-GB" altLang="zh-CN" i="1" dirty="0" err="1"/>
                  <a:t>B</a:t>
                </a:r>
                <a:r>
                  <a:rPr lang="en-GB" altLang="zh-CN" i="1" baseline="-25000" dirty="0" err="1"/>
                  <a:t>j</a:t>
                </a:r>
                <a:r>
                  <a:rPr lang="en-GB" altLang="zh-CN" dirty="0"/>
                  <a:t> </a:t>
                </a:r>
                <a:r>
                  <a:rPr lang="zh-CN" altLang="en-GB" dirty="0"/>
                  <a:t>，</a:t>
                </a:r>
                <a:r>
                  <a:rPr lang="zh-CN" altLang="en-US" dirty="0"/>
                  <a:t>则</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ℬ</m:t>
                    </m:r>
                  </m:oMath>
                </a14:m>
                <a:r>
                  <a:rPr lang="en-US" altLang="zh-CN" dirty="0"/>
                  <a:t> </a:t>
                </a:r>
                <a:r>
                  <a:rPr lang="zh-CN" altLang="en-US" dirty="0"/>
                  <a:t>返回 </a:t>
                </a:r>
                <a:r>
                  <a:rPr lang="en-US" altLang="zh-CN" i="1" dirty="0" err="1"/>
                  <a:t>b</a:t>
                </a:r>
                <a:r>
                  <a:rPr lang="en-US" altLang="zh-CN" i="1" baseline="-25000" dirty="0" err="1"/>
                  <a:t>j</a:t>
                </a:r>
                <a:r>
                  <a:rPr lang="en-GB" altLang="zh-CN" dirty="0"/>
                  <a:t> </a:t>
                </a:r>
                <a:r>
                  <a:rPr lang="zh-CN" altLang="en-US" dirty="0"/>
                  <a:t>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r>
                      <a:rPr lang="en-US" altLang="zh-CN" i="1">
                        <a:solidFill>
                          <a:srgbClr val="000000"/>
                        </a:solidFill>
                        <a:latin typeface="Cambria Math" panose="02040503050406030204" pitchFamily="18" charset="0"/>
                        <a:cs typeface="宋体" pitchFamily="2" charset="-122"/>
                      </a:rPr>
                      <m:t> </m:t>
                    </m:r>
                  </m:oMath>
                </a14:m>
                <a:r>
                  <a:rPr lang="zh-CN" altLang="en-US" dirty="0"/>
                  <a:t>；否则， </a:t>
                </a:r>
                <a14:m>
                  <m:oMath xmlns:m="http://schemas.openxmlformats.org/officeDocument/2006/math">
                    <m:r>
                      <a:rPr lang="en-US" altLang="zh-CN" i="1">
                        <a:latin typeface="Cambria Math" panose="02040503050406030204" pitchFamily="18" charset="0"/>
                      </a:rPr>
                      <m:t>ℬ</m:t>
                    </m:r>
                  </m:oMath>
                </a14:m>
                <a:r>
                  <a:rPr lang="zh-CN" altLang="en-US" dirty="0"/>
                  <a:t> 随机选择 </a:t>
                </a:r>
                <a:r>
                  <a:rPr lang="en-US" altLang="zh-CN" i="1" dirty="0"/>
                  <a:t>b</a:t>
                </a:r>
                <a:r>
                  <a:rPr lang="en-US" altLang="zh-CN" i="1" baseline="-25000" dirty="0"/>
                  <a:t>i</a:t>
                </a:r>
                <a:r>
                  <a:rPr lang="en-GB" altLang="zh-CN" dirty="0"/>
                  <a:t> ∈{0,1}</a:t>
                </a:r>
                <a:r>
                  <a:rPr lang="en-GB" altLang="zh-CN" i="1" baseline="30000" dirty="0"/>
                  <a:t> </a:t>
                </a:r>
                <a:r>
                  <a:rPr lang="en-GB" altLang="zh-CN" baseline="30000" dirty="0"/>
                  <a:t>256</a:t>
                </a:r>
                <a:r>
                  <a:rPr lang="en-GB" altLang="zh-CN" i="1" baseline="30000" dirty="0"/>
                  <a:t> </a:t>
                </a:r>
                <a:r>
                  <a:rPr lang="zh-CN" altLang="en-US" dirty="0"/>
                  <a:t>并将 </a:t>
                </a:r>
                <a:r>
                  <a:rPr lang="en-US" altLang="zh-CN" i="1" dirty="0"/>
                  <a:t>b</a:t>
                </a:r>
                <a:r>
                  <a:rPr lang="en-US" altLang="zh-CN" i="1" baseline="-25000" dirty="0"/>
                  <a:t>i</a:t>
                </a:r>
                <a:r>
                  <a:rPr lang="en-GB" altLang="zh-CN" dirty="0"/>
                  <a:t> </a:t>
                </a:r>
                <a:r>
                  <a:rPr lang="zh-CN" altLang="en-US" dirty="0"/>
                  <a:t>发送给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，将 </a:t>
                </a:r>
                <a:r>
                  <a:rPr lang="en-US" altLang="zh-CN" dirty="0"/>
                  <a:t>(</a:t>
                </a:r>
                <a:r>
                  <a:rPr lang="en-GB" altLang="zh-CN" i="1" dirty="0"/>
                  <a:t>B</a:t>
                </a:r>
                <a:r>
                  <a:rPr lang="en-GB" altLang="zh-CN" i="1" baseline="-25000" dirty="0"/>
                  <a:t>i</a:t>
                </a:r>
                <a:r>
                  <a:rPr lang="en-US" altLang="zh-CN" dirty="0"/>
                  <a:t>, </a:t>
                </a:r>
                <a:r>
                  <a:rPr lang="en-US" altLang="zh-CN" i="1" dirty="0"/>
                  <a:t>b</a:t>
                </a:r>
                <a:r>
                  <a:rPr lang="en-US" altLang="zh-CN" i="1" baseline="-25000" dirty="0"/>
                  <a:t>i</a:t>
                </a:r>
                <a:r>
                  <a:rPr lang="en-US" altLang="zh-CN" dirty="0"/>
                  <a:t>) </a:t>
                </a:r>
                <a:r>
                  <a:rPr lang="zh-CN" altLang="en-US" dirty="0"/>
                  <a:t>添加至</a:t>
                </a:r>
                <a:r>
                  <a:rPr lang="en-US" altLang="zh-CN" dirty="0"/>
                  <a:t> </a:t>
                </a:r>
                <a:r>
                  <a:rPr lang="en-GB" altLang="zh-CN" i="1" dirty="0"/>
                  <a:t>H</a:t>
                </a:r>
                <a:r>
                  <a:rPr lang="en-GB" altLang="zh-CN" baseline="-25000" dirty="0"/>
                  <a:t>list </a:t>
                </a:r>
                <a:r>
                  <a:rPr lang="zh-CN" altLang="en-GB" dirty="0"/>
                  <a:t>。</a:t>
                </a:r>
                <a:endParaRPr lang="en-US" altLang="zh-CN" dirty="0">
                  <a:solidFill>
                    <a:srgbClr val="000000"/>
                  </a:solidFill>
                  <a:latin typeface="+mn-lt"/>
                  <a:cs typeface="Times New Roman" panose="020205030504050903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81622" y="1262254"/>
                <a:ext cx="11183112" cy="5238422"/>
              </a:xfrm>
              <a:prstGeom prst="rect">
                <a:avLst/>
              </a:prstGeom>
              <a:blipFill>
                <a:blip r:embed="rId3"/>
                <a:stretch>
                  <a:fillRect l="-568" r="-2497" b="-96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1321C5A1-C539-06E1-4E0D-B288FD0A57E1}"/>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p:cNvSpPr txBox="1"/>
              <p:nvPr/>
            </p:nvSpPr>
            <p:spPr>
              <a:xfrm>
                <a:off x="581545" y="1401875"/>
                <a:ext cx="10857786" cy="4603824"/>
              </a:xfrm>
              <a:prstGeom prst="rect">
                <a:avLst/>
              </a:prstGeom>
              <a:noFill/>
            </p:spPr>
            <p:txBody>
              <a:bodyPr wrap="square">
                <a:spAutoFit/>
              </a:bodyPr>
              <a:lstStyle/>
              <a:p>
                <a:pPr algn="just">
                  <a:lnSpc>
                    <a:spcPct val="132000"/>
                  </a:lnSpc>
                </a:pPr>
                <a:r>
                  <a:rPr lang="zh-CN" altLang="en-US" dirty="0">
                    <a:solidFill>
                      <a:srgbClr val="C00000"/>
                    </a:solidFill>
                    <a:latin typeface="+mn-lt"/>
                    <a:ea typeface="+mn-ea"/>
                    <a:cs typeface="Times New Roman" panose="02020503050405090304" pitchFamily="18" charset="0"/>
                  </a:rPr>
                  <a:t>续上文</a:t>
                </a:r>
                <a:endParaRPr lang="en-US" altLang="zh-CN" dirty="0">
                  <a:solidFill>
                    <a:srgbClr val="C00000"/>
                  </a:solidFill>
                  <a:latin typeface="+mn-lt"/>
                  <a:ea typeface="+mn-ea"/>
                  <a:cs typeface="Times New Roman" panose="02020503050405090304" pitchFamily="18" charset="0"/>
                </a:endParaRPr>
              </a:p>
              <a:p>
                <a:pPr algn="just">
                  <a:lnSpc>
                    <a:spcPct val="132000"/>
                  </a:lnSpc>
                </a:pPr>
                <a:r>
                  <a:rPr lang="zh-CN" altLang="en-US" b="1" dirty="0">
                    <a:latin typeface="+mn-lt"/>
                  </a:rPr>
                  <a:t>       解密预言机问询。</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mn-lt"/>
                  </a:rPr>
                  <a:t> 提交密文 </a:t>
                </a:r>
                <a14:m>
                  <m:oMath xmlns:m="http://schemas.openxmlformats.org/officeDocument/2006/math">
                    <m:sSub>
                      <m:sSubPr>
                        <m:ctrlPr>
                          <a:rPr lang="zh-CN" altLang="zh-CN" sz="1800" i="1"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1800" i="1">
                            <a:solidFill>
                              <a:srgbClr val="000000"/>
                            </a:solidFill>
                            <a:effectLst/>
                            <a:latin typeface="Cambria Math" panose="02040503050406030204" pitchFamily="18" charset="0"/>
                            <a:ea typeface="+mn-ea"/>
                            <a:cs typeface="Times New Roman" panose="02020503050405090304" pitchFamily="18" charset="0"/>
                          </a:rPr>
                          <m:t>𝐶</m:t>
                        </m:r>
                        <m:r>
                          <a:rPr lang="en-US" altLang="zh-CN" sz="1800">
                            <a:solidFill>
                              <a:srgbClr val="000000"/>
                            </a:solidFill>
                            <a:effectLst/>
                            <a:latin typeface="Cambria Math" panose="02040503050406030204" pitchFamily="18" charset="0"/>
                            <a:ea typeface="+mn-ea"/>
                            <a:cs typeface="Times New Roman" panose="02020503050405090304" pitchFamily="18" charset="0"/>
                          </a:rPr>
                          <m:t>=</m:t>
                        </m:r>
                        <m:r>
                          <a:rPr lang="en-US" altLang="zh-CN" sz="18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1800">
                            <a:solidFill>
                              <a:srgbClr val="000000"/>
                            </a:solidFill>
                            <a:effectLst/>
                            <a:latin typeface="Cambria Math" panose="02040503050406030204" pitchFamily="18" charset="0"/>
                            <a:ea typeface="+mn-ea"/>
                            <a:cs typeface="Times New Roman" panose="02020503050405090304" pitchFamily="18" charset="0"/>
                          </a:rPr>
                          <m:t>1</m:t>
                        </m:r>
                      </m:sub>
                    </m:sSub>
                    <m:r>
                      <a:rPr lang="en-US" altLang="zh-CN" sz="180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sz="1800" i="1">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1800" i="1">
                            <a:solidFill>
                              <a:srgbClr val="000000"/>
                            </a:solidFill>
                            <a:effectLst/>
                            <a:latin typeface="Cambria Math" panose="02040503050406030204" pitchFamily="18" charset="0"/>
                            <a:ea typeface="+mn-ea"/>
                            <a:cs typeface="Times New Roman" panose="02020503050405090304" pitchFamily="18" charset="0"/>
                          </a:rPr>
                          <m:t>𝐶</m:t>
                        </m:r>
                      </m:e>
                      <m:sub>
                        <m:r>
                          <a:rPr lang="en-US" altLang="zh-CN" sz="1800">
                            <a:solidFill>
                              <a:srgbClr val="000000"/>
                            </a:solidFill>
                            <a:effectLst/>
                            <a:latin typeface="Cambria Math" panose="02040503050406030204" pitchFamily="18" charset="0"/>
                            <a:ea typeface="+mn-ea"/>
                            <a:cs typeface="Times New Roman" panose="02020503050405090304" pitchFamily="18" charset="0"/>
                          </a:rPr>
                          <m:t>3</m:t>
                        </m:r>
                      </m:sub>
                    </m:sSub>
                    <m:r>
                      <a:rPr lang="en-US" altLang="zh-CN" sz="1800" i="1">
                        <a:solidFill>
                          <a:srgbClr val="000000"/>
                        </a:solidFill>
                        <a:effectLst/>
                        <a:latin typeface="Cambria Math" panose="02040503050406030204" pitchFamily="18" charset="0"/>
                        <a:ea typeface="+mn-ea"/>
                        <a:cs typeface="Times New Roman" panose="02020503050405090304" pitchFamily="18" charset="0"/>
                      </a:rPr>
                      <m:t> </m:t>
                    </m:r>
                    <m:r>
                      <a:rPr lang="en-US" altLang="zh-CN" sz="1800" b="0" i="1" smtClean="0">
                        <a:solidFill>
                          <a:srgbClr val="000000"/>
                        </a:solidFill>
                        <a:effectLst/>
                        <a:latin typeface="Cambria Math" panose="02040503050406030204" pitchFamily="18" charset="0"/>
                        <a:ea typeface="+mn-ea"/>
                        <a:cs typeface="Times New Roman" panose="02020503050405090304" pitchFamily="18" charset="0"/>
                      </a:rPr>
                      <m:t>||</m:t>
                    </m:r>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2</m:t>
                        </m:r>
                      </m:sub>
                    </m:sSub>
                  </m:oMath>
                </a14:m>
                <a:r>
                  <a:rPr lang="zh-CN" altLang="en-GB" dirty="0">
                    <a:latin typeface="+mn-lt"/>
                  </a:rPr>
                  <a:t>。</a:t>
                </a:r>
                <a:r>
                  <a:rPr lang="en-US" altLang="zh-CN" dirty="0">
                    <a:latin typeface="+mn-lt"/>
                  </a:rPr>
                  <a:t> </a:t>
                </a:r>
                <a14:m>
                  <m:oMath xmlns:m="http://schemas.openxmlformats.org/officeDocument/2006/math">
                    <m:r>
                      <a:rPr lang="en-US" altLang="zh-CN" i="1">
                        <a:latin typeface="Cambria Math" panose="02040503050406030204" pitchFamily="18" charset="0"/>
                      </a:rPr>
                      <m:t>ℬ</m:t>
                    </m:r>
                  </m:oMath>
                </a14:m>
                <a:r>
                  <a:rPr lang="zh-CN" altLang="en-GB" dirty="0">
                    <a:latin typeface="+mn-lt"/>
                  </a:rPr>
                  <a:t> </a:t>
                </a:r>
                <a:r>
                  <a:rPr lang="zh-CN" altLang="en-US" dirty="0">
                    <a:latin typeface="+mn-lt"/>
                  </a:rPr>
                  <a:t>在回答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mn-lt"/>
                  </a:rPr>
                  <a:t> 的问询时并不知道 </a:t>
                </a:r>
                <a:r>
                  <a:rPr lang="en-GB" altLang="zh-CN" i="1" dirty="0">
                    <a:latin typeface="+mn-lt"/>
                  </a:rPr>
                  <a:t>Y</a:t>
                </a:r>
                <a:r>
                  <a:rPr lang="en-GB" altLang="zh-CN" dirty="0">
                    <a:latin typeface="+mn-lt"/>
                  </a:rPr>
                  <a:t> </a:t>
                </a:r>
                <a:r>
                  <a:rPr lang="zh-CN" altLang="en-US" dirty="0">
                    <a:latin typeface="+mn-lt"/>
                  </a:rPr>
                  <a:t>对应的私钥 </a:t>
                </a:r>
                <a14:m>
                  <m:oMath xmlns:m="http://schemas.openxmlformats.org/officeDocument/2006/math">
                    <m:r>
                      <a:rPr lang="en-US" altLang="zh-CN" i="1" dirty="0">
                        <a:latin typeface="Cambria Math" panose="02040503050406030204" pitchFamily="18" charset="0"/>
                      </a:rPr>
                      <m:t>𝑎</m:t>
                    </m:r>
                  </m:oMath>
                </a14:m>
                <a:r>
                  <a:rPr lang="en-GB" altLang="zh-CN" dirty="0">
                    <a:latin typeface="+mn-lt"/>
                  </a:rPr>
                  <a:t> </a:t>
                </a:r>
                <a:r>
                  <a:rPr lang="zh-CN" altLang="en-GB" dirty="0">
                    <a:latin typeface="+mn-lt"/>
                  </a:rPr>
                  <a:t>，</a:t>
                </a:r>
                <a:r>
                  <a:rPr lang="zh-CN" altLang="en-US" dirty="0">
                    <a:latin typeface="+mn-lt"/>
                  </a:rPr>
                  <a:t>但 依然需要给出正确的解密结果。此时，</a:t>
                </a:r>
                <a14:m>
                  <m:oMath xmlns:m="http://schemas.openxmlformats.org/officeDocument/2006/math">
                    <m:r>
                      <a:rPr lang="en-US" altLang="zh-CN" i="1">
                        <a:latin typeface="Cambria Math" panose="02040503050406030204" pitchFamily="18" charset="0"/>
                      </a:rPr>
                      <m:t>ℬ</m:t>
                    </m:r>
                  </m:oMath>
                </a14:m>
                <a:r>
                  <a:rPr lang="zh-CN" altLang="en-US" dirty="0">
                    <a:latin typeface="+mn-lt"/>
                  </a:rPr>
                  <a:t> 可借助其维护的两个随机预言机列表 </a:t>
                </a:r>
                <a:r>
                  <a:rPr lang="en-GB" altLang="zh-CN" dirty="0" err="1">
                    <a:latin typeface="+mn-lt"/>
                  </a:rPr>
                  <a:t>KDF</a:t>
                </a:r>
                <a:r>
                  <a:rPr lang="en-GB" altLang="zh-CN" baseline="-25000" dirty="0" err="1">
                    <a:latin typeface="+mn-lt"/>
                  </a:rPr>
                  <a:t>list</a:t>
                </a:r>
                <a:r>
                  <a:rPr lang="en-GB" altLang="zh-CN" dirty="0">
                    <a:latin typeface="+mn-lt"/>
                  </a:rPr>
                  <a:t> </a:t>
                </a:r>
                <a:r>
                  <a:rPr lang="zh-CN" altLang="en-GB" dirty="0">
                    <a:latin typeface="+mn-lt"/>
                  </a:rPr>
                  <a:t>、 </a:t>
                </a:r>
                <a:r>
                  <a:rPr lang="en-GB" altLang="zh-CN" i="1" dirty="0">
                    <a:latin typeface="+mn-lt"/>
                  </a:rPr>
                  <a:t>H</a:t>
                </a:r>
                <a:r>
                  <a:rPr lang="en-GB" altLang="zh-CN" baseline="-25000" dirty="0">
                    <a:latin typeface="+mn-lt"/>
                  </a:rPr>
                  <a:t>list</a:t>
                </a:r>
                <a:r>
                  <a:rPr lang="en-GB" altLang="zh-CN" dirty="0">
                    <a:latin typeface="+mn-lt"/>
                  </a:rPr>
                  <a:t> </a:t>
                </a:r>
                <a:r>
                  <a:rPr lang="zh-CN" altLang="en-US" dirty="0">
                    <a:latin typeface="+mn-lt"/>
                  </a:rPr>
                  <a:t>来对 </a:t>
                </a:r>
                <a14:m>
                  <m:oMath xmlns:m="http://schemas.openxmlformats.org/officeDocument/2006/math">
                    <m:r>
                      <a:rPr lang="en-US" altLang="zh-CN" i="1">
                        <a:solidFill>
                          <a:srgbClr val="000000"/>
                        </a:solidFill>
                        <a:latin typeface="Cambria Math" panose="02040503050406030204" pitchFamily="18" charset="0"/>
                        <a:cs typeface="Times New Roman" panose="02020503050405090304" pitchFamily="18" charset="0"/>
                      </a:rPr>
                      <m:t>𝐶</m:t>
                    </m:r>
                  </m:oMath>
                </a14:m>
                <a:r>
                  <a:rPr lang="en-GB" altLang="zh-CN" dirty="0">
                    <a:latin typeface="+mn-lt"/>
                  </a:rPr>
                  <a:t> </a:t>
                </a:r>
                <a:r>
                  <a:rPr lang="zh-CN" altLang="en-US" dirty="0">
                    <a:latin typeface="+mn-lt"/>
                  </a:rPr>
                  <a:t>进行解密。其中的基本原理是，若要生成一个有效的密文，则密文生成者以压倒性的概率做过随机预言机</a:t>
                </a:r>
                <a:r>
                  <a:rPr lang="en-GB" altLang="zh-CN" dirty="0">
                    <a:latin typeface="+mn-lt"/>
                  </a:rPr>
                  <a:t>KDF </a:t>
                </a:r>
                <a:r>
                  <a:rPr lang="zh-CN" altLang="en-US" dirty="0">
                    <a:latin typeface="+mn-lt"/>
                  </a:rPr>
                  <a:t>和 </a:t>
                </a:r>
                <a:r>
                  <a:rPr lang="en-GB" altLang="zh-CN" i="1" dirty="0">
                    <a:latin typeface="+mn-lt"/>
                  </a:rPr>
                  <a:t>H</a:t>
                </a:r>
                <a:r>
                  <a:rPr lang="en-GB" altLang="zh-CN" dirty="0">
                    <a:latin typeface="+mn-lt"/>
                  </a:rPr>
                  <a:t> </a:t>
                </a:r>
                <a:r>
                  <a:rPr lang="zh-CN" altLang="en-US" dirty="0">
                    <a:latin typeface="+mn-lt"/>
                  </a:rPr>
                  <a:t>问询。也就是说若 </a:t>
                </a:r>
                <a14:m>
                  <m:oMath xmlns:m="http://schemas.openxmlformats.org/officeDocument/2006/math">
                    <m:r>
                      <a:rPr lang="en-US" altLang="zh-CN" i="1">
                        <a:solidFill>
                          <a:srgbClr val="000000"/>
                        </a:solidFill>
                        <a:latin typeface="Cambria Math" panose="02040503050406030204" pitchFamily="18" charset="0"/>
                        <a:cs typeface="Times New Roman" panose="02020503050405090304" pitchFamily="18" charset="0"/>
                      </a:rPr>
                      <m:t>𝐶</m:t>
                    </m:r>
                  </m:oMath>
                </a14:m>
                <a:r>
                  <a:rPr lang="en-GB" altLang="zh-CN" dirty="0">
                    <a:latin typeface="+mn-lt"/>
                  </a:rPr>
                  <a:t> </a:t>
                </a:r>
                <a:r>
                  <a:rPr lang="zh-CN" altLang="en-US" dirty="0">
                    <a:latin typeface="+mn-lt"/>
                  </a:rPr>
                  <a:t>是一个有效的密文，则与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2</m:t>
                        </m:r>
                      </m:sub>
                    </m:sSub>
                  </m:oMath>
                </a14:m>
                <a:r>
                  <a:rPr lang="zh-CN" altLang="en-US" dirty="0">
                    <a:latin typeface="+mn-lt"/>
                  </a:rPr>
                  <a:t> 和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3</m:t>
                        </m:r>
                      </m:sub>
                    </m:sSub>
                  </m:oMath>
                </a14:m>
                <a:r>
                  <a:rPr lang="zh-CN" altLang="en-US" dirty="0">
                    <a:latin typeface="+mn-lt"/>
                  </a:rPr>
                  <a:t>有关的随机预言机 </a:t>
                </a:r>
                <a:r>
                  <a:rPr lang="en-GB" altLang="zh-CN" dirty="0">
                    <a:latin typeface="+mn-lt"/>
                  </a:rPr>
                  <a:t>KDF </a:t>
                </a:r>
                <a:r>
                  <a:rPr lang="zh-CN" altLang="en-US" dirty="0">
                    <a:latin typeface="+mn-lt"/>
                  </a:rPr>
                  <a:t>和 </a:t>
                </a:r>
                <a:r>
                  <a:rPr lang="en-GB" altLang="zh-CN" dirty="0">
                    <a:latin typeface="+mn-lt"/>
                  </a:rPr>
                  <a:t>H </a:t>
                </a:r>
                <a:r>
                  <a:rPr lang="zh-CN" altLang="en-US" dirty="0">
                    <a:latin typeface="+mn-lt"/>
                  </a:rPr>
                  <a:t>以压倒性的概率被询问过。我们容易计算，在与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2</m:t>
                        </m:r>
                      </m:sub>
                    </m:sSub>
                  </m:oMath>
                </a14:m>
                <a:r>
                  <a:rPr lang="zh-CN" altLang="en-US" dirty="0">
                    <a:latin typeface="+mn-lt"/>
                  </a:rPr>
                  <a:t> 和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3</m:t>
                        </m:r>
                      </m:sub>
                    </m:sSub>
                  </m:oMath>
                </a14:m>
                <a:r>
                  <a:rPr lang="zh-CN" altLang="en-US" dirty="0">
                    <a:latin typeface="+mn-lt"/>
                  </a:rPr>
                  <a:t> 有关的随机预言机 </a:t>
                </a:r>
                <a:r>
                  <a:rPr lang="en-GB" altLang="zh-CN" dirty="0">
                    <a:latin typeface="+mn-lt"/>
                  </a:rPr>
                  <a:t>KDF </a:t>
                </a:r>
                <a:r>
                  <a:rPr lang="zh-CN" altLang="en-US" dirty="0">
                    <a:latin typeface="+mn-lt"/>
                  </a:rPr>
                  <a:t>和 </a:t>
                </a:r>
                <a:r>
                  <a:rPr lang="en-GB" altLang="zh-CN" i="1" dirty="0">
                    <a:latin typeface="+mn-lt"/>
                  </a:rPr>
                  <a:t>H</a:t>
                </a:r>
                <a:r>
                  <a:rPr lang="en-GB" altLang="zh-CN" dirty="0">
                    <a:latin typeface="+mn-lt"/>
                  </a:rPr>
                  <a:t> </a:t>
                </a:r>
                <a:r>
                  <a:rPr lang="zh-CN" altLang="en-US" dirty="0">
                    <a:latin typeface="+mn-lt"/>
                  </a:rPr>
                  <a:t>没有被询问过的情况下， </a:t>
                </a:r>
                <a14:m>
                  <m:oMath xmlns:m="http://schemas.openxmlformats.org/officeDocument/2006/math">
                    <m:r>
                      <a:rPr lang="en-US" altLang="zh-CN" i="1">
                        <a:solidFill>
                          <a:srgbClr val="000000"/>
                        </a:solidFill>
                        <a:latin typeface="Cambria Math" panose="02040503050406030204" pitchFamily="18" charset="0"/>
                        <a:cs typeface="Times New Roman" panose="02020503050405090304" pitchFamily="18" charset="0"/>
                      </a:rPr>
                      <m:t>𝐶</m:t>
                    </m:r>
                  </m:oMath>
                </a14:m>
                <a:r>
                  <a:rPr lang="en-GB" altLang="zh-CN" dirty="0">
                    <a:latin typeface="+mn-lt"/>
                  </a:rPr>
                  <a:t> </a:t>
                </a:r>
                <a:r>
                  <a:rPr lang="zh-CN" altLang="en-US" dirty="0">
                    <a:latin typeface="+mn-lt"/>
                  </a:rPr>
                  <a:t>是一个有效的密文的概率为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i="1" dirty="0">
                                <a:solidFill>
                                  <a:srgbClr val="000000"/>
                                </a:solidFill>
                                <a:latin typeface="Cambria Math" panose="02040503050406030204" pitchFamily="18" charset="0"/>
                                <a:cs typeface="Times New Roman" panose="02020503050405090304" pitchFamily="18" charset="0"/>
                              </a:rPr>
                            </m:ctrlPr>
                          </m:sSupPr>
                          <m:e>
                            <m:r>
                              <a:rPr lang="en-US" altLang="zh-CN" dirty="0">
                                <a:solidFill>
                                  <a:srgbClr val="000000"/>
                                </a:solidFill>
                                <a:latin typeface="Cambria Math" panose="02040503050406030204" pitchFamily="18" charset="0"/>
                                <a:cs typeface="Times New Roman" panose="02020503050405090304" pitchFamily="18" charset="0"/>
                              </a:rPr>
                              <m:t>2</m:t>
                            </m:r>
                          </m:e>
                          <m:sup>
                            <m:r>
                              <m:rPr>
                                <m:sty m:val="p"/>
                              </m:rPr>
                              <a:rPr lang="en-US" altLang="zh-CN" dirty="0">
                                <a:solidFill>
                                  <a:srgbClr val="000000"/>
                                </a:solidFill>
                                <a:latin typeface="Cambria Math" panose="02040503050406030204" pitchFamily="18" charset="0"/>
                                <a:cs typeface="Times New Roman" panose="02020503050405090304" pitchFamily="18" charset="0"/>
                              </a:rPr>
                              <m:t>klen</m:t>
                            </m:r>
                            <m:r>
                              <a:rPr lang="en-US" altLang="zh-CN" dirty="0">
                                <a:solidFill>
                                  <a:srgbClr val="000000"/>
                                </a:solidFill>
                                <a:latin typeface="Cambria Math" panose="02040503050406030204" pitchFamily="18" charset="0"/>
                                <a:cs typeface="Times New Roman" panose="02020503050405090304" pitchFamily="18" charset="0"/>
                              </a:rPr>
                              <m:t>+</m:t>
                            </m:r>
                            <m:r>
                              <a:rPr lang="en-US" altLang="zh-CN" dirty="0">
                                <a:solidFill>
                                  <a:srgbClr val="000000"/>
                                </a:solidFill>
                                <a:latin typeface="Cambria Math" panose="02040503050406030204" pitchFamily="18" charset="0"/>
                                <a:cs typeface="Times New Roman" panose="02020503050405090304" pitchFamily="18" charset="0"/>
                              </a:rPr>
                              <m:t>256</m:t>
                            </m:r>
                          </m:sup>
                        </m:sSup>
                      </m:den>
                    </m:f>
                    <m:r>
                      <a:rPr lang="en-US" altLang="zh-CN" i="1" dirty="0">
                        <a:solidFill>
                          <a:srgbClr val="000000"/>
                        </a:solidFill>
                        <a:latin typeface="Cambria Math" panose="02040503050406030204" pitchFamily="18" charset="0"/>
                        <a:cs typeface="Times New Roman" panose="02020503050405090304" pitchFamily="18" charset="0"/>
                      </a:rPr>
                      <m:t> </m:t>
                    </m:r>
                  </m:oMath>
                </a14:m>
                <a:r>
                  <a:rPr lang="zh-CN" altLang="en-GB" dirty="0">
                    <a:latin typeface="+mn-lt"/>
                  </a:rPr>
                  <a:t>。</a:t>
                </a:r>
                <a:r>
                  <a:rPr lang="zh-CN" altLang="en-US" dirty="0">
                    <a:latin typeface="+mn-lt"/>
                  </a:rPr>
                  <a:t>此时，</a:t>
                </a:r>
                <a14:m>
                  <m:oMath xmlns:m="http://schemas.openxmlformats.org/officeDocument/2006/math">
                    <m:r>
                      <a:rPr lang="en-US" altLang="zh-CN" i="1">
                        <a:latin typeface="Cambria Math" panose="02040503050406030204" pitchFamily="18" charset="0"/>
                      </a:rPr>
                      <m:t>ℬ</m:t>
                    </m:r>
                  </m:oMath>
                </a14:m>
                <a:r>
                  <a:rPr lang="zh-CN" altLang="en-US" dirty="0">
                    <a:latin typeface="+mn-lt"/>
                  </a:rPr>
                  <a:t> 会出现错误解密的情况并终止。否则， </a:t>
                </a:r>
                <a14:m>
                  <m:oMath xmlns:m="http://schemas.openxmlformats.org/officeDocument/2006/math">
                    <m:r>
                      <a:rPr lang="en-US" altLang="zh-CN" i="1">
                        <a:latin typeface="Cambria Math" panose="02040503050406030204" pitchFamily="18" charset="0"/>
                      </a:rPr>
                      <m:t>ℬ</m:t>
                    </m:r>
                  </m:oMath>
                </a14:m>
                <a:r>
                  <a:rPr lang="zh-CN" altLang="en-US" dirty="0">
                    <a:latin typeface="+mn-lt"/>
                  </a:rPr>
                  <a:t>执行如下步骤对 </a:t>
                </a:r>
                <a14:m>
                  <m:oMath xmlns:m="http://schemas.openxmlformats.org/officeDocument/2006/math">
                    <m:r>
                      <a:rPr lang="en-US" altLang="zh-CN" i="1">
                        <a:solidFill>
                          <a:srgbClr val="000000"/>
                        </a:solidFill>
                        <a:latin typeface="Cambria Math" panose="02040503050406030204" pitchFamily="18" charset="0"/>
                        <a:cs typeface="Times New Roman" panose="02020503050405090304" pitchFamily="18" charset="0"/>
                      </a:rPr>
                      <m:t>𝐶</m:t>
                    </m:r>
                  </m:oMath>
                </a14:m>
                <a:r>
                  <a:rPr lang="en-GB" altLang="zh-CN" dirty="0">
                    <a:latin typeface="+mn-lt"/>
                  </a:rPr>
                  <a:t> </a:t>
                </a:r>
                <a:r>
                  <a:rPr lang="zh-CN" altLang="en-US" dirty="0">
                    <a:latin typeface="+mn-lt"/>
                  </a:rPr>
                  <a:t>进行解密。 </a:t>
                </a:r>
                <a:endParaRPr lang="en-US" altLang="zh-CN" dirty="0">
                  <a:latin typeface="+mn-lt"/>
                </a:endParaRPr>
              </a:p>
              <a:p>
                <a:pPr algn="just">
                  <a:lnSpc>
                    <a:spcPct val="132000"/>
                  </a:lnSpc>
                </a:pPr>
                <a:r>
                  <a:rPr lang="zh-CN" altLang="en-US" dirty="0">
                    <a:latin typeface="+mn-lt"/>
                  </a:rPr>
                  <a:t>（</a:t>
                </a:r>
                <a:r>
                  <a:rPr lang="en-US" altLang="zh-CN" dirty="0">
                    <a:latin typeface="+mn-lt"/>
                  </a:rPr>
                  <a:t>1</a:t>
                </a:r>
                <a:r>
                  <a:rPr lang="zh-CN" altLang="en-US" dirty="0">
                    <a:latin typeface="+mn-lt"/>
                  </a:rPr>
                  <a:t>）检索 </a:t>
                </a:r>
                <a:r>
                  <a:rPr lang="en-GB" altLang="zh-CN" i="1" dirty="0">
                    <a:latin typeface="+mn-lt"/>
                  </a:rPr>
                  <a:t>H</a:t>
                </a:r>
                <a:r>
                  <a:rPr lang="en-GB" altLang="zh-CN" baseline="-25000" dirty="0">
                    <a:latin typeface="+mn-lt"/>
                  </a:rPr>
                  <a:t>list</a:t>
                </a:r>
                <a:r>
                  <a:rPr lang="en-GB" altLang="zh-CN" dirty="0">
                    <a:latin typeface="+mn-lt"/>
                  </a:rPr>
                  <a:t> </a:t>
                </a:r>
                <a:r>
                  <a:rPr lang="zh-CN" altLang="en-GB" dirty="0">
                    <a:latin typeface="+mn-lt"/>
                  </a:rPr>
                  <a:t>。</a:t>
                </a:r>
                <a:r>
                  <a:rPr lang="zh-CN" altLang="en-US" dirty="0">
                    <a:latin typeface="+mn-lt"/>
                  </a:rPr>
                  <a:t>查找是否存在元组 </a:t>
                </a:r>
                <a:r>
                  <a:rPr lang="en-US" altLang="zh-CN" dirty="0">
                    <a:latin typeface="+mn-lt"/>
                  </a:rPr>
                  <a:t>(</a:t>
                </a:r>
                <a:r>
                  <a:rPr lang="en-GB" altLang="zh-CN" i="1" dirty="0">
                    <a:latin typeface="+mn-lt"/>
                  </a:rPr>
                  <a:t>B</a:t>
                </a:r>
                <a:r>
                  <a:rPr lang="en-GB" altLang="zh-CN" i="1" baseline="-25000" dirty="0">
                    <a:latin typeface="+mn-lt"/>
                  </a:rPr>
                  <a:t>i</a:t>
                </a:r>
                <a:r>
                  <a:rPr lang="en-US" altLang="zh-CN" dirty="0">
                    <a:latin typeface="+mn-lt"/>
                  </a:rPr>
                  <a:t>, </a:t>
                </a:r>
                <a:r>
                  <a:rPr lang="en-US" altLang="zh-CN" i="1" dirty="0">
                    <a:latin typeface="+mn-lt"/>
                  </a:rPr>
                  <a:t>b</a:t>
                </a:r>
                <a:r>
                  <a:rPr lang="en-US" altLang="zh-CN" i="1" baseline="-25000" dirty="0">
                    <a:latin typeface="+mn-lt"/>
                  </a:rPr>
                  <a:t>i</a:t>
                </a:r>
                <a:r>
                  <a:rPr lang="en-US" altLang="zh-CN" dirty="0">
                    <a:latin typeface="+mn-lt"/>
                  </a:rPr>
                  <a:t>)</a:t>
                </a:r>
                <a:r>
                  <a:rPr lang="zh-CN" altLang="en-US" dirty="0">
                    <a:latin typeface="+mn-lt"/>
                  </a:rPr>
                  <a:t> 满足 </a:t>
                </a:r>
                <a:r>
                  <a:rPr lang="en-US" altLang="zh-CN" i="1" dirty="0">
                    <a:latin typeface="+mn-lt"/>
                  </a:rPr>
                  <a:t>b</a:t>
                </a:r>
                <a:r>
                  <a:rPr lang="en-US" altLang="zh-CN" i="1" baseline="-25000" dirty="0">
                    <a:latin typeface="+mn-lt"/>
                  </a:rPr>
                  <a:t>i </a:t>
                </a:r>
                <a:r>
                  <a:rPr lang="en-GB" altLang="zh-CN" dirty="0">
                    <a:latin typeface="+mn-lt"/>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3</m:t>
                        </m:r>
                      </m:sub>
                    </m:sSub>
                  </m:oMath>
                </a14:m>
                <a:r>
                  <a:rPr lang="en-GB" altLang="zh-CN" dirty="0">
                    <a:latin typeface="+mn-lt"/>
                  </a:rPr>
                  <a:t> </a:t>
                </a:r>
                <a:r>
                  <a:rPr lang="zh-CN" altLang="en-GB" dirty="0">
                    <a:latin typeface="+mn-lt"/>
                  </a:rPr>
                  <a:t>。</a:t>
                </a:r>
                <a:r>
                  <a:rPr lang="zh-CN" altLang="en-US" dirty="0">
                    <a:latin typeface="+mn-lt"/>
                  </a:rPr>
                  <a:t>若所有元组都不满足该关系，则返回 </a:t>
                </a:r>
                <a14:m>
                  <m:oMath xmlns:m="http://schemas.openxmlformats.org/officeDocument/2006/math">
                    <m:r>
                      <a:rPr lang="zh-CN" altLang="en-US" i="1" smtClean="0">
                        <a:latin typeface="Cambria Math" panose="02040503050406030204" pitchFamily="18" charset="0"/>
                      </a:rPr>
                      <m:t>⊥</m:t>
                    </m:r>
                  </m:oMath>
                </a14:m>
                <a:r>
                  <a:rPr lang="zh-CN" altLang="en-GB" dirty="0">
                    <a:latin typeface="+mn-lt"/>
                  </a:rPr>
                  <a:t>（</a:t>
                </a:r>
                <a:r>
                  <a:rPr lang="zh-CN" altLang="en-US" dirty="0">
                    <a:latin typeface="+mn-lt"/>
                  </a:rPr>
                  <a:t>表示解密失败）；否则，我们假设满足该关系的元组为 </a:t>
                </a:r>
                <a:r>
                  <a:rPr lang="en-US" altLang="zh-CN" dirty="0">
                    <a:latin typeface="+mn-lt"/>
                  </a:rPr>
                  <a:t>(</a:t>
                </a:r>
                <a:r>
                  <a:rPr lang="en-GB" altLang="zh-CN" i="1" dirty="0">
                    <a:latin typeface="+mn-lt"/>
                  </a:rPr>
                  <a:t>B</a:t>
                </a:r>
                <a:r>
                  <a:rPr lang="en-GB" altLang="zh-CN" i="1" baseline="-25000" dirty="0">
                    <a:latin typeface="+mn-lt"/>
                  </a:rPr>
                  <a:t>i</a:t>
                </a:r>
                <a:r>
                  <a:rPr lang="en-US" altLang="zh-CN" dirty="0">
                    <a:latin typeface="+mn-lt"/>
                  </a:rPr>
                  <a:t>, </a:t>
                </a:r>
                <a:r>
                  <a:rPr lang="en-US" altLang="zh-CN" i="1" dirty="0">
                    <a:latin typeface="+mn-lt"/>
                  </a:rPr>
                  <a:t>b</a:t>
                </a:r>
                <a:r>
                  <a:rPr lang="en-US" altLang="zh-CN" i="1" baseline="-25000" dirty="0">
                    <a:latin typeface="+mn-lt"/>
                  </a:rPr>
                  <a:t>i</a:t>
                </a:r>
                <a:r>
                  <a:rPr lang="en-US" altLang="zh-CN" dirty="0">
                    <a:latin typeface="+mn-lt"/>
                  </a:rPr>
                  <a:t>)</a:t>
                </a:r>
                <a:r>
                  <a:rPr lang="zh-CN" altLang="en-US" dirty="0">
                    <a:latin typeface="+mn-lt"/>
                  </a:rPr>
                  <a:t> </a:t>
                </a:r>
                <a:r>
                  <a:rPr lang="zh-CN" altLang="en-GB" dirty="0">
                    <a:latin typeface="+mn-lt"/>
                  </a:rPr>
                  <a:t>、</a:t>
                </a:r>
                <a:r>
                  <a:rPr lang="en-US" altLang="zh-CN" dirty="0">
                    <a:latin typeface="+mn-lt"/>
                  </a:rPr>
                  <a:t> </a:t>
                </a:r>
                <a:r>
                  <a:rPr lang="en-GB" altLang="zh-CN" i="1" dirty="0">
                    <a:latin typeface="+mn-lt"/>
                  </a:rPr>
                  <a:t>B</a:t>
                </a:r>
                <a:r>
                  <a:rPr lang="en-GB" altLang="zh-CN" i="1" baseline="-25000" dirty="0">
                    <a:latin typeface="+mn-lt"/>
                  </a:rPr>
                  <a:t>i</a:t>
                </a:r>
                <a:r>
                  <a:rPr lang="en-US" altLang="zh-CN" dirty="0">
                    <a:latin typeface="+mn-lt"/>
                  </a:rPr>
                  <a:t>=</a:t>
                </a:r>
                <a:r>
                  <a:rPr lang="zh-CN" altLang="zh-CN" dirty="0">
                    <a:solidFill>
                      <a:srgbClr val="000000"/>
                    </a:solidFill>
                    <a:latin typeface="+mn-lt"/>
                    <a:cs typeface="Times New Roman" panose="0202050305040509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𝑥</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b="0" i="1" smtClean="0">
                        <a:solidFill>
                          <a:srgbClr val="000000"/>
                        </a:solidFill>
                        <a:latin typeface="Cambria Math" panose="02040503050406030204" pitchFamily="18" charset="0"/>
                        <a:cs typeface="Times New Roman" panose="02020503050405090304" pitchFamily="18" charset="0"/>
                      </a:rPr>
                      <m:t>||</m:t>
                    </m:r>
                  </m:oMath>
                </a14:m>
                <a:r>
                  <a:rPr lang="zh-CN" altLang="en-GB" dirty="0">
                    <a:latin typeface="+mn-lt"/>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b="0" i="1" smtClean="0">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i="1">
                        <a:solidFill>
                          <a:srgbClr val="000000"/>
                        </a:solidFill>
                        <a:latin typeface="Cambria Math" panose="02040503050406030204" pitchFamily="18" charset="0"/>
                        <a:cs typeface="Times New Roman" panose="02020503050405090304" pitchFamily="18" charset="0"/>
                      </a:rPr>
                      <m:t> </m:t>
                    </m:r>
                  </m:oMath>
                </a14:m>
                <a:r>
                  <a:rPr lang="en-US" altLang="zh-CN" dirty="0">
                    <a:latin typeface="+mn-lt"/>
                  </a:rPr>
                  <a:t>||</a:t>
                </a:r>
                <a:r>
                  <a:rPr lang="zh-CN" altLang="zh-CN" dirty="0">
                    <a:solidFill>
                      <a:srgbClr val="000000"/>
                    </a:solidFill>
                    <a:latin typeface="+mn-lt"/>
                    <a:cs typeface="Times New Roman" panose="0202050305040509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b="0" i="1" smtClean="0">
                            <a:solidFill>
                              <a:srgbClr val="000000"/>
                            </a:solidFill>
                            <a:latin typeface="Cambria Math" panose="02040503050406030204" pitchFamily="18" charset="0"/>
                            <a:cs typeface="Times New Roman" panose="02020503050405090304" pitchFamily="18" charset="0"/>
                          </a:rPr>
                          <m:t>𝑦</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i="1">
                        <a:solidFill>
                          <a:srgbClr val="000000"/>
                        </a:solidFill>
                        <a:latin typeface="Cambria Math" panose="02040503050406030204" pitchFamily="18" charset="0"/>
                        <a:cs typeface="Times New Roman" panose="02020503050405090304" pitchFamily="18" charset="0"/>
                      </a:rPr>
                      <m:t> </m:t>
                    </m:r>
                    <m:r>
                      <a:rPr lang="zh-CN" altLang="en-US" b="0" i="0" smtClean="0">
                        <a:solidFill>
                          <a:srgbClr val="000000"/>
                        </a:solidFill>
                        <a:latin typeface="Cambria Math" panose="02040503050406030204" pitchFamily="18" charset="0"/>
                        <a:cs typeface="Times New Roman" panose="02020503050405090304" pitchFamily="18" charset="0"/>
                      </a:rPr>
                      <m:t>。</m:t>
                    </m:r>
                  </m:oMath>
                </a14:m>
                <a:endParaRPr lang="en-US" altLang="zh-CN" dirty="0">
                  <a:latin typeface="+mn-lt"/>
                </a:endParaRPr>
              </a:p>
              <a:p>
                <a:pPr algn="just">
                  <a:lnSpc>
                    <a:spcPct val="132000"/>
                  </a:lnSpc>
                </a:pPr>
                <a:r>
                  <a:rPr lang="zh-CN" altLang="en-GB" dirty="0">
                    <a:latin typeface="+mn-lt"/>
                  </a:rPr>
                  <a:t>（</a:t>
                </a:r>
                <a:r>
                  <a:rPr lang="en-GB" altLang="zh-CN" dirty="0">
                    <a:latin typeface="+mn-lt"/>
                  </a:rPr>
                  <a:t>2</a:t>
                </a:r>
                <a:r>
                  <a:rPr lang="zh-CN" altLang="en-GB" dirty="0">
                    <a:latin typeface="+mn-lt"/>
                  </a:rPr>
                  <a:t>）</a:t>
                </a:r>
                <a:r>
                  <a:rPr lang="zh-CN" altLang="en-US" dirty="0">
                    <a:latin typeface="+mn-lt"/>
                  </a:rPr>
                  <a:t>检索 </a:t>
                </a:r>
                <a:r>
                  <a:rPr lang="en-GB" altLang="zh-CN" dirty="0" err="1">
                    <a:latin typeface="+mn-lt"/>
                  </a:rPr>
                  <a:t>KDF</a:t>
                </a:r>
                <a:r>
                  <a:rPr lang="en-GB" altLang="zh-CN" baseline="-25000" dirty="0" err="1">
                    <a:latin typeface="+mn-lt"/>
                  </a:rPr>
                  <a:t>list</a:t>
                </a:r>
                <a:r>
                  <a:rPr lang="en-GB" altLang="zh-CN" baseline="-25000" dirty="0">
                    <a:latin typeface="+mn-lt"/>
                  </a:rPr>
                  <a:t> </a:t>
                </a:r>
                <a:r>
                  <a:rPr lang="zh-CN" altLang="en-GB" dirty="0">
                    <a:latin typeface="+mn-lt"/>
                  </a:rPr>
                  <a:t>。 </a:t>
                </a:r>
                <a:r>
                  <a:rPr lang="zh-CN" altLang="en-US" dirty="0">
                    <a:latin typeface="+mn-lt"/>
                  </a:rPr>
                  <a:t>令</a:t>
                </a:r>
                <a:r>
                  <a:rPr lang="en-US" altLang="zh-CN" dirty="0">
                    <a:latin typeface="+mn-lt"/>
                  </a:rPr>
                  <a:t> </a:t>
                </a:r>
                <a:r>
                  <a:rPr lang="en-GB" altLang="zh-CN" i="1" dirty="0">
                    <a:latin typeface="+mn-lt"/>
                  </a:rPr>
                  <a:t>B</a:t>
                </a:r>
                <a:r>
                  <a:rPr lang="en-GB" altLang="zh-CN" i="1" baseline="-25000" dirty="0">
                    <a:latin typeface="+mn-lt"/>
                  </a:rPr>
                  <a:t>i</a:t>
                </a:r>
                <a:r>
                  <a:rPr lang="en-US" altLang="zh-CN" dirty="0">
                    <a:latin typeface="+mn-lt"/>
                  </a:rPr>
                  <a:t>=</a:t>
                </a:r>
                <a:r>
                  <a:rPr lang="zh-CN" altLang="zh-CN" dirty="0">
                    <a:solidFill>
                      <a:srgbClr val="000000"/>
                    </a:solidFill>
                    <a:latin typeface="+mn-lt"/>
                    <a:cs typeface="Times New Roman" panose="0202050305040509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𝑥</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b="0" i="1" smtClean="0">
                        <a:solidFill>
                          <a:srgbClr val="000000"/>
                        </a:solidFill>
                        <a:latin typeface="Cambria Math" panose="02040503050406030204" pitchFamily="18" charset="0"/>
                        <a:cs typeface="Times New Roman" panose="02020503050405090304" pitchFamily="18" charset="0"/>
                      </a:rPr>
                      <m:t>||</m:t>
                    </m:r>
                  </m:oMath>
                </a14:m>
                <a:r>
                  <a:rPr lang="zh-CN" altLang="en-GB" dirty="0">
                    <a:latin typeface="+mn-lt"/>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b="0" i="1" smtClean="0">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i="1">
                        <a:solidFill>
                          <a:srgbClr val="000000"/>
                        </a:solidFill>
                        <a:latin typeface="Cambria Math" panose="02040503050406030204" pitchFamily="18" charset="0"/>
                        <a:cs typeface="Times New Roman" panose="02020503050405090304" pitchFamily="18" charset="0"/>
                      </a:rPr>
                      <m:t> </m:t>
                    </m:r>
                  </m:oMath>
                </a14:m>
                <a:r>
                  <a:rPr lang="en-US" altLang="zh-CN" dirty="0">
                    <a:latin typeface="+mn-lt"/>
                  </a:rPr>
                  <a:t>||</a:t>
                </a:r>
                <a:r>
                  <a:rPr lang="zh-CN" altLang="zh-CN" dirty="0">
                    <a:solidFill>
                      <a:srgbClr val="000000"/>
                    </a:solidFill>
                    <a:latin typeface="+mn-lt"/>
                    <a:cs typeface="Times New Roman" panose="0202050305040509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b="0" i="1" smtClean="0">
                            <a:solidFill>
                              <a:srgbClr val="000000"/>
                            </a:solidFill>
                            <a:latin typeface="Cambria Math" panose="02040503050406030204" pitchFamily="18" charset="0"/>
                            <a:cs typeface="Times New Roman" panose="02020503050405090304" pitchFamily="18" charset="0"/>
                          </a:rPr>
                          <m:t>𝑦</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i="1">
                        <a:solidFill>
                          <a:srgbClr val="000000"/>
                        </a:solidFill>
                        <a:latin typeface="Cambria Math" panose="02040503050406030204" pitchFamily="18" charset="0"/>
                        <a:cs typeface="Times New Roman" panose="02020503050405090304" pitchFamily="18" charset="0"/>
                      </a:rPr>
                      <m:t> </m:t>
                    </m:r>
                  </m:oMath>
                </a14:m>
                <a:r>
                  <a:rPr lang="zh-CN" altLang="en-GB" dirty="0">
                    <a:latin typeface="+mn-lt"/>
                  </a:rPr>
                  <a:t>，</a:t>
                </a:r>
                <a:r>
                  <a:rPr lang="zh-CN" altLang="en-US" dirty="0">
                    <a:latin typeface="+mn-lt"/>
                  </a:rPr>
                  <a:t>若 </a:t>
                </a:r>
                <a:r>
                  <a:rPr lang="en-GB" altLang="zh-CN" dirty="0" err="1">
                    <a:latin typeface="+mn-lt"/>
                  </a:rPr>
                  <a:t>KDF</a:t>
                </a:r>
                <a:r>
                  <a:rPr lang="en-GB" altLang="zh-CN" baseline="-25000" dirty="0" err="1">
                    <a:latin typeface="+mn-lt"/>
                  </a:rPr>
                  <a:t>list</a:t>
                </a:r>
                <a:r>
                  <a:rPr lang="en-GB" altLang="zh-CN" dirty="0">
                    <a:latin typeface="+mn-lt"/>
                  </a:rPr>
                  <a:t> </a:t>
                </a:r>
                <a:r>
                  <a:rPr lang="zh-CN" altLang="en-US" dirty="0">
                    <a:latin typeface="+mn-lt"/>
                  </a:rPr>
                  <a:t>中存在元组 </a:t>
                </a:r>
                <a:r>
                  <a:rPr lang="en-US" altLang="zh-CN" dirty="0">
                    <a:latin typeface="+mn-lt"/>
                  </a:rPr>
                  <a:t>(</a:t>
                </a:r>
                <a:r>
                  <a:rPr lang="en-GB" altLang="zh-CN" i="1" dirty="0">
                    <a:latin typeface="+mn-lt"/>
                  </a:rPr>
                  <a:t>A</a:t>
                </a:r>
                <a:r>
                  <a:rPr lang="en-GB" altLang="zh-CN" i="1" baseline="-25000" dirty="0">
                    <a:latin typeface="+mn-lt"/>
                  </a:rPr>
                  <a:t>i</a:t>
                </a:r>
                <a:r>
                  <a:rPr lang="en-US" altLang="zh-CN" dirty="0">
                    <a:latin typeface="+mn-lt"/>
                  </a:rPr>
                  <a:t>, </a:t>
                </a:r>
                <a:r>
                  <a:rPr lang="en-US" altLang="zh-CN" i="1" dirty="0">
                    <a:latin typeface="+mn-lt"/>
                  </a:rPr>
                  <a:t>a</a:t>
                </a:r>
                <a:r>
                  <a:rPr lang="en-US" altLang="zh-CN" i="1" baseline="-25000" dirty="0">
                    <a:latin typeface="+mn-lt"/>
                  </a:rPr>
                  <a:t>i</a:t>
                </a:r>
                <a:r>
                  <a:rPr lang="en-US" altLang="zh-CN" dirty="0">
                    <a:latin typeface="+mn-lt"/>
                  </a:rPr>
                  <a:t>)</a:t>
                </a:r>
                <a:r>
                  <a:rPr lang="zh-CN" altLang="en-US" dirty="0">
                    <a:latin typeface="+mn-lt"/>
                  </a:rPr>
                  <a:t> 使得 </a:t>
                </a:r>
                <a:r>
                  <a:rPr lang="en-GB" altLang="zh-CN" i="1" dirty="0">
                    <a:latin typeface="+mn-lt"/>
                  </a:rPr>
                  <a:t>A</a:t>
                </a:r>
                <a:r>
                  <a:rPr lang="en-GB" altLang="zh-CN" i="1" baseline="-25000" dirty="0">
                    <a:latin typeface="+mn-lt"/>
                  </a:rPr>
                  <a:t>i </a:t>
                </a:r>
                <a:r>
                  <a:rPr lang="en-US" altLang="zh-CN" dirty="0">
                    <a:latin typeface="+mn-lt"/>
                  </a:rPr>
                  <a:t>=</a:t>
                </a:r>
                <a:r>
                  <a:rPr lang="zh-CN" altLang="zh-CN" dirty="0">
                    <a:solidFill>
                      <a:srgbClr val="000000"/>
                    </a:solidFill>
                    <a:latin typeface="+mn-lt"/>
                    <a:cs typeface="Times New Roman" panose="0202050305040509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𝑥</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i="1">
                        <a:solidFill>
                          <a:srgbClr val="000000"/>
                        </a:solidFill>
                        <a:latin typeface="Cambria Math" panose="02040503050406030204" pitchFamily="18" charset="0"/>
                        <a:cs typeface="Times New Roman" panose="02020503050405090304" pitchFamily="18" charset="0"/>
                      </a:rPr>
                      <m:t>||</m:t>
                    </m:r>
                  </m:oMath>
                </a14:m>
                <a:r>
                  <a:rPr lang="zh-CN" altLang="en-GB" dirty="0">
                    <a:latin typeface="+mn-lt"/>
                  </a:rPr>
                  <a:t>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𝑦</m:t>
                        </m:r>
                      </m:e>
                      <m:sub>
                        <m:r>
                          <a:rPr lang="en-US" altLang="zh-CN" i="1">
                            <a:solidFill>
                              <a:srgbClr val="000000"/>
                            </a:solidFill>
                            <a:latin typeface="Cambria Math" panose="02040503050406030204" pitchFamily="18" charset="0"/>
                            <a:cs typeface="Times New Roman" panose="02020503050405090304" pitchFamily="18" charset="0"/>
                          </a:rPr>
                          <m:t>2</m:t>
                        </m:r>
                        <m:r>
                          <a:rPr lang="en-US" altLang="zh-CN" i="1">
                            <a:solidFill>
                              <a:srgbClr val="000000"/>
                            </a:solidFill>
                            <a:latin typeface="Cambria Math" panose="02040503050406030204" pitchFamily="18" charset="0"/>
                            <a:cs typeface="Times New Roman" panose="02020503050405090304" pitchFamily="18" charset="0"/>
                          </a:rPr>
                          <m:t>𝑖</m:t>
                        </m:r>
                      </m:sub>
                    </m:sSub>
                  </m:oMath>
                </a14:m>
                <a:r>
                  <a:rPr lang="zh-CN" altLang="en-US" dirty="0">
                    <a:latin typeface="+mn-lt"/>
                  </a:rPr>
                  <a:t> 且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𝐶</m:t>
                        </m:r>
                      </m:e>
                      <m:sub>
                        <m:r>
                          <a:rPr lang="en-US" altLang="zh-CN">
                            <a:solidFill>
                              <a:srgbClr val="000000"/>
                            </a:solidFill>
                            <a:latin typeface="Cambria Math" panose="02040503050406030204" pitchFamily="18" charset="0"/>
                            <a:cs typeface="Times New Roman" panose="02020503050405090304" pitchFamily="18" charset="0"/>
                          </a:rPr>
                          <m:t>2</m:t>
                        </m:r>
                      </m:sub>
                    </m:sSub>
                    <m:r>
                      <a:rPr lang="en-US" altLang="zh-CN">
                        <a:solidFill>
                          <a:srgbClr val="000000"/>
                        </a:solidFill>
                        <a:latin typeface="Cambria Math" panose="02040503050406030204" pitchFamily="18" charset="0"/>
                        <a:cs typeface="Times New Roman" panose="02020503050405090304" pitchFamily="18" charset="0"/>
                      </a:rPr>
                      <m:t>=</m:t>
                    </m:r>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𝑖</m:t>
                        </m:r>
                      </m:sub>
                    </m:sSub>
                    <m:r>
                      <a:rPr lang="en-US" altLang="zh-CN">
                        <a:solidFill>
                          <a:srgbClr val="000000"/>
                        </a:solidFill>
                        <a:latin typeface="Cambria Math" panose="02040503050406030204" pitchFamily="18" charset="0"/>
                        <a:cs typeface="Times New Roman" panose="02020503050405090304" pitchFamily="18" charset="0"/>
                      </a:rPr>
                      <m:t>⨁</m:t>
                    </m:r>
                    <m:r>
                      <m:rPr>
                        <m:nor/>
                      </m:rPr>
                      <a:rPr lang="en-US" altLang="zh-CN" i="1" dirty="0">
                        <a:latin typeface="+mn-lt"/>
                      </a:rPr>
                      <m:t>a</m:t>
                    </m:r>
                    <m:r>
                      <m:rPr>
                        <m:nor/>
                      </m:rPr>
                      <a:rPr lang="en-US" altLang="zh-CN" i="1" baseline="-25000" dirty="0">
                        <a:latin typeface="+mn-lt"/>
                      </a:rPr>
                      <m:t>i</m:t>
                    </m:r>
                  </m:oMath>
                </a14:m>
                <a:r>
                  <a:rPr lang="zh-CN" altLang="en-GB" dirty="0">
                    <a:latin typeface="+mn-lt"/>
                  </a:rPr>
                  <a:t>，</a:t>
                </a:r>
                <a:r>
                  <a:rPr lang="zh-CN" altLang="en-US" dirty="0">
                    <a:latin typeface="+mn-lt"/>
                  </a:rPr>
                  <a:t>则返回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𝑖</m:t>
                        </m:r>
                      </m:sub>
                    </m:sSub>
                  </m:oMath>
                </a14:m>
                <a:r>
                  <a:rPr lang="en-GB" altLang="zh-CN" dirty="0">
                    <a:latin typeface="+mn-lt"/>
                  </a:rPr>
                  <a:t> </a:t>
                </a:r>
                <a:r>
                  <a:rPr lang="zh-CN" altLang="en-GB" dirty="0">
                    <a:latin typeface="+mn-lt"/>
                  </a:rPr>
                  <a:t>；</a:t>
                </a:r>
                <a:r>
                  <a:rPr lang="zh-CN" altLang="en-US" dirty="0">
                    <a:latin typeface="+mn-lt"/>
                  </a:rPr>
                  <a:t>否则，若 </a:t>
                </a:r>
                <a:r>
                  <a:rPr lang="en-US" altLang="zh-CN" dirty="0">
                    <a:latin typeface="+mn-lt"/>
                  </a:rPr>
                  <a:t>(</a:t>
                </a:r>
                <a:r>
                  <a:rPr lang="en-GB" altLang="zh-CN" i="1" dirty="0">
                    <a:latin typeface="+mn-lt"/>
                  </a:rPr>
                  <a:t>B</a:t>
                </a:r>
                <a:r>
                  <a:rPr lang="en-GB" altLang="zh-CN" i="1" baseline="-25000" dirty="0">
                    <a:latin typeface="+mn-lt"/>
                  </a:rPr>
                  <a:t>i</a:t>
                </a:r>
                <a:r>
                  <a:rPr lang="en-US" altLang="zh-CN" dirty="0">
                    <a:latin typeface="+mn-lt"/>
                  </a:rPr>
                  <a:t>, </a:t>
                </a:r>
                <a:r>
                  <a:rPr lang="en-US" altLang="zh-CN" i="1" dirty="0">
                    <a:latin typeface="+mn-lt"/>
                  </a:rPr>
                  <a:t>b</a:t>
                </a:r>
                <a:r>
                  <a:rPr lang="en-US" altLang="zh-CN" i="1" baseline="-25000" dirty="0">
                    <a:latin typeface="+mn-lt"/>
                  </a:rPr>
                  <a:t>i</a:t>
                </a:r>
                <a:r>
                  <a:rPr lang="en-US" altLang="zh-CN" dirty="0">
                    <a:latin typeface="+mn-lt"/>
                  </a:rPr>
                  <a:t>)</a:t>
                </a:r>
                <a:r>
                  <a:rPr lang="zh-CN" altLang="en-US" dirty="0">
                    <a:latin typeface="+mn-lt"/>
                  </a:rPr>
                  <a:t> 不是 </a:t>
                </a:r>
                <a:r>
                  <a:rPr lang="en-GB" altLang="zh-CN" i="1" dirty="0">
                    <a:latin typeface="+mn-lt"/>
                  </a:rPr>
                  <a:t>H</a:t>
                </a:r>
                <a:r>
                  <a:rPr lang="en-GB" altLang="zh-CN" baseline="-25000" dirty="0">
                    <a:latin typeface="+mn-lt"/>
                  </a:rPr>
                  <a:t>list</a:t>
                </a:r>
                <a:r>
                  <a:rPr lang="en-GB" altLang="zh-CN" dirty="0">
                    <a:latin typeface="+mn-lt"/>
                  </a:rPr>
                  <a:t> </a:t>
                </a:r>
                <a:r>
                  <a:rPr lang="zh-CN" altLang="en-US" dirty="0">
                    <a:latin typeface="+mn-lt"/>
                  </a:rPr>
                  <a:t>中的最后一个元组，则跳转至第（</a:t>
                </a:r>
                <a:r>
                  <a:rPr lang="en-US" altLang="zh-CN" dirty="0">
                    <a:latin typeface="+mn-lt"/>
                  </a:rPr>
                  <a:t>1</a:t>
                </a:r>
                <a:r>
                  <a:rPr lang="zh-CN" altLang="en-US" dirty="0">
                    <a:latin typeface="+mn-lt"/>
                  </a:rPr>
                  <a:t>）步并从 </a:t>
                </a:r>
                <a:r>
                  <a:rPr lang="en-US" altLang="zh-CN" dirty="0">
                    <a:latin typeface="+mn-lt"/>
                  </a:rPr>
                  <a:t>(</a:t>
                </a:r>
                <a:r>
                  <a:rPr lang="en-GB" altLang="zh-CN" i="1" dirty="0">
                    <a:latin typeface="+mn-lt"/>
                  </a:rPr>
                  <a:t>B</a:t>
                </a:r>
                <a:r>
                  <a:rPr lang="en-GB" altLang="zh-CN" i="1" baseline="-25000" dirty="0">
                    <a:latin typeface="+mn-lt"/>
                  </a:rPr>
                  <a:t>i</a:t>
                </a:r>
                <a:r>
                  <a:rPr lang="en-US" altLang="zh-CN" dirty="0">
                    <a:latin typeface="+mn-lt"/>
                  </a:rPr>
                  <a:t>, </a:t>
                </a:r>
                <a:r>
                  <a:rPr lang="en-US" altLang="zh-CN" i="1" dirty="0">
                    <a:latin typeface="+mn-lt"/>
                  </a:rPr>
                  <a:t>b</a:t>
                </a:r>
                <a:r>
                  <a:rPr lang="en-US" altLang="zh-CN" i="1" baseline="-25000" dirty="0">
                    <a:latin typeface="+mn-lt"/>
                  </a:rPr>
                  <a:t>i</a:t>
                </a:r>
                <a:r>
                  <a:rPr lang="en-US" altLang="zh-CN" dirty="0">
                    <a:latin typeface="+mn-lt"/>
                  </a:rPr>
                  <a:t>)</a:t>
                </a:r>
                <a:r>
                  <a:rPr lang="zh-CN" altLang="en-US" dirty="0">
                    <a:latin typeface="+mn-lt"/>
                  </a:rPr>
                  <a:t> 后的一个元组开始继续检索 </a:t>
                </a:r>
                <a:r>
                  <a:rPr lang="en-GB" altLang="zh-CN" i="1" dirty="0">
                    <a:latin typeface="+mn-lt"/>
                  </a:rPr>
                  <a:t>H</a:t>
                </a:r>
                <a:r>
                  <a:rPr lang="en-GB" altLang="zh-CN" baseline="-25000" dirty="0">
                    <a:latin typeface="+mn-lt"/>
                  </a:rPr>
                  <a:t>list </a:t>
                </a:r>
                <a:r>
                  <a:rPr lang="zh-CN" altLang="en-GB" dirty="0">
                    <a:latin typeface="+mn-lt"/>
                  </a:rPr>
                  <a:t>；</a:t>
                </a:r>
                <a:r>
                  <a:rPr lang="zh-CN" altLang="en-US" dirty="0">
                    <a:latin typeface="+mn-lt"/>
                  </a:rPr>
                  <a:t>否则，返回 </a:t>
                </a:r>
                <a14:m>
                  <m:oMath xmlns:m="http://schemas.openxmlformats.org/officeDocument/2006/math">
                    <m:r>
                      <a:rPr lang="zh-CN" altLang="en-US" i="1">
                        <a:latin typeface="Cambria Math" panose="02040503050406030204" pitchFamily="18" charset="0"/>
                      </a:rPr>
                      <m:t>⊥</m:t>
                    </m:r>
                  </m:oMath>
                </a14:m>
                <a:r>
                  <a:rPr lang="zh-CN" altLang="en-GB" dirty="0">
                    <a:latin typeface="+mn-lt"/>
                  </a:rPr>
                  <a:t>。</a:t>
                </a:r>
                <a:endParaRPr lang="zh-CN" altLang="zh-CN" dirty="0">
                  <a:solidFill>
                    <a:srgbClr val="000000"/>
                  </a:solidFill>
                  <a:latin typeface="+mn-lt"/>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545" y="1401875"/>
                <a:ext cx="10857786" cy="4603824"/>
              </a:xfrm>
              <a:prstGeom prst="rect">
                <a:avLst/>
              </a:prstGeom>
              <a:blipFill rotWithShape="1">
                <a:blip r:embed="rId3"/>
                <a:stretch>
                  <a:fillRect l="-5" t="-9" r="-1142" b="-11782"/>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56CD1B93-5369-AE8F-1C0C-0746B1907ECD}"/>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p:cNvSpPr txBox="1"/>
              <p:nvPr/>
            </p:nvSpPr>
            <p:spPr>
              <a:xfrm>
                <a:off x="581545" y="1401875"/>
                <a:ext cx="10857786" cy="4655057"/>
              </a:xfrm>
              <a:prstGeom prst="rect">
                <a:avLst/>
              </a:prstGeom>
              <a:noFill/>
            </p:spPr>
            <p:txBody>
              <a:bodyPr wrap="square">
                <a:spAutoFit/>
              </a:bodyPr>
              <a:lstStyle/>
              <a:p>
                <a:pPr algn="just">
                  <a:lnSpc>
                    <a:spcPct val="132000"/>
                  </a:lnSpc>
                </a:pPr>
                <a:r>
                  <a:rPr lang="zh-CN" altLang="en-US" dirty="0">
                    <a:solidFill>
                      <a:srgbClr val="C00000"/>
                    </a:solidFill>
                    <a:latin typeface="+mn-lt"/>
                    <a:ea typeface="+mn-ea"/>
                    <a:cs typeface="Times New Roman" panose="02020503050405090304" pitchFamily="18" charset="0"/>
                  </a:rPr>
                  <a:t>续上文</a:t>
                </a:r>
                <a:endParaRPr lang="en-US" altLang="zh-CN" dirty="0">
                  <a:solidFill>
                    <a:srgbClr val="C00000"/>
                  </a:solidFill>
                  <a:latin typeface="+mn-lt"/>
                  <a:ea typeface="+mn-ea"/>
                  <a:cs typeface="Times New Roman" panose="02020503050405090304" pitchFamily="18" charset="0"/>
                </a:endParaRPr>
              </a:p>
              <a:p>
                <a:pPr marL="285750" indent="-285750" algn="just">
                  <a:lnSpc>
                    <a:spcPct val="132000"/>
                  </a:lnSpc>
                  <a:buFont typeface="Wingdings" panose="05000000000000000000" pitchFamily="2" charset="2"/>
                  <a:buChar char="l"/>
                </a:pPr>
                <a:r>
                  <a:rPr lang="zh-CN" altLang="en-US" b="1" dirty="0"/>
                  <a:t>挑战阶段：</a:t>
                </a:r>
                <a:r>
                  <a:rPr lang="zh-CN" altLang="en-US" dirty="0"/>
                  <a:t>选择两个等长的消息 </a:t>
                </a:r>
                <a14:m>
                  <m:oMath xmlns:m="http://schemas.openxmlformats.org/officeDocument/2006/math">
                    <m:sSub>
                      <m:sSubPr>
                        <m:ctrlPr>
                          <a:rPr lang="zh-CN" altLang="zh-CN" i="1" smtClean="0">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0</m:t>
                        </m:r>
                      </m:sub>
                    </m:sSub>
                    <m:r>
                      <a:rPr lang="en-US" altLang="zh-CN" i="1">
                        <a:solidFill>
                          <a:srgbClr val="000000"/>
                        </a:solidFill>
                        <a:latin typeface="Cambria Math" panose="02040503050406030204" pitchFamily="18" charset="0"/>
                        <a:cs typeface="Times New Roman" panose="02020503050405090304" pitchFamily="18" charset="0"/>
                      </a:rPr>
                      <m:t>,</m:t>
                    </m:r>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1</m:t>
                        </m:r>
                      </m:sub>
                    </m:sSub>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0,1</m:t>
                    </m:r>
                    <m:r>
                      <m:rPr>
                        <m:nor/>
                      </m:rPr>
                      <a:rPr lang="en-GB" altLang="zh-CN" dirty="0">
                        <a:latin typeface="Times New Roman" panose="02020503050405090304" pitchFamily="18" charset="0"/>
                        <a:cs typeface="Times New Roman" panose="02020503050405090304" pitchFamily="18" charset="0"/>
                      </a:rPr>
                      <m:t>}</m:t>
                    </m:r>
                    <m:r>
                      <m:rPr>
                        <m:nor/>
                      </m:rPr>
                      <a:rPr lang="en-GB" altLang="zh-CN" i="1" baseline="30000" dirty="0">
                        <a:latin typeface="Times New Roman" panose="02020503050405090304" pitchFamily="18" charset="0"/>
                        <a:cs typeface="Times New Roman" panose="02020503050405090304" pitchFamily="18" charset="0"/>
                      </a:rPr>
                      <m:t> </m:t>
                    </m:r>
                    <m:r>
                      <m:rPr>
                        <m:sty m:val="p"/>
                      </m:rPr>
                      <a:rPr lang="en-GB" altLang="zh-CN" i="1" baseline="30000" dirty="0">
                        <a:latin typeface="Cambria Math" panose="02040503050406030204" pitchFamily="18" charset="0"/>
                        <a:cs typeface="Times New Roman" panose="02020503050405090304" pitchFamily="18" charset="0"/>
                      </a:rPr>
                      <m:t>klen</m:t>
                    </m:r>
                  </m:oMath>
                </a14:m>
                <a:r>
                  <a:rPr lang="zh-CN" altLang="en-US" dirty="0">
                    <a:latin typeface="Times New Roman" panose="02020503050405090304" pitchFamily="18" charset="0"/>
                    <a:cs typeface="Times New Roman" panose="02020503050405090304" pitchFamily="18" charset="0"/>
                  </a:rPr>
                  <a:t> 并将 </a:t>
                </a:r>
                <a:r>
                  <a:rPr lang="en-US" altLang="zh-CN" dirty="0">
                    <a:latin typeface="Times New Roman" panose="02020503050405090304" pitchFamily="18" charset="0"/>
                    <a:cs typeface="Times New Roman" panose="0202050305040509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0</m:t>
                        </m:r>
                      </m:sub>
                    </m:sSub>
                    <m:r>
                      <a:rPr lang="en-US" altLang="zh-CN" i="1">
                        <a:solidFill>
                          <a:srgbClr val="000000"/>
                        </a:solidFill>
                        <a:latin typeface="Cambria Math" panose="02040503050406030204" pitchFamily="18" charset="0"/>
                        <a:cs typeface="Times New Roman" panose="02020503050405090304" pitchFamily="18" charset="0"/>
                      </a:rPr>
                      <m:t>,</m:t>
                    </m:r>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1</m:t>
                        </m:r>
                      </m:sub>
                    </m:sSub>
                  </m:oMath>
                </a14:m>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提交给 </a:t>
                </a:r>
                <a14:m>
                  <m:oMath xmlns:m="http://schemas.openxmlformats.org/officeDocument/2006/math">
                    <m:r>
                      <a:rPr lang="en-US" altLang="zh-CN" i="1">
                        <a:latin typeface="Cambria Math" panose="02040503050406030204" pitchFamily="18" charset="0"/>
                      </a:rPr>
                      <m:t>ℬ</m:t>
                    </m:r>
                    <m:r>
                      <a:rPr lang="zh-CN" altLang="en-US" b="0" i="1" smtClean="0">
                        <a:latin typeface="Cambria Math" panose="02040503050406030204" pitchFamily="18" charset="0"/>
                      </a:rPr>
                      <m:t>。</m:t>
                    </m:r>
                    <m:r>
                      <a:rPr lang="en-US" altLang="zh-CN" i="1">
                        <a:latin typeface="Cambria Math" panose="02040503050406030204" pitchFamily="18" charset="0"/>
                      </a:rPr>
                      <m:t> </m:t>
                    </m:r>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随机选择其中一比特 </a:t>
                </a:r>
                <a:r>
                  <a:rPr lang="en-GB" altLang="zh-CN" i="1" dirty="0">
                    <a:latin typeface="Times New Roman" panose="02020503050405090304" pitchFamily="18" charset="0"/>
                    <a:cs typeface="Times New Roman" panose="02020503050405090304" pitchFamily="18" charset="0"/>
                  </a:rPr>
                  <a:t>b</a:t>
                </a:r>
                <a:r>
                  <a:rPr lang="en-GB" altLang="zh-CN" dirty="0">
                    <a:latin typeface="Times New Roman" panose="02020503050405090304" pitchFamily="18" charset="0"/>
                    <a:cs typeface="Times New Roman" panose="02020503050405090304" pitchFamily="18" charset="0"/>
                  </a:rPr>
                  <a:t>∈{0,1} </a:t>
                </a:r>
                <a:r>
                  <a:rPr lang="zh-CN" altLang="en-GB"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设置 </a:t>
                </a:r>
                <a14:m>
                  <m:oMath xmlns:m="http://schemas.openxmlformats.org/officeDocument/2006/math">
                    <m:sSubSup>
                      <m:sSubSupPr>
                        <m:ctrlPr>
                          <a:rPr lang="en-US" altLang="zh-CN" i="1" smtClean="0">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b="0" i="1" smtClean="0">
                            <a:solidFill>
                              <a:srgbClr val="000000"/>
                            </a:solidFill>
                            <a:latin typeface="Cambria Math" panose="02040503050406030204" pitchFamily="18" charset="0"/>
                          </a:rPr>
                          <m:t>1</m:t>
                        </m:r>
                      </m:sub>
                      <m:sup>
                        <m:r>
                          <a:rPr lang="zh-CN" altLang="en-US" b="0" i="1" smtClean="0">
                            <a:solidFill>
                              <a:srgbClr val="000000"/>
                            </a:solidFill>
                            <a:latin typeface="Cambria Math" panose="02040503050406030204" pitchFamily="18" charset="0"/>
                          </a:rPr>
                          <m:t>∗</m:t>
                        </m:r>
                      </m:sup>
                    </m:sSubSup>
                    <m:r>
                      <a:rPr lang="en-US" altLang="zh-CN" i="1">
                        <a:solidFill>
                          <a:srgbClr val="000000"/>
                        </a:solidFill>
                        <a:latin typeface="Cambria Math" panose="02040503050406030204" pitchFamily="18" charset="0"/>
                        <a:cs typeface="宋体" pitchFamily="2" charset="-122"/>
                      </a:rPr>
                      <m:t>=</m:t>
                    </m:r>
                    <m:r>
                      <a:rPr lang="en-US" altLang="zh-CN"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zh-CN" altLang="en-US" dirty="0">
                    <a:latin typeface="Times New Roman" panose="02020503050405090304" pitchFamily="18" charset="0"/>
                    <a:cs typeface="Times New Roman" panose="02020503050405090304" pitchFamily="18" charset="0"/>
                  </a:rPr>
                  <a:t>，随机选择 </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b="0" i="1" smtClean="0">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0,1</m:t>
                    </m:r>
                    <m:r>
                      <m:rPr>
                        <m:nor/>
                      </m:rPr>
                      <a:rPr lang="en-GB" altLang="zh-CN" dirty="0">
                        <a:latin typeface="Times New Roman" panose="02020503050405090304" pitchFamily="18" charset="0"/>
                        <a:cs typeface="Times New Roman" panose="02020503050405090304" pitchFamily="18" charset="0"/>
                      </a:rPr>
                      <m:t>}</m:t>
                    </m:r>
                    <m:r>
                      <m:rPr>
                        <m:nor/>
                      </m:rPr>
                      <a:rPr lang="en-GB" altLang="zh-CN" i="1" baseline="30000" dirty="0">
                        <a:latin typeface="Times New Roman" panose="02020503050405090304" pitchFamily="18" charset="0"/>
                        <a:cs typeface="Times New Roman" panose="02020503050405090304" pitchFamily="18" charset="0"/>
                      </a:rPr>
                      <m:t> </m:t>
                    </m:r>
                    <m:r>
                      <m:rPr>
                        <m:sty m:val="p"/>
                      </m:rPr>
                      <a:rPr lang="en-GB" altLang="zh-CN" i="1" baseline="30000" dirty="0">
                        <a:latin typeface="Cambria Math" panose="02040503050406030204" pitchFamily="18" charset="0"/>
                        <a:cs typeface="Times New Roman" panose="02020503050405090304" pitchFamily="18" charset="0"/>
                      </a:rPr>
                      <m:t>klen</m:t>
                    </m:r>
                    <m:r>
                      <a:rPr lang="en-GB" altLang="zh-CN" i="1" baseline="30000" dirty="0">
                        <a:latin typeface="Cambria Math" panose="02040503050406030204" pitchFamily="18" charset="0"/>
                      </a:rPr>
                      <m:t> </m:t>
                    </m:r>
                  </m:oMath>
                </a14:m>
                <a:r>
                  <a:rPr lang="zh-CN" altLang="en-GB" dirty="0">
                    <a:latin typeface="Times New Roman" panose="02020503050405090304" pitchFamily="18" charset="0"/>
                    <a:cs typeface="Times New Roman" panose="02020503050405090304" pitchFamily="18" charset="0"/>
                  </a:rPr>
                  <a:t>，</a:t>
                </a:r>
                <a:r>
                  <a:rPr lang="en-US" altLang="zh-CN" dirty="0">
                    <a:solidFill>
                      <a:srgbClr val="000000"/>
                    </a:solidFill>
                  </a:rPr>
                  <a:t> </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b="0" i="1" smtClean="0">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m:t>
                    </m:r>
                    <m:r>
                      <m:rPr>
                        <m:nor/>
                      </m:rPr>
                      <a:rPr lang="en-GB" altLang="zh-CN" dirty="0">
                        <a:latin typeface="Times New Roman" panose="02020503050405090304" pitchFamily="18" charset="0"/>
                        <a:cs typeface="Times New Roman" panose="02020503050405090304" pitchFamily="18" charset="0"/>
                      </a:rPr>
                      <m:t>0,1</m:t>
                    </m:r>
                    <m:r>
                      <m:rPr>
                        <m:nor/>
                      </m:rPr>
                      <a:rPr lang="en-GB" altLang="zh-CN" dirty="0">
                        <a:latin typeface="Times New Roman" panose="02020503050405090304" pitchFamily="18" charset="0"/>
                        <a:cs typeface="Times New Roman" panose="02020503050405090304" pitchFamily="18" charset="0"/>
                      </a:rPr>
                      <m:t>}</m:t>
                    </m:r>
                    <m:r>
                      <m:rPr>
                        <m:nor/>
                      </m:rPr>
                      <a:rPr lang="en-GB" altLang="zh-CN" i="1" baseline="30000" dirty="0">
                        <a:latin typeface="Times New Roman" panose="02020503050405090304" pitchFamily="18" charset="0"/>
                        <a:cs typeface="Times New Roman" panose="02020503050405090304" pitchFamily="18" charset="0"/>
                      </a:rPr>
                      <m:t> </m:t>
                    </m:r>
                    <m:r>
                      <a:rPr lang="en-US" altLang="zh-CN" b="0" i="1" baseline="30000" dirty="0" smtClean="0">
                        <a:latin typeface="Cambria Math" panose="02040503050406030204" pitchFamily="18" charset="0"/>
                        <a:cs typeface="Times New Roman" panose="02020503050405090304" pitchFamily="18" charset="0"/>
                      </a:rPr>
                      <m:t>256</m:t>
                    </m:r>
                  </m:oMath>
                </a14:m>
                <a:r>
                  <a:rPr lang="zh-CN" altLang="en-US" dirty="0">
                    <a:latin typeface="Times New Roman" panose="02020503050405090304" pitchFamily="18" charset="0"/>
                    <a:cs typeface="Times New Roman" panose="02020503050405090304" pitchFamily="18" charset="0"/>
                  </a:rPr>
                  <a:t>，设置挑战密文 </a:t>
                </a:r>
                <a14:m>
                  <m:oMath xmlns:m="http://schemas.openxmlformats.org/officeDocument/2006/math">
                    <m:sSup>
                      <m:sSupPr>
                        <m:ctrlPr>
                          <a:rPr lang="en-US" altLang="zh-CN" i="1" smtClean="0">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𝐶</m:t>
                        </m:r>
                      </m:e>
                      <m:sup>
                        <m:r>
                          <a:rPr lang="en-US" altLang="zh-CN" b="0" i="1" smtClean="0">
                            <a:solidFill>
                              <a:srgbClr val="000000"/>
                            </a:solidFill>
                            <a:latin typeface="Cambria Math" panose="02040503050406030204" pitchFamily="18" charset="0"/>
                          </a:rPr>
                          <m:t>∗</m:t>
                        </m:r>
                      </m:sup>
                    </m:sSup>
                    <m:r>
                      <a:rPr lang="en-US" altLang="zh-CN" b="0" i="1" smtClean="0">
                        <a:solidFill>
                          <a:srgbClr val="000000"/>
                        </a:solidFill>
                        <a:latin typeface="Cambria Math" panose="020405030504060302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cs typeface="Times New Roman" panose="020205030504050903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oMath>
                </a14:m>
                <a:r>
                  <a:rPr lang="en-US" altLang="zh-CN" dirty="0">
                    <a:latin typeface="Times New Roman" panose="02020503050405090304" pitchFamily="18" charset="0"/>
                    <a:cs typeface="Times New Roman" panose="02020503050405090304" pitchFamily="18" charset="0"/>
                  </a:rPr>
                  <a:t>||</a:t>
                </a:r>
                <a:r>
                  <a:rPr lang="en-US" altLang="zh-CN" dirty="0">
                    <a:solidFill>
                      <a:srgbClr val="000000"/>
                    </a:solidFill>
                  </a:rPr>
                  <a:t> </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oMath>
                </a14:m>
                <a:r>
                  <a:rPr lang="en-US"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并将</a:t>
                </a:r>
                <a14:m>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𝐶</m:t>
                        </m:r>
                      </m:e>
                      <m:sup>
                        <m:r>
                          <a:rPr lang="en-US" altLang="zh-CN" i="1">
                            <a:solidFill>
                              <a:srgbClr val="000000"/>
                            </a:solidFill>
                            <a:latin typeface="Cambria Math" panose="02040503050406030204" pitchFamily="18" charset="0"/>
                          </a:rPr>
                          <m:t>∗</m:t>
                        </m:r>
                      </m:sup>
                    </m:sSup>
                  </m:oMath>
                </a14:m>
                <a:r>
                  <a:rPr lang="zh-CN" altLang="en-US" dirty="0">
                    <a:latin typeface="Times New Roman" panose="02020503050405090304" pitchFamily="18" charset="0"/>
                    <a:cs typeface="Times New Roman" panose="02020503050405090304" pitchFamily="18" charset="0"/>
                  </a:rPr>
                  <a:t>发送给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。注意， </a:t>
                </a:r>
                <a14:m>
                  <m:oMath xmlns:m="http://schemas.openxmlformats.org/officeDocument/2006/math">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通过设置</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sSubSup>
                    <m:r>
                      <a:rPr lang="en-US" altLang="zh-CN" i="1">
                        <a:solidFill>
                          <a:srgbClr val="000000"/>
                        </a:solidFill>
                        <a:latin typeface="Cambria Math" panose="02040503050406030204" pitchFamily="18" charset="0"/>
                        <a:cs typeface="宋体" pitchFamily="2" charset="-122"/>
                      </a:rPr>
                      <m:t>=</m:t>
                    </m:r>
                    <m:r>
                      <a:rPr lang="en-US" altLang="zh-CN"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US"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将</a:t>
                </a:r>
                <a:r>
                  <a:rPr lang="en-GB" altLang="zh-CN" dirty="0"/>
                  <a:t>ECDH</a:t>
                </a:r>
                <a:r>
                  <a:rPr lang="zh-CN" altLang="en-US" dirty="0">
                    <a:latin typeface="Times New Roman" panose="02020503050405090304" pitchFamily="18" charset="0"/>
                    <a:cs typeface="Times New Roman" panose="02020503050405090304" pitchFamily="18" charset="0"/>
                  </a:rPr>
                  <a:t>困难问题实例</a:t>
                </a:r>
                <a:r>
                  <a:rPr lang="en-US" altLang="zh-CN" dirty="0">
                    <a:latin typeface="Times New Roman" panose="02020503050405090304" pitchFamily="18" charset="0"/>
                    <a:cs typeface="Times New Roman" panose="020205030504050903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US"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嵌入挑战密文。 　</a:t>
                </a:r>
                <a:endParaRPr lang="en-US" altLang="zh-CN" dirty="0">
                  <a:latin typeface="Times New Roman" panose="02020503050405090304" pitchFamily="18" charset="0"/>
                  <a:cs typeface="Times New Roman" panose="02020503050405090304" pitchFamily="18" charset="0"/>
                </a:endParaRPr>
              </a:p>
              <a:p>
                <a:pPr marL="285750" indent="-285750" algn="just">
                  <a:lnSpc>
                    <a:spcPct val="132000"/>
                  </a:lnSpc>
                  <a:buFont typeface="Wingdings" panose="05000000000000000000" pitchFamily="2" charset="2"/>
                  <a:buChar char="l"/>
                </a:pPr>
                <a:r>
                  <a:rPr lang="zh-CN" altLang="en-US" b="1" dirty="0"/>
                  <a:t>问询阶段 </a:t>
                </a:r>
                <a:r>
                  <a:rPr lang="en-US" altLang="zh-CN" b="1" dirty="0"/>
                  <a:t>2</a:t>
                </a:r>
                <a:r>
                  <a:rPr lang="zh-CN" altLang="en-US" b="1" dirty="0"/>
                  <a:t>：</a:t>
                </a:r>
                <a:r>
                  <a:rPr lang="zh-CN" altLang="en-US" dirty="0"/>
                  <a:t>在此阶段除了 </a:t>
                </a:r>
                <a14:m>
                  <m:oMath xmlns:m="http://schemas.openxmlformats.org/officeDocument/2006/math">
                    <m:r>
                      <a:rPr lang="en-US" altLang="zh-CN" i="1" smtClean="0">
                        <a:solidFill>
                          <a:srgbClr val="000000"/>
                        </a:solidFill>
                        <a:latin typeface="Cambria Math" panose="02040503050406030204" pitchFamily="18" charset="0"/>
                        <a:cs typeface="宋体" pitchFamily="2" charset="-122"/>
                      </a:rPr>
                      <m:t>𝒜</m:t>
                    </m:r>
                  </m:oMath>
                </a14:m>
                <a:r>
                  <a:rPr lang="zh-CN" altLang="en-US" dirty="0"/>
                  <a:t> 不可发起挑战密文</a:t>
                </a:r>
                <a14:m>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𝐶</m:t>
                        </m:r>
                      </m:e>
                      <m:sup>
                        <m:r>
                          <a:rPr lang="en-US" altLang="zh-CN" i="1">
                            <a:solidFill>
                              <a:srgbClr val="000000"/>
                            </a:solidFill>
                            <a:latin typeface="Cambria Math" panose="02040503050406030204" pitchFamily="18" charset="0"/>
                          </a:rPr>
                          <m:t>∗</m:t>
                        </m:r>
                      </m:sup>
                    </m:sSup>
                    <m:r>
                      <a:rPr lang="en-US" altLang="zh-CN" i="1">
                        <a:solidFill>
                          <a:srgbClr val="000000"/>
                        </a:solidFill>
                        <a:latin typeface="Cambria Math" panose="020405030504060302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cs typeface="Times New Roman" panose="020205030504050903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oMath>
                </a14:m>
                <a:r>
                  <a:rPr lang="en-US" altLang="zh-CN" dirty="0">
                    <a:latin typeface="Times New Roman" panose="02020503050405090304" pitchFamily="18" charset="0"/>
                    <a:cs typeface="Times New Roman" panose="02020503050405090304" pitchFamily="18" charset="0"/>
                  </a:rPr>
                  <a:t>||</a:t>
                </a:r>
                <a:r>
                  <a:rPr lang="en-US" altLang="zh-CN" dirty="0">
                    <a:solidFill>
                      <a:srgbClr val="000000"/>
                    </a:solidFill>
                  </a:rPr>
                  <a:t> </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oMath>
                </a14:m>
                <a:r>
                  <a:rPr lang="en-US" altLang="zh-CN" dirty="0"/>
                  <a:t> </a:t>
                </a:r>
                <a:r>
                  <a:rPr lang="zh-CN" altLang="en-US" dirty="0"/>
                  <a:t>对应的解密预言机问询，其他过程与问询阶段 </a:t>
                </a:r>
                <a:r>
                  <a:rPr lang="en-US" altLang="zh-CN" dirty="0"/>
                  <a:t>1 </a:t>
                </a:r>
                <a:r>
                  <a:rPr lang="zh-CN" altLang="en-US" dirty="0"/>
                  <a:t>的过程相同。 </a:t>
                </a:r>
                <a:endParaRPr lang="en-US" altLang="zh-CN" dirty="0"/>
              </a:p>
              <a:p>
                <a:pPr marL="285750" indent="-285750" algn="just">
                  <a:lnSpc>
                    <a:spcPct val="132000"/>
                  </a:lnSpc>
                  <a:buFont typeface="Wingdings" panose="05000000000000000000" pitchFamily="2" charset="2"/>
                  <a:buChar char="l"/>
                </a:pPr>
                <a:r>
                  <a:rPr lang="zh-CN" altLang="en-US" b="1" dirty="0"/>
                  <a:t>响应阶段：</a:t>
                </a:r>
                <a:r>
                  <a:rPr lang="zh-CN" altLang="en-US" dirty="0"/>
                  <a:t> </a:t>
                </a:r>
                <a14:m>
                  <m:oMath xmlns:m="http://schemas.openxmlformats.org/officeDocument/2006/math">
                    <m:r>
                      <a:rPr lang="en-US" altLang="zh-CN" i="1" smtClean="0">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输出一比特 </a:t>
                </a:r>
                <a14:m>
                  <m:oMath xmlns:m="http://schemas.openxmlformats.org/officeDocument/2006/math">
                    <m:acc>
                      <m:accPr>
                        <m:chr m:val="̂"/>
                        <m:ctrlPr>
                          <a:rPr lang="zh-CN" altLang="zh-CN"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 </m:t>
                        </m:r>
                        <m:r>
                          <a:rPr lang="en-US" altLang="zh-CN" i="1" kern="0">
                            <a:solidFill>
                              <a:srgbClr val="000000"/>
                            </a:solidFill>
                            <a:latin typeface="Cambria Math" panose="02040503050406030204" pitchFamily="18" charset="0"/>
                            <a:cs typeface="宋体" pitchFamily="2" charset="-122"/>
                          </a:rPr>
                          <m:t>𝑏</m:t>
                        </m:r>
                      </m:e>
                    </m:acc>
                    <m:r>
                      <a:rPr lang="en-US" altLang="zh-CN" i="1" kern="0">
                        <a:solidFill>
                          <a:srgbClr val="000000"/>
                        </a:solidFill>
                        <a:latin typeface="Cambria Math" panose="02040503050406030204" pitchFamily="18" charset="0"/>
                        <a:cs typeface="宋体" pitchFamily="2" charset="-122"/>
                      </a:rPr>
                      <m:t>∈{</m:t>
                    </m:r>
                    <m:r>
                      <a:rPr lang="en-US" altLang="zh-CN" i="1" kern="0">
                        <a:solidFill>
                          <a:srgbClr val="000000"/>
                        </a:solidFill>
                        <a:latin typeface="Cambria Math" panose="02040503050406030204" pitchFamily="18" charset="0"/>
                        <a:cs typeface="宋体" pitchFamily="2" charset="-122"/>
                      </a:rPr>
                      <m:t>0</m:t>
                    </m:r>
                    <m:r>
                      <a:rPr lang="en-US" altLang="zh-CN" i="1" kern="0">
                        <a:solidFill>
                          <a:srgbClr val="000000"/>
                        </a:solidFill>
                        <a:latin typeface="Cambria Math" panose="02040503050406030204" pitchFamily="18" charset="0"/>
                        <a:cs typeface="宋体" pitchFamily="2" charset="-122"/>
                      </a:rPr>
                      <m:t>,</m:t>
                    </m:r>
                    <m:r>
                      <a:rPr lang="en-US" altLang="zh-CN" i="1" kern="0">
                        <a:solidFill>
                          <a:srgbClr val="000000"/>
                        </a:solidFill>
                        <a:latin typeface="Cambria Math" panose="02040503050406030204" pitchFamily="18" charset="0"/>
                        <a:cs typeface="宋体" pitchFamily="2" charset="-122"/>
                      </a:rPr>
                      <m:t>1</m:t>
                    </m:r>
                    <m:r>
                      <a:rPr lang="en-US" altLang="zh-CN" i="1" kern="0">
                        <a:solidFill>
                          <a:srgbClr val="000000"/>
                        </a:solidFill>
                        <a:latin typeface="Cambria Math" panose="02040503050406030204" pitchFamily="18" charset="0"/>
                        <a:cs typeface="宋体" pitchFamily="2" charset="-122"/>
                      </a:rPr>
                      <m:t>} </m:t>
                    </m:r>
                  </m:oMath>
                </a14:m>
                <a:r>
                  <a:rPr lang="zh-CN" altLang="en-GB"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若 </a:t>
                </a:r>
                <a14:m>
                  <m:oMath xmlns:m="http://schemas.openxmlformats.org/officeDocument/2006/math">
                    <m:acc>
                      <m:accPr>
                        <m:chr m:val="̂"/>
                        <m:ctrlPr>
                          <a:rPr lang="zh-CN" altLang="zh-CN" i="1">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cs typeface="宋体" pitchFamily="2" charset="-122"/>
                          </a:rPr>
                          <m:t>𝑏</m:t>
                        </m:r>
                      </m:e>
                    </m:acc>
                    <m:r>
                      <a:rPr lang="en-US" altLang="zh-CN" i="1" kern="0">
                        <a:solidFill>
                          <a:srgbClr val="000000"/>
                        </a:solidFill>
                        <a:latin typeface="Cambria Math" panose="02040503050406030204" pitchFamily="18" charset="0"/>
                        <a:cs typeface="宋体" pitchFamily="2" charset="-122"/>
                      </a:rPr>
                      <m:t>=</m:t>
                    </m:r>
                    <m:r>
                      <a:rPr lang="en-US" altLang="zh-CN" i="1" kern="0">
                        <a:solidFill>
                          <a:srgbClr val="000000"/>
                        </a:solidFill>
                        <a:latin typeface="Cambria Math" panose="02040503050406030204" pitchFamily="18" charset="0"/>
                        <a:cs typeface="宋体" pitchFamily="2" charset="-122"/>
                      </a:rPr>
                      <m:t>𝑏</m:t>
                    </m:r>
                    <m:r>
                      <a:rPr lang="en-US" altLang="zh-CN" i="1" kern="0">
                        <a:solidFill>
                          <a:srgbClr val="000000"/>
                        </a:solidFill>
                        <a:latin typeface="Cambria Math" panose="02040503050406030204" pitchFamily="18" charset="0"/>
                        <a:cs typeface="宋体" pitchFamily="2" charset="-122"/>
                      </a:rPr>
                      <m:t> </m:t>
                    </m:r>
                  </m:oMath>
                </a14:m>
                <a:r>
                  <a:rPr lang="zh-CN" altLang="en-GB"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则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获胜；否则，</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失败。</a:t>
                </a:r>
                <a:endParaRPr lang="en-US" altLang="zh-CN" dirty="0">
                  <a:latin typeface="Times New Roman" panose="02020503050405090304" pitchFamily="18" charset="0"/>
                  <a:cs typeface="Times New Roman" panose="02020503050405090304" pitchFamily="18" charset="0"/>
                </a:endParaRPr>
              </a:p>
              <a:p>
                <a:pPr algn="just">
                  <a:lnSpc>
                    <a:spcPct val="132000"/>
                  </a:lnSpc>
                </a:pPr>
                <a:endParaRPr lang="en-US" altLang="zh-CN" dirty="0">
                  <a:latin typeface="Times New Roman" panose="02020503050405090304" pitchFamily="18" charset="0"/>
                  <a:cs typeface="Times New Roman" panose="02020503050405090304" pitchFamily="18" charset="0"/>
                </a:endParaRPr>
              </a:p>
              <a:p>
                <a:pPr algn="just">
                  <a:lnSpc>
                    <a:spcPct val="132000"/>
                  </a:lnSpc>
                </a:pPr>
                <a:r>
                  <a:rPr lang="zh-CN" altLang="en-US" dirty="0">
                    <a:latin typeface="Times New Roman" panose="02020503050405090304" pitchFamily="18" charset="0"/>
                    <a:cs typeface="Times New Roman" panose="02020503050405090304" pitchFamily="18" charset="0"/>
                  </a:rPr>
                  <a:t>        当 </a:t>
                </a:r>
                <a14:m>
                  <m:oMath xmlns:m="http://schemas.openxmlformats.org/officeDocument/2006/math">
                    <m:r>
                      <a:rPr lang="en-US" altLang="zh-CN" i="1" smtClean="0">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得到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的输出 </a:t>
                </a:r>
                <a14:m>
                  <m:oMath xmlns:m="http://schemas.openxmlformats.org/officeDocument/2006/math">
                    <m:acc>
                      <m:accPr>
                        <m:chr m:val="̂"/>
                        <m:ctrlPr>
                          <a:rPr lang="zh-CN" altLang="zh-CN" i="1">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cs typeface="宋体" pitchFamily="2" charset="-122"/>
                          </a:rPr>
                          <m:t>𝑏</m:t>
                        </m:r>
                      </m:e>
                    </m:acc>
                  </m:oMath>
                </a14:m>
                <a:r>
                  <a:rPr lang="zh-CN" altLang="en-US" dirty="0">
                    <a:latin typeface="Times New Roman" panose="02020503050405090304" pitchFamily="18" charset="0"/>
                    <a:cs typeface="Times New Roman" panose="02020503050405090304" pitchFamily="18" charset="0"/>
                  </a:rPr>
                  <a:t>且 </a:t>
                </a:r>
                <a14:m>
                  <m:oMath xmlns:m="http://schemas.openxmlformats.org/officeDocument/2006/math">
                    <m:acc>
                      <m:accPr>
                        <m:chr m:val="̂"/>
                        <m:ctrlPr>
                          <a:rPr lang="zh-CN" altLang="zh-CN" i="1">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cs typeface="宋体" pitchFamily="2" charset="-122"/>
                          </a:rPr>
                          <m:t>𝑏</m:t>
                        </m:r>
                      </m:e>
                    </m:acc>
                    <m:r>
                      <a:rPr lang="en-US" altLang="zh-CN" i="1" kern="0">
                        <a:solidFill>
                          <a:srgbClr val="000000"/>
                        </a:solidFill>
                        <a:latin typeface="Cambria Math" panose="02040503050406030204" pitchFamily="18" charset="0"/>
                        <a:cs typeface="宋体" pitchFamily="2" charset="-122"/>
                      </a:rPr>
                      <m:t>=</m:t>
                    </m:r>
                    <m:r>
                      <a:rPr lang="en-US" altLang="zh-CN" i="1" kern="0">
                        <a:solidFill>
                          <a:srgbClr val="000000"/>
                        </a:solidFill>
                        <a:latin typeface="Cambria Math" panose="02040503050406030204" pitchFamily="18" charset="0"/>
                        <a:cs typeface="宋体" pitchFamily="2" charset="-122"/>
                      </a:rPr>
                      <m:t>𝑏</m:t>
                    </m:r>
                  </m:oMath>
                </a14:m>
                <a:r>
                  <a:rPr lang="zh-CN" altLang="en-US" dirty="0">
                    <a:latin typeface="Times New Roman" panose="02020503050405090304" pitchFamily="18" charset="0"/>
                    <a:cs typeface="Times New Roman" panose="02020503050405090304" pitchFamily="18" charset="0"/>
                  </a:rPr>
                  <a:t>时，随机从 </a:t>
                </a:r>
                <a:r>
                  <a:rPr lang="en-GB" altLang="zh-CN" dirty="0" err="1"/>
                  <a:t>KDF</a:t>
                </a:r>
                <a:r>
                  <a:rPr lang="en-GB" altLang="zh-CN" baseline="-25000" dirty="0" err="1"/>
                  <a:t>list</a:t>
                </a:r>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中取出一个元组。假设该元组</a:t>
                </a:r>
                <a:r>
                  <a:rPr lang="en-US" altLang="zh-CN" dirty="0">
                    <a:latin typeface="Times New Roman" panose="02020503050405090304" pitchFamily="18" charset="0"/>
                    <a:cs typeface="Times New Roman" panose="02020503050405090304" pitchFamily="18" charset="0"/>
                  </a:rPr>
                  <a:t> </a:t>
                </a:r>
                <a:r>
                  <a:rPr lang="en-US" altLang="zh-CN" dirty="0"/>
                  <a:t>(</a:t>
                </a:r>
                <a:r>
                  <a:rPr lang="en-GB" altLang="zh-CN" i="1" dirty="0"/>
                  <a:t>A</a:t>
                </a:r>
                <a:r>
                  <a:rPr lang="en-GB" altLang="zh-CN" i="1" baseline="-25000" dirty="0"/>
                  <a:t>i</a:t>
                </a:r>
                <a:r>
                  <a:rPr lang="en-US" altLang="zh-CN" dirty="0"/>
                  <a:t>, </a:t>
                </a:r>
                <a:r>
                  <a:rPr lang="en-US" altLang="zh-CN" i="1" dirty="0"/>
                  <a:t>a</a:t>
                </a:r>
                <a:r>
                  <a:rPr lang="en-US" altLang="zh-CN" i="1" baseline="-25000" dirty="0"/>
                  <a:t>i</a:t>
                </a:r>
                <a:r>
                  <a:rPr lang="en-US" altLang="zh-CN" dirty="0"/>
                  <a:t>) </a:t>
                </a:r>
                <a:r>
                  <a:rPr lang="zh-CN" altLang="en-GB" dirty="0">
                    <a:latin typeface="Times New Roman" panose="02020503050405090304" pitchFamily="18" charset="0"/>
                    <a:cs typeface="Times New Roman" panose="02020503050405090304" pitchFamily="18" charset="0"/>
                  </a:rPr>
                  <a:t>。</a:t>
                </a:r>
                <a:r>
                  <a:rPr lang="en-US" altLang="zh-CN" dirty="0"/>
                  <a:t> </a:t>
                </a:r>
                <a14:m>
                  <m:oMath xmlns:m="http://schemas.openxmlformats.org/officeDocument/2006/math">
                    <m:r>
                      <a:rPr lang="en-US" altLang="zh-CN" i="1">
                        <a:latin typeface="Cambria Math" panose="02040503050406030204" pitchFamily="18" charset="0"/>
                      </a:rPr>
                      <m:t>ℬ</m:t>
                    </m:r>
                  </m:oMath>
                </a14:m>
                <a:r>
                  <a:rPr lang="zh-CN" altLang="en-GB"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输出 </a:t>
                </a:r>
                <a:r>
                  <a:rPr lang="en-GB" altLang="zh-CN" i="1" dirty="0"/>
                  <a:t>A</a:t>
                </a:r>
                <a:r>
                  <a:rPr lang="en-GB" altLang="zh-CN" i="1" baseline="-25000" dirty="0"/>
                  <a:t>i</a:t>
                </a:r>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作为 </a:t>
                </a:r>
                <a:r>
                  <a:rPr lang="en-US" altLang="zh-CN" dirty="0">
                    <a:latin typeface="Times New Roman" panose="02020503050405090304" pitchFamily="18" charset="0"/>
                    <a:cs typeface="Times New Roman" panose="02020503050405090304" pitchFamily="18" charset="0"/>
                  </a:rPr>
                  <a:t>E</a:t>
                </a:r>
                <a:r>
                  <a:rPr lang="en-GB" altLang="zh-CN" dirty="0">
                    <a:latin typeface="Times New Roman" panose="02020503050405090304" pitchFamily="18" charset="0"/>
                    <a:cs typeface="Times New Roman" panose="02020503050405090304" pitchFamily="18" charset="0"/>
                  </a:rPr>
                  <a:t>CDH </a:t>
                </a:r>
                <a:r>
                  <a:rPr lang="zh-CN" altLang="en-US" dirty="0">
                    <a:latin typeface="Times New Roman" panose="02020503050405090304" pitchFamily="18" charset="0"/>
                    <a:cs typeface="Times New Roman" panose="02020503050405090304" pitchFamily="18" charset="0"/>
                  </a:rPr>
                  <a:t>问题实例的解。我们计算 </a:t>
                </a:r>
                <a14:m>
                  <m:oMath xmlns:m="http://schemas.openxmlformats.org/officeDocument/2006/math">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解决 </a:t>
                </a:r>
                <a:r>
                  <a:rPr lang="en-US" altLang="zh-CN" dirty="0">
                    <a:latin typeface="Times New Roman" panose="02020503050405090304" pitchFamily="18" charset="0"/>
                    <a:cs typeface="Times New Roman" panose="02020503050405090304" pitchFamily="18" charset="0"/>
                  </a:rPr>
                  <a:t>E</a:t>
                </a:r>
                <a:r>
                  <a:rPr lang="en-GB" altLang="zh-CN" dirty="0">
                    <a:latin typeface="Times New Roman" panose="02020503050405090304" pitchFamily="18" charset="0"/>
                    <a:cs typeface="Times New Roman" panose="02020503050405090304" pitchFamily="18" charset="0"/>
                  </a:rPr>
                  <a:t>CDH </a:t>
                </a:r>
                <a:r>
                  <a:rPr lang="zh-CN" altLang="en-US" dirty="0">
                    <a:latin typeface="Times New Roman" panose="02020503050405090304" pitchFamily="18" charset="0"/>
                    <a:cs typeface="Times New Roman" panose="02020503050405090304" pitchFamily="18" charset="0"/>
                  </a:rPr>
                  <a:t>问题实例的概率。显然，在上述模拟过程中 </a:t>
                </a:r>
                <a14:m>
                  <m:oMath xmlns:m="http://schemas.openxmlformats.org/officeDocument/2006/math">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不终止的概率为 </a:t>
                </a:r>
                <a:r>
                  <a:rPr lang="en-US" altLang="zh-CN" dirty="0">
                    <a:latin typeface="Times New Roman" panose="02020503050405090304" pitchFamily="18" charset="0"/>
                    <a:cs typeface="Times New Roman" panose="02020503050405090304" pitchFamily="18" charset="0"/>
                  </a:rPr>
                  <a:t>1-</a:t>
                </a:r>
                <a:r>
                  <a:rPr lang="en-US" altLang="zh-CN" dirty="0">
                    <a:solidFill>
                      <a:srgbClr val="000000"/>
                    </a:solidFill>
                    <a:cs typeface="Times New Roman" panose="02020503050405090304" pitchFamily="18" charset="0"/>
                  </a:rPr>
                  <a:t>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i="1" dirty="0">
                                <a:solidFill>
                                  <a:srgbClr val="000000"/>
                                </a:solidFill>
                                <a:latin typeface="Cambria Math" panose="02040503050406030204" pitchFamily="18" charset="0"/>
                                <a:cs typeface="Times New Roman" panose="02020503050405090304" pitchFamily="18" charset="0"/>
                              </a:rPr>
                            </m:ctrlPr>
                          </m:sSupPr>
                          <m:e>
                            <m:r>
                              <a:rPr lang="en-US" altLang="zh-CN" dirty="0">
                                <a:solidFill>
                                  <a:srgbClr val="000000"/>
                                </a:solidFill>
                                <a:latin typeface="Cambria Math" panose="02040503050406030204" pitchFamily="18" charset="0"/>
                                <a:cs typeface="Times New Roman" panose="02020503050405090304" pitchFamily="18" charset="0"/>
                              </a:rPr>
                              <m:t>2</m:t>
                            </m:r>
                          </m:e>
                          <m:sup>
                            <m:r>
                              <m:rPr>
                                <m:sty m:val="p"/>
                              </m:rPr>
                              <a:rPr lang="en-US" altLang="zh-CN" dirty="0">
                                <a:solidFill>
                                  <a:srgbClr val="000000"/>
                                </a:solidFill>
                                <a:latin typeface="Cambria Math" panose="02040503050406030204" pitchFamily="18" charset="0"/>
                                <a:cs typeface="Times New Roman" panose="02020503050405090304" pitchFamily="18" charset="0"/>
                              </a:rPr>
                              <m:t>klen</m:t>
                            </m:r>
                            <m:r>
                              <a:rPr lang="en-US" altLang="zh-CN" dirty="0">
                                <a:solidFill>
                                  <a:srgbClr val="000000"/>
                                </a:solidFill>
                                <a:latin typeface="Cambria Math" panose="02040503050406030204" pitchFamily="18" charset="0"/>
                                <a:cs typeface="Times New Roman" panose="02020503050405090304" pitchFamily="18" charset="0"/>
                              </a:rPr>
                              <m:t>+</m:t>
                            </m:r>
                            <m:r>
                              <a:rPr lang="en-US" altLang="zh-CN" dirty="0">
                                <a:solidFill>
                                  <a:srgbClr val="000000"/>
                                </a:solidFill>
                                <a:latin typeface="Cambria Math" panose="02040503050406030204" pitchFamily="18" charset="0"/>
                                <a:cs typeface="Times New Roman" panose="02020503050405090304" pitchFamily="18" charset="0"/>
                              </a:rPr>
                              <m:t>256</m:t>
                            </m:r>
                          </m:sup>
                        </m:sSup>
                      </m:den>
                    </m:f>
                    <m:r>
                      <a:rPr lang="en-US" altLang="zh-CN" i="1" dirty="0">
                        <a:solidFill>
                          <a:srgbClr val="000000"/>
                        </a:solidFill>
                        <a:latin typeface="Cambria Math" panose="02040503050406030204" pitchFamily="18" charset="0"/>
                        <a:cs typeface="Times New Roman" panose="02020503050405090304" pitchFamily="18" charset="0"/>
                      </a:rPr>
                      <m:t> </m:t>
                    </m:r>
                  </m:oMath>
                </a14:m>
                <a:r>
                  <a:rPr lang="zh-CN" altLang="en-US" dirty="0">
                    <a:latin typeface="Times New Roman" panose="02020503050405090304" pitchFamily="18" charset="0"/>
                    <a:cs typeface="Times New Roman" panose="02020503050405090304" pitchFamily="18" charset="0"/>
                  </a:rPr>
                  <a:t>。若 </a:t>
                </a:r>
                <a14:m>
                  <m:oMath xmlns:m="http://schemas.openxmlformats.org/officeDocument/2006/math">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在上述模拟过程中不终止，则 </a:t>
                </a:r>
                <a14:m>
                  <m:oMath xmlns:m="http://schemas.openxmlformats.org/officeDocument/2006/math">
                    <m:r>
                      <a:rPr lang="en-US" altLang="zh-CN" i="1">
                        <a:latin typeface="Cambria Math" panose="02040503050406030204" pitchFamily="18" charset="0"/>
                      </a:rPr>
                      <m:t>ℬ</m:t>
                    </m:r>
                  </m:oMath>
                </a14:m>
                <a:r>
                  <a:rPr lang="zh-CN" altLang="en-US" dirty="0">
                    <a:latin typeface="Times New Roman" panose="02020503050405090304" pitchFamily="18" charset="0"/>
                    <a:cs typeface="Times New Roman" panose="02020503050405090304" pitchFamily="18" charset="0"/>
                  </a:rPr>
                  <a:t> 为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模拟了与真实攻击不可区分的场景。此时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latin typeface="Times New Roman" panose="02020503050405090304" pitchFamily="18" charset="0"/>
                    <a:cs typeface="Times New Roman" panose="02020503050405090304" pitchFamily="18" charset="0"/>
                  </a:rPr>
                  <a:t> 攻破 </a:t>
                </a:r>
                <a:r>
                  <a:rPr lang="en-US" altLang="zh-CN" dirty="0">
                    <a:latin typeface="Times New Roman" panose="02020503050405090304" pitchFamily="18" charset="0"/>
                    <a:cs typeface="Times New Roman" panose="02020503050405090304" pitchFamily="18" charset="0"/>
                  </a:rPr>
                  <a:t>SM2</a:t>
                </a:r>
                <a:r>
                  <a:rPr lang="zh-CN" altLang="en-US" dirty="0">
                    <a:latin typeface="Times New Roman" panose="02020503050405090304" pitchFamily="18" charset="0"/>
                    <a:cs typeface="Times New Roman" panose="02020503050405090304" pitchFamily="18" charset="0"/>
                  </a:rPr>
                  <a:t>公钥加密方案的优势 </a:t>
                </a:r>
                <a14:m>
                  <m:oMath xmlns:m="http://schemas.openxmlformats.org/officeDocument/2006/math">
                    <m:sSubSup>
                      <m:sSubSupPr>
                        <m:ctrlPr>
                          <a:rPr lang="en-US" altLang="zh-CN" i="1" dirty="0">
                            <a:latin typeface="Cambria Math" panose="02040503050406030204" pitchFamily="18" charset="0"/>
                          </a:rPr>
                        </m:ctrlPr>
                      </m:sSubSupPr>
                      <m:e>
                        <m:r>
                          <m:rPr>
                            <m:sty m:val="p"/>
                          </m:rPr>
                          <a:rPr lang="en-US" altLang="zh-CN" dirty="0">
                            <a:latin typeface="Cambria Math" panose="02040503050406030204" pitchFamily="18" charset="0"/>
                          </a:rPr>
                          <m:t>Adv</m:t>
                        </m:r>
                      </m:e>
                      <m:sub>
                        <m:r>
                          <a:rPr lang="zh-CN" altLang="en-US">
                            <a:latin typeface="Cambria Math" panose="02040503050406030204" pitchFamily="18" charset="0"/>
                          </a:rPr>
                          <m:t>𝒜</m:t>
                        </m:r>
                      </m:sub>
                      <m:sup>
                        <m:r>
                          <m:rPr>
                            <m:sty m:val="p"/>
                          </m:rPr>
                          <a:rPr lang="en-US" altLang="zh-CN" dirty="0">
                            <a:latin typeface="Cambria Math" panose="02040503050406030204" pitchFamily="18" charset="0"/>
                          </a:rPr>
                          <m:t>C</m:t>
                        </m:r>
                        <m:r>
                          <m:rPr>
                            <m:sty m:val="p"/>
                          </m:rPr>
                          <a:rPr lang="en-US" altLang="zh-CN" b="0" i="0" dirty="0" smtClean="0">
                            <a:latin typeface="Cambria Math" panose="02040503050406030204" pitchFamily="18" charset="0"/>
                          </a:rPr>
                          <m:t>C</m:t>
                        </m:r>
                        <m:r>
                          <m:rPr>
                            <m:sty m:val="p"/>
                          </m:rPr>
                          <a:rPr lang="en-US" altLang="zh-CN" dirty="0">
                            <a:latin typeface="Cambria Math" panose="02040503050406030204" pitchFamily="18" charset="0"/>
                          </a:rPr>
                          <m:t>A</m:t>
                        </m:r>
                        <m:r>
                          <a:rPr lang="en-US" altLang="zh-CN" b="0" i="0" dirty="0" smtClean="0">
                            <a:latin typeface="Cambria Math" panose="02040503050406030204" pitchFamily="18" charset="0"/>
                          </a:rPr>
                          <m:t>2</m:t>
                        </m:r>
                      </m:sup>
                    </m:sSubSup>
                  </m:oMath>
                </a14:m>
                <a:r>
                  <a:rPr lang="zh-CN" altLang="en-US" dirty="0">
                    <a:solidFill>
                      <a:srgbClr val="000000"/>
                    </a:solidFill>
                    <a:latin typeface="Times New Roman" panose="02020503050405090304" pitchFamily="18" charset="0"/>
                    <a:cs typeface="Times New Roman" panose="02020503050405090304" pitchFamily="18" charset="0"/>
                  </a:rPr>
                  <a:t> </a:t>
                </a:r>
                <a:r>
                  <a:rPr lang="zh-CN" altLang="en-GB"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接下来，我们计算 </a:t>
                </a:r>
                <a:r>
                  <a:rPr lang="en-GB" altLang="zh-CN" i="1" dirty="0"/>
                  <a:t>A</a:t>
                </a:r>
                <a:r>
                  <a:rPr lang="en-GB" altLang="zh-CN" i="1" baseline="-25000" dirty="0"/>
                  <a:t>i</a:t>
                </a:r>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为 </a:t>
                </a:r>
                <a:r>
                  <a:rPr lang="en-US" altLang="zh-CN" dirty="0">
                    <a:latin typeface="Times New Roman" panose="02020503050405090304" pitchFamily="18" charset="0"/>
                    <a:cs typeface="Times New Roman" panose="02020503050405090304" pitchFamily="18" charset="0"/>
                  </a:rPr>
                  <a:t>E</a:t>
                </a:r>
                <a:r>
                  <a:rPr lang="en-GB" altLang="zh-CN" dirty="0">
                    <a:latin typeface="Times New Roman" panose="02020503050405090304" pitchFamily="18" charset="0"/>
                    <a:cs typeface="Times New Roman" panose="02020503050405090304" pitchFamily="18" charset="0"/>
                  </a:rPr>
                  <a:t>CDH </a:t>
                </a:r>
                <a:r>
                  <a:rPr lang="zh-CN" altLang="en-US" dirty="0">
                    <a:latin typeface="Times New Roman" panose="02020503050405090304" pitchFamily="18" charset="0"/>
                    <a:cs typeface="Times New Roman" panose="02020503050405090304" pitchFamily="18" charset="0"/>
                  </a:rPr>
                  <a:t>问题实例的解的概率。</a:t>
                </a:r>
                <a:endParaRPr lang="zh-CN" altLang="zh-CN" dirty="0">
                  <a:solidFill>
                    <a:srgbClr val="000000"/>
                  </a:solidFill>
                  <a:latin typeface="+mn-lt"/>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545" y="1401875"/>
                <a:ext cx="10857786" cy="4655057"/>
              </a:xfrm>
              <a:prstGeom prst="rect">
                <a:avLst/>
              </a:prstGeom>
              <a:blipFill>
                <a:blip r:embed="rId3"/>
                <a:stretch>
                  <a:fillRect l="-467" r="-467" b="-81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C0E4FC92-55EA-2E00-02A5-0C62F1D1D1E8}"/>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b="1" i="0" dirty="0">
                <a:solidFill>
                  <a:srgbClr val="FFFFFF"/>
                </a:solidFill>
                <a:latin typeface="Times New Roman" panose="02020503050405090304" pitchFamily="18" charset="0"/>
                <a:ea typeface="微软雅黑" panose="020B0503020204020204" charset="-122"/>
                <a:cs typeface="Times New Roman" panose="02020503050405090304" pitchFamily="18" charset="0"/>
              </a:rPr>
              <a:t>0</a:t>
            </a:r>
            <a:r>
              <a:rPr lang="en-US" altLang="zh-CN" b="1" dirty="0">
                <a:solidFill>
                  <a:srgbClr val="FFFFFF"/>
                </a:solidFill>
                <a:latin typeface="Times New Roman" panose="02020503050405090304" pitchFamily="18" charset="0"/>
                <a:ea typeface="微软雅黑" panose="020B0503020204020204" charset="-122"/>
                <a:cs typeface="Times New Roman" panose="02020503050405090304" pitchFamily="18" charset="0"/>
              </a:rPr>
              <a:t>5</a:t>
            </a:r>
            <a:endParaRPr lang="en-US" b="1" i="0" dirty="0">
              <a:solidFill>
                <a:srgbClr val="FFFFFF"/>
              </a:solidFill>
              <a:latin typeface="Times New Roman" panose="02020503050405090304" pitchFamily="18" charset="0"/>
              <a:ea typeface="微软雅黑" panose="020B0503020204020204" charset="-122"/>
              <a:cs typeface="Times New Roman" panose="02020503050405090304" pitchFamily="18" charset="0"/>
            </a:endParaRPr>
          </a:p>
        </p:txBody>
      </p:sp>
      <p:sp>
        <p:nvSpPr>
          <p:cNvPr id="14" name="TextBox 2"/>
          <p:cNvSpPr txBox="1"/>
          <p:nvPr/>
        </p:nvSpPr>
        <p:spPr>
          <a:xfrm>
            <a:off x="1066800" y="191135"/>
            <a:ext cx="8730343" cy="1969770"/>
          </a:xfrm>
          <a:prstGeom prst="rect">
            <a:avLst/>
          </a:prstGeom>
          <a:noFill/>
        </p:spPr>
        <p:txBody>
          <a:bodyPr wrap="square" lIns="0" tIns="0" rIns="0" bIns="0" anchor="t">
            <a:spAutoFit/>
          </a:bodyPr>
          <a:lstStyle/>
          <a:p>
            <a:pPr>
              <a:defRPr sz="1800" b="1">
                <a:solidFill>
                  <a:srgbClr val="C90012"/>
                </a:solidFill>
              </a:defRPr>
            </a:pPr>
            <a:r>
              <a:rPr lang="zh-CN" altLang="en-US" sz="3200" b="1" dirty="0">
                <a:solidFill>
                  <a:srgbClr val="C90012"/>
                </a:solidFill>
                <a:latin typeface="Times New Roman" panose="02020503050405090304" charset="-122"/>
                <a:ea typeface="微软雅黑" panose="020B0503020204020204" charset="-122"/>
              </a:rPr>
              <a:t>安全性分析与证明</a:t>
            </a: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C90012"/>
              </a:solidFill>
              <a:latin typeface="Times New Roman" panose="02020503050405090304" charset="-122"/>
              <a:ea typeface="微软雅黑" panose="020B0503020204020204" charset="-122"/>
              <a:sym typeface="+mn-ea"/>
            </a:endParaRPr>
          </a:p>
          <a:p>
            <a:pPr>
              <a:defRPr sz="1800" b="1">
                <a:solidFill>
                  <a:srgbClr val="C90012"/>
                </a:solidFill>
              </a:defRPr>
            </a:pPr>
            <a:endParaRPr lang="zh-CN" altLang="en-US" sz="3200" b="1" dirty="0">
              <a:solidFill>
                <a:srgbClr val="333333"/>
              </a:solidFill>
              <a:latin typeface="微软雅黑" panose="020B0503020204020204" charset="-122"/>
              <a:ea typeface="微软雅黑" panose="020B0503020204020204" charset="-122"/>
              <a:sym typeface="+mn-ea"/>
            </a:endParaRPr>
          </a:p>
          <a:p>
            <a:pPr algn="l">
              <a:defRPr sz="1800" b="1">
                <a:solidFill>
                  <a:srgbClr val="C90012"/>
                </a:solidFill>
              </a:defRPr>
            </a:pPr>
            <a:endParaRPr lang="zh-CN" altLang="zh-CN" sz="3200" b="1" dirty="0">
              <a:solidFill>
                <a:srgbClr val="C90012"/>
              </a:solidFill>
              <a:latin typeface="Times New Roman" panose="02020503050405090304" charset="-122"/>
              <a:ea typeface="微软雅黑" panose="020B0503020204020204" charset="-122"/>
              <a:sym typeface="+mn-ea"/>
            </a:endParaRPr>
          </a:p>
        </p:txBody>
      </p:sp>
      <mc:AlternateContent xmlns:mc="http://schemas.openxmlformats.org/markup-compatibility/2006" xmlns:a14="http://schemas.microsoft.com/office/drawing/2010/main">
        <mc:Choice Requires="a14">
          <p:sp>
            <p:nvSpPr>
              <p:cNvPr id="4" name="文本框 3"/>
              <p:cNvSpPr txBox="1"/>
              <p:nvPr/>
            </p:nvSpPr>
            <p:spPr>
              <a:xfrm>
                <a:off x="581545" y="1401875"/>
                <a:ext cx="10857786" cy="4386394"/>
              </a:xfrm>
              <a:prstGeom prst="rect">
                <a:avLst/>
              </a:prstGeom>
              <a:noFill/>
            </p:spPr>
            <p:txBody>
              <a:bodyPr wrap="square">
                <a:spAutoFit/>
              </a:bodyPr>
              <a:lstStyle/>
              <a:p>
                <a:pPr algn="just">
                  <a:lnSpc>
                    <a:spcPct val="132000"/>
                  </a:lnSpc>
                </a:pPr>
                <a:r>
                  <a:rPr lang="zh-CN" altLang="en-US" dirty="0">
                    <a:solidFill>
                      <a:srgbClr val="C00000"/>
                    </a:solidFill>
                    <a:latin typeface="+mn-lt"/>
                    <a:ea typeface="+mn-ea"/>
                    <a:cs typeface="Times New Roman" panose="02020503050405090304" pitchFamily="18" charset="0"/>
                  </a:rPr>
                  <a:t>续上文</a:t>
                </a:r>
                <a:endParaRPr lang="en-US" altLang="zh-CN" dirty="0">
                  <a:solidFill>
                    <a:srgbClr val="C00000"/>
                  </a:solidFill>
                  <a:latin typeface="+mn-lt"/>
                  <a:ea typeface="+mn-ea"/>
                  <a:cs typeface="Times New Roman" panose="02020503050405090304" pitchFamily="18" charset="0"/>
                </a:endParaRPr>
              </a:p>
              <a:p>
                <a:pPr algn="just">
                  <a:lnSpc>
                    <a:spcPct val="132000"/>
                  </a:lnSpc>
                </a:pPr>
                <a:r>
                  <a:rPr lang="zh-CN" altLang="en-US" dirty="0"/>
                  <a:t>        当 </a:t>
                </a:r>
                <a14:m>
                  <m:oMath xmlns:m="http://schemas.openxmlformats.org/officeDocument/2006/math">
                    <m:r>
                      <a:rPr lang="en-US" altLang="zh-CN" i="1" smtClean="0">
                        <a:solidFill>
                          <a:srgbClr val="000000"/>
                        </a:solidFill>
                        <a:latin typeface="Cambria Math" panose="02040503050406030204" pitchFamily="18" charset="0"/>
                        <a:cs typeface="宋体" pitchFamily="2" charset="-122"/>
                      </a:rPr>
                      <m:t>𝒜</m:t>
                    </m:r>
                  </m:oMath>
                </a14:m>
                <a:r>
                  <a:rPr lang="zh-CN" altLang="en-US" dirty="0"/>
                  <a:t> 拿到挑战密文 </a:t>
                </a:r>
                <a14:m>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𝐶</m:t>
                        </m:r>
                      </m:e>
                      <m:sup>
                        <m:r>
                          <a:rPr lang="en-US" altLang="zh-CN" i="1">
                            <a:solidFill>
                              <a:srgbClr val="000000"/>
                            </a:solidFill>
                            <a:latin typeface="Cambria Math" panose="02040503050406030204" pitchFamily="18" charset="0"/>
                          </a:rPr>
                          <m:t>∗</m:t>
                        </m:r>
                      </m:sup>
                    </m:sSup>
                    <m:r>
                      <a:rPr lang="en-US" altLang="zh-CN" i="1">
                        <a:solidFill>
                          <a:srgbClr val="000000"/>
                        </a:solidFill>
                        <a:latin typeface="Cambria Math" panose="020405030504060302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cs typeface="Times New Roman" panose="02020503050405090304" pitchFamily="18" charset="0"/>
                      </a:rPr>
                      <m:t>|</m:t>
                    </m:r>
                    <m:d>
                      <m:dPr>
                        <m:begChr m:val="|"/>
                        <m:endChr m:val="|"/>
                        <m:ctrlPr>
                          <a:rPr lang="zh-CN" altLang="zh-CN" i="1">
                            <a:solidFill>
                              <a:srgbClr val="000000"/>
                            </a:solidFill>
                            <a:latin typeface="Cambria Math" panose="02040503050406030204" pitchFamily="18" charset="0"/>
                            <a:cs typeface="Times New Roman" panose="02020503050405090304" pitchFamily="18" charset="0"/>
                          </a:rPr>
                        </m:ctrlPr>
                      </m:dPr>
                      <m:e>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e>
                    </m:d>
                    <m:r>
                      <a:rPr lang="en-US" altLang="zh-CN">
                        <a:solidFill>
                          <a:srgbClr val="000000"/>
                        </a:solidFill>
                        <a:latin typeface="Cambria Math" panose="02040503050406030204" pitchFamily="18" charset="0"/>
                        <a:cs typeface="Times New Roman" panose="020205030504050903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oMath>
                </a14:m>
                <a:r>
                  <a:rPr lang="zh-CN" altLang="en-US" dirty="0"/>
                  <a:t> 后，若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要判断 </a:t>
                </a:r>
                <a14:m>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𝐶</m:t>
                        </m:r>
                      </m:e>
                      <m:sup>
                        <m:r>
                          <a:rPr lang="en-US" altLang="zh-CN" i="1">
                            <a:solidFill>
                              <a:srgbClr val="000000"/>
                            </a:solidFill>
                            <a:latin typeface="Cambria Math" panose="02040503050406030204" pitchFamily="18" charset="0"/>
                          </a:rPr>
                          <m:t>∗</m:t>
                        </m:r>
                      </m:sup>
                    </m:sSup>
                    <m:r>
                      <a:rPr lang="en-US" altLang="zh-CN" i="1">
                        <a:solidFill>
                          <a:srgbClr val="000000"/>
                        </a:solidFill>
                        <a:latin typeface="Cambria Math" panose="020405030504060302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cs typeface="Times New Roman" panose="02020503050405090304" pitchFamily="18" charset="0"/>
                      </a:rPr>
                      <m:t>|</m:t>
                    </m:r>
                    <m:d>
                      <m:dPr>
                        <m:begChr m:val="|"/>
                        <m:endChr m:val="|"/>
                        <m:ctrlPr>
                          <a:rPr lang="zh-CN" altLang="zh-CN" i="1">
                            <a:solidFill>
                              <a:srgbClr val="000000"/>
                            </a:solidFill>
                            <a:latin typeface="Cambria Math" panose="02040503050406030204" pitchFamily="18" charset="0"/>
                            <a:cs typeface="Times New Roman" panose="02020503050405090304" pitchFamily="18" charset="0"/>
                          </a:rPr>
                        </m:ctrlPr>
                      </m:dPr>
                      <m:e>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e>
                    </m:d>
                    <m:r>
                      <a:rPr lang="en-US" altLang="zh-CN">
                        <a:solidFill>
                          <a:srgbClr val="000000"/>
                        </a:solidFill>
                        <a:latin typeface="Cambria Math" panose="02040503050406030204" pitchFamily="18" charset="0"/>
                        <a:cs typeface="Times New Roman" panose="02020503050405090304" pitchFamily="18" charset="0"/>
                      </a:rPr>
                      <m:t>|</m:t>
                    </m:r>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sup>
                    </m:sSubSup>
                  </m:oMath>
                </a14:m>
                <a:r>
                  <a:rPr lang="en-GB" altLang="zh-CN" dirty="0"/>
                  <a:t> </a:t>
                </a:r>
                <a:r>
                  <a:rPr lang="zh-CN" altLang="en-US" dirty="0"/>
                  <a:t>是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0</m:t>
                        </m:r>
                      </m:sub>
                    </m:sSub>
                  </m:oMath>
                </a14:m>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还是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1</m:t>
                        </m:r>
                      </m:sub>
                    </m:sSub>
                  </m:oMath>
                </a14:m>
                <a:r>
                  <a:rPr lang="zh-CN" altLang="en-US" dirty="0"/>
                  <a:t>对应的密文，本 质上其要判断 </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cs typeface="Times New Roman" panose="02020503050405090304" pitchFamily="18" charset="0"/>
                      </a:rPr>
                      <m:t>⨁</m:t>
                    </m:r>
                  </m:oMath>
                </a14:m>
                <a:r>
                  <a:rPr lang="zh-CN" altLang="en-US" dirty="0"/>
                  <a:t> </a:t>
                </a:r>
                <a:r>
                  <a:rPr lang="en-US" altLang="zh-CN" i="1" dirty="0">
                    <a:latin typeface="Times New Roman" panose="02020503050405090304" pitchFamily="18" charset="0"/>
                    <a:cs typeface="Times New Roman" panose="02020503050405090304" pitchFamily="18" charset="0"/>
                  </a:rPr>
                  <a:t>KDF</a:t>
                </a:r>
                <a:r>
                  <a:rPr lang="en-US" altLang="zh-CN" dirty="0">
                    <a:latin typeface="Times New Roman" panose="02020503050405090304" pitchFamily="18" charset="0"/>
                    <a:cs typeface="Times New Roman" panose="02020503050405090304" pitchFamily="18" charset="0"/>
                  </a:rPr>
                  <a:t>(</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𝑎</m:t>
                    </m:r>
                    <m:r>
                      <a:rPr lang="en-US" altLang="zh-CN" i="1">
                        <a:latin typeface="Cambria Math" panose="02040503050406030204" pitchFamily="18" charset="0"/>
                        <a:ea typeface="Cambria Math" panose="02040503050406030204" pitchFamily="18" charset="0"/>
                        <a:cs typeface="Times New Roman" panose="02020503050405090304" pitchFamily="18" charset="0"/>
                      </a:rPr>
                      <m:t>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US" altLang="zh-CN" dirty="0">
                    <a:latin typeface="Times New Roman" panose="02020503050405090304" pitchFamily="18" charset="0"/>
                    <a:cs typeface="Times New Roman" panose="02020503050405090304" pitchFamily="18" charset="0"/>
                  </a:rPr>
                  <a:t>)</a:t>
                </a:r>
                <a:r>
                  <a:rPr lang="zh-CN" altLang="en-US" dirty="0"/>
                  <a:t>等于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0</m:t>
                        </m:r>
                      </m:sub>
                    </m:sSub>
                  </m:oMath>
                </a14:m>
                <a:r>
                  <a:rPr lang="en-GB"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cs typeface="Times New Roman" panose="02020503050405090304" pitchFamily="18" charset="0"/>
                  </a:rPr>
                  <a:t>还是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𝑀</m:t>
                        </m:r>
                      </m:e>
                      <m:sub>
                        <m:r>
                          <a:rPr lang="en-US" altLang="zh-CN" i="1">
                            <a:solidFill>
                              <a:srgbClr val="000000"/>
                            </a:solidFill>
                            <a:latin typeface="Cambria Math" panose="02040503050406030204" pitchFamily="18" charset="0"/>
                            <a:cs typeface="Times New Roman" panose="02020503050405090304" pitchFamily="18" charset="0"/>
                          </a:rPr>
                          <m:t>1</m:t>
                        </m:r>
                      </m:sub>
                    </m:sSub>
                  </m:oMath>
                </a14:m>
                <a:r>
                  <a:rPr lang="en-GB" altLang="zh-CN" dirty="0">
                    <a:latin typeface="Times New Roman" panose="02020503050405090304" pitchFamily="18" charset="0"/>
                    <a:cs typeface="Times New Roman" panose="02020503050405090304" pitchFamily="18" charset="0"/>
                  </a:rPr>
                  <a:t> </a:t>
                </a:r>
                <a:r>
                  <a:rPr lang="zh-CN" altLang="en-GB" dirty="0"/>
                  <a:t>。</a:t>
                </a:r>
                <a:r>
                  <a:rPr lang="zh-CN" altLang="en-US" dirty="0"/>
                  <a:t>如果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未询问过随机预言机 </a:t>
                </a:r>
                <a:r>
                  <a:rPr lang="en-GB" altLang="zh-CN" dirty="0"/>
                  <a:t>KDF </a:t>
                </a:r>
                <a:r>
                  <a:rPr lang="zh-CN" altLang="en-US" dirty="0"/>
                  <a:t>关于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𝛼𝛽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GB" altLang="zh-CN" dirty="0"/>
                  <a:t> </a:t>
                </a:r>
                <a:r>
                  <a:rPr lang="zh-CN" altLang="en-US" dirty="0"/>
                  <a:t>的杂凑值，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猜测到 </a:t>
                </a:r>
                <a:r>
                  <a:rPr lang="en-GB" altLang="zh-CN" dirty="0"/>
                  <a:t>KDF(</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𝛼𝛽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GB" altLang="zh-CN" dirty="0"/>
                  <a:t>) </a:t>
                </a:r>
                <a:r>
                  <a:rPr lang="zh-CN" altLang="en-US" dirty="0"/>
                  <a:t>的值的概率为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i="1" dirty="0">
                                <a:solidFill>
                                  <a:srgbClr val="000000"/>
                                </a:solidFill>
                                <a:latin typeface="Cambria Math" panose="02040503050406030204" pitchFamily="18" charset="0"/>
                                <a:cs typeface="Times New Roman" panose="02020503050405090304" pitchFamily="18" charset="0"/>
                              </a:rPr>
                            </m:ctrlPr>
                          </m:sSupPr>
                          <m:e>
                            <m:r>
                              <a:rPr lang="en-US" altLang="zh-CN" dirty="0">
                                <a:solidFill>
                                  <a:srgbClr val="000000"/>
                                </a:solidFill>
                                <a:latin typeface="Cambria Math" panose="02040503050406030204" pitchFamily="18" charset="0"/>
                                <a:cs typeface="Times New Roman" panose="02020503050405090304" pitchFamily="18" charset="0"/>
                              </a:rPr>
                              <m:t>2</m:t>
                            </m:r>
                          </m:e>
                          <m:sup>
                            <m:r>
                              <m:rPr>
                                <m:sty m:val="p"/>
                              </m:rPr>
                              <a:rPr lang="en-US" altLang="zh-CN" dirty="0">
                                <a:solidFill>
                                  <a:srgbClr val="000000"/>
                                </a:solidFill>
                                <a:latin typeface="Cambria Math" panose="02040503050406030204" pitchFamily="18" charset="0"/>
                                <a:cs typeface="Times New Roman" panose="02020503050405090304" pitchFamily="18" charset="0"/>
                              </a:rPr>
                              <m:t>klen</m:t>
                            </m:r>
                          </m:sup>
                        </m:sSup>
                      </m:den>
                    </m:f>
                  </m:oMath>
                </a14:m>
                <a:r>
                  <a:rPr lang="zh-CN" altLang="en-GB" dirty="0"/>
                  <a:t>（</a:t>
                </a:r>
                <a:r>
                  <a:rPr lang="zh-CN" altLang="en-US" dirty="0"/>
                  <a:t>该值是一个可忽略的值）。若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要有优势获胜，则其需询问过随机预言机 </a:t>
                </a:r>
                <a:r>
                  <a:rPr lang="en-GB" altLang="zh-CN" dirty="0"/>
                  <a:t>KDF </a:t>
                </a:r>
                <a:r>
                  <a:rPr lang="zh-CN" altLang="en-US" dirty="0"/>
                  <a:t>关于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𝛼𝛽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r>
                      <a:rPr lang="en-US" altLang="zh-CN" b="0" i="0" smtClean="0">
                        <a:latin typeface="Cambria Math" panose="02040503050406030204" pitchFamily="18" charset="0"/>
                        <a:ea typeface="Cambria Math" panose="02040503050406030204" pitchFamily="18" charset="0"/>
                        <a:cs typeface="Times New Roman" panose="02020503050405090304" pitchFamily="18" charset="0"/>
                      </a:rPr>
                      <m:t> </m:t>
                    </m:r>
                  </m:oMath>
                </a14:m>
                <a:r>
                  <a:rPr lang="zh-CN" altLang="en-US" dirty="0"/>
                  <a:t>的杂凑值。显然，</a:t>
                </a:r>
                <a:r>
                  <a:rPr lang="en-US" altLang="zh-CN" dirty="0">
                    <a:solidFill>
                      <a:srgbClr val="000000"/>
                    </a:solidFill>
                    <a:cs typeface="宋体" pitchFamily="2" charset="-122"/>
                  </a:rPr>
                  <a:t>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r>
                      <a:rPr lang="en-US" altLang="zh-CN" b="0" i="1" smtClean="0">
                        <a:solidFill>
                          <a:srgbClr val="000000"/>
                        </a:solidFill>
                        <a:latin typeface="Cambria Math" panose="02040503050406030204" pitchFamily="18" charset="0"/>
                        <a:cs typeface="宋体" pitchFamily="2" charset="-122"/>
                      </a:rPr>
                      <m:t> </m:t>
                    </m:r>
                  </m:oMath>
                </a14:m>
                <a:r>
                  <a:rPr lang="zh-CN" altLang="en-US" dirty="0"/>
                  <a:t>询问过随机预言机 </a:t>
                </a:r>
                <a:r>
                  <a:rPr lang="en-GB" altLang="zh-CN" dirty="0"/>
                  <a:t>KDF </a:t>
                </a:r>
                <a:r>
                  <a:rPr lang="zh-CN" altLang="en-US" dirty="0"/>
                  <a:t>关于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503050405090304" pitchFamily="18" charset="0"/>
                      </a:rPr>
                      <m:t>𝛼𝛽</m:t>
                    </m:r>
                    <m:r>
                      <a:rPr lang="en-US" altLang="zh-CN" i="1">
                        <a:latin typeface="Cambria Math" panose="02040503050406030204" pitchFamily="18" charset="0"/>
                        <a:ea typeface="Cambria Math" panose="02040503050406030204" pitchFamily="18" charset="0"/>
                        <a:cs typeface="Times New Roman" panose="02020503050405090304" pitchFamily="18" charset="0"/>
                      </a:rPr>
                      <m:t>𝐺</m:t>
                    </m:r>
                  </m:oMath>
                </a14:m>
                <a:r>
                  <a:rPr lang="en-GB" altLang="zh-CN" dirty="0"/>
                  <a:t> </a:t>
                </a:r>
                <a:r>
                  <a:rPr lang="zh-CN" altLang="en-US" dirty="0"/>
                  <a:t>的杂凑值的概率为 </a:t>
                </a:r>
                <a14:m>
                  <m:oMath xmlns:m="http://schemas.openxmlformats.org/officeDocument/2006/math">
                    <m:sSubSup>
                      <m:sSubSupPr>
                        <m:ctrlPr>
                          <a:rPr lang="en-US" altLang="zh-CN" i="1" dirty="0">
                            <a:latin typeface="Cambria Math" panose="02040503050406030204" pitchFamily="18" charset="0"/>
                          </a:rPr>
                        </m:ctrlPr>
                      </m:sSubSupPr>
                      <m:e>
                        <m:r>
                          <m:rPr>
                            <m:sty m:val="p"/>
                          </m:rPr>
                          <a:rPr lang="en-US" altLang="zh-CN" dirty="0">
                            <a:latin typeface="Cambria Math" panose="02040503050406030204" pitchFamily="18" charset="0"/>
                          </a:rPr>
                          <m:t>Adv</m:t>
                        </m:r>
                      </m:e>
                      <m:sub>
                        <m:r>
                          <a:rPr lang="zh-CN" altLang="en-US">
                            <a:latin typeface="Cambria Math" panose="02040503050406030204" pitchFamily="18" charset="0"/>
                          </a:rPr>
                          <m:t>𝒜</m:t>
                        </m:r>
                      </m:sub>
                      <m:sup>
                        <m:r>
                          <m:rPr>
                            <m:sty m:val="p"/>
                          </m:rPr>
                          <a:rPr lang="en-US" altLang="zh-CN" dirty="0">
                            <a:latin typeface="Cambria Math" panose="02040503050406030204" pitchFamily="18" charset="0"/>
                          </a:rPr>
                          <m:t>CCA</m:t>
                        </m:r>
                        <m:r>
                          <a:rPr lang="en-US" altLang="zh-CN" i="1" dirty="0">
                            <a:latin typeface="Cambria Math" panose="02040503050406030204" pitchFamily="18" charset="0"/>
                          </a:rPr>
                          <m:t>2</m:t>
                        </m:r>
                      </m:sup>
                    </m:sSubSup>
                  </m:oMath>
                </a14:m>
                <a:r>
                  <a:rPr lang="zh-CN" altLang="en-US" dirty="0">
                    <a:solidFill>
                      <a:srgbClr val="000000"/>
                    </a:solidFill>
                    <a:cs typeface="Times New Roman" panose="02020503050405090304" pitchFamily="18" charset="0"/>
                  </a:rPr>
                  <a:t> </a:t>
                </a:r>
                <a:r>
                  <a:rPr lang="en-US" altLang="zh-CN" dirty="0">
                    <a:solidFill>
                      <a:srgbClr val="000000"/>
                    </a:solidFill>
                    <a:cs typeface="Times New Roman" panose="02020503050405090304" pitchFamily="18" charset="0"/>
                  </a:rPr>
                  <a:t>-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i="1" dirty="0">
                                <a:solidFill>
                                  <a:srgbClr val="000000"/>
                                </a:solidFill>
                                <a:latin typeface="Cambria Math" panose="02040503050406030204" pitchFamily="18" charset="0"/>
                                <a:cs typeface="Times New Roman" panose="02020503050405090304" pitchFamily="18" charset="0"/>
                              </a:rPr>
                            </m:ctrlPr>
                          </m:sSupPr>
                          <m:e>
                            <m:r>
                              <a:rPr lang="en-US" altLang="zh-CN" dirty="0">
                                <a:solidFill>
                                  <a:srgbClr val="000000"/>
                                </a:solidFill>
                                <a:latin typeface="Cambria Math" panose="02040503050406030204" pitchFamily="18" charset="0"/>
                                <a:cs typeface="Times New Roman" panose="02020503050405090304" pitchFamily="18" charset="0"/>
                              </a:rPr>
                              <m:t>2</m:t>
                            </m:r>
                          </m:e>
                          <m:sup>
                            <m:r>
                              <m:rPr>
                                <m:sty m:val="p"/>
                              </m:rPr>
                              <a:rPr lang="en-US" altLang="zh-CN" dirty="0">
                                <a:solidFill>
                                  <a:srgbClr val="000000"/>
                                </a:solidFill>
                                <a:latin typeface="Cambria Math" panose="02040503050406030204" pitchFamily="18" charset="0"/>
                                <a:cs typeface="Times New Roman" panose="02020503050405090304" pitchFamily="18" charset="0"/>
                              </a:rPr>
                              <m:t>klen</m:t>
                            </m:r>
                          </m:sup>
                        </m:sSup>
                      </m:den>
                    </m:f>
                    <m:r>
                      <a:rPr lang="en-US" altLang="zh-CN" i="1" dirty="0">
                        <a:solidFill>
                          <a:srgbClr val="000000"/>
                        </a:solidFill>
                        <a:latin typeface="Cambria Math" panose="02040503050406030204" pitchFamily="18" charset="0"/>
                        <a:cs typeface="Times New Roman" panose="02020503050405090304" pitchFamily="18" charset="0"/>
                      </a:rPr>
                      <m:t> </m:t>
                    </m:r>
                  </m:oMath>
                </a14:m>
                <a:r>
                  <a:rPr lang="zh-CN" altLang="en-GB" dirty="0"/>
                  <a:t>。</a:t>
                </a:r>
                <a:r>
                  <a:rPr lang="zh-CN" altLang="en-US" dirty="0"/>
                  <a:t>因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询问随机预言机 </a:t>
                </a:r>
                <a:r>
                  <a:rPr lang="en-GB" altLang="zh-CN" dirty="0"/>
                  <a:t>KDF </a:t>
                </a:r>
                <a:r>
                  <a:rPr lang="zh-CN" altLang="en-US" dirty="0"/>
                  <a:t>的次数至多为 </a:t>
                </a:r>
                <a14:m>
                  <m:oMath xmlns:m="http://schemas.openxmlformats.org/officeDocument/2006/math">
                    <m:sSub>
                      <m:sSubPr>
                        <m:ctrlPr>
                          <a:rPr lang="zh-CN"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宋体" pitchFamily="2" charset="-122"/>
                          </a:rPr>
                          <m:t>𝑞</m:t>
                        </m:r>
                      </m:e>
                      <m:sub>
                        <m:r>
                          <a:rPr lang="en-US" altLang="zh-CN" i="1">
                            <a:solidFill>
                              <a:srgbClr val="000000"/>
                            </a:solidFill>
                            <a:latin typeface="Cambria Math" panose="02040503050406030204" pitchFamily="18" charset="0"/>
                            <a:cs typeface="宋体" pitchFamily="2" charset="-122"/>
                          </a:rPr>
                          <m:t>𝐾</m:t>
                        </m:r>
                      </m:sub>
                    </m:sSub>
                  </m:oMath>
                </a14:m>
                <a:r>
                  <a:rPr lang="en-GB" altLang="zh-CN" dirty="0"/>
                  <a:t> </a:t>
                </a:r>
                <a:r>
                  <a:rPr lang="zh-CN" altLang="en-US" dirty="0"/>
                  <a:t>次，所以 </a:t>
                </a:r>
                <a:r>
                  <a:rPr lang="en-GB" altLang="zh-CN" dirty="0" err="1"/>
                  <a:t>KDF</a:t>
                </a:r>
                <a:r>
                  <a:rPr lang="en-GB" altLang="zh-CN" baseline="-25000" dirty="0" err="1"/>
                  <a:t>list</a:t>
                </a:r>
                <a:r>
                  <a:rPr lang="en-GB" altLang="zh-CN" dirty="0"/>
                  <a:t> </a:t>
                </a:r>
                <a:r>
                  <a:rPr lang="zh-CN" altLang="en-US" dirty="0"/>
                  <a:t>中元组总数至多为 </a:t>
                </a:r>
                <a14:m>
                  <m:oMath xmlns:m="http://schemas.openxmlformats.org/officeDocument/2006/math">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𝐾</m:t>
                        </m:r>
                      </m:sub>
                    </m:sSub>
                  </m:oMath>
                </a14:m>
                <a:r>
                  <a:rPr lang="en-GB" altLang="zh-CN" dirty="0"/>
                  <a:t> </a:t>
                </a:r>
                <a:r>
                  <a:rPr lang="zh-CN" altLang="en-US" dirty="0"/>
                  <a:t>个。在这种情况下， </a:t>
                </a:r>
                <a:r>
                  <a:rPr lang="en-GB" altLang="zh-CN" i="1" dirty="0"/>
                  <a:t>A</a:t>
                </a:r>
                <a:r>
                  <a:rPr lang="en-GB" altLang="zh-CN" i="1" baseline="-25000" dirty="0"/>
                  <a:t>i</a:t>
                </a:r>
                <a:r>
                  <a:rPr lang="en-GB" altLang="zh-CN" dirty="0"/>
                  <a:t> </a:t>
                </a:r>
                <a:r>
                  <a:rPr lang="zh-CN" altLang="en-US" dirty="0"/>
                  <a:t>为 </a:t>
                </a:r>
                <a:r>
                  <a:rPr lang="en-US" altLang="zh-CN" dirty="0"/>
                  <a:t>E</a:t>
                </a:r>
                <a:r>
                  <a:rPr lang="en-GB" altLang="zh-CN" dirty="0"/>
                  <a:t>CDH </a:t>
                </a:r>
                <a:r>
                  <a:rPr lang="zh-CN" altLang="en-US" dirty="0"/>
                  <a:t>问题实例 的解的概率为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b>
                          <m:sSubPr>
                            <m:ctrlPr>
                              <a:rPr lang="zh-CN" altLang="zh-CN" i="1" smtClean="0">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宋体" pitchFamily="2" charset="-122"/>
                              </a:rPr>
                              <m:t>𝑞</m:t>
                            </m:r>
                          </m:e>
                          <m:sub>
                            <m:r>
                              <a:rPr lang="en-US" altLang="zh-CN" b="0" i="1" smtClean="0">
                                <a:solidFill>
                                  <a:srgbClr val="000000"/>
                                </a:solidFill>
                                <a:latin typeface="Cambria Math" panose="02040503050406030204" pitchFamily="18" charset="0"/>
                                <a:cs typeface="宋体" pitchFamily="2" charset="-122"/>
                              </a:rPr>
                              <m:t>𝐾</m:t>
                            </m:r>
                          </m:sub>
                        </m:sSub>
                      </m:den>
                    </m:f>
                    <m:r>
                      <a:rPr lang="en-US" altLang="zh-CN" i="1" dirty="0" smtClean="0">
                        <a:solidFill>
                          <a:srgbClr val="000000"/>
                        </a:solidFill>
                        <a:latin typeface="Cambria Math" panose="02040503050406030204" pitchFamily="18" charset="0"/>
                        <a:cs typeface="Times New Roman" panose="02020503050405090304" pitchFamily="18" charset="0"/>
                      </a:rPr>
                      <m:t> </m:t>
                    </m:r>
                  </m:oMath>
                </a14:m>
                <a:r>
                  <a:rPr lang="zh-CN" altLang="en-GB" dirty="0"/>
                  <a:t>。 </a:t>
                </a:r>
                <a:endParaRPr lang="en-US" altLang="zh-CN" dirty="0"/>
              </a:p>
              <a:p>
                <a:pPr algn="just">
                  <a:lnSpc>
                    <a:spcPct val="132000"/>
                  </a:lnSpc>
                </a:pPr>
                <a:r>
                  <a:rPr lang="zh-CN" altLang="en-US" dirty="0"/>
                  <a:t>        综上，</a:t>
                </a:r>
                <a:r>
                  <a:rPr lang="en-US" altLang="zh-CN" dirty="0"/>
                  <a:t> </a:t>
                </a:r>
                <a14:m>
                  <m:oMath xmlns:m="http://schemas.openxmlformats.org/officeDocument/2006/math">
                    <m:r>
                      <a:rPr lang="en-US" altLang="zh-CN" i="1">
                        <a:latin typeface="Cambria Math" panose="02040503050406030204" pitchFamily="18" charset="0"/>
                      </a:rPr>
                      <m:t>ℬ</m:t>
                    </m:r>
                  </m:oMath>
                </a14:m>
                <a:r>
                  <a:rPr lang="zh-CN" altLang="en-US" dirty="0"/>
                  <a:t>  解决 </a:t>
                </a:r>
                <a:r>
                  <a:rPr lang="en-GB" altLang="zh-CN" dirty="0"/>
                  <a:t>ECDH </a:t>
                </a:r>
                <a:r>
                  <a:rPr lang="zh-CN" altLang="en-US" dirty="0"/>
                  <a:t>问题实例的概率大于或等于 </a:t>
                </a:r>
                <a:r>
                  <a:rPr lang="en-US" altLang="zh-CN" dirty="0">
                    <a:solidFill>
                      <a:srgbClr val="000000"/>
                    </a:solidFill>
                    <a:latin typeface="+mn-lt"/>
                    <a:ea typeface="+mn-ea"/>
                    <a:cs typeface="Times New Roman" panose="02020503050405090304" pitchFamily="18" charset="0"/>
                  </a:rPr>
                  <a:t>(1-</a:t>
                </a:r>
                <a:r>
                  <a:rPr lang="en-US" altLang="zh-CN" dirty="0">
                    <a:solidFill>
                      <a:srgbClr val="000000"/>
                    </a:solidFill>
                    <a:cs typeface="Times New Roman" panose="02020503050405090304" pitchFamily="18" charset="0"/>
                  </a:rPr>
                  <a:t> </a:t>
                </a:r>
                <a14:m>
                  <m:oMath xmlns:m="http://schemas.openxmlformats.org/officeDocument/2006/math">
                    <m:f>
                      <m:fPr>
                        <m:ctrlPr>
                          <a:rPr lang="en-US" altLang="zh-CN" i="1" dirty="0">
                            <a:solidFill>
                              <a:srgbClr val="000000"/>
                            </a:solidFill>
                            <a:latin typeface="Cambria Math" panose="02040503050406030204" pitchFamily="18" charset="0"/>
                            <a:cs typeface="Times New Roman" panose="02020503050405090304" pitchFamily="18" charset="0"/>
                          </a:rPr>
                        </m:ctrlPr>
                      </m:fPr>
                      <m:num>
                        <m:r>
                          <a:rPr lang="en-US" altLang="zh-CN" i="1" dirty="0">
                            <a:solidFill>
                              <a:srgbClr val="000000"/>
                            </a:solidFill>
                            <a:latin typeface="Cambria Math" panose="02040503050406030204" pitchFamily="18" charset="0"/>
                            <a:cs typeface="Times New Roman" panose="02020503050405090304" pitchFamily="18" charset="0"/>
                          </a:rPr>
                          <m:t>1</m:t>
                        </m:r>
                      </m:num>
                      <m:den>
                        <m:sSup>
                          <m:sSupPr>
                            <m:ctrlPr>
                              <a:rPr lang="en-US" altLang="zh-CN" i="1" dirty="0">
                                <a:solidFill>
                                  <a:srgbClr val="000000"/>
                                </a:solidFill>
                                <a:latin typeface="Cambria Math" panose="02040503050406030204" pitchFamily="18" charset="0"/>
                                <a:cs typeface="Times New Roman" panose="02020503050405090304" pitchFamily="18" charset="0"/>
                              </a:rPr>
                            </m:ctrlPr>
                          </m:sSupPr>
                          <m:e>
                            <m:r>
                              <a:rPr lang="en-US" altLang="zh-CN" dirty="0">
                                <a:solidFill>
                                  <a:srgbClr val="000000"/>
                                </a:solidFill>
                                <a:latin typeface="Cambria Math" panose="02040503050406030204" pitchFamily="18" charset="0"/>
                                <a:cs typeface="Times New Roman" panose="02020503050405090304" pitchFamily="18" charset="0"/>
                              </a:rPr>
                              <m:t>2</m:t>
                            </m:r>
                          </m:e>
                          <m:sup>
                            <m:r>
                              <m:rPr>
                                <m:sty m:val="p"/>
                              </m:rPr>
                              <a:rPr lang="en-US" altLang="zh-CN" dirty="0">
                                <a:solidFill>
                                  <a:srgbClr val="000000"/>
                                </a:solidFill>
                                <a:latin typeface="Cambria Math" panose="02040503050406030204" pitchFamily="18" charset="0"/>
                                <a:cs typeface="Times New Roman" panose="02020503050405090304" pitchFamily="18" charset="0"/>
                              </a:rPr>
                              <m:t>klen</m:t>
                            </m:r>
                            <m:r>
                              <a:rPr lang="en-US" altLang="zh-CN" b="0" i="0" dirty="0" smtClean="0">
                                <a:solidFill>
                                  <a:srgbClr val="000000"/>
                                </a:solidFill>
                                <a:latin typeface="Cambria Math" panose="02040503050406030204" pitchFamily="18" charset="0"/>
                                <a:cs typeface="Times New Roman" panose="02020503050405090304" pitchFamily="18" charset="0"/>
                              </a:rPr>
                              <m:t>+</m:t>
                            </m:r>
                            <m:r>
                              <a:rPr lang="en-US" altLang="zh-CN" b="0" i="0" dirty="0" smtClean="0">
                                <a:solidFill>
                                  <a:srgbClr val="000000"/>
                                </a:solidFill>
                                <a:latin typeface="Cambria Math" panose="02040503050406030204" pitchFamily="18" charset="0"/>
                                <a:cs typeface="Times New Roman" panose="02020503050405090304" pitchFamily="18" charset="0"/>
                              </a:rPr>
                              <m:t>256</m:t>
                            </m:r>
                          </m:sup>
                        </m:sSup>
                      </m:den>
                    </m:f>
                  </m:oMath>
                </a14:m>
                <a:r>
                  <a:rPr lang="en-US" altLang="zh-CN" dirty="0">
                    <a:solidFill>
                      <a:srgbClr val="000000"/>
                    </a:solidFill>
                    <a:latin typeface="+mn-lt"/>
                    <a:ea typeface="+mn-ea"/>
                    <a:cs typeface="Times New Roman" panose="02020503050405090304" pitchFamily="18" charset="0"/>
                  </a:rPr>
                  <a:t>)(</a:t>
                </a:r>
                <a14:m>
                  <m:oMath xmlns:m="http://schemas.openxmlformats.org/officeDocument/2006/math">
                    <m:sSubSup>
                      <m:sSubSupPr>
                        <m:ctrlPr>
                          <a:rPr lang="en-US" altLang="zh-CN" i="1" dirty="0">
                            <a:latin typeface="Cambria Math" panose="02040503050406030204" pitchFamily="18" charset="0"/>
                            <a:ea typeface="+mn-ea"/>
                          </a:rPr>
                        </m:ctrlPr>
                      </m:sSubSupPr>
                      <m:e>
                        <m:r>
                          <m:rPr>
                            <m:sty m:val="p"/>
                          </m:rPr>
                          <a:rPr lang="en-US" altLang="zh-CN" dirty="0">
                            <a:latin typeface="Cambria Math" panose="02040503050406030204" pitchFamily="18" charset="0"/>
                            <a:ea typeface="+mn-ea"/>
                          </a:rPr>
                          <m:t>Adv</m:t>
                        </m:r>
                      </m:e>
                      <m:sub>
                        <m:r>
                          <a:rPr lang="zh-CN" altLang="en-US">
                            <a:latin typeface="Cambria Math" panose="02040503050406030204" pitchFamily="18" charset="0"/>
                            <a:ea typeface="+mn-ea"/>
                          </a:rPr>
                          <m:t>𝒜</m:t>
                        </m:r>
                      </m:sub>
                      <m:sup>
                        <m:r>
                          <m:rPr>
                            <m:sty m:val="p"/>
                          </m:rPr>
                          <a:rPr lang="en-US" altLang="zh-CN" dirty="0">
                            <a:latin typeface="Cambria Math" panose="02040503050406030204" pitchFamily="18" charset="0"/>
                            <a:ea typeface="+mn-ea"/>
                          </a:rPr>
                          <m:t>C</m:t>
                        </m:r>
                        <m:r>
                          <m:rPr>
                            <m:sty m:val="p"/>
                          </m:rPr>
                          <a:rPr lang="en-US" altLang="zh-CN" b="0" i="0" dirty="0" smtClean="0">
                            <a:latin typeface="Cambria Math" panose="02040503050406030204" pitchFamily="18" charset="0"/>
                            <a:ea typeface="+mn-ea"/>
                          </a:rPr>
                          <m:t>CA</m:t>
                        </m:r>
                        <m:r>
                          <a:rPr lang="en-US" altLang="zh-CN" b="0" i="1" dirty="0" smtClean="0">
                            <a:latin typeface="Cambria Math" panose="02040503050406030204" pitchFamily="18" charset="0"/>
                            <a:ea typeface="+mn-ea"/>
                          </a:rPr>
                          <m:t>2</m:t>
                        </m:r>
                      </m:sup>
                    </m:sSubSup>
                  </m:oMath>
                </a14:m>
                <a:r>
                  <a:rPr lang="zh-CN" altLang="en-US" dirty="0">
                    <a:solidFill>
                      <a:srgbClr val="000000"/>
                    </a:solidFill>
                    <a:latin typeface="+mn-lt"/>
                    <a:ea typeface="+mn-ea"/>
                    <a:cs typeface="Times New Roman" panose="02020503050405090304" pitchFamily="18" charset="0"/>
                  </a:rPr>
                  <a:t> </a:t>
                </a:r>
                <a:r>
                  <a:rPr lang="en-US" altLang="zh-CN" dirty="0">
                    <a:solidFill>
                      <a:srgbClr val="000000"/>
                    </a:solidFill>
                    <a:latin typeface="+mn-lt"/>
                    <a:ea typeface="+mn-ea"/>
                    <a:cs typeface="Times New Roman" panose="02020503050405090304" pitchFamily="18" charset="0"/>
                  </a:rPr>
                  <a:t>- </a:t>
                </a:r>
                <a14:m>
                  <m:oMath xmlns:m="http://schemas.openxmlformats.org/officeDocument/2006/math">
                    <m:f>
                      <m:fPr>
                        <m:ctrlPr>
                          <a:rPr lang="en-US" altLang="zh-CN" i="1" dirty="0" smtClean="0">
                            <a:solidFill>
                              <a:srgbClr val="000000"/>
                            </a:solidFill>
                            <a:latin typeface="Cambria Math" panose="02040503050406030204" pitchFamily="18" charset="0"/>
                            <a:ea typeface="+mn-ea"/>
                            <a:cs typeface="Times New Roman" panose="02020503050405090304" pitchFamily="18" charset="0"/>
                          </a:rPr>
                        </m:ctrlPr>
                      </m:fPr>
                      <m:num>
                        <m:r>
                          <a:rPr lang="en-US" altLang="zh-CN" b="0" i="1" dirty="0" smtClean="0">
                            <a:solidFill>
                              <a:srgbClr val="000000"/>
                            </a:solidFill>
                            <a:latin typeface="Cambria Math" panose="02040503050406030204" pitchFamily="18" charset="0"/>
                            <a:ea typeface="+mn-ea"/>
                            <a:cs typeface="Times New Roman" panose="02020503050405090304" pitchFamily="18" charset="0"/>
                          </a:rPr>
                          <m:t>1</m:t>
                        </m:r>
                      </m:num>
                      <m:den>
                        <m:sSup>
                          <m:sSupPr>
                            <m:ctrlPr>
                              <a:rPr lang="en-US" altLang="zh-CN" i="1" dirty="0" smtClean="0">
                                <a:solidFill>
                                  <a:srgbClr val="000000"/>
                                </a:solidFill>
                                <a:latin typeface="Cambria Math" panose="02040503050406030204" pitchFamily="18" charset="0"/>
                                <a:ea typeface="+mn-ea"/>
                                <a:cs typeface="Times New Roman" panose="02020503050405090304" pitchFamily="18" charset="0"/>
                              </a:rPr>
                            </m:ctrlPr>
                          </m:sSupPr>
                          <m:e>
                            <m:r>
                              <a:rPr lang="en-US" altLang="zh-CN" b="0" i="0" dirty="0" smtClean="0">
                                <a:solidFill>
                                  <a:srgbClr val="000000"/>
                                </a:solidFill>
                                <a:latin typeface="Cambria Math" panose="02040503050406030204" pitchFamily="18" charset="0"/>
                                <a:ea typeface="+mn-ea"/>
                                <a:cs typeface="Times New Roman" panose="02020503050405090304" pitchFamily="18" charset="0"/>
                              </a:rPr>
                              <m:t>2</m:t>
                            </m:r>
                          </m:e>
                          <m:sup>
                            <m:r>
                              <m:rPr>
                                <m:sty m:val="p"/>
                              </m:rPr>
                              <a:rPr lang="en-US" altLang="zh-CN" b="0" i="0" dirty="0" smtClean="0">
                                <a:solidFill>
                                  <a:srgbClr val="000000"/>
                                </a:solidFill>
                                <a:latin typeface="Cambria Math" panose="02040503050406030204" pitchFamily="18" charset="0"/>
                                <a:ea typeface="+mn-ea"/>
                                <a:cs typeface="Times New Roman" panose="02020503050405090304" pitchFamily="18" charset="0"/>
                              </a:rPr>
                              <m:t>klen</m:t>
                            </m:r>
                          </m:sup>
                        </m:sSup>
                      </m:den>
                    </m:f>
                    <m:r>
                      <a:rPr lang="en-US" altLang="zh-CN" b="0" i="0" dirty="0" smtClean="0">
                        <a:solidFill>
                          <a:srgbClr val="000000"/>
                        </a:solidFill>
                        <a:latin typeface="Cambria Math" panose="02040503050406030204" pitchFamily="18" charset="0"/>
                        <a:ea typeface="+mn-ea"/>
                        <a:cs typeface="Times New Roman" panose="02020503050405090304" pitchFamily="18" charset="0"/>
                      </a:rPr>
                      <m:t>)</m:t>
                    </m:r>
                  </m:oMath>
                </a14:m>
                <a:r>
                  <a:rPr lang="en-US" altLang="zh-CN" sz="1800" dirty="0">
                    <a:solidFill>
                      <a:srgbClr val="000000"/>
                    </a:solidFill>
                    <a:effectLst/>
                    <a:latin typeface="+mn-lt"/>
                    <a:ea typeface="+mn-ea"/>
                    <a:cs typeface="Times New Roman" panose="02020503050405090304" pitchFamily="18" charset="0"/>
                  </a:rPr>
                  <a:t>/</a:t>
                </a:r>
                <a14:m>
                  <m:oMath xmlns:m="http://schemas.openxmlformats.org/officeDocument/2006/math">
                    <m:sSub>
                      <m:sSubPr>
                        <m:ctrlPr>
                          <a:rPr lang="en-US" altLang="zh-CN" sz="1800" i="1" dirty="0" smtClean="0">
                            <a:solidFill>
                              <a:srgbClr val="000000"/>
                            </a:solidFill>
                            <a:effectLst/>
                            <a:latin typeface="Cambria Math" panose="02040503050406030204" pitchFamily="18" charset="0"/>
                            <a:ea typeface="+mn-ea"/>
                            <a:cs typeface="Times New Roman" panose="02020503050405090304" pitchFamily="18" charset="0"/>
                          </a:rPr>
                        </m:ctrlPr>
                      </m:sSubPr>
                      <m:e>
                        <m:r>
                          <a:rPr lang="en-US" altLang="zh-CN" sz="1800" b="0" i="1" dirty="0" smtClean="0">
                            <a:solidFill>
                              <a:srgbClr val="000000"/>
                            </a:solidFill>
                            <a:effectLst/>
                            <a:latin typeface="Cambria Math" panose="02040503050406030204" pitchFamily="18" charset="0"/>
                            <a:ea typeface="+mn-ea"/>
                            <a:cs typeface="Times New Roman" panose="02020503050405090304" pitchFamily="18" charset="0"/>
                          </a:rPr>
                          <m:t>𝑞</m:t>
                        </m:r>
                      </m:e>
                      <m:sub>
                        <m:r>
                          <a:rPr lang="en-US" altLang="zh-CN" sz="1800" b="0" i="1" dirty="0" smtClean="0">
                            <a:solidFill>
                              <a:srgbClr val="000000"/>
                            </a:solidFill>
                            <a:effectLst/>
                            <a:latin typeface="Cambria Math" panose="02040503050406030204" pitchFamily="18" charset="0"/>
                            <a:ea typeface="+mn-ea"/>
                            <a:cs typeface="Times New Roman" panose="02020503050405090304" pitchFamily="18" charset="0"/>
                          </a:rPr>
                          <m:t>𝐾</m:t>
                        </m:r>
                      </m:sub>
                    </m:sSub>
                    <m:r>
                      <a:rPr lang="en-US" altLang="zh-CN" sz="1800" b="0" i="1" dirty="0" smtClean="0">
                        <a:solidFill>
                          <a:srgbClr val="000000"/>
                        </a:solidFill>
                        <a:effectLst/>
                        <a:latin typeface="Cambria Math" panose="02040503050406030204" pitchFamily="18" charset="0"/>
                        <a:ea typeface="+mn-ea"/>
                        <a:cs typeface="Times New Roman" panose="02020503050405090304" pitchFamily="18" charset="0"/>
                      </a:rPr>
                      <m:t> </m:t>
                    </m:r>
                  </m:oMath>
                </a14:m>
                <a:r>
                  <a:rPr lang="en-GB" altLang="zh-CN" dirty="0"/>
                  <a:t> </a:t>
                </a:r>
                <a:r>
                  <a:rPr lang="zh-CN" altLang="en-GB" dirty="0"/>
                  <a:t>。 </a:t>
                </a:r>
                <a:r>
                  <a:rPr lang="zh-CN" altLang="en-US" dirty="0"/>
                  <a:t>因我们假设在群</a:t>
                </a:r>
                <a14:m>
                  <m:oMath xmlns:m="http://schemas.openxmlformats.org/officeDocument/2006/math">
                    <m:r>
                      <a:rPr lang="zh-CN" altLang="en-US" i="1">
                        <a:latin typeface="Cambria Math" panose="02040503050406030204" pitchFamily="18" charset="0"/>
                      </a:rPr>
                      <m:t>𝔾</m:t>
                    </m:r>
                  </m:oMath>
                </a14:m>
                <a:r>
                  <a:rPr lang="zh-CN" altLang="en-US" dirty="0"/>
                  <a:t>上求解 </a:t>
                </a:r>
                <a:r>
                  <a:rPr lang="en-GB" altLang="zh-CN" dirty="0"/>
                  <a:t>ECDH </a:t>
                </a:r>
                <a:r>
                  <a:rPr lang="zh-CN" altLang="en-US" dirty="0"/>
                  <a:t>问题是困难的，所以可反推出 </a:t>
                </a:r>
                <a14:m>
                  <m:oMath xmlns:m="http://schemas.openxmlformats.org/officeDocument/2006/math">
                    <m:sSubSup>
                      <m:sSubSupPr>
                        <m:ctrlPr>
                          <a:rPr lang="en-US" altLang="zh-CN" i="1" dirty="0">
                            <a:latin typeface="Cambria Math" panose="02040503050406030204" pitchFamily="18" charset="0"/>
                          </a:rPr>
                        </m:ctrlPr>
                      </m:sSubSupPr>
                      <m:e>
                        <m:r>
                          <m:rPr>
                            <m:sty m:val="p"/>
                          </m:rPr>
                          <a:rPr lang="en-US" altLang="zh-CN" dirty="0">
                            <a:latin typeface="Cambria Math" panose="02040503050406030204" pitchFamily="18" charset="0"/>
                          </a:rPr>
                          <m:t>Adv</m:t>
                        </m:r>
                      </m:e>
                      <m:sub>
                        <m:r>
                          <a:rPr lang="zh-CN" altLang="en-US">
                            <a:latin typeface="Cambria Math" panose="02040503050406030204" pitchFamily="18" charset="0"/>
                          </a:rPr>
                          <m:t>𝒜</m:t>
                        </m:r>
                      </m:sub>
                      <m:sup>
                        <m:r>
                          <m:rPr>
                            <m:sty m:val="p"/>
                          </m:rPr>
                          <a:rPr lang="en-US" altLang="zh-CN" dirty="0">
                            <a:latin typeface="Cambria Math" panose="02040503050406030204" pitchFamily="18" charset="0"/>
                          </a:rPr>
                          <m:t>CCA</m:t>
                        </m:r>
                        <m:r>
                          <a:rPr lang="en-US" altLang="zh-CN" i="1" dirty="0">
                            <a:latin typeface="Cambria Math" panose="02040503050406030204" pitchFamily="18" charset="0"/>
                          </a:rPr>
                          <m:t>2</m:t>
                        </m:r>
                      </m:sup>
                    </m:sSubSup>
                  </m:oMath>
                </a14:m>
                <a:r>
                  <a:rPr lang="en-GB" altLang="zh-CN" dirty="0"/>
                  <a:t>  </a:t>
                </a:r>
                <a:r>
                  <a:rPr lang="zh-CN" altLang="en-US" dirty="0"/>
                  <a:t>是可忽略的。</a:t>
                </a:r>
                <a:r>
                  <a:rPr lang="en-US" altLang="zh-CN" dirty="0"/>
                  <a:t> </a:t>
                </a:r>
                <a14:m>
                  <m:oMath xmlns:m="http://schemas.openxmlformats.org/officeDocument/2006/math">
                    <m:r>
                      <a:rPr lang="en-US" altLang="zh-CN" i="1">
                        <a:latin typeface="Cambria Math" panose="02040503050406030204" pitchFamily="18" charset="0"/>
                      </a:rPr>
                      <m:t>ℬ</m:t>
                    </m:r>
                  </m:oMath>
                </a14:m>
                <a:r>
                  <a:rPr lang="zh-CN" altLang="en-US" dirty="0"/>
                  <a:t>  解决 </a:t>
                </a:r>
                <a:r>
                  <a:rPr lang="en-GB" altLang="zh-CN" dirty="0"/>
                  <a:t>ECDH </a:t>
                </a:r>
                <a:r>
                  <a:rPr lang="zh-CN" altLang="en-US" dirty="0"/>
                  <a:t>问题实例的时间为 </a:t>
                </a:r>
                <a14:m>
                  <m:oMath xmlns:m="http://schemas.openxmlformats.org/officeDocument/2006/math">
                    <m:r>
                      <a:rPr lang="en-US" altLang="zh-CN" i="1">
                        <a:solidFill>
                          <a:srgbClr val="000000"/>
                        </a:solidFill>
                        <a:latin typeface="Cambria Math" panose="02040503050406030204" pitchFamily="18" charset="0"/>
                        <a:cs typeface="宋体" pitchFamily="2" charset="-122"/>
                      </a:rPr>
                      <m:t>𝒜</m:t>
                    </m:r>
                  </m:oMath>
                </a14:m>
                <a:r>
                  <a:rPr lang="zh-CN" altLang="en-US" dirty="0"/>
                  <a:t> 获胜的时间 </a:t>
                </a:r>
                <a14:m>
                  <m:oMath xmlns:m="http://schemas.openxmlformats.org/officeDocument/2006/math">
                    <m:sSub>
                      <m:sSubPr>
                        <m:ctrlPr>
                          <a:rPr lang="en-US" altLang="zh-CN" i="1">
                            <a:solidFill>
                              <a:srgbClr val="000000"/>
                            </a:solidFill>
                            <a:latin typeface="Cambria Math" panose="02040503050406030204" pitchFamily="18" charset="0"/>
                            <a:cs typeface="Times New Roman" panose="02020503050405090304" pitchFamily="18" charset="0"/>
                          </a:rPr>
                        </m:ctrlPr>
                      </m:sSubPr>
                      <m:e>
                        <m:r>
                          <a:rPr lang="en-US" altLang="zh-CN" i="1">
                            <a:solidFill>
                              <a:srgbClr val="000000"/>
                            </a:solidFill>
                            <a:latin typeface="Cambria Math" panose="02040503050406030204" pitchFamily="18" charset="0"/>
                            <a:cs typeface="Times New Roman" panose="02020503050405090304" pitchFamily="18" charset="0"/>
                          </a:rPr>
                          <m:t>𝑡</m:t>
                        </m:r>
                      </m:e>
                      <m:sub>
                        <m:r>
                          <a:rPr lang="en-US" altLang="zh-CN" i="1">
                            <a:solidFill>
                              <a:srgbClr val="000000"/>
                            </a:solidFill>
                            <a:latin typeface="Cambria Math" panose="02040503050406030204" pitchFamily="18" charset="0"/>
                            <a:cs typeface="宋体" pitchFamily="2" charset="-122"/>
                          </a:rPr>
                          <m:t>𝒜</m:t>
                        </m:r>
                      </m:sub>
                    </m:sSub>
                  </m:oMath>
                </a14:m>
                <a:r>
                  <a:rPr lang="en-GB" altLang="zh-CN" dirty="0"/>
                  <a:t> </a:t>
                </a:r>
                <a:r>
                  <a:rPr lang="zh-CN" altLang="en-US" dirty="0"/>
                  <a:t>加上回复问询过程的时间</a:t>
                </a:r>
                <a:r>
                  <a:rPr lang="en-US" altLang="zh-CN" i="1" dirty="0">
                    <a:solidFill>
                      <a:srgbClr val="000000"/>
                    </a:solidFill>
                    <a:cs typeface="Times New Roman" panose="02020503050405090304" pitchFamily="18" charset="0"/>
                  </a:rPr>
                  <a:t>O</a:t>
                </a:r>
                <a:r>
                  <a:rPr lang="en-US" altLang="zh-CN" dirty="0">
                    <a:solidFill>
                      <a:srgbClr val="000000"/>
                    </a:solidFill>
                    <a:cs typeface="Times New Roman" panose="02020503050405090304" pitchFamily="18" charset="0"/>
                  </a:rPr>
                  <a:t>(</a:t>
                </a:r>
                <a14:m>
                  <m:oMath xmlns:m="http://schemas.openxmlformats.org/officeDocument/2006/math">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𝐾</m:t>
                            </m:r>
                          </m:sub>
                        </m:sSub>
                        <m:r>
                          <a:rPr lang="en-US" altLang="zh-CN" i="1" dirty="0">
                            <a:solidFill>
                              <a:srgbClr val="000000"/>
                            </a:solidFill>
                            <a:latin typeface="Cambria Math" panose="02040503050406030204" pitchFamily="18" charset="0"/>
                            <a:cs typeface="Times New Roman" panose="02020503050405090304" pitchFamily="18" charset="0"/>
                          </a:rPr>
                          <m:t>+</m:t>
                        </m:r>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𝐻</m:t>
                        </m:r>
                      </m:sub>
                    </m:sSub>
                  </m:oMath>
                </a14:m>
                <a:r>
                  <a:rPr lang="en-US" altLang="zh-CN" dirty="0">
                    <a:solidFill>
                      <a:srgbClr val="000000"/>
                    </a:solidFill>
                    <a:cs typeface="Times New Roman" panose="02020503050405090304" pitchFamily="18" charset="0"/>
                  </a:rPr>
                  <a:t>+1+ </a:t>
                </a:r>
                <a14:m>
                  <m:oMath xmlns:m="http://schemas.openxmlformats.org/officeDocument/2006/math">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sSub>
                              <m:sSubPr>
                                <m:ctrlPr>
                                  <a:rPr lang="en-US" altLang="zh-CN" i="1" dirty="0">
                                    <a:solidFill>
                                      <a:srgbClr val="000000"/>
                                    </a:solidFill>
                                    <a:latin typeface="Cambria Math" panose="02040503050406030204" pitchFamily="18" charset="0"/>
                                    <a:cs typeface="Times New Roman" panose="02020503050405090304" pitchFamily="18" charset="0"/>
                                  </a:rPr>
                                </m:ctrlPr>
                              </m:sSubPr>
                              <m:e>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𝐷</m:t>
                                </m:r>
                              </m:sub>
                            </m:sSub>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𝐾</m:t>
                            </m:r>
                          </m:sub>
                        </m:sSub>
                        <m:r>
                          <a:rPr lang="en-US" altLang="zh-CN" i="1" dirty="0">
                            <a:solidFill>
                              <a:srgbClr val="000000"/>
                            </a:solidFill>
                            <a:latin typeface="Cambria Math" panose="02040503050406030204" pitchFamily="18" charset="0"/>
                            <a:cs typeface="Times New Roman" panose="02020503050405090304" pitchFamily="18" charset="0"/>
                          </a:rPr>
                          <m:t>𝑞</m:t>
                        </m:r>
                      </m:e>
                      <m:sub>
                        <m:r>
                          <a:rPr lang="en-US" altLang="zh-CN" i="1" dirty="0">
                            <a:solidFill>
                              <a:srgbClr val="000000"/>
                            </a:solidFill>
                            <a:latin typeface="Cambria Math" panose="02040503050406030204" pitchFamily="18" charset="0"/>
                            <a:cs typeface="Times New Roman" panose="02020503050405090304" pitchFamily="18" charset="0"/>
                          </a:rPr>
                          <m:t>𝐻</m:t>
                        </m:r>
                      </m:sub>
                    </m:sSub>
                  </m:oMath>
                </a14:m>
                <a:r>
                  <a:rPr lang="en-US" altLang="zh-CN" dirty="0">
                    <a:solidFill>
                      <a:srgbClr val="000000"/>
                    </a:solidFill>
                    <a:cs typeface="Times New Roman" panose="02020503050405090304" pitchFamily="18" charset="0"/>
                  </a:rPr>
                  <a:t>)</a:t>
                </a:r>
                <a14:m>
                  <m:oMath xmlns:m="http://schemas.openxmlformats.org/officeDocument/2006/math">
                    <m:r>
                      <a:rPr lang="en-US" altLang="zh-CN" i="1">
                        <a:solidFill>
                          <a:srgbClr val="000000"/>
                        </a:solidFill>
                        <a:latin typeface="Cambria Math" panose="02040503050406030204" pitchFamily="18" charset="0"/>
                        <a:cs typeface="Times New Roman" panose="02020503050405090304" pitchFamily="18" charset="0"/>
                      </a:rPr>
                      <m:t>×</m:t>
                    </m:r>
                    <m:r>
                      <a:rPr lang="en-US" altLang="zh-CN" i="1">
                        <a:solidFill>
                          <a:srgbClr val="000000"/>
                        </a:solidFill>
                        <a:latin typeface="Cambria Math" panose="02040503050406030204" pitchFamily="18" charset="0"/>
                        <a:cs typeface="Times New Roman" panose="02020503050405090304" pitchFamily="18" charset="0"/>
                      </a:rPr>
                      <m:t>𝜏</m:t>
                    </m:r>
                  </m:oMath>
                </a14:m>
                <a:r>
                  <a:rPr lang="zh-CN" altLang="en-US" dirty="0"/>
                  <a:t> </a:t>
                </a:r>
                <a:r>
                  <a:rPr lang="zh-CN" altLang="en-GB" dirty="0"/>
                  <a:t>。</a:t>
                </a:r>
                <a:endParaRPr lang="zh-CN" altLang="zh-CN" dirty="0">
                  <a:solidFill>
                    <a:srgbClr val="000000"/>
                  </a:solidFill>
                  <a:latin typeface="+mn-lt"/>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545" y="1401875"/>
                <a:ext cx="10857786" cy="4386394"/>
              </a:xfrm>
              <a:prstGeom prst="rect">
                <a:avLst/>
              </a:prstGeom>
              <a:blipFill>
                <a:blip r:embed="rId3"/>
                <a:stretch>
                  <a:fillRect l="-467" r="-467" b="-1153"/>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DCD62716-A494-77E4-B3DB-444408532739}"/>
              </a:ext>
            </a:extLst>
          </p:cNvPr>
          <p:cNvSpPr txBox="1"/>
          <p:nvPr/>
        </p:nvSpPr>
        <p:spPr>
          <a:xfrm>
            <a:off x="502919" y="797971"/>
            <a:ext cx="7025411" cy="400110"/>
          </a:xfrm>
          <a:prstGeom prst="rect">
            <a:avLst/>
          </a:prstGeom>
          <a:noFill/>
        </p:spPr>
        <p:txBody>
          <a:bodyPr wrap="square">
            <a:spAutoFit/>
          </a:bodyPr>
          <a:lstStyle/>
          <a:p>
            <a:pPr>
              <a:defRPr sz="2700" b="1">
                <a:solidFill>
                  <a:srgbClr val="C90012"/>
                </a:solidFill>
                <a:latin typeface="Times New Roman" panose="02020503050405090304"/>
                <a:ea typeface="微软雅黑"/>
                <a:cs typeface="Times New Roman" panose="02020503050405090304"/>
              </a:defRPr>
            </a:pPr>
            <a:r>
              <a:rPr lang="en-GB" altLang="zh-CN" sz="2000" b="1" dirty="0">
                <a:solidFill>
                  <a:srgbClr val="C90012"/>
                </a:solidFill>
                <a:latin typeface="Times New Roman" panose="02020503050405090304"/>
                <a:ea typeface="微软雅黑"/>
                <a:cs typeface="Times New Roman" panose="02020503050405090304"/>
              </a:rPr>
              <a:t>SM2 </a:t>
            </a:r>
            <a:r>
              <a:rPr lang="zh-CN" altLang="en-US" sz="2000" b="1" dirty="0">
                <a:solidFill>
                  <a:srgbClr val="C90012"/>
                </a:solidFill>
                <a:latin typeface="Times New Roman" panose="02020503050405090304"/>
                <a:ea typeface="微软雅黑"/>
                <a:cs typeface="Times New Roman" panose="02020503050405090304"/>
              </a:rPr>
              <a:t>公钥加密方案的可证明安全（课后选读）</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64592"/>
            <a:ext cx="11338560" cy="526298"/>
          </a:xfrm>
          <a:prstGeom prst="rect">
            <a:avLst/>
          </a:prstGeom>
          <a:noFill/>
        </p:spPr>
        <p:txBody>
          <a:bodyPr wrap="square" lIns="73152" tIns="64008">
            <a:spAutoFit/>
          </a:bodyPr>
          <a:lstStyle/>
          <a:p>
            <a:pPr>
              <a:spcAft>
                <a:spcPts val="1100"/>
              </a:spcAft>
              <a:defRPr sz="2700" b="1">
                <a:solidFill>
                  <a:srgbClr val="9C1E26"/>
                </a:solidFill>
                <a:latin typeface="微软雅黑"/>
              </a:defRPr>
            </a:pPr>
            <a:r>
              <a:rPr lang="zh-CN" altLang="en-US" dirty="0">
                <a:solidFill>
                  <a:srgbClr val="C00000"/>
                </a:solidFill>
                <a:latin typeface="Times New Roman" panose="02020503050405090304" pitchFamily="18" charset="0"/>
                <a:cs typeface="Times New Roman" panose="02020503050405090304" pitchFamily="18" charset="0"/>
              </a:rPr>
              <a:t>课程作业</a:t>
            </a:r>
            <a:endParaRPr dirty="0">
              <a:solidFill>
                <a:srgbClr val="C00000"/>
              </a:solidFill>
              <a:latin typeface="Times New Roman" panose="02020503050405090304" pitchFamily="18" charset="0"/>
              <a:cs typeface="Times New Roman" panose="02020503050405090304" pitchFamily="18" charset="0"/>
            </a:endParaRPr>
          </a:p>
        </p:txBody>
      </p:sp>
      <p:sp>
        <p:nvSpPr>
          <p:cNvPr id="3" name="Rectangle 2"/>
          <p:cNvSpPr/>
          <p:nvPr/>
        </p:nvSpPr>
        <p:spPr>
          <a:xfrm>
            <a:off x="411480" y="777240"/>
            <a:ext cx="11338560" cy="22860"/>
          </a:xfrm>
          <a:prstGeom prst="rect">
            <a:avLst/>
          </a:prstGeom>
          <a:solidFill>
            <a:srgbClr val="9C1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503050405090304" pitchFamily="18" charset="0"/>
              <a:cs typeface="Times New Roman" panose="02020503050405090304" pitchFamily="18" charset="0"/>
            </a:endParaRPr>
          </a:p>
        </p:txBody>
      </p:sp>
      <p:sp>
        <p:nvSpPr>
          <p:cNvPr id="6" name="Rounded Rectangle 5"/>
          <p:cNvSpPr/>
          <p:nvPr/>
        </p:nvSpPr>
        <p:spPr>
          <a:xfrm>
            <a:off x="621792" y="1587845"/>
            <a:ext cx="3520440" cy="356924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503050405090304" pitchFamily="18" charset="0"/>
              <a:cs typeface="Times New Roman" panose="02020503050405090304" pitchFamily="18" charset="0"/>
            </a:endParaRPr>
          </a:p>
        </p:txBody>
      </p:sp>
      <p:sp>
        <p:nvSpPr>
          <p:cNvPr id="7" name="TextBox 6"/>
          <p:cNvSpPr txBox="1"/>
          <p:nvPr/>
        </p:nvSpPr>
        <p:spPr>
          <a:xfrm>
            <a:off x="804672" y="1706717"/>
            <a:ext cx="3154680" cy="433965"/>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lang="zh-CN" altLang="en-US" dirty="0">
                <a:latin typeface="Times New Roman" panose="02020503050405090304" pitchFamily="18" charset="0"/>
                <a:cs typeface="Times New Roman" panose="02020503050405090304" pitchFamily="18" charset="0"/>
              </a:rPr>
              <a:t>作业</a:t>
            </a:r>
            <a:r>
              <a:rPr dirty="0">
                <a:latin typeface="Times New Roman" panose="02020503050405090304" pitchFamily="18" charset="0"/>
                <a:cs typeface="Times New Roman" panose="02020503050405090304" pitchFamily="18" charset="0"/>
              </a:rPr>
              <a:t>1 · RSA</a:t>
            </a:r>
          </a:p>
        </p:txBody>
      </p:sp>
      <p:sp>
        <p:nvSpPr>
          <p:cNvPr id="8" name="TextBox 7"/>
          <p:cNvSpPr txBox="1"/>
          <p:nvPr/>
        </p:nvSpPr>
        <p:spPr>
          <a:xfrm>
            <a:off x="804672" y="2191349"/>
            <a:ext cx="3154680" cy="2239587"/>
          </a:xfrm>
          <a:prstGeom prst="rect">
            <a:avLst/>
          </a:prstGeom>
          <a:noFill/>
        </p:spPr>
        <p:txBody>
          <a:bodyPr wrap="square" lIns="73152" tIns="64008">
            <a:spAutoFit/>
          </a:bodyPr>
          <a:lstStyle/>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两个公钥共享</a:t>
            </a:r>
            <a:r>
              <a:rPr sz="2000" dirty="0">
                <a:latin typeface="Times New Roman" panose="02020503050405090304" pitchFamily="18" charset="0"/>
                <a:cs typeface="Times New Roman" panose="02020503050405090304" pitchFamily="18" charset="0"/>
              </a:rPr>
              <a:t> </a:t>
            </a:r>
            <a:r>
              <a:rPr sz="2000" i="1" dirty="0" err="1">
                <a:latin typeface="Times New Roman" panose="02020503050405090304" pitchFamily="18" charset="0"/>
                <a:cs typeface="Times New Roman" panose="02020503050405090304" pitchFamily="18" charset="0"/>
              </a:rPr>
              <a:t>N</a:t>
            </a:r>
            <a:r>
              <a:rPr sz="2000" dirty="0" err="1">
                <a:latin typeface="Times New Roman" panose="02020503050405090304" pitchFamily="18" charset="0"/>
                <a:cs typeface="Times New Roman" panose="02020503050405090304" pitchFamily="18" charset="0"/>
              </a:rPr>
              <a:t>，指数分别为</a:t>
            </a:r>
            <a:r>
              <a:rPr sz="2000" dirty="0">
                <a:latin typeface="Times New Roman" panose="02020503050405090304" pitchFamily="18" charset="0"/>
                <a:cs typeface="Times New Roman" panose="02020503050405090304" pitchFamily="18" charset="0"/>
              </a:rPr>
              <a:t> 3 </a:t>
            </a:r>
            <a:r>
              <a:rPr sz="2000" dirty="0" err="1">
                <a:latin typeface="Times New Roman" panose="02020503050405090304" pitchFamily="18" charset="0"/>
                <a:cs typeface="Times New Roman" panose="02020503050405090304" pitchFamily="18" charset="0"/>
              </a:rPr>
              <a:t>和</a:t>
            </a:r>
            <a:r>
              <a:rPr sz="2000" dirty="0">
                <a:latin typeface="Times New Roman" panose="02020503050405090304" pitchFamily="18" charset="0"/>
                <a:cs typeface="Times New Roman" panose="02020503050405090304" pitchFamily="18" charset="0"/>
              </a:rPr>
              <a:t> 5。对同一明文 </a:t>
            </a:r>
            <a:r>
              <a:rPr sz="2000" i="1" dirty="0">
                <a:latin typeface="Times New Roman" panose="02020503050405090304" pitchFamily="18" charset="0"/>
                <a:cs typeface="Times New Roman" panose="02020503050405090304" pitchFamily="18" charset="0"/>
              </a:rPr>
              <a:t>M </a:t>
            </a:r>
            <a:r>
              <a:rPr sz="2000" dirty="0" err="1">
                <a:latin typeface="Times New Roman" panose="02020503050405090304" pitchFamily="18" charset="0"/>
                <a:cs typeface="Times New Roman" panose="02020503050405090304" pitchFamily="18" charset="0"/>
              </a:rPr>
              <a:t>得到</a:t>
            </a:r>
            <a:r>
              <a:rPr sz="2000" dirty="0">
                <a:latin typeface="Times New Roman" panose="02020503050405090304" pitchFamily="18" charset="0"/>
                <a:cs typeface="Times New Roman" panose="02020503050405090304" pitchFamily="18" charset="0"/>
              </a:rPr>
              <a:t> </a:t>
            </a:r>
            <a:r>
              <a:rPr sz="2000" i="1" dirty="0">
                <a:latin typeface="Times New Roman" panose="02020503050405090304" pitchFamily="18" charset="0"/>
                <a:cs typeface="Times New Roman" panose="02020503050405090304" pitchFamily="18" charset="0"/>
              </a:rPr>
              <a:t>C</a:t>
            </a:r>
            <a:r>
              <a:rPr sz="2000" dirty="0">
                <a:latin typeface="Times New Roman" panose="02020503050405090304" pitchFamily="18" charset="0"/>
                <a:cs typeface="Times New Roman" panose="02020503050405090304" pitchFamily="18" charset="0"/>
              </a:rPr>
              <a:t>₁、</a:t>
            </a:r>
            <a:r>
              <a:rPr sz="2000" i="1" dirty="0">
                <a:latin typeface="Times New Roman" panose="02020503050405090304" pitchFamily="18" charset="0"/>
                <a:cs typeface="Times New Roman" panose="02020503050405090304" pitchFamily="18" charset="0"/>
              </a:rPr>
              <a:t>C</a:t>
            </a:r>
            <a:r>
              <a:rPr sz="2000" dirty="0">
                <a:latin typeface="Times New Roman" panose="02020503050405090304" pitchFamily="18" charset="0"/>
                <a:cs typeface="Times New Roman" panose="02020503050405090304" pitchFamily="18" charset="0"/>
              </a:rPr>
              <a:t>₂。</a:t>
            </a:r>
          </a:p>
          <a:p>
            <a:pPr>
              <a:spcAft>
                <a:spcPts val="1100"/>
              </a:spcAft>
              <a:defRPr sz="1900" b="0">
                <a:solidFill>
                  <a:srgbClr val="2C2C2F"/>
                </a:solidFill>
                <a:latin typeface="微软雅黑"/>
              </a:defRPr>
            </a:pPr>
            <a:endParaRPr sz="2000" dirty="0">
              <a:latin typeface="Times New Roman" panose="02020503050405090304" pitchFamily="18" charset="0"/>
              <a:cs typeface="Times New Roman" panose="02020503050405090304" pitchFamily="18" charset="0"/>
            </a:endParaRPr>
          </a:p>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写出恢复</a:t>
            </a:r>
            <a:r>
              <a:rPr sz="2000" dirty="0">
                <a:latin typeface="Times New Roman" panose="02020503050405090304" pitchFamily="18" charset="0"/>
                <a:cs typeface="Times New Roman" panose="02020503050405090304" pitchFamily="18" charset="0"/>
              </a:rPr>
              <a:t> </a:t>
            </a:r>
            <a:r>
              <a:rPr sz="2000" i="1" dirty="0">
                <a:latin typeface="Times New Roman" panose="02020503050405090304" pitchFamily="18" charset="0"/>
                <a:cs typeface="Times New Roman" panose="02020503050405090304" pitchFamily="18" charset="0"/>
              </a:rPr>
              <a:t>M</a:t>
            </a:r>
            <a:r>
              <a:rPr sz="2000" dirty="0">
                <a:latin typeface="Times New Roman" panose="02020503050405090304" pitchFamily="18" charset="0"/>
                <a:cs typeface="Times New Roman" panose="02020503050405090304" pitchFamily="18" charset="0"/>
              </a:rPr>
              <a:t> </a:t>
            </a:r>
            <a:r>
              <a:rPr sz="2000" dirty="0" err="1">
                <a:latin typeface="Times New Roman" panose="02020503050405090304" pitchFamily="18" charset="0"/>
                <a:cs typeface="Times New Roman" panose="02020503050405090304" pitchFamily="18" charset="0"/>
              </a:rPr>
              <a:t>的表达式，并说明需要什么条件</a:t>
            </a:r>
            <a:r>
              <a:rPr sz="2000" dirty="0">
                <a:latin typeface="Times New Roman" panose="02020503050405090304" pitchFamily="18" charset="0"/>
                <a:cs typeface="Times New Roman" panose="02020503050405090304" pitchFamily="18" charset="0"/>
              </a:rPr>
              <a:t>。</a:t>
            </a:r>
          </a:p>
        </p:txBody>
      </p:sp>
      <p:sp>
        <p:nvSpPr>
          <p:cNvPr id="9" name="Rounded Rectangle 8"/>
          <p:cNvSpPr/>
          <p:nvPr/>
        </p:nvSpPr>
        <p:spPr>
          <a:xfrm>
            <a:off x="4325112" y="1587845"/>
            <a:ext cx="3529584" cy="356924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503050405090304" pitchFamily="18" charset="0"/>
              <a:cs typeface="Times New Roman" panose="02020503050405090304" pitchFamily="18" charset="0"/>
            </a:endParaRPr>
          </a:p>
        </p:txBody>
      </p:sp>
      <p:sp>
        <p:nvSpPr>
          <p:cNvPr id="10" name="TextBox 9"/>
          <p:cNvSpPr txBox="1"/>
          <p:nvPr/>
        </p:nvSpPr>
        <p:spPr>
          <a:xfrm>
            <a:off x="4507992" y="1706717"/>
            <a:ext cx="3163824" cy="433965"/>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lang="zh-CN" altLang="en-US" dirty="0">
                <a:latin typeface="Times New Roman" panose="02020503050405090304" pitchFamily="18" charset="0"/>
                <a:cs typeface="Times New Roman" panose="02020503050405090304" pitchFamily="18" charset="0"/>
              </a:rPr>
              <a:t>作业</a:t>
            </a:r>
            <a:r>
              <a:rPr dirty="0">
                <a:latin typeface="Times New Roman" panose="02020503050405090304" pitchFamily="18" charset="0"/>
                <a:cs typeface="Times New Roman" panose="02020503050405090304" pitchFamily="18" charset="0"/>
              </a:rPr>
              <a:t> 2 · </a:t>
            </a:r>
            <a:r>
              <a:rPr dirty="0" err="1">
                <a:latin typeface="Times New Roman" panose="02020503050405090304" pitchFamily="18" charset="0"/>
                <a:cs typeface="Times New Roman" panose="02020503050405090304" pitchFamily="18" charset="0"/>
              </a:rPr>
              <a:t>ElGamal</a:t>
            </a:r>
            <a:endParaRPr dirty="0">
              <a:latin typeface="Times New Roman" panose="02020503050405090304" pitchFamily="18" charset="0"/>
              <a:cs typeface="Times New Roman" panose="02020503050405090304" pitchFamily="18" charset="0"/>
            </a:endParaRPr>
          </a:p>
        </p:txBody>
      </p:sp>
      <p:sp>
        <p:nvSpPr>
          <p:cNvPr id="11" name="TextBox 10"/>
          <p:cNvSpPr txBox="1"/>
          <p:nvPr/>
        </p:nvSpPr>
        <p:spPr>
          <a:xfrm>
            <a:off x="4330824" y="2191349"/>
            <a:ext cx="3520440" cy="1931811"/>
          </a:xfrm>
          <a:prstGeom prst="rect">
            <a:avLst/>
          </a:prstGeom>
          <a:noFill/>
        </p:spPr>
        <p:txBody>
          <a:bodyPr wrap="square" lIns="73152" tIns="64008">
            <a:spAutoFit/>
          </a:bodyPr>
          <a:lstStyle/>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同一公钥下两条消息复用了随机数</a:t>
            </a:r>
            <a:r>
              <a:rPr sz="2000" dirty="0">
                <a:latin typeface="Times New Roman" panose="02020503050405090304" pitchFamily="18" charset="0"/>
                <a:cs typeface="Times New Roman" panose="02020503050405090304" pitchFamily="18" charset="0"/>
              </a:rPr>
              <a:t> </a:t>
            </a:r>
            <a:r>
              <a:rPr sz="2000" i="1" dirty="0" err="1">
                <a:latin typeface="Times New Roman" panose="02020503050405090304" pitchFamily="18" charset="0"/>
                <a:cs typeface="Times New Roman" panose="02020503050405090304" pitchFamily="18" charset="0"/>
              </a:rPr>
              <a:t>r</a:t>
            </a:r>
            <a:r>
              <a:rPr sz="2000" dirty="0" err="1">
                <a:latin typeface="Times New Roman" panose="02020503050405090304" pitchFamily="18" charset="0"/>
                <a:cs typeface="Times New Roman" panose="02020503050405090304" pitchFamily="18" charset="0"/>
              </a:rPr>
              <a:t>。已知一条明文</a:t>
            </a:r>
            <a:r>
              <a:rPr sz="2000" dirty="0">
                <a:latin typeface="Times New Roman" panose="02020503050405090304" pitchFamily="18" charset="0"/>
                <a:cs typeface="Times New Roman" panose="02020503050405090304" pitchFamily="18" charset="0"/>
              </a:rPr>
              <a:t> </a:t>
            </a:r>
            <a:r>
              <a:rPr sz="2000" i="1" dirty="0">
                <a:latin typeface="Times New Roman" panose="02020503050405090304" pitchFamily="18" charset="0"/>
                <a:cs typeface="Times New Roman" panose="02020503050405090304" pitchFamily="18" charset="0"/>
              </a:rPr>
              <a:t>M</a:t>
            </a:r>
            <a:r>
              <a:rPr sz="2000" dirty="0">
                <a:latin typeface="Times New Roman" panose="02020503050405090304" pitchFamily="18" charset="0"/>
                <a:cs typeface="Times New Roman" panose="02020503050405090304" pitchFamily="18" charset="0"/>
              </a:rPr>
              <a:t>₁。</a:t>
            </a:r>
          </a:p>
          <a:p>
            <a:pPr>
              <a:spcAft>
                <a:spcPts val="1100"/>
              </a:spcAft>
              <a:defRPr sz="1900" b="0">
                <a:solidFill>
                  <a:srgbClr val="2C2C2F"/>
                </a:solidFill>
                <a:latin typeface="微软雅黑"/>
              </a:defRPr>
            </a:pPr>
            <a:endParaRPr sz="2000" dirty="0">
              <a:latin typeface="Times New Roman" panose="02020503050405090304" pitchFamily="18" charset="0"/>
              <a:cs typeface="Times New Roman" panose="02020503050405090304" pitchFamily="18" charset="0"/>
            </a:endParaRPr>
          </a:p>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解释如何由两组密文恢复另一条明文</a:t>
            </a:r>
            <a:r>
              <a:rPr sz="2000" dirty="0">
                <a:latin typeface="Times New Roman" panose="02020503050405090304" pitchFamily="18" charset="0"/>
                <a:cs typeface="Times New Roman" panose="02020503050405090304" pitchFamily="18" charset="0"/>
              </a:rPr>
              <a:t> </a:t>
            </a:r>
            <a:r>
              <a:rPr sz="2000" i="1" dirty="0">
                <a:latin typeface="Times New Roman" panose="02020503050405090304" pitchFamily="18" charset="0"/>
                <a:cs typeface="Times New Roman" panose="02020503050405090304" pitchFamily="18" charset="0"/>
              </a:rPr>
              <a:t>M</a:t>
            </a:r>
            <a:r>
              <a:rPr sz="2000" dirty="0">
                <a:latin typeface="Times New Roman" panose="02020503050405090304" pitchFamily="18" charset="0"/>
                <a:cs typeface="Times New Roman" panose="02020503050405090304" pitchFamily="18" charset="0"/>
              </a:rPr>
              <a:t>₂。</a:t>
            </a:r>
          </a:p>
        </p:txBody>
      </p:sp>
      <p:sp>
        <p:nvSpPr>
          <p:cNvPr id="12" name="Rounded Rectangle 11"/>
          <p:cNvSpPr/>
          <p:nvPr/>
        </p:nvSpPr>
        <p:spPr>
          <a:xfrm>
            <a:off x="8046720" y="1587845"/>
            <a:ext cx="3520440" cy="3569249"/>
          </a:xfrm>
          <a:prstGeom prst="roundRect">
            <a:avLst/>
          </a:prstGeom>
          <a:solidFill>
            <a:srgbClr val="FAF1F2"/>
          </a:solidFill>
          <a:ln w="12700">
            <a:solidFill>
              <a:srgbClr val="D8B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503050405090304" pitchFamily="18" charset="0"/>
              <a:cs typeface="Times New Roman" panose="02020503050405090304" pitchFamily="18" charset="0"/>
            </a:endParaRPr>
          </a:p>
        </p:txBody>
      </p:sp>
      <p:sp>
        <p:nvSpPr>
          <p:cNvPr id="13" name="TextBox 12"/>
          <p:cNvSpPr txBox="1"/>
          <p:nvPr/>
        </p:nvSpPr>
        <p:spPr>
          <a:xfrm>
            <a:off x="8229600" y="1706717"/>
            <a:ext cx="3154680" cy="433965"/>
          </a:xfrm>
          <a:prstGeom prst="rect">
            <a:avLst/>
          </a:prstGeom>
          <a:noFill/>
        </p:spPr>
        <p:txBody>
          <a:bodyPr wrap="square" lIns="73152" tIns="64008">
            <a:spAutoFit/>
          </a:bodyPr>
          <a:lstStyle/>
          <a:p>
            <a:pPr>
              <a:spcAft>
                <a:spcPts val="1100"/>
              </a:spcAft>
              <a:defRPr sz="2100" b="1">
                <a:solidFill>
                  <a:srgbClr val="9C1E26"/>
                </a:solidFill>
                <a:latin typeface="微软雅黑"/>
              </a:defRPr>
            </a:pPr>
            <a:r>
              <a:rPr lang="zh-CN" altLang="en-US" dirty="0">
                <a:latin typeface="Times New Roman" panose="02020503050405090304" pitchFamily="18" charset="0"/>
                <a:cs typeface="Times New Roman" panose="02020503050405090304" pitchFamily="18" charset="0"/>
              </a:rPr>
              <a:t>作业</a:t>
            </a:r>
            <a:r>
              <a:rPr dirty="0">
                <a:latin typeface="Times New Roman" panose="02020503050405090304" pitchFamily="18" charset="0"/>
                <a:cs typeface="Times New Roman" panose="02020503050405090304" pitchFamily="18" charset="0"/>
              </a:rPr>
              <a:t> 3 · </a:t>
            </a:r>
            <a:r>
              <a:rPr dirty="0" err="1">
                <a:latin typeface="Times New Roman" panose="02020503050405090304" pitchFamily="18" charset="0"/>
                <a:cs typeface="Times New Roman" panose="02020503050405090304" pitchFamily="18" charset="0"/>
              </a:rPr>
              <a:t>分析</a:t>
            </a:r>
            <a:endParaRPr dirty="0">
              <a:latin typeface="Times New Roman" panose="02020503050405090304" pitchFamily="18" charset="0"/>
              <a:cs typeface="Times New Roman" panose="02020503050405090304" pitchFamily="18" charset="0"/>
            </a:endParaRPr>
          </a:p>
        </p:txBody>
      </p:sp>
      <p:sp>
        <p:nvSpPr>
          <p:cNvPr id="14" name="TextBox 13"/>
          <p:cNvSpPr txBox="1"/>
          <p:nvPr/>
        </p:nvSpPr>
        <p:spPr>
          <a:xfrm>
            <a:off x="8229600" y="2191349"/>
            <a:ext cx="3154680" cy="2239587"/>
          </a:xfrm>
          <a:prstGeom prst="rect">
            <a:avLst/>
          </a:prstGeom>
          <a:noFill/>
        </p:spPr>
        <p:txBody>
          <a:bodyPr wrap="square" lIns="73152" tIns="64008">
            <a:spAutoFit/>
          </a:bodyPr>
          <a:lstStyle/>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为什么随机化可以阻止对确定性</a:t>
            </a:r>
            <a:r>
              <a:rPr sz="2000" dirty="0">
                <a:latin typeface="Times New Roman" panose="02020503050405090304" pitchFamily="18" charset="0"/>
                <a:cs typeface="Times New Roman" panose="02020503050405090304" pitchFamily="18" charset="0"/>
              </a:rPr>
              <a:t> RSA </a:t>
            </a:r>
            <a:r>
              <a:rPr sz="2000" dirty="0" err="1">
                <a:latin typeface="Times New Roman" panose="02020503050405090304" pitchFamily="18" charset="0"/>
                <a:cs typeface="Times New Roman" panose="02020503050405090304" pitchFamily="18" charset="0"/>
              </a:rPr>
              <a:t>的简单密文比对攻击</a:t>
            </a:r>
            <a:r>
              <a:rPr sz="2000" dirty="0">
                <a:latin typeface="Times New Roman" panose="02020503050405090304" pitchFamily="18" charset="0"/>
                <a:cs typeface="Times New Roman" panose="02020503050405090304" pitchFamily="18" charset="0"/>
              </a:rPr>
              <a:t>？</a:t>
            </a:r>
          </a:p>
          <a:p>
            <a:pPr>
              <a:spcAft>
                <a:spcPts val="1100"/>
              </a:spcAft>
              <a:defRPr sz="1900" b="0">
                <a:solidFill>
                  <a:srgbClr val="2C2C2F"/>
                </a:solidFill>
                <a:latin typeface="微软雅黑"/>
              </a:defRPr>
            </a:pPr>
            <a:endParaRPr sz="2000" dirty="0">
              <a:latin typeface="Times New Roman" panose="02020503050405090304" pitchFamily="18" charset="0"/>
              <a:cs typeface="Times New Roman" panose="02020503050405090304" pitchFamily="18" charset="0"/>
            </a:endParaRPr>
          </a:p>
          <a:p>
            <a:pPr>
              <a:spcAft>
                <a:spcPts val="1100"/>
              </a:spcAft>
              <a:defRPr sz="1900" b="0">
                <a:solidFill>
                  <a:srgbClr val="2C2C2F"/>
                </a:solidFill>
                <a:latin typeface="微软雅黑"/>
              </a:defRPr>
            </a:pPr>
            <a:r>
              <a:rPr sz="2000" dirty="0" err="1">
                <a:latin typeface="Times New Roman" panose="02020503050405090304" pitchFamily="18" charset="0"/>
                <a:cs typeface="Times New Roman" panose="02020503050405090304" pitchFamily="18" charset="0"/>
              </a:rPr>
              <a:t>是否只要随机化就保证</a:t>
            </a:r>
            <a:r>
              <a:rPr sz="2000" dirty="0">
                <a:latin typeface="Times New Roman" panose="02020503050405090304" pitchFamily="18" charset="0"/>
                <a:cs typeface="Times New Roman" panose="02020503050405090304" pitchFamily="18" charset="0"/>
              </a:rPr>
              <a:t> IND-CCA2 </a:t>
            </a:r>
            <a:r>
              <a:rPr sz="2000" dirty="0" err="1">
                <a:latin typeface="Times New Roman" panose="02020503050405090304" pitchFamily="18" charset="0"/>
                <a:cs typeface="Times New Roman" panose="02020503050405090304" pitchFamily="18" charset="0"/>
              </a:rPr>
              <a:t>安全</a:t>
            </a:r>
            <a:r>
              <a:rPr sz="2000" dirty="0">
                <a:latin typeface="Times New Roman" panose="02020503050405090304" pitchFamily="18" charset="0"/>
                <a:cs typeface="Times New Roman" panose="02020503050405090304" pitchFamily="18" charset="0"/>
              </a:rPr>
              <a:t>？</a:t>
            </a:r>
          </a:p>
        </p:txBody>
      </p:sp>
    </p:spTree>
  </p:cSld>
  <p:clrMapOvr>
    <a:masterClrMapping/>
  </p:clrMapOvr>
</p:sld>
</file>

<file path=ppt/theme/theme1.xml><?xml version="1.0" encoding="utf-8"?>
<a:theme xmlns:a="http://schemas.openxmlformats.org/drawingml/2006/main" name="主题1">
  <a:themeElements>
    <a:clrScheme name="Calligraphy">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自定义 1">
      <a:majorFont>
        <a:latin typeface="Times New Roman"/>
        <a:ea typeface="Microsoft YaHei"/>
        <a:cs typeface="Times New Roman"/>
      </a:majorFont>
      <a:minorFont>
        <a:latin typeface="Times New Roman"/>
        <a:ea typeface="Microsoft YaHei"/>
        <a:cs typeface="Times New Roman"/>
      </a:minorFont>
    </a:fontScheme>
    <a:fmtScheme name="Calligraph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1">
  <a:themeElements>
    <a:clrScheme name="Calligraphy">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自定义 1">
      <a:majorFont>
        <a:latin typeface="Times New Roman"/>
        <a:ea typeface="Microsoft YaHei"/>
        <a:cs typeface="Times New Roman"/>
      </a:majorFont>
      <a:minorFont>
        <a:latin typeface="Times New Roman"/>
        <a:ea typeface="Microsoft YaHei"/>
        <a:cs typeface="Times New Roman"/>
      </a:minorFont>
    </a:fontScheme>
    <a:fmtScheme name="Calligraph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12939</Words>
  <Application>Microsoft Office PowerPoint</Application>
  <PresentationFormat>宽屏</PresentationFormat>
  <Paragraphs>875</Paragraphs>
  <Slides>80</Slides>
  <Notes>51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80</vt:i4>
      </vt:variant>
    </vt:vector>
  </HeadingPairs>
  <TitlesOfParts>
    <vt:vector size="89" baseType="lpstr">
      <vt:lpstr>DejaVu Math TeX Gyre</vt:lpstr>
      <vt:lpstr>Times New Roman Regular</vt:lpstr>
      <vt:lpstr>微软雅黑</vt:lpstr>
      <vt:lpstr>微软雅黑</vt:lpstr>
      <vt:lpstr>Arial</vt:lpstr>
      <vt:lpstr>Cambria Math</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temp</cp:lastModifiedBy>
  <cp:revision>69</cp:revision>
  <dcterms:created xsi:type="dcterms:W3CDTF">2026-10-16T16:34:31Z</dcterms:created>
  <dcterms:modified xsi:type="dcterms:W3CDTF">2026-10-26T07:41:00Z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7ABFA15700D46524A1EAD16A65B98E1B_42</vt:lpwstr>
  </property>
  <property fmtid="{D5CDD505-2E9C-101B-9397-08002B2CF9AE}" pid="3" name="KSOProductBuildVer">
    <vt:lpwstr>2052-7.3.1.8967</vt:lpwstr>
  </property>
</Properties>
</file>