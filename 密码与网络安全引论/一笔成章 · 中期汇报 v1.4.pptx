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58331d7f3681430a" Type="http://schemas.openxmlformats.org/officeDocument/2006/relationships/extended-properties" Target="docProps/app.xml"/><Relationship Id="R5d28a7ea23cd4410" Type="http://schemas.openxmlformats.org/package/2006/relationships/metadata/core-properties" Target="docProps/core.xml"/><Relationship Id="Rc2a2e4f996c94ff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944a49e3169644d9"/>
  </p:sldMasterIdLst>
  <p:notesMasterIdLst>
    <p:notesMasterId xmlns:r="http://schemas.openxmlformats.org/officeDocument/2006/relationships" r:id="R73f04e1fe2a047c4"/>
  </p:notesMasterIdLst>
  <p:sldIdLst>
    <p:sldId xmlns:r="http://schemas.openxmlformats.org/officeDocument/2006/relationships" id="256" r:id="R7833d451ee934afa"/>
    <p:sldId xmlns:r="http://schemas.openxmlformats.org/officeDocument/2006/relationships" id="257" r:id="R19b4a795ec9547f5"/>
    <p:sldId xmlns:r="http://schemas.openxmlformats.org/officeDocument/2006/relationships" id="258" r:id="R982e1b768f544a5a"/>
    <p:sldId xmlns:r="http://schemas.openxmlformats.org/officeDocument/2006/relationships" id="259" r:id="Rf0734f72e80646ca"/>
    <p:sldId xmlns:r="http://schemas.openxmlformats.org/officeDocument/2006/relationships" id="260" r:id="R2beee5d9b288441a"/>
    <p:sldId xmlns:r="http://schemas.openxmlformats.org/officeDocument/2006/relationships" id="261" r:id="Rd59250b1d4f94b7b"/>
    <p:sldId xmlns:r="http://schemas.openxmlformats.org/officeDocument/2006/relationships" id="262" r:id="R87cede9db6c14c98"/>
    <p:sldId xmlns:r="http://schemas.openxmlformats.org/officeDocument/2006/relationships" id="263" r:id="R3d1adbea95b5408d"/>
    <p:sldId xmlns:r="http://schemas.openxmlformats.org/officeDocument/2006/relationships" id="264" r:id="R96369f829caf4822"/>
    <p:sldId xmlns:r="http://schemas.openxmlformats.org/officeDocument/2006/relationships" id="265" r:id="R8b6c10392b2047b3"/>
    <p:sldId xmlns:r="http://schemas.openxmlformats.org/officeDocument/2006/relationships" id="266" r:id="R77f485e687f548f3"/>
    <p:sldId xmlns:r="http://schemas.openxmlformats.org/officeDocument/2006/relationships" id="267" r:id="Rf83df5edb3ac48cc"/>
    <p:sldId xmlns:r="http://schemas.openxmlformats.org/officeDocument/2006/relationships" id="268" r:id="R9118e3f348ff4494"/>
  </p:sldIdLst>
  <p:sldSz cx="12192000" cy="6858000"/>
  <p:notesSz cx="6858000" cy="9144000"/>
  <p:embeddedFontLst>
    <p:embeddedFont>
      <p:font typeface="MiSans"/>
      <p:regular xmlns:r="http://schemas.openxmlformats.org/officeDocument/2006/relationships" r:id="Rd7f59d8b33294fb6"/>
    </p:embeddedFont>
  </p:embeddedFont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19b4a795ec9547f5" Type="http://schemas.openxmlformats.org/officeDocument/2006/relationships/slide" Target="slides/slide2.xml"/><Relationship Id="R2bcb5e0d1d9a4db7" Type="http://schemas.openxmlformats.org/officeDocument/2006/relationships/tableStyles" Target="tableStyles.xml"/><Relationship Id="R2beee5d9b288441a" Type="http://schemas.openxmlformats.org/officeDocument/2006/relationships/slide" Target="slides/slide5.xml"/><Relationship Id="R3d1adbea95b5408d" Type="http://schemas.openxmlformats.org/officeDocument/2006/relationships/slide" Target="slides/slide8.xml"/><Relationship Id="R73f04e1fe2a047c4" Type="http://schemas.openxmlformats.org/officeDocument/2006/relationships/notesMaster" Target="notesMasters/notesMaster1.xml"/><Relationship Id="R77f485e687f548f3" Type="http://schemas.openxmlformats.org/officeDocument/2006/relationships/slide" Target="slides/slide11.xml"/><Relationship Id="R7833d451ee934afa" Type="http://schemas.openxmlformats.org/officeDocument/2006/relationships/slide" Target="slides/slide1.xml"/><Relationship Id="R87cede9db6c14c98" Type="http://schemas.openxmlformats.org/officeDocument/2006/relationships/slide" Target="slides/slide7.xml"/><Relationship Id="R8b6c10392b2047b3" Type="http://schemas.openxmlformats.org/officeDocument/2006/relationships/slide" Target="slides/slide10.xml"/><Relationship Id="R8ea52ed5707543be" Type="http://schemas.openxmlformats.org/officeDocument/2006/relationships/presProps" Target="presProps.xml"/><Relationship Id="R9118e3f348ff4494" Type="http://schemas.openxmlformats.org/officeDocument/2006/relationships/slide" Target="slides/slide13.xml"/><Relationship Id="R944a49e3169644d9" Type="http://schemas.openxmlformats.org/officeDocument/2006/relationships/slideMaster" Target="slideMasters/slideMaster1.xml"/><Relationship Id="R96369f829caf4822" Type="http://schemas.openxmlformats.org/officeDocument/2006/relationships/slide" Target="slides/slide9.xml"/><Relationship Id="R982e1b768f544a5a" Type="http://schemas.openxmlformats.org/officeDocument/2006/relationships/slide" Target="slides/slide3.xml"/><Relationship Id="Rca0060307155463e" Type="http://schemas.openxmlformats.org/officeDocument/2006/relationships/viewProps" Target="viewProps.xml"/><Relationship Id="Rd59250b1d4f94b7b" Type="http://schemas.openxmlformats.org/officeDocument/2006/relationships/slide" Target="slides/slide6.xml"/><Relationship Id="Rd612e5e463fa4f86" Type="http://schemas.openxmlformats.org/officeDocument/2006/relationships/theme" Target="theme/theme1.xml"/><Relationship Id="Rd7f59d8b33294fb6" Type="http://schemas.openxmlformats.org/officeDocument/2006/relationships/font" Target="fonts/font.dat"/><Relationship Id="Rf0734f72e80646ca" Type="http://schemas.openxmlformats.org/officeDocument/2006/relationships/slide" Target="slides/slide4.xml"/><Relationship Id="Rf83df5edb3ac48cc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50a0d32ba65a4de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cd3bbbb974b4ba1" Type="http://schemas.openxmlformats.org/officeDocument/2006/relationships/slide" Target="../slides/slide1.xml"/><Relationship Id="Rd670b4faa39d403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f635e6c3b354c17" Type="http://schemas.openxmlformats.org/officeDocument/2006/relationships/notesMaster" Target="../notesMasters/notesMaster1.xml"/><Relationship Id="Rc9b4b72a1d8b41b6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b83b40877de47bf" Type="http://schemas.openxmlformats.org/officeDocument/2006/relationships/slide" Target="../slides/slide3.xml"/><Relationship Id="Rdc9c3e68b1084cc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c4e791cb6b8142d7" Type="http://schemas.openxmlformats.org/officeDocument/2006/relationships/slide" Target="../slides/slide4.xml"/><Relationship Id="Re8684e773f3e47f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98903d2f42d4c97" Type="http://schemas.openxmlformats.org/officeDocument/2006/relationships/notesMaster" Target="../notesMasters/notesMaster1.xml"/><Relationship Id="R51e7c36e17954d2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dde7fa2e24241b7" Type="http://schemas.openxmlformats.org/officeDocument/2006/relationships/notesMaster" Target="../notesMasters/notesMaster1.xml"/><Relationship Id="R7a3342c45618480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9b916d434a44d23" Type="http://schemas.openxmlformats.org/officeDocument/2006/relationships/notesMaster" Target="../notesMasters/notesMaster1.xml"/><Relationship Id="R500d436d2c11411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6cc5775a74a44d9" Type="http://schemas.openxmlformats.org/officeDocument/2006/relationships/notesMaster" Target="../notesMasters/notesMaster1.xml"/><Relationship Id="Rd57f0934511845bc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7a13735e4ef4831" Type="http://schemas.openxmlformats.org/officeDocument/2006/relationships/notesMaster" Target="../notesMasters/notesMaster1.xml"/><Relationship Id="Ree2eafe682804b33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99d1e29920f84e63" Type="http://schemas.openxmlformats.org/officeDocument/2006/relationships/notesMaster" Target="../notesMasters/notesMaster1.xml"/><Relationship Id="R9d08a03b8b544816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4b3a5423b3184f61" Type="http://schemas.openxmlformats.org/officeDocument/2006/relationships/notesMaster" Target="../notesMasters/notesMaster1.xml"/><Relationship Id="R6962050b640d4fe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f573cd6a0264cae" Type="http://schemas.openxmlformats.org/officeDocument/2006/relationships/slide" Target="../slides/slide12.xml"/><Relationship Id="Rda90da462a5848db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43b0c187c61c4455" Type="http://schemas.openxmlformats.org/officeDocument/2006/relationships/slide" Target="../slides/slide13.xml"/><Relationship Id="Rd182a811a24d44e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6b9ae4d15b94d9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5fca682784f4a07" Type="http://schemas.openxmlformats.org/officeDocument/2006/relationships/slideLayout" Target="../slideLayouts/slideLayout1.xml"/><Relationship Id="R6ec4cbec41d448a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fca682784f4a07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4bd09ad6bf2496d" Type="http://schemas.openxmlformats.org/officeDocument/2006/relationships/image" Target="../media/image.jpeg"/><Relationship Id="Ra4be3b4e6c3743a3" Type="http://schemas.openxmlformats.org/officeDocument/2006/relationships/image" Target="../media/image.png"/><Relationship Id="Rd866e9cc459f428e" Type="http://schemas.openxmlformats.org/officeDocument/2006/relationships/notesSlide" Target="../notesSlides/notesSlide1.xml"/><Relationship Id="Rf80160b288794ea9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5a6baabb9574f56" Type="http://schemas.openxmlformats.org/officeDocument/2006/relationships/image" Target="../media/image3.png"/><Relationship Id="Rdae79b74b91249ca" Type="http://schemas.openxmlformats.org/officeDocument/2006/relationships/notesSlide" Target="../notesSlides/notesSlide2.xml"/><Relationship Id="Reeac6231b94d4d0e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2d9e100f2a741f3" Type="http://schemas.openxmlformats.org/officeDocument/2006/relationships/notesSlide" Target="../notesSlides/notesSlide3.xml"/><Relationship Id="Rc8001e64a67842b5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cf030ff1ea64fa3" Type="http://schemas.openxmlformats.org/officeDocument/2006/relationships/notesSlide" Target="../notesSlides/notesSlide4.xml"/><Relationship Id="R69196f0bfdfb442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994198332944828" Type="http://schemas.openxmlformats.org/officeDocument/2006/relationships/notesSlide" Target="../notesSlides/notesSlide5.xml"/><Relationship Id="R9011c057bf1743e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68d1b45e7ec44226" Type="http://schemas.openxmlformats.org/officeDocument/2006/relationships/notesSlide" Target="../notesSlides/notesSlide6.xml"/><Relationship Id="Rbef42b37327a4b3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8a5404e08ec40e2" Type="http://schemas.openxmlformats.org/officeDocument/2006/relationships/slideLayout" Target="../slideLayouts/slideLayout1.xml"/><Relationship Id="R0aba755a97314816" Type="http://schemas.openxmlformats.org/officeDocument/2006/relationships/notesSlide" Target="../notesSlides/notesSlide7.xml"/><Relationship Id="Re0cf0c114925457a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65e5f60d5e8a4adb" Type="http://schemas.openxmlformats.org/officeDocument/2006/relationships/slideLayout" Target="../slideLayouts/slideLayout1.xml"/><Relationship Id="R7835fbe91f6b46d2" Type="http://schemas.openxmlformats.org/officeDocument/2006/relationships/image" Target="../media/image11.png"/><Relationship Id="Rd5c21af2415b4a85" Type="http://schemas.openxmlformats.org/officeDocument/2006/relationships/image" Target="../media/image12.png"/><Relationship Id="Rf233d47d6692498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9335c490c0b408b" Type="http://schemas.openxmlformats.org/officeDocument/2006/relationships/image" Target="../media/image15.png"/><Relationship Id="R63e4c054a81e492f" Type="http://schemas.openxmlformats.org/officeDocument/2006/relationships/image" Target="../media/image14.png"/><Relationship Id="R942a4965d31a4634" Type="http://schemas.openxmlformats.org/officeDocument/2006/relationships/slideLayout" Target="../slideLayouts/slideLayout1.xml"/><Relationship Id="Re4309d1da26442fd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7eb9d627e9ea4963" Type="http://schemas.openxmlformats.org/officeDocument/2006/relationships/slideLayout" Target="../slideLayouts/slideLayout1.xml"/><Relationship Id="Rf5f8f3e843d3489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05f54a2e8944a64" Type="http://schemas.openxmlformats.org/officeDocument/2006/relationships/notesSlide" Target="../notesSlides/notesSlide11.xml"/><Relationship Id="R9d1301b714d34230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d6c5d98e8832433e" Type="http://schemas.openxmlformats.org/officeDocument/2006/relationships/notesSlide" Target="../notesSlides/notesSlide12.xml"/><Relationship Id="Re817f4d08a674a76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4fd427995df14153" Type="http://schemas.openxmlformats.org/officeDocument/2006/relationships/image" Target="../media/image19.png"/><Relationship Id="R5d4f09e5d87c4453" Type="http://schemas.openxmlformats.org/officeDocument/2006/relationships/image" Target="../media/image.jpeg"/><Relationship Id="Rda28a7d0a20e4b3b" Type="http://schemas.openxmlformats.org/officeDocument/2006/relationships/notesSlide" Target="../notesSlides/notesSlide13.xml"/><Relationship Id="Rfb5f4909f0b24f34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6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6063F-1D55-4818-8945-4A75DDCBDE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d09ad6bf2496d"/>
          <a:srcRect xmlns:a="http://schemas.openxmlformats.org/drawingml/2006/main" l="0" t="7816" r="0" b="7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cover-blue-photo-tone">
            <a:extLst xmlns:a="http://schemas.openxmlformats.org/drawingml/2006/main">
              <a:ext uri="{FF2B5EF4-FFF2-40B4-BE49-F238E27FC236}">
                <a16:creationId xmlns:a16="http://schemas.microsoft.com/office/drawing/2014/main" id="{D92A4284-A7C1-4F0C-8009-E9251160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FC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o-tri-big">
            <a:extLst xmlns:a="http://schemas.openxmlformats.org/drawingml/2006/main">
              <a:ext uri="{FF2B5EF4-FFF2-40B4-BE49-F238E27FC236}">
                <a16:creationId xmlns:a16="http://schemas.microsoft.com/office/drawing/2014/main" id="{74B75EF9-462C-4BAD-94C1-3B281403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90000" y="-762000"/>
            <a:ext cx="4064000" cy="2794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EB3F">
              <a:alpha val="80000"/>
            </a:srgbClr>
          </a:solidFill>
          <a:ln xmlns:a="http://schemas.openxmlformats.org/drawingml/2006/main">
            <a:noFill/>
          </a:ln>
        </p:spPr>
      </p:sp>
      <p:sp>
        <p:nvSpPr>
          <p:cNvPr id="3" name="deco-tri-small">
            <a:extLst xmlns:a="http://schemas.openxmlformats.org/drawingml/2006/main">
              <a:ext uri="{FF2B5EF4-FFF2-40B4-BE49-F238E27FC236}">
                <a16:creationId xmlns:a16="http://schemas.microsoft.com/office/drawing/2014/main" id="{66FE613F-1B3D-49A0-B1B7-C810CAC6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08000" y="5588000"/>
            <a:ext cx="1524000" cy="114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EB3F">
              <a:alpha val="80000"/>
            </a:srgbClr>
          </a:solidFill>
          <a:ln xmlns:a="http://schemas.openxmlformats.org/drawingml/2006/main">
            <a:noFill/>
          </a:ln>
        </p:spPr>
      </p:sp>
      <p:sp>
        <p:nvSpPr>
          <p:cNvPr id="6" name="cover-org">
            <a:extLst xmlns:a="http://schemas.openxmlformats.org/drawingml/2006/main">
              <a:ext uri="{FF2B5EF4-FFF2-40B4-BE49-F238E27FC236}">
                <a16:creationId xmlns:a16="http://schemas.microsoft.com/office/drawing/2014/main" id="{C33AF4D0-87A2-49F8-A472-E8FA70CD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11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100" b="1" spc="100">
                <a:solidFill>
                  <a:srgbClr val="D6E6FF"/>
                </a:solidFill>
                <a:latin typeface="MiSans"/>
                <a:ea typeface="MiSans"/>
                <a:cs typeface="MiSans"/>
              </a:rPr>
              <a:t>华东师范大学 · 本科生创新训练培育项目（创业训练类）</a:t>
            </a:r>
            <a:endParaRPr sz="1100"/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CB1DAA8-6BE3-4991-9FE1-1BD46513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56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6200" b="1" spc="40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一笔成章</a:t>
            </a:r>
            <a:endParaRPr sz="6200"/>
          </a:p>
        </p:txBody>
      </p:sp>
      <p:sp>
        <p:nvSpPr>
          <p:cNvPr id="8" name="cover-sub">
            <a:extLst xmlns:a="http://schemas.openxmlformats.org/drawingml/2006/main">
              <a:ext uri="{FF2B5EF4-FFF2-40B4-BE49-F238E27FC236}">
                <a16:creationId xmlns:a16="http://schemas.microsoft.com/office/drawing/2014/main" id="{E21E416E-C26B-48CC-B3D0-72B7F3CA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819400"/>
            <a:ext cx="5969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EAF2FF"/>
                </a:solidFill>
                <a:latin typeface="MiSans"/>
                <a:ea typeface="MiSans"/>
                <a:cs typeface="MiSans"/>
              </a:rPr>
              <a:t>基于视觉模型的全场景汉字书法智能反馈系统</a:t>
            </a:r>
            <a:endParaRPr sz="1800"/>
          </a:p>
        </p:txBody>
      </p:sp>
      <p:sp>
        <p:nvSpPr>
          <p:cNvPr id="9" name="cover-tag-bg">
            <a:extLst xmlns:a="http://schemas.openxmlformats.org/drawingml/2006/main">
              <a:ext uri="{FF2B5EF4-FFF2-40B4-BE49-F238E27FC236}">
                <a16:creationId xmlns:a16="http://schemas.microsoft.com/office/drawing/2014/main" id="{62BC7203-DBC5-4B91-A81B-B96773F6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454400"/>
            <a:ext cx="14986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0" name="cover-tag">
            <a:extLst xmlns:a="http://schemas.openxmlformats.org/drawingml/2006/main">
              <a:ext uri="{FF2B5EF4-FFF2-40B4-BE49-F238E27FC236}">
                <a16:creationId xmlns:a16="http://schemas.microsoft.com/office/drawing/2014/main" id="{1853C196-BCC0-476E-8E9A-7CA8C23C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454400"/>
            <a:ext cx="149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 spc="600">
                <a:solidFill>
                  <a:srgbClr val="0A2A6B"/>
                </a:solidFill>
                <a:latin typeface="MiSans"/>
                <a:ea typeface="MiSans"/>
                <a:cs typeface="MiSans"/>
              </a:rPr>
              <a:t>中期汇报</a:t>
            </a:r>
            <a:endParaRPr sz="1400"/>
          </a:p>
        </p:txBody>
      </p:sp>
      <p:sp>
        <p:nvSpPr>
          <p:cNvPr id="11" name="cover-info">
            <a:extLst xmlns:a="http://schemas.openxmlformats.org/drawingml/2006/main">
              <a:ext uri="{FF2B5EF4-FFF2-40B4-BE49-F238E27FC236}">
                <a16:creationId xmlns:a16="http://schemas.microsoft.com/office/drawing/2014/main" id="{7356D927-F951-489B-BADE-BFCD392E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318000"/>
            <a:ext cx="584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80000"/>
              </a:lnSpc>
              <a:buNone/>
            </a:pPr>
            <a:r>
              <a:rPr sz="1200" b="1">
                <a:solidFill>
                  <a:srgbClr val="D6E6FF"/>
                </a:solidFill>
                <a:latin typeface="MiSans"/>
                <a:ea typeface="MiSans"/>
                <a:cs typeface="MiSans"/>
              </a:rPr>
              <a:t>汇报人：刘小凡（软件工程学院）　　指导教师：万成城</a:t>
            </a:r>
            <a:endParaRPr sz="1200"/>
          </a:p>
          <a:p xmlns:a="http://schemas.openxmlformats.org/drawingml/2006/main">
            <a:pPr algn="l">
              <a:lnSpc>
                <a:spcPct val="180000"/>
              </a:lnSpc>
              <a:buNone/>
            </a:pPr>
            <a:r>
              <a:rPr sz="1200" b="1">
                <a:solidFill>
                  <a:srgbClr val="D6E6FF"/>
                </a:solidFill>
                <a:latin typeface="MiSans"/>
                <a:ea typeface="MiSans"/>
                <a:cs typeface="MiSans"/>
              </a:rPr>
              <a:t>2026 年 10 月</a:t>
            </a:r>
            <a:endParaRPr sz="1200"/>
          </a:p>
        </p:txBody>
      </p:sp>
      <p:pic>
        <p:nvPicPr>
          <p:cNvPr id="12" name="cover-img">
            <a:extLst xmlns:a="http://schemas.openxmlformats.org/drawingml/2006/main">
              <a:ext uri="{FF2B5EF4-FFF2-40B4-BE49-F238E27FC236}">
                <a16:creationId xmlns:a16="http://schemas.microsoft.com/office/drawing/2014/main" id="{FACB861A-A558-4C2B-9358-E50E7B49B3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e3b4e6c3743a3"/>
          <a:srcRect xmlns:a="http://schemas.openxmlformats.org/drawingml/2006/main" l="0" t="-423" r="0" b="-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5000" y="1242060"/>
            <a:ext cx="4481830" cy="31572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cover-img-cap">
            <a:extLst xmlns:a="http://schemas.openxmlformats.org/drawingml/2006/main">
              <a:ext uri="{FF2B5EF4-FFF2-40B4-BE49-F238E27FC236}">
                <a16:creationId xmlns:a16="http://schemas.microsoft.com/office/drawing/2014/main" id="{E929685B-A7C1-44F1-90C1-D32B9C34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4699000"/>
            <a:ext cx="448056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950" b="1">
                <a:solidFill>
                  <a:srgbClr val="C9DCFF"/>
                </a:solidFill>
                <a:latin typeface="MiSans"/>
                <a:ea typeface="MiSans"/>
                <a:cs typeface="MiSans"/>
              </a:rPr>
              <a:t>iPad 端 AI 分析结果实拍：参考结构匹配度 + 四图对照 + 点评建议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523044439"/>
      </p:ext>
    </p:extLst>
  </p:cSld>
</p:sld>
</file>

<file path=ppt/slides/slide2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9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3401BBA5-2E9F-4AFF-BE89-9066183C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A350605F-69EA-4A56-B048-0AB25F09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DA93D536-F5FB-43AB-879F-C8C87FFA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4FDA1B4-48C5-4B8D-8F05-3C68263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项目简介：核心功能与用户画像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0B29422D-F266-45B6-8200-2417E143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项目背景与意义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70FFE422-722A-4676-9CD9-DD48E53C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intro-text">
            <a:extLst xmlns:a="http://schemas.openxmlformats.org/drawingml/2006/main">
              <a:ext uri="{FF2B5EF4-FFF2-40B4-BE49-F238E27FC236}">
                <a16:creationId xmlns:a16="http://schemas.microsoft.com/office/drawing/2014/main" id="{39F44D18-4E0C-4805-94A2-46076359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58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「一笔成章」面向汉字书写与书法练习，提供全场景智能反馈。</a:t>
            </a:r>
            <a:endParaRPr sz="1200"/>
          </a:p>
          <a:p xmlns:a="http://schemas.openxmlformats.org/drawingml/2006/main">
            <a:pPr algn="l">
              <a:lnSpc>
                <a:spcPct val="155000"/>
              </a:lnSpc>
              <a:spcBef>
                <a:spcPts val="800"/>
              </a:spcBef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平板压感笔实时书写，或拍照上传练字作品，均可获得结构评分与可解释的修改建议。</a:t>
            </a:r>
            <a:endParaRPr sz="1200"/>
          </a:p>
          <a:p xmlns:a="http://schemas.openxmlformats.org/drawingml/2006/main">
            <a:pPr algn="l">
              <a:lnSpc>
                <a:spcPct val="155000"/>
              </a:lnSpc>
              <a:spcBef>
                <a:spcPts val="800"/>
              </a:spcBef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专业 App 支持深度练习，Web 端覆盖课堂与机房。</a:t>
            </a:r>
            <a:endParaRPr sz="1200"/>
          </a:p>
        </p:txBody>
      </p:sp>
      <p:sp>
        <p:nvSpPr>
          <p:cNvPr id="7" name="func-kicker">
            <a:extLst xmlns:a="http://schemas.openxmlformats.org/drawingml/2006/main">
              <a:ext uri="{FF2B5EF4-FFF2-40B4-BE49-F238E27FC236}">
                <a16:creationId xmlns:a16="http://schemas.microsoft.com/office/drawing/2014/main" id="{D05D446F-54CC-4D93-A0A5-9BE393F7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36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核心功能</a:t>
            </a:r>
            <a:endParaRPr sz="1050"/>
          </a:p>
        </p:txBody>
      </p:sp>
      <p:sp>
        <p:nvSpPr>
          <p:cNvPr id="8" name="f1-marker">
            <a:extLst xmlns:a="http://schemas.openxmlformats.org/drawingml/2006/main">
              <a:ext uri="{FF2B5EF4-FFF2-40B4-BE49-F238E27FC236}">
                <a16:creationId xmlns:a16="http://schemas.microsoft.com/office/drawing/2014/main" id="{8A2F058F-FA96-4940-BD32-F0DC27C4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9" name="f1-text">
            <a:extLst xmlns:a="http://schemas.openxmlformats.org/drawingml/2006/main">
              <a:ext uri="{FF2B5EF4-FFF2-40B4-BE49-F238E27FC236}">
                <a16:creationId xmlns:a16="http://schemas.microsoft.com/office/drawing/2014/main" id="{C3DF967C-C6E5-4485-BAD8-0E3EB56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733800"/>
            <a:ext cx="533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31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实时书写 AI 点评：压感笔书写，即时分析</a:t>
            </a:r>
            <a:endParaRPr sz="1250"/>
          </a:p>
        </p:txBody>
      </p:sp>
      <p:sp>
        <p:nvSpPr>
          <p:cNvPr id="10" name="f2-marker">
            <a:extLst xmlns:a="http://schemas.openxmlformats.org/drawingml/2006/main">
              <a:ext uri="{FF2B5EF4-FFF2-40B4-BE49-F238E27FC236}">
                <a16:creationId xmlns:a16="http://schemas.microsoft.com/office/drawing/2014/main" id="{8D17D98D-77FE-4637-9EED-2DDB3C91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88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1" name="f2-text">
            <a:extLst xmlns:a="http://schemas.openxmlformats.org/drawingml/2006/main">
              <a:ext uri="{FF2B5EF4-FFF2-40B4-BE49-F238E27FC236}">
                <a16:creationId xmlns:a16="http://schemas.microsoft.com/office/drawing/2014/main" id="{B99D7407-DD41-4A73-8442-0148A754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292600"/>
            <a:ext cx="533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31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拍照评估：上传练字作品，整体结构诊断</a:t>
            </a:r>
            <a:endParaRPr sz="1250"/>
          </a:p>
        </p:txBody>
      </p:sp>
      <p:sp>
        <p:nvSpPr>
          <p:cNvPr id="12" name="f3-marker">
            <a:extLst xmlns:a="http://schemas.openxmlformats.org/drawingml/2006/main">
              <a:ext uri="{FF2B5EF4-FFF2-40B4-BE49-F238E27FC236}">
                <a16:creationId xmlns:a16="http://schemas.microsoft.com/office/drawing/2014/main" id="{876CFE89-DA85-4B1F-81C4-33A86439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76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3" name="f3-text">
            <a:extLst xmlns:a="http://schemas.openxmlformats.org/drawingml/2006/main">
              <a:ext uri="{FF2B5EF4-FFF2-40B4-BE49-F238E27FC236}">
                <a16:creationId xmlns:a16="http://schemas.microsoft.com/office/drawing/2014/main" id="{8A26C3E3-4867-41ED-BB8D-2F187187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851400"/>
            <a:ext cx="533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31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参考结构匹配度：与名家范字量化对照</a:t>
            </a:r>
            <a:endParaRPr sz="1250"/>
          </a:p>
        </p:txBody>
      </p:sp>
      <p:sp>
        <p:nvSpPr>
          <p:cNvPr id="14" name="f4-marker">
            <a:extLst xmlns:a="http://schemas.openxmlformats.org/drawingml/2006/main">
              <a:ext uri="{FF2B5EF4-FFF2-40B4-BE49-F238E27FC236}">
                <a16:creationId xmlns:a16="http://schemas.microsoft.com/office/drawing/2014/main" id="{2592DC57-B5FE-4919-82EB-141B9E49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5" name="f4-text">
            <a:extLst xmlns:a="http://schemas.openxmlformats.org/drawingml/2006/main">
              <a:ext uri="{FF2B5EF4-FFF2-40B4-BE49-F238E27FC236}">
                <a16:creationId xmlns:a16="http://schemas.microsoft.com/office/drawing/2014/main" id="{29C95A51-2161-49A4-BA8B-2F87B745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410200"/>
            <a:ext cx="533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31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课程字库 + 个性化修改建议，定位到局部</a:t>
            </a:r>
            <a:endParaRPr sz="1250"/>
          </a:p>
        </p:txBody>
      </p:sp>
      <p:pic>
        <p:nvPicPr>
          <p:cNvPr id="16" name="shot-home">
            <a:extLst xmlns:a="http://schemas.openxmlformats.org/drawingml/2006/main">
              <a:ext uri="{FF2B5EF4-FFF2-40B4-BE49-F238E27FC236}">
                <a16:creationId xmlns:a16="http://schemas.microsoft.com/office/drawing/2014/main" id="{BAC36EB9-2CAF-4423-A307-D045D2A487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6baabb9574f56"/>
          <a:srcRect xmlns:a="http://schemas.openxmlformats.org/drawingml/2006/main" l="-62" t="0" r="-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12000" y="1219200"/>
            <a:ext cx="4368800" cy="304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shot-home-cap">
            <a:extLst xmlns:a="http://schemas.openxmlformats.org/drawingml/2006/main">
              <a:ext uri="{FF2B5EF4-FFF2-40B4-BE49-F238E27FC236}">
                <a16:creationId xmlns:a16="http://schemas.microsoft.com/office/drawing/2014/main" id="{9420919D-4F2E-44E3-A709-A0B428F6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4318000"/>
            <a:ext cx="4368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5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iPad 端首页：今日一字 · 学习概览 · 评分趋势</a:t>
            </a:r>
            <a:endParaRPr sz="950"/>
          </a:p>
        </p:txBody>
      </p:sp>
      <p:sp>
        <p:nvSpPr>
          <p:cNvPr id="18" name="user-kicker">
            <a:extLst xmlns:a="http://schemas.openxmlformats.org/drawingml/2006/main">
              <a:ext uri="{FF2B5EF4-FFF2-40B4-BE49-F238E27FC236}">
                <a16:creationId xmlns:a16="http://schemas.microsoft.com/office/drawing/2014/main" id="{9C611BFC-282F-4376-9486-DA565BC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45974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用户画像</a:t>
            </a:r>
            <a:endParaRPr sz="1050"/>
          </a:p>
        </p:txBody>
      </p:sp>
      <p:sp>
        <p:nvSpPr>
          <p:cNvPr id="19" name="u1-label">
            <a:extLst xmlns:a="http://schemas.openxmlformats.org/drawingml/2006/main">
              <a:ext uri="{FF2B5EF4-FFF2-40B4-BE49-F238E27FC236}">
                <a16:creationId xmlns:a16="http://schemas.microsoft.com/office/drawing/2014/main" id="{F436DABF-FC87-40F0-B112-8F85C607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4762500"/>
            <a:ext cx="342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核心群体 · 6–18 岁 K12 学生</a:t>
            </a:r>
            <a:endParaRPr sz="1050"/>
          </a:p>
        </p:txBody>
      </p:sp>
      <p:sp>
        <p:nvSpPr>
          <p:cNvPr id="20" name="u1-pct">
            <a:extLst xmlns:a="http://schemas.openxmlformats.org/drawingml/2006/main">
              <a:ext uri="{FF2B5EF4-FFF2-40B4-BE49-F238E27FC236}">
                <a16:creationId xmlns:a16="http://schemas.microsoft.com/office/drawing/2014/main" id="{9D6A3F47-7020-478F-B012-92B4C794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0" y="4762500"/>
            <a:ext cx="10414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2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约 60%</a:t>
            </a:r>
            <a:endParaRPr sz="1200"/>
          </a:p>
        </p:txBody>
      </p:sp>
      <p:sp>
        <p:nvSpPr>
          <p:cNvPr id="21" name="u1-track">
            <a:extLst xmlns:a="http://schemas.openxmlformats.org/drawingml/2006/main">
              <a:ext uri="{FF2B5EF4-FFF2-40B4-BE49-F238E27FC236}">
                <a16:creationId xmlns:a16="http://schemas.microsoft.com/office/drawing/2014/main" id="{65E0485E-8560-4851-B410-B50D882F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016500"/>
            <a:ext cx="43688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F2"/>
          </a:solidFill>
          <a:ln xmlns:a="http://schemas.openxmlformats.org/drawingml/2006/main">
            <a:noFill/>
          </a:ln>
        </p:spPr>
      </p:sp>
      <p:sp>
        <p:nvSpPr>
          <p:cNvPr id="22" name="u1-bar">
            <a:extLst xmlns:a="http://schemas.openxmlformats.org/drawingml/2006/main">
              <a:ext uri="{FF2B5EF4-FFF2-40B4-BE49-F238E27FC236}">
                <a16:creationId xmlns:a16="http://schemas.microsoft.com/office/drawing/2014/main" id="{E8855523-CBBE-409A-826B-AC3BF97E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016500"/>
            <a:ext cx="26162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3" name="u1-need">
            <a:extLst xmlns:a="http://schemas.openxmlformats.org/drawingml/2006/main">
              <a:ext uri="{FF2B5EF4-FFF2-40B4-BE49-F238E27FC236}">
                <a16:creationId xmlns:a16="http://schemas.microsoft.com/office/drawing/2014/main" id="{82AF481E-C75A-4CB5-BF5D-30ECBB0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105400"/>
            <a:ext cx="4368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需求：考级通关、课业要求</a:t>
            </a:r>
            <a:endParaRPr sz="850"/>
          </a:p>
        </p:txBody>
      </p:sp>
      <p:sp>
        <p:nvSpPr>
          <p:cNvPr id="24" name="u2-label">
            <a:extLst xmlns:a="http://schemas.openxmlformats.org/drawingml/2006/main">
              <a:ext uri="{FF2B5EF4-FFF2-40B4-BE49-F238E27FC236}">
                <a16:creationId xmlns:a16="http://schemas.microsoft.com/office/drawing/2014/main" id="{00306BA3-D725-4456-B10F-8F8D850F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321300"/>
            <a:ext cx="342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重要群体 · 18–25 岁大学生</a:t>
            </a:r>
            <a:endParaRPr sz="1050"/>
          </a:p>
        </p:txBody>
      </p:sp>
      <p:sp>
        <p:nvSpPr>
          <p:cNvPr id="25" name="u2-pct">
            <a:extLst xmlns:a="http://schemas.openxmlformats.org/drawingml/2006/main">
              <a:ext uri="{FF2B5EF4-FFF2-40B4-BE49-F238E27FC236}">
                <a16:creationId xmlns:a16="http://schemas.microsoft.com/office/drawing/2014/main" id="{14A56DCD-8F52-4A57-8C7C-9D1DE16B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0" y="5321300"/>
            <a:ext cx="10414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2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约 25%</a:t>
            </a:r>
            <a:endParaRPr sz="1200"/>
          </a:p>
        </p:txBody>
      </p:sp>
      <p:sp>
        <p:nvSpPr>
          <p:cNvPr id="26" name="u2-track">
            <a:extLst xmlns:a="http://schemas.openxmlformats.org/drawingml/2006/main">
              <a:ext uri="{FF2B5EF4-FFF2-40B4-BE49-F238E27FC236}">
                <a16:creationId xmlns:a16="http://schemas.microsoft.com/office/drawing/2014/main" id="{57D8BBDA-9D71-4F36-B6E4-6ADA7EB4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575300"/>
            <a:ext cx="43688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F2"/>
          </a:solidFill>
          <a:ln xmlns:a="http://schemas.openxmlformats.org/drawingml/2006/main">
            <a:noFill/>
          </a:ln>
        </p:spPr>
      </p:sp>
      <p:sp>
        <p:nvSpPr>
          <p:cNvPr id="27" name="u2-bar">
            <a:extLst xmlns:a="http://schemas.openxmlformats.org/drawingml/2006/main">
              <a:ext uri="{FF2B5EF4-FFF2-40B4-BE49-F238E27FC236}">
                <a16:creationId xmlns:a16="http://schemas.microsoft.com/office/drawing/2014/main" id="{25E7E70A-277C-4336-A41B-385F2111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575300"/>
            <a:ext cx="10922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8" name="u2-need">
            <a:extLst xmlns:a="http://schemas.openxmlformats.org/drawingml/2006/main">
              <a:ext uri="{FF2B5EF4-FFF2-40B4-BE49-F238E27FC236}">
                <a16:creationId xmlns:a16="http://schemas.microsoft.com/office/drawing/2014/main" id="{E55026F9-3024-4A67-9180-4D9F2881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664200"/>
            <a:ext cx="4368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需求：素养提升、技能精进</a:t>
            </a:r>
            <a:endParaRPr sz="850"/>
          </a:p>
        </p:txBody>
      </p:sp>
      <p:sp>
        <p:nvSpPr>
          <p:cNvPr id="29" name="u3-label">
            <a:extLst xmlns:a="http://schemas.openxmlformats.org/drawingml/2006/main">
              <a:ext uri="{FF2B5EF4-FFF2-40B4-BE49-F238E27FC236}">
                <a16:creationId xmlns:a16="http://schemas.microsoft.com/office/drawing/2014/main" id="{29F88A60-2AA6-4652-AD46-315247B5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880100"/>
            <a:ext cx="3556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潜力群体 · 25 岁以上爱好者与职场人</a:t>
            </a:r>
            <a:endParaRPr sz="1050"/>
          </a:p>
        </p:txBody>
      </p:sp>
      <p:sp>
        <p:nvSpPr>
          <p:cNvPr id="30" name="u3-pct">
            <a:extLst xmlns:a="http://schemas.openxmlformats.org/drawingml/2006/main">
              <a:ext uri="{FF2B5EF4-FFF2-40B4-BE49-F238E27FC236}">
                <a16:creationId xmlns:a16="http://schemas.microsoft.com/office/drawing/2014/main" id="{CD23D8C5-DF87-47CC-8663-A3884B35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0" y="5880100"/>
            <a:ext cx="10414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2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约 15%</a:t>
            </a:r>
            <a:endParaRPr sz="1200"/>
          </a:p>
        </p:txBody>
      </p:sp>
      <p:sp>
        <p:nvSpPr>
          <p:cNvPr id="31" name="u3-track">
            <a:extLst xmlns:a="http://schemas.openxmlformats.org/drawingml/2006/main">
              <a:ext uri="{FF2B5EF4-FFF2-40B4-BE49-F238E27FC236}">
                <a16:creationId xmlns:a16="http://schemas.microsoft.com/office/drawing/2014/main" id="{79E05F05-F187-4D56-9CB6-73668864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6134100"/>
            <a:ext cx="43688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F2"/>
          </a:solidFill>
          <a:ln xmlns:a="http://schemas.openxmlformats.org/drawingml/2006/main">
            <a:noFill/>
          </a:ln>
        </p:spPr>
      </p:sp>
      <p:sp>
        <p:nvSpPr>
          <p:cNvPr id="32" name="u3-bar">
            <a:extLst xmlns:a="http://schemas.openxmlformats.org/drawingml/2006/main">
              <a:ext uri="{FF2B5EF4-FFF2-40B4-BE49-F238E27FC236}">
                <a16:creationId xmlns:a16="http://schemas.microsoft.com/office/drawing/2014/main" id="{A33E05CD-5E59-4E60-A32A-625636F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6134100"/>
            <a:ext cx="6604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33" name="u3-need">
            <a:extLst xmlns:a="http://schemas.openxmlformats.org/drawingml/2006/main">
              <a:ext uri="{FF2B5EF4-FFF2-40B4-BE49-F238E27FC236}">
                <a16:creationId xmlns:a16="http://schemas.microsoft.com/office/drawing/2014/main" id="{195DD1C7-B7C3-4972-92A8-9E9B16BB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6223000"/>
            <a:ext cx="4368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需求：修身养性、兴趣深耕</a:t>
            </a:r>
            <a:endParaRPr sz="850"/>
          </a:p>
        </p:txBody>
      </p:sp>
      <p:sp>
        <p:nvSpPr>
          <p:cNvPr id="34" name="ft-line">
            <a:extLst xmlns:a="http://schemas.openxmlformats.org/drawingml/2006/main">
              <a:ext uri="{FF2B5EF4-FFF2-40B4-BE49-F238E27FC236}">
                <a16:creationId xmlns:a16="http://schemas.microsoft.com/office/drawing/2014/main" id="{33F32160-E93A-4C30-967C-CEC0C2AF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ft-left">
            <a:extLst xmlns:a="http://schemas.openxmlformats.org/drawingml/2006/main">
              <a:ext uri="{FF2B5EF4-FFF2-40B4-BE49-F238E27FC236}">
                <a16:creationId xmlns:a16="http://schemas.microsoft.com/office/drawing/2014/main" id="{101A4203-31B2-4F1D-A10C-6A3DE25E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36" name="ft-page">
            <a:extLst xmlns:a="http://schemas.openxmlformats.org/drawingml/2006/main">
              <a:ext uri="{FF2B5EF4-FFF2-40B4-BE49-F238E27FC236}">
                <a16:creationId xmlns:a16="http://schemas.microsoft.com/office/drawing/2014/main" id="{F40E012E-7689-4481-BCAB-4A961B7B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02 / 13</a:t>
            </a:r>
            <a:endParaRPr sz="900"/>
          </a:p>
        </p:txBody>
      </p:sp>
      <p:sp xmlns:a="http://schemas.openxmlformats.org/drawingml/2006/main">
        <p:nvSpPr>
          <p:cNvPr id="40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3254938"/>
      </p:ext>
    </p:extLst>
  </p:cSld>
</p:sld>
</file>

<file path=ppt/slides/slide3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7E0F7F6D-8075-4048-9640-581B711E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1A917011-E0C4-42C9-B2D8-8394CB90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D36E5C8A-835F-4F59-A96E-B766F66F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DBCF345-75CB-4FE1-8F8A-41265A78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项目背景：政策、市场与书写方式的变革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25ED5E20-A974-49DB-B209-2DD444E6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项目背景与意义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8E9632F0-614A-4008-83E3-C5D0F344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1-circle">
            <a:extLst xmlns:a="http://schemas.openxmlformats.org/drawingml/2006/main">
              <a:ext uri="{FF2B5EF4-FFF2-40B4-BE49-F238E27FC236}">
                <a16:creationId xmlns:a16="http://schemas.microsoft.com/office/drawing/2014/main" id="{F158C54B-FC04-4A44-9D4D-9443DE2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6200"/>
            <a:ext cx="558800" cy="5588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FEAFE"/>
          </a:solidFill>
          <a:ln xmlns:a="http://schemas.openxmlformats.org/drawingml/2006/main" w="0">
            <a:noFill/>
          </a:ln>
        </p:spPr>
      </p:sp>
      <p:sp>
        <p:nvSpPr>
          <p:cNvPr id="7" name="b1-num">
            <a:extLst xmlns:a="http://schemas.openxmlformats.org/drawingml/2006/main">
              <a:ext uri="{FF2B5EF4-FFF2-40B4-BE49-F238E27FC236}">
                <a16:creationId xmlns:a16="http://schemas.microsoft.com/office/drawing/2014/main" id="{57DE4DF3-8CC6-4C0D-B919-386E485F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6200"/>
            <a:ext cx="558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01</a:t>
            </a:r>
            <a:endParaRPr sz="1600"/>
          </a:p>
        </p:txBody>
      </p:sp>
      <p:sp>
        <p:nvSpPr>
          <p:cNvPr id="8" name="b1-title">
            <a:extLst xmlns:a="http://schemas.openxmlformats.org/drawingml/2006/main">
              <a:ext uri="{FF2B5EF4-FFF2-40B4-BE49-F238E27FC236}">
                <a16:creationId xmlns:a16="http://schemas.microsoft.com/office/drawing/2014/main" id="{76F11DB5-EF57-469D-88BF-96EB31B4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208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政策支持</a:t>
            </a:r>
            <a:endParaRPr sz="1500"/>
          </a:p>
        </p:txBody>
      </p:sp>
      <p:sp>
        <p:nvSpPr>
          <p:cNvPr id="9" name="b1-desc">
            <a:extLst xmlns:a="http://schemas.openxmlformats.org/drawingml/2006/main">
              <a:ext uri="{FF2B5EF4-FFF2-40B4-BE49-F238E27FC236}">
                <a16:creationId xmlns:a16="http://schemas.microsoft.com/office/drawing/2014/main" id="{A2F810CA-61EE-4441-B3C9-5F0DE02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990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教育部《中小学书法教育指导纲要》将书法纳入中小学教学体系；新时代学校美育建设持续推进，「双减」落地后，课后服务对优质书法素质教育内容的需求持续增长。</a:t>
            </a:r>
            <a:endParaRPr sz="1050"/>
          </a:p>
        </p:txBody>
      </p:sp>
      <p:sp>
        <p:nvSpPr>
          <p:cNvPr id="10" name="b1-line">
            <a:extLst xmlns:a="http://schemas.openxmlformats.org/drawingml/2006/main">
              <a:ext uri="{FF2B5EF4-FFF2-40B4-BE49-F238E27FC236}">
                <a16:creationId xmlns:a16="http://schemas.microsoft.com/office/drawing/2014/main" id="{DC392009-D602-4DE0-998E-448DAB5D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30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B"/>
          </a:solidFill>
          <a:ln xmlns:a="http://schemas.openxmlformats.org/drawingml/2006/main">
            <a:noFill/>
          </a:ln>
        </p:spPr>
      </p:sp>
      <p:sp>
        <p:nvSpPr>
          <p:cNvPr id="11" name="b2-circle">
            <a:extLst xmlns:a="http://schemas.openxmlformats.org/drawingml/2006/main">
              <a:ext uri="{FF2B5EF4-FFF2-40B4-BE49-F238E27FC236}">
                <a16:creationId xmlns:a16="http://schemas.microsoft.com/office/drawing/2014/main" id="{3D484072-6A39-48DC-BF28-6C92EACE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2400"/>
            <a:ext cx="558800" cy="5588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FEAFE"/>
          </a:solidFill>
          <a:ln xmlns:a="http://schemas.openxmlformats.org/drawingml/2006/main" w="0">
            <a:noFill/>
          </a:ln>
        </p:spPr>
      </p:sp>
      <p:sp>
        <p:nvSpPr>
          <p:cNvPr id="12" name="b2-num">
            <a:extLst xmlns:a="http://schemas.openxmlformats.org/drawingml/2006/main">
              <a:ext uri="{FF2B5EF4-FFF2-40B4-BE49-F238E27FC236}">
                <a16:creationId xmlns:a16="http://schemas.microsoft.com/office/drawing/2014/main" id="{DCF2C826-C275-4072-953E-16434379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2400"/>
            <a:ext cx="558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02</a:t>
            </a:r>
            <a:endParaRPr sz="1600"/>
          </a:p>
        </p:txBody>
      </p:sp>
      <p:sp>
        <p:nvSpPr>
          <p:cNvPr id="13" name="b2-title">
            <a:extLst xmlns:a="http://schemas.openxmlformats.org/drawingml/2006/main">
              <a:ext uri="{FF2B5EF4-FFF2-40B4-BE49-F238E27FC236}">
                <a16:creationId xmlns:a16="http://schemas.microsoft.com/office/drawing/2014/main" id="{00ED8DB7-7EA0-4428-BE68-31B5D51C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670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家长群体对书法的重视</a:t>
            </a:r>
            <a:endParaRPr sz="1500"/>
          </a:p>
        </p:txBody>
      </p:sp>
      <p:sp>
        <p:nvSpPr>
          <p:cNvPr id="14" name="b2-desc">
            <a:extLst xmlns:a="http://schemas.openxmlformats.org/drawingml/2006/main">
              <a:ext uri="{FF2B5EF4-FFF2-40B4-BE49-F238E27FC236}">
                <a16:creationId xmlns:a16="http://schemas.microsoft.com/office/drawing/2014/main" id="{B2B4ED28-ED8C-4F85-9AEE-FFA6BFC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2600"/>
            <a:ext cx="7112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家长普遍认可书法在传承传统文化、涵养孩子专注力与审美素养中的核心价值，主动将其纳入综合素质培养体系，并直接转化为实际消费行为——从筛选专业课程、购置笔墨工具，到稳定的学期预算投入。</a:t>
            </a:r>
            <a:endParaRPr sz="1050"/>
          </a:p>
        </p:txBody>
      </p:sp>
      <p:sp>
        <p:nvSpPr>
          <p:cNvPr id="15" name="b2-stat1-border">
            <a:extLst xmlns:a="http://schemas.openxmlformats.org/drawingml/2006/main">
              <a:ext uri="{FF2B5EF4-FFF2-40B4-BE49-F238E27FC236}">
                <a16:creationId xmlns:a16="http://schemas.microsoft.com/office/drawing/2014/main" id="{8775AFD3-C03C-4ED8-9A16-7C578A8D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6" name="b2-stat1-num">
            <a:extLst xmlns:a="http://schemas.openxmlformats.org/drawingml/2006/main">
              <a:ext uri="{FF2B5EF4-FFF2-40B4-BE49-F238E27FC236}">
                <a16:creationId xmlns:a16="http://schemas.microsoft.com/office/drawing/2014/main" id="{B7A4A5E4-A254-4F5E-B9C0-3BB8B21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98800"/>
            <a:ext cx="127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41.58%</a:t>
            </a:r>
            <a:endParaRPr sz="2200"/>
          </a:p>
        </p:txBody>
      </p:sp>
      <p:sp>
        <p:nvSpPr>
          <p:cNvPr id="17" name="b2-stat1-label">
            <a:extLst xmlns:a="http://schemas.openxmlformats.org/drawingml/2006/main">
              <a:ext uri="{FF2B5EF4-FFF2-40B4-BE49-F238E27FC236}">
                <a16:creationId xmlns:a16="http://schemas.microsoft.com/office/drawing/2014/main" id="{8ED3DB0D-F052-4B6B-B488-D54C8A46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05200"/>
            <a:ext cx="127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愿意投入 1000–3000 元/学期</a:t>
            </a:r>
            <a:endParaRPr sz="900"/>
          </a:p>
        </p:txBody>
      </p:sp>
      <p:sp>
        <p:nvSpPr>
          <p:cNvPr id="18" name="b2-stat2-border">
            <a:extLst xmlns:a="http://schemas.openxmlformats.org/drawingml/2006/main">
              <a:ext uri="{FF2B5EF4-FFF2-40B4-BE49-F238E27FC236}">
                <a16:creationId xmlns:a16="http://schemas.microsoft.com/office/drawing/2014/main" id="{EC9ED4BE-8F42-45B5-B0FE-82A09A33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29718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9" name="b2-stat2-num">
            <a:extLst xmlns:a="http://schemas.openxmlformats.org/drawingml/2006/main">
              <a:ext uri="{FF2B5EF4-FFF2-40B4-BE49-F238E27FC236}">
                <a16:creationId xmlns:a16="http://schemas.microsoft.com/office/drawing/2014/main" id="{169D8BDC-59A2-4551-AE5F-0778626F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3098800"/>
            <a:ext cx="127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11.88%</a:t>
            </a:r>
            <a:endParaRPr sz="2200"/>
          </a:p>
        </p:txBody>
      </p:sp>
      <p:sp>
        <p:nvSpPr>
          <p:cNvPr id="20" name="b2-stat2-label">
            <a:extLst xmlns:a="http://schemas.openxmlformats.org/drawingml/2006/main">
              <a:ext uri="{FF2B5EF4-FFF2-40B4-BE49-F238E27FC236}">
                <a16:creationId xmlns:a16="http://schemas.microsoft.com/office/drawing/2014/main" id="{5AE93DEB-42D2-4DC6-8944-4EDDF152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3505200"/>
            <a:ext cx="127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愿意投入 5000 元以上/学期</a:t>
            </a:r>
            <a:endParaRPr sz="900"/>
          </a:p>
        </p:txBody>
      </p:sp>
      <p:sp>
        <p:nvSpPr>
          <p:cNvPr id="21" name="b2-line">
            <a:extLst xmlns:a="http://schemas.openxmlformats.org/drawingml/2006/main">
              <a:ext uri="{FF2B5EF4-FFF2-40B4-BE49-F238E27FC236}">
                <a16:creationId xmlns:a16="http://schemas.microsoft.com/office/drawing/2014/main" id="{B6121841-B53B-4167-8898-2DB78DBA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94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B"/>
          </a:solidFill>
          <a:ln xmlns:a="http://schemas.openxmlformats.org/drawingml/2006/main">
            <a:noFill/>
          </a:ln>
        </p:spPr>
      </p:sp>
      <p:sp>
        <p:nvSpPr>
          <p:cNvPr id="22" name="b3-circle">
            <a:extLst xmlns:a="http://schemas.openxmlformats.org/drawingml/2006/main">
              <a:ext uri="{FF2B5EF4-FFF2-40B4-BE49-F238E27FC236}">
                <a16:creationId xmlns:a16="http://schemas.microsoft.com/office/drawing/2014/main" id="{2111E1BF-87AD-459A-A29C-1FAB6432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8800"/>
            <a:ext cx="558800" cy="5588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FEAFE"/>
          </a:solidFill>
          <a:ln xmlns:a="http://schemas.openxmlformats.org/drawingml/2006/main" w="0">
            <a:noFill/>
          </a:ln>
        </p:spPr>
      </p:sp>
      <p:sp>
        <p:nvSpPr>
          <p:cNvPr id="23" name="b3-num">
            <a:extLst xmlns:a="http://schemas.openxmlformats.org/drawingml/2006/main">
              <a:ext uri="{FF2B5EF4-FFF2-40B4-BE49-F238E27FC236}">
                <a16:creationId xmlns:a16="http://schemas.microsoft.com/office/drawing/2014/main" id="{4FF04E3D-D440-40F5-90DB-9939288C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8800"/>
            <a:ext cx="558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03</a:t>
            </a:r>
            <a:endParaRPr sz="1600"/>
          </a:p>
        </p:txBody>
      </p:sp>
      <p:sp>
        <p:nvSpPr>
          <p:cNvPr id="24" name="b3-title">
            <a:extLst xmlns:a="http://schemas.openxmlformats.org/drawingml/2006/main">
              <a:ext uri="{FF2B5EF4-FFF2-40B4-BE49-F238E27FC236}">
                <a16:creationId xmlns:a16="http://schemas.microsoft.com/office/drawing/2014/main" id="{00F2A4F3-0D83-4D31-A905-B3D7BE8D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无纸化学习成为趋势</a:t>
            </a:r>
            <a:endParaRPr sz="1500"/>
          </a:p>
        </p:txBody>
      </p:sp>
      <p:sp>
        <p:nvSpPr>
          <p:cNvPr id="25" name="b3-desc">
            <a:extLst xmlns:a="http://schemas.openxmlformats.org/drawingml/2006/main">
              <a:ext uri="{FF2B5EF4-FFF2-40B4-BE49-F238E27FC236}">
                <a16:creationId xmlns:a16="http://schemas.microsoft.com/office/drawing/2014/main" id="{D53162BA-0C20-4429-918D-A63D277C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99000"/>
            <a:ext cx="9906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随着平板与手写笔硬件价格降低，越来越多学生选择无纸化学习，高校中尤为突出。「电子纸」作为全新的书写介质，用户初次上手难以适应书写体验，想写出一手好字同样需要练习；无纸化同时减少纸张消耗，是未来书写介质发展的一大趋势。</a:t>
            </a:r>
            <a:endParaRPr sz="1050"/>
          </a:p>
        </p:txBody>
      </p:sp>
      <p:sp>
        <p:nvSpPr>
          <p:cNvPr id="26" name="concl-band">
            <a:extLst xmlns:a="http://schemas.openxmlformats.org/drawingml/2006/main">
              <a:ext uri="{FF2B5EF4-FFF2-40B4-BE49-F238E27FC236}">
                <a16:creationId xmlns:a16="http://schemas.microsoft.com/office/drawing/2014/main" id="{E314EB0A-8475-4ADA-8FC1-5FFDAF8C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0400"/>
            <a:ext cx="10972800" cy="5588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>
            <a:noFill/>
          </a:ln>
        </p:spPr>
      </p:sp>
      <p:sp>
        <p:nvSpPr>
          <p:cNvPr id="27" name="concl-bar">
            <a:extLst xmlns:a="http://schemas.openxmlformats.org/drawingml/2006/main">
              <a:ext uri="{FF2B5EF4-FFF2-40B4-BE49-F238E27FC236}">
                <a16:creationId xmlns:a16="http://schemas.microsoft.com/office/drawing/2014/main" id="{9FC17112-DAA7-4DF0-A25F-D4A396E4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0400"/>
            <a:ext cx="50800" cy="55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8" name="concl-text">
            <a:extLst xmlns:a="http://schemas.openxmlformats.org/drawingml/2006/main">
              <a:ext uri="{FF2B5EF4-FFF2-40B4-BE49-F238E27FC236}">
                <a16:creationId xmlns:a16="http://schemas.microsoft.com/office/drawing/2014/main" id="{E4FD2919-4DD9-4390-A73A-9D71DF2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740400"/>
            <a:ext cx="10541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政策有导向、家庭有预算、介质在变革——</a:t>
            </a:r>
            <a:r>
              <a:rPr sz="11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智能书法反馈的需求窗口已经打开</a:t>
            </a:r>
            <a:r>
              <a:rPr sz="11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。</a:t>
            </a:r>
            <a:endParaRPr sz="1150"/>
          </a:p>
        </p:txBody>
      </p:sp>
      <p:sp>
        <p:nvSpPr>
          <p:cNvPr id="29" name="ft-line">
            <a:extLst xmlns:a="http://schemas.openxmlformats.org/drawingml/2006/main">
              <a:ext uri="{FF2B5EF4-FFF2-40B4-BE49-F238E27FC236}">
                <a16:creationId xmlns:a16="http://schemas.microsoft.com/office/drawing/2014/main" id="{48F30B19-8D18-45C6-838E-620A3C4B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ft-left">
            <a:extLst xmlns:a="http://schemas.openxmlformats.org/drawingml/2006/main">
              <a:ext uri="{FF2B5EF4-FFF2-40B4-BE49-F238E27FC236}">
                <a16:creationId xmlns:a16="http://schemas.microsoft.com/office/drawing/2014/main" id="{875FE7B3-A78E-4A1A-9C72-96B5444B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31" name="ft-page">
            <a:extLst xmlns:a="http://schemas.openxmlformats.org/drawingml/2006/main">
              <a:ext uri="{FF2B5EF4-FFF2-40B4-BE49-F238E27FC236}">
                <a16:creationId xmlns:a16="http://schemas.microsoft.com/office/drawing/2014/main" id="{3B674F73-BB00-4609-B1FC-247F904E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03 / 13</a:t>
            </a:r>
            <a:endParaRPr sz="900"/>
          </a:p>
        </p:txBody>
      </p:sp>
      <p:sp xmlns:a="http://schemas.openxmlformats.org/drawingml/2006/main">
        <p:nvSpPr>
          <p:cNvPr id="35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4477751"/>
      </p:ext>
    </p:extLst>
  </p:cSld>
</p:sld>
</file>

<file path=ppt/slides/slide4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1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A7C78797-4959-416E-8B93-92D8CD2F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5186161D-DC8A-4781-A15D-B2E904D8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55107CB3-C1AA-48AF-95F5-0CB61B78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AA4AFFCA-37CC-4196-9F1C-2F7C4350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市场痛点：软件供给跟不上硬件与需求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2A8C2C04-9826-4664-802D-3911BEE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项目背景与意义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4D2ECC50-C5CE-4ECF-ABEF-844FE8B6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ap-kicker">
            <a:extLst xmlns:a="http://schemas.openxmlformats.org/drawingml/2006/main">
              <a:ext uri="{FF2B5EF4-FFF2-40B4-BE49-F238E27FC236}">
                <a16:creationId xmlns:a16="http://schemas.microsoft.com/office/drawing/2014/main" id="{90A7CA7D-37C1-42DB-9B80-58567999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00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现有书法软件的不足</a:t>
            </a:r>
            <a:endParaRPr sz="1050"/>
          </a:p>
        </p:txBody>
      </p:sp>
      <p:sp>
        <p:nvSpPr>
          <p:cNvPr id="7" name="gap-band">
            <a:extLst xmlns:a="http://schemas.openxmlformats.org/drawingml/2006/main">
              <a:ext uri="{FF2B5EF4-FFF2-40B4-BE49-F238E27FC236}">
                <a16:creationId xmlns:a16="http://schemas.microsoft.com/office/drawing/2014/main" id="{644EBD11-DD1B-4013-8C59-F0F2C6DF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4800"/>
            <a:ext cx="10972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8" name="gap1-icon">
            <a:extLst xmlns:a="http://schemas.openxmlformats.org/drawingml/2006/main">
              <a:ext uri="{FF2B5EF4-FFF2-40B4-BE49-F238E27FC236}">
                <a16:creationId xmlns:a16="http://schemas.microsoft.com/office/drawing/2014/main" id="{86126287-1FBD-4A6D-AF92-CDE2C438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8000"/>
            <a:ext cx="228600" cy="228600"/>
          </a:xfrm>
          <a:custGeom xmlns:a="http://schemas.openxmlformats.org/drawingml/2006/main"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9" name="gap1-text">
            <a:extLst xmlns:a="http://schemas.openxmlformats.org/drawingml/2006/main">
              <a:ext uri="{FF2B5EF4-FFF2-40B4-BE49-F238E27FC236}">
                <a16:creationId xmlns:a16="http://schemas.microsoft.com/office/drawing/2014/main" id="{F86BD3DA-6A7F-4817-8462-C8A3EDDE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76400"/>
            <a:ext cx="9906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市面书法练习软件</a:t>
            </a: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几乎全部局限于提供字帖进行临摹或分享</a:t>
            </a: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，缺乏对练习者的指导性功能。</a:t>
            </a:r>
            <a:endParaRPr sz="1100"/>
          </a:p>
        </p:txBody>
      </p:sp>
      <p:sp>
        <p:nvSpPr>
          <p:cNvPr id="10" name="gap2-icon">
            <a:extLst xmlns:a="http://schemas.openxmlformats.org/drawingml/2006/main">
              <a:ext uri="{FF2B5EF4-FFF2-40B4-BE49-F238E27FC236}">
                <a16:creationId xmlns:a16="http://schemas.microsoft.com/office/drawing/2014/main" id="{EF39A0B5-3DD0-47B7-848C-DEC2CED5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0600"/>
            <a:ext cx="228600" cy="228600"/>
          </a:xfrm>
          <a:custGeom xmlns:a="http://schemas.openxmlformats.org/drawingml/2006/main"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11" name="gap2-text">
            <a:extLst xmlns:a="http://schemas.openxmlformats.org/drawingml/2006/main">
              <a:ext uri="{FF2B5EF4-FFF2-40B4-BE49-F238E27FC236}">
                <a16:creationId xmlns:a16="http://schemas.microsoft.com/office/drawing/2014/main" id="{001F889A-7630-47F3-9E6E-D01F9FA7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9000"/>
            <a:ext cx="9906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主流手写笔已支持 </a:t>
            </a: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4096 级压感</a:t>
            </a: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，但软件功能未能跟进硬件进步，丰富的书写数据被白白浪费。</a:t>
            </a:r>
            <a:endParaRPr sz="1100"/>
          </a:p>
        </p:txBody>
      </p:sp>
      <p:sp>
        <p:nvSpPr>
          <p:cNvPr id="12" name="arrow-down">
            <a:extLst xmlns:a="http://schemas.openxmlformats.org/drawingml/2006/main">
              <a:ext uri="{FF2B5EF4-FFF2-40B4-BE49-F238E27FC236}">
                <a16:creationId xmlns:a16="http://schemas.microsoft.com/office/drawing/2014/main" id="{3D81AD19-E5F1-4D85-8C5A-27979676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03200" cy="203200"/>
          </a:xfrm>
          <a:custGeom xmlns:a="http://schemas.openxmlformats.org/drawingml/2006/main">
            <a:rect l="l" t="t" r="r" b="b"/>
            <a:pathLst>
              <a:path w="320" h="512">
                <a:moveTo>
                  <a:pt x="137" y="535"/>
                </a:moveTo>
                <a:cubicBezTo>
                  <a:pt x="150" y="547"/>
                  <a:pt x="170" y="547"/>
                  <a:pt x="183" y="535"/>
                </a:cubicBezTo>
                <a:lnTo>
                  <a:pt x="311" y="407"/>
                </a:lnTo>
                <a:cubicBezTo>
                  <a:pt x="323" y="394"/>
                  <a:pt x="323" y="374"/>
                  <a:pt x="311" y="361"/>
                </a:cubicBezTo>
                <a:cubicBezTo>
                  <a:pt x="298" y="349"/>
                  <a:pt x="278" y="349"/>
                  <a:pt x="265" y="361"/>
                </a:cubicBezTo>
                <a:lnTo>
                  <a:pt x="192" y="435"/>
                </a:lnTo>
                <a:lnTo>
                  <a:pt x="192" y="0"/>
                </a:lnTo>
                <a:cubicBezTo>
                  <a:pt x="192" y="-18"/>
                  <a:pt x="178" y="-32"/>
                  <a:pt x="160" y="-32"/>
                </a:cubicBezTo>
                <a:cubicBezTo>
                  <a:pt x="142" y="-32"/>
                  <a:pt x="128" y="-18"/>
                  <a:pt x="128" y="0"/>
                </a:cubicBezTo>
                <a:lnTo>
                  <a:pt x="128" y="435"/>
                </a:lnTo>
                <a:lnTo>
                  <a:pt x="55" y="361"/>
                </a:lnTo>
                <a:cubicBezTo>
                  <a:pt x="42" y="349"/>
                  <a:pt x="22" y="349"/>
                  <a:pt x="9" y="361"/>
                </a:cubicBezTo>
                <a:cubicBezTo>
                  <a:pt x="-3" y="374"/>
                  <a:pt x="-3" y="394"/>
                  <a:pt x="9" y="407"/>
                </a:cubicBezTo>
                <a:lnTo>
                  <a:pt x="137" y="535"/>
                </a:lnTo>
                <a:close/>
              </a:path>
            </a:pathLst>
          </a:custGeom>
          <a:solidFill xmlns:a="http://schemas.openxmlformats.org/drawingml/2006/main">
            <a:srgbClr val="8B98B5"/>
          </a:solidFill>
          <a:ln xmlns:a="http://schemas.openxmlformats.org/drawingml/2006/main">
            <a:noFill/>
          </a:ln>
        </p:spPr>
      </p:sp>
      <p:sp>
        <p:nvSpPr>
          <p:cNvPr id="13" name="pain-lead">
            <a:extLst xmlns:a="http://schemas.openxmlformats.org/drawingml/2006/main">
              <a:ext uri="{FF2B5EF4-FFF2-40B4-BE49-F238E27FC236}">
                <a16:creationId xmlns:a16="http://schemas.microsoft.com/office/drawing/2014/main" id="{9DB40FAC-7127-48B7-BAA0-6664C42F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9210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传导到练习者身上，是三个长期未被解决的痛点</a:t>
            </a:r>
            <a:endParaRPr sz="1250"/>
          </a:p>
        </p:txBody>
      </p:sp>
      <p:sp>
        <p:nvSpPr>
          <p:cNvPr id="14" name="p1-marker">
            <a:extLst xmlns:a="http://schemas.openxmlformats.org/drawingml/2006/main">
              <a:ext uri="{FF2B5EF4-FFF2-40B4-BE49-F238E27FC236}">
                <a16:creationId xmlns:a16="http://schemas.microsoft.com/office/drawing/2014/main" id="{D9ABCD35-34E5-48C9-949F-BB4B0713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5" name="p1-lead">
            <a:extLst xmlns:a="http://schemas.openxmlformats.org/drawingml/2006/main">
              <a:ext uri="{FF2B5EF4-FFF2-40B4-BE49-F238E27FC236}">
                <a16:creationId xmlns:a16="http://schemas.microsoft.com/office/drawing/2014/main" id="{351C417A-88CC-4878-817D-BE949E54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4036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反馈滞后</a:t>
            </a:r>
            <a:endParaRPr sz="1400"/>
          </a:p>
        </p:txBody>
      </p:sp>
      <p:sp>
        <p:nvSpPr>
          <p:cNvPr id="16" name="p1-desc">
            <a:extLst xmlns:a="http://schemas.openxmlformats.org/drawingml/2006/main">
              <a:ext uri="{FF2B5EF4-FFF2-40B4-BE49-F238E27FC236}">
                <a16:creationId xmlns:a16="http://schemas.microsoft.com/office/drawing/2014/main" id="{6C6DCA49-DA0F-4D4E-93F1-97717363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759200"/>
            <a:ext cx="3175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传统课堂一对多，作业批改周期长，问题笔画得不到及时纠正，错误写法反复固化。</a:t>
            </a:r>
            <a:endParaRPr sz="1050"/>
          </a:p>
        </p:txBody>
      </p:sp>
      <p:sp>
        <p:nvSpPr>
          <p:cNvPr id="17" name="p2-marker">
            <a:extLst xmlns:a="http://schemas.openxmlformats.org/drawingml/2006/main">
              <a:ext uri="{FF2B5EF4-FFF2-40B4-BE49-F238E27FC236}">
                <a16:creationId xmlns:a16="http://schemas.microsoft.com/office/drawing/2014/main" id="{8F64B24E-FFF5-4B72-B625-44CFA762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35052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8" name="p2-lead">
            <a:extLst xmlns:a="http://schemas.openxmlformats.org/drawingml/2006/main">
              <a:ext uri="{FF2B5EF4-FFF2-40B4-BE49-F238E27FC236}">
                <a16:creationId xmlns:a16="http://schemas.microsoft.com/office/drawing/2014/main" id="{102BEBDE-E36E-4BA3-A88C-B51751B9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34036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评价主观</a:t>
            </a:r>
            <a:endParaRPr sz="1400"/>
          </a:p>
        </p:txBody>
      </p:sp>
      <p:sp>
        <p:nvSpPr>
          <p:cNvPr id="19" name="p2-desc">
            <a:extLst xmlns:a="http://schemas.openxmlformats.org/drawingml/2006/main">
              <a:ext uri="{FF2B5EF4-FFF2-40B4-BE49-F238E27FC236}">
                <a16:creationId xmlns:a16="http://schemas.microsoft.com/office/drawing/2014/main" id="{6DF323B0-F275-4F54-A208-2DC3EFE1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3759200"/>
            <a:ext cx="3175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缺少可量化的结构标准，「写得好不好」长期依赖个人感觉，练习者无法自我判断。</a:t>
            </a:r>
            <a:endParaRPr sz="1050"/>
          </a:p>
        </p:txBody>
      </p:sp>
      <p:sp>
        <p:nvSpPr>
          <p:cNvPr id="20" name="p3-marker">
            <a:extLst xmlns:a="http://schemas.openxmlformats.org/drawingml/2006/main">
              <a:ext uri="{FF2B5EF4-FFF2-40B4-BE49-F238E27FC236}">
                <a16:creationId xmlns:a16="http://schemas.microsoft.com/office/drawing/2014/main" id="{E9587FE8-42DF-41D5-9CE9-61EFC91F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35052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1" name="p3-lead">
            <a:extLst xmlns:a="http://schemas.openxmlformats.org/drawingml/2006/main">
              <a:ext uri="{FF2B5EF4-FFF2-40B4-BE49-F238E27FC236}">
                <a16:creationId xmlns:a16="http://schemas.microsoft.com/office/drawing/2014/main" id="{D5CCFCB6-1129-4945-8512-4B0C54C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36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练习静态</a:t>
            </a:r>
            <a:endParaRPr sz="1400"/>
          </a:p>
        </p:txBody>
      </p:sp>
      <p:sp>
        <p:nvSpPr>
          <p:cNvPr id="22" name="p3-desc">
            <a:extLst xmlns:a="http://schemas.openxmlformats.org/drawingml/2006/main">
              <a:ext uri="{FF2B5EF4-FFF2-40B4-BE49-F238E27FC236}">
                <a16:creationId xmlns:a16="http://schemas.microsoft.com/office/drawing/2014/main" id="{CB5234A2-FEF6-4E96-96AF-CC6434D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9200"/>
            <a:ext cx="28956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字帖只能临摹对照，无法针对个人问题给出具体修改路径，练习效率低、容易放弃。</a:t>
            </a:r>
            <a:endParaRPr sz="1050"/>
          </a:p>
        </p:txBody>
      </p:sp>
      <p:sp>
        <p:nvSpPr>
          <p:cNvPr id="23" name="ans-line">
            <a:extLst xmlns:a="http://schemas.openxmlformats.org/drawingml/2006/main">
              <a:ext uri="{FF2B5EF4-FFF2-40B4-BE49-F238E27FC236}">
                <a16:creationId xmlns:a16="http://schemas.microsoft.com/office/drawing/2014/main" id="{ED242CC4-CC85-43E5-B2E6-68575E26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8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ans-kicker">
            <a:extLst xmlns:a="http://schemas.openxmlformats.org/drawingml/2006/main">
              <a:ext uri="{FF2B5EF4-FFF2-40B4-BE49-F238E27FC236}">
                <a16:creationId xmlns:a16="http://schemas.microsoft.com/office/drawing/2014/main" id="{FF7C2EA6-B8AB-4BEC-9189-D23C3638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我们的回答</a:t>
            </a:r>
            <a:endParaRPr sz="1050"/>
          </a:p>
        </p:txBody>
      </p:sp>
      <p:sp>
        <p:nvSpPr>
          <p:cNvPr id="25" name="ans-text">
            <a:extLst xmlns:a="http://schemas.openxmlformats.org/drawingml/2006/main">
              <a:ext uri="{FF2B5EF4-FFF2-40B4-BE49-F238E27FC236}">
                <a16:creationId xmlns:a16="http://schemas.microsoft.com/office/drawing/2014/main" id="{9FA8AF31-0CB8-46B9-9E88-CB34F662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以视觉模型提供即时反馈、量化标准与个性化建议。</a:t>
            </a:r>
            <a:endParaRPr sz="1250"/>
          </a:p>
          <a:p xmlns:a="http://schemas.openxmlformats.org/drawingml/2006/main">
            <a:pPr algn="l">
              <a:lnSpc>
                <a:spcPct val="155000"/>
              </a:lnSpc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书写完成即生成结构评分，公开评分依据，并把修改建议定位到具体局部。</a:t>
            </a:r>
            <a:endParaRPr sz="1250"/>
          </a:p>
        </p:txBody>
      </p:sp>
      <p:sp>
        <p:nvSpPr>
          <p:cNvPr id="26" name="ft-line">
            <a:extLst xmlns:a="http://schemas.openxmlformats.org/drawingml/2006/main">
              <a:ext uri="{FF2B5EF4-FFF2-40B4-BE49-F238E27FC236}">
                <a16:creationId xmlns:a16="http://schemas.microsoft.com/office/drawing/2014/main" id="{FBF504D6-9395-44E8-9DD7-CD7B14ED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ft-left">
            <a:extLst xmlns:a="http://schemas.openxmlformats.org/drawingml/2006/main">
              <a:ext uri="{FF2B5EF4-FFF2-40B4-BE49-F238E27FC236}">
                <a16:creationId xmlns:a16="http://schemas.microsoft.com/office/drawing/2014/main" id="{965293B9-39B6-408C-A350-29989C29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28" name="ft-page">
            <a:extLst xmlns:a="http://schemas.openxmlformats.org/drawingml/2006/main">
              <a:ext uri="{FF2B5EF4-FFF2-40B4-BE49-F238E27FC236}">
                <a16:creationId xmlns:a16="http://schemas.microsoft.com/office/drawing/2014/main" id="{0E4B2B33-CCF2-4257-8195-B953BF5C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04 / 13</a:t>
            </a:r>
            <a:endParaRPr sz="900"/>
          </a:p>
        </p:txBody>
      </p:sp>
      <p:sp xmlns:a="http://schemas.openxmlformats.org/drawingml/2006/main">
        <p:nvSpPr>
          <p:cNvPr id="32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9439672"/>
      </p:ext>
    </p:extLst>
  </p:cSld>
</p:sld>
</file>

<file path=ppt/slides/slide5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5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FCB6AB3E-0900-464A-BFE6-8EC3CA8B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6C741630-5E27-4B45-AC21-CEA3E48F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88E754BB-B1D6-4C75-8DC6-3B0D7E01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0250305D-68FC-4AB5-9CBF-82AEE026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迭代逻辑：</a:t>
            </a: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以往</a:t>
            </a: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的局限，今年的解法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28A1AE2D-531B-438E-9094-1E9D318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项目背景与意义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7D339D12-EA2C-4083-B8E1-3D394036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graphicFrame>
        <p:nvGraphicFramePr>
          <p:cNvPr id="6" name="iter-table">
            <a:extLst xmlns:a="http://schemas.openxmlformats.org/drawingml/2006/main">
              <a:ext uri="{FF2B5EF4-FFF2-40B4-BE49-F238E27FC236}">
                <a16:creationId xmlns:a16="http://schemas.microsoft.com/office/drawing/2014/main" id="{AB43E7DB-D629-4209-8EEF-98C2F2E2C29E}"/>
              </a:ext>
            </a:extLst>
          </p:cNvPr>
          <p:cNvGraphicFramePr/>
          <p:nvPr/>
        </p:nvGraphicFramePr>
        <p:xfrm>
          <a:off xmlns:a="http://schemas.openxmlformats.org/drawingml/2006/main" x="609600" y="1295400"/>
          <a:ext xmlns:a="http://schemas.openxmlformats.org/drawingml/2006/main" cx="10972800" cy="41910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11296"/>
                <a:gridCol w="3950208"/>
                <a:gridCol w="3511296"/>
              </a:tblGrid>
              <a:tr h="46101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往昔</a:t>
                      </a:r>
                      <a:r>
                        <a:rPr sz="1163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成果的局限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今年的解法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验证证据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评估口径自定：U-Net 自定义准确率约 85.2%，难以横向比较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统一六通道 schema，采用 Dice / IoU / 关键点 F1 / 边界 F1 标准指标体系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U-Net 可信基线 0.891；B2 标准划分 Macro Dice 0.958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数据治理缺失：标注一度遗失，划分混入错配与重复样本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840 份原始 GT 全量找回校验；语义 QC 剔除 12 错配 + 59 重复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769 个洁净独立样本，划分冻结并 SHA-256 留档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泛化能力未知：训练与测试同字出现，高分不等于能评新字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字符隔离的 character-disjoint 划分，三模型公平比较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未见字 Dice 0.887，三模型中下降最小（7.2 pp）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评分不透明：整体点评打分，依据无法向用户解释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受限对齐 + 公式公开的参考结构匹配度，建议逐条对应证据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经受控扰动、对齐消融与人工盲评三重验证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</a:tr>
            </a:tbl>
          </a:graphicData>
        </a:graphic>
      </p:graphicFrame>
      <p:sp>
        <p:nvSpPr>
          <p:cNvPr id="7" name="iter-note-band">
            <a:extLst xmlns:a="http://schemas.openxmlformats.org/drawingml/2006/main">
              <a:ext uri="{FF2B5EF4-FFF2-40B4-BE49-F238E27FC236}">
                <a16:creationId xmlns:a16="http://schemas.microsoft.com/office/drawing/2014/main" id="{1E380B80-7633-49A1-95F4-360A6858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842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>
            <a:noFill/>
          </a:ln>
        </p:spPr>
      </p:sp>
      <p:sp>
        <p:nvSpPr>
          <p:cNvPr id="8" name="iter-note-bar">
            <a:extLst xmlns:a="http://schemas.openxmlformats.org/drawingml/2006/main">
              <a:ext uri="{FF2B5EF4-FFF2-40B4-BE49-F238E27FC236}">
                <a16:creationId xmlns:a16="http://schemas.microsoft.com/office/drawing/2014/main" id="{C441D883-F654-4A7C-9E91-2215637A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50800" cy="584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9" name="iter-note">
            <a:extLst xmlns:a="http://schemas.openxmlformats.org/drawingml/2006/main">
              <a:ext uri="{FF2B5EF4-FFF2-40B4-BE49-F238E27FC236}">
                <a16:creationId xmlns:a16="http://schemas.microsoft.com/office/drawing/2014/main" id="{2A9B007E-B2AD-4825-AE2A-B2975C13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715000"/>
            <a:ext cx="10541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往昔</a:t>
            </a:r>
            <a:r>
              <a:rPr sz="11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的采集链路与标签生成逻辑仍是今年数据资产的基础——</a:t>
            </a:r>
            <a:r>
              <a:rPr sz="11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迭代不是推翻，而是在原有地基上接续建设</a:t>
            </a:r>
            <a:r>
              <a:rPr sz="11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。</a:t>
            </a:r>
            <a:endParaRPr sz="1100"/>
          </a:p>
        </p:txBody>
      </p:sp>
      <p:sp>
        <p:nvSpPr>
          <p:cNvPr id="10" name="ft-line">
            <a:extLst xmlns:a="http://schemas.openxmlformats.org/drawingml/2006/main">
              <a:ext uri="{FF2B5EF4-FFF2-40B4-BE49-F238E27FC236}">
                <a16:creationId xmlns:a16="http://schemas.microsoft.com/office/drawing/2014/main" id="{9A3631E0-6602-4424-9A5A-D939E18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ft-left">
            <a:extLst xmlns:a="http://schemas.openxmlformats.org/drawingml/2006/main">
              <a:ext uri="{FF2B5EF4-FFF2-40B4-BE49-F238E27FC236}">
                <a16:creationId xmlns:a16="http://schemas.microsoft.com/office/drawing/2014/main" id="{814B0B12-2304-4EB7-AB70-990A7CAD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12" name="ft-page">
            <a:extLst xmlns:a="http://schemas.openxmlformats.org/drawingml/2006/main">
              <a:ext uri="{FF2B5EF4-FFF2-40B4-BE49-F238E27FC236}">
                <a16:creationId xmlns:a16="http://schemas.microsoft.com/office/drawing/2014/main" id="{5CE6F0F3-9724-4AB9-B2C8-D857692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05 / 13</a:t>
            </a:r>
            <a:endParaRPr sz="900"/>
          </a:p>
        </p:txBody>
      </p:sp>
      <p:sp xmlns:a="http://schemas.openxmlformats.org/drawingml/2006/main">
        <p:nvSpPr>
          <p:cNvPr id="16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9169496"/>
      </p:ext>
    </p:extLst>
  </p:cSld>
</p:sld>
</file>

<file path=ppt/slides/slide6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72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AC6F20D6-3F76-4328-AEC4-E2537ABC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4580FC5D-4C62-4BB5-8384-CF9950EC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A33DBD98-5CF6-4100-A73E-657A887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1D16B473-406A-4C0C-A4EC-6C8C2A9D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中期总览：从数据到产品的完整闭环已经打通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D6D95502-D2CA-4BEB-B1B8-CEAAC5C2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中期核心进展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385DC5FA-EB09-4AF8-8BE0-614F7F71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1-box">
            <a:extLst xmlns:a="http://schemas.openxmlformats.org/drawingml/2006/main">
              <a:ext uri="{FF2B5EF4-FFF2-40B4-BE49-F238E27FC236}">
                <a16:creationId xmlns:a16="http://schemas.microsoft.com/office/drawing/2014/main" id="{3EDC38A5-F109-48C5-83BB-12202072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8600"/>
            <a:ext cx="16256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s1-num">
            <a:extLst xmlns:a="http://schemas.openxmlformats.org/drawingml/2006/main">
              <a:ext uri="{FF2B5EF4-FFF2-40B4-BE49-F238E27FC236}">
                <a16:creationId xmlns:a16="http://schemas.microsoft.com/office/drawing/2014/main" id="{B42DEA79-6F0A-419D-8E16-1AE762F8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01</a:t>
            </a:r>
            <a:endParaRPr sz="1100"/>
          </a:p>
        </p:txBody>
      </p:sp>
      <p:sp>
        <p:nvSpPr>
          <p:cNvPr id="8" name="s1-title">
            <a:extLst xmlns:a="http://schemas.openxmlformats.org/drawingml/2006/main">
              <a:ext uri="{FF2B5EF4-FFF2-40B4-BE49-F238E27FC236}">
                <a16:creationId xmlns:a16="http://schemas.microsoft.com/office/drawing/2014/main" id="{6D54CE1B-24DC-4928-AE6B-3D187111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数据恢复与 QC</a:t>
            </a:r>
            <a:endParaRPr sz="1250"/>
          </a:p>
        </p:txBody>
      </p:sp>
      <p:sp>
        <p:nvSpPr>
          <p:cNvPr id="9" name="s1-desc">
            <a:extLst xmlns:a="http://schemas.openxmlformats.org/drawingml/2006/main">
              <a:ext uri="{FF2B5EF4-FFF2-40B4-BE49-F238E27FC236}">
                <a16:creationId xmlns:a16="http://schemas.microsoft.com/office/drawing/2014/main" id="{93DA8193-30EE-40D9-B84C-ABCC3800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840 份 GT 找回校验，769 个洁净样本</a:t>
            </a:r>
            <a:endParaRPr sz="950"/>
          </a:p>
        </p:txBody>
      </p:sp>
      <p:sp>
        <p:nvSpPr>
          <p:cNvPr id="10" name="s1-check">
            <a:extLst xmlns:a="http://schemas.openxmlformats.org/drawingml/2006/main">
              <a:ext uri="{FF2B5EF4-FFF2-40B4-BE49-F238E27FC236}">
                <a16:creationId xmlns:a16="http://schemas.microsoft.com/office/drawing/2014/main" id="{5ACAC397-6E69-478F-9355-8E9BCE77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1" name="s1-done">
            <a:extLst xmlns:a="http://schemas.openxmlformats.org/drawingml/2006/main">
              <a:ext uri="{FF2B5EF4-FFF2-40B4-BE49-F238E27FC236}">
                <a16:creationId xmlns:a16="http://schemas.microsoft.com/office/drawing/2014/main" id="{AE2124D0-3AEA-4C8F-BCC5-E99BA73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12" name="a1">
            <a:extLst xmlns:a="http://schemas.openxmlformats.org/drawingml/2006/main">
              <a:ext uri="{FF2B5EF4-FFF2-40B4-BE49-F238E27FC236}">
                <a16:creationId xmlns:a16="http://schemas.microsoft.com/office/drawing/2014/main" id="{622F1DC5-9F5B-47BE-9D9E-E03FF91D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47875"/>
            <a:ext cx="133350" cy="133350"/>
          </a:xfrm>
          <a:custGeom xmlns:a="http://schemas.openxmlformats.org/drawingml/2006/main"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 xmlns:a="http://schemas.openxmlformats.org/drawingml/2006/main">
            <a:srgbClr val="AEC1DE"/>
          </a:solidFill>
          <a:ln xmlns:a="http://schemas.openxmlformats.org/drawingml/2006/main">
            <a:noFill/>
          </a:ln>
        </p:spPr>
      </p:sp>
      <p:sp>
        <p:nvSpPr>
          <p:cNvPr id="13" name="s2-box">
            <a:extLst xmlns:a="http://schemas.openxmlformats.org/drawingml/2006/main">
              <a:ext uri="{FF2B5EF4-FFF2-40B4-BE49-F238E27FC236}">
                <a16:creationId xmlns:a16="http://schemas.microsoft.com/office/drawing/2014/main" id="{847A7EDF-0D16-4F27-8DE3-FCA0A97E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1498600"/>
            <a:ext cx="16256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s2-num">
            <a:extLst xmlns:a="http://schemas.openxmlformats.org/drawingml/2006/main">
              <a:ext uri="{FF2B5EF4-FFF2-40B4-BE49-F238E27FC236}">
                <a16:creationId xmlns:a16="http://schemas.microsoft.com/office/drawing/2014/main" id="{05E816D1-E418-42FE-8616-5417D5A0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02</a:t>
            </a:r>
            <a:endParaRPr sz="1100"/>
          </a:p>
        </p:txBody>
      </p:sp>
      <p:sp>
        <p:nvSpPr>
          <p:cNvPr id="15" name="s2-title">
            <a:extLst xmlns:a="http://schemas.openxmlformats.org/drawingml/2006/main">
              <a:ext uri="{FF2B5EF4-FFF2-40B4-BE49-F238E27FC236}">
                <a16:creationId xmlns:a16="http://schemas.microsoft.com/office/drawing/2014/main" id="{C7F5B6EA-C1B5-4395-AFF1-7A8BB711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U-Net 可信基线</a:t>
            </a:r>
            <a:endParaRPr sz="1250"/>
          </a:p>
        </p:txBody>
      </p:sp>
      <p:sp>
        <p:nvSpPr>
          <p:cNvPr id="16" name="s2-desc">
            <a:extLst xmlns:a="http://schemas.openxmlformats.org/drawingml/2006/main">
              <a:ext uri="{FF2B5EF4-FFF2-40B4-BE49-F238E27FC236}">
                <a16:creationId xmlns:a16="http://schemas.microsoft.com/office/drawing/2014/main" id="{BEB8C665-63D5-4EF6-8733-D335A1D0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统一数据与评测框架下重测基线</a:t>
            </a:r>
            <a:endParaRPr sz="950"/>
          </a:p>
        </p:txBody>
      </p:sp>
      <p:sp>
        <p:nvSpPr>
          <p:cNvPr id="17" name="s2-check">
            <a:extLst xmlns:a="http://schemas.openxmlformats.org/drawingml/2006/main">
              <a:ext uri="{FF2B5EF4-FFF2-40B4-BE49-F238E27FC236}">
                <a16:creationId xmlns:a16="http://schemas.microsoft.com/office/drawing/2014/main" id="{D88C2018-9571-47AB-A201-8BA16EEA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8" name="s2-done">
            <a:extLst xmlns:a="http://schemas.openxmlformats.org/drawingml/2006/main">
              <a:ext uri="{FF2B5EF4-FFF2-40B4-BE49-F238E27FC236}">
                <a16:creationId xmlns:a16="http://schemas.microsoft.com/office/drawing/2014/main" id="{0F6F2655-C18C-4504-9E24-BE477FE6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19" name="a2">
            <a:extLst xmlns:a="http://schemas.openxmlformats.org/drawingml/2006/main">
              <a:ext uri="{FF2B5EF4-FFF2-40B4-BE49-F238E27FC236}">
                <a16:creationId xmlns:a16="http://schemas.microsoft.com/office/drawing/2014/main" id="{A564C9B2-F5CF-45C1-90EC-8344B52E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47875"/>
            <a:ext cx="133350" cy="133350"/>
          </a:xfrm>
          <a:custGeom xmlns:a="http://schemas.openxmlformats.org/drawingml/2006/main"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 xmlns:a="http://schemas.openxmlformats.org/drawingml/2006/main">
            <a:srgbClr val="AEC1DE"/>
          </a:solidFill>
          <a:ln xmlns:a="http://schemas.openxmlformats.org/drawingml/2006/main">
            <a:noFill/>
          </a:ln>
        </p:spPr>
      </p:sp>
      <p:sp>
        <p:nvSpPr>
          <p:cNvPr id="20" name="s3-box">
            <a:extLst xmlns:a="http://schemas.openxmlformats.org/drawingml/2006/main">
              <a:ext uri="{FF2B5EF4-FFF2-40B4-BE49-F238E27FC236}">
                <a16:creationId xmlns:a16="http://schemas.microsoft.com/office/drawing/2014/main" id="{4C194F9E-7FC1-48D5-A9CB-A4FC2B11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498600"/>
            <a:ext cx="16256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s3-num">
            <a:extLst xmlns:a="http://schemas.openxmlformats.org/drawingml/2006/main">
              <a:ext uri="{FF2B5EF4-FFF2-40B4-BE49-F238E27FC236}">
                <a16:creationId xmlns:a16="http://schemas.microsoft.com/office/drawing/2014/main" id="{C268E618-3742-4DE2-8552-E3F8771C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03</a:t>
            </a:r>
            <a:endParaRPr sz="1100"/>
          </a:p>
        </p:txBody>
      </p:sp>
      <p:sp>
        <p:nvSpPr>
          <p:cNvPr id="22" name="s3-title">
            <a:extLst xmlns:a="http://schemas.openxmlformats.org/drawingml/2006/main">
              <a:ext uri="{FF2B5EF4-FFF2-40B4-BE49-F238E27FC236}">
                <a16:creationId xmlns:a16="http://schemas.microsoft.com/office/drawing/2014/main" id="{3ED2A21B-1587-4EA2-9E03-64801D94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B2 模型冻结</a:t>
            </a:r>
            <a:endParaRPr sz="1250"/>
          </a:p>
        </p:txBody>
      </p:sp>
      <p:sp>
        <p:nvSpPr>
          <p:cNvPr id="23" name="s3-desc">
            <a:extLst xmlns:a="http://schemas.openxmlformats.org/drawingml/2006/main">
              <a:ext uri="{FF2B5EF4-FFF2-40B4-BE49-F238E27FC236}">
                <a16:creationId xmlns:a16="http://schemas.microsoft.com/office/drawing/2014/main" id="{DA0E7338-1037-48A9-A8DE-1A1716E3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SegFormer-B2 阈值与模型卡留档</a:t>
            </a:r>
            <a:endParaRPr sz="950"/>
          </a:p>
        </p:txBody>
      </p:sp>
      <p:sp>
        <p:nvSpPr>
          <p:cNvPr id="24" name="s3-check">
            <a:extLst xmlns:a="http://schemas.openxmlformats.org/drawingml/2006/main">
              <a:ext uri="{FF2B5EF4-FFF2-40B4-BE49-F238E27FC236}">
                <a16:creationId xmlns:a16="http://schemas.microsoft.com/office/drawing/2014/main" id="{96E461A0-4ADB-4729-B410-8917AA04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5" name="s3-done">
            <a:extLst xmlns:a="http://schemas.openxmlformats.org/drawingml/2006/main">
              <a:ext uri="{FF2B5EF4-FFF2-40B4-BE49-F238E27FC236}">
                <a16:creationId xmlns:a16="http://schemas.microsoft.com/office/drawing/2014/main" id="{CFC1A464-AB1C-4E24-8FBA-ACA665FE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26" name="a3">
            <a:extLst xmlns:a="http://schemas.openxmlformats.org/drawingml/2006/main">
              <a:ext uri="{FF2B5EF4-FFF2-40B4-BE49-F238E27FC236}">
                <a16:creationId xmlns:a16="http://schemas.microsoft.com/office/drawing/2014/main" id="{F5D994AC-69BC-48D9-8905-131059FF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47875"/>
            <a:ext cx="133350" cy="133350"/>
          </a:xfrm>
          <a:custGeom xmlns:a="http://schemas.openxmlformats.org/drawingml/2006/main"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 xmlns:a="http://schemas.openxmlformats.org/drawingml/2006/main">
            <a:srgbClr val="AEC1DE"/>
          </a:solidFill>
          <a:ln xmlns:a="http://schemas.openxmlformats.org/drawingml/2006/main">
            <a:noFill/>
          </a:ln>
        </p:spPr>
      </p:sp>
      <p:sp>
        <p:nvSpPr>
          <p:cNvPr id="27" name="s4-box">
            <a:extLst xmlns:a="http://schemas.openxmlformats.org/drawingml/2006/main">
              <a:ext uri="{FF2B5EF4-FFF2-40B4-BE49-F238E27FC236}">
                <a16:creationId xmlns:a16="http://schemas.microsoft.com/office/drawing/2014/main" id="{C456E761-7A4D-47F8-BE02-3B3B5491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98600"/>
            <a:ext cx="16256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s4-num">
            <a:extLst xmlns:a="http://schemas.openxmlformats.org/drawingml/2006/main">
              <a:ext uri="{FF2B5EF4-FFF2-40B4-BE49-F238E27FC236}">
                <a16:creationId xmlns:a16="http://schemas.microsoft.com/office/drawing/2014/main" id="{4ADF4C86-83A4-4E8D-9889-96D2C70A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04</a:t>
            </a:r>
            <a:endParaRPr sz="1100"/>
          </a:p>
        </p:txBody>
      </p:sp>
      <p:sp>
        <p:nvSpPr>
          <p:cNvPr id="29" name="s4-title">
            <a:extLst xmlns:a="http://schemas.openxmlformats.org/drawingml/2006/main">
              <a:ext uri="{FF2B5EF4-FFF2-40B4-BE49-F238E27FC236}">
                <a16:creationId xmlns:a16="http://schemas.microsoft.com/office/drawing/2014/main" id="{18CC1AAD-73F6-41F9-A589-5A9D650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对齐与结构评分</a:t>
            </a:r>
            <a:endParaRPr sz="1250"/>
          </a:p>
        </p:txBody>
      </p:sp>
      <p:sp>
        <p:nvSpPr>
          <p:cNvPr id="30" name="s4-desc">
            <a:extLst xmlns:a="http://schemas.openxmlformats.org/drawingml/2006/main">
              <a:ext uri="{FF2B5EF4-FFF2-40B4-BE49-F238E27FC236}">
                <a16:creationId xmlns:a16="http://schemas.microsoft.com/office/drawing/2014/main" id="{7E0952EA-5BE6-4945-8FF2-93043F7A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受限对齐 + 参考结构匹配度</a:t>
            </a:r>
            <a:endParaRPr sz="950"/>
          </a:p>
        </p:txBody>
      </p:sp>
      <p:sp>
        <p:nvSpPr>
          <p:cNvPr id="31" name="s4-check">
            <a:extLst xmlns:a="http://schemas.openxmlformats.org/drawingml/2006/main">
              <a:ext uri="{FF2B5EF4-FFF2-40B4-BE49-F238E27FC236}">
                <a16:creationId xmlns:a16="http://schemas.microsoft.com/office/drawing/2014/main" id="{C3560A22-840F-48F3-B4E0-3CCD94CA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32" name="s4-done">
            <a:extLst xmlns:a="http://schemas.openxmlformats.org/drawingml/2006/main">
              <a:ext uri="{FF2B5EF4-FFF2-40B4-BE49-F238E27FC236}">
                <a16:creationId xmlns:a16="http://schemas.microsoft.com/office/drawing/2014/main" id="{B9F5F5C0-A366-4854-BA2D-7B690366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33" name="a4">
            <a:extLst xmlns:a="http://schemas.openxmlformats.org/drawingml/2006/main">
              <a:ext uri="{FF2B5EF4-FFF2-40B4-BE49-F238E27FC236}">
                <a16:creationId xmlns:a16="http://schemas.microsoft.com/office/drawing/2014/main" id="{36D67A53-739D-4EE5-B7E2-3728DB8F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47875"/>
            <a:ext cx="133350" cy="133350"/>
          </a:xfrm>
          <a:custGeom xmlns:a="http://schemas.openxmlformats.org/drawingml/2006/main"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 xmlns:a="http://schemas.openxmlformats.org/drawingml/2006/main">
            <a:srgbClr val="AEC1DE"/>
          </a:solidFill>
          <a:ln xmlns:a="http://schemas.openxmlformats.org/drawingml/2006/main">
            <a:noFill/>
          </a:ln>
        </p:spPr>
      </p:sp>
      <p:sp>
        <p:nvSpPr>
          <p:cNvPr id="34" name="s5-box">
            <a:extLst xmlns:a="http://schemas.openxmlformats.org/drawingml/2006/main">
              <a:ext uri="{FF2B5EF4-FFF2-40B4-BE49-F238E27FC236}">
                <a16:creationId xmlns:a16="http://schemas.microsoft.com/office/drawing/2014/main" id="{B6C80A0D-433F-4455-9670-09648385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1498600"/>
            <a:ext cx="16256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s5-num">
            <a:extLst xmlns:a="http://schemas.openxmlformats.org/drawingml/2006/main">
              <a:ext uri="{FF2B5EF4-FFF2-40B4-BE49-F238E27FC236}">
                <a16:creationId xmlns:a16="http://schemas.microsoft.com/office/drawing/2014/main" id="{8653BE33-4A5B-4C39-AE61-945408E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05</a:t>
            </a:r>
            <a:endParaRPr sz="1100"/>
          </a:p>
        </p:txBody>
      </p:sp>
      <p:sp>
        <p:nvSpPr>
          <p:cNvPr id="36" name="s5-title">
            <a:extLst xmlns:a="http://schemas.openxmlformats.org/drawingml/2006/main">
              <a:ext uri="{FF2B5EF4-FFF2-40B4-BE49-F238E27FC236}">
                <a16:creationId xmlns:a16="http://schemas.microsoft.com/office/drawing/2014/main" id="{B833754B-EC36-4FB5-A4A1-4279C5E1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规则 + LLM 反馈</a:t>
            </a:r>
            <a:endParaRPr sz="1250"/>
          </a:p>
        </p:txBody>
      </p:sp>
      <p:sp>
        <p:nvSpPr>
          <p:cNvPr id="37" name="s5-desc">
            <a:extLst xmlns:a="http://schemas.openxmlformats.org/drawingml/2006/main">
              <a:ext uri="{FF2B5EF4-FFF2-40B4-BE49-F238E27FC236}">
                <a16:creationId xmlns:a16="http://schemas.microsoft.com/office/drawing/2014/main" id="{0900BB30-6853-4FEA-9252-ED76294C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证据驱动建议，LLM 只润色</a:t>
            </a:r>
            <a:endParaRPr sz="950"/>
          </a:p>
        </p:txBody>
      </p:sp>
      <p:sp>
        <p:nvSpPr>
          <p:cNvPr id="38" name="s5-check">
            <a:extLst xmlns:a="http://schemas.openxmlformats.org/drawingml/2006/main">
              <a:ext uri="{FF2B5EF4-FFF2-40B4-BE49-F238E27FC236}">
                <a16:creationId xmlns:a16="http://schemas.microsoft.com/office/drawing/2014/main" id="{A1E71EBB-BFE6-44FF-85AA-EBC5177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39" name="s5-done">
            <a:extLst xmlns:a="http://schemas.openxmlformats.org/drawingml/2006/main">
              <a:ext uri="{FF2B5EF4-FFF2-40B4-BE49-F238E27FC236}">
                <a16:creationId xmlns:a16="http://schemas.microsoft.com/office/drawing/2014/main" id="{BC752C2F-2FC6-4143-A87F-3A62359F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40" name="a5">
            <a:extLst xmlns:a="http://schemas.openxmlformats.org/drawingml/2006/main">
              <a:ext uri="{FF2B5EF4-FFF2-40B4-BE49-F238E27FC236}">
                <a16:creationId xmlns:a16="http://schemas.microsoft.com/office/drawing/2014/main" id="{39380F90-80C3-4FDF-9D73-56FA084B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47875"/>
            <a:ext cx="133350" cy="133350"/>
          </a:xfrm>
          <a:custGeom xmlns:a="http://schemas.openxmlformats.org/drawingml/2006/main"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 xmlns:a="http://schemas.openxmlformats.org/drawingml/2006/main">
            <a:srgbClr val="AEC1DE"/>
          </a:solidFill>
          <a:ln xmlns:a="http://schemas.openxmlformats.org/drawingml/2006/main">
            <a:noFill/>
          </a:ln>
        </p:spPr>
      </p:sp>
      <p:sp>
        <p:nvSpPr>
          <p:cNvPr id="41" name="s6-box">
            <a:extLst xmlns:a="http://schemas.openxmlformats.org/drawingml/2006/main">
              <a:ext uri="{FF2B5EF4-FFF2-40B4-BE49-F238E27FC236}">
                <a16:creationId xmlns:a16="http://schemas.microsoft.com/office/drawing/2014/main" id="{6A702EEC-8E02-4CEE-9844-2B4B0613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600" y="1498600"/>
            <a:ext cx="11938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s6-num">
            <a:extLst xmlns:a="http://schemas.openxmlformats.org/drawingml/2006/main">
              <a:ext uri="{FF2B5EF4-FFF2-40B4-BE49-F238E27FC236}">
                <a16:creationId xmlns:a16="http://schemas.microsoft.com/office/drawing/2014/main" id="{7A7157D1-B6B2-4503-855D-DCC29CA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06</a:t>
            </a:r>
            <a:endParaRPr sz="1100"/>
          </a:p>
        </p:txBody>
      </p:sp>
      <p:sp>
        <p:nvSpPr>
          <p:cNvPr id="43" name="s6-title">
            <a:extLst xmlns:a="http://schemas.openxmlformats.org/drawingml/2006/main">
              <a:ext uri="{FF2B5EF4-FFF2-40B4-BE49-F238E27FC236}">
                <a16:creationId xmlns:a16="http://schemas.microsoft.com/office/drawing/2014/main" id="{F8594F77-1A61-42A8-B29A-4621D79F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双端真实联调</a:t>
            </a:r>
            <a:endParaRPr sz="1250"/>
          </a:p>
        </p:txBody>
      </p:sp>
      <p:sp>
        <p:nvSpPr>
          <p:cNvPr id="44" name="s6-desc">
            <a:extLst xmlns:a="http://schemas.openxmlformats.org/drawingml/2006/main">
              <a:ext uri="{FF2B5EF4-FFF2-40B4-BE49-F238E27FC236}">
                <a16:creationId xmlns:a16="http://schemas.microsoft.com/office/drawing/2014/main" id="{30E75F1E-BE45-4A9A-93D8-6BCD2595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Web 与 App 打通模型</a:t>
            </a:r>
            <a:endParaRPr sz="950"/>
          </a:p>
        </p:txBody>
      </p:sp>
      <p:sp>
        <p:nvSpPr>
          <p:cNvPr id="45" name="s6-check">
            <a:extLst xmlns:a="http://schemas.openxmlformats.org/drawingml/2006/main">
              <a:ext uri="{FF2B5EF4-FFF2-40B4-BE49-F238E27FC236}">
                <a16:creationId xmlns:a16="http://schemas.microsoft.com/office/drawing/2014/main" id="{AE2BA898-F9B7-45AF-AC05-47B2489C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46" name="s6-done">
            <a:extLst xmlns:a="http://schemas.openxmlformats.org/drawingml/2006/main">
              <a:ext uri="{FF2B5EF4-FFF2-40B4-BE49-F238E27FC236}">
                <a16:creationId xmlns:a16="http://schemas.microsoft.com/office/drawing/2014/main" id="{4C41BF33-2855-40FD-8253-CEF46AF9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47" name="mid-line">
            <a:extLst xmlns:a="http://schemas.openxmlformats.org/drawingml/2006/main">
              <a:ext uri="{FF2B5EF4-FFF2-40B4-BE49-F238E27FC236}">
                <a16:creationId xmlns:a16="http://schemas.microsoft.com/office/drawing/2014/main" id="{8CA88EC5-06A9-4917-9FC3-4F2E0482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36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mid-kicker">
            <a:extLst xmlns:a="http://schemas.openxmlformats.org/drawingml/2006/main">
              <a:ext uri="{FF2B5EF4-FFF2-40B4-BE49-F238E27FC236}">
                <a16:creationId xmlns:a16="http://schemas.microsoft.com/office/drawing/2014/main" id="{6E66C277-456D-4BB4-8035-8C295354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关键数字 · 截至 2026 年 10 月</a:t>
            </a:r>
            <a:endParaRPr sz="1050"/>
          </a:p>
        </p:txBody>
      </p:sp>
      <p:sp>
        <p:nvSpPr>
          <p:cNvPr id="49" name="n1-border">
            <a:extLst xmlns:a="http://schemas.openxmlformats.org/drawingml/2006/main">
              <a:ext uri="{FF2B5EF4-FFF2-40B4-BE49-F238E27FC236}">
                <a16:creationId xmlns:a16="http://schemas.microsoft.com/office/drawing/2014/main" id="{777AAE7E-B684-450F-B31D-4BB062B9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50" name="n1-num">
            <a:extLst xmlns:a="http://schemas.openxmlformats.org/drawingml/2006/main">
              <a:ext uri="{FF2B5EF4-FFF2-40B4-BE49-F238E27FC236}">
                <a16:creationId xmlns:a16="http://schemas.microsoft.com/office/drawing/2014/main" id="{64EC0F1F-C388-41B3-92FC-264D83BB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0200"/>
            <a:ext cx="1981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315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840</a:t>
            </a:r>
            <a:endParaRPr sz="3000"/>
          </a:p>
        </p:txBody>
      </p:sp>
      <p:sp>
        <p:nvSpPr>
          <p:cNvPr id="51" name="n1-label">
            <a:extLst xmlns:a="http://schemas.openxmlformats.org/drawingml/2006/main">
              <a:ext uri="{FF2B5EF4-FFF2-40B4-BE49-F238E27FC236}">
                <a16:creationId xmlns:a16="http://schemas.microsoft.com/office/drawing/2014/main" id="{911A569D-F700-4171-9CEC-714623D6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9000"/>
            <a:ext cx="198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份六通道原始 GT 全量找回并逐份校验</a:t>
            </a:r>
            <a:endParaRPr sz="1000"/>
          </a:p>
        </p:txBody>
      </p:sp>
      <p:sp>
        <p:nvSpPr>
          <p:cNvPr id="52" name="n2-border">
            <a:extLst xmlns:a="http://schemas.openxmlformats.org/drawingml/2006/main">
              <a:ext uri="{FF2B5EF4-FFF2-40B4-BE49-F238E27FC236}">
                <a16:creationId xmlns:a16="http://schemas.microsoft.com/office/drawing/2014/main" id="{B2FF2B54-E883-4CF9-9005-B1F44105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624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53" name="n2-num">
            <a:extLst xmlns:a="http://schemas.openxmlformats.org/drawingml/2006/main">
              <a:ext uri="{FF2B5EF4-FFF2-40B4-BE49-F238E27FC236}">
                <a16:creationId xmlns:a16="http://schemas.microsoft.com/office/drawing/2014/main" id="{9887FCE9-F0EF-4882-90EE-F8EE8E3C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0200"/>
            <a:ext cx="1981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315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769</a:t>
            </a:r>
            <a:endParaRPr sz="3000"/>
          </a:p>
        </p:txBody>
      </p:sp>
      <p:sp>
        <p:nvSpPr>
          <p:cNvPr id="54" name="n2-label">
            <a:extLst xmlns:a="http://schemas.openxmlformats.org/drawingml/2006/main">
              <a:ext uri="{FF2B5EF4-FFF2-40B4-BE49-F238E27FC236}">
                <a16:creationId xmlns:a16="http://schemas.microsoft.com/office/drawing/2014/main" id="{25334402-3982-40E4-ACB5-5F782E93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99000"/>
            <a:ext cx="198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个 QC-clean 独立样本，剔除错配与重复</a:t>
            </a:r>
            <a:endParaRPr sz="1000"/>
          </a:p>
        </p:txBody>
      </p:sp>
      <p:sp>
        <p:nvSpPr>
          <p:cNvPr id="55" name="n3-border">
            <a:extLst xmlns:a="http://schemas.openxmlformats.org/drawingml/2006/main">
              <a:ext uri="{FF2B5EF4-FFF2-40B4-BE49-F238E27FC236}">
                <a16:creationId xmlns:a16="http://schemas.microsoft.com/office/drawing/2014/main" id="{4AB3027C-64D2-46A5-83F3-7514BAA6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624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56" name="n3-num">
            <a:extLst xmlns:a="http://schemas.openxmlformats.org/drawingml/2006/main">
              <a:ext uri="{FF2B5EF4-FFF2-40B4-BE49-F238E27FC236}">
                <a16:creationId xmlns:a16="http://schemas.microsoft.com/office/drawing/2014/main" id="{E20C633B-2ECE-4F4B-A799-EE9318CB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40200"/>
            <a:ext cx="1981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315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0.963</a:t>
            </a:r>
            <a:endParaRPr sz="3000"/>
          </a:p>
        </p:txBody>
      </p:sp>
      <p:sp>
        <p:nvSpPr>
          <p:cNvPr id="57" name="n3-label">
            <a:extLst xmlns:a="http://schemas.openxmlformats.org/drawingml/2006/main">
              <a:ext uri="{FF2B5EF4-FFF2-40B4-BE49-F238E27FC236}">
                <a16:creationId xmlns:a16="http://schemas.microsoft.com/office/drawing/2014/main" id="{FC85E1A5-AE00-43E9-B85B-80126963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9000"/>
            <a:ext cx="198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标准划分 Macro Dice，分割精度最佳</a:t>
            </a:r>
            <a:endParaRPr sz="1000"/>
          </a:p>
        </p:txBody>
      </p:sp>
      <p:sp>
        <p:nvSpPr>
          <p:cNvPr id="58" name="n4-border">
            <a:extLst xmlns:a="http://schemas.openxmlformats.org/drawingml/2006/main">
              <a:ext uri="{FF2B5EF4-FFF2-40B4-BE49-F238E27FC236}">
                <a16:creationId xmlns:a16="http://schemas.microsoft.com/office/drawing/2014/main" id="{B79B6927-7DF6-4AA5-85CE-3AEC7D0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624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59" name="n4-num">
            <a:extLst xmlns:a="http://schemas.openxmlformats.org/drawingml/2006/main">
              <a:ext uri="{FF2B5EF4-FFF2-40B4-BE49-F238E27FC236}">
                <a16:creationId xmlns:a16="http://schemas.microsoft.com/office/drawing/2014/main" id="{82540A38-73A3-49BB-A2C7-6FE7B3CE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40200"/>
            <a:ext cx="1981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315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2×100</a:t>
            </a:r>
            <a:endParaRPr sz="3000"/>
          </a:p>
        </p:txBody>
      </p:sp>
      <p:sp>
        <p:nvSpPr>
          <p:cNvPr id="60" name="n4-label">
            <a:extLst xmlns:a="http://schemas.openxmlformats.org/drawingml/2006/main">
              <a:ext uri="{FF2B5EF4-FFF2-40B4-BE49-F238E27FC236}">
                <a16:creationId xmlns:a16="http://schemas.microsoft.com/office/drawing/2014/main" id="{B4B6086F-CF35-4969-9849-0BF67CF0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99000"/>
            <a:ext cx="198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欧阳询楷书 + 王羲之行书课程字（Beta）</a:t>
            </a:r>
            <a:endParaRPr sz="1000"/>
          </a:p>
        </p:txBody>
      </p:sp>
      <p:sp>
        <p:nvSpPr>
          <p:cNvPr id="61" name="n5-border">
            <a:extLst xmlns:a="http://schemas.openxmlformats.org/drawingml/2006/main">
              <a:ext uri="{FF2B5EF4-FFF2-40B4-BE49-F238E27FC236}">
                <a16:creationId xmlns:a16="http://schemas.microsoft.com/office/drawing/2014/main" id="{4DBD1211-8EEF-4511-9C2E-8965980C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624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62" name="n5-num">
            <a:extLst xmlns:a="http://schemas.openxmlformats.org/drawingml/2006/main">
              <a:ext uri="{FF2B5EF4-FFF2-40B4-BE49-F238E27FC236}">
                <a16:creationId xmlns:a16="http://schemas.microsoft.com/office/drawing/2014/main" id="{2230DD10-1136-44EF-9170-DD9C5B58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40200"/>
            <a:ext cx="1981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315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18</a:t>
            </a:r>
            <a:endParaRPr sz="3000"/>
          </a:p>
        </p:txBody>
      </p:sp>
      <p:sp>
        <p:nvSpPr>
          <p:cNvPr id="63" name="n5-label">
            <a:extLst xmlns:a="http://schemas.openxmlformats.org/drawingml/2006/main">
              <a:ext uri="{FF2B5EF4-FFF2-40B4-BE49-F238E27FC236}">
                <a16:creationId xmlns:a16="http://schemas.microsoft.com/office/drawing/2014/main" id="{8577C719-27DF-4937-BE48-CF2382A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99000"/>
            <a:ext cx="198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组正式基准实验：3 模型 × 2 划分 × 3 种子</a:t>
            </a:r>
            <a:endParaRPr sz="1000"/>
          </a:p>
        </p:txBody>
      </p:sp>
      <p:sp>
        <p:nvSpPr>
          <p:cNvPr id="64" name="concl-band">
            <a:extLst xmlns:a="http://schemas.openxmlformats.org/drawingml/2006/main">
              <a:ext uri="{FF2B5EF4-FFF2-40B4-BE49-F238E27FC236}">
                <a16:creationId xmlns:a16="http://schemas.microsoft.com/office/drawing/2014/main" id="{758E5B4C-CDE0-4068-AC9E-F714A43B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8000"/>
            <a:ext cx="10972800" cy="6604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>
            <a:noFill/>
          </a:ln>
        </p:spPr>
      </p:sp>
      <p:sp>
        <p:nvSpPr>
          <p:cNvPr id="65" name="concl-bar">
            <a:extLst xmlns:a="http://schemas.openxmlformats.org/drawingml/2006/main">
              <a:ext uri="{FF2B5EF4-FFF2-40B4-BE49-F238E27FC236}">
                <a16:creationId xmlns:a16="http://schemas.microsoft.com/office/drawing/2014/main" id="{845D345A-E2C4-4232-ACE8-C20428CA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8000"/>
            <a:ext cx="50800" cy="660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66" name="concl-text">
            <a:extLst xmlns:a="http://schemas.openxmlformats.org/drawingml/2006/main">
              <a:ext uri="{FF2B5EF4-FFF2-40B4-BE49-F238E27FC236}">
                <a16:creationId xmlns:a16="http://schemas.microsoft.com/office/drawing/2014/main" id="{6E7B7425-2363-4EAE-96F1-AF916D21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588000"/>
            <a:ext cx="10541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立项时承诺的「</a:t>
            </a: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数据 → 模型 → 评分 → 反馈 → 双端应用</a:t>
            </a: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」主链路已全部落地，</a:t>
            </a: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论文与真实场景验证</a:t>
            </a: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进入收尾阶段。</a:t>
            </a:r>
            <a:endParaRPr sz="1250"/>
          </a:p>
        </p:txBody>
      </p:sp>
      <p:sp>
        <p:nvSpPr>
          <p:cNvPr id="67" name="ft-line">
            <a:extLst xmlns:a="http://schemas.openxmlformats.org/drawingml/2006/main">
              <a:ext uri="{FF2B5EF4-FFF2-40B4-BE49-F238E27FC236}">
                <a16:creationId xmlns:a16="http://schemas.microsoft.com/office/drawing/2014/main" id="{6438D260-2323-4514-918D-F1519A21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ft-left">
            <a:extLst xmlns:a="http://schemas.openxmlformats.org/drawingml/2006/main">
              <a:ext uri="{FF2B5EF4-FFF2-40B4-BE49-F238E27FC236}">
                <a16:creationId xmlns:a16="http://schemas.microsoft.com/office/drawing/2014/main" id="{1CFE061C-C1DF-4269-9519-E401AF12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69" name="ft-page">
            <a:extLst xmlns:a="http://schemas.openxmlformats.org/drawingml/2006/main">
              <a:ext uri="{FF2B5EF4-FFF2-40B4-BE49-F238E27FC236}">
                <a16:creationId xmlns:a16="http://schemas.microsoft.com/office/drawing/2014/main" id="{DF80626D-B30B-4328-A087-532E25ED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06 / 13</a:t>
            </a:r>
            <a:endParaRPr sz="900"/>
          </a:p>
        </p:txBody>
      </p:sp>
      <p:sp xmlns:a="http://schemas.openxmlformats.org/drawingml/2006/main">
        <p:nvSpPr>
          <p:cNvPr id="73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4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9492596"/>
      </p:ext>
    </p:extLst>
  </p:cSld>
</p:sld>
</file>

<file path=ppt/slides/slide7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738DC8C9-4432-4C82-9175-713CF6C9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2CF4E902-7B0A-49DD-A6AF-67CEC039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67875ED6-E4DC-4E1F-A217-196C10EE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511586E2-9731-4831-854E-4FA8BCD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核心进展 ① 数据治理与笔画结构分割模型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7EEA0BA7-EBDC-42A7-B222-CE3C7583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中期核心进展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5566FCDC-DCBB-48D4-8DAD-DA728ED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m1-marker">
            <a:extLst xmlns:a="http://schemas.openxmlformats.org/drawingml/2006/main">
              <a:ext uri="{FF2B5EF4-FFF2-40B4-BE49-F238E27FC236}">
                <a16:creationId xmlns:a16="http://schemas.microsoft.com/office/drawing/2014/main" id="{FA0E4528-B653-4303-967D-25BFC897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62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7" name="m1-lead">
            <a:extLst xmlns:a="http://schemas.openxmlformats.org/drawingml/2006/main">
              <a:ext uri="{FF2B5EF4-FFF2-40B4-BE49-F238E27FC236}">
                <a16:creationId xmlns:a16="http://schemas.microsoft.com/office/drawing/2014/main" id="{32B62764-8E5B-4127-B781-C8FEB48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2446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六通道结构表示</a:t>
            </a:r>
            <a:endParaRPr sz="1350"/>
          </a:p>
        </p:txBody>
      </p:sp>
      <p:sp>
        <p:nvSpPr>
          <p:cNvPr id="8" name="m1-desc">
            <a:extLst xmlns:a="http://schemas.openxmlformats.org/drawingml/2006/main">
              <a:ext uri="{FF2B5EF4-FFF2-40B4-BE49-F238E27FC236}">
                <a16:creationId xmlns:a16="http://schemas.microsoft.com/office/drawing/2014/main" id="{19B407A6-2216-4146-96A6-DA39AD11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574800"/>
            <a:ext cx="513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横、竖、左斜、右斜、复合五方向 + 关键点通道，允许交叉区域重叠激活，笔画不再被强行切开。</a:t>
            </a:r>
            <a:endParaRPr sz="1050"/>
          </a:p>
        </p:txBody>
      </p:sp>
      <p:sp>
        <p:nvSpPr>
          <p:cNvPr id="9" name="m2-marker">
            <a:extLst xmlns:a="http://schemas.openxmlformats.org/drawingml/2006/main">
              <a:ext uri="{FF2B5EF4-FFF2-40B4-BE49-F238E27FC236}">
                <a16:creationId xmlns:a16="http://schemas.microsoft.com/office/drawing/2014/main" id="{1C38EB76-5FA5-4838-B257-FA860CE9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06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0" name="m2-lead">
            <a:extLst xmlns:a="http://schemas.openxmlformats.org/drawingml/2006/main">
              <a:ext uri="{FF2B5EF4-FFF2-40B4-BE49-F238E27FC236}">
                <a16:creationId xmlns:a16="http://schemas.microsoft.com/office/drawing/2014/main" id="{BEC3C1A2-964C-4A71-B030-750BB835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1590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数据资产抢救与治理</a:t>
            </a:r>
            <a:endParaRPr sz="1350"/>
          </a:p>
        </p:txBody>
      </p:sp>
      <p:sp>
        <p:nvSpPr>
          <p:cNvPr id="11" name="m2-desc">
            <a:extLst xmlns:a="http://schemas.openxmlformats.org/drawingml/2006/main">
              <a:ext uri="{FF2B5EF4-FFF2-40B4-BE49-F238E27FC236}">
                <a16:creationId xmlns:a16="http://schemas.microsoft.com/office/drawing/2014/main" id="{09B7A14F-D87F-43AF-AC91-4580DDF9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489200"/>
            <a:ext cx="5130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从旧项目归档找回 840 份原始标注并逐份校验；语义 QC 再剔除 12 个错配、59 个重复，形成 769 个洁净独立样本与冻结划分。</a:t>
            </a:r>
            <a:endParaRPr sz="1050"/>
          </a:p>
        </p:txBody>
      </p:sp>
      <p:sp>
        <p:nvSpPr>
          <p:cNvPr id="12" name="m3-marker">
            <a:extLst xmlns:a="http://schemas.openxmlformats.org/drawingml/2006/main">
              <a:ext uri="{FF2B5EF4-FFF2-40B4-BE49-F238E27FC236}">
                <a16:creationId xmlns:a16="http://schemas.microsoft.com/office/drawing/2014/main" id="{DA23D7BA-6444-4002-A58A-D3CD1BA5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3" name="m3-lead">
            <a:extLst xmlns:a="http://schemas.openxmlformats.org/drawingml/2006/main">
              <a:ext uri="{FF2B5EF4-FFF2-40B4-BE49-F238E27FC236}">
                <a16:creationId xmlns:a16="http://schemas.microsoft.com/office/drawing/2014/main" id="{44119355-AC8A-47FB-8521-3C02A355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2512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三模型公平比较</a:t>
            </a:r>
            <a:endParaRPr sz="1350"/>
          </a:p>
        </p:txBody>
      </p:sp>
      <p:sp>
        <p:nvSpPr>
          <p:cNvPr id="14" name="m3-desc">
            <a:extLst xmlns:a="http://schemas.openxmlformats.org/drawingml/2006/main">
              <a:ext uri="{FF2B5EF4-FFF2-40B4-BE49-F238E27FC236}">
                <a16:creationId xmlns:a16="http://schemas.microsoft.com/office/drawing/2014/main" id="{636AFF98-0389-4FE7-A79D-949D856B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581400"/>
            <a:ext cx="513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U-Net / DeepLabV3+ / SegFormer-B2，两种划分、三个随机种子，18 组正式训练全部完成、哈希留档。</a:t>
            </a:r>
            <a:endParaRPr sz="1050"/>
          </a:p>
        </p:txBody>
      </p:sp>
      <p:graphicFrame>
        <p:nvGraphicFramePr>
          <p:cNvPr id="15" name="model-table">
            <a:extLst xmlns:a="http://schemas.openxmlformats.org/drawingml/2006/main">
              <a:ext uri="{FF2B5EF4-FFF2-40B4-BE49-F238E27FC236}">
                <a16:creationId xmlns:a16="http://schemas.microsoft.com/office/drawing/2014/main" id="{FB4F9543-82D4-43E0-B2D5-F1FABC84C9F6}"/>
              </a:ext>
            </a:extLst>
          </p:cNvPr>
          <p:cNvGraphicFramePr/>
          <p:nvPr/>
        </p:nvGraphicFramePr>
        <p:xfrm>
          <a:off xmlns:a="http://schemas.openxmlformats.org/drawingml/2006/main" x="609600" y="4267200"/>
          <a:ext xmlns:a="http://schemas.openxmlformats.org/drawingml/2006/main" cx="5384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9288"/>
                <a:gridCol w="1238504"/>
                <a:gridCol w="1292352"/>
                <a:gridCol w="1184656"/>
              </a:tblGrid>
              <a:tr h="4191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模型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标准划分 Dice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未见字 Dice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精度下降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U-Net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0.920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0.826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9.4 pp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DeepLabV3+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0.963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0.866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9.7 pp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SegFormer-B2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0.958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076DFC"/>
                          </a:solidFill>
                          <a:latin typeface="MiSans"/>
                          <a:ea typeface="MiSans"/>
                          <a:cs typeface="MiSans"/>
                        </a:rPr>
                        <a:t>0.887</a:t>
                      </a:r>
                      <a:endParaRPr sz="1100" b="1">
                        <a:solidFill>
                          <a:srgbClr val="076DFC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076DFC"/>
                          </a:solidFill>
                          <a:latin typeface="MiSans"/>
                          <a:ea typeface="MiSans"/>
                          <a:cs typeface="MiSans"/>
                        </a:rPr>
                        <a:t>7.2 pp</a:t>
                      </a:r>
                      <a:endParaRPr sz="1100" b="1">
                        <a:solidFill>
                          <a:srgbClr val="076DFC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able-note">
            <a:extLst xmlns:a="http://schemas.openxmlformats.org/drawingml/2006/main">
              <a:ext uri="{FF2B5EF4-FFF2-40B4-BE49-F238E27FC236}">
                <a16:creationId xmlns:a16="http://schemas.microsoft.com/office/drawing/2014/main" id="{54DD5F61-433F-46AC-B403-960DE787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538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40000"/>
              </a:lnSpc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三次种子均值；未见字 = character-disjoint 字符隔离划分</a:t>
            </a:r>
            <a:endParaRPr sz="950"/>
          </a:p>
        </p:txBody>
      </p:sp>
      <p:pic>
        <p:nvPicPr>
          <p:cNvPr id="17" name="seg-fig">
            <a:extLst xmlns:a="http://schemas.openxmlformats.org/drawingml/2006/main">
              <a:ext uri="{FF2B5EF4-FFF2-40B4-BE49-F238E27FC236}">
                <a16:creationId xmlns:a16="http://schemas.microsoft.com/office/drawing/2014/main" id="{01FC2859-8919-4EE3-9A93-A7B97BED4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f0c114925457a"/>
          <a:srcRect xmlns:a="http://schemas.openxmlformats.org/drawingml/2006/main" l="-53" t="0" r="-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1600" y="1320800"/>
            <a:ext cx="5130800" cy="3251200"/>
          </a:xfrm>
          <a:prstGeom xmlns:a="http://schemas.openxmlformats.org/drawingml/2006/main" prst="roundRect">
            <a:avLst>
              <a:gd name="adj" fmla="val 6000"/>
            </a:avLst>
          </a:prstGeom>
          <a:ln xmlns:a="http://schemas.openxmlformats.org/drawingml/2006/main">
            <a:noFill/>
          </a:ln>
        </p:spPr>
      </p:pic>
      <p:sp>
        <p:nvSpPr>
          <p:cNvPr id="18" name="seg-fig-cap">
            <a:extLst xmlns:a="http://schemas.openxmlformats.org/drawingml/2006/main">
              <a:ext uri="{FF2B5EF4-FFF2-40B4-BE49-F238E27FC236}">
                <a16:creationId xmlns:a16="http://schemas.microsoft.com/office/drawing/2014/main" id="{BC645CAE-B624-4047-8D9F-6CA1C4C6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4622800"/>
            <a:ext cx="513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5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交叉、端点稀疏与未见字场景下三模型分割对比（论文 Fig.4，列为输入 / GT / 三模型输出）</a:t>
            </a:r>
            <a:endParaRPr sz="950"/>
          </a:p>
        </p:txBody>
      </p:sp>
      <p:sp>
        <p:nvSpPr>
          <p:cNvPr id="19" name="seg-concl-band">
            <a:extLst xmlns:a="http://schemas.openxmlformats.org/drawingml/2006/main">
              <a:ext uri="{FF2B5EF4-FFF2-40B4-BE49-F238E27FC236}">
                <a16:creationId xmlns:a16="http://schemas.microsoft.com/office/drawing/2014/main" id="{E3E10169-D9DC-4AB7-A395-C1C46053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5181600"/>
            <a:ext cx="5130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20" name="seg-concl-bar">
            <a:extLst xmlns:a="http://schemas.openxmlformats.org/drawingml/2006/main">
              <a:ext uri="{FF2B5EF4-FFF2-40B4-BE49-F238E27FC236}">
                <a16:creationId xmlns:a16="http://schemas.microsoft.com/office/drawing/2014/main" id="{8C0EEC94-6303-480C-8310-3D3424EA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5181600"/>
            <a:ext cx="508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1" name="seg-concl">
            <a:extLst xmlns:a="http://schemas.openxmlformats.org/drawingml/2006/main">
              <a:ext uri="{FF2B5EF4-FFF2-40B4-BE49-F238E27FC236}">
                <a16:creationId xmlns:a16="http://schemas.microsoft.com/office/drawing/2014/main" id="{A2B45AEC-AF62-4D8B-AC16-8CCF9053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5181600"/>
            <a:ext cx="477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标准划分 DeepLabV3+ 最优；</a:t>
            </a:r>
            <a:r>
              <a:rPr sz="116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面对从未见过的汉字，SegFormer-B2 精度最高、下降最小</a:t>
            </a:r>
            <a:r>
              <a:rPr sz="116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，因此被选为线上冻结模型 segformer-b2-v1。</a:t>
            </a:r>
            <a:endParaRPr sz="1150"/>
          </a:p>
        </p:txBody>
      </p:sp>
      <p:sp>
        <p:nvSpPr>
          <p:cNvPr id="22" name="ft-line">
            <a:extLst xmlns:a="http://schemas.openxmlformats.org/drawingml/2006/main">
              <a:ext uri="{FF2B5EF4-FFF2-40B4-BE49-F238E27FC236}">
                <a16:creationId xmlns:a16="http://schemas.microsoft.com/office/drawing/2014/main" id="{005D16C9-8D66-40C8-A1DA-8CEC09DB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ft-left">
            <a:extLst xmlns:a="http://schemas.openxmlformats.org/drawingml/2006/main">
              <a:ext uri="{FF2B5EF4-FFF2-40B4-BE49-F238E27FC236}">
                <a16:creationId xmlns:a16="http://schemas.microsoft.com/office/drawing/2014/main" id="{90E34A1E-A8EA-4C56-B6F9-5C9E38E9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24" name="ft-page">
            <a:extLst xmlns:a="http://schemas.openxmlformats.org/drawingml/2006/main">
              <a:ext uri="{FF2B5EF4-FFF2-40B4-BE49-F238E27FC236}">
                <a16:creationId xmlns:a16="http://schemas.microsoft.com/office/drawing/2014/main" id="{F3EF52AA-1470-40CF-9D3D-CB59223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07 / 13</a:t>
            </a:r>
            <a:endParaRPr sz="900"/>
          </a:p>
        </p:txBody>
      </p:sp>
      <p:sp xmlns:a="http://schemas.openxmlformats.org/drawingml/2006/main">
        <p:nvSpPr>
          <p:cNvPr id="28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5477477"/>
      </p:ext>
    </p:extLst>
  </p:cSld>
</p:sld>
</file>

<file path=ppt/slides/slide8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5043BC63-C8A6-46C3-9BA9-95D9BC8F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2DE2AD6D-C340-41F1-92CF-ECC7C558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9417CABD-6DE7-40EA-AA21-B34853F1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E8D3DA7D-B7BC-4C12-9B14-DA6EC54E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核心进展 ② 参考条件化结构评分与可解释反馈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D98469E7-98D6-4AC6-B2EB-63ACAF2C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中期核心进展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F1FE7FE8-F192-4DD8-BA45-6DB114EC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6" name="pipe-fig">
            <a:extLst xmlns:a="http://schemas.openxmlformats.org/drawingml/2006/main">
              <a:ext uri="{FF2B5EF4-FFF2-40B4-BE49-F238E27FC236}">
                <a16:creationId xmlns:a16="http://schemas.microsoft.com/office/drawing/2014/main" id="{C1A860C7-76F5-4924-88C8-228E61B98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5fbe91f6b46d2"/>
          <a:srcRect xmlns:a="http://schemas.openxmlformats.org/drawingml/2006/main" l="-12" t="0" r="-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7600" y="1193800"/>
            <a:ext cx="9956800" cy="2705100"/>
          </a:xfrm>
          <a:prstGeom xmlns:a="http://schemas.openxmlformats.org/drawingml/2006/main" prst="roundRect">
            <a:avLst>
              <a:gd name="adj" fmla="val 6000"/>
            </a:avLst>
          </a:prstGeom>
          <a:ln xmlns:a="http://schemas.openxmlformats.org/drawingml/2006/main">
            <a:noFill/>
          </a:ln>
        </p:spPr>
      </p:pic>
      <p:sp>
        <p:nvSpPr>
          <p:cNvPr id="7" name="pipe-fig-cap">
            <a:extLst xmlns:a="http://schemas.openxmlformats.org/drawingml/2006/main">
              <a:ext uri="{FF2B5EF4-FFF2-40B4-BE49-F238E27FC236}">
                <a16:creationId xmlns:a16="http://schemas.microsoft.com/office/drawing/2014/main" id="{DC43D133-18EF-464D-9A4C-98774A9E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37000"/>
            <a:ext cx="9956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5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参考条件化结构评估流水线：同字参照 → 笔画解析 → 受限对齐 → 空间与方向证据 → 可审计输出（论文 Fig.1）</a:t>
            </a:r>
            <a:endParaRPr sz="950"/>
          </a:p>
        </p:txBody>
      </p:sp>
      <p:sp>
        <p:nvSpPr>
          <p:cNvPr id="8" name="sc-kicker">
            <a:extLst xmlns:a="http://schemas.openxmlformats.org/drawingml/2006/main">
              <a:ext uri="{FF2B5EF4-FFF2-40B4-BE49-F238E27FC236}">
                <a16:creationId xmlns:a16="http://schemas.microsoft.com/office/drawing/2014/main" id="{BB736FC7-CC3E-4EB0-895C-6062845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88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评分如何产生</a:t>
            </a:r>
            <a:endParaRPr sz="1050"/>
          </a:p>
        </p:txBody>
      </p:sp>
      <p:sp>
        <p:nvSpPr>
          <p:cNvPr id="9" name="sc-formula-band">
            <a:extLst xmlns:a="http://schemas.openxmlformats.org/drawingml/2006/main">
              <a:ext uri="{FF2B5EF4-FFF2-40B4-BE49-F238E27FC236}">
                <a16:creationId xmlns:a16="http://schemas.microsoft.com/office/drawing/2014/main" id="{4B736AA3-C0D1-4ECE-B17F-3B65CD02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6858000" cy="508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10" name="sc-formula">
            <a:extLst xmlns:a="http://schemas.openxmlformats.org/drawingml/2006/main">
              <a:ext uri="{FF2B5EF4-FFF2-40B4-BE49-F238E27FC236}">
                <a16:creationId xmlns:a16="http://schemas.microsoft.com/office/drawing/2014/main" id="{6B612291-B33D-48E7-A036-23F5A8BF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673600"/>
            <a:ext cx="6502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参考结构匹配度 = 0.55×方向Dice + 0.25×墨迹IoU + 0.20×关键点F1</a:t>
            </a:r>
            <a:endParaRPr sz="1250"/>
          </a:p>
        </p:txBody>
      </p:sp>
      <p:sp>
        <p:nvSpPr>
          <p:cNvPr id="11" name="sc-rules">
            <a:extLst xmlns:a="http://schemas.openxmlformats.org/drawingml/2006/main">
              <a:ext uri="{FF2B5EF4-FFF2-40B4-BE49-F238E27FC236}">
                <a16:creationId xmlns:a16="http://schemas.microsoft.com/office/drawing/2014/main" id="{1AD2C3D4-C61E-403A-A76B-E7B79661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858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受限对齐</a:t>
            </a: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：仅允许平移、0.80–1.20 等比缩放、±3° 旋转，禁止为了高分扭曲用户字。</a:t>
            </a:r>
            <a:endParaRPr sz="1050"/>
          </a:p>
          <a:p xmlns:a="http://schemas.openxmlformats.org/drawingml/2006/main">
            <a:pPr algn="l">
              <a:lnSpc>
                <a:spcPct val="150000"/>
              </a:lnSpc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反馈边界</a:t>
            </a: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：规则建议始终可用、逐条对应证据；DeepSeek 只把证据润色成自然语言，不能改分数、不能虚构笔顺。</a:t>
            </a:r>
            <a:endParaRPr sz="1050"/>
          </a:p>
        </p:txBody>
      </p:sp>
      <p:pic>
        <p:nvPicPr>
          <p:cNvPr id="12" name="shot-practice">
            <a:extLst xmlns:a="http://schemas.openxmlformats.org/drawingml/2006/main">
              <a:ext uri="{FF2B5EF4-FFF2-40B4-BE49-F238E27FC236}">
                <a16:creationId xmlns:a16="http://schemas.microsoft.com/office/drawing/2014/main" id="{B7787874-1971-4B0E-A9C9-39E339422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21af2415b4a85"/>
          <a:srcRect xmlns:a="http://schemas.openxmlformats.org/drawingml/2006/main" l="-130" t="0" r="-1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4171950"/>
            <a:ext cx="2895600" cy="2019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shot-practice-cap">
            <a:extLst xmlns:a="http://schemas.openxmlformats.org/drawingml/2006/main">
              <a:ext uri="{FF2B5EF4-FFF2-40B4-BE49-F238E27FC236}">
                <a16:creationId xmlns:a16="http://schemas.microsoft.com/office/drawing/2014/main" id="{4858E9BE-36BC-4B61-85D8-56E6AB8C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229350"/>
            <a:ext cx="335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书写完成即触发 AI 分析（iPad 端实拍）</a:t>
            </a:r>
            <a:endParaRPr sz="900"/>
          </a:p>
        </p:txBody>
      </p:sp>
      <p:sp>
        <p:nvSpPr>
          <p:cNvPr id="14" name="ft-line">
            <a:extLst xmlns:a="http://schemas.openxmlformats.org/drawingml/2006/main">
              <a:ext uri="{FF2B5EF4-FFF2-40B4-BE49-F238E27FC236}">
                <a16:creationId xmlns:a16="http://schemas.microsoft.com/office/drawing/2014/main" id="{AE5E8B72-042C-40A7-9B48-7E5FF37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ft-left">
            <a:extLst xmlns:a="http://schemas.openxmlformats.org/drawingml/2006/main">
              <a:ext uri="{FF2B5EF4-FFF2-40B4-BE49-F238E27FC236}">
                <a16:creationId xmlns:a16="http://schemas.microsoft.com/office/drawing/2014/main" id="{55F4FB40-2091-4D66-93D7-2327CB1E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16" name="ft-page">
            <a:extLst xmlns:a="http://schemas.openxmlformats.org/drawingml/2006/main">
              <a:ext uri="{FF2B5EF4-FFF2-40B4-BE49-F238E27FC236}">
                <a16:creationId xmlns:a16="http://schemas.microsoft.com/office/drawing/2014/main" id="{F60153E2-9A73-47A2-90E9-F54D336A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08 / 13</a:t>
            </a:r>
            <a:endParaRPr sz="900"/>
          </a:p>
        </p:txBody>
      </p:sp>
      <p:sp xmlns:a="http://schemas.openxmlformats.org/drawingml/2006/main">
        <p:nvSpPr>
          <p:cNvPr id="20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8661689"/>
      </p:ext>
    </p:extLst>
  </p:cSld>
</p:sld>
</file>

<file path=ppt/slides/slide9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59006AA3-3A74-4DAB-8842-52C488C3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13BC0675-8920-49F8-BD31-68FF8A36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ABDA1B27-6037-4253-AA08-62C43D3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A835A666-D211-44D0-9088-D520451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核心进展 ③ 双平台产品落地：Web + iPad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7D6008EF-78BF-4651-B9FE-DEDD4C7C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中期核心进展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BEE43C88-0451-4613-A983-19ED953E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mid-vline">
            <a:extLst xmlns:a="http://schemas.openxmlformats.org/drawingml/2006/main">
              <a:ext uri="{FF2B5EF4-FFF2-40B4-BE49-F238E27FC236}">
                <a16:creationId xmlns:a16="http://schemas.microsoft.com/office/drawing/2014/main" id="{C80E5AE6-56EA-49A6-B1CA-BF761C4C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270000"/>
            <a:ext cx="12700" cy="50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web-icon">
            <a:extLst xmlns:a="http://schemas.openxmlformats.org/drawingml/2006/main">
              <a:ext uri="{FF2B5EF4-FFF2-40B4-BE49-F238E27FC236}">
                <a16:creationId xmlns:a16="http://schemas.microsoft.com/office/drawing/2014/main" id="{EE277BDF-C4C2-4C6E-BE55-D536B0DB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0800"/>
            <a:ext cx="254000" cy="254000"/>
          </a:xfrm>
          <a:custGeom xmlns:a="http://schemas.openxmlformats.org/drawingml/2006/main"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8" name="web-title">
            <a:extLst xmlns:a="http://schemas.openxmlformats.org/drawingml/2006/main">
              <a:ext uri="{FF2B5EF4-FFF2-40B4-BE49-F238E27FC236}">
                <a16:creationId xmlns:a16="http://schemas.microsoft.com/office/drawing/2014/main" id="{C90EBD3B-69A9-47D4-9F14-B6CD01C8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1295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Web 端 · onestroke.cn</a:t>
            </a:r>
            <a:endParaRPr sz="1500"/>
          </a:p>
        </p:txBody>
      </p:sp>
      <p:sp>
        <p:nvSpPr>
          <p:cNvPr id="9" name="web-bullets">
            <a:extLst xmlns:a="http://schemas.openxmlformats.org/drawingml/2006/main">
              <a:ext uri="{FF2B5EF4-FFF2-40B4-BE49-F238E27FC236}">
                <a16:creationId xmlns:a16="http://schemas.microsoft.com/office/drawing/2014/main" id="{3767DF93-4097-4263-8CC5-3953D141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130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免安装进校：浏览器即用，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适配学校机房与电子白板，进校门槛低。</a:t>
            </a:r>
            <a:endParaRPr sz="1050"/>
          </a:p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两门 Beta 课程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：欧阳询楷书 100 字 / 王羲之行书 100 字，参考字取自 Calli-Tongji 授权字库。</a:t>
            </a:r>
            <a:endParaRPr sz="1050"/>
          </a:p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模型服务链路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：Java 后端 → GPU 模型服务，已完成真实联调。</a:t>
            </a:r>
            <a:endParaRPr sz="1050"/>
          </a:p>
        </p:txBody>
      </p:sp>
      <p:sp>
        <p:nvSpPr>
          <p:cNvPr id="10" name="web-shot-frame">
            <a:extLst xmlns:a="http://schemas.openxmlformats.org/drawingml/2006/main">
              <a:ext uri="{FF2B5EF4-FFF2-40B4-BE49-F238E27FC236}">
                <a16:creationId xmlns:a16="http://schemas.microsoft.com/office/drawing/2014/main" id="{22B099E0-5559-4799-9578-F611B99A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30800" cy="2235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FE9F9"/>
          </a:solidFill>
          <a:ln xmlns:a="http://schemas.openxmlformats.org/drawingml/2006/main" w="9525">
            <a:solidFill>
              <a:srgbClr val="C2D2EB"/>
            </a:solidFill>
            <a:prstDash val="solid"/>
          </a:ln>
        </p:spPr>
      </p:sp>
      <p:sp>
        <p:nvSpPr>
          <p:cNvPr id="11" name="web-shot-icon">
            <a:extLst xmlns:a="http://schemas.openxmlformats.org/drawingml/2006/main">
              <a:ext uri="{FF2B5EF4-FFF2-40B4-BE49-F238E27FC236}">
                <a16:creationId xmlns:a16="http://schemas.microsoft.com/office/drawing/2014/main" id="{68AC4CE2-6757-4D71-B8AD-BCB53373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4267200"/>
            <a:ext cx="457200" cy="457200"/>
          </a:xfrm>
          <a:custGeom xmlns:a="http://schemas.openxmlformats.org/drawingml/2006/main"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 xmlns:a="http://schemas.openxmlformats.org/drawingml/2006/main">
            <a:srgbClr val="8B98B5"/>
          </a:solidFill>
          <a:ln xmlns:a="http://schemas.openxmlformats.org/drawingml/2006/main">
            <a:noFill/>
          </a:ln>
        </p:spPr>
      </p:sp>
      <p:sp>
        <p:nvSpPr>
          <p:cNvPr id="12" name="web-shot-note">
            <a:extLst xmlns:a="http://schemas.openxmlformats.org/drawingml/2006/main">
              <a:ext uri="{FF2B5EF4-FFF2-40B4-BE49-F238E27FC236}">
                <a16:creationId xmlns:a16="http://schemas.microsoft.com/office/drawing/2014/main" id="{64015010-9737-4A8C-8ADE-7650CD4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1400"/>
            <a:ext cx="513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Web 端课程练习页截图（待补充）</a:t>
            </a:r>
            <a:endParaRPr sz="1050"/>
          </a:p>
        </p:txBody>
      </p:sp>
      <p:sp>
        <p:nvSpPr>
          <p:cNvPr id="13" name="web-shot-cap">
            <a:extLst xmlns:a="http://schemas.openxmlformats.org/drawingml/2006/main">
              <a:ext uri="{FF2B5EF4-FFF2-40B4-BE49-F238E27FC236}">
                <a16:creationId xmlns:a16="http://schemas.microsoft.com/office/drawing/2014/main" id="{58E1E9B8-23EC-4429-B1E4-4979D5C6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130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5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建议截图：课程选择页或练习结果页</a:t>
            </a:r>
            <a:endParaRPr sz="950"/>
          </a:p>
        </p:txBody>
      </p:sp>
      <p:sp>
        <p:nvSpPr>
          <p:cNvPr id="14" name="pad-icon">
            <a:extLst xmlns:a="http://schemas.openxmlformats.org/drawingml/2006/main">
              <a:ext uri="{FF2B5EF4-FFF2-40B4-BE49-F238E27FC236}">
                <a16:creationId xmlns:a16="http://schemas.microsoft.com/office/drawing/2014/main" id="{51C47383-5E9B-4506-A63D-316B000F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320800"/>
            <a:ext cx="254000" cy="254000"/>
          </a:xfrm>
          <a:custGeom xmlns:a="http://schemas.openxmlformats.org/drawingml/2006/main">
            <a:rect l="l" t="t" r="r" b="b"/>
            <a:pathLst>
              <a:path w="448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384" y="0"/>
                </a:lnTo>
                <a:cubicBezTo>
                  <a:pt x="419" y="0"/>
                  <a:pt x="448" y="29"/>
                  <a:pt x="448" y="64"/>
                </a:cubicBezTo>
                <a:lnTo>
                  <a:pt x="448" y="448"/>
                </a:lnTo>
                <a:cubicBezTo>
                  <a:pt x="448" y="483"/>
                  <a:pt x="419" y="512"/>
                  <a:pt x="384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56" y="432"/>
                </a:moveTo>
                <a:cubicBezTo>
                  <a:pt x="256" y="414"/>
                  <a:pt x="242" y="400"/>
                  <a:pt x="224" y="400"/>
                </a:cubicBezTo>
                <a:cubicBezTo>
                  <a:pt x="206" y="400"/>
                  <a:pt x="192" y="414"/>
                  <a:pt x="192" y="432"/>
                </a:cubicBezTo>
                <a:cubicBezTo>
                  <a:pt x="192" y="450"/>
                  <a:pt x="206" y="464"/>
                  <a:pt x="224" y="464"/>
                </a:cubicBezTo>
                <a:cubicBezTo>
                  <a:pt x="242" y="464"/>
                  <a:pt x="256" y="450"/>
                  <a:pt x="256" y="432"/>
                </a:cubicBezTo>
                <a:close/>
                <a:moveTo>
                  <a:pt x="384" y="64"/>
                </a:moveTo>
                <a:lnTo>
                  <a:pt x="64" y="64"/>
                </a:lnTo>
                <a:lnTo>
                  <a:pt x="64" y="352"/>
                </a:lnTo>
                <a:lnTo>
                  <a:pt x="384" y="352"/>
                </a:lnTo>
                <a:lnTo>
                  <a:pt x="384" y="64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15" name="pad-title">
            <a:extLst xmlns:a="http://schemas.openxmlformats.org/drawingml/2006/main">
              <a:ext uri="{FF2B5EF4-FFF2-40B4-BE49-F238E27FC236}">
                <a16:creationId xmlns:a16="http://schemas.microsoft.com/office/drawing/2014/main" id="{17226C23-2A7D-47D9-A2B6-FC83A842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00" y="1295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iPad 端 · 一笔成章 App</a:t>
            </a:r>
            <a:endParaRPr sz="1500"/>
          </a:p>
        </p:txBody>
      </p:sp>
      <p:pic>
        <p:nvPicPr>
          <p:cNvPr id="16" name="shot-course">
            <a:extLst xmlns:a="http://schemas.openxmlformats.org/drawingml/2006/main">
              <a:ext uri="{FF2B5EF4-FFF2-40B4-BE49-F238E27FC236}">
                <a16:creationId xmlns:a16="http://schemas.microsoft.com/office/drawing/2014/main" id="{393D936D-DC2C-4303-A425-5333DA8252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4c054a81e492f"/>
          <a:srcRect xmlns:a="http://schemas.openxmlformats.org/drawingml/2006/main" l="0" t="-32" r="0" b="-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1600" y="1701800"/>
            <a:ext cx="2489200" cy="173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shot-course-cap">
            <a:extLst xmlns:a="http://schemas.openxmlformats.org/drawingml/2006/main">
              <a:ext uri="{FF2B5EF4-FFF2-40B4-BE49-F238E27FC236}">
                <a16:creationId xmlns:a16="http://schemas.microsoft.com/office/drawing/2014/main" id="{4D9013E5-63EC-4BB2-A54E-649CB30B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505200"/>
            <a:ext cx="24892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课程字库（100 字练习包）</a:t>
            </a:r>
            <a:endParaRPr sz="900"/>
          </a:p>
        </p:txBody>
      </p:sp>
      <p:pic>
        <p:nvPicPr>
          <p:cNvPr id="18" name="shot-stats">
            <a:extLst xmlns:a="http://schemas.openxmlformats.org/drawingml/2006/main">
              <a:ext uri="{FF2B5EF4-FFF2-40B4-BE49-F238E27FC236}">
                <a16:creationId xmlns:a16="http://schemas.microsoft.com/office/drawing/2014/main" id="{61143F82-B123-44E4-AEA1-CFCAB5A8AC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35c490c0b408b"/>
          <a:srcRect xmlns:a="http://schemas.openxmlformats.org/drawingml/2006/main" l="0" t="-32" r="0" b="-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93200" y="1701800"/>
            <a:ext cx="2489200" cy="173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shot-stats-cap">
            <a:extLst xmlns:a="http://schemas.openxmlformats.org/drawingml/2006/main">
              <a:ext uri="{FF2B5EF4-FFF2-40B4-BE49-F238E27FC236}">
                <a16:creationId xmlns:a16="http://schemas.microsoft.com/office/drawing/2014/main" id="{8D1C5F08-291A-4D71-97EA-E6C3242A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3505200"/>
            <a:ext cx="24892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练习统计与打卡</a:t>
            </a:r>
            <a:endParaRPr sz="900"/>
          </a:p>
        </p:txBody>
      </p:sp>
      <p:sp>
        <p:nvSpPr>
          <p:cNvPr id="20" name="pad-bullets">
            <a:extLst xmlns:a="http://schemas.openxmlformats.org/drawingml/2006/main">
              <a:ext uri="{FF2B5EF4-FFF2-40B4-BE49-F238E27FC236}">
                <a16:creationId xmlns:a16="http://schemas.microsoft.com/office/drawing/2014/main" id="{CB2589B9-BED4-4AEE-83D1-2A84DC0F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860800"/>
            <a:ext cx="5130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深度练习闭环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：压感笔书写 → 参考字对照 → AI 分析 → 点评建议，一站完成。</a:t>
            </a:r>
            <a:endParaRPr sz="1050"/>
          </a:p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学习数据沉淀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：打卡、练习次数、评分趋势全程记录，形成个人练习档案。</a:t>
            </a:r>
            <a:endParaRPr sz="1050"/>
          </a:p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四图对照点评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：参考字 / 我的书写 / 分割叠图 / 对齐示意并排呈现，问题定位到局部区域。</a:t>
            </a:r>
            <a:endParaRPr sz="1050"/>
          </a:p>
        </p:txBody>
      </p:sp>
      <p:sp>
        <p:nvSpPr>
          <p:cNvPr id="21" name="pad-concl-band">
            <a:extLst xmlns:a="http://schemas.openxmlformats.org/drawingml/2006/main">
              <a:ext uri="{FF2B5EF4-FFF2-40B4-BE49-F238E27FC236}">
                <a16:creationId xmlns:a16="http://schemas.microsoft.com/office/drawing/2014/main" id="{CB0E753D-1F8A-48CE-93E2-AAD217B3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5537200"/>
            <a:ext cx="5130800" cy="5588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5F5C9"/>
          </a:solidFill>
          <a:ln xmlns:a="http://schemas.openxmlformats.org/drawingml/2006/main" w="0">
            <a:noFill/>
          </a:ln>
        </p:spPr>
      </p:sp>
      <p:sp>
        <p:nvSpPr>
          <p:cNvPr id="22" name="pad-concl">
            <a:extLst xmlns:a="http://schemas.openxmlformats.org/drawingml/2006/main">
              <a:ext uri="{FF2B5EF4-FFF2-40B4-BE49-F238E27FC236}">
                <a16:creationId xmlns:a16="http://schemas.microsoft.com/office/drawing/2014/main" id="{C151B6A1-E3B1-48DC-BB83-059F4D18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37200"/>
            <a:ext cx="4826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双端均已达到</a:t>
            </a:r>
            <a:r>
              <a:rPr sz="112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可现场演示</a:t>
            </a:r>
            <a:r>
              <a:rPr sz="112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状态，练习数据与模型分析真实联通。</a:t>
            </a:r>
            <a:endParaRPr sz="1100"/>
          </a:p>
        </p:txBody>
      </p:sp>
      <p:sp>
        <p:nvSpPr>
          <p:cNvPr id="23" name="ft-line">
            <a:extLst xmlns:a="http://schemas.openxmlformats.org/drawingml/2006/main">
              <a:ext uri="{FF2B5EF4-FFF2-40B4-BE49-F238E27FC236}">
                <a16:creationId xmlns:a16="http://schemas.microsoft.com/office/drawing/2014/main" id="{21766881-413A-4BCA-967E-38DCCB0C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ft-left">
            <a:extLst xmlns:a="http://schemas.openxmlformats.org/drawingml/2006/main">
              <a:ext uri="{FF2B5EF4-FFF2-40B4-BE49-F238E27FC236}">
                <a16:creationId xmlns:a16="http://schemas.microsoft.com/office/drawing/2014/main" id="{1B622673-3996-409D-BE0A-DEF80908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25" name="ft-page">
            <a:extLst xmlns:a="http://schemas.openxmlformats.org/drawingml/2006/main">
              <a:ext uri="{FF2B5EF4-FFF2-40B4-BE49-F238E27FC236}">
                <a16:creationId xmlns:a16="http://schemas.microsoft.com/office/drawing/2014/main" id="{95574614-0356-4259-9B04-7D472794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09 / 13</a:t>
            </a:r>
            <a:endParaRPr sz="900"/>
          </a:p>
        </p:txBody>
      </p:sp>
      <p:sp xmlns:a="http://schemas.openxmlformats.org/drawingml/2006/main">
        <p:nvSpPr>
          <p:cNvPr id="29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0838020"/>
      </p:ext>
    </p:extLst>
  </p:cSld>
</p:sld>
</file>

<file path=ppt/slides/slide10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E0A65C76-9A75-4F2D-9CA0-58270A0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6FE62BCC-EF86-4130-A5F9-66A525A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773324FB-046D-42B5-BACE-8622220A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2B363C75-C216-4CBE-9E97-B04197BC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成果与学术验证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22E973E0-91BC-4F33-848C-5490D539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成果与学术验证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D7E5D7E6-A8FF-4AF3-8823-7385FB9F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aper-band">
            <a:extLst xmlns:a="http://schemas.openxmlformats.org/drawingml/2006/main">
              <a:ext uri="{FF2B5EF4-FFF2-40B4-BE49-F238E27FC236}">
                <a16:creationId xmlns:a16="http://schemas.microsoft.com/office/drawing/2014/main" id="{B9A40DBD-25A5-458D-9F42-AC134598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4600"/>
            <a:ext cx="10972800" cy="78740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76DFC"/>
          </a:solidFill>
          <a:ln xmlns:a="http://schemas.openxmlformats.org/drawingml/2006/main" w="0">
            <a:noFill/>
          </a:ln>
        </p:spPr>
      </p:sp>
      <p:sp>
        <p:nvSpPr>
          <p:cNvPr id="7" name="paper-icon">
            <a:extLst xmlns:a="http://schemas.openxmlformats.org/drawingml/2006/main">
              <a:ext uri="{FF2B5EF4-FFF2-40B4-BE49-F238E27FC236}">
                <a16:creationId xmlns:a16="http://schemas.microsoft.com/office/drawing/2014/main" id="{900A6967-EDF7-467A-8A77-DBD2B8AD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485900"/>
            <a:ext cx="304800" cy="304800"/>
          </a:xfrm>
          <a:custGeom xmlns:a="http://schemas.openxmlformats.org/drawingml/2006/main"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8" name="paper-text">
            <a:extLst xmlns:a="http://schemas.openxmlformats.org/drawingml/2006/main">
              <a:ext uri="{FF2B5EF4-FFF2-40B4-BE49-F238E27FC236}">
                <a16:creationId xmlns:a16="http://schemas.microsoft.com/office/drawing/2014/main" id="{85A9E9BF-D31D-4CBF-A91B-7A88661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1244600"/>
            <a:ext cx="10033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学术论文在审 · IJDAR</a:t>
            </a:r>
            <a:r>
              <a:rPr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（International Journal on Document Analysis and Recognition，已完成两轮修订：2026-09-05 / 09-17）</a:t>
            </a:r>
            <a:endParaRPr sz="1150"/>
          </a:p>
          <a:p xmlns:a="http://schemas.openxmlformats.org/drawingml/2006/main">
            <a:pPr algn="l">
              <a:lnSpc>
                <a:spcPct val="155000"/>
              </a:lnSpc>
              <a:spcBef>
                <a:spcPts val="200"/>
              </a:spcBef>
              <a:buNone/>
            </a:pPr>
            <a:r>
              <a:rPr sz="950" b="1">
                <a:solidFill>
                  <a:srgbClr val="C9DCFF"/>
                </a:solidFill>
                <a:latin typeface="MiSans"/>
                <a:ea typeface="MiSans"/>
                <a:cs typeface="MiSans"/>
              </a:rPr>
              <a:t>Reference-Conditioned Multi-Label Stroke Structure Analysis for Low-Resource Chinese Calligraphy Practice · 主稿 20 页 + 补充材料</a:t>
            </a:r>
            <a:endParaRPr sz="1150"/>
          </a:p>
        </p:txBody>
      </p:sp>
      <p:sp>
        <p:nvSpPr>
          <p:cNvPr id="9" name="cr-band">
            <a:extLst xmlns:a="http://schemas.openxmlformats.org/drawingml/2006/main">
              <a:ext uri="{FF2B5EF4-FFF2-40B4-BE49-F238E27FC236}">
                <a16:creationId xmlns:a16="http://schemas.microsoft.com/office/drawing/2014/main" id="{A48A8FA8-6F0A-4525-B145-2E1FA95C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4400"/>
            <a:ext cx="10972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5C9"/>
          </a:solidFill>
          <a:ln xmlns:a="http://schemas.openxmlformats.org/drawingml/2006/main" w="0">
            <a:noFill/>
          </a:ln>
        </p:spPr>
      </p:sp>
      <p:sp>
        <p:nvSpPr>
          <p:cNvPr id="10" name="cr-icon">
            <a:extLst xmlns:a="http://schemas.openxmlformats.org/drawingml/2006/main">
              <a:ext uri="{FF2B5EF4-FFF2-40B4-BE49-F238E27FC236}">
                <a16:creationId xmlns:a16="http://schemas.microsoft.com/office/drawing/2014/main" id="{5D4A2D46-C748-461A-A54C-6887A568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336800"/>
            <a:ext cx="228600" cy="228600"/>
          </a:xfrm>
          <a:custGeom xmlns:a="http://schemas.openxmlformats.org/drawingml/2006/main">
            <a:rect l="l" t="t" r="r" b="b"/>
            <a:pathLst>
              <a:path w="576" h="512">
                <a:moveTo>
                  <a:pt x="239" y="-8"/>
                </a:moveTo>
                <a:cubicBezTo>
                  <a:pt x="233" y="-14"/>
                  <a:pt x="224" y="-17"/>
                  <a:pt x="216" y="-14"/>
                </a:cubicBezTo>
                <a:cubicBezTo>
                  <a:pt x="207" y="-12"/>
                  <a:pt x="201" y="-6"/>
                  <a:pt x="199" y="3"/>
                </a:cubicBezTo>
                <a:lnTo>
                  <a:pt x="184" y="63"/>
                </a:lnTo>
                <a:cubicBezTo>
                  <a:pt x="182" y="67"/>
                  <a:pt x="178" y="70"/>
                  <a:pt x="174" y="69"/>
                </a:cubicBezTo>
                <a:lnTo>
                  <a:pt x="114" y="52"/>
                </a:lnTo>
                <a:cubicBezTo>
                  <a:pt x="105" y="50"/>
                  <a:pt x="96" y="52"/>
                  <a:pt x="90" y="58"/>
                </a:cubicBezTo>
                <a:cubicBezTo>
                  <a:pt x="84" y="64"/>
                  <a:pt x="82" y="73"/>
                  <a:pt x="84" y="82"/>
                </a:cubicBezTo>
                <a:lnTo>
                  <a:pt x="101" y="141"/>
                </a:lnTo>
                <a:cubicBezTo>
                  <a:pt x="102" y="146"/>
                  <a:pt x="100" y="150"/>
                  <a:pt x="95" y="151"/>
                </a:cubicBezTo>
                <a:lnTo>
                  <a:pt x="35" y="167"/>
                </a:lnTo>
                <a:cubicBezTo>
                  <a:pt x="27" y="169"/>
                  <a:pt x="20" y="175"/>
                  <a:pt x="18" y="184"/>
                </a:cubicBezTo>
                <a:cubicBezTo>
                  <a:pt x="16" y="192"/>
                  <a:pt x="18" y="201"/>
                  <a:pt x="24" y="207"/>
                </a:cubicBezTo>
                <a:lnTo>
                  <a:pt x="69" y="250"/>
                </a:lnTo>
                <a:cubicBezTo>
                  <a:pt x="72" y="253"/>
                  <a:pt x="72" y="259"/>
                  <a:pt x="69" y="262"/>
                </a:cubicBezTo>
                <a:lnTo>
                  <a:pt x="24" y="305"/>
                </a:lnTo>
                <a:cubicBezTo>
                  <a:pt x="18" y="311"/>
                  <a:pt x="16" y="320"/>
                  <a:pt x="18" y="329"/>
                </a:cubicBezTo>
                <a:cubicBezTo>
                  <a:pt x="20" y="337"/>
                  <a:pt x="27" y="343"/>
                  <a:pt x="35" y="346"/>
                </a:cubicBezTo>
                <a:lnTo>
                  <a:pt x="95" y="361"/>
                </a:lnTo>
                <a:cubicBezTo>
                  <a:pt x="100" y="362"/>
                  <a:pt x="102" y="367"/>
                  <a:pt x="101" y="371"/>
                </a:cubicBezTo>
                <a:lnTo>
                  <a:pt x="84" y="431"/>
                </a:lnTo>
                <a:cubicBezTo>
                  <a:pt x="82" y="439"/>
                  <a:pt x="84" y="448"/>
                  <a:pt x="90" y="454"/>
                </a:cubicBezTo>
                <a:cubicBezTo>
                  <a:pt x="96" y="460"/>
                  <a:pt x="105" y="463"/>
                  <a:pt x="114" y="460"/>
                </a:cubicBezTo>
                <a:lnTo>
                  <a:pt x="174" y="443"/>
                </a:lnTo>
                <a:cubicBezTo>
                  <a:pt x="178" y="442"/>
                  <a:pt x="182" y="445"/>
                  <a:pt x="184" y="449"/>
                </a:cubicBezTo>
                <a:lnTo>
                  <a:pt x="199" y="509"/>
                </a:lnTo>
                <a:cubicBezTo>
                  <a:pt x="201" y="518"/>
                  <a:pt x="208" y="524"/>
                  <a:pt x="216" y="526"/>
                </a:cubicBezTo>
                <a:cubicBezTo>
                  <a:pt x="224" y="529"/>
                  <a:pt x="233" y="526"/>
                  <a:pt x="239" y="520"/>
                </a:cubicBezTo>
                <a:lnTo>
                  <a:pt x="283" y="476"/>
                </a:lnTo>
                <a:cubicBezTo>
                  <a:pt x="286" y="472"/>
                  <a:pt x="291" y="472"/>
                  <a:pt x="294" y="476"/>
                </a:cubicBezTo>
                <a:lnTo>
                  <a:pt x="337" y="520"/>
                </a:lnTo>
                <a:cubicBezTo>
                  <a:pt x="343" y="526"/>
                  <a:pt x="352" y="529"/>
                  <a:pt x="361" y="526"/>
                </a:cubicBezTo>
                <a:cubicBezTo>
                  <a:pt x="369" y="524"/>
                  <a:pt x="376" y="518"/>
                  <a:pt x="378" y="509"/>
                </a:cubicBezTo>
                <a:lnTo>
                  <a:pt x="393" y="449"/>
                </a:lnTo>
                <a:cubicBezTo>
                  <a:pt x="394" y="445"/>
                  <a:pt x="399" y="442"/>
                  <a:pt x="403" y="443"/>
                </a:cubicBezTo>
                <a:lnTo>
                  <a:pt x="463" y="460"/>
                </a:lnTo>
                <a:cubicBezTo>
                  <a:pt x="471" y="463"/>
                  <a:pt x="480" y="460"/>
                  <a:pt x="486" y="454"/>
                </a:cubicBezTo>
                <a:cubicBezTo>
                  <a:pt x="492" y="448"/>
                  <a:pt x="495" y="439"/>
                  <a:pt x="492" y="431"/>
                </a:cubicBezTo>
                <a:lnTo>
                  <a:pt x="476" y="371"/>
                </a:lnTo>
                <a:cubicBezTo>
                  <a:pt x="474" y="366"/>
                  <a:pt x="477" y="362"/>
                  <a:pt x="481" y="361"/>
                </a:cubicBezTo>
                <a:lnTo>
                  <a:pt x="541" y="346"/>
                </a:lnTo>
                <a:cubicBezTo>
                  <a:pt x="550" y="343"/>
                  <a:pt x="556" y="337"/>
                  <a:pt x="559" y="328"/>
                </a:cubicBezTo>
                <a:cubicBezTo>
                  <a:pt x="561" y="320"/>
                  <a:pt x="559" y="311"/>
                  <a:pt x="552" y="305"/>
                </a:cubicBezTo>
                <a:lnTo>
                  <a:pt x="508" y="262"/>
                </a:lnTo>
                <a:cubicBezTo>
                  <a:pt x="505" y="259"/>
                  <a:pt x="505" y="253"/>
                  <a:pt x="508" y="250"/>
                </a:cubicBezTo>
                <a:lnTo>
                  <a:pt x="552" y="207"/>
                </a:lnTo>
                <a:cubicBezTo>
                  <a:pt x="559" y="201"/>
                  <a:pt x="561" y="192"/>
                  <a:pt x="559" y="184"/>
                </a:cubicBezTo>
                <a:cubicBezTo>
                  <a:pt x="556" y="175"/>
                  <a:pt x="550" y="169"/>
                  <a:pt x="541" y="166"/>
                </a:cubicBezTo>
                <a:lnTo>
                  <a:pt x="481" y="151"/>
                </a:lnTo>
                <a:cubicBezTo>
                  <a:pt x="477" y="150"/>
                  <a:pt x="474" y="146"/>
                  <a:pt x="476" y="141"/>
                </a:cubicBezTo>
                <a:lnTo>
                  <a:pt x="492" y="81"/>
                </a:lnTo>
                <a:cubicBezTo>
                  <a:pt x="495" y="73"/>
                  <a:pt x="492" y="64"/>
                  <a:pt x="486" y="58"/>
                </a:cubicBezTo>
                <a:cubicBezTo>
                  <a:pt x="480" y="52"/>
                  <a:pt x="471" y="49"/>
                  <a:pt x="463" y="52"/>
                </a:cubicBezTo>
                <a:lnTo>
                  <a:pt x="403" y="69"/>
                </a:lnTo>
                <a:cubicBezTo>
                  <a:pt x="399" y="70"/>
                  <a:pt x="394" y="67"/>
                  <a:pt x="393" y="63"/>
                </a:cubicBezTo>
                <a:lnTo>
                  <a:pt x="378" y="3"/>
                </a:lnTo>
                <a:cubicBezTo>
                  <a:pt x="376" y="-6"/>
                  <a:pt x="369" y="-12"/>
                  <a:pt x="361" y="-14"/>
                </a:cubicBezTo>
                <a:cubicBezTo>
                  <a:pt x="352" y="-17"/>
                  <a:pt x="343" y="-14"/>
                  <a:pt x="337" y="-8"/>
                </a:cubicBezTo>
                <a:lnTo>
                  <a:pt x="294" y="37"/>
                </a:lnTo>
                <a:cubicBezTo>
                  <a:pt x="291" y="40"/>
                  <a:pt x="286" y="40"/>
                  <a:pt x="283" y="37"/>
                </a:cubicBezTo>
                <a:lnTo>
                  <a:pt x="239" y="-8"/>
                </a:lnTo>
                <a:close/>
              </a:path>
            </a:pathLst>
          </a:custGeom>
          <a:solidFill xmlns:a="http://schemas.openxmlformats.org/drawingml/2006/main">
            <a:srgbClr val="0A2A6B"/>
          </a:solidFill>
          <a:ln xmlns:a="http://schemas.openxmlformats.org/drawingml/2006/main">
            <a:noFill/>
          </a:ln>
        </p:spPr>
      </p:sp>
      <p:sp>
        <p:nvSpPr>
          <p:cNvPr id="11" name="cr-text">
            <a:extLst xmlns:a="http://schemas.openxmlformats.org/drawingml/2006/main">
              <a:ext uri="{FF2B5EF4-FFF2-40B4-BE49-F238E27FC236}">
                <a16:creationId xmlns:a16="http://schemas.microsoft.com/office/drawing/2014/main" id="{AE130C45-9756-4339-9D95-05F0174A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184400"/>
            <a:ext cx="1016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软件著作权申请中</a:t>
            </a:r>
            <a:r>
              <a:rPr sz="11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：「一笔成章」汉字书法智能反馈系统（iPad 端 + Web 平台）</a:t>
            </a:r>
            <a:endParaRPr sz="1150"/>
          </a:p>
        </p:txBody>
      </p:sp>
      <p:sp>
        <p:nvSpPr>
          <p:cNvPr id="12" name="val-kicker">
            <a:extLst xmlns:a="http://schemas.openxmlformats.org/drawingml/2006/main">
              <a:ext uri="{FF2B5EF4-FFF2-40B4-BE49-F238E27FC236}">
                <a16:creationId xmlns:a16="http://schemas.microsoft.com/office/drawing/2014/main" id="{48936686-57F7-45F1-94C8-D33D362A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26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学术验证 · 三组关键证据</a:t>
            </a:r>
            <a:endParaRPr sz="1050"/>
          </a:p>
        </p:txBody>
      </p:sp>
      <p:sp>
        <p:nvSpPr>
          <p:cNvPr id="13" name="v1-num">
            <a:extLst xmlns:a="http://schemas.openxmlformats.org/drawingml/2006/main">
              <a:ext uri="{FF2B5EF4-FFF2-40B4-BE49-F238E27FC236}">
                <a16:creationId xmlns:a16="http://schemas.microsoft.com/office/drawing/2014/main" id="{26162A5A-272F-4ED6-A0F6-08B85144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82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E1</a:t>
            </a:r>
            <a:endParaRPr sz="1400"/>
          </a:p>
        </p:txBody>
      </p:sp>
      <p:sp>
        <p:nvSpPr>
          <p:cNvPr id="14" name="v1-text">
            <a:extLst xmlns:a="http://schemas.openxmlformats.org/drawingml/2006/main">
              <a:ext uri="{FF2B5EF4-FFF2-40B4-BE49-F238E27FC236}">
                <a16:creationId xmlns:a16="http://schemas.microsoft.com/office/drawing/2014/main" id="{2D5D95F7-B3F3-4188-A791-89C169D6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27400"/>
            <a:ext cx="482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受控扰动实验</a:t>
            </a: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：平移罚分≈0 被对齐完全吸收，结构性破坏随严重度单调降分，分数语义符合设计预期。</a:t>
            </a:r>
            <a:endParaRPr sz="1050"/>
          </a:p>
        </p:txBody>
      </p:sp>
      <p:sp>
        <p:nvSpPr>
          <p:cNvPr id="15" name="v2-num">
            <a:extLst xmlns:a="http://schemas.openxmlformats.org/drawingml/2006/main">
              <a:ext uri="{FF2B5EF4-FFF2-40B4-BE49-F238E27FC236}">
                <a16:creationId xmlns:a16="http://schemas.microsoft.com/office/drawing/2014/main" id="{797F95EE-B446-4E48-A18D-DBCCCDB8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80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E2</a:t>
            </a:r>
            <a:endParaRPr sz="1400"/>
          </a:p>
        </p:txBody>
      </p:sp>
      <p:sp>
        <p:nvSpPr>
          <p:cNvPr id="16" name="v2-text">
            <a:extLst xmlns:a="http://schemas.openxmlformats.org/drawingml/2006/main">
              <a:ext uri="{FF2B5EF4-FFF2-40B4-BE49-F238E27FC236}">
                <a16:creationId xmlns:a16="http://schemas.microsoft.com/office/drawing/2014/main" id="{6657026F-DAA5-4F1F-8DAC-9BAD78D2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67200"/>
            <a:ext cx="482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对齐消融</a:t>
            </a: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：受限对齐使无关变换罚分降低 30.1 分（95% CI [29.5, 30.7]），结构敏感性同步提升。</a:t>
            </a:r>
            <a:endParaRPr sz="1050"/>
          </a:p>
        </p:txBody>
      </p:sp>
      <p:sp>
        <p:nvSpPr>
          <p:cNvPr id="17" name="v3-num">
            <a:extLst xmlns:a="http://schemas.openxmlformats.org/drawingml/2006/main">
              <a:ext uri="{FF2B5EF4-FFF2-40B4-BE49-F238E27FC236}">
                <a16:creationId xmlns:a16="http://schemas.microsoft.com/office/drawing/2014/main" id="{1C22AD49-E45B-4C9B-9DFA-66D5A604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E3</a:t>
            </a:r>
            <a:endParaRPr sz="1400"/>
          </a:p>
        </p:txBody>
      </p:sp>
      <p:sp>
        <p:nvSpPr>
          <p:cNvPr id="18" name="v3-text">
            <a:extLst xmlns:a="http://schemas.openxmlformats.org/drawingml/2006/main">
              <a:ext uri="{FF2B5EF4-FFF2-40B4-BE49-F238E27FC236}">
                <a16:creationId xmlns:a16="http://schemas.microsoft.com/office/drawing/2014/main" id="{51E13426-16E2-4103-937A-B38CEF32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7000"/>
            <a:ext cx="4826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人工盲评验证</a:t>
            </a: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：3 位盲评者 × 150 对同字实例，评分与人判断 Spearman ρ=0.297，coverage-aware 修正后 0.429；评价者间 ICC(2,k)=0.709。</a:t>
            </a:r>
            <a:endParaRPr sz="1050"/>
          </a:p>
        </p:txBody>
      </p:sp>
      <p:sp>
        <p:nvSpPr>
          <p:cNvPr id="19" name="mid-vline">
            <a:extLst xmlns:a="http://schemas.openxmlformats.org/drawingml/2006/main">
              <a:ext uri="{FF2B5EF4-FFF2-40B4-BE49-F238E27FC236}">
                <a16:creationId xmlns:a16="http://schemas.microsoft.com/office/drawing/2014/main" id="{14A05984-1C89-41FD-BE2F-47E2BB20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022600"/>
            <a:ext cx="12700" cy="31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eng-kicker">
            <a:extLst xmlns:a="http://schemas.openxmlformats.org/drawingml/2006/main">
              <a:ext uri="{FF2B5EF4-FFF2-40B4-BE49-F238E27FC236}">
                <a16:creationId xmlns:a16="http://schemas.microsoft.com/office/drawing/2014/main" id="{3EAF8E49-4FD6-4FBB-9A98-C3D08EB1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30226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工程与数据成果</a:t>
            </a:r>
            <a:endParaRPr sz="1050"/>
          </a:p>
        </p:txBody>
      </p:sp>
      <p:sp>
        <p:nvSpPr>
          <p:cNvPr id="21" name="g1-icon">
            <a:extLst xmlns:a="http://schemas.openxmlformats.org/drawingml/2006/main">
              <a:ext uri="{FF2B5EF4-FFF2-40B4-BE49-F238E27FC236}">
                <a16:creationId xmlns:a16="http://schemas.microsoft.com/office/drawing/2014/main" id="{384F01D8-A676-4EAA-8A05-1EB7CB3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3352800"/>
            <a:ext cx="203200" cy="203200"/>
          </a:xfrm>
          <a:custGeom xmlns:a="http://schemas.openxmlformats.org/drawingml/2006/main">
            <a:rect l="l" t="t" r="r" b="b"/>
            <a:pathLst>
              <a:path w="512" h="512">
                <a:moveTo>
                  <a:pt x="224" y="-2"/>
                </a:moveTo>
                <a:cubicBezTo>
                  <a:pt x="244" y="-14"/>
                  <a:pt x="269" y="-14"/>
                  <a:pt x="288" y="-2"/>
                </a:cubicBezTo>
                <a:lnTo>
                  <a:pt x="464" y="99"/>
                </a:lnTo>
                <a:cubicBezTo>
                  <a:pt x="484" y="110"/>
                  <a:pt x="496" y="132"/>
                  <a:pt x="496" y="154"/>
                </a:cubicBezTo>
                <a:lnTo>
                  <a:pt x="496" y="357"/>
                </a:lnTo>
                <a:cubicBezTo>
                  <a:pt x="496" y="380"/>
                  <a:pt x="484" y="401"/>
                  <a:pt x="464" y="413"/>
                </a:cubicBezTo>
                <a:lnTo>
                  <a:pt x="288" y="515"/>
                </a:lnTo>
                <a:cubicBezTo>
                  <a:pt x="269" y="526"/>
                  <a:pt x="244" y="526"/>
                  <a:pt x="224" y="515"/>
                </a:cubicBezTo>
                <a:lnTo>
                  <a:pt x="49" y="413"/>
                </a:lnTo>
                <a:cubicBezTo>
                  <a:pt x="29" y="402"/>
                  <a:pt x="17" y="380"/>
                  <a:pt x="17" y="358"/>
                </a:cubicBezTo>
                <a:lnTo>
                  <a:pt x="17" y="155"/>
                </a:lnTo>
                <a:cubicBezTo>
                  <a:pt x="17" y="132"/>
                  <a:pt x="29" y="111"/>
                  <a:pt x="49" y="99"/>
                </a:cubicBezTo>
                <a:lnTo>
                  <a:pt x="224" y="-2"/>
                </a:lnTo>
                <a:close/>
                <a:moveTo>
                  <a:pt x="432" y="358"/>
                </a:moveTo>
                <a:lnTo>
                  <a:pt x="432" y="191"/>
                </a:lnTo>
                <a:lnTo>
                  <a:pt x="288" y="274"/>
                </a:lnTo>
                <a:lnTo>
                  <a:pt x="288" y="441"/>
                </a:lnTo>
                <a:lnTo>
                  <a:pt x="432" y="358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2" name="g1-text">
            <a:extLst xmlns:a="http://schemas.openxmlformats.org/drawingml/2006/main">
              <a:ext uri="{FF2B5EF4-FFF2-40B4-BE49-F238E27FC236}">
                <a16:creationId xmlns:a16="http://schemas.microsoft.com/office/drawing/2014/main" id="{AA599C79-B7EA-4781-960A-5C130753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3327400"/>
            <a:ext cx="4597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模型冻结发布</a:t>
            </a: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：segformer-b2-v1，阈值、模型卡、哈希全量留档，18 组正式基准完成审计。</a:t>
            </a:r>
            <a:endParaRPr sz="1050"/>
          </a:p>
        </p:txBody>
      </p:sp>
      <p:sp>
        <p:nvSpPr>
          <p:cNvPr id="23" name="g2-icon">
            <a:extLst xmlns:a="http://schemas.openxmlformats.org/drawingml/2006/main">
              <a:ext uri="{FF2B5EF4-FFF2-40B4-BE49-F238E27FC236}">
                <a16:creationId xmlns:a16="http://schemas.microsoft.com/office/drawing/2014/main" id="{D5838B84-CAEB-461E-A2EB-2A9C6545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4038600"/>
            <a:ext cx="203200" cy="203200"/>
          </a:xfrm>
          <a:custGeom xmlns:a="http://schemas.openxmlformats.org/drawingml/2006/main"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4" name="g2-text">
            <a:extLst xmlns:a="http://schemas.openxmlformats.org/drawingml/2006/main">
              <a:ext uri="{FF2B5EF4-FFF2-40B4-BE49-F238E27FC236}">
                <a16:creationId xmlns:a16="http://schemas.microsoft.com/office/drawing/2014/main" id="{45A71817-165A-4C4E-87D0-E0BBD62F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013200"/>
            <a:ext cx="4597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数据资产固化</a:t>
            </a: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：840 份 GT 找回校验，769 个 QC-clean 样本与字符级冻结划分。</a:t>
            </a:r>
            <a:endParaRPr sz="1050"/>
          </a:p>
        </p:txBody>
      </p:sp>
      <p:sp>
        <p:nvSpPr>
          <p:cNvPr id="25" name="g3-icon">
            <a:extLst xmlns:a="http://schemas.openxmlformats.org/drawingml/2006/main">
              <a:ext uri="{FF2B5EF4-FFF2-40B4-BE49-F238E27FC236}">
                <a16:creationId xmlns:a16="http://schemas.microsoft.com/office/drawing/2014/main" id="{12F3A745-CFC7-4AD6-8590-A8832744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4724400"/>
            <a:ext cx="203200" cy="203200"/>
          </a:xfrm>
          <a:custGeom xmlns:a="http://schemas.openxmlformats.org/drawingml/2006/main"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6" name="g3-text">
            <a:extLst xmlns:a="http://schemas.openxmlformats.org/drawingml/2006/main">
              <a:ext uri="{FF2B5EF4-FFF2-40B4-BE49-F238E27FC236}">
                <a16:creationId xmlns:a16="http://schemas.microsoft.com/office/drawing/2014/main" id="{16E31CB6-DF75-4790-8BF8-7FDFD734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699000"/>
            <a:ext cx="4597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双端真实落地</a:t>
            </a: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：onestroke.cn 两门 100 字课程包（Beta）+ iPad App 练习全流程，模型联调通过。</a:t>
            </a:r>
            <a:endParaRPr sz="1050"/>
          </a:p>
        </p:txBody>
      </p:sp>
      <p:sp>
        <p:nvSpPr>
          <p:cNvPr id="27" name="g4-icon">
            <a:extLst xmlns:a="http://schemas.openxmlformats.org/drawingml/2006/main">
              <a:ext uri="{FF2B5EF4-FFF2-40B4-BE49-F238E27FC236}">
                <a16:creationId xmlns:a16="http://schemas.microsoft.com/office/drawing/2014/main" id="{66CE852D-2AAD-48CE-8444-C8001B14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5410200"/>
            <a:ext cx="203200" cy="2032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8" name="g4-text">
            <a:extLst xmlns:a="http://schemas.openxmlformats.org/drawingml/2006/main">
              <a:ext uri="{FF2B5EF4-FFF2-40B4-BE49-F238E27FC236}">
                <a16:creationId xmlns:a16="http://schemas.microsoft.com/office/drawing/2014/main" id="{2A97DB31-E789-4677-82E2-8DF80164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5384800"/>
            <a:ext cx="4597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工程质量</a:t>
            </a: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：104 项自动化测试通过，数据—模型—论文全链路可复现、可审计。</a:t>
            </a:r>
            <a:endParaRPr sz="1050"/>
          </a:p>
        </p:txBody>
      </p:sp>
      <p:sp>
        <p:nvSpPr>
          <p:cNvPr id="29" name="ft-line">
            <a:extLst xmlns:a="http://schemas.openxmlformats.org/drawingml/2006/main">
              <a:ext uri="{FF2B5EF4-FFF2-40B4-BE49-F238E27FC236}">
                <a16:creationId xmlns:a16="http://schemas.microsoft.com/office/drawing/2014/main" id="{9BC7BBA4-8D2B-4E88-9AD1-AC3A8AA1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ft-left">
            <a:extLst xmlns:a="http://schemas.openxmlformats.org/drawingml/2006/main">
              <a:ext uri="{FF2B5EF4-FFF2-40B4-BE49-F238E27FC236}">
                <a16:creationId xmlns:a16="http://schemas.microsoft.com/office/drawing/2014/main" id="{1666AD88-46A5-435A-8D9A-90B67322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31" name="ft-page">
            <a:extLst xmlns:a="http://schemas.openxmlformats.org/drawingml/2006/main">
              <a:ext uri="{FF2B5EF4-FFF2-40B4-BE49-F238E27FC236}">
                <a16:creationId xmlns:a16="http://schemas.microsoft.com/office/drawing/2014/main" id="{3B6C42E5-0A51-4D5F-A9A4-E74B1371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10 / 13</a:t>
            </a:r>
            <a:endParaRPr sz="900"/>
          </a:p>
        </p:txBody>
      </p:sp>
      <p:sp xmlns:a="http://schemas.openxmlformats.org/drawingml/2006/main">
        <p:nvSpPr>
          <p:cNvPr id="35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67269"/>
      </p:ext>
    </p:extLst>
  </p:cSld>
</p:sld>
</file>

<file path=ppt/slides/slide11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BE28F450-2110-44E1-B795-CDD479B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FD588F1A-C12D-41CB-B96F-F851A4DD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F2C57ED7-0292-4A1F-920D-719B2B3D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EBFABD3A-8F06-43ED-AA9C-AD15404C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商业化探索：B 端规模化进校 + C 端订阅深化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DB88DDA2-F678-4A8A-A81C-542A9BF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商业化探索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8E05A715-A1D3-44F9-8C93-63D109E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-icon">
            <a:extLst xmlns:a="http://schemas.openxmlformats.org/drawingml/2006/main">
              <a:ext uri="{FF2B5EF4-FFF2-40B4-BE49-F238E27FC236}">
                <a16:creationId xmlns:a16="http://schemas.microsoft.com/office/drawing/2014/main" id="{314A9106-2B90-4366-AF1F-A96939EF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79400" cy="279400"/>
          </a:xfrm>
          <a:custGeom xmlns:a="http://schemas.openxmlformats.org/drawingml/2006/main">
            <a:rect l="l" t="t" r="r" b="b"/>
            <a:pathLst>
              <a:path w="576" h="512">
                <a:moveTo>
                  <a:pt x="0" y="192"/>
                </a:moveTo>
                <a:cubicBezTo>
                  <a:pt x="0" y="157"/>
                  <a:pt x="29" y="128"/>
                  <a:pt x="64" y="128"/>
                </a:cubicBezTo>
                <a:lnTo>
                  <a:pt x="128" y="128"/>
                </a:lnTo>
                <a:lnTo>
                  <a:pt x="256" y="13"/>
                </a:lnTo>
                <a:cubicBezTo>
                  <a:pt x="274" y="-3"/>
                  <a:pt x="302" y="-3"/>
                  <a:pt x="320" y="13"/>
                </a:cubicBezTo>
                <a:lnTo>
                  <a:pt x="448" y="128"/>
                </a:lnTo>
                <a:lnTo>
                  <a:pt x="512" y="128"/>
                </a:lnTo>
                <a:cubicBezTo>
                  <a:pt x="547" y="128"/>
                  <a:pt x="576" y="157"/>
                  <a:pt x="576" y="192"/>
                </a:cubicBezTo>
                <a:lnTo>
                  <a:pt x="576" y="448"/>
                </a:lnTo>
                <a:cubicBezTo>
                  <a:pt x="576" y="483"/>
                  <a:pt x="547" y="512"/>
                  <a:pt x="512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192"/>
                </a:lnTo>
                <a:close/>
                <a:moveTo>
                  <a:pt x="224" y="376"/>
                </a:moveTo>
                <a:lnTo>
                  <a:pt x="224" y="464"/>
                </a:lnTo>
                <a:lnTo>
                  <a:pt x="352" y="464"/>
                </a:lnTo>
                <a:lnTo>
                  <a:pt x="352" y="376"/>
                </a:lnTo>
                <a:cubicBezTo>
                  <a:pt x="352" y="354"/>
                  <a:pt x="334" y="336"/>
                  <a:pt x="312" y="336"/>
                </a:cubicBezTo>
                <a:lnTo>
                  <a:pt x="264" y="336"/>
                </a:lnTo>
                <a:cubicBezTo>
                  <a:pt x="242" y="336"/>
                  <a:pt x="224" y="354"/>
                  <a:pt x="224" y="376"/>
                </a:cubicBezTo>
                <a:close/>
                <a:moveTo>
                  <a:pt x="112" y="384"/>
                </a:moveTo>
                <a:cubicBezTo>
                  <a:pt x="121" y="384"/>
                  <a:pt x="128" y="377"/>
                  <a:pt x="128" y="368"/>
                </a:cubicBezTo>
                <a:lnTo>
                  <a:pt x="128" y="336"/>
                </a:lnTo>
                <a:cubicBezTo>
                  <a:pt x="128" y="327"/>
                  <a:pt x="121" y="320"/>
                  <a:pt x="112" y="320"/>
                </a:cubicBezTo>
                <a:lnTo>
                  <a:pt x="80" y="320"/>
                </a:lnTo>
                <a:cubicBezTo>
                  <a:pt x="71" y="320"/>
                  <a:pt x="64" y="327"/>
                  <a:pt x="64" y="336"/>
                </a:cubicBezTo>
                <a:lnTo>
                  <a:pt x="64" y="368"/>
                </a:lnTo>
                <a:cubicBezTo>
                  <a:pt x="64" y="377"/>
                  <a:pt x="71" y="384"/>
                  <a:pt x="80" y="384"/>
                </a:cubicBezTo>
                <a:lnTo>
                  <a:pt x="112" y="384"/>
                </a:lnTo>
                <a:close/>
                <a:moveTo>
                  <a:pt x="128" y="240"/>
                </a:moveTo>
                <a:lnTo>
                  <a:pt x="128" y="208"/>
                </a:lnTo>
                <a:cubicBezTo>
                  <a:pt x="128" y="199"/>
                  <a:pt x="121" y="192"/>
                  <a:pt x="112" y="192"/>
                </a:cubicBezTo>
                <a:lnTo>
                  <a:pt x="80" y="192"/>
                </a:lnTo>
                <a:cubicBezTo>
                  <a:pt x="71" y="192"/>
                  <a:pt x="64" y="199"/>
                  <a:pt x="64" y="208"/>
                </a:cubicBezTo>
                <a:lnTo>
                  <a:pt x="64" y="240"/>
                </a:lnTo>
                <a:cubicBezTo>
                  <a:pt x="64" y="249"/>
                  <a:pt x="71" y="256"/>
                  <a:pt x="80" y="256"/>
                </a:cubicBezTo>
                <a:lnTo>
                  <a:pt x="112" y="256"/>
                </a:lnTo>
                <a:cubicBezTo>
                  <a:pt x="121" y="256"/>
                  <a:pt x="128" y="249"/>
                  <a:pt x="128" y="240"/>
                </a:cubicBezTo>
                <a:close/>
                <a:moveTo>
                  <a:pt x="496" y="384"/>
                </a:moveTo>
                <a:cubicBezTo>
                  <a:pt x="505" y="384"/>
                  <a:pt x="512" y="377"/>
                  <a:pt x="512" y="368"/>
                </a:cubicBezTo>
                <a:lnTo>
                  <a:pt x="512" y="336"/>
                </a:lnTo>
                <a:cubicBezTo>
                  <a:pt x="512" y="327"/>
                  <a:pt x="505" y="320"/>
                  <a:pt x="496" y="320"/>
                </a:cubicBezTo>
                <a:lnTo>
                  <a:pt x="464" y="320"/>
                </a:lnTo>
                <a:cubicBezTo>
                  <a:pt x="455" y="320"/>
                  <a:pt x="448" y="327"/>
                  <a:pt x="448" y="336"/>
                </a:cubicBezTo>
                <a:lnTo>
                  <a:pt x="448" y="368"/>
                </a:lnTo>
                <a:cubicBezTo>
                  <a:pt x="448" y="377"/>
                  <a:pt x="455" y="384"/>
                  <a:pt x="464" y="384"/>
                </a:cubicBezTo>
                <a:lnTo>
                  <a:pt x="496" y="384"/>
                </a:lnTo>
                <a:close/>
                <a:moveTo>
                  <a:pt x="512" y="240"/>
                </a:moveTo>
                <a:lnTo>
                  <a:pt x="512" y="208"/>
                </a:lnTo>
                <a:cubicBezTo>
                  <a:pt x="512" y="199"/>
                  <a:pt x="505" y="192"/>
                  <a:pt x="496" y="192"/>
                </a:cubicBezTo>
                <a:lnTo>
                  <a:pt x="464" y="192"/>
                </a:lnTo>
                <a:cubicBezTo>
                  <a:pt x="455" y="192"/>
                  <a:pt x="448" y="199"/>
                  <a:pt x="448" y="208"/>
                </a:cubicBezTo>
                <a:lnTo>
                  <a:pt x="448" y="240"/>
                </a:lnTo>
                <a:cubicBezTo>
                  <a:pt x="448" y="249"/>
                  <a:pt x="455" y="256"/>
                  <a:pt x="464" y="256"/>
                </a:cubicBezTo>
                <a:lnTo>
                  <a:pt x="496" y="256"/>
                </a:lnTo>
                <a:cubicBezTo>
                  <a:pt x="505" y="256"/>
                  <a:pt x="512" y="249"/>
                  <a:pt x="512" y="240"/>
                </a:cubicBezTo>
                <a:close/>
                <a:moveTo>
                  <a:pt x="288" y="256"/>
                </a:moveTo>
                <a:cubicBezTo>
                  <a:pt x="323" y="256"/>
                  <a:pt x="352" y="227"/>
                  <a:pt x="352" y="192"/>
                </a:cubicBezTo>
                <a:cubicBezTo>
                  <a:pt x="352" y="157"/>
                  <a:pt x="323" y="128"/>
                  <a:pt x="288" y="128"/>
                </a:cubicBezTo>
                <a:cubicBezTo>
                  <a:pt x="253" y="128"/>
                  <a:pt x="224" y="157"/>
                  <a:pt x="224" y="192"/>
                </a:cubicBezTo>
                <a:cubicBezTo>
                  <a:pt x="224" y="227"/>
                  <a:pt x="253" y="256"/>
                  <a:pt x="288" y="256"/>
                </a:cubicBez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7" name="b-title">
            <a:extLst xmlns:a="http://schemas.openxmlformats.org/drawingml/2006/main">
              <a:ext uri="{FF2B5EF4-FFF2-40B4-BE49-F238E27FC236}">
                <a16:creationId xmlns:a16="http://schemas.microsoft.com/office/drawing/2014/main" id="{C94A21B2-3A74-4403-9CAF-238D99B2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346200"/>
            <a:ext cx="4572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B 端 · 学校与机构</a:t>
            </a:r>
            <a:endParaRPr sz="1500"/>
          </a:p>
        </p:txBody>
      </p:sp>
      <p:sp>
        <p:nvSpPr>
          <p:cNvPr id="8" name="b-sub">
            <a:extLst xmlns:a="http://schemas.openxmlformats.org/drawingml/2006/main">
              <a:ext uri="{FF2B5EF4-FFF2-40B4-BE49-F238E27FC236}">
                <a16:creationId xmlns:a16="http://schemas.microsoft.com/office/drawing/2014/main" id="{FF25F059-1BB3-4E77-9C0F-61FD1649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701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Web 端免安装，是最低的进校门槛</a:t>
            </a:r>
            <a:endParaRPr sz="1000"/>
          </a:p>
        </p:txBody>
      </p:sp>
      <p:sp>
        <p:nvSpPr>
          <p:cNvPr id="9" name="b-list">
            <a:extLst xmlns:a="http://schemas.openxmlformats.org/drawingml/2006/main">
              <a:ext uri="{FF2B5EF4-FFF2-40B4-BE49-F238E27FC236}">
                <a16:creationId xmlns:a16="http://schemas.microsoft.com/office/drawing/2014/main" id="{27FF0A32-004E-473C-8B06-E7F98D8D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08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场景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：书法课堂、课后服务、社团活动，机房与电子白板直接可用。</a:t>
            </a:r>
            <a:endParaRPr sz="1050"/>
          </a:p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产品形态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：课程包按学期 / 按校授权，教师端查看班级练习数据。</a:t>
            </a:r>
            <a:endParaRPr sz="1050"/>
          </a:p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当前状态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：双课程 Beta 已具备进校演示条件。</a:t>
            </a:r>
            <a:endParaRPr sz="1050"/>
          </a:p>
        </p:txBody>
      </p:sp>
      <p:sp>
        <p:nvSpPr>
          <p:cNvPr id="10" name="c-icon">
            <a:extLst xmlns:a="http://schemas.openxmlformats.org/drawingml/2006/main">
              <a:ext uri="{FF2B5EF4-FFF2-40B4-BE49-F238E27FC236}">
                <a16:creationId xmlns:a16="http://schemas.microsoft.com/office/drawing/2014/main" id="{8DF30C21-2241-447E-B1A6-E9E94550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371600"/>
            <a:ext cx="279400" cy="279400"/>
          </a:xfrm>
          <a:custGeom xmlns:a="http://schemas.openxmlformats.org/drawingml/2006/main"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11" name="c-title">
            <a:extLst xmlns:a="http://schemas.openxmlformats.org/drawingml/2006/main">
              <a:ext uri="{FF2B5EF4-FFF2-40B4-BE49-F238E27FC236}">
                <a16:creationId xmlns:a16="http://schemas.microsoft.com/office/drawing/2014/main" id="{7470296E-F2F7-443E-8B00-9394BCFB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46200"/>
            <a:ext cx="4572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C 端 · 个人练习者</a:t>
            </a:r>
            <a:endParaRPr sz="1500"/>
          </a:p>
        </p:txBody>
      </p:sp>
      <p:sp>
        <p:nvSpPr>
          <p:cNvPr id="12" name="c-sub">
            <a:extLst xmlns:a="http://schemas.openxmlformats.org/drawingml/2006/main">
              <a:ext uri="{FF2B5EF4-FFF2-40B4-BE49-F238E27FC236}">
                <a16:creationId xmlns:a16="http://schemas.microsoft.com/office/drawing/2014/main" id="{DC97066B-275C-4C5C-A47F-3D586014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01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iPad App 深度练习，订阅 + 课程包内购</a:t>
            </a:r>
            <a:endParaRPr sz="1000"/>
          </a:p>
        </p:txBody>
      </p:sp>
      <p:sp>
        <p:nvSpPr>
          <p:cNvPr id="13" name="c-list">
            <a:extLst xmlns:a="http://schemas.openxmlformats.org/drawingml/2006/main">
              <a:ext uri="{FF2B5EF4-FFF2-40B4-BE49-F238E27FC236}">
                <a16:creationId xmlns:a16="http://schemas.microsoft.com/office/drawing/2014/main" id="{538F5299-1124-47D5-B65E-91CE95ED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228850"/>
            <a:ext cx="508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场景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：书法爱好者与考级人群的日常自学、纠错、复盘。</a:t>
            </a:r>
            <a:endParaRPr sz="1050"/>
          </a:p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产品形态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：专业练习订阅制，碑帖课程包持续扩充。</a:t>
            </a:r>
            <a:endParaRPr sz="1050"/>
          </a:p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当前状态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：App 全流程可用，具备小范围真实用户试点条件。</a:t>
            </a:r>
            <a:endParaRPr sz="1050"/>
          </a:p>
        </p:txBody>
      </p:sp>
      <p:sp>
        <p:nvSpPr>
          <p:cNvPr id="14" name="loop-line1">
            <a:extLst xmlns:a="http://schemas.openxmlformats.org/drawingml/2006/main">
              <a:ext uri="{FF2B5EF4-FFF2-40B4-BE49-F238E27FC236}">
                <a16:creationId xmlns:a16="http://schemas.microsoft.com/office/drawing/2014/main" id="{6C9CCC7C-8BAE-495A-90CA-BF707D9B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14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C"/>
          </a:solidFill>
          <a:ln xmlns:a="http://schemas.openxmlformats.org/drawingml/2006/main">
            <a:noFill/>
          </a:ln>
        </p:spPr>
      </p:sp>
      <p:sp>
        <p:nvSpPr>
          <p:cNvPr id="15" name="loop-b">
            <a:extLst xmlns:a="http://schemas.openxmlformats.org/drawingml/2006/main">
              <a:ext uri="{FF2B5EF4-FFF2-40B4-BE49-F238E27FC236}">
                <a16:creationId xmlns:a16="http://schemas.microsoft.com/office/drawing/2014/main" id="{10BAC23A-3F1C-4E17-8E23-6A0B9E01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8800"/>
            <a:ext cx="228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0A2A6B"/>
                </a:solidFill>
                <a:latin typeface="MiSans"/>
                <a:ea typeface="MiSans"/>
                <a:cs typeface="MiSans"/>
              </a:rPr>
              <a:t>B 端进校带来规模</a:t>
            </a:r>
            <a:endParaRPr sz="1150"/>
          </a:p>
        </p:txBody>
      </p:sp>
      <p:sp>
        <p:nvSpPr>
          <p:cNvPr id="16" name="loop-arrow1">
            <a:extLst xmlns:a="http://schemas.openxmlformats.org/drawingml/2006/main">
              <a:ext uri="{FF2B5EF4-FFF2-40B4-BE49-F238E27FC236}">
                <a16:creationId xmlns:a16="http://schemas.microsoft.com/office/drawing/2014/main" id="{38E8E9B1-2861-4EAF-BC09-132612F6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394200"/>
            <a:ext cx="203200" cy="203200"/>
          </a:xfrm>
          <a:custGeom xmlns:a="http://schemas.openxmlformats.org/drawingml/2006/main">
            <a:rect l="l" t="t" r="r" b="b"/>
            <a:pathLst>
              <a:path w="576" h="512">
                <a:moveTo>
                  <a:pt x="567" y="279"/>
                </a:moveTo>
                <a:cubicBezTo>
                  <a:pt x="579" y="266"/>
                  <a:pt x="579" y="246"/>
                  <a:pt x="567" y="233"/>
                </a:cubicBezTo>
                <a:lnTo>
                  <a:pt x="439" y="105"/>
                </a:lnTo>
                <a:cubicBezTo>
                  <a:pt x="426" y="93"/>
                  <a:pt x="406" y="93"/>
                  <a:pt x="393" y="105"/>
                </a:cubicBezTo>
                <a:cubicBezTo>
                  <a:pt x="381" y="118"/>
                  <a:pt x="381" y="138"/>
                  <a:pt x="393" y="151"/>
                </a:cubicBezTo>
                <a:lnTo>
                  <a:pt x="467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67" y="288"/>
                </a:lnTo>
                <a:lnTo>
                  <a:pt x="393" y="361"/>
                </a:lnTo>
                <a:cubicBezTo>
                  <a:pt x="381" y="374"/>
                  <a:pt x="381" y="394"/>
                  <a:pt x="393" y="407"/>
                </a:cubicBezTo>
                <a:cubicBezTo>
                  <a:pt x="406" y="419"/>
                  <a:pt x="426" y="419"/>
                  <a:pt x="439" y="407"/>
                </a:cubicBezTo>
                <a:lnTo>
                  <a:pt x="567" y="279"/>
                </a:lnTo>
                <a:close/>
              </a:path>
            </a:pathLst>
          </a:custGeom>
          <a:solidFill xmlns:a="http://schemas.openxmlformats.org/drawingml/2006/main">
            <a:srgbClr val="8B98B5"/>
          </a:solidFill>
          <a:ln xmlns:a="http://schemas.openxmlformats.org/drawingml/2006/main">
            <a:noFill/>
          </a:ln>
        </p:spPr>
      </p:sp>
      <p:sp>
        <p:nvSpPr>
          <p:cNvPr id="17" name="loop-mid">
            <a:extLst xmlns:a="http://schemas.openxmlformats.org/drawingml/2006/main">
              <a:ext uri="{FF2B5EF4-FFF2-40B4-BE49-F238E27FC236}">
                <a16:creationId xmlns:a16="http://schemas.microsoft.com/office/drawing/2014/main" id="{1B40335E-8B0E-49D2-803B-309C811C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00" y="4368800"/>
            <a:ext cx="2413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0A2A6B"/>
                </a:solidFill>
                <a:latin typeface="MiSans"/>
                <a:ea typeface="MiSans"/>
                <a:cs typeface="MiSans"/>
              </a:rPr>
              <a:t>数据与口碑沉淀</a:t>
            </a:r>
            <a:endParaRPr sz="1150"/>
          </a:p>
        </p:txBody>
      </p:sp>
      <p:sp>
        <p:nvSpPr>
          <p:cNvPr id="18" name="loop-arrow2">
            <a:extLst xmlns:a="http://schemas.openxmlformats.org/drawingml/2006/main">
              <a:ext uri="{FF2B5EF4-FFF2-40B4-BE49-F238E27FC236}">
                <a16:creationId xmlns:a16="http://schemas.microsoft.com/office/drawing/2014/main" id="{D5178CF2-B23A-49A4-B31B-F4863050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4394200"/>
            <a:ext cx="203200" cy="203200"/>
          </a:xfrm>
          <a:custGeom xmlns:a="http://schemas.openxmlformats.org/drawingml/2006/main">
            <a:rect l="l" t="t" r="r" b="b"/>
            <a:pathLst>
              <a:path w="576" h="512">
                <a:moveTo>
                  <a:pt x="567" y="279"/>
                </a:moveTo>
                <a:cubicBezTo>
                  <a:pt x="579" y="266"/>
                  <a:pt x="579" y="246"/>
                  <a:pt x="567" y="233"/>
                </a:cubicBezTo>
                <a:lnTo>
                  <a:pt x="439" y="105"/>
                </a:lnTo>
                <a:cubicBezTo>
                  <a:pt x="426" y="93"/>
                  <a:pt x="406" y="93"/>
                  <a:pt x="393" y="105"/>
                </a:cubicBezTo>
                <a:cubicBezTo>
                  <a:pt x="381" y="118"/>
                  <a:pt x="381" y="138"/>
                  <a:pt x="393" y="151"/>
                </a:cubicBezTo>
                <a:lnTo>
                  <a:pt x="467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67" y="288"/>
                </a:lnTo>
                <a:lnTo>
                  <a:pt x="393" y="361"/>
                </a:lnTo>
                <a:cubicBezTo>
                  <a:pt x="381" y="374"/>
                  <a:pt x="381" y="394"/>
                  <a:pt x="393" y="407"/>
                </a:cubicBezTo>
                <a:cubicBezTo>
                  <a:pt x="406" y="419"/>
                  <a:pt x="426" y="419"/>
                  <a:pt x="439" y="407"/>
                </a:cubicBezTo>
                <a:lnTo>
                  <a:pt x="567" y="279"/>
                </a:lnTo>
                <a:close/>
              </a:path>
            </a:pathLst>
          </a:custGeom>
          <a:solidFill xmlns:a="http://schemas.openxmlformats.org/drawingml/2006/main">
            <a:srgbClr val="8B98B5"/>
          </a:solidFill>
          <a:ln xmlns:a="http://schemas.openxmlformats.org/drawingml/2006/main">
            <a:noFill/>
          </a:ln>
        </p:spPr>
      </p:sp>
      <p:sp>
        <p:nvSpPr>
          <p:cNvPr id="19" name="loop-c">
            <a:extLst xmlns:a="http://schemas.openxmlformats.org/drawingml/2006/main">
              <a:ext uri="{FF2B5EF4-FFF2-40B4-BE49-F238E27FC236}">
                <a16:creationId xmlns:a16="http://schemas.microsoft.com/office/drawing/2014/main" id="{07412FD5-CC75-4EC7-A5C0-0F750B67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68800"/>
            <a:ext cx="228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0A2A6B"/>
                </a:solidFill>
                <a:latin typeface="MiSans"/>
                <a:ea typeface="MiSans"/>
                <a:cs typeface="MiSans"/>
              </a:rPr>
              <a:t>C 端订阅反哺产品</a:t>
            </a:r>
            <a:endParaRPr sz="1150"/>
          </a:p>
        </p:txBody>
      </p:sp>
      <p:sp>
        <p:nvSpPr>
          <p:cNvPr id="20" name="comp-kicker">
            <a:extLst xmlns:a="http://schemas.openxmlformats.org/drawingml/2006/main">
              <a:ext uri="{FF2B5EF4-FFF2-40B4-BE49-F238E27FC236}">
                <a16:creationId xmlns:a16="http://schemas.microsoft.com/office/drawing/2014/main" id="{509DC211-D9C1-42AD-ACE6-2472CABE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中期商业进展与合规底线</a:t>
            </a:r>
            <a:endParaRPr sz="1050"/>
          </a:p>
        </p:txBody>
      </p:sp>
      <p:sp>
        <p:nvSpPr>
          <p:cNvPr id="21" name="comp-list">
            <a:extLst xmlns:a="http://schemas.openxmlformats.org/drawingml/2006/main">
              <a:ext uri="{FF2B5EF4-FFF2-40B4-BE49-F238E27FC236}">
                <a16:creationId xmlns:a16="http://schemas.microsoft.com/office/drawing/2014/main" id="{22D78D17-C913-4ABF-B8A3-7D632690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8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6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双端产品均达到可演示状态，两门 Beta 课程上线；字帖参考库采用 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CC-BY-NC-4.0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 授权数据集，并在产品内明确标注来源与 Beta 身份。</a:t>
            </a:r>
            <a:endParaRPr sz="1050"/>
          </a:p>
          <a:p xmlns:a="http://schemas.openxmlformats.org/drawingml/2006/main">
            <a:pPr algn="l">
              <a:lnSpc>
                <a:spcPct val="16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下一阶段重点：推进试点学校洽谈与小范围真实用户试点，用留存与付费意愿数据验证商业假设。</a:t>
            </a:r>
            <a:endParaRPr sz="1050"/>
          </a:p>
        </p:txBody>
      </p:sp>
      <p:sp>
        <p:nvSpPr>
          <p:cNvPr id="22" name="ft-line">
            <a:extLst xmlns:a="http://schemas.openxmlformats.org/drawingml/2006/main">
              <a:ext uri="{FF2B5EF4-FFF2-40B4-BE49-F238E27FC236}">
                <a16:creationId xmlns:a16="http://schemas.microsoft.com/office/drawing/2014/main" id="{3F944BE7-4F56-42DA-9EF8-EC473DD7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ft-left">
            <a:extLst xmlns:a="http://schemas.openxmlformats.org/drawingml/2006/main">
              <a:ext uri="{FF2B5EF4-FFF2-40B4-BE49-F238E27FC236}">
                <a16:creationId xmlns:a16="http://schemas.microsoft.com/office/drawing/2014/main" id="{3280446A-44D4-4DD3-ACB9-D2337FC0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24" name="ft-page">
            <a:extLst xmlns:a="http://schemas.openxmlformats.org/drawingml/2006/main">
              <a:ext uri="{FF2B5EF4-FFF2-40B4-BE49-F238E27FC236}">
                <a16:creationId xmlns:a16="http://schemas.microsoft.com/office/drawing/2014/main" id="{8B9B0B2B-8F31-4609-93E2-D8630C1E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11 / 13</a:t>
            </a:r>
            <a:endParaRPr sz="900"/>
          </a:p>
        </p:txBody>
      </p:sp>
      <p:sp xmlns:a="http://schemas.openxmlformats.org/drawingml/2006/main">
        <p:nvSpPr>
          <p:cNvPr id="28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4338449"/>
      </p:ext>
    </p:extLst>
  </p:cSld>
</p:sld>
</file>

<file path=ppt/slides/slide12.xml><?xml version="1.0" encoding="utf-8"?>
<p:sld xmlns:p="http://schemas.openxmlformats.org/presentationml/2006/main">
  <p:cSld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2" name="hd-band"/>
          <p:cNvSpPr/>
          <p:nvPr/>
        </p:nvSpPr>
        <p:spPr>
          <a:xfrm>
            <a:off x="0" y="0"/>
            <a:ext cx="12192000" cy="1060704"/>
          </a:xfrm>
          <a:prstGeom prst="rect">
            <a:avLst/>
          </a:prstGeom>
          <a:solidFill>
            <a:srgbClr val="076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C09AB64D-5C5C-45C1-B268-8E65CC14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3751F49C-D8A2-4680-9C97-50B1D8A3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EF381A31-9DF9-46E2-A413-6DC67396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9687A8D-519E-4819-85F8-A5D378DF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84048"/>
            <a:ext cx="93268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下一步计划：向结题与试点冲刺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F9B18612-75DE-4E90-BB84-67875296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64592"/>
            <a:ext cx="8229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10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问题与计划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CC1FC12B-E667-48CC-95AF-79E23D8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tl-line">
            <a:extLst xmlns:a="http://schemas.openxmlformats.org/drawingml/2006/main">
              <a:ext uri="{FF2B5EF4-FFF2-40B4-BE49-F238E27FC236}">
                <a16:creationId xmlns:a16="http://schemas.microsoft.com/office/drawing/2014/main" id="{10CE9913-5244-404D-A5E5-588F1B50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9200"/>
            <a:ext cx="10363200" cy="2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F2"/>
          </a:solidFill>
          <a:ln xmlns:a="http://schemas.openxmlformats.org/drawingml/2006/main">
            <a:noFill/>
          </a:ln>
        </p:spPr>
      </p:sp>
      <p:sp>
        <p:nvSpPr>
          <p:cNvPr id="7" name="tl-dot1">
            <a:extLst xmlns:a="http://schemas.openxmlformats.org/drawingml/2006/main">
              <a:ext uri="{FF2B5EF4-FFF2-40B4-BE49-F238E27FC236}">
                <a16:creationId xmlns:a16="http://schemas.microsoft.com/office/drawing/2014/main" id="{1DC9460A-140F-4CE3-8718-3DF52B67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4003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8" name="tl-date1">
            <a:extLst xmlns:a="http://schemas.openxmlformats.org/drawingml/2006/main">
              <a:ext uri="{FF2B5EF4-FFF2-40B4-BE49-F238E27FC236}">
                <a16:creationId xmlns:a16="http://schemas.microsoft.com/office/drawing/2014/main" id="{C70ED22C-45DC-477F-8878-06AE1DD7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803400"/>
            <a:ext cx="2413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2026.11</a:t>
            </a:r>
            <a:endParaRPr sz="1250"/>
          </a:p>
        </p:txBody>
      </p:sp>
      <p:sp>
        <p:nvSpPr>
          <p:cNvPr id="9" name="tl-title1">
            <a:extLst xmlns:a="http://schemas.openxmlformats.org/drawingml/2006/main">
              <a:ext uri="{FF2B5EF4-FFF2-40B4-BE49-F238E27FC236}">
                <a16:creationId xmlns:a16="http://schemas.microsoft.com/office/drawing/2014/main" id="{9F94F843-7BF6-4FE3-9A37-48F884EB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838450"/>
            <a:ext cx="241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优化 Apple Pencil 支持</a:t>
            </a:r>
            <a:endParaRPr sz="1250" b="1">
              <a:solidFill>
                <a:srgbClr val="14213D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0" name="tl-desc1">
            <a:extLst xmlns:a="http://schemas.openxmlformats.org/drawingml/2006/main">
              <a:ext uri="{FF2B5EF4-FFF2-40B4-BE49-F238E27FC236}">
                <a16:creationId xmlns:a16="http://schemas.microsoft.com/office/drawing/2014/main" id="{34AAFF1A-93B7-4579-B5CB-DDAF38BD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248025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软件工程与美术专业协作，优化压感表现与笔触反馈，提升接近毛笔的书写体验。</a:t>
            </a:r>
            <a:endParaRPr sz="1000" b="1">
              <a:solidFill>
                <a:srgbClr val="5B6B8C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1" name="tl-dot2">
            <a:extLst xmlns:a="http://schemas.openxmlformats.org/drawingml/2006/main">
              <a:ext uri="{FF2B5EF4-FFF2-40B4-BE49-F238E27FC236}">
                <a16:creationId xmlns:a16="http://schemas.microsoft.com/office/drawing/2014/main" id="{980CA1D8-EBDF-44E1-ABFE-CBA84732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12" name="tl-date2">
            <a:extLst xmlns:a="http://schemas.openxmlformats.org/drawingml/2006/main">
              <a:ext uri="{FF2B5EF4-FFF2-40B4-BE49-F238E27FC236}">
                <a16:creationId xmlns:a16="http://schemas.microsoft.com/office/drawing/2014/main" id="{153D1E2D-006F-47E5-8FE0-B0F2AEFC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3400"/>
            <a:ext cx="2413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2026.11 – 12</a:t>
            </a:r>
            <a:endParaRPr sz="1250"/>
          </a:p>
        </p:txBody>
      </p:sp>
      <p:sp>
        <p:nvSpPr>
          <p:cNvPr id="13" name="tl-title2">
            <a:extLst xmlns:a="http://schemas.openxmlformats.org/drawingml/2006/main">
              <a:ext uri="{FF2B5EF4-FFF2-40B4-BE49-F238E27FC236}">
                <a16:creationId xmlns:a16="http://schemas.microsoft.com/office/drawing/2014/main" id="{3010822F-2970-4D45-9A65-668E5915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38450"/>
            <a:ext cx="241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真实场景数据采集</a:t>
            </a:r>
            <a:endParaRPr sz="1250"/>
          </a:p>
        </p:txBody>
      </p:sp>
      <p:sp>
        <p:nvSpPr>
          <p:cNvPr id="14" name="tl-desc2">
            <a:extLst xmlns:a="http://schemas.openxmlformats.org/drawingml/2006/main">
              <a:ext uri="{FF2B5EF4-FFF2-40B4-BE49-F238E27FC236}">
                <a16:creationId xmlns:a16="http://schemas.microsoft.com/office/drawing/2014/main" id="{B2CAB624-DE95-422A-9850-C5563F65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48025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采样</a:t>
            </a: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新书写者数据</a:t>
            </a: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，根据反馈，迭代</a:t>
            </a: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优化</a:t>
            </a:r>
            <a:endParaRPr sz="1000" b="1">
              <a:solidFill>
                <a:srgbClr val="5B6B8C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5" name="tl-dot3">
            <a:extLst xmlns:a="http://schemas.openxmlformats.org/drawingml/2006/main">
              <a:ext uri="{FF2B5EF4-FFF2-40B4-BE49-F238E27FC236}">
                <a16:creationId xmlns:a16="http://schemas.microsoft.com/office/drawing/2014/main" id="{FDD72530-8777-4140-8140-7B859461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24003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16" name="tl-date3">
            <a:extLst xmlns:a="http://schemas.openxmlformats.org/drawingml/2006/main">
              <a:ext uri="{FF2B5EF4-FFF2-40B4-BE49-F238E27FC236}">
                <a16:creationId xmlns:a16="http://schemas.microsoft.com/office/drawing/2014/main" id="{32D4C1D7-6007-45BD-AD08-F7586B94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034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2026.12 – 2027.01</a:t>
            </a:r>
            <a:endParaRPr sz="1250"/>
          </a:p>
        </p:txBody>
      </p:sp>
      <p:sp>
        <p:nvSpPr>
          <p:cNvPr id="17" name="tl-title3">
            <a:extLst xmlns:a="http://schemas.openxmlformats.org/drawingml/2006/main">
              <a:ext uri="{FF2B5EF4-FFF2-40B4-BE49-F238E27FC236}">
                <a16:creationId xmlns:a16="http://schemas.microsoft.com/office/drawing/2014/main" id="{F8FA844B-B454-4DDC-A2D6-8E54854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838450"/>
            <a:ext cx="241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部署收尾</a:t>
            </a:r>
            <a:endParaRPr sz="1250"/>
          </a:p>
        </p:txBody>
      </p:sp>
      <p:sp>
        <p:nvSpPr>
          <p:cNvPr id="18" name="tl-desc3">
            <a:extLst xmlns:a="http://schemas.openxmlformats.org/drawingml/2006/main">
              <a:ext uri="{FF2B5EF4-FFF2-40B4-BE49-F238E27FC236}">
                <a16:creationId xmlns:a16="http://schemas.microsoft.com/office/drawing/2014/main" id="{39A0B2D1-A072-42E7-B830-4C3C19DC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248025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模型服务迁移长期部署、修复 TLS。</a:t>
            </a:r>
            <a:endParaRPr sz="1000"/>
          </a:p>
        </p:txBody>
      </p:sp>
      <p:sp>
        <p:nvSpPr>
          <p:cNvPr id="19" name="tl-dot4">
            <a:extLst xmlns:a="http://schemas.openxmlformats.org/drawingml/2006/main">
              <a:ext uri="{FF2B5EF4-FFF2-40B4-BE49-F238E27FC236}">
                <a16:creationId xmlns:a16="http://schemas.microsoft.com/office/drawing/2014/main" id="{A2481CFF-CA02-449D-8745-E5116E4A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24003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0" name="tl-date4">
            <a:extLst xmlns:a="http://schemas.openxmlformats.org/drawingml/2006/main">
              <a:ext uri="{FF2B5EF4-FFF2-40B4-BE49-F238E27FC236}">
                <a16:creationId xmlns:a16="http://schemas.microsoft.com/office/drawing/2014/main" id="{F16A83CB-C00F-45BE-A46D-12F7570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1803400"/>
            <a:ext cx="2413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2027 春 · 结题</a:t>
            </a:r>
            <a:endParaRPr sz="1250"/>
          </a:p>
        </p:txBody>
      </p:sp>
      <p:sp>
        <p:nvSpPr>
          <p:cNvPr id="21" name="tl-title4">
            <a:extLst xmlns:a="http://schemas.openxmlformats.org/drawingml/2006/main">
              <a:ext uri="{FF2B5EF4-FFF2-40B4-BE49-F238E27FC236}">
                <a16:creationId xmlns:a16="http://schemas.microsoft.com/office/drawing/2014/main" id="{D383C351-1DDB-4F6F-B56A-469CB2B8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838450"/>
            <a:ext cx="241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试点与成果固化</a:t>
            </a:r>
            <a:endParaRPr sz="1250"/>
          </a:p>
        </p:txBody>
      </p:sp>
      <p:sp>
        <p:nvSpPr>
          <p:cNvPr id="22" name="tl-desc4">
            <a:extLst xmlns:a="http://schemas.openxmlformats.org/drawingml/2006/main">
              <a:ext uri="{FF2B5EF4-FFF2-40B4-BE49-F238E27FC236}">
                <a16:creationId xmlns:a16="http://schemas.microsoft.com/office/drawing/2014/main" id="{613FB5EC-51B3-4725-AC5A-4E10553B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3248025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推进附属中小学、幼儿园等学校与小范围用户试点，归档软著、结题报告和演示材料。</a:t>
            </a:r>
            <a:endParaRPr sz="1000"/>
          </a:p>
        </p:txBody>
      </p:sp>
      <p:sp>
        <p:nvSpPr>
          <p:cNvPr id="23" name="goal-band">
            <a:extLst xmlns:a="http://schemas.openxmlformats.org/drawingml/2006/main">
              <a:ext uri="{FF2B5EF4-FFF2-40B4-BE49-F238E27FC236}">
                <a16:creationId xmlns:a16="http://schemas.microsoft.com/office/drawing/2014/main" id="{6B1CF3F7-F1F0-466B-B6BE-E1AC1BEF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14400"/>
          </a:xfrm>
          <a:prstGeom xmlns:a="http://schemas.openxmlformats.org/drawingml/2006/main" prst="roundRect">
            <a:avLst>
              <a:gd name="adj" fmla="val 25781"/>
            </a:avLst>
          </a:prstGeom>
          <a:solidFill xmlns:a="http://schemas.openxmlformats.org/drawingml/2006/main">
            <a:srgbClr val="076DFC"/>
          </a:solidFill>
          <a:ln xmlns:a="http://schemas.openxmlformats.org/drawingml/2006/main" w="0">
            <a:noFill/>
          </a:ln>
        </p:spPr>
      </p:sp>
      <p:sp>
        <p:nvSpPr>
          <p:cNvPr id="24" name="goal-tri">
            <a:extLst xmlns:a="http://schemas.openxmlformats.org/drawingml/2006/main">
              <a:ext uri="{FF2B5EF4-FFF2-40B4-BE49-F238E27FC236}">
                <a16:creationId xmlns:a16="http://schemas.microsoft.com/office/drawing/2014/main" id="{5C214622-F662-49B9-880F-9E0EC661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972800" y="4857750"/>
            <a:ext cx="55245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5" name="goal-text">
            <a:extLst xmlns:a="http://schemas.openxmlformats.org/drawingml/2006/main">
              <a:ext uri="{FF2B5EF4-FFF2-40B4-BE49-F238E27FC236}">
                <a16:creationId xmlns:a16="http://schemas.microsoft.com/office/drawing/2014/main" id="{3A0FD260-3F33-43DB-9B13-7B5CB031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3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结题目标：</a:t>
            </a:r>
            <a:r>
              <a:rPr sz="13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实现</a:t>
            </a:r>
            <a:r>
              <a:rPr sz="13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「数据—模型—产品—验证」的完整闭环</a:t>
            </a:r>
            <a:endParaRPr sz="1350" b="1">
              <a:solidFill>
                <a:srgbClr val="FFFFFF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7" name="ft-line">
            <a:extLst xmlns:a="http://schemas.openxmlformats.org/drawingml/2006/main">
              <a:ext uri="{FF2B5EF4-FFF2-40B4-BE49-F238E27FC236}">
                <a16:creationId xmlns:a16="http://schemas.microsoft.com/office/drawing/2014/main" id="{0266E9F2-DEC9-4444-B9C3-C06568CC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ft-left">
            <a:extLst xmlns:a="http://schemas.openxmlformats.org/drawingml/2006/main">
              <a:ext uri="{FF2B5EF4-FFF2-40B4-BE49-F238E27FC236}">
                <a16:creationId xmlns:a16="http://schemas.microsoft.com/office/drawing/2014/main" id="{1E8ADB91-4221-4669-8FE3-32E94A5D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29" name="ft-page">
            <a:extLst xmlns:a="http://schemas.openxmlformats.org/drawingml/2006/main">
              <a:ext uri="{FF2B5EF4-FFF2-40B4-BE49-F238E27FC236}">
                <a16:creationId xmlns:a16="http://schemas.microsoft.com/office/drawing/2014/main" id="{81845F3D-5239-4049-9532-5B51654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8E9DB4"/>
                </a:solidFill>
                <a:latin typeface="MiSans"/>
                <a:ea typeface="MiSans"/>
                <a:cs typeface="MiSans"/>
              </a:rPr>
              <a:t>12 / 13</a:t>
            </a:r>
            <a:endParaRPr sz="900"/>
          </a:p>
        </p:txBody>
      </p:sp>
      <p:sp xmlns:a="http://schemas.openxmlformats.org/drawingml/2006/main">
        <p:nvSpPr>
          <p:cNvPr id="33" name="ft-rule"/>
          <p:cNvSpPr/>
          <p:nvPr/>
        </p:nvSpPr>
        <p:spPr>
          <a:xfrm>
            <a:off x="612648" y="6483096"/>
            <a:ext cx="10972800" cy="9525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hd-badge"/>
          <p:cNvSpPr/>
          <p:nvPr/>
        </p:nvSpPr>
        <p:spPr>
          <a:xfrm>
            <a:off x="10908792" y="192024"/>
            <a:ext cx="676656" cy="676656"/>
          </a:xfrm>
          <a:prstGeom prst="ellipse">
            <a:avLst/>
          </a:prstGeom>
          <a:solidFill>
            <a:srgbClr val="A8E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254A"/>
                </a:solidFill>
                <a:latin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6018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6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1C2C3-23BC-4BDB-BBFE-71182087F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f09e5d87c4453"/>
          <a:srcRect xmlns:a="http://schemas.openxmlformats.org/drawingml/2006/main" l="0" t="7816" r="0" b="7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cover-blue-photo-tone">
            <a:extLst xmlns:a="http://schemas.openxmlformats.org/drawingml/2006/main">
              <a:ext uri="{FF2B5EF4-FFF2-40B4-BE49-F238E27FC236}">
                <a16:creationId xmlns:a16="http://schemas.microsoft.com/office/drawing/2014/main" id="{631F8010-11C9-4B08-8AE3-B2AEFF4C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FC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o-tri-big">
            <a:extLst xmlns:a="http://schemas.openxmlformats.org/drawingml/2006/main">
              <a:ext uri="{FF2B5EF4-FFF2-40B4-BE49-F238E27FC236}">
                <a16:creationId xmlns:a16="http://schemas.microsoft.com/office/drawing/2014/main" id="{411F0C90-4FC2-4519-956F-73CB1C45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762000" y="5532120"/>
            <a:ext cx="3302000" cy="20116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EB3F">
              <a:alpha val="80000"/>
            </a:srgbClr>
          </a:solidFill>
          <a:ln xmlns:a="http://schemas.openxmlformats.org/drawingml/2006/main">
            <a:noFill/>
          </a:ln>
        </p:spPr>
      </p:sp>
      <p:sp>
        <p:nvSpPr>
          <p:cNvPr id="3" name="deco-tri-small">
            <a:extLst xmlns:a="http://schemas.openxmlformats.org/drawingml/2006/main">
              <a:ext uri="{FF2B5EF4-FFF2-40B4-BE49-F238E27FC236}">
                <a16:creationId xmlns:a16="http://schemas.microsoft.com/office/drawing/2014/main" id="{4C630244-680C-47AA-9673-D5EC3B42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541000" y="762000"/>
            <a:ext cx="1905000" cy="1397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EB3F">
              <a:alpha val="80000"/>
            </a:srgbClr>
          </a:solidFill>
          <a:ln xmlns:a="http://schemas.openxmlformats.org/drawingml/2006/main">
            <a:noFill/>
          </a:ln>
        </p:spPr>
      </p:sp>
      <p:sp>
        <p:nvSpPr>
          <p:cNvPr id="4" name="deco-circle">
            <a:extLst xmlns:a="http://schemas.openxmlformats.org/drawingml/2006/main">
              <a:ext uri="{FF2B5EF4-FFF2-40B4-BE49-F238E27FC236}">
                <a16:creationId xmlns:a16="http://schemas.microsoft.com/office/drawing/2014/main" id="{1D06CEF4-522C-4F19-B57E-8E1298A6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4064000"/>
            <a:ext cx="2159000" cy="215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FFFFFF">
                <a:alpha val="60000"/>
              </a:srgbClr>
            </a:solidFill>
          </a:ln>
        </p:spPr>
      </p:sp>
      <p:sp>
        <p:nvSpPr>
          <p:cNvPr id="5" name="deco-dot">
            <a:extLst xmlns:a="http://schemas.openxmlformats.org/drawingml/2006/main">
              <a:ext uri="{FF2B5EF4-FFF2-40B4-BE49-F238E27FC236}">
                <a16:creationId xmlns:a16="http://schemas.microsoft.com/office/drawing/2014/main" id="{8F976FD2-A96C-4524-BF10-F1B1A56B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200" y="5054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pic>
        <p:nvPicPr>
          <p:cNvPr id="6" name="end-char">
            <a:extLst xmlns:a="http://schemas.openxmlformats.org/drawingml/2006/main">
              <a:ext uri="{FF2B5EF4-FFF2-40B4-BE49-F238E27FC236}">
                <a16:creationId xmlns:a16="http://schemas.microsoft.com/office/drawing/2014/main" id="{D53B1FE8-F7EF-422C-AB08-1722BA2194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427995df14153">
            <a:alphaModFix amt="90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270000"/>
            <a:ext cx="1905000" cy="19050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sp>
        <p:nvSpPr>
          <p:cNvPr id="7" name="end-thanks">
            <a:extLst xmlns:a="http://schemas.openxmlformats.org/drawingml/2006/main">
              <a:ext uri="{FF2B5EF4-FFF2-40B4-BE49-F238E27FC236}">
                <a16:creationId xmlns:a16="http://schemas.microsoft.com/office/drawing/2014/main" id="{DA4B5656-F55D-48DC-9E34-41FD0F86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7112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5400" b="1" spc="60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感谢聆听</a:t>
            </a:r>
            <a:endParaRPr sz="5400"/>
          </a:p>
        </p:txBody>
      </p:sp>
      <p:sp>
        <p:nvSpPr>
          <p:cNvPr id="8" name="end-sub">
            <a:extLst xmlns:a="http://schemas.openxmlformats.org/drawingml/2006/main">
              <a:ext uri="{FF2B5EF4-FFF2-40B4-BE49-F238E27FC236}">
                <a16:creationId xmlns:a16="http://schemas.microsoft.com/office/drawing/2014/main" id="{35A01560-716C-46E8-ABED-C5AFF808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3048000"/>
            <a:ext cx="6604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EAF2FF"/>
                </a:solidFill>
                <a:latin typeface="MiSans"/>
                <a:ea typeface="MiSans"/>
                <a:cs typeface="MiSans"/>
              </a:rPr>
              <a:t>恳请各位老师批评指正</a:t>
            </a:r>
            <a:endParaRPr sz="1600"/>
          </a:p>
        </p:txBody>
      </p:sp>
      <p:sp>
        <p:nvSpPr>
          <p:cNvPr id="9" name="end-tag-bg">
            <a:extLst xmlns:a="http://schemas.openxmlformats.org/drawingml/2006/main">
              <a:ext uri="{FF2B5EF4-FFF2-40B4-BE49-F238E27FC236}">
                <a16:creationId xmlns:a16="http://schemas.microsoft.com/office/drawing/2014/main" id="{A60DF3D7-D322-46BE-A95B-9420F07D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3759200"/>
            <a:ext cx="3175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0" name="end-tag">
            <a:extLst xmlns:a="http://schemas.openxmlformats.org/drawingml/2006/main">
              <a:ext uri="{FF2B5EF4-FFF2-40B4-BE49-F238E27FC236}">
                <a16:creationId xmlns:a16="http://schemas.microsoft.com/office/drawing/2014/main" id="{AC3B2DBF-751A-462A-AB67-08AE6D17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3759200"/>
            <a:ext cx="317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250" b="1" spc="200">
                <a:solidFill>
                  <a:srgbClr val="0A2A6B"/>
                </a:solidFill>
                <a:latin typeface="MiSans"/>
                <a:ea typeface="MiSans"/>
                <a:cs typeface="MiSans"/>
              </a:rPr>
              <a:t>一笔成章 · 中期汇报 · 2026.10</a:t>
            </a:r>
            <a:endParaRPr sz="1250"/>
          </a:p>
        </p:txBody>
      </p:sp>
      <p:sp>
        <p:nvSpPr>
          <p:cNvPr id="11" name="end-info">
            <a:extLst xmlns:a="http://schemas.openxmlformats.org/drawingml/2006/main">
              <a:ext uri="{FF2B5EF4-FFF2-40B4-BE49-F238E27FC236}">
                <a16:creationId xmlns:a16="http://schemas.microsoft.com/office/drawing/2014/main" id="{6C54F18D-FB97-4BBC-8EFC-B39F2D8C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295" y="4521200"/>
            <a:ext cx="584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80000"/>
              </a:lnSpc>
              <a:buNone/>
            </a:pPr>
            <a:r>
              <a:rPr sz="1150" b="1">
                <a:solidFill>
                  <a:srgbClr val="D6E6FF"/>
                </a:solidFill>
                <a:latin typeface="MiSans"/>
                <a:ea typeface="MiSans"/>
                <a:cs typeface="MiSans"/>
              </a:rPr>
              <a:t>汇报人：刘小凡　　指导教师：万成城</a:t>
            </a:r>
            <a:endParaRPr sz="1150"/>
          </a:p>
          <a:p xmlns:a="http://schemas.openxmlformats.org/drawingml/2006/main">
            <a:pPr algn="l">
              <a:lnSpc>
                <a:spcPct val="180000"/>
              </a:lnSpc>
              <a:buNone/>
            </a:pPr>
            <a:r>
              <a:rPr sz="1150" b="1">
                <a:solidFill>
                  <a:srgbClr val="D6E6FF"/>
                </a:solidFill>
                <a:latin typeface="MiSans"/>
                <a:ea typeface="MiSans"/>
                <a:cs typeface="MiSans"/>
              </a:rPr>
              <a:t>华东师范大学 软件工程学院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7709238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2026-10-25T17:11:57.8690000Z</dcterms:created>
  <dcterms:modified xsi:type="dcterms:W3CDTF">2026-10-25T17:11:57.8690000Z</dcterms:modified>
</coreProperties>
</file>