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MiSans" charset="-122"/>
      <p:regular r:id="rId20"/>
    </p:embeddedFont>
  </p:embeddedFontLst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6D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t="7816" b="78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over-org"/>
          <p:cNvSpPr>
            <a:spLocks noGrp="1"/>
          </p:cNvSpPr>
          <p:nvPr/>
        </p:nvSpPr>
        <p:spPr>
          <a:xfrm>
            <a:off x="812800" y="5588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 spc="100">
                <a:solidFill>
                  <a:srgbClr val="D6E6FF"/>
                </a:solidFill>
                <a:latin typeface="MiSans" charset="-122"/>
                <a:ea typeface="MiSans" charset="-122"/>
                <a:cs typeface="MiSans" charset="-122"/>
              </a:rPr>
              <a:t>华东师范大学 · 本科生创新训练培育项目（创业训练类）</a:t>
            </a:r>
            <a:endParaRPr sz="1100"/>
          </a:p>
        </p:txBody>
      </p:sp>
      <p:sp>
        <p:nvSpPr>
          <p:cNvPr id="7" name="cover-title"/>
          <p:cNvSpPr>
            <a:spLocks noGrp="1"/>
          </p:cNvSpPr>
          <p:nvPr/>
        </p:nvSpPr>
        <p:spPr>
          <a:xfrm>
            <a:off x="762000" y="1625600"/>
            <a:ext cx="6096000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6200" b="1" spc="4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iSans" charset="-122"/>
                <a:ea typeface="MiSans" charset="-122"/>
                <a:cs typeface="MiSans" charset="-122"/>
              </a:rPr>
              <a:t>一笔成章</a:t>
            </a:r>
            <a:endParaRPr sz="6200" b="1" spc="4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8" name="cover-sub"/>
          <p:cNvSpPr>
            <a:spLocks noGrp="1"/>
          </p:cNvSpPr>
          <p:nvPr/>
        </p:nvSpPr>
        <p:spPr>
          <a:xfrm>
            <a:off x="812800" y="2819400"/>
            <a:ext cx="596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EAF2FF"/>
                </a:solidFill>
                <a:latin typeface="MiSans" charset="-122"/>
                <a:ea typeface="MiSans" charset="-122"/>
                <a:cs typeface="MiSans" charset="-122"/>
              </a:rPr>
              <a:t>基于视觉模型的全场景汉字书法智能反馈系统</a:t>
            </a:r>
            <a:endParaRPr sz="1800"/>
          </a:p>
        </p:txBody>
      </p:sp>
      <p:sp>
        <p:nvSpPr>
          <p:cNvPr id="9" name="cover-tag-bg"/>
          <p:cNvSpPr>
            <a:spLocks noGrp="1"/>
          </p:cNvSpPr>
          <p:nvPr/>
        </p:nvSpPr>
        <p:spPr>
          <a:xfrm>
            <a:off x="812800" y="3454400"/>
            <a:ext cx="1498600" cy="381000"/>
          </a:xfrm>
          <a:prstGeom prst="roundRect">
            <a:avLst>
              <a:gd name="adj" fmla="val 1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10" name="cover-tag"/>
          <p:cNvSpPr>
            <a:spLocks noGrp="1"/>
          </p:cNvSpPr>
          <p:nvPr/>
        </p:nvSpPr>
        <p:spPr>
          <a:xfrm>
            <a:off x="812800" y="3454400"/>
            <a:ext cx="1498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00" b="1" spc="600">
                <a:solidFill>
                  <a:srgbClr val="0A2A6B"/>
                </a:solidFill>
                <a:latin typeface="MiSans" charset="-122"/>
                <a:ea typeface="MiSans" charset="-122"/>
                <a:cs typeface="MiSans" charset="-122"/>
              </a:rPr>
              <a:t>中期汇报</a:t>
            </a:r>
            <a:endParaRPr sz="1400"/>
          </a:p>
        </p:txBody>
      </p:sp>
      <p:sp>
        <p:nvSpPr>
          <p:cNvPr id="11" name="cover-info"/>
          <p:cNvSpPr>
            <a:spLocks noGrp="1"/>
          </p:cNvSpPr>
          <p:nvPr/>
        </p:nvSpPr>
        <p:spPr>
          <a:xfrm>
            <a:off x="812800" y="43180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80000"/>
              </a:lnSpc>
              <a:buNone/>
            </a:pPr>
            <a:r>
              <a:rPr sz="1200" b="1">
                <a:solidFill>
                  <a:srgbClr val="D6E6FF"/>
                </a:solidFill>
                <a:latin typeface="MiSans" charset="-122"/>
                <a:ea typeface="MiSans" charset="-122"/>
                <a:cs typeface="MiSans" charset="-122"/>
              </a:rPr>
              <a:t>汇报人：刘小凡（软件工程学院）　　指导教师：万成城</a:t>
            </a:r>
            <a:endParaRPr sz="1200"/>
          </a:p>
          <a:p>
            <a:pPr algn="l">
              <a:lnSpc>
                <a:spcPct val="180000"/>
              </a:lnSpc>
              <a:buNone/>
            </a:pPr>
            <a:r>
              <a:rPr sz="1200" b="1">
                <a:solidFill>
                  <a:srgbClr val="D6E6FF"/>
                </a:solidFill>
                <a:latin typeface="MiSans" charset="-122"/>
                <a:ea typeface="MiSans" charset="-122"/>
                <a:cs typeface="MiSans" charset="-122"/>
              </a:rPr>
              <a:t>2026 年 10 月</a:t>
            </a:r>
            <a:endParaRPr sz="1200"/>
          </a:p>
        </p:txBody>
      </p:sp>
      <p:pic>
        <p:nvPicPr>
          <p:cNvPr id="12" name="cover-img"/>
          <p:cNvPicPr>
            <a:picLocks noChangeAspect="1"/>
          </p:cNvPicPr>
          <p:nvPr/>
        </p:nvPicPr>
        <p:blipFill>
          <a:blip r:embed="rId2"/>
          <a:srcRect t="-423" b="-423"/>
          <a:stretch>
            <a:fillRect/>
          </a:stretch>
        </p:blipFill>
        <p:spPr>
          <a:xfrm>
            <a:off x="6985000" y="1242060"/>
            <a:ext cx="4481830" cy="3157220"/>
          </a:xfrm>
          <a:prstGeom prst="rect">
            <a:avLst/>
          </a:prstGeom>
          <a:ln>
            <a:noFill/>
          </a:ln>
        </p:spPr>
      </p:pic>
      <p:sp>
        <p:nvSpPr>
          <p:cNvPr id="13" name="cover-img-cap"/>
          <p:cNvSpPr>
            <a:spLocks noGrp="1"/>
          </p:cNvSpPr>
          <p:nvPr/>
        </p:nvSpPr>
        <p:spPr>
          <a:xfrm>
            <a:off x="7239000" y="46990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950" b="1">
                <a:solidFill>
                  <a:srgbClr val="C9DCFF"/>
                </a:solidFill>
                <a:latin typeface="MiSans" charset="-122"/>
                <a:ea typeface="MiSans" charset="-122"/>
                <a:cs typeface="MiSans" charset="-122"/>
              </a:rPr>
              <a:t>iPad 端 AI 分析结果实拍：参考结构匹配度 + 四图对照 + 点评建议</a:t>
            </a:r>
            <a:endParaRPr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37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项目简介：核心功能与用户画像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01 · 项目背景与意义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sp>
        <p:nvSpPr>
          <p:cNvPr id="6" name="intro-text"/>
          <p:cNvSpPr>
            <a:spLocks noGrp="1"/>
          </p:cNvSpPr>
          <p:nvPr/>
        </p:nvSpPr>
        <p:spPr>
          <a:xfrm>
            <a:off x="609600" y="1295400"/>
            <a:ext cx="5588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「一笔成章」面向汉字书写与书法练习，提供全场景智能反馈。</a:t>
            </a:r>
            <a:endParaRPr sz="1200"/>
          </a:p>
          <a:p>
            <a:pPr algn="l">
              <a:lnSpc>
                <a:spcPct val="155000"/>
              </a:lnSpc>
              <a:spcBef>
                <a:spcPts val="800"/>
              </a:spcBef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平板压感笔实时书写，或拍照上传练字作品，均可获得结构评分与可解释的修改建议。</a:t>
            </a:r>
            <a:endParaRPr sz="1200"/>
          </a:p>
          <a:p>
            <a:pPr algn="l">
              <a:lnSpc>
                <a:spcPct val="155000"/>
              </a:lnSpc>
              <a:spcBef>
                <a:spcPts val="800"/>
              </a:spcBef>
              <a:buNone/>
              <a:def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专业 App 支持深度练习，Web 端覆盖课堂与机房。</a:t>
            </a:r>
            <a:endParaRPr sz="1200"/>
          </a:p>
        </p:txBody>
      </p:sp>
      <p:sp>
        <p:nvSpPr>
          <p:cNvPr id="7" name="func-kicker"/>
          <p:cNvSpPr>
            <a:spLocks noGrp="1"/>
          </p:cNvSpPr>
          <p:nvPr/>
        </p:nvSpPr>
        <p:spPr>
          <a:xfrm>
            <a:off x="609600" y="3403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核心功能</a:t>
            </a:r>
            <a:endParaRPr sz="1050"/>
          </a:p>
        </p:txBody>
      </p:sp>
      <p:sp>
        <p:nvSpPr>
          <p:cNvPr id="8" name="f1-marker"/>
          <p:cNvSpPr>
            <a:spLocks noGrp="1"/>
          </p:cNvSpPr>
          <p:nvPr/>
        </p:nvSpPr>
        <p:spPr>
          <a:xfrm>
            <a:off x="609600" y="3810000"/>
            <a:ext cx="127000" cy="1270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9" name="f1-text"/>
          <p:cNvSpPr>
            <a:spLocks noGrp="1"/>
          </p:cNvSpPr>
          <p:nvPr/>
        </p:nvSpPr>
        <p:spPr>
          <a:xfrm>
            <a:off x="863600" y="37338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实时书写 AI 点评：压感笔书写，即时分析</a:t>
            </a:r>
            <a:endParaRPr sz="1250"/>
          </a:p>
        </p:txBody>
      </p:sp>
      <p:sp>
        <p:nvSpPr>
          <p:cNvPr id="10" name="f2-marker"/>
          <p:cNvSpPr>
            <a:spLocks noGrp="1"/>
          </p:cNvSpPr>
          <p:nvPr/>
        </p:nvSpPr>
        <p:spPr>
          <a:xfrm>
            <a:off x="609600" y="4368800"/>
            <a:ext cx="127000" cy="1270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1" name="f2-text"/>
          <p:cNvSpPr>
            <a:spLocks noGrp="1"/>
          </p:cNvSpPr>
          <p:nvPr/>
        </p:nvSpPr>
        <p:spPr>
          <a:xfrm>
            <a:off x="863600" y="4292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拍照评估：上传练字作品，整体结构诊断</a:t>
            </a:r>
            <a:endParaRPr sz="1250"/>
          </a:p>
        </p:txBody>
      </p:sp>
      <p:sp>
        <p:nvSpPr>
          <p:cNvPr id="12" name="f3-marker"/>
          <p:cNvSpPr>
            <a:spLocks noGrp="1"/>
          </p:cNvSpPr>
          <p:nvPr/>
        </p:nvSpPr>
        <p:spPr>
          <a:xfrm>
            <a:off x="609600" y="4927600"/>
            <a:ext cx="127000" cy="1270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3" name="f3-text"/>
          <p:cNvSpPr>
            <a:spLocks noGrp="1"/>
          </p:cNvSpPr>
          <p:nvPr/>
        </p:nvSpPr>
        <p:spPr>
          <a:xfrm>
            <a:off x="863600" y="4851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参考结构匹配度：与名家范字量化对照</a:t>
            </a:r>
            <a:endParaRPr sz="1250"/>
          </a:p>
        </p:txBody>
      </p:sp>
      <p:sp>
        <p:nvSpPr>
          <p:cNvPr id="14" name="f4-marker"/>
          <p:cNvSpPr>
            <a:spLocks noGrp="1"/>
          </p:cNvSpPr>
          <p:nvPr/>
        </p:nvSpPr>
        <p:spPr>
          <a:xfrm>
            <a:off x="609600" y="5486400"/>
            <a:ext cx="127000" cy="1270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5" name="f4-text"/>
          <p:cNvSpPr>
            <a:spLocks noGrp="1"/>
          </p:cNvSpPr>
          <p:nvPr/>
        </p:nvSpPr>
        <p:spPr>
          <a:xfrm>
            <a:off x="863600" y="54102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1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课程字库 + 个性化修改建议，定位到局部</a:t>
            </a:r>
            <a:endParaRPr sz="1250"/>
          </a:p>
        </p:txBody>
      </p:sp>
      <p:pic>
        <p:nvPicPr>
          <p:cNvPr id="16" name="shot-home"/>
          <p:cNvPicPr>
            <a:picLocks noChangeAspect="1"/>
          </p:cNvPicPr>
          <p:nvPr/>
        </p:nvPicPr>
        <p:blipFill>
          <a:blip r:embed="rId2"/>
          <a:srcRect l="-62" r="-62"/>
          <a:stretch>
            <a:fillRect/>
          </a:stretch>
        </p:blipFill>
        <p:spPr>
          <a:xfrm>
            <a:off x="7112000" y="1219200"/>
            <a:ext cx="4368800" cy="3048000"/>
          </a:xfrm>
          <a:prstGeom prst="rect">
            <a:avLst/>
          </a:prstGeom>
          <a:ln>
            <a:noFill/>
          </a:ln>
        </p:spPr>
      </p:pic>
      <p:sp>
        <p:nvSpPr>
          <p:cNvPr id="17" name="shot-home-cap"/>
          <p:cNvSpPr>
            <a:spLocks noGrp="1"/>
          </p:cNvSpPr>
          <p:nvPr/>
        </p:nvSpPr>
        <p:spPr>
          <a:xfrm>
            <a:off x="7112000" y="4318000"/>
            <a:ext cx="436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iPad 端首页：今日一字 · 学习概览 · 评分趋势</a:t>
            </a:r>
            <a:endParaRPr sz="950"/>
          </a:p>
        </p:txBody>
      </p:sp>
      <p:sp>
        <p:nvSpPr>
          <p:cNvPr id="18" name="user-kicker"/>
          <p:cNvSpPr>
            <a:spLocks noGrp="1"/>
          </p:cNvSpPr>
          <p:nvPr/>
        </p:nvSpPr>
        <p:spPr>
          <a:xfrm>
            <a:off x="7112000" y="4597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用户画像</a:t>
            </a:r>
            <a:endParaRPr sz="1050"/>
          </a:p>
        </p:txBody>
      </p:sp>
      <p:sp>
        <p:nvSpPr>
          <p:cNvPr id="19" name="u1-label"/>
          <p:cNvSpPr>
            <a:spLocks noGrp="1"/>
          </p:cNvSpPr>
          <p:nvPr/>
        </p:nvSpPr>
        <p:spPr>
          <a:xfrm>
            <a:off x="7112000" y="4762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核心群体 · 6–18 岁 K12 学生</a:t>
            </a:r>
            <a:endParaRPr sz="1050"/>
          </a:p>
        </p:txBody>
      </p:sp>
      <p:sp>
        <p:nvSpPr>
          <p:cNvPr id="20" name="u1-pct"/>
          <p:cNvSpPr>
            <a:spLocks noGrp="1"/>
          </p:cNvSpPr>
          <p:nvPr/>
        </p:nvSpPr>
        <p:spPr>
          <a:xfrm>
            <a:off x="10541000" y="4762500"/>
            <a:ext cx="1041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约 60%</a:t>
            </a:r>
            <a:endParaRPr sz="1200"/>
          </a:p>
        </p:txBody>
      </p:sp>
      <p:sp>
        <p:nvSpPr>
          <p:cNvPr id="21" name="u1-track"/>
          <p:cNvSpPr>
            <a:spLocks noGrp="1"/>
          </p:cNvSpPr>
          <p:nvPr/>
        </p:nvSpPr>
        <p:spPr>
          <a:xfrm>
            <a:off x="7112000" y="5016500"/>
            <a:ext cx="4368800" cy="63500"/>
          </a:xfrm>
          <a:prstGeom prst="roundRect">
            <a:avLst>
              <a:gd name="adj" fmla="val 50000"/>
            </a:avLst>
          </a:prstGeom>
          <a:solidFill>
            <a:srgbClr val="DCE3F2"/>
          </a:solidFill>
          <a:ln>
            <a:noFill/>
          </a:ln>
        </p:spPr>
      </p:sp>
      <p:sp>
        <p:nvSpPr>
          <p:cNvPr id="22" name="u1-bar"/>
          <p:cNvSpPr>
            <a:spLocks noGrp="1"/>
          </p:cNvSpPr>
          <p:nvPr/>
        </p:nvSpPr>
        <p:spPr>
          <a:xfrm>
            <a:off x="7112000" y="50165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23" name="u1-need"/>
          <p:cNvSpPr>
            <a:spLocks noGrp="1"/>
          </p:cNvSpPr>
          <p:nvPr/>
        </p:nvSpPr>
        <p:spPr>
          <a:xfrm>
            <a:off x="7112000" y="5105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需求：考级通关、课业要求</a:t>
            </a:r>
            <a:endParaRPr sz="850"/>
          </a:p>
        </p:txBody>
      </p:sp>
      <p:sp>
        <p:nvSpPr>
          <p:cNvPr id="24" name="u2-label"/>
          <p:cNvSpPr>
            <a:spLocks noGrp="1"/>
          </p:cNvSpPr>
          <p:nvPr/>
        </p:nvSpPr>
        <p:spPr>
          <a:xfrm>
            <a:off x="7112000" y="53213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重要群体 · 18–25 岁大学生</a:t>
            </a:r>
            <a:endParaRPr sz="1050"/>
          </a:p>
        </p:txBody>
      </p:sp>
      <p:sp>
        <p:nvSpPr>
          <p:cNvPr id="25" name="u2-pct"/>
          <p:cNvSpPr>
            <a:spLocks noGrp="1"/>
          </p:cNvSpPr>
          <p:nvPr/>
        </p:nvSpPr>
        <p:spPr>
          <a:xfrm>
            <a:off x="10541000" y="5321300"/>
            <a:ext cx="1041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约 25%</a:t>
            </a:r>
            <a:endParaRPr sz="1200"/>
          </a:p>
        </p:txBody>
      </p:sp>
      <p:sp>
        <p:nvSpPr>
          <p:cNvPr id="26" name="u2-track"/>
          <p:cNvSpPr>
            <a:spLocks noGrp="1"/>
          </p:cNvSpPr>
          <p:nvPr/>
        </p:nvSpPr>
        <p:spPr>
          <a:xfrm>
            <a:off x="7112000" y="5575300"/>
            <a:ext cx="4368800" cy="63500"/>
          </a:xfrm>
          <a:prstGeom prst="roundRect">
            <a:avLst>
              <a:gd name="adj" fmla="val 50000"/>
            </a:avLst>
          </a:prstGeom>
          <a:solidFill>
            <a:srgbClr val="DCE3F2"/>
          </a:solidFill>
          <a:ln>
            <a:noFill/>
          </a:ln>
        </p:spPr>
      </p:sp>
      <p:sp>
        <p:nvSpPr>
          <p:cNvPr id="27" name="u2-bar"/>
          <p:cNvSpPr>
            <a:spLocks noGrp="1"/>
          </p:cNvSpPr>
          <p:nvPr/>
        </p:nvSpPr>
        <p:spPr>
          <a:xfrm>
            <a:off x="7112000" y="5575300"/>
            <a:ext cx="1092200" cy="635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28" name="u2-need"/>
          <p:cNvSpPr>
            <a:spLocks noGrp="1"/>
          </p:cNvSpPr>
          <p:nvPr/>
        </p:nvSpPr>
        <p:spPr>
          <a:xfrm>
            <a:off x="7112000" y="56642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需求：素养提升、技能精进</a:t>
            </a:r>
            <a:endParaRPr sz="850"/>
          </a:p>
        </p:txBody>
      </p:sp>
      <p:sp>
        <p:nvSpPr>
          <p:cNvPr id="29" name="u3-label"/>
          <p:cNvSpPr>
            <a:spLocks noGrp="1"/>
          </p:cNvSpPr>
          <p:nvPr/>
        </p:nvSpPr>
        <p:spPr>
          <a:xfrm>
            <a:off x="7112000" y="58801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潜力群体 · 25 岁以上爱好者与职场人</a:t>
            </a:r>
            <a:endParaRPr sz="1050"/>
          </a:p>
        </p:txBody>
      </p:sp>
      <p:sp>
        <p:nvSpPr>
          <p:cNvPr id="30" name="u3-pct"/>
          <p:cNvSpPr>
            <a:spLocks noGrp="1"/>
          </p:cNvSpPr>
          <p:nvPr/>
        </p:nvSpPr>
        <p:spPr>
          <a:xfrm>
            <a:off x="10541000" y="5880100"/>
            <a:ext cx="1041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约 15%</a:t>
            </a:r>
            <a:endParaRPr sz="1200"/>
          </a:p>
        </p:txBody>
      </p:sp>
      <p:sp>
        <p:nvSpPr>
          <p:cNvPr id="31" name="u3-track"/>
          <p:cNvSpPr>
            <a:spLocks noGrp="1"/>
          </p:cNvSpPr>
          <p:nvPr/>
        </p:nvSpPr>
        <p:spPr>
          <a:xfrm>
            <a:off x="7112000" y="6134100"/>
            <a:ext cx="4368800" cy="63500"/>
          </a:xfrm>
          <a:prstGeom prst="roundRect">
            <a:avLst>
              <a:gd name="adj" fmla="val 50000"/>
            </a:avLst>
          </a:prstGeom>
          <a:solidFill>
            <a:srgbClr val="DCE3F2"/>
          </a:solidFill>
          <a:ln>
            <a:noFill/>
          </a:ln>
        </p:spPr>
      </p:sp>
      <p:sp>
        <p:nvSpPr>
          <p:cNvPr id="32" name="u3-bar"/>
          <p:cNvSpPr>
            <a:spLocks noGrp="1"/>
          </p:cNvSpPr>
          <p:nvPr/>
        </p:nvSpPr>
        <p:spPr>
          <a:xfrm>
            <a:off x="7112000" y="6134100"/>
            <a:ext cx="660400" cy="635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33" name="u3-need"/>
          <p:cNvSpPr>
            <a:spLocks noGrp="1"/>
          </p:cNvSpPr>
          <p:nvPr/>
        </p:nvSpPr>
        <p:spPr>
          <a:xfrm>
            <a:off x="7112000" y="62230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需求：修身养性、兴趣深耕</a:t>
            </a:r>
            <a:endParaRPr sz="850"/>
          </a:p>
        </p:txBody>
      </p:sp>
      <p:sp>
        <p:nvSpPr>
          <p:cNvPr id="34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5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36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02 / 13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32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项目背景：政策、市场与书写方式的变革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01 · 项目背景与意义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sp>
        <p:nvSpPr>
          <p:cNvPr id="6" name="b1-circle"/>
          <p:cNvSpPr>
            <a:spLocks noGrp="1"/>
          </p:cNvSpPr>
          <p:nvPr/>
        </p:nvSpPr>
        <p:spPr>
          <a:xfrm>
            <a:off x="609600" y="1346200"/>
            <a:ext cx="558800" cy="558800"/>
          </a:xfrm>
          <a:prstGeom prst="roundRect">
            <a:avLst>
              <a:gd name="adj" fmla="val 27273"/>
            </a:avLst>
          </a:prstGeom>
          <a:solidFill>
            <a:srgbClr val="DFEAFE"/>
          </a:solidFill>
          <a:ln w="0">
            <a:noFill/>
          </a:ln>
        </p:spPr>
      </p:sp>
      <p:sp>
        <p:nvSpPr>
          <p:cNvPr id="7" name="b1-num"/>
          <p:cNvSpPr>
            <a:spLocks noGrp="1"/>
          </p:cNvSpPr>
          <p:nvPr/>
        </p:nvSpPr>
        <p:spPr>
          <a:xfrm>
            <a:off x="609600" y="1346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20000"/>
              </a:lnSpc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endParaRPr sz="1600"/>
          </a:p>
        </p:txBody>
      </p:sp>
      <p:sp>
        <p:nvSpPr>
          <p:cNvPr id="8" name="b1-title"/>
          <p:cNvSpPr>
            <a:spLocks noGrp="1"/>
          </p:cNvSpPr>
          <p:nvPr/>
        </p:nvSpPr>
        <p:spPr>
          <a:xfrm>
            <a:off x="1371600" y="1320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政策支持</a:t>
            </a:r>
            <a:endParaRPr sz="1500"/>
          </a:p>
        </p:txBody>
      </p:sp>
      <p:sp>
        <p:nvSpPr>
          <p:cNvPr id="9" name="b1-desc"/>
          <p:cNvSpPr>
            <a:spLocks noGrp="1"/>
          </p:cNvSpPr>
          <p:nvPr/>
        </p:nvSpPr>
        <p:spPr>
          <a:xfrm>
            <a:off x="1371600" y="16764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教育部《中小学书法教育指导纲要》将书法纳入中小学教学体系；新时代学校美育建设持续推进，「双减」落地后，课后服务对优质书法素质教育内容的需求持续增长。</a:t>
            </a:r>
            <a:endParaRPr sz="1050"/>
          </a:p>
        </p:txBody>
      </p:sp>
      <p:sp>
        <p:nvSpPr>
          <p:cNvPr id="10" name="b1-line"/>
          <p:cNvSpPr>
            <a:spLocks noGrp="1"/>
          </p:cNvSpPr>
          <p:nvPr/>
        </p:nvSpPr>
        <p:spPr>
          <a:xfrm>
            <a:off x="609600" y="2413000"/>
            <a:ext cx="10972800" cy="12700"/>
          </a:xfrm>
          <a:prstGeom prst="rect">
            <a:avLst/>
          </a:prstGeom>
          <a:solidFill>
            <a:srgbClr val="CBD8EB"/>
          </a:solidFill>
          <a:ln>
            <a:noFill/>
          </a:ln>
        </p:spPr>
      </p:sp>
      <p:sp>
        <p:nvSpPr>
          <p:cNvPr id="11" name="b2-circle"/>
          <p:cNvSpPr>
            <a:spLocks noGrp="1"/>
          </p:cNvSpPr>
          <p:nvPr/>
        </p:nvSpPr>
        <p:spPr>
          <a:xfrm>
            <a:off x="609600" y="2692400"/>
            <a:ext cx="558800" cy="558800"/>
          </a:xfrm>
          <a:prstGeom prst="roundRect">
            <a:avLst>
              <a:gd name="adj" fmla="val 27273"/>
            </a:avLst>
          </a:prstGeom>
          <a:solidFill>
            <a:srgbClr val="DFEAFE"/>
          </a:solidFill>
          <a:ln w="0">
            <a:noFill/>
          </a:ln>
        </p:spPr>
      </p:sp>
      <p:sp>
        <p:nvSpPr>
          <p:cNvPr id="12" name="b2-num"/>
          <p:cNvSpPr>
            <a:spLocks noGrp="1"/>
          </p:cNvSpPr>
          <p:nvPr/>
        </p:nvSpPr>
        <p:spPr>
          <a:xfrm>
            <a:off x="609600" y="2692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20000"/>
              </a:lnSpc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endParaRPr sz="1600"/>
          </a:p>
        </p:txBody>
      </p:sp>
      <p:sp>
        <p:nvSpPr>
          <p:cNvPr id="13" name="b2-title"/>
          <p:cNvSpPr>
            <a:spLocks noGrp="1"/>
          </p:cNvSpPr>
          <p:nvPr/>
        </p:nvSpPr>
        <p:spPr>
          <a:xfrm>
            <a:off x="1371600" y="2667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家长群体对书法的重视</a:t>
            </a:r>
            <a:endParaRPr sz="1500"/>
          </a:p>
        </p:txBody>
      </p:sp>
      <p:sp>
        <p:nvSpPr>
          <p:cNvPr id="14" name="b2-desc"/>
          <p:cNvSpPr>
            <a:spLocks noGrp="1"/>
          </p:cNvSpPr>
          <p:nvPr/>
        </p:nvSpPr>
        <p:spPr>
          <a:xfrm>
            <a:off x="1371600" y="3022600"/>
            <a:ext cx="711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家长普遍认可书法在传承传统文化、涵养孩子专注力与审美素养中的核心价值，主动将其纳入综合素质培养体系，并直接转化为实际消费行为——从筛选专业课程、购置笔墨工具，到稳定的学期预算投入。</a:t>
            </a:r>
            <a:endParaRPr sz="1050"/>
          </a:p>
        </p:txBody>
      </p:sp>
      <p:sp>
        <p:nvSpPr>
          <p:cNvPr id="15" name="b2-stat1-border"/>
          <p:cNvSpPr>
            <a:spLocks noGrp="1"/>
          </p:cNvSpPr>
          <p:nvPr/>
        </p:nvSpPr>
        <p:spPr>
          <a:xfrm>
            <a:off x="8839200" y="2971800"/>
            <a:ext cx="342900" cy="28575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16" name="b2-stat1-num"/>
          <p:cNvSpPr>
            <a:spLocks noGrp="1"/>
          </p:cNvSpPr>
          <p:nvPr/>
        </p:nvSpPr>
        <p:spPr>
          <a:xfrm>
            <a:off x="8839200" y="30988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41.58%</a:t>
            </a:r>
            <a:endParaRPr sz="2200"/>
          </a:p>
        </p:txBody>
      </p:sp>
      <p:sp>
        <p:nvSpPr>
          <p:cNvPr id="17" name="b2-stat1-label"/>
          <p:cNvSpPr>
            <a:spLocks noGrp="1"/>
          </p:cNvSpPr>
          <p:nvPr/>
        </p:nvSpPr>
        <p:spPr>
          <a:xfrm>
            <a:off x="8839200" y="35052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愿意投入 1000–3000 元/学期</a:t>
            </a:r>
            <a:endParaRPr sz="900"/>
          </a:p>
        </p:txBody>
      </p:sp>
      <p:sp>
        <p:nvSpPr>
          <p:cNvPr id="18" name="b2-stat2-border"/>
          <p:cNvSpPr>
            <a:spLocks noGrp="1"/>
          </p:cNvSpPr>
          <p:nvPr/>
        </p:nvSpPr>
        <p:spPr>
          <a:xfrm>
            <a:off x="10312400" y="2971800"/>
            <a:ext cx="342900" cy="28575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19" name="b2-stat2-num"/>
          <p:cNvSpPr>
            <a:spLocks noGrp="1"/>
          </p:cNvSpPr>
          <p:nvPr/>
        </p:nvSpPr>
        <p:spPr>
          <a:xfrm>
            <a:off x="10312400" y="30988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11.88%</a:t>
            </a:r>
            <a:endParaRPr sz="2200"/>
          </a:p>
        </p:txBody>
      </p:sp>
      <p:sp>
        <p:nvSpPr>
          <p:cNvPr id="20" name="b2-stat2-label"/>
          <p:cNvSpPr>
            <a:spLocks noGrp="1"/>
          </p:cNvSpPr>
          <p:nvPr/>
        </p:nvSpPr>
        <p:spPr>
          <a:xfrm>
            <a:off x="10312400" y="35052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愿意投入 5000 元以上/学期</a:t>
            </a:r>
            <a:endParaRPr sz="900"/>
          </a:p>
        </p:txBody>
      </p:sp>
      <p:sp>
        <p:nvSpPr>
          <p:cNvPr id="21" name="b2-line"/>
          <p:cNvSpPr>
            <a:spLocks noGrp="1"/>
          </p:cNvSpPr>
          <p:nvPr/>
        </p:nvSpPr>
        <p:spPr>
          <a:xfrm>
            <a:off x="609600" y="4089400"/>
            <a:ext cx="10972800" cy="12700"/>
          </a:xfrm>
          <a:prstGeom prst="rect">
            <a:avLst/>
          </a:prstGeom>
          <a:solidFill>
            <a:srgbClr val="CBD8EB"/>
          </a:solidFill>
          <a:ln>
            <a:noFill/>
          </a:ln>
        </p:spPr>
      </p:sp>
      <p:sp>
        <p:nvSpPr>
          <p:cNvPr id="22" name="b3-circle"/>
          <p:cNvSpPr>
            <a:spLocks noGrp="1"/>
          </p:cNvSpPr>
          <p:nvPr/>
        </p:nvSpPr>
        <p:spPr>
          <a:xfrm>
            <a:off x="609600" y="4368800"/>
            <a:ext cx="558800" cy="558800"/>
          </a:xfrm>
          <a:prstGeom prst="roundRect">
            <a:avLst>
              <a:gd name="adj" fmla="val 27273"/>
            </a:avLst>
          </a:prstGeom>
          <a:solidFill>
            <a:srgbClr val="DFEAFE"/>
          </a:solidFill>
          <a:ln w="0">
            <a:noFill/>
          </a:ln>
        </p:spPr>
      </p:sp>
      <p:sp>
        <p:nvSpPr>
          <p:cNvPr id="23" name="b3-num"/>
          <p:cNvSpPr>
            <a:spLocks noGrp="1"/>
          </p:cNvSpPr>
          <p:nvPr/>
        </p:nvSpPr>
        <p:spPr>
          <a:xfrm>
            <a:off x="609600" y="43688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20000"/>
              </a:lnSpc>
              <a:buNone/>
              <a:def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72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endParaRPr sz="1600"/>
          </a:p>
        </p:txBody>
      </p:sp>
      <p:sp>
        <p:nvSpPr>
          <p:cNvPr id="24" name="b3-title"/>
          <p:cNvSpPr>
            <a:spLocks noGrp="1"/>
          </p:cNvSpPr>
          <p:nvPr/>
        </p:nvSpPr>
        <p:spPr>
          <a:xfrm>
            <a:off x="1371600" y="4343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无纸化学习成为趋势</a:t>
            </a:r>
            <a:endParaRPr sz="1500"/>
          </a:p>
        </p:txBody>
      </p:sp>
      <p:sp>
        <p:nvSpPr>
          <p:cNvPr id="25" name="b3-desc"/>
          <p:cNvSpPr>
            <a:spLocks noGrp="1"/>
          </p:cNvSpPr>
          <p:nvPr/>
        </p:nvSpPr>
        <p:spPr>
          <a:xfrm>
            <a:off x="1371600" y="4699000"/>
            <a:ext cx="9906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随着平板与手写笔硬件价格降低，越来越多学生选择无纸化学习，高校中尤为突出。「电子纸」作为全新的书写介质，用户初次上手难以适应书写体验，想写出一手好字同样需要练习；无纸化同时减少纸张消耗，是未来书写介质发展的一大趋势。</a:t>
            </a:r>
            <a:endParaRPr sz="1050"/>
          </a:p>
        </p:txBody>
      </p:sp>
      <p:sp>
        <p:nvSpPr>
          <p:cNvPr id="26" name="concl-band"/>
          <p:cNvSpPr>
            <a:spLocks noGrp="1"/>
          </p:cNvSpPr>
          <p:nvPr/>
        </p:nvSpPr>
        <p:spPr>
          <a:xfrm>
            <a:off x="609600" y="5740400"/>
            <a:ext cx="10972800" cy="558800"/>
          </a:xfrm>
          <a:prstGeom prst="roundRect">
            <a:avLst>
              <a:gd name="adj" fmla="val 20455"/>
            </a:avLst>
          </a:prstGeom>
          <a:solidFill>
            <a:srgbClr val="EEF4FE"/>
          </a:solidFill>
          <a:ln>
            <a:noFill/>
          </a:ln>
        </p:spPr>
      </p:sp>
      <p:sp>
        <p:nvSpPr>
          <p:cNvPr id="27" name="concl-bar"/>
          <p:cNvSpPr>
            <a:spLocks noGrp="1"/>
          </p:cNvSpPr>
          <p:nvPr/>
        </p:nvSpPr>
        <p:spPr>
          <a:xfrm>
            <a:off x="609600" y="5740400"/>
            <a:ext cx="50800" cy="558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28" name="concl-text"/>
          <p:cNvSpPr>
            <a:spLocks noGrp="1"/>
          </p:cNvSpPr>
          <p:nvPr/>
        </p:nvSpPr>
        <p:spPr>
          <a:xfrm>
            <a:off x="863600" y="5740400"/>
            <a:ext cx="10541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政策有导向、家庭有预算、介质在变革——</a:t>
            </a:r>
            <a:r>
              <a:rPr sz="11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智能书法反馈的需求窗口已经打开</a:t>
            </a:r>
            <a:r>
              <a:rPr sz="11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。</a:t>
            </a:r>
            <a:endParaRPr sz="1150"/>
          </a:p>
        </p:txBody>
      </p:sp>
      <p:sp>
        <p:nvSpPr>
          <p:cNvPr id="29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31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03 / 13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29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市场痛点：软件供给跟不上硬件与需求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01 · 项目背景与意义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sp>
        <p:nvSpPr>
          <p:cNvPr id="6" name="gap-kicker"/>
          <p:cNvSpPr>
            <a:spLocks noGrp="1"/>
          </p:cNvSpPr>
          <p:nvPr/>
        </p:nvSpPr>
        <p:spPr>
          <a:xfrm>
            <a:off x="609600" y="1270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现有书法软件的不足</a:t>
            </a:r>
            <a:endParaRPr sz="1050"/>
          </a:p>
        </p:txBody>
      </p:sp>
      <p:sp>
        <p:nvSpPr>
          <p:cNvPr id="7" name="gap-band"/>
          <p:cNvSpPr>
            <a:spLocks noGrp="1"/>
          </p:cNvSpPr>
          <p:nvPr/>
        </p:nvSpPr>
        <p:spPr>
          <a:xfrm>
            <a:off x="609600" y="1574800"/>
            <a:ext cx="10972800" cy="1219200"/>
          </a:xfrm>
          <a:prstGeom prst="roundRect">
            <a:avLst>
              <a:gd name="adj" fmla="val 9375"/>
            </a:avLst>
          </a:prstGeom>
          <a:solidFill>
            <a:srgbClr val="EEF4FE"/>
          </a:solidFill>
          <a:ln w="0">
            <a:noFill/>
          </a:ln>
        </p:spPr>
      </p:sp>
      <p:sp>
        <p:nvSpPr>
          <p:cNvPr id="8" name="gap1-icon"/>
          <p:cNvSpPr>
            <a:spLocks noGrp="1"/>
          </p:cNvSpPr>
          <p:nvPr/>
        </p:nvSpPr>
        <p:spPr>
          <a:xfrm>
            <a:off x="9144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9" name="gap1-text"/>
          <p:cNvSpPr>
            <a:spLocks noGrp="1"/>
          </p:cNvSpPr>
          <p:nvPr/>
        </p:nvSpPr>
        <p:spPr>
          <a:xfrm>
            <a:off x="1295400" y="16764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市面书法练习软件</a:t>
            </a:r>
            <a:r>
              <a: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几乎全部局限于提供字帖进行临摹或分享</a:t>
            </a:r>
            <a:r>
              <a: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，缺乏对练习者的指导性功能。</a:t>
            </a:r>
            <a:endParaRPr sz="1100"/>
          </a:p>
        </p:txBody>
      </p:sp>
      <p:sp>
        <p:nvSpPr>
          <p:cNvPr id="10" name="gap2-icon"/>
          <p:cNvSpPr>
            <a:spLocks noGrp="1"/>
          </p:cNvSpPr>
          <p:nvPr/>
        </p:nvSpPr>
        <p:spPr>
          <a:xfrm>
            <a:off x="914400" y="2260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11" name="gap2-text"/>
          <p:cNvSpPr>
            <a:spLocks noGrp="1"/>
          </p:cNvSpPr>
          <p:nvPr/>
        </p:nvSpPr>
        <p:spPr>
          <a:xfrm>
            <a:off x="1295400" y="21590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主流手写笔已支持 </a:t>
            </a:r>
            <a:r>
              <a: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4096 级压感</a:t>
            </a:r>
            <a:r>
              <a:rPr sz="12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，但软件功能未能跟进硬件进步，丰富的书写数据被白白浪费。</a:t>
            </a:r>
            <a:endParaRPr sz="1100"/>
          </a:p>
        </p:txBody>
      </p:sp>
      <p:sp>
        <p:nvSpPr>
          <p:cNvPr id="12" name="arrow-down"/>
          <p:cNvSpPr>
            <a:spLocks noGrp="1"/>
          </p:cNvSpPr>
          <p:nvPr/>
        </p:nvSpPr>
        <p:spPr>
          <a:xfrm>
            <a:off x="914400" y="2971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137" y="535"/>
                </a:moveTo>
                <a:cubicBezTo>
                  <a:pt x="150" y="547"/>
                  <a:pt x="170" y="547"/>
                  <a:pt x="183" y="535"/>
                </a:cubicBezTo>
                <a:lnTo>
                  <a:pt x="311" y="407"/>
                </a:lnTo>
                <a:cubicBezTo>
                  <a:pt x="323" y="394"/>
                  <a:pt x="323" y="374"/>
                  <a:pt x="311" y="361"/>
                </a:cubicBezTo>
                <a:cubicBezTo>
                  <a:pt x="298" y="349"/>
                  <a:pt x="278" y="349"/>
                  <a:pt x="265" y="361"/>
                </a:cubicBezTo>
                <a:lnTo>
                  <a:pt x="192" y="435"/>
                </a:lnTo>
                <a:lnTo>
                  <a:pt x="192" y="0"/>
                </a:lnTo>
                <a:cubicBezTo>
                  <a:pt x="192" y="-18"/>
                  <a:pt x="178" y="-32"/>
                  <a:pt x="160" y="-32"/>
                </a:cubicBezTo>
                <a:cubicBezTo>
                  <a:pt x="142" y="-32"/>
                  <a:pt x="128" y="-18"/>
                  <a:pt x="128" y="0"/>
                </a:cubicBezTo>
                <a:lnTo>
                  <a:pt x="128" y="435"/>
                </a:lnTo>
                <a:lnTo>
                  <a:pt x="55" y="361"/>
                </a:lnTo>
                <a:cubicBezTo>
                  <a:pt x="42" y="349"/>
                  <a:pt x="22" y="349"/>
                  <a:pt x="9" y="361"/>
                </a:cubicBezTo>
                <a:cubicBezTo>
                  <a:pt x="-3" y="374"/>
                  <a:pt x="-3" y="394"/>
                  <a:pt x="9" y="407"/>
                </a:cubicBezTo>
                <a:lnTo>
                  <a:pt x="137" y="535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13" name="pain-lead"/>
          <p:cNvSpPr>
            <a:spLocks noGrp="1"/>
          </p:cNvSpPr>
          <p:nvPr/>
        </p:nvSpPr>
        <p:spPr>
          <a:xfrm>
            <a:off x="1270000" y="29210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传导到练习者身上，是三个长期未被解决的痛点</a:t>
            </a:r>
            <a:endParaRPr sz="1250"/>
          </a:p>
        </p:txBody>
      </p:sp>
      <p:sp>
        <p:nvSpPr>
          <p:cNvPr id="14" name="p1-marker"/>
          <p:cNvSpPr>
            <a:spLocks noGrp="1"/>
          </p:cNvSpPr>
          <p:nvPr/>
        </p:nvSpPr>
        <p:spPr>
          <a:xfrm>
            <a:off x="609600" y="3505200"/>
            <a:ext cx="127000" cy="1270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5" name="p1-lead"/>
          <p:cNvSpPr>
            <a:spLocks noGrp="1"/>
          </p:cNvSpPr>
          <p:nvPr/>
        </p:nvSpPr>
        <p:spPr>
          <a:xfrm>
            <a:off x="863600" y="3403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反馈滞后</a:t>
            </a:r>
            <a:endParaRPr sz="1400"/>
          </a:p>
        </p:txBody>
      </p:sp>
      <p:sp>
        <p:nvSpPr>
          <p:cNvPr id="16" name="p1-desc"/>
          <p:cNvSpPr>
            <a:spLocks noGrp="1"/>
          </p:cNvSpPr>
          <p:nvPr/>
        </p:nvSpPr>
        <p:spPr>
          <a:xfrm>
            <a:off x="863600" y="3759200"/>
            <a:ext cx="3175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传统课堂一对多，作业批改周期长，问题笔画得不到及时纠正，错误写法反复固化。</a:t>
            </a:r>
            <a:endParaRPr sz="1050"/>
          </a:p>
        </p:txBody>
      </p:sp>
      <p:sp>
        <p:nvSpPr>
          <p:cNvPr id="17" name="p2-marker"/>
          <p:cNvSpPr>
            <a:spLocks noGrp="1"/>
          </p:cNvSpPr>
          <p:nvPr/>
        </p:nvSpPr>
        <p:spPr>
          <a:xfrm>
            <a:off x="4521200" y="3505200"/>
            <a:ext cx="127000" cy="1270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8" name="p2-lead"/>
          <p:cNvSpPr>
            <a:spLocks noGrp="1"/>
          </p:cNvSpPr>
          <p:nvPr/>
        </p:nvSpPr>
        <p:spPr>
          <a:xfrm>
            <a:off x="4775200" y="3403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评价主观</a:t>
            </a:r>
            <a:endParaRPr sz="1400"/>
          </a:p>
        </p:txBody>
      </p:sp>
      <p:sp>
        <p:nvSpPr>
          <p:cNvPr id="19" name="p2-desc"/>
          <p:cNvSpPr>
            <a:spLocks noGrp="1"/>
          </p:cNvSpPr>
          <p:nvPr/>
        </p:nvSpPr>
        <p:spPr>
          <a:xfrm>
            <a:off x="4775200" y="3759200"/>
            <a:ext cx="3175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缺少可量化的结构标准，「写得好不好」长期依赖个人感觉，练习者无法自我判断。</a:t>
            </a:r>
            <a:endParaRPr sz="1050"/>
          </a:p>
        </p:txBody>
      </p:sp>
      <p:sp>
        <p:nvSpPr>
          <p:cNvPr id="20" name="p3-marker"/>
          <p:cNvSpPr>
            <a:spLocks noGrp="1"/>
          </p:cNvSpPr>
          <p:nvPr/>
        </p:nvSpPr>
        <p:spPr>
          <a:xfrm>
            <a:off x="8432800" y="3505200"/>
            <a:ext cx="127000" cy="1270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21" name="p3-lead"/>
          <p:cNvSpPr>
            <a:spLocks noGrp="1"/>
          </p:cNvSpPr>
          <p:nvPr/>
        </p:nvSpPr>
        <p:spPr>
          <a:xfrm>
            <a:off x="8686800" y="3403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练习静态</a:t>
            </a:r>
            <a:endParaRPr sz="1400"/>
          </a:p>
        </p:txBody>
      </p:sp>
      <p:sp>
        <p:nvSpPr>
          <p:cNvPr id="22" name="p3-desc"/>
          <p:cNvSpPr>
            <a:spLocks noGrp="1"/>
          </p:cNvSpPr>
          <p:nvPr/>
        </p:nvSpPr>
        <p:spPr>
          <a:xfrm>
            <a:off x="8686800" y="3759200"/>
            <a:ext cx="2895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字帖只能临摹对照，无法针对个人问题给出具体修改路径，练习效率低、容易放弃。</a:t>
            </a:r>
            <a:endParaRPr sz="1050"/>
          </a:p>
        </p:txBody>
      </p:sp>
      <p:sp>
        <p:nvSpPr>
          <p:cNvPr id="23" name="ans-line"/>
          <p:cNvSpPr>
            <a:spLocks noGrp="1"/>
          </p:cNvSpPr>
          <p:nvPr/>
        </p:nvSpPr>
        <p:spPr>
          <a:xfrm>
            <a:off x="609600" y="4978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" name="ans-kicker"/>
          <p:cNvSpPr>
            <a:spLocks noGrp="1"/>
          </p:cNvSpPr>
          <p:nvPr/>
        </p:nvSpPr>
        <p:spPr>
          <a:xfrm>
            <a:off x="609600" y="518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我们的回答</a:t>
            </a:r>
            <a:endParaRPr sz="1050"/>
          </a:p>
        </p:txBody>
      </p:sp>
      <p:sp>
        <p:nvSpPr>
          <p:cNvPr id="25" name="ans-text"/>
          <p:cNvSpPr>
            <a:spLocks noGrp="1"/>
          </p:cNvSpPr>
          <p:nvPr/>
        </p:nvSpPr>
        <p:spPr>
          <a:xfrm>
            <a:off x="609600" y="5461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以视觉模型提供即时反馈、量化标准与个性化建议。</a:t>
            </a:r>
            <a:endParaRPr sz="1250"/>
          </a:p>
          <a:p>
            <a:pPr algn="l">
              <a:lnSpc>
                <a:spcPct val="155000"/>
              </a:lnSpc>
              <a:buNone/>
              <a:def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书写完成即生成结构评分，公开评分依据，并把修改建议定位到具体局部。</a:t>
            </a:r>
            <a:endParaRPr sz="1250"/>
          </a:p>
        </p:txBody>
      </p:sp>
      <p:sp>
        <p:nvSpPr>
          <p:cNvPr id="26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7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28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04 / 13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13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迭代逻辑：</a:t>
            </a: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以往</a:t>
            </a: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的局限，今年的解法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01 · 项目背景与意义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graphicFrame>
        <p:nvGraphicFramePr>
          <p:cNvPr id="6" name="iter-table"/>
          <p:cNvGraphicFramePr/>
          <p:nvPr/>
        </p:nvGraphicFramePr>
        <p:xfrm>
          <a:off x="609600" y="1295400"/>
          <a:ext cx="10972800" cy="4191002"/>
        </p:xfrm>
        <a:graphic>
          <a:graphicData uri="http://schemas.openxmlformats.org/drawingml/2006/table">
            <a:tbl>
              <a:tblPr/>
              <a:tblGrid>
                <a:gridCol w="3511296"/>
                <a:gridCol w="3950208"/>
                <a:gridCol w="3511296"/>
              </a:tblGrid>
              <a:tr h="46101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往昔</a:t>
                      </a:r>
                      <a:r>
                        <a:rPr sz="1165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成果的局限</a:t>
                      </a:r>
                      <a:endParaRPr sz="11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今年的解法</a:t>
                      </a:r>
                      <a:endParaRPr sz="11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验证证据</a:t>
                      </a:r>
                      <a:endParaRPr sz="11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评估口径自定：U-Net 自定义准确率约 85.2%，难以横向比较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统一六通道 schema，采用 Dice / IoU / 关键点 F1 / 边界 F1 标准指标体系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U-Net 可信基线 0.891；B2 标准划分 Macro Dice 0.958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数据治理缺失：标注一度遗失，划分混入错配与重复样本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840 份原始 GT 全量找回校验；语义 QC 剔除 12 错配 + 59 重复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769 个洁净独立样本，划分冻结并 SHA-256 留档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泛化能力未知：训练与测试同字出现，高分不等于能评新字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字符隔离的 character-disjoint 划分，三模型公平比较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未见字 Dice 0.887，三模型中下降最小（7.2 pp）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评分不透明：整体点评打分，依据无法向用户解释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受限对齐 + 公式公开的参考结构匹配度，建议逐条对应证据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5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经受控扰动、对齐消融与人工盲评三重验证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</a:tr>
            </a:tbl>
          </a:graphicData>
        </a:graphic>
      </p:graphicFrame>
      <p:sp>
        <p:nvSpPr>
          <p:cNvPr id="7" name="iter-note-band"/>
          <p:cNvSpPr>
            <a:spLocks noGrp="1"/>
          </p:cNvSpPr>
          <p:nvPr/>
        </p:nvSpPr>
        <p:spPr>
          <a:xfrm>
            <a:off x="609600" y="5715000"/>
            <a:ext cx="10972800" cy="584200"/>
          </a:xfrm>
          <a:prstGeom prst="roundRect">
            <a:avLst>
              <a:gd name="adj" fmla="val 19565"/>
            </a:avLst>
          </a:prstGeom>
          <a:solidFill>
            <a:srgbClr val="EEF4FE"/>
          </a:solidFill>
          <a:ln>
            <a:noFill/>
          </a:ln>
        </p:spPr>
      </p:sp>
      <p:sp>
        <p:nvSpPr>
          <p:cNvPr id="8" name="iter-note-bar"/>
          <p:cNvSpPr>
            <a:spLocks noGrp="1"/>
          </p:cNvSpPr>
          <p:nvPr/>
        </p:nvSpPr>
        <p:spPr>
          <a:xfrm>
            <a:off x="609600" y="57150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9" name="iter-note"/>
          <p:cNvSpPr>
            <a:spLocks noGrp="1"/>
          </p:cNvSpPr>
          <p:nvPr/>
        </p:nvSpPr>
        <p:spPr>
          <a:xfrm>
            <a:off x="863600" y="5715000"/>
            <a:ext cx="10541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5000"/>
              </a:lnSpc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往昔</a:t>
            </a:r>
            <a:r>
              <a:rPr sz="11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的采集链路与标签生成逻辑仍是今年数据资产的基础——</a:t>
            </a:r>
            <a:r>
              <a:rPr sz="11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迭代不是推翻，而是在原有地基上接续建设</a:t>
            </a:r>
            <a:r>
              <a:rPr sz="110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。</a:t>
            </a:r>
            <a:endParaRPr sz="1100"/>
          </a:p>
        </p:txBody>
      </p:sp>
      <p:sp>
        <p:nvSpPr>
          <p:cNvPr id="10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1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12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05 / 13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72" name="图片 7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1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70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中期总览：从数据到产品的完整闭环已经打通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02 · 中期核心进展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sp>
        <p:nvSpPr>
          <p:cNvPr id="6" name="s1-box"/>
          <p:cNvSpPr>
            <a:spLocks noGrp="1"/>
          </p:cNvSpPr>
          <p:nvPr/>
        </p:nvSpPr>
        <p:spPr>
          <a:xfrm>
            <a:off x="609600" y="1498600"/>
            <a:ext cx="1625600" cy="3048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</p:sp>
      <p:sp>
        <p:nvSpPr>
          <p:cNvPr id="7" name="s1-num"/>
          <p:cNvSpPr>
            <a:spLocks noGrp="1"/>
          </p:cNvSpPr>
          <p:nvPr/>
        </p:nvSpPr>
        <p:spPr>
          <a:xfrm>
            <a:off x="609600" y="1390650"/>
            <a:ext cx="16383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endParaRPr sz="1100"/>
          </a:p>
        </p:txBody>
      </p:sp>
      <p:sp>
        <p:nvSpPr>
          <p:cNvPr id="8" name="s1-title"/>
          <p:cNvSpPr>
            <a:spLocks noGrp="1"/>
          </p:cNvSpPr>
          <p:nvPr/>
        </p:nvSpPr>
        <p:spPr>
          <a:xfrm>
            <a:off x="609600" y="191452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数据恢复与 QC</a:t>
            </a:r>
            <a:endParaRPr sz="1250"/>
          </a:p>
        </p:txBody>
      </p:sp>
      <p:sp>
        <p:nvSpPr>
          <p:cNvPr id="9" name="s1-desc"/>
          <p:cNvSpPr>
            <a:spLocks noGrp="1"/>
          </p:cNvSpPr>
          <p:nvPr/>
        </p:nvSpPr>
        <p:spPr>
          <a:xfrm>
            <a:off x="609600" y="2286000"/>
            <a:ext cx="1638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840 份 GT 找回校验，769 个洁净样本</a:t>
            </a:r>
            <a:endParaRPr sz="950"/>
          </a:p>
        </p:txBody>
      </p:sp>
      <p:sp>
        <p:nvSpPr>
          <p:cNvPr id="10" name="s1-check"/>
          <p:cNvSpPr>
            <a:spLocks noGrp="1"/>
          </p:cNvSpPr>
          <p:nvPr/>
        </p:nvSpPr>
        <p:spPr>
          <a:xfrm>
            <a:off x="609600" y="289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11" name="s1-done"/>
          <p:cNvSpPr>
            <a:spLocks noGrp="1"/>
          </p:cNvSpPr>
          <p:nvPr/>
        </p:nvSpPr>
        <p:spPr>
          <a:xfrm>
            <a:off x="847725" y="2867025"/>
            <a:ext cx="1333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已完成</a:t>
            </a:r>
            <a:endParaRPr sz="1000"/>
          </a:p>
        </p:txBody>
      </p:sp>
      <p:sp>
        <p:nvSpPr>
          <p:cNvPr id="12" name="a1"/>
          <p:cNvSpPr>
            <a:spLocks noGrp="1"/>
          </p:cNvSpPr>
          <p:nvPr/>
        </p:nvSpPr>
        <p:spPr>
          <a:xfrm>
            <a:off x="2276475" y="204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AEC1DE"/>
          </a:solidFill>
          <a:ln>
            <a:noFill/>
          </a:ln>
        </p:spPr>
      </p:sp>
      <p:sp>
        <p:nvSpPr>
          <p:cNvPr id="13" name="s2-box"/>
          <p:cNvSpPr>
            <a:spLocks noGrp="1"/>
          </p:cNvSpPr>
          <p:nvPr/>
        </p:nvSpPr>
        <p:spPr>
          <a:xfrm>
            <a:off x="2565400" y="1498600"/>
            <a:ext cx="1625600" cy="3048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</p:sp>
      <p:sp>
        <p:nvSpPr>
          <p:cNvPr id="14" name="s2-num"/>
          <p:cNvSpPr>
            <a:spLocks noGrp="1"/>
          </p:cNvSpPr>
          <p:nvPr/>
        </p:nvSpPr>
        <p:spPr>
          <a:xfrm>
            <a:off x="2476500" y="1390650"/>
            <a:ext cx="16383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endParaRPr sz="1100"/>
          </a:p>
        </p:txBody>
      </p:sp>
      <p:sp>
        <p:nvSpPr>
          <p:cNvPr id="15" name="s2-title"/>
          <p:cNvSpPr>
            <a:spLocks noGrp="1"/>
          </p:cNvSpPr>
          <p:nvPr/>
        </p:nvSpPr>
        <p:spPr>
          <a:xfrm>
            <a:off x="2476500" y="191452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U-Net 可信基线</a:t>
            </a:r>
            <a:endParaRPr sz="1250"/>
          </a:p>
        </p:txBody>
      </p:sp>
      <p:sp>
        <p:nvSpPr>
          <p:cNvPr id="16" name="s2-desc"/>
          <p:cNvSpPr>
            <a:spLocks noGrp="1"/>
          </p:cNvSpPr>
          <p:nvPr/>
        </p:nvSpPr>
        <p:spPr>
          <a:xfrm>
            <a:off x="2476500" y="2286000"/>
            <a:ext cx="1638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统一数据与评测框架下重测基线</a:t>
            </a:r>
            <a:endParaRPr sz="950"/>
          </a:p>
        </p:txBody>
      </p:sp>
      <p:sp>
        <p:nvSpPr>
          <p:cNvPr id="17" name="s2-check"/>
          <p:cNvSpPr>
            <a:spLocks noGrp="1"/>
          </p:cNvSpPr>
          <p:nvPr/>
        </p:nvSpPr>
        <p:spPr>
          <a:xfrm>
            <a:off x="2476500" y="289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18" name="s2-done"/>
          <p:cNvSpPr>
            <a:spLocks noGrp="1"/>
          </p:cNvSpPr>
          <p:nvPr/>
        </p:nvSpPr>
        <p:spPr>
          <a:xfrm>
            <a:off x="2714625" y="2867025"/>
            <a:ext cx="1333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已完成</a:t>
            </a:r>
            <a:endParaRPr sz="1000"/>
          </a:p>
        </p:txBody>
      </p:sp>
      <p:sp>
        <p:nvSpPr>
          <p:cNvPr id="19" name="a2"/>
          <p:cNvSpPr>
            <a:spLocks noGrp="1"/>
          </p:cNvSpPr>
          <p:nvPr/>
        </p:nvSpPr>
        <p:spPr>
          <a:xfrm>
            <a:off x="4143375" y="204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AEC1DE"/>
          </a:solidFill>
          <a:ln>
            <a:noFill/>
          </a:ln>
        </p:spPr>
      </p:sp>
      <p:sp>
        <p:nvSpPr>
          <p:cNvPr id="20" name="s3-box"/>
          <p:cNvSpPr>
            <a:spLocks noGrp="1"/>
          </p:cNvSpPr>
          <p:nvPr/>
        </p:nvSpPr>
        <p:spPr>
          <a:xfrm>
            <a:off x="4521200" y="1498600"/>
            <a:ext cx="1625600" cy="3048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</p:sp>
      <p:sp>
        <p:nvSpPr>
          <p:cNvPr id="21" name="s3-num"/>
          <p:cNvSpPr>
            <a:spLocks noGrp="1"/>
          </p:cNvSpPr>
          <p:nvPr/>
        </p:nvSpPr>
        <p:spPr>
          <a:xfrm>
            <a:off x="4343400" y="1390650"/>
            <a:ext cx="16383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endParaRPr sz="1100"/>
          </a:p>
        </p:txBody>
      </p:sp>
      <p:sp>
        <p:nvSpPr>
          <p:cNvPr id="22" name="s3-title"/>
          <p:cNvSpPr>
            <a:spLocks noGrp="1"/>
          </p:cNvSpPr>
          <p:nvPr/>
        </p:nvSpPr>
        <p:spPr>
          <a:xfrm>
            <a:off x="4343400" y="191452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B2 模型冻结</a:t>
            </a:r>
            <a:endParaRPr sz="1250"/>
          </a:p>
        </p:txBody>
      </p:sp>
      <p:sp>
        <p:nvSpPr>
          <p:cNvPr id="23" name="s3-desc"/>
          <p:cNvSpPr>
            <a:spLocks noGrp="1"/>
          </p:cNvSpPr>
          <p:nvPr/>
        </p:nvSpPr>
        <p:spPr>
          <a:xfrm>
            <a:off x="4343400" y="2286000"/>
            <a:ext cx="1638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SegFormer-B2 阈值与模型卡留档</a:t>
            </a:r>
            <a:endParaRPr sz="950"/>
          </a:p>
        </p:txBody>
      </p:sp>
      <p:sp>
        <p:nvSpPr>
          <p:cNvPr id="24" name="s3-check"/>
          <p:cNvSpPr>
            <a:spLocks noGrp="1"/>
          </p:cNvSpPr>
          <p:nvPr/>
        </p:nvSpPr>
        <p:spPr>
          <a:xfrm>
            <a:off x="4343400" y="289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25" name="s3-done"/>
          <p:cNvSpPr>
            <a:spLocks noGrp="1"/>
          </p:cNvSpPr>
          <p:nvPr/>
        </p:nvSpPr>
        <p:spPr>
          <a:xfrm>
            <a:off x="4581525" y="2867025"/>
            <a:ext cx="1333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已完成</a:t>
            </a:r>
            <a:endParaRPr sz="1000"/>
          </a:p>
        </p:txBody>
      </p:sp>
      <p:sp>
        <p:nvSpPr>
          <p:cNvPr id="26" name="a3"/>
          <p:cNvSpPr>
            <a:spLocks noGrp="1"/>
          </p:cNvSpPr>
          <p:nvPr/>
        </p:nvSpPr>
        <p:spPr>
          <a:xfrm>
            <a:off x="6010275" y="204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AEC1DE"/>
          </a:solidFill>
          <a:ln>
            <a:noFill/>
          </a:ln>
        </p:spPr>
      </p:sp>
      <p:sp>
        <p:nvSpPr>
          <p:cNvPr id="27" name="s4-box"/>
          <p:cNvSpPr>
            <a:spLocks noGrp="1"/>
          </p:cNvSpPr>
          <p:nvPr/>
        </p:nvSpPr>
        <p:spPr>
          <a:xfrm>
            <a:off x="6477000" y="1498600"/>
            <a:ext cx="1625600" cy="3048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</p:sp>
      <p:sp>
        <p:nvSpPr>
          <p:cNvPr id="28" name="s4-num"/>
          <p:cNvSpPr>
            <a:spLocks noGrp="1"/>
          </p:cNvSpPr>
          <p:nvPr/>
        </p:nvSpPr>
        <p:spPr>
          <a:xfrm>
            <a:off x="6210300" y="1390650"/>
            <a:ext cx="16383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04</a:t>
            </a:r>
            <a:endParaRPr sz="1100"/>
          </a:p>
        </p:txBody>
      </p:sp>
      <p:sp>
        <p:nvSpPr>
          <p:cNvPr id="29" name="s4-title"/>
          <p:cNvSpPr>
            <a:spLocks noGrp="1"/>
          </p:cNvSpPr>
          <p:nvPr/>
        </p:nvSpPr>
        <p:spPr>
          <a:xfrm>
            <a:off x="6210300" y="191452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对齐与结构评分</a:t>
            </a:r>
            <a:endParaRPr sz="1250"/>
          </a:p>
        </p:txBody>
      </p:sp>
      <p:sp>
        <p:nvSpPr>
          <p:cNvPr id="30" name="s4-desc"/>
          <p:cNvSpPr>
            <a:spLocks noGrp="1"/>
          </p:cNvSpPr>
          <p:nvPr/>
        </p:nvSpPr>
        <p:spPr>
          <a:xfrm>
            <a:off x="6210300" y="2286000"/>
            <a:ext cx="1638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受限对齐 + 参考结构匹配度</a:t>
            </a:r>
            <a:endParaRPr sz="950"/>
          </a:p>
        </p:txBody>
      </p:sp>
      <p:sp>
        <p:nvSpPr>
          <p:cNvPr id="31" name="s4-check"/>
          <p:cNvSpPr>
            <a:spLocks noGrp="1"/>
          </p:cNvSpPr>
          <p:nvPr/>
        </p:nvSpPr>
        <p:spPr>
          <a:xfrm>
            <a:off x="6210300" y="289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32" name="s4-done"/>
          <p:cNvSpPr>
            <a:spLocks noGrp="1"/>
          </p:cNvSpPr>
          <p:nvPr/>
        </p:nvSpPr>
        <p:spPr>
          <a:xfrm>
            <a:off x="6448425" y="2867025"/>
            <a:ext cx="1333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已完成</a:t>
            </a:r>
            <a:endParaRPr sz="1000"/>
          </a:p>
        </p:txBody>
      </p:sp>
      <p:sp>
        <p:nvSpPr>
          <p:cNvPr id="33" name="a4"/>
          <p:cNvSpPr>
            <a:spLocks noGrp="1"/>
          </p:cNvSpPr>
          <p:nvPr/>
        </p:nvSpPr>
        <p:spPr>
          <a:xfrm>
            <a:off x="7877175" y="204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AEC1DE"/>
          </a:solidFill>
          <a:ln>
            <a:noFill/>
          </a:ln>
        </p:spPr>
      </p:sp>
      <p:sp>
        <p:nvSpPr>
          <p:cNvPr id="34" name="s5-box"/>
          <p:cNvSpPr>
            <a:spLocks noGrp="1"/>
          </p:cNvSpPr>
          <p:nvPr/>
        </p:nvSpPr>
        <p:spPr>
          <a:xfrm>
            <a:off x="8432800" y="1498600"/>
            <a:ext cx="1625600" cy="3048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</p:sp>
      <p:sp>
        <p:nvSpPr>
          <p:cNvPr id="35" name="s5-num"/>
          <p:cNvSpPr>
            <a:spLocks noGrp="1"/>
          </p:cNvSpPr>
          <p:nvPr/>
        </p:nvSpPr>
        <p:spPr>
          <a:xfrm>
            <a:off x="8077200" y="1390650"/>
            <a:ext cx="16383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05</a:t>
            </a:r>
            <a:endParaRPr sz="1100"/>
          </a:p>
        </p:txBody>
      </p:sp>
      <p:sp>
        <p:nvSpPr>
          <p:cNvPr id="36" name="s5-title"/>
          <p:cNvSpPr>
            <a:spLocks noGrp="1"/>
          </p:cNvSpPr>
          <p:nvPr/>
        </p:nvSpPr>
        <p:spPr>
          <a:xfrm>
            <a:off x="8077200" y="191452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规则 + LLM 反馈</a:t>
            </a:r>
            <a:endParaRPr sz="1250"/>
          </a:p>
        </p:txBody>
      </p:sp>
      <p:sp>
        <p:nvSpPr>
          <p:cNvPr id="37" name="s5-desc"/>
          <p:cNvSpPr>
            <a:spLocks noGrp="1"/>
          </p:cNvSpPr>
          <p:nvPr/>
        </p:nvSpPr>
        <p:spPr>
          <a:xfrm>
            <a:off x="8077200" y="2286000"/>
            <a:ext cx="1638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证据驱动建议，LLM 只润色</a:t>
            </a:r>
            <a:endParaRPr sz="950"/>
          </a:p>
        </p:txBody>
      </p:sp>
      <p:sp>
        <p:nvSpPr>
          <p:cNvPr id="38" name="s5-check"/>
          <p:cNvSpPr>
            <a:spLocks noGrp="1"/>
          </p:cNvSpPr>
          <p:nvPr/>
        </p:nvSpPr>
        <p:spPr>
          <a:xfrm>
            <a:off x="8077200" y="289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39" name="s5-done"/>
          <p:cNvSpPr>
            <a:spLocks noGrp="1"/>
          </p:cNvSpPr>
          <p:nvPr/>
        </p:nvSpPr>
        <p:spPr>
          <a:xfrm>
            <a:off x="8315325" y="2867025"/>
            <a:ext cx="1333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已完成</a:t>
            </a:r>
            <a:endParaRPr sz="1000"/>
          </a:p>
        </p:txBody>
      </p:sp>
      <p:sp>
        <p:nvSpPr>
          <p:cNvPr id="40" name="a5"/>
          <p:cNvSpPr>
            <a:spLocks noGrp="1"/>
          </p:cNvSpPr>
          <p:nvPr/>
        </p:nvSpPr>
        <p:spPr>
          <a:xfrm>
            <a:off x="9744075" y="204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AEC1DE"/>
          </a:solidFill>
          <a:ln>
            <a:noFill/>
          </a:ln>
        </p:spPr>
      </p:sp>
      <p:sp>
        <p:nvSpPr>
          <p:cNvPr id="41" name="s6-box"/>
          <p:cNvSpPr>
            <a:spLocks noGrp="1"/>
          </p:cNvSpPr>
          <p:nvPr/>
        </p:nvSpPr>
        <p:spPr>
          <a:xfrm>
            <a:off x="10388600" y="1498600"/>
            <a:ext cx="1193800" cy="3048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</p:sp>
      <p:sp>
        <p:nvSpPr>
          <p:cNvPr id="42" name="s6-num"/>
          <p:cNvSpPr>
            <a:spLocks noGrp="1"/>
          </p:cNvSpPr>
          <p:nvPr/>
        </p:nvSpPr>
        <p:spPr>
          <a:xfrm>
            <a:off x="9944100" y="1390650"/>
            <a:ext cx="16383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06</a:t>
            </a:r>
            <a:endParaRPr sz="1100"/>
          </a:p>
        </p:txBody>
      </p:sp>
      <p:sp>
        <p:nvSpPr>
          <p:cNvPr id="43" name="s6-title"/>
          <p:cNvSpPr>
            <a:spLocks noGrp="1"/>
          </p:cNvSpPr>
          <p:nvPr/>
        </p:nvSpPr>
        <p:spPr>
          <a:xfrm>
            <a:off x="9944100" y="191452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30000"/>
              </a:lnSpc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双端真实联调</a:t>
            </a:r>
            <a:endParaRPr sz="1250"/>
          </a:p>
        </p:txBody>
      </p:sp>
      <p:sp>
        <p:nvSpPr>
          <p:cNvPr id="44" name="s6-desc"/>
          <p:cNvSpPr>
            <a:spLocks noGrp="1"/>
          </p:cNvSpPr>
          <p:nvPr/>
        </p:nvSpPr>
        <p:spPr>
          <a:xfrm>
            <a:off x="9944100" y="2286000"/>
            <a:ext cx="1638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1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Web 与 App 打通模型</a:t>
            </a:r>
            <a:endParaRPr sz="950"/>
          </a:p>
        </p:txBody>
      </p:sp>
      <p:sp>
        <p:nvSpPr>
          <p:cNvPr id="45" name="s6-check"/>
          <p:cNvSpPr>
            <a:spLocks noGrp="1"/>
          </p:cNvSpPr>
          <p:nvPr/>
        </p:nvSpPr>
        <p:spPr>
          <a:xfrm>
            <a:off x="9944100" y="289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46" name="s6-done"/>
          <p:cNvSpPr>
            <a:spLocks noGrp="1"/>
          </p:cNvSpPr>
          <p:nvPr/>
        </p:nvSpPr>
        <p:spPr>
          <a:xfrm>
            <a:off x="10182225" y="2867025"/>
            <a:ext cx="1333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已完成</a:t>
            </a:r>
            <a:endParaRPr sz="1000"/>
          </a:p>
        </p:txBody>
      </p:sp>
      <p:sp>
        <p:nvSpPr>
          <p:cNvPr id="47" name="mid-line"/>
          <p:cNvSpPr>
            <a:spLocks noGrp="1"/>
          </p:cNvSpPr>
          <p:nvPr/>
        </p:nvSpPr>
        <p:spPr>
          <a:xfrm>
            <a:off x="609600" y="34036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8" name="mid-kicker"/>
          <p:cNvSpPr>
            <a:spLocks noGrp="1"/>
          </p:cNvSpPr>
          <p:nvPr/>
        </p:nvSpPr>
        <p:spPr>
          <a:xfrm>
            <a:off x="609600" y="3581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关键数字 · 截至 2026 年 10 月</a:t>
            </a:r>
            <a:endParaRPr sz="1050"/>
          </a:p>
        </p:txBody>
      </p:sp>
      <p:sp>
        <p:nvSpPr>
          <p:cNvPr id="49" name="n1-border"/>
          <p:cNvSpPr>
            <a:spLocks noGrp="1"/>
          </p:cNvSpPr>
          <p:nvPr/>
        </p:nvSpPr>
        <p:spPr>
          <a:xfrm>
            <a:off x="609600" y="3962400"/>
            <a:ext cx="342900" cy="28575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50" name="n1-num"/>
          <p:cNvSpPr>
            <a:spLocks noGrp="1"/>
          </p:cNvSpPr>
          <p:nvPr/>
        </p:nvSpPr>
        <p:spPr>
          <a:xfrm>
            <a:off x="609600" y="41402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840</a:t>
            </a:r>
            <a:endParaRPr sz="3000"/>
          </a:p>
        </p:txBody>
      </p:sp>
      <p:sp>
        <p:nvSpPr>
          <p:cNvPr id="51" name="n1-label"/>
          <p:cNvSpPr>
            <a:spLocks noGrp="1"/>
          </p:cNvSpPr>
          <p:nvPr/>
        </p:nvSpPr>
        <p:spPr>
          <a:xfrm>
            <a:off x="609600" y="4699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份六通道原始 GT 全量找回并逐份校验</a:t>
            </a:r>
            <a:endParaRPr sz="1000"/>
          </a:p>
        </p:txBody>
      </p:sp>
      <p:sp>
        <p:nvSpPr>
          <p:cNvPr id="52" name="n2-border"/>
          <p:cNvSpPr>
            <a:spLocks noGrp="1"/>
          </p:cNvSpPr>
          <p:nvPr/>
        </p:nvSpPr>
        <p:spPr>
          <a:xfrm>
            <a:off x="2857500" y="3962400"/>
            <a:ext cx="342900" cy="28575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53" name="n2-num"/>
          <p:cNvSpPr>
            <a:spLocks noGrp="1"/>
          </p:cNvSpPr>
          <p:nvPr/>
        </p:nvSpPr>
        <p:spPr>
          <a:xfrm>
            <a:off x="2857500" y="41402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769</a:t>
            </a:r>
            <a:endParaRPr sz="3000"/>
          </a:p>
        </p:txBody>
      </p:sp>
      <p:sp>
        <p:nvSpPr>
          <p:cNvPr id="54" name="n2-label"/>
          <p:cNvSpPr>
            <a:spLocks noGrp="1"/>
          </p:cNvSpPr>
          <p:nvPr/>
        </p:nvSpPr>
        <p:spPr>
          <a:xfrm>
            <a:off x="2857500" y="4699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个 QC-clean 独立样本，剔除错配与重复</a:t>
            </a:r>
            <a:endParaRPr sz="1000"/>
          </a:p>
        </p:txBody>
      </p:sp>
      <p:sp>
        <p:nvSpPr>
          <p:cNvPr id="55" name="n3-border"/>
          <p:cNvSpPr>
            <a:spLocks noGrp="1"/>
          </p:cNvSpPr>
          <p:nvPr/>
        </p:nvSpPr>
        <p:spPr>
          <a:xfrm>
            <a:off x="5105400" y="3962400"/>
            <a:ext cx="342900" cy="28575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56" name="n3-num"/>
          <p:cNvSpPr>
            <a:spLocks noGrp="1"/>
          </p:cNvSpPr>
          <p:nvPr/>
        </p:nvSpPr>
        <p:spPr>
          <a:xfrm>
            <a:off x="5105400" y="41402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0.963</a:t>
            </a:r>
            <a:endParaRPr sz="3000"/>
          </a:p>
        </p:txBody>
      </p:sp>
      <p:sp>
        <p:nvSpPr>
          <p:cNvPr id="57" name="n3-label"/>
          <p:cNvSpPr>
            <a:spLocks noGrp="1"/>
          </p:cNvSpPr>
          <p:nvPr/>
        </p:nvSpPr>
        <p:spPr>
          <a:xfrm>
            <a:off x="5105400" y="4699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标准划分 Macro Dice，分割精度最佳</a:t>
            </a:r>
            <a:endParaRPr sz="1000"/>
          </a:p>
        </p:txBody>
      </p:sp>
      <p:sp>
        <p:nvSpPr>
          <p:cNvPr id="58" name="n4-border"/>
          <p:cNvSpPr>
            <a:spLocks noGrp="1"/>
          </p:cNvSpPr>
          <p:nvPr/>
        </p:nvSpPr>
        <p:spPr>
          <a:xfrm>
            <a:off x="7353300" y="3962400"/>
            <a:ext cx="342900" cy="28575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59" name="n4-num"/>
          <p:cNvSpPr>
            <a:spLocks noGrp="1"/>
          </p:cNvSpPr>
          <p:nvPr/>
        </p:nvSpPr>
        <p:spPr>
          <a:xfrm>
            <a:off x="7353300" y="41402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2×100</a:t>
            </a:r>
            <a:endParaRPr sz="3000"/>
          </a:p>
        </p:txBody>
      </p:sp>
      <p:sp>
        <p:nvSpPr>
          <p:cNvPr id="60" name="n4-label"/>
          <p:cNvSpPr>
            <a:spLocks noGrp="1"/>
          </p:cNvSpPr>
          <p:nvPr/>
        </p:nvSpPr>
        <p:spPr>
          <a:xfrm>
            <a:off x="7353300" y="4699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欧阳询楷书 + 王羲之行书课程字（Beta）</a:t>
            </a:r>
            <a:endParaRPr sz="1000"/>
          </a:p>
        </p:txBody>
      </p:sp>
      <p:sp>
        <p:nvSpPr>
          <p:cNvPr id="61" name="n5-border"/>
          <p:cNvSpPr>
            <a:spLocks noGrp="1"/>
          </p:cNvSpPr>
          <p:nvPr/>
        </p:nvSpPr>
        <p:spPr>
          <a:xfrm>
            <a:off x="9601200" y="3962400"/>
            <a:ext cx="342900" cy="28575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62" name="n5-num"/>
          <p:cNvSpPr>
            <a:spLocks noGrp="1"/>
          </p:cNvSpPr>
          <p:nvPr/>
        </p:nvSpPr>
        <p:spPr>
          <a:xfrm>
            <a:off x="9601200" y="41402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315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18</a:t>
            </a:r>
            <a:endParaRPr sz="3000"/>
          </a:p>
        </p:txBody>
      </p:sp>
      <p:sp>
        <p:nvSpPr>
          <p:cNvPr id="63" name="n5-label"/>
          <p:cNvSpPr>
            <a:spLocks noGrp="1"/>
          </p:cNvSpPr>
          <p:nvPr/>
        </p:nvSpPr>
        <p:spPr>
          <a:xfrm>
            <a:off x="9601200" y="4699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组正式基准实验：3 模型 × 2 划分 × 3 种子</a:t>
            </a:r>
            <a:endParaRPr sz="1000"/>
          </a:p>
        </p:txBody>
      </p:sp>
      <p:sp>
        <p:nvSpPr>
          <p:cNvPr id="64" name="concl-band"/>
          <p:cNvSpPr>
            <a:spLocks noGrp="1"/>
          </p:cNvSpPr>
          <p:nvPr/>
        </p:nvSpPr>
        <p:spPr>
          <a:xfrm>
            <a:off x="609600" y="5588000"/>
            <a:ext cx="10972800" cy="660400"/>
          </a:xfrm>
          <a:prstGeom prst="roundRect">
            <a:avLst>
              <a:gd name="adj" fmla="val 17308"/>
            </a:avLst>
          </a:prstGeom>
          <a:solidFill>
            <a:srgbClr val="EEF4FE"/>
          </a:solidFill>
          <a:ln>
            <a:noFill/>
          </a:ln>
        </p:spPr>
      </p:sp>
      <p:sp>
        <p:nvSpPr>
          <p:cNvPr id="65" name="concl-bar"/>
          <p:cNvSpPr>
            <a:spLocks noGrp="1"/>
          </p:cNvSpPr>
          <p:nvPr/>
        </p:nvSpPr>
        <p:spPr>
          <a:xfrm>
            <a:off x="609600" y="5588000"/>
            <a:ext cx="50800" cy="6604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66" name="concl-text"/>
          <p:cNvSpPr>
            <a:spLocks noGrp="1"/>
          </p:cNvSpPr>
          <p:nvPr/>
        </p:nvSpPr>
        <p:spPr>
          <a:xfrm>
            <a:off x="863600" y="5588000"/>
            <a:ext cx="10541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6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立项时承诺的「</a:t>
            </a:r>
            <a:r>
              <a:rPr sz="12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数据 → 模型 → 评分 → 反馈 → 双端应用</a:t>
            </a:r>
            <a:r>
              <a:rPr sz="12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」主链路已全部落地，</a:t>
            </a:r>
            <a:r>
              <a:rPr sz="12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论文与真实场景验证</a:t>
            </a:r>
            <a:r>
              <a:rPr sz="12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进入收尾阶段。</a:t>
            </a:r>
            <a:endParaRPr sz="1250"/>
          </a:p>
        </p:txBody>
      </p:sp>
      <p:sp>
        <p:nvSpPr>
          <p:cNvPr id="67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8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69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06 / 13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25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核心进展 ① 数据治理与笔画结构分割模型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02 · 中期核心进展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sp>
        <p:nvSpPr>
          <p:cNvPr id="6" name="m1-marker"/>
          <p:cNvSpPr>
            <a:spLocks noGrp="1"/>
          </p:cNvSpPr>
          <p:nvPr/>
        </p:nvSpPr>
        <p:spPr>
          <a:xfrm>
            <a:off x="609600" y="1346200"/>
            <a:ext cx="127000" cy="1270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7" name="m1-lead"/>
          <p:cNvSpPr>
            <a:spLocks noGrp="1"/>
          </p:cNvSpPr>
          <p:nvPr/>
        </p:nvSpPr>
        <p:spPr>
          <a:xfrm>
            <a:off x="863600" y="1244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六通道结构表示</a:t>
            </a:r>
            <a:endParaRPr sz="1350"/>
          </a:p>
        </p:txBody>
      </p:sp>
      <p:sp>
        <p:nvSpPr>
          <p:cNvPr id="8" name="m1-desc"/>
          <p:cNvSpPr>
            <a:spLocks noGrp="1"/>
          </p:cNvSpPr>
          <p:nvPr/>
        </p:nvSpPr>
        <p:spPr>
          <a:xfrm>
            <a:off x="863600" y="1574800"/>
            <a:ext cx="513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横、竖、左斜、右斜、复合五方向 + 关键点通道，允许交叉区域重叠激活，笔画不再被强行切开。</a:t>
            </a:r>
            <a:endParaRPr sz="1050"/>
          </a:p>
        </p:txBody>
      </p:sp>
      <p:sp>
        <p:nvSpPr>
          <p:cNvPr id="9" name="m2-marker"/>
          <p:cNvSpPr>
            <a:spLocks noGrp="1"/>
          </p:cNvSpPr>
          <p:nvPr/>
        </p:nvSpPr>
        <p:spPr>
          <a:xfrm>
            <a:off x="609600" y="2260600"/>
            <a:ext cx="127000" cy="1270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0" name="m2-lead"/>
          <p:cNvSpPr>
            <a:spLocks noGrp="1"/>
          </p:cNvSpPr>
          <p:nvPr/>
        </p:nvSpPr>
        <p:spPr>
          <a:xfrm>
            <a:off x="863600" y="2159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数据资产抢救与治理</a:t>
            </a:r>
            <a:endParaRPr sz="1350"/>
          </a:p>
        </p:txBody>
      </p:sp>
      <p:sp>
        <p:nvSpPr>
          <p:cNvPr id="11" name="m2-desc"/>
          <p:cNvSpPr>
            <a:spLocks noGrp="1"/>
          </p:cNvSpPr>
          <p:nvPr/>
        </p:nvSpPr>
        <p:spPr>
          <a:xfrm>
            <a:off x="863600" y="2489200"/>
            <a:ext cx="5130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从旧项目归档找回 840 份原始标注并逐份校验；语义 QC 再剔除 12 个错配、59 个重复，形成 769 个洁净独立样本与冻结划分。</a:t>
            </a:r>
            <a:endParaRPr sz="1050"/>
          </a:p>
        </p:txBody>
      </p:sp>
      <p:sp>
        <p:nvSpPr>
          <p:cNvPr id="12" name="m3-marker"/>
          <p:cNvSpPr>
            <a:spLocks noGrp="1"/>
          </p:cNvSpPr>
          <p:nvPr/>
        </p:nvSpPr>
        <p:spPr>
          <a:xfrm>
            <a:off x="609600" y="3352800"/>
            <a:ext cx="127000" cy="1270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3" name="m3-lead"/>
          <p:cNvSpPr>
            <a:spLocks noGrp="1"/>
          </p:cNvSpPr>
          <p:nvPr/>
        </p:nvSpPr>
        <p:spPr>
          <a:xfrm>
            <a:off x="863600" y="3251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三模型公平比较</a:t>
            </a:r>
            <a:endParaRPr sz="1350"/>
          </a:p>
        </p:txBody>
      </p:sp>
      <p:sp>
        <p:nvSpPr>
          <p:cNvPr id="14" name="m3-desc"/>
          <p:cNvSpPr>
            <a:spLocks noGrp="1"/>
          </p:cNvSpPr>
          <p:nvPr/>
        </p:nvSpPr>
        <p:spPr>
          <a:xfrm>
            <a:off x="863600" y="3581400"/>
            <a:ext cx="513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U-Net / DeepLabV3+ / SegFormer-B2，两种划分、三个随机种子，18 组正式训练全部完成、哈希留档。</a:t>
            </a:r>
            <a:endParaRPr sz="1050"/>
          </a:p>
        </p:txBody>
      </p:sp>
      <p:graphicFrame>
        <p:nvGraphicFramePr>
          <p:cNvPr id="15" name="model-table"/>
          <p:cNvGraphicFramePr/>
          <p:nvPr/>
        </p:nvGraphicFramePr>
        <p:xfrm>
          <a:off x="609600" y="4267200"/>
          <a:ext cx="5384800" cy="1905000"/>
        </p:xfrm>
        <a:graphic>
          <a:graphicData uri="http://schemas.openxmlformats.org/drawingml/2006/table">
            <a:tbl>
              <a:tblPr/>
              <a:tblGrid>
                <a:gridCol w="1669288"/>
                <a:gridCol w="1238504"/>
                <a:gridCol w="1292352"/>
                <a:gridCol w="1184656"/>
              </a:tblGrid>
              <a:tr h="4191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模型</a:t>
                      </a:r>
                      <a:endParaRPr sz="11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标准划分 Dice</a:t>
                      </a:r>
                      <a:endParaRPr sz="11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未见字 Dice</a:t>
                      </a:r>
                      <a:endParaRPr sz="11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精度下降</a:t>
                      </a:r>
                      <a:endParaRPr sz="11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U-Net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0.920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0.826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9.4 pp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DeepLabV3+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0.963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0.866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9.7 pp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SegFormer-B2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0.958</a:t>
                      </a:r>
                      <a:endParaRPr sz="1100" b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076DFC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0.887</a:t>
                      </a:r>
                      <a:endParaRPr sz="1100" b="1">
                        <a:solidFill>
                          <a:srgbClr val="076DF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076DFC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7.2 pp</a:t>
                      </a:r>
                      <a:endParaRPr sz="1100" b="1">
                        <a:solidFill>
                          <a:srgbClr val="076DF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able-note"/>
          <p:cNvSpPr>
            <a:spLocks noGrp="1"/>
          </p:cNvSpPr>
          <p:nvPr/>
        </p:nvSpPr>
        <p:spPr>
          <a:xfrm>
            <a:off x="609600" y="6200775"/>
            <a:ext cx="538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40000"/>
              </a:lnSpc>
              <a:buNone/>
              <a:defRPr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5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三次种子均值；未见字 = character-disjoint 字符隔离划分</a:t>
            </a:r>
            <a:endParaRPr sz="950"/>
          </a:p>
        </p:txBody>
      </p:sp>
      <p:pic>
        <p:nvPicPr>
          <p:cNvPr id="17" name="seg-fig"/>
          <p:cNvPicPr>
            <a:picLocks noChangeAspect="1"/>
          </p:cNvPicPr>
          <p:nvPr/>
        </p:nvPicPr>
        <p:blipFill>
          <a:blip r:embed="rId2"/>
          <a:srcRect l="-53" r="-53"/>
          <a:stretch>
            <a:fillRect/>
          </a:stretch>
        </p:blipFill>
        <p:spPr>
          <a:xfrm>
            <a:off x="6451600" y="1320800"/>
            <a:ext cx="5130800" cy="32512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8" name="seg-fig-cap"/>
          <p:cNvSpPr>
            <a:spLocks noGrp="1"/>
          </p:cNvSpPr>
          <p:nvPr/>
        </p:nvSpPr>
        <p:spPr>
          <a:xfrm>
            <a:off x="6451600" y="4622800"/>
            <a:ext cx="5130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交叉、端点稀疏与未见字场景下三模型分割对比（论文 Fig.4，列为输入 / GT / 三模型输出）</a:t>
            </a:r>
            <a:endParaRPr sz="950"/>
          </a:p>
        </p:txBody>
      </p:sp>
      <p:sp>
        <p:nvSpPr>
          <p:cNvPr id="19" name="seg-concl-band"/>
          <p:cNvSpPr>
            <a:spLocks noGrp="1"/>
          </p:cNvSpPr>
          <p:nvPr/>
        </p:nvSpPr>
        <p:spPr>
          <a:xfrm>
            <a:off x="6451600" y="5181600"/>
            <a:ext cx="5130800" cy="1066800"/>
          </a:xfrm>
          <a:prstGeom prst="roundRect">
            <a:avLst>
              <a:gd name="adj" fmla="val 10714"/>
            </a:avLst>
          </a:prstGeom>
          <a:solidFill>
            <a:srgbClr val="EEF4FE"/>
          </a:solidFill>
          <a:ln w="0">
            <a:noFill/>
          </a:ln>
        </p:spPr>
      </p:sp>
      <p:sp>
        <p:nvSpPr>
          <p:cNvPr id="20" name="seg-concl-bar"/>
          <p:cNvSpPr>
            <a:spLocks noGrp="1"/>
          </p:cNvSpPr>
          <p:nvPr/>
        </p:nvSpPr>
        <p:spPr>
          <a:xfrm>
            <a:off x="6451600" y="5181600"/>
            <a:ext cx="50800" cy="1066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21" name="seg-concl"/>
          <p:cNvSpPr>
            <a:spLocks noGrp="1"/>
          </p:cNvSpPr>
          <p:nvPr/>
        </p:nvSpPr>
        <p:spPr>
          <a:xfrm>
            <a:off x="6680200" y="5181600"/>
            <a:ext cx="4775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标准划分 DeepLabV3+ 最优；</a:t>
            </a:r>
            <a:r>
              <a: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面对从未见过的汉字，SegFormer-B2 精度最高、下降最小</a:t>
            </a:r>
            <a:r>
              <a:rPr sz="1165" b="0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，因此被选为线上冻结模型 segformer-b2-v1。</a:t>
            </a:r>
            <a:endParaRPr sz="1150"/>
          </a:p>
        </p:txBody>
      </p:sp>
      <p:sp>
        <p:nvSpPr>
          <p:cNvPr id="22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24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07 / 13</a:t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17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核心进展 ② 参考条件化结构评分与可解释反馈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02 · 中期核心进展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pic>
        <p:nvPicPr>
          <p:cNvPr id="6" name="pipe-fig"/>
          <p:cNvPicPr>
            <a:picLocks noChangeAspect="1"/>
          </p:cNvPicPr>
          <p:nvPr/>
        </p:nvPicPr>
        <p:blipFill>
          <a:blip r:embed="rId2"/>
          <a:srcRect l="-12" r="-12"/>
          <a:stretch>
            <a:fillRect/>
          </a:stretch>
        </p:blipFill>
        <p:spPr>
          <a:xfrm>
            <a:off x="1117600" y="1193800"/>
            <a:ext cx="9956800" cy="27051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7" name="pipe-fig-cap"/>
          <p:cNvSpPr>
            <a:spLocks noGrp="1"/>
          </p:cNvSpPr>
          <p:nvPr/>
        </p:nvSpPr>
        <p:spPr>
          <a:xfrm>
            <a:off x="1117600" y="3937000"/>
            <a:ext cx="9956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参考条件化结构评估流水线：同字参照 → 笔画解析 → 受限对齐 → 空间与方向证据 → 可审计输出（论文 Fig.1）</a:t>
            </a:r>
            <a:endParaRPr sz="950"/>
          </a:p>
        </p:txBody>
      </p:sp>
      <p:sp>
        <p:nvSpPr>
          <p:cNvPr id="8" name="sc-kicker"/>
          <p:cNvSpPr>
            <a:spLocks noGrp="1"/>
          </p:cNvSpPr>
          <p:nvPr/>
        </p:nvSpPr>
        <p:spPr>
          <a:xfrm>
            <a:off x="609600" y="4368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评分如何产生</a:t>
            </a:r>
            <a:endParaRPr sz="1050"/>
          </a:p>
        </p:txBody>
      </p:sp>
      <p:sp>
        <p:nvSpPr>
          <p:cNvPr id="9" name="sc-formula-band"/>
          <p:cNvSpPr>
            <a:spLocks noGrp="1"/>
          </p:cNvSpPr>
          <p:nvPr/>
        </p:nvSpPr>
        <p:spPr>
          <a:xfrm>
            <a:off x="609600" y="4673600"/>
            <a:ext cx="6858000" cy="508000"/>
          </a:xfrm>
          <a:prstGeom prst="roundRect">
            <a:avLst>
              <a:gd name="adj" fmla="val 22500"/>
            </a:avLst>
          </a:prstGeom>
          <a:solidFill>
            <a:srgbClr val="EEF4FE"/>
          </a:solidFill>
          <a:ln w="0">
            <a:noFill/>
          </a:ln>
        </p:spPr>
      </p:sp>
      <p:sp>
        <p:nvSpPr>
          <p:cNvPr id="10" name="sc-formula"/>
          <p:cNvSpPr>
            <a:spLocks noGrp="1"/>
          </p:cNvSpPr>
          <p:nvPr/>
        </p:nvSpPr>
        <p:spPr>
          <a:xfrm>
            <a:off x="812800" y="4673600"/>
            <a:ext cx="6502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参考结构匹配度 = 0.55×方向Dice + 0.25×墨迹IoU + 0.20×关键点F1</a:t>
            </a:r>
            <a:endParaRPr sz="1250"/>
          </a:p>
        </p:txBody>
      </p:sp>
      <p:sp>
        <p:nvSpPr>
          <p:cNvPr id="11" name="sc-rules"/>
          <p:cNvSpPr>
            <a:spLocks noGrp="1"/>
          </p:cNvSpPr>
          <p:nvPr/>
        </p:nvSpPr>
        <p:spPr>
          <a:xfrm>
            <a:off x="609600" y="5334000"/>
            <a:ext cx="6858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受限对齐</a:t>
            </a:r>
            <a:r>
              <a: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：仅允许平移、0.80–1.20 等比缩放、±3° 旋转，禁止为了高分扭曲用户字。</a:t>
            </a:r>
            <a:endParaRPr sz="1050"/>
          </a:p>
          <a:p>
            <a:pPr algn="l">
              <a:lnSpc>
                <a:spcPct val="150000"/>
              </a:lnSpc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反馈边界</a:t>
            </a:r>
            <a:r>
              <a: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：规则建议始终可用、逐条对应证据；DeepSeek 只把证据润色成自然语言，不能改分数、不能虚构笔顺。</a:t>
            </a:r>
            <a:endParaRPr sz="1050"/>
          </a:p>
        </p:txBody>
      </p:sp>
      <p:pic>
        <p:nvPicPr>
          <p:cNvPr id="12" name="shot-practice"/>
          <p:cNvPicPr>
            <a:picLocks noChangeAspect="1"/>
          </p:cNvPicPr>
          <p:nvPr/>
        </p:nvPicPr>
        <p:blipFill>
          <a:blip r:embed="rId3"/>
          <a:srcRect l="-130" r="-130"/>
          <a:stretch>
            <a:fillRect/>
          </a:stretch>
        </p:blipFill>
        <p:spPr>
          <a:xfrm>
            <a:off x="8305800" y="4171950"/>
            <a:ext cx="2895600" cy="2019300"/>
          </a:xfrm>
          <a:prstGeom prst="rect">
            <a:avLst/>
          </a:prstGeom>
          <a:ln>
            <a:noFill/>
          </a:ln>
        </p:spPr>
      </p:pic>
      <p:sp>
        <p:nvSpPr>
          <p:cNvPr id="13" name="shot-practice-cap"/>
          <p:cNvSpPr>
            <a:spLocks noGrp="1"/>
          </p:cNvSpPr>
          <p:nvPr/>
        </p:nvSpPr>
        <p:spPr>
          <a:xfrm>
            <a:off x="8077200" y="6229350"/>
            <a:ext cx="3352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20000"/>
              </a:lnSpc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书写完成即触发 AI 分析（iPad 端实拍）</a:t>
            </a:r>
            <a:endParaRPr sz="900"/>
          </a:p>
        </p:txBody>
      </p:sp>
      <p:sp>
        <p:nvSpPr>
          <p:cNvPr id="14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16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08 / 13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26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核心进展 ③ 双平台产品落地：Web + iPad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02 · 中期核心进展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sp>
        <p:nvSpPr>
          <p:cNvPr id="6" name="mid-vline"/>
          <p:cNvSpPr>
            <a:spLocks noGrp="1"/>
          </p:cNvSpPr>
          <p:nvPr/>
        </p:nvSpPr>
        <p:spPr>
          <a:xfrm>
            <a:off x="6070600" y="1270000"/>
            <a:ext cx="12700" cy="50292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" name="web-icon"/>
          <p:cNvSpPr>
            <a:spLocks noGrp="1"/>
          </p:cNvSpPr>
          <p:nvPr/>
        </p:nvSpPr>
        <p:spPr>
          <a:xfrm>
            <a:off x="609600" y="1320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8" name="web-title"/>
          <p:cNvSpPr>
            <a:spLocks noGrp="1"/>
          </p:cNvSpPr>
          <p:nvPr/>
        </p:nvSpPr>
        <p:spPr>
          <a:xfrm>
            <a:off x="965200" y="129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Web 端 · onestroke.cn</a:t>
            </a:r>
            <a:endParaRPr sz="1500"/>
          </a:p>
        </p:txBody>
      </p:sp>
      <p:sp>
        <p:nvSpPr>
          <p:cNvPr id="9" name="web-bullets"/>
          <p:cNvSpPr>
            <a:spLocks noGrp="1"/>
          </p:cNvSpPr>
          <p:nvPr/>
        </p:nvSpPr>
        <p:spPr>
          <a:xfrm>
            <a:off x="609600" y="1752600"/>
            <a:ext cx="5130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免安装进校：浏览器即用，</a:t>
            </a: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适配学校机房与电子白板，进校门槛低。</a:t>
            </a:r>
            <a:endParaRPr sz="1050"/>
          </a:p>
          <a:p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两门 Beta 课程</a:t>
            </a: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：欧阳询楷书 100 字 / 王羲之行书 100 字，参考字取自 Calli-Tongji 授权字库。</a:t>
            </a:r>
            <a:endParaRPr sz="1050"/>
          </a:p>
          <a:p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模型服务链路</a:t>
            </a: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：Java 后端 → GPU 模型服务，已完成真实联调。</a:t>
            </a:r>
            <a:endParaRPr sz="1050"/>
          </a:p>
        </p:txBody>
      </p:sp>
      <p:sp>
        <p:nvSpPr>
          <p:cNvPr id="10" name="web-shot-frame"/>
          <p:cNvSpPr>
            <a:spLocks noGrp="1"/>
          </p:cNvSpPr>
          <p:nvPr/>
        </p:nvSpPr>
        <p:spPr>
          <a:xfrm>
            <a:off x="609600" y="3454400"/>
            <a:ext cx="5130800" cy="2235200"/>
          </a:xfrm>
          <a:prstGeom prst="roundRect">
            <a:avLst>
              <a:gd name="adj" fmla="val 9375"/>
            </a:avLst>
          </a:prstGeom>
          <a:solidFill>
            <a:srgbClr val="DFE9F9"/>
          </a:solidFill>
          <a:ln w="9525">
            <a:solidFill>
              <a:srgbClr val="C2D2EB"/>
            </a:solidFill>
            <a:prstDash val="solid"/>
          </a:ln>
        </p:spPr>
      </p:sp>
      <p:sp>
        <p:nvSpPr>
          <p:cNvPr id="11" name="web-shot-icon"/>
          <p:cNvSpPr>
            <a:spLocks noGrp="1"/>
          </p:cNvSpPr>
          <p:nvPr/>
        </p:nvSpPr>
        <p:spPr>
          <a:xfrm>
            <a:off x="2946400" y="426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12" name="web-shot-note"/>
          <p:cNvSpPr>
            <a:spLocks noGrp="1"/>
          </p:cNvSpPr>
          <p:nvPr/>
        </p:nvSpPr>
        <p:spPr>
          <a:xfrm>
            <a:off x="609600" y="4851400"/>
            <a:ext cx="5130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20000"/>
              </a:lnSpc>
              <a:buNone/>
              <a:def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Web 端课程练习页截图（待补充）</a:t>
            </a:r>
            <a:endParaRPr sz="1050"/>
          </a:p>
        </p:txBody>
      </p:sp>
      <p:sp>
        <p:nvSpPr>
          <p:cNvPr id="13" name="web-shot-cap"/>
          <p:cNvSpPr>
            <a:spLocks noGrp="1"/>
          </p:cNvSpPr>
          <p:nvPr/>
        </p:nvSpPr>
        <p:spPr>
          <a:xfrm>
            <a:off x="609600" y="5791200"/>
            <a:ext cx="5130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5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建议截图：课程选择页或练习结果页</a:t>
            </a:r>
            <a:endParaRPr sz="950"/>
          </a:p>
        </p:txBody>
      </p:sp>
      <p:sp>
        <p:nvSpPr>
          <p:cNvPr id="14" name="pad-icon"/>
          <p:cNvSpPr>
            <a:spLocks noGrp="1"/>
          </p:cNvSpPr>
          <p:nvPr/>
        </p:nvSpPr>
        <p:spPr>
          <a:xfrm>
            <a:off x="6451600" y="1320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384" y="0"/>
                </a:lnTo>
                <a:cubicBezTo>
                  <a:pt x="419" y="0"/>
                  <a:pt x="448" y="29"/>
                  <a:pt x="448" y="64"/>
                </a:cubicBezTo>
                <a:lnTo>
                  <a:pt x="448" y="448"/>
                </a:lnTo>
                <a:cubicBezTo>
                  <a:pt x="448" y="483"/>
                  <a:pt x="419" y="512"/>
                  <a:pt x="384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56" y="432"/>
                </a:moveTo>
                <a:cubicBezTo>
                  <a:pt x="256" y="414"/>
                  <a:pt x="242" y="400"/>
                  <a:pt x="224" y="400"/>
                </a:cubicBezTo>
                <a:cubicBezTo>
                  <a:pt x="206" y="400"/>
                  <a:pt x="192" y="414"/>
                  <a:pt x="192" y="432"/>
                </a:cubicBezTo>
                <a:cubicBezTo>
                  <a:pt x="192" y="450"/>
                  <a:pt x="206" y="464"/>
                  <a:pt x="224" y="464"/>
                </a:cubicBezTo>
                <a:cubicBezTo>
                  <a:pt x="242" y="464"/>
                  <a:pt x="256" y="450"/>
                  <a:pt x="256" y="432"/>
                </a:cubicBezTo>
                <a:close/>
                <a:moveTo>
                  <a:pt x="384" y="64"/>
                </a:moveTo>
                <a:lnTo>
                  <a:pt x="64" y="64"/>
                </a:lnTo>
                <a:lnTo>
                  <a:pt x="64" y="352"/>
                </a:lnTo>
                <a:lnTo>
                  <a:pt x="384" y="352"/>
                </a:lnTo>
                <a:lnTo>
                  <a:pt x="384" y="64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15" name="pad-title"/>
          <p:cNvSpPr>
            <a:spLocks noGrp="1"/>
          </p:cNvSpPr>
          <p:nvPr/>
        </p:nvSpPr>
        <p:spPr>
          <a:xfrm>
            <a:off x="6807200" y="129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iPad 端 · 一笔成章 App</a:t>
            </a:r>
            <a:endParaRPr sz="1500"/>
          </a:p>
        </p:txBody>
      </p:sp>
      <p:pic>
        <p:nvPicPr>
          <p:cNvPr id="16" name="shot-course"/>
          <p:cNvPicPr>
            <a:picLocks noChangeAspect="1"/>
          </p:cNvPicPr>
          <p:nvPr/>
        </p:nvPicPr>
        <p:blipFill>
          <a:blip r:embed="rId2"/>
          <a:srcRect t="-32" b="-32"/>
          <a:stretch>
            <a:fillRect/>
          </a:stretch>
        </p:blipFill>
        <p:spPr>
          <a:xfrm>
            <a:off x="6451600" y="1701800"/>
            <a:ext cx="2489200" cy="1739900"/>
          </a:xfrm>
          <a:prstGeom prst="rect">
            <a:avLst/>
          </a:prstGeom>
          <a:ln>
            <a:noFill/>
          </a:ln>
        </p:spPr>
      </p:pic>
      <p:sp>
        <p:nvSpPr>
          <p:cNvPr id="17" name="shot-course-cap"/>
          <p:cNvSpPr>
            <a:spLocks noGrp="1"/>
          </p:cNvSpPr>
          <p:nvPr/>
        </p:nvSpPr>
        <p:spPr>
          <a:xfrm>
            <a:off x="6451600" y="3505200"/>
            <a:ext cx="248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20000"/>
              </a:lnSpc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课程字库（100 字练习包）</a:t>
            </a:r>
            <a:endParaRPr sz="900"/>
          </a:p>
        </p:txBody>
      </p:sp>
      <p:pic>
        <p:nvPicPr>
          <p:cNvPr id="18" name="shot-stats"/>
          <p:cNvPicPr>
            <a:picLocks noChangeAspect="1"/>
          </p:cNvPicPr>
          <p:nvPr/>
        </p:nvPicPr>
        <p:blipFill>
          <a:blip r:embed="rId3"/>
          <a:srcRect t="-32" b="-32"/>
          <a:stretch>
            <a:fillRect/>
          </a:stretch>
        </p:blipFill>
        <p:spPr>
          <a:xfrm>
            <a:off x="9093200" y="1701800"/>
            <a:ext cx="2489200" cy="1739900"/>
          </a:xfrm>
          <a:prstGeom prst="rect">
            <a:avLst/>
          </a:prstGeom>
          <a:ln>
            <a:noFill/>
          </a:ln>
        </p:spPr>
      </p:pic>
      <p:sp>
        <p:nvSpPr>
          <p:cNvPr id="19" name="shot-stats-cap"/>
          <p:cNvSpPr>
            <a:spLocks noGrp="1"/>
          </p:cNvSpPr>
          <p:nvPr/>
        </p:nvSpPr>
        <p:spPr>
          <a:xfrm>
            <a:off x="9093200" y="3505200"/>
            <a:ext cx="248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ctr">
              <a:lnSpc>
                <a:spcPct val="120000"/>
              </a:lnSpc>
              <a:buNone/>
              <a:defRPr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7A8CA7"/>
                </a:solidFill>
                <a:latin typeface="MiSans" charset="-122"/>
                <a:ea typeface="MiSans" charset="-122"/>
                <a:cs typeface="MiSans" charset="-122"/>
              </a:rPr>
              <a:t>练习统计与打卡</a:t>
            </a:r>
            <a:endParaRPr sz="900"/>
          </a:p>
        </p:txBody>
      </p:sp>
      <p:sp>
        <p:nvSpPr>
          <p:cNvPr id="20" name="pad-bullets"/>
          <p:cNvSpPr>
            <a:spLocks noGrp="1"/>
          </p:cNvSpPr>
          <p:nvPr/>
        </p:nvSpPr>
        <p:spPr>
          <a:xfrm>
            <a:off x="6451600" y="3860800"/>
            <a:ext cx="5130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深度练习闭环</a:t>
            </a: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：压感笔书写 → 参考字对照 → AI 分析 → 点评建议，一站完成。</a:t>
            </a:r>
            <a:endParaRPr sz="1050"/>
          </a:p>
          <a:p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学习数据沉淀</a:t>
            </a: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：打卡、练习次数、评分趋势全程记录，形成个人练习档案。</a:t>
            </a:r>
            <a:endParaRPr sz="1050"/>
          </a:p>
          <a:p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四图对照点评</a:t>
            </a: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：参考字 / 我的书写 / 分割叠图 / 对齐示意并排呈现，问题定位到局部区域。</a:t>
            </a:r>
            <a:endParaRPr sz="1050"/>
          </a:p>
        </p:txBody>
      </p:sp>
      <p:sp>
        <p:nvSpPr>
          <p:cNvPr id="21" name="pad-concl-band"/>
          <p:cNvSpPr>
            <a:spLocks noGrp="1"/>
          </p:cNvSpPr>
          <p:nvPr/>
        </p:nvSpPr>
        <p:spPr>
          <a:xfrm>
            <a:off x="6451600" y="5537200"/>
            <a:ext cx="5130800" cy="558800"/>
          </a:xfrm>
          <a:prstGeom prst="roundRect">
            <a:avLst>
              <a:gd name="adj" fmla="val 20455"/>
            </a:avLst>
          </a:prstGeom>
          <a:solidFill>
            <a:srgbClr val="E5F5C9"/>
          </a:solidFill>
          <a:ln w="0">
            <a:noFill/>
          </a:ln>
        </p:spPr>
      </p:sp>
      <p:sp>
        <p:nvSpPr>
          <p:cNvPr id="22" name="pad-concl"/>
          <p:cNvSpPr>
            <a:spLocks noGrp="1"/>
          </p:cNvSpPr>
          <p:nvPr/>
        </p:nvSpPr>
        <p:spPr>
          <a:xfrm>
            <a:off x="6629400" y="5537200"/>
            <a:ext cx="482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双端均已达到</a:t>
            </a:r>
            <a:r>
              <a: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可现场演示</a:t>
            </a:r>
            <a:r>
              <a:rPr sz="112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状态，练习数据与模型分析真实联通。</a:t>
            </a:r>
            <a:endParaRPr sz="1100"/>
          </a:p>
        </p:txBody>
      </p:sp>
      <p:sp>
        <p:nvSpPr>
          <p:cNvPr id="23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25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09 / 13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32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成果与学术验证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03 · 成果与学术验证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sp>
        <p:nvSpPr>
          <p:cNvPr id="6" name="paper-band"/>
          <p:cNvSpPr>
            <a:spLocks noGrp="1"/>
          </p:cNvSpPr>
          <p:nvPr/>
        </p:nvSpPr>
        <p:spPr>
          <a:xfrm>
            <a:off x="609600" y="1244600"/>
            <a:ext cx="10972800" cy="787400"/>
          </a:xfrm>
          <a:prstGeom prst="roundRect">
            <a:avLst>
              <a:gd name="adj" fmla="val 24194"/>
            </a:avLst>
          </a:prstGeom>
          <a:gradFill rotWithShape="1">
            <a:gsLst>
              <a:gs pos="0">
                <a:srgbClr val="0A5CE6"/>
              </a:gs>
              <a:gs pos="100000">
                <a:srgbClr val="3D8EFF"/>
              </a:gs>
            </a:gsLst>
            <a:lin ang="0" scaled="0"/>
          </a:gradFill>
          <a:ln w="0">
            <a:noFill/>
          </a:ln>
        </p:spPr>
      </p:sp>
      <p:sp>
        <p:nvSpPr>
          <p:cNvPr id="7" name="paper-icon"/>
          <p:cNvSpPr>
            <a:spLocks noGrp="1"/>
          </p:cNvSpPr>
          <p:nvPr/>
        </p:nvSpPr>
        <p:spPr>
          <a:xfrm>
            <a:off x="863600" y="1485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8" name="paper-text"/>
          <p:cNvSpPr>
            <a:spLocks noGrp="1"/>
          </p:cNvSpPr>
          <p:nvPr/>
        </p:nvSpPr>
        <p:spPr>
          <a:xfrm>
            <a:off x="1346200" y="1244600"/>
            <a:ext cx="1003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55000"/>
              </a:lnSpc>
              <a:buNone/>
            </a:pPr>
            <a:r>
              <a:rPr sz="115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学术论文在审 · IJDAR</a:t>
            </a:r>
            <a:r>
              <a:rPr sz="115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（International Journal on Document Analysis and Recognition，已完成两轮修订：2026-09-05 / 09-17）</a:t>
            </a:r>
            <a:endParaRPr sz="1150"/>
          </a:p>
          <a:p>
            <a:pPr algn="l">
              <a:lnSpc>
                <a:spcPct val="155000"/>
              </a:lnSpc>
              <a:spcBef>
                <a:spcPts val="200"/>
              </a:spcBef>
              <a:buNone/>
            </a:pPr>
            <a:r>
              <a:rPr sz="950" b="1">
                <a:solidFill>
                  <a:srgbClr val="C9DCFF"/>
                </a:solidFill>
                <a:latin typeface="MiSans" charset="-122"/>
                <a:ea typeface="MiSans" charset="-122"/>
                <a:cs typeface="MiSans" charset="-122"/>
              </a:rPr>
              <a:t>Reference-Conditioned Multi-Label Stroke Structure Analysis for Low-Resource Chinese Calligraphy Practice · 主稿 20 页 + 补充材料</a:t>
            </a:r>
            <a:endParaRPr sz="1150"/>
          </a:p>
        </p:txBody>
      </p:sp>
      <p:sp>
        <p:nvSpPr>
          <p:cNvPr id="9" name="cr-band"/>
          <p:cNvSpPr>
            <a:spLocks noGrp="1"/>
          </p:cNvSpPr>
          <p:nvPr/>
        </p:nvSpPr>
        <p:spPr>
          <a:xfrm>
            <a:off x="609600" y="2184400"/>
            <a:ext cx="10972800" cy="533400"/>
          </a:xfrm>
          <a:prstGeom prst="roundRect">
            <a:avLst>
              <a:gd name="adj" fmla="val 21429"/>
            </a:avLst>
          </a:prstGeom>
          <a:solidFill>
            <a:srgbClr val="E5F5C9"/>
          </a:solidFill>
          <a:ln w="0">
            <a:noFill/>
          </a:ln>
        </p:spPr>
      </p:sp>
      <p:sp>
        <p:nvSpPr>
          <p:cNvPr id="10" name="cr-icon"/>
          <p:cNvSpPr>
            <a:spLocks noGrp="1"/>
          </p:cNvSpPr>
          <p:nvPr/>
        </p:nvSpPr>
        <p:spPr>
          <a:xfrm>
            <a:off x="863600" y="2336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39" y="-8"/>
                </a:moveTo>
                <a:cubicBezTo>
                  <a:pt x="233" y="-14"/>
                  <a:pt x="224" y="-17"/>
                  <a:pt x="216" y="-14"/>
                </a:cubicBezTo>
                <a:cubicBezTo>
                  <a:pt x="207" y="-12"/>
                  <a:pt x="201" y="-6"/>
                  <a:pt x="199" y="3"/>
                </a:cubicBezTo>
                <a:lnTo>
                  <a:pt x="184" y="63"/>
                </a:lnTo>
                <a:cubicBezTo>
                  <a:pt x="182" y="67"/>
                  <a:pt x="178" y="70"/>
                  <a:pt x="174" y="69"/>
                </a:cubicBezTo>
                <a:lnTo>
                  <a:pt x="114" y="52"/>
                </a:lnTo>
                <a:cubicBezTo>
                  <a:pt x="105" y="50"/>
                  <a:pt x="96" y="52"/>
                  <a:pt x="90" y="58"/>
                </a:cubicBezTo>
                <a:cubicBezTo>
                  <a:pt x="84" y="64"/>
                  <a:pt x="82" y="73"/>
                  <a:pt x="84" y="82"/>
                </a:cubicBezTo>
                <a:lnTo>
                  <a:pt x="101" y="141"/>
                </a:lnTo>
                <a:cubicBezTo>
                  <a:pt x="102" y="146"/>
                  <a:pt x="100" y="150"/>
                  <a:pt x="95" y="151"/>
                </a:cubicBezTo>
                <a:lnTo>
                  <a:pt x="35" y="167"/>
                </a:lnTo>
                <a:cubicBezTo>
                  <a:pt x="27" y="169"/>
                  <a:pt x="20" y="175"/>
                  <a:pt x="18" y="184"/>
                </a:cubicBezTo>
                <a:cubicBezTo>
                  <a:pt x="16" y="192"/>
                  <a:pt x="18" y="201"/>
                  <a:pt x="24" y="207"/>
                </a:cubicBezTo>
                <a:lnTo>
                  <a:pt x="69" y="250"/>
                </a:lnTo>
                <a:cubicBezTo>
                  <a:pt x="72" y="253"/>
                  <a:pt x="72" y="259"/>
                  <a:pt x="69" y="262"/>
                </a:cubicBezTo>
                <a:lnTo>
                  <a:pt x="24" y="305"/>
                </a:lnTo>
                <a:cubicBezTo>
                  <a:pt x="18" y="311"/>
                  <a:pt x="16" y="320"/>
                  <a:pt x="18" y="329"/>
                </a:cubicBezTo>
                <a:cubicBezTo>
                  <a:pt x="20" y="337"/>
                  <a:pt x="27" y="343"/>
                  <a:pt x="35" y="346"/>
                </a:cubicBezTo>
                <a:lnTo>
                  <a:pt x="95" y="361"/>
                </a:lnTo>
                <a:cubicBezTo>
                  <a:pt x="100" y="362"/>
                  <a:pt x="102" y="367"/>
                  <a:pt x="101" y="371"/>
                </a:cubicBezTo>
                <a:lnTo>
                  <a:pt x="84" y="431"/>
                </a:lnTo>
                <a:cubicBezTo>
                  <a:pt x="82" y="439"/>
                  <a:pt x="84" y="448"/>
                  <a:pt x="90" y="454"/>
                </a:cubicBezTo>
                <a:cubicBezTo>
                  <a:pt x="96" y="460"/>
                  <a:pt x="105" y="463"/>
                  <a:pt x="114" y="460"/>
                </a:cubicBezTo>
                <a:lnTo>
                  <a:pt x="174" y="443"/>
                </a:lnTo>
                <a:cubicBezTo>
                  <a:pt x="178" y="442"/>
                  <a:pt x="182" y="445"/>
                  <a:pt x="184" y="449"/>
                </a:cubicBezTo>
                <a:lnTo>
                  <a:pt x="199" y="509"/>
                </a:lnTo>
                <a:cubicBezTo>
                  <a:pt x="201" y="518"/>
                  <a:pt x="208" y="524"/>
                  <a:pt x="216" y="526"/>
                </a:cubicBezTo>
                <a:cubicBezTo>
                  <a:pt x="224" y="529"/>
                  <a:pt x="233" y="526"/>
                  <a:pt x="239" y="520"/>
                </a:cubicBezTo>
                <a:lnTo>
                  <a:pt x="283" y="476"/>
                </a:lnTo>
                <a:cubicBezTo>
                  <a:pt x="286" y="472"/>
                  <a:pt x="291" y="472"/>
                  <a:pt x="294" y="476"/>
                </a:cubicBezTo>
                <a:lnTo>
                  <a:pt x="337" y="520"/>
                </a:lnTo>
                <a:cubicBezTo>
                  <a:pt x="343" y="526"/>
                  <a:pt x="352" y="529"/>
                  <a:pt x="361" y="526"/>
                </a:cubicBezTo>
                <a:cubicBezTo>
                  <a:pt x="369" y="524"/>
                  <a:pt x="376" y="518"/>
                  <a:pt x="378" y="509"/>
                </a:cubicBezTo>
                <a:lnTo>
                  <a:pt x="393" y="449"/>
                </a:lnTo>
                <a:cubicBezTo>
                  <a:pt x="394" y="445"/>
                  <a:pt x="399" y="442"/>
                  <a:pt x="403" y="443"/>
                </a:cubicBezTo>
                <a:lnTo>
                  <a:pt x="463" y="460"/>
                </a:lnTo>
                <a:cubicBezTo>
                  <a:pt x="471" y="463"/>
                  <a:pt x="480" y="460"/>
                  <a:pt x="486" y="454"/>
                </a:cubicBezTo>
                <a:cubicBezTo>
                  <a:pt x="492" y="448"/>
                  <a:pt x="495" y="439"/>
                  <a:pt x="492" y="431"/>
                </a:cubicBezTo>
                <a:lnTo>
                  <a:pt x="476" y="371"/>
                </a:lnTo>
                <a:cubicBezTo>
                  <a:pt x="474" y="366"/>
                  <a:pt x="477" y="362"/>
                  <a:pt x="481" y="361"/>
                </a:cubicBezTo>
                <a:lnTo>
                  <a:pt x="541" y="346"/>
                </a:lnTo>
                <a:cubicBezTo>
                  <a:pt x="550" y="343"/>
                  <a:pt x="556" y="337"/>
                  <a:pt x="559" y="328"/>
                </a:cubicBezTo>
                <a:cubicBezTo>
                  <a:pt x="561" y="320"/>
                  <a:pt x="559" y="311"/>
                  <a:pt x="552" y="305"/>
                </a:cubicBezTo>
                <a:lnTo>
                  <a:pt x="508" y="262"/>
                </a:lnTo>
                <a:cubicBezTo>
                  <a:pt x="505" y="259"/>
                  <a:pt x="505" y="253"/>
                  <a:pt x="508" y="250"/>
                </a:cubicBezTo>
                <a:lnTo>
                  <a:pt x="552" y="207"/>
                </a:lnTo>
                <a:cubicBezTo>
                  <a:pt x="559" y="201"/>
                  <a:pt x="561" y="192"/>
                  <a:pt x="559" y="184"/>
                </a:cubicBezTo>
                <a:cubicBezTo>
                  <a:pt x="556" y="175"/>
                  <a:pt x="550" y="169"/>
                  <a:pt x="541" y="166"/>
                </a:cubicBezTo>
                <a:lnTo>
                  <a:pt x="481" y="151"/>
                </a:lnTo>
                <a:cubicBezTo>
                  <a:pt x="477" y="150"/>
                  <a:pt x="474" y="146"/>
                  <a:pt x="476" y="141"/>
                </a:cubicBezTo>
                <a:lnTo>
                  <a:pt x="492" y="81"/>
                </a:lnTo>
                <a:cubicBezTo>
                  <a:pt x="495" y="73"/>
                  <a:pt x="492" y="64"/>
                  <a:pt x="486" y="58"/>
                </a:cubicBezTo>
                <a:cubicBezTo>
                  <a:pt x="480" y="52"/>
                  <a:pt x="471" y="49"/>
                  <a:pt x="463" y="52"/>
                </a:cubicBezTo>
                <a:lnTo>
                  <a:pt x="403" y="69"/>
                </a:lnTo>
                <a:cubicBezTo>
                  <a:pt x="399" y="70"/>
                  <a:pt x="394" y="67"/>
                  <a:pt x="393" y="63"/>
                </a:cubicBezTo>
                <a:lnTo>
                  <a:pt x="378" y="3"/>
                </a:lnTo>
                <a:cubicBezTo>
                  <a:pt x="376" y="-6"/>
                  <a:pt x="369" y="-12"/>
                  <a:pt x="361" y="-14"/>
                </a:cubicBezTo>
                <a:cubicBezTo>
                  <a:pt x="352" y="-17"/>
                  <a:pt x="343" y="-14"/>
                  <a:pt x="337" y="-8"/>
                </a:cubicBezTo>
                <a:lnTo>
                  <a:pt x="294" y="37"/>
                </a:lnTo>
                <a:cubicBezTo>
                  <a:pt x="291" y="40"/>
                  <a:pt x="286" y="40"/>
                  <a:pt x="283" y="37"/>
                </a:cubicBezTo>
                <a:lnTo>
                  <a:pt x="239" y="-8"/>
                </a:lnTo>
                <a:close/>
              </a:path>
            </a:pathLst>
          </a:custGeom>
          <a:solidFill>
            <a:srgbClr val="0A2A6B"/>
          </a:solidFill>
          <a:ln>
            <a:noFill/>
          </a:ln>
        </p:spPr>
      </p:sp>
      <p:sp>
        <p:nvSpPr>
          <p:cNvPr id="11" name="cr-text"/>
          <p:cNvSpPr>
            <a:spLocks noGrp="1"/>
          </p:cNvSpPr>
          <p:nvPr/>
        </p:nvSpPr>
        <p:spPr>
          <a:xfrm>
            <a:off x="1270000" y="2184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软件著作权申请中</a:t>
            </a:r>
            <a:r>
              <a:rPr sz="11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：「一笔成章」汉字书法智能反馈系统（iPad 端 + Web 平台）</a:t>
            </a:r>
            <a:endParaRPr sz="1150"/>
          </a:p>
        </p:txBody>
      </p:sp>
      <p:sp>
        <p:nvSpPr>
          <p:cNvPr id="12" name="val-kicker"/>
          <p:cNvSpPr>
            <a:spLocks noGrp="1"/>
          </p:cNvSpPr>
          <p:nvPr/>
        </p:nvSpPr>
        <p:spPr>
          <a:xfrm>
            <a:off x="609600" y="3022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学术验证 · 三组关键证据</a:t>
            </a:r>
            <a:endParaRPr sz="1050"/>
          </a:p>
        </p:txBody>
      </p:sp>
      <p:sp>
        <p:nvSpPr>
          <p:cNvPr id="13" name="v1-num"/>
          <p:cNvSpPr>
            <a:spLocks noGrp="1"/>
          </p:cNvSpPr>
          <p:nvPr/>
        </p:nvSpPr>
        <p:spPr>
          <a:xfrm>
            <a:off x="609600" y="3378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E1</a:t>
            </a:r>
            <a:endParaRPr sz="1400"/>
          </a:p>
        </p:txBody>
      </p:sp>
      <p:sp>
        <p:nvSpPr>
          <p:cNvPr id="14" name="v1-text"/>
          <p:cNvSpPr>
            <a:spLocks noGrp="1"/>
          </p:cNvSpPr>
          <p:nvPr/>
        </p:nvSpPr>
        <p:spPr>
          <a:xfrm>
            <a:off x="1219200" y="33274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受控扰动实验</a:t>
            </a:r>
            <a:r>
              <a: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：平移罚分≈0 被对齐完全吸收，结构性破坏随严重度单调降分，分数语义符合设计预期。</a:t>
            </a:r>
            <a:endParaRPr sz="1050"/>
          </a:p>
        </p:txBody>
      </p:sp>
      <p:sp>
        <p:nvSpPr>
          <p:cNvPr id="15" name="v2-num"/>
          <p:cNvSpPr>
            <a:spLocks noGrp="1"/>
          </p:cNvSpPr>
          <p:nvPr/>
        </p:nvSpPr>
        <p:spPr>
          <a:xfrm>
            <a:off x="609600" y="4318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E2</a:t>
            </a:r>
            <a:endParaRPr sz="1400"/>
          </a:p>
        </p:txBody>
      </p:sp>
      <p:sp>
        <p:nvSpPr>
          <p:cNvPr id="16" name="v2-text"/>
          <p:cNvSpPr>
            <a:spLocks noGrp="1"/>
          </p:cNvSpPr>
          <p:nvPr/>
        </p:nvSpPr>
        <p:spPr>
          <a:xfrm>
            <a:off x="1219200" y="42672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对齐消融</a:t>
            </a:r>
            <a:r>
              <a: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：受限对齐使无关变换罚分降低 30.1 分（95% CI [29.5, 30.7]），结构敏感性同步提升。</a:t>
            </a:r>
            <a:endParaRPr sz="1050"/>
          </a:p>
        </p:txBody>
      </p:sp>
      <p:sp>
        <p:nvSpPr>
          <p:cNvPr id="17" name="v3-num"/>
          <p:cNvSpPr>
            <a:spLocks noGrp="1"/>
          </p:cNvSpPr>
          <p:nvPr/>
        </p:nvSpPr>
        <p:spPr>
          <a:xfrm>
            <a:off x="609600" y="52578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E3</a:t>
            </a:r>
            <a:endParaRPr sz="1400"/>
          </a:p>
        </p:txBody>
      </p:sp>
      <p:sp>
        <p:nvSpPr>
          <p:cNvPr id="18" name="v3-text"/>
          <p:cNvSpPr>
            <a:spLocks noGrp="1"/>
          </p:cNvSpPr>
          <p:nvPr/>
        </p:nvSpPr>
        <p:spPr>
          <a:xfrm>
            <a:off x="1219200" y="5207000"/>
            <a:ext cx="4826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人工盲评验证</a:t>
            </a:r>
            <a:r>
              <a:rPr sz="111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：3 位盲评者 × 150 对同字实例，评分与人判断 Spearman ρ=0.297，coverage-aware 修正后 0.429；评价者间 ICC(2,k)=0.709。</a:t>
            </a:r>
            <a:endParaRPr sz="1050"/>
          </a:p>
        </p:txBody>
      </p:sp>
      <p:sp>
        <p:nvSpPr>
          <p:cNvPr id="19" name="mid-vline"/>
          <p:cNvSpPr>
            <a:spLocks noGrp="1"/>
          </p:cNvSpPr>
          <p:nvPr/>
        </p:nvSpPr>
        <p:spPr>
          <a:xfrm>
            <a:off x="6299200" y="3022600"/>
            <a:ext cx="12700" cy="3175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" name="eng-kicker"/>
          <p:cNvSpPr>
            <a:spLocks noGrp="1"/>
          </p:cNvSpPr>
          <p:nvPr/>
        </p:nvSpPr>
        <p:spPr>
          <a:xfrm>
            <a:off x="6654800" y="3022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工程与数据成果</a:t>
            </a:r>
            <a:endParaRPr sz="1050"/>
          </a:p>
        </p:txBody>
      </p:sp>
      <p:sp>
        <p:nvSpPr>
          <p:cNvPr id="21" name="g1-icon"/>
          <p:cNvSpPr>
            <a:spLocks noGrp="1"/>
          </p:cNvSpPr>
          <p:nvPr/>
        </p:nvSpPr>
        <p:spPr>
          <a:xfrm>
            <a:off x="6654800" y="335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-2"/>
                </a:moveTo>
                <a:cubicBezTo>
                  <a:pt x="244" y="-14"/>
                  <a:pt x="269" y="-14"/>
                  <a:pt x="288" y="-2"/>
                </a:cubicBezTo>
                <a:lnTo>
                  <a:pt x="464" y="99"/>
                </a:lnTo>
                <a:cubicBezTo>
                  <a:pt x="484" y="110"/>
                  <a:pt x="496" y="132"/>
                  <a:pt x="496" y="154"/>
                </a:cubicBezTo>
                <a:lnTo>
                  <a:pt x="496" y="357"/>
                </a:lnTo>
                <a:cubicBezTo>
                  <a:pt x="496" y="380"/>
                  <a:pt x="484" y="401"/>
                  <a:pt x="464" y="413"/>
                </a:cubicBezTo>
                <a:lnTo>
                  <a:pt x="288" y="515"/>
                </a:lnTo>
                <a:cubicBezTo>
                  <a:pt x="269" y="526"/>
                  <a:pt x="244" y="526"/>
                  <a:pt x="224" y="515"/>
                </a:cubicBezTo>
                <a:lnTo>
                  <a:pt x="49" y="413"/>
                </a:lnTo>
                <a:cubicBezTo>
                  <a:pt x="29" y="402"/>
                  <a:pt x="17" y="380"/>
                  <a:pt x="17" y="358"/>
                </a:cubicBezTo>
                <a:lnTo>
                  <a:pt x="17" y="155"/>
                </a:lnTo>
                <a:cubicBezTo>
                  <a:pt x="17" y="132"/>
                  <a:pt x="29" y="111"/>
                  <a:pt x="49" y="99"/>
                </a:cubicBezTo>
                <a:lnTo>
                  <a:pt x="224" y="-2"/>
                </a:lnTo>
                <a:close/>
                <a:moveTo>
                  <a:pt x="432" y="358"/>
                </a:moveTo>
                <a:lnTo>
                  <a:pt x="432" y="191"/>
                </a:lnTo>
                <a:lnTo>
                  <a:pt x="288" y="274"/>
                </a:lnTo>
                <a:lnTo>
                  <a:pt x="288" y="441"/>
                </a:lnTo>
                <a:lnTo>
                  <a:pt x="432" y="358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22" name="g1-text"/>
          <p:cNvSpPr>
            <a:spLocks noGrp="1"/>
          </p:cNvSpPr>
          <p:nvPr/>
        </p:nvSpPr>
        <p:spPr>
          <a:xfrm>
            <a:off x="6985000" y="3327400"/>
            <a:ext cx="459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模型冻结发布</a:t>
            </a: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：segformer-b2-v1，阈值、模型卡、哈希全量留档，18 组正式基准完成审计。</a:t>
            </a:r>
            <a:endParaRPr sz="1050"/>
          </a:p>
        </p:txBody>
      </p:sp>
      <p:sp>
        <p:nvSpPr>
          <p:cNvPr id="23" name="g2-icon"/>
          <p:cNvSpPr>
            <a:spLocks noGrp="1"/>
          </p:cNvSpPr>
          <p:nvPr/>
        </p:nvSpPr>
        <p:spPr>
          <a:xfrm>
            <a:off x="6654800" y="403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24" name="g2-text"/>
          <p:cNvSpPr>
            <a:spLocks noGrp="1"/>
          </p:cNvSpPr>
          <p:nvPr/>
        </p:nvSpPr>
        <p:spPr>
          <a:xfrm>
            <a:off x="6985000" y="4013200"/>
            <a:ext cx="459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数据资产固化</a:t>
            </a: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：840 份 GT 找回校验，769 个 QC-clean 样本与字符级冻结划分。</a:t>
            </a:r>
            <a:endParaRPr sz="1050"/>
          </a:p>
        </p:txBody>
      </p:sp>
      <p:sp>
        <p:nvSpPr>
          <p:cNvPr id="25" name="g3-icon"/>
          <p:cNvSpPr>
            <a:spLocks noGrp="1"/>
          </p:cNvSpPr>
          <p:nvPr/>
        </p:nvSpPr>
        <p:spPr>
          <a:xfrm>
            <a:off x="6654800" y="4724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26" name="g3-text"/>
          <p:cNvSpPr>
            <a:spLocks noGrp="1"/>
          </p:cNvSpPr>
          <p:nvPr/>
        </p:nvSpPr>
        <p:spPr>
          <a:xfrm>
            <a:off x="6985000" y="4699000"/>
            <a:ext cx="459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双端真实落地</a:t>
            </a: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：onestroke.cn 两门 100 字课程包（Beta）+ iPad App 练习全流程，模型联调通过。</a:t>
            </a:r>
            <a:endParaRPr sz="1050"/>
          </a:p>
        </p:txBody>
      </p:sp>
      <p:sp>
        <p:nvSpPr>
          <p:cNvPr id="27" name="g4-icon"/>
          <p:cNvSpPr>
            <a:spLocks noGrp="1"/>
          </p:cNvSpPr>
          <p:nvPr/>
        </p:nvSpPr>
        <p:spPr>
          <a:xfrm>
            <a:off x="6654800" y="5410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28" name="g4-text"/>
          <p:cNvSpPr>
            <a:spLocks noGrp="1"/>
          </p:cNvSpPr>
          <p:nvPr/>
        </p:nvSpPr>
        <p:spPr>
          <a:xfrm>
            <a:off x="6985000" y="5384800"/>
            <a:ext cx="459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45000"/>
              </a:lnSpc>
              <a:buNone/>
              <a:def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工程质量</a:t>
            </a:r>
            <a:r>
              <a:rPr sz="1090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：104 项自动化测试通过，数据—模型—论文全链路可复现、可审计。</a:t>
            </a:r>
            <a:endParaRPr sz="1050"/>
          </a:p>
        </p:txBody>
      </p:sp>
      <p:sp>
        <p:nvSpPr>
          <p:cNvPr id="29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31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10 / 13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25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商业化探索：B 端规模化进校 + C 端订阅深化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04 · 商业化探索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sp>
        <p:nvSpPr>
          <p:cNvPr id="6" name="b-icon"/>
          <p:cNvSpPr>
            <a:spLocks noGrp="1"/>
          </p:cNvSpPr>
          <p:nvPr/>
        </p:nvSpPr>
        <p:spPr>
          <a:xfrm>
            <a:off x="609600" y="1371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192"/>
                </a:moveTo>
                <a:cubicBezTo>
                  <a:pt x="0" y="157"/>
                  <a:pt x="29" y="128"/>
                  <a:pt x="64" y="128"/>
                </a:cubicBezTo>
                <a:lnTo>
                  <a:pt x="128" y="128"/>
                </a:lnTo>
                <a:lnTo>
                  <a:pt x="256" y="13"/>
                </a:lnTo>
                <a:cubicBezTo>
                  <a:pt x="274" y="-3"/>
                  <a:pt x="302" y="-3"/>
                  <a:pt x="320" y="13"/>
                </a:cubicBezTo>
                <a:lnTo>
                  <a:pt x="448" y="128"/>
                </a:lnTo>
                <a:lnTo>
                  <a:pt x="512" y="128"/>
                </a:lnTo>
                <a:cubicBezTo>
                  <a:pt x="547" y="128"/>
                  <a:pt x="576" y="157"/>
                  <a:pt x="576" y="192"/>
                </a:cubicBezTo>
                <a:lnTo>
                  <a:pt x="576" y="448"/>
                </a:lnTo>
                <a:cubicBezTo>
                  <a:pt x="576" y="483"/>
                  <a:pt x="547" y="512"/>
                  <a:pt x="512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192"/>
                </a:lnTo>
                <a:close/>
                <a:moveTo>
                  <a:pt x="224" y="376"/>
                </a:moveTo>
                <a:lnTo>
                  <a:pt x="224" y="464"/>
                </a:lnTo>
                <a:lnTo>
                  <a:pt x="352" y="464"/>
                </a:lnTo>
                <a:lnTo>
                  <a:pt x="352" y="376"/>
                </a:lnTo>
                <a:cubicBezTo>
                  <a:pt x="352" y="354"/>
                  <a:pt x="334" y="336"/>
                  <a:pt x="312" y="336"/>
                </a:cubicBezTo>
                <a:lnTo>
                  <a:pt x="264" y="336"/>
                </a:lnTo>
                <a:cubicBezTo>
                  <a:pt x="242" y="336"/>
                  <a:pt x="224" y="354"/>
                  <a:pt x="224" y="376"/>
                </a:cubicBezTo>
                <a:close/>
                <a:moveTo>
                  <a:pt x="112" y="384"/>
                </a:moveTo>
                <a:cubicBezTo>
                  <a:pt x="121" y="384"/>
                  <a:pt x="128" y="377"/>
                  <a:pt x="128" y="368"/>
                </a:cubicBezTo>
                <a:lnTo>
                  <a:pt x="128" y="336"/>
                </a:lnTo>
                <a:cubicBezTo>
                  <a:pt x="128" y="327"/>
                  <a:pt x="121" y="320"/>
                  <a:pt x="112" y="320"/>
                </a:cubicBezTo>
                <a:lnTo>
                  <a:pt x="80" y="320"/>
                </a:lnTo>
                <a:cubicBezTo>
                  <a:pt x="71" y="320"/>
                  <a:pt x="64" y="327"/>
                  <a:pt x="64" y="336"/>
                </a:cubicBezTo>
                <a:lnTo>
                  <a:pt x="64" y="368"/>
                </a:lnTo>
                <a:cubicBezTo>
                  <a:pt x="64" y="377"/>
                  <a:pt x="71" y="384"/>
                  <a:pt x="80" y="384"/>
                </a:cubicBezTo>
                <a:lnTo>
                  <a:pt x="112" y="384"/>
                </a:lnTo>
                <a:close/>
                <a:moveTo>
                  <a:pt x="128" y="240"/>
                </a:moveTo>
                <a:lnTo>
                  <a:pt x="128" y="208"/>
                </a:lnTo>
                <a:cubicBezTo>
                  <a:pt x="128" y="199"/>
                  <a:pt x="121" y="192"/>
                  <a:pt x="112" y="192"/>
                </a:cubicBezTo>
                <a:lnTo>
                  <a:pt x="80" y="192"/>
                </a:lnTo>
                <a:cubicBezTo>
                  <a:pt x="71" y="192"/>
                  <a:pt x="64" y="199"/>
                  <a:pt x="64" y="208"/>
                </a:cubicBezTo>
                <a:lnTo>
                  <a:pt x="64" y="240"/>
                </a:lnTo>
                <a:cubicBezTo>
                  <a:pt x="64" y="249"/>
                  <a:pt x="71" y="256"/>
                  <a:pt x="80" y="256"/>
                </a:cubicBezTo>
                <a:lnTo>
                  <a:pt x="112" y="256"/>
                </a:lnTo>
                <a:cubicBezTo>
                  <a:pt x="121" y="256"/>
                  <a:pt x="128" y="249"/>
                  <a:pt x="128" y="240"/>
                </a:cubicBezTo>
                <a:close/>
                <a:moveTo>
                  <a:pt x="496" y="384"/>
                </a:moveTo>
                <a:cubicBezTo>
                  <a:pt x="505" y="384"/>
                  <a:pt x="512" y="377"/>
                  <a:pt x="512" y="368"/>
                </a:cubicBezTo>
                <a:lnTo>
                  <a:pt x="512" y="336"/>
                </a:lnTo>
                <a:cubicBezTo>
                  <a:pt x="512" y="327"/>
                  <a:pt x="505" y="320"/>
                  <a:pt x="496" y="320"/>
                </a:cubicBezTo>
                <a:lnTo>
                  <a:pt x="464" y="320"/>
                </a:lnTo>
                <a:cubicBezTo>
                  <a:pt x="455" y="320"/>
                  <a:pt x="448" y="327"/>
                  <a:pt x="448" y="336"/>
                </a:cubicBezTo>
                <a:lnTo>
                  <a:pt x="448" y="368"/>
                </a:lnTo>
                <a:cubicBezTo>
                  <a:pt x="448" y="377"/>
                  <a:pt x="455" y="384"/>
                  <a:pt x="464" y="384"/>
                </a:cubicBezTo>
                <a:lnTo>
                  <a:pt x="496" y="384"/>
                </a:lnTo>
                <a:close/>
                <a:moveTo>
                  <a:pt x="512" y="240"/>
                </a:moveTo>
                <a:lnTo>
                  <a:pt x="512" y="208"/>
                </a:lnTo>
                <a:cubicBezTo>
                  <a:pt x="512" y="199"/>
                  <a:pt x="505" y="192"/>
                  <a:pt x="496" y="192"/>
                </a:cubicBezTo>
                <a:lnTo>
                  <a:pt x="464" y="192"/>
                </a:lnTo>
                <a:cubicBezTo>
                  <a:pt x="455" y="192"/>
                  <a:pt x="448" y="199"/>
                  <a:pt x="448" y="208"/>
                </a:cubicBezTo>
                <a:lnTo>
                  <a:pt x="448" y="240"/>
                </a:lnTo>
                <a:cubicBezTo>
                  <a:pt x="448" y="249"/>
                  <a:pt x="455" y="256"/>
                  <a:pt x="464" y="256"/>
                </a:cubicBezTo>
                <a:lnTo>
                  <a:pt x="496" y="256"/>
                </a:lnTo>
                <a:cubicBezTo>
                  <a:pt x="505" y="256"/>
                  <a:pt x="512" y="249"/>
                  <a:pt x="512" y="240"/>
                </a:cubicBezTo>
                <a:close/>
                <a:moveTo>
                  <a:pt x="288" y="256"/>
                </a:moveTo>
                <a:cubicBezTo>
                  <a:pt x="323" y="256"/>
                  <a:pt x="352" y="227"/>
                  <a:pt x="352" y="192"/>
                </a:cubicBezTo>
                <a:cubicBezTo>
                  <a:pt x="352" y="157"/>
                  <a:pt x="323" y="128"/>
                  <a:pt x="288" y="128"/>
                </a:cubicBezTo>
                <a:cubicBezTo>
                  <a:pt x="253" y="128"/>
                  <a:pt x="224" y="157"/>
                  <a:pt x="224" y="192"/>
                </a:cubicBezTo>
                <a:cubicBezTo>
                  <a:pt x="224" y="227"/>
                  <a:pt x="253" y="256"/>
                  <a:pt x="288" y="256"/>
                </a:cubicBez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7" name="b-title"/>
          <p:cNvSpPr>
            <a:spLocks noGrp="1"/>
          </p:cNvSpPr>
          <p:nvPr/>
        </p:nvSpPr>
        <p:spPr>
          <a:xfrm>
            <a:off x="1041400" y="13462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B 端 · 学校与机构</a:t>
            </a:r>
            <a:endParaRPr sz="1500"/>
          </a:p>
        </p:txBody>
      </p:sp>
      <p:sp>
        <p:nvSpPr>
          <p:cNvPr id="8" name="b-sub"/>
          <p:cNvSpPr>
            <a:spLocks noGrp="1"/>
          </p:cNvSpPr>
          <p:nvPr/>
        </p:nvSpPr>
        <p:spPr>
          <a:xfrm>
            <a:off x="1041400" y="17018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Web 端免安装，是最低的进校门槛</a:t>
            </a:r>
            <a:endParaRPr sz="1000"/>
          </a:p>
        </p:txBody>
      </p:sp>
      <p:sp>
        <p:nvSpPr>
          <p:cNvPr id="9" name="b-list"/>
          <p:cNvSpPr>
            <a:spLocks noGrp="1"/>
          </p:cNvSpPr>
          <p:nvPr/>
        </p:nvSpPr>
        <p:spPr>
          <a:xfrm>
            <a:off x="609600" y="2228850"/>
            <a:ext cx="508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场景</a:t>
            </a: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：书法课堂、课后服务、社团活动，机房与电子白板直接可用。</a:t>
            </a:r>
            <a:endParaRPr sz="1050"/>
          </a:p>
          <a:p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产品形态</a:t>
            </a: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：课程包按学期 / 按校授权，教师端查看班级练习数据。</a:t>
            </a:r>
            <a:endParaRPr sz="1050"/>
          </a:p>
          <a:p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当前状态</a:t>
            </a: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：双课程 Beta 已具备进校演示条件。</a:t>
            </a:r>
            <a:endParaRPr sz="1050"/>
          </a:p>
        </p:txBody>
      </p:sp>
      <p:sp>
        <p:nvSpPr>
          <p:cNvPr id="10" name="c-icon"/>
          <p:cNvSpPr>
            <a:spLocks noGrp="1"/>
          </p:cNvSpPr>
          <p:nvPr/>
        </p:nvSpPr>
        <p:spPr>
          <a:xfrm>
            <a:off x="6426200" y="1371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11" name="c-title"/>
          <p:cNvSpPr>
            <a:spLocks noGrp="1"/>
          </p:cNvSpPr>
          <p:nvPr/>
        </p:nvSpPr>
        <p:spPr>
          <a:xfrm>
            <a:off x="6858000" y="13462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C 端 · 个人练习者</a:t>
            </a:r>
            <a:endParaRPr sz="1500"/>
          </a:p>
        </p:txBody>
      </p:sp>
      <p:sp>
        <p:nvSpPr>
          <p:cNvPr id="12" name="c-sub"/>
          <p:cNvSpPr>
            <a:spLocks noGrp="1"/>
          </p:cNvSpPr>
          <p:nvPr/>
        </p:nvSpPr>
        <p:spPr>
          <a:xfrm>
            <a:off x="6858000" y="17018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iPad App 深度练习，订阅 + 课程包内购</a:t>
            </a:r>
            <a:endParaRPr sz="1000"/>
          </a:p>
        </p:txBody>
      </p:sp>
      <p:sp>
        <p:nvSpPr>
          <p:cNvPr id="13" name="c-list"/>
          <p:cNvSpPr>
            <a:spLocks noGrp="1"/>
          </p:cNvSpPr>
          <p:nvPr/>
        </p:nvSpPr>
        <p:spPr>
          <a:xfrm>
            <a:off x="6426200" y="2228850"/>
            <a:ext cx="508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场景</a:t>
            </a: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：书法爱好者与考级人群的日常自学、纠错、复盘。</a:t>
            </a:r>
            <a:endParaRPr sz="1050"/>
          </a:p>
          <a:p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产品形态</a:t>
            </a: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：专业练习订阅制，碑帖课程包持续扩充。</a:t>
            </a:r>
            <a:endParaRPr sz="1050"/>
          </a:p>
          <a:p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当前状态</a:t>
            </a:r>
            <a:r>
              <a:rPr sz="127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：App 全流程可用，具备小范围真实用户试点条件。</a:t>
            </a:r>
            <a:endParaRPr sz="1050"/>
          </a:p>
        </p:txBody>
      </p:sp>
      <p:sp>
        <p:nvSpPr>
          <p:cNvPr id="14" name="loop-line1"/>
          <p:cNvSpPr>
            <a:spLocks noGrp="1"/>
          </p:cNvSpPr>
          <p:nvPr/>
        </p:nvSpPr>
        <p:spPr>
          <a:xfrm>
            <a:off x="1524000" y="4191000"/>
            <a:ext cx="9144000" cy="12700"/>
          </a:xfrm>
          <a:prstGeom prst="rect">
            <a:avLst/>
          </a:prstGeom>
          <a:solidFill>
            <a:srgbClr val="C6D7EC"/>
          </a:solidFill>
          <a:ln>
            <a:noFill/>
          </a:ln>
        </p:spPr>
      </p:sp>
      <p:sp>
        <p:nvSpPr>
          <p:cNvPr id="15" name="loop-b"/>
          <p:cNvSpPr>
            <a:spLocks noGrp="1"/>
          </p:cNvSpPr>
          <p:nvPr/>
        </p:nvSpPr>
        <p:spPr>
          <a:xfrm>
            <a:off x="1905000" y="43688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0A2A6B"/>
                </a:solidFill>
                <a:latin typeface="MiSans" charset="-122"/>
                <a:ea typeface="MiSans" charset="-122"/>
                <a:cs typeface="MiSans" charset="-122"/>
              </a:rPr>
              <a:t>B 端进校带来规模</a:t>
            </a:r>
            <a:endParaRPr sz="1150"/>
          </a:p>
        </p:txBody>
      </p:sp>
      <p:sp>
        <p:nvSpPr>
          <p:cNvPr id="16" name="loop-arrow1"/>
          <p:cNvSpPr>
            <a:spLocks noGrp="1"/>
          </p:cNvSpPr>
          <p:nvPr/>
        </p:nvSpPr>
        <p:spPr>
          <a:xfrm>
            <a:off x="4445000" y="439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67" y="279"/>
                </a:moveTo>
                <a:cubicBezTo>
                  <a:pt x="579" y="266"/>
                  <a:pt x="579" y="246"/>
                  <a:pt x="567" y="233"/>
                </a:cubicBezTo>
                <a:lnTo>
                  <a:pt x="439" y="105"/>
                </a:lnTo>
                <a:cubicBezTo>
                  <a:pt x="426" y="93"/>
                  <a:pt x="406" y="93"/>
                  <a:pt x="393" y="105"/>
                </a:cubicBezTo>
                <a:cubicBezTo>
                  <a:pt x="381" y="118"/>
                  <a:pt x="381" y="138"/>
                  <a:pt x="393" y="151"/>
                </a:cubicBezTo>
                <a:lnTo>
                  <a:pt x="467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67" y="288"/>
                </a:lnTo>
                <a:lnTo>
                  <a:pt x="393" y="361"/>
                </a:lnTo>
                <a:cubicBezTo>
                  <a:pt x="381" y="374"/>
                  <a:pt x="381" y="394"/>
                  <a:pt x="393" y="407"/>
                </a:cubicBezTo>
                <a:cubicBezTo>
                  <a:pt x="406" y="419"/>
                  <a:pt x="426" y="419"/>
                  <a:pt x="439" y="407"/>
                </a:cubicBezTo>
                <a:lnTo>
                  <a:pt x="567" y="279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17" name="loop-mid"/>
          <p:cNvSpPr>
            <a:spLocks noGrp="1"/>
          </p:cNvSpPr>
          <p:nvPr/>
        </p:nvSpPr>
        <p:spPr>
          <a:xfrm>
            <a:off x="4902200" y="43688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0A2A6B"/>
                </a:solidFill>
                <a:latin typeface="MiSans" charset="-122"/>
                <a:ea typeface="MiSans" charset="-122"/>
                <a:cs typeface="MiSans" charset="-122"/>
              </a:rPr>
              <a:t>数据与口碑沉淀</a:t>
            </a:r>
            <a:endParaRPr sz="1150"/>
          </a:p>
        </p:txBody>
      </p:sp>
      <p:sp>
        <p:nvSpPr>
          <p:cNvPr id="18" name="loop-arrow2"/>
          <p:cNvSpPr>
            <a:spLocks noGrp="1"/>
          </p:cNvSpPr>
          <p:nvPr/>
        </p:nvSpPr>
        <p:spPr>
          <a:xfrm>
            <a:off x="7569200" y="439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67" y="279"/>
                </a:moveTo>
                <a:cubicBezTo>
                  <a:pt x="579" y="266"/>
                  <a:pt x="579" y="246"/>
                  <a:pt x="567" y="233"/>
                </a:cubicBezTo>
                <a:lnTo>
                  <a:pt x="439" y="105"/>
                </a:lnTo>
                <a:cubicBezTo>
                  <a:pt x="426" y="93"/>
                  <a:pt x="406" y="93"/>
                  <a:pt x="393" y="105"/>
                </a:cubicBezTo>
                <a:cubicBezTo>
                  <a:pt x="381" y="118"/>
                  <a:pt x="381" y="138"/>
                  <a:pt x="393" y="151"/>
                </a:cubicBezTo>
                <a:lnTo>
                  <a:pt x="467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67" y="288"/>
                </a:lnTo>
                <a:lnTo>
                  <a:pt x="393" y="361"/>
                </a:lnTo>
                <a:cubicBezTo>
                  <a:pt x="381" y="374"/>
                  <a:pt x="381" y="394"/>
                  <a:pt x="393" y="407"/>
                </a:cubicBezTo>
                <a:cubicBezTo>
                  <a:pt x="406" y="419"/>
                  <a:pt x="426" y="419"/>
                  <a:pt x="439" y="407"/>
                </a:cubicBezTo>
                <a:lnTo>
                  <a:pt x="567" y="279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19" name="loop-c"/>
          <p:cNvSpPr>
            <a:spLocks noGrp="1"/>
          </p:cNvSpPr>
          <p:nvPr/>
        </p:nvSpPr>
        <p:spPr>
          <a:xfrm>
            <a:off x="8026400" y="43688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0A2A6B"/>
                </a:solidFill>
                <a:latin typeface="MiSans" charset="-122"/>
                <a:ea typeface="MiSans" charset="-122"/>
                <a:cs typeface="MiSans" charset="-122"/>
              </a:rPr>
              <a:t>C 端订阅反哺产品</a:t>
            </a:r>
            <a:endParaRPr sz="1150"/>
          </a:p>
        </p:txBody>
      </p:sp>
      <p:sp>
        <p:nvSpPr>
          <p:cNvPr id="20" name="comp-kicker"/>
          <p:cNvSpPr>
            <a:spLocks noGrp="1"/>
          </p:cNvSpPr>
          <p:nvPr/>
        </p:nvSpPr>
        <p:spPr>
          <a:xfrm>
            <a:off x="609600" y="502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中期商业进展与合规底线</a:t>
            </a:r>
            <a:endParaRPr sz="1050"/>
          </a:p>
        </p:txBody>
      </p:sp>
      <p:sp>
        <p:nvSpPr>
          <p:cNvPr id="21" name="comp-list"/>
          <p:cNvSpPr>
            <a:spLocks noGrp="1"/>
          </p:cNvSpPr>
          <p:nvPr/>
        </p:nvSpPr>
        <p:spPr>
          <a:xfrm>
            <a:off x="609600" y="5308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60000"/>
              </a:lnSpc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双端产品均达到可演示状态，两门 Beta 课程上线；字帖参考库采用 </a:t>
            </a: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CC-BY-NC-4.0</a:t>
            </a: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 授权数据集，并在产品内明确标注来源与 Beta 身份。</a:t>
            </a:r>
            <a:endParaRPr sz="1050"/>
          </a:p>
          <a:p>
            <a:pPr algn="l">
              <a:lnSpc>
                <a:spcPct val="160000"/>
              </a:lnSpc>
              <a:buNone/>
              <a:def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下一阶段重点：推进试点学校洽谈与小范围真实用户试点，用留存与付费意愿数据验证商业假设。</a:t>
            </a:r>
            <a:endParaRPr sz="1050"/>
          </a:p>
        </p:txBody>
      </p:sp>
      <p:sp>
        <p:nvSpPr>
          <p:cNvPr id="22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24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11 / 13</a:t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reference-cover-triangle"/>
          <p:cNvSpPr>
            <a:spLocks noGrp="1"/>
          </p:cNvSpPr>
          <p:nvPr/>
        </p:nvSpPr>
        <p:spPr>
          <a:xfrm rot="5400000">
            <a:off x="0" y="5905500"/>
            <a:ext cx="533400" cy="381000"/>
          </a:xfrm>
          <a:prstGeom prst="triangle">
            <a:avLst/>
          </a:prstGeom>
          <a:noFill/>
          <a:ln w="0">
            <a:noFill/>
            <a:prstDash val="solid"/>
          </a:ln>
        </p:spPr>
      </p:sp>
      <p:sp>
        <p:nvSpPr>
          <p:cNvPr id="30" name="reference-cover-ring"/>
          <p:cNvSpPr>
            <a:spLocks noGrp="1"/>
          </p:cNvSpPr>
          <p:nvPr/>
        </p:nvSpPr>
        <p:spPr>
          <a:xfrm>
            <a:off x="10820400" y="95250"/>
            <a:ext cx="1181100" cy="1181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" name="hd-bar"/>
          <p:cNvSpPr>
            <a:spLocks noGrp="1"/>
          </p:cNvSpPr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 w="0">
            <a:noFill/>
            <a:prstDash val="solid"/>
          </a:ln>
        </p:spPr>
      </p:sp>
      <p:sp>
        <p:nvSpPr>
          <p:cNvPr id="3" name="hd-title"/>
          <p:cNvSpPr>
            <a:spLocks noGrp="1"/>
          </p:cNvSpPr>
          <p:nvPr/>
        </p:nvSpPr>
        <p:spPr>
          <a:xfrm>
            <a:off x="838200" y="419100"/>
            <a:ext cx="10134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2200" b="1">
                <a:solidFill>
                  <a:srgbClr val="0E2350"/>
                </a:solidFill>
              </a:defRPr>
            </a:defPPr>
            <a:lvl1pPr>
              <a:defRPr sz="2200" b="1">
                <a:solidFill>
                  <a:srgbClr val="0E2350"/>
                </a:solidFill>
              </a:defRPr>
            </a:lvl1pPr>
            <a:lvl2pPr>
              <a:defRPr sz="2200" b="1">
                <a:solidFill>
                  <a:srgbClr val="0E2350"/>
                </a:solidFill>
              </a:defRPr>
            </a:lvl2pPr>
            <a:lvl3pPr>
              <a:defRPr sz="2200" b="1">
                <a:solidFill>
                  <a:srgbClr val="0E2350"/>
                </a:solidFill>
              </a:defRPr>
            </a:lvl3pPr>
            <a:lvl4pPr>
              <a:defRPr sz="2200" b="1">
                <a:solidFill>
                  <a:srgbClr val="0E2350"/>
                </a:solidFill>
              </a:defRPr>
            </a:lvl4pPr>
            <a:lvl5pPr>
              <a:defRPr sz="2200" b="1">
                <a:solidFill>
                  <a:srgbClr val="0E2350"/>
                </a:solidFill>
              </a:defRPr>
            </a:lvl5pPr>
            <a:lvl6pPr>
              <a:defRPr sz="2200" b="1">
                <a:solidFill>
                  <a:srgbClr val="0E2350"/>
                </a:solidFill>
              </a:defRPr>
            </a:lvl6pPr>
            <a:lvl7pPr>
              <a:defRPr sz="2200" b="1">
                <a:solidFill>
                  <a:srgbClr val="0E2350"/>
                </a:solidFill>
              </a:defRPr>
            </a:lvl7pPr>
            <a:lvl8pPr>
              <a:defRPr sz="2200" b="1">
                <a:solidFill>
                  <a:srgbClr val="0E2350"/>
                </a:solidFill>
              </a:defRPr>
            </a:lvl8pPr>
            <a:lvl9pPr>
              <a:defRPr sz="2200" b="1">
                <a:solidFill>
                  <a:srgbClr val="0E2350"/>
                </a:solidFill>
              </a:defRPr>
            </a:lvl9pPr>
          </a:lstStyle>
          <a:p>
            <a:pPr algn="l">
              <a:lnSpc>
                <a:spcPct val="120000"/>
              </a:lnSpc>
              <a:buNone/>
              <a:defRPr sz="2200" b="1">
                <a:solidFill>
                  <a:srgbClr val="0E2350"/>
                </a:solidFill>
              </a:defRPr>
            </a:pPr>
            <a:r>
              <a:rPr sz="2200" b="1">
                <a:solidFill>
                  <a:srgbClr val="0E2350"/>
                </a:solidFill>
                <a:latin typeface="MiSans" charset="-122"/>
                <a:ea typeface="MiSans" charset="-122"/>
                <a:cs typeface="MiSans" charset="-122"/>
              </a:rPr>
              <a:t>下一步计划：向结题与试点冲刺</a:t>
            </a:r>
            <a:endParaRPr sz="2200"/>
          </a:p>
        </p:txBody>
      </p:sp>
      <p:sp>
        <p:nvSpPr>
          <p:cNvPr id="4" name="hd-tag"/>
          <p:cNvSpPr>
            <a:spLocks noGrp="1"/>
          </p:cNvSpPr>
          <p:nvPr/>
        </p:nvSpPr>
        <p:spPr>
          <a:xfrm>
            <a:off x="838200" y="180975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 algn="l"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00" b="0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05 · 问题与计划</a:t>
            </a:r>
            <a:endParaRPr sz="1000"/>
          </a:p>
        </p:txBody>
      </p:sp>
      <p:sp>
        <p:nvSpPr>
          <p:cNvPr id="5" name="hd-line"/>
          <p:cNvSpPr>
            <a:spLocks noGrp="1"/>
          </p:cNvSpPr>
          <p:nvPr/>
        </p:nvSpPr>
        <p:spPr>
          <a:xfrm>
            <a:off x="609600" y="990600"/>
            <a:ext cx="742950" cy="28575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</p:sp>
      <p:sp>
        <p:nvSpPr>
          <p:cNvPr id="6" name="tl-line"/>
          <p:cNvSpPr>
            <a:spLocks noGrp="1"/>
          </p:cNvSpPr>
          <p:nvPr/>
        </p:nvSpPr>
        <p:spPr>
          <a:xfrm>
            <a:off x="914400" y="2489200"/>
            <a:ext cx="10363200" cy="25400"/>
          </a:xfrm>
          <a:prstGeom prst="roundRect">
            <a:avLst>
              <a:gd name="adj" fmla="val 50000"/>
            </a:avLst>
          </a:prstGeom>
          <a:solidFill>
            <a:srgbClr val="DCE3F2"/>
          </a:solidFill>
          <a:ln>
            <a:noFill/>
          </a:ln>
        </p:spPr>
      </p:sp>
      <p:sp>
        <p:nvSpPr>
          <p:cNvPr id="7" name="tl-dot1"/>
          <p:cNvSpPr>
            <a:spLocks noGrp="1"/>
          </p:cNvSpPr>
          <p:nvPr/>
        </p:nvSpPr>
        <p:spPr>
          <a:xfrm>
            <a:off x="1117600" y="2400300"/>
            <a:ext cx="203200" cy="203200"/>
          </a:xfrm>
          <a:prstGeom prst="ellipse">
            <a:avLst/>
          </a:prstGeom>
          <a:solidFill>
            <a:srgbClr val="076DFC"/>
          </a:solidFill>
          <a:ln>
            <a:noFill/>
          </a:ln>
        </p:spPr>
      </p:sp>
      <p:sp>
        <p:nvSpPr>
          <p:cNvPr id="8" name="tl-date1"/>
          <p:cNvSpPr>
            <a:spLocks noGrp="1"/>
          </p:cNvSpPr>
          <p:nvPr/>
        </p:nvSpPr>
        <p:spPr>
          <a:xfrm>
            <a:off x="812800" y="1803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2026.11</a:t>
            </a:r>
            <a:endParaRPr sz="1250"/>
          </a:p>
        </p:txBody>
      </p:sp>
      <p:sp>
        <p:nvSpPr>
          <p:cNvPr id="9" name="tl-title1"/>
          <p:cNvSpPr>
            <a:spLocks noGrp="1"/>
          </p:cNvSpPr>
          <p:nvPr/>
        </p:nvSpPr>
        <p:spPr>
          <a:xfrm>
            <a:off x="812800" y="2838450"/>
            <a:ext cx="2413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优化 Apple Pencil 支持</a:t>
            </a:r>
            <a:endParaRPr sz="1250" b="1">
              <a:solidFill>
                <a:srgbClr val="14213D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0" name="tl-desc1"/>
          <p:cNvSpPr>
            <a:spLocks noGrp="1"/>
          </p:cNvSpPr>
          <p:nvPr/>
        </p:nvSpPr>
        <p:spPr>
          <a:xfrm>
            <a:off x="812800" y="3248025"/>
            <a:ext cx="2413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软件工程与美术专业协作，优化压感表现与笔触反馈，提升接近毛笔的书写体验。</a:t>
            </a:r>
            <a:endParaRPr sz="1000" b="1">
              <a:solidFill>
                <a:srgbClr val="5B6B8C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1" name="tl-dot2"/>
          <p:cNvSpPr>
            <a:spLocks noGrp="1"/>
          </p:cNvSpPr>
          <p:nvPr/>
        </p:nvSpPr>
        <p:spPr>
          <a:xfrm>
            <a:off x="3810000" y="2400300"/>
            <a:ext cx="203200" cy="203200"/>
          </a:xfrm>
          <a:prstGeom prst="ellipse">
            <a:avLst/>
          </a:prstGeom>
          <a:solidFill>
            <a:srgbClr val="076DFC"/>
          </a:solidFill>
          <a:ln>
            <a:noFill/>
          </a:ln>
        </p:spPr>
      </p:sp>
      <p:sp>
        <p:nvSpPr>
          <p:cNvPr id="12" name="tl-date2"/>
          <p:cNvSpPr>
            <a:spLocks noGrp="1"/>
          </p:cNvSpPr>
          <p:nvPr/>
        </p:nvSpPr>
        <p:spPr>
          <a:xfrm>
            <a:off x="3505200" y="1803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2026.11 – 12</a:t>
            </a:r>
            <a:endParaRPr sz="1250"/>
          </a:p>
        </p:txBody>
      </p:sp>
      <p:sp>
        <p:nvSpPr>
          <p:cNvPr id="13" name="tl-title2"/>
          <p:cNvSpPr>
            <a:spLocks noGrp="1"/>
          </p:cNvSpPr>
          <p:nvPr/>
        </p:nvSpPr>
        <p:spPr>
          <a:xfrm>
            <a:off x="3505200" y="2838450"/>
            <a:ext cx="2413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真实场景数据采集</a:t>
            </a:r>
            <a:endParaRPr sz="1250"/>
          </a:p>
        </p:txBody>
      </p:sp>
      <p:sp>
        <p:nvSpPr>
          <p:cNvPr id="14" name="tl-desc2"/>
          <p:cNvSpPr>
            <a:spLocks noGrp="1"/>
          </p:cNvSpPr>
          <p:nvPr/>
        </p:nvSpPr>
        <p:spPr>
          <a:xfrm>
            <a:off x="3505200" y="3248025"/>
            <a:ext cx="2413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采样</a:t>
            </a: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新书写者数据</a:t>
            </a: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，根据反馈，迭代</a:t>
            </a: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优化</a:t>
            </a:r>
            <a:endParaRPr sz="1000" b="1">
              <a:solidFill>
                <a:srgbClr val="5B6B8C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5" name="tl-dot3"/>
          <p:cNvSpPr>
            <a:spLocks noGrp="1"/>
          </p:cNvSpPr>
          <p:nvPr/>
        </p:nvSpPr>
        <p:spPr>
          <a:xfrm>
            <a:off x="6502400" y="2400300"/>
            <a:ext cx="203200" cy="203200"/>
          </a:xfrm>
          <a:prstGeom prst="ellipse">
            <a:avLst/>
          </a:prstGeom>
          <a:solidFill>
            <a:srgbClr val="076DFC"/>
          </a:solidFill>
          <a:ln>
            <a:noFill/>
          </a:ln>
        </p:spPr>
      </p:sp>
      <p:sp>
        <p:nvSpPr>
          <p:cNvPr id="16" name="tl-date3"/>
          <p:cNvSpPr>
            <a:spLocks noGrp="1"/>
          </p:cNvSpPr>
          <p:nvPr/>
        </p:nvSpPr>
        <p:spPr>
          <a:xfrm>
            <a:off x="6197600" y="1803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2026.12 – 2027.01</a:t>
            </a:r>
            <a:endParaRPr sz="1250"/>
          </a:p>
        </p:txBody>
      </p:sp>
      <p:sp>
        <p:nvSpPr>
          <p:cNvPr id="17" name="tl-title3"/>
          <p:cNvSpPr>
            <a:spLocks noGrp="1"/>
          </p:cNvSpPr>
          <p:nvPr/>
        </p:nvSpPr>
        <p:spPr>
          <a:xfrm>
            <a:off x="6197600" y="2838450"/>
            <a:ext cx="2413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部署收尾</a:t>
            </a:r>
            <a:endParaRPr sz="1250"/>
          </a:p>
        </p:txBody>
      </p:sp>
      <p:sp>
        <p:nvSpPr>
          <p:cNvPr id="18" name="tl-desc3"/>
          <p:cNvSpPr>
            <a:spLocks noGrp="1"/>
          </p:cNvSpPr>
          <p:nvPr/>
        </p:nvSpPr>
        <p:spPr>
          <a:xfrm>
            <a:off x="6197600" y="3248025"/>
            <a:ext cx="2413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模型服务迁移长期部署、修复 TLS。</a:t>
            </a:r>
            <a:endParaRPr sz="1000"/>
          </a:p>
        </p:txBody>
      </p:sp>
      <p:sp>
        <p:nvSpPr>
          <p:cNvPr id="19" name="tl-dot4"/>
          <p:cNvSpPr>
            <a:spLocks noGrp="1"/>
          </p:cNvSpPr>
          <p:nvPr/>
        </p:nvSpPr>
        <p:spPr>
          <a:xfrm>
            <a:off x="9194800" y="2400300"/>
            <a:ext cx="203200" cy="2032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20" name="tl-date4"/>
          <p:cNvSpPr>
            <a:spLocks noGrp="1"/>
          </p:cNvSpPr>
          <p:nvPr/>
        </p:nvSpPr>
        <p:spPr>
          <a:xfrm>
            <a:off x="8890000" y="1803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defPPr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75" b="1">
                <a:solidFill>
                  <a:srgbClr val="076DFC"/>
                </a:solidFill>
                <a:latin typeface="MiSans" charset="-122"/>
                <a:ea typeface="MiSans" charset="-122"/>
                <a:cs typeface="MiSans" charset="-122"/>
              </a:rPr>
              <a:t>2027 春 · 结题</a:t>
            </a:r>
            <a:endParaRPr sz="1250"/>
          </a:p>
        </p:txBody>
      </p:sp>
      <p:sp>
        <p:nvSpPr>
          <p:cNvPr id="21" name="tl-title4"/>
          <p:cNvSpPr>
            <a:spLocks noGrp="1"/>
          </p:cNvSpPr>
          <p:nvPr/>
        </p:nvSpPr>
        <p:spPr>
          <a:xfrm>
            <a:off x="8890000" y="2838450"/>
            <a:ext cx="2413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 charset="-122"/>
                <a:ea typeface="MiSans" charset="-122"/>
                <a:cs typeface="MiSans" charset="-122"/>
              </a:rPr>
              <a:t>试点与成果固化</a:t>
            </a:r>
            <a:endParaRPr sz="1250"/>
          </a:p>
        </p:txBody>
      </p:sp>
      <p:sp>
        <p:nvSpPr>
          <p:cNvPr id="22" name="tl-desc4"/>
          <p:cNvSpPr>
            <a:spLocks noGrp="1"/>
          </p:cNvSpPr>
          <p:nvPr/>
        </p:nvSpPr>
        <p:spPr>
          <a:xfrm>
            <a:off x="8890000" y="3248025"/>
            <a:ext cx="2413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65" b="0">
                <a:solidFill>
                  <a:srgbClr val="3E506E"/>
                </a:solidFill>
                <a:latin typeface="MiSans" charset="-122"/>
                <a:ea typeface="MiSans" charset="-122"/>
                <a:cs typeface="MiSans" charset="-122"/>
              </a:rPr>
              <a:t>推进附属中小学、幼儿园等学校与小范围用户试点，归档软著、结题报告和演示材料。</a:t>
            </a:r>
            <a:endParaRPr sz="1000"/>
          </a:p>
        </p:txBody>
      </p:sp>
      <p:sp>
        <p:nvSpPr>
          <p:cNvPr id="23" name="goal-band"/>
          <p:cNvSpPr>
            <a:spLocks noGrp="1"/>
          </p:cNvSpPr>
          <p:nvPr/>
        </p:nvSpPr>
        <p:spPr>
          <a:xfrm>
            <a:off x="609600" y="4638675"/>
            <a:ext cx="10972800" cy="914400"/>
          </a:xfrm>
          <a:prstGeom prst="roundRect">
            <a:avLst>
              <a:gd name="adj" fmla="val 25781"/>
            </a:avLst>
          </a:prstGeom>
          <a:gradFill rotWithShape="1">
            <a:gsLst>
              <a:gs pos="0">
                <a:srgbClr val="0A5CE6"/>
              </a:gs>
              <a:gs pos="100000">
                <a:srgbClr val="3D8EFF"/>
              </a:gs>
            </a:gsLst>
            <a:lin ang="0" scaled="0"/>
          </a:gradFill>
          <a:ln w="0">
            <a:noFill/>
          </a:ln>
        </p:spPr>
      </p:sp>
      <p:sp>
        <p:nvSpPr>
          <p:cNvPr id="24" name="goal-tri"/>
          <p:cNvSpPr>
            <a:spLocks noGrp="1"/>
          </p:cNvSpPr>
          <p:nvPr/>
        </p:nvSpPr>
        <p:spPr>
          <a:xfrm rot="5400000">
            <a:off x="10972800" y="4857750"/>
            <a:ext cx="552450" cy="495300"/>
          </a:xfrm>
          <a:prstGeom prst="triangl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25" name="goal-text"/>
          <p:cNvSpPr>
            <a:spLocks noGrp="1"/>
          </p:cNvSpPr>
          <p:nvPr/>
        </p:nvSpPr>
        <p:spPr>
          <a:xfrm>
            <a:off x="914400" y="4638675"/>
            <a:ext cx="990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60000"/>
              </a:lnSpc>
              <a:buNone/>
            </a:pPr>
            <a:r>
              <a:rPr sz="135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结题目标：</a:t>
            </a:r>
            <a:r>
              <a:rPr sz="135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实现</a:t>
            </a:r>
            <a:r>
              <a:rPr sz="1350" b="1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「数据—模型—产品—验证」的完整闭环</a:t>
            </a:r>
            <a:endParaRPr sz="1350" b="1">
              <a:solidFill>
                <a:srgbClr val="FFFFFF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7" name="ft-line"/>
          <p:cNvSpPr>
            <a:spLocks noGrp="1"/>
          </p:cNvSpPr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" name="ft-left"/>
          <p:cNvSpPr>
            <a:spLocks noGrp="1"/>
          </p:cNvSpPr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一笔成章 · 2026 中期汇报</a:t>
            </a:r>
            <a:endParaRPr sz="900"/>
          </a:p>
        </p:txBody>
      </p:sp>
      <p:sp>
        <p:nvSpPr>
          <p:cNvPr id="29" name="ft-page"/>
          <p:cNvSpPr>
            <a:spLocks noGrp="1"/>
          </p:cNvSpPr>
          <p:nvPr/>
        </p:nvSpPr>
        <p:spPr>
          <a:xfrm>
            <a:off x="10210800" y="65786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>
            <a:defPPr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defPPr>
            <a:lvl1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1pPr>
            <a:lvl2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2pPr>
            <a:lvl3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3pPr>
            <a:lvl4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4pPr>
            <a:lvl5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5pPr>
            <a:lvl6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6pPr>
            <a:lvl7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7pPr>
            <a:lvl8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8pPr>
            <a:lvl9pPr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lvl9pPr>
          </a:lstStyle>
          <a:p>
            <a:pPr algn="r">
              <a:lnSpc>
                <a:spcPct val="120000"/>
              </a:lnSpc>
              <a:buNone/>
              <a:def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>
                <a:solidFill>
                  <a:srgbClr val="8A9AB5"/>
                </a:solidFill>
                <a:latin typeface="MiSans" charset="-122"/>
                <a:ea typeface="MiSans" charset="-122"/>
                <a:cs typeface="MiSans" charset="-122"/>
              </a:rPr>
              <a:t>12 / 13</a:t>
            </a:r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6D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t="7816" b="78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end-char"/>
          <p:cNvPicPr>
            <a:picLocks noChangeAspect="1"/>
          </p:cNvPicPr>
          <p:nvPr/>
        </p:nvPicPr>
        <p:blipFill>
          <a:blip r:embed="rId2">
            <a:alphaModFix amt="90000"/>
          </a:blip>
          <a:srcRect/>
          <a:stretch>
            <a:fillRect/>
          </a:stretch>
        </p:blipFill>
        <p:spPr>
          <a:xfrm>
            <a:off x="8382000" y="1270000"/>
            <a:ext cx="1905000" cy="19050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7" name="end-thanks"/>
          <p:cNvSpPr>
            <a:spLocks noGrp="1"/>
          </p:cNvSpPr>
          <p:nvPr/>
        </p:nvSpPr>
        <p:spPr>
          <a:xfrm>
            <a:off x="1143000" y="1905000"/>
            <a:ext cx="7112000" cy="96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5400" b="1" spc="600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</a:rPr>
              <a:t>感谢聆听</a:t>
            </a:r>
            <a:endParaRPr sz="5400"/>
          </a:p>
        </p:txBody>
      </p:sp>
      <p:sp>
        <p:nvSpPr>
          <p:cNvPr id="8" name="end-sub"/>
          <p:cNvSpPr>
            <a:spLocks noGrp="1"/>
          </p:cNvSpPr>
          <p:nvPr/>
        </p:nvSpPr>
        <p:spPr>
          <a:xfrm>
            <a:off x="1193800" y="3048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EAF2FF"/>
                </a:solidFill>
                <a:latin typeface="MiSans" charset="-122"/>
                <a:ea typeface="MiSans" charset="-122"/>
                <a:cs typeface="MiSans" charset="-122"/>
              </a:rPr>
              <a:t>恳请各位老师批评指正</a:t>
            </a:r>
            <a:endParaRPr sz="1600"/>
          </a:p>
        </p:txBody>
      </p:sp>
      <p:sp>
        <p:nvSpPr>
          <p:cNvPr id="9" name="end-tag-bg"/>
          <p:cNvSpPr>
            <a:spLocks noGrp="1"/>
          </p:cNvSpPr>
          <p:nvPr/>
        </p:nvSpPr>
        <p:spPr>
          <a:xfrm>
            <a:off x="1193800" y="3759200"/>
            <a:ext cx="3175000" cy="381000"/>
          </a:xfrm>
          <a:prstGeom prst="roundRect">
            <a:avLst>
              <a:gd name="adj" fmla="val 1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10" name="end-tag"/>
          <p:cNvSpPr>
            <a:spLocks noGrp="1"/>
          </p:cNvSpPr>
          <p:nvPr/>
        </p:nvSpPr>
        <p:spPr>
          <a:xfrm>
            <a:off x="1193800" y="37592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50" b="1" spc="200">
                <a:solidFill>
                  <a:srgbClr val="0A2A6B"/>
                </a:solidFill>
                <a:latin typeface="MiSans" charset="-122"/>
                <a:ea typeface="MiSans" charset="-122"/>
                <a:cs typeface="MiSans" charset="-122"/>
              </a:rPr>
              <a:t>一笔成章 · 中期汇报 · 2026.10</a:t>
            </a:r>
            <a:endParaRPr sz="1250"/>
          </a:p>
        </p:txBody>
      </p:sp>
      <p:sp>
        <p:nvSpPr>
          <p:cNvPr id="11" name="end-info"/>
          <p:cNvSpPr>
            <a:spLocks noGrp="1"/>
          </p:cNvSpPr>
          <p:nvPr/>
        </p:nvSpPr>
        <p:spPr>
          <a:xfrm>
            <a:off x="1193800" y="4521200"/>
            <a:ext cx="584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80000"/>
              </a:lnSpc>
              <a:buNone/>
            </a:pPr>
            <a:r>
              <a:rPr sz="1150" b="1">
                <a:solidFill>
                  <a:srgbClr val="D6E6FF"/>
                </a:solidFill>
                <a:latin typeface="MiSans" charset="-122"/>
                <a:ea typeface="MiSans" charset="-122"/>
                <a:cs typeface="MiSans" charset="-122"/>
              </a:rPr>
              <a:t>汇报人：刘小凡　　指导教师：万成城</a:t>
            </a:r>
            <a:endParaRPr sz="1150"/>
          </a:p>
          <a:p>
            <a:pPr algn="l">
              <a:lnSpc>
                <a:spcPct val="180000"/>
              </a:lnSpc>
              <a:buNone/>
            </a:pPr>
            <a:r>
              <a:rPr sz="1150" b="1">
                <a:solidFill>
                  <a:srgbClr val="D6E6FF"/>
                </a:solidFill>
                <a:latin typeface="MiSans" charset="-122"/>
                <a:ea typeface="MiSans" charset="-122"/>
                <a:cs typeface="MiSans" charset="-122"/>
              </a:rPr>
              <a:t>华东师范大学 软件工程学院</a:t>
            </a:r>
            <a:endParaRPr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4936</Words>
  <Application>WPS 演示</Application>
  <PresentationFormat>Converted Presentation</PresentationFormat>
  <Paragraphs>468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MiSans</vt:lpstr>
      <vt:lpstr>Times New Roman</vt:lpstr>
      <vt:lpstr>微软雅黑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刘小凡</cp:lastModifiedBy>
  <cp:revision>1</cp:revision>
  <dcterms:created xsi:type="dcterms:W3CDTF">2026-10-26T07:53:16Z</dcterms:created>
  <dcterms:modified xsi:type="dcterms:W3CDTF">2026-10-26T07:53:16Z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E36CEE6EB16E4B72A1CDBCAFF0E23E6D_12</vt:lpwstr>
  </property>
  <property fmtid="{D5CDD505-2E9C-101B-9397-08002B2CF9AE}" pid="3" name="KSOProductBuildVer">
    <vt:lpwstr>2052-12.1.0.28043</vt:lpwstr>
  </property>
</Properties>
</file>