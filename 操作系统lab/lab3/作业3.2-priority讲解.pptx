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大家好，我讲的是 Lab3 里 priority 开头的 12 个测试是怎么通过的。右边这三个颜色会贯穿整个 PPT：红色是高优先级 H，黄色是中优先级 M，蓝色是低优先级 L。最后一个蓝色的 L 本来是 31，因为拿着 H 要的锁，被捐赠成了 33——这就是今天的重点，优先级捐赠。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lab2 做完 alarm 以后，make check 还挂着 19 个，其中 priority 开头的有 12 个。我没有直接写代码，而是先把每个测试的源文件和 .ck 期望输出读了一遍，发现它们其实在问三类问题：第一类是调度和抢占，最高优先级的线程是不是马上在跑；第二类是信号量和条件变量唤醒时是不是先叫醒优先级最高的；第三类是优先级捐赠，有 7 个测试，也是最难的。下面我按这个顺序讲。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第一步最简单：就绪队列按优先级从高到低有序插入，队首就是下一个要跑的。另外在创建线程、修改优先级、sema_up 之后检查一下：如果队首比我高，我就让出 CPU。这里我踩了第一个坑：比较函数写成了大于等于。结果 priority-fifo 输出变成了 15 15 15，同一个线程连跑了 16 次。原因是 list_insert_ordered 会插在第一个满足条件的元素前面，用大于等于的话，yield 的线程会插到同优先级线程的最前面，下一次又选中自己。改成严格大于以后，同优先级就是先来先服务了。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先说为什么需要捐赠。上面这张图：L 先拿到锁，H 来了也要这把锁，只能阻塞；这时候 M 来了，它比 L 高，就一直抢占 L，L 放不了锁，H 就一直等。结果是高优先级的 H 被中优先级的 M 饿着，这叫优先级反转，课上讲的火星探路者号就是这个问题。下面是有捐赠的情况：H 等锁时把自己的 33 借给 L，L 用 33 跑完临界区马上放锁，H 接着就能运行，M 排在后面。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怎么实现捐赠？课件建议给线程维护一个捐赠者列表。我想了一下，捐赠总是按锁收回的——放掉哪把锁，就只收回因为这把锁得到的那部分。所以我换了个记法：线程记它持有哪些锁，锁上记着等它的线程里最高的优先级。这样线程的实际优先级就是一个公式：base 和每把锁的 max 取最大值。比如 main 自己是 31，拿着 a、b 两把锁，分别有 32 和 33 在等，那它就是 33。以后不管是等锁、放锁还是改 base，都只调用 thread_update_priority 按公式重算，不用到处加加减减。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捐赠第一版我写得很“想当然”：等锁时只给持锁者加优先级，放锁时直接把优先级恢复成 base。结果 multiple、multiple2、nest、chain 四个都挂了。左边是第一个问题：main 同时拿着 a、b 两把锁，放掉 b 以后，a 上还有 32 在等，应该是 32，我却直接回到了 31。用前面那个公式就很自然：把这把锁从列表里删掉再重算。右边是第二个问题：H 等 M 的锁，M 又在等 L 的锁，H 的优先级要一路传到 L，我第一版只传了一层。改成沿着 waiting_lock 和 holder 一路往下捐以后，nest 和 chain 就过了。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最后剩下 donate-sema 一个，我在这里卡得最久。看 diff 发现 L 和 H 都没跑完，M 反而先结束了。右边是过程：L 和 M 先后在同一个信号量上等，M 是 34，排在 L 前面；然后 H 来等 L 的锁，把 L 捐成了 36，但 L 在等待队列里的位置不会自己变。sema_up 的时候我直接取队首，叫醒的是 M。所以只在插入时排序是不够的，优先级会变，就要在 sema_up 取出时用 list_min 重新找最高的。条件变量 priority-condvar 也是同样的思路：给 semaphore_elem 记下等待的线程，signal 时挑优先级最高的。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 priority 的 12 个全部通过，整个 make check 27 个也都过了。我最大的三个收获：第一，先读测试的期望输出再写代码，.result 里的 diff 能直接告诉你差在哪一行；第二，有序插入只在优先级不变时才成立，有捐赠就要在取出时重新比较；第三，优先级用一个公式算出来，比在各个地方加加减减可靠得多。谢谢大家，欢迎提问。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E39A2D"/>
                </a:solidFill>
                <a:latin typeface="Microsoft YaHei"/>
                <a:ea typeface="Microsoft YaHei"/>
              </a:rPr>
              <a:t>OS Lab 3 · 作业 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749807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059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priority-*</a:t>
            </a:r>
          </a:p>
          <a:p>
            <a:pPr algn="l">
              <a:lnSpc>
                <a:spcPts val="5059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是怎么通过的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0">
                <a:solidFill>
                  <a:srgbClr val="C9D1E0"/>
                </a:solidFill>
                <a:latin typeface="Microsoft YaHei"/>
                <a:ea typeface="Microsoft YaHei"/>
              </a:rPr>
              <a:t>Pintos 优先级调度与优先级捐赠的实现过程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9AA4B6"/>
                </a:solidFill>
                <a:latin typeface="Microsoft YaHei"/>
                <a:ea typeface="Microsoft YaHei"/>
              </a:rPr>
              <a:t>汇报人：________　　2026.11.03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18288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03920" y="182880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H  ·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2606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0" y="260604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M  ·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338328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338328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L  · 31 → 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160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9AA4B6"/>
                </a:solidFill>
                <a:latin typeface="Microsoft YaHei"/>
                <a:ea typeface="Microsoft YaHei"/>
              </a:rPr>
              <a:t>L 拿着锁，H 把优先级借给它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起点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1B2333"/>
                </a:solidFill>
                <a:latin typeface="Microsoft YaHei"/>
                <a:ea typeface="Microsoft YaHei"/>
              </a:rPr>
              <a:t>从 19 个失败开始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60"/>
              </a:lnSpc>
              <a:spcAft>
                <a:spcPts val="2310"/>
              </a:spcAft>
            </a:pPr>
            <a:r>
              <a:rPr sz="6600" b="1">
                <a:solidFill>
                  <a:srgbClr val="D9483B"/>
                </a:solidFill>
                <a:latin typeface="Microsoft YaHei"/>
                <a:ea typeface="Microsoft YaHei"/>
              </a:rPr>
              <a:t>19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160"/>
              </a:spcAft>
            </a:pPr>
            <a:r>
              <a:rPr sz="1600" b="0">
                <a:solidFill>
                  <a:srgbClr val="5B6475"/>
                </a:solidFill>
                <a:latin typeface="Microsoft YaHei"/>
                <a:ea typeface="Microsoft YaHei"/>
              </a:rPr>
              <a:t>lab2 做完 alarm 之后，</a:t>
            </a:r>
          </a:p>
          <a:p>
            <a:pPr algn="l">
              <a:lnSpc>
                <a:spcPts val="2080"/>
              </a:lnSpc>
              <a:spcAft>
                <a:spcPts val="160"/>
              </a:spcAft>
            </a:pPr>
            <a:r>
              <a:rPr sz="1600" b="0">
                <a:solidFill>
                  <a:srgbClr val="5B6475"/>
                </a:solidFill>
                <a:latin typeface="Microsoft YaHei"/>
                <a:ea typeface="Microsoft YaHei"/>
              </a:rPr>
              <a:t>make check 还有 19 个测试失败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3840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640"/>
              </a:spcAft>
            </a:pPr>
            <a:r>
              <a:rPr sz="1600" b="0">
                <a:solidFill>
                  <a:srgbClr val="1F2430"/>
                </a:solidFill>
                <a:latin typeface="Microsoft YaHei"/>
                <a:ea typeface="Microsoft YaHei"/>
              </a:rPr>
              <a:t>其中 priority-* 有 12 个。</a:t>
            </a:r>
          </a:p>
          <a:p>
            <a:pPr algn="l">
              <a:lnSpc>
                <a:spcPts val="2080"/>
              </a:lnSpc>
              <a:spcAft>
                <a:spcPts val="640"/>
              </a:spcAft>
            </a:pPr>
            <a:r>
              <a:rPr sz="1600" b="0">
                <a:solidFill>
                  <a:srgbClr val="1F2430"/>
                </a:solidFill>
                <a:latin typeface="Microsoft YaHei"/>
                <a:ea typeface="Microsoft YaHei"/>
              </a:rPr>
              <a:t>我先把每个测试的 .c 和 .ck 读了一遍，按“它在问什么”分成了右边三类，再一类一类地做。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463040"/>
            <a:ext cx="6702552" cy="1417320"/>
          </a:xfrm>
          <a:prstGeom prst="roundRect">
            <a:avLst>
              <a:gd name="adj" fmla="val 7741"/>
            </a:avLst>
          </a:prstGeom>
          <a:solidFill>
            <a:srgbClr val="E2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166360" y="184708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166360" y="184708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860"/>
              </a:lnSpc>
              <a:spcAft>
                <a:spcPts val="769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627632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1B2333"/>
                </a:solidFill>
                <a:latin typeface="Microsoft YaHei"/>
                <a:ea typeface="Microsoft YaHei"/>
              </a:rPr>
              <a:t>调度与抢占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29968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3C78B5"/>
                </a:solidFill>
                <a:latin typeface="Microsoft YaHei"/>
                <a:ea typeface="Microsoft YaHei"/>
              </a:rPr>
              <a:t>priority-change · preempt · fifo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95728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优先级最高的线程必须马上上 CPU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108960"/>
            <a:ext cx="6702552" cy="1417320"/>
          </a:xfrm>
          <a:prstGeom prst="roundRect">
            <a:avLst>
              <a:gd name="adj" fmla="val 7741"/>
            </a:avLst>
          </a:prstGeom>
          <a:solidFill>
            <a:srgbClr val="FC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166360" y="349300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66360" y="349300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860"/>
              </a:lnSpc>
              <a:spcAft>
                <a:spcPts val="769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273552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1B2333"/>
                </a:solidFill>
                <a:latin typeface="Microsoft YaHei"/>
                <a:ea typeface="Microsoft YaHei"/>
              </a:rPr>
              <a:t>按优先级唤醒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75888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E39A2D"/>
                </a:solidFill>
                <a:latin typeface="Microsoft YaHei"/>
                <a:ea typeface="Microsoft YaHei"/>
              </a:rPr>
              <a:t>priority-sema · condvar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041648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信号量、条件变量先叫醒优先级最高的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54880"/>
            <a:ext cx="6702552" cy="1417320"/>
          </a:xfrm>
          <a:prstGeom prst="roundRect">
            <a:avLst>
              <a:gd name="adj" fmla="val 7741"/>
            </a:avLst>
          </a:prstGeom>
          <a:solidFill>
            <a:srgbClr val="FB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166360" y="513892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166360" y="513892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860"/>
              </a:lnSpc>
              <a:spcAft>
                <a:spcPts val="769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19472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1B2333"/>
                </a:solidFill>
                <a:latin typeface="Microsoft YaHei"/>
                <a:ea typeface="Microsoft YaHei"/>
              </a:rPr>
              <a:t>优先级捐赠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321808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donate-one · multiple(2) · nest · chain · sema · lower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687568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等锁时把优先级借给持锁者，放锁时收回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调度与抢占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1B2333"/>
                </a:solidFill>
                <a:latin typeface="Microsoft YaHei"/>
                <a:ea typeface="Microsoft YaHei"/>
              </a:rPr>
              <a:t>第一步：就绪队列排好序，随时检查抢占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1B2333"/>
                </a:solidFill>
                <a:latin typeface="Microsoft YaHei"/>
                <a:ea typeface="Microsoft YaHei"/>
              </a:rPr>
              <a:t>ready_list 有序插入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unblock、yield 时用 list_insert_ordered 按优先级降序插入，队首就是下一个要跑的线程。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1B2333"/>
                </a:solidFill>
                <a:latin typeface="Microsoft YaHei"/>
                <a:ea typeface="Microsoft YaHei"/>
              </a:rPr>
              <a:t>三个地方检查抢占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thread_create、thread_set_priority、sema_up 之后调用 thread_preempt()：队首比自己高就让出 CPU。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69080"/>
            <a:ext cx="5120640" cy="2057400"/>
          </a:xfrm>
          <a:prstGeom prst="roundRect">
            <a:avLst>
              <a:gd name="adj" fmla="val 3555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475487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void thread_preempt (void) {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if (队首-&gt;priority &gt; 当前-&gt;priority)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  intr_context ()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    ? intr_yield_on_return ()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    : thread_yield ();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5468112" cy="4663440"/>
          </a:xfrm>
          <a:prstGeom prst="roundRect">
            <a:avLst>
              <a:gd name="adj" fmla="val 2941"/>
            </a:avLst>
          </a:prstGeom>
          <a:solidFill>
            <a:srgbClr val="FB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D9483B"/>
                </a:solidFill>
                <a:latin typeface="Microsoft YaHei"/>
                <a:ea typeface="Microsoft YaHei"/>
              </a:rPr>
              <a:t>坑 ①：多了一个等号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比较函数一开始写成了 a-&gt;priority &gt;= b-&gt;priority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06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606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0" y="260604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#1 · 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2606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41080" y="260604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#2 · 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2606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966960" y="260604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#3 · 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46120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1F2430"/>
                </a:solidFill>
                <a:latin typeface="Microsoft YaHei"/>
                <a:ea typeface="Microsoft YaHei"/>
              </a:rPr>
              <a:t>#0（32）调用 thread_yield 重新入队：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657600"/>
            <a:ext cx="685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2E8B6E"/>
                </a:solidFill>
                <a:latin typeface="Consolas"/>
                <a:ea typeface="Microsoft YaHei"/>
              </a:rP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65760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2E8B6E"/>
                </a:solidFill>
                <a:latin typeface="Microsoft YaHei"/>
                <a:ea typeface="Microsoft YaHei"/>
              </a:rPr>
              <a:t>插到同优先级最后 → 轮转（FIFO）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114800"/>
            <a:ext cx="685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D9483B"/>
                </a:solidFill>
                <a:latin typeface="Consolas"/>
                <a:ea typeface="Microsoft YaHei"/>
              </a:rPr>
              <a:t>&gt;=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11480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D9483B"/>
                </a:solidFill>
                <a:latin typeface="Microsoft YaHei"/>
                <a:ea typeface="Microsoft YaHei"/>
              </a:rPr>
              <a:t>插到同优先级最前 → 又选中自己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4709160"/>
            <a:ext cx="4919472" cy="685800"/>
          </a:xfrm>
          <a:prstGeom prst="roundRect">
            <a:avLst>
              <a:gd name="adj" fmla="val 10666"/>
            </a:avLst>
          </a:prstGeom>
          <a:solidFill>
            <a:srgbClr val="1B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29400" y="4709160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F2C14E"/>
                </a:solidFill>
                <a:latin typeface="Consolas"/>
                <a:ea typeface="Microsoft YaHei"/>
              </a:rPr>
              <a:t>iteration: 15 15 15 15 15 15 15 15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32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priority-fifo：同一个线程连跑了 16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优先级捐赠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1B2333"/>
                </a:solidFill>
                <a:latin typeface="Microsoft YaHei"/>
                <a:ea typeface="Microsoft YaHei"/>
              </a:rPr>
              <a:t>为什么需要捐赠：优先级反转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7863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D9483B"/>
                </a:solidFill>
                <a:latin typeface="Microsoft YaHei"/>
                <a:ea typeface="Microsoft YaHei"/>
              </a:rPr>
              <a:t>没有捐赠：H 被一直在跑的 M “饿着”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D9483B"/>
                </a:solidFill>
                <a:latin typeface="Microsoft YaHei"/>
                <a:ea typeface="Microsoft YaHei"/>
              </a:rPr>
              <a:t>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057400"/>
            <a:ext cx="7269480" cy="18288"/>
          </a:xfrm>
          <a:prstGeom prst="rect">
            <a:avLst/>
          </a:prstGeom>
          <a:solidFill>
            <a:srgbClr val="D5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377439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E39A2D"/>
                </a:solidFill>
                <a:latin typeface="Microsoft YaHei"/>
                <a:ea typeface="Microsoft YaHei"/>
              </a:rPr>
              <a:t>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560320"/>
            <a:ext cx="7269480" cy="18288"/>
          </a:xfrm>
          <a:prstGeom prst="rect">
            <a:avLst/>
          </a:prstGeom>
          <a:solidFill>
            <a:srgbClr val="D5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3C78B5"/>
                </a:solidFill>
                <a:latin typeface="Microsoft YaHei"/>
                <a:ea typeface="Microsoft YaHe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3063240"/>
            <a:ext cx="7269480" cy="18288"/>
          </a:xfrm>
          <a:prstGeom prst="rect">
            <a:avLst/>
          </a:prstGeom>
          <a:solidFill>
            <a:srgbClr val="D5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1051560" y="2898648"/>
            <a:ext cx="1037844" cy="347472"/>
          </a:xfrm>
          <a:prstGeom prst="roundRect">
            <a:avLst>
              <a:gd name="adj" fmla="val 21052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51560" y="2898648"/>
            <a:ext cx="10378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拿锁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9404" y="1892807"/>
            <a:ext cx="518922" cy="347472"/>
          </a:xfrm>
          <a:prstGeom prst="roundRect">
            <a:avLst>
              <a:gd name="adj" fmla="val 21052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2608326" y="1892807"/>
            <a:ext cx="4047591" cy="347472"/>
          </a:xfrm>
          <a:prstGeom prst="roundRect">
            <a:avLst>
              <a:gd name="adj" fmla="val 21052"/>
            </a:avLst>
          </a:prstGeom>
          <a:noFill/>
          <a:ln w="15875">
            <a:solidFill>
              <a:srgbClr val="D948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08326" y="1892807"/>
            <a:ext cx="404759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等锁（阻塞）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8326" y="2395727"/>
            <a:ext cx="3632454" cy="347472"/>
          </a:xfrm>
          <a:prstGeom prst="roundRect">
            <a:avLst>
              <a:gd name="adj" fmla="val 21052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608326" y="2395727"/>
            <a:ext cx="363245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M 一直在跑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0779" y="2898648"/>
            <a:ext cx="415137" cy="347472"/>
          </a:xfrm>
          <a:prstGeom prst="roundRect">
            <a:avLst>
              <a:gd name="adj" fmla="val 21052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655917" y="1892807"/>
            <a:ext cx="1660550" cy="347472"/>
          </a:xfrm>
          <a:prstGeom prst="roundRect">
            <a:avLst>
              <a:gd name="adj" fmla="val 21052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55917" y="1892807"/>
            <a:ext cx="166055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终于拿到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7863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2E8B6E"/>
                </a:solidFill>
                <a:latin typeface="Microsoft YaHei"/>
                <a:ea typeface="Microsoft YaHei"/>
              </a:rPr>
              <a:t>有捐赠：L 借到 H 的优先级，尽快放锁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8912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D9483B"/>
                </a:solidFill>
                <a:latin typeface="Microsoft YaHei"/>
                <a:ea typeface="Microsoft YaHei"/>
              </a:rPr>
              <a:t>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4572000"/>
            <a:ext cx="7269480" cy="18288"/>
          </a:xfrm>
          <a:prstGeom prst="rect">
            <a:avLst/>
          </a:prstGeom>
          <a:solidFill>
            <a:srgbClr val="D5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E39A2D"/>
                </a:solidFill>
                <a:latin typeface="Microsoft YaHei"/>
                <a:ea typeface="Microsoft YaHei"/>
              </a:rPr>
              <a:t>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5074920"/>
            <a:ext cx="7269480" cy="18288"/>
          </a:xfrm>
          <a:prstGeom prst="rect">
            <a:avLst/>
          </a:prstGeom>
          <a:solidFill>
            <a:srgbClr val="D5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5394960"/>
            <a:ext cx="457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3C78B5"/>
                </a:solidFill>
                <a:latin typeface="Microsoft YaHei"/>
                <a:ea typeface="Microsoft YaHei"/>
              </a:rPr>
              <a:t>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1560" y="5577840"/>
            <a:ext cx="7269480" cy="18288"/>
          </a:xfrm>
          <a:prstGeom prst="rect">
            <a:avLst/>
          </a:prstGeom>
          <a:solidFill>
            <a:srgbClr val="D5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1051560" y="5413248"/>
            <a:ext cx="1037844" cy="347472"/>
          </a:xfrm>
          <a:prstGeom prst="roundRect">
            <a:avLst>
              <a:gd name="adj" fmla="val 21052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51560" y="5413248"/>
            <a:ext cx="10378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拿锁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89404" y="4407407"/>
            <a:ext cx="518922" cy="347472"/>
          </a:xfrm>
          <a:prstGeom prst="roundRect">
            <a:avLst>
              <a:gd name="adj" fmla="val 21052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2608326" y="4407407"/>
            <a:ext cx="1141628" cy="347472"/>
          </a:xfrm>
          <a:prstGeom prst="roundRect">
            <a:avLst>
              <a:gd name="adj" fmla="val 21052"/>
            </a:avLst>
          </a:prstGeom>
          <a:noFill/>
          <a:ln w="15875">
            <a:solidFill>
              <a:srgbClr val="D948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608326" y="4407407"/>
            <a:ext cx="11416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等锁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08326" y="5413248"/>
            <a:ext cx="1141628" cy="347472"/>
          </a:xfrm>
          <a:prstGeom prst="roundRect">
            <a:avLst>
              <a:gd name="adj" fmla="val 21052"/>
            </a:avLst>
          </a:prstGeom>
          <a:solidFill>
            <a:srgbClr val="3C78B5"/>
          </a:solidFill>
          <a:ln w="31750">
            <a:solidFill>
              <a:srgbClr val="D94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08326" y="5413248"/>
            <a:ext cx="11416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借 33 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49954" y="4407407"/>
            <a:ext cx="1660550" cy="347472"/>
          </a:xfrm>
          <a:prstGeom prst="roundRect">
            <a:avLst>
              <a:gd name="adj" fmla="val 21052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749954" y="4407407"/>
            <a:ext cx="166055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拿到锁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10504" y="4910327"/>
            <a:ext cx="2905963" cy="347472"/>
          </a:xfrm>
          <a:prstGeom prst="roundRect">
            <a:avLst>
              <a:gd name="adj" fmla="val 21052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410504" y="4910327"/>
            <a:ext cx="290596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M 之后再跑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463040"/>
            <a:ext cx="2907792" cy="4663440"/>
          </a:xfrm>
          <a:prstGeom prst="roundRect">
            <a:avLst>
              <a:gd name="adj" fmla="val 4716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961120" y="16916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1B2333"/>
                </a:solidFill>
                <a:latin typeface="Microsoft YaHei"/>
                <a:ea typeface="Microsoft YaHei"/>
              </a:rPr>
              <a:t>课件上的例子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2148840"/>
            <a:ext cx="24688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1997 年火星探路者号反复重启，就是因为低优先级任务拿着锁，被中优先级任务一直抢占。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41605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1">
                <a:solidFill>
                  <a:srgbClr val="1B2333"/>
                </a:solidFill>
                <a:latin typeface="Microsoft YaHei"/>
                <a:ea typeface="Microsoft YaHei"/>
              </a:rPr>
              <a:t>解决办法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0" y="461772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H 等 L 的锁时，把自己的优先级“借”给 L；L 放锁时再还回去。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优先级捐赠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1B2333"/>
                </a:solidFill>
                <a:latin typeface="Microsoft YaHei"/>
                <a:ea typeface="Microsoft YaHei"/>
              </a:rPr>
              <a:t>我的设计：按“锁”记账，优先级用公式算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2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1B2333"/>
                </a:solidFill>
                <a:latin typeface="Microsoft YaHei"/>
                <a:ea typeface="Microsoft YaHei"/>
              </a:rPr>
              <a:t>main 线程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base_priority =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locks = { a, b 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FC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</a:pPr>
            <a:r>
              <a:rPr sz="1600" b="1">
                <a:solidFill>
                  <a:srgbClr val="1B2333"/>
                </a:solidFill>
                <a:latin typeface="Microsoft YaHei"/>
                <a:ea typeface="Microsoft YaHei"/>
              </a:rPr>
              <a:t>lock a</a:t>
            </a:r>
          </a:p>
          <a:p>
            <a:pPr algn="ctr">
              <a:lnSpc>
                <a:spcPts val="1920"/>
              </a:lnSpc>
              <a:spcAft>
                <a:spcPts val="0"/>
              </a:spcAft>
            </a:pPr>
            <a:r>
              <a:rPr sz="1400" b="1">
                <a:solidFill>
                  <a:srgbClr val="1B2333"/>
                </a:solidFill>
                <a:latin typeface="Consolas"/>
                <a:ea typeface="Microsoft YaHei"/>
              </a:rPr>
              <a:t>max_priority =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233172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FB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023360" y="23317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</a:pPr>
            <a:r>
              <a:rPr sz="1600" b="1">
                <a:solidFill>
                  <a:srgbClr val="1B2333"/>
                </a:solidFill>
                <a:latin typeface="Microsoft YaHei"/>
                <a:ea typeface="Microsoft YaHei"/>
              </a:rPr>
              <a:t>lock b</a:t>
            </a:r>
          </a:p>
          <a:p>
            <a:pPr algn="ctr">
              <a:lnSpc>
                <a:spcPts val="1920"/>
              </a:lnSpc>
              <a:spcAft>
                <a:spcPts val="0"/>
              </a:spcAft>
            </a:pPr>
            <a:r>
              <a:rPr sz="1400" b="1">
                <a:solidFill>
                  <a:srgbClr val="1B2333"/>
                </a:solidFill>
                <a:latin typeface="Consolas"/>
                <a:ea typeface="Microsoft YaHei"/>
              </a:rPr>
              <a:t>max_priority = 33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291840" y="1810512"/>
            <a:ext cx="731520" cy="201168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91840" y="2468880"/>
            <a:ext cx="731520" cy="201168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200400"/>
            <a:ext cx="5852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等锁的线程中最高的优先级记在锁上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4760"/>
            <a:ext cx="5852160" cy="914400"/>
          </a:xfrm>
          <a:prstGeom prst="roundRect">
            <a:avLst>
              <a:gd name="adj" fmla="val 50000"/>
            </a:avLst>
          </a:prstGeom>
          <a:solidFill>
            <a:srgbClr val="1B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794760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priority = max(base, 每把锁的 max)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450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这里：max(31, 32, 33) = 33。</a:t>
            </a:r>
          </a:p>
          <a:p>
            <a:pPr algn="l">
              <a:lnSpc>
                <a:spcPts val="1950"/>
              </a:lnSpc>
              <a:spcAft>
                <a:spcPts val="450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任何变化（等锁、放锁、改 base）都只调用 thread_update_priority() 重新算一遍。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50876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1B2333"/>
                </a:solidFill>
                <a:latin typeface="Microsoft YaHei"/>
                <a:ea typeface="Microsoft YaHei"/>
              </a:rPr>
              <a:t>为什么不记“捐赠者列表”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96596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课件建议给线程维护捐赠者列表。但我发现捐赠总是按锁收回的：放掉哪把锁，就只收回因为这把锁得到的捐赠。所以直接让线程记它持有的锁。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3520440"/>
            <a:ext cx="4690872" cy="2606040"/>
          </a:xfrm>
          <a:prstGeom prst="roundRect">
            <a:avLst>
              <a:gd name="adj" fmla="val 2807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0" y="3657600"/>
            <a:ext cx="4325112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struct thread {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int base_priority;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struct list locks;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struct lock *waiting_lock;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};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struct lock {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struct list_elem elem;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int max_priority;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};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优先级捐赠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1B2333"/>
                </a:solidFill>
                <a:latin typeface="Microsoft YaHei"/>
                <a:ea typeface="Microsoft YaHei"/>
              </a:rPr>
              <a:t>捐赠第一版挂了 4 个测试，问题出在两处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76672" cy="4663440"/>
          </a:xfrm>
          <a:prstGeom prst="roundRect">
            <a:avLst>
              <a:gd name="adj" fmla="val 2941"/>
            </a:avLst>
          </a:prstGeom>
          <a:solidFill>
            <a:srgbClr val="FB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376672" cy="4663440"/>
          </a:xfrm>
          <a:prstGeom prst="roundRect">
            <a:avLst>
              <a:gd name="adj" fmla="val 2941"/>
            </a:avLst>
          </a:prstGeom>
          <a:solidFill>
            <a:srgbClr val="FC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D9483B"/>
                </a:solidFill>
                <a:latin typeface="Microsoft YaHei"/>
                <a:ea typeface="Microsoft YaHei"/>
              </a:rPr>
              <a:t>坑 ②：放锁时直接恢复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main 拿着 a、b，32 等 a、33 等 b。放掉 b 后，a 上的 32 应该还在：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8036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94436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140"/>
              </a:spcAft>
            </a:pPr>
            <a:r>
              <a:rPr sz="1400" b="0">
                <a:solidFill>
                  <a:srgbClr val="2E8B6E"/>
                </a:solidFill>
                <a:latin typeface="Consolas"/>
                <a:ea typeface="Microsoft YaHei"/>
              </a:rPr>
              <a:t>- should have priority 32. Actual: 32</a:t>
            </a:r>
          </a:p>
          <a:p>
            <a:pPr algn="l">
              <a:lnSpc>
                <a:spcPts val="1820"/>
              </a:lnSpc>
              <a:spcAft>
                <a:spcPts val="140"/>
              </a:spcAft>
            </a:pPr>
            <a:r>
              <a:rPr sz="1400" b="0">
                <a:solidFill>
                  <a:srgbClr val="D9483B"/>
                </a:solidFill>
                <a:latin typeface="Consolas"/>
                <a:ea typeface="Microsoft YaHei"/>
              </a:rPr>
              <a:t>+ should have priority 32. Actual: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Consolas"/>
                <a:ea typeface="Microsoft YaHei"/>
              </a:rPr>
              <a:t>priority-donate-multiple / multiple2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2E8B6E"/>
                </a:solidFill>
                <a:latin typeface="Microsoft YaHei"/>
                <a:ea typeface="Microsoft YaHei"/>
              </a:rPr>
              <a:t>修复：</a:t>
            </a:r>
          </a:p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list_remove 掉这把锁，再按公式重算，只收回该收回的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B5741A"/>
                </a:solidFill>
                <a:latin typeface="Microsoft YaHei"/>
                <a:ea typeface="Microsoft YaHei"/>
              </a:rPr>
              <a:t>坑 ③：只捐给了直接持有者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24028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37960" y="22402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H 33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35240" y="2468880"/>
            <a:ext cx="457200" cy="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92440" y="2240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等 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2468880"/>
            <a:ext cx="457200" cy="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64040" y="224028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64040" y="22402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M 33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12680" y="2697480"/>
            <a:ext cx="0" cy="41148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149840" y="27249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等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108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 w="25400">
            <a:solidFill>
              <a:srgbClr val="D94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0" y="31089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L 31 → 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108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嵌套：要一路捐到底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70332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第一版 L 只拿到 M 原来的 32；donate-chain 里每一层的 interloper 都插了队。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8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2E8B6E"/>
                </a:solidFill>
                <a:latin typeface="Microsoft YaHei"/>
                <a:ea typeface="Microsoft YaHei"/>
              </a:rPr>
              <a:t>修复：</a:t>
            </a:r>
          </a:p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沿着 waiting_lock → holder 一路往下捐，最多 8 层，直到对方已经更高为止。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1">
                <a:solidFill>
                  <a:srgbClr val="D9483B"/>
                </a:solidFill>
                <a:latin typeface="Microsoft YaHei"/>
                <a:ea typeface="Microsoft YaHei"/>
              </a:rPr>
              <a:t>按优先级唤醒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1B2333"/>
                </a:solidFill>
                <a:latin typeface="Microsoft YaHei"/>
                <a:ea typeface="Microsoft YaHei"/>
              </a:rPr>
              <a:t>最后一个红灯：priority-donate-sema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其他都绿了，只剩它。.result 的 diff 里 L 和 H 都没跑完，M 却先结束了：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1B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457200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>
                <a:solidFill>
                  <a:srgbClr val="C9D1E0"/>
                </a:solidFill>
                <a:latin typeface="Consolas"/>
                <a:ea typeface="Microsoft YaHei"/>
              </a:rPr>
              <a:t>  Thread L acquired lock.</a:t>
            </a:r>
          </a:p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>
                <a:solidFill>
                  <a:srgbClr val="F28B82"/>
                </a:solidFill>
                <a:latin typeface="Consolas"/>
                <a:ea typeface="Microsoft YaHei"/>
              </a:rPr>
              <a:t>- Thread L downed semaphore.</a:t>
            </a:r>
          </a:p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>
                <a:solidFill>
                  <a:srgbClr val="F28B82"/>
                </a:solidFill>
                <a:latin typeface="Consolas"/>
                <a:ea typeface="Microsoft YaHei"/>
              </a:rPr>
              <a:t>- Thread H acquired lock.</a:t>
            </a:r>
          </a:p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>
                <a:solidFill>
                  <a:srgbClr val="C9D1E0"/>
                </a:solidFill>
                <a:latin typeface="Consolas"/>
                <a:ea typeface="Microsoft YaHei"/>
              </a:rPr>
              <a:t>  Thread M finished.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484632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原因：排好的顺序被等待期间的捐赠打乱了。</a:t>
            </a:r>
          </a:p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0">
                <a:solidFill>
                  <a:srgbClr val="1F2430"/>
                </a:solidFill>
                <a:latin typeface="Microsoft YaHei"/>
                <a:ea typeface="Microsoft YaHei"/>
              </a:rPr>
              <a:t>我原来只在插入时排序，sema_up 直接取队首。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463040"/>
            <a:ext cx="5742432" cy="4663440"/>
          </a:xfrm>
          <a:prstGeom prst="roundRect">
            <a:avLst>
              <a:gd name="adj" fmla="val 2941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16459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1B2333"/>
                </a:solidFill>
                <a:latin typeface="Microsoft YaHei"/>
                <a:ea typeface="Microsoft YaHei"/>
              </a:rPr>
              <a:t>信号量的 waiters 队列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1488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① 先后 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14884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55279" y="214884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M 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214884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418320" y="214884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L 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8803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② H 来等 L 的锁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88036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79" y="288036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M 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288036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 w="25400">
            <a:solidFill>
              <a:srgbClr val="D94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18320" y="288036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L 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6118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5B6475"/>
                </a:solidFill>
                <a:latin typeface="Microsoft YaHei"/>
                <a:ea typeface="Microsoft YaHei"/>
              </a:rPr>
              <a:t>③ sema_up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611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D9483B"/>
                </a:solidFill>
                <a:latin typeface="Microsoft YaHei"/>
                <a:ea typeface="Microsoft YaHei"/>
              </a:rPr>
              <a:t>取队首 → 叫醒 M  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069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Aft>
                <a:spcPts val="525"/>
              </a:spcAft>
            </a:pPr>
            <a:r>
              <a:rPr sz="1500" b="1">
                <a:solidFill>
                  <a:srgbClr val="2E8B6E"/>
                </a:solidFill>
                <a:latin typeface="Microsoft YaHei"/>
                <a:ea typeface="Microsoft YaHei"/>
              </a:rPr>
              <a:t>重新找最高 → 叫醒 L  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54880"/>
            <a:ext cx="5193792" cy="960120"/>
          </a:xfrm>
          <a:prstGeom prst="roundRect">
            <a:avLst>
              <a:gd name="adj" fmla="val 761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5080" y="4892040"/>
            <a:ext cx="482803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e = list_min (&amp;sema-&gt;waiters,</a:t>
            </a:r>
          </a:p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0">
                <a:solidFill>
                  <a:srgbClr val="1F2430"/>
                </a:solidFill>
                <a:latin typeface="Consolas"/>
                <a:ea typeface="Microsoft YaHei"/>
              </a:rPr>
              <a:t>              thread_priority_more, NULL);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  <a:spcAft>
                <a:spcPts val="105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结果与收获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600"/>
              </a:lnSpc>
              <a:spcAft>
                <a:spcPts val="2100"/>
              </a:spcAft>
            </a:pPr>
            <a:r>
              <a:rPr sz="6000" b="1">
                <a:solidFill>
                  <a:srgbClr val="7FD1AE"/>
                </a:solidFill>
                <a:latin typeface="Microsoft YaHei"/>
                <a:ea typeface="Microsoft YaHei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97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0">
                <a:solidFill>
                  <a:srgbClr val="C9D1E0"/>
                </a:solidFill>
                <a:latin typeface="Microsoft YaHei"/>
                <a:ea typeface="Microsoft YaHei"/>
              </a:rPr>
              <a:t>priority-* 全部通过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600"/>
              </a:lnSpc>
              <a:spcAft>
                <a:spcPts val="2100"/>
              </a:spcAft>
            </a:pPr>
            <a:r>
              <a:rPr sz="6000" b="1">
                <a:solidFill>
                  <a:srgbClr val="7FD1AE"/>
                </a:solidFill>
                <a:latin typeface="Microsoft YaHei"/>
                <a:ea typeface="Microsoft YaHei"/>
              </a:rPr>
              <a:t>27 /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Aft>
                <a:spcPts val="560"/>
              </a:spcAft>
            </a:pPr>
            <a:r>
              <a:rPr sz="1600" b="0">
                <a:solidFill>
                  <a:srgbClr val="C9D1E0"/>
                </a:solidFill>
                <a:latin typeface="Microsoft YaHei"/>
                <a:ea typeface="Microsoft YaHei"/>
              </a:rPr>
              <a:t>make check：All 27 tests passed.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600200"/>
            <a:ext cx="6519672" cy="1005840"/>
          </a:xfrm>
          <a:prstGeom prst="roundRect">
            <a:avLst>
              <a:gd name="adj" fmla="val 10909"/>
            </a:avLst>
          </a:prstGeom>
          <a:solidFill>
            <a:srgbClr val="26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34924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D94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49240" y="18288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73736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先读 .ck 再写代码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C9D1E0"/>
                </a:solidFill>
                <a:latin typeface="Microsoft YaHei"/>
                <a:ea typeface="Microsoft YaHei"/>
              </a:rPr>
              <a:t>期望输出就是最精确的需求，diff 告诉你差在哪一行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834640"/>
            <a:ext cx="6519672" cy="1005840"/>
          </a:xfrm>
          <a:prstGeom prst="roundRect">
            <a:avLst>
              <a:gd name="adj" fmla="val 10909"/>
            </a:avLst>
          </a:prstGeom>
          <a:solidFill>
            <a:srgbClr val="26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349240" y="30632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49240" y="3063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97180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有序插入是有前提的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3832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C9D1E0"/>
                </a:solidFill>
                <a:latin typeface="Microsoft YaHei"/>
                <a:ea typeface="Microsoft YaHei"/>
              </a:rPr>
              <a:t>优先级会变（捐赠、改 base），就要在取出时重新比较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4069080"/>
            <a:ext cx="6519672" cy="1005840"/>
          </a:xfrm>
          <a:prstGeom prst="roundRect">
            <a:avLst>
              <a:gd name="adj" fmla="val 10909"/>
            </a:avLst>
          </a:prstGeom>
          <a:solidFill>
            <a:srgbClr val="26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349240" y="4297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C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49240" y="42976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20624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3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状态用公式算，不要零碎加减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6177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489"/>
              </a:spcAft>
            </a:pPr>
            <a:r>
              <a:rPr sz="1400" b="0">
                <a:solidFill>
                  <a:srgbClr val="C9D1E0"/>
                </a:solidFill>
                <a:latin typeface="Microsoft YaHei"/>
                <a:ea typeface="Microsoft YaHei"/>
              </a:rPr>
              <a:t>priority = max(base, 锁上的 max)，多重、嵌套都不用特判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Aft>
                <a:spcPts val="700"/>
              </a:spcAft>
            </a:pPr>
            <a:r>
              <a:rPr sz="2000" b="1">
                <a:solidFill>
                  <a:srgbClr val="E39A2D"/>
                </a:solidFill>
                <a:latin typeface="Microsoft YaHei"/>
                <a:ea typeface="Microsoft YaHei"/>
              </a:rPr>
              <a:t>谢谢！欢迎提问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