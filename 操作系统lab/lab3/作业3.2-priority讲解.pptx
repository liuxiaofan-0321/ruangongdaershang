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大家好，我讲的是 Lab3 里 priority 开头的 12 个测试是怎么通过的。右边这三个颜色会贯穿整个 PPT：红色是高优先级 H，黄色是中优先级 M，蓝色是低优先级 L。最后一个蓝色的 L 本来是 31，因为拿着 H 要的锁，被捐赠成了 33——这就是今天的重点，优先级捐赠。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lab2 做完 alarm 后还挂着 19 个测试，其中 priority 有 12 个。我先把每个测试的源码和期望输出读了一遍，把它们分成三类：调度与抢占、按优先级唤醒、优先级捐赠，然后按这个顺序做。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第一步：就绪队列按优先级降序插入，队首就是下一个要跑的；在创建线程、改优先级、sema_up 之后检查，队首比我高就让出 CPU。第一个坑是比较函数写成了大于等于：yield 的线程插到同优先级最前面，又选中自己，priority-fifo 输出变成 15 15 15。改成严格大于就好了。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做抢占时还遇到一次 kernel panic：我在 thread_wake 里直接调 thread_yield，alarm-priority 一跑就断言失败。backtrace 一开始只有一行，加了 -fno-omit-frame-pointer 才看到是时钟中断调进来的。中断里不能切线程，要用 intr_yield_on_return，等中断返回再让出 CPU。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先说为什么需要捐赠。上面这张图：L 先拿到锁，H 来了也要这把锁，只能阻塞；这时候 M 来了，它比 L 高，就一直抢占 L，L 放不了锁，H 就一直等。结果是高优先级的 H 被中优先级的 M 饿着，这叫优先级反转，课上讲的火星探路者号就是这个问题。下面是有捐赠的情况：H 等锁时把自己的 33 借给 L，L 用 33 跑完临界区马上放锁，H 接着就能运行，M 排在后面。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捐赠怎么记？课件建议记捐赠者列表，但捐赠总是按锁收回的，所以我让线程记它持有的锁，锁上记等它的最高优先级。实际优先级就是 base 和这些锁的最大值，比如 max(31, 32, 33) = 33。任何变化都调用 thread_update_priority 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这是捐赠的核心代码。左边 lock_acquire：锁被占着时，先记下自己在等哪把锁，然后沿着“锁、持有者、持有者在等的锁”一路往下捐，最多 8 层。拿到锁以后，还在等这把锁的线程要改为向我捐赠，所以重新算这把锁的 max_priority。右边 lock_release 只做两件事：把这把锁从列表里删掉，再重算。thread_set_priority 只改 base，donate-lower 测的就是这一点。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捐赠第一版我写得很想当然，挂了 4 个测试。左边：main 拿着 a、b 两把锁，放掉 b 后 a 上的 32 还在，我却直接回到了 31，改成删掉这把锁再重算就对了。右边：H 等 M、M 等 L，优先级要一路传到 L，我第一版只传了一层，改成沿 waiting_lock 往下捐以后 nest 和 chain 就过了。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最后剩下 donate-sema，我卡得最久，diff 只告诉我 L 和 H 没跑完。我在 sema_up 里加 printf 打出等待队列，看到 low 已经是 36 却排在 med 后面，一下就明白了：插入时排好的顺序被捐赠打乱了。改成 sema_up 时用 list_min 重新找最高的，条件变量也同理。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做完以后有几点感悟。第一，调试花的时间比写代码多，学会用 printf 和 backtrace 让内核开口说话很重要。第二，内核里细节决定一切，一个等号、一行 yield 都能让测试挂掉甚至内核崩溃。第三，课上讲的优先级反转、管程、中断上下文，这次都变成了具体的测试。第四，卡住的时候我忍住没去看别人的代码，自己找到原因的感觉特别好。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 priority 的 12 个全部通过，整个 make check 27 个也都过了。我最大的三个收获：第一，先读测试的期望输出再写代码，.result 里的 diff 能直接告诉你差在哪一行；第二，有序插入只在优先级不变时才成立，有捐赠就要在取出时重新比较；第三，优先级用一个公式算出来，比在各个地方加加减减可靠得多。谢谢大家，欢迎提问。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Aft>
                <a:spcPts val="560"/>
              </a:spcAft>
            </a:pPr>
            <a:r>
              <a:rPr sz="1600" b="1">
                <a:solidFill>
                  <a:srgbClr val="E39A2D"/>
                </a:solidFill>
                <a:latin typeface="Microsoft YaHei"/>
                <a:ea typeface="Microsoft YaHei"/>
              </a:rPr>
              <a:t>OS Lab 3 · 作业 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749807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59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priority-*</a:t>
            </a:r>
          </a:p>
          <a:p>
            <a:pPr algn="l">
              <a:lnSpc>
                <a:spcPts val="5059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是怎么通过的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9476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Aft>
                <a:spcPts val="700"/>
              </a:spcAft>
            </a:pPr>
            <a:r>
              <a:rPr sz="2000" b="0">
                <a:solidFill>
                  <a:srgbClr val="C9D1E0"/>
                </a:solidFill>
                <a:latin typeface="Microsoft YaHei"/>
                <a:ea typeface="Microsoft YaHei"/>
              </a:rPr>
              <a:t>Pintos 优先级调度与优先级捐赠的实现过程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9AA4B6"/>
                </a:solidFill>
                <a:latin typeface="Microsoft YaHei"/>
                <a:ea typeface="Microsoft YaHei"/>
              </a:rPr>
              <a:t>汇报人：________　　2026.11.03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8288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D9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503920" y="182880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H  ·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6060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03920" y="260604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M  ·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38328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C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338328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L  · 31 → 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160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9AA4B6"/>
                </a:solidFill>
                <a:latin typeface="Microsoft YaHei"/>
                <a:ea typeface="Microsoft YaHei"/>
              </a:rPr>
              <a:t>L 拿着锁，H 把优先级借给它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D9483B"/>
                </a:solidFill>
                <a:latin typeface="Microsoft YaHei"/>
                <a:ea typeface="Microsoft YaHei"/>
              </a:rPr>
              <a:t>起点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  <a:spcAft>
                <a:spcPts val="1050"/>
              </a:spcAft>
            </a:pPr>
            <a:r>
              <a:rPr sz="3000" b="1">
                <a:solidFill>
                  <a:srgbClr val="1B2333"/>
                </a:solidFill>
                <a:latin typeface="Microsoft YaHei"/>
                <a:ea typeface="Microsoft YaHei"/>
              </a:rPr>
              <a:t>从 19 个失败开始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60"/>
              </a:lnSpc>
              <a:spcAft>
                <a:spcPts val="2310"/>
              </a:spcAft>
            </a:pPr>
            <a:r>
              <a:rPr sz="6600" b="1">
                <a:solidFill>
                  <a:srgbClr val="D9483B"/>
                </a:solidFill>
                <a:latin typeface="Microsoft YaHei"/>
                <a:ea typeface="Microsoft YaHei"/>
              </a:rPr>
              <a:t>19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Aft>
                <a:spcPts val="160"/>
              </a:spcAft>
            </a:pPr>
            <a:r>
              <a:rPr sz="1600" b="0">
                <a:solidFill>
                  <a:srgbClr val="5B6475"/>
                </a:solidFill>
                <a:latin typeface="Microsoft YaHei"/>
                <a:ea typeface="Microsoft YaHei"/>
              </a:rPr>
              <a:t>lab2 做完 alarm 之后，</a:t>
            </a:r>
          </a:p>
          <a:p>
            <a:pPr algn="l">
              <a:lnSpc>
                <a:spcPts val="2080"/>
              </a:lnSpc>
              <a:spcAft>
                <a:spcPts val="160"/>
              </a:spcAft>
            </a:pPr>
            <a:r>
              <a:rPr sz="1600" b="0">
                <a:solidFill>
                  <a:srgbClr val="5B6475"/>
                </a:solidFill>
                <a:latin typeface="Microsoft YaHei"/>
                <a:ea typeface="Microsoft YaHei"/>
              </a:rPr>
              <a:t>make check 还有 19 个测试失败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3840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Aft>
                <a:spcPts val="640"/>
              </a:spcAft>
            </a:pPr>
            <a:r>
              <a:rPr sz="1600" b="0">
                <a:solidFill>
                  <a:srgbClr val="1F2430"/>
                </a:solidFill>
                <a:latin typeface="Microsoft YaHei"/>
                <a:ea typeface="Microsoft YaHei"/>
              </a:rPr>
              <a:t>其中 priority-* 有 12 个。</a:t>
            </a:r>
          </a:p>
          <a:p>
            <a:pPr algn="l">
              <a:lnSpc>
                <a:spcPts val="2080"/>
              </a:lnSpc>
              <a:spcAft>
                <a:spcPts val="640"/>
              </a:spcAft>
            </a:pPr>
            <a:r>
              <a:rPr sz="1600" b="0">
                <a:solidFill>
                  <a:srgbClr val="1F2430"/>
                </a:solidFill>
                <a:latin typeface="Microsoft YaHei"/>
                <a:ea typeface="Microsoft YaHei"/>
              </a:rPr>
              <a:t>我先把每个测试的 .c 和 .ck 读了一遍，按“它在问什么”分成了右边三类，再一类一类地做。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463040"/>
            <a:ext cx="6702552" cy="1417320"/>
          </a:xfrm>
          <a:prstGeom prst="roundRect">
            <a:avLst>
              <a:gd name="adj" fmla="val 7741"/>
            </a:avLst>
          </a:prstGeom>
          <a:solidFill>
            <a:srgbClr val="E2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166360" y="184708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3C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166360" y="184708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860"/>
              </a:lnSpc>
              <a:spcAft>
                <a:spcPts val="769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627632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Aft>
                <a:spcPts val="700"/>
              </a:spcAft>
            </a:pPr>
            <a:r>
              <a:rPr sz="2000" b="1">
                <a:solidFill>
                  <a:srgbClr val="1B2333"/>
                </a:solidFill>
                <a:latin typeface="Microsoft YaHei"/>
                <a:ea typeface="Microsoft YaHei"/>
              </a:rPr>
              <a:t>调度与抢占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029968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3C78B5"/>
                </a:solidFill>
                <a:latin typeface="Microsoft YaHei"/>
                <a:ea typeface="Microsoft YaHei"/>
              </a:rPr>
              <a:t>priority-change · preempt · fifo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95728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优先级最高的线程必须马上上 CPU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3108960"/>
            <a:ext cx="6702552" cy="1417320"/>
          </a:xfrm>
          <a:prstGeom prst="roundRect">
            <a:avLst>
              <a:gd name="adj" fmla="val 7741"/>
            </a:avLst>
          </a:prstGeom>
          <a:solidFill>
            <a:srgbClr val="FC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166360" y="349300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166360" y="349300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860"/>
              </a:lnSpc>
              <a:spcAft>
                <a:spcPts val="769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273552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Aft>
                <a:spcPts val="700"/>
              </a:spcAft>
            </a:pPr>
            <a:r>
              <a:rPr sz="2000" b="1">
                <a:solidFill>
                  <a:srgbClr val="1B2333"/>
                </a:solidFill>
                <a:latin typeface="Microsoft YaHei"/>
                <a:ea typeface="Microsoft YaHei"/>
              </a:rPr>
              <a:t>按优先级唤醒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675888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E39A2D"/>
                </a:solidFill>
                <a:latin typeface="Microsoft YaHei"/>
                <a:ea typeface="Microsoft YaHei"/>
              </a:rPr>
              <a:t>priority-sema · condvar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041648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信号量、条件变量先叫醒优先级最高的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4754880"/>
            <a:ext cx="6702552" cy="1417320"/>
          </a:xfrm>
          <a:prstGeom prst="roundRect">
            <a:avLst>
              <a:gd name="adj" fmla="val 7741"/>
            </a:avLst>
          </a:prstGeom>
          <a:solidFill>
            <a:srgbClr val="FB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166360" y="513892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9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166360" y="513892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860"/>
              </a:lnSpc>
              <a:spcAft>
                <a:spcPts val="769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919472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Aft>
                <a:spcPts val="700"/>
              </a:spcAft>
            </a:pPr>
            <a:r>
              <a:rPr sz="2000" b="1">
                <a:solidFill>
                  <a:srgbClr val="1B2333"/>
                </a:solidFill>
                <a:latin typeface="Microsoft YaHei"/>
                <a:ea typeface="Microsoft YaHei"/>
              </a:rPr>
              <a:t>优先级捐赠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321808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D9483B"/>
                </a:solidFill>
                <a:latin typeface="Microsoft YaHei"/>
                <a:ea typeface="Microsoft YaHei"/>
              </a:rPr>
              <a:t>donate-one · multiple(2) · nest · chain · sema · lower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687568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等锁时把优先级借给持锁者，放锁时收回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D9483B"/>
                </a:solidFill>
                <a:latin typeface="Microsoft YaHei"/>
                <a:ea typeface="Microsoft YaHei"/>
              </a:rPr>
              <a:t>调度与抢占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  <a:spcAft>
                <a:spcPts val="1050"/>
              </a:spcAft>
            </a:pPr>
            <a:r>
              <a:rPr sz="3000" b="1">
                <a:solidFill>
                  <a:srgbClr val="1B2333"/>
                </a:solidFill>
                <a:latin typeface="Microsoft YaHei"/>
                <a:ea typeface="Microsoft YaHei"/>
              </a:rPr>
              <a:t>第一步：就绪队列排好序，随时检查抢占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Aft>
                <a:spcPts val="700"/>
              </a:spcAft>
            </a:pPr>
            <a:r>
              <a:rPr sz="2000" b="1">
                <a:solidFill>
                  <a:srgbClr val="1B2333"/>
                </a:solidFill>
                <a:latin typeface="Microsoft YaHei"/>
                <a:ea typeface="Microsoft YaHei"/>
              </a:rPr>
              <a:t>ready_list 有序插入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unblock、yield 时用 list_insert_ordered 按优先级降序插入，队首就是下一个要跑的线程。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Aft>
                <a:spcPts val="700"/>
              </a:spcAft>
            </a:pPr>
            <a:r>
              <a:rPr sz="2000" b="1">
                <a:solidFill>
                  <a:srgbClr val="1B2333"/>
                </a:solidFill>
                <a:latin typeface="Microsoft YaHei"/>
                <a:ea typeface="Microsoft YaHei"/>
              </a:rPr>
              <a:t>三个地方检查抢占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thread_create、thread_set_priority、sema_up 之后调用 thread_preempt()：队首比自己高就让出 CPU。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69080"/>
            <a:ext cx="5120640" cy="2057400"/>
          </a:xfrm>
          <a:prstGeom prst="roundRect">
            <a:avLst>
              <a:gd name="adj" fmla="val 3555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4754879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void thread_preempt (void) {</a:t>
            </a:r>
          </a:p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  if (队首-&gt;priority &gt; 当前-&gt;priority)</a:t>
            </a:r>
          </a:p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    intr_context ()</a:t>
            </a:r>
          </a:p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      ? intr_yield_on_return ()</a:t>
            </a:r>
          </a:p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      : thread_yield ();</a:t>
            </a:r>
          </a:p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468112" cy="4663440"/>
          </a:xfrm>
          <a:prstGeom prst="roundRect">
            <a:avLst>
              <a:gd name="adj" fmla="val 2941"/>
            </a:avLst>
          </a:prstGeom>
          <a:solidFill>
            <a:srgbClr val="FB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Aft>
                <a:spcPts val="700"/>
              </a:spcAft>
            </a:pPr>
            <a:r>
              <a:rPr sz="2000" b="1">
                <a:solidFill>
                  <a:srgbClr val="D9483B"/>
                </a:solidFill>
                <a:latin typeface="Microsoft YaHei"/>
                <a:ea typeface="Microsoft YaHei"/>
              </a:rPr>
              <a:t>坑 ①：多了一个等号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比较函数一开始写成了 a-&gt;priority &gt;= b-&gt;priority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06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5B6475"/>
                </a:solidFill>
                <a:latin typeface="Microsoft YaHei"/>
                <a:ea typeface="Microsoft YaHei"/>
              </a:rPr>
              <a:t>队列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6060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3C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0" y="260604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#1 · 32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26060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3C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41080" y="260604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#2 · 32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26060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3C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966960" y="260604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#3 · 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4612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1F2430"/>
                </a:solidFill>
                <a:latin typeface="Microsoft YaHei"/>
                <a:ea typeface="Microsoft YaHei"/>
              </a:rPr>
              <a:t>#0（32）调用 thread_yield 重新入队：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5760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2E8B6E"/>
                </a:solidFill>
                <a:latin typeface="Consolas"/>
                <a:ea typeface="Microsoft YaHei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65760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1">
                <a:solidFill>
                  <a:srgbClr val="2E8B6E"/>
                </a:solidFill>
                <a:latin typeface="Microsoft YaHei"/>
                <a:ea typeface="Microsoft YaHei"/>
              </a:rPr>
              <a:t>插到同优先级最后 → 轮转（FIFO）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1480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D9483B"/>
                </a:solidFill>
                <a:latin typeface="Consolas"/>
                <a:ea typeface="Microsoft YaHei"/>
              </a:rPr>
              <a:t>&gt;=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11480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1">
                <a:solidFill>
                  <a:srgbClr val="D9483B"/>
                </a:solidFill>
                <a:latin typeface="Microsoft YaHei"/>
                <a:ea typeface="Microsoft YaHei"/>
              </a:rPr>
              <a:t>插到同优先级最前 → 又选中自己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4709160"/>
            <a:ext cx="4919472" cy="685800"/>
          </a:xfrm>
          <a:prstGeom prst="roundRect">
            <a:avLst>
              <a:gd name="adj" fmla="val 10666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29400" y="470916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F2C14E"/>
                </a:solidFill>
                <a:latin typeface="Consolas"/>
                <a:ea typeface="Microsoft YaHei"/>
              </a:rPr>
              <a:t>iteration: 15 15 15 15 15 15 15 15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5321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5B6475"/>
                </a:solidFill>
                <a:latin typeface="Microsoft YaHei"/>
                <a:ea typeface="Microsoft YaHei"/>
              </a:rPr>
              <a:t>priority-fifo：同一个线程连跑了 16 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D9483B"/>
                </a:solidFill>
                <a:latin typeface="Microsoft YaHei"/>
                <a:ea typeface="Microsoft YaHei"/>
              </a:rPr>
              <a:t>调度与抢占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  <a:spcAft>
                <a:spcPts val="1050"/>
              </a:spcAft>
            </a:pPr>
            <a:r>
              <a:rPr sz="3000" b="1">
                <a:solidFill>
                  <a:srgbClr val="1B2333"/>
                </a:solidFill>
                <a:latin typeface="Microsoft YaHei"/>
                <a:ea typeface="Microsoft YaHei"/>
              </a:rPr>
              <a:t>困难：一跑 alarm-priority 就 kernel panic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想让刚被唤醒的高优先级线程马上抢占，我在 thread_wake 里直接调用了 thread_yield()：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502920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F28B82"/>
                </a:solidFill>
                <a:latin typeface="Consolas"/>
                <a:ea typeface="Microsoft YaHei"/>
              </a:rPr>
              <a:t>Kernel PANIC at thread.c:354</a:t>
            </a:r>
          </a:p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F28B82"/>
                </a:solidFill>
                <a:latin typeface="Consolas"/>
                <a:ea typeface="Microsoft YaHei"/>
              </a:rPr>
              <a:t>in thread_yield(): assertion</a:t>
            </a:r>
          </a:p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F28B82"/>
                </a:solidFill>
                <a:latin typeface="Consolas"/>
                <a:ea typeface="Microsoft YaHei"/>
              </a:rPr>
              <a:t>`!intr_context ()' failed.</a:t>
            </a:r>
          </a:p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C9D1E0"/>
                </a:solidFill>
                <a:latin typeface="Consolas"/>
                <a:ea typeface="Microsoft YaHei"/>
              </a:rPr>
              <a:t>Call stack: 0xc002a277.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backtrace 只解析出一行 debug_panic。查文档后在 Make.config 的 CFLAGS 里加上 -fno-omit-frame-pointer，调用链就完整了：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463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4919472"/>
            <a:ext cx="5029200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C9D1E0"/>
                </a:solidFill>
                <a:latin typeface="Consolas"/>
                <a:ea typeface="Microsoft YaHei"/>
              </a:rPr>
              <a:t>debug_panic   ← thread_wake</a:t>
            </a:r>
          </a:p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F2C14E"/>
                </a:solidFill>
                <a:latin typeface="Consolas"/>
                <a:ea typeface="Microsoft YaHei"/>
              </a:rPr>
              <a:t>thread_wake   ← timer_interrupt</a:t>
            </a:r>
          </a:p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C9D1E0"/>
                </a:solidFill>
                <a:latin typeface="Consolas"/>
                <a:ea typeface="Microsoft YaHei"/>
              </a:rPr>
              <a:t>intr_handler  ← intr_entry ← idle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285232" cy="4663440"/>
          </a:xfrm>
          <a:prstGeom prst="roundRect">
            <a:avLst>
              <a:gd name="adj" fmla="val 2941"/>
            </a:avLst>
          </a:prstGeom>
          <a:solidFill>
            <a:srgbClr val="E1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29400" y="1645920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Aft>
                <a:spcPts val="700"/>
              </a:spcAft>
            </a:pPr>
            <a:r>
              <a:rPr sz="2000" b="1">
                <a:solidFill>
                  <a:srgbClr val="2E8B6E"/>
                </a:solidFill>
                <a:latin typeface="Microsoft YaHei"/>
                <a:ea typeface="Microsoft YaHei"/>
              </a:rPr>
              <a:t>原因与解决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0312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thread_wake 是在时钟中断里被调用的。中断处理程序不属于任何线程，不能在这里切换线程，所以 thread_yield 一开头就断言 !intr_context()。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2461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正确做法是只设一个标记，等中断返回时再让出 CPU：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886200"/>
            <a:ext cx="4736592" cy="2011680"/>
          </a:xfrm>
          <a:prstGeom prst="roundRect">
            <a:avLst>
              <a:gd name="adj" fmla="val 3636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12280" y="4023360"/>
            <a:ext cx="4370831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if (need_yield)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  intr_yield_on_return ();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/* thread_preempt () 里也一样 */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intr_context () ? intr_yield_on_return ()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                : thread_yield ();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D9483B"/>
                </a:solidFill>
                <a:latin typeface="Microsoft YaHei"/>
                <a:ea typeface="Microsoft YaHei"/>
              </a:rPr>
              <a:t>优先级捐赠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  <a:spcAft>
                <a:spcPts val="1050"/>
              </a:spcAft>
            </a:pPr>
            <a:r>
              <a:rPr sz="3000" b="1">
                <a:solidFill>
                  <a:srgbClr val="1B2333"/>
                </a:solidFill>
                <a:latin typeface="Microsoft YaHei"/>
                <a:ea typeface="Microsoft YaHei"/>
              </a:rPr>
              <a:t>为什么需要捐赠：优先级反转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7863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1">
                <a:solidFill>
                  <a:srgbClr val="D9483B"/>
                </a:solidFill>
                <a:latin typeface="Microsoft YaHei"/>
                <a:ea typeface="Microsoft YaHei"/>
              </a:rPr>
              <a:t>没有捐赠：H 被一直在跑的 M “饿着”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Aft>
                <a:spcPts val="560"/>
              </a:spcAft>
            </a:pPr>
            <a:r>
              <a:rPr sz="1600" b="1">
                <a:solidFill>
                  <a:srgbClr val="D9483B"/>
                </a:solidFill>
                <a:latin typeface="Microsoft YaHei"/>
                <a:ea typeface="Microsoft YaHei"/>
              </a:rPr>
              <a:t>H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057400"/>
            <a:ext cx="7269480" cy="18288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2377439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Aft>
                <a:spcPts val="560"/>
              </a:spcAft>
            </a:pPr>
            <a:r>
              <a:rPr sz="1600" b="1">
                <a:solidFill>
                  <a:srgbClr val="E39A2D"/>
                </a:solidFill>
                <a:latin typeface="Microsoft YaHei"/>
                <a:ea typeface="Microsoft YaHei"/>
              </a:rPr>
              <a:t>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2560320"/>
            <a:ext cx="7269480" cy="18288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Aft>
                <a:spcPts val="560"/>
              </a:spcAft>
            </a:pPr>
            <a:r>
              <a:rPr sz="1600" b="1">
                <a:solidFill>
                  <a:srgbClr val="3C78B5"/>
                </a:solidFill>
                <a:latin typeface="Microsoft YaHei"/>
                <a:ea typeface="Microsoft YaHei"/>
              </a:rPr>
              <a:t>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3063240"/>
            <a:ext cx="7269480" cy="18288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051560" y="2898648"/>
            <a:ext cx="1037844" cy="347472"/>
          </a:xfrm>
          <a:prstGeom prst="roundRect">
            <a:avLst>
              <a:gd name="adj" fmla="val 21052"/>
            </a:avLst>
          </a:prstGeom>
          <a:solidFill>
            <a:srgbClr val="3C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898648"/>
            <a:ext cx="103784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拿锁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89404" y="1892807"/>
            <a:ext cx="518922" cy="347472"/>
          </a:xfrm>
          <a:prstGeom prst="roundRect">
            <a:avLst>
              <a:gd name="adj" fmla="val 21052"/>
            </a:avLst>
          </a:prstGeom>
          <a:solidFill>
            <a:srgbClr val="D9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2608326" y="1892807"/>
            <a:ext cx="4047591" cy="347472"/>
          </a:xfrm>
          <a:prstGeom prst="roundRect">
            <a:avLst>
              <a:gd name="adj" fmla="val 21052"/>
            </a:avLst>
          </a:prstGeom>
          <a:noFill/>
          <a:ln w="15875">
            <a:solidFill>
              <a:srgbClr val="D948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08326" y="1892807"/>
            <a:ext cx="404759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D9483B"/>
                </a:solidFill>
                <a:latin typeface="Microsoft YaHei"/>
                <a:ea typeface="Microsoft YaHei"/>
              </a:rPr>
              <a:t>等锁（阻塞）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8326" y="2395727"/>
            <a:ext cx="3632454" cy="347472"/>
          </a:xfrm>
          <a:prstGeom prst="roundRect">
            <a:avLst>
              <a:gd name="adj" fmla="val 21052"/>
            </a:avLst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608326" y="2395727"/>
            <a:ext cx="363245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 一直在跑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0779" y="2898648"/>
            <a:ext cx="415137" cy="347472"/>
          </a:xfrm>
          <a:prstGeom prst="roundRect">
            <a:avLst>
              <a:gd name="adj" fmla="val 21052"/>
            </a:avLst>
          </a:prstGeom>
          <a:solidFill>
            <a:srgbClr val="3C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655917" y="1892807"/>
            <a:ext cx="1660550" cy="347472"/>
          </a:xfrm>
          <a:prstGeom prst="roundRect">
            <a:avLst>
              <a:gd name="adj" fmla="val 21052"/>
            </a:avLst>
          </a:prstGeom>
          <a:solidFill>
            <a:srgbClr val="D9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55917" y="1892807"/>
            <a:ext cx="166055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终于拿到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7863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1">
                <a:solidFill>
                  <a:srgbClr val="2E8B6E"/>
                </a:solidFill>
                <a:latin typeface="Microsoft YaHei"/>
                <a:ea typeface="Microsoft YaHei"/>
              </a:rPr>
              <a:t>有捐赠：L 借到 H 的优先级，尽快放锁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89120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Aft>
                <a:spcPts val="560"/>
              </a:spcAft>
            </a:pPr>
            <a:r>
              <a:rPr sz="1600" b="1">
                <a:solidFill>
                  <a:srgbClr val="D9483B"/>
                </a:solidFill>
                <a:latin typeface="Microsoft YaHei"/>
                <a:ea typeface="Microsoft YaHei"/>
              </a:rPr>
              <a:t>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4572000"/>
            <a:ext cx="7269480" cy="18288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8640" y="4892040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Aft>
                <a:spcPts val="560"/>
              </a:spcAft>
            </a:pPr>
            <a:r>
              <a:rPr sz="1600" b="1">
                <a:solidFill>
                  <a:srgbClr val="E39A2D"/>
                </a:solidFill>
                <a:latin typeface="Microsoft YaHei"/>
                <a:ea typeface="Microsoft YaHei"/>
              </a:rPr>
              <a:t>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5074920"/>
            <a:ext cx="7269480" cy="18288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" y="5394960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Aft>
                <a:spcPts val="560"/>
              </a:spcAft>
            </a:pPr>
            <a:r>
              <a:rPr sz="1600" b="1">
                <a:solidFill>
                  <a:srgbClr val="3C78B5"/>
                </a:solidFill>
                <a:latin typeface="Microsoft YaHei"/>
                <a:ea typeface="Microsoft YaHei"/>
              </a:rPr>
              <a:t>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5577840"/>
            <a:ext cx="7269480" cy="18288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051560" y="5413248"/>
            <a:ext cx="1037844" cy="347472"/>
          </a:xfrm>
          <a:prstGeom prst="roundRect">
            <a:avLst>
              <a:gd name="adj" fmla="val 21052"/>
            </a:avLst>
          </a:prstGeom>
          <a:solidFill>
            <a:srgbClr val="3C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51560" y="5413248"/>
            <a:ext cx="103784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拿锁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89404" y="4407407"/>
            <a:ext cx="518922" cy="347472"/>
          </a:xfrm>
          <a:prstGeom prst="roundRect">
            <a:avLst>
              <a:gd name="adj" fmla="val 21052"/>
            </a:avLst>
          </a:prstGeom>
          <a:solidFill>
            <a:srgbClr val="D9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2608326" y="4407407"/>
            <a:ext cx="1141628" cy="347472"/>
          </a:xfrm>
          <a:prstGeom prst="roundRect">
            <a:avLst>
              <a:gd name="adj" fmla="val 21052"/>
            </a:avLst>
          </a:prstGeom>
          <a:noFill/>
          <a:ln w="15875">
            <a:solidFill>
              <a:srgbClr val="D948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08326" y="4407407"/>
            <a:ext cx="11416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D9483B"/>
                </a:solidFill>
                <a:latin typeface="Microsoft YaHei"/>
                <a:ea typeface="Microsoft YaHei"/>
              </a:rPr>
              <a:t>等锁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08326" y="5413248"/>
            <a:ext cx="1141628" cy="347472"/>
          </a:xfrm>
          <a:prstGeom prst="roundRect">
            <a:avLst>
              <a:gd name="adj" fmla="val 21052"/>
            </a:avLst>
          </a:prstGeom>
          <a:solidFill>
            <a:srgbClr val="3C78B5"/>
          </a:solidFill>
          <a:ln w="31750">
            <a:solidFill>
              <a:srgbClr val="D9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608326" y="5413248"/>
            <a:ext cx="11416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借 33 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49954" y="4407407"/>
            <a:ext cx="1660550" cy="347472"/>
          </a:xfrm>
          <a:prstGeom prst="roundRect">
            <a:avLst>
              <a:gd name="adj" fmla="val 21052"/>
            </a:avLst>
          </a:prstGeom>
          <a:solidFill>
            <a:srgbClr val="D9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749954" y="4407407"/>
            <a:ext cx="166055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拿到锁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10504" y="4910327"/>
            <a:ext cx="2905963" cy="347472"/>
          </a:xfrm>
          <a:prstGeom prst="roundRect">
            <a:avLst>
              <a:gd name="adj" fmla="val 21052"/>
            </a:avLst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410504" y="4910327"/>
            <a:ext cx="290596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 之后再跑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2520" y="1463040"/>
            <a:ext cx="2907792" cy="4663440"/>
          </a:xfrm>
          <a:prstGeom prst="roundRect">
            <a:avLst>
              <a:gd name="adj" fmla="val 4716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961120" y="16916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Aft>
                <a:spcPts val="560"/>
              </a:spcAft>
            </a:pPr>
            <a:r>
              <a:rPr sz="1600" b="1">
                <a:solidFill>
                  <a:srgbClr val="1B2333"/>
                </a:solidFill>
                <a:latin typeface="Microsoft YaHei"/>
                <a:ea typeface="Microsoft YaHei"/>
              </a:rPr>
              <a:t>课件上的例子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2148840"/>
            <a:ext cx="2468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1997 年火星探路者号反复重启，就是因为低优先级任务拿着锁，被中优先级任务一直抢占。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160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Aft>
                <a:spcPts val="560"/>
              </a:spcAft>
            </a:pPr>
            <a:r>
              <a:rPr sz="1600" b="1">
                <a:solidFill>
                  <a:srgbClr val="1B2333"/>
                </a:solidFill>
                <a:latin typeface="Microsoft YaHei"/>
                <a:ea typeface="Microsoft YaHei"/>
              </a:rPr>
              <a:t>解决办法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4617720"/>
            <a:ext cx="2468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H 等 L 的锁时，把自己的优先级“借”给 L；L 放锁时再还回去。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D9483B"/>
                </a:solidFill>
                <a:latin typeface="Microsoft YaHei"/>
                <a:ea typeface="Microsoft YaHei"/>
              </a:rPr>
              <a:t>优先级捐赠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  <a:spcAft>
                <a:spcPts val="1050"/>
              </a:spcAft>
            </a:pPr>
            <a:r>
              <a:rPr sz="3000" b="1">
                <a:solidFill>
                  <a:srgbClr val="1B2333"/>
                </a:solidFill>
                <a:latin typeface="Microsoft YaHei"/>
                <a:ea typeface="Microsoft YaHei"/>
              </a:rPr>
              <a:t>我的设计：按“锁”记账，优先级用公式算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E2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1B2333"/>
                </a:solidFill>
                <a:latin typeface="Microsoft YaHei"/>
                <a:ea typeface="Microsoft YaHei"/>
              </a:rPr>
              <a:t>main 线程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base_priority =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50592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locks = { a, b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46304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FC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023360" y="146304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sz="1600" b="1">
                <a:solidFill>
                  <a:srgbClr val="1B2333"/>
                </a:solidFill>
                <a:latin typeface="Microsoft YaHei"/>
                <a:ea typeface="Microsoft YaHei"/>
              </a:rPr>
              <a:t>lock a</a:t>
            </a:r>
          </a:p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sz="1400" b="1">
                <a:solidFill>
                  <a:srgbClr val="1B2333"/>
                </a:solidFill>
                <a:latin typeface="Consolas"/>
                <a:ea typeface="Microsoft YaHei"/>
              </a:rPr>
              <a:t>max_priority =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33172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FB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023360" y="233172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sz="1600" b="1">
                <a:solidFill>
                  <a:srgbClr val="1B2333"/>
                </a:solidFill>
                <a:latin typeface="Microsoft YaHei"/>
                <a:ea typeface="Microsoft YaHei"/>
              </a:rPr>
              <a:t>lock b</a:t>
            </a:r>
          </a:p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sz="1400" b="1">
                <a:solidFill>
                  <a:srgbClr val="1B2333"/>
                </a:solidFill>
                <a:latin typeface="Consolas"/>
                <a:ea typeface="Microsoft YaHei"/>
              </a:rPr>
              <a:t>max_priority = 33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291840" y="1810512"/>
            <a:ext cx="731520" cy="201168"/>
          </a:xfrm>
          <a:prstGeom prst="line">
            <a:avLst/>
          </a:prstGeom>
          <a:ln w="19050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91840" y="2468880"/>
            <a:ext cx="731520" cy="201168"/>
          </a:xfrm>
          <a:prstGeom prst="line">
            <a:avLst/>
          </a:prstGeom>
          <a:ln w="19050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3200400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5B6475"/>
                </a:solidFill>
                <a:latin typeface="Microsoft YaHei"/>
                <a:ea typeface="Microsoft YaHei"/>
              </a:rPr>
              <a:t>等锁的线程中最高的优先级记在锁上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5852160" cy="914400"/>
          </a:xfrm>
          <a:prstGeom prst="roundRect">
            <a:avLst>
              <a:gd name="adj" fmla="val 50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" y="379476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600"/>
              </a:lnSpc>
              <a:spcAft>
                <a:spcPts val="7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priority = max(base, 每把锁的 max)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这里：max(31, 32, 33) = 33。</a:t>
            </a:r>
          </a:p>
          <a:p>
            <a:pPr algn="l">
              <a:lnSpc>
                <a:spcPts val="1950"/>
              </a:lnSpc>
              <a:spcAft>
                <a:spcPts val="450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任何变化（等锁、放锁、改 base）都只调用 thread_update_priority() 重新算一遍。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508760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Aft>
                <a:spcPts val="700"/>
              </a:spcAft>
            </a:pPr>
            <a:r>
              <a:rPr sz="2000" b="1">
                <a:solidFill>
                  <a:srgbClr val="1B2333"/>
                </a:solidFill>
                <a:latin typeface="Microsoft YaHei"/>
                <a:ea typeface="Microsoft YaHei"/>
              </a:rPr>
              <a:t>为什么不记“捐赠者列表”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96596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课件建议给线程维护捐赠者列表。但我发现捐赠总是按锁收回的：放掉哪把锁，就只收回因为这把锁得到的捐赠。所以直接让线程记它持有的锁。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3520440"/>
            <a:ext cx="4690872" cy="2606040"/>
          </a:xfrm>
          <a:prstGeom prst="roundRect">
            <a:avLst>
              <a:gd name="adj" fmla="val 2807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32320" y="3657600"/>
            <a:ext cx="4325112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struct thread {</a:t>
            </a:r>
          </a:p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  int base_priority;</a:t>
            </a:r>
          </a:p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  struct list locks;</a:t>
            </a:r>
          </a:p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  struct lock *waiting_lock;</a:t>
            </a:r>
          </a:p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};</a:t>
            </a:r>
          </a:p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struct lock {</a:t>
            </a:r>
          </a:p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  struct list_elem elem;</a:t>
            </a:r>
          </a:p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  int max_priority;</a:t>
            </a:r>
          </a:p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F2430"/>
                </a:solidFill>
                <a:latin typeface="Consolas"/>
                <a:ea typeface="Microsoft YaHei"/>
              </a:rPr>
              <a:t>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D9483B"/>
                </a:solidFill>
                <a:latin typeface="Microsoft YaHei"/>
                <a:ea typeface="Microsoft YaHei"/>
              </a:rPr>
              <a:t>优先级捐赠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  <a:spcAft>
                <a:spcPts val="1050"/>
              </a:spcAft>
            </a:pPr>
            <a:r>
              <a:rPr sz="3000" b="1">
                <a:solidFill>
                  <a:srgbClr val="1B2333"/>
                </a:solidFill>
                <a:latin typeface="Microsoft YaHei"/>
                <a:ea typeface="Microsoft YaHei"/>
              </a:rPr>
              <a:t>核心代码：捐出去，再收回来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Aft>
                <a:spcPts val="560"/>
              </a:spcAft>
            </a:pPr>
            <a:r>
              <a:rPr sz="1600" b="1">
                <a:solidFill>
                  <a:srgbClr val="D9483B"/>
                </a:solidFill>
                <a:latin typeface="Microsoft YaHei"/>
                <a:ea typeface="Microsoft YaHei"/>
              </a:rPr>
              <a:t>lock_acquire：等锁前沿着锁链一路捐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760720" cy="4297680"/>
          </a:xfrm>
          <a:prstGeom prst="roundRect">
            <a:avLst>
              <a:gd name="adj" fmla="val 1702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394959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if (!thread_mlfqs &amp;&amp; lock-&gt;holder != NULL) {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  struct lock *l = lock;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  cur-&gt;waiting_lock = lock;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  while (l &amp;&amp; l-&gt;holder &amp;&amp; depth &lt; 8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         &amp;&amp; l-&gt;max_priority &lt; cur-&gt;priority) {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    l-&gt;max_priority = cur-&gt;priority;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    thread_update_priority (l-&gt;holder);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    l = l-&gt;holder-&gt;waiting_lock;  /* 下一层 */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    depth++;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  }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}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sema_down (&amp;lock-&gt;semaphore);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cur-&gt;waiting_lock = NULL;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lock-&gt;holder = cur;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lock-&gt;max_priority = 剩下等待者中的最高优先级;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list_push_back (&amp;cur-&gt;locks, &amp;lock-&gt;elem);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thread_update_priority (cur);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417320"/>
            <a:ext cx="5010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Aft>
                <a:spcPts val="560"/>
              </a:spcAft>
            </a:pPr>
            <a:r>
              <a:rPr sz="1600" b="1">
                <a:solidFill>
                  <a:srgbClr val="2E8B6E"/>
                </a:solidFill>
                <a:latin typeface="Microsoft YaHei"/>
                <a:ea typeface="Microsoft YaHei"/>
              </a:rPr>
              <a:t>lock_release：只收回这把锁的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828800"/>
            <a:ext cx="5010912" cy="1737360"/>
          </a:xfrm>
          <a:prstGeom prst="roundRect">
            <a:avLst>
              <a:gd name="adj" fmla="val 421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12280" y="1965960"/>
            <a:ext cx="4645152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list_remove (&amp;lock-&gt;elem);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thread_update_priority (cur);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lock-&gt;holder = NULL;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sema_up (&amp;lock-&gt;semaphore);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/* sema_up 末尾会 thread_preempt */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794760"/>
            <a:ext cx="5010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Aft>
                <a:spcPts val="560"/>
              </a:spcAft>
            </a:pPr>
            <a:r>
              <a:rPr sz="1600" b="1">
                <a:solidFill>
                  <a:srgbClr val="3C78B5"/>
                </a:solidFill>
                <a:latin typeface="Microsoft YaHei"/>
                <a:ea typeface="Microsoft YaHei"/>
              </a:rPr>
              <a:t>thread_set_priority：只改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4206240"/>
            <a:ext cx="5010912" cy="1920240"/>
          </a:xfrm>
          <a:prstGeom prst="roundRect">
            <a:avLst>
              <a:gd name="adj" fmla="val 3809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12280" y="4343400"/>
            <a:ext cx="464515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if (thread_mlfqs) return;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cur-&gt;base_priority = new_priority;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thread_update_priority (cur);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thread_preempt ();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/* 被捐赠期间降 base，仍保持 41 */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D9483B"/>
                </a:solidFill>
                <a:latin typeface="Microsoft YaHei"/>
                <a:ea typeface="Microsoft YaHei"/>
              </a:rPr>
              <a:t>优先级捐赠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  <a:spcAft>
                <a:spcPts val="1050"/>
              </a:spcAft>
            </a:pPr>
            <a:r>
              <a:rPr sz="3000" b="1">
                <a:solidFill>
                  <a:srgbClr val="1B2333"/>
                </a:solidFill>
                <a:latin typeface="Microsoft YaHei"/>
                <a:ea typeface="Microsoft YaHei"/>
              </a:rPr>
              <a:t>捐赠第一版挂了 4 个测试，问题出在两处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76672" cy="4663440"/>
          </a:xfrm>
          <a:prstGeom prst="roundRect">
            <a:avLst>
              <a:gd name="adj" fmla="val 2941"/>
            </a:avLst>
          </a:prstGeom>
          <a:solidFill>
            <a:srgbClr val="FB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263640" y="1463040"/>
            <a:ext cx="5376672" cy="4663440"/>
          </a:xfrm>
          <a:prstGeom prst="roundRect">
            <a:avLst>
              <a:gd name="adj" fmla="val 2941"/>
            </a:avLst>
          </a:prstGeom>
          <a:solidFill>
            <a:srgbClr val="FC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Aft>
                <a:spcPts val="700"/>
              </a:spcAft>
            </a:pPr>
            <a:r>
              <a:rPr sz="2000" b="1">
                <a:solidFill>
                  <a:srgbClr val="D9483B"/>
                </a:solidFill>
                <a:latin typeface="Microsoft YaHei"/>
                <a:ea typeface="Microsoft YaHei"/>
              </a:rPr>
              <a:t>坑 ②：放锁时直接恢复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main 拿着 a、b，32 等 a、33 等 b。放掉 b 后，a 上的 32 应该还在：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944368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Aft>
                <a:spcPts val="140"/>
              </a:spcAft>
            </a:pPr>
            <a:r>
              <a:rPr sz="1400" b="0">
                <a:solidFill>
                  <a:srgbClr val="2E8B6E"/>
                </a:solidFill>
                <a:latin typeface="Consolas"/>
                <a:ea typeface="Microsoft YaHei"/>
              </a:rPr>
              <a:t>- should have priority 32. Actual: 32</a:t>
            </a:r>
          </a:p>
          <a:p>
            <a:pPr algn="l">
              <a:lnSpc>
                <a:spcPts val="1820"/>
              </a:lnSpc>
              <a:spcAft>
                <a:spcPts val="140"/>
              </a:spcAft>
            </a:pPr>
            <a:r>
              <a:rPr sz="1400" b="0">
                <a:solidFill>
                  <a:srgbClr val="D9483B"/>
                </a:solidFill>
                <a:latin typeface="Consolas"/>
                <a:ea typeface="Microsoft YaHei"/>
              </a:rPr>
              <a:t>+ should have priority 32. Actual: 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5B6475"/>
                </a:solidFill>
                <a:latin typeface="Consolas"/>
                <a:ea typeface="Microsoft YaHei"/>
              </a:rPr>
              <a:t>priority-donate-multiple / multiple2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1">
                <a:solidFill>
                  <a:srgbClr val="2E8B6E"/>
                </a:solidFill>
                <a:latin typeface="Microsoft YaHei"/>
                <a:ea typeface="Microsoft YaHei"/>
              </a:rPr>
              <a:t>修复：</a:t>
            </a:r>
          </a:p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list_remove 掉这把锁，再按公式重算，只收回该收回的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2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Aft>
                <a:spcPts val="700"/>
              </a:spcAft>
            </a:pPr>
            <a:r>
              <a:rPr sz="2000" b="1">
                <a:solidFill>
                  <a:srgbClr val="B5741A"/>
                </a:solidFill>
                <a:latin typeface="Microsoft YaHei"/>
                <a:ea typeface="Microsoft YaHei"/>
              </a:rPr>
              <a:t>坑 ③：只捐给了直接持有者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24028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D9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37960" y="22402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H 33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2468880"/>
            <a:ext cx="457200" cy="0"/>
          </a:xfrm>
          <a:prstGeom prst="line">
            <a:avLst/>
          </a:prstGeom>
          <a:ln w="19050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92440" y="22402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5B6475"/>
                </a:solidFill>
                <a:latin typeface="Microsoft YaHei"/>
                <a:ea typeface="Microsoft YaHei"/>
              </a:rPr>
              <a:t>等 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06840" y="2468880"/>
            <a:ext cx="457200" cy="0"/>
          </a:xfrm>
          <a:prstGeom prst="line">
            <a:avLst/>
          </a:prstGeom>
          <a:ln w="19050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64040" y="224028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464040" y="22402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M 33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12680" y="2697480"/>
            <a:ext cx="0" cy="411480"/>
          </a:xfrm>
          <a:prstGeom prst="line">
            <a:avLst/>
          </a:prstGeom>
          <a:ln w="19050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149840" y="272491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5B6475"/>
                </a:solidFill>
                <a:latin typeface="Microsoft YaHei"/>
                <a:ea typeface="Microsoft YaHei"/>
              </a:rPr>
              <a:t>等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1089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3C78B5"/>
          </a:solidFill>
          <a:ln w="25400">
            <a:solidFill>
              <a:srgbClr val="D9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44000" y="31089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L 31 → 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1089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嵌套：要一路捐到底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70332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第一版 L 只拿到 M 原来的 32；donate-chain 里每一层的 interloper 都插了队。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52628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1">
                <a:solidFill>
                  <a:srgbClr val="2E8B6E"/>
                </a:solidFill>
                <a:latin typeface="Microsoft YaHei"/>
                <a:ea typeface="Microsoft YaHei"/>
              </a:rPr>
              <a:t>修复：</a:t>
            </a:r>
          </a:p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沿着 waiting_lock → holder 一路往下捐，最多 8 层，直到对方已经更高为止。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D9483B"/>
                </a:solidFill>
                <a:latin typeface="Microsoft YaHei"/>
                <a:ea typeface="Microsoft YaHei"/>
              </a:rPr>
              <a:t>按优先级唤醒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  <a:spcAft>
                <a:spcPts val="1050"/>
              </a:spcAft>
            </a:pPr>
            <a:r>
              <a:rPr sz="3000" b="1">
                <a:solidFill>
                  <a:srgbClr val="1B2333"/>
                </a:solidFill>
                <a:latin typeface="Microsoft YaHei"/>
                <a:ea typeface="Microsoft YaHei"/>
              </a:rPr>
              <a:t>最后一个红灯：priority-donate-sema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其他都绿了，只剩它。diff 只显示 L、H 没跑完，看不出原因。我在 sema_up 里临时加了几行 printf，把等待队列打出来：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4846320" cy="1325880"/>
          </a:xfrm>
          <a:prstGeom prst="roundRect">
            <a:avLst>
              <a:gd name="adj" fmla="val 5517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2724912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C9D1E0"/>
                </a:solidFill>
                <a:latin typeface="Consolas"/>
                <a:ea typeface="Microsoft YaHei"/>
              </a:rPr>
              <a:t>Thread L acquired lock.</a:t>
            </a:r>
          </a:p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F2C14E"/>
                </a:solidFill>
                <a:latin typeface="Consolas"/>
                <a:ea typeface="Microsoft YaHei"/>
              </a:rPr>
              <a:t>[debug] sema_up waiters:</a:t>
            </a:r>
          </a:p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F2C14E"/>
                </a:solidFill>
                <a:latin typeface="Consolas"/>
                <a:ea typeface="Microsoft YaHei"/>
              </a:rPr>
              <a:t>        med(34) low(36)</a:t>
            </a:r>
          </a:p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>
                <a:solidFill>
                  <a:srgbClr val="C9D1E0"/>
                </a:solidFill>
                <a:latin typeface="Consolas"/>
                <a:ea typeface="Microsoft YaHei"/>
              </a:rPr>
              <a:t>Thread M finished.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low 已经被捐到 36，却还排在 med 后面——一下子就明白了：</a:t>
            </a:r>
          </a:p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我只在 sema_down 插入时排了序，等待期间的捐赠把顺序打乱了，sema_up 却直接取队首。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463040"/>
            <a:ext cx="5742432" cy="4663440"/>
          </a:xfrm>
          <a:prstGeom prst="roundRect">
            <a:avLst>
              <a:gd name="adj" fmla="val 2941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172200" y="16459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1B2333"/>
                </a:solidFill>
                <a:latin typeface="Microsoft YaHei"/>
                <a:ea typeface="Microsoft YaHei"/>
              </a:rPr>
              <a:t>信号量的 waiters 队列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1031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5B6475"/>
                </a:solidFill>
                <a:latin typeface="Microsoft YaHei"/>
                <a:ea typeface="Microsoft YaHei"/>
              </a:rPr>
              <a:t>① 先后 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1031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55279" y="21031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M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21031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3C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418320" y="21031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L 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6974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5B6475"/>
                </a:solidFill>
                <a:latin typeface="Microsoft YaHei"/>
                <a:ea typeface="Microsoft YaHei"/>
              </a:rPr>
              <a:t>② H 来等 L 的锁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69748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955279" y="26974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M 34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69748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3C78B5"/>
          </a:solidFill>
          <a:ln w="25400">
            <a:solidFill>
              <a:srgbClr val="D9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418320" y="26974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L 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2918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5B6475"/>
                </a:solidFill>
                <a:latin typeface="Microsoft YaHei"/>
                <a:ea typeface="Microsoft YaHei"/>
              </a:rPr>
              <a:t>③ sema_up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918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1">
                <a:solidFill>
                  <a:srgbClr val="D9483B"/>
                </a:solidFill>
                <a:latin typeface="Microsoft YaHei"/>
                <a:ea typeface="Microsoft YaHei"/>
              </a:rPr>
              <a:t>取队首 → 叫醒 M  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7033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1">
                <a:solidFill>
                  <a:srgbClr val="2E8B6E"/>
                </a:solidFill>
                <a:latin typeface="Microsoft YaHei"/>
                <a:ea typeface="Microsoft YaHei"/>
              </a:rPr>
              <a:t>重新找最高 → 叫醒 L  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297680"/>
            <a:ext cx="5193792" cy="1645920"/>
          </a:xfrm>
          <a:prstGeom prst="roundRect">
            <a:avLst>
              <a:gd name="adj" fmla="val 4444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55080" y="4434840"/>
            <a:ext cx="4828031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/* sema_up：取出时重新找最高 */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e = list_min (&amp;sema-&gt;waiters,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              thread_priority_more, NULL);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/* cond_signal：同理，挑最高的 waiter */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e = list_max (&amp;cond-&gt;waiters,</a:t>
            </a:r>
          </a:p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F2430"/>
                </a:solidFill>
                <a:latin typeface="Consolas"/>
                <a:ea typeface="Microsoft YaHei"/>
              </a:rPr>
              <a:t>              sema_elem_priority_less, NULL);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1">
                <a:solidFill>
                  <a:srgbClr val="D9483B"/>
                </a:solidFill>
                <a:latin typeface="Microsoft YaHei"/>
                <a:ea typeface="Microsoft YaHei"/>
              </a:rPr>
              <a:t>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  <a:spcAft>
                <a:spcPts val="1050"/>
              </a:spcAft>
            </a:pPr>
            <a:r>
              <a:rPr sz="3000" b="1">
                <a:solidFill>
                  <a:srgbClr val="1B2333"/>
                </a:solidFill>
                <a:latin typeface="Microsoft YaHei"/>
                <a:ea typeface="Microsoft YaHei"/>
              </a:rPr>
              <a:t>几点感悟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49824" cy="2148840"/>
          </a:xfrm>
          <a:prstGeom prst="roundRect">
            <a:avLst>
              <a:gd name="adj" fmla="val 6382"/>
            </a:avLst>
          </a:prstGeom>
          <a:solidFill>
            <a:srgbClr val="E2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2959" y="175564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C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175564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1B2333"/>
                </a:solidFill>
                <a:latin typeface="Microsoft YaHei"/>
                <a:ea typeface="Microsoft YaHei"/>
              </a:rPr>
              <a:t>调试比写代码花的时间多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23160"/>
            <a:ext cx="4937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真正写代码不到一半时间，剩下都在读 diff、加 printf、看 backtrace。学会让内核“开口说话”，比多写几行代码有用。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463040"/>
            <a:ext cx="5449824" cy="2148840"/>
          </a:xfrm>
          <a:prstGeom prst="roundRect">
            <a:avLst>
              <a:gd name="adj" fmla="val 6382"/>
            </a:avLst>
          </a:prstGeom>
          <a:solidFill>
            <a:srgbClr val="FB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64807" y="175564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9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64807" y="175564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7" y="1737360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1B2333"/>
                </a:solidFill>
                <a:latin typeface="Microsoft YaHei"/>
                <a:ea typeface="Microsoft YaHei"/>
              </a:rPr>
              <a:t>一个等号、一行 yield 都可能是 bug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423160"/>
            <a:ext cx="4937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&gt;= 让 FIFO 变成 LIFO，中断里一行 thread_yield 让内核直接 panic。内核代码里没有“差不多”。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449824" cy="2148840"/>
          </a:xfrm>
          <a:prstGeom prst="roundRect">
            <a:avLst>
              <a:gd name="adj" fmla="val 6382"/>
            </a:avLst>
          </a:prstGeom>
          <a:solidFill>
            <a:srgbClr val="FC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22959" y="413308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59" y="413308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114800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1B2333"/>
                </a:solidFill>
                <a:latin typeface="Microsoft YaHei"/>
                <a:ea typeface="Microsoft YaHei"/>
              </a:rPr>
              <a:t>课上的概念变具体了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800600"/>
            <a:ext cx="4937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优先级反转、Mesa 管程、中断上下文，以前只是 PPT 上的名词，这次每一个都对应着一个红灯。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840480"/>
            <a:ext cx="5449824" cy="2148840"/>
          </a:xfrm>
          <a:prstGeom prst="roundRect">
            <a:avLst>
              <a:gd name="adj" fmla="val 6382"/>
            </a:avLst>
          </a:prstGeom>
          <a:solidFill>
            <a:srgbClr val="E1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64807" y="413308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64807" y="413308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7" y="4114800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1B2333"/>
                </a:solidFill>
                <a:latin typeface="Microsoft YaHei"/>
                <a:ea typeface="Microsoft YaHei"/>
              </a:rPr>
              <a:t>卡住时不急着看别人的代码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4800600"/>
            <a:ext cx="4937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525"/>
              </a:spcAft>
            </a:pPr>
            <a:r>
              <a:rPr sz="1500" b="0">
                <a:solidFill>
                  <a:srgbClr val="1F2430"/>
                </a:solidFill>
                <a:latin typeface="Microsoft YaHei"/>
                <a:ea typeface="Microsoft YaHei"/>
              </a:rPr>
              <a:t>donate-sema 卡了两个晚上，最后是自己用 printf 找到原因的，那一刻的成就感是抄不来的。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  <a:spcAft>
                <a:spcPts val="105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结果与收获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600"/>
              </a:lnSpc>
              <a:spcAft>
                <a:spcPts val="2100"/>
              </a:spcAft>
            </a:pPr>
            <a:r>
              <a:rPr sz="6000" b="1">
                <a:solidFill>
                  <a:srgbClr val="7FD1AE"/>
                </a:solidFill>
                <a:latin typeface="Microsoft YaHei"/>
                <a:ea typeface="Microsoft YaHei"/>
              </a:rP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Aft>
                <a:spcPts val="560"/>
              </a:spcAft>
            </a:pPr>
            <a:r>
              <a:rPr sz="1600" b="0">
                <a:solidFill>
                  <a:srgbClr val="C9D1E0"/>
                </a:solidFill>
                <a:latin typeface="Microsoft YaHei"/>
                <a:ea typeface="Microsoft YaHei"/>
              </a:rPr>
              <a:t>priority-* 全部通过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600"/>
              </a:lnSpc>
              <a:spcAft>
                <a:spcPts val="2100"/>
              </a:spcAft>
            </a:pPr>
            <a:r>
              <a:rPr sz="6000" b="1">
                <a:solidFill>
                  <a:srgbClr val="7FD1AE"/>
                </a:solidFill>
                <a:latin typeface="Microsoft YaHei"/>
                <a:ea typeface="Microsoft YaHei"/>
              </a:rPr>
              <a:t>27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26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Aft>
                <a:spcPts val="560"/>
              </a:spcAft>
            </a:pPr>
            <a:r>
              <a:rPr sz="1600" b="0">
                <a:solidFill>
                  <a:srgbClr val="C9D1E0"/>
                </a:solidFill>
                <a:latin typeface="Microsoft YaHei"/>
                <a:ea typeface="Microsoft YaHei"/>
              </a:rPr>
              <a:t>make check：All 27 tests passed.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00200"/>
            <a:ext cx="6519672" cy="1005840"/>
          </a:xfrm>
          <a:prstGeom prst="roundRect">
            <a:avLst>
              <a:gd name="adj" fmla="val 10909"/>
            </a:avLst>
          </a:prstGeom>
          <a:solidFill>
            <a:srgbClr val="2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349240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D9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4924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73736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先读 .ck 再写代码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48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C9D1E0"/>
                </a:solidFill>
                <a:latin typeface="Microsoft YaHei"/>
                <a:ea typeface="Microsoft YaHei"/>
              </a:rPr>
              <a:t>期望输出就是最精确的需求，diff 告诉你差在哪一行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834640"/>
            <a:ext cx="6519672" cy="1005840"/>
          </a:xfrm>
          <a:prstGeom prst="roundRect">
            <a:avLst>
              <a:gd name="adj" fmla="val 10909"/>
            </a:avLst>
          </a:prstGeom>
          <a:solidFill>
            <a:srgbClr val="2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349240" y="3063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3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49240" y="3063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97180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有序插入是有前提的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3832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C9D1E0"/>
                </a:solidFill>
                <a:latin typeface="Microsoft YaHei"/>
                <a:ea typeface="Microsoft YaHei"/>
              </a:rPr>
              <a:t>优先级会变（捐赠、改 base），就要在取出时重新比较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4069080"/>
            <a:ext cx="6519672" cy="1005840"/>
          </a:xfrm>
          <a:prstGeom prst="roundRect">
            <a:avLst>
              <a:gd name="adj" fmla="val 10909"/>
            </a:avLst>
          </a:prstGeom>
          <a:solidFill>
            <a:srgbClr val="2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349240" y="42976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C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49240" y="4297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20624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Aft>
                <a:spcPts val="63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状态用公式算，不要零碎加减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6177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489"/>
              </a:spcAft>
            </a:pPr>
            <a:r>
              <a:rPr sz="1400" b="0">
                <a:solidFill>
                  <a:srgbClr val="C9D1E0"/>
                </a:solidFill>
                <a:latin typeface="Microsoft YaHei"/>
                <a:ea typeface="Microsoft YaHei"/>
              </a:rPr>
              <a:t>priority = max(base, 锁上的 max)，多重、嵌套都不用特判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Aft>
                <a:spcPts val="700"/>
              </a:spcAft>
            </a:pPr>
            <a:r>
              <a:rPr sz="2000" b="1">
                <a:solidFill>
                  <a:srgbClr val="E39A2D"/>
                </a:solidFill>
                <a:latin typeface="Microsoft YaHei"/>
                <a:ea typeface="Microsoft YaHei"/>
              </a:rPr>
              <a:t>谢谢！欢迎提问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