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8" r:id="rId3"/>
    <p:sldId id="260" r:id="rId4"/>
    <p:sldId id="262" r:id="rId5"/>
    <p:sldId id="264" r:id="rId6"/>
    <p:sldId id="266" r:id="rId7"/>
    <p:sldId id="275" r:id="rId8"/>
    <p:sldId id="278" r:id="rId9"/>
    <p:sldId id="276" r:id="rId10"/>
    <p:sldId id="268" r:id="rId11"/>
    <p:sldId id="277" r:id="rId12"/>
    <p:sldId id="270" r:id="rId13"/>
    <p:sldId id="272" r:id="rId14"/>
    <p:sldId id="274"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3" autoAdjust="0"/>
    <p:restoredTop sz="94660" autoAdjust="0"/>
  </p:normalViewPr>
  <p:slideViewPr>
    <p:cSldViewPr snapToGrid="0">
      <p:cViewPr varScale="1">
        <p:scale>
          <a:sx n="83" d="100"/>
          <a:sy n="83" d="100"/>
        </p:scale>
        <p:origin x="408" y="54"/>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FF521D-FBA9-4C5A-A408-FE6E772F6FCC}" type="datetimeFigureOut">
              <a:rPr lang="zh-CN" altLang="en-US" smtClean="0"/>
              <a:t>2024/11/6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61FB0F-216C-4DD9-84DD-EB9CC17F70D6}" type="slidenum">
              <a:rPr lang="zh-CN" altLang="en-US" smtClean="0"/>
              <a:t>‹#›</a:t>
            </a:fld>
            <a:endParaRPr lang="zh-CN" altLang="en-US"/>
          </a:p>
        </p:txBody>
      </p:sp>
    </p:spTree>
    <p:extLst>
      <p:ext uri="{BB962C8B-B14F-4D97-AF65-F5344CB8AC3E}">
        <p14:creationId xmlns:p14="http://schemas.microsoft.com/office/powerpoint/2010/main" val="26370089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F61FB0F-216C-4DD9-84DD-EB9CC17F70D6}" type="slidenum">
              <a:rPr lang="zh-CN" altLang="en-US" smtClean="0"/>
              <a:t>7</a:t>
            </a:fld>
            <a:endParaRPr lang="zh-CN" altLang="en-US"/>
          </a:p>
        </p:txBody>
      </p:sp>
    </p:spTree>
    <p:extLst>
      <p:ext uri="{BB962C8B-B14F-4D97-AF65-F5344CB8AC3E}">
        <p14:creationId xmlns:p14="http://schemas.microsoft.com/office/powerpoint/2010/main" val="20291575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F61FB0F-216C-4DD9-84DD-EB9CC17F70D6}" type="slidenum">
              <a:rPr lang="zh-CN" altLang="en-US" smtClean="0"/>
              <a:t>10</a:t>
            </a:fld>
            <a:endParaRPr lang="zh-CN" altLang="en-US"/>
          </a:p>
        </p:txBody>
      </p:sp>
    </p:spTree>
    <p:extLst>
      <p:ext uri="{BB962C8B-B14F-4D97-AF65-F5344CB8AC3E}">
        <p14:creationId xmlns:p14="http://schemas.microsoft.com/office/powerpoint/2010/main" val="24313545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F61FB0F-216C-4DD9-84DD-EB9CC17F70D6}" type="slidenum">
              <a:rPr lang="zh-CN" altLang="en-US" smtClean="0"/>
              <a:t>14</a:t>
            </a:fld>
            <a:endParaRPr lang="zh-CN" altLang="en-US"/>
          </a:p>
        </p:txBody>
      </p:sp>
    </p:spTree>
    <p:extLst>
      <p:ext uri="{BB962C8B-B14F-4D97-AF65-F5344CB8AC3E}">
        <p14:creationId xmlns:p14="http://schemas.microsoft.com/office/powerpoint/2010/main" val="40521388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3D3018-1828-4B6F-B4E0-C0530264824D}"/>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5481EF58-4B77-455B-ABFE-A0CF97D5EC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718CB5C0-BA85-45BD-92CC-CA2CB879FBA5}"/>
              </a:ext>
            </a:extLst>
          </p:cNvPr>
          <p:cNvSpPr>
            <a:spLocks noGrp="1"/>
          </p:cNvSpPr>
          <p:nvPr>
            <p:ph type="dt" sz="half" idx="10"/>
          </p:nvPr>
        </p:nvSpPr>
        <p:spPr/>
        <p:txBody>
          <a:bodyPr/>
          <a:lstStyle/>
          <a:p>
            <a:fld id="{EE3CB9DE-A4CE-4CF5-B7AC-4A932A2C08EC}" type="datetimeFigureOut">
              <a:rPr lang="zh-CN" altLang="en-US" smtClean="0"/>
              <a:t>2024/11/6</a:t>
            </a:fld>
            <a:endParaRPr lang="zh-CN" altLang="en-US"/>
          </a:p>
        </p:txBody>
      </p:sp>
      <p:sp>
        <p:nvSpPr>
          <p:cNvPr id="5" name="页脚占位符 4">
            <a:extLst>
              <a:ext uri="{FF2B5EF4-FFF2-40B4-BE49-F238E27FC236}">
                <a16:creationId xmlns:a16="http://schemas.microsoft.com/office/drawing/2014/main" id="{90D83D04-02A7-4BB8-8CDA-3BD664B6901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5A26B3C-1358-4D0A-94DF-CC72592BC229}"/>
              </a:ext>
            </a:extLst>
          </p:cNvPr>
          <p:cNvSpPr>
            <a:spLocks noGrp="1"/>
          </p:cNvSpPr>
          <p:nvPr>
            <p:ph type="sldNum" sz="quarter" idx="12"/>
          </p:nvPr>
        </p:nvSpPr>
        <p:spPr/>
        <p:txBody>
          <a:bodyPr/>
          <a:lstStyle/>
          <a:p>
            <a:fld id="{A1FB4DAE-0F3E-49E4-B5E1-9F92A668F247}" type="slidenum">
              <a:rPr lang="zh-CN" altLang="en-US" smtClean="0"/>
              <a:t>‹#›</a:t>
            </a:fld>
            <a:endParaRPr lang="zh-CN" altLang="en-US"/>
          </a:p>
        </p:txBody>
      </p:sp>
    </p:spTree>
    <p:extLst>
      <p:ext uri="{BB962C8B-B14F-4D97-AF65-F5344CB8AC3E}">
        <p14:creationId xmlns:p14="http://schemas.microsoft.com/office/powerpoint/2010/main" val="38960000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D9AB7D-DC4B-4391-AE0D-050387272392}"/>
              </a:ext>
            </a:extLst>
          </p:cNvPr>
          <p:cNvSpPr>
            <a:spLocks noGrp="1"/>
          </p:cNvSpPr>
          <p:nvPr>
            <p:ph type="title"/>
          </p:nvPr>
        </p:nvSpPr>
        <p:spPr>
          <a:xfrm>
            <a:off x="838200" y="365126"/>
            <a:ext cx="10515600" cy="597720"/>
          </a:xfrm>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D48DA88-5F1A-4D88-A10F-0763DF72AD11}"/>
              </a:ext>
            </a:extLst>
          </p:cNvPr>
          <p:cNvSpPr>
            <a:spLocks noGrp="1"/>
          </p:cNvSpPr>
          <p:nvPr>
            <p:ph idx="1"/>
          </p:nvPr>
        </p:nvSpPr>
        <p:spPr>
          <a:xfrm>
            <a:off x="838200" y="1096069"/>
            <a:ext cx="10515600" cy="5080894"/>
          </a:xfrm>
        </p:spPr>
        <p:txBody>
          <a:bodyPr>
            <a:normAutofit/>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C6620C7-2CBB-4F9A-AF7F-8FFB7AC2620C}"/>
              </a:ext>
            </a:extLst>
          </p:cNvPr>
          <p:cNvSpPr>
            <a:spLocks noGrp="1"/>
          </p:cNvSpPr>
          <p:nvPr>
            <p:ph type="dt" sz="half" idx="10"/>
          </p:nvPr>
        </p:nvSpPr>
        <p:spPr/>
        <p:txBody>
          <a:bodyPr/>
          <a:lstStyle/>
          <a:p>
            <a:fld id="{EE3CB9DE-A4CE-4CF5-B7AC-4A932A2C08EC}" type="datetimeFigureOut">
              <a:rPr lang="zh-CN" altLang="en-US" smtClean="0"/>
              <a:t>2024/11/6</a:t>
            </a:fld>
            <a:endParaRPr lang="zh-CN" altLang="en-US"/>
          </a:p>
        </p:txBody>
      </p:sp>
      <p:sp>
        <p:nvSpPr>
          <p:cNvPr id="5" name="页脚占位符 4">
            <a:extLst>
              <a:ext uri="{FF2B5EF4-FFF2-40B4-BE49-F238E27FC236}">
                <a16:creationId xmlns:a16="http://schemas.microsoft.com/office/drawing/2014/main" id="{29D5A154-049B-4E8D-B1E6-D5A881D9FB3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C1AFEE7-4E37-4A67-A4AE-70D12DFFFDAE}"/>
              </a:ext>
            </a:extLst>
          </p:cNvPr>
          <p:cNvSpPr>
            <a:spLocks noGrp="1"/>
          </p:cNvSpPr>
          <p:nvPr>
            <p:ph type="sldNum" sz="quarter" idx="12"/>
          </p:nvPr>
        </p:nvSpPr>
        <p:spPr/>
        <p:txBody>
          <a:bodyPr/>
          <a:lstStyle/>
          <a:p>
            <a:fld id="{A1FB4DAE-0F3E-49E4-B5E1-9F92A668F247}" type="slidenum">
              <a:rPr lang="zh-CN" altLang="en-US" smtClean="0"/>
              <a:t>‹#›</a:t>
            </a:fld>
            <a:endParaRPr lang="zh-CN" altLang="en-US"/>
          </a:p>
        </p:txBody>
      </p:sp>
    </p:spTree>
    <p:extLst>
      <p:ext uri="{BB962C8B-B14F-4D97-AF65-F5344CB8AC3E}">
        <p14:creationId xmlns:p14="http://schemas.microsoft.com/office/powerpoint/2010/main" val="1706657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61F4CB-9865-41ED-9917-1091252F60B9}"/>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44330D3A-A111-48BF-88E3-E937B689D77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8F16183F-328C-42E0-85C2-50CE54E8B398}"/>
              </a:ext>
            </a:extLst>
          </p:cNvPr>
          <p:cNvSpPr>
            <a:spLocks noGrp="1"/>
          </p:cNvSpPr>
          <p:nvPr>
            <p:ph type="dt" sz="half" idx="10"/>
          </p:nvPr>
        </p:nvSpPr>
        <p:spPr/>
        <p:txBody>
          <a:bodyPr/>
          <a:lstStyle/>
          <a:p>
            <a:fld id="{EE3CB9DE-A4CE-4CF5-B7AC-4A932A2C08EC}" type="datetimeFigureOut">
              <a:rPr lang="zh-CN" altLang="en-US" smtClean="0"/>
              <a:t>2024/11/6</a:t>
            </a:fld>
            <a:endParaRPr lang="zh-CN" altLang="en-US"/>
          </a:p>
        </p:txBody>
      </p:sp>
      <p:sp>
        <p:nvSpPr>
          <p:cNvPr id="5" name="页脚占位符 4">
            <a:extLst>
              <a:ext uri="{FF2B5EF4-FFF2-40B4-BE49-F238E27FC236}">
                <a16:creationId xmlns:a16="http://schemas.microsoft.com/office/drawing/2014/main" id="{4BB2CF2D-952E-464F-ACF7-0573660138D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E0F57AB-406D-43C2-9A32-BF540AC095B7}"/>
              </a:ext>
            </a:extLst>
          </p:cNvPr>
          <p:cNvSpPr>
            <a:spLocks noGrp="1"/>
          </p:cNvSpPr>
          <p:nvPr>
            <p:ph type="sldNum" sz="quarter" idx="12"/>
          </p:nvPr>
        </p:nvSpPr>
        <p:spPr/>
        <p:txBody>
          <a:bodyPr/>
          <a:lstStyle/>
          <a:p>
            <a:fld id="{A1FB4DAE-0F3E-49E4-B5E1-9F92A668F247}" type="slidenum">
              <a:rPr lang="zh-CN" altLang="en-US" smtClean="0"/>
              <a:t>‹#›</a:t>
            </a:fld>
            <a:endParaRPr lang="zh-CN" altLang="en-US"/>
          </a:p>
        </p:txBody>
      </p:sp>
    </p:spTree>
    <p:extLst>
      <p:ext uri="{BB962C8B-B14F-4D97-AF65-F5344CB8AC3E}">
        <p14:creationId xmlns:p14="http://schemas.microsoft.com/office/powerpoint/2010/main" val="3887535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2C99FA-CB91-4B09-863F-63334005FBB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E12B744-2428-4CF7-9FE7-3AA6C8BD0428}"/>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D446D06F-F2A7-4D18-A259-9B678F45661C}"/>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D745E66E-F0C8-42C3-9FBE-902DA1B26564}"/>
              </a:ext>
            </a:extLst>
          </p:cNvPr>
          <p:cNvSpPr>
            <a:spLocks noGrp="1"/>
          </p:cNvSpPr>
          <p:nvPr>
            <p:ph type="dt" sz="half" idx="10"/>
          </p:nvPr>
        </p:nvSpPr>
        <p:spPr/>
        <p:txBody>
          <a:bodyPr/>
          <a:lstStyle/>
          <a:p>
            <a:fld id="{EE3CB9DE-A4CE-4CF5-B7AC-4A932A2C08EC}" type="datetimeFigureOut">
              <a:rPr lang="zh-CN" altLang="en-US" smtClean="0"/>
              <a:t>2024/11/6</a:t>
            </a:fld>
            <a:endParaRPr lang="zh-CN" altLang="en-US"/>
          </a:p>
        </p:txBody>
      </p:sp>
      <p:sp>
        <p:nvSpPr>
          <p:cNvPr id="6" name="页脚占位符 5">
            <a:extLst>
              <a:ext uri="{FF2B5EF4-FFF2-40B4-BE49-F238E27FC236}">
                <a16:creationId xmlns:a16="http://schemas.microsoft.com/office/drawing/2014/main" id="{E079B466-E39B-43E1-B2F8-8E79E04B9D8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C045159-564B-4158-A2C8-B6530C861ED2}"/>
              </a:ext>
            </a:extLst>
          </p:cNvPr>
          <p:cNvSpPr>
            <a:spLocks noGrp="1"/>
          </p:cNvSpPr>
          <p:nvPr>
            <p:ph type="sldNum" sz="quarter" idx="12"/>
          </p:nvPr>
        </p:nvSpPr>
        <p:spPr/>
        <p:txBody>
          <a:bodyPr/>
          <a:lstStyle/>
          <a:p>
            <a:fld id="{A1FB4DAE-0F3E-49E4-B5E1-9F92A668F247}" type="slidenum">
              <a:rPr lang="zh-CN" altLang="en-US" smtClean="0"/>
              <a:t>‹#›</a:t>
            </a:fld>
            <a:endParaRPr lang="zh-CN" altLang="en-US"/>
          </a:p>
        </p:txBody>
      </p:sp>
    </p:spTree>
    <p:extLst>
      <p:ext uri="{BB962C8B-B14F-4D97-AF65-F5344CB8AC3E}">
        <p14:creationId xmlns:p14="http://schemas.microsoft.com/office/powerpoint/2010/main" val="37906261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E3FB15-53E7-44D0-9070-6342236BC9C0}"/>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6E7B694-611A-49E3-BE81-C382D198B60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5DE8536F-E014-4BB7-B6B7-0CB6A9BC6D68}"/>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B7CE2264-418C-4047-AE0A-B9FAB2FB76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2B4114B3-BFDB-45A5-9619-402985BFAA4F}"/>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9BFEA3CE-7BC8-4819-AFEE-0BFB7B847CC4}"/>
              </a:ext>
            </a:extLst>
          </p:cNvPr>
          <p:cNvSpPr>
            <a:spLocks noGrp="1"/>
          </p:cNvSpPr>
          <p:nvPr>
            <p:ph type="dt" sz="half" idx="10"/>
          </p:nvPr>
        </p:nvSpPr>
        <p:spPr/>
        <p:txBody>
          <a:bodyPr/>
          <a:lstStyle/>
          <a:p>
            <a:fld id="{EE3CB9DE-A4CE-4CF5-B7AC-4A932A2C08EC}" type="datetimeFigureOut">
              <a:rPr lang="zh-CN" altLang="en-US" smtClean="0"/>
              <a:t>2024/11/6</a:t>
            </a:fld>
            <a:endParaRPr lang="zh-CN" altLang="en-US"/>
          </a:p>
        </p:txBody>
      </p:sp>
      <p:sp>
        <p:nvSpPr>
          <p:cNvPr id="8" name="页脚占位符 7">
            <a:extLst>
              <a:ext uri="{FF2B5EF4-FFF2-40B4-BE49-F238E27FC236}">
                <a16:creationId xmlns:a16="http://schemas.microsoft.com/office/drawing/2014/main" id="{EC115F62-2068-47C8-8753-7D5B385A337A}"/>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72C6CB00-132D-41F1-8DAD-7299D3C56B1C}"/>
              </a:ext>
            </a:extLst>
          </p:cNvPr>
          <p:cNvSpPr>
            <a:spLocks noGrp="1"/>
          </p:cNvSpPr>
          <p:nvPr>
            <p:ph type="sldNum" sz="quarter" idx="12"/>
          </p:nvPr>
        </p:nvSpPr>
        <p:spPr/>
        <p:txBody>
          <a:bodyPr/>
          <a:lstStyle/>
          <a:p>
            <a:fld id="{A1FB4DAE-0F3E-49E4-B5E1-9F92A668F247}" type="slidenum">
              <a:rPr lang="zh-CN" altLang="en-US" smtClean="0"/>
              <a:t>‹#›</a:t>
            </a:fld>
            <a:endParaRPr lang="zh-CN" altLang="en-US"/>
          </a:p>
        </p:txBody>
      </p:sp>
    </p:spTree>
    <p:extLst>
      <p:ext uri="{BB962C8B-B14F-4D97-AF65-F5344CB8AC3E}">
        <p14:creationId xmlns:p14="http://schemas.microsoft.com/office/powerpoint/2010/main" val="32501764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BC289D-8CB3-403E-AAC9-CE568450C03A}"/>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35283D9-AB37-4AE2-A6CA-47552841FFD3}"/>
              </a:ext>
            </a:extLst>
          </p:cNvPr>
          <p:cNvSpPr>
            <a:spLocks noGrp="1"/>
          </p:cNvSpPr>
          <p:nvPr>
            <p:ph type="dt" sz="half" idx="10"/>
          </p:nvPr>
        </p:nvSpPr>
        <p:spPr/>
        <p:txBody>
          <a:bodyPr/>
          <a:lstStyle/>
          <a:p>
            <a:fld id="{EE3CB9DE-A4CE-4CF5-B7AC-4A932A2C08EC}" type="datetimeFigureOut">
              <a:rPr lang="zh-CN" altLang="en-US" smtClean="0"/>
              <a:t>2024/11/6</a:t>
            </a:fld>
            <a:endParaRPr lang="zh-CN" altLang="en-US"/>
          </a:p>
        </p:txBody>
      </p:sp>
      <p:sp>
        <p:nvSpPr>
          <p:cNvPr id="4" name="页脚占位符 3">
            <a:extLst>
              <a:ext uri="{FF2B5EF4-FFF2-40B4-BE49-F238E27FC236}">
                <a16:creationId xmlns:a16="http://schemas.microsoft.com/office/drawing/2014/main" id="{A29E63A0-7B5A-4FD4-9F4C-2EBB9D4106E6}"/>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D147B981-4722-4856-A57C-FA35B9BB50AA}"/>
              </a:ext>
            </a:extLst>
          </p:cNvPr>
          <p:cNvSpPr>
            <a:spLocks noGrp="1"/>
          </p:cNvSpPr>
          <p:nvPr>
            <p:ph type="sldNum" sz="quarter" idx="12"/>
          </p:nvPr>
        </p:nvSpPr>
        <p:spPr/>
        <p:txBody>
          <a:bodyPr/>
          <a:lstStyle/>
          <a:p>
            <a:fld id="{A1FB4DAE-0F3E-49E4-B5E1-9F92A668F247}" type="slidenum">
              <a:rPr lang="zh-CN" altLang="en-US" smtClean="0"/>
              <a:t>‹#›</a:t>
            </a:fld>
            <a:endParaRPr lang="zh-CN" altLang="en-US"/>
          </a:p>
        </p:txBody>
      </p:sp>
    </p:spTree>
    <p:extLst>
      <p:ext uri="{BB962C8B-B14F-4D97-AF65-F5344CB8AC3E}">
        <p14:creationId xmlns:p14="http://schemas.microsoft.com/office/powerpoint/2010/main" val="34913005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9803F5B-AC40-4841-8C02-C7D2852E6FB7}"/>
              </a:ext>
            </a:extLst>
          </p:cNvPr>
          <p:cNvSpPr>
            <a:spLocks noGrp="1"/>
          </p:cNvSpPr>
          <p:nvPr>
            <p:ph type="dt" sz="half" idx="10"/>
          </p:nvPr>
        </p:nvSpPr>
        <p:spPr/>
        <p:txBody>
          <a:bodyPr/>
          <a:lstStyle/>
          <a:p>
            <a:fld id="{EE3CB9DE-A4CE-4CF5-B7AC-4A932A2C08EC}" type="datetimeFigureOut">
              <a:rPr lang="zh-CN" altLang="en-US" smtClean="0"/>
              <a:t>2024/11/6</a:t>
            </a:fld>
            <a:endParaRPr lang="zh-CN" altLang="en-US"/>
          </a:p>
        </p:txBody>
      </p:sp>
      <p:sp>
        <p:nvSpPr>
          <p:cNvPr id="3" name="页脚占位符 2">
            <a:extLst>
              <a:ext uri="{FF2B5EF4-FFF2-40B4-BE49-F238E27FC236}">
                <a16:creationId xmlns:a16="http://schemas.microsoft.com/office/drawing/2014/main" id="{CAB87A62-BF0C-4D01-B7BC-2266A4F61CAA}"/>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E226C2E1-BE6E-43AC-BC3C-916FF0FBE66C}"/>
              </a:ext>
            </a:extLst>
          </p:cNvPr>
          <p:cNvSpPr>
            <a:spLocks noGrp="1"/>
          </p:cNvSpPr>
          <p:nvPr>
            <p:ph type="sldNum" sz="quarter" idx="12"/>
          </p:nvPr>
        </p:nvSpPr>
        <p:spPr/>
        <p:txBody>
          <a:bodyPr/>
          <a:lstStyle/>
          <a:p>
            <a:fld id="{A1FB4DAE-0F3E-49E4-B5E1-9F92A668F247}" type="slidenum">
              <a:rPr lang="zh-CN" altLang="en-US" smtClean="0"/>
              <a:t>‹#›</a:t>
            </a:fld>
            <a:endParaRPr lang="zh-CN" altLang="en-US"/>
          </a:p>
        </p:txBody>
      </p:sp>
    </p:spTree>
    <p:extLst>
      <p:ext uri="{BB962C8B-B14F-4D97-AF65-F5344CB8AC3E}">
        <p14:creationId xmlns:p14="http://schemas.microsoft.com/office/powerpoint/2010/main" val="22985969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C85866-63BC-44DE-9188-AAC716D4A2C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4474E88F-3A90-4C93-B811-3FD951730E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2C88E7B4-4BCC-4437-ACB6-40A22D2C27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1729DE17-FA06-4116-B014-0DE730ADF096}"/>
              </a:ext>
            </a:extLst>
          </p:cNvPr>
          <p:cNvSpPr>
            <a:spLocks noGrp="1"/>
          </p:cNvSpPr>
          <p:nvPr>
            <p:ph type="dt" sz="half" idx="10"/>
          </p:nvPr>
        </p:nvSpPr>
        <p:spPr/>
        <p:txBody>
          <a:bodyPr/>
          <a:lstStyle/>
          <a:p>
            <a:fld id="{EE3CB9DE-A4CE-4CF5-B7AC-4A932A2C08EC}" type="datetimeFigureOut">
              <a:rPr lang="zh-CN" altLang="en-US" smtClean="0"/>
              <a:t>2024/11/6</a:t>
            </a:fld>
            <a:endParaRPr lang="zh-CN" altLang="en-US"/>
          </a:p>
        </p:txBody>
      </p:sp>
      <p:sp>
        <p:nvSpPr>
          <p:cNvPr id="6" name="页脚占位符 5">
            <a:extLst>
              <a:ext uri="{FF2B5EF4-FFF2-40B4-BE49-F238E27FC236}">
                <a16:creationId xmlns:a16="http://schemas.microsoft.com/office/drawing/2014/main" id="{8A87D0EA-2790-43D3-AB98-CAC857DBE66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E297FF2-8E5C-43CF-9280-55CAF44FE59B}"/>
              </a:ext>
            </a:extLst>
          </p:cNvPr>
          <p:cNvSpPr>
            <a:spLocks noGrp="1"/>
          </p:cNvSpPr>
          <p:nvPr>
            <p:ph type="sldNum" sz="quarter" idx="12"/>
          </p:nvPr>
        </p:nvSpPr>
        <p:spPr/>
        <p:txBody>
          <a:bodyPr/>
          <a:lstStyle/>
          <a:p>
            <a:fld id="{A1FB4DAE-0F3E-49E4-B5E1-9F92A668F247}" type="slidenum">
              <a:rPr lang="zh-CN" altLang="en-US" smtClean="0"/>
              <a:t>‹#›</a:t>
            </a:fld>
            <a:endParaRPr lang="zh-CN" altLang="en-US"/>
          </a:p>
        </p:txBody>
      </p:sp>
    </p:spTree>
    <p:extLst>
      <p:ext uri="{BB962C8B-B14F-4D97-AF65-F5344CB8AC3E}">
        <p14:creationId xmlns:p14="http://schemas.microsoft.com/office/powerpoint/2010/main" val="33424990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9B7A88-7ECE-4618-BDE5-3875BC39B3F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0A449F1-21C6-4855-A143-091DF90EFD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2BCF0AAC-EB93-456C-AAE6-4BA62F1646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DC678AF3-FB81-4CFD-B851-713100498E82}"/>
              </a:ext>
            </a:extLst>
          </p:cNvPr>
          <p:cNvSpPr>
            <a:spLocks noGrp="1"/>
          </p:cNvSpPr>
          <p:nvPr>
            <p:ph type="dt" sz="half" idx="10"/>
          </p:nvPr>
        </p:nvSpPr>
        <p:spPr/>
        <p:txBody>
          <a:bodyPr/>
          <a:lstStyle/>
          <a:p>
            <a:fld id="{EE3CB9DE-A4CE-4CF5-B7AC-4A932A2C08EC}" type="datetimeFigureOut">
              <a:rPr lang="zh-CN" altLang="en-US" smtClean="0"/>
              <a:t>2024/11/6</a:t>
            </a:fld>
            <a:endParaRPr lang="zh-CN" altLang="en-US"/>
          </a:p>
        </p:txBody>
      </p:sp>
      <p:sp>
        <p:nvSpPr>
          <p:cNvPr id="6" name="页脚占位符 5">
            <a:extLst>
              <a:ext uri="{FF2B5EF4-FFF2-40B4-BE49-F238E27FC236}">
                <a16:creationId xmlns:a16="http://schemas.microsoft.com/office/drawing/2014/main" id="{74004D81-E96C-4727-9E3D-03DCEB32A9E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018DBA3-F8F7-4EDC-A7E9-11E52256D98E}"/>
              </a:ext>
            </a:extLst>
          </p:cNvPr>
          <p:cNvSpPr>
            <a:spLocks noGrp="1"/>
          </p:cNvSpPr>
          <p:nvPr>
            <p:ph type="sldNum" sz="quarter" idx="12"/>
          </p:nvPr>
        </p:nvSpPr>
        <p:spPr/>
        <p:txBody>
          <a:bodyPr/>
          <a:lstStyle/>
          <a:p>
            <a:fld id="{A1FB4DAE-0F3E-49E4-B5E1-9F92A668F247}" type="slidenum">
              <a:rPr lang="zh-CN" altLang="en-US" smtClean="0"/>
              <a:t>‹#›</a:t>
            </a:fld>
            <a:endParaRPr lang="zh-CN" altLang="en-US"/>
          </a:p>
        </p:txBody>
      </p:sp>
    </p:spTree>
    <p:extLst>
      <p:ext uri="{BB962C8B-B14F-4D97-AF65-F5344CB8AC3E}">
        <p14:creationId xmlns:p14="http://schemas.microsoft.com/office/powerpoint/2010/main" val="34238423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106141-AE83-42BA-AA4C-5C292346BCBB}"/>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9856D1E2-8E7B-4343-8953-DB43CC1B11B1}"/>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81ED9F55-D2AA-4B59-B8EC-1516BEA27AA4}"/>
              </a:ext>
            </a:extLst>
          </p:cNvPr>
          <p:cNvSpPr>
            <a:spLocks noGrp="1"/>
          </p:cNvSpPr>
          <p:nvPr>
            <p:ph type="dt" sz="half" idx="10"/>
          </p:nvPr>
        </p:nvSpPr>
        <p:spPr/>
        <p:txBody>
          <a:bodyPr/>
          <a:lstStyle/>
          <a:p>
            <a:fld id="{EE3CB9DE-A4CE-4CF5-B7AC-4A932A2C08EC}" type="datetimeFigureOut">
              <a:rPr lang="zh-CN" altLang="en-US" smtClean="0"/>
              <a:t>2024/11/6</a:t>
            </a:fld>
            <a:endParaRPr lang="zh-CN" altLang="en-US"/>
          </a:p>
        </p:txBody>
      </p:sp>
      <p:sp>
        <p:nvSpPr>
          <p:cNvPr id="5" name="页脚占位符 4">
            <a:extLst>
              <a:ext uri="{FF2B5EF4-FFF2-40B4-BE49-F238E27FC236}">
                <a16:creationId xmlns:a16="http://schemas.microsoft.com/office/drawing/2014/main" id="{E875E8E2-4C4C-42EA-A4CE-F200C112C78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0D9612D-E8E2-49A1-A071-BB708E25AEED}"/>
              </a:ext>
            </a:extLst>
          </p:cNvPr>
          <p:cNvSpPr>
            <a:spLocks noGrp="1"/>
          </p:cNvSpPr>
          <p:nvPr>
            <p:ph type="sldNum" sz="quarter" idx="12"/>
          </p:nvPr>
        </p:nvSpPr>
        <p:spPr/>
        <p:txBody>
          <a:bodyPr/>
          <a:lstStyle/>
          <a:p>
            <a:fld id="{A1FB4DAE-0F3E-49E4-B5E1-9F92A668F247}" type="slidenum">
              <a:rPr lang="zh-CN" altLang="en-US" smtClean="0"/>
              <a:t>‹#›</a:t>
            </a:fld>
            <a:endParaRPr lang="zh-CN" altLang="en-US"/>
          </a:p>
        </p:txBody>
      </p:sp>
    </p:spTree>
    <p:extLst>
      <p:ext uri="{BB962C8B-B14F-4D97-AF65-F5344CB8AC3E}">
        <p14:creationId xmlns:p14="http://schemas.microsoft.com/office/powerpoint/2010/main" val="40197789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28F133F-33D8-4D26-AC36-C6656ADB2D62}"/>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A2BA62F1-287C-4992-8BC4-EBFF864F629C}"/>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9E62B4A5-9304-43EA-BE7C-DC7E266321D7}"/>
              </a:ext>
            </a:extLst>
          </p:cNvPr>
          <p:cNvSpPr>
            <a:spLocks noGrp="1"/>
          </p:cNvSpPr>
          <p:nvPr>
            <p:ph type="dt" sz="half" idx="10"/>
          </p:nvPr>
        </p:nvSpPr>
        <p:spPr/>
        <p:txBody>
          <a:bodyPr/>
          <a:lstStyle/>
          <a:p>
            <a:fld id="{EE3CB9DE-A4CE-4CF5-B7AC-4A932A2C08EC}" type="datetimeFigureOut">
              <a:rPr lang="zh-CN" altLang="en-US" smtClean="0"/>
              <a:t>2024/11/6</a:t>
            </a:fld>
            <a:endParaRPr lang="zh-CN" altLang="en-US"/>
          </a:p>
        </p:txBody>
      </p:sp>
      <p:sp>
        <p:nvSpPr>
          <p:cNvPr id="5" name="页脚占位符 4">
            <a:extLst>
              <a:ext uri="{FF2B5EF4-FFF2-40B4-BE49-F238E27FC236}">
                <a16:creationId xmlns:a16="http://schemas.microsoft.com/office/drawing/2014/main" id="{86DF0D29-B8E4-45F3-BBC1-F3BFA4E1E69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B75C7BA-9012-43CD-BCE2-CB0791497A11}"/>
              </a:ext>
            </a:extLst>
          </p:cNvPr>
          <p:cNvSpPr>
            <a:spLocks noGrp="1"/>
          </p:cNvSpPr>
          <p:nvPr>
            <p:ph type="sldNum" sz="quarter" idx="12"/>
          </p:nvPr>
        </p:nvSpPr>
        <p:spPr/>
        <p:txBody>
          <a:bodyPr/>
          <a:lstStyle/>
          <a:p>
            <a:fld id="{A1FB4DAE-0F3E-49E4-B5E1-9F92A668F247}" type="slidenum">
              <a:rPr lang="zh-CN" altLang="en-US" smtClean="0"/>
              <a:t>‹#›</a:t>
            </a:fld>
            <a:endParaRPr lang="zh-CN" altLang="en-US"/>
          </a:p>
        </p:txBody>
      </p:sp>
    </p:spTree>
    <p:extLst>
      <p:ext uri="{BB962C8B-B14F-4D97-AF65-F5344CB8AC3E}">
        <p14:creationId xmlns:p14="http://schemas.microsoft.com/office/powerpoint/2010/main" val="2446400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3811D461-20F2-4DD3-B302-96FF8103D5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3BFB92FB-5C14-4558-84C8-4CB4076DEF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014D9EB8-48CC-4DD0-9174-70FF03DEF8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3CB9DE-A4CE-4CF5-B7AC-4A932A2C08EC}" type="datetimeFigureOut">
              <a:rPr lang="zh-CN" altLang="en-US" smtClean="0"/>
              <a:t>2024/11/6</a:t>
            </a:fld>
            <a:endParaRPr lang="zh-CN" altLang="en-US"/>
          </a:p>
        </p:txBody>
      </p:sp>
      <p:sp>
        <p:nvSpPr>
          <p:cNvPr id="5" name="页脚占位符 4">
            <a:extLst>
              <a:ext uri="{FF2B5EF4-FFF2-40B4-BE49-F238E27FC236}">
                <a16:creationId xmlns:a16="http://schemas.microsoft.com/office/drawing/2014/main" id="{95BBA2CB-BBA9-454A-B256-4BE39FBDC5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9AB2AD71-6E7E-4837-9D3F-112B1461640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FB4DAE-0F3E-49E4-B5E1-9F92A668F247}" type="slidenum">
              <a:rPr lang="zh-CN" altLang="en-US" smtClean="0"/>
              <a:t>‹#›</a:t>
            </a:fld>
            <a:endParaRPr lang="zh-CN" altLang="en-US"/>
          </a:p>
        </p:txBody>
      </p:sp>
    </p:spTree>
    <p:extLst>
      <p:ext uri="{BB962C8B-B14F-4D97-AF65-F5344CB8AC3E}">
        <p14:creationId xmlns:p14="http://schemas.microsoft.com/office/powerpoint/2010/main" val="10887487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35B915-ED34-473B-BCD3-D2BC37EC7FAA}"/>
              </a:ext>
            </a:extLst>
          </p:cNvPr>
          <p:cNvSpPr>
            <a:spLocks noGrp="1"/>
          </p:cNvSpPr>
          <p:nvPr>
            <p:ph type="title"/>
          </p:nvPr>
        </p:nvSpPr>
        <p:spPr/>
        <p:txBody>
          <a:bodyPr>
            <a:normAutofit fontScale="90000"/>
          </a:bodyPr>
          <a:lstStyle/>
          <a:p>
            <a:r>
              <a:rPr lang="en-US" altLang="zh-CN" dirty="0"/>
              <a:t>2-1</a:t>
            </a:r>
            <a:endParaRPr lang="zh-CN" altLang="en-US" dirty="0"/>
          </a:p>
        </p:txBody>
      </p:sp>
      <mc:AlternateContent xmlns:mc="http://schemas.openxmlformats.org/markup-compatibility/2006" xmlns:a14="http://schemas.microsoft.com/office/drawing/2010/main">
        <mc:Choice Requires="a14">
          <p:sp>
            <p:nvSpPr>
              <p:cNvPr id="3" name="副标题 2">
                <a:extLst>
                  <a:ext uri="{FF2B5EF4-FFF2-40B4-BE49-F238E27FC236}">
                    <a16:creationId xmlns:a16="http://schemas.microsoft.com/office/drawing/2014/main" id="{5D62E379-1341-4B98-940A-221608CF6262}"/>
                  </a:ext>
                </a:extLst>
              </p:cNvPr>
              <p:cNvSpPr>
                <a:spLocks noGrp="1"/>
              </p:cNvSpPr>
              <p:nvPr>
                <p:ph idx="1"/>
              </p:nvPr>
            </p:nvSpPr>
            <p:spPr/>
            <p:txBody>
              <a:bodyPr>
                <a:normAutofit/>
              </a:bodyPr>
              <a:lstStyle/>
              <a:p>
                <a:r>
                  <a:rPr lang="en-US" altLang="zh-CN" dirty="0"/>
                  <a:t>How much bandwidth is there in 0.1 microns of spectrum at a wavelength of 1 micron? </a:t>
                </a:r>
              </a:p>
              <a:p>
                <a:endParaRPr lang="zh-CN" altLang="zh-CN" dirty="0"/>
              </a:p>
              <a:p>
                <a:r>
                  <a:rPr lang="en-US" altLang="zh-CN" dirty="0">
                    <a:solidFill>
                      <a:srgbClr val="0000FF"/>
                    </a:solidFill>
                  </a:rPr>
                  <a:t>Use Eq. (2-1) to convert wavelengths of 1 micron plus/minus 0.05 microns to frequency. </a:t>
                </a:r>
              </a:p>
              <a:p>
                <a:r>
                  <a:rPr lang="en-US" altLang="zh-CN" dirty="0">
                    <a:solidFill>
                      <a:srgbClr val="0000FF"/>
                    </a:solidFill>
                  </a:rPr>
                  <a:t>We have </a:t>
                </a:r>
                <a14:m>
                  <m:oMath xmlns:m="http://schemas.openxmlformats.org/officeDocument/2006/math">
                    <m:sSub>
                      <m:sSubPr>
                        <m:ctrlPr>
                          <a:rPr lang="zh-CN" altLang="zh-CN" i="1">
                            <a:solidFill>
                              <a:srgbClr val="0000FF"/>
                            </a:solidFill>
                            <a:latin typeface="Cambria Math" panose="02040503050406030204" pitchFamily="18" charset="0"/>
                          </a:rPr>
                        </m:ctrlPr>
                      </m:sSubPr>
                      <m:e>
                        <m:r>
                          <a:rPr lang="en-US" altLang="zh-CN" i="1">
                            <a:solidFill>
                              <a:srgbClr val="0000FF"/>
                            </a:solidFill>
                            <a:latin typeface="Cambria Math" panose="02040503050406030204" pitchFamily="18" charset="0"/>
                          </a:rPr>
                          <m:t>𝑓</m:t>
                        </m:r>
                      </m:e>
                      <m:sub>
                        <m:r>
                          <a:rPr lang="en-US" altLang="zh-CN" i="1">
                            <a:solidFill>
                              <a:srgbClr val="0000FF"/>
                            </a:solidFill>
                            <a:latin typeface="Cambria Math" panose="02040503050406030204" pitchFamily="18" charset="0"/>
                          </a:rPr>
                          <m:t>𝑙𝑜𝑤</m:t>
                        </m:r>
                      </m:sub>
                    </m:sSub>
                    <m:r>
                      <a:rPr lang="en-US" altLang="zh-CN" i="1">
                        <a:solidFill>
                          <a:srgbClr val="0000FF"/>
                        </a:solidFill>
                        <a:latin typeface="Cambria Math" panose="02040503050406030204" pitchFamily="18" charset="0"/>
                      </a:rPr>
                      <m:t> = 3 × </m:t>
                    </m:r>
                    <m:sSup>
                      <m:sSupPr>
                        <m:ctrlPr>
                          <a:rPr lang="zh-CN" altLang="zh-CN" i="1">
                            <a:solidFill>
                              <a:srgbClr val="0000FF"/>
                            </a:solidFill>
                            <a:latin typeface="Cambria Math" panose="02040503050406030204" pitchFamily="18" charset="0"/>
                          </a:rPr>
                        </m:ctrlPr>
                      </m:sSupPr>
                      <m:e>
                        <m:r>
                          <a:rPr lang="en-US" altLang="zh-CN" i="1">
                            <a:solidFill>
                              <a:srgbClr val="0000FF"/>
                            </a:solidFill>
                            <a:latin typeface="Cambria Math" panose="02040503050406030204" pitchFamily="18" charset="0"/>
                          </a:rPr>
                          <m:t>10</m:t>
                        </m:r>
                      </m:e>
                      <m:sup>
                        <m:r>
                          <a:rPr lang="en-US" altLang="zh-CN" i="1">
                            <a:solidFill>
                              <a:srgbClr val="0000FF"/>
                            </a:solidFill>
                            <a:latin typeface="Cambria Math" panose="02040503050406030204" pitchFamily="18" charset="0"/>
                          </a:rPr>
                          <m:t>8</m:t>
                        </m:r>
                      </m:sup>
                    </m:sSup>
                    <m:r>
                      <a:rPr lang="en-US" altLang="zh-CN" i="1">
                        <a:solidFill>
                          <a:srgbClr val="0000FF"/>
                        </a:solidFill>
                        <a:latin typeface="Cambria Math" panose="02040503050406030204" pitchFamily="18" charset="0"/>
                      </a:rPr>
                      <m:t>/</m:t>
                    </m:r>
                    <m:d>
                      <m:dPr>
                        <m:ctrlPr>
                          <a:rPr lang="zh-CN" altLang="zh-CN" i="1">
                            <a:solidFill>
                              <a:srgbClr val="0000FF"/>
                            </a:solidFill>
                            <a:latin typeface="Cambria Math" panose="02040503050406030204" pitchFamily="18" charset="0"/>
                          </a:rPr>
                        </m:ctrlPr>
                      </m:dPr>
                      <m:e>
                        <m:r>
                          <a:rPr lang="en-US" altLang="zh-CN" i="1">
                            <a:solidFill>
                              <a:srgbClr val="0000FF"/>
                            </a:solidFill>
                            <a:latin typeface="Cambria Math" panose="02040503050406030204" pitchFamily="18" charset="0"/>
                          </a:rPr>
                          <m:t>1. 05 × </m:t>
                        </m:r>
                        <m:sSup>
                          <m:sSupPr>
                            <m:ctrlPr>
                              <a:rPr lang="zh-CN" altLang="zh-CN" i="1">
                                <a:solidFill>
                                  <a:srgbClr val="0000FF"/>
                                </a:solidFill>
                                <a:latin typeface="Cambria Math" panose="02040503050406030204" pitchFamily="18" charset="0"/>
                              </a:rPr>
                            </m:ctrlPr>
                          </m:sSupPr>
                          <m:e>
                            <m:r>
                              <a:rPr lang="en-US" altLang="zh-CN" i="1">
                                <a:solidFill>
                                  <a:srgbClr val="0000FF"/>
                                </a:solidFill>
                                <a:latin typeface="Cambria Math" panose="02040503050406030204" pitchFamily="18" charset="0"/>
                              </a:rPr>
                              <m:t>10</m:t>
                            </m:r>
                          </m:e>
                          <m:sup>
                            <m:r>
                              <a:rPr lang="en-US" altLang="zh-CN" i="1">
                                <a:solidFill>
                                  <a:srgbClr val="0000FF"/>
                                </a:solidFill>
                                <a:latin typeface="Cambria Math" panose="02040503050406030204" pitchFamily="18" charset="0"/>
                              </a:rPr>
                              <m:t>−6</m:t>
                            </m:r>
                          </m:sup>
                        </m:sSup>
                        <m:r>
                          <a:rPr lang="en-US" altLang="zh-CN" i="1">
                            <a:solidFill>
                              <a:srgbClr val="0000FF"/>
                            </a:solidFill>
                            <a:latin typeface="Cambria Math" panose="02040503050406030204" pitchFamily="18" charset="0"/>
                          </a:rPr>
                          <m:t> </m:t>
                        </m:r>
                      </m:e>
                    </m:d>
                    <m:r>
                      <a:rPr lang="en-US" altLang="zh-CN" i="1">
                        <a:solidFill>
                          <a:srgbClr val="0000FF"/>
                        </a:solidFill>
                        <a:latin typeface="Cambria Math" panose="02040503050406030204" pitchFamily="18" charset="0"/>
                      </a:rPr>
                      <m:t>=3/1.05× </m:t>
                    </m:r>
                    <m:sSup>
                      <m:sSupPr>
                        <m:ctrlPr>
                          <a:rPr lang="zh-CN" altLang="zh-CN" i="1">
                            <a:solidFill>
                              <a:srgbClr val="0000FF"/>
                            </a:solidFill>
                            <a:latin typeface="Cambria Math" panose="02040503050406030204" pitchFamily="18" charset="0"/>
                          </a:rPr>
                        </m:ctrlPr>
                      </m:sSupPr>
                      <m:e>
                        <m:r>
                          <a:rPr lang="en-US" altLang="zh-CN" i="1">
                            <a:solidFill>
                              <a:srgbClr val="0000FF"/>
                            </a:solidFill>
                            <a:latin typeface="Cambria Math" panose="02040503050406030204" pitchFamily="18" charset="0"/>
                          </a:rPr>
                          <m:t>10</m:t>
                        </m:r>
                      </m:e>
                      <m:sup>
                        <m:r>
                          <a:rPr lang="en-US" altLang="zh-CN" i="1">
                            <a:solidFill>
                              <a:srgbClr val="0000FF"/>
                            </a:solidFill>
                            <a:latin typeface="Cambria Math" panose="02040503050406030204" pitchFamily="18" charset="0"/>
                          </a:rPr>
                          <m:t>14</m:t>
                        </m:r>
                      </m:sup>
                    </m:sSup>
                  </m:oMath>
                </a14:m>
                <a:r>
                  <a:rPr lang="en-US" altLang="zh-CN" dirty="0">
                    <a:solidFill>
                      <a:srgbClr val="0000FF"/>
                    </a:solidFill>
                  </a:rPr>
                  <a:t>. </a:t>
                </a:r>
              </a:p>
              <a:p>
                <a:r>
                  <a:rPr lang="en-US" altLang="zh-CN" dirty="0">
                    <a:solidFill>
                      <a:srgbClr val="0000FF"/>
                    </a:solidFill>
                  </a:rPr>
                  <a:t>Similarly </a:t>
                </a:r>
                <a14:m>
                  <m:oMath xmlns:m="http://schemas.openxmlformats.org/officeDocument/2006/math">
                    <m:sSub>
                      <m:sSubPr>
                        <m:ctrlPr>
                          <a:rPr lang="zh-CN" altLang="zh-CN" i="1">
                            <a:solidFill>
                              <a:srgbClr val="0000FF"/>
                            </a:solidFill>
                            <a:latin typeface="Cambria Math" panose="02040503050406030204" pitchFamily="18" charset="0"/>
                          </a:rPr>
                        </m:ctrlPr>
                      </m:sSubPr>
                      <m:e>
                        <m:r>
                          <a:rPr lang="en-US" altLang="zh-CN" i="1">
                            <a:solidFill>
                              <a:srgbClr val="0000FF"/>
                            </a:solidFill>
                            <a:latin typeface="Cambria Math" panose="02040503050406030204" pitchFamily="18" charset="0"/>
                          </a:rPr>
                          <m:t>𝑓</m:t>
                        </m:r>
                      </m:e>
                      <m:sub>
                        <m:r>
                          <a:rPr lang="en-US" altLang="zh-CN" i="1">
                            <a:solidFill>
                              <a:srgbClr val="0000FF"/>
                            </a:solidFill>
                            <a:latin typeface="Cambria Math" panose="02040503050406030204" pitchFamily="18" charset="0"/>
                          </a:rPr>
                          <m:t>h𝑖𝑔h</m:t>
                        </m:r>
                      </m:sub>
                    </m:sSub>
                    <m:r>
                      <a:rPr lang="en-US" altLang="zh-CN" i="1">
                        <a:solidFill>
                          <a:srgbClr val="0000FF"/>
                        </a:solidFill>
                        <a:latin typeface="Cambria Math" panose="02040503050406030204" pitchFamily="18" charset="0"/>
                      </a:rPr>
                      <m:t> = 3/0.95 × </m:t>
                    </m:r>
                    <m:sSup>
                      <m:sSupPr>
                        <m:ctrlPr>
                          <a:rPr lang="zh-CN" altLang="zh-CN" i="1">
                            <a:solidFill>
                              <a:srgbClr val="0000FF"/>
                            </a:solidFill>
                            <a:latin typeface="Cambria Math" panose="02040503050406030204" pitchFamily="18" charset="0"/>
                          </a:rPr>
                        </m:ctrlPr>
                      </m:sSupPr>
                      <m:e>
                        <m:r>
                          <a:rPr lang="en-US" altLang="zh-CN" i="1">
                            <a:solidFill>
                              <a:srgbClr val="0000FF"/>
                            </a:solidFill>
                            <a:latin typeface="Cambria Math" panose="02040503050406030204" pitchFamily="18" charset="0"/>
                          </a:rPr>
                          <m:t>10</m:t>
                        </m:r>
                      </m:e>
                      <m:sup>
                        <m:r>
                          <a:rPr lang="en-US" altLang="zh-CN" i="1">
                            <a:solidFill>
                              <a:srgbClr val="0000FF"/>
                            </a:solidFill>
                            <a:latin typeface="Cambria Math" panose="02040503050406030204" pitchFamily="18" charset="0"/>
                          </a:rPr>
                          <m:t>14</m:t>
                        </m:r>
                      </m:sup>
                    </m:sSup>
                  </m:oMath>
                </a14:m>
                <a:r>
                  <a:rPr lang="en-US" altLang="zh-CN" dirty="0">
                    <a:solidFill>
                      <a:srgbClr val="0000FF"/>
                    </a:solidFill>
                  </a:rPr>
                  <a:t>. </a:t>
                </a:r>
              </a:p>
              <a:p>
                <a:r>
                  <a:rPr lang="en-US" altLang="zh-CN" dirty="0">
                    <a:solidFill>
                      <a:srgbClr val="0000FF"/>
                    </a:solidFill>
                  </a:rPr>
                  <a:t>Thus </a:t>
                </a:r>
                <a14:m>
                  <m:oMath xmlns:m="http://schemas.openxmlformats.org/officeDocument/2006/math">
                    <m:r>
                      <m:rPr>
                        <m:sty m:val="p"/>
                      </m:rPr>
                      <a:rPr lang="en-US" altLang="zh-CN">
                        <a:solidFill>
                          <a:srgbClr val="0000FF"/>
                        </a:solidFill>
                        <a:latin typeface="Cambria Math" panose="02040503050406030204" pitchFamily="18" charset="0"/>
                      </a:rPr>
                      <m:t>Δ</m:t>
                    </m:r>
                    <m:r>
                      <a:rPr lang="en-US" altLang="zh-CN" i="1">
                        <a:solidFill>
                          <a:srgbClr val="0000FF"/>
                        </a:solidFill>
                        <a:latin typeface="Cambria Math" panose="02040503050406030204" pitchFamily="18" charset="0"/>
                      </a:rPr>
                      <m:t>𝑓</m:t>
                    </m:r>
                    <m:r>
                      <a:rPr lang="en-US" altLang="zh-CN" i="1">
                        <a:solidFill>
                          <a:srgbClr val="0000FF"/>
                        </a:solidFill>
                        <a:latin typeface="Cambria Math" panose="02040503050406030204" pitchFamily="18" charset="0"/>
                      </a:rPr>
                      <m:t> = (3/0.95− 3/1.05) × </m:t>
                    </m:r>
                    <m:sSup>
                      <m:sSupPr>
                        <m:ctrlPr>
                          <a:rPr lang="zh-CN" altLang="zh-CN" i="1">
                            <a:solidFill>
                              <a:srgbClr val="0000FF"/>
                            </a:solidFill>
                            <a:latin typeface="Cambria Math" panose="02040503050406030204" pitchFamily="18" charset="0"/>
                          </a:rPr>
                        </m:ctrlPr>
                      </m:sSupPr>
                      <m:e>
                        <m:r>
                          <a:rPr lang="en-US" altLang="zh-CN" i="1">
                            <a:solidFill>
                              <a:srgbClr val="0000FF"/>
                            </a:solidFill>
                            <a:latin typeface="Cambria Math" panose="02040503050406030204" pitchFamily="18" charset="0"/>
                          </a:rPr>
                          <m:t>10</m:t>
                        </m:r>
                      </m:e>
                      <m:sup>
                        <m:r>
                          <a:rPr lang="en-US" altLang="zh-CN" i="1">
                            <a:solidFill>
                              <a:srgbClr val="0000FF"/>
                            </a:solidFill>
                            <a:latin typeface="Cambria Math" panose="02040503050406030204" pitchFamily="18" charset="0"/>
                          </a:rPr>
                          <m:t>14</m:t>
                        </m:r>
                      </m:sup>
                    </m:sSup>
                    <m:r>
                      <a:rPr lang="en-US" altLang="zh-CN" i="1">
                        <a:solidFill>
                          <a:srgbClr val="0000FF"/>
                        </a:solidFill>
                        <a:latin typeface="Cambria Math" panose="02040503050406030204" pitchFamily="18" charset="0"/>
                      </a:rPr>
                      <m:t> = 3 × </m:t>
                    </m:r>
                    <m:sSup>
                      <m:sSupPr>
                        <m:ctrlPr>
                          <a:rPr lang="zh-CN" altLang="zh-CN" i="1">
                            <a:solidFill>
                              <a:srgbClr val="0000FF"/>
                            </a:solidFill>
                            <a:latin typeface="Cambria Math" panose="02040503050406030204" pitchFamily="18" charset="0"/>
                          </a:rPr>
                        </m:ctrlPr>
                      </m:sSupPr>
                      <m:e>
                        <m:r>
                          <a:rPr lang="en-US" altLang="zh-CN" i="1">
                            <a:solidFill>
                              <a:srgbClr val="0000FF"/>
                            </a:solidFill>
                            <a:latin typeface="Cambria Math" panose="02040503050406030204" pitchFamily="18" charset="0"/>
                          </a:rPr>
                          <m:t>10</m:t>
                        </m:r>
                      </m:e>
                      <m:sup>
                        <m:r>
                          <a:rPr lang="en-US" altLang="zh-CN" i="1">
                            <a:solidFill>
                              <a:srgbClr val="0000FF"/>
                            </a:solidFill>
                            <a:latin typeface="Cambria Math" panose="02040503050406030204" pitchFamily="18" charset="0"/>
                          </a:rPr>
                          <m:t>13</m:t>
                        </m:r>
                      </m:sup>
                    </m:sSup>
                  </m:oMath>
                </a14:m>
                <a:r>
                  <a:rPr lang="en-US" altLang="zh-CN" dirty="0">
                    <a:solidFill>
                      <a:srgbClr val="0000FF"/>
                    </a:solidFill>
                  </a:rPr>
                  <a:t>. </a:t>
                </a:r>
              </a:p>
              <a:p>
                <a:r>
                  <a:rPr lang="en-US" altLang="zh-CN" dirty="0">
                    <a:solidFill>
                      <a:srgbClr val="0000FF"/>
                    </a:solidFill>
                  </a:rPr>
                  <a:t>This is a bandwidth of 30,000 GHz.</a:t>
                </a:r>
              </a:p>
              <a:p>
                <a:r>
                  <a:rPr lang="zh-CN" altLang="en-US" dirty="0">
                    <a:solidFill>
                      <a:srgbClr val="0000FF"/>
                    </a:solidFill>
                  </a:rPr>
                  <a:t>另一种解法：</a:t>
                </a:r>
                <a14:m>
                  <m:oMath xmlns:m="http://schemas.openxmlformats.org/officeDocument/2006/math">
                    <m:r>
                      <m:rPr>
                        <m:sty m:val="p"/>
                      </m:rPr>
                      <a:rPr lang="en-US" altLang="zh-CN">
                        <a:solidFill>
                          <a:srgbClr val="0000FF"/>
                        </a:solidFill>
                        <a:latin typeface="Cambria Math" panose="02040503050406030204" pitchFamily="18" charset="0"/>
                      </a:rPr>
                      <m:t>Δ</m:t>
                    </m:r>
                    <m:r>
                      <a:rPr lang="en-US" altLang="zh-CN" i="1">
                        <a:solidFill>
                          <a:srgbClr val="0000FF"/>
                        </a:solidFill>
                        <a:latin typeface="Cambria Math" panose="02040503050406030204" pitchFamily="18" charset="0"/>
                      </a:rPr>
                      <m:t>𝑓</m:t>
                    </m:r>
                    <m:r>
                      <a:rPr lang="en-US" altLang="zh-CN" i="1">
                        <a:solidFill>
                          <a:srgbClr val="0000FF"/>
                        </a:solidFill>
                        <a:latin typeface="Cambria Math" panose="02040503050406030204" pitchFamily="18" charset="0"/>
                      </a:rPr>
                      <m:t> =</m:t>
                    </m:r>
                  </m:oMath>
                </a14:m>
                <a:r>
                  <a:rPr lang="en-US" altLang="zh-CN" dirty="0">
                    <a:solidFill>
                      <a:srgbClr val="0000FF"/>
                    </a:solidFill>
                  </a:rPr>
                  <a:t> </a:t>
                </a:r>
                <a14:m>
                  <m:oMath xmlns:m="http://schemas.openxmlformats.org/officeDocument/2006/math">
                    <m:r>
                      <m:rPr>
                        <m:sty m:val="p"/>
                      </m:rPr>
                      <a:rPr lang="en-US" altLang="zh-CN" smtClean="0">
                        <a:solidFill>
                          <a:srgbClr val="0000FF"/>
                        </a:solidFill>
                        <a:latin typeface="Cambria Math" panose="02040503050406030204" pitchFamily="18" charset="0"/>
                      </a:rPr>
                      <m:t>Δ</m:t>
                    </m:r>
                    <m:r>
                      <m:rPr>
                        <m:sty m:val="p"/>
                      </m:rPr>
                      <a:rPr lang="el-GR" altLang="zh-CN" i="1" smtClean="0">
                        <a:solidFill>
                          <a:srgbClr val="0000FF"/>
                        </a:solidFill>
                        <a:latin typeface="Cambria Math" panose="02040503050406030204" pitchFamily="18" charset="0"/>
                      </a:rPr>
                      <m:t>λ</m:t>
                    </m:r>
                    <m:f>
                      <m:fPr>
                        <m:ctrlPr>
                          <a:rPr lang="el-GR" altLang="zh-CN" i="1" smtClean="0">
                            <a:solidFill>
                              <a:srgbClr val="0000FF"/>
                            </a:solidFill>
                            <a:latin typeface="Cambria Math" panose="02040503050406030204" pitchFamily="18" charset="0"/>
                          </a:rPr>
                        </m:ctrlPr>
                      </m:fPr>
                      <m:num>
                        <m:r>
                          <m:rPr>
                            <m:sty m:val="p"/>
                          </m:rPr>
                          <a:rPr lang="en-US" altLang="zh-CN" i="1">
                            <a:solidFill>
                              <a:srgbClr val="0000FF"/>
                            </a:solidFill>
                            <a:latin typeface="Cambria Math" panose="02040503050406030204" pitchFamily="18" charset="0"/>
                          </a:rPr>
                          <m:t>c</m:t>
                        </m:r>
                      </m:num>
                      <m:den>
                        <m:sSup>
                          <m:sSupPr>
                            <m:ctrlPr>
                              <a:rPr lang="el-GR" altLang="zh-CN" i="1" smtClean="0">
                                <a:solidFill>
                                  <a:srgbClr val="0000FF"/>
                                </a:solidFill>
                                <a:latin typeface="Cambria Math" panose="02040503050406030204" pitchFamily="18" charset="0"/>
                              </a:rPr>
                            </m:ctrlPr>
                          </m:sSupPr>
                          <m:e>
                            <m:r>
                              <m:rPr>
                                <m:sty m:val="p"/>
                              </m:rPr>
                              <a:rPr lang="el-GR" altLang="zh-CN" i="1" smtClean="0">
                                <a:solidFill>
                                  <a:srgbClr val="0000FF"/>
                                </a:solidFill>
                                <a:latin typeface="Cambria Math" panose="02040503050406030204" pitchFamily="18" charset="0"/>
                              </a:rPr>
                              <m:t>λ</m:t>
                            </m:r>
                          </m:e>
                          <m:sup>
                            <m:r>
                              <a:rPr lang="en-US" altLang="zh-CN" b="0" i="1" smtClean="0">
                                <a:solidFill>
                                  <a:srgbClr val="0000FF"/>
                                </a:solidFill>
                                <a:latin typeface="Cambria Math" panose="02040503050406030204" pitchFamily="18" charset="0"/>
                              </a:rPr>
                              <m:t>2</m:t>
                            </m:r>
                          </m:sup>
                        </m:sSup>
                      </m:den>
                    </m:f>
                  </m:oMath>
                </a14:m>
                <a:r>
                  <a:rPr lang="en-US" altLang="zh-CN" dirty="0">
                    <a:solidFill>
                      <a:srgbClr val="0000FF"/>
                    </a:solidFill>
                  </a:rPr>
                  <a:t> </a:t>
                </a:r>
                <a14:m>
                  <m:oMath xmlns:m="http://schemas.openxmlformats.org/officeDocument/2006/math">
                    <m:r>
                      <a:rPr lang="en-US" altLang="zh-CN" i="1">
                        <a:solidFill>
                          <a:srgbClr val="0000FF"/>
                        </a:solidFill>
                        <a:latin typeface="Cambria Math" panose="02040503050406030204" pitchFamily="18" charset="0"/>
                      </a:rPr>
                      <m:t>=</m:t>
                    </m:r>
                  </m:oMath>
                </a14:m>
                <a:r>
                  <a:rPr lang="en-US" altLang="zh-CN" dirty="0">
                    <a:solidFill>
                      <a:srgbClr val="0000FF"/>
                    </a:solidFill>
                  </a:rPr>
                  <a:t> </a:t>
                </a:r>
                <a14:m>
                  <m:oMath xmlns:m="http://schemas.openxmlformats.org/officeDocument/2006/math">
                    <m:r>
                      <a:rPr lang="en-US" altLang="zh-CN" b="0" i="0" smtClean="0">
                        <a:solidFill>
                          <a:srgbClr val="0000FF"/>
                        </a:solidFill>
                        <a:latin typeface="Cambria Math" panose="02040503050406030204" pitchFamily="18" charset="0"/>
                      </a:rPr>
                      <m:t>0.</m:t>
                    </m:r>
                    <m:r>
                      <a:rPr lang="en-US" altLang="zh-CN" i="1">
                        <a:solidFill>
                          <a:srgbClr val="0000FF"/>
                        </a:solidFill>
                        <a:latin typeface="Cambria Math" panose="02040503050406030204" pitchFamily="18" charset="0"/>
                      </a:rPr>
                      <m:t>1× </m:t>
                    </m:r>
                    <m:sSup>
                      <m:sSupPr>
                        <m:ctrlPr>
                          <a:rPr lang="zh-CN" altLang="zh-CN" i="1">
                            <a:solidFill>
                              <a:srgbClr val="0000FF"/>
                            </a:solidFill>
                            <a:latin typeface="Cambria Math" panose="02040503050406030204" pitchFamily="18" charset="0"/>
                          </a:rPr>
                        </m:ctrlPr>
                      </m:sSupPr>
                      <m:e>
                        <m:r>
                          <a:rPr lang="en-US" altLang="zh-CN" i="1">
                            <a:solidFill>
                              <a:srgbClr val="0000FF"/>
                            </a:solidFill>
                            <a:latin typeface="Cambria Math" panose="02040503050406030204" pitchFamily="18" charset="0"/>
                          </a:rPr>
                          <m:t>10</m:t>
                        </m:r>
                      </m:e>
                      <m:sup>
                        <m:r>
                          <a:rPr lang="en-US" altLang="zh-CN" i="1">
                            <a:solidFill>
                              <a:srgbClr val="0000FF"/>
                            </a:solidFill>
                            <a:latin typeface="Cambria Math" panose="02040503050406030204" pitchFamily="18" charset="0"/>
                          </a:rPr>
                          <m:t>−6</m:t>
                        </m:r>
                      </m:sup>
                    </m:sSup>
                  </m:oMath>
                </a14:m>
                <a:r>
                  <a:rPr lang="en-US" altLang="zh-CN" dirty="0">
                    <a:solidFill>
                      <a:srgbClr val="0000FF"/>
                    </a:solidFill>
                  </a:rPr>
                  <a:t> </a:t>
                </a:r>
                <a14:m>
                  <m:oMath xmlns:m="http://schemas.openxmlformats.org/officeDocument/2006/math">
                    <m:r>
                      <a:rPr lang="en-US" altLang="zh-CN" i="1">
                        <a:solidFill>
                          <a:srgbClr val="0000FF"/>
                        </a:solidFill>
                        <a:latin typeface="Cambria Math" panose="02040503050406030204" pitchFamily="18" charset="0"/>
                      </a:rPr>
                      <m:t>×</m:t>
                    </m:r>
                  </m:oMath>
                </a14:m>
                <a:r>
                  <a:rPr lang="en-US" altLang="zh-CN" dirty="0">
                    <a:solidFill>
                      <a:srgbClr val="0000FF"/>
                    </a:solidFill>
                  </a:rPr>
                  <a:t> </a:t>
                </a:r>
                <a14:m>
                  <m:oMath xmlns:m="http://schemas.openxmlformats.org/officeDocument/2006/math">
                    <m:r>
                      <a:rPr lang="en-US" altLang="zh-CN" i="1">
                        <a:solidFill>
                          <a:srgbClr val="0000FF"/>
                        </a:solidFill>
                        <a:latin typeface="Cambria Math" panose="02040503050406030204" pitchFamily="18" charset="0"/>
                      </a:rPr>
                      <m:t>3 × </m:t>
                    </m:r>
                    <m:sSup>
                      <m:sSupPr>
                        <m:ctrlPr>
                          <a:rPr lang="zh-CN" altLang="zh-CN" i="1">
                            <a:solidFill>
                              <a:srgbClr val="0000FF"/>
                            </a:solidFill>
                            <a:latin typeface="Cambria Math" panose="02040503050406030204" pitchFamily="18" charset="0"/>
                          </a:rPr>
                        </m:ctrlPr>
                      </m:sSupPr>
                      <m:e>
                        <m:r>
                          <a:rPr lang="en-US" altLang="zh-CN" i="1">
                            <a:solidFill>
                              <a:srgbClr val="0000FF"/>
                            </a:solidFill>
                            <a:latin typeface="Cambria Math" panose="02040503050406030204" pitchFamily="18" charset="0"/>
                          </a:rPr>
                          <m:t>10</m:t>
                        </m:r>
                      </m:e>
                      <m:sup>
                        <m:r>
                          <a:rPr lang="en-US" altLang="zh-CN" i="1">
                            <a:solidFill>
                              <a:srgbClr val="0000FF"/>
                            </a:solidFill>
                            <a:latin typeface="Cambria Math" panose="02040503050406030204" pitchFamily="18" charset="0"/>
                          </a:rPr>
                          <m:t>8</m:t>
                        </m:r>
                      </m:sup>
                    </m:sSup>
                    <m:r>
                      <a:rPr lang="en-US" altLang="zh-CN" i="1">
                        <a:solidFill>
                          <a:srgbClr val="0000FF"/>
                        </a:solidFill>
                        <a:latin typeface="Cambria Math" panose="02040503050406030204" pitchFamily="18" charset="0"/>
                      </a:rPr>
                      <m:t>/</m:t>
                    </m:r>
                    <m:sSup>
                      <m:sSupPr>
                        <m:ctrlPr>
                          <a:rPr lang="en-US" altLang="zh-CN" i="1" smtClean="0">
                            <a:solidFill>
                              <a:srgbClr val="0000FF"/>
                            </a:solidFill>
                            <a:latin typeface="Cambria Math" panose="02040503050406030204" pitchFamily="18" charset="0"/>
                          </a:rPr>
                        </m:ctrlPr>
                      </m:sSupPr>
                      <m:e>
                        <m:d>
                          <m:dPr>
                            <m:ctrlPr>
                              <a:rPr lang="zh-CN" altLang="zh-CN" i="1">
                                <a:solidFill>
                                  <a:srgbClr val="0000FF"/>
                                </a:solidFill>
                                <a:latin typeface="Cambria Math" panose="02040503050406030204" pitchFamily="18" charset="0"/>
                              </a:rPr>
                            </m:ctrlPr>
                          </m:dPr>
                          <m:e>
                            <m:r>
                              <a:rPr lang="en-US" altLang="zh-CN" i="1">
                                <a:solidFill>
                                  <a:srgbClr val="0000FF"/>
                                </a:solidFill>
                                <a:latin typeface="Cambria Math" panose="02040503050406030204" pitchFamily="18" charset="0"/>
                              </a:rPr>
                              <m:t>1× </m:t>
                            </m:r>
                            <m:sSup>
                              <m:sSupPr>
                                <m:ctrlPr>
                                  <a:rPr lang="zh-CN" altLang="zh-CN" i="1">
                                    <a:solidFill>
                                      <a:srgbClr val="0000FF"/>
                                    </a:solidFill>
                                    <a:latin typeface="Cambria Math" panose="02040503050406030204" pitchFamily="18" charset="0"/>
                                  </a:rPr>
                                </m:ctrlPr>
                              </m:sSupPr>
                              <m:e>
                                <m:r>
                                  <a:rPr lang="en-US" altLang="zh-CN" i="1">
                                    <a:solidFill>
                                      <a:srgbClr val="0000FF"/>
                                    </a:solidFill>
                                    <a:latin typeface="Cambria Math" panose="02040503050406030204" pitchFamily="18" charset="0"/>
                                  </a:rPr>
                                  <m:t>10</m:t>
                                </m:r>
                              </m:e>
                              <m:sup>
                                <m:r>
                                  <a:rPr lang="en-US" altLang="zh-CN" i="1">
                                    <a:solidFill>
                                      <a:srgbClr val="0000FF"/>
                                    </a:solidFill>
                                    <a:latin typeface="Cambria Math" panose="02040503050406030204" pitchFamily="18" charset="0"/>
                                  </a:rPr>
                                  <m:t>−6</m:t>
                                </m:r>
                              </m:sup>
                            </m:sSup>
                            <m:r>
                              <a:rPr lang="en-US" altLang="zh-CN" i="1">
                                <a:solidFill>
                                  <a:srgbClr val="0000FF"/>
                                </a:solidFill>
                                <a:latin typeface="Cambria Math" panose="02040503050406030204" pitchFamily="18" charset="0"/>
                              </a:rPr>
                              <m:t> </m:t>
                            </m:r>
                          </m:e>
                        </m:d>
                      </m:e>
                      <m:sup>
                        <m:r>
                          <a:rPr lang="en-US" altLang="zh-CN" b="0" i="1" smtClean="0">
                            <a:solidFill>
                              <a:srgbClr val="0000FF"/>
                            </a:solidFill>
                            <a:latin typeface="Cambria Math" panose="02040503050406030204" pitchFamily="18" charset="0"/>
                          </a:rPr>
                          <m:t>2</m:t>
                        </m:r>
                      </m:sup>
                    </m:sSup>
                  </m:oMath>
                </a14:m>
                <a:r>
                  <a:rPr lang="en-US" altLang="zh-CN" dirty="0">
                    <a:solidFill>
                      <a:srgbClr val="0000FF"/>
                    </a:solidFill>
                  </a:rPr>
                  <a:t> </a:t>
                </a:r>
                <a14:m>
                  <m:oMath xmlns:m="http://schemas.openxmlformats.org/officeDocument/2006/math">
                    <m:r>
                      <a:rPr lang="en-US" altLang="zh-CN" i="1">
                        <a:solidFill>
                          <a:srgbClr val="0000FF"/>
                        </a:solidFill>
                        <a:latin typeface="Cambria Math" panose="02040503050406030204" pitchFamily="18" charset="0"/>
                      </a:rPr>
                      <m:t>= 3 × </m:t>
                    </m:r>
                    <m:sSup>
                      <m:sSupPr>
                        <m:ctrlPr>
                          <a:rPr lang="zh-CN" altLang="zh-CN" i="1">
                            <a:solidFill>
                              <a:srgbClr val="0000FF"/>
                            </a:solidFill>
                            <a:latin typeface="Cambria Math" panose="02040503050406030204" pitchFamily="18" charset="0"/>
                          </a:rPr>
                        </m:ctrlPr>
                      </m:sSupPr>
                      <m:e>
                        <m:r>
                          <a:rPr lang="en-US" altLang="zh-CN" i="1">
                            <a:solidFill>
                              <a:srgbClr val="0000FF"/>
                            </a:solidFill>
                            <a:latin typeface="Cambria Math" panose="02040503050406030204" pitchFamily="18" charset="0"/>
                          </a:rPr>
                          <m:t>10</m:t>
                        </m:r>
                      </m:e>
                      <m:sup>
                        <m:r>
                          <a:rPr lang="en-US" altLang="zh-CN" i="1">
                            <a:solidFill>
                              <a:srgbClr val="0000FF"/>
                            </a:solidFill>
                            <a:latin typeface="Cambria Math" panose="02040503050406030204" pitchFamily="18" charset="0"/>
                          </a:rPr>
                          <m:t>13</m:t>
                        </m:r>
                      </m:sup>
                    </m:sSup>
                  </m:oMath>
                </a14:m>
                <a:r>
                  <a:rPr lang="en-US" altLang="zh-CN" dirty="0"/>
                  <a:t>. </a:t>
                </a:r>
                <a:endParaRPr lang="zh-CN" altLang="zh-CN" dirty="0"/>
              </a:p>
            </p:txBody>
          </p:sp>
        </mc:Choice>
        <mc:Fallback xmlns="">
          <p:sp>
            <p:nvSpPr>
              <p:cNvPr id="3" name="副标题 2">
                <a:extLst>
                  <a:ext uri="{FF2B5EF4-FFF2-40B4-BE49-F238E27FC236}">
                    <a16:creationId xmlns:a16="http://schemas.microsoft.com/office/drawing/2014/main" id="{5D62E379-1341-4B98-940A-221608CF6262}"/>
                  </a:ext>
                </a:extLst>
              </p:cNvPr>
              <p:cNvSpPr>
                <a:spLocks noGrp="1" noRot="1" noChangeAspect="1" noMove="1" noResize="1" noEditPoints="1" noAdjustHandles="1" noChangeArrowheads="1" noChangeShapeType="1" noTextEdit="1"/>
              </p:cNvSpPr>
              <p:nvPr>
                <p:ph idx="1"/>
              </p:nvPr>
            </p:nvSpPr>
            <p:spPr>
              <a:blipFill>
                <a:blip r:embed="rId2"/>
                <a:stretch>
                  <a:fillRect l="-928" t="-1561" r="-133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861201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80BF3E-517B-47A7-9F37-51B9D439190B}"/>
              </a:ext>
            </a:extLst>
          </p:cNvPr>
          <p:cNvSpPr>
            <a:spLocks noGrp="1"/>
          </p:cNvSpPr>
          <p:nvPr>
            <p:ph type="title"/>
          </p:nvPr>
        </p:nvSpPr>
        <p:spPr/>
        <p:txBody>
          <a:bodyPr>
            <a:normAutofit fontScale="90000"/>
          </a:bodyPr>
          <a:lstStyle/>
          <a:p>
            <a:r>
              <a:rPr lang="en-US" altLang="zh-CN" dirty="0"/>
              <a:t>2-2</a:t>
            </a:r>
            <a:endParaRPr lang="zh-CN" altLang="en-US" dirty="0"/>
          </a:p>
        </p:txBody>
      </p:sp>
      <p:sp>
        <p:nvSpPr>
          <p:cNvPr id="3" name="副标题 2">
            <a:extLst>
              <a:ext uri="{FF2B5EF4-FFF2-40B4-BE49-F238E27FC236}">
                <a16:creationId xmlns:a16="http://schemas.microsoft.com/office/drawing/2014/main" id="{256DE83E-0AA4-4466-8436-ECF23A395247}"/>
              </a:ext>
            </a:extLst>
          </p:cNvPr>
          <p:cNvSpPr>
            <a:spLocks noGrp="1"/>
          </p:cNvSpPr>
          <p:nvPr>
            <p:ph idx="1"/>
          </p:nvPr>
        </p:nvSpPr>
        <p:spPr/>
        <p:txBody>
          <a:bodyPr>
            <a:normAutofit/>
          </a:bodyPr>
          <a:lstStyle/>
          <a:p>
            <a:r>
              <a:rPr lang="en-US" altLang="zh-CN" dirty="0"/>
              <a:t>If a binary signal is sent over a 3-kHz channel whose signal-to-noise ratio is 20 dB, what is the maximum achievable data rate? </a:t>
            </a:r>
            <a:endParaRPr lang="zh-CN" altLang="zh-CN" dirty="0"/>
          </a:p>
          <a:p>
            <a:endParaRPr lang="en-US" altLang="zh-CN" dirty="0"/>
          </a:p>
          <a:p>
            <a:r>
              <a:rPr lang="en-US" altLang="zh-CN" dirty="0">
                <a:solidFill>
                  <a:srgbClr val="0000FF"/>
                </a:solidFill>
              </a:rPr>
              <a:t>A signal-to-noise ratio of 20 dB means S/N = 100. </a:t>
            </a:r>
          </a:p>
          <a:p>
            <a:r>
              <a:rPr lang="en-US" altLang="zh-CN" dirty="0">
                <a:solidFill>
                  <a:srgbClr val="0000FF"/>
                </a:solidFill>
              </a:rPr>
              <a:t>Since log</a:t>
            </a:r>
            <a:r>
              <a:rPr lang="en-US" altLang="zh-CN" baseline="-25000" dirty="0">
                <a:solidFill>
                  <a:srgbClr val="0000FF"/>
                </a:solidFill>
              </a:rPr>
              <a:t>2</a:t>
            </a:r>
            <a:r>
              <a:rPr lang="en-US" altLang="zh-CN" dirty="0">
                <a:solidFill>
                  <a:srgbClr val="0000FF"/>
                </a:solidFill>
              </a:rPr>
              <a:t>101 is about 6.658, the Shannon limit is about 19.975 kbps. </a:t>
            </a:r>
          </a:p>
          <a:p>
            <a:r>
              <a:rPr lang="en-US" altLang="zh-CN" dirty="0">
                <a:solidFill>
                  <a:srgbClr val="0000FF"/>
                </a:solidFill>
              </a:rPr>
              <a:t>The Nyquist limit is 6 kbps for a binary signal (with 1 bit per symbol). </a:t>
            </a:r>
          </a:p>
          <a:p>
            <a:r>
              <a:rPr lang="en-US" altLang="zh-CN" dirty="0">
                <a:solidFill>
                  <a:srgbClr val="0000FF"/>
                </a:solidFill>
              </a:rPr>
              <a:t>The bottleneck is therefore the Nyquist limit, giving a maximum channel capacity of 6 kbps.</a:t>
            </a:r>
            <a:endParaRPr lang="zh-CN" altLang="zh-CN" dirty="0">
              <a:solidFill>
                <a:srgbClr val="0000FF"/>
              </a:solidFill>
            </a:endParaRPr>
          </a:p>
        </p:txBody>
      </p:sp>
    </p:spTree>
    <p:extLst>
      <p:ext uri="{BB962C8B-B14F-4D97-AF65-F5344CB8AC3E}">
        <p14:creationId xmlns:p14="http://schemas.microsoft.com/office/powerpoint/2010/main" val="1223557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B2405A-AF61-417D-924F-4D0C0B342E0F}"/>
              </a:ext>
            </a:extLst>
          </p:cNvPr>
          <p:cNvSpPr>
            <a:spLocks noGrp="1"/>
          </p:cNvSpPr>
          <p:nvPr>
            <p:ph type="title"/>
          </p:nvPr>
        </p:nvSpPr>
        <p:spPr/>
        <p:txBody>
          <a:bodyPr>
            <a:normAutofit fontScale="90000"/>
          </a:bodyPr>
          <a:lstStyle/>
          <a:p>
            <a:r>
              <a:rPr lang="en-US" altLang="zh-CN" dirty="0"/>
              <a:t>2-3</a:t>
            </a:r>
            <a:endParaRPr lang="zh-CN" altLang="en-US" dirty="0"/>
          </a:p>
        </p:txBody>
      </p:sp>
      <p:sp>
        <p:nvSpPr>
          <p:cNvPr id="3" name="副标题 2">
            <a:extLst>
              <a:ext uri="{FF2B5EF4-FFF2-40B4-BE49-F238E27FC236}">
                <a16:creationId xmlns:a16="http://schemas.microsoft.com/office/drawing/2014/main" id="{68E534F5-FA98-4072-A125-4372DE27845B}"/>
              </a:ext>
            </a:extLst>
          </p:cNvPr>
          <p:cNvSpPr>
            <a:spLocks noGrp="1"/>
          </p:cNvSpPr>
          <p:nvPr>
            <p:ph idx="1"/>
          </p:nvPr>
        </p:nvSpPr>
        <p:spPr/>
        <p:txBody>
          <a:bodyPr/>
          <a:lstStyle/>
          <a:p>
            <a:r>
              <a:rPr lang="en-US" altLang="zh-CN" dirty="0"/>
              <a:t>Ten signals, each requiring 4000 Hz, are multiplexed onto a single channel using FDM. What is the minimum bandwidth required for the multiplexed channel? Assume that the guard bands are 400 Hz wide. </a:t>
            </a:r>
          </a:p>
          <a:p>
            <a:endParaRPr lang="zh-CN" altLang="zh-CN" dirty="0"/>
          </a:p>
          <a:p>
            <a:r>
              <a:rPr lang="en-US" altLang="zh-CN" dirty="0">
                <a:solidFill>
                  <a:srgbClr val="0000FF"/>
                </a:solidFill>
              </a:rPr>
              <a:t>There are 10 4000 Hz signals. We need nine guard bands to avoid any interference. </a:t>
            </a:r>
          </a:p>
          <a:p>
            <a:r>
              <a:rPr lang="en-US" altLang="zh-CN" dirty="0">
                <a:solidFill>
                  <a:srgbClr val="0000FF"/>
                </a:solidFill>
              </a:rPr>
              <a:t>The minimum bandwidth required is 4000 × 10 + 400 × 9 = 43, 600 Hz.</a:t>
            </a:r>
            <a:endParaRPr lang="zh-CN" altLang="zh-CN" dirty="0">
              <a:solidFill>
                <a:srgbClr val="0000FF"/>
              </a:solidFill>
            </a:endParaRPr>
          </a:p>
        </p:txBody>
      </p:sp>
    </p:spTree>
    <p:extLst>
      <p:ext uri="{BB962C8B-B14F-4D97-AF65-F5344CB8AC3E}">
        <p14:creationId xmlns:p14="http://schemas.microsoft.com/office/powerpoint/2010/main" val="1665585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BAF862-D0CA-4E12-A700-DA223629BCF9}"/>
              </a:ext>
            </a:extLst>
          </p:cNvPr>
          <p:cNvSpPr>
            <a:spLocks noGrp="1"/>
          </p:cNvSpPr>
          <p:nvPr>
            <p:ph type="title"/>
          </p:nvPr>
        </p:nvSpPr>
        <p:spPr/>
        <p:txBody>
          <a:bodyPr>
            <a:normAutofit fontScale="90000"/>
          </a:bodyPr>
          <a:lstStyle/>
          <a:p>
            <a:r>
              <a:rPr lang="en-US" altLang="zh-CN" dirty="0"/>
              <a:t>2-4</a:t>
            </a:r>
            <a:endParaRPr lang="zh-CN" altLang="en-US" dirty="0"/>
          </a:p>
        </p:txBody>
      </p:sp>
      <p:sp>
        <p:nvSpPr>
          <p:cNvPr id="3" name="副标题 2">
            <a:extLst>
              <a:ext uri="{FF2B5EF4-FFF2-40B4-BE49-F238E27FC236}">
                <a16:creationId xmlns:a16="http://schemas.microsoft.com/office/drawing/2014/main" id="{B117B8FA-4F47-4EED-ADD6-9ED515B34DE7}"/>
              </a:ext>
            </a:extLst>
          </p:cNvPr>
          <p:cNvSpPr>
            <a:spLocks noGrp="1"/>
          </p:cNvSpPr>
          <p:nvPr>
            <p:ph idx="1"/>
          </p:nvPr>
        </p:nvSpPr>
        <p:spPr/>
        <p:txBody>
          <a:bodyPr>
            <a:normAutofit/>
          </a:bodyPr>
          <a:lstStyle/>
          <a:p>
            <a:r>
              <a:rPr lang="en-US" altLang="zh-CN" dirty="0"/>
              <a:t>Suppose that A, B, and C are simultaneously transmitting 0 bits, using a CDMA system with the chip sequences of Fig. 2-22(a). What is the resulting chip sequence? </a:t>
            </a:r>
          </a:p>
          <a:p>
            <a:endParaRPr lang="en-US" altLang="zh-CN" dirty="0"/>
          </a:p>
          <a:p>
            <a:r>
              <a:rPr lang="en-US" altLang="zh-CN" dirty="0">
                <a:solidFill>
                  <a:srgbClr val="0000FF"/>
                </a:solidFill>
              </a:rPr>
              <a:t>The result is obtained by negating each of A, B, and C and then adding the three chip sequences. Alternatively, the three can be added and then negated. </a:t>
            </a:r>
            <a:endParaRPr lang="zh-CN" altLang="zh-CN" dirty="0">
              <a:solidFill>
                <a:srgbClr val="0000FF"/>
              </a:solidFill>
            </a:endParaRPr>
          </a:p>
          <a:p>
            <a:r>
              <a:rPr lang="en-US" altLang="zh-CN" dirty="0">
                <a:solidFill>
                  <a:srgbClr val="0000FF"/>
                </a:solidFill>
              </a:rPr>
              <a:t>The result is (+3 +1 +1 -1 -3 -1 -1 +1).</a:t>
            </a:r>
            <a:endParaRPr lang="zh-CN" altLang="zh-CN" dirty="0">
              <a:solidFill>
                <a:srgbClr val="0000FF"/>
              </a:solidFill>
            </a:endParaRPr>
          </a:p>
        </p:txBody>
      </p:sp>
      <p:pic>
        <p:nvPicPr>
          <p:cNvPr id="5" name="图片 4">
            <a:extLst>
              <a:ext uri="{FF2B5EF4-FFF2-40B4-BE49-F238E27FC236}">
                <a16:creationId xmlns:a16="http://schemas.microsoft.com/office/drawing/2014/main" id="{388C30FA-B11C-4250-8523-86B52916D486}"/>
              </a:ext>
            </a:extLst>
          </p:cNvPr>
          <p:cNvPicPr>
            <a:picLocks noChangeAspect="1"/>
          </p:cNvPicPr>
          <p:nvPr/>
        </p:nvPicPr>
        <p:blipFill>
          <a:blip r:embed="rId2"/>
          <a:stretch>
            <a:fillRect/>
          </a:stretch>
        </p:blipFill>
        <p:spPr>
          <a:xfrm>
            <a:off x="6320285" y="3745597"/>
            <a:ext cx="5198853" cy="2801090"/>
          </a:xfrm>
          <a:prstGeom prst="rect">
            <a:avLst/>
          </a:prstGeom>
        </p:spPr>
      </p:pic>
    </p:spTree>
    <p:extLst>
      <p:ext uri="{BB962C8B-B14F-4D97-AF65-F5344CB8AC3E}">
        <p14:creationId xmlns:p14="http://schemas.microsoft.com/office/powerpoint/2010/main" val="1115642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0B7825-911F-4693-8042-2D824C25E719}"/>
              </a:ext>
            </a:extLst>
          </p:cNvPr>
          <p:cNvSpPr>
            <a:spLocks noGrp="1"/>
          </p:cNvSpPr>
          <p:nvPr>
            <p:ph type="title"/>
          </p:nvPr>
        </p:nvSpPr>
        <p:spPr/>
        <p:txBody>
          <a:bodyPr>
            <a:normAutofit fontScale="90000"/>
          </a:bodyPr>
          <a:lstStyle/>
          <a:p>
            <a:r>
              <a:rPr lang="en-US" altLang="zh-CN" dirty="0"/>
              <a:t>2-5</a:t>
            </a:r>
            <a:endParaRPr lang="zh-CN" altLang="en-US" dirty="0"/>
          </a:p>
        </p:txBody>
      </p:sp>
      <p:sp>
        <p:nvSpPr>
          <p:cNvPr id="3" name="副标题 2">
            <a:extLst>
              <a:ext uri="{FF2B5EF4-FFF2-40B4-BE49-F238E27FC236}">
                <a16:creationId xmlns:a16="http://schemas.microsoft.com/office/drawing/2014/main" id="{7032F7F0-A9F6-4634-A7EE-9855C4A5BA1E}"/>
              </a:ext>
            </a:extLst>
          </p:cNvPr>
          <p:cNvSpPr>
            <a:spLocks noGrp="1"/>
          </p:cNvSpPr>
          <p:nvPr>
            <p:ph idx="1"/>
          </p:nvPr>
        </p:nvSpPr>
        <p:spPr/>
        <p:txBody>
          <a:bodyPr>
            <a:normAutofit/>
          </a:bodyPr>
          <a:lstStyle/>
          <a:p>
            <a:r>
              <a:rPr lang="en-US" altLang="zh-CN" dirty="0"/>
              <a:t>A CDMA receiver gets the following chips: (-1 +1 -3 +1 -1 -3 +1 +1). Assuming the chip sequences defined in Fig. 2-22(a), which stations transmitted, and which bits did each one send? </a:t>
            </a:r>
            <a:endParaRPr lang="zh-CN" altLang="en-US" dirty="0"/>
          </a:p>
        </p:txBody>
      </p:sp>
      <p:pic>
        <p:nvPicPr>
          <p:cNvPr id="6" name="图片 5">
            <a:extLst>
              <a:ext uri="{FF2B5EF4-FFF2-40B4-BE49-F238E27FC236}">
                <a16:creationId xmlns:a16="http://schemas.microsoft.com/office/drawing/2014/main" id="{507C2EA2-8104-476D-8B09-0C2F8868A97A}"/>
              </a:ext>
            </a:extLst>
          </p:cNvPr>
          <p:cNvPicPr/>
          <p:nvPr/>
        </p:nvPicPr>
        <p:blipFill>
          <a:blip r:embed="rId2"/>
          <a:stretch>
            <a:fillRect/>
          </a:stretch>
        </p:blipFill>
        <p:spPr>
          <a:xfrm>
            <a:off x="838200" y="2147600"/>
            <a:ext cx="6304472" cy="1872309"/>
          </a:xfrm>
          <a:prstGeom prst="rect">
            <a:avLst/>
          </a:prstGeom>
        </p:spPr>
      </p:pic>
      <p:pic>
        <p:nvPicPr>
          <p:cNvPr id="4" name="图片 3">
            <a:extLst>
              <a:ext uri="{FF2B5EF4-FFF2-40B4-BE49-F238E27FC236}">
                <a16:creationId xmlns:a16="http://schemas.microsoft.com/office/drawing/2014/main" id="{6260A8E4-0241-0895-76D2-7736E38B99F7}"/>
              </a:ext>
            </a:extLst>
          </p:cNvPr>
          <p:cNvPicPr>
            <a:picLocks noChangeAspect="1"/>
          </p:cNvPicPr>
          <p:nvPr/>
        </p:nvPicPr>
        <p:blipFill>
          <a:blip r:embed="rId3"/>
          <a:stretch>
            <a:fillRect/>
          </a:stretch>
        </p:blipFill>
        <p:spPr>
          <a:xfrm>
            <a:off x="6383545" y="4019909"/>
            <a:ext cx="5198853" cy="2801090"/>
          </a:xfrm>
          <a:prstGeom prst="rect">
            <a:avLst/>
          </a:prstGeom>
        </p:spPr>
      </p:pic>
    </p:spTree>
    <p:extLst>
      <p:ext uri="{BB962C8B-B14F-4D97-AF65-F5344CB8AC3E}">
        <p14:creationId xmlns:p14="http://schemas.microsoft.com/office/powerpoint/2010/main" val="1068099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36EE0F-4C98-4133-BF64-AB5148154150}"/>
              </a:ext>
            </a:extLst>
          </p:cNvPr>
          <p:cNvSpPr>
            <a:spLocks noGrp="1"/>
          </p:cNvSpPr>
          <p:nvPr>
            <p:ph type="title"/>
          </p:nvPr>
        </p:nvSpPr>
        <p:spPr/>
        <p:txBody>
          <a:bodyPr>
            <a:normAutofit fontScale="90000"/>
          </a:bodyPr>
          <a:lstStyle/>
          <a:p>
            <a:r>
              <a:rPr lang="en-US" altLang="zh-CN" dirty="0"/>
              <a:t>2-6</a:t>
            </a:r>
            <a:endParaRPr lang="zh-CN" altLang="en-US" dirty="0"/>
          </a:p>
        </p:txBody>
      </p:sp>
      <mc:AlternateContent xmlns:mc="http://schemas.openxmlformats.org/markup-compatibility/2006" xmlns:a14="http://schemas.microsoft.com/office/drawing/2010/main">
        <mc:Choice Requires="a14">
          <p:sp>
            <p:nvSpPr>
              <p:cNvPr id="3" name="副标题 2">
                <a:extLst>
                  <a:ext uri="{FF2B5EF4-FFF2-40B4-BE49-F238E27FC236}">
                    <a16:creationId xmlns:a16="http://schemas.microsoft.com/office/drawing/2014/main" id="{061C4EF7-4592-4860-B54D-0AE07D767EBA}"/>
                  </a:ext>
                </a:extLst>
              </p:cNvPr>
              <p:cNvSpPr>
                <a:spLocks noGrp="1"/>
              </p:cNvSpPr>
              <p:nvPr>
                <p:ph idx="1"/>
              </p:nvPr>
            </p:nvSpPr>
            <p:spPr/>
            <p:txBody>
              <a:bodyPr>
                <a:normAutofit/>
              </a:bodyPr>
              <a:lstStyle/>
              <a:p>
                <a:r>
                  <a:rPr lang="en-US" altLang="zh-CN" dirty="0"/>
                  <a:t>Compare the delay in sending an x-bit message over a k-hop path in a circuit-switched network and in a (lightly loaded) packet-switched network. The circuit setup time is s sec, the propagation delay is d sec per hop, the packet size is p bits, and the data rate is b bps. Under what conditions does the packet network have a lower delay? Also, explain the conditions under which a packet-switched network is preferable to a circuit-switched network.</a:t>
                </a:r>
              </a:p>
              <a:p>
                <a:r>
                  <a:rPr lang="en-US" altLang="zh-CN" i="1" dirty="0">
                    <a:solidFill>
                      <a:srgbClr val="0000FF"/>
                    </a:solidFill>
                    <a:latin typeface="Cambria Math" panose="02040503050406030204" pitchFamily="18" charset="0"/>
                  </a:rPr>
                  <a:t>For circuit switching,</a:t>
                </a:r>
              </a:p>
              <a:p>
                <a:pPr/>
                <a14:m>
                  <m:oMathPara xmlns:m="http://schemas.openxmlformats.org/officeDocument/2006/math">
                    <m:oMathParaPr>
                      <m:jc m:val="centerGroup"/>
                    </m:oMathParaPr>
                    <m:oMath xmlns:m="http://schemas.openxmlformats.org/officeDocument/2006/math">
                      <m:sSub>
                        <m:sSubPr>
                          <m:ctrlPr>
                            <a:rPr lang="en-US" altLang="zh-CN" b="0" i="1" smtClean="0">
                              <a:solidFill>
                                <a:srgbClr val="0000FF"/>
                              </a:solidFill>
                              <a:latin typeface="Cambria Math" panose="02040503050406030204" pitchFamily="18" charset="0"/>
                            </a:rPr>
                          </m:ctrlPr>
                        </m:sSubPr>
                        <m:e>
                          <m:r>
                            <a:rPr lang="en-US" altLang="zh-CN" b="0" i="1" smtClean="0">
                              <a:solidFill>
                                <a:srgbClr val="0000FF"/>
                              </a:solidFill>
                              <a:latin typeface="Cambria Math" panose="02040503050406030204" pitchFamily="18" charset="0"/>
                            </a:rPr>
                            <m:t>𝑡</m:t>
                          </m:r>
                        </m:e>
                        <m:sub>
                          <m:r>
                            <a:rPr lang="en-US" altLang="zh-CN" b="0" i="1" smtClean="0">
                              <a:solidFill>
                                <a:srgbClr val="0000FF"/>
                              </a:solidFill>
                              <a:latin typeface="Cambria Math" panose="02040503050406030204" pitchFamily="18" charset="0"/>
                            </a:rPr>
                            <m:t>𝑐𝑠</m:t>
                          </m:r>
                        </m:sub>
                      </m:sSub>
                      <m:r>
                        <a:rPr lang="en-US" altLang="zh-CN" b="0" i="1" smtClean="0">
                          <a:solidFill>
                            <a:srgbClr val="0000FF"/>
                          </a:solidFill>
                          <a:latin typeface="Cambria Math" panose="02040503050406030204" pitchFamily="18" charset="0"/>
                        </a:rPr>
                        <m:t>=</m:t>
                      </m:r>
                      <m:sSub>
                        <m:sSubPr>
                          <m:ctrlPr>
                            <a:rPr lang="en-US" altLang="zh-CN" b="0" i="1" smtClean="0">
                              <a:solidFill>
                                <a:srgbClr val="0000FF"/>
                              </a:solidFill>
                              <a:latin typeface="Cambria Math" panose="02040503050406030204" pitchFamily="18" charset="0"/>
                            </a:rPr>
                          </m:ctrlPr>
                        </m:sSubPr>
                        <m:e>
                          <m:r>
                            <a:rPr lang="en-US" altLang="zh-CN" b="0" i="1" smtClean="0">
                              <a:solidFill>
                                <a:srgbClr val="0000FF"/>
                              </a:solidFill>
                              <a:latin typeface="Cambria Math" panose="02040503050406030204" pitchFamily="18" charset="0"/>
                            </a:rPr>
                            <m:t>𝑑</m:t>
                          </m:r>
                        </m:e>
                        <m:sub>
                          <m:r>
                            <a:rPr lang="en-US" altLang="zh-CN" b="0" i="1" smtClean="0">
                              <a:solidFill>
                                <a:srgbClr val="0000FF"/>
                              </a:solidFill>
                              <a:latin typeface="Cambria Math" panose="02040503050406030204" pitchFamily="18" charset="0"/>
                            </a:rPr>
                            <m:t>𝑐𝑜𝑛𝑛</m:t>
                          </m:r>
                        </m:sub>
                      </m:sSub>
                      <m:r>
                        <a:rPr lang="en-US" altLang="zh-CN" b="0" i="1" smtClean="0">
                          <a:solidFill>
                            <a:srgbClr val="0000FF"/>
                          </a:solidFill>
                          <a:latin typeface="Cambria Math" panose="02040503050406030204" pitchFamily="18" charset="0"/>
                        </a:rPr>
                        <m:t>+</m:t>
                      </m:r>
                      <m:sSub>
                        <m:sSubPr>
                          <m:ctrlPr>
                            <a:rPr lang="en-US" altLang="zh-CN" i="1">
                              <a:solidFill>
                                <a:srgbClr val="0000FF"/>
                              </a:solidFill>
                              <a:latin typeface="Cambria Math" panose="02040503050406030204" pitchFamily="18" charset="0"/>
                            </a:rPr>
                          </m:ctrlPr>
                        </m:sSubPr>
                        <m:e>
                          <m:r>
                            <a:rPr lang="en-US" altLang="zh-CN" i="1">
                              <a:solidFill>
                                <a:srgbClr val="0000FF"/>
                              </a:solidFill>
                              <a:latin typeface="Cambria Math" panose="02040503050406030204" pitchFamily="18" charset="0"/>
                            </a:rPr>
                            <m:t>𝑑</m:t>
                          </m:r>
                        </m:e>
                        <m:sub>
                          <m:r>
                            <a:rPr lang="en-US" altLang="zh-CN" b="0" i="1" smtClean="0">
                              <a:solidFill>
                                <a:srgbClr val="0000FF"/>
                              </a:solidFill>
                              <a:latin typeface="Cambria Math" panose="02040503050406030204" pitchFamily="18" charset="0"/>
                            </a:rPr>
                            <m:t>𝑡𝑟𝑎𝑛𝑠</m:t>
                          </m:r>
                        </m:sub>
                      </m:sSub>
                      <m:r>
                        <a:rPr lang="en-US" altLang="zh-CN" b="0" i="1" smtClean="0">
                          <a:solidFill>
                            <a:srgbClr val="0000FF"/>
                          </a:solidFill>
                          <a:latin typeface="Cambria Math" panose="02040503050406030204" pitchFamily="18" charset="0"/>
                        </a:rPr>
                        <m:t>+</m:t>
                      </m:r>
                      <m:sSub>
                        <m:sSubPr>
                          <m:ctrlPr>
                            <a:rPr lang="en-US" altLang="zh-CN" i="1">
                              <a:solidFill>
                                <a:srgbClr val="0000FF"/>
                              </a:solidFill>
                              <a:latin typeface="Cambria Math" panose="02040503050406030204" pitchFamily="18" charset="0"/>
                            </a:rPr>
                          </m:ctrlPr>
                        </m:sSubPr>
                        <m:e>
                          <m:r>
                            <a:rPr lang="en-US" altLang="zh-CN" i="1">
                              <a:solidFill>
                                <a:srgbClr val="0000FF"/>
                              </a:solidFill>
                              <a:latin typeface="Cambria Math" panose="02040503050406030204" pitchFamily="18" charset="0"/>
                            </a:rPr>
                            <m:t>𝑑</m:t>
                          </m:r>
                        </m:e>
                        <m:sub>
                          <m:r>
                            <a:rPr lang="en-US" altLang="zh-CN" b="0" i="1" smtClean="0">
                              <a:solidFill>
                                <a:srgbClr val="0000FF"/>
                              </a:solidFill>
                              <a:latin typeface="Cambria Math" panose="02040503050406030204" pitchFamily="18" charset="0"/>
                            </a:rPr>
                            <m:t>𝑝𝑟𝑜𝑝</m:t>
                          </m:r>
                        </m:sub>
                      </m:sSub>
                    </m:oMath>
                  </m:oMathPara>
                </a14:m>
                <a:endParaRPr lang="en-US" altLang="zh-CN" dirty="0">
                  <a:solidFill>
                    <a:srgbClr val="0000FF"/>
                  </a:solidFill>
                </a:endParaRPr>
              </a:p>
              <a:p>
                <a14:m>
                  <m:oMath xmlns:m="http://schemas.openxmlformats.org/officeDocument/2006/math">
                    <m:sSub>
                      <m:sSubPr>
                        <m:ctrlPr>
                          <a:rPr lang="en-US" altLang="zh-CN" i="1">
                            <a:solidFill>
                              <a:srgbClr val="0000FF"/>
                            </a:solidFill>
                            <a:latin typeface="Cambria Math" panose="02040503050406030204" pitchFamily="18" charset="0"/>
                          </a:rPr>
                        </m:ctrlPr>
                      </m:sSubPr>
                      <m:e>
                        <m:r>
                          <a:rPr lang="en-US" altLang="zh-CN" i="1">
                            <a:solidFill>
                              <a:srgbClr val="0000FF"/>
                            </a:solidFill>
                            <a:latin typeface="Cambria Math" panose="02040503050406030204" pitchFamily="18" charset="0"/>
                          </a:rPr>
                          <m:t>𝑑</m:t>
                        </m:r>
                      </m:e>
                      <m:sub>
                        <m:r>
                          <a:rPr lang="en-US" altLang="zh-CN" i="1">
                            <a:solidFill>
                              <a:srgbClr val="0000FF"/>
                            </a:solidFill>
                            <a:latin typeface="Cambria Math" panose="02040503050406030204" pitchFamily="18" charset="0"/>
                          </a:rPr>
                          <m:t>𝑐𝑜𝑛𝑛</m:t>
                        </m:r>
                      </m:sub>
                    </m:sSub>
                    <m:r>
                      <a:rPr lang="en-US" altLang="zh-CN" b="0" i="1" smtClean="0">
                        <a:solidFill>
                          <a:srgbClr val="0000FF"/>
                        </a:solidFill>
                        <a:latin typeface="Cambria Math" panose="02040503050406030204" pitchFamily="18" charset="0"/>
                      </a:rPr>
                      <m:t>=</m:t>
                    </m:r>
                    <m:r>
                      <a:rPr lang="en-US" altLang="zh-CN" b="0" i="1" smtClean="0">
                        <a:solidFill>
                          <a:srgbClr val="0000FF"/>
                        </a:solidFill>
                        <a:latin typeface="Cambria Math" panose="02040503050406030204" pitchFamily="18" charset="0"/>
                      </a:rPr>
                      <m:t>𝑠</m:t>
                    </m:r>
                  </m:oMath>
                </a14:m>
                <a:r>
                  <a:rPr lang="en-US" altLang="zh-CN" dirty="0">
                    <a:solidFill>
                      <a:srgbClr val="0000FF"/>
                    </a:solidFill>
                  </a:rPr>
                  <a:t>, delay for setting up the circuit</a:t>
                </a:r>
              </a:p>
              <a:p>
                <a14:m>
                  <m:oMath xmlns:m="http://schemas.openxmlformats.org/officeDocument/2006/math">
                    <m:sSub>
                      <m:sSubPr>
                        <m:ctrlPr>
                          <a:rPr lang="en-US" altLang="zh-CN" i="1">
                            <a:solidFill>
                              <a:srgbClr val="0000FF"/>
                            </a:solidFill>
                            <a:latin typeface="Cambria Math" panose="02040503050406030204" pitchFamily="18" charset="0"/>
                          </a:rPr>
                        </m:ctrlPr>
                      </m:sSubPr>
                      <m:e>
                        <m:r>
                          <a:rPr lang="en-US" altLang="zh-CN" i="1">
                            <a:solidFill>
                              <a:srgbClr val="0000FF"/>
                            </a:solidFill>
                            <a:latin typeface="Cambria Math" panose="02040503050406030204" pitchFamily="18" charset="0"/>
                          </a:rPr>
                          <m:t>𝑑</m:t>
                        </m:r>
                      </m:e>
                      <m:sub>
                        <m:r>
                          <a:rPr lang="en-US" altLang="zh-CN" i="1">
                            <a:solidFill>
                              <a:srgbClr val="0000FF"/>
                            </a:solidFill>
                            <a:latin typeface="Cambria Math" panose="02040503050406030204" pitchFamily="18" charset="0"/>
                          </a:rPr>
                          <m:t>𝑡𝑟𝑎𝑛𝑠</m:t>
                        </m:r>
                      </m:sub>
                    </m:sSub>
                    <m:r>
                      <a:rPr lang="en-US" altLang="zh-CN" b="0" i="1" smtClean="0">
                        <a:solidFill>
                          <a:srgbClr val="0000FF"/>
                        </a:solidFill>
                        <a:latin typeface="Cambria Math" panose="02040503050406030204" pitchFamily="18" charset="0"/>
                      </a:rPr>
                      <m:t>=</m:t>
                    </m:r>
                    <m:f>
                      <m:fPr>
                        <m:ctrlPr>
                          <a:rPr lang="en-US" altLang="zh-CN" b="0" i="1" smtClean="0">
                            <a:solidFill>
                              <a:srgbClr val="0000FF"/>
                            </a:solidFill>
                            <a:latin typeface="Cambria Math" panose="02040503050406030204" pitchFamily="18" charset="0"/>
                          </a:rPr>
                        </m:ctrlPr>
                      </m:fPr>
                      <m:num>
                        <m:r>
                          <a:rPr lang="en-US" altLang="zh-CN" b="0" i="1" smtClean="0">
                            <a:solidFill>
                              <a:srgbClr val="0000FF"/>
                            </a:solidFill>
                            <a:latin typeface="Cambria Math" panose="02040503050406030204" pitchFamily="18" charset="0"/>
                          </a:rPr>
                          <m:t>𝑥</m:t>
                        </m:r>
                      </m:num>
                      <m:den>
                        <m:r>
                          <a:rPr lang="en-US" altLang="zh-CN" b="0" i="1" smtClean="0">
                            <a:solidFill>
                              <a:srgbClr val="0000FF"/>
                            </a:solidFill>
                            <a:latin typeface="Cambria Math" panose="02040503050406030204" pitchFamily="18" charset="0"/>
                          </a:rPr>
                          <m:t>𝑏</m:t>
                        </m:r>
                      </m:den>
                    </m:f>
                  </m:oMath>
                </a14:m>
                <a:r>
                  <a:rPr lang="en-US" altLang="zh-CN" dirty="0">
                    <a:solidFill>
                      <a:srgbClr val="0000FF"/>
                    </a:solidFill>
                  </a:rPr>
                  <a:t>, message transmission delay</a:t>
                </a:r>
              </a:p>
              <a:p>
                <a14:m>
                  <m:oMath xmlns:m="http://schemas.openxmlformats.org/officeDocument/2006/math">
                    <m:sSub>
                      <m:sSubPr>
                        <m:ctrlPr>
                          <a:rPr lang="en-US" altLang="zh-CN" i="1" smtClean="0">
                            <a:solidFill>
                              <a:srgbClr val="0000FF"/>
                            </a:solidFill>
                            <a:latin typeface="Cambria Math" panose="02040503050406030204" pitchFamily="18" charset="0"/>
                          </a:rPr>
                        </m:ctrlPr>
                      </m:sSubPr>
                      <m:e>
                        <m:r>
                          <a:rPr lang="en-US" altLang="zh-CN" i="1">
                            <a:solidFill>
                              <a:srgbClr val="0000FF"/>
                            </a:solidFill>
                            <a:latin typeface="Cambria Math" panose="02040503050406030204" pitchFamily="18" charset="0"/>
                          </a:rPr>
                          <m:t>𝑑</m:t>
                        </m:r>
                      </m:e>
                      <m:sub>
                        <m:r>
                          <a:rPr lang="en-US" altLang="zh-CN" i="1">
                            <a:solidFill>
                              <a:srgbClr val="0000FF"/>
                            </a:solidFill>
                            <a:latin typeface="Cambria Math" panose="02040503050406030204" pitchFamily="18" charset="0"/>
                          </a:rPr>
                          <m:t>𝑝𝑟𝑜𝑝</m:t>
                        </m:r>
                      </m:sub>
                    </m:sSub>
                    <m:r>
                      <a:rPr lang="en-US" altLang="zh-CN" b="0" i="1" smtClean="0">
                        <a:solidFill>
                          <a:srgbClr val="0000FF"/>
                        </a:solidFill>
                        <a:latin typeface="Cambria Math" panose="02040503050406030204" pitchFamily="18" charset="0"/>
                      </a:rPr>
                      <m:t>=</m:t>
                    </m:r>
                    <m:r>
                      <a:rPr lang="en-US" altLang="zh-CN" b="0" i="1" smtClean="0">
                        <a:solidFill>
                          <a:srgbClr val="0000FF"/>
                        </a:solidFill>
                        <a:latin typeface="Cambria Math" panose="02040503050406030204" pitchFamily="18" charset="0"/>
                      </a:rPr>
                      <m:t>𝑘𝑑</m:t>
                    </m:r>
                  </m:oMath>
                </a14:m>
                <a:r>
                  <a:rPr lang="en-US" altLang="zh-CN" dirty="0">
                    <a:solidFill>
                      <a:srgbClr val="0000FF"/>
                    </a:solidFill>
                  </a:rPr>
                  <a:t>, propagation delay</a:t>
                </a:r>
              </a:p>
              <a:p>
                <a:pPr/>
                <a14:m>
                  <m:oMathPara xmlns:m="http://schemas.openxmlformats.org/officeDocument/2006/math">
                    <m:oMathParaPr>
                      <m:jc m:val="centerGroup"/>
                    </m:oMathParaPr>
                    <m:oMath xmlns:m="http://schemas.openxmlformats.org/officeDocument/2006/math">
                      <m:sSub>
                        <m:sSubPr>
                          <m:ctrlPr>
                            <a:rPr lang="en-US" altLang="zh-CN" i="1">
                              <a:solidFill>
                                <a:srgbClr val="0000FF"/>
                              </a:solidFill>
                              <a:latin typeface="Cambria Math" panose="02040503050406030204" pitchFamily="18" charset="0"/>
                            </a:rPr>
                          </m:ctrlPr>
                        </m:sSubPr>
                        <m:e>
                          <m:r>
                            <a:rPr lang="en-US" altLang="zh-CN" i="1">
                              <a:solidFill>
                                <a:srgbClr val="0000FF"/>
                              </a:solidFill>
                              <a:latin typeface="Cambria Math" panose="02040503050406030204" pitchFamily="18" charset="0"/>
                            </a:rPr>
                            <m:t>𝑡</m:t>
                          </m:r>
                        </m:e>
                        <m:sub>
                          <m:r>
                            <a:rPr lang="en-US" altLang="zh-CN" i="1">
                              <a:solidFill>
                                <a:srgbClr val="0000FF"/>
                              </a:solidFill>
                              <a:latin typeface="Cambria Math" panose="02040503050406030204" pitchFamily="18" charset="0"/>
                            </a:rPr>
                            <m:t>𝑐𝑠</m:t>
                          </m:r>
                        </m:sub>
                      </m:sSub>
                      <m:r>
                        <a:rPr lang="en-US" altLang="zh-CN" i="1">
                          <a:solidFill>
                            <a:srgbClr val="0000FF"/>
                          </a:solidFill>
                          <a:latin typeface="Cambria Math" panose="02040503050406030204" pitchFamily="18" charset="0"/>
                        </a:rPr>
                        <m:t>=</m:t>
                      </m:r>
                      <m:r>
                        <a:rPr lang="en-US" altLang="zh-CN" b="0" i="1" smtClean="0">
                          <a:solidFill>
                            <a:srgbClr val="0000FF"/>
                          </a:solidFill>
                          <a:latin typeface="Cambria Math" panose="02040503050406030204" pitchFamily="18" charset="0"/>
                        </a:rPr>
                        <m:t>𝑠</m:t>
                      </m:r>
                      <m:r>
                        <a:rPr lang="en-US" altLang="zh-CN" b="0" i="1" smtClean="0">
                          <a:solidFill>
                            <a:srgbClr val="0000FF"/>
                          </a:solidFill>
                          <a:latin typeface="Cambria Math" panose="02040503050406030204" pitchFamily="18" charset="0"/>
                        </a:rPr>
                        <m:t>+</m:t>
                      </m:r>
                      <m:f>
                        <m:fPr>
                          <m:ctrlPr>
                            <a:rPr lang="en-US" altLang="zh-CN" b="0" i="1" smtClean="0">
                              <a:solidFill>
                                <a:srgbClr val="0000FF"/>
                              </a:solidFill>
                              <a:latin typeface="Cambria Math" panose="02040503050406030204" pitchFamily="18" charset="0"/>
                            </a:rPr>
                          </m:ctrlPr>
                        </m:fPr>
                        <m:num>
                          <m:r>
                            <a:rPr lang="en-US" altLang="zh-CN" b="0" i="1" smtClean="0">
                              <a:solidFill>
                                <a:srgbClr val="0000FF"/>
                              </a:solidFill>
                              <a:latin typeface="Cambria Math" panose="02040503050406030204" pitchFamily="18" charset="0"/>
                            </a:rPr>
                            <m:t>𝑥</m:t>
                          </m:r>
                        </m:num>
                        <m:den>
                          <m:r>
                            <a:rPr lang="en-US" altLang="zh-CN" b="0" i="1" smtClean="0">
                              <a:solidFill>
                                <a:srgbClr val="0000FF"/>
                              </a:solidFill>
                              <a:latin typeface="Cambria Math" panose="02040503050406030204" pitchFamily="18" charset="0"/>
                            </a:rPr>
                            <m:t>𝑏</m:t>
                          </m:r>
                        </m:den>
                      </m:f>
                      <m:r>
                        <a:rPr lang="en-US" altLang="zh-CN" b="0" i="1" smtClean="0">
                          <a:solidFill>
                            <a:srgbClr val="0000FF"/>
                          </a:solidFill>
                          <a:latin typeface="Cambria Math" panose="02040503050406030204" pitchFamily="18" charset="0"/>
                        </a:rPr>
                        <m:t>+</m:t>
                      </m:r>
                      <m:r>
                        <a:rPr lang="en-US" altLang="zh-CN" b="0" i="1" smtClean="0">
                          <a:solidFill>
                            <a:srgbClr val="0000FF"/>
                          </a:solidFill>
                          <a:latin typeface="Cambria Math" panose="02040503050406030204" pitchFamily="18" charset="0"/>
                        </a:rPr>
                        <m:t>𝑘𝑑</m:t>
                      </m:r>
                    </m:oMath>
                  </m:oMathPara>
                </a14:m>
                <a:endParaRPr lang="en-US" altLang="zh-CN" dirty="0">
                  <a:solidFill>
                    <a:srgbClr val="0000FF"/>
                  </a:solidFill>
                </a:endParaRPr>
              </a:p>
              <a:p>
                <a:endParaRPr lang="en-US" altLang="zh-CN" dirty="0"/>
              </a:p>
              <a:p>
                <a:endParaRPr lang="zh-CN" altLang="zh-CN" dirty="0"/>
              </a:p>
            </p:txBody>
          </p:sp>
        </mc:Choice>
        <mc:Fallback xmlns="">
          <p:sp>
            <p:nvSpPr>
              <p:cNvPr id="3" name="副标题 2">
                <a:extLst>
                  <a:ext uri="{FF2B5EF4-FFF2-40B4-BE49-F238E27FC236}">
                    <a16:creationId xmlns:a16="http://schemas.microsoft.com/office/drawing/2014/main" id="{061C4EF7-4592-4860-B54D-0AE07D767EBA}"/>
                  </a:ext>
                </a:extLst>
              </p:cNvPr>
              <p:cNvSpPr>
                <a:spLocks noGrp="1" noRot="1" noChangeAspect="1" noMove="1" noResize="1" noEditPoints="1" noAdjustHandles="1" noChangeArrowheads="1" noChangeShapeType="1" noTextEdit="1"/>
              </p:cNvSpPr>
              <p:nvPr>
                <p:ph idx="1"/>
              </p:nvPr>
            </p:nvSpPr>
            <p:spPr>
              <a:blipFill>
                <a:blip r:embed="rId2"/>
                <a:stretch>
                  <a:fillRect l="-928" t="-1561" r="-162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176988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9282AA-4AFB-7462-2A1D-8DF8264AF245}"/>
              </a:ext>
            </a:extLst>
          </p:cNvPr>
          <p:cNvSpPr>
            <a:spLocks noGrp="1"/>
          </p:cNvSpPr>
          <p:nvPr>
            <p:ph type="title"/>
          </p:nvPr>
        </p:nvSpPr>
        <p:spPr/>
        <p:txBody>
          <a:bodyPr>
            <a:normAutofit fontScale="90000"/>
          </a:bodyPr>
          <a:lstStyle/>
          <a:p>
            <a:endParaRPr lang="zh-CN" altLang="en-US"/>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44E96AC5-F048-C2F4-9F73-809835E49845}"/>
                  </a:ext>
                </a:extLst>
              </p:cNvPr>
              <p:cNvSpPr>
                <a:spLocks noGrp="1"/>
              </p:cNvSpPr>
              <p:nvPr>
                <p:ph idx="1"/>
              </p:nvPr>
            </p:nvSpPr>
            <p:spPr/>
            <p:txBody>
              <a:bodyPr>
                <a:normAutofit/>
              </a:bodyPr>
              <a:lstStyle/>
              <a:p>
                <a:r>
                  <a:rPr lang="en-US" altLang="zh-CN" sz="1800" b="1" i="1" dirty="0">
                    <a:solidFill>
                      <a:srgbClr val="0000FF"/>
                    </a:solidFill>
                    <a:latin typeface="Cambria Math" panose="02040503050406030204" pitchFamily="18" charset="0"/>
                    <a:ea typeface="Cambria Math" panose="02040503050406030204" pitchFamily="18" charset="0"/>
                  </a:rPr>
                  <a:t>For packet switching</a:t>
                </a:r>
                <a:r>
                  <a:rPr lang="en-US" altLang="zh-CN" sz="1800" b="1" i="1" dirty="0">
                    <a:solidFill>
                      <a:srgbClr val="0000FF"/>
                    </a:solidFill>
                  </a:rPr>
                  <a:t>,</a:t>
                </a:r>
              </a:p>
              <a:p>
                <a:pPr/>
                <a14:m>
                  <m:oMathPara xmlns:m="http://schemas.openxmlformats.org/officeDocument/2006/math">
                    <m:oMathParaPr>
                      <m:jc m:val="centerGroup"/>
                    </m:oMathParaPr>
                    <m:oMath xmlns:m="http://schemas.openxmlformats.org/officeDocument/2006/math">
                      <m:sSub>
                        <m:sSubPr>
                          <m:ctrlPr>
                            <a:rPr lang="en-US" altLang="zh-CN" sz="1800" b="1" i="1">
                              <a:solidFill>
                                <a:srgbClr val="0000FF"/>
                              </a:solidFill>
                              <a:latin typeface="Cambria Math" panose="02040503050406030204" pitchFamily="18" charset="0"/>
                            </a:rPr>
                          </m:ctrlPr>
                        </m:sSubPr>
                        <m:e>
                          <m:r>
                            <a:rPr lang="en-US" altLang="zh-CN" sz="1800" b="1" i="1" smtClean="0">
                              <a:solidFill>
                                <a:srgbClr val="0000FF"/>
                              </a:solidFill>
                              <a:latin typeface="Cambria Math" panose="02040503050406030204" pitchFamily="18" charset="0"/>
                            </a:rPr>
                            <m:t>𝒕</m:t>
                          </m:r>
                        </m:e>
                        <m:sub>
                          <m:r>
                            <a:rPr lang="en-US" altLang="zh-CN" sz="1800" b="1" i="1" smtClean="0">
                              <a:solidFill>
                                <a:srgbClr val="0000FF"/>
                              </a:solidFill>
                              <a:latin typeface="Cambria Math" panose="02040503050406030204" pitchFamily="18" charset="0"/>
                            </a:rPr>
                            <m:t>𝒑𝒔</m:t>
                          </m:r>
                        </m:sub>
                      </m:sSub>
                      <m:r>
                        <a:rPr lang="en-US" altLang="zh-CN" sz="1800" b="1" i="1" smtClean="0">
                          <a:solidFill>
                            <a:srgbClr val="0000FF"/>
                          </a:solidFill>
                          <a:latin typeface="Cambria Math" panose="02040503050406030204" pitchFamily="18" charset="0"/>
                        </a:rPr>
                        <m:t>=</m:t>
                      </m:r>
                      <m:sSub>
                        <m:sSubPr>
                          <m:ctrlPr>
                            <a:rPr lang="en-US" altLang="zh-CN" sz="1800" b="1" i="1">
                              <a:solidFill>
                                <a:srgbClr val="0000FF"/>
                              </a:solidFill>
                              <a:latin typeface="Cambria Math" panose="02040503050406030204" pitchFamily="18" charset="0"/>
                            </a:rPr>
                          </m:ctrlPr>
                        </m:sSubPr>
                        <m:e>
                          <m:r>
                            <a:rPr lang="en-US" altLang="zh-CN" sz="1800" b="1" i="1" smtClean="0">
                              <a:solidFill>
                                <a:srgbClr val="0000FF"/>
                              </a:solidFill>
                              <a:latin typeface="Cambria Math" panose="02040503050406030204" pitchFamily="18" charset="0"/>
                            </a:rPr>
                            <m:t>𝒅</m:t>
                          </m:r>
                        </m:e>
                        <m:sub>
                          <m:r>
                            <a:rPr lang="en-US" altLang="zh-CN" sz="1800" b="1" i="1" smtClean="0">
                              <a:solidFill>
                                <a:srgbClr val="0000FF"/>
                              </a:solidFill>
                              <a:latin typeface="Cambria Math" panose="02040503050406030204" pitchFamily="18" charset="0"/>
                            </a:rPr>
                            <m:t>𝒕𝒓𝒂𝒏𝒔</m:t>
                          </m:r>
                        </m:sub>
                      </m:sSub>
                      <m:r>
                        <a:rPr lang="en-US" altLang="zh-CN" sz="1800" b="1" i="1" smtClean="0">
                          <a:solidFill>
                            <a:srgbClr val="0000FF"/>
                          </a:solidFill>
                          <a:latin typeface="Cambria Math" panose="02040503050406030204" pitchFamily="18" charset="0"/>
                        </a:rPr>
                        <m:t>+</m:t>
                      </m:r>
                      <m:sSub>
                        <m:sSubPr>
                          <m:ctrlPr>
                            <a:rPr lang="en-US" altLang="zh-CN" sz="1800" b="1" i="1">
                              <a:solidFill>
                                <a:srgbClr val="0000FF"/>
                              </a:solidFill>
                              <a:latin typeface="Cambria Math" panose="02040503050406030204" pitchFamily="18" charset="0"/>
                            </a:rPr>
                          </m:ctrlPr>
                        </m:sSubPr>
                        <m:e>
                          <m:r>
                            <a:rPr lang="en-US" altLang="zh-CN" sz="1800" b="1" i="1" smtClean="0">
                              <a:solidFill>
                                <a:srgbClr val="0000FF"/>
                              </a:solidFill>
                              <a:latin typeface="Cambria Math" panose="02040503050406030204" pitchFamily="18" charset="0"/>
                            </a:rPr>
                            <m:t>𝒅</m:t>
                          </m:r>
                        </m:e>
                        <m:sub>
                          <m:r>
                            <a:rPr lang="en-US" altLang="zh-CN" sz="1800" b="1" i="1" smtClean="0">
                              <a:solidFill>
                                <a:srgbClr val="0000FF"/>
                              </a:solidFill>
                              <a:latin typeface="Cambria Math" panose="02040503050406030204" pitchFamily="18" charset="0"/>
                            </a:rPr>
                            <m:t>𝒑𝒓𝒐𝒑</m:t>
                          </m:r>
                        </m:sub>
                      </m:sSub>
                      <m:r>
                        <a:rPr lang="en-US" altLang="zh-CN" sz="1800" b="1" i="1" smtClean="0">
                          <a:solidFill>
                            <a:srgbClr val="0000FF"/>
                          </a:solidFill>
                          <a:latin typeface="Cambria Math" panose="02040503050406030204" pitchFamily="18" charset="0"/>
                        </a:rPr>
                        <m:t>+</m:t>
                      </m:r>
                      <m:sSub>
                        <m:sSubPr>
                          <m:ctrlPr>
                            <a:rPr lang="en-US" altLang="zh-CN" sz="1800" b="1" i="1">
                              <a:solidFill>
                                <a:srgbClr val="0000FF"/>
                              </a:solidFill>
                              <a:latin typeface="Cambria Math" panose="02040503050406030204" pitchFamily="18" charset="0"/>
                            </a:rPr>
                          </m:ctrlPr>
                        </m:sSubPr>
                        <m:e>
                          <m:r>
                            <a:rPr lang="en-US" altLang="zh-CN" sz="1800" b="1" i="1" smtClean="0">
                              <a:solidFill>
                                <a:srgbClr val="0000FF"/>
                              </a:solidFill>
                              <a:latin typeface="Cambria Math" panose="02040503050406030204" pitchFamily="18" charset="0"/>
                            </a:rPr>
                            <m:t>𝒅</m:t>
                          </m:r>
                        </m:e>
                        <m:sub>
                          <m:r>
                            <a:rPr lang="en-US" altLang="zh-CN" sz="1800" b="1" i="1" smtClean="0">
                              <a:solidFill>
                                <a:srgbClr val="0000FF"/>
                              </a:solidFill>
                              <a:latin typeface="Cambria Math" panose="02040503050406030204" pitchFamily="18" charset="0"/>
                            </a:rPr>
                            <m:t>𝒒𝒖𝒆𝒖𝒆</m:t>
                          </m:r>
                        </m:sub>
                      </m:sSub>
                      <m:r>
                        <a:rPr lang="en-US" altLang="zh-CN" sz="1800" b="1" i="1" smtClean="0">
                          <a:solidFill>
                            <a:srgbClr val="0000FF"/>
                          </a:solidFill>
                          <a:latin typeface="Cambria Math" panose="02040503050406030204" pitchFamily="18" charset="0"/>
                        </a:rPr>
                        <m:t>+</m:t>
                      </m:r>
                      <m:sSub>
                        <m:sSubPr>
                          <m:ctrlPr>
                            <a:rPr lang="en-US" altLang="zh-CN" sz="1800" b="1" i="1">
                              <a:solidFill>
                                <a:srgbClr val="0000FF"/>
                              </a:solidFill>
                              <a:latin typeface="Cambria Math" panose="02040503050406030204" pitchFamily="18" charset="0"/>
                            </a:rPr>
                          </m:ctrlPr>
                        </m:sSubPr>
                        <m:e>
                          <m:r>
                            <a:rPr lang="en-US" altLang="zh-CN" sz="1800" b="1" i="1" smtClean="0">
                              <a:solidFill>
                                <a:srgbClr val="0000FF"/>
                              </a:solidFill>
                              <a:latin typeface="Cambria Math" panose="02040503050406030204" pitchFamily="18" charset="0"/>
                            </a:rPr>
                            <m:t>𝒅</m:t>
                          </m:r>
                        </m:e>
                        <m:sub>
                          <m:r>
                            <a:rPr lang="en-US" altLang="zh-CN" sz="1800" b="1" i="1" smtClean="0">
                              <a:solidFill>
                                <a:srgbClr val="0000FF"/>
                              </a:solidFill>
                              <a:latin typeface="Cambria Math" panose="02040503050406030204" pitchFamily="18" charset="0"/>
                            </a:rPr>
                            <m:t>𝒑𝒓𝒐𝒄</m:t>
                          </m:r>
                        </m:sub>
                      </m:sSub>
                    </m:oMath>
                  </m:oMathPara>
                </a14:m>
                <a:endParaRPr lang="en-US" altLang="zh-CN" sz="1800" b="1" dirty="0">
                  <a:solidFill>
                    <a:srgbClr val="0000FF"/>
                  </a:solidFill>
                </a:endParaRPr>
              </a:p>
              <a:p>
                <a14:m>
                  <m:oMath xmlns:m="http://schemas.openxmlformats.org/officeDocument/2006/math">
                    <m:sSub>
                      <m:sSubPr>
                        <m:ctrlPr>
                          <a:rPr lang="en-US" altLang="zh-CN" sz="1800" b="1" i="1">
                            <a:solidFill>
                              <a:srgbClr val="0000FF"/>
                            </a:solidFill>
                            <a:latin typeface="Cambria Math" panose="02040503050406030204" pitchFamily="18" charset="0"/>
                          </a:rPr>
                        </m:ctrlPr>
                      </m:sSubPr>
                      <m:e>
                        <m:r>
                          <a:rPr lang="en-US" altLang="zh-CN" sz="1800" b="1" i="1" smtClean="0">
                            <a:solidFill>
                              <a:srgbClr val="0000FF"/>
                            </a:solidFill>
                            <a:latin typeface="Cambria Math" panose="02040503050406030204" pitchFamily="18" charset="0"/>
                          </a:rPr>
                          <m:t>𝒅</m:t>
                        </m:r>
                      </m:e>
                      <m:sub>
                        <m:r>
                          <a:rPr lang="en-US" altLang="zh-CN" sz="1800" b="1" i="1" smtClean="0">
                            <a:solidFill>
                              <a:srgbClr val="0000FF"/>
                            </a:solidFill>
                            <a:latin typeface="Cambria Math" panose="02040503050406030204" pitchFamily="18" charset="0"/>
                          </a:rPr>
                          <m:t>𝒕𝒓𝒂𝒏𝒔</m:t>
                        </m:r>
                      </m:sub>
                    </m:sSub>
                    <m:r>
                      <a:rPr lang="en-US" altLang="zh-CN" sz="1800" b="1" i="1" smtClean="0">
                        <a:solidFill>
                          <a:srgbClr val="0000FF"/>
                        </a:solidFill>
                        <a:latin typeface="Cambria Math" panose="02040503050406030204" pitchFamily="18" charset="0"/>
                      </a:rPr>
                      <m:t>=</m:t>
                    </m:r>
                    <m:f>
                      <m:fPr>
                        <m:ctrlPr>
                          <a:rPr lang="en-US" altLang="zh-CN" sz="1800" b="1" i="1">
                            <a:solidFill>
                              <a:srgbClr val="0000FF"/>
                            </a:solidFill>
                            <a:latin typeface="Cambria Math" panose="02040503050406030204" pitchFamily="18" charset="0"/>
                          </a:rPr>
                        </m:ctrlPr>
                      </m:fPr>
                      <m:num>
                        <m:r>
                          <a:rPr lang="en-US" altLang="zh-CN" sz="1800" b="1" i="1" smtClean="0">
                            <a:solidFill>
                              <a:srgbClr val="0000FF"/>
                            </a:solidFill>
                            <a:latin typeface="Cambria Math" panose="02040503050406030204" pitchFamily="18" charset="0"/>
                          </a:rPr>
                          <m:t>𝒙</m:t>
                        </m:r>
                      </m:num>
                      <m:den>
                        <m:r>
                          <a:rPr lang="en-US" altLang="zh-CN" sz="1800" b="1" i="1" smtClean="0">
                            <a:solidFill>
                              <a:srgbClr val="0000FF"/>
                            </a:solidFill>
                            <a:latin typeface="Cambria Math" panose="02040503050406030204" pitchFamily="18" charset="0"/>
                          </a:rPr>
                          <m:t>𝒃</m:t>
                        </m:r>
                      </m:den>
                    </m:f>
                    <m:r>
                      <a:rPr lang="en-US" altLang="zh-CN" sz="1800" b="1" i="1" smtClean="0">
                        <a:solidFill>
                          <a:srgbClr val="0000FF"/>
                        </a:solidFill>
                        <a:latin typeface="Cambria Math" panose="02040503050406030204" pitchFamily="18" charset="0"/>
                      </a:rPr>
                      <m:t>+</m:t>
                    </m:r>
                    <m:f>
                      <m:fPr>
                        <m:ctrlPr>
                          <a:rPr lang="en-US" altLang="zh-CN" sz="1800" b="1" i="1">
                            <a:solidFill>
                              <a:srgbClr val="0000FF"/>
                            </a:solidFill>
                            <a:latin typeface="Cambria Math" panose="02040503050406030204" pitchFamily="18" charset="0"/>
                          </a:rPr>
                        </m:ctrlPr>
                      </m:fPr>
                      <m:num>
                        <m:d>
                          <m:dPr>
                            <m:ctrlPr>
                              <a:rPr lang="en-US" altLang="zh-CN" sz="1800" b="1" i="1">
                                <a:solidFill>
                                  <a:srgbClr val="0000FF"/>
                                </a:solidFill>
                                <a:latin typeface="Cambria Math" panose="02040503050406030204" pitchFamily="18" charset="0"/>
                              </a:rPr>
                            </m:ctrlPr>
                          </m:dPr>
                          <m:e>
                            <m:r>
                              <a:rPr lang="en-US" altLang="zh-CN" sz="1800" b="1" i="1" smtClean="0">
                                <a:solidFill>
                                  <a:srgbClr val="0000FF"/>
                                </a:solidFill>
                                <a:latin typeface="Cambria Math" panose="02040503050406030204" pitchFamily="18" charset="0"/>
                              </a:rPr>
                              <m:t>𝒌</m:t>
                            </m:r>
                            <m:r>
                              <a:rPr lang="en-US" altLang="zh-CN" sz="1800" b="1" i="1" smtClean="0">
                                <a:solidFill>
                                  <a:srgbClr val="0000FF"/>
                                </a:solidFill>
                                <a:latin typeface="Cambria Math" panose="02040503050406030204" pitchFamily="18" charset="0"/>
                              </a:rPr>
                              <m:t>−</m:t>
                            </m:r>
                            <m:r>
                              <a:rPr lang="en-US" altLang="zh-CN" sz="1800" b="1" i="1" smtClean="0">
                                <a:solidFill>
                                  <a:srgbClr val="0000FF"/>
                                </a:solidFill>
                                <a:latin typeface="Cambria Math" panose="02040503050406030204" pitchFamily="18" charset="0"/>
                              </a:rPr>
                              <m:t>𝟏</m:t>
                            </m:r>
                          </m:e>
                        </m:d>
                        <m:r>
                          <a:rPr lang="en-US" altLang="zh-CN" sz="1800" b="1" i="1" smtClean="0">
                            <a:solidFill>
                              <a:srgbClr val="0000FF"/>
                            </a:solidFill>
                            <a:latin typeface="Cambria Math" panose="02040503050406030204" pitchFamily="18" charset="0"/>
                          </a:rPr>
                          <m:t>𝒑</m:t>
                        </m:r>
                      </m:num>
                      <m:den>
                        <m:r>
                          <a:rPr lang="en-US" altLang="zh-CN" sz="1800" b="1" i="1" smtClean="0">
                            <a:solidFill>
                              <a:srgbClr val="0000FF"/>
                            </a:solidFill>
                            <a:latin typeface="Cambria Math" panose="02040503050406030204" pitchFamily="18" charset="0"/>
                          </a:rPr>
                          <m:t>𝒃</m:t>
                        </m:r>
                      </m:den>
                    </m:f>
                  </m:oMath>
                </a14:m>
                <a:r>
                  <a:rPr lang="en-US" altLang="zh-CN" sz="1800" b="1" dirty="0">
                    <a:solidFill>
                      <a:srgbClr val="0000FF"/>
                    </a:solidFill>
                  </a:rPr>
                  <a:t>, packet transmission delay</a:t>
                </a:r>
              </a:p>
              <a:p>
                <a:pPr lvl="1"/>
                <a:r>
                  <a:rPr lang="en-US" altLang="zh-CN" sz="1600" b="1" dirty="0">
                    <a:solidFill>
                      <a:srgbClr val="0000FF"/>
                    </a:solidFill>
                  </a:rPr>
                  <a:t>The number</a:t>
                </a:r>
                <a:r>
                  <a:rPr lang="zh-CN" altLang="en-US" sz="1600" b="1" dirty="0">
                    <a:solidFill>
                      <a:srgbClr val="0000FF"/>
                    </a:solidFill>
                  </a:rPr>
                  <a:t> </a:t>
                </a:r>
                <a:r>
                  <a:rPr lang="en-US" altLang="zh-CN" sz="1600" b="1" dirty="0">
                    <a:solidFill>
                      <a:srgbClr val="0000FF"/>
                    </a:solidFill>
                  </a:rPr>
                  <a:t>of packets for</a:t>
                </a:r>
                <a:r>
                  <a:rPr lang="en-US" altLang="zh-CN" sz="1600" b="1" i="1" dirty="0">
                    <a:solidFill>
                      <a:srgbClr val="0000FF"/>
                    </a:solidFill>
                    <a:ea typeface="宋体" panose="02010600030101010101" pitchFamily="2" charset="-122"/>
                  </a:rPr>
                  <a:t> x</a:t>
                </a:r>
                <a:r>
                  <a:rPr lang="en-US" altLang="zh-CN" sz="1600" b="1" dirty="0">
                    <a:solidFill>
                      <a:srgbClr val="0000FF"/>
                    </a:solidFill>
                    <a:ea typeface="宋体" panose="02010600030101010101" pitchFamily="2" charset="-122"/>
                  </a:rPr>
                  <a:t>-bit message with packet size  of </a:t>
                </a:r>
                <a:r>
                  <a:rPr lang="en-US" altLang="zh-CN" sz="1600" b="1" i="1" dirty="0">
                    <a:solidFill>
                      <a:srgbClr val="0000FF"/>
                    </a:solidFill>
                    <a:ea typeface="宋体" panose="02010600030101010101" pitchFamily="2" charset="-122"/>
                  </a:rPr>
                  <a:t>p</a:t>
                </a:r>
                <a:r>
                  <a:rPr lang="en-US" altLang="zh-CN" sz="1600" b="1" dirty="0">
                    <a:solidFill>
                      <a:srgbClr val="0000FF"/>
                    </a:solidFill>
                    <a:ea typeface="宋体" panose="02010600030101010101" pitchFamily="2" charset="-122"/>
                  </a:rPr>
                  <a:t> bits: </a:t>
                </a:r>
                <a:r>
                  <a:rPr lang="en-US" altLang="zh-CN" sz="1600" b="1" dirty="0">
                    <a:solidFill>
                      <a:srgbClr val="0000FF"/>
                    </a:solidFill>
                    <a:latin typeface="Lucida Sans Unicode" panose="020B0602030504020204" pitchFamily="34" charset="0"/>
                    <a:ea typeface="宋体" panose="02010600030101010101" pitchFamily="2" charset="-122"/>
                    <a:cs typeface="Lucida Sans Unicode" panose="020B0602030504020204" pitchFamily="34" charset="0"/>
                  </a:rPr>
                  <a:t>⌈</a:t>
                </a:r>
                <a14:m>
                  <m:oMath xmlns:m="http://schemas.openxmlformats.org/officeDocument/2006/math">
                    <m:f>
                      <m:fPr>
                        <m:ctrlPr>
                          <a:rPr lang="en-US" altLang="zh-CN" sz="1600" b="1" i="1" smtClean="0">
                            <a:solidFill>
                              <a:srgbClr val="0000FF"/>
                            </a:solidFill>
                            <a:latin typeface="Cambria Math" panose="02040503050406030204" pitchFamily="18" charset="0"/>
                            <a:ea typeface="宋体" panose="02010600030101010101" pitchFamily="2" charset="-122"/>
                            <a:cs typeface="Lucida Sans Unicode" panose="020B0602030504020204" pitchFamily="34" charset="0"/>
                          </a:rPr>
                        </m:ctrlPr>
                      </m:fPr>
                      <m:num>
                        <m:r>
                          <a:rPr lang="en-US" altLang="zh-CN" sz="1600" b="1" i="1" smtClean="0">
                            <a:solidFill>
                              <a:srgbClr val="0000FF"/>
                            </a:solidFill>
                            <a:latin typeface="Cambria Math" panose="02040503050406030204" pitchFamily="18" charset="0"/>
                            <a:ea typeface="宋体" panose="02010600030101010101" pitchFamily="2" charset="-122"/>
                            <a:cs typeface="Lucida Sans Unicode" panose="020B0602030504020204" pitchFamily="34" charset="0"/>
                          </a:rPr>
                          <m:t>𝒙</m:t>
                        </m:r>
                      </m:num>
                      <m:den>
                        <m:r>
                          <a:rPr lang="en-US" altLang="zh-CN" sz="1600" b="1" i="1" smtClean="0">
                            <a:solidFill>
                              <a:srgbClr val="0000FF"/>
                            </a:solidFill>
                            <a:latin typeface="Cambria Math" panose="02040503050406030204" pitchFamily="18" charset="0"/>
                            <a:ea typeface="宋体" panose="02010600030101010101" pitchFamily="2" charset="-122"/>
                            <a:cs typeface="Lucida Sans Unicode" panose="020B0602030504020204" pitchFamily="34" charset="0"/>
                          </a:rPr>
                          <m:t>𝒑</m:t>
                        </m:r>
                      </m:den>
                    </m:f>
                  </m:oMath>
                </a14:m>
                <a:r>
                  <a:rPr lang="en-US" altLang="zh-CN" sz="1600" b="1" dirty="0">
                    <a:solidFill>
                      <a:srgbClr val="0000FF"/>
                    </a:solidFill>
                    <a:latin typeface="Lucida Sans Unicode" panose="020B0602030504020204" pitchFamily="34" charset="0"/>
                    <a:ea typeface="宋体" panose="02010600030101010101" pitchFamily="2" charset="-122"/>
                    <a:cs typeface="Lucida Sans Unicode" panose="020B0602030504020204" pitchFamily="34" charset="0"/>
                  </a:rPr>
                  <a:t>⌉</a:t>
                </a:r>
              </a:p>
              <a:p>
                <a:pPr lvl="1"/>
                <a:r>
                  <a:rPr lang="en-US" altLang="zh-CN" sz="1600" b="1" dirty="0">
                    <a:solidFill>
                      <a:srgbClr val="0000FF"/>
                    </a:solidFill>
                  </a:rPr>
                  <a:t>The delay for the first packet to arrive at the destination k hops away: </a:t>
                </a:r>
                <a14:m>
                  <m:oMath xmlns:m="http://schemas.openxmlformats.org/officeDocument/2006/math">
                    <m:sSub>
                      <m:sSubPr>
                        <m:ctrlPr>
                          <a:rPr lang="en-US" altLang="zh-CN" sz="1600" b="1" i="1" smtClean="0">
                            <a:solidFill>
                              <a:srgbClr val="0000FF"/>
                            </a:solidFill>
                            <a:latin typeface="Cambria Math" panose="02040503050406030204" pitchFamily="18" charset="0"/>
                            <a:ea typeface="宋体" panose="02010600030101010101" pitchFamily="2" charset="-122"/>
                            <a:cs typeface="Lucida Sans Unicode" panose="020B0602030504020204" pitchFamily="34" charset="0"/>
                          </a:rPr>
                        </m:ctrlPr>
                      </m:sSubPr>
                      <m:e>
                        <m:r>
                          <a:rPr lang="en-US" altLang="zh-CN" sz="1600" b="1" i="1" smtClean="0">
                            <a:solidFill>
                              <a:srgbClr val="0000FF"/>
                            </a:solidFill>
                            <a:latin typeface="Cambria Math" panose="02040503050406030204" pitchFamily="18" charset="0"/>
                            <a:ea typeface="宋体" panose="02010600030101010101" pitchFamily="2" charset="-122"/>
                            <a:cs typeface="Lucida Sans Unicode" panose="020B0602030504020204" pitchFamily="34" charset="0"/>
                          </a:rPr>
                          <m:t>𝒕</m:t>
                        </m:r>
                      </m:e>
                      <m:sub>
                        <m:r>
                          <a:rPr lang="en-US" altLang="zh-CN" sz="1600" b="1" i="1" smtClean="0">
                            <a:solidFill>
                              <a:srgbClr val="0000FF"/>
                            </a:solidFill>
                            <a:latin typeface="Cambria Math" panose="02040503050406030204" pitchFamily="18" charset="0"/>
                            <a:ea typeface="宋体" panose="02010600030101010101" pitchFamily="2" charset="-122"/>
                            <a:cs typeface="Lucida Sans Unicode" panose="020B0602030504020204" pitchFamily="34" charset="0"/>
                          </a:rPr>
                          <m:t>𝟏</m:t>
                        </m:r>
                      </m:sub>
                    </m:sSub>
                    <m:r>
                      <a:rPr lang="en-US" altLang="zh-CN" sz="1600" b="1" i="1" smtClean="0">
                        <a:solidFill>
                          <a:srgbClr val="0000FF"/>
                        </a:solidFill>
                        <a:latin typeface="Cambria Math" panose="02040503050406030204" pitchFamily="18" charset="0"/>
                        <a:ea typeface="宋体" panose="02010600030101010101" pitchFamily="2" charset="-122"/>
                        <a:cs typeface="Lucida Sans Unicode" panose="020B0602030504020204" pitchFamily="34" charset="0"/>
                      </a:rPr>
                      <m:t>=</m:t>
                    </m:r>
                    <m:r>
                      <a:rPr lang="en-US" altLang="zh-CN" sz="1600" b="1" i="1" smtClean="0">
                        <a:solidFill>
                          <a:srgbClr val="0000FF"/>
                        </a:solidFill>
                        <a:latin typeface="Cambria Math" panose="02040503050406030204" pitchFamily="18" charset="0"/>
                        <a:ea typeface="宋体" panose="02010600030101010101" pitchFamily="2" charset="-122"/>
                        <a:cs typeface="Lucida Sans Unicode" panose="020B0602030504020204" pitchFamily="34" charset="0"/>
                      </a:rPr>
                      <m:t>𝒌</m:t>
                    </m:r>
                    <m:r>
                      <a:rPr lang="en-US" altLang="zh-CN" sz="1600" b="1" i="1" smtClean="0">
                        <a:solidFill>
                          <a:srgbClr val="0000FF"/>
                        </a:solidFill>
                        <a:latin typeface="Cambria Math" panose="02040503050406030204" pitchFamily="18" charset="0"/>
                        <a:ea typeface="Cambria Math" panose="02040503050406030204" pitchFamily="18" charset="0"/>
                        <a:cs typeface="Lucida Sans Unicode" panose="020B0602030504020204" pitchFamily="34" charset="0"/>
                      </a:rPr>
                      <m:t>(</m:t>
                    </m:r>
                    <m:r>
                      <a:rPr lang="en-US" altLang="zh-CN" sz="1600" b="1" i="1" smtClean="0">
                        <a:solidFill>
                          <a:srgbClr val="0000FF"/>
                        </a:solidFill>
                        <a:latin typeface="Cambria Math" panose="02040503050406030204" pitchFamily="18" charset="0"/>
                        <a:ea typeface="Cambria Math" panose="02040503050406030204" pitchFamily="18" charset="0"/>
                        <a:cs typeface="Lucida Sans Unicode" panose="020B0602030504020204" pitchFamily="34" charset="0"/>
                      </a:rPr>
                      <m:t>𝒅</m:t>
                    </m:r>
                    <m:r>
                      <a:rPr lang="en-US" altLang="zh-CN" sz="1600" b="1" i="1" smtClean="0">
                        <a:solidFill>
                          <a:srgbClr val="0000FF"/>
                        </a:solidFill>
                        <a:latin typeface="Cambria Math" panose="02040503050406030204" pitchFamily="18" charset="0"/>
                        <a:ea typeface="Cambria Math" panose="02040503050406030204" pitchFamily="18" charset="0"/>
                        <a:cs typeface="Lucida Sans Unicode" panose="020B0602030504020204" pitchFamily="34" charset="0"/>
                      </a:rPr>
                      <m:t>+</m:t>
                    </m:r>
                    <m:f>
                      <m:fPr>
                        <m:ctrlPr>
                          <a:rPr lang="en-US" altLang="zh-CN" sz="1600" b="1" i="1" smtClean="0">
                            <a:solidFill>
                              <a:srgbClr val="0000FF"/>
                            </a:solidFill>
                            <a:latin typeface="Cambria Math" panose="02040503050406030204" pitchFamily="18" charset="0"/>
                            <a:ea typeface="Cambria Math" panose="02040503050406030204" pitchFamily="18" charset="0"/>
                            <a:cs typeface="Lucida Sans Unicode" panose="020B0602030504020204" pitchFamily="34" charset="0"/>
                          </a:rPr>
                        </m:ctrlPr>
                      </m:fPr>
                      <m:num>
                        <m:r>
                          <a:rPr lang="en-US" altLang="zh-CN" sz="1600" b="1" i="1" smtClean="0">
                            <a:solidFill>
                              <a:srgbClr val="0000FF"/>
                            </a:solidFill>
                            <a:latin typeface="Cambria Math" panose="02040503050406030204" pitchFamily="18" charset="0"/>
                            <a:ea typeface="Cambria Math" panose="02040503050406030204" pitchFamily="18" charset="0"/>
                            <a:cs typeface="Lucida Sans Unicode" panose="020B0602030504020204" pitchFamily="34" charset="0"/>
                          </a:rPr>
                          <m:t>𝒑</m:t>
                        </m:r>
                      </m:num>
                      <m:den>
                        <m:r>
                          <a:rPr lang="en-US" altLang="zh-CN" sz="1600" b="1" i="1" smtClean="0">
                            <a:solidFill>
                              <a:srgbClr val="0000FF"/>
                            </a:solidFill>
                            <a:latin typeface="Cambria Math" panose="02040503050406030204" pitchFamily="18" charset="0"/>
                            <a:ea typeface="Cambria Math" panose="02040503050406030204" pitchFamily="18" charset="0"/>
                            <a:cs typeface="Lucida Sans Unicode" panose="020B0602030504020204" pitchFamily="34" charset="0"/>
                          </a:rPr>
                          <m:t>𝒃</m:t>
                        </m:r>
                      </m:den>
                    </m:f>
                    <m:r>
                      <a:rPr lang="en-US" altLang="zh-CN" sz="1600" b="1" i="1" smtClean="0">
                        <a:solidFill>
                          <a:srgbClr val="0000FF"/>
                        </a:solidFill>
                        <a:latin typeface="Cambria Math" panose="02040503050406030204" pitchFamily="18" charset="0"/>
                        <a:ea typeface="Cambria Math" panose="02040503050406030204" pitchFamily="18" charset="0"/>
                        <a:cs typeface="Lucida Sans Unicode" panose="020B0602030504020204" pitchFamily="34" charset="0"/>
                      </a:rPr>
                      <m:t>)</m:t>
                    </m:r>
                  </m:oMath>
                </a14:m>
                <a:r>
                  <a:rPr lang="en-US" altLang="zh-CN" sz="1600" b="1" dirty="0">
                    <a:solidFill>
                      <a:srgbClr val="0000FF"/>
                    </a:solidFill>
                  </a:rPr>
                  <a:t> </a:t>
                </a:r>
              </a:p>
              <a:p>
                <a:pPr lvl="1"/>
                <a:r>
                  <a:rPr lang="en-US" altLang="zh-CN" sz="1600" b="1" dirty="0">
                    <a:solidFill>
                      <a:srgbClr val="0000FF"/>
                    </a:solidFill>
                  </a:rPr>
                  <a:t>The delay for the rest packets to arrive at the destination k hops away: </a:t>
                </a:r>
                <a14:m>
                  <m:oMath xmlns:m="http://schemas.openxmlformats.org/officeDocument/2006/math">
                    <m:sSub>
                      <m:sSubPr>
                        <m:ctrlPr>
                          <a:rPr lang="en-US" altLang="zh-CN" sz="1600" b="1" i="1" smtClean="0">
                            <a:solidFill>
                              <a:srgbClr val="0000FF"/>
                            </a:solidFill>
                            <a:latin typeface="Cambria Math" panose="02040503050406030204" pitchFamily="18" charset="0"/>
                            <a:ea typeface="宋体" panose="02010600030101010101" pitchFamily="2" charset="-122"/>
                            <a:cs typeface="Lucida Sans Unicode" panose="020B0602030504020204" pitchFamily="34" charset="0"/>
                          </a:rPr>
                        </m:ctrlPr>
                      </m:sSubPr>
                      <m:e>
                        <m:r>
                          <a:rPr lang="en-US" altLang="zh-CN" sz="1600" b="1" i="1" smtClean="0">
                            <a:solidFill>
                              <a:srgbClr val="0000FF"/>
                            </a:solidFill>
                            <a:latin typeface="Cambria Math" panose="02040503050406030204" pitchFamily="18" charset="0"/>
                            <a:ea typeface="宋体" panose="02010600030101010101" pitchFamily="2" charset="-122"/>
                            <a:cs typeface="Lucida Sans Unicode" panose="020B0602030504020204" pitchFamily="34" charset="0"/>
                          </a:rPr>
                          <m:t>𝒕</m:t>
                        </m:r>
                      </m:e>
                      <m:sub>
                        <m:r>
                          <a:rPr lang="en-US" altLang="zh-CN" sz="1600" b="1" i="1" smtClean="0">
                            <a:solidFill>
                              <a:srgbClr val="0000FF"/>
                            </a:solidFill>
                            <a:latin typeface="Cambria Math" panose="02040503050406030204" pitchFamily="18" charset="0"/>
                            <a:ea typeface="宋体" panose="02010600030101010101" pitchFamily="2" charset="-122"/>
                            <a:cs typeface="Lucida Sans Unicode" panose="020B0602030504020204" pitchFamily="34" charset="0"/>
                          </a:rPr>
                          <m:t>𝒓</m:t>
                        </m:r>
                      </m:sub>
                    </m:sSub>
                    <m:r>
                      <a:rPr lang="en-US" altLang="zh-CN" sz="1600" b="1" i="1" smtClean="0">
                        <a:solidFill>
                          <a:srgbClr val="0000FF"/>
                        </a:solidFill>
                        <a:latin typeface="Cambria Math" panose="02040503050406030204" pitchFamily="18" charset="0"/>
                        <a:ea typeface="宋体" panose="02010600030101010101" pitchFamily="2" charset="-122"/>
                        <a:cs typeface="Lucida Sans Unicode" panose="020B0602030504020204" pitchFamily="34" charset="0"/>
                      </a:rPr>
                      <m:t>=</m:t>
                    </m:r>
                    <m:d>
                      <m:dPr>
                        <m:ctrlPr>
                          <a:rPr lang="en-US" altLang="zh-CN" sz="1600" b="1" i="1" smtClean="0">
                            <a:solidFill>
                              <a:srgbClr val="0000FF"/>
                            </a:solidFill>
                            <a:latin typeface="Cambria Math" panose="02040503050406030204" pitchFamily="18" charset="0"/>
                            <a:ea typeface="宋体" panose="02010600030101010101" pitchFamily="2" charset="-122"/>
                            <a:cs typeface="Lucida Sans Unicode" panose="020B0602030504020204" pitchFamily="34" charset="0"/>
                          </a:rPr>
                        </m:ctrlPr>
                      </m:dPr>
                      <m:e>
                        <m:r>
                          <m:rPr>
                            <m:nor/>
                          </m:rPr>
                          <a:rPr lang="en-US" altLang="zh-CN" sz="1600" b="1" dirty="0">
                            <a:solidFill>
                              <a:srgbClr val="0000FF"/>
                            </a:solidFill>
                            <a:latin typeface="Lucida Sans Unicode" panose="020B0602030504020204" pitchFamily="34" charset="0"/>
                            <a:ea typeface="宋体" panose="02010600030101010101" pitchFamily="2" charset="-122"/>
                            <a:cs typeface="Lucida Sans Unicode" panose="020B0602030504020204" pitchFamily="34" charset="0"/>
                          </a:rPr>
                          <m:t>⌈</m:t>
                        </m:r>
                        <m:f>
                          <m:fPr>
                            <m:ctrlPr>
                              <a:rPr lang="en-US" altLang="zh-CN" sz="1600" b="1" i="1">
                                <a:solidFill>
                                  <a:srgbClr val="0000FF"/>
                                </a:solidFill>
                                <a:latin typeface="Cambria Math" panose="02040503050406030204" pitchFamily="18" charset="0"/>
                                <a:ea typeface="宋体" panose="02010600030101010101" pitchFamily="2" charset="-122"/>
                                <a:cs typeface="Lucida Sans Unicode" panose="020B0602030504020204" pitchFamily="34" charset="0"/>
                              </a:rPr>
                            </m:ctrlPr>
                          </m:fPr>
                          <m:num>
                            <m:r>
                              <a:rPr lang="en-US" altLang="zh-CN" sz="1600" b="1" i="1" smtClean="0">
                                <a:solidFill>
                                  <a:srgbClr val="0000FF"/>
                                </a:solidFill>
                                <a:latin typeface="Cambria Math" panose="02040503050406030204" pitchFamily="18" charset="0"/>
                                <a:ea typeface="宋体" panose="02010600030101010101" pitchFamily="2" charset="-122"/>
                                <a:cs typeface="Lucida Sans Unicode" panose="020B0602030504020204" pitchFamily="34" charset="0"/>
                              </a:rPr>
                              <m:t>𝒙</m:t>
                            </m:r>
                          </m:num>
                          <m:den>
                            <m:r>
                              <a:rPr lang="en-US" altLang="zh-CN" sz="1600" b="1" i="1" smtClean="0">
                                <a:solidFill>
                                  <a:srgbClr val="0000FF"/>
                                </a:solidFill>
                                <a:latin typeface="Cambria Math" panose="02040503050406030204" pitchFamily="18" charset="0"/>
                                <a:ea typeface="宋体" panose="02010600030101010101" pitchFamily="2" charset="-122"/>
                                <a:cs typeface="Lucida Sans Unicode" panose="020B0602030504020204" pitchFamily="34" charset="0"/>
                              </a:rPr>
                              <m:t>𝒑</m:t>
                            </m:r>
                          </m:den>
                        </m:f>
                        <m:r>
                          <m:rPr>
                            <m:nor/>
                          </m:rPr>
                          <a:rPr lang="en-US" altLang="zh-CN" sz="1600" b="1" dirty="0">
                            <a:solidFill>
                              <a:srgbClr val="0000FF"/>
                            </a:solidFill>
                            <a:latin typeface="Lucida Sans Unicode" panose="020B0602030504020204" pitchFamily="34" charset="0"/>
                            <a:ea typeface="宋体" panose="02010600030101010101" pitchFamily="2" charset="-122"/>
                            <a:cs typeface="Lucida Sans Unicode" panose="020B0602030504020204" pitchFamily="34" charset="0"/>
                          </a:rPr>
                          <m:t>⌉</m:t>
                        </m:r>
                        <m:r>
                          <a:rPr lang="en-US" altLang="zh-CN" sz="1600" b="1" i="1" smtClean="0">
                            <a:solidFill>
                              <a:srgbClr val="0000FF"/>
                            </a:solidFill>
                            <a:latin typeface="Cambria Math" panose="02040503050406030204" pitchFamily="18" charset="0"/>
                          </a:rPr>
                          <m:t>−</m:t>
                        </m:r>
                        <m:r>
                          <a:rPr lang="en-US" altLang="zh-CN" sz="1600" b="1" i="1" smtClean="0">
                            <a:solidFill>
                              <a:srgbClr val="0000FF"/>
                            </a:solidFill>
                            <a:latin typeface="Cambria Math" panose="02040503050406030204" pitchFamily="18" charset="0"/>
                          </a:rPr>
                          <m:t>𝟏</m:t>
                        </m:r>
                      </m:e>
                    </m:d>
                    <m:r>
                      <a:rPr lang="en-US" altLang="zh-CN" sz="1600" b="1" i="1" smtClean="0">
                        <a:solidFill>
                          <a:srgbClr val="0000FF"/>
                        </a:solidFill>
                        <a:latin typeface="Cambria Math" panose="02040503050406030204" pitchFamily="18" charset="0"/>
                        <a:ea typeface="Cambria Math" panose="02040503050406030204" pitchFamily="18" charset="0"/>
                      </a:rPr>
                      <m:t>×</m:t>
                    </m:r>
                    <m:f>
                      <m:fPr>
                        <m:ctrlPr>
                          <a:rPr lang="en-US" altLang="zh-CN" sz="1600" b="1" i="1" smtClean="0">
                            <a:solidFill>
                              <a:srgbClr val="0000FF"/>
                            </a:solidFill>
                            <a:latin typeface="Cambria Math" panose="02040503050406030204" pitchFamily="18" charset="0"/>
                            <a:ea typeface="Cambria Math" panose="02040503050406030204" pitchFamily="18" charset="0"/>
                          </a:rPr>
                        </m:ctrlPr>
                      </m:fPr>
                      <m:num>
                        <m:r>
                          <a:rPr lang="en-US" altLang="zh-CN" sz="1600" b="1" i="1" smtClean="0">
                            <a:solidFill>
                              <a:srgbClr val="0000FF"/>
                            </a:solidFill>
                            <a:latin typeface="Cambria Math" panose="02040503050406030204" pitchFamily="18" charset="0"/>
                            <a:ea typeface="Cambria Math" panose="02040503050406030204" pitchFamily="18" charset="0"/>
                          </a:rPr>
                          <m:t>𝒑</m:t>
                        </m:r>
                      </m:num>
                      <m:den>
                        <m:r>
                          <a:rPr lang="en-US" altLang="zh-CN" sz="1600" b="1" i="1" smtClean="0">
                            <a:solidFill>
                              <a:srgbClr val="0000FF"/>
                            </a:solidFill>
                            <a:latin typeface="Cambria Math" panose="02040503050406030204" pitchFamily="18" charset="0"/>
                            <a:ea typeface="Cambria Math" panose="02040503050406030204" pitchFamily="18" charset="0"/>
                          </a:rPr>
                          <m:t>𝒃</m:t>
                        </m:r>
                      </m:den>
                    </m:f>
                  </m:oMath>
                </a14:m>
                <a:endParaRPr lang="en-US" altLang="zh-CN" sz="1600" b="1" dirty="0">
                  <a:solidFill>
                    <a:srgbClr val="0000FF"/>
                  </a:solidFill>
                </a:endParaRPr>
              </a:p>
              <a:p>
                <a:pPr lvl="1"/>
                <a:r>
                  <a:rPr lang="en-US" altLang="zh-CN" sz="1600" b="1" dirty="0">
                    <a:solidFill>
                      <a:srgbClr val="0000FF"/>
                    </a:solidFill>
                  </a:rPr>
                  <a:t>The delay to transfer the entire message across k links:</a:t>
                </a:r>
              </a:p>
              <a:p>
                <a:pPr/>
                <a14:m>
                  <m:oMathPara xmlns:m="http://schemas.openxmlformats.org/officeDocument/2006/math">
                    <m:oMathParaPr>
                      <m:jc m:val="centerGroup"/>
                    </m:oMathParaPr>
                    <m:oMath xmlns:m="http://schemas.openxmlformats.org/officeDocument/2006/math">
                      <m:sSub>
                        <m:sSubPr>
                          <m:ctrlPr>
                            <a:rPr lang="en-US" altLang="zh-CN" sz="1800" b="1" i="1" smtClean="0">
                              <a:solidFill>
                                <a:srgbClr val="0000FF"/>
                              </a:solidFill>
                              <a:latin typeface="Cambria Math" panose="02040503050406030204" pitchFamily="18" charset="0"/>
                            </a:rPr>
                          </m:ctrlPr>
                        </m:sSubPr>
                        <m:e>
                          <m:r>
                            <a:rPr lang="en-US" altLang="zh-CN" sz="1800" b="1" i="1" smtClean="0">
                              <a:solidFill>
                                <a:srgbClr val="0000FF"/>
                              </a:solidFill>
                              <a:latin typeface="Cambria Math" panose="02040503050406030204" pitchFamily="18" charset="0"/>
                            </a:rPr>
                            <m:t>𝒕</m:t>
                          </m:r>
                        </m:e>
                        <m:sub>
                          <m:r>
                            <a:rPr lang="en-US" altLang="zh-CN" sz="1800" b="1" i="1" smtClean="0">
                              <a:solidFill>
                                <a:srgbClr val="0000FF"/>
                              </a:solidFill>
                              <a:latin typeface="Cambria Math" panose="02040503050406030204" pitchFamily="18" charset="0"/>
                            </a:rPr>
                            <m:t>𝟏</m:t>
                          </m:r>
                        </m:sub>
                      </m:sSub>
                      <m:r>
                        <a:rPr lang="en-US" altLang="zh-CN" sz="1800" b="1" i="1" smtClean="0">
                          <a:solidFill>
                            <a:srgbClr val="0000FF"/>
                          </a:solidFill>
                          <a:latin typeface="Cambria Math" panose="02040503050406030204" pitchFamily="18" charset="0"/>
                        </a:rPr>
                        <m:t>+</m:t>
                      </m:r>
                      <m:sSub>
                        <m:sSubPr>
                          <m:ctrlPr>
                            <a:rPr lang="en-US" altLang="zh-CN" sz="1800" b="1" i="1" smtClean="0">
                              <a:solidFill>
                                <a:srgbClr val="0000FF"/>
                              </a:solidFill>
                              <a:latin typeface="Cambria Math" panose="02040503050406030204" pitchFamily="18" charset="0"/>
                            </a:rPr>
                          </m:ctrlPr>
                        </m:sSubPr>
                        <m:e>
                          <m:r>
                            <a:rPr lang="en-US" altLang="zh-CN" sz="1800" b="1" i="1" smtClean="0">
                              <a:solidFill>
                                <a:srgbClr val="0000FF"/>
                              </a:solidFill>
                              <a:latin typeface="Cambria Math" panose="02040503050406030204" pitchFamily="18" charset="0"/>
                            </a:rPr>
                            <m:t>𝒕</m:t>
                          </m:r>
                        </m:e>
                        <m:sub>
                          <m:r>
                            <a:rPr lang="en-US" altLang="zh-CN" sz="1800" b="1" i="1" smtClean="0">
                              <a:solidFill>
                                <a:srgbClr val="0000FF"/>
                              </a:solidFill>
                              <a:latin typeface="Cambria Math" panose="02040503050406030204" pitchFamily="18" charset="0"/>
                            </a:rPr>
                            <m:t>𝒓</m:t>
                          </m:r>
                        </m:sub>
                      </m:sSub>
                      <m:r>
                        <a:rPr lang="en-US" altLang="zh-CN" sz="1800" b="1" i="1" smtClean="0">
                          <a:solidFill>
                            <a:srgbClr val="0000FF"/>
                          </a:solidFill>
                          <a:latin typeface="Cambria Math" panose="02040503050406030204" pitchFamily="18" charset="0"/>
                        </a:rPr>
                        <m:t>=</m:t>
                      </m:r>
                      <m:r>
                        <a:rPr lang="en-US" altLang="zh-CN" sz="1800" b="1" i="1" smtClean="0">
                          <a:solidFill>
                            <a:srgbClr val="0000FF"/>
                          </a:solidFill>
                          <a:latin typeface="Cambria Math" panose="02040503050406030204" pitchFamily="18" charset="0"/>
                          <a:ea typeface="宋体" panose="02010600030101010101" pitchFamily="2" charset="-122"/>
                          <a:cs typeface="Lucida Sans Unicode" panose="020B0602030504020204" pitchFamily="34" charset="0"/>
                        </a:rPr>
                        <m:t>𝒌</m:t>
                      </m:r>
                      <m:d>
                        <m:dPr>
                          <m:ctrlPr>
                            <a:rPr lang="en-US" altLang="zh-CN" sz="1800" b="1" i="1">
                              <a:solidFill>
                                <a:srgbClr val="0000FF"/>
                              </a:solidFill>
                              <a:latin typeface="Cambria Math" panose="02040503050406030204" pitchFamily="18" charset="0"/>
                              <a:ea typeface="Cambria Math" panose="02040503050406030204" pitchFamily="18" charset="0"/>
                              <a:cs typeface="Lucida Sans Unicode" panose="020B0602030504020204" pitchFamily="34" charset="0"/>
                            </a:rPr>
                          </m:ctrlPr>
                        </m:dPr>
                        <m:e>
                          <m:r>
                            <a:rPr lang="en-US" altLang="zh-CN" sz="1800" b="1" i="1" smtClean="0">
                              <a:solidFill>
                                <a:srgbClr val="0000FF"/>
                              </a:solidFill>
                              <a:latin typeface="Cambria Math" panose="02040503050406030204" pitchFamily="18" charset="0"/>
                              <a:ea typeface="Cambria Math" panose="02040503050406030204" pitchFamily="18" charset="0"/>
                              <a:cs typeface="Lucida Sans Unicode" panose="020B0602030504020204" pitchFamily="34" charset="0"/>
                            </a:rPr>
                            <m:t>𝒅</m:t>
                          </m:r>
                          <m:r>
                            <a:rPr lang="en-US" altLang="zh-CN" sz="1800" b="1" i="1" smtClean="0">
                              <a:solidFill>
                                <a:srgbClr val="0000FF"/>
                              </a:solidFill>
                              <a:latin typeface="Cambria Math" panose="02040503050406030204" pitchFamily="18" charset="0"/>
                              <a:ea typeface="Cambria Math" panose="02040503050406030204" pitchFamily="18" charset="0"/>
                              <a:cs typeface="Lucida Sans Unicode" panose="020B0602030504020204" pitchFamily="34" charset="0"/>
                            </a:rPr>
                            <m:t>+</m:t>
                          </m:r>
                          <m:f>
                            <m:fPr>
                              <m:ctrlPr>
                                <a:rPr lang="en-US" altLang="zh-CN" sz="1800" b="1" i="1">
                                  <a:solidFill>
                                    <a:srgbClr val="0000FF"/>
                                  </a:solidFill>
                                  <a:latin typeface="Cambria Math" panose="02040503050406030204" pitchFamily="18" charset="0"/>
                                  <a:ea typeface="Cambria Math" panose="02040503050406030204" pitchFamily="18" charset="0"/>
                                  <a:cs typeface="Lucida Sans Unicode" panose="020B0602030504020204" pitchFamily="34" charset="0"/>
                                </a:rPr>
                              </m:ctrlPr>
                            </m:fPr>
                            <m:num>
                              <m:r>
                                <a:rPr lang="en-US" altLang="zh-CN" sz="1800" b="1" i="1" smtClean="0">
                                  <a:solidFill>
                                    <a:srgbClr val="0000FF"/>
                                  </a:solidFill>
                                  <a:latin typeface="Cambria Math" panose="02040503050406030204" pitchFamily="18" charset="0"/>
                                  <a:ea typeface="Cambria Math" panose="02040503050406030204" pitchFamily="18" charset="0"/>
                                  <a:cs typeface="Lucida Sans Unicode" panose="020B0602030504020204" pitchFamily="34" charset="0"/>
                                </a:rPr>
                                <m:t>𝒑</m:t>
                              </m:r>
                            </m:num>
                            <m:den>
                              <m:r>
                                <a:rPr lang="en-US" altLang="zh-CN" sz="1800" b="1" i="1" smtClean="0">
                                  <a:solidFill>
                                    <a:srgbClr val="0000FF"/>
                                  </a:solidFill>
                                  <a:latin typeface="Cambria Math" panose="02040503050406030204" pitchFamily="18" charset="0"/>
                                  <a:ea typeface="Cambria Math" panose="02040503050406030204" pitchFamily="18" charset="0"/>
                                  <a:cs typeface="Lucida Sans Unicode" panose="020B0602030504020204" pitchFamily="34" charset="0"/>
                                </a:rPr>
                                <m:t>𝒃</m:t>
                              </m:r>
                            </m:den>
                          </m:f>
                        </m:e>
                      </m:d>
                      <m:r>
                        <a:rPr lang="en-US" altLang="zh-CN" sz="1800" b="1" i="1" smtClean="0">
                          <a:solidFill>
                            <a:srgbClr val="0000FF"/>
                          </a:solidFill>
                          <a:latin typeface="Cambria Math" panose="02040503050406030204" pitchFamily="18" charset="0"/>
                          <a:ea typeface="Cambria Math" panose="02040503050406030204" pitchFamily="18" charset="0"/>
                          <a:cs typeface="Lucida Sans Unicode" panose="020B0602030504020204" pitchFamily="34" charset="0"/>
                        </a:rPr>
                        <m:t>+</m:t>
                      </m:r>
                      <m:d>
                        <m:dPr>
                          <m:ctrlPr>
                            <a:rPr lang="en-US" altLang="zh-CN" sz="1800" b="1" i="1">
                              <a:solidFill>
                                <a:srgbClr val="0000FF"/>
                              </a:solidFill>
                              <a:latin typeface="Cambria Math" panose="02040503050406030204" pitchFamily="18" charset="0"/>
                              <a:ea typeface="宋体" panose="02010600030101010101" pitchFamily="2" charset="-122"/>
                              <a:cs typeface="Lucida Sans Unicode" panose="020B0602030504020204" pitchFamily="34" charset="0"/>
                            </a:rPr>
                          </m:ctrlPr>
                        </m:dPr>
                        <m:e>
                          <m:r>
                            <m:rPr>
                              <m:nor/>
                            </m:rPr>
                            <a:rPr lang="en-US" altLang="zh-CN" sz="1800" b="1" dirty="0">
                              <a:solidFill>
                                <a:srgbClr val="0000FF"/>
                              </a:solidFill>
                              <a:latin typeface="Lucida Sans Unicode" panose="020B0602030504020204" pitchFamily="34" charset="0"/>
                              <a:ea typeface="宋体" panose="02010600030101010101" pitchFamily="2" charset="-122"/>
                              <a:cs typeface="Lucida Sans Unicode" panose="020B0602030504020204" pitchFamily="34" charset="0"/>
                            </a:rPr>
                            <m:t>⌈</m:t>
                          </m:r>
                          <m:f>
                            <m:fPr>
                              <m:ctrlPr>
                                <a:rPr lang="en-US" altLang="zh-CN" sz="1800" b="1" i="1">
                                  <a:solidFill>
                                    <a:srgbClr val="0000FF"/>
                                  </a:solidFill>
                                  <a:latin typeface="Cambria Math" panose="02040503050406030204" pitchFamily="18" charset="0"/>
                                  <a:ea typeface="宋体" panose="02010600030101010101" pitchFamily="2" charset="-122"/>
                                  <a:cs typeface="Lucida Sans Unicode" panose="020B0602030504020204" pitchFamily="34" charset="0"/>
                                </a:rPr>
                              </m:ctrlPr>
                            </m:fPr>
                            <m:num>
                              <m:r>
                                <a:rPr lang="en-US" altLang="zh-CN" sz="1800" b="1" i="1" smtClean="0">
                                  <a:solidFill>
                                    <a:srgbClr val="0000FF"/>
                                  </a:solidFill>
                                  <a:latin typeface="Cambria Math" panose="02040503050406030204" pitchFamily="18" charset="0"/>
                                  <a:ea typeface="宋体" panose="02010600030101010101" pitchFamily="2" charset="-122"/>
                                  <a:cs typeface="Lucida Sans Unicode" panose="020B0602030504020204" pitchFamily="34" charset="0"/>
                                </a:rPr>
                                <m:t>𝒙</m:t>
                              </m:r>
                            </m:num>
                            <m:den>
                              <m:r>
                                <a:rPr lang="en-US" altLang="zh-CN" sz="1800" b="1" i="1" smtClean="0">
                                  <a:solidFill>
                                    <a:srgbClr val="0000FF"/>
                                  </a:solidFill>
                                  <a:latin typeface="Cambria Math" panose="02040503050406030204" pitchFamily="18" charset="0"/>
                                  <a:ea typeface="宋体" panose="02010600030101010101" pitchFamily="2" charset="-122"/>
                                  <a:cs typeface="Lucida Sans Unicode" panose="020B0602030504020204" pitchFamily="34" charset="0"/>
                                </a:rPr>
                                <m:t>𝒑</m:t>
                              </m:r>
                            </m:den>
                          </m:f>
                          <m:r>
                            <m:rPr>
                              <m:nor/>
                            </m:rPr>
                            <a:rPr lang="en-US" altLang="zh-CN" sz="1800" b="1" dirty="0">
                              <a:solidFill>
                                <a:srgbClr val="0000FF"/>
                              </a:solidFill>
                              <a:latin typeface="Lucida Sans Unicode" panose="020B0602030504020204" pitchFamily="34" charset="0"/>
                              <a:ea typeface="宋体" panose="02010600030101010101" pitchFamily="2" charset="-122"/>
                              <a:cs typeface="Lucida Sans Unicode" panose="020B0602030504020204" pitchFamily="34" charset="0"/>
                            </a:rPr>
                            <m:t>⌉</m:t>
                          </m:r>
                          <m:r>
                            <a:rPr lang="en-US" altLang="zh-CN" sz="1800" b="1" i="1" smtClean="0">
                              <a:solidFill>
                                <a:srgbClr val="0000FF"/>
                              </a:solidFill>
                              <a:latin typeface="Cambria Math" panose="02040503050406030204" pitchFamily="18" charset="0"/>
                            </a:rPr>
                            <m:t>−</m:t>
                          </m:r>
                          <m:r>
                            <a:rPr lang="en-US" altLang="zh-CN" sz="1800" b="1" i="1" smtClean="0">
                              <a:solidFill>
                                <a:srgbClr val="0000FF"/>
                              </a:solidFill>
                              <a:latin typeface="Cambria Math" panose="02040503050406030204" pitchFamily="18" charset="0"/>
                            </a:rPr>
                            <m:t>𝟏</m:t>
                          </m:r>
                        </m:e>
                      </m:d>
                      <m:r>
                        <a:rPr lang="en-US" altLang="zh-CN" sz="1800" b="1" i="1" smtClean="0">
                          <a:solidFill>
                            <a:srgbClr val="0000FF"/>
                          </a:solidFill>
                          <a:latin typeface="Cambria Math" panose="02040503050406030204" pitchFamily="18" charset="0"/>
                          <a:ea typeface="Cambria Math" panose="02040503050406030204" pitchFamily="18" charset="0"/>
                        </a:rPr>
                        <m:t>×</m:t>
                      </m:r>
                      <m:f>
                        <m:fPr>
                          <m:ctrlPr>
                            <a:rPr lang="en-US" altLang="zh-CN" sz="1800" b="1" i="1">
                              <a:solidFill>
                                <a:srgbClr val="0000FF"/>
                              </a:solidFill>
                              <a:latin typeface="Cambria Math" panose="02040503050406030204" pitchFamily="18" charset="0"/>
                              <a:ea typeface="Cambria Math" panose="02040503050406030204" pitchFamily="18" charset="0"/>
                            </a:rPr>
                          </m:ctrlPr>
                        </m:fPr>
                        <m:num>
                          <m:r>
                            <a:rPr lang="en-US" altLang="zh-CN" sz="1800" b="1" i="1" smtClean="0">
                              <a:solidFill>
                                <a:srgbClr val="0000FF"/>
                              </a:solidFill>
                              <a:latin typeface="Cambria Math" panose="02040503050406030204" pitchFamily="18" charset="0"/>
                              <a:ea typeface="Cambria Math" panose="02040503050406030204" pitchFamily="18" charset="0"/>
                            </a:rPr>
                            <m:t>𝒑</m:t>
                          </m:r>
                        </m:num>
                        <m:den>
                          <m:r>
                            <a:rPr lang="en-US" altLang="zh-CN" sz="1800" b="1" i="1" smtClean="0">
                              <a:solidFill>
                                <a:srgbClr val="0000FF"/>
                              </a:solidFill>
                              <a:latin typeface="Cambria Math" panose="02040503050406030204" pitchFamily="18" charset="0"/>
                              <a:ea typeface="Cambria Math" panose="02040503050406030204" pitchFamily="18" charset="0"/>
                            </a:rPr>
                            <m:t>𝒃</m:t>
                          </m:r>
                        </m:den>
                      </m:f>
                      <m:r>
                        <a:rPr lang="en-US" altLang="zh-CN" sz="1800" b="1" i="1" smtClean="0">
                          <a:solidFill>
                            <a:srgbClr val="0000FF"/>
                          </a:solidFill>
                          <a:latin typeface="Cambria Math" panose="02040503050406030204" pitchFamily="18" charset="0"/>
                          <a:ea typeface="Cambria Math" panose="02040503050406030204" pitchFamily="18" charset="0"/>
                        </a:rPr>
                        <m:t>=</m:t>
                      </m:r>
                      <m:f>
                        <m:fPr>
                          <m:ctrlPr>
                            <a:rPr lang="en-US" altLang="zh-CN" sz="1800" b="1" i="1" smtClean="0">
                              <a:solidFill>
                                <a:srgbClr val="0000FF"/>
                              </a:solidFill>
                              <a:latin typeface="Cambria Math" panose="02040503050406030204" pitchFamily="18" charset="0"/>
                              <a:ea typeface="Cambria Math" panose="02040503050406030204" pitchFamily="18" charset="0"/>
                            </a:rPr>
                          </m:ctrlPr>
                        </m:fPr>
                        <m:num>
                          <m:r>
                            <a:rPr lang="en-US" altLang="zh-CN" sz="1800" b="1" i="1" smtClean="0">
                              <a:solidFill>
                                <a:srgbClr val="0000FF"/>
                              </a:solidFill>
                              <a:latin typeface="Cambria Math" panose="02040503050406030204" pitchFamily="18" charset="0"/>
                              <a:ea typeface="Cambria Math" panose="02040503050406030204" pitchFamily="18" charset="0"/>
                            </a:rPr>
                            <m:t>𝒙</m:t>
                          </m:r>
                        </m:num>
                        <m:den>
                          <m:r>
                            <a:rPr lang="en-US" altLang="zh-CN" sz="1800" b="1" i="1" smtClean="0">
                              <a:solidFill>
                                <a:srgbClr val="0000FF"/>
                              </a:solidFill>
                              <a:latin typeface="Cambria Math" panose="02040503050406030204" pitchFamily="18" charset="0"/>
                              <a:ea typeface="Cambria Math" panose="02040503050406030204" pitchFamily="18" charset="0"/>
                            </a:rPr>
                            <m:t>𝒃</m:t>
                          </m:r>
                        </m:den>
                      </m:f>
                      <m:r>
                        <a:rPr lang="en-US" altLang="zh-CN" sz="1800" b="1" i="1" smtClean="0">
                          <a:solidFill>
                            <a:srgbClr val="0000FF"/>
                          </a:solidFill>
                          <a:latin typeface="Cambria Math" panose="02040503050406030204" pitchFamily="18" charset="0"/>
                          <a:ea typeface="Cambria Math" panose="02040503050406030204" pitchFamily="18" charset="0"/>
                        </a:rPr>
                        <m:t>+</m:t>
                      </m:r>
                      <m:f>
                        <m:fPr>
                          <m:ctrlPr>
                            <a:rPr lang="en-US" altLang="zh-CN" sz="1800" b="1" i="1" smtClean="0">
                              <a:solidFill>
                                <a:srgbClr val="0000FF"/>
                              </a:solidFill>
                              <a:latin typeface="Cambria Math" panose="02040503050406030204" pitchFamily="18" charset="0"/>
                              <a:ea typeface="Cambria Math" panose="02040503050406030204" pitchFamily="18" charset="0"/>
                            </a:rPr>
                          </m:ctrlPr>
                        </m:fPr>
                        <m:num>
                          <m:d>
                            <m:dPr>
                              <m:ctrlPr>
                                <a:rPr lang="en-US" altLang="zh-CN" sz="1800" b="1" i="1" smtClean="0">
                                  <a:solidFill>
                                    <a:srgbClr val="0000FF"/>
                                  </a:solidFill>
                                  <a:latin typeface="Cambria Math" panose="02040503050406030204" pitchFamily="18" charset="0"/>
                                  <a:ea typeface="Cambria Math" panose="02040503050406030204" pitchFamily="18" charset="0"/>
                                </a:rPr>
                              </m:ctrlPr>
                            </m:dPr>
                            <m:e>
                              <m:r>
                                <a:rPr lang="en-US" altLang="zh-CN" sz="1800" b="1" i="1" smtClean="0">
                                  <a:solidFill>
                                    <a:srgbClr val="0000FF"/>
                                  </a:solidFill>
                                  <a:latin typeface="Cambria Math" panose="02040503050406030204" pitchFamily="18" charset="0"/>
                                  <a:ea typeface="Cambria Math" panose="02040503050406030204" pitchFamily="18" charset="0"/>
                                </a:rPr>
                                <m:t>𝒌</m:t>
                              </m:r>
                              <m:r>
                                <a:rPr lang="en-US" altLang="zh-CN" sz="1800" b="1" i="1" smtClean="0">
                                  <a:solidFill>
                                    <a:srgbClr val="0000FF"/>
                                  </a:solidFill>
                                  <a:latin typeface="Cambria Math" panose="02040503050406030204" pitchFamily="18" charset="0"/>
                                  <a:ea typeface="Cambria Math" panose="02040503050406030204" pitchFamily="18" charset="0"/>
                                </a:rPr>
                                <m:t>−</m:t>
                              </m:r>
                              <m:r>
                                <a:rPr lang="en-US" altLang="zh-CN" sz="1800" b="1" i="1" smtClean="0">
                                  <a:solidFill>
                                    <a:srgbClr val="0000FF"/>
                                  </a:solidFill>
                                  <a:latin typeface="Cambria Math" panose="02040503050406030204" pitchFamily="18" charset="0"/>
                                  <a:ea typeface="Cambria Math" panose="02040503050406030204" pitchFamily="18" charset="0"/>
                                </a:rPr>
                                <m:t>𝟏</m:t>
                              </m:r>
                            </m:e>
                          </m:d>
                          <m:r>
                            <a:rPr lang="en-US" altLang="zh-CN" sz="1800" b="1" i="1" smtClean="0">
                              <a:solidFill>
                                <a:srgbClr val="0000FF"/>
                              </a:solidFill>
                              <a:latin typeface="Cambria Math" panose="02040503050406030204" pitchFamily="18" charset="0"/>
                              <a:ea typeface="Cambria Math" panose="02040503050406030204" pitchFamily="18" charset="0"/>
                            </a:rPr>
                            <m:t>𝒑</m:t>
                          </m:r>
                        </m:num>
                        <m:den>
                          <m:r>
                            <a:rPr lang="en-US" altLang="zh-CN" sz="1800" b="1" i="1" smtClean="0">
                              <a:solidFill>
                                <a:srgbClr val="0000FF"/>
                              </a:solidFill>
                              <a:latin typeface="Cambria Math" panose="02040503050406030204" pitchFamily="18" charset="0"/>
                              <a:ea typeface="Cambria Math" panose="02040503050406030204" pitchFamily="18" charset="0"/>
                            </a:rPr>
                            <m:t>𝒃</m:t>
                          </m:r>
                        </m:den>
                      </m:f>
                      <m:r>
                        <a:rPr lang="en-US" altLang="zh-CN" sz="1800" b="1" i="1" smtClean="0">
                          <a:solidFill>
                            <a:srgbClr val="0000FF"/>
                          </a:solidFill>
                          <a:latin typeface="Cambria Math" panose="02040503050406030204" pitchFamily="18" charset="0"/>
                          <a:ea typeface="Cambria Math" panose="02040503050406030204" pitchFamily="18" charset="0"/>
                        </a:rPr>
                        <m:t>+</m:t>
                      </m:r>
                      <m:r>
                        <a:rPr lang="en-US" altLang="zh-CN" sz="1800" b="1" i="1" smtClean="0">
                          <a:solidFill>
                            <a:srgbClr val="0000FF"/>
                          </a:solidFill>
                          <a:latin typeface="Cambria Math" panose="02040503050406030204" pitchFamily="18" charset="0"/>
                          <a:ea typeface="Cambria Math" panose="02040503050406030204" pitchFamily="18" charset="0"/>
                        </a:rPr>
                        <m:t>𝒌𝒅</m:t>
                      </m:r>
                    </m:oMath>
                  </m:oMathPara>
                </a14:m>
                <a:endParaRPr lang="en-US" altLang="zh-CN" sz="1800" b="1" dirty="0">
                  <a:solidFill>
                    <a:srgbClr val="0000FF"/>
                  </a:solidFill>
                </a:endParaRPr>
              </a:p>
              <a:p>
                <a14:m>
                  <m:oMath xmlns:m="http://schemas.openxmlformats.org/officeDocument/2006/math">
                    <m:sSub>
                      <m:sSubPr>
                        <m:ctrlPr>
                          <a:rPr lang="en-US" altLang="zh-CN" sz="1800" b="1" i="1">
                            <a:solidFill>
                              <a:srgbClr val="0000FF"/>
                            </a:solidFill>
                            <a:latin typeface="Cambria Math" panose="02040503050406030204" pitchFamily="18" charset="0"/>
                          </a:rPr>
                        </m:ctrlPr>
                      </m:sSubPr>
                      <m:e>
                        <m:r>
                          <a:rPr lang="en-US" altLang="zh-CN" sz="1800" b="1" i="1" smtClean="0">
                            <a:solidFill>
                              <a:srgbClr val="0000FF"/>
                            </a:solidFill>
                            <a:latin typeface="Cambria Math" panose="02040503050406030204" pitchFamily="18" charset="0"/>
                          </a:rPr>
                          <m:t>𝒅</m:t>
                        </m:r>
                      </m:e>
                      <m:sub>
                        <m:r>
                          <a:rPr lang="en-US" altLang="zh-CN" sz="1800" b="1" i="1" smtClean="0">
                            <a:solidFill>
                              <a:srgbClr val="0000FF"/>
                            </a:solidFill>
                            <a:latin typeface="Cambria Math" panose="02040503050406030204" pitchFamily="18" charset="0"/>
                          </a:rPr>
                          <m:t>𝒑𝒓𝒐𝒑</m:t>
                        </m:r>
                      </m:sub>
                    </m:sSub>
                    <m:r>
                      <a:rPr lang="en-US" altLang="zh-CN" sz="1800" b="1" i="1" smtClean="0">
                        <a:solidFill>
                          <a:srgbClr val="0000FF"/>
                        </a:solidFill>
                        <a:latin typeface="Cambria Math" panose="02040503050406030204" pitchFamily="18" charset="0"/>
                      </a:rPr>
                      <m:t>=</m:t>
                    </m:r>
                    <m:r>
                      <a:rPr lang="en-US" altLang="zh-CN" sz="1800" b="1" i="1" smtClean="0">
                        <a:solidFill>
                          <a:srgbClr val="0000FF"/>
                        </a:solidFill>
                        <a:latin typeface="Cambria Math" panose="02040503050406030204" pitchFamily="18" charset="0"/>
                      </a:rPr>
                      <m:t>𝒌𝒅</m:t>
                    </m:r>
                  </m:oMath>
                </a14:m>
                <a:r>
                  <a:rPr lang="en-US" altLang="zh-CN" sz="1800" b="1" dirty="0">
                    <a:solidFill>
                      <a:srgbClr val="0000FF"/>
                    </a:solidFill>
                  </a:rPr>
                  <a:t>, propagation delay</a:t>
                </a:r>
              </a:p>
              <a:p>
                <a14:m>
                  <m:oMath xmlns:m="http://schemas.openxmlformats.org/officeDocument/2006/math">
                    <m:sSub>
                      <m:sSubPr>
                        <m:ctrlPr>
                          <a:rPr lang="en-US" altLang="zh-CN" sz="1800" b="1" i="1">
                            <a:solidFill>
                              <a:srgbClr val="0000FF"/>
                            </a:solidFill>
                            <a:latin typeface="Cambria Math" panose="02040503050406030204" pitchFamily="18" charset="0"/>
                          </a:rPr>
                        </m:ctrlPr>
                      </m:sSubPr>
                      <m:e>
                        <m:r>
                          <a:rPr lang="en-US" altLang="zh-CN" sz="1800" b="1" i="1" smtClean="0">
                            <a:solidFill>
                              <a:srgbClr val="0000FF"/>
                            </a:solidFill>
                            <a:latin typeface="Cambria Math" panose="02040503050406030204" pitchFamily="18" charset="0"/>
                          </a:rPr>
                          <m:t>𝒅</m:t>
                        </m:r>
                      </m:e>
                      <m:sub>
                        <m:r>
                          <a:rPr lang="en-US" altLang="zh-CN" sz="1800" b="1" i="1" smtClean="0">
                            <a:solidFill>
                              <a:srgbClr val="0000FF"/>
                            </a:solidFill>
                            <a:latin typeface="Cambria Math" panose="02040503050406030204" pitchFamily="18" charset="0"/>
                          </a:rPr>
                          <m:t>𝒒𝒖𝒆𝒖𝒆</m:t>
                        </m:r>
                      </m:sub>
                    </m:sSub>
                  </m:oMath>
                </a14:m>
                <a:r>
                  <a:rPr lang="en-US" altLang="zh-CN" sz="1800" b="1" dirty="0">
                    <a:solidFill>
                      <a:srgbClr val="0000FF"/>
                    </a:solidFill>
                  </a:rPr>
                  <a:t>, queuing delay, depends on congestion</a:t>
                </a:r>
                <a:endParaRPr lang="en-US" altLang="zh-CN" sz="1800" b="1" i="1" dirty="0">
                  <a:solidFill>
                    <a:srgbClr val="0000FF"/>
                  </a:solidFill>
                  <a:latin typeface="Cambria Math" panose="02040503050406030204" pitchFamily="18" charset="0"/>
                </a:endParaRPr>
              </a:p>
              <a:p>
                <a14:m>
                  <m:oMath xmlns:m="http://schemas.openxmlformats.org/officeDocument/2006/math">
                    <m:sSub>
                      <m:sSubPr>
                        <m:ctrlPr>
                          <a:rPr lang="en-US" altLang="zh-CN" sz="1800" b="1" i="1">
                            <a:solidFill>
                              <a:srgbClr val="0000FF"/>
                            </a:solidFill>
                            <a:latin typeface="Cambria Math" panose="02040503050406030204" pitchFamily="18" charset="0"/>
                          </a:rPr>
                        </m:ctrlPr>
                      </m:sSubPr>
                      <m:e>
                        <m:r>
                          <a:rPr lang="en-US" altLang="zh-CN" sz="1800" b="1" i="1" smtClean="0">
                            <a:solidFill>
                              <a:srgbClr val="0000FF"/>
                            </a:solidFill>
                            <a:latin typeface="Cambria Math" panose="02040503050406030204" pitchFamily="18" charset="0"/>
                          </a:rPr>
                          <m:t>𝒅</m:t>
                        </m:r>
                      </m:e>
                      <m:sub>
                        <m:r>
                          <a:rPr lang="en-US" altLang="zh-CN" sz="1800" b="1" i="1" smtClean="0">
                            <a:solidFill>
                              <a:srgbClr val="0000FF"/>
                            </a:solidFill>
                            <a:latin typeface="Cambria Math" panose="02040503050406030204" pitchFamily="18" charset="0"/>
                          </a:rPr>
                          <m:t>𝒑𝒓𝒐𝒄</m:t>
                        </m:r>
                      </m:sub>
                    </m:sSub>
                  </m:oMath>
                </a14:m>
                <a:r>
                  <a:rPr lang="en-US" altLang="zh-CN" sz="1800" b="1" dirty="0">
                    <a:solidFill>
                      <a:srgbClr val="0000FF"/>
                    </a:solidFill>
                  </a:rPr>
                  <a:t>, processing delay, typically a few microseconds or less</a:t>
                </a:r>
              </a:p>
              <a:p>
                <a:pPr/>
                <a14:m>
                  <m:oMathPara xmlns:m="http://schemas.openxmlformats.org/officeDocument/2006/math">
                    <m:oMathParaPr>
                      <m:jc m:val="centerGroup"/>
                    </m:oMathParaPr>
                    <m:oMath xmlns:m="http://schemas.openxmlformats.org/officeDocument/2006/math">
                      <m:sSub>
                        <m:sSubPr>
                          <m:ctrlPr>
                            <a:rPr lang="en-US" altLang="zh-CN" sz="1800" b="1" i="1">
                              <a:solidFill>
                                <a:srgbClr val="0000FF"/>
                              </a:solidFill>
                              <a:latin typeface="Cambria Math" panose="02040503050406030204" pitchFamily="18" charset="0"/>
                            </a:rPr>
                          </m:ctrlPr>
                        </m:sSubPr>
                        <m:e>
                          <m:r>
                            <a:rPr lang="en-US" altLang="zh-CN" sz="1800" b="1" i="1" smtClean="0">
                              <a:solidFill>
                                <a:srgbClr val="0000FF"/>
                              </a:solidFill>
                              <a:latin typeface="Cambria Math" panose="02040503050406030204" pitchFamily="18" charset="0"/>
                            </a:rPr>
                            <m:t>𝒕</m:t>
                          </m:r>
                        </m:e>
                        <m:sub>
                          <m:r>
                            <a:rPr lang="en-US" altLang="zh-CN" sz="1800" b="1" i="1" smtClean="0">
                              <a:solidFill>
                                <a:srgbClr val="0000FF"/>
                              </a:solidFill>
                              <a:latin typeface="Cambria Math" panose="02040503050406030204" pitchFamily="18" charset="0"/>
                            </a:rPr>
                            <m:t>𝒑𝒔</m:t>
                          </m:r>
                        </m:sub>
                      </m:sSub>
                      <m:r>
                        <a:rPr lang="en-US" altLang="zh-CN" sz="1800" b="1" i="1" smtClean="0">
                          <a:solidFill>
                            <a:srgbClr val="0000FF"/>
                          </a:solidFill>
                          <a:latin typeface="Cambria Math" panose="02040503050406030204" pitchFamily="18" charset="0"/>
                        </a:rPr>
                        <m:t>=</m:t>
                      </m:r>
                      <m:f>
                        <m:fPr>
                          <m:ctrlPr>
                            <a:rPr lang="en-US" altLang="zh-CN" sz="1800" b="1" i="1">
                              <a:solidFill>
                                <a:srgbClr val="0000FF"/>
                              </a:solidFill>
                              <a:latin typeface="Cambria Math" panose="02040503050406030204" pitchFamily="18" charset="0"/>
                            </a:rPr>
                          </m:ctrlPr>
                        </m:fPr>
                        <m:num>
                          <m:r>
                            <a:rPr lang="en-US" altLang="zh-CN" sz="1800" b="1" i="1" smtClean="0">
                              <a:solidFill>
                                <a:srgbClr val="0000FF"/>
                              </a:solidFill>
                              <a:latin typeface="Cambria Math" panose="02040503050406030204" pitchFamily="18" charset="0"/>
                            </a:rPr>
                            <m:t>𝒙</m:t>
                          </m:r>
                        </m:num>
                        <m:den>
                          <m:r>
                            <a:rPr lang="en-US" altLang="zh-CN" sz="1800" b="1" i="1" smtClean="0">
                              <a:solidFill>
                                <a:srgbClr val="0000FF"/>
                              </a:solidFill>
                              <a:latin typeface="Cambria Math" panose="02040503050406030204" pitchFamily="18" charset="0"/>
                            </a:rPr>
                            <m:t>𝒃</m:t>
                          </m:r>
                        </m:den>
                      </m:f>
                      <m:r>
                        <a:rPr lang="en-US" altLang="zh-CN" sz="1800" b="1" i="1" smtClean="0">
                          <a:solidFill>
                            <a:srgbClr val="0000FF"/>
                          </a:solidFill>
                          <a:latin typeface="Cambria Math" panose="02040503050406030204" pitchFamily="18" charset="0"/>
                        </a:rPr>
                        <m:t>+</m:t>
                      </m:r>
                      <m:f>
                        <m:fPr>
                          <m:ctrlPr>
                            <a:rPr lang="en-US" altLang="zh-CN" sz="1800" b="1" i="1">
                              <a:solidFill>
                                <a:srgbClr val="0000FF"/>
                              </a:solidFill>
                              <a:latin typeface="Cambria Math" panose="02040503050406030204" pitchFamily="18" charset="0"/>
                            </a:rPr>
                          </m:ctrlPr>
                        </m:fPr>
                        <m:num>
                          <m:d>
                            <m:dPr>
                              <m:ctrlPr>
                                <a:rPr lang="en-US" altLang="zh-CN" sz="1800" b="1" i="1">
                                  <a:solidFill>
                                    <a:srgbClr val="0000FF"/>
                                  </a:solidFill>
                                  <a:latin typeface="Cambria Math" panose="02040503050406030204" pitchFamily="18" charset="0"/>
                                </a:rPr>
                              </m:ctrlPr>
                            </m:dPr>
                            <m:e>
                              <m:r>
                                <a:rPr lang="en-US" altLang="zh-CN" sz="1800" b="1" i="1" smtClean="0">
                                  <a:solidFill>
                                    <a:srgbClr val="0000FF"/>
                                  </a:solidFill>
                                  <a:latin typeface="Cambria Math" panose="02040503050406030204" pitchFamily="18" charset="0"/>
                                </a:rPr>
                                <m:t>𝒌</m:t>
                              </m:r>
                              <m:r>
                                <a:rPr lang="en-US" altLang="zh-CN" sz="1800" b="1" i="1" smtClean="0">
                                  <a:solidFill>
                                    <a:srgbClr val="0000FF"/>
                                  </a:solidFill>
                                  <a:latin typeface="Cambria Math" panose="02040503050406030204" pitchFamily="18" charset="0"/>
                                </a:rPr>
                                <m:t>−</m:t>
                              </m:r>
                              <m:r>
                                <a:rPr lang="en-US" altLang="zh-CN" sz="1800" b="1" i="1" smtClean="0">
                                  <a:solidFill>
                                    <a:srgbClr val="0000FF"/>
                                  </a:solidFill>
                                  <a:latin typeface="Cambria Math" panose="02040503050406030204" pitchFamily="18" charset="0"/>
                                </a:rPr>
                                <m:t>𝟏</m:t>
                              </m:r>
                            </m:e>
                          </m:d>
                          <m:r>
                            <a:rPr lang="en-US" altLang="zh-CN" sz="1800" b="1" i="1" smtClean="0">
                              <a:solidFill>
                                <a:srgbClr val="0000FF"/>
                              </a:solidFill>
                              <a:latin typeface="Cambria Math" panose="02040503050406030204" pitchFamily="18" charset="0"/>
                            </a:rPr>
                            <m:t>𝒑</m:t>
                          </m:r>
                        </m:num>
                        <m:den>
                          <m:r>
                            <a:rPr lang="en-US" altLang="zh-CN" sz="1800" b="1" i="1" smtClean="0">
                              <a:solidFill>
                                <a:srgbClr val="0000FF"/>
                              </a:solidFill>
                              <a:latin typeface="Cambria Math" panose="02040503050406030204" pitchFamily="18" charset="0"/>
                            </a:rPr>
                            <m:t>𝒃</m:t>
                          </m:r>
                        </m:den>
                      </m:f>
                      <m:r>
                        <a:rPr lang="en-US" altLang="zh-CN" sz="1800" b="1" i="1" smtClean="0">
                          <a:solidFill>
                            <a:srgbClr val="0000FF"/>
                          </a:solidFill>
                          <a:latin typeface="Cambria Math" panose="02040503050406030204" pitchFamily="18" charset="0"/>
                        </a:rPr>
                        <m:t>+</m:t>
                      </m:r>
                      <m:r>
                        <a:rPr lang="en-US" altLang="zh-CN" sz="1800" b="1" i="1" smtClean="0">
                          <a:solidFill>
                            <a:srgbClr val="0000FF"/>
                          </a:solidFill>
                          <a:latin typeface="Cambria Math" panose="02040503050406030204" pitchFamily="18" charset="0"/>
                        </a:rPr>
                        <m:t>𝒌𝒅</m:t>
                      </m:r>
                    </m:oMath>
                  </m:oMathPara>
                </a14:m>
                <a:endParaRPr lang="zh-CN" altLang="en-US" sz="1800" b="1" dirty="0">
                  <a:solidFill>
                    <a:srgbClr val="0000FF"/>
                  </a:solidFill>
                </a:endParaRPr>
              </a:p>
              <a:p>
                <a:endParaRPr lang="zh-CN" altLang="en-US" sz="1800" b="1" dirty="0"/>
              </a:p>
            </p:txBody>
          </p:sp>
        </mc:Choice>
        <mc:Fallback xmlns="">
          <p:sp>
            <p:nvSpPr>
              <p:cNvPr id="3" name="内容占位符 2">
                <a:extLst>
                  <a:ext uri="{FF2B5EF4-FFF2-40B4-BE49-F238E27FC236}">
                    <a16:creationId xmlns:a16="http://schemas.microsoft.com/office/drawing/2014/main" id="{44E96AC5-F048-C2F4-9F73-809835E49845}"/>
                  </a:ext>
                </a:extLst>
              </p:cNvPr>
              <p:cNvSpPr>
                <a:spLocks noGrp="1" noRot="1" noChangeAspect="1" noMove="1" noResize="1" noEditPoints="1" noAdjustHandles="1" noChangeArrowheads="1" noChangeShapeType="1" noTextEdit="1"/>
              </p:cNvSpPr>
              <p:nvPr>
                <p:ph idx="1"/>
              </p:nvPr>
            </p:nvSpPr>
            <p:spPr>
              <a:blipFill>
                <a:blip r:embed="rId3"/>
                <a:stretch>
                  <a:fillRect l="-522" t="-144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5D50F8DE-0D27-7C4C-5550-CE632645EF20}"/>
                  </a:ext>
                </a:extLst>
              </p:cNvPr>
              <p:cNvSpPr txBox="1"/>
              <p:nvPr/>
            </p:nvSpPr>
            <p:spPr>
              <a:xfrm>
                <a:off x="1005428" y="6297500"/>
                <a:ext cx="8524876" cy="390748"/>
              </a:xfrm>
              <a:prstGeom prst="rect">
                <a:avLst/>
              </a:prstGeom>
              <a:noFill/>
            </p:spPr>
            <p:txBody>
              <a:bodyPr wrap="square" rtlCol="0">
                <a:spAutoFit/>
              </a:bodyPr>
              <a:lstStyle/>
              <a:p>
                <a:r>
                  <a:rPr lang="en-US" altLang="zh-CN" dirty="0">
                    <a:solidFill>
                      <a:srgbClr val="0000FF"/>
                    </a:solidFill>
                  </a:rPr>
                  <a:t>Notice: Here the overhead of packet header, </a:t>
                </a:r>
                <a14:m>
                  <m:oMath xmlns:m="http://schemas.openxmlformats.org/officeDocument/2006/math">
                    <m:sSub>
                      <m:sSubPr>
                        <m:ctrlPr>
                          <a:rPr lang="en-US" altLang="zh-CN" i="1" smtClean="0">
                            <a:solidFill>
                              <a:srgbClr val="0000FF"/>
                            </a:solidFill>
                            <a:latin typeface="Cambria Math" panose="02040503050406030204" pitchFamily="18" charset="0"/>
                          </a:rPr>
                        </m:ctrlPr>
                      </m:sSubPr>
                      <m:e>
                        <m:r>
                          <a:rPr lang="en-US" altLang="zh-CN" i="1">
                            <a:solidFill>
                              <a:srgbClr val="0000FF"/>
                            </a:solidFill>
                            <a:latin typeface="Cambria Math" panose="02040503050406030204" pitchFamily="18" charset="0"/>
                          </a:rPr>
                          <m:t>𝑑</m:t>
                        </m:r>
                      </m:e>
                      <m:sub>
                        <m:r>
                          <a:rPr lang="en-US" altLang="zh-CN" b="0" i="1" smtClean="0">
                            <a:solidFill>
                              <a:srgbClr val="0000FF"/>
                            </a:solidFill>
                            <a:latin typeface="Cambria Math" panose="02040503050406030204" pitchFamily="18" charset="0"/>
                          </a:rPr>
                          <m:t>𝑞𝑢𝑒𝑢𝑒</m:t>
                        </m:r>
                      </m:sub>
                    </m:sSub>
                  </m:oMath>
                </a14:m>
                <a:r>
                  <a:rPr lang="zh-CN" altLang="en-US" dirty="0">
                    <a:solidFill>
                      <a:srgbClr val="0000FF"/>
                    </a:solidFill>
                  </a:rPr>
                  <a:t> </a:t>
                </a:r>
                <a:r>
                  <a:rPr lang="en-US" altLang="zh-CN" dirty="0">
                    <a:solidFill>
                      <a:srgbClr val="0000FF"/>
                    </a:solidFill>
                  </a:rPr>
                  <a:t>and </a:t>
                </a:r>
                <a14:m>
                  <m:oMath xmlns:m="http://schemas.openxmlformats.org/officeDocument/2006/math">
                    <m:sSub>
                      <m:sSubPr>
                        <m:ctrlPr>
                          <a:rPr lang="en-US" altLang="zh-CN" i="1" smtClean="0">
                            <a:solidFill>
                              <a:srgbClr val="0000FF"/>
                            </a:solidFill>
                            <a:latin typeface="Cambria Math" panose="02040503050406030204" pitchFamily="18" charset="0"/>
                          </a:rPr>
                        </m:ctrlPr>
                      </m:sSubPr>
                      <m:e>
                        <m:r>
                          <a:rPr lang="en-US" altLang="zh-CN" i="1">
                            <a:solidFill>
                              <a:srgbClr val="0000FF"/>
                            </a:solidFill>
                            <a:latin typeface="Cambria Math" panose="02040503050406030204" pitchFamily="18" charset="0"/>
                          </a:rPr>
                          <m:t>𝑑</m:t>
                        </m:r>
                      </m:e>
                      <m:sub>
                        <m:r>
                          <a:rPr lang="en-US" altLang="zh-CN" b="0" i="1" smtClean="0">
                            <a:solidFill>
                              <a:srgbClr val="0000FF"/>
                            </a:solidFill>
                            <a:latin typeface="Cambria Math" panose="02040503050406030204" pitchFamily="18" charset="0"/>
                          </a:rPr>
                          <m:t>𝑝𝑟𝑜𝑐</m:t>
                        </m:r>
                      </m:sub>
                    </m:sSub>
                    <m:r>
                      <a:rPr lang="en-US" altLang="zh-CN" b="0" i="0" smtClean="0">
                        <a:solidFill>
                          <a:srgbClr val="0000FF"/>
                        </a:solidFill>
                        <a:latin typeface="Cambria Math" panose="02040503050406030204" pitchFamily="18" charset="0"/>
                      </a:rPr>
                      <m:t> </m:t>
                    </m:r>
                  </m:oMath>
                </a14:m>
                <a:r>
                  <a:rPr lang="en-US" altLang="zh-CN" dirty="0">
                    <a:solidFill>
                      <a:srgbClr val="0000FF"/>
                    </a:solidFill>
                  </a:rPr>
                  <a:t>are not considered.</a:t>
                </a:r>
                <a:endParaRPr lang="zh-CN" altLang="en-US" dirty="0">
                  <a:solidFill>
                    <a:srgbClr val="0000FF"/>
                  </a:solidFill>
                </a:endParaRPr>
              </a:p>
            </p:txBody>
          </p:sp>
        </mc:Choice>
        <mc:Fallback xmlns="">
          <p:sp>
            <p:nvSpPr>
              <p:cNvPr id="4" name="文本框 3">
                <a:extLst>
                  <a:ext uri="{FF2B5EF4-FFF2-40B4-BE49-F238E27FC236}">
                    <a16:creationId xmlns:a16="http://schemas.microsoft.com/office/drawing/2014/main" id="{5D50F8DE-0D27-7C4C-5550-CE632645EF20}"/>
                  </a:ext>
                </a:extLst>
              </p:cNvPr>
              <p:cNvSpPr txBox="1">
                <a:spLocks noRot="1" noChangeAspect="1" noMove="1" noResize="1" noEditPoints="1" noAdjustHandles="1" noChangeArrowheads="1" noChangeShapeType="1" noTextEdit="1"/>
              </p:cNvSpPr>
              <p:nvPr/>
            </p:nvSpPr>
            <p:spPr>
              <a:xfrm>
                <a:off x="1005428" y="6297500"/>
                <a:ext cx="8524876" cy="390748"/>
              </a:xfrm>
              <a:prstGeom prst="rect">
                <a:avLst/>
              </a:prstGeom>
              <a:blipFill>
                <a:blip r:embed="rId4"/>
                <a:stretch>
                  <a:fillRect l="-644" t="-6250" b="-20313"/>
                </a:stretch>
              </a:blipFill>
            </p:spPr>
            <p:txBody>
              <a:bodyPr/>
              <a:lstStyle/>
              <a:p>
                <a:r>
                  <a:rPr lang="zh-CN" altLang="en-US">
                    <a:noFill/>
                  </a:rPr>
                  <a:t> </a:t>
                </a:r>
              </a:p>
            </p:txBody>
          </p:sp>
        </mc:Fallback>
      </mc:AlternateContent>
      <p:sp>
        <p:nvSpPr>
          <p:cNvPr id="6" name="内容占位符 2">
            <a:extLst>
              <a:ext uri="{FF2B5EF4-FFF2-40B4-BE49-F238E27FC236}">
                <a16:creationId xmlns:a16="http://schemas.microsoft.com/office/drawing/2014/main" id="{1051214E-E99E-DE0F-01E5-C6CBD794C060}"/>
              </a:ext>
            </a:extLst>
          </p:cNvPr>
          <p:cNvSpPr txBox="1">
            <a:spLocks/>
          </p:cNvSpPr>
          <p:nvPr/>
        </p:nvSpPr>
        <p:spPr>
          <a:xfrm>
            <a:off x="2106282" y="2786589"/>
            <a:ext cx="8688238" cy="1699854"/>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sz="1600" dirty="0"/>
          </a:p>
        </p:txBody>
      </p:sp>
      <p:sp>
        <p:nvSpPr>
          <p:cNvPr id="7" name="文本框 6">
            <a:extLst>
              <a:ext uri="{FF2B5EF4-FFF2-40B4-BE49-F238E27FC236}">
                <a16:creationId xmlns:a16="http://schemas.microsoft.com/office/drawing/2014/main" id="{A063A2CE-68E4-B8FC-3BE3-C37B7EE5B4C9}"/>
              </a:ext>
            </a:extLst>
          </p:cNvPr>
          <p:cNvSpPr txBox="1"/>
          <p:nvPr/>
        </p:nvSpPr>
        <p:spPr>
          <a:xfrm>
            <a:off x="9197216" y="2535312"/>
            <a:ext cx="2436224" cy="369332"/>
          </a:xfrm>
          <a:prstGeom prst="rect">
            <a:avLst/>
          </a:prstGeom>
          <a:noFill/>
        </p:spPr>
        <p:txBody>
          <a:bodyPr wrap="square" rtlCol="0">
            <a:spAutoFit/>
          </a:bodyPr>
          <a:lstStyle/>
          <a:p>
            <a:r>
              <a:rPr lang="en-US" altLang="zh-CN" b="1" i="1" dirty="0">
                <a:solidFill>
                  <a:srgbClr val="FF0000"/>
                </a:solidFill>
              </a:rPr>
              <a:t>Store and forward!</a:t>
            </a:r>
            <a:endParaRPr lang="zh-CN" altLang="en-US" b="1" i="1" dirty="0">
              <a:solidFill>
                <a:srgbClr val="FF0000"/>
              </a:solidFill>
            </a:endParaRPr>
          </a:p>
        </p:txBody>
      </p:sp>
    </p:spTree>
    <p:extLst>
      <p:ext uri="{BB962C8B-B14F-4D97-AF65-F5344CB8AC3E}">
        <p14:creationId xmlns:p14="http://schemas.microsoft.com/office/powerpoint/2010/main" val="23129512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30B1F7-23FF-715B-B80C-67C2BA61F05E}"/>
              </a:ext>
            </a:extLst>
          </p:cNvPr>
          <p:cNvSpPr>
            <a:spLocks noGrp="1"/>
          </p:cNvSpPr>
          <p:nvPr>
            <p:ph type="title"/>
          </p:nvPr>
        </p:nvSpPr>
        <p:spPr/>
        <p:txBody>
          <a:bodyPr>
            <a:normAutofit fontScale="90000"/>
          </a:bodyPr>
          <a:lstStyle/>
          <a:p>
            <a:endParaRPr lang="zh-CN" altLang="en-US"/>
          </a:p>
        </p:txBody>
      </p:sp>
      <p:grpSp>
        <p:nvGrpSpPr>
          <p:cNvPr id="4" name="组合 3">
            <a:extLst>
              <a:ext uri="{FF2B5EF4-FFF2-40B4-BE49-F238E27FC236}">
                <a16:creationId xmlns:a16="http://schemas.microsoft.com/office/drawing/2014/main" id="{54D372B0-1136-DC64-9995-9F04BA200659}"/>
              </a:ext>
            </a:extLst>
          </p:cNvPr>
          <p:cNvGrpSpPr/>
          <p:nvPr/>
        </p:nvGrpSpPr>
        <p:grpSpPr>
          <a:xfrm>
            <a:off x="838200" y="1307136"/>
            <a:ext cx="8423362" cy="3203525"/>
            <a:chOff x="5757500" y="1577431"/>
            <a:chExt cx="8423362" cy="3203525"/>
          </a:xfrm>
        </p:grpSpPr>
        <p:grpSp>
          <p:nvGrpSpPr>
            <p:cNvPr id="5" name="组合 4">
              <a:extLst>
                <a:ext uri="{FF2B5EF4-FFF2-40B4-BE49-F238E27FC236}">
                  <a16:creationId xmlns:a16="http://schemas.microsoft.com/office/drawing/2014/main" id="{249096F8-EFA3-9223-7C0C-CBE1312733C0}"/>
                </a:ext>
              </a:extLst>
            </p:cNvPr>
            <p:cNvGrpSpPr/>
            <p:nvPr/>
          </p:nvGrpSpPr>
          <p:grpSpPr>
            <a:xfrm>
              <a:off x="5757500" y="1577431"/>
              <a:ext cx="8423362" cy="3203525"/>
              <a:chOff x="1701096" y="1374571"/>
              <a:chExt cx="8423362" cy="3203525"/>
            </a:xfrm>
          </p:grpSpPr>
          <p:cxnSp>
            <p:nvCxnSpPr>
              <p:cNvPr id="10" name="直接连接符 9">
                <a:extLst>
                  <a:ext uri="{FF2B5EF4-FFF2-40B4-BE49-F238E27FC236}">
                    <a16:creationId xmlns:a16="http://schemas.microsoft.com/office/drawing/2014/main" id="{8525EF3B-C4BE-6183-8C1D-7C41BD1ED0FF}"/>
                  </a:ext>
                </a:extLst>
              </p:cNvPr>
              <p:cNvCxnSpPr>
                <a:cxnSpLocks/>
              </p:cNvCxnSpPr>
              <p:nvPr/>
            </p:nvCxnSpPr>
            <p:spPr>
              <a:xfrm>
                <a:off x="2141951" y="1828800"/>
                <a:ext cx="20155" cy="2749296"/>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9C8C8950-2EF9-286C-27FA-6F1A16023674}"/>
                  </a:ext>
                </a:extLst>
              </p:cNvPr>
              <p:cNvCxnSpPr>
                <a:cxnSpLocks/>
              </p:cNvCxnSpPr>
              <p:nvPr/>
            </p:nvCxnSpPr>
            <p:spPr>
              <a:xfrm>
                <a:off x="4302905" y="1828800"/>
                <a:ext cx="9979" cy="2749296"/>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A1B21FD1-F431-74D2-AB12-C81BB2AF7568}"/>
                  </a:ext>
                </a:extLst>
              </p:cNvPr>
              <p:cNvCxnSpPr>
                <a:cxnSpLocks/>
              </p:cNvCxnSpPr>
              <p:nvPr/>
            </p:nvCxnSpPr>
            <p:spPr>
              <a:xfrm>
                <a:off x="2141951" y="1965960"/>
                <a:ext cx="2160954" cy="70358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ECEA1FC8-C958-3891-2DA6-17CAF821B642}"/>
                  </a:ext>
                </a:extLst>
              </p:cNvPr>
              <p:cNvCxnSpPr>
                <a:cxnSpLocks/>
              </p:cNvCxnSpPr>
              <p:nvPr/>
            </p:nvCxnSpPr>
            <p:spPr>
              <a:xfrm>
                <a:off x="2141951" y="1965960"/>
                <a:ext cx="7982507" cy="4894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2017CC4D-E771-3DED-6FAA-B40157CBDB0B}"/>
                  </a:ext>
                </a:extLst>
              </p:cNvPr>
              <p:cNvCxnSpPr>
                <a:cxnSpLocks/>
              </p:cNvCxnSpPr>
              <p:nvPr/>
            </p:nvCxnSpPr>
            <p:spPr>
              <a:xfrm>
                <a:off x="2141950" y="2147111"/>
                <a:ext cx="2160954" cy="70358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3908B237-9712-D9AD-AB77-50B8ABBB1F08}"/>
                  </a:ext>
                </a:extLst>
              </p:cNvPr>
              <p:cNvCxnSpPr>
                <a:cxnSpLocks/>
              </p:cNvCxnSpPr>
              <p:nvPr/>
            </p:nvCxnSpPr>
            <p:spPr>
              <a:xfrm>
                <a:off x="2147994" y="2327877"/>
                <a:ext cx="2160954" cy="70358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7C5F2788-B135-8FDE-A9B3-B571AB1F2FAF}"/>
                  </a:ext>
                </a:extLst>
              </p:cNvPr>
              <p:cNvCxnSpPr>
                <a:cxnSpLocks/>
              </p:cNvCxnSpPr>
              <p:nvPr/>
            </p:nvCxnSpPr>
            <p:spPr>
              <a:xfrm>
                <a:off x="2149638" y="3387093"/>
                <a:ext cx="2160954" cy="70358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7AF81CBF-5988-0D1D-5A6D-5BB3C1CABEAA}"/>
                  </a:ext>
                </a:extLst>
              </p:cNvPr>
              <p:cNvCxnSpPr>
                <a:cxnSpLocks/>
              </p:cNvCxnSpPr>
              <p:nvPr/>
            </p:nvCxnSpPr>
            <p:spPr>
              <a:xfrm>
                <a:off x="2141951" y="2503463"/>
                <a:ext cx="2160954" cy="703580"/>
              </a:xfrm>
              <a:prstGeom prst="line">
                <a:avLst/>
              </a:prstGeom>
            </p:spPr>
            <p:style>
              <a:lnRef idx="1">
                <a:schemeClr val="accent1"/>
              </a:lnRef>
              <a:fillRef idx="0">
                <a:schemeClr val="accent1"/>
              </a:fillRef>
              <a:effectRef idx="0">
                <a:schemeClr val="accent1"/>
              </a:effectRef>
              <a:fontRef idx="minor">
                <a:schemeClr val="tx1"/>
              </a:fontRef>
            </p:style>
          </p:cxnSp>
          <p:sp>
            <p:nvSpPr>
              <p:cNvPr id="20" name="右大括号 19">
                <a:extLst>
                  <a:ext uri="{FF2B5EF4-FFF2-40B4-BE49-F238E27FC236}">
                    <a16:creationId xmlns:a16="http://schemas.microsoft.com/office/drawing/2014/main" id="{1CD05271-2438-C850-0E6B-20D6035A0987}"/>
                  </a:ext>
                </a:extLst>
              </p:cNvPr>
              <p:cNvSpPr/>
              <p:nvPr/>
            </p:nvSpPr>
            <p:spPr>
              <a:xfrm>
                <a:off x="4302905" y="1974585"/>
                <a:ext cx="111537" cy="69198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000" b="1">
                  <a:solidFill>
                    <a:srgbClr val="0000FF"/>
                  </a:solidFill>
                </a:endParaRPr>
              </a:p>
            </p:txBody>
          </p:sp>
          <p:sp>
            <p:nvSpPr>
              <p:cNvPr id="21" name="文本框 20">
                <a:extLst>
                  <a:ext uri="{FF2B5EF4-FFF2-40B4-BE49-F238E27FC236}">
                    <a16:creationId xmlns:a16="http://schemas.microsoft.com/office/drawing/2014/main" id="{B3EE751B-2B3E-0C7A-387C-844097CB70F0}"/>
                  </a:ext>
                </a:extLst>
              </p:cNvPr>
              <p:cNvSpPr txBox="1"/>
              <p:nvPr/>
            </p:nvSpPr>
            <p:spPr>
              <a:xfrm>
                <a:off x="4358673" y="2200417"/>
                <a:ext cx="330200" cy="246221"/>
              </a:xfrm>
              <a:prstGeom prst="rect">
                <a:avLst/>
              </a:prstGeom>
              <a:noFill/>
            </p:spPr>
            <p:txBody>
              <a:bodyPr wrap="square" rtlCol="0">
                <a:spAutoFit/>
              </a:bodyPr>
              <a:lstStyle/>
              <a:p>
                <a:r>
                  <a:rPr lang="en-US" altLang="zh-CN" sz="1000" b="1" dirty="0">
                    <a:solidFill>
                      <a:srgbClr val="0000FF"/>
                    </a:solidFill>
                  </a:rPr>
                  <a:t>d</a:t>
                </a:r>
                <a:endParaRPr lang="zh-CN" altLang="en-US" sz="1000" b="1" dirty="0">
                  <a:solidFill>
                    <a:srgbClr val="0000FF"/>
                  </a:solidFill>
                </a:endParaRPr>
              </a:p>
            </p:txBody>
          </p:sp>
          <p:sp>
            <p:nvSpPr>
              <p:cNvPr id="23" name="文本框 22">
                <a:extLst>
                  <a:ext uri="{FF2B5EF4-FFF2-40B4-BE49-F238E27FC236}">
                    <a16:creationId xmlns:a16="http://schemas.microsoft.com/office/drawing/2014/main" id="{4A04141E-4A24-BB88-7805-462B15C44A3F}"/>
                  </a:ext>
                </a:extLst>
              </p:cNvPr>
              <p:cNvSpPr txBox="1"/>
              <p:nvPr/>
            </p:nvSpPr>
            <p:spPr>
              <a:xfrm>
                <a:off x="4358673" y="2645806"/>
                <a:ext cx="518073" cy="246221"/>
              </a:xfrm>
              <a:prstGeom prst="rect">
                <a:avLst/>
              </a:prstGeom>
              <a:noFill/>
            </p:spPr>
            <p:txBody>
              <a:bodyPr wrap="square" rtlCol="0">
                <a:spAutoFit/>
              </a:bodyPr>
              <a:lstStyle/>
              <a:p>
                <a:r>
                  <a:rPr lang="en-US" altLang="zh-CN" sz="1000" b="1" dirty="0">
                    <a:solidFill>
                      <a:srgbClr val="0000FF"/>
                    </a:solidFill>
                  </a:rPr>
                  <a:t>p/b</a:t>
                </a:r>
                <a:endParaRPr lang="zh-CN" altLang="en-US" sz="1000" b="1" dirty="0">
                  <a:solidFill>
                    <a:srgbClr val="0000FF"/>
                  </a:solidFill>
                </a:endParaRPr>
              </a:p>
            </p:txBody>
          </p:sp>
          <p:sp>
            <p:nvSpPr>
              <p:cNvPr id="25" name="右大括号 24">
                <a:extLst>
                  <a:ext uri="{FF2B5EF4-FFF2-40B4-BE49-F238E27FC236}">
                    <a16:creationId xmlns:a16="http://schemas.microsoft.com/office/drawing/2014/main" id="{5C3C02C7-958B-2D01-BD0F-9134FE30406E}"/>
                  </a:ext>
                </a:extLst>
              </p:cNvPr>
              <p:cNvSpPr/>
              <p:nvPr/>
            </p:nvSpPr>
            <p:spPr>
              <a:xfrm>
                <a:off x="4305116" y="2672975"/>
                <a:ext cx="89053" cy="17771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000" b="1">
                  <a:solidFill>
                    <a:srgbClr val="0000FF"/>
                  </a:solidFill>
                </a:endParaRPr>
              </a:p>
            </p:txBody>
          </p:sp>
          <p:sp>
            <p:nvSpPr>
              <p:cNvPr id="27" name="文本框 26">
                <a:extLst>
                  <a:ext uri="{FF2B5EF4-FFF2-40B4-BE49-F238E27FC236}">
                    <a16:creationId xmlns:a16="http://schemas.microsoft.com/office/drawing/2014/main" id="{53FC7C6E-5A5D-8CE7-B12C-24E05944C172}"/>
                  </a:ext>
                </a:extLst>
              </p:cNvPr>
              <p:cNvSpPr txBox="1"/>
              <p:nvPr/>
            </p:nvSpPr>
            <p:spPr>
              <a:xfrm>
                <a:off x="2865141" y="2210227"/>
                <a:ext cx="342870" cy="253916"/>
              </a:xfrm>
              <a:prstGeom prst="rect">
                <a:avLst/>
              </a:prstGeom>
              <a:noFill/>
            </p:spPr>
            <p:txBody>
              <a:bodyPr wrap="square" rtlCol="0">
                <a:spAutoFit/>
              </a:bodyPr>
              <a:lstStyle/>
              <a:p>
                <a:r>
                  <a:rPr lang="en-US" altLang="zh-CN" sz="1000" b="1" dirty="0">
                    <a:solidFill>
                      <a:srgbClr val="0000FF"/>
                    </a:solidFill>
                  </a:rPr>
                  <a:t>F1</a:t>
                </a:r>
                <a:endParaRPr lang="zh-CN" altLang="en-US" sz="1000" b="1" baseline="-25000" dirty="0">
                  <a:solidFill>
                    <a:srgbClr val="0000FF"/>
                  </a:solidFill>
                </a:endParaRPr>
              </a:p>
            </p:txBody>
          </p:sp>
          <p:sp>
            <p:nvSpPr>
              <p:cNvPr id="28" name="文本框 27">
                <a:extLst>
                  <a:ext uri="{FF2B5EF4-FFF2-40B4-BE49-F238E27FC236}">
                    <a16:creationId xmlns:a16="http://schemas.microsoft.com/office/drawing/2014/main" id="{5CD63CA8-7BF9-28E7-22FD-16151E40A38E}"/>
                  </a:ext>
                </a:extLst>
              </p:cNvPr>
              <p:cNvSpPr txBox="1"/>
              <p:nvPr/>
            </p:nvSpPr>
            <p:spPr>
              <a:xfrm>
                <a:off x="2861726" y="2399585"/>
                <a:ext cx="342870" cy="253916"/>
              </a:xfrm>
              <a:prstGeom prst="rect">
                <a:avLst/>
              </a:prstGeom>
              <a:noFill/>
            </p:spPr>
            <p:txBody>
              <a:bodyPr wrap="square" rtlCol="0">
                <a:spAutoFit/>
              </a:bodyPr>
              <a:lstStyle/>
              <a:p>
                <a:r>
                  <a:rPr lang="en-US" altLang="zh-CN" sz="1000" b="1" dirty="0">
                    <a:solidFill>
                      <a:srgbClr val="0000FF"/>
                    </a:solidFill>
                  </a:rPr>
                  <a:t>F2</a:t>
                </a:r>
                <a:endParaRPr lang="zh-CN" altLang="en-US" sz="1000" b="1" baseline="-25000" dirty="0">
                  <a:solidFill>
                    <a:srgbClr val="0000FF"/>
                  </a:solidFill>
                </a:endParaRPr>
              </a:p>
            </p:txBody>
          </p:sp>
          <p:sp>
            <p:nvSpPr>
              <p:cNvPr id="29" name="文本框 28">
                <a:extLst>
                  <a:ext uri="{FF2B5EF4-FFF2-40B4-BE49-F238E27FC236}">
                    <a16:creationId xmlns:a16="http://schemas.microsoft.com/office/drawing/2014/main" id="{E389C783-1913-2D1E-EC6E-4F83D6547A21}"/>
                  </a:ext>
                </a:extLst>
              </p:cNvPr>
              <p:cNvSpPr txBox="1"/>
              <p:nvPr/>
            </p:nvSpPr>
            <p:spPr>
              <a:xfrm>
                <a:off x="2869457" y="3042014"/>
                <a:ext cx="338554" cy="246221"/>
              </a:xfrm>
              <a:prstGeom prst="rect">
                <a:avLst/>
              </a:prstGeom>
              <a:noFill/>
            </p:spPr>
            <p:txBody>
              <a:bodyPr vert="eaVert" wrap="square" rtlCol="0">
                <a:spAutoFit/>
              </a:bodyPr>
              <a:lstStyle/>
              <a:p>
                <a:r>
                  <a:rPr lang="en-US" altLang="zh-CN" sz="1000" b="1" dirty="0">
                    <a:solidFill>
                      <a:srgbClr val="0000FF"/>
                    </a:solidFill>
                  </a:rPr>
                  <a:t>…</a:t>
                </a:r>
                <a:endParaRPr lang="zh-CN" altLang="en-US" sz="1000" b="1" dirty="0">
                  <a:solidFill>
                    <a:srgbClr val="0000FF"/>
                  </a:solidFill>
                </a:endParaRPr>
              </a:p>
            </p:txBody>
          </p:sp>
          <p:sp>
            <p:nvSpPr>
              <p:cNvPr id="30" name="文本框 29">
                <a:extLst>
                  <a:ext uri="{FF2B5EF4-FFF2-40B4-BE49-F238E27FC236}">
                    <a16:creationId xmlns:a16="http://schemas.microsoft.com/office/drawing/2014/main" id="{06C14908-CDE1-2A96-BB1B-4B90B0A8CCE7}"/>
                  </a:ext>
                </a:extLst>
              </p:cNvPr>
              <p:cNvSpPr txBox="1"/>
              <p:nvPr/>
            </p:nvSpPr>
            <p:spPr>
              <a:xfrm>
                <a:off x="1701096" y="1374571"/>
                <a:ext cx="922020" cy="338554"/>
              </a:xfrm>
              <a:prstGeom prst="rect">
                <a:avLst/>
              </a:prstGeom>
              <a:noFill/>
            </p:spPr>
            <p:txBody>
              <a:bodyPr wrap="square" rtlCol="0">
                <a:spAutoFit/>
              </a:bodyPr>
              <a:lstStyle/>
              <a:p>
                <a:r>
                  <a:rPr lang="en-US" altLang="zh-CN" sz="1600" b="1" dirty="0">
                    <a:solidFill>
                      <a:srgbClr val="0000FF"/>
                    </a:solidFill>
                  </a:rPr>
                  <a:t>Sender</a:t>
                </a:r>
                <a:endParaRPr lang="zh-CN" altLang="en-US" sz="1600" b="1" dirty="0">
                  <a:solidFill>
                    <a:srgbClr val="0000FF"/>
                  </a:solidFill>
                </a:endParaRPr>
              </a:p>
            </p:txBody>
          </p:sp>
          <p:sp>
            <p:nvSpPr>
              <p:cNvPr id="31" name="文本框 30">
                <a:extLst>
                  <a:ext uri="{FF2B5EF4-FFF2-40B4-BE49-F238E27FC236}">
                    <a16:creationId xmlns:a16="http://schemas.microsoft.com/office/drawing/2014/main" id="{E5C596A4-468E-07D0-E53A-FAE4D0B24D9D}"/>
                  </a:ext>
                </a:extLst>
              </p:cNvPr>
              <p:cNvSpPr txBox="1"/>
              <p:nvPr/>
            </p:nvSpPr>
            <p:spPr>
              <a:xfrm>
                <a:off x="3841894" y="1410483"/>
                <a:ext cx="922020" cy="338554"/>
              </a:xfrm>
              <a:prstGeom prst="rect">
                <a:avLst/>
              </a:prstGeom>
              <a:noFill/>
            </p:spPr>
            <p:txBody>
              <a:bodyPr wrap="square" rtlCol="0">
                <a:spAutoFit/>
              </a:bodyPr>
              <a:lstStyle/>
              <a:p>
                <a:pPr algn="ctr"/>
                <a:r>
                  <a:rPr lang="en-US" altLang="zh-CN" sz="1600" b="1" dirty="0">
                    <a:solidFill>
                      <a:srgbClr val="0000FF"/>
                    </a:solidFill>
                  </a:rPr>
                  <a:t>R1</a:t>
                </a:r>
                <a:endParaRPr lang="zh-CN" altLang="en-US" sz="1600" b="1" dirty="0">
                  <a:solidFill>
                    <a:srgbClr val="0000FF"/>
                  </a:solidFill>
                </a:endParaRPr>
              </a:p>
            </p:txBody>
          </p:sp>
          <p:cxnSp>
            <p:nvCxnSpPr>
              <p:cNvPr id="32" name="直接连接符 31">
                <a:extLst>
                  <a:ext uri="{FF2B5EF4-FFF2-40B4-BE49-F238E27FC236}">
                    <a16:creationId xmlns:a16="http://schemas.microsoft.com/office/drawing/2014/main" id="{BC2CF12E-A630-2DAE-AC9E-B567E6F49A20}"/>
                  </a:ext>
                </a:extLst>
              </p:cNvPr>
              <p:cNvCxnSpPr>
                <a:cxnSpLocks/>
              </p:cNvCxnSpPr>
              <p:nvPr/>
            </p:nvCxnSpPr>
            <p:spPr>
              <a:xfrm>
                <a:off x="2152914" y="3551253"/>
                <a:ext cx="2160954" cy="703580"/>
              </a:xfrm>
              <a:prstGeom prst="line">
                <a:avLst/>
              </a:prstGeom>
            </p:spPr>
            <p:style>
              <a:lnRef idx="1">
                <a:schemeClr val="accent1"/>
              </a:lnRef>
              <a:fillRef idx="0">
                <a:schemeClr val="accent1"/>
              </a:fillRef>
              <a:effectRef idx="0">
                <a:schemeClr val="accent1"/>
              </a:effectRef>
              <a:fontRef idx="minor">
                <a:schemeClr val="tx1"/>
              </a:fontRef>
            </p:style>
          </p:cxnSp>
          <p:sp>
            <p:nvSpPr>
              <p:cNvPr id="33" name="文本框 32">
                <a:extLst>
                  <a:ext uri="{FF2B5EF4-FFF2-40B4-BE49-F238E27FC236}">
                    <a16:creationId xmlns:a16="http://schemas.microsoft.com/office/drawing/2014/main" id="{AC7C1395-8BF8-7EE7-C41E-657563B746DD}"/>
                  </a:ext>
                </a:extLst>
              </p:cNvPr>
              <p:cNvSpPr txBox="1"/>
              <p:nvPr/>
            </p:nvSpPr>
            <p:spPr>
              <a:xfrm>
                <a:off x="2861726" y="2593270"/>
                <a:ext cx="342870" cy="253916"/>
              </a:xfrm>
              <a:prstGeom prst="rect">
                <a:avLst/>
              </a:prstGeom>
              <a:noFill/>
            </p:spPr>
            <p:txBody>
              <a:bodyPr wrap="square" rtlCol="0">
                <a:spAutoFit/>
              </a:bodyPr>
              <a:lstStyle/>
              <a:p>
                <a:r>
                  <a:rPr lang="en-US" altLang="zh-CN" sz="1000" b="1" dirty="0">
                    <a:solidFill>
                      <a:srgbClr val="0000FF"/>
                    </a:solidFill>
                  </a:rPr>
                  <a:t>F3</a:t>
                </a:r>
                <a:endParaRPr lang="zh-CN" altLang="en-US" sz="1000" b="1" baseline="-25000" dirty="0">
                  <a:solidFill>
                    <a:srgbClr val="0000FF"/>
                  </a:solidFill>
                </a:endParaRPr>
              </a:p>
            </p:txBody>
          </p:sp>
          <p:sp>
            <p:nvSpPr>
              <p:cNvPr id="34" name="文本框 33">
                <a:extLst>
                  <a:ext uri="{FF2B5EF4-FFF2-40B4-BE49-F238E27FC236}">
                    <a16:creationId xmlns:a16="http://schemas.microsoft.com/office/drawing/2014/main" id="{1100CA9D-84E0-C31F-46E1-39B88C2574F0}"/>
                  </a:ext>
                </a:extLst>
              </p:cNvPr>
              <p:cNvSpPr txBox="1"/>
              <p:nvPr/>
            </p:nvSpPr>
            <p:spPr>
              <a:xfrm>
                <a:off x="2865141" y="3611011"/>
                <a:ext cx="391859" cy="246221"/>
              </a:xfrm>
              <a:prstGeom prst="rect">
                <a:avLst/>
              </a:prstGeom>
              <a:noFill/>
            </p:spPr>
            <p:txBody>
              <a:bodyPr wrap="square" rtlCol="0">
                <a:spAutoFit/>
              </a:bodyPr>
              <a:lstStyle/>
              <a:p>
                <a:r>
                  <a:rPr lang="en-US" altLang="zh-CN" sz="1000" b="1" dirty="0" err="1">
                    <a:solidFill>
                      <a:srgbClr val="0000FF"/>
                    </a:solidFill>
                  </a:rPr>
                  <a:t>Fn</a:t>
                </a:r>
                <a:endParaRPr lang="zh-CN" altLang="en-US" sz="1000" b="1" dirty="0">
                  <a:solidFill>
                    <a:srgbClr val="0000FF"/>
                  </a:solidFill>
                </a:endParaRPr>
              </a:p>
            </p:txBody>
          </p:sp>
        </p:grpSp>
        <p:sp>
          <p:nvSpPr>
            <p:cNvPr id="6" name="Freeform 17">
              <a:extLst>
                <a:ext uri="{FF2B5EF4-FFF2-40B4-BE49-F238E27FC236}">
                  <a16:creationId xmlns:a16="http://schemas.microsoft.com/office/drawing/2014/main" id="{8B9D4D3A-E111-98EF-A6EC-4D5073081D6F}"/>
                </a:ext>
              </a:extLst>
            </p:cNvPr>
            <p:cNvSpPr>
              <a:spLocks noChangeArrowheads="1"/>
            </p:cNvSpPr>
            <p:nvPr/>
          </p:nvSpPr>
          <p:spPr bwMode="auto">
            <a:xfrm>
              <a:off x="6195367" y="2171780"/>
              <a:ext cx="2160954" cy="882549"/>
            </a:xfrm>
            <a:custGeom>
              <a:avLst/>
              <a:gdLst>
                <a:gd name="T0" fmla="*/ 0 w 6836"/>
                <a:gd name="T1" fmla="*/ 0 h 3540"/>
                <a:gd name="T2" fmla="*/ 2147483647 w 6836"/>
                <a:gd name="T3" fmla="*/ 2147483647 h 3540"/>
                <a:gd name="T4" fmla="*/ 2147483647 w 6836"/>
                <a:gd name="T5" fmla="*/ 2147483647 h 3540"/>
                <a:gd name="T6" fmla="*/ 0 w 6836"/>
                <a:gd name="T7" fmla="*/ 2147483647 h 3540"/>
                <a:gd name="T8" fmla="*/ 0 w 6836"/>
                <a:gd name="T9" fmla="*/ 0 h 35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36" h="3540">
                  <a:moveTo>
                    <a:pt x="0" y="0"/>
                  </a:moveTo>
                  <a:lnTo>
                    <a:pt x="6819" y="2797"/>
                  </a:lnTo>
                  <a:lnTo>
                    <a:pt x="6835" y="3539"/>
                  </a:lnTo>
                  <a:lnTo>
                    <a:pt x="0" y="737"/>
                  </a:lnTo>
                  <a:lnTo>
                    <a:pt x="0" y="0"/>
                  </a:lnTo>
                </a:path>
              </a:pathLst>
            </a:custGeom>
            <a:solidFill>
              <a:srgbClr val="0070C0">
                <a:alpha val="50000"/>
              </a:srgbClr>
            </a:solidFill>
            <a:ln w="9360">
              <a:noFill/>
              <a:round/>
              <a:headEnd/>
              <a:tailEnd/>
            </a:ln>
          </p:spPr>
          <p:txBody>
            <a:bodyPr wrap="none" anchor="ctr"/>
            <a:lstStyle/>
            <a:p>
              <a:pPr algn="ctr" fontAlgn="base">
                <a:spcBef>
                  <a:spcPct val="0"/>
                </a:spcBef>
                <a:spcAft>
                  <a:spcPct val="0"/>
                </a:spcAft>
              </a:pPr>
              <a:endParaRPr lang="zh-CN" altLang="en-US" b="1">
                <a:solidFill>
                  <a:srgbClr val="0000FF"/>
                </a:solidFill>
                <a:latin typeface="Arial" charset="0"/>
              </a:endParaRPr>
            </a:p>
          </p:txBody>
        </p:sp>
        <p:sp>
          <p:nvSpPr>
            <p:cNvPr id="7" name="Freeform 17">
              <a:extLst>
                <a:ext uri="{FF2B5EF4-FFF2-40B4-BE49-F238E27FC236}">
                  <a16:creationId xmlns:a16="http://schemas.microsoft.com/office/drawing/2014/main" id="{ABA61671-A199-D08D-4C1E-C2B6225EBF60}"/>
                </a:ext>
              </a:extLst>
            </p:cNvPr>
            <p:cNvSpPr>
              <a:spLocks noChangeArrowheads="1"/>
            </p:cNvSpPr>
            <p:nvPr/>
          </p:nvSpPr>
          <p:spPr bwMode="auto">
            <a:xfrm>
              <a:off x="6209318" y="2356629"/>
              <a:ext cx="2160954" cy="882549"/>
            </a:xfrm>
            <a:custGeom>
              <a:avLst/>
              <a:gdLst>
                <a:gd name="T0" fmla="*/ 0 w 6836"/>
                <a:gd name="T1" fmla="*/ 0 h 3540"/>
                <a:gd name="T2" fmla="*/ 2147483647 w 6836"/>
                <a:gd name="T3" fmla="*/ 2147483647 h 3540"/>
                <a:gd name="T4" fmla="*/ 2147483647 w 6836"/>
                <a:gd name="T5" fmla="*/ 2147483647 h 3540"/>
                <a:gd name="T6" fmla="*/ 0 w 6836"/>
                <a:gd name="T7" fmla="*/ 2147483647 h 3540"/>
                <a:gd name="T8" fmla="*/ 0 w 6836"/>
                <a:gd name="T9" fmla="*/ 0 h 35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36" h="3540">
                  <a:moveTo>
                    <a:pt x="0" y="0"/>
                  </a:moveTo>
                  <a:lnTo>
                    <a:pt x="6819" y="2797"/>
                  </a:lnTo>
                  <a:lnTo>
                    <a:pt x="6835" y="3539"/>
                  </a:lnTo>
                  <a:lnTo>
                    <a:pt x="0" y="737"/>
                  </a:lnTo>
                  <a:lnTo>
                    <a:pt x="0" y="0"/>
                  </a:lnTo>
                </a:path>
              </a:pathLst>
            </a:custGeom>
            <a:solidFill>
              <a:srgbClr val="0070C0">
                <a:alpha val="50000"/>
              </a:srgbClr>
            </a:solidFill>
            <a:ln w="9360">
              <a:noFill/>
              <a:round/>
              <a:headEnd/>
              <a:tailEnd/>
            </a:ln>
          </p:spPr>
          <p:txBody>
            <a:bodyPr wrap="none" anchor="ctr"/>
            <a:lstStyle/>
            <a:p>
              <a:pPr algn="ctr" fontAlgn="base">
                <a:spcBef>
                  <a:spcPct val="0"/>
                </a:spcBef>
                <a:spcAft>
                  <a:spcPct val="0"/>
                </a:spcAft>
              </a:pPr>
              <a:endParaRPr lang="zh-CN" altLang="en-US" b="1">
                <a:solidFill>
                  <a:srgbClr val="0000FF"/>
                </a:solidFill>
                <a:latin typeface="Arial" charset="0"/>
              </a:endParaRPr>
            </a:p>
          </p:txBody>
        </p:sp>
        <p:sp>
          <p:nvSpPr>
            <p:cNvPr id="8" name="Freeform 17">
              <a:extLst>
                <a:ext uri="{FF2B5EF4-FFF2-40B4-BE49-F238E27FC236}">
                  <a16:creationId xmlns:a16="http://schemas.microsoft.com/office/drawing/2014/main" id="{69A91131-335B-C84C-0B15-EF4D53836F36}"/>
                </a:ext>
              </a:extLst>
            </p:cNvPr>
            <p:cNvSpPr>
              <a:spLocks noChangeArrowheads="1"/>
            </p:cNvSpPr>
            <p:nvPr/>
          </p:nvSpPr>
          <p:spPr bwMode="auto">
            <a:xfrm>
              <a:off x="6213429" y="2532016"/>
              <a:ext cx="2160954" cy="882549"/>
            </a:xfrm>
            <a:custGeom>
              <a:avLst/>
              <a:gdLst>
                <a:gd name="T0" fmla="*/ 0 w 6836"/>
                <a:gd name="T1" fmla="*/ 0 h 3540"/>
                <a:gd name="T2" fmla="*/ 2147483647 w 6836"/>
                <a:gd name="T3" fmla="*/ 2147483647 h 3540"/>
                <a:gd name="T4" fmla="*/ 2147483647 w 6836"/>
                <a:gd name="T5" fmla="*/ 2147483647 h 3540"/>
                <a:gd name="T6" fmla="*/ 0 w 6836"/>
                <a:gd name="T7" fmla="*/ 2147483647 h 3540"/>
                <a:gd name="T8" fmla="*/ 0 w 6836"/>
                <a:gd name="T9" fmla="*/ 0 h 35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36" h="3540">
                  <a:moveTo>
                    <a:pt x="0" y="0"/>
                  </a:moveTo>
                  <a:lnTo>
                    <a:pt x="6819" y="2797"/>
                  </a:lnTo>
                  <a:lnTo>
                    <a:pt x="6835" y="3539"/>
                  </a:lnTo>
                  <a:lnTo>
                    <a:pt x="0" y="737"/>
                  </a:lnTo>
                  <a:lnTo>
                    <a:pt x="0" y="0"/>
                  </a:lnTo>
                </a:path>
              </a:pathLst>
            </a:custGeom>
            <a:solidFill>
              <a:srgbClr val="0070C0">
                <a:alpha val="50000"/>
              </a:srgbClr>
            </a:solidFill>
            <a:ln w="9360">
              <a:noFill/>
              <a:round/>
              <a:headEnd/>
              <a:tailEnd/>
            </a:ln>
          </p:spPr>
          <p:txBody>
            <a:bodyPr wrap="none" anchor="ctr"/>
            <a:lstStyle/>
            <a:p>
              <a:pPr algn="ctr" fontAlgn="base">
                <a:spcBef>
                  <a:spcPct val="0"/>
                </a:spcBef>
                <a:spcAft>
                  <a:spcPct val="0"/>
                </a:spcAft>
              </a:pPr>
              <a:endParaRPr lang="zh-CN" altLang="en-US" b="1">
                <a:solidFill>
                  <a:srgbClr val="0000FF"/>
                </a:solidFill>
                <a:latin typeface="Arial" charset="0"/>
              </a:endParaRPr>
            </a:p>
          </p:txBody>
        </p:sp>
        <p:sp>
          <p:nvSpPr>
            <p:cNvPr id="9" name="Freeform 17">
              <a:extLst>
                <a:ext uri="{FF2B5EF4-FFF2-40B4-BE49-F238E27FC236}">
                  <a16:creationId xmlns:a16="http://schemas.microsoft.com/office/drawing/2014/main" id="{FB365D69-3BEB-EFB5-FCAA-01C5EDD7BE26}"/>
                </a:ext>
              </a:extLst>
            </p:cNvPr>
            <p:cNvSpPr>
              <a:spLocks noChangeArrowheads="1"/>
            </p:cNvSpPr>
            <p:nvPr/>
          </p:nvSpPr>
          <p:spPr bwMode="auto">
            <a:xfrm>
              <a:off x="6213429" y="3593619"/>
              <a:ext cx="2160954" cy="882549"/>
            </a:xfrm>
            <a:custGeom>
              <a:avLst/>
              <a:gdLst>
                <a:gd name="T0" fmla="*/ 0 w 6836"/>
                <a:gd name="T1" fmla="*/ 0 h 3540"/>
                <a:gd name="T2" fmla="*/ 2147483647 w 6836"/>
                <a:gd name="T3" fmla="*/ 2147483647 h 3540"/>
                <a:gd name="T4" fmla="*/ 2147483647 w 6836"/>
                <a:gd name="T5" fmla="*/ 2147483647 h 3540"/>
                <a:gd name="T6" fmla="*/ 0 w 6836"/>
                <a:gd name="T7" fmla="*/ 2147483647 h 3540"/>
                <a:gd name="T8" fmla="*/ 0 w 6836"/>
                <a:gd name="T9" fmla="*/ 0 h 35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36" h="3540">
                  <a:moveTo>
                    <a:pt x="0" y="0"/>
                  </a:moveTo>
                  <a:lnTo>
                    <a:pt x="6819" y="2797"/>
                  </a:lnTo>
                  <a:lnTo>
                    <a:pt x="6835" y="3539"/>
                  </a:lnTo>
                  <a:lnTo>
                    <a:pt x="0" y="737"/>
                  </a:lnTo>
                  <a:lnTo>
                    <a:pt x="0" y="0"/>
                  </a:lnTo>
                </a:path>
              </a:pathLst>
            </a:custGeom>
            <a:solidFill>
              <a:srgbClr val="0070C0">
                <a:alpha val="50000"/>
              </a:srgbClr>
            </a:solidFill>
            <a:ln w="9360">
              <a:noFill/>
              <a:round/>
              <a:headEnd/>
              <a:tailEnd/>
            </a:ln>
          </p:spPr>
          <p:txBody>
            <a:bodyPr wrap="none" anchor="ctr"/>
            <a:lstStyle/>
            <a:p>
              <a:pPr algn="ctr" fontAlgn="base">
                <a:spcBef>
                  <a:spcPct val="0"/>
                </a:spcBef>
                <a:spcAft>
                  <a:spcPct val="0"/>
                </a:spcAft>
              </a:pPr>
              <a:endParaRPr lang="zh-CN" altLang="en-US" b="1">
                <a:solidFill>
                  <a:srgbClr val="0000FF"/>
                </a:solidFill>
                <a:latin typeface="Arial" charset="0"/>
              </a:endParaRPr>
            </a:p>
          </p:txBody>
        </p:sp>
      </p:grpSp>
      <p:grpSp>
        <p:nvGrpSpPr>
          <p:cNvPr id="35" name="组合 34">
            <a:extLst>
              <a:ext uri="{FF2B5EF4-FFF2-40B4-BE49-F238E27FC236}">
                <a16:creationId xmlns:a16="http://schemas.microsoft.com/office/drawing/2014/main" id="{55A5D90C-253F-FD68-5A8A-DF5B412E88B3}"/>
              </a:ext>
            </a:extLst>
          </p:cNvPr>
          <p:cNvGrpSpPr/>
          <p:nvPr/>
        </p:nvGrpSpPr>
        <p:grpSpPr>
          <a:xfrm>
            <a:off x="3445628" y="1681602"/>
            <a:ext cx="5831704" cy="3724824"/>
            <a:chOff x="6195367" y="1056132"/>
            <a:chExt cx="5831704" cy="3724824"/>
          </a:xfrm>
        </p:grpSpPr>
        <p:grpSp>
          <p:nvGrpSpPr>
            <p:cNvPr id="36" name="组合 35">
              <a:extLst>
                <a:ext uri="{FF2B5EF4-FFF2-40B4-BE49-F238E27FC236}">
                  <a16:creationId xmlns:a16="http://schemas.microsoft.com/office/drawing/2014/main" id="{3FBBA75B-72B0-F240-DE89-E0E05BF308D1}"/>
                </a:ext>
              </a:extLst>
            </p:cNvPr>
            <p:cNvGrpSpPr/>
            <p:nvPr/>
          </p:nvGrpSpPr>
          <p:grpSpPr>
            <a:xfrm>
              <a:off x="6198354" y="1056132"/>
              <a:ext cx="5828717" cy="3724824"/>
              <a:chOff x="2141950" y="853272"/>
              <a:chExt cx="5828717" cy="3724824"/>
            </a:xfrm>
          </p:grpSpPr>
          <p:cxnSp>
            <p:nvCxnSpPr>
              <p:cNvPr id="41" name="直接连接符 40">
                <a:extLst>
                  <a:ext uri="{FF2B5EF4-FFF2-40B4-BE49-F238E27FC236}">
                    <a16:creationId xmlns:a16="http://schemas.microsoft.com/office/drawing/2014/main" id="{A9EEF186-F51E-3E84-56CD-BC01EF6FDA51}"/>
                  </a:ext>
                </a:extLst>
              </p:cNvPr>
              <p:cNvCxnSpPr>
                <a:cxnSpLocks/>
              </p:cNvCxnSpPr>
              <p:nvPr/>
            </p:nvCxnSpPr>
            <p:spPr>
              <a:xfrm>
                <a:off x="2141951" y="1828800"/>
                <a:ext cx="20155" cy="2749296"/>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47D1632E-8F87-82AC-6916-5B32B4F2DEB8}"/>
                  </a:ext>
                </a:extLst>
              </p:cNvPr>
              <p:cNvCxnSpPr>
                <a:cxnSpLocks/>
              </p:cNvCxnSpPr>
              <p:nvPr/>
            </p:nvCxnSpPr>
            <p:spPr>
              <a:xfrm>
                <a:off x="4292434" y="853272"/>
                <a:ext cx="20450" cy="3724824"/>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9A77DFDC-858B-E6DC-EACE-CB8923647514}"/>
                  </a:ext>
                </a:extLst>
              </p:cNvPr>
              <p:cNvCxnSpPr>
                <a:cxnSpLocks/>
              </p:cNvCxnSpPr>
              <p:nvPr/>
            </p:nvCxnSpPr>
            <p:spPr>
              <a:xfrm>
                <a:off x="2141951" y="1965960"/>
                <a:ext cx="2160954" cy="703580"/>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B079A4F-7FFC-ED90-5167-365A528B98FE}"/>
                  </a:ext>
                </a:extLst>
              </p:cNvPr>
              <p:cNvCxnSpPr>
                <a:cxnSpLocks/>
              </p:cNvCxnSpPr>
              <p:nvPr/>
            </p:nvCxnSpPr>
            <p:spPr>
              <a:xfrm>
                <a:off x="2141951" y="1965960"/>
                <a:ext cx="5828716" cy="8625"/>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37D17ADE-0A81-FC78-1BA2-EDE4B41AEECC}"/>
                  </a:ext>
                </a:extLst>
              </p:cNvPr>
              <p:cNvCxnSpPr>
                <a:cxnSpLocks/>
              </p:cNvCxnSpPr>
              <p:nvPr/>
            </p:nvCxnSpPr>
            <p:spPr>
              <a:xfrm>
                <a:off x="2141950" y="2147111"/>
                <a:ext cx="2160954" cy="70358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3353040A-2508-E597-9D37-80D0C9807C0F}"/>
                  </a:ext>
                </a:extLst>
              </p:cNvPr>
              <p:cNvCxnSpPr>
                <a:cxnSpLocks/>
              </p:cNvCxnSpPr>
              <p:nvPr/>
            </p:nvCxnSpPr>
            <p:spPr>
              <a:xfrm>
                <a:off x="2147994" y="2327877"/>
                <a:ext cx="2160954" cy="703580"/>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D6C507A7-0103-F909-BD1B-C60283A3D4E6}"/>
                  </a:ext>
                </a:extLst>
              </p:cNvPr>
              <p:cNvCxnSpPr>
                <a:cxnSpLocks/>
              </p:cNvCxnSpPr>
              <p:nvPr/>
            </p:nvCxnSpPr>
            <p:spPr>
              <a:xfrm>
                <a:off x="2149638" y="3387093"/>
                <a:ext cx="2160954" cy="703580"/>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4D15778B-4CE0-CA2C-D00F-FDCCF846C764}"/>
                  </a:ext>
                </a:extLst>
              </p:cNvPr>
              <p:cNvCxnSpPr>
                <a:cxnSpLocks/>
              </p:cNvCxnSpPr>
              <p:nvPr/>
            </p:nvCxnSpPr>
            <p:spPr>
              <a:xfrm>
                <a:off x="2141951" y="2503463"/>
                <a:ext cx="2160954" cy="703580"/>
              </a:xfrm>
              <a:prstGeom prst="line">
                <a:avLst/>
              </a:prstGeom>
            </p:spPr>
            <p:style>
              <a:lnRef idx="1">
                <a:schemeClr val="accent1"/>
              </a:lnRef>
              <a:fillRef idx="0">
                <a:schemeClr val="accent1"/>
              </a:fillRef>
              <a:effectRef idx="0">
                <a:schemeClr val="accent1"/>
              </a:effectRef>
              <a:fontRef idx="minor">
                <a:schemeClr val="tx1"/>
              </a:fontRef>
            </p:style>
          </p:cxnSp>
          <p:sp>
            <p:nvSpPr>
              <p:cNvPr id="51" name="右大括号 50">
                <a:extLst>
                  <a:ext uri="{FF2B5EF4-FFF2-40B4-BE49-F238E27FC236}">
                    <a16:creationId xmlns:a16="http://schemas.microsoft.com/office/drawing/2014/main" id="{88DE79BC-932B-F15F-AA76-33F94E3A0EA6}"/>
                  </a:ext>
                </a:extLst>
              </p:cNvPr>
              <p:cNvSpPr/>
              <p:nvPr/>
            </p:nvSpPr>
            <p:spPr>
              <a:xfrm>
                <a:off x="4302905" y="1974585"/>
                <a:ext cx="111537" cy="69198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000" b="1">
                  <a:solidFill>
                    <a:srgbClr val="0000FF"/>
                  </a:solidFill>
                </a:endParaRPr>
              </a:p>
            </p:txBody>
          </p:sp>
          <p:sp>
            <p:nvSpPr>
              <p:cNvPr id="52" name="文本框 51">
                <a:extLst>
                  <a:ext uri="{FF2B5EF4-FFF2-40B4-BE49-F238E27FC236}">
                    <a16:creationId xmlns:a16="http://schemas.microsoft.com/office/drawing/2014/main" id="{E5514EEC-2C1C-EFB4-03AB-529E0CB669D9}"/>
                  </a:ext>
                </a:extLst>
              </p:cNvPr>
              <p:cNvSpPr txBox="1"/>
              <p:nvPr/>
            </p:nvSpPr>
            <p:spPr>
              <a:xfrm>
                <a:off x="4358673" y="2200417"/>
                <a:ext cx="330200" cy="246221"/>
              </a:xfrm>
              <a:prstGeom prst="rect">
                <a:avLst/>
              </a:prstGeom>
              <a:noFill/>
            </p:spPr>
            <p:txBody>
              <a:bodyPr wrap="square" rtlCol="0">
                <a:spAutoFit/>
              </a:bodyPr>
              <a:lstStyle/>
              <a:p>
                <a:r>
                  <a:rPr lang="en-US" altLang="zh-CN" sz="1000" b="1" dirty="0">
                    <a:solidFill>
                      <a:srgbClr val="0000FF"/>
                    </a:solidFill>
                  </a:rPr>
                  <a:t>d</a:t>
                </a:r>
                <a:endParaRPr lang="zh-CN" altLang="en-US" sz="1000" b="1" dirty="0">
                  <a:solidFill>
                    <a:srgbClr val="0000FF"/>
                  </a:solidFill>
                </a:endParaRPr>
              </a:p>
            </p:txBody>
          </p:sp>
          <p:sp>
            <p:nvSpPr>
              <p:cNvPr id="54" name="文本框 53">
                <a:extLst>
                  <a:ext uri="{FF2B5EF4-FFF2-40B4-BE49-F238E27FC236}">
                    <a16:creationId xmlns:a16="http://schemas.microsoft.com/office/drawing/2014/main" id="{7A3DE16A-D718-982E-666E-67134D3C9032}"/>
                  </a:ext>
                </a:extLst>
              </p:cNvPr>
              <p:cNvSpPr txBox="1"/>
              <p:nvPr/>
            </p:nvSpPr>
            <p:spPr>
              <a:xfrm>
                <a:off x="4358673" y="2645806"/>
                <a:ext cx="518073" cy="246221"/>
              </a:xfrm>
              <a:prstGeom prst="rect">
                <a:avLst/>
              </a:prstGeom>
              <a:noFill/>
            </p:spPr>
            <p:txBody>
              <a:bodyPr wrap="square" rtlCol="0">
                <a:spAutoFit/>
              </a:bodyPr>
              <a:lstStyle/>
              <a:p>
                <a:r>
                  <a:rPr lang="en-US" altLang="zh-CN" sz="1000" b="1" dirty="0">
                    <a:solidFill>
                      <a:srgbClr val="0000FF"/>
                    </a:solidFill>
                  </a:rPr>
                  <a:t>p/b</a:t>
                </a:r>
                <a:endParaRPr lang="zh-CN" altLang="en-US" sz="1000" b="1" dirty="0">
                  <a:solidFill>
                    <a:srgbClr val="0000FF"/>
                  </a:solidFill>
                </a:endParaRPr>
              </a:p>
            </p:txBody>
          </p:sp>
          <p:sp>
            <p:nvSpPr>
              <p:cNvPr id="56" name="右大括号 55">
                <a:extLst>
                  <a:ext uri="{FF2B5EF4-FFF2-40B4-BE49-F238E27FC236}">
                    <a16:creationId xmlns:a16="http://schemas.microsoft.com/office/drawing/2014/main" id="{6C9BB007-2FE6-D108-27D9-B3EDA730E1F6}"/>
                  </a:ext>
                </a:extLst>
              </p:cNvPr>
              <p:cNvSpPr/>
              <p:nvPr/>
            </p:nvSpPr>
            <p:spPr>
              <a:xfrm>
                <a:off x="4305116" y="2672975"/>
                <a:ext cx="89053" cy="17771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000" b="1">
                  <a:solidFill>
                    <a:srgbClr val="0000FF"/>
                  </a:solidFill>
                </a:endParaRPr>
              </a:p>
            </p:txBody>
          </p:sp>
          <p:sp>
            <p:nvSpPr>
              <p:cNvPr id="58" name="文本框 57">
                <a:extLst>
                  <a:ext uri="{FF2B5EF4-FFF2-40B4-BE49-F238E27FC236}">
                    <a16:creationId xmlns:a16="http://schemas.microsoft.com/office/drawing/2014/main" id="{FED404AC-2A2E-E8E4-377D-0324D659976A}"/>
                  </a:ext>
                </a:extLst>
              </p:cNvPr>
              <p:cNvSpPr txBox="1"/>
              <p:nvPr/>
            </p:nvSpPr>
            <p:spPr>
              <a:xfrm>
                <a:off x="2865141" y="2210227"/>
                <a:ext cx="342870" cy="253916"/>
              </a:xfrm>
              <a:prstGeom prst="rect">
                <a:avLst/>
              </a:prstGeom>
              <a:noFill/>
            </p:spPr>
            <p:txBody>
              <a:bodyPr wrap="square" rtlCol="0">
                <a:spAutoFit/>
              </a:bodyPr>
              <a:lstStyle/>
              <a:p>
                <a:r>
                  <a:rPr lang="en-US" altLang="zh-CN" sz="1000" b="1" dirty="0">
                    <a:solidFill>
                      <a:srgbClr val="0000FF"/>
                    </a:solidFill>
                  </a:rPr>
                  <a:t>F1</a:t>
                </a:r>
                <a:endParaRPr lang="zh-CN" altLang="en-US" sz="1000" b="1" baseline="-25000" dirty="0">
                  <a:solidFill>
                    <a:srgbClr val="0000FF"/>
                  </a:solidFill>
                </a:endParaRPr>
              </a:p>
            </p:txBody>
          </p:sp>
          <p:sp>
            <p:nvSpPr>
              <p:cNvPr id="59" name="文本框 58">
                <a:extLst>
                  <a:ext uri="{FF2B5EF4-FFF2-40B4-BE49-F238E27FC236}">
                    <a16:creationId xmlns:a16="http://schemas.microsoft.com/office/drawing/2014/main" id="{B0DD1B82-94B4-CE00-747B-68AF8AEDDA2A}"/>
                  </a:ext>
                </a:extLst>
              </p:cNvPr>
              <p:cNvSpPr txBox="1"/>
              <p:nvPr/>
            </p:nvSpPr>
            <p:spPr>
              <a:xfrm>
                <a:off x="2861726" y="2399585"/>
                <a:ext cx="342870" cy="253916"/>
              </a:xfrm>
              <a:prstGeom prst="rect">
                <a:avLst/>
              </a:prstGeom>
              <a:noFill/>
            </p:spPr>
            <p:txBody>
              <a:bodyPr wrap="square" rtlCol="0">
                <a:spAutoFit/>
              </a:bodyPr>
              <a:lstStyle/>
              <a:p>
                <a:r>
                  <a:rPr lang="en-US" altLang="zh-CN" sz="1000" b="1" dirty="0">
                    <a:solidFill>
                      <a:srgbClr val="0000FF"/>
                    </a:solidFill>
                  </a:rPr>
                  <a:t>F2</a:t>
                </a:r>
                <a:endParaRPr lang="zh-CN" altLang="en-US" sz="1000" b="1" baseline="-25000" dirty="0">
                  <a:solidFill>
                    <a:srgbClr val="0000FF"/>
                  </a:solidFill>
                </a:endParaRPr>
              </a:p>
            </p:txBody>
          </p:sp>
          <p:sp>
            <p:nvSpPr>
              <p:cNvPr id="60" name="文本框 59">
                <a:extLst>
                  <a:ext uri="{FF2B5EF4-FFF2-40B4-BE49-F238E27FC236}">
                    <a16:creationId xmlns:a16="http://schemas.microsoft.com/office/drawing/2014/main" id="{CDDDCF2C-C191-C0BF-D35E-6BF1F01B7C45}"/>
                  </a:ext>
                </a:extLst>
              </p:cNvPr>
              <p:cNvSpPr txBox="1"/>
              <p:nvPr/>
            </p:nvSpPr>
            <p:spPr>
              <a:xfrm>
                <a:off x="2869457" y="3042014"/>
                <a:ext cx="338554" cy="246221"/>
              </a:xfrm>
              <a:prstGeom prst="rect">
                <a:avLst/>
              </a:prstGeom>
              <a:noFill/>
            </p:spPr>
            <p:txBody>
              <a:bodyPr vert="eaVert" wrap="square" rtlCol="0">
                <a:spAutoFit/>
              </a:bodyPr>
              <a:lstStyle/>
              <a:p>
                <a:r>
                  <a:rPr lang="en-US" altLang="zh-CN" sz="1000" b="1" dirty="0">
                    <a:solidFill>
                      <a:srgbClr val="0000FF"/>
                    </a:solidFill>
                  </a:rPr>
                  <a:t>…</a:t>
                </a:r>
                <a:endParaRPr lang="zh-CN" altLang="en-US" sz="1000" b="1" dirty="0">
                  <a:solidFill>
                    <a:srgbClr val="0000FF"/>
                  </a:solidFill>
                </a:endParaRPr>
              </a:p>
            </p:txBody>
          </p:sp>
          <p:cxnSp>
            <p:nvCxnSpPr>
              <p:cNvPr id="63" name="直接连接符 62">
                <a:extLst>
                  <a:ext uri="{FF2B5EF4-FFF2-40B4-BE49-F238E27FC236}">
                    <a16:creationId xmlns:a16="http://schemas.microsoft.com/office/drawing/2014/main" id="{9FBA9841-59DD-DE48-2062-5A64815BE29D}"/>
                  </a:ext>
                </a:extLst>
              </p:cNvPr>
              <p:cNvCxnSpPr>
                <a:cxnSpLocks/>
              </p:cNvCxnSpPr>
              <p:nvPr/>
            </p:nvCxnSpPr>
            <p:spPr>
              <a:xfrm>
                <a:off x="2152914" y="3551253"/>
                <a:ext cx="2160954" cy="703580"/>
              </a:xfrm>
              <a:prstGeom prst="line">
                <a:avLst/>
              </a:prstGeom>
            </p:spPr>
            <p:style>
              <a:lnRef idx="1">
                <a:schemeClr val="accent1"/>
              </a:lnRef>
              <a:fillRef idx="0">
                <a:schemeClr val="accent1"/>
              </a:fillRef>
              <a:effectRef idx="0">
                <a:schemeClr val="accent1"/>
              </a:effectRef>
              <a:fontRef idx="minor">
                <a:schemeClr val="tx1"/>
              </a:fontRef>
            </p:style>
          </p:cxnSp>
          <p:sp>
            <p:nvSpPr>
              <p:cNvPr id="64" name="文本框 63">
                <a:extLst>
                  <a:ext uri="{FF2B5EF4-FFF2-40B4-BE49-F238E27FC236}">
                    <a16:creationId xmlns:a16="http://schemas.microsoft.com/office/drawing/2014/main" id="{67F66579-01DF-4786-BADD-D32FBDB8E2DE}"/>
                  </a:ext>
                </a:extLst>
              </p:cNvPr>
              <p:cNvSpPr txBox="1"/>
              <p:nvPr/>
            </p:nvSpPr>
            <p:spPr>
              <a:xfrm>
                <a:off x="2861726" y="2593270"/>
                <a:ext cx="342870" cy="253916"/>
              </a:xfrm>
              <a:prstGeom prst="rect">
                <a:avLst/>
              </a:prstGeom>
              <a:noFill/>
            </p:spPr>
            <p:txBody>
              <a:bodyPr wrap="square" rtlCol="0">
                <a:spAutoFit/>
              </a:bodyPr>
              <a:lstStyle/>
              <a:p>
                <a:r>
                  <a:rPr lang="en-US" altLang="zh-CN" sz="1000" b="1" dirty="0">
                    <a:solidFill>
                      <a:srgbClr val="0000FF"/>
                    </a:solidFill>
                  </a:rPr>
                  <a:t>F3</a:t>
                </a:r>
                <a:endParaRPr lang="zh-CN" altLang="en-US" sz="1000" b="1" baseline="-25000" dirty="0">
                  <a:solidFill>
                    <a:srgbClr val="0000FF"/>
                  </a:solidFill>
                </a:endParaRPr>
              </a:p>
            </p:txBody>
          </p:sp>
          <p:sp>
            <p:nvSpPr>
              <p:cNvPr id="65" name="文本框 64">
                <a:extLst>
                  <a:ext uri="{FF2B5EF4-FFF2-40B4-BE49-F238E27FC236}">
                    <a16:creationId xmlns:a16="http://schemas.microsoft.com/office/drawing/2014/main" id="{276A621E-8118-2DBC-03A5-877D92569BD6}"/>
                  </a:ext>
                </a:extLst>
              </p:cNvPr>
              <p:cNvSpPr txBox="1"/>
              <p:nvPr/>
            </p:nvSpPr>
            <p:spPr>
              <a:xfrm>
                <a:off x="2865141" y="3611011"/>
                <a:ext cx="391859" cy="246221"/>
              </a:xfrm>
              <a:prstGeom prst="rect">
                <a:avLst/>
              </a:prstGeom>
              <a:noFill/>
            </p:spPr>
            <p:txBody>
              <a:bodyPr wrap="square" rtlCol="0">
                <a:spAutoFit/>
              </a:bodyPr>
              <a:lstStyle/>
              <a:p>
                <a:r>
                  <a:rPr lang="en-US" altLang="zh-CN" sz="1000" b="1" dirty="0" err="1">
                    <a:solidFill>
                      <a:srgbClr val="0000FF"/>
                    </a:solidFill>
                  </a:rPr>
                  <a:t>Fn</a:t>
                </a:r>
                <a:endParaRPr lang="zh-CN" altLang="en-US" sz="1000" b="1" dirty="0">
                  <a:solidFill>
                    <a:srgbClr val="0000FF"/>
                  </a:solidFill>
                </a:endParaRPr>
              </a:p>
            </p:txBody>
          </p:sp>
        </p:grpSp>
        <p:sp>
          <p:nvSpPr>
            <p:cNvPr id="37" name="Freeform 17">
              <a:extLst>
                <a:ext uri="{FF2B5EF4-FFF2-40B4-BE49-F238E27FC236}">
                  <a16:creationId xmlns:a16="http://schemas.microsoft.com/office/drawing/2014/main" id="{35F41380-EE70-4580-B886-E90FE2568F7C}"/>
                </a:ext>
              </a:extLst>
            </p:cNvPr>
            <p:cNvSpPr>
              <a:spLocks noChangeArrowheads="1"/>
            </p:cNvSpPr>
            <p:nvPr/>
          </p:nvSpPr>
          <p:spPr bwMode="auto">
            <a:xfrm>
              <a:off x="6195367" y="2171780"/>
              <a:ext cx="2160954" cy="882549"/>
            </a:xfrm>
            <a:custGeom>
              <a:avLst/>
              <a:gdLst>
                <a:gd name="T0" fmla="*/ 0 w 6836"/>
                <a:gd name="T1" fmla="*/ 0 h 3540"/>
                <a:gd name="T2" fmla="*/ 2147483647 w 6836"/>
                <a:gd name="T3" fmla="*/ 2147483647 h 3540"/>
                <a:gd name="T4" fmla="*/ 2147483647 w 6836"/>
                <a:gd name="T5" fmla="*/ 2147483647 h 3540"/>
                <a:gd name="T6" fmla="*/ 0 w 6836"/>
                <a:gd name="T7" fmla="*/ 2147483647 h 3540"/>
                <a:gd name="T8" fmla="*/ 0 w 6836"/>
                <a:gd name="T9" fmla="*/ 0 h 35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36" h="3540">
                  <a:moveTo>
                    <a:pt x="0" y="0"/>
                  </a:moveTo>
                  <a:lnTo>
                    <a:pt x="6819" y="2797"/>
                  </a:lnTo>
                  <a:lnTo>
                    <a:pt x="6835" y="3539"/>
                  </a:lnTo>
                  <a:lnTo>
                    <a:pt x="0" y="737"/>
                  </a:lnTo>
                  <a:lnTo>
                    <a:pt x="0" y="0"/>
                  </a:lnTo>
                </a:path>
              </a:pathLst>
            </a:custGeom>
            <a:solidFill>
              <a:srgbClr val="0070C0">
                <a:alpha val="50000"/>
              </a:srgbClr>
            </a:solidFill>
            <a:ln w="9360">
              <a:noFill/>
              <a:round/>
              <a:headEnd/>
              <a:tailEnd/>
            </a:ln>
          </p:spPr>
          <p:txBody>
            <a:bodyPr wrap="none" anchor="ctr"/>
            <a:lstStyle/>
            <a:p>
              <a:pPr algn="ctr" fontAlgn="base">
                <a:spcBef>
                  <a:spcPct val="0"/>
                </a:spcBef>
                <a:spcAft>
                  <a:spcPct val="0"/>
                </a:spcAft>
              </a:pPr>
              <a:endParaRPr lang="zh-CN" altLang="en-US" b="1">
                <a:solidFill>
                  <a:srgbClr val="0000FF"/>
                </a:solidFill>
                <a:latin typeface="Arial" charset="0"/>
              </a:endParaRPr>
            </a:p>
          </p:txBody>
        </p:sp>
        <p:sp>
          <p:nvSpPr>
            <p:cNvPr id="38" name="Freeform 17">
              <a:extLst>
                <a:ext uri="{FF2B5EF4-FFF2-40B4-BE49-F238E27FC236}">
                  <a16:creationId xmlns:a16="http://schemas.microsoft.com/office/drawing/2014/main" id="{D41F0BCA-7123-976E-4813-4C2794964E10}"/>
                </a:ext>
              </a:extLst>
            </p:cNvPr>
            <p:cNvSpPr>
              <a:spLocks noChangeArrowheads="1"/>
            </p:cNvSpPr>
            <p:nvPr/>
          </p:nvSpPr>
          <p:spPr bwMode="auto">
            <a:xfrm>
              <a:off x="6209318" y="2356629"/>
              <a:ext cx="2160954" cy="882549"/>
            </a:xfrm>
            <a:custGeom>
              <a:avLst/>
              <a:gdLst>
                <a:gd name="T0" fmla="*/ 0 w 6836"/>
                <a:gd name="T1" fmla="*/ 0 h 3540"/>
                <a:gd name="T2" fmla="*/ 2147483647 w 6836"/>
                <a:gd name="T3" fmla="*/ 2147483647 h 3540"/>
                <a:gd name="T4" fmla="*/ 2147483647 w 6836"/>
                <a:gd name="T5" fmla="*/ 2147483647 h 3540"/>
                <a:gd name="T6" fmla="*/ 0 w 6836"/>
                <a:gd name="T7" fmla="*/ 2147483647 h 3540"/>
                <a:gd name="T8" fmla="*/ 0 w 6836"/>
                <a:gd name="T9" fmla="*/ 0 h 35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36" h="3540">
                  <a:moveTo>
                    <a:pt x="0" y="0"/>
                  </a:moveTo>
                  <a:lnTo>
                    <a:pt x="6819" y="2797"/>
                  </a:lnTo>
                  <a:lnTo>
                    <a:pt x="6835" y="3539"/>
                  </a:lnTo>
                  <a:lnTo>
                    <a:pt x="0" y="737"/>
                  </a:lnTo>
                  <a:lnTo>
                    <a:pt x="0" y="0"/>
                  </a:lnTo>
                </a:path>
              </a:pathLst>
            </a:custGeom>
            <a:solidFill>
              <a:srgbClr val="0070C0">
                <a:alpha val="50000"/>
              </a:srgbClr>
            </a:solidFill>
            <a:ln w="9360">
              <a:noFill/>
              <a:round/>
              <a:headEnd/>
              <a:tailEnd/>
            </a:ln>
          </p:spPr>
          <p:txBody>
            <a:bodyPr wrap="none" anchor="ctr"/>
            <a:lstStyle/>
            <a:p>
              <a:pPr algn="ctr" fontAlgn="base">
                <a:spcBef>
                  <a:spcPct val="0"/>
                </a:spcBef>
                <a:spcAft>
                  <a:spcPct val="0"/>
                </a:spcAft>
              </a:pPr>
              <a:endParaRPr lang="zh-CN" altLang="en-US" b="1">
                <a:solidFill>
                  <a:srgbClr val="0000FF"/>
                </a:solidFill>
                <a:latin typeface="Arial" charset="0"/>
              </a:endParaRPr>
            </a:p>
          </p:txBody>
        </p:sp>
        <p:sp>
          <p:nvSpPr>
            <p:cNvPr id="39" name="Freeform 17">
              <a:extLst>
                <a:ext uri="{FF2B5EF4-FFF2-40B4-BE49-F238E27FC236}">
                  <a16:creationId xmlns:a16="http://schemas.microsoft.com/office/drawing/2014/main" id="{CBEE8FD3-8507-F283-0BD8-8B1EEDC4E76B}"/>
                </a:ext>
              </a:extLst>
            </p:cNvPr>
            <p:cNvSpPr>
              <a:spLocks noChangeArrowheads="1"/>
            </p:cNvSpPr>
            <p:nvPr/>
          </p:nvSpPr>
          <p:spPr bwMode="auto">
            <a:xfrm>
              <a:off x="6213429" y="2532016"/>
              <a:ext cx="2160954" cy="882549"/>
            </a:xfrm>
            <a:custGeom>
              <a:avLst/>
              <a:gdLst>
                <a:gd name="T0" fmla="*/ 0 w 6836"/>
                <a:gd name="T1" fmla="*/ 0 h 3540"/>
                <a:gd name="T2" fmla="*/ 2147483647 w 6836"/>
                <a:gd name="T3" fmla="*/ 2147483647 h 3540"/>
                <a:gd name="T4" fmla="*/ 2147483647 w 6836"/>
                <a:gd name="T5" fmla="*/ 2147483647 h 3540"/>
                <a:gd name="T6" fmla="*/ 0 w 6836"/>
                <a:gd name="T7" fmla="*/ 2147483647 h 3540"/>
                <a:gd name="T8" fmla="*/ 0 w 6836"/>
                <a:gd name="T9" fmla="*/ 0 h 35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36" h="3540">
                  <a:moveTo>
                    <a:pt x="0" y="0"/>
                  </a:moveTo>
                  <a:lnTo>
                    <a:pt x="6819" y="2797"/>
                  </a:lnTo>
                  <a:lnTo>
                    <a:pt x="6835" y="3539"/>
                  </a:lnTo>
                  <a:lnTo>
                    <a:pt x="0" y="737"/>
                  </a:lnTo>
                  <a:lnTo>
                    <a:pt x="0" y="0"/>
                  </a:lnTo>
                </a:path>
              </a:pathLst>
            </a:custGeom>
            <a:solidFill>
              <a:srgbClr val="0070C0">
                <a:alpha val="50000"/>
              </a:srgbClr>
            </a:solidFill>
            <a:ln w="9360">
              <a:noFill/>
              <a:round/>
              <a:headEnd/>
              <a:tailEnd/>
            </a:ln>
          </p:spPr>
          <p:txBody>
            <a:bodyPr wrap="none" anchor="ctr"/>
            <a:lstStyle/>
            <a:p>
              <a:pPr algn="ctr" fontAlgn="base">
                <a:spcBef>
                  <a:spcPct val="0"/>
                </a:spcBef>
                <a:spcAft>
                  <a:spcPct val="0"/>
                </a:spcAft>
              </a:pPr>
              <a:endParaRPr lang="zh-CN" altLang="en-US" b="1">
                <a:solidFill>
                  <a:srgbClr val="0000FF"/>
                </a:solidFill>
                <a:latin typeface="Arial" charset="0"/>
              </a:endParaRPr>
            </a:p>
          </p:txBody>
        </p:sp>
        <p:sp>
          <p:nvSpPr>
            <p:cNvPr id="40" name="Freeform 17">
              <a:extLst>
                <a:ext uri="{FF2B5EF4-FFF2-40B4-BE49-F238E27FC236}">
                  <a16:creationId xmlns:a16="http://schemas.microsoft.com/office/drawing/2014/main" id="{C76C9624-CFD0-C81E-6EBF-EBE13100CFA2}"/>
                </a:ext>
              </a:extLst>
            </p:cNvPr>
            <p:cNvSpPr>
              <a:spLocks noChangeArrowheads="1"/>
            </p:cNvSpPr>
            <p:nvPr/>
          </p:nvSpPr>
          <p:spPr bwMode="auto">
            <a:xfrm>
              <a:off x="6213429" y="3593619"/>
              <a:ext cx="2160954" cy="882549"/>
            </a:xfrm>
            <a:custGeom>
              <a:avLst/>
              <a:gdLst>
                <a:gd name="T0" fmla="*/ 0 w 6836"/>
                <a:gd name="T1" fmla="*/ 0 h 3540"/>
                <a:gd name="T2" fmla="*/ 2147483647 w 6836"/>
                <a:gd name="T3" fmla="*/ 2147483647 h 3540"/>
                <a:gd name="T4" fmla="*/ 2147483647 w 6836"/>
                <a:gd name="T5" fmla="*/ 2147483647 h 3540"/>
                <a:gd name="T6" fmla="*/ 0 w 6836"/>
                <a:gd name="T7" fmla="*/ 2147483647 h 3540"/>
                <a:gd name="T8" fmla="*/ 0 w 6836"/>
                <a:gd name="T9" fmla="*/ 0 h 35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36" h="3540">
                  <a:moveTo>
                    <a:pt x="0" y="0"/>
                  </a:moveTo>
                  <a:lnTo>
                    <a:pt x="6819" y="2797"/>
                  </a:lnTo>
                  <a:lnTo>
                    <a:pt x="6835" y="3539"/>
                  </a:lnTo>
                  <a:lnTo>
                    <a:pt x="0" y="737"/>
                  </a:lnTo>
                  <a:lnTo>
                    <a:pt x="0" y="0"/>
                  </a:lnTo>
                </a:path>
              </a:pathLst>
            </a:custGeom>
            <a:solidFill>
              <a:srgbClr val="0070C0">
                <a:alpha val="50000"/>
              </a:srgbClr>
            </a:solidFill>
            <a:ln w="9360">
              <a:noFill/>
              <a:round/>
              <a:headEnd/>
              <a:tailEnd/>
            </a:ln>
          </p:spPr>
          <p:txBody>
            <a:bodyPr wrap="none" anchor="ctr"/>
            <a:lstStyle/>
            <a:p>
              <a:pPr algn="ctr" fontAlgn="base">
                <a:spcBef>
                  <a:spcPct val="0"/>
                </a:spcBef>
                <a:spcAft>
                  <a:spcPct val="0"/>
                </a:spcAft>
              </a:pPr>
              <a:endParaRPr lang="zh-CN" altLang="en-US" b="1">
                <a:solidFill>
                  <a:srgbClr val="0000FF"/>
                </a:solidFill>
                <a:latin typeface="Arial" charset="0"/>
              </a:endParaRPr>
            </a:p>
          </p:txBody>
        </p:sp>
      </p:grpSp>
      <p:grpSp>
        <p:nvGrpSpPr>
          <p:cNvPr id="66" name="组合 65">
            <a:extLst>
              <a:ext uri="{FF2B5EF4-FFF2-40B4-BE49-F238E27FC236}">
                <a16:creationId xmlns:a16="http://schemas.microsoft.com/office/drawing/2014/main" id="{771EF627-FDB5-8582-CA47-7DD6121CDA34}"/>
              </a:ext>
            </a:extLst>
          </p:cNvPr>
          <p:cNvGrpSpPr/>
          <p:nvPr/>
        </p:nvGrpSpPr>
        <p:grpSpPr>
          <a:xfrm>
            <a:off x="6906446" y="1312540"/>
            <a:ext cx="2978088" cy="5180334"/>
            <a:chOff x="5996110" y="-399378"/>
            <a:chExt cx="2978088" cy="5180334"/>
          </a:xfrm>
        </p:grpSpPr>
        <p:grpSp>
          <p:nvGrpSpPr>
            <p:cNvPr id="67" name="组合 66">
              <a:extLst>
                <a:ext uri="{FF2B5EF4-FFF2-40B4-BE49-F238E27FC236}">
                  <a16:creationId xmlns:a16="http://schemas.microsoft.com/office/drawing/2014/main" id="{BF3A25D1-9CE4-68DB-B719-9501B1C2794C}"/>
                </a:ext>
              </a:extLst>
            </p:cNvPr>
            <p:cNvGrpSpPr/>
            <p:nvPr/>
          </p:nvGrpSpPr>
          <p:grpSpPr>
            <a:xfrm>
              <a:off x="5996110" y="-399378"/>
              <a:ext cx="2978088" cy="5180334"/>
              <a:chOff x="1939706" y="-602238"/>
              <a:chExt cx="2978088" cy="5180334"/>
            </a:xfrm>
          </p:grpSpPr>
          <p:cxnSp>
            <p:nvCxnSpPr>
              <p:cNvPr id="72" name="直接连接符 71">
                <a:extLst>
                  <a:ext uri="{FF2B5EF4-FFF2-40B4-BE49-F238E27FC236}">
                    <a16:creationId xmlns:a16="http://schemas.microsoft.com/office/drawing/2014/main" id="{620AF8A4-02D7-8CAE-72FC-59E3943B8AA6}"/>
                  </a:ext>
                </a:extLst>
              </p:cNvPr>
              <p:cNvCxnSpPr>
                <a:cxnSpLocks/>
              </p:cNvCxnSpPr>
              <p:nvPr/>
            </p:nvCxnSpPr>
            <p:spPr>
              <a:xfrm>
                <a:off x="2148803" y="-233176"/>
                <a:ext cx="13303" cy="4811272"/>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EEE43CE9-CC91-18D2-283D-7B88B8A66203}"/>
                  </a:ext>
                </a:extLst>
              </p:cNvPr>
              <p:cNvCxnSpPr>
                <a:cxnSpLocks/>
                <a:stCxn id="93" idx="2"/>
              </p:cNvCxnSpPr>
              <p:nvPr/>
            </p:nvCxnSpPr>
            <p:spPr>
              <a:xfrm>
                <a:off x="4299917" y="-263684"/>
                <a:ext cx="12967" cy="484178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39873DE6-5492-D4F1-9FE6-74219728CBCD}"/>
                  </a:ext>
                </a:extLst>
              </p:cNvPr>
              <p:cNvCxnSpPr>
                <a:cxnSpLocks/>
              </p:cNvCxnSpPr>
              <p:nvPr/>
            </p:nvCxnSpPr>
            <p:spPr>
              <a:xfrm>
                <a:off x="2141951" y="1965960"/>
                <a:ext cx="2160954" cy="703580"/>
              </a:xfrm>
              <a:prstGeom prst="line">
                <a:avLst/>
              </a:prstGeom>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E77FEF96-6AE5-71B9-C88D-101FC87B08A0}"/>
                  </a:ext>
                </a:extLst>
              </p:cNvPr>
              <p:cNvCxnSpPr>
                <a:cxnSpLocks/>
              </p:cNvCxnSpPr>
              <p:nvPr/>
            </p:nvCxnSpPr>
            <p:spPr>
              <a:xfrm>
                <a:off x="2141951" y="1965960"/>
                <a:ext cx="2160954" cy="8625"/>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A9F941FB-C386-AABA-4F0D-20DF7F332114}"/>
                  </a:ext>
                </a:extLst>
              </p:cNvPr>
              <p:cNvCxnSpPr>
                <a:cxnSpLocks/>
              </p:cNvCxnSpPr>
              <p:nvPr/>
            </p:nvCxnSpPr>
            <p:spPr>
              <a:xfrm>
                <a:off x="2147994" y="3550881"/>
                <a:ext cx="2160954" cy="8625"/>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FF73303A-5085-2CF5-15C4-0A501A940990}"/>
                  </a:ext>
                </a:extLst>
              </p:cNvPr>
              <p:cNvCxnSpPr>
                <a:cxnSpLocks/>
              </p:cNvCxnSpPr>
              <p:nvPr/>
            </p:nvCxnSpPr>
            <p:spPr>
              <a:xfrm>
                <a:off x="2141950" y="2147111"/>
                <a:ext cx="2160954" cy="703580"/>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00263655-CE81-295B-4E80-026D3E13030E}"/>
                  </a:ext>
                </a:extLst>
              </p:cNvPr>
              <p:cNvCxnSpPr>
                <a:cxnSpLocks/>
              </p:cNvCxnSpPr>
              <p:nvPr/>
            </p:nvCxnSpPr>
            <p:spPr>
              <a:xfrm>
                <a:off x="2147994" y="2327877"/>
                <a:ext cx="2160954" cy="703580"/>
              </a:xfrm>
              <a:prstGeom prst="line">
                <a:avLst/>
              </a:prstGeom>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B588554F-4D73-E8EF-A369-F7D826AAC6A8}"/>
                  </a:ext>
                </a:extLst>
              </p:cNvPr>
              <p:cNvCxnSpPr>
                <a:cxnSpLocks/>
              </p:cNvCxnSpPr>
              <p:nvPr/>
            </p:nvCxnSpPr>
            <p:spPr>
              <a:xfrm>
                <a:off x="2149638" y="3387093"/>
                <a:ext cx="2160954" cy="703580"/>
              </a:xfrm>
              <a:prstGeom prst="line">
                <a:avLst/>
              </a:prstGeom>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6C0B0B4A-FF34-1B23-79BA-159E141B1A3F}"/>
                  </a:ext>
                </a:extLst>
              </p:cNvPr>
              <p:cNvCxnSpPr>
                <a:cxnSpLocks/>
              </p:cNvCxnSpPr>
              <p:nvPr/>
            </p:nvCxnSpPr>
            <p:spPr>
              <a:xfrm>
                <a:off x="2141951" y="2503463"/>
                <a:ext cx="2160954" cy="703580"/>
              </a:xfrm>
              <a:prstGeom prst="line">
                <a:avLst/>
              </a:prstGeom>
            </p:spPr>
            <p:style>
              <a:lnRef idx="1">
                <a:schemeClr val="accent1"/>
              </a:lnRef>
              <a:fillRef idx="0">
                <a:schemeClr val="accent1"/>
              </a:fillRef>
              <a:effectRef idx="0">
                <a:schemeClr val="accent1"/>
              </a:effectRef>
              <a:fontRef idx="minor">
                <a:schemeClr val="tx1"/>
              </a:fontRef>
            </p:style>
          </p:cxnSp>
          <p:sp>
            <p:nvSpPr>
              <p:cNvPr id="82" name="右大括号 81">
                <a:extLst>
                  <a:ext uri="{FF2B5EF4-FFF2-40B4-BE49-F238E27FC236}">
                    <a16:creationId xmlns:a16="http://schemas.microsoft.com/office/drawing/2014/main" id="{D5A8EA7D-D946-1C3F-808D-0ADEC4D27359}"/>
                  </a:ext>
                </a:extLst>
              </p:cNvPr>
              <p:cNvSpPr/>
              <p:nvPr/>
            </p:nvSpPr>
            <p:spPr>
              <a:xfrm>
                <a:off x="4302905" y="1974585"/>
                <a:ext cx="111537" cy="69198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000" b="1">
                  <a:solidFill>
                    <a:srgbClr val="0000FF"/>
                  </a:solidFill>
                </a:endParaRPr>
              </a:p>
            </p:txBody>
          </p:sp>
          <p:sp>
            <p:nvSpPr>
              <p:cNvPr id="83" name="文本框 82">
                <a:extLst>
                  <a:ext uri="{FF2B5EF4-FFF2-40B4-BE49-F238E27FC236}">
                    <a16:creationId xmlns:a16="http://schemas.microsoft.com/office/drawing/2014/main" id="{FE2AC8A5-05DB-BDE5-44EB-D1E2C4312816}"/>
                  </a:ext>
                </a:extLst>
              </p:cNvPr>
              <p:cNvSpPr txBox="1"/>
              <p:nvPr/>
            </p:nvSpPr>
            <p:spPr>
              <a:xfrm>
                <a:off x="4358673" y="2200417"/>
                <a:ext cx="330200" cy="338554"/>
              </a:xfrm>
              <a:prstGeom prst="rect">
                <a:avLst/>
              </a:prstGeom>
              <a:noFill/>
            </p:spPr>
            <p:txBody>
              <a:bodyPr wrap="square" rtlCol="0">
                <a:spAutoFit/>
              </a:bodyPr>
              <a:lstStyle/>
              <a:p>
                <a:r>
                  <a:rPr lang="en-US" altLang="zh-CN" sz="1600" b="1" dirty="0">
                    <a:solidFill>
                      <a:srgbClr val="0000FF"/>
                    </a:solidFill>
                  </a:rPr>
                  <a:t>d</a:t>
                </a:r>
                <a:endParaRPr lang="zh-CN" altLang="en-US" sz="1600" b="1" dirty="0">
                  <a:solidFill>
                    <a:srgbClr val="0000FF"/>
                  </a:solidFill>
                </a:endParaRPr>
              </a:p>
            </p:txBody>
          </p:sp>
          <p:sp>
            <p:nvSpPr>
              <p:cNvPr id="85" name="文本框 84">
                <a:extLst>
                  <a:ext uri="{FF2B5EF4-FFF2-40B4-BE49-F238E27FC236}">
                    <a16:creationId xmlns:a16="http://schemas.microsoft.com/office/drawing/2014/main" id="{7AC85FF4-793D-B0E6-9EBA-7792691AA30C}"/>
                  </a:ext>
                </a:extLst>
              </p:cNvPr>
              <p:cNvSpPr txBox="1"/>
              <p:nvPr/>
            </p:nvSpPr>
            <p:spPr>
              <a:xfrm>
                <a:off x="4399721" y="3387093"/>
                <a:ext cx="518073" cy="338554"/>
              </a:xfrm>
              <a:prstGeom prst="rect">
                <a:avLst/>
              </a:prstGeom>
              <a:noFill/>
            </p:spPr>
            <p:txBody>
              <a:bodyPr wrap="square" rtlCol="0">
                <a:spAutoFit/>
              </a:bodyPr>
              <a:lstStyle/>
              <a:p>
                <a:r>
                  <a:rPr lang="en-US" altLang="zh-CN" sz="1600" b="1" dirty="0">
                    <a:solidFill>
                      <a:srgbClr val="0000FF"/>
                    </a:solidFill>
                  </a:rPr>
                  <a:t>x/b</a:t>
                </a:r>
                <a:endParaRPr lang="zh-CN" altLang="en-US" sz="1600" b="1" dirty="0">
                  <a:solidFill>
                    <a:srgbClr val="0000FF"/>
                  </a:solidFill>
                </a:endParaRPr>
              </a:p>
            </p:txBody>
          </p:sp>
          <p:sp>
            <p:nvSpPr>
              <p:cNvPr id="87" name="右大括号 86">
                <a:extLst>
                  <a:ext uri="{FF2B5EF4-FFF2-40B4-BE49-F238E27FC236}">
                    <a16:creationId xmlns:a16="http://schemas.microsoft.com/office/drawing/2014/main" id="{2936A2A3-00BB-DB62-172A-7A736E6BF698}"/>
                  </a:ext>
                </a:extLst>
              </p:cNvPr>
              <p:cNvSpPr/>
              <p:nvPr/>
            </p:nvSpPr>
            <p:spPr>
              <a:xfrm>
                <a:off x="4305116" y="2672975"/>
                <a:ext cx="109326" cy="158185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000" b="1">
                  <a:solidFill>
                    <a:srgbClr val="0000FF"/>
                  </a:solidFill>
                </a:endParaRPr>
              </a:p>
            </p:txBody>
          </p:sp>
          <p:sp>
            <p:nvSpPr>
              <p:cNvPr id="89" name="文本框 88">
                <a:extLst>
                  <a:ext uri="{FF2B5EF4-FFF2-40B4-BE49-F238E27FC236}">
                    <a16:creationId xmlns:a16="http://schemas.microsoft.com/office/drawing/2014/main" id="{30EAF521-B74D-F186-E458-FCFC39701B4A}"/>
                  </a:ext>
                </a:extLst>
              </p:cNvPr>
              <p:cNvSpPr txBox="1"/>
              <p:nvPr/>
            </p:nvSpPr>
            <p:spPr>
              <a:xfrm>
                <a:off x="2865141" y="2210227"/>
                <a:ext cx="342870" cy="253916"/>
              </a:xfrm>
              <a:prstGeom prst="rect">
                <a:avLst/>
              </a:prstGeom>
              <a:noFill/>
            </p:spPr>
            <p:txBody>
              <a:bodyPr wrap="square" rtlCol="0">
                <a:spAutoFit/>
              </a:bodyPr>
              <a:lstStyle/>
              <a:p>
                <a:r>
                  <a:rPr lang="en-US" altLang="zh-CN" sz="1000" b="1" dirty="0">
                    <a:solidFill>
                      <a:srgbClr val="0000FF"/>
                    </a:solidFill>
                  </a:rPr>
                  <a:t>F1</a:t>
                </a:r>
                <a:endParaRPr lang="zh-CN" altLang="en-US" sz="1000" b="1" baseline="-25000" dirty="0">
                  <a:solidFill>
                    <a:srgbClr val="0000FF"/>
                  </a:solidFill>
                </a:endParaRPr>
              </a:p>
            </p:txBody>
          </p:sp>
          <p:sp>
            <p:nvSpPr>
              <p:cNvPr id="90" name="文本框 89">
                <a:extLst>
                  <a:ext uri="{FF2B5EF4-FFF2-40B4-BE49-F238E27FC236}">
                    <a16:creationId xmlns:a16="http://schemas.microsoft.com/office/drawing/2014/main" id="{F9BA1539-54ED-4DFC-C6C1-F9D9D9701605}"/>
                  </a:ext>
                </a:extLst>
              </p:cNvPr>
              <p:cNvSpPr txBox="1"/>
              <p:nvPr/>
            </p:nvSpPr>
            <p:spPr>
              <a:xfrm>
                <a:off x="2861726" y="2399585"/>
                <a:ext cx="342870" cy="253916"/>
              </a:xfrm>
              <a:prstGeom prst="rect">
                <a:avLst/>
              </a:prstGeom>
              <a:noFill/>
            </p:spPr>
            <p:txBody>
              <a:bodyPr wrap="square" rtlCol="0">
                <a:spAutoFit/>
              </a:bodyPr>
              <a:lstStyle/>
              <a:p>
                <a:r>
                  <a:rPr lang="en-US" altLang="zh-CN" sz="1000" b="1" dirty="0">
                    <a:solidFill>
                      <a:srgbClr val="0000FF"/>
                    </a:solidFill>
                  </a:rPr>
                  <a:t>F2</a:t>
                </a:r>
                <a:endParaRPr lang="zh-CN" altLang="en-US" sz="1000" b="1" baseline="-25000" dirty="0">
                  <a:solidFill>
                    <a:srgbClr val="0000FF"/>
                  </a:solidFill>
                </a:endParaRPr>
              </a:p>
            </p:txBody>
          </p:sp>
          <p:sp>
            <p:nvSpPr>
              <p:cNvPr id="91" name="文本框 90">
                <a:extLst>
                  <a:ext uri="{FF2B5EF4-FFF2-40B4-BE49-F238E27FC236}">
                    <a16:creationId xmlns:a16="http://schemas.microsoft.com/office/drawing/2014/main" id="{E3851B6D-DC4D-72C1-47AB-3BA6BD1E7C82}"/>
                  </a:ext>
                </a:extLst>
              </p:cNvPr>
              <p:cNvSpPr txBox="1"/>
              <p:nvPr/>
            </p:nvSpPr>
            <p:spPr>
              <a:xfrm>
                <a:off x="2869457" y="3042014"/>
                <a:ext cx="338554" cy="246221"/>
              </a:xfrm>
              <a:prstGeom prst="rect">
                <a:avLst/>
              </a:prstGeom>
              <a:noFill/>
            </p:spPr>
            <p:txBody>
              <a:bodyPr vert="eaVert" wrap="square" rtlCol="0">
                <a:spAutoFit/>
              </a:bodyPr>
              <a:lstStyle/>
              <a:p>
                <a:r>
                  <a:rPr lang="en-US" altLang="zh-CN" sz="1000" b="1" dirty="0">
                    <a:solidFill>
                      <a:srgbClr val="0000FF"/>
                    </a:solidFill>
                  </a:rPr>
                  <a:t>…</a:t>
                </a:r>
                <a:endParaRPr lang="zh-CN" altLang="en-US" sz="1000" b="1" dirty="0">
                  <a:solidFill>
                    <a:srgbClr val="0000FF"/>
                  </a:solidFill>
                </a:endParaRPr>
              </a:p>
            </p:txBody>
          </p:sp>
          <p:sp>
            <p:nvSpPr>
              <p:cNvPr id="92" name="文本框 91">
                <a:extLst>
                  <a:ext uri="{FF2B5EF4-FFF2-40B4-BE49-F238E27FC236}">
                    <a16:creationId xmlns:a16="http://schemas.microsoft.com/office/drawing/2014/main" id="{360C4833-2672-CEE3-4BB0-28DB599EF3DB}"/>
                  </a:ext>
                </a:extLst>
              </p:cNvPr>
              <p:cNvSpPr txBox="1"/>
              <p:nvPr/>
            </p:nvSpPr>
            <p:spPr>
              <a:xfrm>
                <a:off x="1939706" y="-602238"/>
                <a:ext cx="922020" cy="338554"/>
              </a:xfrm>
              <a:prstGeom prst="rect">
                <a:avLst/>
              </a:prstGeom>
              <a:noFill/>
            </p:spPr>
            <p:txBody>
              <a:bodyPr wrap="square" rtlCol="0">
                <a:spAutoFit/>
              </a:bodyPr>
              <a:lstStyle/>
              <a:p>
                <a:r>
                  <a:rPr lang="en-US" altLang="zh-CN" sz="1600" b="1" dirty="0">
                    <a:solidFill>
                      <a:srgbClr val="0000FF"/>
                    </a:solidFill>
                  </a:rPr>
                  <a:t>Rn</a:t>
                </a:r>
                <a:endParaRPr lang="zh-CN" altLang="en-US" sz="1600" b="1" dirty="0">
                  <a:solidFill>
                    <a:srgbClr val="0000FF"/>
                  </a:solidFill>
                </a:endParaRPr>
              </a:p>
            </p:txBody>
          </p:sp>
          <p:sp>
            <p:nvSpPr>
              <p:cNvPr id="93" name="文本框 92">
                <a:extLst>
                  <a:ext uri="{FF2B5EF4-FFF2-40B4-BE49-F238E27FC236}">
                    <a16:creationId xmlns:a16="http://schemas.microsoft.com/office/drawing/2014/main" id="{924A51C0-DDB6-0559-EE36-EE4E86CCD249}"/>
                  </a:ext>
                </a:extLst>
              </p:cNvPr>
              <p:cNvSpPr txBox="1"/>
              <p:nvPr/>
            </p:nvSpPr>
            <p:spPr>
              <a:xfrm>
                <a:off x="3738294" y="-602238"/>
                <a:ext cx="1123245" cy="338554"/>
              </a:xfrm>
              <a:prstGeom prst="rect">
                <a:avLst/>
              </a:prstGeom>
              <a:noFill/>
            </p:spPr>
            <p:txBody>
              <a:bodyPr wrap="square" rtlCol="0">
                <a:spAutoFit/>
              </a:bodyPr>
              <a:lstStyle/>
              <a:p>
                <a:r>
                  <a:rPr lang="en-US" altLang="zh-CN" sz="1600" b="1" dirty="0">
                    <a:solidFill>
                      <a:srgbClr val="0000FF"/>
                    </a:solidFill>
                  </a:rPr>
                  <a:t>Receiver</a:t>
                </a:r>
                <a:endParaRPr lang="zh-CN" altLang="en-US" sz="1600" b="1" dirty="0">
                  <a:solidFill>
                    <a:srgbClr val="0000FF"/>
                  </a:solidFill>
                </a:endParaRPr>
              </a:p>
            </p:txBody>
          </p:sp>
          <p:cxnSp>
            <p:nvCxnSpPr>
              <p:cNvPr id="94" name="直接连接符 93">
                <a:extLst>
                  <a:ext uri="{FF2B5EF4-FFF2-40B4-BE49-F238E27FC236}">
                    <a16:creationId xmlns:a16="http://schemas.microsoft.com/office/drawing/2014/main" id="{C6A0B836-60A2-1ED8-8684-24DA22CC2A5A}"/>
                  </a:ext>
                </a:extLst>
              </p:cNvPr>
              <p:cNvCxnSpPr>
                <a:cxnSpLocks/>
              </p:cNvCxnSpPr>
              <p:nvPr/>
            </p:nvCxnSpPr>
            <p:spPr>
              <a:xfrm>
                <a:off x="2152914" y="3551253"/>
                <a:ext cx="2160954" cy="703580"/>
              </a:xfrm>
              <a:prstGeom prst="line">
                <a:avLst/>
              </a:prstGeom>
            </p:spPr>
            <p:style>
              <a:lnRef idx="1">
                <a:schemeClr val="accent1"/>
              </a:lnRef>
              <a:fillRef idx="0">
                <a:schemeClr val="accent1"/>
              </a:fillRef>
              <a:effectRef idx="0">
                <a:schemeClr val="accent1"/>
              </a:effectRef>
              <a:fontRef idx="minor">
                <a:schemeClr val="tx1"/>
              </a:fontRef>
            </p:style>
          </p:cxnSp>
          <p:sp>
            <p:nvSpPr>
              <p:cNvPr id="95" name="文本框 94">
                <a:extLst>
                  <a:ext uri="{FF2B5EF4-FFF2-40B4-BE49-F238E27FC236}">
                    <a16:creationId xmlns:a16="http://schemas.microsoft.com/office/drawing/2014/main" id="{604474B7-5815-63C2-7174-755F089E8114}"/>
                  </a:ext>
                </a:extLst>
              </p:cNvPr>
              <p:cNvSpPr txBox="1"/>
              <p:nvPr/>
            </p:nvSpPr>
            <p:spPr>
              <a:xfrm>
                <a:off x="2861726" y="2593270"/>
                <a:ext cx="342870" cy="253916"/>
              </a:xfrm>
              <a:prstGeom prst="rect">
                <a:avLst/>
              </a:prstGeom>
              <a:noFill/>
            </p:spPr>
            <p:txBody>
              <a:bodyPr wrap="square" rtlCol="0">
                <a:spAutoFit/>
              </a:bodyPr>
              <a:lstStyle/>
              <a:p>
                <a:r>
                  <a:rPr lang="en-US" altLang="zh-CN" sz="1000" b="1" dirty="0">
                    <a:solidFill>
                      <a:srgbClr val="0000FF"/>
                    </a:solidFill>
                  </a:rPr>
                  <a:t>F3</a:t>
                </a:r>
                <a:endParaRPr lang="zh-CN" altLang="en-US" sz="1000" b="1" baseline="-25000" dirty="0">
                  <a:solidFill>
                    <a:srgbClr val="0000FF"/>
                  </a:solidFill>
                </a:endParaRPr>
              </a:p>
            </p:txBody>
          </p:sp>
          <p:sp>
            <p:nvSpPr>
              <p:cNvPr id="96" name="文本框 95">
                <a:extLst>
                  <a:ext uri="{FF2B5EF4-FFF2-40B4-BE49-F238E27FC236}">
                    <a16:creationId xmlns:a16="http://schemas.microsoft.com/office/drawing/2014/main" id="{0236028B-BB01-91BE-447D-F1DC4BD1031D}"/>
                  </a:ext>
                </a:extLst>
              </p:cNvPr>
              <p:cNvSpPr txBox="1"/>
              <p:nvPr/>
            </p:nvSpPr>
            <p:spPr>
              <a:xfrm>
                <a:off x="2865141" y="3611011"/>
                <a:ext cx="391859" cy="246221"/>
              </a:xfrm>
              <a:prstGeom prst="rect">
                <a:avLst/>
              </a:prstGeom>
              <a:noFill/>
            </p:spPr>
            <p:txBody>
              <a:bodyPr wrap="square" rtlCol="0">
                <a:spAutoFit/>
              </a:bodyPr>
              <a:lstStyle/>
              <a:p>
                <a:r>
                  <a:rPr lang="en-US" altLang="zh-CN" sz="1000" b="1" dirty="0" err="1">
                    <a:solidFill>
                      <a:srgbClr val="0000FF"/>
                    </a:solidFill>
                  </a:rPr>
                  <a:t>Fn</a:t>
                </a:r>
                <a:endParaRPr lang="zh-CN" altLang="en-US" sz="1000" b="1" dirty="0">
                  <a:solidFill>
                    <a:srgbClr val="0000FF"/>
                  </a:solidFill>
                </a:endParaRPr>
              </a:p>
            </p:txBody>
          </p:sp>
        </p:grpSp>
        <p:sp>
          <p:nvSpPr>
            <p:cNvPr id="68" name="Freeform 17">
              <a:extLst>
                <a:ext uri="{FF2B5EF4-FFF2-40B4-BE49-F238E27FC236}">
                  <a16:creationId xmlns:a16="http://schemas.microsoft.com/office/drawing/2014/main" id="{73D0CFF6-5498-D894-C512-E0874929AFEC}"/>
                </a:ext>
              </a:extLst>
            </p:cNvPr>
            <p:cNvSpPr>
              <a:spLocks noChangeArrowheads="1"/>
            </p:cNvSpPr>
            <p:nvPr/>
          </p:nvSpPr>
          <p:spPr bwMode="auto">
            <a:xfrm>
              <a:off x="6195367" y="2171780"/>
              <a:ext cx="2160954" cy="882549"/>
            </a:xfrm>
            <a:custGeom>
              <a:avLst/>
              <a:gdLst>
                <a:gd name="T0" fmla="*/ 0 w 6836"/>
                <a:gd name="T1" fmla="*/ 0 h 3540"/>
                <a:gd name="T2" fmla="*/ 2147483647 w 6836"/>
                <a:gd name="T3" fmla="*/ 2147483647 h 3540"/>
                <a:gd name="T4" fmla="*/ 2147483647 w 6836"/>
                <a:gd name="T5" fmla="*/ 2147483647 h 3540"/>
                <a:gd name="T6" fmla="*/ 0 w 6836"/>
                <a:gd name="T7" fmla="*/ 2147483647 h 3540"/>
                <a:gd name="T8" fmla="*/ 0 w 6836"/>
                <a:gd name="T9" fmla="*/ 0 h 35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36" h="3540">
                  <a:moveTo>
                    <a:pt x="0" y="0"/>
                  </a:moveTo>
                  <a:lnTo>
                    <a:pt x="6819" y="2797"/>
                  </a:lnTo>
                  <a:lnTo>
                    <a:pt x="6835" y="3539"/>
                  </a:lnTo>
                  <a:lnTo>
                    <a:pt x="0" y="737"/>
                  </a:lnTo>
                  <a:lnTo>
                    <a:pt x="0" y="0"/>
                  </a:lnTo>
                </a:path>
              </a:pathLst>
            </a:custGeom>
            <a:solidFill>
              <a:srgbClr val="0070C0">
                <a:alpha val="50000"/>
              </a:srgbClr>
            </a:solidFill>
            <a:ln w="9360">
              <a:noFill/>
              <a:round/>
              <a:headEnd/>
              <a:tailEnd/>
            </a:ln>
          </p:spPr>
          <p:txBody>
            <a:bodyPr wrap="none" anchor="ctr"/>
            <a:lstStyle/>
            <a:p>
              <a:pPr algn="ctr" fontAlgn="base">
                <a:spcBef>
                  <a:spcPct val="0"/>
                </a:spcBef>
                <a:spcAft>
                  <a:spcPct val="0"/>
                </a:spcAft>
              </a:pPr>
              <a:endParaRPr lang="zh-CN" altLang="en-US" b="1">
                <a:solidFill>
                  <a:srgbClr val="0000FF"/>
                </a:solidFill>
                <a:latin typeface="Arial" charset="0"/>
              </a:endParaRPr>
            </a:p>
          </p:txBody>
        </p:sp>
        <p:sp>
          <p:nvSpPr>
            <p:cNvPr id="69" name="Freeform 17">
              <a:extLst>
                <a:ext uri="{FF2B5EF4-FFF2-40B4-BE49-F238E27FC236}">
                  <a16:creationId xmlns:a16="http://schemas.microsoft.com/office/drawing/2014/main" id="{1260F609-A539-A626-2B23-E492E4859404}"/>
                </a:ext>
              </a:extLst>
            </p:cNvPr>
            <p:cNvSpPr>
              <a:spLocks noChangeArrowheads="1"/>
            </p:cNvSpPr>
            <p:nvPr/>
          </p:nvSpPr>
          <p:spPr bwMode="auto">
            <a:xfrm>
              <a:off x="6209318" y="2356629"/>
              <a:ext cx="2160954" cy="882549"/>
            </a:xfrm>
            <a:custGeom>
              <a:avLst/>
              <a:gdLst>
                <a:gd name="T0" fmla="*/ 0 w 6836"/>
                <a:gd name="T1" fmla="*/ 0 h 3540"/>
                <a:gd name="T2" fmla="*/ 2147483647 w 6836"/>
                <a:gd name="T3" fmla="*/ 2147483647 h 3540"/>
                <a:gd name="T4" fmla="*/ 2147483647 w 6836"/>
                <a:gd name="T5" fmla="*/ 2147483647 h 3540"/>
                <a:gd name="T6" fmla="*/ 0 w 6836"/>
                <a:gd name="T7" fmla="*/ 2147483647 h 3540"/>
                <a:gd name="T8" fmla="*/ 0 w 6836"/>
                <a:gd name="T9" fmla="*/ 0 h 35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36" h="3540">
                  <a:moveTo>
                    <a:pt x="0" y="0"/>
                  </a:moveTo>
                  <a:lnTo>
                    <a:pt x="6819" y="2797"/>
                  </a:lnTo>
                  <a:lnTo>
                    <a:pt x="6835" y="3539"/>
                  </a:lnTo>
                  <a:lnTo>
                    <a:pt x="0" y="737"/>
                  </a:lnTo>
                  <a:lnTo>
                    <a:pt x="0" y="0"/>
                  </a:lnTo>
                </a:path>
              </a:pathLst>
            </a:custGeom>
            <a:solidFill>
              <a:srgbClr val="0070C0">
                <a:alpha val="50000"/>
              </a:srgbClr>
            </a:solidFill>
            <a:ln w="9360">
              <a:noFill/>
              <a:round/>
              <a:headEnd/>
              <a:tailEnd/>
            </a:ln>
          </p:spPr>
          <p:txBody>
            <a:bodyPr wrap="none" anchor="ctr"/>
            <a:lstStyle/>
            <a:p>
              <a:pPr algn="ctr" fontAlgn="base">
                <a:spcBef>
                  <a:spcPct val="0"/>
                </a:spcBef>
                <a:spcAft>
                  <a:spcPct val="0"/>
                </a:spcAft>
              </a:pPr>
              <a:endParaRPr lang="zh-CN" altLang="en-US" b="1">
                <a:solidFill>
                  <a:srgbClr val="0000FF"/>
                </a:solidFill>
                <a:latin typeface="Arial" charset="0"/>
              </a:endParaRPr>
            </a:p>
          </p:txBody>
        </p:sp>
        <p:sp>
          <p:nvSpPr>
            <p:cNvPr id="70" name="Freeform 17">
              <a:extLst>
                <a:ext uri="{FF2B5EF4-FFF2-40B4-BE49-F238E27FC236}">
                  <a16:creationId xmlns:a16="http://schemas.microsoft.com/office/drawing/2014/main" id="{4DF11DA4-7B47-4C59-7F85-9660144EC9D6}"/>
                </a:ext>
              </a:extLst>
            </p:cNvPr>
            <p:cNvSpPr>
              <a:spLocks noChangeArrowheads="1"/>
            </p:cNvSpPr>
            <p:nvPr/>
          </p:nvSpPr>
          <p:spPr bwMode="auto">
            <a:xfrm>
              <a:off x="6213429" y="2532016"/>
              <a:ext cx="2160954" cy="882549"/>
            </a:xfrm>
            <a:custGeom>
              <a:avLst/>
              <a:gdLst>
                <a:gd name="T0" fmla="*/ 0 w 6836"/>
                <a:gd name="T1" fmla="*/ 0 h 3540"/>
                <a:gd name="T2" fmla="*/ 2147483647 w 6836"/>
                <a:gd name="T3" fmla="*/ 2147483647 h 3540"/>
                <a:gd name="T4" fmla="*/ 2147483647 w 6836"/>
                <a:gd name="T5" fmla="*/ 2147483647 h 3540"/>
                <a:gd name="T6" fmla="*/ 0 w 6836"/>
                <a:gd name="T7" fmla="*/ 2147483647 h 3540"/>
                <a:gd name="T8" fmla="*/ 0 w 6836"/>
                <a:gd name="T9" fmla="*/ 0 h 35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36" h="3540">
                  <a:moveTo>
                    <a:pt x="0" y="0"/>
                  </a:moveTo>
                  <a:lnTo>
                    <a:pt x="6819" y="2797"/>
                  </a:lnTo>
                  <a:lnTo>
                    <a:pt x="6835" y="3539"/>
                  </a:lnTo>
                  <a:lnTo>
                    <a:pt x="0" y="737"/>
                  </a:lnTo>
                  <a:lnTo>
                    <a:pt x="0" y="0"/>
                  </a:lnTo>
                </a:path>
              </a:pathLst>
            </a:custGeom>
            <a:solidFill>
              <a:srgbClr val="0070C0">
                <a:alpha val="50000"/>
              </a:srgbClr>
            </a:solidFill>
            <a:ln w="9360">
              <a:noFill/>
              <a:round/>
              <a:headEnd/>
              <a:tailEnd/>
            </a:ln>
          </p:spPr>
          <p:txBody>
            <a:bodyPr wrap="none" anchor="ctr"/>
            <a:lstStyle/>
            <a:p>
              <a:pPr algn="ctr" fontAlgn="base">
                <a:spcBef>
                  <a:spcPct val="0"/>
                </a:spcBef>
                <a:spcAft>
                  <a:spcPct val="0"/>
                </a:spcAft>
              </a:pPr>
              <a:endParaRPr lang="zh-CN" altLang="en-US" b="1">
                <a:solidFill>
                  <a:srgbClr val="0000FF"/>
                </a:solidFill>
                <a:latin typeface="Arial" charset="0"/>
              </a:endParaRPr>
            </a:p>
          </p:txBody>
        </p:sp>
        <p:sp>
          <p:nvSpPr>
            <p:cNvPr id="71" name="Freeform 17">
              <a:extLst>
                <a:ext uri="{FF2B5EF4-FFF2-40B4-BE49-F238E27FC236}">
                  <a16:creationId xmlns:a16="http://schemas.microsoft.com/office/drawing/2014/main" id="{4A5EC470-88F7-D7D0-33BD-0238905367CF}"/>
                </a:ext>
              </a:extLst>
            </p:cNvPr>
            <p:cNvSpPr>
              <a:spLocks noChangeArrowheads="1"/>
            </p:cNvSpPr>
            <p:nvPr/>
          </p:nvSpPr>
          <p:spPr bwMode="auto">
            <a:xfrm>
              <a:off x="6213429" y="3593619"/>
              <a:ext cx="2160954" cy="882549"/>
            </a:xfrm>
            <a:custGeom>
              <a:avLst/>
              <a:gdLst>
                <a:gd name="T0" fmla="*/ 0 w 6836"/>
                <a:gd name="T1" fmla="*/ 0 h 3540"/>
                <a:gd name="T2" fmla="*/ 2147483647 w 6836"/>
                <a:gd name="T3" fmla="*/ 2147483647 h 3540"/>
                <a:gd name="T4" fmla="*/ 2147483647 w 6836"/>
                <a:gd name="T5" fmla="*/ 2147483647 h 3540"/>
                <a:gd name="T6" fmla="*/ 0 w 6836"/>
                <a:gd name="T7" fmla="*/ 2147483647 h 3540"/>
                <a:gd name="T8" fmla="*/ 0 w 6836"/>
                <a:gd name="T9" fmla="*/ 0 h 35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36" h="3540">
                  <a:moveTo>
                    <a:pt x="0" y="0"/>
                  </a:moveTo>
                  <a:lnTo>
                    <a:pt x="6819" y="2797"/>
                  </a:lnTo>
                  <a:lnTo>
                    <a:pt x="6835" y="3539"/>
                  </a:lnTo>
                  <a:lnTo>
                    <a:pt x="0" y="737"/>
                  </a:lnTo>
                  <a:lnTo>
                    <a:pt x="0" y="0"/>
                  </a:lnTo>
                </a:path>
              </a:pathLst>
            </a:custGeom>
            <a:solidFill>
              <a:srgbClr val="0070C0">
                <a:alpha val="50000"/>
              </a:srgbClr>
            </a:solidFill>
            <a:ln w="9360">
              <a:noFill/>
              <a:round/>
              <a:headEnd/>
              <a:tailEnd/>
            </a:ln>
          </p:spPr>
          <p:txBody>
            <a:bodyPr wrap="none" anchor="ctr"/>
            <a:lstStyle/>
            <a:p>
              <a:pPr algn="ctr" fontAlgn="base">
                <a:spcBef>
                  <a:spcPct val="0"/>
                </a:spcBef>
                <a:spcAft>
                  <a:spcPct val="0"/>
                </a:spcAft>
              </a:pPr>
              <a:endParaRPr lang="zh-CN" altLang="en-US" b="1">
                <a:solidFill>
                  <a:srgbClr val="0000FF"/>
                </a:solidFill>
                <a:latin typeface="Arial" charset="0"/>
              </a:endParaRPr>
            </a:p>
          </p:txBody>
        </p:sp>
      </p:grpSp>
      <p:sp>
        <p:nvSpPr>
          <p:cNvPr id="97" name="文本框 96">
            <a:extLst>
              <a:ext uri="{FF2B5EF4-FFF2-40B4-BE49-F238E27FC236}">
                <a16:creationId xmlns:a16="http://schemas.microsoft.com/office/drawing/2014/main" id="{A89F7BE0-885C-D6D4-BE4F-B45E3758C3FB}"/>
              </a:ext>
            </a:extLst>
          </p:cNvPr>
          <p:cNvSpPr txBox="1"/>
          <p:nvPr/>
        </p:nvSpPr>
        <p:spPr>
          <a:xfrm>
            <a:off x="6269967" y="4581348"/>
            <a:ext cx="346249" cy="246221"/>
          </a:xfrm>
          <a:prstGeom prst="rect">
            <a:avLst/>
          </a:prstGeom>
          <a:noFill/>
        </p:spPr>
        <p:txBody>
          <a:bodyPr vert="eaVert" wrap="square" rtlCol="0">
            <a:spAutoFit/>
          </a:bodyPr>
          <a:lstStyle/>
          <a:p>
            <a:r>
              <a:rPr lang="en-US" altLang="zh-CN" sz="1050" b="1" dirty="0">
                <a:solidFill>
                  <a:srgbClr val="0000FF"/>
                </a:solidFill>
              </a:rPr>
              <a:t>…</a:t>
            </a:r>
            <a:endParaRPr lang="zh-CN" altLang="en-US" sz="1050" b="1" dirty="0">
              <a:solidFill>
                <a:srgbClr val="0000FF"/>
              </a:solidFill>
            </a:endParaRPr>
          </a:p>
        </p:txBody>
      </p:sp>
      <p:sp>
        <p:nvSpPr>
          <p:cNvPr id="3" name="文本框 2">
            <a:extLst>
              <a:ext uri="{FF2B5EF4-FFF2-40B4-BE49-F238E27FC236}">
                <a16:creationId xmlns:a16="http://schemas.microsoft.com/office/drawing/2014/main" id="{048E8251-7BD9-7563-E0AE-371032DFA55A}"/>
              </a:ext>
            </a:extLst>
          </p:cNvPr>
          <p:cNvSpPr txBox="1"/>
          <p:nvPr/>
        </p:nvSpPr>
        <p:spPr>
          <a:xfrm>
            <a:off x="5315823" y="1302157"/>
            <a:ext cx="922020" cy="338554"/>
          </a:xfrm>
          <a:prstGeom prst="rect">
            <a:avLst/>
          </a:prstGeom>
          <a:noFill/>
        </p:spPr>
        <p:txBody>
          <a:bodyPr wrap="square" rtlCol="0">
            <a:spAutoFit/>
          </a:bodyPr>
          <a:lstStyle/>
          <a:p>
            <a:r>
              <a:rPr lang="en-US" altLang="zh-CN" sz="1600" b="1" dirty="0">
                <a:solidFill>
                  <a:srgbClr val="0000FF"/>
                </a:solidFill>
              </a:rPr>
              <a:t>R2</a:t>
            </a:r>
            <a:endParaRPr lang="zh-CN" altLang="en-US" sz="1600" b="1" dirty="0">
              <a:solidFill>
                <a:srgbClr val="0000FF"/>
              </a:solidFill>
            </a:endParaRPr>
          </a:p>
        </p:txBody>
      </p:sp>
      <p:cxnSp>
        <p:nvCxnSpPr>
          <p:cNvPr id="45" name="直接连接符 44">
            <a:extLst>
              <a:ext uri="{FF2B5EF4-FFF2-40B4-BE49-F238E27FC236}">
                <a16:creationId xmlns:a16="http://schemas.microsoft.com/office/drawing/2014/main" id="{51CF0060-AC07-BEE1-A12B-B225E89D42C7}"/>
              </a:ext>
            </a:extLst>
          </p:cNvPr>
          <p:cNvCxnSpPr>
            <a:cxnSpLocks/>
          </p:cNvCxnSpPr>
          <p:nvPr/>
        </p:nvCxnSpPr>
        <p:spPr>
          <a:xfrm>
            <a:off x="5628755" y="3688317"/>
            <a:ext cx="3655964" cy="2549"/>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3" name="右大括号 52">
            <a:extLst>
              <a:ext uri="{FF2B5EF4-FFF2-40B4-BE49-F238E27FC236}">
                <a16:creationId xmlns:a16="http://schemas.microsoft.com/office/drawing/2014/main" id="{C8FDCE6B-1669-AF9B-0A1C-626F6A20CD9F}"/>
              </a:ext>
            </a:extLst>
          </p:cNvPr>
          <p:cNvSpPr/>
          <p:nvPr/>
        </p:nvSpPr>
        <p:spPr>
          <a:xfrm>
            <a:off x="9291983" y="1950952"/>
            <a:ext cx="67125" cy="191939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000" b="1">
              <a:solidFill>
                <a:srgbClr val="0000FF"/>
              </a:solidFill>
            </a:endParaRPr>
          </a:p>
        </p:txBody>
      </p:sp>
      <p:sp>
        <p:nvSpPr>
          <p:cNvPr id="55" name="文本框 54">
            <a:extLst>
              <a:ext uri="{FF2B5EF4-FFF2-40B4-BE49-F238E27FC236}">
                <a16:creationId xmlns:a16="http://schemas.microsoft.com/office/drawing/2014/main" id="{BDA4033A-4870-8AAF-AA25-BBE2C4CE02B1}"/>
              </a:ext>
            </a:extLst>
          </p:cNvPr>
          <p:cNvSpPr txBox="1"/>
          <p:nvPr/>
        </p:nvSpPr>
        <p:spPr>
          <a:xfrm>
            <a:off x="9477813" y="2778100"/>
            <a:ext cx="1438120" cy="338554"/>
          </a:xfrm>
          <a:prstGeom prst="rect">
            <a:avLst/>
          </a:prstGeom>
          <a:noFill/>
        </p:spPr>
        <p:txBody>
          <a:bodyPr wrap="square" rtlCol="0">
            <a:spAutoFit/>
          </a:bodyPr>
          <a:lstStyle/>
          <a:p>
            <a:r>
              <a:rPr lang="en-US" altLang="zh-CN" sz="1600" b="1" dirty="0">
                <a:solidFill>
                  <a:srgbClr val="0000FF"/>
                </a:solidFill>
              </a:rPr>
              <a:t>(k-1)(</a:t>
            </a:r>
            <a:r>
              <a:rPr lang="en-US" altLang="zh-CN" sz="1600" b="1" dirty="0" err="1">
                <a:solidFill>
                  <a:srgbClr val="0000FF"/>
                </a:solidFill>
              </a:rPr>
              <a:t>d+p</a:t>
            </a:r>
            <a:r>
              <a:rPr lang="en-US" altLang="zh-CN" sz="1600" b="1" dirty="0">
                <a:solidFill>
                  <a:srgbClr val="0000FF"/>
                </a:solidFill>
              </a:rPr>
              <a:t>/b)</a:t>
            </a:r>
            <a:endParaRPr lang="zh-CN" altLang="en-US" sz="1600" b="1" dirty="0">
              <a:solidFill>
                <a:srgbClr val="0000FF"/>
              </a:solidFill>
            </a:endParaRPr>
          </a:p>
        </p:txBody>
      </p:sp>
    </p:spTree>
    <p:extLst>
      <p:ext uri="{BB962C8B-B14F-4D97-AF65-F5344CB8AC3E}">
        <p14:creationId xmlns:p14="http://schemas.microsoft.com/office/powerpoint/2010/main" val="33767149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E64EB1-635D-D84C-1FAB-C28387D6ED60}"/>
              </a:ext>
            </a:extLst>
          </p:cNvPr>
          <p:cNvSpPr>
            <a:spLocks noGrp="1"/>
          </p:cNvSpPr>
          <p:nvPr>
            <p:ph type="title"/>
          </p:nvPr>
        </p:nvSpPr>
        <p:spPr/>
        <p:txBody>
          <a:bodyPr>
            <a:normAutofit fontScale="90000"/>
          </a:bodyPr>
          <a:lstStyle/>
          <a:p>
            <a:endParaRPr lang="zh-CN" altLang="en-US"/>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69C916F-76AD-D7F7-464A-E248C60CDFF0}"/>
                  </a:ext>
                </a:extLst>
              </p:cNvPr>
              <p:cNvSpPr>
                <a:spLocks noGrp="1"/>
              </p:cNvSpPr>
              <p:nvPr>
                <p:ph idx="1"/>
              </p:nvPr>
            </p:nvSpPr>
            <p:spPr/>
            <p:txBody>
              <a:bodyPr/>
              <a:lstStyle/>
              <a:p>
                <a:r>
                  <a:rPr lang="en-US" altLang="zh-CN" dirty="0"/>
                  <a:t>Under what conditions does the packet network have a lower delay? </a:t>
                </a:r>
              </a:p>
              <a:p>
                <a:r>
                  <a:rPr lang="en-US" altLang="zh-CN" dirty="0">
                    <a:solidFill>
                      <a:srgbClr val="0000FF"/>
                    </a:solidFill>
                  </a:rPr>
                  <a:t>Packet switching is faster if </a:t>
                </a:r>
                <a14:m>
                  <m:oMath xmlns:m="http://schemas.openxmlformats.org/officeDocument/2006/math">
                    <m:r>
                      <a:rPr lang="en-US" altLang="zh-CN" i="1">
                        <a:solidFill>
                          <a:srgbClr val="0000FF"/>
                        </a:solidFill>
                        <a:latin typeface="Cambria Math" panose="02040503050406030204" pitchFamily="18" charset="0"/>
                      </a:rPr>
                      <m:t>𝑠</m:t>
                    </m:r>
                    <m:r>
                      <a:rPr lang="en-US" altLang="zh-CN" i="1">
                        <a:solidFill>
                          <a:srgbClr val="0000FF"/>
                        </a:solidFill>
                        <a:latin typeface="Cambria Math" panose="02040503050406030204" pitchFamily="18" charset="0"/>
                      </a:rPr>
                      <m:t> &gt; (</m:t>
                    </m:r>
                    <m:r>
                      <a:rPr lang="en-US" altLang="zh-CN" i="1">
                        <a:solidFill>
                          <a:srgbClr val="0000FF"/>
                        </a:solidFill>
                        <a:latin typeface="Cambria Math" panose="02040503050406030204" pitchFamily="18" charset="0"/>
                      </a:rPr>
                      <m:t>𝑘</m:t>
                    </m:r>
                    <m:r>
                      <a:rPr lang="en-US" altLang="zh-CN" i="1">
                        <a:solidFill>
                          <a:srgbClr val="0000FF"/>
                        </a:solidFill>
                        <a:latin typeface="Cambria Math" panose="02040503050406030204" pitchFamily="18" charset="0"/>
                      </a:rPr>
                      <m:t>− 1) </m:t>
                    </m:r>
                    <m:r>
                      <a:rPr lang="en-US" altLang="zh-CN" i="1">
                        <a:solidFill>
                          <a:srgbClr val="0000FF"/>
                        </a:solidFill>
                        <a:latin typeface="Cambria Math" panose="02040503050406030204" pitchFamily="18" charset="0"/>
                      </a:rPr>
                      <m:t>𝑝</m:t>
                    </m:r>
                    <m:r>
                      <a:rPr lang="en-US" altLang="zh-CN" i="1">
                        <a:solidFill>
                          <a:srgbClr val="0000FF"/>
                        </a:solidFill>
                        <a:latin typeface="Cambria Math" panose="02040503050406030204" pitchFamily="18" charset="0"/>
                      </a:rPr>
                      <m:t>/</m:t>
                    </m:r>
                    <m:r>
                      <a:rPr lang="en-US" altLang="zh-CN" i="1">
                        <a:solidFill>
                          <a:srgbClr val="0000FF"/>
                        </a:solidFill>
                        <a:latin typeface="Cambria Math" panose="02040503050406030204" pitchFamily="18" charset="0"/>
                      </a:rPr>
                      <m:t>𝑏</m:t>
                    </m:r>
                  </m:oMath>
                </a14:m>
                <a:r>
                  <a:rPr lang="en-US" altLang="zh-CN" dirty="0">
                    <a:solidFill>
                      <a:srgbClr val="0000FF"/>
                    </a:solidFill>
                  </a:rPr>
                  <a:t>. </a:t>
                </a:r>
              </a:p>
              <a:p>
                <a:endParaRPr lang="en-US" altLang="zh-CN" dirty="0"/>
              </a:p>
              <a:p>
                <a:r>
                  <a:rPr lang="en-US" altLang="zh-CN" dirty="0"/>
                  <a:t>Also, explain the conditions under which a packet-switched network is preferable to a circuit-switched network.</a:t>
                </a:r>
              </a:p>
              <a:p>
                <a:r>
                  <a:rPr lang="en-US" altLang="zh-CN" dirty="0">
                    <a:solidFill>
                      <a:srgbClr val="0000FF"/>
                    </a:solidFill>
                  </a:rPr>
                  <a:t>In addition to the faster transmission under these conditions, packet switching is preferable when fault-tolerant transmission in the presence of switch failures is desired.</a:t>
                </a:r>
                <a:endParaRPr lang="zh-CN" altLang="zh-CN" dirty="0">
                  <a:solidFill>
                    <a:srgbClr val="0000FF"/>
                  </a:solidFill>
                </a:endParaRPr>
              </a:p>
              <a:p>
                <a:endParaRPr lang="zh-CN" altLang="en-US" dirty="0"/>
              </a:p>
            </p:txBody>
          </p:sp>
        </mc:Choice>
        <mc:Fallback xmlns="">
          <p:sp>
            <p:nvSpPr>
              <p:cNvPr id="3" name="内容占位符 2">
                <a:extLst>
                  <a:ext uri="{FF2B5EF4-FFF2-40B4-BE49-F238E27FC236}">
                    <a16:creationId xmlns:a16="http://schemas.microsoft.com/office/drawing/2014/main" id="{E69C916F-76AD-D7F7-464A-E248C60CDFF0}"/>
                  </a:ext>
                </a:extLst>
              </p:cNvPr>
              <p:cNvSpPr>
                <a:spLocks noGrp="1" noRot="1" noChangeAspect="1" noMove="1" noResize="1" noEditPoints="1" noAdjustHandles="1" noChangeArrowheads="1" noChangeShapeType="1" noTextEdit="1"/>
              </p:cNvSpPr>
              <p:nvPr>
                <p:ph idx="1"/>
              </p:nvPr>
            </p:nvSpPr>
            <p:spPr>
              <a:blipFill>
                <a:blip r:embed="rId2"/>
                <a:stretch>
                  <a:fillRect l="-928" t="-1561" r="-133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54370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54C548-CEE3-4492-BBE3-066DD14DED4B}"/>
              </a:ext>
            </a:extLst>
          </p:cNvPr>
          <p:cNvSpPr>
            <a:spLocks noGrp="1"/>
          </p:cNvSpPr>
          <p:nvPr>
            <p:ph type="title"/>
          </p:nvPr>
        </p:nvSpPr>
        <p:spPr/>
        <p:txBody>
          <a:bodyPr>
            <a:normAutofit fontScale="90000"/>
          </a:bodyPr>
          <a:lstStyle/>
          <a:p>
            <a:r>
              <a:rPr lang="en-US" altLang="zh-CN" dirty="0"/>
              <a:t>2-7</a:t>
            </a:r>
            <a:endParaRPr lang="zh-CN" altLang="en-US" dirty="0"/>
          </a:p>
        </p:txBody>
      </p:sp>
      <mc:AlternateContent xmlns:mc="http://schemas.openxmlformats.org/markup-compatibility/2006" xmlns:a14="http://schemas.microsoft.com/office/drawing/2010/main">
        <mc:Choice Requires="a14">
          <p:sp>
            <p:nvSpPr>
              <p:cNvPr id="3" name="副标题 2">
                <a:extLst>
                  <a:ext uri="{FF2B5EF4-FFF2-40B4-BE49-F238E27FC236}">
                    <a16:creationId xmlns:a16="http://schemas.microsoft.com/office/drawing/2014/main" id="{08ACBE0C-7D7D-44D8-83A2-14D1856901BD}"/>
                  </a:ext>
                </a:extLst>
              </p:cNvPr>
              <p:cNvSpPr>
                <a:spLocks noGrp="1"/>
              </p:cNvSpPr>
              <p:nvPr>
                <p:ph idx="1"/>
              </p:nvPr>
            </p:nvSpPr>
            <p:spPr/>
            <p:txBody>
              <a:bodyPr>
                <a:normAutofit lnSpcReduction="10000"/>
              </a:bodyPr>
              <a:lstStyle/>
              <a:p>
                <a:r>
                  <a:rPr lang="en-US" altLang="zh-CN" dirty="0"/>
                  <a:t>Suppose that x bits of user data are to be transmitted over a k-hop path in a packet-switched network as a series of packets, each containing p data bits and h header bits, with </a:t>
                </a:r>
                <a14:m>
                  <m:oMath xmlns:m="http://schemas.openxmlformats.org/officeDocument/2006/math">
                    <m:r>
                      <a:rPr lang="en-US" altLang="zh-CN" i="1">
                        <a:latin typeface="Cambria Math" panose="02040503050406030204" pitchFamily="18" charset="0"/>
                      </a:rPr>
                      <m:t>𝑥</m:t>
                    </m:r>
                    <m:r>
                      <a:rPr lang="en-US" altLang="zh-CN" i="1">
                        <a:latin typeface="Cambria Math" panose="02040503050406030204" pitchFamily="18" charset="0"/>
                      </a:rPr>
                      <m:t>≫ </m:t>
                    </m:r>
                    <m:r>
                      <a:rPr lang="en-US" altLang="zh-CN" i="1">
                        <a:latin typeface="Cambria Math" panose="02040503050406030204" pitchFamily="18" charset="0"/>
                      </a:rPr>
                      <m:t>𝑝</m:t>
                    </m:r>
                    <m:r>
                      <a:rPr lang="en-US" altLang="zh-CN" i="1">
                        <a:latin typeface="Cambria Math" panose="02040503050406030204" pitchFamily="18" charset="0"/>
                      </a:rPr>
                      <m:t>+</m:t>
                    </m:r>
                    <m:r>
                      <a:rPr lang="en-US" altLang="zh-CN" i="1">
                        <a:latin typeface="Cambria Math" panose="02040503050406030204" pitchFamily="18" charset="0"/>
                      </a:rPr>
                      <m:t>h</m:t>
                    </m:r>
                  </m:oMath>
                </a14:m>
                <a:r>
                  <a:rPr lang="en-US" altLang="zh-CN" dirty="0"/>
                  <a:t>. The bit rate of the lines is b bps and the propagation delay is negligible. What value of p minimizes the total delay?</a:t>
                </a:r>
              </a:p>
              <a:p>
                <a:pPr marL="342900" indent="-342900">
                  <a:buFont typeface="Arial" panose="020B0604020202020204" pitchFamily="34" charset="0"/>
                  <a:buChar char="•"/>
                </a:pPr>
                <a:r>
                  <a:rPr lang="en-US" altLang="zh-CN" dirty="0">
                    <a:solidFill>
                      <a:srgbClr val="0000FF"/>
                    </a:solidFill>
                  </a:rPr>
                  <a:t>The total number of packets needed is </a:t>
                </a:r>
                <a14:m>
                  <m:oMath xmlns:m="http://schemas.openxmlformats.org/officeDocument/2006/math">
                    <m:r>
                      <a:rPr lang="en-US" altLang="zh-CN" b="0" i="1" smtClean="0">
                        <a:solidFill>
                          <a:srgbClr val="0000FF"/>
                        </a:solidFill>
                        <a:latin typeface="Cambria Math" panose="02040503050406030204" pitchFamily="18" charset="0"/>
                      </a:rPr>
                      <m:t>𝑥</m:t>
                    </m:r>
                    <m:r>
                      <a:rPr lang="en-US" altLang="zh-CN" b="0" i="1" smtClean="0">
                        <a:solidFill>
                          <a:srgbClr val="0000FF"/>
                        </a:solidFill>
                        <a:latin typeface="Cambria Math" panose="02040503050406030204" pitchFamily="18" charset="0"/>
                      </a:rPr>
                      <m:t>/</m:t>
                    </m:r>
                    <m:r>
                      <a:rPr lang="en-US" altLang="zh-CN" b="0" i="1" smtClean="0">
                        <a:solidFill>
                          <a:srgbClr val="0000FF"/>
                        </a:solidFill>
                        <a:latin typeface="Cambria Math" panose="02040503050406030204" pitchFamily="18" charset="0"/>
                      </a:rPr>
                      <m:t>𝑝</m:t>
                    </m:r>
                  </m:oMath>
                </a14:m>
                <a:r>
                  <a:rPr lang="en-US" altLang="zh-CN" dirty="0">
                    <a:solidFill>
                      <a:srgbClr val="0000FF"/>
                    </a:solidFill>
                  </a:rPr>
                  <a:t>, </a:t>
                </a:r>
              </a:p>
              <a:p>
                <a:pPr marL="342900" indent="-342900">
                  <a:buFont typeface="Arial" panose="020B0604020202020204" pitchFamily="34" charset="0"/>
                  <a:buChar char="•"/>
                </a:pPr>
                <a:r>
                  <a:rPr lang="en-US" altLang="zh-CN" dirty="0">
                    <a:solidFill>
                      <a:srgbClr val="0000FF"/>
                    </a:solidFill>
                  </a:rPr>
                  <a:t>so the total data + header traffic is </a:t>
                </a:r>
                <a14:m>
                  <m:oMath xmlns:m="http://schemas.openxmlformats.org/officeDocument/2006/math">
                    <m:r>
                      <a:rPr lang="en-US" altLang="zh-CN" b="0" i="0" smtClean="0">
                        <a:solidFill>
                          <a:srgbClr val="0000FF"/>
                        </a:solidFill>
                        <a:latin typeface="Cambria Math" panose="02040503050406030204" pitchFamily="18" charset="0"/>
                      </a:rPr>
                      <m:t>(</m:t>
                    </m:r>
                    <m:r>
                      <m:rPr>
                        <m:sty m:val="p"/>
                      </m:rPr>
                      <a:rPr lang="en-US" altLang="zh-CN" b="0" i="0" smtClean="0">
                        <a:solidFill>
                          <a:srgbClr val="0000FF"/>
                        </a:solidFill>
                        <a:latin typeface="Cambria Math" panose="02040503050406030204" pitchFamily="18" charset="0"/>
                      </a:rPr>
                      <m:t>p</m:t>
                    </m:r>
                    <m:r>
                      <a:rPr lang="en-US" altLang="zh-CN" b="0" i="0" smtClean="0">
                        <a:solidFill>
                          <a:srgbClr val="0000FF"/>
                        </a:solidFill>
                        <a:latin typeface="Cambria Math" panose="02040503050406030204" pitchFamily="18" charset="0"/>
                      </a:rPr>
                      <m:t>+</m:t>
                    </m:r>
                    <m:r>
                      <m:rPr>
                        <m:sty m:val="p"/>
                      </m:rPr>
                      <a:rPr lang="en-US" altLang="zh-CN" b="0" i="0" smtClean="0">
                        <a:solidFill>
                          <a:srgbClr val="0000FF"/>
                        </a:solidFill>
                        <a:latin typeface="Cambria Math" panose="02040503050406030204" pitchFamily="18" charset="0"/>
                      </a:rPr>
                      <m:t>h</m:t>
                    </m:r>
                    <m:r>
                      <a:rPr lang="en-US" altLang="zh-CN" b="0" i="0" smtClean="0">
                        <a:solidFill>
                          <a:srgbClr val="0000FF"/>
                        </a:solidFill>
                        <a:latin typeface="Cambria Math" panose="02040503050406030204" pitchFamily="18" charset="0"/>
                      </a:rPr>
                      <m:t>)</m:t>
                    </m:r>
                    <m:r>
                      <a:rPr lang="en-US" altLang="zh-CN" i="1">
                        <a:solidFill>
                          <a:srgbClr val="0000FF"/>
                        </a:solidFill>
                        <a:latin typeface="Cambria Math" panose="02040503050406030204" pitchFamily="18" charset="0"/>
                      </a:rPr>
                      <m:t>𝑥</m:t>
                    </m:r>
                    <m:r>
                      <a:rPr lang="en-US" altLang="zh-CN" i="1">
                        <a:solidFill>
                          <a:srgbClr val="0000FF"/>
                        </a:solidFill>
                        <a:latin typeface="Cambria Math" panose="02040503050406030204" pitchFamily="18" charset="0"/>
                      </a:rPr>
                      <m:t>/</m:t>
                    </m:r>
                    <m:r>
                      <a:rPr lang="en-US" altLang="zh-CN" i="1">
                        <a:solidFill>
                          <a:srgbClr val="0000FF"/>
                        </a:solidFill>
                        <a:latin typeface="Cambria Math" panose="02040503050406030204" pitchFamily="18" charset="0"/>
                      </a:rPr>
                      <m:t>𝑝</m:t>
                    </m:r>
                  </m:oMath>
                </a14:m>
                <a:r>
                  <a:rPr lang="en-US" altLang="zh-CN" dirty="0">
                    <a:solidFill>
                      <a:srgbClr val="0000FF"/>
                    </a:solidFill>
                  </a:rPr>
                  <a:t> bits. </a:t>
                </a:r>
              </a:p>
              <a:p>
                <a:pPr marL="342900" indent="-342900">
                  <a:buFont typeface="Arial" panose="020B0604020202020204" pitchFamily="34" charset="0"/>
                  <a:buChar char="•"/>
                </a:pPr>
                <a:r>
                  <a:rPr lang="en-US" altLang="zh-CN" dirty="0">
                    <a:solidFill>
                      <a:srgbClr val="0000FF"/>
                    </a:solidFill>
                  </a:rPr>
                  <a:t>The source requires </a:t>
                </a:r>
                <a14:m>
                  <m:oMath xmlns:m="http://schemas.openxmlformats.org/officeDocument/2006/math">
                    <m:r>
                      <a:rPr lang="en-US" altLang="zh-CN">
                        <a:solidFill>
                          <a:srgbClr val="0000FF"/>
                        </a:solidFill>
                        <a:latin typeface="Cambria Math" panose="02040503050406030204" pitchFamily="18" charset="0"/>
                      </a:rPr>
                      <m:t>(</m:t>
                    </m:r>
                    <m:r>
                      <m:rPr>
                        <m:sty m:val="p"/>
                      </m:rPr>
                      <a:rPr lang="en-US" altLang="zh-CN">
                        <a:solidFill>
                          <a:srgbClr val="0000FF"/>
                        </a:solidFill>
                        <a:latin typeface="Cambria Math" panose="02040503050406030204" pitchFamily="18" charset="0"/>
                      </a:rPr>
                      <m:t>p</m:t>
                    </m:r>
                    <m:r>
                      <a:rPr lang="en-US" altLang="zh-CN">
                        <a:solidFill>
                          <a:srgbClr val="0000FF"/>
                        </a:solidFill>
                        <a:latin typeface="Cambria Math" panose="02040503050406030204" pitchFamily="18" charset="0"/>
                      </a:rPr>
                      <m:t>+</m:t>
                    </m:r>
                    <m:r>
                      <m:rPr>
                        <m:sty m:val="p"/>
                      </m:rPr>
                      <a:rPr lang="en-US" altLang="zh-CN">
                        <a:solidFill>
                          <a:srgbClr val="0000FF"/>
                        </a:solidFill>
                        <a:latin typeface="Cambria Math" panose="02040503050406030204" pitchFamily="18" charset="0"/>
                      </a:rPr>
                      <m:t>h</m:t>
                    </m:r>
                    <m:r>
                      <a:rPr lang="en-US" altLang="zh-CN">
                        <a:solidFill>
                          <a:srgbClr val="0000FF"/>
                        </a:solidFill>
                        <a:latin typeface="Cambria Math" panose="02040503050406030204" pitchFamily="18" charset="0"/>
                      </a:rPr>
                      <m:t>)</m:t>
                    </m:r>
                    <m:r>
                      <a:rPr lang="en-US" altLang="zh-CN" i="1">
                        <a:solidFill>
                          <a:srgbClr val="0000FF"/>
                        </a:solidFill>
                        <a:latin typeface="Cambria Math" panose="02040503050406030204" pitchFamily="18" charset="0"/>
                      </a:rPr>
                      <m:t>𝑥</m:t>
                    </m:r>
                    <m:r>
                      <a:rPr lang="en-US" altLang="zh-CN" i="1">
                        <a:solidFill>
                          <a:srgbClr val="0000FF"/>
                        </a:solidFill>
                        <a:latin typeface="Cambria Math" panose="02040503050406030204" pitchFamily="18" charset="0"/>
                      </a:rPr>
                      <m:t>/</m:t>
                    </m:r>
                    <m:r>
                      <a:rPr lang="en-US" altLang="zh-CN" i="1">
                        <a:solidFill>
                          <a:srgbClr val="0000FF"/>
                        </a:solidFill>
                        <a:latin typeface="Cambria Math" panose="02040503050406030204" pitchFamily="18" charset="0"/>
                      </a:rPr>
                      <m:t>𝑝𝑏</m:t>
                    </m:r>
                  </m:oMath>
                </a14:m>
                <a:r>
                  <a:rPr lang="en-US" altLang="zh-CN" dirty="0">
                    <a:solidFill>
                      <a:srgbClr val="0000FF"/>
                    </a:solidFill>
                  </a:rPr>
                  <a:t> sec to transmit these bits. </a:t>
                </a:r>
              </a:p>
              <a:p>
                <a:pPr marL="342900" indent="-342900">
                  <a:buFont typeface="Arial" panose="020B0604020202020204" pitchFamily="34" charset="0"/>
                  <a:buChar char="•"/>
                </a:pPr>
                <a:r>
                  <a:rPr lang="en-US" altLang="zh-CN" dirty="0">
                    <a:solidFill>
                      <a:srgbClr val="0000FF"/>
                    </a:solidFill>
                  </a:rPr>
                  <a:t>The retransmissions of the last packet by the intermediate routers take up a total of </a:t>
                </a:r>
                <a14:m>
                  <m:oMath xmlns:m="http://schemas.openxmlformats.org/officeDocument/2006/math">
                    <m:r>
                      <a:rPr lang="en-US" altLang="zh-CN" b="0" i="0" smtClean="0">
                        <a:solidFill>
                          <a:srgbClr val="0000FF"/>
                        </a:solidFill>
                        <a:latin typeface="Cambria Math" panose="02040503050406030204" pitchFamily="18" charset="0"/>
                      </a:rPr>
                      <m:t>(</m:t>
                    </m:r>
                    <m:r>
                      <m:rPr>
                        <m:sty m:val="p"/>
                      </m:rPr>
                      <a:rPr lang="en-US" altLang="zh-CN" b="0" i="0" smtClean="0">
                        <a:solidFill>
                          <a:srgbClr val="0000FF"/>
                        </a:solidFill>
                        <a:latin typeface="Cambria Math" panose="02040503050406030204" pitchFamily="18" charset="0"/>
                      </a:rPr>
                      <m:t>k</m:t>
                    </m:r>
                    <m:r>
                      <a:rPr lang="en-US" altLang="zh-CN" b="0" i="0" smtClean="0">
                        <a:solidFill>
                          <a:srgbClr val="0000FF"/>
                        </a:solidFill>
                        <a:latin typeface="Cambria Math" panose="02040503050406030204" pitchFamily="18" charset="0"/>
                      </a:rPr>
                      <m:t>−1)(</m:t>
                    </m:r>
                    <m:r>
                      <m:rPr>
                        <m:sty m:val="p"/>
                      </m:rPr>
                      <a:rPr lang="en-US" altLang="zh-CN">
                        <a:solidFill>
                          <a:srgbClr val="0000FF"/>
                        </a:solidFill>
                        <a:latin typeface="Cambria Math" panose="02040503050406030204" pitchFamily="18" charset="0"/>
                      </a:rPr>
                      <m:t>p</m:t>
                    </m:r>
                    <m:r>
                      <a:rPr lang="en-US" altLang="zh-CN">
                        <a:solidFill>
                          <a:srgbClr val="0000FF"/>
                        </a:solidFill>
                        <a:latin typeface="Cambria Math" panose="02040503050406030204" pitchFamily="18" charset="0"/>
                      </a:rPr>
                      <m:t>+</m:t>
                    </m:r>
                    <m:r>
                      <m:rPr>
                        <m:sty m:val="p"/>
                      </m:rPr>
                      <a:rPr lang="en-US" altLang="zh-CN">
                        <a:solidFill>
                          <a:srgbClr val="0000FF"/>
                        </a:solidFill>
                        <a:latin typeface="Cambria Math" panose="02040503050406030204" pitchFamily="18" charset="0"/>
                      </a:rPr>
                      <m:t>h</m:t>
                    </m:r>
                    <m:r>
                      <a:rPr lang="en-US" altLang="zh-CN">
                        <a:solidFill>
                          <a:srgbClr val="0000FF"/>
                        </a:solidFill>
                        <a:latin typeface="Cambria Math" panose="02040503050406030204" pitchFamily="18" charset="0"/>
                      </a:rPr>
                      <m:t>)</m:t>
                    </m:r>
                    <m:r>
                      <a:rPr lang="en-US" altLang="zh-CN" i="1">
                        <a:solidFill>
                          <a:srgbClr val="0000FF"/>
                        </a:solidFill>
                        <a:latin typeface="Cambria Math" panose="02040503050406030204" pitchFamily="18" charset="0"/>
                      </a:rPr>
                      <m:t>/</m:t>
                    </m:r>
                    <m:r>
                      <a:rPr lang="en-US" altLang="zh-CN" b="0" i="1" smtClean="0">
                        <a:solidFill>
                          <a:srgbClr val="0000FF"/>
                        </a:solidFill>
                        <a:latin typeface="Cambria Math" panose="02040503050406030204" pitchFamily="18" charset="0"/>
                      </a:rPr>
                      <m:t>𝑏</m:t>
                    </m:r>
                    <m:r>
                      <a:rPr lang="en-US" altLang="zh-CN" i="1">
                        <a:solidFill>
                          <a:srgbClr val="0000FF"/>
                        </a:solidFill>
                        <a:latin typeface="Cambria Math" panose="02040503050406030204" pitchFamily="18" charset="0"/>
                      </a:rPr>
                      <m:t> </m:t>
                    </m:r>
                  </m:oMath>
                </a14:m>
                <a:r>
                  <a:rPr lang="en-US" altLang="zh-CN" dirty="0">
                    <a:solidFill>
                      <a:srgbClr val="0000FF"/>
                    </a:solidFill>
                  </a:rPr>
                  <a:t>sec. </a:t>
                </a:r>
              </a:p>
              <a:p>
                <a:pPr marL="342900" indent="-342900">
                  <a:buFont typeface="Arial" panose="020B0604020202020204" pitchFamily="34" charset="0"/>
                  <a:buChar char="•"/>
                </a:pPr>
                <a:r>
                  <a:rPr lang="en-US" altLang="zh-CN" dirty="0">
                    <a:solidFill>
                      <a:srgbClr val="0000FF"/>
                    </a:solidFill>
                  </a:rPr>
                  <a:t>Adding up the time for the source to send all the bits, plus the time for the routers to carry the last packet to the destination, thus clearing the pipeline, we get a total time of </a:t>
                </a:r>
                <a14:m>
                  <m:oMath xmlns:m="http://schemas.openxmlformats.org/officeDocument/2006/math">
                    <m:d>
                      <m:dPr>
                        <m:ctrlPr>
                          <a:rPr lang="en-US" altLang="zh-CN" b="0" i="1" smtClean="0">
                            <a:solidFill>
                              <a:srgbClr val="0000FF"/>
                            </a:solidFill>
                            <a:latin typeface="Cambria Math" panose="02040503050406030204" pitchFamily="18" charset="0"/>
                          </a:rPr>
                        </m:ctrlPr>
                      </m:dPr>
                      <m:e>
                        <m:r>
                          <a:rPr lang="en-US" altLang="zh-CN" b="0" i="1" smtClean="0">
                            <a:solidFill>
                              <a:srgbClr val="0000FF"/>
                            </a:solidFill>
                            <a:latin typeface="Cambria Math" panose="02040503050406030204" pitchFamily="18" charset="0"/>
                          </a:rPr>
                          <m:t>𝑝</m:t>
                        </m:r>
                        <m:r>
                          <a:rPr lang="en-US" altLang="zh-CN" b="0" i="1" smtClean="0">
                            <a:solidFill>
                              <a:srgbClr val="0000FF"/>
                            </a:solidFill>
                            <a:latin typeface="Cambria Math" panose="02040503050406030204" pitchFamily="18" charset="0"/>
                          </a:rPr>
                          <m:t>+</m:t>
                        </m:r>
                        <m:r>
                          <a:rPr lang="en-US" altLang="zh-CN" b="0" i="1" smtClean="0">
                            <a:solidFill>
                              <a:srgbClr val="0000FF"/>
                            </a:solidFill>
                            <a:latin typeface="Cambria Math" panose="02040503050406030204" pitchFamily="18" charset="0"/>
                          </a:rPr>
                          <m:t>h</m:t>
                        </m:r>
                      </m:e>
                    </m:d>
                    <m:r>
                      <a:rPr lang="en-US" altLang="zh-CN" b="0" i="1" smtClean="0">
                        <a:solidFill>
                          <a:srgbClr val="0000FF"/>
                        </a:solidFill>
                        <a:latin typeface="Cambria Math" panose="02040503050406030204" pitchFamily="18" charset="0"/>
                      </a:rPr>
                      <m:t>𝑥</m:t>
                    </m:r>
                    <m:r>
                      <a:rPr lang="en-US" altLang="zh-CN" b="0" i="1" smtClean="0">
                        <a:solidFill>
                          <a:srgbClr val="0000FF"/>
                        </a:solidFill>
                        <a:latin typeface="Cambria Math" panose="02040503050406030204" pitchFamily="18" charset="0"/>
                      </a:rPr>
                      <m:t>/</m:t>
                    </m:r>
                    <m:r>
                      <a:rPr lang="en-US" altLang="zh-CN" b="0" i="1" smtClean="0">
                        <a:solidFill>
                          <a:srgbClr val="0000FF"/>
                        </a:solidFill>
                        <a:latin typeface="Cambria Math" panose="02040503050406030204" pitchFamily="18" charset="0"/>
                      </a:rPr>
                      <m:t>𝑝𝑏</m:t>
                    </m:r>
                    <m:r>
                      <a:rPr lang="en-US" altLang="zh-CN" b="0" i="1" smtClean="0">
                        <a:solidFill>
                          <a:srgbClr val="0000FF"/>
                        </a:solidFill>
                        <a:latin typeface="Cambria Math" panose="02040503050406030204" pitchFamily="18" charset="0"/>
                      </a:rPr>
                      <m:t>+(</m:t>
                    </m:r>
                    <m:r>
                      <a:rPr lang="en-US" altLang="zh-CN" b="0" i="1" smtClean="0">
                        <a:solidFill>
                          <a:srgbClr val="0000FF"/>
                        </a:solidFill>
                        <a:latin typeface="Cambria Math" panose="02040503050406030204" pitchFamily="18" charset="0"/>
                      </a:rPr>
                      <m:t>𝑝</m:t>
                    </m:r>
                    <m:r>
                      <a:rPr lang="en-US" altLang="zh-CN" b="0" i="1" smtClean="0">
                        <a:solidFill>
                          <a:srgbClr val="0000FF"/>
                        </a:solidFill>
                        <a:latin typeface="Cambria Math" panose="02040503050406030204" pitchFamily="18" charset="0"/>
                      </a:rPr>
                      <m:t>+</m:t>
                    </m:r>
                    <m:r>
                      <a:rPr lang="en-US" altLang="zh-CN" b="0" i="1" smtClean="0">
                        <a:solidFill>
                          <a:srgbClr val="0000FF"/>
                        </a:solidFill>
                        <a:latin typeface="Cambria Math" panose="02040503050406030204" pitchFamily="18" charset="0"/>
                      </a:rPr>
                      <m:t>h</m:t>
                    </m:r>
                    <m:r>
                      <a:rPr lang="en-US" altLang="zh-CN" b="0" i="1" smtClean="0">
                        <a:solidFill>
                          <a:srgbClr val="0000FF"/>
                        </a:solidFill>
                        <a:latin typeface="Cambria Math" panose="02040503050406030204" pitchFamily="18" charset="0"/>
                      </a:rPr>
                      <m:t>)(</m:t>
                    </m:r>
                    <m:r>
                      <a:rPr lang="en-US" altLang="zh-CN" b="0" i="1" smtClean="0">
                        <a:solidFill>
                          <a:srgbClr val="0000FF"/>
                        </a:solidFill>
                        <a:latin typeface="Cambria Math" panose="02040503050406030204" pitchFamily="18" charset="0"/>
                      </a:rPr>
                      <m:t>𝑘</m:t>
                    </m:r>
                    <m:r>
                      <a:rPr lang="en-US" altLang="zh-CN" b="0" i="1" smtClean="0">
                        <a:solidFill>
                          <a:srgbClr val="0000FF"/>
                        </a:solidFill>
                        <a:latin typeface="Cambria Math" panose="02040503050406030204" pitchFamily="18" charset="0"/>
                      </a:rPr>
                      <m:t>−1)/</m:t>
                    </m:r>
                    <m:r>
                      <a:rPr lang="en-US" altLang="zh-CN" b="0" i="1" smtClean="0">
                        <a:solidFill>
                          <a:srgbClr val="0000FF"/>
                        </a:solidFill>
                        <a:latin typeface="Cambria Math" panose="02040503050406030204" pitchFamily="18" charset="0"/>
                      </a:rPr>
                      <m:t>𝑏</m:t>
                    </m:r>
                    <m:r>
                      <a:rPr lang="en-US" altLang="zh-CN" i="1">
                        <a:solidFill>
                          <a:srgbClr val="0000FF"/>
                        </a:solidFill>
                        <a:latin typeface="Cambria Math" panose="02040503050406030204" pitchFamily="18" charset="0"/>
                      </a:rPr>
                      <m:t> </m:t>
                    </m:r>
                  </m:oMath>
                </a14:m>
                <a:r>
                  <a:rPr lang="en-US" altLang="zh-CN" dirty="0">
                    <a:solidFill>
                      <a:srgbClr val="0000FF"/>
                    </a:solidFill>
                  </a:rPr>
                  <a:t>sec. </a:t>
                </a:r>
              </a:p>
              <a:p>
                <a:pPr marL="342900" indent="-342900">
                  <a:buFont typeface="Arial" panose="020B0604020202020204" pitchFamily="34" charset="0"/>
                  <a:buChar char="•"/>
                </a:pPr>
                <a:r>
                  <a:rPr lang="en-US" altLang="zh-CN" dirty="0">
                    <a:solidFill>
                      <a:srgbClr val="0000FF"/>
                    </a:solidFill>
                  </a:rPr>
                  <a:t>Minimizing this quantity with respect to p, we find </a:t>
                </a:r>
                <a14:m>
                  <m:oMath xmlns:m="http://schemas.openxmlformats.org/officeDocument/2006/math">
                    <m:r>
                      <m:rPr>
                        <m:sty m:val="p"/>
                      </m:rPr>
                      <a:rPr lang="en-US" altLang="zh-CN" b="0" i="0" smtClean="0">
                        <a:solidFill>
                          <a:srgbClr val="0000FF"/>
                        </a:solidFill>
                        <a:latin typeface="Cambria Math" panose="02040503050406030204" pitchFamily="18" charset="0"/>
                      </a:rPr>
                      <m:t>p</m:t>
                    </m:r>
                    <m:r>
                      <a:rPr lang="en-US" altLang="zh-CN" b="0" i="0" smtClean="0">
                        <a:solidFill>
                          <a:srgbClr val="0000FF"/>
                        </a:solidFill>
                        <a:latin typeface="Cambria Math" panose="02040503050406030204" pitchFamily="18" charset="0"/>
                      </a:rPr>
                      <m:t>=</m:t>
                    </m:r>
                    <m:rad>
                      <m:radPr>
                        <m:degHide m:val="on"/>
                        <m:ctrlPr>
                          <a:rPr lang="en-US" altLang="zh-CN" i="1" smtClean="0">
                            <a:solidFill>
                              <a:srgbClr val="0000FF"/>
                            </a:solidFill>
                            <a:latin typeface="Cambria Math" panose="02040503050406030204" pitchFamily="18" charset="0"/>
                          </a:rPr>
                        </m:ctrlPr>
                      </m:radPr>
                      <m:deg/>
                      <m:e>
                        <m:r>
                          <a:rPr lang="en-US" altLang="zh-CN" b="0" i="1" smtClean="0">
                            <a:solidFill>
                              <a:srgbClr val="0000FF"/>
                            </a:solidFill>
                            <a:latin typeface="Cambria Math" panose="02040503050406030204" pitchFamily="18" charset="0"/>
                          </a:rPr>
                          <m:t>h𝑥</m:t>
                        </m:r>
                        <m:r>
                          <a:rPr lang="en-US" altLang="zh-CN" b="0" i="1" smtClean="0">
                            <a:solidFill>
                              <a:srgbClr val="0000FF"/>
                            </a:solidFill>
                            <a:latin typeface="Cambria Math" panose="02040503050406030204" pitchFamily="18" charset="0"/>
                          </a:rPr>
                          <m:t>/(</m:t>
                        </m:r>
                        <m:r>
                          <a:rPr lang="en-US" altLang="zh-CN" b="0" i="1" smtClean="0">
                            <a:solidFill>
                              <a:srgbClr val="0000FF"/>
                            </a:solidFill>
                            <a:latin typeface="Cambria Math" panose="02040503050406030204" pitchFamily="18" charset="0"/>
                          </a:rPr>
                          <m:t>𝑘</m:t>
                        </m:r>
                        <m:r>
                          <a:rPr lang="en-US" altLang="zh-CN" b="0" i="1" smtClean="0">
                            <a:solidFill>
                              <a:srgbClr val="0000FF"/>
                            </a:solidFill>
                            <a:latin typeface="Cambria Math" panose="02040503050406030204" pitchFamily="18" charset="0"/>
                          </a:rPr>
                          <m:t>−1)</m:t>
                        </m:r>
                      </m:e>
                    </m:rad>
                  </m:oMath>
                </a14:m>
                <a:endParaRPr lang="zh-CN" altLang="zh-CN" dirty="0"/>
              </a:p>
            </p:txBody>
          </p:sp>
        </mc:Choice>
        <mc:Fallback xmlns="">
          <p:sp>
            <p:nvSpPr>
              <p:cNvPr id="3" name="副标题 2">
                <a:extLst>
                  <a:ext uri="{FF2B5EF4-FFF2-40B4-BE49-F238E27FC236}">
                    <a16:creationId xmlns:a16="http://schemas.microsoft.com/office/drawing/2014/main" id="{08ACBE0C-7D7D-44D8-83A2-14D1856901BD}"/>
                  </a:ext>
                </a:extLst>
              </p:cNvPr>
              <p:cNvSpPr>
                <a:spLocks noGrp="1" noRot="1" noChangeAspect="1" noMove="1" noResize="1" noEditPoints="1" noAdjustHandles="1" noChangeArrowheads="1" noChangeShapeType="1" noTextEdit="1"/>
              </p:cNvSpPr>
              <p:nvPr>
                <p:ph idx="1"/>
              </p:nvPr>
            </p:nvSpPr>
            <p:spPr>
              <a:blipFill>
                <a:blip r:embed="rId3"/>
                <a:stretch>
                  <a:fillRect l="-928" t="-2161" r="-75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72969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849261-EB36-1DB9-C63E-453AFCCC3CE5}"/>
              </a:ext>
            </a:extLst>
          </p:cNvPr>
          <p:cNvSpPr>
            <a:spLocks noGrp="1"/>
          </p:cNvSpPr>
          <p:nvPr>
            <p:ph type="title"/>
          </p:nvPr>
        </p:nvSpPr>
        <p:spPr/>
        <p:txBody>
          <a:bodyPr>
            <a:normAutofit fontScale="90000"/>
          </a:bodyPr>
          <a:lstStyle/>
          <a:p>
            <a:endParaRPr lang="zh-CN" altLang="en-US"/>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57A9B2D2-6EE0-BD9C-BFF1-0740705265F3}"/>
                  </a:ext>
                </a:extLst>
              </p:cNvPr>
              <p:cNvSpPr>
                <a:spLocks noGrp="1"/>
              </p:cNvSpPr>
              <p:nvPr>
                <p:ph idx="1"/>
              </p:nvPr>
            </p:nvSpPr>
            <p:spPr/>
            <p:txBody>
              <a:bodyPr/>
              <a:lstStyle/>
              <a:p>
                <a:r>
                  <a:rPr lang="en-US" altLang="zh-CN" dirty="0"/>
                  <a:t> </a:t>
                </a:r>
                <a14:m>
                  <m:oMath xmlns:m="http://schemas.openxmlformats.org/officeDocument/2006/math">
                    <m:f>
                      <m:fPr>
                        <m:ctrlPr>
                          <a:rPr lang="en-US" altLang="zh-CN" b="0" i="1" smtClean="0">
                            <a:solidFill>
                              <a:srgbClr val="0000FF"/>
                            </a:solidFill>
                            <a:latin typeface="Cambria Math" panose="02040503050406030204" pitchFamily="18" charset="0"/>
                          </a:rPr>
                        </m:ctrlPr>
                      </m:fPr>
                      <m:num>
                        <m:d>
                          <m:dPr>
                            <m:ctrlPr>
                              <a:rPr lang="en-US" altLang="zh-CN" b="0" i="1" smtClean="0">
                                <a:solidFill>
                                  <a:srgbClr val="0000FF"/>
                                </a:solidFill>
                                <a:latin typeface="Cambria Math" panose="02040503050406030204" pitchFamily="18" charset="0"/>
                              </a:rPr>
                            </m:ctrlPr>
                          </m:dPr>
                          <m:e>
                            <m:r>
                              <a:rPr lang="en-US" altLang="zh-CN" b="0" i="1" smtClean="0">
                                <a:solidFill>
                                  <a:srgbClr val="0000FF"/>
                                </a:solidFill>
                                <a:latin typeface="Cambria Math" panose="02040503050406030204" pitchFamily="18" charset="0"/>
                              </a:rPr>
                              <m:t>𝑝</m:t>
                            </m:r>
                            <m:r>
                              <a:rPr lang="en-US" altLang="zh-CN" b="0" i="1" smtClean="0">
                                <a:solidFill>
                                  <a:srgbClr val="0000FF"/>
                                </a:solidFill>
                                <a:latin typeface="Cambria Math" panose="02040503050406030204" pitchFamily="18" charset="0"/>
                              </a:rPr>
                              <m:t>+</m:t>
                            </m:r>
                            <m:r>
                              <a:rPr lang="en-US" altLang="zh-CN" b="0" i="1" smtClean="0">
                                <a:solidFill>
                                  <a:srgbClr val="0000FF"/>
                                </a:solidFill>
                                <a:latin typeface="Cambria Math" panose="02040503050406030204" pitchFamily="18" charset="0"/>
                              </a:rPr>
                              <m:t>h</m:t>
                            </m:r>
                          </m:e>
                        </m:d>
                        <m:r>
                          <a:rPr lang="en-US" altLang="zh-CN" b="0" i="1" smtClean="0">
                            <a:solidFill>
                              <a:srgbClr val="0000FF"/>
                            </a:solidFill>
                            <a:latin typeface="Cambria Math" panose="02040503050406030204" pitchFamily="18" charset="0"/>
                          </a:rPr>
                          <m:t>𝑥</m:t>
                        </m:r>
                      </m:num>
                      <m:den>
                        <m:r>
                          <a:rPr lang="en-US" altLang="zh-CN" b="0" i="1" smtClean="0">
                            <a:solidFill>
                              <a:srgbClr val="0000FF"/>
                            </a:solidFill>
                            <a:latin typeface="Cambria Math" panose="02040503050406030204" pitchFamily="18" charset="0"/>
                          </a:rPr>
                          <m:t>𝑝𝑏</m:t>
                        </m:r>
                      </m:den>
                    </m:f>
                    <m:r>
                      <a:rPr lang="en-US" altLang="zh-CN" b="0" i="1" smtClean="0">
                        <a:solidFill>
                          <a:srgbClr val="0000FF"/>
                        </a:solidFill>
                        <a:latin typeface="Cambria Math" panose="02040503050406030204" pitchFamily="18" charset="0"/>
                      </a:rPr>
                      <m:t>+</m:t>
                    </m:r>
                    <m:f>
                      <m:fPr>
                        <m:ctrlPr>
                          <a:rPr lang="en-US" altLang="zh-CN" b="0" i="1" smtClean="0">
                            <a:solidFill>
                              <a:srgbClr val="0000FF"/>
                            </a:solidFill>
                            <a:latin typeface="Cambria Math" panose="02040503050406030204" pitchFamily="18" charset="0"/>
                          </a:rPr>
                        </m:ctrlPr>
                      </m:fPr>
                      <m:num>
                        <m:d>
                          <m:dPr>
                            <m:ctrlPr>
                              <a:rPr lang="en-US" altLang="zh-CN" b="0" i="1" smtClean="0">
                                <a:solidFill>
                                  <a:srgbClr val="0000FF"/>
                                </a:solidFill>
                                <a:latin typeface="Cambria Math" panose="02040503050406030204" pitchFamily="18" charset="0"/>
                              </a:rPr>
                            </m:ctrlPr>
                          </m:dPr>
                          <m:e>
                            <m:r>
                              <a:rPr lang="en-US" altLang="zh-CN" b="0" i="1" smtClean="0">
                                <a:solidFill>
                                  <a:srgbClr val="0000FF"/>
                                </a:solidFill>
                                <a:latin typeface="Cambria Math" panose="02040503050406030204" pitchFamily="18" charset="0"/>
                              </a:rPr>
                              <m:t>𝑝</m:t>
                            </m:r>
                            <m:r>
                              <a:rPr lang="en-US" altLang="zh-CN" b="0" i="1" smtClean="0">
                                <a:solidFill>
                                  <a:srgbClr val="0000FF"/>
                                </a:solidFill>
                                <a:latin typeface="Cambria Math" panose="02040503050406030204" pitchFamily="18" charset="0"/>
                              </a:rPr>
                              <m:t>+</m:t>
                            </m:r>
                            <m:r>
                              <a:rPr lang="en-US" altLang="zh-CN" b="0" i="1" smtClean="0">
                                <a:solidFill>
                                  <a:srgbClr val="0000FF"/>
                                </a:solidFill>
                                <a:latin typeface="Cambria Math" panose="02040503050406030204" pitchFamily="18" charset="0"/>
                              </a:rPr>
                              <m:t>h</m:t>
                            </m:r>
                          </m:e>
                        </m:d>
                        <m:d>
                          <m:dPr>
                            <m:ctrlPr>
                              <a:rPr lang="en-US" altLang="zh-CN" b="0" i="1" smtClean="0">
                                <a:solidFill>
                                  <a:srgbClr val="0000FF"/>
                                </a:solidFill>
                                <a:latin typeface="Cambria Math" panose="02040503050406030204" pitchFamily="18" charset="0"/>
                              </a:rPr>
                            </m:ctrlPr>
                          </m:dPr>
                          <m:e>
                            <m:r>
                              <a:rPr lang="en-US" altLang="zh-CN" b="0" i="1" smtClean="0">
                                <a:solidFill>
                                  <a:srgbClr val="0000FF"/>
                                </a:solidFill>
                                <a:latin typeface="Cambria Math" panose="02040503050406030204" pitchFamily="18" charset="0"/>
                              </a:rPr>
                              <m:t>𝑘</m:t>
                            </m:r>
                            <m:r>
                              <a:rPr lang="en-US" altLang="zh-CN" b="0" i="1" smtClean="0">
                                <a:solidFill>
                                  <a:srgbClr val="0000FF"/>
                                </a:solidFill>
                                <a:latin typeface="Cambria Math" panose="02040503050406030204" pitchFamily="18" charset="0"/>
                              </a:rPr>
                              <m:t>−1</m:t>
                            </m:r>
                          </m:e>
                        </m:d>
                      </m:num>
                      <m:den>
                        <m:r>
                          <a:rPr lang="en-US" altLang="zh-CN" b="0" i="1" smtClean="0">
                            <a:solidFill>
                              <a:srgbClr val="0000FF"/>
                            </a:solidFill>
                            <a:latin typeface="Cambria Math" panose="02040503050406030204" pitchFamily="18" charset="0"/>
                          </a:rPr>
                          <m:t>𝑏</m:t>
                        </m:r>
                      </m:den>
                    </m:f>
                    <m:r>
                      <a:rPr lang="en-US" altLang="zh-CN" b="0" i="1" smtClean="0">
                        <a:solidFill>
                          <a:srgbClr val="0000FF"/>
                        </a:solidFill>
                        <a:latin typeface="Cambria Math" panose="02040503050406030204" pitchFamily="18" charset="0"/>
                      </a:rPr>
                      <m:t>=</m:t>
                    </m:r>
                    <m:f>
                      <m:fPr>
                        <m:ctrlPr>
                          <a:rPr lang="en-US" altLang="zh-CN" i="1">
                            <a:solidFill>
                              <a:srgbClr val="0000FF"/>
                            </a:solidFill>
                            <a:latin typeface="Cambria Math" panose="02040503050406030204" pitchFamily="18" charset="0"/>
                          </a:rPr>
                        </m:ctrlPr>
                      </m:fPr>
                      <m:num>
                        <m:d>
                          <m:dPr>
                            <m:ctrlPr>
                              <a:rPr lang="en-US" altLang="zh-CN" i="1">
                                <a:solidFill>
                                  <a:srgbClr val="0000FF"/>
                                </a:solidFill>
                                <a:latin typeface="Cambria Math" panose="02040503050406030204" pitchFamily="18" charset="0"/>
                              </a:rPr>
                            </m:ctrlPr>
                          </m:dPr>
                          <m:e>
                            <m:r>
                              <a:rPr lang="en-US" altLang="zh-CN" i="1">
                                <a:solidFill>
                                  <a:srgbClr val="0000FF"/>
                                </a:solidFill>
                                <a:latin typeface="Cambria Math" panose="02040503050406030204" pitchFamily="18" charset="0"/>
                              </a:rPr>
                              <m:t>𝑝</m:t>
                            </m:r>
                            <m:r>
                              <a:rPr lang="en-US" altLang="zh-CN" i="1">
                                <a:solidFill>
                                  <a:srgbClr val="0000FF"/>
                                </a:solidFill>
                                <a:latin typeface="Cambria Math" panose="02040503050406030204" pitchFamily="18" charset="0"/>
                              </a:rPr>
                              <m:t>+</m:t>
                            </m:r>
                            <m:r>
                              <a:rPr lang="en-US" altLang="zh-CN" i="1">
                                <a:solidFill>
                                  <a:srgbClr val="0000FF"/>
                                </a:solidFill>
                                <a:latin typeface="Cambria Math" panose="02040503050406030204" pitchFamily="18" charset="0"/>
                              </a:rPr>
                              <m:t>h</m:t>
                            </m:r>
                          </m:e>
                        </m:d>
                        <m:r>
                          <a:rPr lang="en-US" altLang="zh-CN" i="1">
                            <a:solidFill>
                              <a:srgbClr val="0000FF"/>
                            </a:solidFill>
                            <a:latin typeface="Cambria Math" panose="02040503050406030204" pitchFamily="18" charset="0"/>
                          </a:rPr>
                          <m:t>𝑥</m:t>
                        </m:r>
                      </m:num>
                      <m:den>
                        <m:r>
                          <a:rPr lang="en-US" altLang="zh-CN" i="1">
                            <a:solidFill>
                              <a:srgbClr val="0000FF"/>
                            </a:solidFill>
                            <a:latin typeface="Cambria Math" panose="02040503050406030204" pitchFamily="18" charset="0"/>
                          </a:rPr>
                          <m:t>𝑝𝑏</m:t>
                        </m:r>
                      </m:den>
                    </m:f>
                    <m:r>
                      <a:rPr lang="en-US" altLang="zh-CN" i="1">
                        <a:solidFill>
                          <a:srgbClr val="0000FF"/>
                        </a:solidFill>
                        <a:latin typeface="Cambria Math" panose="02040503050406030204" pitchFamily="18" charset="0"/>
                      </a:rPr>
                      <m:t>+</m:t>
                    </m:r>
                    <m:f>
                      <m:fPr>
                        <m:ctrlPr>
                          <a:rPr lang="en-US" altLang="zh-CN" i="1">
                            <a:solidFill>
                              <a:srgbClr val="0000FF"/>
                            </a:solidFill>
                            <a:latin typeface="Cambria Math" panose="02040503050406030204" pitchFamily="18" charset="0"/>
                          </a:rPr>
                        </m:ctrlPr>
                      </m:fPr>
                      <m:num>
                        <m:r>
                          <a:rPr lang="en-US" altLang="zh-CN" b="0" i="1" smtClean="0">
                            <a:solidFill>
                              <a:srgbClr val="0000FF"/>
                            </a:solidFill>
                            <a:latin typeface="Cambria Math" panose="02040503050406030204" pitchFamily="18" charset="0"/>
                          </a:rPr>
                          <m:t>𝑝</m:t>
                        </m:r>
                        <m:d>
                          <m:dPr>
                            <m:ctrlPr>
                              <a:rPr lang="en-US" altLang="zh-CN" i="1">
                                <a:solidFill>
                                  <a:srgbClr val="0000FF"/>
                                </a:solidFill>
                                <a:latin typeface="Cambria Math" panose="02040503050406030204" pitchFamily="18" charset="0"/>
                              </a:rPr>
                            </m:ctrlPr>
                          </m:dPr>
                          <m:e>
                            <m:r>
                              <a:rPr lang="en-US" altLang="zh-CN" i="1">
                                <a:solidFill>
                                  <a:srgbClr val="0000FF"/>
                                </a:solidFill>
                                <a:latin typeface="Cambria Math" panose="02040503050406030204" pitchFamily="18" charset="0"/>
                              </a:rPr>
                              <m:t>𝑘</m:t>
                            </m:r>
                            <m:r>
                              <a:rPr lang="en-US" altLang="zh-CN" i="1">
                                <a:solidFill>
                                  <a:srgbClr val="0000FF"/>
                                </a:solidFill>
                                <a:latin typeface="Cambria Math" panose="02040503050406030204" pitchFamily="18" charset="0"/>
                              </a:rPr>
                              <m:t>−1</m:t>
                            </m:r>
                          </m:e>
                        </m:d>
                      </m:num>
                      <m:den>
                        <m:r>
                          <a:rPr lang="en-US" altLang="zh-CN" i="1">
                            <a:solidFill>
                              <a:srgbClr val="0000FF"/>
                            </a:solidFill>
                            <a:latin typeface="Cambria Math" panose="02040503050406030204" pitchFamily="18" charset="0"/>
                          </a:rPr>
                          <m:t>𝑏</m:t>
                        </m:r>
                      </m:den>
                    </m:f>
                    <m:r>
                      <a:rPr lang="en-US" altLang="zh-CN" b="0" i="1" smtClean="0">
                        <a:solidFill>
                          <a:srgbClr val="0000FF"/>
                        </a:solidFill>
                        <a:latin typeface="Cambria Math" panose="02040503050406030204" pitchFamily="18" charset="0"/>
                      </a:rPr>
                      <m:t>+</m:t>
                    </m:r>
                    <m:f>
                      <m:fPr>
                        <m:ctrlPr>
                          <a:rPr lang="en-US" altLang="zh-CN" i="1">
                            <a:solidFill>
                              <a:srgbClr val="0000FF"/>
                            </a:solidFill>
                            <a:latin typeface="Cambria Math" panose="02040503050406030204" pitchFamily="18" charset="0"/>
                          </a:rPr>
                        </m:ctrlPr>
                      </m:fPr>
                      <m:num>
                        <m:r>
                          <a:rPr lang="en-US" altLang="zh-CN" b="0" i="1" smtClean="0">
                            <a:solidFill>
                              <a:srgbClr val="0000FF"/>
                            </a:solidFill>
                            <a:latin typeface="Cambria Math" panose="02040503050406030204" pitchFamily="18" charset="0"/>
                          </a:rPr>
                          <m:t>h</m:t>
                        </m:r>
                        <m:d>
                          <m:dPr>
                            <m:ctrlPr>
                              <a:rPr lang="en-US" altLang="zh-CN" i="1">
                                <a:solidFill>
                                  <a:srgbClr val="0000FF"/>
                                </a:solidFill>
                                <a:latin typeface="Cambria Math" panose="02040503050406030204" pitchFamily="18" charset="0"/>
                              </a:rPr>
                            </m:ctrlPr>
                          </m:dPr>
                          <m:e>
                            <m:r>
                              <a:rPr lang="en-US" altLang="zh-CN" i="1">
                                <a:solidFill>
                                  <a:srgbClr val="0000FF"/>
                                </a:solidFill>
                                <a:latin typeface="Cambria Math" panose="02040503050406030204" pitchFamily="18" charset="0"/>
                              </a:rPr>
                              <m:t>𝑘</m:t>
                            </m:r>
                            <m:r>
                              <a:rPr lang="en-US" altLang="zh-CN" i="1">
                                <a:solidFill>
                                  <a:srgbClr val="0000FF"/>
                                </a:solidFill>
                                <a:latin typeface="Cambria Math" panose="02040503050406030204" pitchFamily="18" charset="0"/>
                              </a:rPr>
                              <m:t>−1</m:t>
                            </m:r>
                          </m:e>
                        </m:d>
                      </m:num>
                      <m:den>
                        <m:r>
                          <a:rPr lang="en-US" altLang="zh-CN" i="1">
                            <a:solidFill>
                              <a:srgbClr val="0000FF"/>
                            </a:solidFill>
                            <a:latin typeface="Cambria Math" panose="02040503050406030204" pitchFamily="18" charset="0"/>
                          </a:rPr>
                          <m:t>𝑏</m:t>
                        </m:r>
                      </m:den>
                    </m:f>
                  </m:oMath>
                </a14:m>
                <a:endParaRPr lang="en-US" altLang="zh-CN" dirty="0">
                  <a:solidFill>
                    <a:srgbClr val="0000FF"/>
                  </a:solidFill>
                </a:endParaRPr>
              </a:p>
              <a:p>
                <a:r>
                  <a:rPr lang="zh-CN" altLang="en-US" dirty="0">
                    <a:solidFill>
                      <a:srgbClr val="0000FF"/>
                    </a:solidFill>
                  </a:rPr>
                  <a:t>对</a:t>
                </a:r>
                <a:r>
                  <a:rPr lang="en-US" altLang="zh-CN" dirty="0">
                    <a:solidFill>
                      <a:srgbClr val="0000FF"/>
                    </a:solidFill>
                  </a:rPr>
                  <a:t>p</a:t>
                </a:r>
                <a:r>
                  <a:rPr lang="zh-CN" altLang="en-US" dirty="0">
                    <a:solidFill>
                      <a:srgbClr val="0000FF"/>
                    </a:solidFill>
                  </a:rPr>
                  <a:t>求导，</a:t>
                </a:r>
                <a14:m>
                  <m:oMath xmlns:m="http://schemas.openxmlformats.org/officeDocument/2006/math">
                    <m:f>
                      <m:fPr>
                        <m:ctrlPr>
                          <a:rPr lang="en-US" altLang="zh-CN" i="1" smtClean="0">
                            <a:solidFill>
                              <a:srgbClr val="0000FF"/>
                            </a:solidFill>
                            <a:latin typeface="Cambria Math" panose="02040503050406030204" pitchFamily="18" charset="0"/>
                          </a:rPr>
                        </m:ctrlPr>
                      </m:fPr>
                      <m:num>
                        <m:r>
                          <a:rPr lang="en-US" altLang="zh-CN" i="1" smtClean="0">
                            <a:solidFill>
                              <a:srgbClr val="0000FF"/>
                            </a:solidFill>
                            <a:latin typeface="Cambria Math" panose="02040503050406030204" pitchFamily="18" charset="0"/>
                          </a:rPr>
                          <m:t>𝑑</m:t>
                        </m:r>
                      </m:num>
                      <m:den>
                        <m:r>
                          <a:rPr lang="en-US" altLang="zh-CN" i="1" smtClean="0">
                            <a:solidFill>
                              <a:srgbClr val="0000FF"/>
                            </a:solidFill>
                            <a:latin typeface="Cambria Math" panose="02040503050406030204" pitchFamily="18" charset="0"/>
                          </a:rPr>
                          <m:t>𝑑</m:t>
                        </m:r>
                        <m:r>
                          <m:rPr>
                            <m:sty m:val="p"/>
                          </m:rPr>
                          <a:rPr lang="en-US" altLang="zh-CN" i="1">
                            <a:solidFill>
                              <a:srgbClr val="0000FF"/>
                            </a:solidFill>
                            <a:latin typeface="Cambria Math" panose="02040503050406030204" pitchFamily="18" charset="0"/>
                          </a:rPr>
                          <m:t>p</m:t>
                        </m:r>
                      </m:den>
                    </m:f>
                    <m:d>
                      <m:dPr>
                        <m:ctrlPr>
                          <a:rPr lang="en-US" altLang="zh-CN" b="0" i="1" smtClean="0">
                            <a:solidFill>
                              <a:srgbClr val="0000FF"/>
                            </a:solidFill>
                            <a:latin typeface="Cambria Math" panose="02040503050406030204" pitchFamily="18" charset="0"/>
                          </a:rPr>
                        </m:ctrlPr>
                      </m:dPr>
                      <m:e>
                        <m:f>
                          <m:fPr>
                            <m:ctrlPr>
                              <a:rPr lang="en-US" altLang="zh-CN" i="1" smtClean="0">
                                <a:solidFill>
                                  <a:srgbClr val="0000FF"/>
                                </a:solidFill>
                                <a:latin typeface="Cambria Math" panose="02040503050406030204" pitchFamily="18" charset="0"/>
                              </a:rPr>
                            </m:ctrlPr>
                          </m:fPr>
                          <m:num>
                            <m:d>
                              <m:dPr>
                                <m:ctrlPr>
                                  <a:rPr lang="en-US" altLang="zh-CN" i="1">
                                    <a:solidFill>
                                      <a:srgbClr val="0000FF"/>
                                    </a:solidFill>
                                    <a:latin typeface="Cambria Math" panose="02040503050406030204" pitchFamily="18" charset="0"/>
                                  </a:rPr>
                                </m:ctrlPr>
                              </m:dPr>
                              <m:e>
                                <m:r>
                                  <a:rPr lang="en-US" altLang="zh-CN" i="1">
                                    <a:solidFill>
                                      <a:srgbClr val="0000FF"/>
                                    </a:solidFill>
                                    <a:latin typeface="Cambria Math" panose="02040503050406030204" pitchFamily="18" charset="0"/>
                                  </a:rPr>
                                  <m:t>𝑝</m:t>
                                </m:r>
                                <m:r>
                                  <a:rPr lang="en-US" altLang="zh-CN" i="1">
                                    <a:solidFill>
                                      <a:srgbClr val="0000FF"/>
                                    </a:solidFill>
                                    <a:latin typeface="Cambria Math" panose="02040503050406030204" pitchFamily="18" charset="0"/>
                                  </a:rPr>
                                  <m:t>+</m:t>
                                </m:r>
                                <m:r>
                                  <a:rPr lang="en-US" altLang="zh-CN" i="1">
                                    <a:solidFill>
                                      <a:srgbClr val="0000FF"/>
                                    </a:solidFill>
                                    <a:latin typeface="Cambria Math" panose="02040503050406030204" pitchFamily="18" charset="0"/>
                                  </a:rPr>
                                  <m:t>h</m:t>
                                </m:r>
                              </m:e>
                            </m:d>
                            <m:r>
                              <a:rPr lang="en-US" altLang="zh-CN" i="1">
                                <a:solidFill>
                                  <a:srgbClr val="0000FF"/>
                                </a:solidFill>
                                <a:latin typeface="Cambria Math" panose="02040503050406030204" pitchFamily="18" charset="0"/>
                              </a:rPr>
                              <m:t>𝑥</m:t>
                            </m:r>
                          </m:num>
                          <m:den>
                            <m:r>
                              <a:rPr lang="en-US" altLang="zh-CN" i="1">
                                <a:solidFill>
                                  <a:srgbClr val="0000FF"/>
                                </a:solidFill>
                                <a:latin typeface="Cambria Math" panose="02040503050406030204" pitchFamily="18" charset="0"/>
                              </a:rPr>
                              <m:t>𝑝𝑏</m:t>
                            </m:r>
                          </m:den>
                        </m:f>
                        <m:r>
                          <a:rPr lang="en-US" altLang="zh-CN" i="1">
                            <a:solidFill>
                              <a:srgbClr val="0000FF"/>
                            </a:solidFill>
                            <a:latin typeface="Cambria Math" panose="02040503050406030204" pitchFamily="18" charset="0"/>
                          </a:rPr>
                          <m:t>+</m:t>
                        </m:r>
                        <m:f>
                          <m:fPr>
                            <m:ctrlPr>
                              <a:rPr lang="en-US" altLang="zh-CN" i="1">
                                <a:solidFill>
                                  <a:srgbClr val="0000FF"/>
                                </a:solidFill>
                                <a:latin typeface="Cambria Math" panose="02040503050406030204" pitchFamily="18" charset="0"/>
                              </a:rPr>
                            </m:ctrlPr>
                          </m:fPr>
                          <m:num>
                            <m:r>
                              <a:rPr lang="en-US" altLang="zh-CN" b="0" i="1" smtClean="0">
                                <a:solidFill>
                                  <a:srgbClr val="0000FF"/>
                                </a:solidFill>
                                <a:latin typeface="Cambria Math" panose="02040503050406030204" pitchFamily="18" charset="0"/>
                              </a:rPr>
                              <m:t>𝑝</m:t>
                            </m:r>
                            <m:d>
                              <m:dPr>
                                <m:ctrlPr>
                                  <a:rPr lang="en-US" altLang="zh-CN" i="1">
                                    <a:solidFill>
                                      <a:srgbClr val="0000FF"/>
                                    </a:solidFill>
                                    <a:latin typeface="Cambria Math" panose="02040503050406030204" pitchFamily="18" charset="0"/>
                                  </a:rPr>
                                </m:ctrlPr>
                              </m:dPr>
                              <m:e>
                                <m:r>
                                  <a:rPr lang="en-US" altLang="zh-CN" i="1">
                                    <a:solidFill>
                                      <a:srgbClr val="0000FF"/>
                                    </a:solidFill>
                                    <a:latin typeface="Cambria Math" panose="02040503050406030204" pitchFamily="18" charset="0"/>
                                  </a:rPr>
                                  <m:t>𝑘</m:t>
                                </m:r>
                                <m:r>
                                  <a:rPr lang="en-US" altLang="zh-CN" i="1">
                                    <a:solidFill>
                                      <a:srgbClr val="0000FF"/>
                                    </a:solidFill>
                                    <a:latin typeface="Cambria Math" panose="02040503050406030204" pitchFamily="18" charset="0"/>
                                  </a:rPr>
                                  <m:t>−1</m:t>
                                </m:r>
                              </m:e>
                            </m:d>
                          </m:num>
                          <m:den>
                            <m:r>
                              <a:rPr lang="en-US" altLang="zh-CN" i="1">
                                <a:solidFill>
                                  <a:srgbClr val="0000FF"/>
                                </a:solidFill>
                                <a:latin typeface="Cambria Math" panose="02040503050406030204" pitchFamily="18" charset="0"/>
                              </a:rPr>
                              <m:t>𝑏</m:t>
                            </m:r>
                          </m:den>
                        </m:f>
                        <m:r>
                          <a:rPr lang="en-US" altLang="zh-CN" b="0" i="1" smtClean="0">
                            <a:solidFill>
                              <a:srgbClr val="0000FF"/>
                            </a:solidFill>
                            <a:latin typeface="Cambria Math" panose="02040503050406030204" pitchFamily="18" charset="0"/>
                          </a:rPr>
                          <m:t>+</m:t>
                        </m:r>
                        <m:f>
                          <m:fPr>
                            <m:ctrlPr>
                              <a:rPr lang="en-US" altLang="zh-CN" i="1">
                                <a:solidFill>
                                  <a:srgbClr val="0000FF"/>
                                </a:solidFill>
                                <a:latin typeface="Cambria Math" panose="02040503050406030204" pitchFamily="18" charset="0"/>
                              </a:rPr>
                            </m:ctrlPr>
                          </m:fPr>
                          <m:num>
                            <m:r>
                              <a:rPr lang="en-US" altLang="zh-CN" b="0" i="1" smtClean="0">
                                <a:solidFill>
                                  <a:srgbClr val="0000FF"/>
                                </a:solidFill>
                                <a:latin typeface="Cambria Math" panose="02040503050406030204" pitchFamily="18" charset="0"/>
                              </a:rPr>
                              <m:t>h</m:t>
                            </m:r>
                            <m:d>
                              <m:dPr>
                                <m:ctrlPr>
                                  <a:rPr lang="en-US" altLang="zh-CN" i="1">
                                    <a:solidFill>
                                      <a:srgbClr val="0000FF"/>
                                    </a:solidFill>
                                    <a:latin typeface="Cambria Math" panose="02040503050406030204" pitchFamily="18" charset="0"/>
                                  </a:rPr>
                                </m:ctrlPr>
                              </m:dPr>
                              <m:e>
                                <m:r>
                                  <a:rPr lang="en-US" altLang="zh-CN" i="1">
                                    <a:solidFill>
                                      <a:srgbClr val="0000FF"/>
                                    </a:solidFill>
                                    <a:latin typeface="Cambria Math" panose="02040503050406030204" pitchFamily="18" charset="0"/>
                                  </a:rPr>
                                  <m:t>𝑘</m:t>
                                </m:r>
                                <m:r>
                                  <a:rPr lang="en-US" altLang="zh-CN" i="1">
                                    <a:solidFill>
                                      <a:srgbClr val="0000FF"/>
                                    </a:solidFill>
                                    <a:latin typeface="Cambria Math" panose="02040503050406030204" pitchFamily="18" charset="0"/>
                                  </a:rPr>
                                  <m:t>−1</m:t>
                                </m:r>
                              </m:e>
                            </m:d>
                          </m:num>
                          <m:den>
                            <m:r>
                              <a:rPr lang="en-US" altLang="zh-CN" i="1">
                                <a:solidFill>
                                  <a:srgbClr val="0000FF"/>
                                </a:solidFill>
                                <a:latin typeface="Cambria Math" panose="02040503050406030204" pitchFamily="18" charset="0"/>
                              </a:rPr>
                              <m:t>𝑏</m:t>
                            </m:r>
                          </m:den>
                        </m:f>
                      </m:e>
                    </m:d>
                  </m:oMath>
                </a14:m>
                <a:endParaRPr lang="en-US" altLang="zh-CN" b="0" i="1" dirty="0">
                  <a:solidFill>
                    <a:srgbClr val="0000FF"/>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zh-CN" b="0" i="1" smtClean="0">
                          <a:solidFill>
                            <a:srgbClr val="0000FF"/>
                          </a:solidFill>
                          <a:latin typeface="Cambria Math" panose="02040503050406030204" pitchFamily="18" charset="0"/>
                        </a:rPr>
                        <m:t>=</m:t>
                      </m:r>
                      <m:f>
                        <m:fPr>
                          <m:ctrlPr>
                            <a:rPr lang="en-US" altLang="zh-CN" i="1">
                              <a:solidFill>
                                <a:srgbClr val="0000FF"/>
                              </a:solidFill>
                              <a:latin typeface="Cambria Math" panose="02040503050406030204" pitchFamily="18" charset="0"/>
                            </a:rPr>
                          </m:ctrlPr>
                        </m:fPr>
                        <m:num>
                          <m:r>
                            <a:rPr lang="en-US" altLang="zh-CN" i="1">
                              <a:solidFill>
                                <a:srgbClr val="0000FF"/>
                              </a:solidFill>
                              <a:latin typeface="Cambria Math" panose="02040503050406030204" pitchFamily="18" charset="0"/>
                            </a:rPr>
                            <m:t>𝑑</m:t>
                          </m:r>
                        </m:num>
                        <m:den>
                          <m:r>
                            <a:rPr lang="en-US" altLang="zh-CN" i="1">
                              <a:solidFill>
                                <a:srgbClr val="0000FF"/>
                              </a:solidFill>
                              <a:latin typeface="Cambria Math" panose="02040503050406030204" pitchFamily="18" charset="0"/>
                            </a:rPr>
                            <m:t>𝑑</m:t>
                          </m:r>
                          <m:r>
                            <m:rPr>
                              <m:sty m:val="p"/>
                            </m:rPr>
                            <a:rPr lang="en-US" altLang="zh-CN" i="1">
                              <a:solidFill>
                                <a:srgbClr val="0000FF"/>
                              </a:solidFill>
                              <a:latin typeface="Cambria Math" panose="02040503050406030204" pitchFamily="18" charset="0"/>
                            </a:rPr>
                            <m:t>p</m:t>
                          </m:r>
                        </m:den>
                      </m:f>
                      <m:d>
                        <m:dPr>
                          <m:ctrlPr>
                            <a:rPr lang="en-US" altLang="zh-CN" i="1">
                              <a:solidFill>
                                <a:srgbClr val="0000FF"/>
                              </a:solidFill>
                              <a:latin typeface="Cambria Math" panose="02040503050406030204" pitchFamily="18" charset="0"/>
                            </a:rPr>
                          </m:ctrlPr>
                        </m:dPr>
                        <m:e>
                          <m:f>
                            <m:fPr>
                              <m:ctrlPr>
                                <a:rPr lang="en-US" altLang="zh-CN" i="1">
                                  <a:solidFill>
                                    <a:srgbClr val="0000FF"/>
                                  </a:solidFill>
                                  <a:latin typeface="Cambria Math" panose="02040503050406030204" pitchFamily="18" charset="0"/>
                                </a:rPr>
                              </m:ctrlPr>
                            </m:fPr>
                            <m:num>
                              <m:d>
                                <m:dPr>
                                  <m:ctrlPr>
                                    <a:rPr lang="en-US" altLang="zh-CN" i="1">
                                      <a:solidFill>
                                        <a:srgbClr val="0000FF"/>
                                      </a:solidFill>
                                      <a:latin typeface="Cambria Math" panose="02040503050406030204" pitchFamily="18" charset="0"/>
                                    </a:rPr>
                                  </m:ctrlPr>
                                </m:dPr>
                                <m:e>
                                  <m:r>
                                    <a:rPr lang="en-US" altLang="zh-CN" i="1">
                                      <a:solidFill>
                                        <a:srgbClr val="0000FF"/>
                                      </a:solidFill>
                                      <a:latin typeface="Cambria Math" panose="02040503050406030204" pitchFamily="18" charset="0"/>
                                    </a:rPr>
                                    <m:t>𝑝</m:t>
                                  </m:r>
                                  <m:r>
                                    <a:rPr lang="en-US" altLang="zh-CN" i="1">
                                      <a:solidFill>
                                        <a:srgbClr val="0000FF"/>
                                      </a:solidFill>
                                      <a:latin typeface="Cambria Math" panose="02040503050406030204" pitchFamily="18" charset="0"/>
                                    </a:rPr>
                                    <m:t>+</m:t>
                                  </m:r>
                                  <m:r>
                                    <a:rPr lang="en-US" altLang="zh-CN" i="1">
                                      <a:solidFill>
                                        <a:srgbClr val="0000FF"/>
                                      </a:solidFill>
                                      <a:latin typeface="Cambria Math" panose="02040503050406030204" pitchFamily="18" charset="0"/>
                                    </a:rPr>
                                    <m:t>h</m:t>
                                  </m:r>
                                </m:e>
                              </m:d>
                              <m:r>
                                <a:rPr lang="en-US" altLang="zh-CN" i="1">
                                  <a:solidFill>
                                    <a:srgbClr val="0000FF"/>
                                  </a:solidFill>
                                  <a:latin typeface="Cambria Math" panose="02040503050406030204" pitchFamily="18" charset="0"/>
                                </a:rPr>
                                <m:t>𝑥</m:t>
                              </m:r>
                            </m:num>
                            <m:den>
                              <m:r>
                                <a:rPr lang="en-US" altLang="zh-CN" i="1">
                                  <a:solidFill>
                                    <a:srgbClr val="0000FF"/>
                                  </a:solidFill>
                                  <a:latin typeface="Cambria Math" panose="02040503050406030204" pitchFamily="18" charset="0"/>
                                </a:rPr>
                                <m:t>𝑝𝑏</m:t>
                              </m:r>
                            </m:den>
                          </m:f>
                        </m:e>
                      </m:d>
                      <m:r>
                        <a:rPr lang="en-US" altLang="zh-CN" b="0" i="1" smtClean="0">
                          <a:solidFill>
                            <a:srgbClr val="0000FF"/>
                          </a:solidFill>
                          <a:latin typeface="Cambria Math" panose="02040503050406030204" pitchFamily="18" charset="0"/>
                        </a:rPr>
                        <m:t>+</m:t>
                      </m:r>
                      <m:f>
                        <m:fPr>
                          <m:ctrlPr>
                            <a:rPr lang="en-US" altLang="zh-CN" b="0" i="1" smtClean="0">
                              <a:solidFill>
                                <a:srgbClr val="0000FF"/>
                              </a:solidFill>
                              <a:latin typeface="Cambria Math" panose="02040503050406030204" pitchFamily="18" charset="0"/>
                            </a:rPr>
                          </m:ctrlPr>
                        </m:fPr>
                        <m:num>
                          <m:r>
                            <a:rPr lang="en-US" altLang="zh-CN" b="0" i="1" smtClean="0">
                              <a:solidFill>
                                <a:srgbClr val="0000FF"/>
                              </a:solidFill>
                              <a:latin typeface="Cambria Math" panose="02040503050406030204" pitchFamily="18" charset="0"/>
                            </a:rPr>
                            <m:t>𝑘</m:t>
                          </m:r>
                          <m:r>
                            <a:rPr lang="en-US" altLang="zh-CN" b="0" i="1" smtClean="0">
                              <a:solidFill>
                                <a:srgbClr val="0000FF"/>
                              </a:solidFill>
                              <a:latin typeface="Cambria Math" panose="02040503050406030204" pitchFamily="18" charset="0"/>
                            </a:rPr>
                            <m:t>−1</m:t>
                          </m:r>
                        </m:num>
                        <m:den>
                          <m:r>
                            <a:rPr lang="en-US" altLang="zh-CN" b="0" i="1" smtClean="0">
                              <a:solidFill>
                                <a:srgbClr val="0000FF"/>
                              </a:solidFill>
                              <a:latin typeface="Cambria Math" panose="02040503050406030204" pitchFamily="18" charset="0"/>
                            </a:rPr>
                            <m:t>𝑏</m:t>
                          </m:r>
                        </m:den>
                      </m:f>
                      <m:r>
                        <a:rPr lang="en-US" altLang="zh-CN" b="0" i="1" smtClean="0">
                          <a:solidFill>
                            <a:srgbClr val="0000FF"/>
                          </a:solidFill>
                          <a:latin typeface="Cambria Math" panose="02040503050406030204" pitchFamily="18" charset="0"/>
                        </a:rPr>
                        <m:t>+0=</m:t>
                      </m:r>
                      <m:f>
                        <m:fPr>
                          <m:ctrlPr>
                            <a:rPr lang="en-US" altLang="zh-CN" b="0" i="1" smtClean="0">
                              <a:solidFill>
                                <a:srgbClr val="0000FF"/>
                              </a:solidFill>
                              <a:latin typeface="Cambria Math" panose="02040503050406030204" pitchFamily="18" charset="0"/>
                            </a:rPr>
                          </m:ctrlPr>
                        </m:fPr>
                        <m:num>
                          <m:r>
                            <a:rPr lang="en-US" altLang="zh-CN" b="0" i="1" smtClean="0">
                              <a:solidFill>
                                <a:srgbClr val="0000FF"/>
                              </a:solidFill>
                              <a:latin typeface="Cambria Math" panose="02040503050406030204" pitchFamily="18" charset="0"/>
                            </a:rPr>
                            <m:t>𝑥</m:t>
                          </m:r>
                        </m:num>
                        <m:den>
                          <m:r>
                            <a:rPr lang="en-US" altLang="zh-CN" b="0" i="1" smtClean="0">
                              <a:solidFill>
                                <a:srgbClr val="0000FF"/>
                              </a:solidFill>
                              <a:latin typeface="Cambria Math" panose="02040503050406030204" pitchFamily="18" charset="0"/>
                            </a:rPr>
                            <m:t>𝑏</m:t>
                          </m:r>
                        </m:den>
                      </m:f>
                      <m:r>
                        <a:rPr lang="en-US" altLang="zh-CN" i="1">
                          <a:solidFill>
                            <a:srgbClr val="0000FF"/>
                          </a:solidFill>
                          <a:latin typeface="Cambria Math" panose="02040503050406030204" pitchFamily="18" charset="0"/>
                          <a:ea typeface="Cambria Math" panose="02040503050406030204" pitchFamily="18" charset="0"/>
                        </a:rPr>
                        <m:t>∙</m:t>
                      </m:r>
                      <m:f>
                        <m:fPr>
                          <m:ctrlPr>
                            <a:rPr lang="en-US" altLang="zh-CN" i="1">
                              <a:solidFill>
                                <a:srgbClr val="0000FF"/>
                              </a:solidFill>
                              <a:latin typeface="Cambria Math" panose="02040503050406030204" pitchFamily="18" charset="0"/>
                            </a:rPr>
                          </m:ctrlPr>
                        </m:fPr>
                        <m:num>
                          <m:r>
                            <a:rPr lang="en-US" altLang="zh-CN" i="1">
                              <a:solidFill>
                                <a:srgbClr val="0000FF"/>
                              </a:solidFill>
                              <a:latin typeface="Cambria Math" panose="02040503050406030204" pitchFamily="18" charset="0"/>
                            </a:rPr>
                            <m:t>𝑑</m:t>
                          </m:r>
                        </m:num>
                        <m:den>
                          <m:r>
                            <a:rPr lang="en-US" altLang="zh-CN" i="1">
                              <a:solidFill>
                                <a:srgbClr val="0000FF"/>
                              </a:solidFill>
                              <a:latin typeface="Cambria Math" panose="02040503050406030204" pitchFamily="18" charset="0"/>
                            </a:rPr>
                            <m:t>𝑑</m:t>
                          </m:r>
                          <m:r>
                            <m:rPr>
                              <m:sty m:val="p"/>
                            </m:rPr>
                            <a:rPr lang="en-US" altLang="zh-CN" i="1">
                              <a:solidFill>
                                <a:srgbClr val="0000FF"/>
                              </a:solidFill>
                              <a:latin typeface="Cambria Math" panose="02040503050406030204" pitchFamily="18" charset="0"/>
                            </a:rPr>
                            <m:t>p</m:t>
                          </m:r>
                        </m:den>
                      </m:f>
                      <m:d>
                        <m:dPr>
                          <m:ctrlPr>
                            <a:rPr lang="en-US" altLang="zh-CN" i="1">
                              <a:solidFill>
                                <a:srgbClr val="0000FF"/>
                              </a:solidFill>
                              <a:latin typeface="Cambria Math" panose="02040503050406030204" pitchFamily="18" charset="0"/>
                            </a:rPr>
                          </m:ctrlPr>
                        </m:dPr>
                        <m:e>
                          <m:r>
                            <a:rPr lang="en-US" altLang="zh-CN" b="0" i="1" smtClean="0">
                              <a:solidFill>
                                <a:srgbClr val="0000FF"/>
                              </a:solidFill>
                              <a:latin typeface="Cambria Math" panose="02040503050406030204" pitchFamily="18" charset="0"/>
                            </a:rPr>
                            <m:t>1+</m:t>
                          </m:r>
                          <m:f>
                            <m:fPr>
                              <m:ctrlPr>
                                <a:rPr lang="en-US" altLang="zh-CN" i="1" smtClean="0">
                                  <a:solidFill>
                                    <a:srgbClr val="0000FF"/>
                                  </a:solidFill>
                                  <a:latin typeface="Cambria Math" panose="02040503050406030204" pitchFamily="18" charset="0"/>
                                </a:rPr>
                              </m:ctrlPr>
                            </m:fPr>
                            <m:num>
                              <m:r>
                                <a:rPr lang="en-US" altLang="zh-CN" b="0" i="1" smtClean="0">
                                  <a:solidFill>
                                    <a:srgbClr val="0000FF"/>
                                  </a:solidFill>
                                  <a:latin typeface="Cambria Math" panose="02040503050406030204" pitchFamily="18" charset="0"/>
                                </a:rPr>
                                <m:t>h</m:t>
                              </m:r>
                            </m:num>
                            <m:den>
                              <m:r>
                                <a:rPr lang="en-US" altLang="zh-CN" b="0" i="1" smtClean="0">
                                  <a:solidFill>
                                    <a:srgbClr val="0000FF"/>
                                  </a:solidFill>
                                  <a:latin typeface="Cambria Math" panose="02040503050406030204" pitchFamily="18" charset="0"/>
                                </a:rPr>
                                <m:t>𝑝</m:t>
                              </m:r>
                            </m:den>
                          </m:f>
                        </m:e>
                      </m:d>
                      <m:r>
                        <a:rPr lang="en-US" altLang="zh-CN" i="1">
                          <a:solidFill>
                            <a:srgbClr val="0000FF"/>
                          </a:solidFill>
                          <a:latin typeface="Cambria Math" panose="02040503050406030204" pitchFamily="18" charset="0"/>
                        </a:rPr>
                        <m:t>+</m:t>
                      </m:r>
                      <m:f>
                        <m:fPr>
                          <m:ctrlPr>
                            <a:rPr lang="en-US" altLang="zh-CN" i="1">
                              <a:solidFill>
                                <a:srgbClr val="0000FF"/>
                              </a:solidFill>
                              <a:latin typeface="Cambria Math" panose="02040503050406030204" pitchFamily="18" charset="0"/>
                            </a:rPr>
                          </m:ctrlPr>
                        </m:fPr>
                        <m:num>
                          <m:r>
                            <a:rPr lang="en-US" altLang="zh-CN" i="1">
                              <a:solidFill>
                                <a:srgbClr val="0000FF"/>
                              </a:solidFill>
                              <a:latin typeface="Cambria Math" panose="02040503050406030204" pitchFamily="18" charset="0"/>
                            </a:rPr>
                            <m:t>𝑘</m:t>
                          </m:r>
                          <m:r>
                            <a:rPr lang="en-US" altLang="zh-CN" i="1">
                              <a:solidFill>
                                <a:srgbClr val="0000FF"/>
                              </a:solidFill>
                              <a:latin typeface="Cambria Math" panose="02040503050406030204" pitchFamily="18" charset="0"/>
                            </a:rPr>
                            <m:t>−1</m:t>
                          </m:r>
                        </m:num>
                        <m:den>
                          <m:r>
                            <a:rPr lang="en-US" altLang="zh-CN" i="1">
                              <a:solidFill>
                                <a:srgbClr val="0000FF"/>
                              </a:solidFill>
                              <a:latin typeface="Cambria Math" panose="02040503050406030204" pitchFamily="18" charset="0"/>
                            </a:rPr>
                            <m:t>𝑏</m:t>
                          </m:r>
                        </m:den>
                      </m:f>
                      <m:r>
                        <a:rPr lang="en-US" altLang="zh-CN" b="0" i="1" smtClean="0">
                          <a:solidFill>
                            <a:srgbClr val="0000FF"/>
                          </a:solidFill>
                          <a:latin typeface="Cambria Math" panose="02040503050406030204" pitchFamily="18" charset="0"/>
                        </a:rPr>
                        <m:t>=</m:t>
                      </m:r>
                      <m:f>
                        <m:fPr>
                          <m:ctrlPr>
                            <a:rPr lang="en-US" altLang="zh-CN" i="1">
                              <a:solidFill>
                                <a:srgbClr val="0000FF"/>
                              </a:solidFill>
                              <a:latin typeface="Cambria Math" panose="02040503050406030204" pitchFamily="18" charset="0"/>
                            </a:rPr>
                          </m:ctrlPr>
                        </m:fPr>
                        <m:num>
                          <m:r>
                            <a:rPr lang="en-US" altLang="zh-CN" i="1">
                              <a:solidFill>
                                <a:srgbClr val="0000FF"/>
                              </a:solidFill>
                              <a:latin typeface="Cambria Math" panose="02040503050406030204" pitchFamily="18" charset="0"/>
                            </a:rPr>
                            <m:t>𝑥</m:t>
                          </m:r>
                        </m:num>
                        <m:den>
                          <m:r>
                            <a:rPr lang="en-US" altLang="zh-CN" i="1">
                              <a:solidFill>
                                <a:srgbClr val="0000FF"/>
                              </a:solidFill>
                              <a:latin typeface="Cambria Math" panose="02040503050406030204" pitchFamily="18" charset="0"/>
                            </a:rPr>
                            <m:t>𝑏</m:t>
                          </m:r>
                        </m:den>
                      </m:f>
                      <m:r>
                        <a:rPr lang="en-US" altLang="zh-CN" i="1">
                          <a:solidFill>
                            <a:srgbClr val="0000FF"/>
                          </a:solidFill>
                          <a:latin typeface="Cambria Math" panose="02040503050406030204" pitchFamily="18" charset="0"/>
                          <a:ea typeface="Cambria Math" panose="02040503050406030204" pitchFamily="18" charset="0"/>
                        </a:rPr>
                        <m:t>∙</m:t>
                      </m:r>
                      <m:d>
                        <m:dPr>
                          <m:ctrlPr>
                            <a:rPr lang="en-US" altLang="zh-CN" b="0" i="1" smtClean="0">
                              <a:solidFill>
                                <a:srgbClr val="0000FF"/>
                              </a:solidFill>
                              <a:latin typeface="Cambria Math" panose="02040503050406030204" pitchFamily="18" charset="0"/>
                              <a:ea typeface="Cambria Math" panose="02040503050406030204" pitchFamily="18" charset="0"/>
                            </a:rPr>
                          </m:ctrlPr>
                        </m:dPr>
                        <m:e>
                          <m:r>
                            <a:rPr lang="en-US" altLang="zh-CN" b="0" i="1" smtClean="0">
                              <a:solidFill>
                                <a:srgbClr val="0000FF"/>
                              </a:solidFill>
                              <a:latin typeface="Cambria Math" panose="02040503050406030204" pitchFamily="18" charset="0"/>
                              <a:ea typeface="Cambria Math" panose="02040503050406030204" pitchFamily="18" charset="0"/>
                            </a:rPr>
                            <m:t>−</m:t>
                          </m:r>
                          <m:f>
                            <m:fPr>
                              <m:ctrlPr>
                                <a:rPr lang="en-US" altLang="zh-CN" i="1" smtClean="0">
                                  <a:solidFill>
                                    <a:srgbClr val="0000FF"/>
                                  </a:solidFill>
                                  <a:latin typeface="Cambria Math" panose="02040503050406030204" pitchFamily="18" charset="0"/>
                                  <a:ea typeface="Cambria Math" panose="02040503050406030204" pitchFamily="18" charset="0"/>
                                </a:rPr>
                              </m:ctrlPr>
                            </m:fPr>
                            <m:num>
                              <m:r>
                                <a:rPr lang="en-US" altLang="zh-CN" b="0" i="1" smtClean="0">
                                  <a:solidFill>
                                    <a:srgbClr val="0000FF"/>
                                  </a:solidFill>
                                  <a:latin typeface="Cambria Math" panose="02040503050406030204" pitchFamily="18" charset="0"/>
                                  <a:ea typeface="Cambria Math" panose="02040503050406030204" pitchFamily="18" charset="0"/>
                                </a:rPr>
                                <m:t>h</m:t>
                              </m:r>
                            </m:num>
                            <m:den>
                              <m:sSup>
                                <m:sSupPr>
                                  <m:ctrlPr>
                                    <a:rPr lang="en-US" altLang="zh-CN" i="1" smtClean="0">
                                      <a:solidFill>
                                        <a:srgbClr val="0000FF"/>
                                      </a:solidFill>
                                      <a:latin typeface="Cambria Math" panose="02040503050406030204" pitchFamily="18" charset="0"/>
                                      <a:ea typeface="Cambria Math" panose="02040503050406030204" pitchFamily="18" charset="0"/>
                                    </a:rPr>
                                  </m:ctrlPr>
                                </m:sSupPr>
                                <m:e>
                                  <m:r>
                                    <a:rPr lang="en-US" altLang="zh-CN" b="0" i="1" smtClean="0">
                                      <a:solidFill>
                                        <a:srgbClr val="0000FF"/>
                                      </a:solidFill>
                                      <a:latin typeface="Cambria Math" panose="02040503050406030204" pitchFamily="18" charset="0"/>
                                      <a:ea typeface="Cambria Math" panose="02040503050406030204" pitchFamily="18" charset="0"/>
                                    </a:rPr>
                                    <m:t>𝑝</m:t>
                                  </m:r>
                                </m:e>
                                <m:sup>
                                  <m:r>
                                    <a:rPr lang="en-US" altLang="zh-CN" b="0" i="1" smtClean="0">
                                      <a:solidFill>
                                        <a:srgbClr val="0000FF"/>
                                      </a:solidFill>
                                      <a:latin typeface="Cambria Math" panose="02040503050406030204" pitchFamily="18" charset="0"/>
                                      <a:ea typeface="Cambria Math" panose="02040503050406030204" pitchFamily="18" charset="0"/>
                                    </a:rPr>
                                    <m:t>2</m:t>
                                  </m:r>
                                </m:sup>
                              </m:sSup>
                            </m:den>
                          </m:f>
                        </m:e>
                      </m:d>
                      <m:r>
                        <a:rPr lang="en-US" altLang="zh-CN" i="1">
                          <a:solidFill>
                            <a:srgbClr val="0000FF"/>
                          </a:solidFill>
                          <a:latin typeface="Cambria Math" panose="02040503050406030204" pitchFamily="18" charset="0"/>
                        </a:rPr>
                        <m:t>+</m:t>
                      </m:r>
                      <m:f>
                        <m:fPr>
                          <m:ctrlPr>
                            <a:rPr lang="en-US" altLang="zh-CN" i="1">
                              <a:solidFill>
                                <a:srgbClr val="0000FF"/>
                              </a:solidFill>
                              <a:latin typeface="Cambria Math" panose="02040503050406030204" pitchFamily="18" charset="0"/>
                            </a:rPr>
                          </m:ctrlPr>
                        </m:fPr>
                        <m:num>
                          <m:r>
                            <a:rPr lang="en-US" altLang="zh-CN" i="1">
                              <a:solidFill>
                                <a:srgbClr val="0000FF"/>
                              </a:solidFill>
                              <a:latin typeface="Cambria Math" panose="02040503050406030204" pitchFamily="18" charset="0"/>
                            </a:rPr>
                            <m:t>𝑘</m:t>
                          </m:r>
                          <m:r>
                            <a:rPr lang="en-US" altLang="zh-CN" i="1">
                              <a:solidFill>
                                <a:srgbClr val="0000FF"/>
                              </a:solidFill>
                              <a:latin typeface="Cambria Math" panose="02040503050406030204" pitchFamily="18" charset="0"/>
                            </a:rPr>
                            <m:t>−1</m:t>
                          </m:r>
                        </m:num>
                        <m:den>
                          <m:r>
                            <a:rPr lang="en-US" altLang="zh-CN" i="1">
                              <a:solidFill>
                                <a:srgbClr val="0000FF"/>
                              </a:solidFill>
                              <a:latin typeface="Cambria Math" panose="02040503050406030204" pitchFamily="18" charset="0"/>
                            </a:rPr>
                            <m:t>𝑏</m:t>
                          </m:r>
                        </m:den>
                      </m:f>
                      <m:r>
                        <a:rPr lang="en-US" altLang="zh-CN" b="0" i="1" smtClean="0">
                          <a:solidFill>
                            <a:srgbClr val="0000FF"/>
                          </a:solidFill>
                          <a:latin typeface="Cambria Math" panose="02040503050406030204" pitchFamily="18" charset="0"/>
                        </a:rPr>
                        <m:t>=0</m:t>
                      </m:r>
                    </m:oMath>
                  </m:oMathPara>
                </a14:m>
                <a:endParaRPr lang="en-US" altLang="zh-CN" dirty="0">
                  <a:solidFill>
                    <a:srgbClr val="0000FF"/>
                  </a:solidFill>
                </a:endParaRPr>
              </a:p>
              <a:p>
                <a:r>
                  <a:rPr lang="zh-CN" altLang="en-US" dirty="0">
                    <a:solidFill>
                      <a:srgbClr val="0000FF"/>
                    </a:solidFill>
                  </a:rPr>
                  <a:t>故有</a:t>
                </a:r>
                <a14:m>
                  <m:oMath xmlns:m="http://schemas.openxmlformats.org/officeDocument/2006/math">
                    <m:r>
                      <a:rPr lang="en-US" altLang="zh-CN" b="0" i="0" smtClean="0">
                        <a:solidFill>
                          <a:srgbClr val="0000FF"/>
                        </a:solidFill>
                        <a:latin typeface="Cambria Math" panose="02040503050406030204" pitchFamily="18" charset="0"/>
                        <a:ea typeface="Cambria Math" panose="02040503050406030204" pitchFamily="18" charset="0"/>
                      </a:rPr>
                      <m:t> </m:t>
                    </m:r>
                    <m:sSup>
                      <m:sSupPr>
                        <m:ctrlPr>
                          <a:rPr lang="en-US" altLang="zh-CN" b="0" i="1" smtClean="0">
                            <a:solidFill>
                              <a:srgbClr val="0000FF"/>
                            </a:solidFill>
                            <a:latin typeface="Cambria Math" panose="02040503050406030204" pitchFamily="18" charset="0"/>
                            <a:ea typeface="Cambria Math" panose="02040503050406030204" pitchFamily="18" charset="0"/>
                          </a:rPr>
                        </m:ctrlPr>
                      </m:sSupPr>
                      <m:e>
                        <m:r>
                          <m:rPr>
                            <m:sty m:val="p"/>
                          </m:rPr>
                          <a:rPr lang="en-US" altLang="zh-CN" i="1">
                            <a:solidFill>
                              <a:srgbClr val="0000FF"/>
                            </a:solidFill>
                            <a:latin typeface="Cambria Math" panose="02040503050406030204" pitchFamily="18" charset="0"/>
                            <a:ea typeface="Cambria Math" panose="02040503050406030204" pitchFamily="18" charset="0"/>
                          </a:rPr>
                          <m:t>p</m:t>
                        </m:r>
                      </m:e>
                      <m:sup>
                        <m:r>
                          <a:rPr lang="en-US" altLang="zh-CN" b="0" i="1" smtClean="0">
                            <a:solidFill>
                              <a:srgbClr val="0000FF"/>
                            </a:solidFill>
                            <a:latin typeface="Cambria Math" panose="02040503050406030204" pitchFamily="18" charset="0"/>
                            <a:ea typeface="Cambria Math" panose="02040503050406030204" pitchFamily="18" charset="0"/>
                          </a:rPr>
                          <m:t>2</m:t>
                        </m:r>
                      </m:sup>
                    </m:sSup>
                    <m:r>
                      <a:rPr lang="en-US" altLang="zh-CN" b="0" i="1" smtClean="0">
                        <a:solidFill>
                          <a:srgbClr val="0000FF"/>
                        </a:solidFill>
                        <a:latin typeface="Cambria Math" panose="02040503050406030204" pitchFamily="18" charset="0"/>
                        <a:ea typeface="Cambria Math" panose="02040503050406030204" pitchFamily="18" charset="0"/>
                      </a:rPr>
                      <m:t>=</m:t>
                    </m:r>
                    <m:r>
                      <a:rPr lang="en-US" altLang="zh-CN" b="0" i="1" smtClean="0">
                        <a:solidFill>
                          <a:srgbClr val="0000FF"/>
                        </a:solidFill>
                        <a:latin typeface="Cambria Math" panose="02040503050406030204" pitchFamily="18" charset="0"/>
                        <a:ea typeface="Cambria Math" panose="02040503050406030204" pitchFamily="18" charset="0"/>
                      </a:rPr>
                      <m:t>h𝑥</m:t>
                    </m:r>
                    <m:r>
                      <a:rPr lang="en-US" altLang="zh-CN" b="0" i="1" smtClean="0">
                        <a:solidFill>
                          <a:srgbClr val="0000FF"/>
                        </a:solidFill>
                        <a:latin typeface="Cambria Math" panose="02040503050406030204" pitchFamily="18" charset="0"/>
                        <a:ea typeface="Cambria Math" panose="02040503050406030204" pitchFamily="18" charset="0"/>
                      </a:rPr>
                      <m:t>/(</m:t>
                    </m:r>
                    <m:r>
                      <a:rPr lang="en-US" altLang="zh-CN" b="0" i="1" smtClean="0">
                        <a:solidFill>
                          <a:srgbClr val="0000FF"/>
                        </a:solidFill>
                        <a:latin typeface="Cambria Math" panose="02040503050406030204" pitchFamily="18" charset="0"/>
                        <a:ea typeface="Cambria Math" panose="02040503050406030204" pitchFamily="18" charset="0"/>
                      </a:rPr>
                      <m:t>𝑘</m:t>
                    </m:r>
                    <m:r>
                      <a:rPr lang="en-US" altLang="zh-CN" b="0" i="1" smtClean="0">
                        <a:solidFill>
                          <a:srgbClr val="0000FF"/>
                        </a:solidFill>
                        <a:latin typeface="Cambria Math" panose="02040503050406030204" pitchFamily="18" charset="0"/>
                        <a:ea typeface="Cambria Math" panose="02040503050406030204" pitchFamily="18" charset="0"/>
                      </a:rPr>
                      <m:t>−1)</m:t>
                    </m:r>
                  </m:oMath>
                </a14:m>
                <a:r>
                  <a:rPr lang="zh-CN" altLang="en-US" dirty="0">
                    <a:solidFill>
                      <a:srgbClr val="0000FF"/>
                    </a:solidFill>
                  </a:rPr>
                  <a:t>，即</a:t>
                </a:r>
                <a14:m>
                  <m:oMath xmlns:m="http://schemas.openxmlformats.org/officeDocument/2006/math">
                    <m:r>
                      <m:rPr>
                        <m:sty m:val="p"/>
                      </m:rPr>
                      <a:rPr lang="en-US" altLang="zh-CN">
                        <a:solidFill>
                          <a:srgbClr val="0000FF"/>
                        </a:solidFill>
                        <a:latin typeface="Cambria Math" panose="02040503050406030204" pitchFamily="18" charset="0"/>
                      </a:rPr>
                      <m:t>p</m:t>
                    </m:r>
                    <m:r>
                      <a:rPr lang="en-US" altLang="zh-CN">
                        <a:solidFill>
                          <a:srgbClr val="0000FF"/>
                        </a:solidFill>
                        <a:latin typeface="Cambria Math" panose="02040503050406030204" pitchFamily="18" charset="0"/>
                      </a:rPr>
                      <m:t>=</m:t>
                    </m:r>
                    <m:rad>
                      <m:radPr>
                        <m:degHide m:val="on"/>
                        <m:ctrlPr>
                          <a:rPr lang="en-US" altLang="zh-CN" i="1">
                            <a:solidFill>
                              <a:srgbClr val="0000FF"/>
                            </a:solidFill>
                            <a:latin typeface="Cambria Math" panose="02040503050406030204" pitchFamily="18" charset="0"/>
                          </a:rPr>
                        </m:ctrlPr>
                      </m:radPr>
                      <m:deg/>
                      <m:e>
                        <m:r>
                          <a:rPr lang="en-US" altLang="zh-CN" i="1">
                            <a:solidFill>
                              <a:srgbClr val="0000FF"/>
                            </a:solidFill>
                            <a:latin typeface="Cambria Math" panose="02040503050406030204" pitchFamily="18" charset="0"/>
                          </a:rPr>
                          <m:t>h𝑥</m:t>
                        </m:r>
                        <m:r>
                          <a:rPr lang="en-US" altLang="zh-CN" i="1">
                            <a:solidFill>
                              <a:srgbClr val="0000FF"/>
                            </a:solidFill>
                            <a:latin typeface="Cambria Math" panose="02040503050406030204" pitchFamily="18" charset="0"/>
                          </a:rPr>
                          <m:t>/(</m:t>
                        </m:r>
                        <m:r>
                          <a:rPr lang="en-US" altLang="zh-CN" i="1">
                            <a:solidFill>
                              <a:srgbClr val="0000FF"/>
                            </a:solidFill>
                            <a:latin typeface="Cambria Math" panose="02040503050406030204" pitchFamily="18" charset="0"/>
                          </a:rPr>
                          <m:t>𝑘</m:t>
                        </m:r>
                        <m:r>
                          <a:rPr lang="en-US" altLang="zh-CN" i="1">
                            <a:solidFill>
                              <a:srgbClr val="0000FF"/>
                            </a:solidFill>
                            <a:latin typeface="Cambria Math" panose="02040503050406030204" pitchFamily="18" charset="0"/>
                          </a:rPr>
                          <m:t>−1)</m:t>
                        </m:r>
                      </m:e>
                    </m:rad>
                  </m:oMath>
                </a14:m>
                <a:endParaRPr lang="zh-CN" altLang="en-US" dirty="0"/>
              </a:p>
            </p:txBody>
          </p:sp>
        </mc:Choice>
        <mc:Fallback xmlns="">
          <p:sp>
            <p:nvSpPr>
              <p:cNvPr id="3" name="内容占位符 2">
                <a:extLst>
                  <a:ext uri="{FF2B5EF4-FFF2-40B4-BE49-F238E27FC236}">
                    <a16:creationId xmlns:a16="http://schemas.microsoft.com/office/drawing/2014/main" id="{57A9B2D2-6EE0-BD9C-BFF1-0740705265F3}"/>
                  </a:ext>
                </a:extLst>
              </p:cNvPr>
              <p:cNvSpPr>
                <a:spLocks noGrp="1" noRot="1" noChangeAspect="1" noMove="1" noResize="1" noEditPoints="1" noAdjustHandles="1" noChangeArrowheads="1" noChangeShapeType="1" noTextEdit="1"/>
              </p:cNvSpPr>
              <p:nvPr>
                <p:ph idx="1"/>
              </p:nvPr>
            </p:nvSpPr>
            <p:spPr>
              <a:blipFill>
                <a:blip r:embed="rId2"/>
                <a:stretch>
                  <a:fillRect l="-92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756696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337923-B776-44E7-9127-9AA17F7D41EB}"/>
              </a:ext>
            </a:extLst>
          </p:cNvPr>
          <p:cNvSpPr>
            <a:spLocks noGrp="1"/>
          </p:cNvSpPr>
          <p:nvPr>
            <p:ph type="title"/>
          </p:nvPr>
        </p:nvSpPr>
        <p:spPr/>
        <p:txBody>
          <a:bodyPr>
            <a:normAutofit fontScale="90000"/>
          </a:bodyPr>
          <a:lstStyle/>
          <a:p>
            <a:r>
              <a:rPr lang="en-US" altLang="zh-CN" dirty="0"/>
              <a:t>2-8</a:t>
            </a:r>
            <a:endParaRPr lang="zh-CN" altLang="en-US" dirty="0"/>
          </a:p>
        </p:txBody>
      </p:sp>
      <p:sp>
        <p:nvSpPr>
          <p:cNvPr id="3" name="副标题 2">
            <a:extLst>
              <a:ext uri="{FF2B5EF4-FFF2-40B4-BE49-F238E27FC236}">
                <a16:creationId xmlns:a16="http://schemas.microsoft.com/office/drawing/2014/main" id="{DA51FDAD-35DD-421C-A3CC-A86B19EA322E}"/>
              </a:ext>
            </a:extLst>
          </p:cNvPr>
          <p:cNvSpPr>
            <a:spLocks noGrp="1"/>
          </p:cNvSpPr>
          <p:nvPr>
            <p:ph idx="1"/>
          </p:nvPr>
        </p:nvSpPr>
        <p:spPr/>
        <p:txBody>
          <a:bodyPr>
            <a:normAutofit/>
          </a:bodyPr>
          <a:lstStyle/>
          <a:p>
            <a:r>
              <a:rPr lang="en-US" altLang="zh-CN" dirty="0"/>
              <a:t>A cable company decides to provide Internet access over cable in a neighborhood consisting of 5000 houses. The company uses a coaxial cable and spectrum allocation al lowing 100 Mbps downstream bandwidth per cable. To attract customers, the company decides to guarantee at least 2 Mbps downstream bandwidth to each house at any time. Describe what the cable company needs to do to provide this guarantee. </a:t>
            </a:r>
          </a:p>
          <a:p>
            <a:endParaRPr lang="zh-CN" altLang="zh-CN" dirty="0"/>
          </a:p>
          <a:p>
            <a:r>
              <a:rPr lang="en-US" altLang="zh-CN" dirty="0">
                <a:solidFill>
                  <a:srgbClr val="0000FF"/>
                </a:solidFill>
              </a:rPr>
              <a:t>A 2-Mbps downstream bandwidth guarantee to each house implies at most 50 houses per coaxial cable. </a:t>
            </a:r>
          </a:p>
          <a:p>
            <a:r>
              <a:rPr lang="en-US" altLang="zh-CN" dirty="0">
                <a:solidFill>
                  <a:srgbClr val="0000FF"/>
                </a:solidFill>
              </a:rPr>
              <a:t>Thus, the cable company will need to split up the existing cable into 100 coaxial cables and connect each of them directly to a fiber node.</a:t>
            </a:r>
            <a:endParaRPr lang="zh-CN" altLang="zh-CN" dirty="0">
              <a:solidFill>
                <a:srgbClr val="0000FF"/>
              </a:solidFill>
            </a:endParaRPr>
          </a:p>
        </p:txBody>
      </p:sp>
    </p:spTree>
    <p:extLst>
      <p:ext uri="{BB962C8B-B14F-4D97-AF65-F5344CB8AC3E}">
        <p14:creationId xmlns:p14="http://schemas.microsoft.com/office/powerpoint/2010/main" val="563269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7D2E49-BE53-4935-B65A-39EE0EBFE5ED}"/>
              </a:ext>
            </a:extLst>
          </p:cNvPr>
          <p:cNvSpPr>
            <a:spLocks noGrp="1"/>
          </p:cNvSpPr>
          <p:nvPr>
            <p:ph type="title"/>
          </p:nvPr>
        </p:nvSpPr>
        <p:spPr/>
        <p:txBody>
          <a:bodyPr>
            <a:normAutofit fontScale="90000"/>
          </a:bodyPr>
          <a:lstStyle/>
          <a:p>
            <a:r>
              <a:rPr lang="en-US" altLang="zh-CN" dirty="0"/>
              <a:t>2-9</a:t>
            </a:r>
            <a:endParaRPr lang="zh-CN" altLang="en-US" dirty="0"/>
          </a:p>
        </p:txBody>
      </p:sp>
      <mc:AlternateContent xmlns:mc="http://schemas.openxmlformats.org/markup-compatibility/2006" xmlns:a14="http://schemas.microsoft.com/office/drawing/2010/main">
        <mc:Choice Requires="a14">
          <p:sp>
            <p:nvSpPr>
              <p:cNvPr id="3" name="副标题 2">
                <a:extLst>
                  <a:ext uri="{FF2B5EF4-FFF2-40B4-BE49-F238E27FC236}">
                    <a16:creationId xmlns:a16="http://schemas.microsoft.com/office/drawing/2014/main" id="{99F1C317-9E04-4AC4-9DB5-0DE3DCB5FF97}"/>
                  </a:ext>
                </a:extLst>
              </p:cNvPr>
              <p:cNvSpPr>
                <a:spLocks noGrp="1"/>
              </p:cNvSpPr>
              <p:nvPr>
                <p:ph idx="1"/>
              </p:nvPr>
            </p:nvSpPr>
            <p:spPr/>
            <p:txBody>
              <a:bodyPr>
                <a:normAutofit/>
              </a:bodyPr>
              <a:lstStyle/>
              <a:p>
                <a:r>
                  <a:rPr lang="en-US" altLang="zh-CN" dirty="0"/>
                  <a:t>How long will it take to transmit a 1-GB file from one VSAT to another using a hub as shown in Fig. 2-50? Assume that the uplink is 1 Mbps, the downlink is 7 Mbps, and circuit switching is used with 1.2 sec circuit setup time. </a:t>
                </a:r>
              </a:p>
              <a:p>
                <a:r>
                  <a:rPr lang="en-US" altLang="zh-CN" sz="2000" b="1" dirty="0">
                    <a:solidFill>
                      <a:srgbClr val="0000FF"/>
                    </a:solidFill>
                  </a:rPr>
                  <a:t>The lowest bandwidth link (1 Mbps) is the bottleneck in the system. </a:t>
                </a:r>
              </a:p>
              <a:p>
                <a:r>
                  <a:rPr lang="en-US" altLang="zh-CN" sz="2000" b="1" dirty="0">
                    <a:solidFill>
                      <a:srgbClr val="0000FF"/>
                    </a:solidFill>
                  </a:rPr>
                  <a:t>The transmission time to send 1 GB at 1 Mbps is 1024 × 8 seconds.</a:t>
                </a:r>
              </a:p>
              <a:p>
                <a:r>
                  <a:rPr lang="en-US" altLang="zh-CN" sz="2000" b="1" dirty="0">
                    <a:solidFill>
                      <a:srgbClr val="0000FF"/>
                    </a:solidFill>
                  </a:rPr>
                  <a:t>The one-way latency can be computed as 4 × (35800 / 300000) = 480 msec. </a:t>
                </a:r>
              </a:p>
              <a:p>
                <a:r>
                  <a:rPr lang="en-US" altLang="zh-CN" sz="2000" b="1" dirty="0">
                    <a:solidFill>
                      <a:srgbClr val="0000FF"/>
                    </a:solidFill>
                  </a:rPr>
                  <a:t>Thus the total amount of time is then 1. 2 + 1024 × 8 + 0. 48 = 8193. 68 seconds.</a:t>
                </a:r>
              </a:p>
              <a:p>
                <a:pPr/>
                <a14:m>
                  <m:oMathPara xmlns:m="http://schemas.openxmlformats.org/officeDocument/2006/math">
                    <m:oMathParaPr>
                      <m:jc m:val="centerGroup"/>
                    </m:oMathParaPr>
                    <m:oMath xmlns:m="http://schemas.openxmlformats.org/officeDocument/2006/math">
                      <m:sSub>
                        <m:sSubPr>
                          <m:ctrlPr>
                            <a:rPr lang="en-US"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𝒕</m:t>
                          </m:r>
                        </m:e>
                        <m:sub>
                          <m:r>
                            <a:rPr lang="en-US" altLang="zh-CN" sz="2000" b="1" i="1">
                              <a:solidFill>
                                <a:srgbClr val="0000FF"/>
                              </a:solidFill>
                              <a:latin typeface="Cambria Math" panose="02040503050406030204" pitchFamily="18" charset="0"/>
                            </a:rPr>
                            <m:t>𝒄𝒔</m:t>
                          </m:r>
                        </m:sub>
                      </m:sSub>
                      <m:r>
                        <a:rPr lang="en-US" altLang="zh-CN" sz="2000" b="1" i="1">
                          <a:solidFill>
                            <a:srgbClr val="0000FF"/>
                          </a:solidFill>
                          <a:latin typeface="Cambria Math" panose="02040503050406030204" pitchFamily="18" charset="0"/>
                        </a:rPr>
                        <m:t>=</m:t>
                      </m:r>
                      <m:sSub>
                        <m:sSubPr>
                          <m:ctrlPr>
                            <a:rPr lang="en-US"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𝒅</m:t>
                          </m:r>
                        </m:e>
                        <m:sub>
                          <m:r>
                            <a:rPr lang="en-US" altLang="zh-CN" sz="2000" b="1" i="1">
                              <a:solidFill>
                                <a:srgbClr val="0000FF"/>
                              </a:solidFill>
                              <a:latin typeface="Cambria Math" panose="02040503050406030204" pitchFamily="18" charset="0"/>
                            </a:rPr>
                            <m:t>𝒄𝒐𝒏𝒏</m:t>
                          </m:r>
                        </m:sub>
                      </m:sSub>
                      <m:r>
                        <a:rPr lang="en-US" altLang="zh-CN" sz="2000" b="1" i="1">
                          <a:solidFill>
                            <a:srgbClr val="0000FF"/>
                          </a:solidFill>
                          <a:latin typeface="Cambria Math" panose="02040503050406030204" pitchFamily="18" charset="0"/>
                        </a:rPr>
                        <m:t>+</m:t>
                      </m:r>
                      <m:sSub>
                        <m:sSubPr>
                          <m:ctrlPr>
                            <a:rPr lang="en-US"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𝒅</m:t>
                          </m:r>
                        </m:e>
                        <m:sub>
                          <m:r>
                            <a:rPr lang="en-US" altLang="zh-CN" sz="2000" b="1" i="1">
                              <a:solidFill>
                                <a:srgbClr val="0000FF"/>
                              </a:solidFill>
                              <a:latin typeface="Cambria Math" panose="02040503050406030204" pitchFamily="18" charset="0"/>
                            </a:rPr>
                            <m:t>𝒕𝒓𝒂𝒏𝒔</m:t>
                          </m:r>
                        </m:sub>
                      </m:sSub>
                      <m:r>
                        <a:rPr lang="en-US" altLang="zh-CN" sz="2000" b="1" i="1">
                          <a:solidFill>
                            <a:srgbClr val="0000FF"/>
                          </a:solidFill>
                          <a:latin typeface="Cambria Math" panose="02040503050406030204" pitchFamily="18" charset="0"/>
                        </a:rPr>
                        <m:t>+</m:t>
                      </m:r>
                      <m:sSub>
                        <m:sSubPr>
                          <m:ctrlPr>
                            <a:rPr lang="en-US"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𝒅</m:t>
                          </m:r>
                        </m:e>
                        <m:sub>
                          <m:r>
                            <a:rPr lang="en-US" altLang="zh-CN" sz="2000" b="1" i="1">
                              <a:solidFill>
                                <a:srgbClr val="0000FF"/>
                              </a:solidFill>
                              <a:latin typeface="Cambria Math" panose="02040503050406030204" pitchFamily="18" charset="0"/>
                            </a:rPr>
                            <m:t>𝒑𝒓𝒐𝒑</m:t>
                          </m:r>
                        </m:sub>
                      </m:sSub>
                      <m:r>
                        <a:rPr lang="en-US" altLang="zh-CN" sz="2000" b="1" i="1">
                          <a:solidFill>
                            <a:srgbClr val="0000FF"/>
                          </a:solidFill>
                          <a:latin typeface="Cambria Math" panose="02040503050406030204" pitchFamily="18" charset="0"/>
                        </a:rPr>
                        <m:t>=</m:t>
                      </m:r>
                      <m:r>
                        <a:rPr lang="en-US" altLang="zh-CN" sz="2000" b="1" i="1">
                          <a:solidFill>
                            <a:srgbClr val="0000FF"/>
                          </a:solidFill>
                          <a:latin typeface="Cambria Math" panose="02040503050406030204" pitchFamily="18" charset="0"/>
                        </a:rPr>
                        <m:t>𝟏</m:t>
                      </m:r>
                      <m:r>
                        <a:rPr lang="en-US" altLang="zh-CN" sz="2000" b="1" i="1">
                          <a:solidFill>
                            <a:srgbClr val="0000FF"/>
                          </a:solidFill>
                          <a:latin typeface="Cambria Math" panose="02040503050406030204" pitchFamily="18" charset="0"/>
                        </a:rPr>
                        <m:t>.</m:t>
                      </m:r>
                      <m:r>
                        <a:rPr lang="en-US" altLang="zh-CN" sz="2000" b="1" i="1">
                          <a:solidFill>
                            <a:srgbClr val="0000FF"/>
                          </a:solidFill>
                          <a:latin typeface="Cambria Math" panose="02040503050406030204" pitchFamily="18" charset="0"/>
                        </a:rPr>
                        <m:t>𝟐</m:t>
                      </m:r>
                      <m:r>
                        <a:rPr lang="en-US" altLang="zh-CN" sz="2000" b="1" i="1">
                          <a:solidFill>
                            <a:srgbClr val="0000FF"/>
                          </a:solidFill>
                          <a:latin typeface="Cambria Math" panose="02040503050406030204" pitchFamily="18" charset="0"/>
                        </a:rPr>
                        <m:t>𝒔</m:t>
                      </m:r>
                      <m:r>
                        <a:rPr lang="en-US" altLang="zh-CN" sz="2000" b="1" i="1">
                          <a:solidFill>
                            <a:srgbClr val="0000FF"/>
                          </a:solidFill>
                          <a:latin typeface="Cambria Math" panose="02040503050406030204" pitchFamily="18" charset="0"/>
                        </a:rPr>
                        <m:t>+</m:t>
                      </m:r>
                      <m:f>
                        <m:fPr>
                          <m:ctrlPr>
                            <a:rPr lang="en-US" altLang="zh-CN" sz="2000" b="1" i="1">
                              <a:solidFill>
                                <a:srgbClr val="0000FF"/>
                              </a:solidFill>
                              <a:latin typeface="Cambria Math" panose="02040503050406030204" pitchFamily="18" charset="0"/>
                            </a:rPr>
                          </m:ctrlPr>
                        </m:fPr>
                        <m:num>
                          <m:r>
                            <a:rPr lang="en-US" altLang="zh-CN" sz="2000" b="1" i="1">
                              <a:solidFill>
                                <a:srgbClr val="0000FF"/>
                              </a:solidFill>
                              <a:latin typeface="Cambria Math" panose="02040503050406030204" pitchFamily="18" charset="0"/>
                            </a:rPr>
                            <m:t>𝟏</m:t>
                          </m:r>
                          <m:r>
                            <a:rPr lang="en-US" altLang="zh-CN" sz="2000" b="1" i="1">
                              <a:solidFill>
                                <a:srgbClr val="0000FF"/>
                              </a:solidFill>
                              <a:latin typeface="Cambria Math" panose="02040503050406030204" pitchFamily="18" charset="0"/>
                            </a:rPr>
                            <m:t>𝑮𝑩</m:t>
                          </m:r>
                        </m:num>
                        <m:den>
                          <m:r>
                            <a:rPr lang="en-US" altLang="zh-CN" sz="2000" b="1" i="1">
                              <a:solidFill>
                                <a:srgbClr val="0000FF"/>
                              </a:solidFill>
                              <a:latin typeface="Cambria Math" panose="02040503050406030204" pitchFamily="18" charset="0"/>
                            </a:rPr>
                            <m:t>𝟏</m:t>
                          </m:r>
                          <m:r>
                            <a:rPr lang="en-US" altLang="zh-CN" sz="2000" b="1" i="1">
                              <a:solidFill>
                                <a:srgbClr val="0000FF"/>
                              </a:solidFill>
                              <a:latin typeface="Cambria Math" panose="02040503050406030204" pitchFamily="18" charset="0"/>
                            </a:rPr>
                            <m:t>𝑴𝒃𝒑𝒔</m:t>
                          </m:r>
                        </m:den>
                      </m:f>
                      <m:r>
                        <a:rPr lang="en-US" altLang="zh-CN" sz="2000" b="1" i="1">
                          <a:solidFill>
                            <a:srgbClr val="0000FF"/>
                          </a:solidFill>
                          <a:latin typeface="Cambria Math" panose="02040503050406030204" pitchFamily="18" charset="0"/>
                        </a:rPr>
                        <m:t>+</m:t>
                      </m:r>
                      <m:r>
                        <a:rPr lang="en-US" altLang="zh-CN" sz="2000" b="1" i="1">
                          <a:solidFill>
                            <a:srgbClr val="0000FF"/>
                          </a:solidFill>
                          <a:latin typeface="Cambria Math" panose="02040503050406030204" pitchFamily="18" charset="0"/>
                        </a:rPr>
                        <m:t>𝟒</m:t>
                      </m:r>
                      <m:r>
                        <a:rPr lang="en-US" altLang="zh-CN" sz="2000" b="1" i="1">
                          <a:solidFill>
                            <a:srgbClr val="0000FF"/>
                          </a:solidFill>
                          <a:latin typeface="Cambria Math" panose="02040503050406030204" pitchFamily="18" charset="0"/>
                          <a:ea typeface="Cambria Math" panose="02040503050406030204" pitchFamily="18" charset="0"/>
                        </a:rPr>
                        <m:t>×</m:t>
                      </m:r>
                      <m:f>
                        <m:fPr>
                          <m:ctrlPr>
                            <a:rPr lang="en-US" altLang="zh-CN" sz="2000" b="1" i="1">
                              <a:solidFill>
                                <a:srgbClr val="0000FF"/>
                              </a:solidFill>
                              <a:latin typeface="Cambria Math" panose="02040503050406030204" pitchFamily="18" charset="0"/>
                              <a:ea typeface="Cambria Math" panose="02040503050406030204" pitchFamily="18" charset="0"/>
                            </a:rPr>
                          </m:ctrlPr>
                        </m:fPr>
                        <m:num>
                          <m:r>
                            <a:rPr lang="en-US" altLang="zh-CN" sz="2000" b="1" i="1">
                              <a:solidFill>
                                <a:srgbClr val="0000FF"/>
                              </a:solidFill>
                              <a:latin typeface="Cambria Math" panose="02040503050406030204" pitchFamily="18" charset="0"/>
                              <a:ea typeface="Cambria Math" panose="02040503050406030204" pitchFamily="18" charset="0"/>
                            </a:rPr>
                            <m:t>𝟑𝟓𝟖𝟎𝟎</m:t>
                          </m:r>
                          <m:r>
                            <a:rPr lang="en-US" altLang="zh-CN" sz="2000" b="1" i="1">
                              <a:solidFill>
                                <a:srgbClr val="0000FF"/>
                              </a:solidFill>
                              <a:latin typeface="Cambria Math" panose="02040503050406030204" pitchFamily="18" charset="0"/>
                              <a:ea typeface="Cambria Math" panose="02040503050406030204" pitchFamily="18" charset="0"/>
                            </a:rPr>
                            <m:t>𝒌𝒎</m:t>
                          </m:r>
                        </m:num>
                        <m:den>
                          <m:r>
                            <a:rPr lang="en-US" altLang="zh-CN" sz="2000" b="1" i="1">
                              <a:solidFill>
                                <a:srgbClr val="0000FF"/>
                              </a:solidFill>
                              <a:latin typeface="Cambria Math" panose="02040503050406030204" pitchFamily="18" charset="0"/>
                              <a:ea typeface="Cambria Math" panose="02040503050406030204" pitchFamily="18" charset="0"/>
                            </a:rPr>
                            <m:t>𝟑</m:t>
                          </m:r>
                          <m:r>
                            <a:rPr lang="en-US" altLang="zh-CN" sz="2000" b="1" i="1">
                              <a:solidFill>
                                <a:srgbClr val="0000FF"/>
                              </a:solidFill>
                              <a:latin typeface="Cambria Math" panose="02040503050406030204" pitchFamily="18" charset="0"/>
                              <a:ea typeface="Cambria Math" panose="02040503050406030204" pitchFamily="18" charset="0"/>
                            </a:rPr>
                            <m:t>×</m:t>
                          </m:r>
                          <m:sSup>
                            <m:sSupPr>
                              <m:ctrlPr>
                                <a:rPr lang="en-US" altLang="zh-CN" sz="2000" b="1" i="1">
                                  <a:solidFill>
                                    <a:srgbClr val="0000FF"/>
                                  </a:solidFill>
                                  <a:latin typeface="Cambria Math" panose="02040503050406030204" pitchFamily="18" charset="0"/>
                                  <a:ea typeface="Cambria Math" panose="02040503050406030204" pitchFamily="18" charset="0"/>
                                </a:rPr>
                              </m:ctrlPr>
                            </m:sSupPr>
                            <m:e>
                              <m:r>
                                <a:rPr lang="en-US" altLang="zh-CN" sz="2000" b="1" i="1">
                                  <a:solidFill>
                                    <a:srgbClr val="0000FF"/>
                                  </a:solidFill>
                                  <a:latin typeface="Cambria Math" panose="02040503050406030204" pitchFamily="18" charset="0"/>
                                  <a:ea typeface="Cambria Math" panose="02040503050406030204" pitchFamily="18" charset="0"/>
                                </a:rPr>
                                <m:t>𝟏𝟎</m:t>
                              </m:r>
                            </m:e>
                            <m:sup>
                              <m:r>
                                <a:rPr lang="en-US" altLang="zh-CN" sz="2000" b="1" i="1">
                                  <a:solidFill>
                                    <a:srgbClr val="0000FF"/>
                                  </a:solidFill>
                                  <a:latin typeface="Cambria Math" panose="02040503050406030204" pitchFamily="18" charset="0"/>
                                  <a:ea typeface="Cambria Math" panose="02040503050406030204" pitchFamily="18" charset="0"/>
                                </a:rPr>
                                <m:t>𝟖</m:t>
                              </m:r>
                            </m:sup>
                          </m:sSup>
                          <m:r>
                            <a:rPr lang="en-US" altLang="zh-CN" sz="2000" b="1" i="1">
                              <a:solidFill>
                                <a:srgbClr val="0000FF"/>
                              </a:solidFill>
                              <a:latin typeface="Cambria Math" panose="02040503050406030204" pitchFamily="18" charset="0"/>
                              <a:ea typeface="Cambria Math" panose="02040503050406030204" pitchFamily="18" charset="0"/>
                            </a:rPr>
                            <m:t>𝒎</m:t>
                          </m:r>
                          <m:r>
                            <a:rPr lang="en-US" altLang="zh-CN" sz="2000" b="1" i="1">
                              <a:solidFill>
                                <a:srgbClr val="0000FF"/>
                              </a:solidFill>
                              <a:latin typeface="Cambria Math" panose="02040503050406030204" pitchFamily="18" charset="0"/>
                              <a:ea typeface="Cambria Math" panose="02040503050406030204" pitchFamily="18" charset="0"/>
                            </a:rPr>
                            <m:t>/</m:t>
                          </m:r>
                          <m:r>
                            <a:rPr lang="en-US" altLang="zh-CN" sz="2000" b="1" i="1">
                              <a:solidFill>
                                <a:srgbClr val="0000FF"/>
                              </a:solidFill>
                              <a:latin typeface="Cambria Math" panose="02040503050406030204" pitchFamily="18" charset="0"/>
                              <a:ea typeface="Cambria Math" panose="02040503050406030204" pitchFamily="18" charset="0"/>
                            </a:rPr>
                            <m:t>𝒔</m:t>
                          </m:r>
                        </m:den>
                      </m:f>
                      <m:r>
                        <a:rPr lang="en-US" altLang="zh-CN" sz="2000" b="1" i="1">
                          <a:solidFill>
                            <a:srgbClr val="0000FF"/>
                          </a:solidFill>
                          <a:latin typeface="Cambria Math" panose="02040503050406030204" pitchFamily="18" charset="0"/>
                          <a:ea typeface="Cambria Math" panose="02040503050406030204" pitchFamily="18" charset="0"/>
                        </a:rPr>
                        <m:t>=</m:t>
                      </m:r>
                      <m:r>
                        <a:rPr lang="en-US" altLang="zh-CN" sz="2000" b="1" i="1">
                          <a:solidFill>
                            <a:srgbClr val="0000FF"/>
                          </a:solidFill>
                          <a:latin typeface="Cambria Math" panose="02040503050406030204" pitchFamily="18" charset="0"/>
                          <a:ea typeface="Cambria Math" panose="02040503050406030204" pitchFamily="18" charset="0"/>
                        </a:rPr>
                        <m:t>𝟏</m:t>
                      </m:r>
                      <m:r>
                        <a:rPr lang="en-US" altLang="zh-CN" sz="2000" b="1" i="1">
                          <a:solidFill>
                            <a:srgbClr val="0000FF"/>
                          </a:solidFill>
                          <a:latin typeface="Cambria Math" panose="02040503050406030204" pitchFamily="18" charset="0"/>
                          <a:ea typeface="Cambria Math" panose="02040503050406030204" pitchFamily="18" charset="0"/>
                        </a:rPr>
                        <m:t>.</m:t>
                      </m:r>
                      <m:r>
                        <a:rPr lang="en-US" altLang="zh-CN" sz="2000" b="1" i="1">
                          <a:solidFill>
                            <a:srgbClr val="0000FF"/>
                          </a:solidFill>
                          <a:latin typeface="Cambria Math" panose="02040503050406030204" pitchFamily="18" charset="0"/>
                          <a:ea typeface="Cambria Math" panose="02040503050406030204" pitchFamily="18" charset="0"/>
                        </a:rPr>
                        <m:t>𝟐</m:t>
                      </m:r>
                      <m:r>
                        <a:rPr lang="en-US" altLang="zh-CN" sz="2000" b="1" i="1">
                          <a:solidFill>
                            <a:srgbClr val="0000FF"/>
                          </a:solidFill>
                          <a:latin typeface="Cambria Math" panose="02040503050406030204" pitchFamily="18" charset="0"/>
                          <a:ea typeface="Cambria Math" panose="02040503050406030204" pitchFamily="18" charset="0"/>
                        </a:rPr>
                        <m:t>𝒔</m:t>
                      </m:r>
                      <m:r>
                        <a:rPr lang="en-US" altLang="zh-CN" sz="2000" b="1" i="1">
                          <a:solidFill>
                            <a:srgbClr val="0000FF"/>
                          </a:solidFill>
                          <a:latin typeface="Cambria Math" panose="02040503050406030204" pitchFamily="18" charset="0"/>
                          <a:ea typeface="Cambria Math" panose="02040503050406030204" pitchFamily="18" charset="0"/>
                        </a:rPr>
                        <m:t>+</m:t>
                      </m:r>
                      <m:r>
                        <a:rPr lang="en-US" altLang="zh-CN" sz="2000" b="1" i="1">
                          <a:solidFill>
                            <a:srgbClr val="0000FF"/>
                          </a:solidFill>
                          <a:latin typeface="Cambria Math" panose="02040503050406030204" pitchFamily="18" charset="0"/>
                          <a:ea typeface="Cambria Math" panose="02040503050406030204" pitchFamily="18" charset="0"/>
                        </a:rPr>
                        <m:t>𝟏𝟎𝟐𝟒</m:t>
                      </m:r>
                      <m:r>
                        <a:rPr lang="en-US" altLang="zh-CN" sz="2000" b="1" i="1">
                          <a:solidFill>
                            <a:srgbClr val="0000FF"/>
                          </a:solidFill>
                          <a:latin typeface="Cambria Math" panose="02040503050406030204" pitchFamily="18" charset="0"/>
                          <a:ea typeface="Cambria Math" panose="02040503050406030204" pitchFamily="18" charset="0"/>
                        </a:rPr>
                        <m:t>×</m:t>
                      </m:r>
                      <m:r>
                        <a:rPr lang="en-US" altLang="zh-CN" sz="2000" b="1" i="1">
                          <a:solidFill>
                            <a:srgbClr val="0000FF"/>
                          </a:solidFill>
                          <a:latin typeface="Cambria Math" panose="02040503050406030204" pitchFamily="18" charset="0"/>
                          <a:ea typeface="Cambria Math" panose="02040503050406030204" pitchFamily="18" charset="0"/>
                        </a:rPr>
                        <m:t>𝟖</m:t>
                      </m:r>
                      <m:r>
                        <a:rPr lang="en-US" altLang="zh-CN" sz="2000" b="1" i="1">
                          <a:solidFill>
                            <a:srgbClr val="0000FF"/>
                          </a:solidFill>
                          <a:latin typeface="Cambria Math" panose="02040503050406030204" pitchFamily="18" charset="0"/>
                          <a:ea typeface="Cambria Math" panose="02040503050406030204" pitchFamily="18" charset="0"/>
                        </a:rPr>
                        <m:t>𝒔</m:t>
                      </m:r>
                      <m:r>
                        <a:rPr lang="en-US" altLang="zh-CN" sz="2000" b="1" i="1">
                          <a:solidFill>
                            <a:srgbClr val="0000FF"/>
                          </a:solidFill>
                          <a:latin typeface="Cambria Math" panose="02040503050406030204" pitchFamily="18" charset="0"/>
                          <a:ea typeface="Cambria Math" panose="02040503050406030204" pitchFamily="18" charset="0"/>
                        </a:rPr>
                        <m:t>+</m:t>
                      </m:r>
                      <m:r>
                        <a:rPr lang="en-US" altLang="zh-CN" sz="2000" b="1" i="1">
                          <a:solidFill>
                            <a:srgbClr val="0000FF"/>
                          </a:solidFill>
                          <a:latin typeface="Cambria Math" panose="02040503050406030204" pitchFamily="18" charset="0"/>
                          <a:ea typeface="Cambria Math" panose="02040503050406030204" pitchFamily="18" charset="0"/>
                        </a:rPr>
                        <m:t>𝟎</m:t>
                      </m:r>
                      <m:r>
                        <a:rPr lang="en-US" altLang="zh-CN" sz="2000" b="1" i="1">
                          <a:solidFill>
                            <a:srgbClr val="0000FF"/>
                          </a:solidFill>
                          <a:latin typeface="Cambria Math" panose="02040503050406030204" pitchFamily="18" charset="0"/>
                          <a:ea typeface="Cambria Math" panose="02040503050406030204" pitchFamily="18" charset="0"/>
                        </a:rPr>
                        <m:t>.</m:t>
                      </m:r>
                      <m:r>
                        <a:rPr lang="en-US" altLang="zh-CN" sz="2000" b="1" i="1">
                          <a:solidFill>
                            <a:srgbClr val="0000FF"/>
                          </a:solidFill>
                          <a:latin typeface="Cambria Math" panose="02040503050406030204" pitchFamily="18" charset="0"/>
                          <a:ea typeface="Cambria Math" panose="02040503050406030204" pitchFamily="18" charset="0"/>
                        </a:rPr>
                        <m:t>𝟒𝟖𝟎</m:t>
                      </m:r>
                      <m:r>
                        <a:rPr lang="en-US" altLang="zh-CN" sz="2000" b="1" i="1">
                          <a:solidFill>
                            <a:srgbClr val="0000FF"/>
                          </a:solidFill>
                          <a:latin typeface="Cambria Math" panose="02040503050406030204" pitchFamily="18" charset="0"/>
                          <a:ea typeface="Cambria Math" panose="02040503050406030204" pitchFamily="18" charset="0"/>
                        </a:rPr>
                        <m:t>𝒔</m:t>
                      </m:r>
                      <m:r>
                        <a:rPr lang="en-US" altLang="zh-CN" sz="2000" b="1" i="1">
                          <a:solidFill>
                            <a:srgbClr val="0000FF"/>
                          </a:solidFill>
                          <a:latin typeface="Cambria Math" panose="02040503050406030204" pitchFamily="18" charset="0"/>
                          <a:ea typeface="Cambria Math" panose="02040503050406030204" pitchFamily="18" charset="0"/>
                        </a:rPr>
                        <m:t>=</m:t>
                      </m:r>
                      <m:r>
                        <a:rPr lang="en-US" altLang="zh-CN" sz="2000" b="1" i="1">
                          <a:solidFill>
                            <a:srgbClr val="0000FF"/>
                          </a:solidFill>
                          <a:latin typeface="Cambria Math" panose="02040503050406030204" pitchFamily="18" charset="0"/>
                          <a:ea typeface="Cambria Math" panose="02040503050406030204" pitchFamily="18" charset="0"/>
                        </a:rPr>
                        <m:t>𝟖𝟏𝟗𝟑</m:t>
                      </m:r>
                      <m:r>
                        <a:rPr lang="en-US" altLang="zh-CN" sz="2000" b="1" i="1">
                          <a:solidFill>
                            <a:srgbClr val="0000FF"/>
                          </a:solidFill>
                          <a:latin typeface="Cambria Math" panose="02040503050406030204" pitchFamily="18" charset="0"/>
                          <a:ea typeface="Cambria Math" panose="02040503050406030204" pitchFamily="18" charset="0"/>
                        </a:rPr>
                        <m:t>.</m:t>
                      </m:r>
                      <m:r>
                        <a:rPr lang="en-US" altLang="zh-CN" sz="2000" b="1" i="1">
                          <a:solidFill>
                            <a:srgbClr val="0000FF"/>
                          </a:solidFill>
                          <a:latin typeface="Cambria Math" panose="02040503050406030204" pitchFamily="18" charset="0"/>
                          <a:ea typeface="Cambria Math" panose="02040503050406030204" pitchFamily="18" charset="0"/>
                        </a:rPr>
                        <m:t>𝟔𝟖</m:t>
                      </m:r>
                      <m:r>
                        <a:rPr lang="en-US" altLang="zh-CN" sz="2000" b="1" i="1">
                          <a:solidFill>
                            <a:srgbClr val="0000FF"/>
                          </a:solidFill>
                          <a:latin typeface="Cambria Math" panose="02040503050406030204" pitchFamily="18" charset="0"/>
                          <a:ea typeface="Cambria Math" panose="02040503050406030204" pitchFamily="18" charset="0"/>
                        </a:rPr>
                        <m:t>𝒔</m:t>
                      </m:r>
                    </m:oMath>
                  </m:oMathPara>
                </a14:m>
                <a:endParaRPr lang="en-US" altLang="zh-CN" sz="2000" b="1" dirty="0">
                  <a:solidFill>
                    <a:srgbClr val="0000FF"/>
                  </a:solidFill>
                </a:endParaRPr>
              </a:p>
              <a:p>
                <a:endParaRPr lang="en-US" altLang="zh-CN" b="1" i="1" dirty="0">
                  <a:solidFill>
                    <a:srgbClr val="0000FF"/>
                  </a:solidFill>
                  <a:latin typeface="Cambria Math" panose="02040503050406030204" pitchFamily="18" charset="0"/>
                </a:endParaRPr>
              </a:p>
              <a:p>
                <a:endParaRPr lang="zh-CN" altLang="zh-CN" dirty="0"/>
              </a:p>
            </p:txBody>
          </p:sp>
        </mc:Choice>
        <mc:Fallback xmlns="">
          <p:sp>
            <p:nvSpPr>
              <p:cNvPr id="3" name="副标题 2">
                <a:extLst>
                  <a:ext uri="{FF2B5EF4-FFF2-40B4-BE49-F238E27FC236}">
                    <a16:creationId xmlns:a16="http://schemas.microsoft.com/office/drawing/2014/main" id="{99F1C317-9E04-4AC4-9DB5-0DE3DCB5FF97}"/>
                  </a:ext>
                </a:extLst>
              </p:cNvPr>
              <p:cNvSpPr>
                <a:spLocks noGrp="1" noRot="1" noChangeAspect="1" noMove="1" noResize="1" noEditPoints="1" noAdjustHandles="1" noChangeArrowheads="1" noChangeShapeType="1" noTextEdit="1"/>
              </p:cNvSpPr>
              <p:nvPr>
                <p:ph idx="1"/>
              </p:nvPr>
            </p:nvSpPr>
            <p:spPr>
              <a:blipFill>
                <a:blip r:embed="rId2"/>
                <a:stretch>
                  <a:fillRect l="-928" t="-1561" r="-1333"/>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E68251DE-8B82-D8AC-71BC-FBAC01FBC92F}"/>
              </a:ext>
            </a:extLst>
          </p:cNvPr>
          <p:cNvPicPr>
            <a:picLocks noChangeAspect="1"/>
          </p:cNvPicPr>
          <p:nvPr/>
        </p:nvPicPr>
        <p:blipFill>
          <a:blip r:embed="rId3"/>
          <a:stretch>
            <a:fillRect/>
          </a:stretch>
        </p:blipFill>
        <p:spPr>
          <a:xfrm>
            <a:off x="8121339" y="4367185"/>
            <a:ext cx="3347480" cy="2430880"/>
          </a:xfrm>
          <a:prstGeom prst="rect">
            <a:avLst/>
          </a:prstGeom>
        </p:spPr>
      </p:pic>
    </p:spTree>
    <p:extLst>
      <p:ext uri="{BB962C8B-B14F-4D97-AF65-F5344CB8AC3E}">
        <p14:creationId xmlns:p14="http://schemas.microsoft.com/office/powerpoint/2010/main" val="36959783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A33F00-2F1C-4634-B6A7-AB4F5B35AF6A}"/>
              </a:ext>
            </a:extLst>
          </p:cNvPr>
          <p:cNvSpPr>
            <a:spLocks noGrp="1"/>
          </p:cNvSpPr>
          <p:nvPr>
            <p:ph type="title"/>
          </p:nvPr>
        </p:nvSpPr>
        <p:spPr/>
        <p:txBody>
          <a:bodyPr>
            <a:normAutofit fontScale="90000"/>
          </a:bodyPr>
          <a:lstStyle/>
          <a:p>
            <a:r>
              <a:rPr lang="en-US" altLang="zh-CN" dirty="0"/>
              <a:t>2-10</a:t>
            </a:r>
            <a:endParaRPr lang="zh-CN" altLang="en-US" dirty="0"/>
          </a:p>
        </p:txBody>
      </p:sp>
      <mc:AlternateContent xmlns:mc="http://schemas.openxmlformats.org/markup-compatibility/2006">
        <mc:Choice xmlns:a14="http://schemas.microsoft.com/office/drawing/2010/main" Requires="a14">
          <p:sp>
            <p:nvSpPr>
              <p:cNvPr id="3" name="副标题 2">
                <a:extLst>
                  <a:ext uri="{FF2B5EF4-FFF2-40B4-BE49-F238E27FC236}">
                    <a16:creationId xmlns:a16="http://schemas.microsoft.com/office/drawing/2014/main" id="{334A667E-5E9E-40F9-99CE-A8D423B33A2C}"/>
                  </a:ext>
                </a:extLst>
              </p:cNvPr>
              <p:cNvSpPr>
                <a:spLocks noGrp="1"/>
              </p:cNvSpPr>
              <p:nvPr>
                <p:ph idx="1"/>
              </p:nvPr>
            </p:nvSpPr>
            <p:spPr/>
            <p:txBody>
              <a:bodyPr>
                <a:normAutofit fontScale="85000" lnSpcReduction="20000"/>
              </a:bodyPr>
              <a:lstStyle/>
              <a:p>
                <a:r>
                  <a:rPr lang="en-US" altLang="zh-CN" dirty="0"/>
                  <a:t>Calculate the transmit time in the previous problem if packet switching is used instead Assume that the packet size is 64 KB, the switching delay in the satellite and hub is 10 microseconds, and the packet header size is 32 bytes.</a:t>
                </a:r>
              </a:p>
              <a:p>
                <a:endParaRPr lang="zh-CN" altLang="zh-CN" dirty="0"/>
              </a:p>
              <a:p>
                <a:r>
                  <a:rPr lang="en-US" altLang="zh-CN" b="1" dirty="0">
                    <a:solidFill>
                      <a:srgbClr val="0000FF"/>
                    </a:solidFill>
                  </a:rPr>
                  <a:t>The lowest bandwidth link (1 Mbps) is the bottleneck. </a:t>
                </a:r>
              </a:p>
              <a:p>
                <a:r>
                  <a:rPr lang="en-US" altLang="zh-CN" b="1" dirty="0">
                    <a:solidFill>
                      <a:srgbClr val="0000FF"/>
                    </a:solidFill>
                  </a:rPr>
                  <a:t>With 64 KB packets there are 16 packets in a 1 GB file. </a:t>
                </a:r>
              </a:p>
              <a:p>
                <a:r>
                  <a:rPr lang="en-US" altLang="zh-CN" b="1" dirty="0">
                    <a:solidFill>
                      <a:srgbClr val="0000FF"/>
                    </a:solidFill>
                  </a:rPr>
                  <a:t>This adds 16 × 32 = 512 bytes of headers to transmit.</a:t>
                </a:r>
              </a:p>
              <a:p>
                <a:r>
                  <a:rPr lang="en-US" altLang="zh-CN" b="1" dirty="0">
                    <a:solidFill>
                      <a:srgbClr val="0000FF"/>
                    </a:solidFill>
                  </a:rPr>
                  <a:t> The transmission time is thus 1024. 5 × 8 seconds. </a:t>
                </a:r>
              </a:p>
              <a:p>
                <a:r>
                  <a:rPr lang="en-US" altLang="zh-CN" b="1" dirty="0">
                    <a:solidFill>
                      <a:srgbClr val="0000FF"/>
                    </a:solidFill>
                  </a:rPr>
                  <a:t>The one-way latency can be computed by adding up the propagation delay of 4 × (35800 / 300000) = 480 </a:t>
                </a:r>
                <a:r>
                  <a:rPr lang="en-US" altLang="zh-CN" b="1" dirty="0" err="1">
                    <a:solidFill>
                      <a:srgbClr val="0000FF"/>
                    </a:solidFill>
                  </a:rPr>
                  <a:t>msec</a:t>
                </a:r>
                <a:r>
                  <a:rPr lang="en-US" altLang="zh-CN" b="1" dirty="0">
                    <a:solidFill>
                      <a:srgbClr val="0000FF"/>
                    </a:solidFill>
                  </a:rPr>
                  <a:t> plus three switching times of 0.01 </a:t>
                </a:r>
                <a:r>
                  <a:rPr lang="en-US" altLang="zh-CN" b="1" dirty="0" err="1">
                    <a:solidFill>
                      <a:srgbClr val="0000FF"/>
                    </a:solidFill>
                  </a:rPr>
                  <a:t>msec</a:t>
                </a:r>
                <a:r>
                  <a:rPr lang="en-US" altLang="zh-CN" b="1" dirty="0">
                    <a:solidFill>
                      <a:srgbClr val="0000FF"/>
                    </a:solidFill>
                  </a:rPr>
                  <a:t> for each switch. </a:t>
                </a:r>
              </a:p>
              <a:p>
                <a:r>
                  <a:rPr lang="en-US" altLang="zh-CN" b="1" dirty="0">
                    <a:solidFill>
                      <a:srgbClr val="0000FF"/>
                    </a:solidFill>
                  </a:rPr>
                  <a:t>Thus the total amount of time is 1024. 5 × 8 + 0. 48 + 3 × 0. 00001 = 8196. 48003 seconds. </a:t>
                </a:r>
              </a:p>
              <a:p>
                <a:pPr/>
                <a14:m>
                  <m:oMathPara xmlns:m="http://schemas.openxmlformats.org/officeDocument/2006/math">
                    <m:oMathParaPr>
                      <m:jc m:val="centerGroup"/>
                    </m:oMathParaPr>
                    <m:oMath xmlns:m="http://schemas.openxmlformats.org/officeDocument/2006/math">
                      <m:sSub>
                        <m:sSubPr>
                          <m:ctrlPr>
                            <a:rPr lang="en-US" altLang="zh-CN" b="1" i="1">
                              <a:solidFill>
                                <a:srgbClr val="0000FF"/>
                              </a:solidFill>
                              <a:latin typeface="Cambria Math" panose="02040503050406030204" pitchFamily="18" charset="0"/>
                            </a:rPr>
                          </m:ctrlPr>
                        </m:sSubPr>
                        <m:e>
                          <m:r>
                            <a:rPr lang="en-US" altLang="zh-CN" b="1" i="1" smtClean="0">
                              <a:solidFill>
                                <a:srgbClr val="0000FF"/>
                              </a:solidFill>
                              <a:latin typeface="Cambria Math" panose="02040503050406030204" pitchFamily="18" charset="0"/>
                            </a:rPr>
                            <m:t>𝒕</m:t>
                          </m:r>
                        </m:e>
                        <m:sub>
                          <m:r>
                            <a:rPr lang="en-US" altLang="zh-CN" b="1" i="1" smtClean="0">
                              <a:solidFill>
                                <a:srgbClr val="0000FF"/>
                              </a:solidFill>
                              <a:latin typeface="Cambria Math" panose="02040503050406030204" pitchFamily="18" charset="0"/>
                            </a:rPr>
                            <m:t>𝒑𝒔</m:t>
                          </m:r>
                        </m:sub>
                      </m:sSub>
                      <m:r>
                        <a:rPr lang="en-US" altLang="zh-CN" b="1" i="1" smtClean="0">
                          <a:solidFill>
                            <a:srgbClr val="0000FF"/>
                          </a:solidFill>
                          <a:latin typeface="Cambria Math" panose="02040503050406030204" pitchFamily="18" charset="0"/>
                        </a:rPr>
                        <m:t>=</m:t>
                      </m:r>
                      <m:sSub>
                        <m:sSubPr>
                          <m:ctrlPr>
                            <a:rPr lang="en-US" altLang="zh-CN" b="1" i="1">
                              <a:solidFill>
                                <a:srgbClr val="0000FF"/>
                              </a:solidFill>
                              <a:latin typeface="Cambria Math" panose="02040503050406030204" pitchFamily="18" charset="0"/>
                            </a:rPr>
                          </m:ctrlPr>
                        </m:sSubPr>
                        <m:e>
                          <m:r>
                            <a:rPr lang="en-US" altLang="zh-CN" b="1" i="1" smtClean="0">
                              <a:solidFill>
                                <a:srgbClr val="0000FF"/>
                              </a:solidFill>
                              <a:latin typeface="Cambria Math" panose="02040503050406030204" pitchFamily="18" charset="0"/>
                            </a:rPr>
                            <m:t>𝒅</m:t>
                          </m:r>
                        </m:e>
                        <m:sub>
                          <m:r>
                            <a:rPr lang="en-US" altLang="zh-CN" b="1" i="1" smtClean="0">
                              <a:solidFill>
                                <a:srgbClr val="0000FF"/>
                              </a:solidFill>
                              <a:latin typeface="Cambria Math" panose="02040503050406030204" pitchFamily="18" charset="0"/>
                            </a:rPr>
                            <m:t>𝒕𝒓𝒂𝒏𝒔</m:t>
                          </m:r>
                        </m:sub>
                      </m:sSub>
                      <m:r>
                        <a:rPr lang="en-US" altLang="zh-CN" b="1" i="1" smtClean="0">
                          <a:solidFill>
                            <a:srgbClr val="0000FF"/>
                          </a:solidFill>
                          <a:latin typeface="Cambria Math" panose="02040503050406030204" pitchFamily="18" charset="0"/>
                        </a:rPr>
                        <m:t>+</m:t>
                      </m:r>
                      <m:sSub>
                        <m:sSubPr>
                          <m:ctrlPr>
                            <a:rPr lang="en-US" altLang="zh-CN" b="1" i="1">
                              <a:solidFill>
                                <a:srgbClr val="0000FF"/>
                              </a:solidFill>
                              <a:latin typeface="Cambria Math" panose="02040503050406030204" pitchFamily="18" charset="0"/>
                            </a:rPr>
                          </m:ctrlPr>
                        </m:sSubPr>
                        <m:e>
                          <m:r>
                            <a:rPr lang="en-US" altLang="zh-CN" b="1" i="1" smtClean="0">
                              <a:solidFill>
                                <a:srgbClr val="0000FF"/>
                              </a:solidFill>
                              <a:latin typeface="Cambria Math" panose="02040503050406030204" pitchFamily="18" charset="0"/>
                            </a:rPr>
                            <m:t>𝒅</m:t>
                          </m:r>
                        </m:e>
                        <m:sub>
                          <m:r>
                            <a:rPr lang="en-US" altLang="zh-CN" b="1" i="1" smtClean="0">
                              <a:solidFill>
                                <a:srgbClr val="0000FF"/>
                              </a:solidFill>
                              <a:latin typeface="Cambria Math" panose="02040503050406030204" pitchFamily="18" charset="0"/>
                            </a:rPr>
                            <m:t>𝒑𝒓𝒐𝒑</m:t>
                          </m:r>
                        </m:sub>
                      </m:sSub>
                      <m:r>
                        <a:rPr lang="en-US" altLang="zh-CN" b="1" i="1" smtClean="0">
                          <a:solidFill>
                            <a:srgbClr val="0000FF"/>
                          </a:solidFill>
                          <a:latin typeface="Cambria Math" panose="02040503050406030204" pitchFamily="18" charset="0"/>
                        </a:rPr>
                        <m:t>+</m:t>
                      </m:r>
                      <m:sSub>
                        <m:sSubPr>
                          <m:ctrlPr>
                            <a:rPr lang="en-US" altLang="zh-CN" b="1" i="1" smtClean="0">
                              <a:solidFill>
                                <a:srgbClr val="0000FF"/>
                              </a:solidFill>
                              <a:latin typeface="Cambria Math" panose="02040503050406030204" pitchFamily="18" charset="0"/>
                            </a:rPr>
                          </m:ctrlPr>
                        </m:sSubPr>
                        <m:e>
                          <m:r>
                            <a:rPr lang="en-US" altLang="zh-CN" b="1" i="1" smtClean="0">
                              <a:solidFill>
                                <a:srgbClr val="0000FF"/>
                              </a:solidFill>
                              <a:latin typeface="Cambria Math" panose="02040503050406030204" pitchFamily="18" charset="0"/>
                            </a:rPr>
                            <m:t>𝒅</m:t>
                          </m:r>
                        </m:e>
                        <m:sub>
                          <m:r>
                            <a:rPr lang="en-US" altLang="zh-CN" b="1" i="1" smtClean="0">
                              <a:solidFill>
                                <a:srgbClr val="0000FF"/>
                              </a:solidFill>
                              <a:latin typeface="Cambria Math" panose="02040503050406030204" pitchFamily="18" charset="0"/>
                            </a:rPr>
                            <m:t>𝒒𝒖𝒆𝒖𝒆</m:t>
                          </m:r>
                        </m:sub>
                      </m:sSub>
                      <m:r>
                        <a:rPr lang="en-US" altLang="zh-CN" b="1" i="1" smtClean="0">
                          <a:solidFill>
                            <a:srgbClr val="0000FF"/>
                          </a:solidFill>
                          <a:latin typeface="Cambria Math" panose="02040503050406030204" pitchFamily="18" charset="0"/>
                        </a:rPr>
                        <m:t>+</m:t>
                      </m:r>
                      <m:sSub>
                        <m:sSubPr>
                          <m:ctrlPr>
                            <a:rPr lang="en-US" altLang="zh-CN" b="1" i="1">
                              <a:solidFill>
                                <a:srgbClr val="0000FF"/>
                              </a:solidFill>
                              <a:latin typeface="Cambria Math" panose="02040503050406030204" pitchFamily="18" charset="0"/>
                            </a:rPr>
                          </m:ctrlPr>
                        </m:sSubPr>
                        <m:e>
                          <m:r>
                            <a:rPr lang="en-US" altLang="zh-CN" b="1" i="1" smtClean="0">
                              <a:solidFill>
                                <a:srgbClr val="0000FF"/>
                              </a:solidFill>
                              <a:latin typeface="Cambria Math" panose="02040503050406030204" pitchFamily="18" charset="0"/>
                            </a:rPr>
                            <m:t>𝒅</m:t>
                          </m:r>
                        </m:e>
                        <m:sub>
                          <m:r>
                            <a:rPr lang="en-US" altLang="zh-CN" b="1" i="1" smtClean="0">
                              <a:solidFill>
                                <a:srgbClr val="0000FF"/>
                              </a:solidFill>
                              <a:latin typeface="Cambria Math" panose="02040503050406030204" pitchFamily="18" charset="0"/>
                            </a:rPr>
                            <m:t>𝒑𝒓𝒐𝒄</m:t>
                          </m:r>
                        </m:sub>
                      </m:sSub>
                      <m:r>
                        <a:rPr lang="en-US" altLang="zh-CN" b="1" i="1" smtClean="0">
                          <a:solidFill>
                            <a:srgbClr val="0000FF"/>
                          </a:solidFill>
                          <a:latin typeface="Cambria Math" panose="02040503050406030204" pitchFamily="18" charset="0"/>
                        </a:rPr>
                        <m:t>=</m:t>
                      </m:r>
                      <m:f>
                        <m:fPr>
                          <m:ctrlPr>
                            <a:rPr lang="en-US" altLang="zh-CN" b="1" i="1">
                              <a:solidFill>
                                <a:srgbClr val="0000FF"/>
                              </a:solidFill>
                              <a:latin typeface="Cambria Math" panose="02040503050406030204" pitchFamily="18" charset="0"/>
                            </a:rPr>
                          </m:ctrlPr>
                        </m:fPr>
                        <m:num>
                          <m:r>
                            <a:rPr lang="en-US" altLang="zh-CN" b="1" i="1" smtClean="0">
                              <a:solidFill>
                                <a:srgbClr val="0000FF"/>
                              </a:solidFill>
                              <a:latin typeface="Cambria Math" panose="02040503050406030204" pitchFamily="18" charset="0"/>
                            </a:rPr>
                            <m:t>𝟏</m:t>
                          </m:r>
                          <m:r>
                            <a:rPr lang="en-US" altLang="zh-CN" b="1" i="1" smtClean="0">
                              <a:solidFill>
                                <a:srgbClr val="0000FF"/>
                              </a:solidFill>
                              <a:latin typeface="Cambria Math" panose="02040503050406030204" pitchFamily="18" charset="0"/>
                            </a:rPr>
                            <m:t>𝑮𝑩</m:t>
                          </m:r>
                          <m:r>
                            <a:rPr lang="en-US" altLang="zh-CN" b="1" i="1" smtClean="0">
                              <a:solidFill>
                                <a:srgbClr val="0000FF"/>
                              </a:solidFill>
                              <a:latin typeface="Cambria Math" panose="02040503050406030204" pitchFamily="18" charset="0"/>
                            </a:rPr>
                            <m:t>+(</m:t>
                          </m:r>
                          <m:f>
                            <m:fPr>
                              <m:ctrlPr>
                                <a:rPr lang="en-US" altLang="zh-CN" b="1" i="1">
                                  <a:solidFill>
                                    <a:srgbClr val="0000FF"/>
                                  </a:solidFill>
                                  <a:latin typeface="Cambria Math" panose="02040503050406030204" pitchFamily="18" charset="0"/>
                                </a:rPr>
                              </m:ctrlPr>
                            </m:fPr>
                            <m:num>
                              <m:r>
                                <a:rPr lang="en-US" altLang="zh-CN" b="1" i="1" smtClean="0">
                                  <a:solidFill>
                                    <a:srgbClr val="0000FF"/>
                                  </a:solidFill>
                                  <a:latin typeface="Cambria Math" panose="02040503050406030204" pitchFamily="18" charset="0"/>
                                </a:rPr>
                                <m:t>𝟏</m:t>
                              </m:r>
                              <m:r>
                                <a:rPr lang="en-US" altLang="zh-CN" b="1" i="1" smtClean="0">
                                  <a:solidFill>
                                    <a:srgbClr val="0000FF"/>
                                  </a:solidFill>
                                  <a:latin typeface="Cambria Math" panose="02040503050406030204" pitchFamily="18" charset="0"/>
                                </a:rPr>
                                <m:t>𝑮𝑩</m:t>
                              </m:r>
                            </m:num>
                            <m:den>
                              <m:r>
                                <a:rPr lang="en-US" altLang="zh-CN" b="1" i="1" smtClean="0">
                                  <a:solidFill>
                                    <a:srgbClr val="0000FF"/>
                                  </a:solidFill>
                                  <a:latin typeface="Cambria Math" panose="02040503050406030204" pitchFamily="18" charset="0"/>
                                </a:rPr>
                                <m:t>𝟔𝟒</m:t>
                              </m:r>
                              <m:r>
                                <a:rPr lang="en-US" altLang="zh-CN" b="1" i="1" smtClean="0">
                                  <a:solidFill>
                                    <a:srgbClr val="0000FF"/>
                                  </a:solidFill>
                                  <a:latin typeface="Cambria Math" panose="02040503050406030204" pitchFamily="18" charset="0"/>
                                </a:rPr>
                                <m:t>𝒌𝑩</m:t>
                              </m:r>
                            </m:den>
                          </m:f>
                          <m:r>
                            <a:rPr lang="en-US" altLang="zh-CN" b="1" i="1" smtClean="0">
                              <a:solidFill>
                                <a:srgbClr val="0000FF"/>
                              </a:solidFill>
                              <a:latin typeface="Cambria Math" panose="02040503050406030204" pitchFamily="18" charset="0"/>
                            </a:rPr>
                            <m:t>)</m:t>
                          </m:r>
                          <m:r>
                            <a:rPr lang="en-US" altLang="zh-CN" b="1" i="1" smtClean="0">
                              <a:solidFill>
                                <a:srgbClr val="0000FF"/>
                              </a:solidFill>
                              <a:latin typeface="Cambria Math" panose="02040503050406030204" pitchFamily="18" charset="0"/>
                              <a:ea typeface="Cambria Math" panose="02040503050406030204" pitchFamily="18" charset="0"/>
                            </a:rPr>
                            <m:t>×</m:t>
                          </m:r>
                          <m:r>
                            <a:rPr lang="en-US" altLang="zh-CN" b="1" i="1" smtClean="0">
                              <a:solidFill>
                                <a:srgbClr val="0000FF"/>
                              </a:solidFill>
                              <a:latin typeface="Cambria Math" panose="02040503050406030204" pitchFamily="18" charset="0"/>
                              <a:ea typeface="Cambria Math" panose="02040503050406030204" pitchFamily="18" charset="0"/>
                            </a:rPr>
                            <m:t>𝟑𝟐</m:t>
                          </m:r>
                          <m:r>
                            <a:rPr lang="en-US" altLang="zh-CN" b="1" i="1" smtClean="0">
                              <a:solidFill>
                                <a:srgbClr val="0000FF"/>
                              </a:solidFill>
                              <a:latin typeface="Cambria Math" panose="02040503050406030204" pitchFamily="18" charset="0"/>
                              <a:ea typeface="Cambria Math" panose="02040503050406030204" pitchFamily="18" charset="0"/>
                            </a:rPr>
                            <m:t>𝑩</m:t>
                          </m:r>
                        </m:num>
                        <m:den>
                          <m:r>
                            <a:rPr lang="en-US" altLang="zh-CN" b="1" i="1" smtClean="0">
                              <a:solidFill>
                                <a:srgbClr val="0000FF"/>
                              </a:solidFill>
                              <a:latin typeface="Cambria Math" panose="02040503050406030204" pitchFamily="18" charset="0"/>
                            </a:rPr>
                            <m:t>𝟏</m:t>
                          </m:r>
                          <m:r>
                            <a:rPr lang="en-US" altLang="zh-CN" b="1" i="1" smtClean="0">
                              <a:solidFill>
                                <a:srgbClr val="0000FF"/>
                              </a:solidFill>
                              <a:latin typeface="Cambria Math" panose="02040503050406030204" pitchFamily="18" charset="0"/>
                            </a:rPr>
                            <m:t>𝑴𝒃𝒑𝒔</m:t>
                          </m:r>
                        </m:den>
                      </m:f>
                      <m:r>
                        <a:rPr lang="en-US" altLang="zh-CN" b="1" i="1" smtClean="0">
                          <a:solidFill>
                            <a:srgbClr val="0000FF"/>
                          </a:solidFill>
                          <a:latin typeface="Cambria Math" panose="02040503050406030204" pitchFamily="18" charset="0"/>
                        </a:rPr>
                        <m:t>+</m:t>
                      </m:r>
                      <m:r>
                        <a:rPr lang="en-US" altLang="zh-CN" b="1" i="1" smtClean="0">
                          <a:solidFill>
                            <a:srgbClr val="0000FF"/>
                          </a:solidFill>
                          <a:latin typeface="Cambria Math" panose="02040503050406030204" pitchFamily="18" charset="0"/>
                        </a:rPr>
                        <m:t>𝟑</m:t>
                      </m:r>
                      <m:r>
                        <a:rPr lang="en-US" altLang="zh-CN" b="1" i="1" smtClean="0">
                          <a:solidFill>
                            <a:srgbClr val="0000FF"/>
                          </a:solidFill>
                          <a:latin typeface="Cambria Math" panose="02040503050406030204" pitchFamily="18" charset="0"/>
                          <a:ea typeface="Cambria Math" panose="02040503050406030204" pitchFamily="18" charset="0"/>
                        </a:rPr>
                        <m:t>×</m:t>
                      </m:r>
                      <m:f>
                        <m:fPr>
                          <m:ctrlPr>
                            <a:rPr lang="en-US" altLang="zh-CN" b="1" i="1">
                              <a:solidFill>
                                <a:srgbClr val="0000FF"/>
                              </a:solidFill>
                              <a:latin typeface="Cambria Math" panose="02040503050406030204" pitchFamily="18" charset="0"/>
                              <a:ea typeface="Cambria Math" panose="02040503050406030204" pitchFamily="18" charset="0"/>
                            </a:rPr>
                          </m:ctrlPr>
                        </m:fPr>
                        <m:num>
                          <m:r>
                            <a:rPr lang="en-US" altLang="zh-CN" b="1" i="1" smtClean="0">
                              <a:solidFill>
                                <a:srgbClr val="0000FF"/>
                              </a:solidFill>
                              <a:latin typeface="Cambria Math" panose="02040503050406030204" pitchFamily="18" charset="0"/>
                              <a:ea typeface="Cambria Math" panose="02040503050406030204" pitchFamily="18" charset="0"/>
                            </a:rPr>
                            <m:t>(</m:t>
                          </m:r>
                          <m:r>
                            <a:rPr lang="en-US" altLang="zh-CN" b="1" i="1" smtClean="0">
                              <a:solidFill>
                                <a:srgbClr val="0000FF"/>
                              </a:solidFill>
                              <a:latin typeface="Cambria Math" panose="02040503050406030204" pitchFamily="18" charset="0"/>
                              <a:ea typeface="Cambria Math" panose="02040503050406030204" pitchFamily="18" charset="0"/>
                            </a:rPr>
                            <m:t>𝟔𝟒</m:t>
                          </m:r>
                          <m:r>
                            <a:rPr lang="en-US" altLang="zh-CN" b="1" i="1" smtClean="0">
                              <a:solidFill>
                                <a:srgbClr val="0000FF"/>
                              </a:solidFill>
                              <a:latin typeface="Cambria Math" panose="02040503050406030204" pitchFamily="18" charset="0"/>
                              <a:ea typeface="Cambria Math" panose="02040503050406030204" pitchFamily="18" charset="0"/>
                            </a:rPr>
                            <m:t>𝒌𝑩</m:t>
                          </m:r>
                          <m:r>
                            <a:rPr lang="en-US" altLang="zh-CN" b="1" i="1" smtClean="0">
                              <a:solidFill>
                                <a:srgbClr val="0000FF"/>
                              </a:solidFill>
                              <a:latin typeface="Cambria Math" panose="02040503050406030204" pitchFamily="18" charset="0"/>
                              <a:ea typeface="Cambria Math" panose="02040503050406030204" pitchFamily="18" charset="0"/>
                            </a:rPr>
                            <m:t>+</m:t>
                          </m:r>
                          <m:r>
                            <a:rPr lang="en-US" altLang="zh-CN" b="1" i="1" smtClean="0">
                              <a:solidFill>
                                <a:srgbClr val="0000FF"/>
                              </a:solidFill>
                              <a:latin typeface="Cambria Math" panose="02040503050406030204" pitchFamily="18" charset="0"/>
                              <a:ea typeface="Cambria Math" panose="02040503050406030204" pitchFamily="18" charset="0"/>
                            </a:rPr>
                            <m:t>𝟑𝟐</m:t>
                          </m:r>
                          <m:r>
                            <a:rPr lang="en-US" altLang="zh-CN" b="1" i="1" smtClean="0">
                              <a:solidFill>
                                <a:srgbClr val="0000FF"/>
                              </a:solidFill>
                              <a:latin typeface="Cambria Math" panose="02040503050406030204" pitchFamily="18" charset="0"/>
                              <a:ea typeface="Cambria Math" panose="02040503050406030204" pitchFamily="18" charset="0"/>
                            </a:rPr>
                            <m:t>𝑩</m:t>
                          </m:r>
                          <m:r>
                            <a:rPr lang="en-US" altLang="zh-CN" b="1" i="1" smtClean="0">
                              <a:solidFill>
                                <a:srgbClr val="0000FF"/>
                              </a:solidFill>
                              <a:latin typeface="Cambria Math" panose="02040503050406030204" pitchFamily="18" charset="0"/>
                              <a:ea typeface="Cambria Math" panose="02040503050406030204" pitchFamily="18" charset="0"/>
                            </a:rPr>
                            <m:t>)</m:t>
                          </m:r>
                        </m:num>
                        <m:den>
                          <m:r>
                            <a:rPr lang="en-US" altLang="zh-CN" b="1" i="1" smtClean="0">
                              <a:solidFill>
                                <a:srgbClr val="0000FF"/>
                              </a:solidFill>
                              <a:latin typeface="Cambria Math" panose="02040503050406030204" pitchFamily="18" charset="0"/>
                              <a:ea typeface="Cambria Math" panose="02040503050406030204" pitchFamily="18" charset="0"/>
                            </a:rPr>
                            <m:t>𝟏</m:t>
                          </m:r>
                          <m:r>
                            <a:rPr lang="en-US" altLang="zh-CN" b="1" i="1" smtClean="0">
                              <a:solidFill>
                                <a:srgbClr val="0000FF"/>
                              </a:solidFill>
                              <a:latin typeface="Cambria Math" panose="02040503050406030204" pitchFamily="18" charset="0"/>
                              <a:ea typeface="Cambria Math" panose="02040503050406030204" pitchFamily="18" charset="0"/>
                            </a:rPr>
                            <m:t>𝑴𝒃𝒑𝒔</m:t>
                          </m:r>
                        </m:den>
                      </m:f>
                      <m:r>
                        <a:rPr lang="en-US" altLang="zh-CN" b="1" i="1" smtClean="0">
                          <a:solidFill>
                            <a:srgbClr val="0000FF"/>
                          </a:solidFill>
                          <a:latin typeface="Cambria Math" panose="02040503050406030204" pitchFamily="18" charset="0"/>
                        </a:rPr>
                        <m:t>+</m:t>
                      </m:r>
                      <m:r>
                        <a:rPr lang="en-US" altLang="zh-CN" b="1" i="1" smtClean="0">
                          <a:solidFill>
                            <a:srgbClr val="0000FF"/>
                          </a:solidFill>
                          <a:latin typeface="Cambria Math" panose="02040503050406030204" pitchFamily="18" charset="0"/>
                        </a:rPr>
                        <m:t>𝟒</m:t>
                      </m:r>
                      <m:r>
                        <a:rPr lang="en-US" altLang="zh-CN" b="1" i="1" smtClean="0">
                          <a:solidFill>
                            <a:srgbClr val="0000FF"/>
                          </a:solidFill>
                          <a:latin typeface="Cambria Math" panose="02040503050406030204" pitchFamily="18" charset="0"/>
                          <a:ea typeface="Cambria Math" panose="02040503050406030204" pitchFamily="18" charset="0"/>
                        </a:rPr>
                        <m:t>×</m:t>
                      </m:r>
                      <m:f>
                        <m:fPr>
                          <m:ctrlPr>
                            <a:rPr lang="en-US" altLang="zh-CN" b="1" i="1">
                              <a:solidFill>
                                <a:srgbClr val="0000FF"/>
                              </a:solidFill>
                              <a:latin typeface="Cambria Math" panose="02040503050406030204" pitchFamily="18" charset="0"/>
                              <a:ea typeface="Cambria Math" panose="02040503050406030204" pitchFamily="18" charset="0"/>
                            </a:rPr>
                          </m:ctrlPr>
                        </m:fPr>
                        <m:num>
                          <m:r>
                            <a:rPr lang="en-US" altLang="zh-CN" b="1" i="1" smtClean="0">
                              <a:solidFill>
                                <a:srgbClr val="0000FF"/>
                              </a:solidFill>
                              <a:latin typeface="Cambria Math" panose="02040503050406030204" pitchFamily="18" charset="0"/>
                              <a:ea typeface="Cambria Math" panose="02040503050406030204" pitchFamily="18" charset="0"/>
                            </a:rPr>
                            <m:t>𝟑𝟓𝟖𝟎𝟎</m:t>
                          </m:r>
                          <m:r>
                            <a:rPr lang="en-US" altLang="zh-CN" b="1" i="1" smtClean="0">
                              <a:solidFill>
                                <a:srgbClr val="0000FF"/>
                              </a:solidFill>
                              <a:latin typeface="Cambria Math" panose="02040503050406030204" pitchFamily="18" charset="0"/>
                              <a:ea typeface="Cambria Math" panose="02040503050406030204" pitchFamily="18" charset="0"/>
                            </a:rPr>
                            <m:t>𝒌𝒎</m:t>
                          </m:r>
                        </m:num>
                        <m:den>
                          <m:r>
                            <a:rPr lang="en-US" altLang="zh-CN" b="1" i="1" smtClean="0">
                              <a:solidFill>
                                <a:srgbClr val="0000FF"/>
                              </a:solidFill>
                              <a:latin typeface="Cambria Math" panose="02040503050406030204" pitchFamily="18" charset="0"/>
                              <a:ea typeface="Cambria Math" panose="02040503050406030204" pitchFamily="18" charset="0"/>
                            </a:rPr>
                            <m:t>𝟑</m:t>
                          </m:r>
                          <m:r>
                            <a:rPr lang="en-US" altLang="zh-CN" b="1" i="1" smtClean="0">
                              <a:solidFill>
                                <a:srgbClr val="0000FF"/>
                              </a:solidFill>
                              <a:latin typeface="Cambria Math" panose="02040503050406030204" pitchFamily="18" charset="0"/>
                              <a:ea typeface="Cambria Math" panose="02040503050406030204" pitchFamily="18" charset="0"/>
                            </a:rPr>
                            <m:t>×</m:t>
                          </m:r>
                          <m:sSup>
                            <m:sSupPr>
                              <m:ctrlPr>
                                <a:rPr lang="en-US" altLang="zh-CN" b="1" i="1">
                                  <a:solidFill>
                                    <a:srgbClr val="0000FF"/>
                                  </a:solidFill>
                                  <a:latin typeface="Cambria Math" panose="02040503050406030204" pitchFamily="18" charset="0"/>
                                  <a:ea typeface="Cambria Math" panose="02040503050406030204" pitchFamily="18" charset="0"/>
                                </a:rPr>
                              </m:ctrlPr>
                            </m:sSupPr>
                            <m:e>
                              <m:r>
                                <a:rPr lang="en-US" altLang="zh-CN" b="1" i="1" smtClean="0">
                                  <a:solidFill>
                                    <a:srgbClr val="0000FF"/>
                                  </a:solidFill>
                                  <a:latin typeface="Cambria Math" panose="02040503050406030204" pitchFamily="18" charset="0"/>
                                  <a:ea typeface="Cambria Math" panose="02040503050406030204" pitchFamily="18" charset="0"/>
                                </a:rPr>
                                <m:t>𝟏𝟎</m:t>
                              </m:r>
                            </m:e>
                            <m:sup>
                              <m:r>
                                <a:rPr lang="en-US" altLang="zh-CN" b="1" i="1" smtClean="0">
                                  <a:solidFill>
                                    <a:srgbClr val="0000FF"/>
                                  </a:solidFill>
                                  <a:latin typeface="Cambria Math" panose="02040503050406030204" pitchFamily="18" charset="0"/>
                                  <a:ea typeface="Cambria Math" panose="02040503050406030204" pitchFamily="18" charset="0"/>
                                </a:rPr>
                                <m:t>𝟖</m:t>
                              </m:r>
                            </m:sup>
                          </m:sSup>
                          <m:r>
                            <a:rPr lang="en-US" altLang="zh-CN" b="1" i="1" smtClean="0">
                              <a:solidFill>
                                <a:srgbClr val="0000FF"/>
                              </a:solidFill>
                              <a:latin typeface="Cambria Math" panose="02040503050406030204" pitchFamily="18" charset="0"/>
                              <a:ea typeface="Cambria Math" panose="02040503050406030204" pitchFamily="18" charset="0"/>
                            </a:rPr>
                            <m:t>𝒎</m:t>
                          </m:r>
                          <m:r>
                            <a:rPr lang="en-US" altLang="zh-CN" b="1" i="1" smtClean="0">
                              <a:solidFill>
                                <a:srgbClr val="0000FF"/>
                              </a:solidFill>
                              <a:latin typeface="Cambria Math" panose="02040503050406030204" pitchFamily="18" charset="0"/>
                              <a:ea typeface="Cambria Math" panose="02040503050406030204" pitchFamily="18" charset="0"/>
                            </a:rPr>
                            <m:t>/</m:t>
                          </m:r>
                          <m:r>
                            <a:rPr lang="en-US" altLang="zh-CN" b="1" i="1" smtClean="0">
                              <a:solidFill>
                                <a:srgbClr val="0000FF"/>
                              </a:solidFill>
                              <a:latin typeface="Cambria Math" panose="02040503050406030204" pitchFamily="18" charset="0"/>
                              <a:ea typeface="Cambria Math" panose="02040503050406030204" pitchFamily="18" charset="0"/>
                            </a:rPr>
                            <m:t>𝒔</m:t>
                          </m:r>
                        </m:den>
                      </m:f>
                      <m:r>
                        <a:rPr lang="en-US" altLang="zh-CN" b="1" i="1" smtClean="0">
                          <a:solidFill>
                            <a:srgbClr val="0000FF"/>
                          </a:solidFill>
                          <a:latin typeface="Cambria Math" panose="02040503050406030204" pitchFamily="18" charset="0"/>
                          <a:ea typeface="Cambria Math" panose="02040503050406030204" pitchFamily="18" charset="0"/>
                        </a:rPr>
                        <m:t>+</m:t>
                      </m:r>
                      <m:r>
                        <a:rPr lang="en-US" altLang="zh-CN" b="1" i="1" smtClean="0">
                          <a:solidFill>
                            <a:srgbClr val="0000FF"/>
                          </a:solidFill>
                          <a:latin typeface="Cambria Math" panose="02040503050406030204" pitchFamily="18" charset="0"/>
                          <a:ea typeface="Cambria Math" panose="02040503050406030204" pitchFamily="18" charset="0"/>
                        </a:rPr>
                        <m:t>𝟑</m:t>
                      </m:r>
                      <m:r>
                        <a:rPr lang="en-US" altLang="zh-CN" b="1" i="1" smtClean="0">
                          <a:solidFill>
                            <a:srgbClr val="0000FF"/>
                          </a:solidFill>
                          <a:latin typeface="Cambria Math" panose="02040503050406030204" pitchFamily="18" charset="0"/>
                          <a:ea typeface="Cambria Math" panose="02040503050406030204" pitchFamily="18" charset="0"/>
                        </a:rPr>
                        <m:t>×</m:t>
                      </m:r>
                      <m:r>
                        <a:rPr lang="en-US" altLang="zh-CN" b="1" i="1" smtClean="0">
                          <a:solidFill>
                            <a:srgbClr val="0000FF"/>
                          </a:solidFill>
                          <a:latin typeface="Cambria Math" panose="02040503050406030204" pitchFamily="18" charset="0"/>
                          <a:ea typeface="Cambria Math" panose="02040503050406030204" pitchFamily="18" charset="0"/>
                        </a:rPr>
                        <m:t>𝟏𝟎</m:t>
                      </m:r>
                      <m:r>
                        <a:rPr lang="en-US" altLang="zh-CN" b="1" i="1" smtClean="0">
                          <a:solidFill>
                            <a:srgbClr val="0000FF"/>
                          </a:solidFill>
                          <a:latin typeface="Cambria Math" panose="02040503050406030204" pitchFamily="18" charset="0"/>
                          <a:ea typeface="Cambria Math" panose="02040503050406030204" pitchFamily="18" charset="0"/>
                        </a:rPr>
                        <m:t>×</m:t>
                      </m:r>
                      <m:sSup>
                        <m:sSupPr>
                          <m:ctrlPr>
                            <a:rPr lang="en-US" altLang="zh-CN" b="1" i="1">
                              <a:solidFill>
                                <a:srgbClr val="0000FF"/>
                              </a:solidFill>
                              <a:latin typeface="Cambria Math" panose="02040503050406030204" pitchFamily="18" charset="0"/>
                              <a:ea typeface="Cambria Math" panose="02040503050406030204" pitchFamily="18" charset="0"/>
                            </a:rPr>
                          </m:ctrlPr>
                        </m:sSupPr>
                        <m:e>
                          <m:r>
                            <a:rPr lang="en-US" altLang="zh-CN" b="1" i="1" smtClean="0">
                              <a:solidFill>
                                <a:srgbClr val="0000FF"/>
                              </a:solidFill>
                              <a:latin typeface="Cambria Math" panose="02040503050406030204" pitchFamily="18" charset="0"/>
                              <a:ea typeface="Cambria Math" panose="02040503050406030204" pitchFamily="18" charset="0"/>
                            </a:rPr>
                            <m:t>𝟏𝟎</m:t>
                          </m:r>
                        </m:e>
                        <m:sup>
                          <m:r>
                            <a:rPr lang="en-US" altLang="zh-CN" b="1" i="1" smtClean="0">
                              <a:solidFill>
                                <a:srgbClr val="0000FF"/>
                              </a:solidFill>
                              <a:latin typeface="Cambria Math" panose="02040503050406030204" pitchFamily="18" charset="0"/>
                              <a:ea typeface="Cambria Math" panose="02040503050406030204" pitchFamily="18" charset="0"/>
                            </a:rPr>
                            <m:t>−</m:t>
                          </m:r>
                          <m:r>
                            <a:rPr lang="en-US" altLang="zh-CN" b="1" i="1" smtClean="0">
                              <a:solidFill>
                                <a:srgbClr val="0000FF"/>
                              </a:solidFill>
                              <a:latin typeface="Cambria Math" panose="02040503050406030204" pitchFamily="18" charset="0"/>
                              <a:ea typeface="Cambria Math" panose="02040503050406030204" pitchFamily="18" charset="0"/>
                            </a:rPr>
                            <m:t>𝟔</m:t>
                          </m:r>
                        </m:sup>
                      </m:sSup>
                      <m:r>
                        <a:rPr lang="en-US" altLang="zh-CN" b="1" i="1" smtClean="0">
                          <a:solidFill>
                            <a:srgbClr val="0000FF"/>
                          </a:solidFill>
                          <a:latin typeface="Cambria Math" panose="02040503050406030204" pitchFamily="18" charset="0"/>
                          <a:ea typeface="Cambria Math" panose="02040503050406030204" pitchFamily="18" charset="0"/>
                        </a:rPr>
                        <m:t>𝒔</m:t>
                      </m:r>
                      <m:r>
                        <a:rPr lang="en-US" altLang="zh-CN" b="1" i="1" smtClean="0">
                          <a:solidFill>
                            <a:srgbClr val="0000FF"/>
                          </a:solidFill>
                          <a:latin typeface="Cambria Math" panose="02040503050406030204" pitchFamily="18" charset="0"/>
                          <a:ea typeface="Cambria Math" panose="02040503050406030204" pitchFamily="18" charset="0"/>
                        </a:rPr>
                        <m:t>=</m:t>
                      </m:r>
                      <m:r>
                        <a:rPr lang="en-US" altLang="zh-CN" b="1" i="1" smtClean="0">
                          <a:solidFill>
                            <a:srgbClr val="0000FF"/>
                          </a:solidFill>
                          <a:latin typeface="Cambria Math" panose="02040503050406030204" pitchFamily="18" charset="0"/>
                          <a:ea typeface="Cambria Math" panose="02040503050406030204" pitchFamily="18" charset="0"/>
                        </a:rPr>
                        <m:t>𝟏𝟎𝟐𝟒</m:t>
                      </m:r>
                      <m:r>
                        <a:rPr lang="en-US" altLang="zh-CN" b="1" i="1" smtClean="0">
                          <a:solidFill>
                            <a:srgbClr val="0000FF"/>
                          </a:solidFill>
                          <a:latin typeface="Cambria Math" panose="02040503050406030204" pitchFamily="18" charset="0"/>
                          <a:ea typeface="Cambria Math" panose="02040503050406030204" pitchFamily="18" charset="0"/>
                        </a:rPr>
                        <m:t>.</m:t>
                      </m:r>
                      <m:r>
                        <a:rPr lang="en-US" altLang="zh-CN" b="1" i="1" smtClean="0">
                          <a:solidFill>
                            <a:srgbClr val="0000FF"/>
                          </a:solidFill>
                          <a:latin typeface="Cambria Math" panose="02040503050406030204" pitchFamily="18" charset="0"/>
                          <a:ea typeface="Cambria Math" panose="02040503050406030204" pitchFamily="18" charset="0"/>
                        </a:rPr>
                        <m:t>𝟓</m:t>
                      </m:r>
                      <m:r>
                        <a:rPr lang="en-US" altLang="zh-CN" b="1" i="1" smtClean="0">
                          <a:solidFill>
                            <a:srgbClr val="0000FF"/>
                          </a:solidFill>
                          <a:latin typeface="Cambria Math" panose="02040503050406030204" pitchFamily="18" charset="0"/>
                          <a:ea typeface="Cambria Math" panose="02040503050406030204" pitchFamily="18" charset="0"/>
                        </a:rPr>
                        <m:t>×</m:t>
                      </m:r>
                      <m:r>
                        <a:rPr lang="en-US" altLang="zh-CN" b="1" i="1" smtClean="0">
                          <a:solidFill>
                            <a:srgbClr val="0000FF"/>
                          </a:solidFill>
                          <a:latin typeface="Cambria Math" panose="02040503050406030204" pitchFamily="18" charset="0"/>
                          <a:ea typeface="Cambria Math" panose="02040503050406030204" pitchFamily="18" charset="0"/>
                        </a:rPr>
                        <m:t>𝟖</m:t>
                      </m:r>
                      <m:r>
                        <a:rPr lang="en-US" altLang="zh-CN" b="1" i="1" smtClean="0">
                          <a:solidFill>
                            <a:srgbClr val="0000FF"/>
                          </a:solidFill>
                          <a:latin typeface="Cambria Math" panose="02040503050406030204" pitchFamily="18" charset="0"/>
                          <a:ea typeface="Cambria Math" panose="02040503050406030204" pitchFamily="18" charset="0"/>
                        </a:rPr>
                        <m:t>𝒔</m:t>
                      </m:r>
                      <m:r>
                        <a:rPr lang="en-US" altLang="zh-CN" b="1" i="1" smtClean="0">
                          <a:solidFill>
                            <a:srgbClr val="0000FF"/>
                          </a:solidFill>
                          <a:latin typeface="Cambria Math" panose="02040503050406030204" pitchFamily="18" charset="0"/>
                          <a:ea typeface="Cambria Math" panose="02040503050406030204" pitchFamily="18" charset="0"/>
                        </a:rPr>
                        <m:t>+</m:t>
                      </m:r>
                      <m:r>
                        <a:rPr lang="en-US" altLang="zh-CN" b="1" i="1" smtClean="0">
                          <a:solidFill>
                            <a:srgbClr val="0000FF"/>
                          </a:solidFill>
                          <a:latin typeface="Cambria Math" panose="02040503050406030204" pitchFamily="18" charset="0"/>
                          <a:ea typeface="Cambria Math" panose="02040503050406030204" pitchFamily="18" charset="0"/>
                        </a:rPr>
                        <m:t>𝟏</m:t>
                      </m:r>
                      <m:r>
                        <a:rPr lang="en-US" altLang="zh-CN" b="1" i="1" smtClean="0">
                          <a:solidFill>
                            <a:srgbClr val="0000FF"/>
                          </a:solidFill>
                          <a:latin typeface="Cambria Math" panose="02040503050406030204" pitchFamily="18" charset="0"/>
                          <a:ea typeface="Cambria Math" panose="02040503050406030204" pitchFamily="18" charset="0"/>
                        </a:rPr>
                        <m:t>.</m:t>
                      </m:r>
                      <m:r>
                        <a:rPr lang="en-US" altLang="zh-CN" b="1" i="1" smtClean="0">
                          <a:solidFill>
                            <a:srgbClr val="0000FF"/>
                          </a:solidFill>
                          <a:latin typeface="Cambria Math" panose="02040503050406030204" pitchFamily="18" charset="0"/>
                          <a:ea typeface="Cambria Math" panose="02040503050406030204" pitchFamily="18" charset="0"/>
                        </a:rPr>
                        <m:t>𝟓𝟑𝟕</m:t>
                      </m:r>
                      <m:r>
                        <a:rPr lang="en-US" altLang="zh-CN" b="1" i="1" smtClean="0">
                          <a:solidFill>
                            <a:srgbClr val="0000FF"/>
                          </a:solidFill>
                          <a:latin typeface="Cambria Math" panose="02040503050406030204" pitchFamily="18" charset="0"/>
                          <a:ea typeface="Cambria Math" panose="02040503050406030204" pitchFamily="18" charset="0"/>
                        </a:rPr>
                        <m:t>𝒔</m:t>
                      </m:r>
                      <m:r>
                        <a:rPr lang="en-US" altLang="zh-CN" b="1" i="1" smtClean="0">
                          <a:solidFill>
                            <a:srgbClr val="0000FF"/>
                          </a:solidFill>
                          <a:latin typeface="Cambria Math" panose="02040503050406030204" pitchFamily="18" charset="0"/>
                          <a:ea typeface="Cambria Math" panose="02040503050406030204" pitchFamily="18" charset="0"/>
                        </a:rPr>
                        <m:t>+</m:t>
                      </m:r>
                      <m:r>
                        <a:rPr lang="en-US" altLang="zh-CN" b="1" i="1" smtClean="0">
                          <a:solidFill>
                            <a:srgbClr val="0000FF"/>
                          </a:solidFill>
                          <a:latin typeface="Cambria Math" panose="02040503050406030204" pitchFamily="18" charset="0"/>
                          <a:ea typeface="Cambria Math" panose="02040503050406030204" pitchFamily="18" charset="0"/>
                        </a:rPr>
                        <m:t>𝟎</m:t>
                      </m:r>
                      <m:r>
                        <a:rPr lang="en-US" altLang="zh-CN" b="1" i="1" smtClean="0">
                          <a:solidFill>
                            <a:srgbClr val="0000FF"/>
                          </a:solidFill>
                          <a:latin typeface="Cambria Math" panose="02040503050406030204" pitchFamily="18" charset="0"/>
                          <a:ea typeface="Cambria Math" panose="02040503050406030204" pitchFamily="18" charset="0"/>
                        </a:rPr>
                        <m:t>.</m:t>
                      </m:r>
                      <m:r>
                        <a:rPr lang="en-US" altLang="zh-CN" b="1" i="1" smtClean="0">
                          <a:solidFill>
                            <a:srgbClr val="0000FF"/>
                          </a:solidFill>
                          <a:latin typeface="Cambria Math" panose="02040503050406030204" pitchFamily="18" charset="0"/>
                          <a:ea typeface="Cambria Math" panose="02040503050406030204" pitchFamily="18" charset="0"/>
                        </a:rPr>
                        <m:t>𝟒𝟖𝟎</m:t>
                      </m:r>
                      <m:r>
                        <a:rPr lang="en-US" altLang="zh-CN" b="1" i="1" smtClean="0">
                          <a:solidFill>
                            <a:srgbClr val="0000FF"/>
                          </a:solidFill>
                          <a:latin typeface="Cambria Math" panose="02040503050406030204" pitchFamily="18" charset="0"/>
                          <a:ea typeface="Cambria Math" panose="02040503050406030204" pitchFamily="18" charset="0"/>
                        </a:rPr>
                        <m:t>𝒔</m:t>
                      </m:r>
                      <m:r>
                        <a:rPr lang="en-US" altLang="zh-CN" b="1" i="1" smtClean="0">
                          <a:solidFill>
                            <a:srgbClr val="0000FF"/>
                          </a:solidFill>
                          <a:latin typeface="Cambria Math" panose="02040503050406030204" pitchFamily="18" charset="0"/>
                          <a:ea typeface="Cambria Math" panose="02040503050406030204" pitchFamily="18" charset="0"/>
                        </a:rPr>
                        <m:t>+</m:t>
                      </m:r>
                      <m:r>
                        <a:rPr lang="en-US" altLang="zh-CN" b="1" i="1" smtClean="0">
                          <a:solidFill>
                            <a:srgbClr val="0000FF"/>
                          </a:solidFill>
                          <a:latin typeface="Cambria Math" panose="02040503050406030204" pitchFamily="18" charset="0"/>
                          <a:ea typeface="Cambria Math" panose="02040503050406030204" pitchFamily="18" charset="0"/>
                        </a:rPr>
                        <m:t>𝟎</m:t>
                      </m:r>
                      <m:r>
                        <a:rPr lang="en-US" altLang="zh-CN" b="1" i="1" smtClean="0">
                          <a:solidFill>
                            <a:srgbClr val="0000FF"/>
                          </a:solidFill>
                          <a:latin typeface="Cambria Math" panose="02040503050406030204" pitchFamily="18" charset="0"/>
                          <a:ea typeface="Cambria Math" panose="02040503050406030204" pitchFamily="18" charset="0"/>
                        </a:rPr>
                        <m:t>.</m:t>
                      </m:r>
                      <m:r>
                        <a:rPr lang="en-US" altLang="zh-CN" b="1" i="1" smtClean="0">
                          <a:solidFill>
                            <a:srgbClr val="0000FF"/>
                          </a:solidFill>
                          <a:latin typeface="Cambria Math" panose="02040503050406030204" pitchFamily="18" charset="0"/>
                          <a:ea typeface="Cambria Math" panose="02040503050406030204" pitchFamily="18" charset="0"/>
                        </a:rPr>
                        <m:t>𝟎𝟎𝟎𝟎𝟑</m:t>
                      </m:r>
                      <m:r>
                        <a:rPr lang="en-US" altLang="zh-CN" b="1" i="1" smtClean="0">
                          <a:solidFill>
                            <a:srgbClr val="0000FF"/>
                          </a:solidFill>
                          <a:latin typeface="Cambria Math" panose="02040503050406030204" pitchFamily="18" charset="0"/>
                          <a:ea typeface="Cambria Math" panose="02040503050406030204" pitchFamily="18" charset="0"/>
                        </a:rPr>
                        <m:t>𝒔</m:t>
                      </m:r>
                      <m:r>
                        <a:rPr lang="en-US" altLang="zh-CN" b="1" i="1" smtClean="0">
                          <a:solidFill>
                            <a:srgbClr val="0000FF"/>
                          </a:solidFill>
                          <a:latin typeface="Cambria Math" panose="02040503050406030204" pitchFamily="18" charset="0"/>
                          <a:ea typeface="Cambria Math" panose="02040503050406030204" pitchFamily="18" charset="0"/>
                        </a:rPr>
                        <m:t>=</m:t>
                      </m:r>
                      <m:r>
                        <a:rPr lang="en-US" altLang="zh-CN" b="1" i="1" smtClean="0">
                          <a:solidFill>
                            <a:srgbClr val="0000FF"/>
                          </a:solidFill>
                          <a:latin typeface="Cambria Math" panose="02040503050406030204" pitchFamily="18" charset="0"/>
                          <a:ea typeface="Cambria Math" panose="02040503050406030204" pitchFamily="18" charset="0"/>
                        </a:rPr>
                        <m:t>𝟖𝟏𝟗𝟖</m:t>
                      </m:r>
                      <m:r>
                        <a:rPr lang="en-US" altLang="zh-CN" b="1" i="1" smtClean="0">
                          <a:solidFill>
                            <a:srgbClr val="0000FF"/>
                          </a:solidFill>
                          <a:latin typeface="Cambria Math" panose="02040503050406030204" pitchFamily="18" charset="0"/>
                          <a:ea typeface="Cambria Math" panose="02040503050406030204" pitchFamily="18" charset="0"/>
                        </a:rPr>
                        <m:t>.</m:t>
                      </m:r>
                      <m:r>
                        <a:rPr lang="en-US" altLang="zh-CN" b="1" i="1" smtClean="0">
                          <a:solidFill>
                            <a:srgbClr val="0000FF"/>
                          </a:solidFill>
                          <a:latin typeface="Cambria Math" panose="02040503050406030204" pitchFamily="18" charset="0"/>
                          <a:ea typeface="Cambria Math" panose="02040503050406030204" pitchFamily="18" charset="0"/>
                        </a:rPr>
                        <m:t>𝟎𝟏𝟕𝟎𝟑</m:t>
                      </m:r>
                      <m:r>
                        <a:rPr lang="en-US" altLang="zh-CN" b="1" i="1" smtClean="0">
                          <a:solidFill>
                            <a:srgbClr val="0000FF"/>
                          </a:solidFill>
                          <a:latin typeface="Cambria Math" panose="02040503050406030204" pitchFamily="18" charset="0"/>
                          <a:ea typeface="Cambria Math" panose="02040503050406030204" pitchFamily="18" charset="0"/>
                        </a:rPr>
                        <m:t>𝒔</m:t>
                      </m:r>
                    </m:oMath>
                  </m:oMathPara>
                </a14:m>
                <a:endParaRPr lang="zh-CN" altLang="en-US" b="1" dirty="0">
                  <a:solidFill>
                    <a:srgbClr val="0000FF"/>
                  </a:solidFill>
                </a:endParaRPr>
              </a:p>
              <a:p>
                <a:endParaRPr lang="zh-CN" altLang="zh-CN" b="1" dirty="0"/>
              </a:p>
              <a:p>
                <a:endParaRPr lang="zh-CN" altLang="en-US" dirty="0"/>
              </a:p>
            </p:txBody>
          </p:sp>
        </mc:Choice>
        <mc:Fallback>
          <p:sp>
            <p:nvSpPr>
              <p:cNvPr id="3" name="副标题 2">
                <a:extLst>
                  <a:ext uri="{FF2B5EF4-FFF2-40B4-BE49-F238E27FC236}">
                    <a16:creationId xmlns:a16="http://schemas.microsoft.com/office/drawing/2014/main" id="{334A667E-5E9E-40F9-99CE-A8D423B33A2C}"/>
                  </a:ext>
                </a:extLst>
              </p:cNvPr>
              <p:cNvSpPr>
                <a:spLocks noGrp="1" noRot="1" noChangeAspect="1" noMove="1" noResize="1" noEditPoints="1" noAdjustHandles="1" noChangeArrowheads="1" noChangeShapeType="1" noTextEdit="1"/>
              </p:cNvSpPr>
              <p:nvPr>
                <p:ph idx="1"/>
              </p:nvPr>
            </p:nvSpPr>
            <p:spPr>
              <a:blipFill>
                <a:blip r:embed="rId3"/>
                <a:stretch>
                  <a:fillRect l="-638" t="-2281" r="-115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1554481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635</TotalTime>
  <Words>1562</Words>
  <Application>Microsoft Office PowerPoint</Application>
  <PresentationFormat>宽屏</PresentationFormat>
  <Paragraphs>120</Paragraphs>
  <Slides>14</Slides>
  <Notes>3</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14</vt:i4>
      </vt:variant>
    </vt:vector>
  </HeadingPairs>
  <TitlesOfParts>
    <vt:vector size="21" baseType="lpstr">
      <vt:lpstr>等线</vt:lpstr>
      <vt:lpstr>等线 Light</vt:lpstr>
      <vt:lpstr>宋体</vt:lpstr>
      <vt:lpstr>Arial</vt:lpstr>
      <vt:lpstr>Cambria Math</vt:lpstr>
      <vt:lpstr>Lucida Sans Unicode</vt:lpstr>
      <vt:lpstr>Office 主题​​</vt:lpstr>
      <vt:lpstr>2-1</vt:lpstr>
      <vt:lpstr>2-2</vt:lpstr>
      <vt:lpstr>2-3</vt:lpstr>
      <vt:lpstr>2-4</vt:lpstr>
      <vt:lpstr>2-5</vt:lpstr>
      <vt:lpstr>2-6</vt:lpstr>
      <vt:lpstr>PowerPoint 演示文稿</vt:lpstr>
      <vt:lpstr>PowerPoint 演示文稿</vt:lpstr>
      <vt:lpstr>PowerPoint 演示文稿</vt:lpstr>
      <vt:lpstr>2-7</vt:lpstr>
      <vt:lpstr>PowerPoint 演示文稿</vt:lpstr>
      <vt:lpstr>2-8</vt:lpstr>
      <vt:lpstr>2-9</vt:lpstr>
      <vt:lpstr>2-10</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1-1</dc:title>
  <dc:creator>YUE</dc:creator>
  <cp:lastModifiedBy>Yue Zhang</cp:lastModifiedBy>
  <cp:revision>16</cp:revision>
  <dcterms:created xsi:type="dcterms:W3CDTF">2024-09-10T00:43:31Z</dcterms:created>
  <dcterms:modified xsi:type="dcterms:W3CDTF">2024-11-06T00:24:36Z</dcterms:modified>
</cp:coreProperties>
</file>