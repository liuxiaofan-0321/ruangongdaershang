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1" r:id="rId1"/>
    <p:sldMasterId id="2147483695" r:id="rId2"/>
  </p:sldMasterIdLst>
  <p:notesMasterIdLst>
    <p:notesMasterId r:id="rId126"/>
  </p:notesMasterIdLst>
  <p:sldIdLst>
    <p:sldId id="371" r:id="rId3"/>
    <p:sldId id="445" r:id="rId4"/>
    <p:sldId id="395" r:id="rId5"/>
    <p:sldId id="788" r:id="rId6"/>
    <p:sldId id="699" r:id="rId7"/>
    <p:sldId id="700" r:id="rId8"/>
    <p:sldId id="779" r:id="rId9"/>
    <p:sldId id="701" r:id="rId10"/>
    <p:sldId id="703" r:id="rId11"/>
    <p:sldId id="704" r:id="rId12"/>
    <p:sldId id="706" r:id="rId13"/>
    <p:sldId id="707" r:id="rId14"/>
    <p:sldId id="709" r:id="rId15"/>
    <p:sldId id="710" r:id="rId16"/>
    <p:sldId id="711" r:id="rId17"/>
    <p:sldId id="713" r:id="rId18"/>
    <p:sldId id="789" r:id="rId19"/>
    <p:sldId id="790" r:id="rId20"/>
    <p:sldId id="791" r:id="rId21"/>
    <p:sldId id="715" r:id="rId22"/>
    <p:sldId id="717" r:id="rId23"/>
    <p:sldId id="718" r:id="rId24"/>
    <p:sldId id="720" r:id="rId25"/>
    <p:sldId id="721" r:id="rId26"/>
    <p:sldId id="722" r:id="rId27"/>
    <p:sldId id="723" r:id="rId28"/>
    <p:sldId id="726" r:id="rId29"/>
    <p:sldId id="780" r:id="rId30"/>
    <p:sldId id="727" r:id="rId31"/>
    <p:sldId id="728" r:id="rId32"/>
    <p:sldId id="1387" r:id="rId33"/>
    <p:sldId id="1388" r:id="rId34"/>
    <p:sldId id="1389" r:id="rId35"/>
    <p:sldId id="1390" r:id="rId36"/>
    <p:sldId id="730" r:id="rId37"/>
    <p:sldId id="731" r:id="rId38"/>
    <p:sldId id="732" r:id="rId39"/>
    <p:sldId id="1391" r:id="rId40"/>
    <p:sldId id="733" r:id="rId41"/>
    <p:sldId id="734" r:id="rId42"/>
    <p:sldId id="735" r:id="rId43"/>
    <p:sldId id="736" r:id="rId44"/>
    <p:sldId id="781" r:id="rId45"/>
    <p:sldId id="737" r:id="rId46"/>
    <p:sldId id="782" r:id="rId47"/>
    <p:sldId id="738" r:id="rId48"/>
    <p:sldId id="1392" r:id="rId49"/>
    <p:sldId id="739" r:id="rId50"/>
    <p:sldId id="740" r:id="rId51"/>
    <p:sldId id="1393" r:id="rId52"/>
    <p:sldId id="796" r:id="rId53"/>
    <p:sldId id="797" r:id="rId54"/>
    <p:sldId id="794" r:id="rId55"/>
    <p:sldId id="795" r:id="rId56"/>
    <p:sldId id="806" r:id="rId57"/>
    <p:sldId id="742" r:id="rId58"/>
    <p:sldId id="743" r:id="rId59"/>
    <p:sldId id="744" r:id="rId60"/>
    <p:sldId id="745" r:id="rId61"/>
    <p:sldId id="747" r:id="rId62"/>
    <p:sldId id="1394" r:id="rId63"/>
    <p:sldId id="749" r:id="rId64"/>
    <p:sldId id="750" r:id="rId65"/>
    <p:sldId id="751" r:id="rId66"/>
    <p:sldId id="1395" r:id="rId67"/>
    <p:sldId id="803" r:id="rId68"/>
    <p:sldId id="804" r:id="rId69"/>
    <p:sldId id="805" r:id="rId70"/>
    <p:sldId id="1396" r:id="rId71"/>
    <p:sldId id="1397" r:id="rId72"/>
    <p:sldId id="1398" r:id="rId73"/>
    <p:sldId id="1400" r:id="rId74"/>
    <p:sldId id="1401" r:id="rId75"/>
    <p:sldId id="1402" r:id="rId76"/>
    <p:sldId id="752" r:id="rId77"/>
    <p:sldId id="798" r:id="rId78"/>
    <p:sldId id="799" r:id="rId79"/>
    <p:sldId id="800" r:id="rId80"/>
    <p:sldId id="801" r:id="rId81"/>
    <p:sldId id="1399" r:id="rId82"/>
    <p:sldId id="753" r:id="rId83"/>
    <p:sldId id="754" r:id="rId84"/>
    <p:sldId id="802" r:id="rId85"/>
    <p:sldId id="755" r:id="rId86"/>
    <p:sldId id="756" r:id="rId87"/>
    <p:sldId id="757" r:id="rId88"/>
    <p:sldId id="1404" r:id="rId89"/>
    <p:sldId id="1405" r:id="rId90"/>
    <p:sldId id="1406" r:id="rId91"/>
    <p:sldId id="1407" r:id="rId92"/>
    <p:sldId id="1408" r:id="rId93"/>
    <p:sldId id="1409" r:id="rId94"/>
    <p:sldId id="1410" r:id="rId95"/>
    <p:sldId id="1411" r:id="rId96"/>
    <p:sldId id="1412" r:id="rId97"/>
    <p:sldId id="1413" r:id="rId98"/>
    <p:sldId id="1414" r:id="rId99"/>
    <p:sldId id="1415" r:id="rId100"/>
    <p:sldId id="783" r:id="rId101"/>
    <p:sldId id="787" r:id="rId102"/>
    <p:sldId id="758" r:id="rId103"/>
    <p:sldId id="759" r:id="rId104"/>
    <p:sldId id="760" r:id="rId105"/>
    <p:sldId id="761" r:id="rId106"/>
    <p:sldId id="784" r:id="rId107"/>
    <p:sldId id="1417" r:id="rId108"/>
    <p:sldId id="762" r:id="rId109"/>
    <p:sldId id="785" r:id="rId110"/>
    <p:sldId id="764" r:id="rId111"/>
    <p:sldId id="767" r:id="rId112"/>
    <p:sldId id="769" r:id="rId113"/>
    <p:sldId id="770" r:id="rId114"/>
    <p:sldId id="786" r:id="rId115"/>
    <p:sldId id="763" r:id="rId116"/>
    <p:sldId id="772" r:id="rId117"/>
    <p:sldId id="773" r:id="rId118"/>
    <p:sldId id="774" r:id="rId119"/>
    <p:sldId id="775" r:id="rId120"/>
    <p:sldId id="776" r:id="rId121"/>
    <p:sldId id="777" r:id="rId122"/>
    <p:sldId id="1418" r:id="rId123"/>
    <p:sldId id="778" r:id="rId124"/>
    <p:sldId id="1385" r:id="rId1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8">
          <p15:clr>
            <a:srgbClr val="A4A3A4"/>
          </p15:clr>
        </p15:guide>
        <p15:guide id="2" pos="3840">
          <p15:clr>
            <a:srgbClr val="A4A3A4"/>
          </p15:clr>
        </p15:guide>
        <p15:guide id="3" pos="1044">
          <p15:clr>
            <a:srgbClr val="A4A3A4"/>
          </p15:clr>
        </p15:guide>
        <p15:guide id="4" pos="2074">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5DB4"/>
    <a:srgbClr val="005AAD"/>
    <a:srgbClr val="008487"/>
    <a:srgbClr val="DDE9EA"/>
    <a:srgbClr val="FF9B36"/>
    <a:srgbClr val="00467A"/>
    <a:srgbClr val="FF9933"/>
    <a:srgbClr val="E06B6B"/>
    <a:srgbClr val="ED6900"/>
    <a:srgbClr val="99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132" autoAdjust="0"/>
    <p:restoredTop sz="81564" autoAdjust="0"/>
  </p:normalViewPr>
  <p:slideViewPr>
    <p:cSldViewPr snapToGrid="0" showGuides="1">
      <p:cViewPr varScale="1">
        <p:scale>
          <a:sx n="86" d="100"/>
          <a:sy n="86" d="100"/>
        </p:scale>
        <p:origin x="504" y="51"/>
      </p:cViewPr>
      <p:guideLst>
        <p:guide orient="horz" pos="2128"/>
        <p:guide pos="3840"/>
        <p:guide pos="1044"/>
        <p:guide pos="2074"/>
      </p:guideLst>
    </p:cSldViewPr>
  </p:slideViewPr>
  <p:notesTextViewPr>
    <p:cViewPr>
      <p:scale>
        <a:sx n="100" d="100"/>
        <a:sy n="100" d="100"/>
      </p:scale>
      <p:origin x="0" y="0"/>
    </p:cViewPr>
  </p:notesTextViewPr>
  <p:sorterViewPr>
    <p:cViewPr>
      <p:scale>
        <a:sx n="33" d="100"/>
        <a:sy n="33" d="100"/>
      </p:scale>
      <p:origin x="0" y="0"/>
    </p:cViewPr>
  </p:sorterViewPr>
  <p:notesViewPr>
    <p:cSldViewPr snapToGrid="0">
      <p:cViewPr varScale="1">
        <p:scale>
          <a:sx n="54" d="100"/>
          <a:sy n="54" d="100"/>
        </p:scale>
        <p:origin x="2880" y="60"/>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viewProps" Target="viewProps.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theme" Target="theme/theme1.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tableStyles" Target="tableStyles.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presProps" Target="presProps.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773F7C5-13CB-4215-BF07-9F2399539CCE}"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zh-CN" altLang="en-US"/>
        </a:p>
      </dgm:t>
    </dgm:pt>
    <dgm:pt modelId="{38B4BD78-1F15-4D3F-B065-7F26AEC10A36}">
      <dgm:prSet custT="1"/>
      <dgm:spPr>
        <a:solidFill>
          <a:schemeClr val="accent2">
            <a:lumMod val="60000"/>
            <a:lumOff val="40000"/>
          </a:schemeClr>
        </a:solidFill>
      </dgm:spPr>
      <dgm:t>
        <a:bodyPr/>
        <a:lstStyle/>
        <a:p>
          <a:r>
            <a:rPr lang="zh-CN" altLang="en-US" sz="2000" b="1">
              <a:solidFill>
                <a:schemeClr val="tx1"/>
              </a:solidFill>
              <a:latin typeface="微软雅黑" panose="020B0503020204020204" pitchFamily="34" charset="-122"/>
              <a:ea typeface="微软雅黑" panose="020B0503020204020204" pitchFamily="34" charset="-122"/>
            </a:rPr>
            <a:t>流量控制：</a:t>
          </a:r>
        </a:p>
      </dgm:t>
    </dgm:pt>
    <dgm:pt modelId="{EC5E25C5-D87F-4EC8-ADB0-59332571C016}" type="parTrans" cxnId="{C9DFAC41-2468-4884-9135-7A9C12F7DD48}">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BDDFCBC2-3833-4967-9917-47468CFC9500}" type="sibTrans" cxnId="{C9DFAC41-2468-4884-9135-7A9C12F7DD48}">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21217A2C-38CF-4DD7-B0B1-99E19C6CE8B5}">
      <dgm:prSet custT="1"/>
      <dgm:spPr/>
      <dgm:t>
        <a:bodyPr/>
        <a:lstStyle/>
        <a:p>
          <a:r>
            <a:rPr lang="zh-CN" sz="2000" b="1" dirty="0">
              <a:latin typeface="微软雅黑" panose="020B0503020204020204" pitchFamily="34" charset="-122"/>
              <a:ea typeface="微软雅黑" panose="020B0503020204020204" pitchFamily="34" charset="-122"/>
            </a:rPr>
            <a:t>是为了控制发送方的发送速率，让发送方的发送速率不要太快，确保接收方来得及接收</a:t>
          </a:r>
          <a:r>
            <a:rPr lang="zh-CN" sz="2000" dirty="0">
              <a:latin typeface="微软雅黑" panose="020B0503020204020204" pitchFamily="34" charset="-122"/>
              <a:ea typeface="微软雅黑" panose="020B0503020204020204" pitchFamily="34" charset="-122"/>
            </a:rPr>
            <a:t>。具体来说，</a:t>
          </a:r>
          <a:r>
            <a:rPr lang="en-US" sz="2000" dirty="0">
              <a:latin typeface="微软雅黑" panose="020B0503020204020204" pitchFamily="34" charset="-122"/>
              <a:ea typeface="微软雅黑" panose="020B0503020204020204" pitchFamily="34" charset="-122"/>
            </a:rPr>
            <a:t>TCP</a:t>
          </a:r>
          <a:r>
            <a:rPr lang="zh-CN" sz="2000" dirty="0">
              <a:latin typeface="微软雅黑" panose="020B0503020204020204" pitchFamily="34" charset="-122"/>
              <a:ea typeface="微软雅黑" panose="020B0503020204020204" pitchFamily="34" charset="-122"/>
            </a:rPr>
            <a:t>是利用滑动窗口机制来实现对发送方的流量控制，接收方通过在发送的确认报文中填写窗口字段来控制发送方窗口大小，从而限制发送方的发送速率。</a:t>
          </a:r>
        </a:p>
      </dgm:t>
    </dgm:pt>
    <dgm:pt modelId="{030BADAF-4131-4B0D-A8B0-39F667F8F4BF}" type="parTrans" cxnId="{F19F60A7-E8C8-4DA3-9D1B-B99871AE879D}">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0EF8B065-B7D7-4646-A94C-B52463853D57}" type="sibTrans" cxnId="{F19F60A7-E8C8-4DA3-9D1B-B99871AE879D}">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EE074998-3A4D-45BF-B9FE-ABB8F9E1951F}">
      <dgm:prSet custT="1"/>
      <dgm:spPr>
        <a:solidFill>
          <a:srgbClr val="ED7D31">
            <a:lumMod val="60000"/>
            <a:lumOff val="40000"/>
          </a:srgbClr>
        </a:solidFill>
        <a:ln w="12700" cap="flat" cmpd="sng" algn="ctr">
          <a:solidFill>
            <a:prstClr val="white">
              <a:hueOff val="0"/>
              <a:satOff val="0"/>
              <a:lumOff val="0"/>
              <a:alphaOff val="0"/>
            </a:prstClr>
          </a:solidFill>
          <a:prstDash val="solid"/>
          <a:miter lim="800000"/>
        </a:ln>
        <a:effectLst/>
      </dgm:spPr>
      <dgm:t>
        <a:bodyPr spcFirstLastPara="0" vert="horz" wrap="square" lIns="76200" tIns="76200" rIns="76200" bIns="76200" numCol="1" spcCol="1270" anchor="ctr" anchorCtr="0"/>
        <a:lstStyle/>
        <a:p>
          <a:pPr marL="0" lvl="0" indent="0" algn="l" defTabSz="889000">
            <a:lnSpc>
              <a:spcPct val="90000"/>
            </a:lnSpc>
            <a:spcBef>
              <a:spcPct val="0"/>
            </a:spcBef>
            <a:spcAft>
              <a:spcPct val="35000"/>
            </a:spcAft>
            <a:buNone/>
          </a:pPr>
          <a:r>
            <a:rPr lang="zh-CN" altLang="en-US" sz="2000" b="1" kern="1200">
              <a:solidFill>
                <a:prstClr val="black"/>
              </a:solidFill>
              <a:latin typeface="微软雅黑" panose="020B0503020204020204" pitchFamily="34" charset="-122"/>
              <a:ea typeface="微软雅黑" panose="020B0503020204020204" pitchFamily="34" charset="-122"/>
              <a:cs typeface="+mn-cs"/>
            </a:rPr>
            <a:t>拥塞控制</a:t>
          </a:r>
        </a:p>
      </dgm:t>
    </dgm:pt>
    <dgm:pt modelId="{F3E14C46-3D2A-499D-B596-304C862C57CC}" type="parTrans" cxnId="{165D6C5D-2D80-497F-A7A0-A5E885FCBD96}">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AFD745B0-033F-4CB1-9183-89892D8D9002}" type="sibTrans" cxnId="{165D6C5D-2D80-497F-A7A0-A5E885FCBD96}">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A21C2CD6-DF88-490A-8932-D9DD54EDAF9F}">
      <dgm:prSet custT="1"/>
      <dgm:spPr/>
      <dgm:t>
        <a:bodyPr/>
        <a:lstStyle/>
        <a:p>
          <a:r>
            <a:rPr lang="zh-CN" altLang="en-US" sz="2000" b="1" dirty="0">
              <a:latin typeface="微软雅黑" panose="020B0503020204020204" pitchFamily="34" charset="-122"/>
              <a:ea typeface="微软雅黑" panose="020B0503020204020204" pitchFamily="34" charset="-122"/>
            </a:rPr>
            <a:t>是防止过多的数据注入网络中，从而确保网络中的路由器或链路不致过载。</a:t>
          </a:r>
          <a:r>
            <a:rPr lang="zh-CN" altLang="en-US" sz="2000" b="0" dirty="0">
              <a:latin typeface="微软雅黑" panose="020B0503020204020204" pitchFamily="34" charset="-122"/>
              <a:ea typeface="微软雅黑" panose="020B0503020204020204" pitchFamily="34" charset="-122"/>
            </a:rPr>
            <a:t>拥塞控制是一个全局性的过程，和流量控制不同，流量控制指点对点通信量的控制。</a:t>
          </a:r>
        </a:p>
      </dgm:t>
    </dgm:pt>
    <dgm:pt modelId="{F08B99C6-0F9E-493A-B3D3-ECFD4770472B}" type="parTrans" cxnId="{890B0AB8-3233-44F4-AD6E-51303B1947AD}">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8C6AB69B-A5AE-4FAA-A223-94DBAA12E4E5}" type="sibTrans" cxnId="{890B0AB8-3233-44F4-AD6E-51303B1947AD}">
      <dgm:prSet/>
      <dgm:spPr/>
      <dgm:t>
        <a:bodyPr/>
        <a:lstStyle/>
        <a:p>
          <a:endParaRPr lang="zh-CN" altLang="en-US" sz="2400">
            <a:latin typeface="微软雅黑" panose="020B0503020204020204" pitchFamily="34" charset="-122"/>
            <a:ea typeface="微软雅黑" panose="020B0503020204020204" pitchFamily="34" charset="-122"/>
          </a:endParaRPr>
        </a:p>
      </dgm:t>
    </dgm:pt>
    <dgm:pt modelId="{1584AC14-0A74-4DDF-A051-F9C3B108A3D1}" type="pres">
      <dgm:prSet presAssocID="{A773F7C5-13CB-4215-BF07-9F2399539CCE}" presName="linear" presStyleCnt="0">
        <dgm:presLayoutVars>
          <dgm:animLvl val="lvl"/>
          <dgm:resizeHandles val="exact"/>
        </dgm:presLayoutVars>
      </dgm:prSet>
      <dgm:spPr/>
    </dgm:pt>
    <dgm:pt modelId="{057BE6E5-1B4B-4F48-8008-4643AADE62D4}" type="pres">
      <dgm:prSet presAssocID="{38B4BD78-1F15-4D3F-B065-7F26AEC10A36}" presName="parentText" presStyleLbl="node1" presStyleIdx="0" presStyleCnt="2" custScaleY="43392">
        <dgm:presLayoutVars>
          <dgm:chMax val="0"/>
          <dgm:bulletEnabled val="1"/>
        </dgm:presLayoutVars>
      </dgm:prSet>
      <dgm:spPr/>
    </dgm:pt>
    <dgm:pt modelId="{D6303ADD-E53E-4EDB-BAC9-77747DDDF7E5}" type="pres">
      <dgm:prSet presAssocID="{38B4BD78-1F15-4D3F-B065-7F26AEC10A36}" presName="childText" presStyleLbl="revTx" presStyleIdx="0" presStyleCnt="2">
        <dgm:presLayoutVars>
          <dgm:bulletEnabled val="1"/>
        </dgm:presLayoutVars>
      </dgm:prSet>
      <dgm:spPr/>
    </dgm:pt>
    <dgm:pt modelId="{9FE41C80-1F49-456A-A9A6-C549B0CE3CED}" type="pres">
      <dgm:prSet presAssocID="{EE074998-3A4D-45BF-B9FE-ABB8F9E1951F}" presName="parentText" presStyleLbl="node1" presStyleIdx="1" presStyleCnt="2" custScaleY="47141">
        <dgm:presLayoutVars>
          <dgm:chMax val="0"/>
          <dgm:bulletEnabled val="1"/>
        </dgm:presLayoutVars>
      </dgm:prSet>
      <dgm:spPr>
        <a:xfrm>
          <a:off x="0" y="2119743"/>
          <a:ext cx="10220960" cy="564786"/>
        </a:xfrm>
        <a:prstGeom prst="roundRect">
          <a:avLst/>
        </a:prstGeom>
      </dgm:spPr>
    </dgm:pt>
    <dgm:pt modelId="{8DAF1AF0-50F8-4583-812E-85BACD26914C}" type="pres">
      <dgm:prSet presAssocID="{EE074998-3A4D-45BF-B9FE-ABB8F9E1951F}" presName="childText" presStyleLbl="revTx" presStyleIdx="1" presStyleCnt="2">
        <dgm:presLayoutVars>
          <dgm:bulletEnabled val="1"/>
        </dgm:presLayoutVars>
      </dgm:prSet>
      <dgm:spPr/>
    </dgm:pt>
  </dgm:ptLst>
  <dgm:cxnLst>
    <dgm:cxn modelId="{165D6C5D-2D80-497F-A7A0-A5E885FCBD96}" srcId="{A773F7C5-13CB-4215-BF07-9F2399539CCE}" destId="{EE074998-3A4D-45BF-B9FE-ABB8F9E1951F}" srcOrd="1" destOrd="0" parTransId="{F3E14C46-3D2A-499D-B596-304C862C57CC}" sibTransId="{AFD745B0-033F-4CB1-9183-89892D8D9002}"/>
    <dgm:cxn modelId="{C9DFAC41-2468-4884-9135-7A9C12F7DD48}" srcId="{A773F7C5-13CB-4215-BF07-9F2399539CCE}" destId="{38B4BD78-1F15-4D3F-B065-7F26AEC10A36}" srcOrd="0" destOrd="0" parTransId="{EC5E25C5-D87F-4EC8-ADB0-59332571C016}" sibTransId="{BDDFCBC2-3833-4967-9917-47468CFC9500}"/>
    <dgm:cxn modelId="{D6E43366-441D-497A-AAEB-AC8BAD3F6DF8}" type="presOf" srcId="{21217A2C-38CF-4DD7-B0B1-99E19C6CE8B5}" destId="{D6303ADD-E53E-4EDB-BAC9-77747DDDF7E5}" srcOrd="0" destOrd="0" presId="urn:microsoft.com/office/officeart/2005/8/layout/vList2"/>
    <dgm:cxn modelId="{D4A9B366-4EAF-4ED4-8B27-1F96434E9A38}" type="presOf" srcId="{38B4BD78-1F15-4D3F-B065-7F26AEC10A36}" destId="{057BE6E5-1B4B-4F48-8008-4643AADE62D4}" srcOrd="0" destOrd="0" presId="urn:microsoft.com/office/officeart/2005/8/layout/vList2"/>
    <dgm:cxn modelId="{3013524F-AC23-4E36-97FC-C70FAF25D334}" type="presOf" srcId="{EE074998-3A4D-45BF-B9FE-ABB8F9E1951F}" destId="{9FE41C80-1F49-456A-A9A6-C549B0CE3CED}" srcOrd="0" destOrd="0" presId="urn:microsoft.com/office/officeart/2005/8/layout/vList2"/>
    <dgm:cxn modelId="{FA65D073-5913-4E57-9091-029C3125CFE9}" type="presOf" srcId="{A21C2CD6-DF88-490A-8932-D9DD54EDAF9F}" destId="{8DAF1AF0-50F8-4583-812E-85BACD26914C}" srcOrd="0" destOrd="0" presId="urn:microsoft.com/office/officeart/2005/8/layout/vList2"/>
    <dgm:cxn modelId="{F19F60A7-E8C8-4DA3-9D1B-B99871AE879D}" srcId="{38B4BD78-1F15-4D3F-B065-7F26AEC10A36}" destId="{21217A2C-38CF-4DD7-B0B1-99E19C6CE8B5}" srcOrd="0" destOrd="0" parTransId="{030BADAF-4131-4B0D-A8B0-39F667F8F4BF}" sibTransId="{0EF8B065-B7D7-4646-A94C-B52463853D57}"/>
    <dgm:cxn modelId="{7EF34AB7-642C-42A6-B4E4-E623084E8558}" type="presOf" srcId="{A773F7C5-13CB-4215-BF07-9F2399539CCE}" destId="{1584AC14-0A74-4DDF-A051-F9C3B108A3D1}" srcOrd="0" destOrd="0" presId="urn:microsoft.com/office/officeart/2005/8/layout/vList2"/>
    <dgm:cxn modelId="{890B0AB8-3233-44F4-AD6E-51303B1947AD}" srcId="{EE074998-3A4D-45BF-B9FE-ABB8F9E1951F}" destId="{A21C2CD6-DF88-490A-8932-D9DD54EDAF9F}" srcOrd="0" destOrd="0" parTransId="{F08B99C6-0F9E-493A-B3D3-ECFD4770472B}" sibTransId="{8C6AB69B-A5AE-4FAA-A223-94DBAA12E4E5}"/>
    <dgm:cxn modelId="{52E990F4-F467-49D6-8513-6100CA412CA8}" type="presParOf" srcId="{1584AC14-0A74-4DDF-A051-F9C3B108A3D1}" destId="{057BE6E5-1B4B-4F48-8008-4643AADE62D4}" srcOrd="0" destOrd="0" presId="urn:microsoft.com/office/officeart/2005/8/layout/vList2"/>
    <dgm:cxn modelId="{12834B35-6AF6-4EC7-B16D-F66821E6DC63}" type="presParOf" srcId="{1584AC14-0A74-4DDF-A051-F9C3B108A3D1}" destId="{D6303ADD-E53E-4EDB-BAC9-77747DDDF7E5}" srcOrd="1" destOrd="0" presId="urn:microsoft.com/office/officeart/2005/8/layout/vList2"/>
    <dgm:cxn modelId="{605834EA-216F-4A81-94E7-525DE62C4744}" type="presParOf" srcId="{1584AC14-0A74-4DDF-A051-F9C3B108A3D1}" destId="{9FE41C80-1F49-456A-A9A6-C549B0CE3CED}" srcOrd="2" destOrd="0" presId="urn:microsoft.com/office/officeart/2005/8/layout/vList2"/>
    <dgm:cxn modelId="{A6543C28-C550-48D6-85F6-E72B857188E2}" type="presParOf" srcId="{1584AC14-0A74-4DDF-A051-F9C3B108A3D1}" destId="{8DAF1AF0-50F8-4583-812E-85BACD26914C}"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7BE6E5-1B4B-4F48-8008-4643AADE62D4}">
      <dsp:nvSpPr>
        <dsp:cNvPr id="0" name=""/>
        <dsp:cNvSpPr/>
      </dsp:nvSpPr>
      <dsp:spPr>
        <a:xfrm>
          <a:off x="0" y="341312"/>
          <a:ext cx="10220960" cy="519870"/>
        </a:xfrm>
        <a:prstGeom prst="roundRect">
          <a:avLst/>
        </a:prstGeom>
        <a:solidFill>
          <a:schemeClr val="accent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zh-CN" altLang="en-US" sz="2000" b="1" kern="1200">
              <a:solidFill>
                <a:schemeClr val="tx1"/>
              </a:solidFill>
              <a:latin typeface="微软雅黑" panose="020B0503020204020204" pitchFamily="34" charset="-122"/>
              <a:ea typeface="微软雅黑" panose="020B0503020204020204" pitchFamily="34" charset="-122"/>
            </a:rPr>
            <a:t>流量控制：</a:t>
          </a:r>
        </a:p>
      </dsp:txBody>
      <dsp:txXfrm>
        <a:off x="25378" y="366690"/>
        <a:ext cx="10170204" cy="469114"/>
      </dsp:txXfrm>
    </dsp:sp>
    <dsp:sp modelId="{D6303ADD-E53E-4EDB-BAC9-77747DDDF7E5}">
      <dsp:nvSpPr>
        <dsp:cNvPr id="0" name=""/>
        <dsp:cNvSpPr/>
      </dsp:nvSpPr>
      <dsp:spPr>
        <a:xfrm>
          <a:off x="0" y="861183"/>
          <a:ext cx="10220960" cy="1258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4515"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zh-CN" sz="2000" b="1" kern="1200" dirty="0">
              <a:latin typeface="微软雅黑" panose="020B0503020204020204" pitchFamily="34" charset="-122"/>
              <a:ea typeface="微软雅黑" panose="020B0503020204020204" pitchFamily="34" charset="-122"/>
            </a:rPr>
            <a:t>是为了控制发送方的发送速率，让发送方的发送速率不要太快，确保接收方来得及接收</a:t>
          </a:r>
          <a:r>
            <a:rPr lang="zh-CN" sz="2000" kern="1200" dirty="0">
              <a:latin typeface="微软雅黑" panose="020B0503020204020204" pitchFamily="34" charset="-122"/>
              <a:ea typeface="微软雅黑" panose="020B0503020204020204" pitchFamily="34" charset="-122"/>
            </a:rPr>
            <a:t>。具体来说，</a:t>
          </a:r>
          <a:r>
            <a:rPr lang="en-US" sz="2000" kern="1200" dirty="0">
              <a:latin typeface="微软雅黑" panose="020B0503020204020204" pitchFamily="34" charset="-122"/>
              <a:ea typeface="微软雅黑" panose="020B0503020204020204" pitchFamily="34" charset="-122"/>
            </a:rPr>
            <a:t>TCP</a:t>
          </a:r>
          <a:r>
            <a:rPr lang="zh-CN" sz="2000" kern="1200" dirty="0">
              <a:latin typeface="微软雅黑" panose="020B0503020204020204" pitchFamily="34" charset="-122"/>
              <a:ea typeface="微软雅黑" panose="020B0503020204020204" pitchFamily="34" charset="-122"/>
            </a:rPr>
            <a:t>是利用滑动窗口机制来实现对发送方的流量控制，接收方通过在发送的确认报文中填写窗口字段来控制发送方窗口大小，从而限制发送方的发送速率。</a:t>
          </a:r>
        </a:p>
      </dsp:txBody>
      <dsp:txXfrm>
        <a:off x="0" y="861183"/>
        <a:ext cx="10220960" cy="1258560"/>
      </dsp:txXfrm>
    </dsp:sp>
    <dsp:sp modelId="{9FE41C80-1F49-456A-A9A6-C549B0CE3CED}">
      <dsp:nvSpPr>
        <dsp:cNvPr id="0" name=""/>
        <dsp:cNvSpPr/>
      </dsp:nvSpPr>
      <dsp:spPr>
        <a:xfrm>
          <a:off x="0" y="2119743"/>
          <a:ext cx="10220960" cy="564786"/>
        </a:xfrm>
        <a:prstGeom prst="roundRect">
          <a:avLst/>
        </a:prstGeom>
        <a:solidFill>
          <a:srgbClr val="ED7D31">
            <a:lumMod val="60000"/>
            <a:lumOff val="40000"/>
          </a:srgb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zh-CN" altLang="en-US" sz="2000" b="1" kern="1200">
              <a:solidFill>
                <a:prstClr val="black"/>
              </a:solidFill>
              <a:latin typeface="微软雅黑" panose="020B0503020204020204" pitchFamily="34" charset="-122"/>
              <a:ea typeface="微软雅黑" panose="020B0503020204020204" pitchFamily="34" charset="-122"/>
              <a:cs typeface="+mn-cs"/>
            </a:rPr>
            <a:t>拥塞控制</a:t>
          </a:r>
        </a:p>
      </dsp:txBody>
      <dsp:txXfrm>
        <a:off x="27571" y="2147314"/>
        <a:ext cx="10165818" cy="509644"/>
      </dsp:txXfrm>
    </dsp:sp>
    <dsp:sp modelId="{8DAF1AF0-50F8-4583-812E-85BACD26914C}">
      <dsp:nvSpPr>
        <dsp:cNvPr id="0" name=""/>
        <dsp:cNvSpPr/>
      </dsp:nvSpPr>
      <dsp:spPr>
        <a:xfrm>
          <a:off x="0" y="2684530"/>
          <a:ext cx="10220960" cy="10598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4515"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zh-CN" altLang="en-US" sz="2000" b="1" kern="1200" dirty="0">
              <a:latin typeface="微软雅黑" panose="020B0503020204020204" pitchFamily="34" charset="-122"/>
              <a:ea typeface="微软雅黑" panose="020B0503020204020204" pitchFamily="34" charset="-122"/>
            </a:rPr>
            <a:t>是防止过多的数据注入网络中，从而确保网络中的路由器或链路不致过载。</a:t>
          </a:r>
          <a:r>
            <a:rPr lang="zh-CN" altLang="en-US" sz="2000" b="0" kern="1200" dirty="0">
              <a:latin typeface="微软雅黑" panose="020B0503020204020204" pitchFamily="34" charset="-122"/>
              <a:ea typeface="微软雅黑" panose="020B0503020204020204" pitchFamily="34" charset="-122"/>
            </a:rPr>
            <a:t>拥塞控制是一个全局性的过程，和流量控制不同，流量控制指点对点通信量的控制。</a:t>
          </a:r>
        </a:p>
      </dsp:txBody>
      <dsp:txXfrm>
        <a:off x="0" y="2684530"/>
        <a:ext cx="10220960" cy="105984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68"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48769"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2C6BA0-5341-43DF-84CE-1998201C61E9}" type="datetimeFigureOut">
              <a:rPr lang="zh-CN" altLang="en-US" smtClean="0"/>
              <a:t>2023/12/19</a:t>
            </a:fld>
            <a:endParaRPr lang="zh-CN" altLang="en-US"/>
          </a:p>
        </p:txBody>
      </p:sp>
      <p:sp>
        <p:nvSpPr>
          <p:cNvPr id="1048770"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1048771"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72"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48773"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E3F630-34ED-4C5D-9674-D926440E8CF8}"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zh-CN"/>
          </a:p>
        </p:txBody>
      </p:sp>
      <p:sp>
        <p:nvSpPr>
          <p:cNvPr id="61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4563EF2-9A29-4DF8-A39E-03DCFDCA8A38}" type="slidenum">
              <a:rPr lang="en-US" altLang="zh-CN"/>
              <a:pPr/>
              <a:t>2</a:t>
            </a:fld>
            <a:endParaRPr lang="en-US" altLang="zh-CN"/>
          </a:p>
        </p:txBody>
      </p:sp>
    </p:spTree>
    <p:extLst>
      <p:ext uri="{BB962C8B-B14F-4D97-AF65-F5344CB8AC3E}">
        <p14:creationId xmlns:p14="http://schemas.microsoft.com/office/powerpoint/2010/main" val="42739784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zh-CN"/>
          </a:p>
        </p:txBody>
      </p:sp>
      <p:sp>
        <p:nvSpPr>
          <p:cNvPr id="81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811B44E-EA07-4E7F-A848-473D98A662F5}" type="slidenum">
              <a:rPr lang="en-US" altLang="zh-CN"/>
              <a:pPr/>
              <a:t>3</a:t>
            </a:fld>
            <a:endParaRPr lang="en-US" altLang="zh-CN"/>
          </a:p>
        </p:txBody>
      </p:sp>
    </p:spTree>
    <p:extLst>
      <p:ext uri="{BB962C8B-B14F-4D97-AF65-F5344CB8AC3E}">
        <p14:creationId xmlns:p14="http://schemas.microsoft.com/office/powerpoint/2010/main" val="31629534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5</a:t>
            </a:fld>
            <a:endParaRPr lang="zh-CN" altLang="en-US"/>
          </a:p>
        </p:txBody>
      </p:sp>
    </p:spTree>
    <p:extLst>
      <p:ext uri="{BB962C8B-B14F-4D97-AF65-F5344CB8AC3E}">
        <p14:creationId xmlns:p14="http://schemas.microsoft.com/office/powerpoint/2010/main" val="11816541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6</a:t>
            </a:fld>
            <a:endParaRPr lang="zh-CN" altLang="en-US"/>
          </a:p>
        </p:txBody>
      </p:sp>
    </p:spTree>
    <p:extLst>
      <p:ext uri="{BB962C8B-B14F-4D97-AF65-F5344CB8AC3E}">
        <p14:creationId xmlns:p14="http://schemas.microsoft.com/office/powerpoint/2010/main" val="1648537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7</a:t>
            </a:fld>
            <a:endParaRPr lang="zh-CN" altLang="en-US"/>
          </a:p>
        </p:txBody>
      </p:sp>
    </p:spTree>
    <p:extLst>
      <p:ext uri="{BB962C8B-B14F-4D97-AF65-F5344CB8AC3E}">
        <p14:creationId xmlns:p14="http://schemas.microsoft.com/office/powerpoint/2010/main" val="38973773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8</a:t>
            </a:fld>
            <a:endParaRPr lang="zh-CN" altLang="en-US"/>
          </a:p>
        </p:txBody>
      </p:sp>
    </p:spTree>
    <p:extLst>
      <p:ext uri="{BB962C8B-B14F-4D97-AF65-F5344CB8AC3E}">
        <p14:creationId xmlns:p14="http://schemas.microsoft.com/office/powerpoint/2010/main" val="4160980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10</a:t>
            </a:fld>
            <a:endParaRPr lang="zh-CN" altLang="en-US"/>
          </a:p>
        </p:txBody>
      </p:sp>
    </p:spTree>
    <p:extLst>
      <p:ext uri="{BB962C8B-B14F-4D97-AF65-F5344CB8AC3E}">
        <p14:creationId xmlns:p14="http://schemas.microsoft.com/office/powerpoint/2010/main" val="6227753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16</a:t>
            </a:fld>
            <a:endParaRPr lang="zh-CN" altLang="en-US"/>
          </a:p>
        </p:txBody>
      </p:sp>
    </p:spTree>
    <p:extLst>
      <p:ext uri="{BB962C8B-B14F-4D97-AF65-F5344CB8AC3E}">
        <p14:creationId xmlns:p14="http://schemas.microsoft.com/office/powerpoint/2010/main" val="7764194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0" i="0" dirty="0">
              <a:solidFill>
                <a:srgbClr val="333333"/>
              </a:solidFill>
              <a:effectLst/>
              <a:latin typeface="arial" panose="020B0604020202020204" pitchFamily="34" charset="0"/>
            </a:endParaRPr>
          </a:p>
        </p:txBody>
      </p:sp>
      <p:sp>
        <p:nvSpPr>
          <p:cNvPr id="4" name="灯片编号占位符 3"/>
          <p:cNvSpPr>
            <a:spLocks noGrp="1"/>
          </p:cNvSpPr>
          <p:nvPr>
            <p:ph type="sldNum" sz="quarter" idx="5"/>
          </p:nvPr>
        </p:nvSpPr>
        <p:spPr/>
        <p:txBody>
          <a:bodyPr/>
          <a:lstStyle/>
          <a:p>
            <a:fld id="{72E3F630-34ED-4C5D-9674-D926440E8CF8}" type="slidenum">
              <a:rPr lang="zh-CN" altLang="en-US" smtClean="0"/>
              <a:t>19</a:t>
            </a:fld>
            <a:endParaRPr lang="zh-CN" altLang="en-US"/>
          </a:p>
        </p:txBody>
      </p:sp>
    </p:spTree>
    <p:extLst>
      <p:ext uri="{BB962C8B-B14F-4D97-AF65-F5344CB8AC3E}">
        <p14:creationId xmlns:p14="http://schemas.microsoft.com/office/powerpoint/2010/main" val="38243337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zh-CN"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A474B6C-FDC2-43B9-8C63-7967DB6F2944}" type="slidenum">
              <a:rPr lang="en-US" altLang="zh-CN"/>
              <a:pPr/>
              <a:t>20</a:t>
            </a:fld>
            <a:endParaRPr lang="en-US" altLang="zh-CN"/>
          </a:p>
        </p:txBody>
      </p:sp>
    </p:spTree>
    <p:extLst>
      <p:ext uri="{BB962C8B-B14F-4D97-AF65-F5344CB8AC3E}">
        <p14:creationId xmlns:p14="http://schemas.microsoft.com/office/powerpoint/2010/main" val="16763656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zh-CN" dirty="0"/>
          </a:p>
        </p:txBody>
      </p:sp>
      <p:sp>
        <p:nvSpPr>
          <p:cNvPr id="266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6D41668-98DD-4548-9858-00ABA8E59013}" type="slidenum">
              <a:rPr lang="en-US" altLang="zh-CN"/>
              <a:pPr/>
              <a:t>21</a:t>
            </a:fld>
            <a:endParaRPr lang="en-US" altLang="zh-CN"/>
          </a:p>
        </p:txBody>
      </p:sp>
    </p:spTree>
    <p:extLst>
      <p:ext uri="{BB962C8B-B14F-4D97-AF65-F5344CB8AC3E}">
        <p14:creationId xmlns:p14="http://schemas.microsoft.com/office/powerpoint/2010/main" val="12126695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22</a:t>
            </a:fld>
            <a:endParaRPr lang="zh-CN" altLang="en-US"/>
          </a:p>
        </p:txBody>
      </p:sp>
    </p:spTree>
    <p:extLst>
      <p:ext uri="{BB962C8B-B14F-4D97-AF65-F5344CB8AC3E}">
        <p14:creationId xmlns:p14="http://schemas.microsoft.com/office/powerpoint/2010/main" val="1926576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23</a:t>
            </a:fld>
            <a:endParaRPr lang="zh-CN" altLang="en-US"/>
          </a:p>
        </p:txBody>
      </p:sp>
    </p:spTree>
    <p:extLst>
      <p:ext uri="{BB962C8B-B14F-4D97-AF65-F5344CB8AC3E}">
        <p14:creationId xmlns:p14="http://schemas.microsoft.com/office/powerpoint/2010/main" val="5259387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24</a:t>
            </a:fld>
            <a:endParaRPr lang="zh-CN" altLang="en-US"/>
          </a:p>
        </p:txBody>
      </p:sp>
    </p:spTree>
    <p:extLst>
      <p:ext uri="{BB962C8B-B14F-4D97-AF65-F5344CB8AC3E}">
        <p14:creationId xmlns:p14="http://schemas.microsoft.com/office/powerpoint/2010/main" val="34352429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25</a:t>
            </a:fld>
            <a:endParaRPr lang="zh-CN" altLang="en-US"/>
          </a:p>
        </p:txBody>
      </p:sp>
    </p:spTree>
    <p:extLst>
      <p:ext uri="{BB962C8B-B14F-4D97-AF65-F5344CB8AC3E}">
        <p14:creationId xmlns:p14="http://schemas.microsoft.com/office/powerpoint/2010/main" val="14833948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26</a:t>
            </a:fld>
            <a:endParaRPr lang="zh-CN" altLang="en-US"/>
          </a:p>
        </p:txBody>
      </p:sp>
    </p:spTree>
    <p:extLst>
      <p:ext uri="{BB962C8B-B14F-4D97-AF65-F5344CB8AC3E}">
        <p14:creationId xmlns:p14="http://schemas.microsoft.com/office/powerpoint/2010/main" val="10009567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28</a:t>
            </a:fld>
            <a:endParaRPr lang="zh-CN" altLang="en-US"/>
          </a:p>
        </p:txBody>
      </p:sp>
    </p:spTree>
    <p:extLst>
      <p:ext uri="{BB962C8B-B14F-4D97-AF65-F5344CB8AC3E}">
        <p14:creationId xmlns:p14="http://schemas.microsoft.com/office/powerpoint/2010/main" val="14469998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zh-CN" dirty="0"/>
          </a:p>
        </p:txBody>
      </p:sp>
      <p:sp>
        <p:nvSpPr>
          <p:cNvPr id="358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968635C-1B03-4461-9959-A0803A39056F}" type="slidenum">
              <a:rPr lang="en-US" altLang="zh-CN"/>
              <a:pPr/>
              <a:t>29</a:t>
            </a:fld>
            <a:endParaRPr lang="en-US" altLang="zh-CN"/>
          </a:p>
        </p:txBody>
      </p:sp>
    </p:spTree>
    <p:extLst>
      <p:ext uri="{BB962C8B-B14F-4D97-AF65-F5344CB8AC3E}">
        <p14:creationId xmlns:p14="http://schemas.microsoft.com/office/powerpoint/2010/main" val="33113831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zh-CN" dirty="0"/>
              <a:t>Goodput is useful throughput (minus retransmissions). </a:t>
            </a:r>
          </a:p>
          <a:p>
            <a:pPr>
              <a:spcBef>
                <a:spcPct val="0"/>
              </a:spcBef>
            </a:pPr>
            <a:endParaRPr lang="en-US" altLang="zh-CN" dirty="0"/>
          </a:p>
          <a:p>
            <a:pPr>
              <a:spcBef>
                <a:spcPct val="0"/>
              </a:spcBef>
            </a:pPr>
            <a:r>
              <a:rPr lang="en-US" altLang="zh-CN" dirty="0"/>
              <a:t>The power metric is load/delay. It will rise with load until delay starts to climb rapidly. This is one way to find the knee in the curve that is a good operating point.</a:t>
            </a:r>
          </a:p>
        </p:txBody>
      </p:sp>
      <p:sp>
        <p:nvSpPr>
          <p:cNvPr id="409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17D38E0-8622-4A24-816D-6C8C5E437291}" type="slidenum">
              <a:rPr lang="en-US" altLang="zh-CN"/>
              <a:pPr/>
              <a:t>36</a:t>
            </a:fld>
            <a:endParaRPr lang="en-US" altLang="zh-CN"/>
          </a:p>
        </p:txBody>
      </p:sp>
    </p:spTree>
    <p:extLst>
      <p:ext uri="{BB962C8B-B14F-4D97-AF65-F5344CB8AC3E}">
        <p14:creationId xmlns:p14="http://schemas.microsoft.com/office/powerpoint/2010/main" val="8081876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zh-CN" dirty="0"/>
          </a:p>
        </p:txBody>
      </p:sp>
      <p:sp>
        <p:nvSpPr>
          <p:cNvPr id="430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809D40B-619D-40D6-A79A-C3402374EAE0}" type="slidenum">
              <a:rPr lang="en-US" altLang="zh-CN"/>
              <a:pPr/>
              <a:t>37</a:t>
            </a:fld>
            <a:endParaRPr lang="en-US" altLang="zh-CN"/>
          </a:p>
        </p:txBody>
      </p:sp>
    </p:spTree>
    <p:extLst>
      <p:ext uri="{BB962C8B-B14F-4D97-AF65-F5344CB8AC3E}">
        <p14:creationId xmlns:p14="http://schemas.microsoft.com/office/powerpoint/2010/main" val="11889542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zh-CN" dirty="0"/>
          </a:p>
        </p:txBody>
      </p:sp>
      <p:sp>
        <p:nvSpPr>
          <p:cNvPr id="430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809D40B-619D-40D6-A79A-C3402374EAE0}" type="slidenum">
              <a:rPr lang="en-US" altLang="zh-CN"/>
              <a:pPr/>
              <a:t>38</a:t>
            </a:fld>
            <a:endParaRPr lang="en-US" altLang="zh-CN"/>
          </a:p>
        </p:txBody>
      </p:sp>
    </p:spTree>
    <p:extLst>
      <p:ext uri="{BB962C8B-B14F-4D97-AF65-F5344CB8AC3E}">
        <p14:creationId xmlns:p14="http://schemas.microsoft.com/office/powerpoint/2010/main" val="33623399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39</a:t>
            </a:fld>
            <a:endParaRPr lang="zh-CN" altLang="en-US"/>
          </a:p>
        </p:txBody>
      </p:sp>
    </p:spTree>
    <p:extLst>
      <p:ext uri="{BB962C8B-B14F-4D97-AF65-F5344CB8AC3E}">
        <p14:creationId xmlns:p14="http://schemas.microsoft.com/office/powerpoint/2010/main" val="10661987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42</a:t>
            </a:fld>
            <a:endParaRPr lang="zh-CN" altLang="en-US"/>
          </a:p>
        </p:txBody>
      </p:sp>
    </p:spTree>
    <p:extLst>
      <p:ext uri="{BB962C8B-B14F-4D97-AF65-F5344CB8AC3E}">
        <p14:creationId xmlns:p14="http://schemas.microsoft.com/office/powerpoint/2010/main" val="17673930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zh-CN"/>
              <a:t>The game shows two competing flows. The network is efficient when the sum of the flows is 1 unit, shown by the efficiency line. The network is fair when both flows have the same bandwidth, shown by the fairness line (y=x). Each flow increases or decreases their bandwidth periodically depending on whether the network is uncongested or congested. Additive policies change the bandwidth by a constant amount, like 1 Mbps. Additive changes for both users will thus follow a 45 degree line. Multiplicative policies change the bandwidth by a fractional amount, like 10%. Multiplicative changes for both users will thus go along a line towards or away from the origin. With AIAD or MIMD the flows oscillate over the efficiency line but do not become more fair.</a:t>
            </a:r>
          </a:p>
        </p:txBody>
      </p:sp>
      <p:sp>
        <p:nvSpPr>
          <p:cNvPr id="491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5237429-A014-4882-A7B3-548EE1477E7E}" type="slidenum">
              <a:rPr lang="en-US" altLang="zh-CN"/>
              <a:pPr/>
              <a:t>43</a:t>
            </a:fld>
            <a:endParaRPr lang="en-US" altLang="zh-CN"/>
          </a:p>
        </p:txBody>
      </p:sp>
    </p:spTree>
    <p:extLst>
      <p:ext uri="{BB962C8B-B14F-4D97-AF65-F5344CB8AC3E}">
        <p14:creationId xmlns:p14="http://schemas.microsoft.com/office/powerpoint/2010/main" val="38339637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zh-CN" dirty="0"/>
          </a:p>
        </p:txBody>
      </p:sp>
      <p:sp>
        <p:nvSpPr>
          <p:cNvPr id="512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EAFFED7-2408-4B54-8D66-67B17708B823}" type="slidenum">
              <a:rPr lang="en-US" altLang="zh-CN"/>
              <a:pPr/>
              <a:t>44</a:t>
            </a:fld>
            <a:endParaRPr lang="en-US" altLang="zh-CN"/>
          </a:p>
        </p:txBody>
      </p:sp>
    </p:spTree>
    <p:extLst>
      <p:ext uri="{BB962C8B-B14F-4D97-AF65-F5344CB8AC3E}">
        <p14:creationId xmlns:p14="http://schemas.microsoft.com/office/powerpoint/2010/main" val="2042969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i="0" dirty="0">
              <a:solidFill>
                <a:srgbClr val="333333"/>
              </a:solidFill>
              <a:effectLst/>
              <a:latin typeface="arial" panose="020B0604020202020204" pitchFamily="34" charset="0"/>
            </a:endParaRPr>
          </a:p>
        </p:txBody>
      </p:sp>
      <p:sp>
        <p:nvSpPr>
          <p:cNvPr id="4" name="灯片编号占位符 3"/>
          <p:cNvSpPr>
            <a:spLocks noGrp="1"/>
          </p:cNvSpPr>
          <p:nvPr>
            <p:ph type="sldNum" sz="quarter" idx="5"/>
          </p:nvPr>
        </p:nvSpPr>
        <p:spPr/>
        <p:txBody>
          <a:bodyPr/>
          <a:lstStyle/>
          <a:p>
            <a:fld id="{72E3F630-34ED-4C5D-9674-D926440E8CF8}" type="slidenum">
              <a:rPr lang="zh-CN" altLang="en-US" smtClean="0"/>
              <a:t>45</a:t>
            </a:fld>
            <a:endParaRPr lang="zh-CN" altLang="en-US"/>
          </a:p>
        </p:txBody>
      </p:sp>
    </p:spTree>
    <p:extLst>
      <p:ext uri="{BB962C8B-B14F-4D97-AF65-F5344CB8AC3E}">
        <p14:creationId xmlns:p14="http://schemas.microsoft.com/office/powerpoint/2010/main" val="26777767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zh-CN" dirty="0"/>
              <a:t>No frills: </a:t>
            </a:r>
            <a:r>
              <a:rPr lang="zh-CN" altLang="en-US" dirty="0"/>
              <a:t>无虚饰</a:t>
            </a:r>
            <a:endParaRPr lang="en-US" altLang="zh-CN" dirty="0"/>
          </a:p>
        </p:txBody>
      </p:sp>
      <p:sp>
        <p:nvSpPr>
          <p:cNvPr id="553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BBE7F60-43FF-4715-ADDA-13749684DC30}" type="slidenum">
              <a:rPr lang="en-US" altLang="zh-CN"/>
              <a:pPr/>
              <a:t>47</a:t>
            </a:fld>
            <a:endParaRPr lang="en-US" altLang="zh-CN"/>
          </a:p>
        </p:txBody>
      </p:sp>
    </p:spTree>
    <p:extLst>
      <p:ext uri="{BB962C8B-B14F-4D97-AF65-F5344CB8AC3E}">
        <p14:creationId xmlns:p14="http://schemas.microsoft.com/office/powerpoint/2010/main" val="1252853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zh-CN" b="0" i="0" dirty="0">
                <a:solidFill>
                  <a:srgbClr val="F73131"/>
                </a:solidFill>
                <a:effectLst/>
                <a:latin typeface="Arial" panose="020B0604020202020204" pitchFamily="34" charset="0"/>
              </a:rPr>
              <a:t>TSAP</a:t>
            </a:r>
            <a:r>
              <a:rPr lang="en-US" altLang="zh-CN" b="0" i="0" dirty="0">
                <a:solidFill>
                  <a:srgbClr val="333333"/>
                </a:solidFill>
                <a:effectLst/>
                <a:latin typeface="Arial" panose="020B0604020202020204" pitchFamily="34" charset="0"/>
              </a:rPr>
              <a:t>(Transport Service Access Point) </a:t>
            </a:r>
            <a:r>
              <a:rPr lang="zh-CN" altLang="en-US" b="0" i="0" dirty="0">
                <a:solidFill>
                  <a:srgbClr val="333333"/>
                </a:solidFill>
                <a:effectLst/>
                <a:latin typeface="Arial" panose="020B0604020202020204" pitchFamily="34" charset="0"/>
              </a:rPr>
              <a:t>传输服务访问点</a:t>
            </a:r>
            <a:endParaRPr lang="en-US" altLang="zh-CN" dirty="0"/>
          </a:p>
        </p:txBody>
      </p:sp>
      <p:sp>
        <p:nvSpPr>
          <p:cNvPr id="553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BBE7F60-43FF-4715-ADDA-13749684DC30}" type="slidenum">
              <a:rPr lang="en-US" altLang="zh-CN"/>
              <a:pPr/>
              <a:t>48</a:t>
            </a:fld>
            <a:endParaRPr lang="en-US" altLang="zh-CN"/>
          </a:p>
        </p:txBody>
      </p:sp>
    </p:spTree>
    <p:extLst>
      <p:ext uri="{BB962C8B-B14F-4D97-AF65-F5344CB8AC3E}">
        <p14:creationId xmlns:p14="http://schemas.microsoft.com/office/powerpoint/2010/main" val="31202874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zh-CN" dirty="0"/>
          </a:p>
        </p:txBody>
      </p:sp>
      <p:sp>
        <p:nvSpPr>
          <p:cNvPr id="573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9C98FF0-5E61-4641-BC1B-99F5BDA12232}" type="slidenum">
              <a:rPr lang="en-US" altLang="zh-CN"/>
              <a:pPr/>
              <a:t>49</a:t>
            </a:fld>
            <a:endParaRPr lang="en-US" altLang="zh-CN"/>
          </a:p>
        </p:txBody>
      </p:sp>
    </p:spTree>
    <p:extLst>
      <p:ext uri="{BB962C8B-B14F-4D97-AF65-F5344CB8AC3E}">
        <p14:creationId xmlns:p14="http://schemas.microsoft.com/office/powerpoint/2010/main" val="25274701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zh-CN" dirty="0"/>
          </a:p>
        </p:txBody>
      </p:sp>
      <p:sp>
        <p:nvSpPr>
          <p:cNvPr id="573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9C98FF0-5E61-4641-BC1B-99F5BDA12232}" type="slidenum">
              <a:rPr lang="en-US" altLang="zh-CN"/>
              <a:pPr/>
              <a:t>50</a:t>
            </a:fld>
            <a:endParaRPr lang="en-US" altLang="zh-CN"/>
          </a:p>
        </p:txBody>
      </p:sp>
    </p:spTree>
    <p:extLst>
      <p:ext uri="{BB962C8B-B14F-4D97-AF65-F5344CB8AC3E}">
        <p14:creationId xmlns:p14="http://schemas.microsoft.com/office/powerpoint/2010/main" val="27882786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70000" lnSpcReduction="20000"/>
          </a:bodyPr>
          <a:lstStyle/>
          <a:p>
            <a:pPr marL="171450" indent="-171450">
              <a:buFont typeface="Arial" panose="020B0604020202020204" pitchFamily="34" charset="0"/>
              <a:buChar char="•"/>
            </a:pPr>
            <a:endParaRPr lang="zh-CN" altLang="en-US" dirty="0"/>
          </a:p>
        </p:txBody>
      </p:sp>
      <p:sp>
        <p:nvSpPr>
          <p:cNvPr id="4" name="灯片编号占位符 3"/>
          <p:cNvSpPr>
            <a:spLocks noGrp="1"/>
          </p:cNvSpPr>
          <p:nvPr>
            <p:ph type="sldNum" sz="quarter" idx="10"/>
          </p:nvPr>
        </p:nvSpPr>
        <p:spPr/>
        <p:txBody>
          <a:bodyPr/>
          <a:lstStyle/>
          <a:p>
            <a:fld id="{90EA1069-4705-4335-AAA1-8BB9DD2D9485}" type="slidenum">
              <a:rPr lang="en-US" altLang="zh-CN" smtClean="0"/>
              <a:pPr/>
              <a:t>51</a:t>
            </a:fld>
            <a:endParaRPr lang="en-US" altLang="zh-CN"/>
          </a:p>
        </p:txBody>
      </p:sp>
    </p:spTree>
    <p:extLst>
      <p:ext uri="{BB962C8B-B14F-4D97-AF65-F5344CB8AC3E}">
        <p14:creationId xmlns:p14="http://schemas.microsoft.com/office/powerpoint/2010/main" val="41240969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0" dirty="0">
              <a:solidFill>
                <a:srgbClr val="000000"/>
              </a:solidFill>
              <a:effectLst/>
              <a:latin typeface="Arial" panose="020B0604020202020204" pitchFamily="34" charset="0"/>
            </a:endParaRPr>
          </a:p>
        </p:txBody>
      </p:sp>
      <p:sp>
        <p:nvSpPr>
          <p:cNvPr id="4" name="灯片编号占位符 3"/>
          <p:cNvSpPr>
            <a:spLocks noGrp="1"/>
          </p:cNvSpPr>
          <p:nvPr>
            <p:ph type="sldNum" sz="quarter" idx="5"/>
          </p:nvPr>
        </p:nvSpPr>
        <p:spPr/>
        <p:txBody>
          <a:bodyPr/>
          <a:lstStyle/>
          <a:p>
            <a:fld id="{72E3F630-34ED-4C5D-9674-D926440E8CF8}" type="slidenum">
              <a:rPr lang="zh-CN" altLang="en-US" smtClean="0"/>
              <a:t>52</a:t>
            </a:fld>
            <a:endParaRPr lang="zh-CN" altLang="en-US"/>
          </a:p>
        </p:txBody>
      </p:sp>
    </p:spTree>
    <p:extLst>
      <p:ext uri="{BB962C8B-B14F-4D97-AF65-F5344CB8AC3E}">
        <p14:creationId xmlns:p14="http://schemas.microsoft.com/office/powerpoint/2010/main" val="49696243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55</a:t>
            </a:fld>
            <a:endParaRPr lang="zh-CN" altLang="en-US"/>
          </a:p>
        </p:txBody>
      </p:sp>
    </p:spTree>
    <p:extLst>
      <p:ext uri="{BB962C8B-B14F-4D97-AF65-F5344CB8AC3E}">
        <p14:creationId xmlns:p14="http://schemas.microsoft.com/office/powerpoint/2010/main" val="32465621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56</a:t>
            </a:fld>
            <a:endParaRPr lang="zh-CN" altLang="en-US"/>
          </a:p>
        </p:txBody>
      </p:sp>
    </p:spTree>
    <p:extLst>
      <p:ext uri="{BB962C8B-B14F-4D97-AF65-F5344CB8AC3E}">
        <p14:creationId xmlns:p14="http://schemas.microsoft.com/office/powerpoint/2010/main" val="400736824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indent="-171450" algn="l">
              <a:buFont typeface="Arial" panose="020B0604020202020204" pitchFamily="34" charset="0"/>
              <a:buChar char="•"/>
            </a:pPr>
            <a:r>
              <a:rPr lang="en-US" altLang="zh-CN" b="0" i="0" dirty="0">
                <a:solidFill>
                  <a:srgbClr val="333333"/>
                </a:solidFill>
                <a:effectLst/>
                <a:latin typeface="arial" panose="020B0604020202020204" pitchFamily="34" charset="0"/>
              </a:rPr>
              <a:t>V</a:t>
            </a:r>
            <a:r>
              <a:rPr lang="zh-CN" altLang="en-US" b="0" i="0" dirty="0">
                <a:solidFill>
                  <a:srgbClr val="333333"/>
                </a:solidFill>
                <a:effectLst/>
                <a:latin typeface="arial" panose="020B0604020202020204" pitchFamily="34" charset="0"/>
              </a:rPr>
              <a:t>：</a:t>
            </a:r>
            <a:r>
              <a:rPr lang="en-US" altLang="zh-CN" b="0" i="0" dirty="0">
                <a:solidFill>
                  <a:srgbClr val="333333"/>
                </a:solidFill>
                <a:effectLst/>
                <a:latin typeface="arial" panose="020B0604020202020204" pitchFamily="34" charset="0"/>
              </a:rPr>
              <a:t>RTP</a:t>
            </a:r>
            <a:r>
              <a:rPr lang="zh-CN" altLang="en-US" b="0" i="0" dirty="0">
                <a:solidFill>
                  <a:srgbClr val="333333"/>
                </a:solidFill>
                <a:effectLst/>
                <a:latin typeface="arial" panose="020B0604020202020204" pitchFamily="34" charset="0"/>
              </a:rPr>
              <a:t>协议的版本号，占</a:t>
            </a:r>
            <a:r>
              <a:rPr lang="en-US" altLang="zh-CN" b="0" i="0" dirty="0">
                <a:solidFill>
                  <a:srgbClr val="333333"/>
                </a:solidFill>
                <a:effectLst/>
                <a:latin typeface="arial" panose="020B0604020202020204" pitchFamily="34" charset="0"/>
              </a:rPr>
              <a:t>2</a:t>
            </a:r>
            <a:r>
              <a:rPr lang="zh-CN" altLang="en-US" b="0" i="0" dirty="0">
                <a:solidFill>
                  <a:srgbClr val="333333"/>
                </a:solidFill>
                <a:effectLst/>
                <a:latin typeface="arial" panose="020B0604020202020204" pitchFamily="34" charset="0"/>
              </a:rPr>
              <a:t>位，当前协议版本号为</a:t>
            </a:r>
            <a:r>
              <a:rPr lang="en-US" altLang="zh-CN" b="0" i="0" dirty="0">
                <a:solidFill>
                  <a:srgbClr val="333333"/>
                </a:solidFill>
                <a:effectLst/>
                <a:latin typeface="arial" panose="020B0604020202020204" pitchFamily="34" charset="0"/>
              </a:rPr>
              <a:t>2</a:t>
            </a:r>
            <a:r>
              <a:rPr lang="zh-CN" altLang="en-US" b="0" i="0" dirty="0">
                <a:solidFill>
                  <a:srgbClr val="333333"/>
                </a:solidFill>
                <a:effectLst/>
                <a:latin typeface="arial" panose="020B0604020202020204" pitchFamily="34" charset="0"/>
              </a:rPr>
              <a:t>。</a:t>
            </a:r>
          </a:p>
          <a:p>
            <a:pPr marL="171450" indent="-171450" algn="l">
              <a:buFont typeface="Arial" panose="020B0604020202020204" pitchFamily="34" charset="0"/>
              <a:buChar char="•"/>
            </a:pPr>
            <a:r>
              <a:rPr lang="en-US" altLang="zh-CN" b="0" i="0" dirty="0">
                <a:solidFill>
                  <a:srgbClr val="333333"/>
                </a:solidFill>
                <a:effectLst/>
                <a:latin typeface="arial" panose="020B0604020202020204" pitchFamily="34" charset="0"/>
              </a:rPr>
              <a:t>P</a:t>
            </a:r>
            <a:r>
              <a:rPr lang="zh-CN" altLang="en-US" b="0" i="0" dirty="0">
                <a:solidFill>
                  <a:srgbClr val="333333"/>
                </a:solidFill>
                <a:effectLst/>
                <a:latin typeface="arial" panose="020B0604020202020204" pitchFamily="34" charset="0"/>
              </a:rPr>
              <a:t>：填充标志，占</a:t>
            </a:r>
            <a:r>
              <a:rPr lang="en-US" altLang="zh-CN" b="0" i="0" dirty="0">
                <a:solidFill>
                  <a:srgbClr val="333333"/>
                </a:solidFill>
                <a:effectLst/>
                <a:latin typeface="arial" panose="020B0604020202020204" pitchFamily="34" charset="0"/>
              </a:rPr>
              <a:t>1</a:t>
            </a:r>
            <a:r>
              <a:rPr lang="zh-CN" altLang="en-US" b="0" i="0" dirty="0">
                <a:solidFill>
                  <a:srgbClr val="333333"/>
                </a:solidFill>
                <a:effectLst/>
                <a:latin typeface="arial" panose="020B0604020202020204" pitchFamily="34" charset="0"/>
              </a:rPr>
              <a:t>位，如果</a:t>
            </a:r>
            <a:r>
              <a:rPr lang="en-US" altLang="zh-CN" b="0" i="0" dirty="0">
                <a:solidFill>
                  <a:srgbClr val="333333"/>
                </a:solidFill>
                <a:effectLst/>
                <a:latin typeface="arial" panose="020B0604020202020204" pitchFamily="34" charset="0"/>
              </a:rPr>
              <a:t>P=1</a:t>
            </a:r>
            <a:r>
              <a:rPr lang="zh-CN" altLang="en-US" b="0" i="0" dirty="0">
                <a:solidFill>
                  <a:srgbClr val="333333"/>
                </a:solidFill>
                <a:effectLst/>
                <a:latin typeface="arial" panose="020B0604020202020204" pitchFamily="34" charset="0"/>
              </a:rPr>
              <a:t>，则在该报文的尾部填充一个或多个额外的八位组，它们不是有效载荷的一部分。</a:t>
            </a:r>
          </a:p>
          <a:p>
            <a:pPr marL="171450" indent="-171450" algn="l">
              <a:buFont typeface="Arial" panose="020B0604020202020204" pitchFamily="34" charset="0"/>
              <a:buChar char="•"/>
            </a:pPr>
            <a:r>
              <a:rPr lang="en-US" altLang="zh-CN" b="0" i="0" dirty="0">
                <a:solidFill>
                  <a:srgbClr val="333333"/>
                </a:solidFill>
                <a:effectLst/>
                <a:latin typeface="arial" panose="020B0604020202020204" pitchFamily="34" charset="0"/>
              </a:rPr>
              <a:t>X</a:t>
            </a:r>
            <a:r>
              <a:rPr lang="zh-CN" altLang="en-US" b="0" i="0" dirty="0">
                <a:solidFill>
                  <a:srgbClr val="333333"/>
                </a:solidFill>
                <a:effectLst/>
                <a:latin typeface="arial" panose="020B0604020202020204" pitchFamily="34" charset="0"/>
              </a:rPr>
              <a:t>：扩展标志，占</a:t>
            </a:r>
            <a:r>
              <a:rPr lang="en-US" altLang="zh-CN" b="0" i="0" dirty="0">
                <a:solidFill>
                  <a:srgbClr val="333333"/>
                </a:solidFill>
                <a:effectLst/>
                <a:latin typeface="arial" panose="020B0604020202020204" pitchFamily="34" charset="0"/>
              </a:rPr>
              <a:t>1</a:t>
            </a:r>
            <a:r>
              <a:rPr lang="zh-CN" altLang="en-US" b="0" i="0" dirty="0">
                <a:solidFill>
                  <a:srgbClr val="333333"/>
                </a:solidFill>
                <a:effectLst/>
                <a:latin typeface="arial" panose="020B0604020202020204" pitchFamily="34" charset="0"/>
              </a:rPr>
              <a:t>位，如果</a:t>
            </a:r>
            <a:r>
              <a:rPr lang="en-US" altLang="zh-CN" b="0" i="0" dirty="0">
                <a:solidFill>
                  <a:srgbClr val="333333"/>
                </a:solidFill>
                <a:effectLst/>
                <a:latin typeface="arial" panose="020B0604020202020204" pitchFamily="34" charset="0"/>
              </a:rPr>
              <a:t>X=1</a:t>
            </a:r>
            <a:r>
              <a:rPr lang="zh-CN" altLang="en-US" b="0" i="0" dirty="0">
                <a:solidFill>
                  <a:srgbClr val="333333"/>
                </a:solidFill>
                <a:effectLst/>
                <a:latin typeface="arial" panose="020B0604020202020204" pitchFamily="34" charset="0"/>
              </a:rPr>
              <a:t>，则在</a:t>
            </a:r>
            <a:r>
              <a:rPr lang="en-US" altLang="zh-CN" b="0" i="0" dirty="0">
                <a:solidFill>
                  <a:srgbClr val="333333"/>
                </a:solidFill>
                <a:effectLst/>
                <a:latin typeface="arial" panose="020B0604020202020204" pitchFamily="34" charset="0"/>
              </a:rPr>
              <a:t>RTP</a:t>
            </a:r>
            <a:r>
              <a:rPr lang="zh-CN" altLang="en-US" b="0" i="0" dirty="0">
                <a:solidFill>
                  <a:srgbClr val="333333"/>
                </a:solidFill>
                <a:effectLst/>
                <a:latin typeface="arial" panose="020B0604020202020204" pitchFamily="34" charset="0"/>
              </a:rPr>
              <a:t>报头后跟有一个扩展报头。</a:t>
            </a:r>
          </a:p>
          <a:p>
            <a:pPr marL="171450" indent="-171450" algn="l">
              <a:buFont typeface="Arial" panose="020B0604020202020204" pitchFamily="34" charset="0"/>
              <a:buChar char="•"/>
            </a:pPr>
            <a:r>
              <a:rPr lang="en-US" altLang="zh-CN" b="0" i="0" dirty="0">
                <a:solidFill>
                  <a:srgbClr val="333333"/>
                </a:solidFill>
                <a:effectLst/>
                <a:latin typeface="arial" panose="020B0604020202020204" pitchFamily="34" charset="0"/>
              </a:rPr>
              <a:t>CC</a:t>
            </a:r>
            <a:r>
              <a:rPr lang="zh-CN" altLang="en-US" b="0" i="0" dirty="0">
                <a:solidFill>
                  <a:srgbClr val="333333"/>
                </a:solidFill>
                <a:effectLst/>
                <a:latin typeface="arial" panose="020B0604020202020204" pitchFamily="34" charset="0"/>
              </a:rPr>
              <a:t>：</a:t>
            </a:r>
            <a:r>
              <a:rPr lang="en-US" altLang="zh-CN" b="0" i="0" dirty="0">
                <a:solidFill>
                  <a:srgbClr val="333333"/>
                </a:solidFill>
                <a:effectLst/>
                <a:latin typeface="arial" panose="020B0604020202020204" pitchFamily="34" charset="0"/>
              </a:rPr>
              <a:t>CSRC</a:t>
            </a:r>
            <a:r>
              <a:rPr lang="zh-CN" altLang="en-US" b="0" i="0" dirty="0">
                <a:solidFill>
                  <a:srgbClr val="333333"/>
                </a:solidFill>
                <a:effectLst/>
                <a:latin typeface="arial" panose="020B0604020202020204" pitchFamily="34" charset="0"/>
              </a:rPr>
              <a:t>计数器，占</a:t>
            </a:r>
            <a:r>
              <a:rPr lang="en-US" altLang="zh-CN" b="0" i="0" dirty="0">
                <a:solidFill>
                  <a:srgbClr val="333333"/>
                </a:solidFill>
                <a:effectLst/>
                <a:latin typeface="arial" panose="020B0604020202020204" pitchFamily="34" charset="0"/>
              </a:rPr>
              <a:t>4</a:t>
            </a:r>
            <a:r>
              <a:rPr lang="zh-CN" altLang="en-US" b="0" i="0" dirty="0">
                <a:solidFill>
                  <a:srgbClr val="333333"/>
                </a:solidFill>
                <a:effectLst/>
                <a:latin typeface="arial" panose="020B0604020202020204" pitchFamily="34" charset="0"/>
              </a:rPr>
              <a:t>位，指示</a:t>
            </a:r>
            <a:r>
              <a:rPr lang="en-US" altLang="zh-CN" b="0" i="0" dirty="0">
                <a:solidFill>
                  <a:srgbClr val="333333"/>
                </a:solidFill>
                <a:effectLst/>
                <a:latin typeface="arial" panose="020B0604020202020204" pitchFamily="34" charset="0"/>
              </a:rPr>
              <a:t>CSRC </a:t>
            </a:r>
            <a:r>
              <a:rPr lang="zh-CN" altLang="en-US" b="0" i="0" dirty="0">
                <a:solidFill>
                  <a:srgbClr val="333333"/>
                </a:solidFill>
                <a:effectLst/>
                <a:latin typeface="arial" panose="020B0604020202020204" pitchFamily="34" charset="0"/>
              </a:rPr>
              <a:t>标识符的个数。</a:t>
            </a:r>
          </a:p>
          <a:p>
            <a:pPr marL="171450" indent="-171450" algn="l">
              <a:buFont typeface="Arial" panose="020B0604020202020204" pitchFamily="34" charset="0"/>
              <a:buChar char="•"/>
            </a:pPr>
            <a:r>
              <a:rPr lang="en-US" altLang="zh-CN" b="0" i="0" dirty="0">
                <a:solidFill>
                  <a:srgbClr val="333333"/>
                </a:solidFill>
                <a:effectLst/>
                <a:latin typeface="arial" panose="020B0604020202020204" pitchFamily="34" charset="0"/>
              </a:rPr>
              <a:t>M: </a:t>
            </a:r>
            <a:r>
              <a:rPr lang="zh-CN" altLang="en-US" b="0" i="0" dirty="0">
                <a:solidFill>
                  <a:srgbClr val="333333"/>
                </a:solidFill>
                <a:effectLst/>
                <a:latin typeface="arial" panose="020B0604020202020204" pitchFamily="34" charset="0"/>
              </a:rPr>
              <a:t>标记，占</a:t>
            </a:r>
            <a:r>
              <a:rPr lang="en-US" altLang="zh-CN" b="0" i="0" dirty="0">
                <a:solidFill>
                  <a:srgbClr val="333333"/>
                </a:solidFill>
                <a:effectLst/>
                <a:latin typeface="arial" panose="020B0604020202020204" pitchFamily="34" charset="0"/>
              </a:rPr>
              <a:t>1</a:t>
            </a:r>
            <a:r>
              <a:rPr lang="zh-CN" altLang="en-US" b="0" i="0" dirty="0">
                <a:solidFill>
                  <a:srgbClr val="333333"/>
                </a:solidFill>
                <a:effectLst/>
                <a:latin typeface="arial" panose="020B0604020202020204" pitchFamily="34" charset="0"/>
              </a:rPr>
              <a:t>位，不同的有效载荷有不同的含义，对于视频，标记一帧的结束；对于音频，标记会话的开始。</a:t>
            </a:r>
          </a:p>
          <a:p>
            <a:pPr marL="171450" indent="-171450" algn="l">
              <a:buFont typeface="Arial" panose="020B0604020202020204" pitchFamily="34" charset="0"/>
              <a:buChar char="•"/>
            </a:pPr>
            <a:r>
              <a:rPr lang="en-US" altLang="zh-CN" b="0" i="0" dirty="0">
                <a:solidFill>
                  <a:srgbClr val="333333"/>
                </a:solidFill>
                <a:effectLst/>
                <a:latin typeface="arial" panose="020B0604020202020204" pitchFamily="34" charset="0"/>
              </a:rPr>
              <a:t>PT: </a:t>
            </a:r>
            <a:r>
              <a:rPr lang="zh-CN" altLang="en-US" b="0" i="0" dirty="0">
                <a:solidFill>
                  <a:srgbClr val="333333"/>
                </a:solidFill>
                <a:effectLst/>
                <a:latin typeface="arial" panose="020B0604020202020204" pitchFamily="34" charset="0"/>
              </a:rPr>
              <a:t>有效载荷类型，占</a:t>
            </a:r>
            <a:r>
              <a:rPr lang="en-US" altLang="zh-CN" b="0" i="0" dirty="0">
                <a:solidFill>
                  <a:srgbClr val="333333"/>
                </a:solidFill>
                <a:effectLst/>
                <a:latin typeface="arial" panose="020B0604020202020204" pitchFamily="34" charset="0"/>
              </a:rPr>
              <a:t>7</a:t>
            </a:r>
            <a:r>
              <a:rPr lang="zh-CN" altLang="en-US" b="0" i="0" dirty="0">
                <a:solidFill>
                  <a:srgbClr val="333333"/>
                </a:solidFill>
                <a:effectLst/>
                <a:latin typeface="arial" panose="020B0604020202020204" pitchFamily="34" charset="0"/>
              </a:rPr>
              <a:t>位，用于说明</a:t>
            </a:r>
            <a:r>
              <a:rPr lang="en-US" altLang="zh-CN" b="0" i="0" dirty="0">
                <a:solidFill>
                  <a:srgbClr val="333333"/>
                </a:solidFill>
                <a:effectLst/>
                <a:latin typeface="arial" panose="020B0604020202020204" pitchFamily="34" charset="0"/>
              </a:rPr>
              <a:t>RTP</a:t>
            </a:r>
            <a:r>
              <a:rPr lang="zh-CN" altLang="en-US" b="0" i="0" dirty="0">
                <a:solidFill>
                  <a:srgbClr val="333333"/>
                </a:solidFill>
                <a:effectLst/>
                <a:latin typeface="arial" panose="020B0604020202020204" pitchFamily="34" charset="0"/>
              </a:rPr>
              <a:t>报文中有效载荷的类型，如</a:t>
            </a:r>
            <a:r>
              <a:rPr lang="en-US" altLang="zh-CN" b="0" i="0" dirty="0">
                <a:solidFill>
                  <a:srgbClr val="333333"/>
                </a:solidFill>
                <a:effectLst/>
                <a:latin typeface="arial" panose="020B0604020202020204" pitchFamily="34" charset="0"/>
              </a:rPr>
              <a:t>GSM</a:t>
            </a:r>
            <a:r>
              <a:rPr lang="zh-CN" altLang="en-US" b="0" i="0" dirty="0">
                <a:solidFill>
                  <a:srgbClr val="333333"/>
                </a:solidFill>
                <a:effectLst/>
                <a:latin typeface="arial" panose="020B0604020202020204" pitchFamily="34" charset="0"/>
              </a:rPr>
              <a:t>音频、</a:t>
            </a:r>
            <a:r>
              <a:rPr lang="en-US" altLang="zh-CN" b="0" i="0" dirty="0">
                <a:solidFill>
                  <a:srgbClr val="333333"/>
                </a:solidFill>
                <a:effectLst/>
                <a:latin typeface="arial" panose="020B0604020202020204" pitchFamily="34" charset="0"/>
              </a:rPr>
              <a:t>JPEM</a:t>
            </a:r>
            <a:r>
              <a:rPr lang="zh-CN" altLang="en-US" b="0" i="0" dirty="0">
                <a:solidFill>
                  <a:srgbClr val="333333"/>
                </a:solidFill>
                <a:effectLst/>
                <a:latin typeface="arial" panose="020B0604020202020204" pitchFamily="34" charset="0"/>
              </a:rPr>
              <a:t>图像等。</a:t>
            </a:r>
          </a:p>
          <a:p>
            <a:pPr marL="171450" indent="-171450" algn="l">
              <a:buFont typeface="Arial" panose="020B0604020202020204" pitchFamily="34" charset="0"/>
              <a:buChar char="•"/>
            </a:pPr>
            <a:r>
              <a:rPr lang="zh-CN" altLang="en-US" b="0" i="0" dirty="0">
                <a:solidFill>
                  <a:srgbClr val="333333"/>
                </a:solidFill>
                <a:effectLst/>
                <a:latin typeface="arial" panose="020B0604020202020204" pitchFamily="34" charset="0"/>
              </a:rPr>
              <a:t>序列号：占</a:t>
            </a:r>
            <a:r>
              <a:rPr lang="en-US" altLang="zh-CN" b="0" i="0" dirty="0">
                <a:solidFill>
                  <a:srgbClr val="333333"/>
                </a:solidFill>
                <a:effectLst/>
                <a:latin typeface="arial" panose="020B0604020202020204" pitchFamily="34" charset="0"/>
              </a:rPr>
              <a:t>16</a:t>
            </a:r>
            <a:r>
              <a:rPr lang="zh-CN" altLang="en-US" b="0" i="0" dirty="0">
                <a:solidFill>
                  <a:srgbClr val="333333"/>
                </a:solidFill>
                <a:effectLst/>
                <a:latin typeface="arial" panose="020B0604020202020204" pitchFamily="34" charset="0"/>
              </a:rPr>
              <a:t>位，用于标识发送者所发送的</a:t>
            </a:r>
            <a:r>
              <a:rPr lang="en-US" altLang="zh-CN" b="0" i="0" dirty="0">
                <a:solidFill>
                  <a:srgbClr val="333333"/>
                </a:solidFill>
                <a:effectLst/>
                <a:latin typeface="arial" panose="020B0604020202020204" pitchFamily="34" charset="0"/>
              </a:rPr>
              <a:t>RTP</a:t>
            </a:r>
            <a:r>
              <a:rPr lang="zh-CN" altLang="en-US" b="0" i="0" dirty="0">
                <a:solidFill>
                  <a:srgbClr val="333333"/>
                </a:solidFill>
                <a:effectLst/>
                <a:latin typeface="arial" panose="020B0604020202020204" pitchFamily="34" charset="0"/>
              </a:rPr>
              <a:t>报文的序列号，每发送一个报文，序列号增</a:t>
            </a:r>
            <a:r>
              <a:rPr lang="en-US" altLang="zh-CN" b="0" i="0" dirty="0">
                <a:solidFill>
                  <a:srgbClr val="333333"/>
                </a:solidFill>
                <a:effectLst/>
                <a:latin typeface="arial" panose="020B0604020202020204" pitchFamily="34" charset="0"/>
              </a:rPr>
              <a:t>1</a:t>
            </a:r>
            <a:r>
              <a:rPr lang="zh-CN" altLang="en-US" b="0" i="0" dirty="0">
                <a:solidFill>
                  <a:srgbClr val="333333"/>
                </a:solidFill>
                <a:effectLst/>
                <a:latin typeface="arial" panose="020B0604020202020204" pitchFamily="34" charset="0"/>
              </a:rPr>
              <a:t>。接收者通过序列号来检测报文丢失情况，重新排序报文，恢复数据。</a:t>
            </a:r>
          </a:p>
          <a:p>
            <a:pPr marL="171450" indent="-171450" algn="l">
              <a:buFont typeface="Arial" panose="020B0604020202020204" pitchFamily="34" charset="0"/>
              <a:buChar char="•"/>
            </a:pPr>
            <a:r>
              <a:rPr lang="zh-CN" altLang="en-US" b="0" i="0" dirty="0">
                <a:solidFill>
                  <a:srgbClr val="333333"/>
                </a:solidFill>
                <a:effectLst/>
                <a:latin typeface="arial" panose="020B0604020202020204" pitchFamily="34" charset="0"/>
              </a:rPr>
              <a:t>时戳</a:t>
            </a:r>
            <a:r>
              <a:rPr lang="en-US" altLang="zh-CN" b="0" i="0" dirty="0">
                <a:solidFill>
                  <a:srgbClr val="333333"/>
                </a:solidFill>
                <a:effectLst/>
                <a:latin typeface="arial" panose="020B0604020202020204" pitchFamily="34" charset="0"/>
              </a:rPr>
              <a:t>(Timestamp)</a:t>
            </a:r>
            <a:r>
              <a:rPr lang="zh-CN" altLang="en-US" b="0" i="0" dirty="0">
                <a:solidFill>
                  <a:srgbClr val="333333"/>
                </a:solidFill>
                <a:effectLst/>
                <a:latin typeface="arial" panose="020B0604020202020204" pitchFamily="34" charset="0"/>
              </a:rPr>
              <a:t>：占</a:t>
            </a:r>
            <a:r>
              <a:rPr lang="en-US" altLang="zh-CN" b="0" i="0" dirty="0">
                <a:solidFill>
                  <a:srgbClr val="333333"/>
                </a:solidFill>
                <a:effectLst/>
                <a:latin typeface="arial" panose="020B0604020202020204" pitchFamily="34" charset="0"/>
              </a:rPr>
              <a:t>32</a:t>
            </a:r>
            <a:r>
              <a:rPr lang="zh-CN" altLang="en-US" b="0" i="0" dirty="0">
                <a:solidFill>
                  <a:srgbClr val="333333"/>
                </a:solidFill>
                <a:effectLst/>
                <a:latin typeface="arial" panose="020B0604020202020204" pitchFamily="34" charset="0"/>
              </a:rPr>
              <a:t>位，时戳反映了该</a:t>
            </a:r>
            <a:r>
              <a:rPr lang="en-US" altLang="zh-CN" b="0" i="0" dirty="0">
                <a:solidFill>
                  <a:srgbClr val="333333"/>
                </a:solidFill>
                <a:effectLst/>
                <a:latin typeface="arial" panose="020B0604020202020204" pitchFamily="34" charset="0"/>
              </a:rPr>
              <a:t>RTP</a:t>
            </a:r>
            <a:r>
              <a:rPr lang="zh-CN" altLang="en-US" b="0" i="0" dirty="0">
                <a:solidFill>
                  <a:srgbClr val="333333"/>
                </a:solidFill>
                <a:effectLst/>
                <a:latin typeface="arial" panose="020B0604020202020204" pitchFamily="34" charset="0"/>
              </a:rPr>
              <a:t>报文的第一个八位组的采样时刻。接收者使用时戳来计算延迟和延迟抖动，并进行同步控制。</a:t>
            </a:r>
          </a:p>
          <a:p>
            <a:pPr marL="171450" indent="-171450" algn="l">
              <a:buFont typeface="Arial" panose="020B0604020202020204" pitchFamily="34" charset="0"/>
              <a:buChar char="•"/>
            </a:pPr>
            <a:r>
              <a:rPr lang="zh-CN" altLang="en-US" b="0" i="0" dirty="0">
                <a:solidFill>
                  <a:srgbClr val="333333"/>
                </a:solidFill>
                <a:effectLst/>
                <a:latin typeface="arial" panose="020B0604020202020204" pitchFamily="34" charset="0"/>
              </a:rPr>
              <a:t>同步信源</a:t>
            </a:r>
            <a:r>
              <a:rPr lang="en-US" altLang="zh-CN" b="0" i="0" dirty="0">
                <a:solidFill>
                  <a:srgbClr val="333333"/>
                </a:solidFill>
                <a:effectLst/>
                <a:latin typeface="arial" panose="020B0604020202020204" pitchFamily="34" charset="0"/>
              </a:rPr>
              <a:t>(SSRC)</a:t>
            </a:r>
            <a:r>
              <a:rPr lang="zh-CN" altLang="en-US" b="0" i="0" dirty="0">
                <a:solidFill>
                  <a:srgbClr val="333333"/>
                </a:solidFill>
                <a:effectLst/>
                <a:latin typeface="arial" panose="020B0604020202020204" pitchFamily="34" charset="0"/>
              </a:rPr>
              <a:t>标识符：占</a:t>
            </a:r>
            <a:r>
              <a:rPr lang="en-US" altLang="zh-CN" b="0" i="0" dirty="0">
                <a:solidFill>
                  <a:srgbClr val="333333"/>
                </a:solidFill>
                <a:effectLst/>
                <a:latin typeface="arial" panose="020B0604020202020204" pitchFamily="34" charset="0"/>
              </a:rPr>
              <a:t>32</a:t>
            </a:r>
            <a:r>
              <a:rPr lang="zh-CN" altLang="en-US" b="0" i="0" dirty="0">
                <a:solidFill>
                  <a:srgbClr val="333333"/>
                </a:solidFill>
                <a:effectLst/>
                <a:latin typeface="arial" panose="020B0604020202020204" pitchFamily="34" charset="0"/>
              </a:rPr>
              <a:t>位，用于标识同步信源。该标识符是随机选择的，参加同一视频会议的两个同步信源不能有相同的</a:t>
            </a:r>
            <a:r>
              <a:rPr lang="en-US" altLang="zh-CN" b="0" i="0" dirty="0">
                <a:solidFill>
                  <a:srgbClr val="333333"/>
                </a:solidFill>
                <a:effectLst/>
                <a:latin typeface="arial" panose="020B0604020202020204" pitchFamily="34" charset="0"/>
              </a:rPr>
              <a:t>SSRC</a:t>
            </a:r>
            <a:r>
              <a:rPr lang="zh-CN" altLang="en-US" b="0" i="0" dirty="0">
                <a:solidFill>
                  <a:srgbClr val="333333"/>
                </a:solidFill>
                <a:effectLst/>
                <a:latin typeface="arial" panose="020B0604020202020204" pitchFamily="34" charset="0"/>
              </a:rPr>
              <a:t>。</a:t>
            </a:r>
          </a:p>
          <a:p>
            <a:pPr marL="171450" indent="-171450" algn="l">
              <a:buFont typeface="Arial" panose="020B0604020202020204" pitchFamily="34" charset="0"/>
              <a:buChar char="•"/>
            </a:pPr>
            <a:r>
              <a:rPr lang="zh-CN" altLang="en-US" b="0" i="0" dirty="0">
                <a:solidFill>
                  <a:srgbClr val="333333"/>
                </a:solidFill>
                <a:effectLst/>
                <a:latin typeface="arial" panose="020B0604020202020204" pitchFamily="34" charset="0"/>
              </a:rPr>
              <a:t>特约信源</a:t>
            </a:r>
            <a:r>
              <a:rPr lang="en-US" altLang="zh-CN" b="0" i="0" dirty="0">
                <a:solidFill>
                  <a:srgbClr val="333333"/>
                </a:solidFill>
                <a:effectLst/>
                <a:latin typeface="arial" panose="020B0604020202020204" pitchFamily="34" charset="0"/>
              </a:rPr>
              <a:t>(CSRC)</a:t>
            </a:r>
            <a:r>
              <a:rPr lang="zh-CN" altLang="en-US" b="0" i="0" dirty="0">
                <a:solidFill>
                  <a:srgbClr val="333333"/>
                </a:solidFill>
                <a:effectLst/>
                <a:latin typeface="arial" panose="020B0604020202020204" pitchFamily="34" charset="0"/>
              </a:rPr>
              <a:t>标识符：每个</a:t>
            </a:r>
            <a:r>
              <a:rPr lang="en-US" altLang="zh-CN" b="0" i="0" dirty="0">
                <a:solidFill>
                  <a:srgbClr val="333333"/>
                </a:solidFill>
                <a:effectLst/>
                <a:latin typeface="arial" panose="020B0604020202020204" pitchFamily="34" charset="0"/>
              </a:rPr>
              <a:t>CSRC</a:t>
            </a:r>
            <a:r>
              <a:rPr lang="zh-CN" altLang="en-US" b="0" i="0" dirty="0">
                <a:solidFill>
                  <a:srgbClr val="333333"/>
                </a:solidFill>
                <a:effectLst/>
                <a:latin typeface="arial" panose="020B0604020202020204" pitchFamily="34" charset="0"/>
              </a:rPr>
              <a:t>标识符占</a:t>
            </a:r>
            <a:r>
              <a:rPr lang="en-US" altLang="zh-CN" b="0" i="0" dirty="0">
                <a:solidFill>
                  <a:srgbClr val="333333"/>
                </a:solidFill>
                <a:effectLst/>
                <a:latin typeface="arial" panose="020B0604020202020204" pitchFamily="34" charset="0"/>
              </a:rPr>
              <a:t>32</a:t>
            </a:r>
            <a:r>
              <a:rPr lang="zh-CN" altLang="en-US" b="0" i="0" dirty="0">
                <a:solidFill>
                  <a:srgbClr val="333333"/>
                </a:solidFill>
                <a:effectLst/>
                <a:latin typeface="arial" panose="020B0604020202020204" pitchFamily="34" charset="0"/>
              </a:rPr>
              <a:t>位，可以有</a:t>
            </a:r>
            <a:r>
              <a:rPr lang="en-US" altLang="zh-CN" b="0" i="0" dirty="0">
                <a:solidFill>
                  <a:srgbClr val="333333"/>
                </a:solidFill>
                <a:effectLst/>
                <a:latin typeface="arial" panose="020B0604020202020204" pitchFamily="34" charset="0"/>
              </a:rPr>
              <a:t>0</a:t>
            </a:r>
            <a:r>
              <a:rPr lang="zh-CN" altLang="en-US" b="0" i="0" dirty="0">
                <a:solidFill>
                  <a:srgbClr val="333333"/>
                </a:solidFill>
                <a:effectLst/>
                <a:latin typeface="arial" panose="020B0604020202020204" pitchFamily="34" charset="0"/>
              </a:rPr>
              <a:t>～</a:t>
            </a:r>
            <a:r>
              <a:rPr lang="en-US" altLang="zh-CN" b="0" i="0" dirty="0">
                <a:solidFill>
                  <a:srgbClr val="333333"/>
                </a:solidFill>
                <a:effectLst/>
                <a:latin typeface="arial" panose="020B0604020202020204" pitchFamily="34" charset="0"/>
              </a:rPr>
              <a:t>15</a:t>
            </a:r>
            <a:r>
              <a:rPr lang="zh-CN" altLang="en-US" b="0" i="0" dirty="0">
                <a:solidFill>
                  <a:srgbClr val="333333"/>
                </a:solidFill>
                <a:effectLst/>
                <a:latin typeface="arial" panose="020B0604020202020204" pitchFamily="34" charset="0"/>
              </a:rPr>
              <a:t>个。每个</a:t>
            </a:r>
            <a:r>
              <a:rPr lang="en-US" altLang="zh-CN" b="0" i="0" dirty="0">
                <a:solidFill>
                  <a:srgbClr val="333333"/>
                </a:solidFill>
                <a:effectLst/>
                <a:latin typeface="arial" panose="020B0604020202020204" pitchFamily="34" charset="0"/>
              </a:rPr>
              <a:t>CSRC</a:t>
            </a:r>
            <a:r>
              <a:rPr lang="zh-CN" altLang="en-US" b="0" i="0" dirty="0">
                <a:solidFill>
                  <a:srgbClr val="333333"/>
                </a:solidFill>
                <a:effectLst/>
                <a:latin typeface="arial" panose="020B0604020202020204" pitchFamily="34" charset="0"/>
              </a:rPr>
              <a:t>标识了包含在该</a:t>
            </a:r>
            <a:r>
              <a:rPr lang="en-US" altLang="zh-CN" b="0" i="0" dirty="0">
                <a:solidFill>
                  <a:srgbClr val="333333"/>
                </a:solidFill>
                <a:effectLst/>
                <a:latin typeface="arial" panose="020B0604020202020204" pitchFamily="34" charset="0"/>
              </a:rPr>
              <a:t>RTP</a:t>
            </a:r>
            <a:r>
              <a:rPr lang="zh-CN" altLang="en-US" b="0" i="0" dirty="0">
                <a:solidFill>
                  <a:srgbClr val="333333"/>
                </a:solidFill>
                <a:effectLst/>
                <a:latin typeface="arial" panose="020B0604020202020204" pitchFamily="34" charset="0"/>
              </a:rPr>
              <a:t>报文有效载荷中的所有特约信源。</a:t>
            </a:r>
          </a:p>
          <a:p>
            <a:endParaRPr lang="en-US" altLang="zh-CN" b="0" i="0" dirty="0">
              <a:solidFill>
                <a:srgbClr val="333333"/>
              </a:solidFill>
              <a:effectLst/>
              <a:latin typeface="arial" panose="020B0604020202020204" pitchFamily="34" charset="0"/>
            </a:endParaRPr>
          </a:p>
          <a:p>
            <a:r>
              <a:rPr lang="zh-CN" altLang="en-US" b="0" i="0" dirty="0">
                <a:solidFill>
                  <a:srgbClr val="333333"/>
                </a:solidFill>
                <a:effectLst/>
                <a:latin typeface="arial" panose="020B0604020202020204" pitchFamily="34" charset="0"/>
              </a:rPr>
              <a:t>这里的同步信源是指产生媒体流的信源，它通过</a:t>
            </a:r>
            <a:r>
              <a:rPr lang="en-US" altLang="zh-CN" b="0" i="0" dirty="0">
                <a:solidFill>
                  <a:srgbClr val="333333"/>
                </a:solidFill>
                <a:effectLst/>
                <a:latin typeface="arial" panose="020B0604020202020204" pitchFamily="34" charset="0"/>
              </a:rPr>
              <a:t>RTP</a:t>
            </a:r>
            <a:r>
              <a:rPr lang="zh-CN" altLang="en-US" b="0" i="0" dirty="0">
                <a:solidFill>
                  <a:srgbClr val="333333"/>
                </a:solidFill>
                <a:effectLst/>
                <a:latin typeface="arial" panose="020B0604020202020204" pitchFamily="34" charset="0"/>
              </a:rPr>
              <a:t>报头中的一个</a:t>
            </a:r>
            <a:r>
              <a:rPr lang="en-US" altLang="zh-CN" b="0" i="0" dirty="0">
                <a:solidFill>
                  <a:srgbClr val="333333"/>
                </a:solidFill>
                <a:effectLst/>
                <a:latin typeface="arial" panose="020B0604020202020204" pitchFamily="34" charset="0"/>
              </a:rPr>
              <a:t>32</a:t>
            </a:r>
            <a:r>
              <a:rPr lang="zh-CN" altLang="en-US" b="0" i="0" dirty="0">
                <a:solidFill>
                  <a:srgbClr val="333333"/>
                </a:solidFill>
                <a:effectLst/>
                <a:latin typeface="arial" panose="020B0604020202020204" pitchFamily="34" charset="0"/>
              </a:rPr>
              <a:t>位数字</a:t>
            </a:r>
            <a:r>
              <a:rPr lang="en-US" altLang="zh-CN" b="0" i="0" dirty="0">
                <a:solidFill>
                  <a:srgbClr val="333333"/>
                </a:solidFill>
                <a:effectLst/>
                <a:latin typeface="arial" panose="020B0604020202020204" pitchFamily="34" charset="0"/>
              </a:rPr>
              <a:t>SSRC</a:t>
            </a:r>
            <a:r>
              <a:rPr lang="zh-CN" altLang="en-US" b="0" i="0" dirty="0">
                <a:solidFill>
                  <a:srgbClr val="333333"/>
                </a:solidFill>
                <a:effectLst/>
                <a:latin typeface="arial" panose="020B0604020202020204" pitchFamily="34" charset="0"/>
              </a:rPr>
              <a:t>标识符来标识，而不依赖于网络地址，接收者将根据</a:t>
            </a:r>
            <a:r>
              <a:rPr lang="en-US" altLang="zh-CN" b="0" i="0" dirty="0">
                <a:solidFill>
                  <a:srgbClr val="333333"/>
                </a:solidFill>
                <a:effectLst/>
                <a:latin typeface="arial" panose="020B0604020202020204" pitchFamily="34" charset="0"/>
              </a:rPr>
              <a:t>SSRC</a:t>
            </a:r>
            <a:r>
              <a:rPr lang="zh-CN" altLang="en-US" b="0" i="0" dirty="0">
                <a:solidFill>
                  <a:srgbClr val="333333"/>
                </a:solidFill>
                <a:effectLst/>
                <a:latin typeface="arial" panose="020B0604020202020204" pitchFamily="34" charset="0"/>
              </a:rPr>
              <a:t>标识符来区分不同的信源，进行</a:t>
            </a:r>
            <a:r>
              <a:rPr lang="en-US" altLang="zh-CN" b="0" i="0" dirty="0">
                <a:solidFill>
                  <a:srgbClr val="333333"/>
                </a:solidFill>
                <a:effectLst/>
                <a:latin typeface="arial" panose="020B0604020202020204" pitchFamily="34" charset="0"/>
              </a:rPr>
              <a:t>RTP</a:t>
            </a:r>
            <a:r>
              <a:rPr lang="zh-CN" altLang="en-US" b="0" i="0" dirty="0">
                <a:solidFill>
                  <a:srgbClr val="333333"/>
                </a:solidFill>
                <a:effectLst/>
                <a:latin typeface="arial" panose="020B0604020202020204" pitchFamily="34" charset="0"/>
              </a:rPr>
              <a:t>报文的分组。特约信源是指当混合器接收到一个或多个同步信源的</a:t>
            </a:r>
            <a:r>
              <a:rPr lang="en-US" altLang="zh-CN" b="0" i="0" dirty="0">
                <a:solidFill>
                  <a:srgbClr val="333333"/>
                </a:solidFill>
                <a:effectLst/>
                <a:latin typeface="arial" panose="020B0604020202020204" pitchFamily="34" charset="0"/>
              </a:rPr>
              <a:t>RTP</a:t>
            </a:r>
            <a:r>
              <a:rPr lang="zh-CN" altLang="en-US" b="0" i="0" dirty="0">
                <a:solidFill>
                  <a:srgbClr val="333333"/>
                </a:solidFill>
                <a:effectLst/>
                <a:latin typeface="arial" panose="020B0604020202020204" pitchFamily="34" charset="0"/>
              </a:rPr>
              <a:t>报文后，经过混合处理产生一个新的组合</a:t>
            </a:r>
            <a:r>
              <a:rPr lang="en-US" altLang="zh-CN" b="0" i="0" dirty="0">
                <a:solidFill>
                  <a:srgbClr val="333333"/>
                </a:solidFill>
                <a:effectLst/>
                <a:latin typeface="arial" panose="020B0604020202020204" pitchFamily="34" charset="0"/>
              </a:rPr>
              <a:t>RTP</a:t>
            </a:r>
            <a:r>
              <a:rPr lang="zh-CN" altLang="en-US" b="0" i="0" dirty="0">
                <a:solidFill>
                  <a:srgbClr val="333333"/>
                </a:solidFill>
                <a:effectLst/>
                <a:latin typeface="arial" panose="020B0604020202020204" pitchFamily="34" charset="0"/>
              </a:rPr>
              <a:t>报文，并把混合器作为组合</a:t>
            </a:r>
            <a:r>
              <a:rPr lang="en-US" altLang="zh-CN" b="0" i="0" dirty="0">
                <a:solidFill>
                  <a:srgbClr val="333333"/>
                </a:solidFill>
                <a:effectLst/>
                <a:latin typeface="arial" panose="020B0604020202020204" pitchFamily="34" charset="0"/>
              </a:rPr>
              <a:t>RTP</a:t>
            </a:r>
            <a:r>
              <a:rPr lang="zh-CN" altLang="en-US" b="0" i="0" dirty="0">
                <a:solidFill>
                  <a:srgbClr val="333333"/>
                </a:solidFill>
                <a:effectLst/>
                <a:latin typeface="arial" panose="020B0604020202020204" pitchFamily="34" charset="0"/>
              </a:rPr>
              <a:t>报文的</a:t>
            </a:r>
            <a:r>
              <a:rPr lang="en-US" altLang="zh-CN" b="0" i="0" dirty="0">
                <a:solidFill>
                  <a:srgbClr val="333333"/>
                </a:solidFill>
                <a:effectLst/>
                <a:latin typeface="arial" panose="020B0604020202020204" pitchFamily="34" charset="0"/>
              </a:rPr>
              <a:t>SSRC</a:t>
            </a:r>
            <a:r>
              <a:rPr lang="zh-CN" altLang="en-US" b="0" i="0" dirty="0">
                <a:solidFill>
                  <a:srgbClr val="333333"/>
                </a:solidFill>
                <a:effectLst/>
                <a:latin typeface="arial" panose="020B0604020202020204" pitchFamily="34" charset="0"/>
              </a:rPr>
              <a:t>，而将原来所有的</a:t>
            </a:r>
            <a:r>
              <a:rPr lang="en-US" altLang="zh-CN" b="0" i="0" dirty="0">
                <a:solidFill>
                  <a:srgbClr val="333333"/>
                </a:solidFill>
                <a:effectLst/>
                <a:latin typeface="arial" panose="020B0604020202020204" pitchFamily="34" charset="0"/>
              </a:rPr>
              <a:t>SSRC</a:t>
            </a:r>
            <a:r>
              <a:rPr lang="zh-CN" altLang="en-US" b="0" i="0" dirty="0">
                <a:solidFill>
                  <a:srgbClr val="333333"/>
                </a:solidFill>
                <a:effectLst/>
                <a:latin typeface="arial" panose="020B0604020202020204" pitchFamily="34" charset="0"/>
              </a:rPr>
              <a:t>都作为</a:t>
            </a:r>
            <a:r>
              <a:rPr lang="en-US" altLang="zh-CN" b="0" i="0" dirty="0">
                <a:solidFill>
                  <a:srgbClr val="333333"/>
                </a:solidFill>
                <a:effectLst/>
                <a:latin typeface="arial" panose="020B0604020202020204" pitchFamily="34" charset="0"/>
              </a:rPr>
              <a:t>CSRC</a:t>
            </a:r>
            <a:r>
              <a:rPr lang="zh-CN" altLang="en-US" b="0" i="0" dirty="0">
                <a:solidFill>
                  <a:srgbClr val="333333"/>
                </a:solidFill>
                <a:effectLst/>
                <a:latin typeface="arial" panose="020B0604020202020204" pitchFamily="34" charset="0"/>
              </a:rPr>
              <a:t>传送给接收者，使接收者知道组成组合报文的各个</a:t>
            </a:r>
            <a:r>
              <a:rPr lang="en-US" altLang="zh-CN" b="0" i="0" dirty="0">
                <a:solidFill>
                  <a:srgbClr val="333333"/>
                </a:solidFill>
                <a:effectLst/>
                <a:latin typeface="arial" panose="020B0604020202020204" pitchFamily="34" charset="0"/>
              </a:rPr>
              <a:t>SSRC</a:t>
            </a:r>
            <a:r>
              <a:rPr lang="zh-CN" altLang="en-US" b="0" i="0" dirty="0">
                <a:solidFill>
                  <a:srgbClr val="333333"/>
                </a:solidFill>
                <a:effectLst/>
                <a:latin typeface="arial" panose="020B0604020202020204" pitchFamily="34" charset="0"/>
              </a:rPr>
              <a:t>。</a:t>
            </a:r>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57</a:t>
            </a:fld>
            <a:endParaRPr lang="zh-CN" altLang="en-US"/>
          </a:p>
        </p:txBody>
      </p:sp>
    </p:spTree>
    <p:extLst>
      <p:ext uri="{BB962C8B-B14F-4D97-AF65-F5344CB8AC3E}">
        <p14:creationId xmlns:p14="http://schemas.microsoft.com/office/powerpoint/2010/main" val="27783136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61</a:t>
            </a:fld>
            <a:endParaRPr lang="zh-CN" altLang="en-US"/>
          </a:p>
        </p:txBody>
      </p:sp>
    </p:spTree>
    <p:extLst>
      <p:ext uri="{BB962C8B-B14F-4D97-AF65-F5344CB8AC3E}">
        <p14:creationId xmlns:p14="http://schemas.microsoft.com/office/powerpoint/2010/main" val="402280790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 TCP connection is a byte stream, not a message stream. Message boundaries are not preserved end to end. For example, if the sending process does four 512-byte writes to a TCP stream, these data may be delivered to the receiving process as four 512-byte chunks, two 1024-byte chunks, one 2048-byte chunk (see Fig. 6-35), or some other way. There is no way for the receiver to detect the unit(s) in which the data were written, no matter how hard it tries.</a:t>
            </a:r>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63</a:t>
            </a:fld>
            <a:endParaRPr lang="zh-CN" altLang="en-US"/>
          </a:p>
        </p:txBody>
      </p:sp>
    </p:spTree>
    <p:extLst>
      <p:ext uri="{BB962C8B-B14F-4D97-AF65-F5344CB8AC3E}">
        <p14:creationId xmlns:p14="http://schemas.microsoft.com/office/powerpoint/2010/main" val="188914877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r>
              <a:rPr lang="en-US" altLang="zh-CN" b="1" i="0" dirty="0">
                <a:solidFill>
                  <a:srgbClr val="000000"/>
                </a:solidFill>
                <a:effectLst/>
                <a:latin typeface="PingFang SC"/>
              </a:rPr>
              <a:t>1</a:t>
            </a:r>
            <a:r>
              <a:rPr lang="zh-CN" altLang="en-US" b="1" i="0" dirty="0">
                <a:solidFill>
                  <a:srgbClr val="000000"/>
                </a:solidFill>
                <a:effectLst/>
                <a:latin typeface="PingFang SC"/>
              </a:rPr>
              <a:t>、端口号</a:t>
            </a:r>
            <a:r>
              <a:rPr lang="zh-CN" altLang="en-US" b="0" i="0" dirty="0">
                <a:solidFill>
                  <a:srgbClr val="000000"/>
                </a:solidFill>
                <a:effectLst/>
                <a:latin typeface="PingFang SC"/>
              </a:rPr>
              <a:t>：用来标识同一台计算机的不同的应用进程。</a:t>
            </a:r>
          </a:p>
          <a:p>
            <a:pPr algn="l"/>
            <a:r>
              <a:rPr lang="en-US" altLang="zh-CN" b="1" i="0" dirty="0">
                <a:solidFill>
                  <a:srgbClr val="000000"/>
                </a:solidFill>
                <a:effectLst/>
                <a:latin typeface="PingFang SC"/>
              </a:rPr>
              <a:t>1</a:t>
            </a:r>
            <a:r>
              <a:rPr lang="zh-CN" altLang="en-US" b="1" i="0" dirty="0">
                <a:solidFill>
                  <a:srgbClr val="000000"/>
                </a:solidFill>
                <a:effectLst/>
                <a:latin typeface="PingFang SC"/>
              </a:rPr>
              <a:t>）源端口</a:t>
            </a:r>
            <a:r>
              <a:rPr lang="zh-CN" altLang="en-US" b="0" i="0" dirty="0">
                <a:solidFill>
                  <a:srgbClr val="000000"/>
                </a:solidFill>
                <a:effectLst/>
                <a:latin typeface="PingFang SC"/>
              </a:rPr>
              <a:t>：源端口和</a:t>
            </a:r>
            <a:r>
              <a:rPr lang="en-US" altLang="zh-CN" b="0" i="0" dirty="0">
                <a:solidFill>
                  <a:srgbClr val="000000"/>
                </a:solidFill>
                <a:effectLst/>
                <a:latin typeface="PingFang SC"/>
              </a:rPr>
              <a:t>IP</a:t>
            </a:r>
            <a:r>
              <a:rPr lang="zh-CN" altLang="en-US" b="0" i="0" dirty="0">
                <a:solidFill>
                  <a:srgbClr val="000000"/>
                </a:solidFill>
                <a:effectLst/>
                <a:latin typeface="PingFang SC"/>
              </a:rPr>
              <a:t>地址的作用是标识报文的返回地址。</a:t>
            </a:r>
          </a:p>
          <a:p>
            <a:pPr algn="l"/>
            <a:r>
              <a:rPr lang="en-US" altLang="zh-CN" b="1" i="0" dirty="0">
                <a:solidFill>
                  <a:srgbClr val="000000"/>
                </a:solidFill>
                <a:effectLst/>
                <a:latin typeface="PingFang SC"/>
              </a:rPr>
              <a:t>2</a:t>
            </a:r>
            <a:r>
              <a:rPr lang="zh-CN" altLang="en-US" b="1" i="0" dirty="0">
                <a:solidFill>
                  <a:srgbClr val="000000"/>
                </a:solidFill>
                <a:effectLst/>
                <a:latin typeface="PingFang SC"/>
              </a:rPr>
              <a:t>）目的端口</a:t>
            </a:r>
            <a:r>
              <a:rPr lang="zh-CN" altLang="en-US" b="0" i="0" dirty="0">
                <a:solidFill>
                  <a:srgbClr val="000000"/>
                </a:solidFill>
                <a:effectLst/>
                <a:latin typeface="PingFang SC"/>
              </a:rPr>
              <a:t>：端口指明接收方计算机上的应用程序接口。</a:t>
            </a:r>
          </a:p>
          <a:p>
            <a:pPr algn="l"/>
            <a:r>
              <a:rPr lang="en-US" altLang="zh-CN" b="0" i="0" dirty="0">
                <a:solidFill>
                  <a:srgbClr val="000000"/>
                </a:solidFill>
                <a:effectLst/>
                <a:latin typeface="PingFang SC"/>
              </a:rPr>
              <a:t>TCP</a:t>
            </a:r>
            <a:r>
              <a:rPr lang="zh-CN" altLang="en-US" b="0" i="0" dirty="0">
                <a:solidFill>
                  <a:srgbClr val="000000"/>
                </a:solidFill>
                <a:effectLst/>
                <a:latin typeface="PingFang SC"/>
              </a:rPr>
              <a:t>报头中的源端口号和目的端口号同</a:t>
            </a:r>
            <a:r>
              <a:rPr lang="en-US" altLang="zh-CN" b="0" i="0" dirty="0">
                <a:solidFill>
                  <a:srgbClr val="000000"/>
                </a:solidFill>
                <a:effectLst/>
                <a:latin typeface="PingFang SC"/>
              </a:rPr>
              <a:t>IP</a:t>
            </a:r>
            <a:r>
              <a:rPr lang="zh-CN" altLang="en-US" b="0" i="0" dirty="0">
                <a:solidFill>
                  <a:srgbClr val="000000"/>
                </a:solidFill>
                <a:effectLst/>
                <a:latin typeface="PingFang SC"/>
              </a:rPr>
              <a:t>数据报中的源</a:t>
            </a:r>
            <a:r>
              <a:rPr lang="en-US" altLang="zh-CN" b="0" i="0" dirty="0">
                <a:solidFill>
                  <a:srgbClr val="000000"/>
                </a:solidFill>
                <a:effectLst/>
                <a:latin typeface="PingFang SC"/>
              </a:rPr>
              <a:t>IP</a:t>
            </a:r>
            <a:r>
              <a:rPr lang="zh-CN" altLang="en-US" b="0" i="0" dirty="0">
                <a:solidFill>
                  <a:srgbClr val="000000"/>
                </a:solidFill>
                <a:effectLst/>
                <a:latin typeface="PingFang SC"/>
              </a:rPr>
              <a:t>与目的</a:t>
            </a:r>
            <a:r>
              <a:rPr lang="en-US" altLang="zh-CN" b="0" i="0" dirty="0">
                <a:solidFill>
                  <a:srgbClr val="000000"/>
                </a:solidFill>
                <a:effectLst/>
                <a:latin typeface="PingFang SC"/>
              </a:rPr>
              <a:t>IP</a:t>
            </a:r>
            <a:r>
              <a:rPr lang="zh-CN" altLang="en-US" b="0" i="0" dirty="0">
                <a:solidFill>
                  <a:srgbClr val="000000"/>
                </a:solidFill>
                <a:effectLst/>
                <a:latin typeface="PingFang SC"/>
              </a:rPr>
              <a:t>唯一确定一条</a:t>
            </a:r>
            <a:r>
              <a:rPr lang="en-US" altLang="zh-CN" b="0" i="0" dirty="0">
                <a:solidFill>
                  <a:srgbClr val="000000"/>
                </a:solidFill>
                <a:effectLst/>
                <a:latin typeface="PingFang SC"/>
              </a:rPr>
              <a:t>TCP</a:t>
            </a:r>
            <a:r>
              <a:rPr lang="zh-CN" altLang="en-US" b="0" i="0" dirty="0">
                <a:solidFill>
                  <a:srgbClr val="000000"/>
                </a:solidFill>
                <a:effectLst/>
                <a:latin typeface="PingFang SC"/>
              </a:rPr>
              <a:t>连接。</a:t>
            </a:r>
          </a:p>
          <a:p>
            <a:pPr algn="l"/>
            <a:r>
              <a:rPr lang="en-US" altLang="zh-CN" b="1" i="0" dirty="0">
                <a:solidFill>
                  <a:srgbClr val="000000"/>
                </a:solidFill>
                <a:effectLst/>
                <a:latin typeface="PingFang SC"/>
              </a:rPr>
              <a:t>2</a:t>
            </a:r>
            <a:r>
              <a:rPr lang="zh-CN" altLang="en-US" b="1" i="0" dirty="0">
                <a:solidFill>
                  <a:srgbClr val="000000"/>
                </a:solidFill>
                <a:effectLst/>
                <a:latin typeface="PingFang SC"/>
              </a:rPr>
              <a:t>、序号和确认号</a:t>
            </a:r>
            <a:r>
              <a:rPr lang="zh-CN" altLang="en-US" b="0" i="0" dirty="0">
                <a:solidFill>
                  <a:srgbClr val="000000"/>
                </a:solidFill>
                <a:effectLst/>
                <a:latin typeface="PingFang SC"/>
              </a:rPr>
              <a:t>：是</a:t>
            </a:r>
            <a:r>
              <a:rPr lang="en-US" altLang="zh-CN" b="0" i="0" dirty="0">
                <a:solidFill>
                  <a:srgbClr val="000000"/>
                </a:solidFill>
                <a:effectLst/>
                <a:latin typeface="PingFang SC"/>
              </a:rPr>
              <a:t>TCP</a:t>
            </a:r>
            <a:r>
              <a:rPr lang="zh-CN" altLang="en-US" b="0" i="0" dirty="0">
                <a:solidFill>
                  <a:srgbClr val="000000"/>
                </a:solidFill>
                <a:effectLst/>
                <a:latin typeface="PingFang SC"/>
              </a:rPr>
              <a:t>可靠传输的关键部分。</a:t>
            </a:r>
            <a:r>
              <a:rPr lang="zh-CN" altLang="en-US" b="1" i="0" dirty="0">
                <a:solidFill>
                  <a:srgbClr val="000000"/>
                </a:solidFill>
                <a:effectLst/>
                <a:latin typeface="PingFang SC"/>
              </a:rPr>
              <a:t>序号</a:t>
            </a:r>
            <a:r>
              <a:rPr lang="zh-CN" altLang="en-US" b="0" i="0" dirty="0">
                <a:solidFill>
                  <a:srgbClr val="000000"/>
                </a:solidFill>
                <a:effectLst/>
                <a:latin typeface="PingFang SC"/>
              </a:rPr>
              <a:t>是本报文段发送的数据组的第一个字节的序号。在</a:t>
            </a:r>
            <a:r>
              <a:rPr lang="en-US" altLang="zh-CN" b="0" i="0" dirty="0">
                <a:solidFill>
                  <a:srgbClr val="000000"/>
                </a:solidFill>
                <a:effectLst/>
                <a:latin typeface="PingFang SC"/>
              </a:rPr>
              <a:t>TCP</a:t>
            </a:r>
            <a:r>
              <a:rPr lang="zh-CN" altLang="en-US" b="0" i="0" dirty="0">
                <a:solidFill>
                  <a:srgbClr val="000000"/>
                </a:solidFill>
                <a:effectLst/>
                <a:latin typeface="PingFang SC"/>
              </a:rPr>
              <a:t>传送的流中，每一个字节一个序号。</a:t>
            </a:r>
            <a:r>
              <a:rPr lang="en-US" altLang="zh-CN" b="0" i="0" dirty="0">
                <a:solidFill>
                  <a:srgbClr val="000000"/>
                </a:solidFill>
                <a:effectLst/>
                <a:latin typeface="PingFang SC"/>
              </a:rPr>
              <a:t>e.g.</a:t>
            </a:r>
            <a:r>
              <a:rPr lang="zh-CN" altLang="en-US" b="0" i="0" dirty="0">
                <a:solidFill>
                  <a:srgbClr val="000000"/>
                </a:solidFill>
                <a:effectLst/>
                <a:latin typeface="PingFang SC"/>
              </a:rPr>
              <a:t>一个报文段的序号为</a:t>
            </a:r>
            <a:r>
              <a:rPr lang="en-US" altLang="zh-CN" b="0" i="0" dirty="0">
                <a:solidFill>
                  <a:srgbClr val="000000"/>
                </a:solidFill>
                <a:effectLst/>
                <a:latin typeface="PingFang SC"/>
              </a:rPr>
              <a:t>300</a:t>
            </a:r>
            <a:r>
              <a:rPr lang="zh-CN" altLang="en-US" b="0" i="0" dirty="0">
                <a:solidFill>
                  <a:srgbClr val="000000"/>
                </a:solidFill>
                <a:effectLst/>
                <a:latin typeface="PingFang SC"/>
              </a:rPr>
              <a:t>，此报文段数据部分共有</a:t>
            </a:r>
            <a:r>
              <a:rPr lang="en-US" altLang="zh-CN" b="0" i="0" dirty="0">
                <a:solidFill>
                  <a:srgbClr val="000000"/>
                </a:solidFill>
                <a:effectLst/>
                <a:latin typeface="PingFang SC"/>
              </a:rPr>
              <a:t>100</a:t>
            </a:r>
            <a:r>
              <a:rPr lang="zh-CN" altLang="en-US" b="0" i="0" dirty="0">
                <a:solidFill>
                  <a:srgbClr val="000000"/>
                </a:solidFill>
                <a:effectLst/>
                <a:latin typeface="PingFang SC"/>
              </a:rPr>
              <a:t>字节，则下一个报文段的序号为</a:t>
            </a:r>
            <a:r>
              <a:rPr lang="en-US" altLang="zh-CN" b="0" i="0" dirty="0">
                <a:solidFill>
                  <a:srgbClr val="000000"/>
                </a:solidFill>
                <a:effectLst/>
                <a:latin typeface="PingFang SC"/>
              </a:rPr>
              <a:t>400</a:t>
            </a:r>
            <a:r>
              <a:rPr lang="zh-CN" altLang="en-US" b="0" i="0" dirty="0">
                <a:solidFill>
                  <a:srgbClr val="000000"/>
                </a:solidFill>
                <a:effectLst/>
                <a:latin typeface="PingFang SC"/>
              </a:rPr>
              <a:t>。所以序号确保了</a:t>
            </a:r>
            <a:r>
              <a:rPr lang="en-US" altLang="zh-CN" b="0" i="0" dirty="0">
                <a:solidFill>
                  <a:srgbClr val="000000"/>
                </a:solidFill>
                <a:effectLst/>
                <a:latin typeface="PingFang SC"/>
              </a:rPr>
              <a:t>TCP</a:t>
            </a:r>
            <a:r>
              <a:rPr lang="zh-CN" altLang="en-US" b="0" i="0" dirty="0">
                <a:solidFill>
                  <a:srgbClr val="000000"/>
                </a:solidFill>
                <a:effectLst/>
                <a:latin typeface="PingFang SC"/>
              </a:rPr>
              <a:t>传输的有序性。确认号，即</a:t>
            </a:r>
            <a:r>
              <a:rPr lang="en-US" altLang="zh-CN" b="0" i="0" dirty="0">
                <a:solidFill>
                  <a:srgbClr val="000000"/>
                </a:solidFill>
                <a:effectLst/>
                <a:latin typeface="PingFang SC"/>
              </a:rPr>
              <a:t>ACK</a:t>
            </a:r>
            <a:r>
              <a:rPr lang="zh-CN" altLang="en-US" b="0" i="0" dirty="0">
                <a:solidFill>
                  <a:srgbClr val="000000"/>
                </a:solidFill>
                <a:effectLst/>
                <a:latin typeface="PingFang SC"/>
              </a:rPr>
              <a:t>，指明下一个期待收到的字节序号，表明该序号之前的所有数据已经正确无误的收到。确认号只有当</a:t>
            </a:r>
            <a:r>
              <a:rPr lang="en-US" altLang="zh-CN" b="0" i="0" dirty="0">
                <a:solidFill>
                  <a:srgbClr val="000000"/>
                </a:solidFill>
                <a:effectLst/>
                <a:latin typeface="PingFang SC"/>
              </a:rPr>
              <a:t>ACK</a:t>
            </a:r>
            <a:r>
              <a:rPr lang="zh-CN" altLang="en-US" b="0" i="0" dirty="0">
                <a:solidFill>
                  <a:srgbClr val="000000"/>
                </a:solidFill>
                <a:effectLst/>
                <a:latin typeface="PingFang SC"/>
              </a:rPr>
              <a:t>标志为</a:t>
            </a:r>
            <a:r>
              <a:rPr lang="en-US" altLang="zh-CN" b="0" i="0" dirty="0">
                <a:solidFill>
                  <a:srgbClr val="000000"/>
                </a:solidFill>
                <a:effectLst/>
                <a:latin typeface="PingFang SC"/>
              </a:rPr>
              <a:t>1</a:t>
            </a:r>
            <a:r>
              <a:rPr lang="zh-CN" altLang="en-US" b="0" i="0" dirty="0">
                <a:solidFill>
                  <a:srgbClr val="000000"/>
                </a:solidFill>
                <a:effectLst/>
                <a:latin typeface="PingFang SC"/>
              </a:rPr>
              <a:t>时才有效。比如建立连接时，</a:t>
            </a:r>
            <a:r>
              <a:rPr lang="en-US" altLang="zh-CN" b="0" i="0" dirty="0">
                <a:solidFill>
                  <a:srgbClr val="000000"/>
                </a:solidFill>
                <a:effectLst/>
                <a:latin typeface="PingFang SC"/>
              </a:rPr>
              <a:t>SYN</a:t>
            </a:r>
            <a:r>
              <a:rPr lang="zh-CN" altLang="en-US" b="0" i="0" dirty="0">
                <a:solidFill>
                  <a:srgbClr val="000000"/>
                </a:solidFill>
                <a:effectLst/>
                <a:latin typeface="PingFang SC"/>
              </a:rPr>
              <a:t>报文的</a:t>
            </a:r>
            <a:r>
              <a:rPr lang="en-US" altLang="zh-CN" b="0" i="0" dirty="0">
                <a:solidFill>
                  <a:srgbClr val="000000"/>
                </a:solidFill>
                <a:effectLst/>
                <a:latin typeface="PingFang SC"/>
              </a:rPr>
              <a:t>ACK</a:t>
            </a:r>
            <a:r>
              <a:rPr lang="zh-CN" altLang="en-US" b="0" i="0" dirty="0">
                <a:solidFill>
                  <a:srgbClr val="000000"/>
                </a:solidFill>
                <a:effectLst/>
                <a:latin typeface="PingFang SC"/>
              </a:rPr>
              <a:t>标志位为</a:t>
            </a:r>
            <a:r>
              <a:rPr lang="en-US" altLang="zh-CN" b="0" i="0" dirty="0">
                <a:solidFill>
                  <a:srgbClr val="000000"/>
                </a:solidFill>
                <a:effectLst/>
                <a:latin typeface="PingFang SC"/>
              </a:rPr>
              <a:t>0</a:t>
            </a:r>
            <a:r>
              <a:rPr lang="zh-CN" altLang="en-US" b="0" i="0" dirty="0">
                <a:solidFill>
                  <a:srgbClr val="000000"/>
                </a:solidFill>
                <a:effectLst/>
                <a:latin typeface="PingFang SC"/>
              </a:rPr>
              <a:t>。</a:t>
            </a:r>
          </a:p>
          <a:p>
            <a:pPr algn="l"/>
            <a:r>
              <a:rPr lang="en-US" altLang="zh-CN" b="1" i="0" dirty="0">
                <a:solidFill>
                  <a:srgbClr val="000000"/>
                </a:solidFill>
                <a:effectLst/>
                <a:latin typeface="PingFang SC"/>
              </a:rPr>
              <a:t>3</a:t>
            </a:r>
            <a:r>
              <a:rPr lang="zh-CN" altLang="en-US" b="1" i="0" dirty="0">
                <a:solidFill>
                  <a:srgbClr val="000000"/>
                </a:solidFill>
                <a:effectLst/>
                <a:latin typeface="PingFang SC"/>
              </a:rPr>
              <a:t>、首部长度</a:t>
            </a:r>
            <a:r>
              <a:rPr lang="zh-CN" altLang="en-US" b="0" i="0" dirty="0">
                <a:solidFill>
                  <a:srgbClr val="000000"/>
                </a:solidFill>
                <a:effectLst/>
                <a:latin typeface="PingFang SC"/>
              </a:rPr>
              <a:t>：</a:t>
            </a:r>
            <a:r>
              <a:rPr lang="en-US" altLang="zh-CN" b="0" i="0" dirty="0">
                <a:solidFill>
                  <a:srgbClr val="000000"/>
                </a:solidFill>
                <a:effectLst/>
                <a:latin typeface="PingFang SC"/>
              </a:rPr>
              <a:t>4bits</a:t>
            </a:r>
            <a:r>
              <a:rPr lang="zh-CN" altLang="en-US" b="0" i="0" dirty="0">
                <a:solidFill>
                  <a:srgbClr val="000000"/>
                </a:solidFill>
                <a:effectLst/>
                <a:latin typeface="PingFang SC"/>
              </a:rPr>
              <a:t>。由于首部可能含有可选项内容，因此</a:t>
            </a:r>
            <a:r>
              <a:rPr lang="en-US" altLang="zh-CN" b="0" i="0" dirty="0">
                <a:solidFill>
                  <a:srgbClr val="000000"/>
                </a:solidFill>
                <a:effectLst/>
                <a:latin typeface="PingFang SC"/>
              </a:rPr>
              <a:t>TCP</a:t>
            </a:r>
            <a:r>
              <a:rPr lang="zh-CN" altLang="en-US" b="0" i="0" dirty="0">
                <a:solidFill>
                  <a:srgbClr val="000000"/>
                </a:solidFill>
                <a:effectLst/>
                <a:latin typeface="PingFang SC"/>
              </a:rPr>
              <a:t>报头的长度是不确定的，报头不包含任何任选字段则长度为</a:t>
            </a:r>
            <a:r>
              <a:rPr lang="en-US" altLang="zh-CN" b="0" i="0" dirty="0">
                <a:solidFill>
                  <a:srgbClr val="000000"/>
                </a:solidFill>
                <a:effectLst/>
                <a:latin typeface="PingFang SC"/>
              </a:rPr>
              <a:t>20</a:t>
            </a:r>
            <a:r>
              <a:rPr lang="zh-CN" altLang="en-US" b="0" i="0" dirty="0">
                <a:solidFill>
                  <a:srgbClr val="000000"/>
                </a:solidFill>
                <a:effectLst/>
                <a:latin typeface="PingFang SC"/>
              </a:rPr>
              <a:t>字节，</a:t>
            </a:r>
            <a:r>
              <a:rPr lang="en-US" altLang="zh-CN" b="0" i="0" dirty="0">
                <a:solidFill>
                  <a:srgbClr val="000000"/>
                </a:solidFill>
                <a:effectLst/>
                <a:latin typeface="PingFang SC"/>
              </a:rPr>
              <a:t>4</a:t>
            </a:r>
            <a:r>
              <a:rPr lang="zh-CN" altLang="en-US" b="0" i="0" dirty="0">
                <a:solidFill>
                  <a:srgbClr val="000000"/>
                </a:solidFill>
                <a:effectLst/>
                <a:latin typeface="PingFang SC"/>
              </a:rPr>
              <a:t>位首部长度字段所能表示的最大值为</a:t>
            </a:r>
            <a:r>
              <a:rPr lang="en-US" altLang="zh-CN" b="0" i="0" dirty="0">
                <a:solidFill>
                  <a:srgbClr val="000000"/>
                </a:solidFill>
                <a:effectLst/>
                <a:latin typeface="PingFang SC"/>
              </a:rPr>
              <a:t>1111</a:t>
            </a:r>
            <a:r>
              <a:rPr lang="zh-CN" altLang="en-US" b="0" i="0" dirty="0">
                <a:solidFill>
                  <a:srgbClr val="000000"/>
                </a:solidFill>
                <a:effectLst/>
                <a:latin typeface="PingFang SC"/>
              </a:rPr>
              <a:t>，转化为</a:t>
            </a:r>
            <a:r>
              <a:rPr lang="en-US" altLang="zh-CN" b="0" i="0" dirty="0">
                <a:solidFill>
                  <a:srgbClr val="000000"/>
                </a:solidFill>
                <a:effectLst/>
                <a:latin typeface="PingFang SC"/>
              </a:rPr>
              <a:t>10</a:t>
            </a:r>
            <a:r>
              <a:rPr lang="zh-CN" altLang="en-US" b="0" i="0" dirty="0">
                <a:solidFill>
                  <a:srgbClr val="000000"/>
                </a:solidFill>
                <a:effectLst/>
                <a:latin typeface="PingFang SC"/>
              </a:rPr>
              <a:t>进制为</a:t>
            </a:r>
            <a:r>
              <a:rPr lang="en-US" altLang="zh-CN" b="0" i="0" dirty="0">
                <a:solidFill>
                  <a:srgbClr val="000000"/>
                </a:solidFill>
                <a:effectLst/>
                <a:latin typeface="PingFang SC"/>
              </a:rPr>
              <a:t>15</a:t>
            </a:r>
            <a:r>
              <a:rPr lang="zh-CN" altLang="en-US" b="0" i="0" dirty="0">
                <a:solidFill>
                  <a:srgbClr val="000000"/>
                </a:solidFill>
                <a:effectLst/>
                <a:latin typeface="PingFang SC"/>
              </a:rPr>
              <a:t>，</a:t>
            </a:r>
            <a:r>
              <a:rPr lang="en-US" altLang="zh-CN" b="0" i="0" dirty="0">
                <a:solidFill>
                  <a:srgbClr val="000000"/>
                </a:solidFill>
                <a:effectLst/>
                <a:latin typeface="PingFang SC"/>
              </a:rPr>
              <a:t>15*32/8 = 60</a:t>
            </a:r>
            <a:r>
              <a:rPr lang="zh-CN" altLang="en-US" b="0" i="0" dirty="0">
                <a:solidFill>
                  <a:srgbClr val="000000"/>
                </a:solidFill>
                <a:effectLst/>
                <a:latin typeface="PingFang SC"/>
              </a:rPr>
              <a:t>，故报头最大长度为</a:t>
            </a:r>
            <a:r>
              <a:rPr lang="en-US" altLang="zh-CN" b="0" i="0" dirty="0">
                <a:solidFill>
                  <a:srgbClr val="000000"/>
                </a:solidFill>
                <a:effectLst/>
                <a:latin typeface="PingFang SC"/>
              </a:rPr>
              <a:t>60</a:t>
            </a:r>
            <a:r>
              <a:rPr lang="zh-CN" altLang="en-US" b="0" i="0" dirty="0">
                <a:solidFill>
                  <a:srgbClr val="000000"/>
                </a:solidFill>
                <a:effectLst/>
                <a:latin typeface="PingFang SC"/>
              </a:rPr>
              <a:t>字节。</a:t>
            </a:r>
          </a:p>
          <a:p>
            <a:pPr algn="l"/>
            <a:r>
              <a:rPr lang="en-US" altLang="zh-CN" b="1" i="0" dirty="0">
                <a:solidFill>
                  <a:srgbClr val="000000"/>
                </a:solidFill>
                <a:effectLst/>
                <a:latin typeface="PingFang SC"/>
              </a:rPr>
              <a:t>4</a:t>
            </a:r>
            <a:r>
              <a:rPr lang="zh-CN" altLang="en-US" b="1" i="0" dirty="0">
                <a:solidFill>
                  <a:srgbClr val="000000"/>
                </a:solidFill>
                <a:effectLst/>
                <a:latin typeface="PingFang SC"/>
              </a:rPr>
              <a:t>、保留</a:t>
            </a:r>
            <a:r>
              <a:rPr lang="zh-CN" altLang="en-US" b="0" i="0" dirty="0">
                <a:solidFill>
                  <a:srgbClr val="000000"/>
                </a:solidFill>
                <a:effectLst/>
                <a:latin typeface="PingFang SC"/>
              </a:rPr>
              <a:t>：为将来定义新的用途保留，现在一般置</a:t>
            </a:r>
            <a:r>
              <a:rPr lang="en-US" altLang="zh-CN" b="0" i="0" dirty="0">
                <a:solidFill>
                  <a:srgbClr val="000000"/>
                </a:solidFill>
                <a:effectLst/>
                <a:latin typeface="PingFang SC"/>
              </a:rPr>
              <a:t>0</a:t>
            </a:r>
            <a:r>
              <a:rPr lang="zh-CN" altLang="en-US" b="0" i="0" dirty="0">
                <a:solidFill>
                  <a:srgbClr val="000000"/>
                </a:solidFill>
                <a:effectLst/>
                <a:latin typeface="PingFang SC"/>
              </a:rPr>
              <a:t>。</a:t>
            </a:r>
          </a:p>
          <a:p>
            <a:pPr algn="l"/>
            <a:r>
              <a:rPr lang="en-US" altLang="zh-CN" b="1" i="0" dirty="0">
                <a:solidFill>
                  <a:srgbClr val="000000"/>
                </a:solidFill>
                <a:effectLst/>
                <a:latin typeface="PingFang SC"/>
              </a:rPr>
              <a:t>5</a:t>
            </a:r>
            <a:r>
              <a:rPr lang="zh-CN" altLang="en-US" b="1" i="0" dirty="0">
                <a:solidFill>
                  <a:srgbClr val="000000"/>
                </a:solidFill>
                <a:effectLst/>
                <a:latin typeface="PingFang SC"/>
              </a:rPr>
              <a:t>、控制位</a:t>
            </a:r>
            <a:r>
              <a:rPr lang="zh-CN" altLang="en-US" b="0" i="0" dirty="0">
                <a:solidFill>
                  <a:srgbClr val="000000"/>
                </a:solidFill>
                <a:effectLst/>
                <a:latin typeface="PingFang SC"/>
              </a:rPr>
              <a:t>：</a:t>
            </a:r>
            <a:r>
              <a:rPr lang="en-US" altLang="zh-CN" b="0" i="0" dirty="0">
                <a:solidFill>
                  <a:srgbClr val="000000"/>
                </a:solidFill>
                <a:effectLst/>
                <a:latin typeface="PingFang SC"/>
              </a:rPr>
              <a:t>URG  ACK  PSH  RST  SYN  FIN</a:t>
            </a:r>
            <a:r>
              <a:rPr lang="zh-CN" altLang="en-US" b="0" i="0" dirty="0">
                <a:solidFill>
                  <a:srgbClr val="000000"/>
                </a:solidFill>
                <a:effectLst/>
                <a:latin typeface="PingFang SC"/>
              </a:rPr>
              <a:t>，共</a:t>
            </a:r>
            <a:r>
              <a:rPr lang="en-US" altLang="zh-CN" b="0" i="0" dirty="0">
                <a:solidFill>
                  <a:srgbClr val="000000"/>
                </a:solidFill>
                <a:effectLst/>
                <a:latin typeface="PingFang SC"/>
              </a:rPr>
              <a:t>6</a:t>
            </a:r>
            <a:r>
              <a:rPr lang="zh-CN" altLang="en-US" b="0" i="0" dirty="0">
                <a:solidFill>
                  <a:srgbClr val="000000"/>
                </a:solidFill>
                <a:effectLst/>
                <a:latin typeface="PingFang SC"/>
              </a:rPr>
              <a:t>个</a:t>
            </a:r>
            <a:r>
              <a:rPr lang="en-US" altLang="zh-CN" b="0" i="0" dirty="0">
                <a:solidFill>
                  <a:srgbClr val="000000"/>
                </a:solidFill>
                <a:effectLst/>
                <a:latin typeface="PingFang SC"/>
              </a:rPr>
              <a:t>(</a:t>
            </a:r>
            <a:r>
              <a:rPr lang="zh-CN" altLang="en-US" b="0" i="0" dirty="0">
                <a:solidFill>
                  <a:srgbClr val="000000"/>
                </a:solidFill>
                <a:effectLst/>
                <a:latin typeface="PingFang SC"/>
              </a:rPr>
              <a:t>加上拥塞控制位</a:t>
            </a:r>
            <a:r>
              <a:rPr lang="en-US" altLang="zh-CN" b="0" i="0" dirty="0">
                <a:solidFill>
                  <a:srgbClr val="000000"/>
                </a:solidFill>
                <a:effectLst/>
                <a:latin typeface="PingFang SC"/>
              </a:rPr>
              <a:t>CWR</a:t>
            </a:r>
            <a:r>
              <a:rPr lang="zh-CN" altLang="en-US" b="0" i="0" dirty="0">
                <a:solidFill>
                  <a:srgbClr val="000000"/>
                </a:solidFill>
                <a:effectLst/>
                <a:latin typeface="PingFang SC"/>
              </a:rPr>
              <a:t>和</a:t>
            </a:r>
            <a:r>
              <a:rPr lang="en-US" altLang="zh-CN" b="0" i="0" dirty="0">
                <a:solidFill>
                  <a:srgbClr val="000000"/>
                </a:solidFill>
                <a:effectLst/>
                <a:latin typeface="PingFang SC"/>
              </a:rPr>
              <a:t>ECE</a:t>
            </a:r>
            <a:r>
              <a:rPr lang="zh-CN" altLang="en-US" b="0" i="0" dirty="0">
                <a:solidFill>
                  <a:srgbClr val="000000"/>
                </a:solidFill>
                <a:effectLst/>
                <a:latin typeface="PingFang SC"/>
              </a:rPr>
              <a:t>共</a:t>
            </a:r>
            <a:r>
              <a:rPr lang="en-US" altLang="zh-CN" b="0" i="0" dirty="0">
                <a:solidFill>
                  <a:srgbClr val="000000"/>
                </a:solidFill>
                <a:effectLst/>
                <a:latin typeface="PingFang SC"/>
              </a:rPr>
              <a:t>8</a:t>
            </a:r>
            <a:r>
              <a:rPr lang="zh-CN" altLang="en-US" b="0" i="0" dirty="0">
                <a:solidFill>
                  <a:srgbClr val="000000"/>
                </a:solidFill>
                <a:effectLst/>
                <a:latin typeface="PingFang SC"/>
              </a:rPr>
              <a:t>位</a:t>
            </a:r>
            <a:r>
              <a:rPr lang="en-US" altLang="zh-CN" b="0" i="0" dirty="0">
                <a:solidFill>
                  <a:srgbClr val="000000"/>
                </a:solidFill>
                <a:effectLst/>
                <a:latin typeface="PingFang SC"/>
              </a:rPr>
              <a:t>)</a:t>
            </a:r>
            <a:r>
              <a:rPr lang="zh-CN" altLang="en-US" b="0" i="0" dirty="0">
                <a:solidFill>
                  <a:srgbClr val="000000"/>
                </a:solidFill>
                <a:effectLst/>
                <a:latin typeface="PingFang SC"/>
              </a:rPr>
              <a:t>，每一个标志位表示一个控制功能。</a:t>
            </a:r>
          </a:p>
          <a:p>
            <a:pPr algn="l"/>
            <a:r>
              <a:rPr lang="en-US" altLang="zh-CN" sz="1200" b="0" i="0" kern="1200" dirty="0">
                <a:solidFill>
                  <a:schemeClr val="tx1"/>
                </a:solidFill>
                <a:effectLst/>
                <a:latin typeface="+mn-lt"/>
                <a:ea typeface="+mn-ea"/>
                <a:cs typeface="+mn-cs"/>
              </a:rPr>
              <a:t>     CWR</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CWR</a:t>
            </a:r>
            <a:r>
              <a:rPr lang="zh-CN" altLang="en-US" sz="1200" b="0" i="0" kern="1200" dirty="0">
                <a:solidFill>
                  <a:schemeClr val="tx1"/>
                </a:solidFill>
                <a:effectLst/>
                <a:latin typeface="+mn-lt"/>
                <a:ea typeface="+mn-ea"/>
                <a:cs typeface="+mn-cs"/>
              </a:rPr>
              <a:t> 标志与后面的 </a:t>
            </a:r>
            <a:r>
              <a:rPr lang="en-US" altLang="zh-CN" sz="1200" b="0" i="0" kern="1200" dirty="0">
                <a:solidFill>
                  <a:schemeClr val="tx1"/>
                </a:solidFill>
                <a:effectLst/>
                <a:latin typeface="+mn-lt"/>
                <a:ea typeface="+mn-ea"/>
                <a:cs typeface="+mn-cs"/>
              </a:rPr>
              <a:t>ECE </a:t>
            </a:r>
            <a:r>
              <a:rPr lang="zh-CN" altLang="en-US" sz="1200" b="0" i="0" kern="1200" dirty="0">
                <a:solidFill>
                  <a:schemeClr val="tx1"/>
                </a:solidFill>
                <a:effectLst/>
                <a:latin typeface="+mn-lt"/>
                <a:ea typeface="+mn-ea"/>
                <a:cs typeface="+mn-cs"/>
              </a:rPr>
              <a:t>标志都用于 </a:t>
            </a:r>
            <a:r>
              <a:rPr lang="en-US" altLang="zh-CN" sz="1200" b="0" i="0" kern="1200" dirty="0">
                <a:solidFill>
                  <a:schemeClr val="tx1"/>
                </a:solidFill>
                <a:effectLst/>
                <a:latin typeface="+mn-lt"/>
                <a:ea typeface="+mn-ea"/>
                <a:cs typeface="+mn-cs"/>
              </a:rPr>
              <a:t>IP </a:t>
            </a:r>
            <a:r>
              <a:rPr lang="zh-CN" altLang="en-US" sz="1200" b="0" i="0" kern="1200" dirty="0">
                <a:solidFill>
                  <a:schemeClr val="tx1"/>
                </a:solidFill>
                <a:effectLst/>
                <a:latin typeface="+mn-lt"/>
                <a:ea typeface="+mn-ea"/>
                <a:cs typeface="+mn-cs"/>
              </a:rPr>
              <a:t>首部的 </a:t>
            </a:r>
            <a:r>
              <a:rPr lang="en-US" altLang="zh-CN" sz="1200" b="0" i="0" kern="1200" dirty="0">
                <a:solidFill>
                  <a:schemeClr val="tx1"/>
                </a:solidFill>
                <a:effectLst/>
                <a:latin typeface="+mn-lt"/>
                <a:ea typeface="+mn-ea"/>
                <a:cs typeface="+mn-cs"/>
              </a:rPr>
              <a:t>ECN </a:t>
            </a:r>
            <a:r>
              <a:rPr lang="zh-CN" altLang="en-US" sz="1200" b="0" i="0" kern="1200" dirty="0">
                <a:solidFill>
                  <a:schemeClr val="tx1"/>
                </a:solidFill>
                <a:effectLst/>
                <a:latin typeface="+mn-lt"/>
                <a:ea typeface="+mn-ea"/>
                <a:cs typeface="+mn-cs"/>
              </a:rPr>
              <a:t>字段，</a:t>
            </a:r>
            <a:r>
              <a:rPr lang="en-US" altLang="zh-CN" sz="1200" b="0" i="0" kern="1200" dirty="0">
                <a:solidFill>
                  <a:schemeClr val="tx1"/>
                </a:solidFill>
                <a:effectLst/>
                <a:latin typeface="+mn-lt"/>
                <a:ea typeface="+mn-ea"/>
                <a:cs typeface="+mn-cs"/>
              </a:rPr>
              <a:t>CWR</a:t>
            </a:r>
            <a:r>
              <a:rPr lang="zh-CN" altLang="en-US" sz="1200" b="0" i="0" kern="1200" dirty="0">
                <a:solidFill>
                  <a:schemeClr val="tx1"/>
                </a:solidFill>
                <a:effectLst/>
                <a:latin typeface="+mn-lt"/>
                <a:ea typeface="+mn-ea"/>
                <a:cs typeface="+mn-cs"/>
              </a:rPr>
              <a:t>拥塞窗口减少标志被发送主机设置，用来表明它接收到了设置</a:t>
            </a:r>
            <a:r>
              <a:rPr lang="en-US" altLang="zh-CN" sz="1200" b="0" i="0" kern="1200" dirty="0">
                <a:solidFill>
                  <a:schemeClr val="tx1"/>
                </a:solidFill>
                <a:effectLst/>
                <a:latin typeface="+mn-lt"/>
                <a:ea typeface="+mn-ea"/>
                <a:cs typeface="+mn-cs"/>
              </a:rPr>
              <a:t>ECE</a:t>
            </a:r>
            <a:r>
              <a:rPr lang="zh-CN" altLang="en-US" sz="1200" b="0" i="0" kern="1200" dirty="0">
                <a:solidFill>
                  <a:schemeClr val="tx1"/>
                </a:solidFill>
                <a:effectLst/>
                <a:latin typeface="+mn-lt"/>
                <a:ea typeface="+mn-ea"/>
                <a:cs typeface="+mn-cs"/>
              </a:rPr>
              <a:t>标志的</a:t>
            </a:r>
            <a:r>
              <a:rPr lang="en-US" altLang="zh-CN" sz="1200" b="0" i="0" kern="1200" dirty="0">
                <a:solidFill>
                  <a:schemeClr val="tx1"/>
                </a:solidFill>
                <a:effectLst/>
                <a:latin typeface="+mn-lt"/>
                <a:ea typeface="+mn-ea"/>
                <a:cs typeface="+mn-cs"/>
              </a:rPr>
              <a:t>TCP</a:t>
            </a:r>
            <a:r>
              <a:rPr lang="zh-CN" altLang="en-US" sz="1200" b="0" i="0" kern="1200" dirty="0">
                <a:solidFill>
                  <a:schemeClr val="tx1"/>
                </a:solidFill>
                <a:effectLst/>
                <a:latin typeface="+mn-lt"/>
                <a:ea typeface="+mn-ea"/>
                <a:cs typeface="+mn-cs"/>
              </a:rPr>
              <a:t>包。</a:t>
            </a:r>
            <a:endParaRPr lang="en-US" altLang="zh-CN" b="0" i="0" dirty="0">
              <a:solidFill>
                <a:srgbClr val="000000"/>
              </a:solidFill>
              <a:effectLst/>
              <a:latin typeface="PingFang SC"/>
            </a:endParaRPr>
          </a:p>
          <a:p>
            <a:pPr algn="l"/>
            <a:r>
              <a:rPr lang="en-US" altLang="zh-CN" b="1" i="0" dirty="0">
                <a:solidFill>
                  <a:srgbClr val="000000"/>
                </a:solidFill>
                <a:effectLst/>
                <a:latin typeface="PingFang SC"/>
              </a:rPr>
              <a:t>1</a:t>
            </a:r>
            <a:r>
              <a:rPr lang="zh-CN" altLang="en-US" b="1" i="0" dirty="0">
                <a:solidFill>
                  <a:srgbClr val="000000"/>
                </a:solidFill>
                <a:effectLst/>
                <a:latin typeface="PingFang SC"/>
              </a:rPr>
              <a:t>）</a:t>
            </a:r>
            <a:r>
              <a:rPr lang="en-US" altLang="zh-CN" b="1" i="0" dirty="0">
                <a:solidFill>
                  <a:srgbClr val="000000"/>
                </a:solidFill>
                <a:effectLst/>
                <a:latin typeface="PingFang SC"/>
              </a:rPr>
              <a:t>URG</a:t>
            </a:r>
            <a:r>
              <a:rPr lang="zh-CN" altLang="en-US" b="0" i="0" dirty="0">
                <a:solidFill>
                  <a:srgbClr val="000000"/>
                </a:solidFill>
                <a:effectLst/>
                <a:latin typeface="PingFang SC"/>
              </a:rPr>
              <a:t>：紧急指针标志，为</a:t>
            </a:r>
            <a:r>
              <a:rPr lang="en-US" altLang="zh-CN" b="0" i="0" dirty="0">
                <a:solidFill>
                  <a:srgbClr val="000000"/>
                </a:solidFill>
                <a:effectLst/>
                <a:latin typeface="PingFang SC"/>
              </a:rPr>
              <a:t>1</a:t>
            </a:r>
            <a:r>
              <a:rPr lang="zh-CN" altLang="en-US" b="0" i="0" dirty="0">
                <a:solidFill>
                  <a:srgbClr val="000000"/>
                </a:solidFill>
                <a:effectLst/>
                <a:latin typeface="PingFang SC"/>
              </a:rPr>
              <a:t>时表示紧急指针有效，为</a:t>
            </a:r>
            <a:r>
              <a:rPr lang="en-US" altLang="zh-CN" b="0" i="0" dirty="0">
                <a:solidFill>
                  <a:srgbClr val="000000"/>
                </a:solidFill>
                <a:effectLst/>
                <a:latin typeface="PingFang SC"/>
              </a:rPr>
              <a:t>0</a:t>
            </a:r>
            <a:r>
              <a:rPr lang="zh-CN" altLang="en-US" b="0" i="0" dirty="0">
                <a:solidFill>
                  <a:srgbClr val="000000"/>
                </a:solidFill>
                <a:effectLst/>
                <a:latin typeface="PingFang SC"/>
              </a:rPr>
              <a:t>则忽略紧急指针。</a:t>
            </a:r>
          </a:p>
          <a:p>
            <a:pPr algn="l"/>
            <a:r>
              <a:rPr lang="en-US" altLang="zh-CN" b="1" i="0" dirty="0">
                <a:solidFill>
                  <a:srgbClr val="000000"/>
                </a:solidFill>
                <a:effectLst/>
                <a:latin typeface="PingFang SC"/>
              </a:rPr>
              <a:t>2</a:t>
            </a:r>
            <a:r>
              <a:rPr lang="zh-CN" altLang="en-US" b="1" i="0" dirty="0">
                <a:solidFill>
                  <a:srgbClr val="000000"/>
                </a:solidFill>
                <a:effectLst/>
                <a:latin typeface="PingFang SC"/>
              </a:rPr>
              <a:t>）</a:t>
            </a:r>
            <a:r>
              <a:rPr lang="en-US" altLang="zh-CN" b="1" i="0" dirty="0">
                <a:solidFill>
                  <a:srgbClr val="000000"/>
                </a:solidFill>
                <a:effectLst/>
                <a:latin typeface="PingFang SC"/>
              </a:rPr>
              <a:t>ACK</a:t>
            </a:r>
            <a:r>
              <a:rPr lang="zh-CN" altLang="en-US" b="0" i="0" dirty="0">
                <a:solidFill>
                  <a:srgbClr val="000000"/>
                </a:solidFill>
                <a:effectLst/>
                <a:latin typeface="PingFang SC"/>
              </a:rPr>
              <a:t>：确认序号标志，为</a:t>
            </a:r>
            <a:r>
              <a:rPr lang="en-US" altLang="zh-CN" b="0" i="0" dirty="0">
                <a:solidFill>
                  <a:srgbClr val="000000"/>
                </a:solidFill>
                <a:effectLst/>
                <a:latin typeface="PingFang SC"/>
              </a:rPr>
              <a:t>1</a:t>
            </a:r>
            <a:r>
              <a:rPr lang="zh-CN" altLang="en-US" b="0" i="0" dirty="0">
                <a:solidFill>
                  <a:srgbClr val="000000"/>
                </a:solidFill>
                <a:effectLst/>
                <a:latin typeface="PingFang SC"/>
              </a:rPr>
              <a:t>时表示确认号有效，为</a:t>
            </a:r>
            <a:r>
              <a:rPr lang="en-US" altLang="zh-CN" b="0" i="0" dirty="0">
                <a:solidFill>
                  <a:srgbClr val="000000"/>
                </a:solidFill>
                <a:effectLst/>
                <a:latin typeface="PingFang SC"/>
              </a:rPr>
              <a:t>0</a:t>
            </a:r>
            <a:r>
              <a:rPr lang="zh-CN" altLang="en-US" b="0" i="0" dirty="0">
                <a:solidFill>
                  <a:srgbClr val="000000"/>
                </a:solidFill>
                <a:effectLst/>
                <a:latin typeface="PingFang SC"/>
              </a:rPr>
              <a:t>表示报文中不含确认信息，忽略确认号字段。</a:t>
            </a:r>
          </a:p>
          <a:p>
            <a:pPr algn="l"/>
            <a:r>
              <a:rPr lang="en-US" altLang="zh-CN" b="1" i="0" dirty="0">
                <a:solidFill>
                  <a:srgbClr val="000000"/>
                </a:solidFill>
                <a:effectLst/>
                <a:latin typeface="PingFang SC"/>
              </a:rPr>
              <a:t>3</a:t>
            </a:r>
            <a:r>
              <a:rPr lang="zh-CN" altLang="en-US" b="1" i="0" dirty="0">
                <a:solidFill>
                  <a:srgbClr val="000000"/>
                </a:solidFill>
                <a:effectLst/>
                <a:latin typeface="PingFang SC"/>
              </a:rPr>
              <a:t>）</a:t>
            </a:r>
            <a:r>
              <a:rPr lang="en-US" altLang="zh-CN" b="1" i="0" dirty="0">
                <a:solidFill>
                  <a:srgbClr val="000000"/>
                </a:solidFill>
                <a:effectLst/>
                <a:latin typeface="PingFang SC"/>
              </a:rPr>
              <a:t>PSH</a:t>
            </a:r>
            <a:r>
              <a:rPr lang="zh-CN" altLang="en-US" b="0" i="0" dirty="0">
                <a:solidFill>
                  <a:srgbClr val="000000"/>
                </a:solidFill>
                <a:effectLst/>
                <a:latin typeface="PingFang SC"/>
              </a:rPr>
              <a:t>：</a:t>
            </a:r>
            <a:r>
              <a:rPr lang="en-US" altLang="zh-CN" b="0" i="0" dirty="0">
                <a:solidFill>
                  <a:srgbClr val="000000"/>
                </a:solidFill>
                <a:effectLst/>
                <a:latin typeface="PingFang SC"/>
              </a:rPr>
              <a:t>push</a:t>
            </a:r>
            <a:r>
              <a:rPr lang="zh-CN" altLang="en-US" b="0" i="0" dirty="0">
                <a:solidFill>
                  <a:srgbClr val="000000"/>
                </a:solidFill>
                <a:effectLst/>
                <a:latin typeface="PingFang SC"/>
              </a:rPr>
              <a:t>标志，为</a:t>
            </a:r>
            <a:r>
              <a:rPr lang="en-US" altLang="zh-CN" b="0" i="0" dirty="0">
                <a:solidFill>
                  <a:srgbClr val="000000"/>
                </a:solidFill>
                <a:effectLst/>
                <a:latin typeface="PingFang SC"/>
              </a:rPr>
              <a:t>1</a:t>
            </a:r>
            <a:r>
              <a:rPr lang="zh-CN" altLang="en-US" b="0" i="0" dirty="0">
                <a:solidFill>
                  <a:srgbClr val="000000"/>
                </a:solidFill>
                <a:effectLst/>
                <a:latin typeface="PingFang SC"/>
              </a:rPr>
              <a:t>表示是带有</a:t>
            </a:r>
            <a:r>
              <a:rPr lang="en-US" altLang="zh-CN" b="0" i="0" dirty="0">
                <a:solidFill>
                  <a:srgbClr val="000000"/>
                </a:solidFill>
                <a:effectLst/>
                <a:latin typeface="PingFang SC"/>
              </a:rPr>
              <a:t>push</a:t>
            </a:r>
            <a:r>
              <a:rPr lang="zh-CN" altLang="en-US" b="0" i="0" dirty="0">
                <a:solidFill>
                  <a:srgbClr val="000000"/>
                </a:solidFill>
                <a:effectLst/>
                <a:latin typeface="PingFang SC"/>
              </a:rPr>
              <a:t>标志的数据，指示接收方在接收到该报文段以后，应尽快将这个报文段交给应用程序，而不是在缓冲区排队。</a:t>
            </a:r>
          </a:p>
          <a:p>
            <a:pPr algn="l"/>
            <a:r>
              <a:rPr lang="en-US" altLang="zh-CN" b="1" i="0" dirty="0">
                <a:solidFill>
                  <a:srgbClr val="000000"/>
                </a:solidFill>
                <a:effectLst/>
                <a:latin typeface="PingFang SC"/>
              </a:rPr>
              <a:t>4</a:t>
            </a:r>
            <a:r>
              <a:rPr lang="zh-CN" altLang="en-US" b="1" i="0" dirty="0">
                <a:solidFill>
                  <a:srgbClr val="000000"/>
                </a:solidFill>
                <a:effectLst/>
                <a:latin typeface="PingFang SC"/>
              </a:rPr>
              <a:t>）</a:t>
            </a:r>
            <a:r>
              <a:rPr lang="en-US" altLang="zh-CN" b="1" i="0" dirty="0">
                <a:solidFill>
                  <a:srgbClr val="000000"/>
                </a:solidFill>
                <a:effectLst/>
                <a:latin typeface="PingFang SC"/>
              </a:rPr>
              <a:t>RST</a:t>
            </a:r>
            <a:r>
              <a:rPr lang="zh-CN" altLang="en-US" b="0" i="0" dirty="0">
                <a:solidFill>
                  <a:srgbClr val="000000"/>
                </a:solidFill>
                <a:effectLst/>
                <a:latin typeface="PingFang SC"/>
              </a:rPr>
              <a:t>：重置连接标志，用于重置由于主机崩溃或其他原因而出现错误的连接。或者用于拒绝非法的报文段和拒绝连接请求。</a:t>
            </a:r>
          </a:p>
          <a:p>
            <a:pPr algn="l"/>
            <a:r>
              <a:rPr lang="en-US" altLang="zh-CN" b="1" i="0" dirty="0">
                <a:solidFill>
                  <a:srgbClr val="000000"/>
                </a:solidFill>
                <a:effectLst/>
                <a:latin typeface="PingFang SC"/>
              </a:rPr>
              <a:t>5</a:t>
            </a:r>
            <a:r>
              <a:rPr lang="zh-CN" altLang="en-US" b="1" i="0" dirty="0">
                <a:solidFill>
                  <a:srgbClr val="000000"/>
                </a:solidFill>
                <a:effectLst/>
                <a:latin typeface="PingFang SC"/>
              </a:rPr>
              <a:t>）</a:t>
            </a:r>
            <a:r>
              <a:rPr lang="en-US" altLang="zh-CN" b="1" i="0" dirty="0">
                <a:solidFill>
                  <a:srgbClr val="000000"/>
                </a:solidFill>
                <a:effectLst/>
                <a:latin typeface="PingFang SC"/>
              </a:rPr>
              <a:t>SYN</a:t>
            </a:r>
            <a:r>
              <a:rPr lang="zh-CN" altLang="en-US" b="0" i="0" dirty="0">
                <a:solidFill>
                  <a:srgbClr val="000000"/>
                </a:solidFill>
                <a:effectLst/>
                <a:latin typeface="PingFang SC"/>
              </a:rPr>
              <a:t>：同步序号，用于建立连接过程，在连接请求中，</a:t>
            </a:r>
            <a:r>
              <a:rPr lang="en-US" altLang="zh-CN" b="0" i="0" dirty="0">
                <a:solidFill>
                  <a:srgbClr val="000000"/>
                </a:solidFill>
                <a:effectLst/>
                <a:latin typeface="PingFang SC"/>
              </a:rPr>
              <a:t>SYN=1</a:t>
            </a:r>
            <a:r>
              <a:rPr lang="zh-CN" altLang="en-US" b="0" i="0" dirty="0">
                <a:solidFill>
                  <a:srgbClr val="000000"/>
                </a:solidFill>
                <a:effectLst/>
                <a:latin typeface="PingFang SC"/>
              </a:rPr>
              <a:t>和</a:t>
            </a:r>
            <a:r>
              <a:rPr lang="en-US" altLang="zh-CN" b="0" i="0" dirty="0">
                <a:solidFill>
                  <a:srgbClr val="000000"/>
                </a:solidFill>
                <a:effectLst/>
                <a:latin typeface="PingFang SC"/>
              </a:rPr>
              <a:t>ACK=0</a:t>
            </a:r>
            <a:r>
              <a:rPr lang="zh-CN" altLang="en-US" b="0" i="0" dirty="0">
                <a:solidFill>
                  <a:srgbClr val="000000"/>
                </a:solidFill>
                <a:effectLst/>
                <a:latin typeface="PingFang SC"/>
              </a:rPr>
              <a:t>表示该数据段没有使用捎带的确认域，而连接应答捎带一个确认，即</a:t>
            </a:r>
            <a:r>
              <a:rPr lang="en-US" altLang="zh-CN" b="0" i="0" dirty="0">
                <a:solidFill>
                  <a:srgbClr val="000000"/>
                </a:solidFill>
                <a:effectLst/>
                <a:latin typeface="PingFang SC"/>
              </a:rPr>
              <a:t>SYN=1</a:t>
            </a:r>
            <a:r>
              <a:rPr lang="zh-CN" altLang="en-US" b="0" i="0" dirty="0">
                <a:solidFill>
                  <a:srgbClr val="000000"/>
                </a:solidFill>
                <a:effectLst/>
                <a:latin typeface="PingFang SC"/>
              </a:rPr>
              <a:t>和</a:t>
            </a:r>
            <a:r>
              <a:rPr lang="en-US" altLang="zh-CN" b="0" i="0" dirty="0">
                <a:solidFill>
                  <a:srgbClr val="000000"/>
                </a:solidFill>
                <a:effectLst/>
                <a:latin typeface="PingFang SC"/>
              </a:rPr>
              <a:t>ACK=1</a:t>
            </a:r>
            <a:r>
              <a:rPr lang="zh-CN" altLang="en-US" b="0" i="0" dirty="0">
                <a:solidFill>
                  <a:srgbClr val="000000"/>
                </a:solidFill>
                <a:effectLst/>
                <a:latin typeface="PingFang SC"/>
              </a:rPr>
              <a:t>。</a:t>
            </a:r>
          </a:p>
          <a:p>
            <a:pPr algn="l"/>
            <a:r>
              <a:rPr lang="en-US" altLang="zh-CN" b="1" i="0" dirty="0">
                <a:solidFill>
                  <a:srgbClr val="000000"/>
                </a:solidFill>
                <a:effectLst/>
                <a:latin typeface="PingFang SC"/>
              </a:rPr>
              <a:t>6</a:t>
            </a:r>
            <a:r>
              <a:rPr lang="zh-CN" altLang="en-US" b="1" i="0" dirty="0">
                <a:solidFill>
                  <a:srgbClr val="000000"/>
                </a:solidFill>
                <a:effectLst/>
                <a:latin typeface="PingFang SC"/>
              </a:rPr>
              <a:t>）</a:t>
            </a:r>
            <a:r>
              <a:rPr lang="en-US" altLang="zh-CN" b="1" i="0" dirty="0">
                <a:solidFill>
                  <a:srgbClr val="000000"/>
                </a:solidFill>
                <a:effectLst/>
                <a:latin typeface="PingFang SC"/>
              </a:rPr>
              <a:t>FIN</a:t>
            </a:r>
            <a:r>
              <a:rPr lang="zh-CN" altLang="en-US" b="0" i="0" dirty="0">
                <a:solidFill>
                  <a:srgbClr val="000000"/>
                </a:solidFill>
                <a:effectLst/>
                <a:latin typeface="PingFang SC"/>
              </a:rPr>
              <a:t>：</a:t>
            </a:r>
            <a:r>
              <a:rPr lang="en-US" altLang="zh-CN" b="0" i="0" dirty="0">
                <a:solidFill>
                  <a:srgbClr val="000000"/>
                </a:solidFill>
                <a:effectLst/>
                <a:latin typeface="PingFang SC"/>
              </a:rPr>
              <a:t>finish</a:t>
            </a:r>
            <a:r>
              <a:rPr lang="zh-CN" altLang="en-US" b="0" i="0" dirty="0">
                <a:solidFill>
                  <a:srgbClr val="000000"/>
                </a:solidFill>
                <a:effectLst/>
                <a:latin typeface="PingFang SC"/>
              </a:rPr>
              <a:t>标志，用于释放连接，为</a:t>
            </a:r>
            <a:r>
              <a:rPr lang="en-US" altLang="zh-CN" b="0" i="0" dirty="0">
                <a:solidFill>
                  <a:srgbClr val="000000"/>
                </a:solidFill>
                <a:effectLst/>
                <a:latin typeface="PingFang SC"/>
              </a:rPr>
              <a:t>1</a:t>
            </a:r>
            <a:r>
              <a:rPr lang="zh-CN" altLang="en-US" b="0" i="0" dirty="0">
                <a:solidFill>
                  <a:srgbClr val="000000"/>
                </a:solidFill>
                <a:effectLst/>
                <a:latin typeface="PingFang SC"/>
              </a:rPr>
              <a:t>时表示发送方已经没有数据发送了，即关闭本方数据流。</a:t>
            </a:r>
          </a:p>
          <a:p>
            <a:pPr algn="l"/>
            <a:r>
              <a:rPr lang="en-US" altLang="zh-CN" b="1" i="0" dirty="0">
                <a:solidFill>
                  <a:srgbClr val="000000"/>
                </a:solidFill>
                <a:effectLst/>
                <a:latin typeface="PingFang SC"/>
              </a:rPr>
              <a:t>6</a:t>
            </a:r>
            <a:r>
              <a:rPr lang="zh-CN" altLang="en-US" b="1" i="0" dirty="0">
                <a:solidFill>
                  <a:srgbClr val="000000"/>
                </a:solidFill>
                <a:effectLst/>
                <a:latin typeface="PingFang SC"/>
              </a:rPr>
              <a:t>、窗口</a:t>
            </a:r>
            <a:r>
              <a:rPr lang="zh-CN" altLang="en-US" b="0" i="0" dirty="0">
                <a:solidFill>
                  <a:srgbClr val="000000"/>
                </a:solidFill>
                <a:effectLst/>
                <a:latin typeface="PingFang SC"/>
              </a:rPr>
              <a:t>：滑动窗口大小，用来告知发送端接受端的缓存大小，以此控制发送端发送数据的速率，从而达到流量控制。窗口大小时一个</a:t>
            </a:r>
            <a:r>
              <a:rPr lang="en-US" altLang="zh-CN" b="0" i="0" dirty="0">
                <a:solidFill>
                  <a:srgbClr val="000000"/>
                </a:solidFill>
                <a:effectLst/>
                <a:latin typeface="PingFang SC"/>
              </a:rPr>
              <a:t>16bit</a:t>
            </a:r>
            <a:r>
              <a:rPr lang="zh-CN" altLang="en-US" b="0" i="0" dirty="0">
                <a:solidFill>
                  <a:srgbClr val="000000"/>
                </a:solidFill>
                <a:effectLst/>
                <a:latin typeface="PingFang SC"/>
              </a:rPr>
              <a:t>字段，因而窗口大小最大为</a:t>
            </a:r>
            <a:r>
              <a:rPr lang="en-US" altLang="zh-CN" b="0" i="0" dirty="0">
                <a:solidFill>
                  <a:srgbClr val="000000"/>
                </a:solidFill>
                <a:effectLst/>
                <a:latin typeface="PingFang SC"/>
              </a:rPr>
              <a:t>65535</a:t>
            </a:r>
            <a:r>
              <a:rPr lang="zh-CN" altLang="en-US" b="0" i="0" dirty="0">
                <a:solidFill>
                  <a:srgbClr val="000000"/>
                </a:solidFill>
                <a:effectLst/>
                <a:latin typeface="PingFang SC"/>
              </a:rPr>
              <a:t>。</a:t>
            </a:r>
          </a:p>
          <a:p>
            <a:pPr algn="l"/>
            <a:r>
              <a:rPr lang="en-US" altLang="zh-CN" b="1" i="0" dirty="0">
                <a:solidFill>
                  <a:srgbClr val="000000"/>
                </a:solidFill>
                <a:effectLst/>
                <a:latin typeface="PingFang SC"/>
              </a:rPr>
              <a:t>7</a:t>
            </a:r>
            <a:r>
              <a:rPr lang="zh-CN" altLang="en-US" b="1" i="0" dirty="0">
                <a:solidFill>
                  <a:srgbClr val="000000"/>
                </a:solidFill>
                <a:effectLst/>
                <a:latin typeface="PingFang SC"/>
              </a:rPr>
              <a:t>、校验和</a:t>
            </a:r>
            <a:r>
              <a:rPr lang="zh-CN" altLang="en-US" b="0" i="0" dirty="0">
                <a:solidFill>
                  <a:srgbClr val="000000"/>
                </a:solidFill>
                <a:effectLst/>
                <a:latin typeface="PingFang SC"/>
              </a:rPr>
              <a:t>：奇偶校验，此校验和是对整个的 </a:t>
            </a:r>
            <a:r>
              <a:rPr lang="en-US" altLang="zh-CN" b="0" i="0" dirty="0">
                <a:solidFill>
                  <a:srgbClr val="000000"/>
                </a:solidFill>
                <a:effectLst/>
                <a:latin typeface="PingFang SC"/>
              </a:rPr>
              <a:t>TCP </a:t>
            </a:r>
            <a:r>
              <a:rPr lang="zh-CN" altLang="en-US" b="0" i="0" dirty="0">
                <a:solidFill>
                  <a:srgbClr val="000000"/>
                </a:solidFill>
                <a:effectLst/>
                <a:latin typeface="PingFang SC"/>
              </a:rPr>
              <a:t>报文段，包括 </a:t>
            </a:r>
            <a:r>
              <a:rPr lang="en-US" altLang="zh-CN" b="0" i="0" dirty="0">
                <a:solidFill>
                  <a:srgbClr val="000000"/>
                </a:solidFill>
                <a:effectLst/>
                <a:latin typeface="PingFang SC"/>
              </a:rPr>
              <a:t>TCP </a:t>
            </a:r>
            <a:r>
              <a:rPr lang="zh-CN" altLang="en-US" b="0" i="0" dirty="0">
                <a:solidFill>
                  <a:srgbClr val="000000"/>
                </a:solidFill>
                <a:effectLst/>
                <a:latin typeface="PingFang SC"/>
              </a:rPr>
              <a:t>头部和 </a:t>
            </a:r>
            <a:r>
              <a:rPr lang="en-US" altLang="zh-CN" b="0" i="0" dirty="0">
                <a:solidFill>
                  <a:srgbClr val="000000"/>
                </a:solidFill>
                <a:effectLst/>
                <a:latin typeface="PingFang SC"/>
              </a:rPr>
              <a:t>TCP </a:t>
            </a:r>
            <a:r>
              <a:rPr lang="zh-CN" altLang="en-US" b="0" i="0" dirty="0">
                <a:solidFill>
                  <a:srgbClr val="000000"/>
                </a:solidFill>
                <a:effectLst/>
                <a:latin typeface="PingFang SC"/>
              </a:rPr>
              <a:t>数据，以 </a:t>
            </a:r>
            <a:r>
              <a:rPr lang="en-US" altLang="zh-CN" b="0" i="0" dirty="0">
                <a:solidFill>
                  <a:srgbClr val="000000"/>
                </a:solidFill>
                <a:effectLst/>
                <a:latin typeface="PingFang SC"/>
              </a:rPr>
              <a:t>16 </a:t>
            </a:r>
            <a:r>
              <a:rPr lang="zh-CN" altLang="en-US" b="0" i="0" dirty="0">
                <a:solidFill>
                  <a:srgbClr val="000000"/>
                </a:solidFill>
                <a:effectLst/>
                <a:latin typeface="PingFang SC"/>
              </a:rPr>
              <a:t>位字进行计算所得。由发送端计算和存储，并由接收端进行验证。</a:t>
            </a:r>
          </a:p>
          <a:p>
            <a:pPr algn="l"/>
            <a:r>
              <a:rPr lang="en-US" altLang="zh-CN" b="1" i="0" dirty="0">
                <a:solidFill>
                  <a:srgbClr val="000000"/>
                </a:solidFill>
                <a:effectLst/>
                <a:latin typeface="PingFang SC"/>
              </a:rPr>
              <a:t>8</a:t>
            </a:r>
            <a:r>
              <a:rPr lang="zh-CN" altLang="en-US" b="1" i="0" dirty="0">
                <a:solidFill>
                  <a:srgbClr val="000000"/>
                </a:solidFill>
                <a:effectLst/>
                <a:latin typeface="PingFang SC"/>
              </a:rPr>
              <a:t>、紧急指针</a:t>
            </a:r>
            <a:r>
              <a:rPr lang="zh-CN" altLang="en-US" b="0" i="0" dirty="0">
                <a:solidFill>
                  <a:srgbClr val="000000"/>
                </a:solidFill>
                <a:effectLst/>
                <a:latin typeface="PingFang SC"/>
              </a:rPr>
              <a:t>：只有当 </a:t>
            </a:r>
            <a:r>
              <a:rPr lang="en-US" altLang="zh-CN" b="0" i="0" dirty="0">
                <a:solidFill>
                  <a:srgbClr val="000000"/>
                </a:solidFill>
                <a:effectLst/>
                <a:latin typeface="PingFang SC"/>
              </a:rPr>
              <a:t>URG </a:t>
            </a:r>
            <a:r>
              <a:rPr lang="zh-CN" altLang="en-US" b="0" i="0" dirty="0">
                <a:solidFill>
                  <a:srgbClr val="000000"/>
                </a:solidFill>
                <a:effectLst/>
                <a:latin typeface="PingFang SC"/>
              </a:rPr>
              <a:t>标志置 </a:t>
            </a:r>
            <a:r>
              <a:rPr lang="en-US" altLang="zh-CN" b="0" i="0" dirty="0">
                <a:solidFill>
                  <a:srgbClr val="000000"/>
                </a:solidFill>
                <a:effectLst/>
                <a:latin typeface="PingFang SC"/>
              </a:rPr>
              <a:t>1 </a:t>
            </a:r>
            <a:r>
              <a:rPr lang="zh-CN" altLang="en-US" b="0" i="0" dirty="0">
                <a:solidFill>
                  <a:srgbClr val="000000"/>
                </a:solidFill>
                <a:effectLst/>
                <a:latin typeface="PingFang SC"/>
              </a:rPr>
              <a:t>时紧急指针才有效。紧急指针是一个正的偏移量，和顺序号字段中的值相加表示紧急数据最后一个字节的序号。 </a:t>
            </a:r>
            <a:r>
              <a:rPr lang="en-US" altLang="zh-CN" b="0" i="0" dirty="0">
                <a:solidFill>
                  <a:srgbClr val="000000"/>
                </a:solidFill>
                <a:effectLst/>
                <a:latin typeface="PingFang SC"/>
              </a:rPr>
              <a:t>TCP </a:t>
            </a:r>
            <a:r>
              <a:rPr lang="zh-CN" altLang="en-US" b="0" i="0" dirty="0">
                <a:solidFill>
                  <a:srgbClr val="000000"/>
                </a:solidFill>
                <a:effectLst/>
                <a:latin typeface="PingFang SC"/>
              </a:rPr>
              <a:t>的紧急方式是发送端向另一端发送紧急数据的一种方式。</a:t>
            </a:r>
          </a:p>
          <a:p>
            <a:pPr algn="l"/>
            <a:r>
              <a:rPr lang="en-US" altLang="zh-CN" b="1" i="0" dirty="0">
                <a:solidFill>
                  <a:srgbClr val="000000"/>
                </a:solidFill>
                <a:effectLst/>
                <a:latin typeface="PingFang SC"/>
              </a:rPr>
              <a:t>9</a:t>
            </a:r>
            <a:r>
              <a:rPr lang="zh-CN" altLang="en-US" b="1" i="0" dirty="0">
                <a:solidFill>
                  <a:srgbClr val="000000"/>
                </a:solidFill>
                <a:effectLst/>
                <a:latin typeface="PingFang SC"/>
              </a:rPr>
              <a:t>、选项和填充</a:t>
            </a:r>
            <a:r>
              <a:rPr lang="zh-CN" altLang="en-US" b="0" i="0" dirty="0">
                <a:solidFill>
                  <a:srgbClr val="000000"/>
                </a:solidFill>
                <a:effectLst/>
                <a:latin typeface="PingFang SC"/>
              </a:rPr>
              <a:t>：最常见的可选字段是最长报文大小，又称为</a:t>
            </a:r>
            <a:r>
              <a:rPr lang="en-US" altLang="zh-CN" b="0" i="0" dirty="0">
                <a:solidFill>
                  <a:srgbClr val="000000"/>
                </a:solidFill>
                <a:effectLst/>
                <a:latin typeface="PingFang SC"/>
              </a:rPr>
              <a:t>MSS</a:t>
            </a:r>
            <a:r>
              <a:rPr lang="zh-CN" altLang="en-US" b="0" i="0" dirty="0">
                <a:solidFill>
                  <a:srgbClr val="000000"/>
                </a:solidFill>
                <a:effectLst/>
                <a:latin typeface="PingFang SC"/>
              </a:rPr>
              <a:t>（</a:t>
            </a:r>
            <a:r>
              <a:rPr lang="en-US" altLang="zh-CN" b="0" i="0" dirty="0">
                <a:solidFill>
                  <a:srgbClr val="000000"/>
                </a:solidFill>
                <a:effectLst/>
                <a:latin typeface="PingFang SC"/>
              </a:rPr>
              <a:t>Maximum Segment Size</a:t>
            </a:r>
            <a:r>
              <a:rPr lang="zh-CN" altLang="en-US" b="0" i="0" dirty="0">
                <a:solidFill>
                  <a:srgbClr val="000000"/>
                </a:solidFill>
                <a:effectLst/>
                <a:latin typeface="PingFang SC"/>
              </a:rPr>
              <a:t>），每个连接方通常都在通信的第一个报文段（为建立连接而设置</a:t>
            </a:r>
            <a:r>
              <a:rPr lang="en-US" altLang="zh-CN" b="0" i="0" dirty="0">
                <a:solidFill>
                  <a:srgbClr val="000000"/>
                </a:solidFill>
                <a:effectLst/>
                <a:latin typeface="PingFang SC"/>
              </a:rPr>
              <a:t>SYN</a:t>
            </a:r>
            <a:r>
              <a:rPr lang="zh-CN" altLang="en-US" b="0" i="0" dirty="0">
                <a:solidFill>
                  <a:srgbClr val="000000"/>
                </a:solidFill>
                <a:effectLst/>
                <a:latin typeface="PingFang SC"/>
              </a:rPr>
              <a:t>标志为</a:t>
            </a:r>
            <a:r>
              <a:rPr lang="en-US" altLang="zh-CN" b="0" i="0" dirty="0">
                <a:solidFill>
                  <a:srgbClr val="000000"/>
                </a:solidFill>
                <a:effectLst/>
                <a:latin typeface="PingFang SC"/>
              </a:rPr>
              <a:t>1</a:t>
            </a:r>
            <a:r>
              <a:rPr lang="zh-CN" altLang="en-US" b="0" i="0" dirty="0">
                <a:solidFill>
                  <a:srgbClr val="000000"/>
                </a:solidFill>
                <a:effectLst/>
                <a:latin typeface="PingFang SC"/>
              </a:rPr>
              <a:t>的那个段）中指明这个选项，它表示本端所能接受的最大报文段的长度。选项长度不一定是</a:t>
            </a:r>
            <a:r>
              <a:rPr lang="en-US" altLang="zh-CN" b="0" i="0" dirty="0">
                <a:solidFill>
                  <a:srgbClr val="000000"/>
                </a:solidFill>
                <a:effectLst/>
                <a:latin typeface="PingFang SC"/>
              </a:rPr>
              <a:t>32</a:t>
            </a:r>
            <a:r>
              <a:rPr lang="zh-CN" altLang="en-US" b="0" i="0" dirty="0">
                <a:solidFill>
                  <a:srgbClr val="000000"/>
                </a:solidFill>
                <a:effectLst/>
                <a:latin typeface="PingFang SC"/>
              </a:rPr>
              <a:t>位的整数倍，所以要加填充位，即在这个字段中加入额外的零，以保证</a:t>
            </a:r>
            <a:r>
              <a:rPr lang="en-US" altLang="zh-CN" b="0" i="0" dirty="0">
                <a:solidFill>
                  <a:srgbClr val="000000"/>
                </a:solidFill>
                <a:effectLst/>
                <a:latin typeface="PingFang SC"/>
              </a:rPr>
              <a:t>TCP</a:t>
            </a:r>
            <a:r>
              <a:rPr lang="zh-CN" altLang="en-US" b="0" i="0" dirty="0">
                <a:solidFill>
                  <a:srgbClr val="000000"/>
                </a:solidFill>
                <a:effectLst/>
                <a:latin typeface="PingFang SC"/>
              </a:rPr>
              <a:t>头是</a:t>
            </a:r>
            <a:r>
              <a:rPr lang="en-US" altLang="zh-CN" b="0" i="0" dirty="0">
                <a:solidFill>
                  <a:srgbClr val="000000"/>
                </a:solidFill>
                <a:effectLst/>
                <a:latin typeface="PingFang SC"/>
              </a:rPr>
              <a:t>32</a:t>
            </a:r>
            <a:r>
              <a:rPr lang="zh-CN" altLang="en-US" b="0" i="0" dirty="0">
                <a:solidFill>
                  <a:srgbClr val="000000"/>
                </a:solidFill>
                <a:effectLst/>
                <a:latin typeface="PingFang SC"/>
              </a:rPr>
              <a:t>的整数倍。</a:t>
            </a:r>
          </a:p>
          <a:p>
            <a:pPr algn="l"/>
            <a:r>
              <a:rPr lang="en-US" altLang="zh-CN" b="1" i="0" dirty="0">
                <a:solidFill>
                  <a:srgbClr val="000000"/>
                </a:solidFill>
                <a:effectLst/>
                <a:latin typeface="PingFang SC"/>
              </a:rPr>
              <a:t>10</a:t>
            </a:r>
            <a:r>
              <a:rPr lang="zh-CN" altLang="en-US" b="1" i="0" dirty="0">
                <a:solidFill>
                  <a:srgbClr val="000000"/>
                </a:solidFill>
                <a:effectLst/>
                <a:latin typeface="PingFang SC"/>
              </a:rPr>
              <a:t>、数据部分</a:t>
            </a:r>
            <a:r>
              <a:rPr lang="zh-CN" altLang="en-US" b="0" i="0" dirty="0">
                <a:solidFill>
                  <a:srgbClr val="000000"/>
                </a:solidFill>
                <a:effectLst/>
                <a:latin typeface="PingFang SC"/>
              </a:rPr>
              <a:t>： </a:t>
            </a:r>
            <a:r>
              <a:rPr lang="en-US" altLang="zh-CN" b="0" i="0" dirty="0">
                <a:solidFill>
                  <a:srgbClr val="000000"/>
                </a:solidFill>
                <a:effectLst/>
                <a:latin typeface="PingFang SC"/>
              </a:rPr>
              <a:t>TCP </a:t>
            </a:r>
            <a:r>
              <a:rPr lang="zh-CN" altLang="en-US" b="0" i="0" dirty="0">
                <a:solidFill>
                  <a:srgbClr val="000000"/>
                </a:solidFill>
                <a:effectLst/>
                <a:latin typeface="PingFang SC"/>
              </a:rPr>
              <a:t>报文段中的数据部分是可选的。在一个连接建立和一个连接终止时，双方交换的报文段仅有 </a:t>
            </a:r>
            <a:r>
              <a:rPr lang="en-US" altLang="zh-CN" b="0" i="0" dirty="0">
                <a:solidFill>
                  <a:srgbClr val="000000"/>
                </a:solidFill>
                <a:effectLst/>
                <a:latin typeface="PingFang SC"/>
              </a:rPr>
              <a:t>TCP </a:t>
            </a:r>
            <a:r>
              <a:rPr lang="zh-CN" altLang="en-US" b="0" i="0" dirty="0">
                <a:solidFill>
                  <a:srgbClr val="000000"/>
                </a:solidFill>
                <a:effectLst/>
                <a:latin typeface="PingFang SC"/>
              </a:rPr>
              <a:t>首部。如果一方没有数据要发送，也使用没有任何数据的首部来确认收到的数据。在处理超时的许多情况中，也会发送不带任何数据的报文段。</a:t>
            </a:r>
          </a:p>
          <a:p>
            <a:pPr>
              <a:spcBef>
                <a:spcPct val="0"/>
              </a:spcBef>
            </a:pPr>
            <a:r>
              <a:rPr lang="en-US" altLang="zh-CN" dirty="0"/>
              <a:t>CWR and ECE are used to signal congestion when ECN (Explicit Congestion Notification) is used, as specified in RFC 3168. ECE is set to signal an ECN-Echo to a TCP sender to tell it to slow down when the TCP receiver gets a congestion indication from the network. CWR is set to signal Congestion Window Reduced from the TCP sender to the TCP receiver so that it knows the sender has slowed down and can stop sending the ECN-Echo.</a:t>
            </a:r>
          </a:p>
        </p:txBody>
      </p:sp>
      <p:sp>
        <p:nvSpPr>
          <p:cNvPr id="675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055A6A4-88B4-4D88-A9AF-01EFB37B622A}" type="slidenum">
              <a:rPr lang="en-US" altLang="zh-CN"/>
              <a:pPr/>
              <a:t>64</a:t>
            </a:fld>
            <a:endParaRPr lang="en-US" altLang="zh-CN"/>
          </a:p>
        </p:txBody>
      </p:sp>
    </p:spTree>
    <p:extLst>
      <p:ext uri="{BB962C8B-B14F-4D97-AF65-F5344CB8AC3E}">
        <p14:creationId xmlns:p14="http://schemas.microsoft.com/office/powerpoint/2010/main" val="308930168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73</a:t>
            </a:fld>
            <a:endParaRPr lang="zh-CN" altLang="en-US"/>
          </a:p>
        </p:txBody>
      </p:sp>
    </p:spTree>
    <p:extLst>
      <p:ext uri="{BB962C8B-B14F-4D97-AF65-F5344CB8AC3E}">
        <p14:creationId xmlns:p14="http://schemas.microsoft.com/office/powerpoint/2010/main" val="17288338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如果客户端一开始发送的连接请求超时，并且放弃了连接。这时服务端有可能会收到那个超时的包，如果是两次握手就可建立连接，那么此时对于服务端来说连接就是成功的，操作系统会创建新的线程和分配内存来处理后面的通信，而服务端发送给客户端的确认应答（也就是第二次握手）却超时或者直接丢了，可是此时客户端都放弃连接了，不会再有通信了，白白浪费服务器资源。</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74</a:t>
            </a:fld>
            <a:endParaRPr lang="zh-CN" altLang="en-US"/>
          </a:p>
        </p:txBody>
      </p:sp>
    </p:spTree>
    <p:extLst>
      <p:ext uri="{BB962C8B-B14F-4D97-AF65-F5344CB8AC3E}">
        <p14:creationId xmlns:p14="http://schemas.microsoft.com/office/powerpoint/2010/main" val="91009341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zh-CN"/>
              <a:t>One slight difference from before: the receiver echoes ACK+1 rather than simply ACK to show that it received and understood the connection request. </a:t>
            </a:r>
          </a:p>
          <a:p>
            <a:pPr>
              <a:spcBef>
                <a:spcPct val="0"/>
              </a:spcBef>
            </a:pPr>
            <a:endParaRPr lang="en-US" altLang="zh-CN"/>
          </a:p>
          <a:p>
            <a:pPr>
              <a:spcBef>
                <a:spcPct val="0"/>
              </a:spcBef>
            </a:pPr>
            <a:r>
              <a:rPr lang="en-US" altLang="zh-CN"/>
              <a:t>Terminology: connection request is a SYN, for synchronize, disconnect request is a FIN for finish.</a:t>
            </a:r>
          </a:p>
        </p:txBody>
      </p:sp>
      <p:sp>
        <p:nvSpPr>
          <p:cNvPr id="696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57B6E74-64BD-44A2-995B-BEFE1E034561}" type="slidenum">
              <a:rPr lang="en-US" altLang="zh-CN"/>
              <a:pPr/>
              <a:t>75</a:t>
            </a:fld>
            <a:endParaRPr lang="en-US" altLang="zh-CN"/>
          </a:p>
        </p:txBody>
      </p:sp>
    </p:spTree>
    <p:extLst>
      <p:ext uri="{BB962C8B-B14F-4D97-AF65-F5344CB8AC3E}">
        <p14:creationId xmlns:p14="http://schemas.microsoft.com/office/powerpoint/2010/main" val="420825033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i="0" dirty="0">
              <a:solidFill>
                <a:srgbClr val="121212"/>
              </a:solidFill>
              <a:effectLst/>
              <a:latin typeface="-apple-system"/>
            </a:endParaRPr>
          </a:p>
        </p:txBody>
      </p:sp>
      <p:sp>
        <p:nvSpPr>
          <p:cNvPr id="4" name="灯片编号占位符 3"/>
          <p:cNvSpPr>
            <a:spLocks noGrp="1"/>
          </p:cNvSpPr>
          <p:nvPr>
            <p:ph type="sldNum" sz="quarter" idx="5"/>
          </p:nvPr>
        </p:nvSpPr>
        <p:spPr/>
        <p:txBody>
          <a:bodyPr/>
          <a:lstStyle/>
          <a:p>
            <a:fld id="{72E3F630-34ED-4C5D-9674-D926440E8CF8}" type="slidenum">
              <a:rPr lang="zh-CN" altLang="en-US" smtClean="0"/>
              <a:t>78</a:t>
            </a:fld>
            <a:endParaRPr lang="zh-CN" altLang="en-US"/>
          </a:p>
        </p:txBody>
      </p:sp>
    </p:spTree>
    <p:extLst>
      <p:ext uri="{BB962C8B-B14F-4D97-AF65-F5344CB8AC3E}">
        <p14:creationId xmlns:p14="http://schemas.microsoft.com/office/powerpoint/2010/main" val="313650414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79</a:t>
            </a:fld>
            <a:endParaRPr lang="zh-CN" altLang="en-US"/>
          </a:p>
        </p:txBody>
      </p:sp>
    </p:spTree>
    <p:extLst>
      <p:ext uri="{BB962C8B-B14F-4D97-AF65-F5344CB8AC3E}">
        <p14:creationId xmlns:p14="http://schemas.microsoft.com/office/powerpoint/2010/main" val="223758559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80</a:t>
            </a:fld>
            <a:endParaRPr lang="zh-CN" altLang="en-US"/>
          </a:p>
        </p:txBody>
      </p:sp>
    </p:spTree>
    <p:extLst>
      <p:ext uri="{BB962C8B-B14F-4D97-AF65-F5344CB8AC3E}">
        <p14:creationId xmlns:p14="http://schemas.microsoft.com/office/powerpoint/2010/main" val="407003256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zh-CN"/>
              <a:t>Exercise: using two instances of this, follow the path of a normal connection from a three-way handshake (both sides should move from closed to established using socket calls and packet exchanges) to teardown (both sides should move to closed at bottom). Ignore packet loss as it is not covered here. Then try a simultaneous open, etc.</a:t>
            </a:r>
          </a:p>
        </p:txBody>
      </p:sp>
      <p:sp>
        <p:nvSpPr>
          <p:cNvPr id="727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82AA060-1999-4876-802C-3B4857151F61}" type="slidenum">
              <a:rPr lang="en-US" altLang="zh-CN"/>
              <a:pPr/>
              <a:t>82</a:t>
            </a:fld>
            <a:endParaRPr lang="en-US" altLang="zh-CN"/>
          </a:p>
        </p:txBody>
      </p:sp>
    </p:spTree>
    <p:extLst>
      <p:ext uri="{BB962C8B-B14F-4D97-AF65-F5344CB8AC3E}">
        <p14:creationId xmlns:p14="http://schemas.microsoft.com/office/powerpoint/2010/main" val="289562069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zh-CN"/>
              <a:t>To see why the figure is correct about where the data lies in the buffer note that it is a circular buffer. Data is put in from left to right then starts at the left edge again (bottom). Similarly, data is read out left to right (second from bottom).</a:t>
            </a:r>
          </a:p>
        </p:txBody>
      </p:sp>
      <p:sp>
        <p:nvSpPr>
          <p:cNvPr id="747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A2B68E3-D7F5-4486-8651-660A5CB7452A}" type="slidenum">
              <a:rPr lang="en-US" altLang="zh-CN"/>
              <a:pPr/>
              <a:t>84</a:t>
            </a:fld>
            <a:endParaRPr lang="en-US" altLang="zh-CN"/>
          </a:p>
        </p:txBody>
      </p:sp>
    </p:spTree>
    <p:extLst>
      <p:ext uri="{BB962C8B-B14F-4D97-AF65-F5344CB8AC3E}">
        <p14:creationId xmlns:p14="http://schemas.microsoft.com/office/powerpoint/2010/main" val="23369990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zh-CN" altLang="en-US" b="0" i="0" dirty="0">
                <a:solidFill>
                  <a:srgbClr val="4D4D4D"/>
                </a:solidFill>
                <a:effectLst/>
                <a:latin typeface="-apple-system"/>
              </a:rPr>
              <a:t>接收端和发送端速率不匹配的状况下，</a:t>
            </a:r>
            <a:r>
              <a:rPr lang="en-US" altLang="zh-CN" b="0" i="0" dirty="0">
                <a:solidFill>
                  <a:srgbClr val="4D4D4D"/>
                </a:solidFill>
                <a:effectLst/>
                <a:latin typeface="-apple-system"/>
              </a:rPr>
              <a:t>TCP</a:t>
            </a:r>
            <a:r>
              <a:rPr lang="zh-CN" altLang="en-US" b="0" i="0" dirty="0">
                <a:solidFill>
                  <a:srgbClr val="4D4D4D"/>
                </a:solidFill>
                <a:effectLst/>
                <a:latin typeface="-apple-system"/>
              </a:rPr>
              <a:t>协议栈</a:t>
            </a:r>
            <a:r>
              <a:rPr lang="zh-CN" altLang="en-US" b="1" i="0" dirty="0">
                <a:solidFill>
                  <a:srgbClr val="FF0000"/>
                </a:solidFill>
                <a:effectLst/>
                <a:latin typeface="-apple-system"/>
              </a:rPr>
              <a:t>滑动窗口动态调整机制</a:t>
            </a:r>
            <a:r>
              <a:rPr lang="zh-CN" altLang="en-US" b="0" i="0" dirty="0">
                <a:solidFill>
                  <a:srgbClr val="4D4D4D"/>
                </a:solidFill>
                <a:effectLst/>
                <a:latin typeface="-apple-system"/>
              </a:rPr>
              <a:t>产生的一种问题 叫糊涂窗口综合症</a:t>
            </a:r>
            <a:r>
              <a:rPr lang="en-US" altLang="zh-CN" b="0" i="0" dirty="0">
                <a:solidFill>
                  <a:srgbClr val="4D4D4D"/>
                </a:solidFill>
                <a:effectLst/>
                <a:latin typeface="-apple-system"/>
              </a:rPr>
              <a:t>(</a:t>
            </a:r>
            <a:r>
              <a:rPr lang="en-US" altLang="zh-CN" dirty="0">
                <a:ea typeface="宋体" panose="02010600030101010101" pitchFamily="2" charset="-122"/>
              </a:rPr>
              <a:t>silly window syndrome</a:t>
            </a:r>
            <a:r>
              <a:rPr lang="en-US" altLang="zh-CN" b="0" i="0" dirty="0">
                <a:solidFill>
                  <a:srgbClr val="4D4D4D"/>
                </a:solidFill>
                <a:effectLst/>
                <a:latin typeface="-apple-system"/>
              </a:rPr>
              <a:t>)</a:t>
            </a:r>
            <a:endParaRPr lang="en-US" altLang="zh-CN" dirty="0"/>
          </a:p>
          <a:p>
            <a:pPr>
              <a:spcBef>
                <a:spcPct val="0"/>
              </a:spcBef>
            </a:pPr>
            <a:r>
              <a:rPr lang="en-US" altLang="zh-CN" dirty="0"/>
              <a:t>These sort of things problems crop up in practice as being part of the mechanisms we have described so far. They usually call for modified sliding window / flow control rules in special cases. Solution for silly window syndrome is that receiver should not send window updates for tiny buffer openings like “one byte available”. It should wait until a whole segment can be buffered to avoid this. </a:t>
            </a:r>
          </a:p>
        </p:txBody>
      </p:sp>
      <p:sp>
        <p:nvSpPr>
          <p:cNvPr id="768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BEBA3A2-C0B0-4102-A81E-3BE31C8D426C}" type="slidenum">
              <a:rPr lang="en-US" altLang="zh-CN"/>
              <a:pPr/>
              <a:t>85</a:t>
            </a:fld>
            <a:endParaRPr lang="en-US" altLang="zh-CN"/>
          </a:p>
        </p:txBody>
      </p:sp>
    </p:spTree>
    <p:extLst>
      <p:ext uri="{BB962C8B-B14F-4D97-AF65-F5344CB8AC3E}">
        <p14:creationId xmlns:p14="http://schemas.microsoft.com/office/powerpoint/2010/main" val="133820780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zh-CN"/>
              <a:t>RTT is round-trip time, a measure of delay that can be easily computed at one end without synchronized clocks. </a:t>
            </a:r>
          </a:p>
          <a:p>
            <a:pPr>
              <a:spcBef>
                <a:spcPct val="0"/>
              </a:spcBef>
            </a:pPr>
            <a:endParaRPr lang="en-US" altLang="zh-CN"/>
          </a:p>
          <a:p>
            <a:pPr>
              <a:spcBef>
                <a:spcPct val="0"/>
              </a:spcBef>
            </a:pPr>
            <a:r>
              <a:rPr lang="en-US" altLang="zh-CN"/>
              <a:t>Average is computed with an EWMA, exponentially weighted moving average that is very simple: new value = alpha x old value + (1-alpha) x sample. Alpha is 7/8, say. </a:t>
            </a:r>
          </a:p>
          <a:p>
            <a:pPr>
              <a:spcBef>
                <a:spcPct val="0"/>
              </a:spcBef>
            </a:pPr>
            <a:endParaRPr lang="en-US" altLang="zh-CN"/>
          </a:p>
          <a:p>
            <a:pPr>
              <a:spcBef>
                <a:spcPct val="0"/>
              </a:spcBef>
            </a:pPr>
            <a:r>
              <a:rPr lang="en-US" altLang="zh-CN"/>
              <a:t>Similarly for estimating the variance. TCP actually computes the deviation from the mean with another EWMA.</a:t>
            </a:r>
          </a:p>
        </p:txBody>
      </p:sp>
      <p:sp>
        <p:nvSpPr>
          <p:cNvPr id="7885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15A1DA2-872B-41AA-A779-AEF9013F9E01}" type="slidenum">
              <a:rPr lang="en-US" altLang="zh-CN"/>
              <a:pPr/>
              <a:t>86</a:t>
            </a:fld>
            <a:endParaRPr lang="en-US" altLang="zh-CN"/>
          </a:p>
        </p:txBody>
      </p:sp>
    </p:spTree>
    <p:extLst>
      <p:ext uri="{BB962C8B-B14F-4D97-AF65-F5344CB8AC3E}">
        <p14:creationId xmlns:p14="http://schemas.microsoft.com/office/powerpoint/2010/main" val="63430353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zh-CN"/>
              <a:t>It’s only slow compared to jumping to a large window immediately, which was how it used to work when slow-start was invented.</a:t>
            </a:r>
          </a:p>
        </p:txBody>
      </p:sp>
      <p:sp>
        <p:nvSpPr>
          <p:cNvPr id="829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D02FAF4-7129-4875-88EA-F2185018925F}" type="slidenum">
              <a:rPr lang="en-US" altLang="zh-CN"/>
              <a:pPr/>
              <a:t>101</a:t>
            </a:fld>
            <a:endParaRPr lang="en-US" altLang="zh-CN"/>
          </a:p>
        </p:txBody>
      </p:sp>
    </p:spTree>
    <p:extLst>
      <p:ext uri="{BB962C8B-B14F-4D97-AF65-F5344CB8AC3E}">
        <p14:creationId xmlns:p14="http://schemas.microsoft.com/office/powerpoint/2010/main" val="287512653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zh-CN"/>
              <a:t>Slow-start switches to additive increase at the slow-start threshold, which is set to be half the cwnd at the previous data loss. (First loss that finds this threshold is not shown.)</a:t>
            </a:r>
          </a:p>
          <a:p>
            <a:pPr>
              <a:spcBef>
                <a:spcPct val="0"/>
              </a:spcBef>
            </a:pPr>
            <a:endParaRPr lang="en-US" altLang="zh-CN"/>
          </a:p>
          <a:p>
            <a:pPr>
              <a:spcBef>
                <a:spcPct val="0"/>
              </a:spcBef>
            </a:pPr>
            <a:r>
              <a:rPr lang="en-US" altLang="zh-CN"/>
              <a:t>With both slow-start and additive increase the connection spends much of its time with a reasonable cwnd. But we have to start over after loss because by the time it is detected the ACK clock has stopped.</a:t>
            </a:r>
          </a:p>
        </p:txBody>
      </p:sp>
      <p:sp>
        <p:nvSpPr>
          <p:cNvPr id="860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2416A11-97E8-4391-B620-A8572BE5BA6D}" type="slidenum">
              <a:rPr lang="en-US" altLang="zh-CN"/>
              <a:pPr/>
              <a:t>103</a:t>
            </a:fld>
            <a:endParaRPr lang="en-US" altLang="zh-CN"/>
          </a:p>
        </p:txBody>
      </p:sp>
    </p:spTree>
    <p:extLst>
      <p:ext uri="{BB962C8B-B14F-4D97-AF65-F5344CB8AC3E}">
        <p14:creationId xmlns:p14="http://schemas.microsoft.com/office/powerpoint/2010/main" val="65785362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zh-CN"/>
              <a:t>With fast recovery, the packet loss is detected with three duplicate ACKs, the lost packet (next to be ACKed) is retransmitted (fast retransmit), the cwnd is halved, and then a new packet is sent for each acknowledgment that is received. Eventually the ack will jump forward when the retransmission fills the hole, and at that point we synchronize.</a:t>
            </a:r>
          </a:p>
        </p:txBody>
      </p:sp>
      <p:sp>
        <p:nvSpPr>
          <p:cNvPr id="880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F931D7E-BB89-4B9D-919E-495916C7B14E}" type="slidenum">
              <a:rPr lang="en-US" altLang="zh-CN"/>
              <a:pPr/>
              <a:t>104</a:t>
            </a:fld>
            <a:endParaRPr lang="en-US" altLang="zh-CN"/>
          </a:p>
        </p:txBody>
      </p:sp>
    </p:spTree>
    <p:extLst>
      <p:ext uri="{BB962C8B-B14F-4D97-AF65-F5344CB8AC3E}">
        <p14:creationId xmlns:p14="http://schemas.microsoft.com/office/powerpoint/2010/main" val="151909596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33333"/>
                </a:solidFill>
                <a:effectLst/>
                <a:latin typeface="Arial" panose="020B0604020202020204" pitchFamily="34" charset="0"/>
              </a:rPr>
              <a:t>拇指规则</a:t>
            </a:r>
            <a:r>
              <a:rPr lang="en-US" altLang="zh-CN" b="0" i="0" dirty="0">
                <a:solidFill>
                  <a:srgbClr val="333333"/>
                </a:solidFill>
                <a:effectLst/>
                <a:latin typeface="Arial" panose="020B0604020202020204" pitchFamily="34" charset="0"/>
              </a:rPr>
              <a:t>(RULE </a:t>
            </a:r>
            <a:r>
              <a:rPr lang="en-US" altLang="zh-CN" b="0" i="0" dirty="0">
                <a:solidFill>
                  <a:srgbClr val="F73131"/>
                </a:solidFill>
                <a:effectLst/>
                <a:latin typeface="Arial" panose="020B0604020202020204" pitchFamily="34" charset="0"/>
              </a:rPr>
              <a:t>OF</a:t>
            </a:r>
            <a:r>
              <a:rPr lang="zh-CN" altLang="en-US" b="0" i="0" dirty="0">
                <a:solidFill>
                  <a:srgbClr val="333333"/>
                </a:solidFill>
                <a:effectLst/>
                <a:latin typeface="Arial" panose="020B0604020202020204" pitchFamily="34" charset="0"/>
              </a:rPr>
              <a:t> </a:t>
            </a:r>
            <a:r>
              <a:rPr lang="en-US" altLang="zh-CN" b="0" i="0" dirty="0">
                <a:solidFill>
                  <a:srgbClr val="F73131"/>
                </a:solidFill>
                <a:effectLst/>
                <a:latin typeface="Arial" panose="020B0604020202020204" pitchFamily="34" charset="0"/>
              </a:rPr>
              <a:t>THUMB</a:t>
            </a:r>
            <a:r>
              <a:rPr lang="en-US" altLang="zh-CN" b="0" i="0" dirty="0">
                <a:solidFill>
                  <a:srgbClr val="333333"/>
                </a:solidFill>
                <a:effectLst/>
                <a:latin typeface="Arial" panose="020B0604020202020204" pitchFamily="34" charset="0"/>
              </a:rPr>
              <a:t>) </a:t>
            </a:r>
            <a:r>
              <a:rPr lang="zh-CN" altLang="en-US" b="0" i="0" dirty="0">
                <a:solidFill>
                  <a:srgbClr val="333333"/>
                </a:solidFill>
                <a:effectLst/>
                <a:latin typeface="Arial" panose="020B0604020202020204" pitchFamily="34" charset="0"/>
              </a:rPr>
              <a:t>，中文又译为“大拇指规则 ”，又叫”经验法则“，是一种可用于许多情况的简单的，经验性的，探索性的但不是很准确的原则。</a:t>
            </a:r>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110</a:t>
            </a:fld>
            <a:endParaRPr lang="zh-CN" altLang="en-US"/>
          </a:p>
        </p:txBody>
      </p:sp>
    </p:spTree>
    <p:extLst>
      <p:ext uri="{BB962C8B-B14F-4D97-AF65-F5344CB8AC3E}">
        <p14:creationId xmlns:p14="http://schemas.microsoft.com/office/powerpoint/2010/main" val="270938850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0EA1069-4705-4335-AAA1-8BB9DD2D9485}" type="slidenum">
              <a:rPr lang="en-US" altLang="zh-CN" smtClean="0"/>
              <a:pPr/>
              <a:t>112</a:t>
            </a:fld>
            <a:endParaRPr lang="en-US" altLang="zh-CN"/>
          </a:p>
        </p:txBody>
      </p:sp>
    </p:spTree>
    <p:extLst>
      <p:ext uri="{BB962C8B-B14F-4D97-AF65-F5344CB8AC3E}">
        <p14:creationId xmlns:p14="http://schemas.microsoft.com/office/powerpoint/2010/main" val="95785252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116</a:t>
            </a:fld>
            <a:endParaRPr lang="zh-CN" altLang="en-US"/>
          </a:p>
        </p:txBody>
      </p:sp>
    </p:spTree>
    <p:extLst>
      <p:ext uri="{BB962C8B-B14F-4D97-AF65-F5344CB8AC3E}">
        <p14:creationId xmlns:p14="http://schemas.microsoft.com/office/powerpoint/2010/main" val="150166906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4D4D4D"/>
                </a:solidFill>
                <a:effectLst/>
                <a:latin typeface="-apple-system"/>
              </a:rPr>
              <a:t> 在</a:t>
            </a:r>
            <a:r>
              <a:rPr lang="en-US" altLang="zh-CN" b="0" i="0" dirty="0">
                <a:solidFill>
                  <a:srgbClr val="4D4D4D"/>
                </a:solidFill>
                <a:effectLst/>
                <a:latin typeface="-apple-system"/>
              </a:rPr>
              <a:t>DTN</a:t>
            </a:r>
            <a:r>
              <a:rPr lang="zh-CN" altLang="en-US" b="0" i="0" dirty="0">
                <a:solidFill>
                  <a:srgbClr val="4D4D4D"/>
                </a:solidFill>
                <a:effectLst/>
                <a:latin typeface="-apple-system"/>
              </a:rPr>
              <a:t>术语中，一个消息被称为是一个</a:t>
            </a:r>
            <a:r>
              <a:rPr lang="en-US" altLang="zh-CN" b="1" i="0" dirty="0">
                <a:solidFill>
                  <a:srgbClr val="4D4D4D"/>
                </a:solidFill>
                <a:effectLst/>
                <a:latin typeface="-apple-system"/>
              </a:rPr>
              <a:t>bundle</a:t>
            </a:r>
            <a:r>
              <a:rPr lang="zh-CN" altLang="en-US" b="0" i="0" dirty="0">
                <a:solidFill>
                  <a:srgbClr val="4D4D4D"/>
                </a:solidFill>
                <a:effectLst/>
                <a:latin typeface="-apple-system"/>
              </a:rPr>
              <a:t>。</a:t>
            </a:r>
            <a:r>
              <a:rPr lang="en-US" altLang="zh-CN" b="0" i="0" dirty="0">
                <a:solidFill>
                  <a:srgbClr val="4D4D4D"/>
                </a:solidFill>
                <a:effectLst/>
                <a:latin typeface="-apple-system"/>
              </a:rPr>
              <a:t>DTN</a:t>
            </a:r>
            <a:r>
              <a:rPr lang="zh-CN" altLang="en-US" b="0" i="0" dirty="0">
                <a:solidFill>
                  <a:srgbClr val="4D4D4D"/>
                </a:solidFill>
                <a:effectLst/>
                <a:latin typeface="-apple-system"/>
              </a:rPr>
              <a:t>结点包含有存储器</a:t>
            </a:r>
            <a:r>
              <a:rPr lang="en-US" altLang="zh-CN" b="0" i="0" dirty="0">
                <a:solidFill>
                  <a:srgbClr val="4D4D4D"/>
                </a:solidFill>
                <a:effectLst/>
                <a:latin typeface="-apple-system"/>
              </a:rPr>
              <a:t>(</a:t>
            </a:r>
            <a:r>
              <a:rPr lang="zh-CN" altLang="en-US" b="0" i="0" dirty="0">
                <a:solidFill>
                  <a:srgbClr val="4D4D4D"/>
                </a:solidFill>
                <a:effectLst/>
                <a:latin typeface="-apple-system"/>
              </a:rPr>
              <a:t>像磁盘或闪存一样典型的连续存储器</a:t>
            </a:r>
            <a:r>
              <a:rPr lang="en-US" altLang="zh-CN" b="0" i="0" dirty="0">
                <a:solidFill>
                  <a:srgbClr val="4D4D4D"/>
                </a:solidFill>
                <a:effectLst/>
                <a:latin typeface="-apple-system"/>
              </a:rPr>
              <a:t>)</a:t>
            </a:r>
            <a:r>
              <a:rPr lang="zh-CN" altLang="en-US" b="0" i="0" dirty="0">
                <a:solidFill>
                  <a:srgbClr val="4D4D4D"/>
                </a:solidFill>
                <a:effectLst/>
                <a:latin typeface="-apple-system"/>
              </a:rPr>
              <a:t>。它们存储这些</a:t>
            </a:r>
            <a:r>
              <a:rPr lang="en-US" altLang="zh-CN" b="0" i="0" dirty="0">
                <a:solidFill>
                  <a:srgbClr val="4D4D4D"/>
                </a:solidFill>
                <a:effectLst/>
                <a:latin typeface="-apple-system"/>
              </a:rPr>
              <a:t>bundle</a:t>
            </a:r>
            <a:r>
              <a:rPr lang="zh-CN" altLang="en-US" b="0" i="0" dirty="0">
                <a:solidFill>
                  <a:srgbClr val="4D4D4D"/>
                </a:solidFill>
                <a:effectLst/>
                <a:latin typeface="-apple-system"/>
              </a:rPr>
              <a:t>，直到链路可得，然后转发这些</a:t>
            </a:r>
            <a:r>
              <a:rPr lang="en-US" altLang="zh-CN" b="0" i="0" dirty="0">
                <a:solidFill>
                  <a:srgbClr val="4D4D4D"/>
                </a:solidFill>
                <a:effectLst/>
                <a:latin typeface="-apple-system"/>
              </a:rPr>
              <a:t>bundle</a:t>
            </a:r>
            <a:r>
              <a:rPr lang="zh-CN" altLang="en-US" b="0" i="0" dirty="0">
                <a:solidFill>
                  <a:srgbClr val="4D4D4D"/>
                </a:solidFill>
                <a:effectLst/>
                <a:latin typeface="-apple-system"/>
              </a:rPr>
              <a:t>。这些链路间歇性地工作。图</a:t>
            </a:r>
            <a:r>
              <a:rPr lang="en-US" altLang="zh-CN" b="0" i="0" dirty="0">
                <a:solidFill>
                  <a:srgbClr val="4D4D4D"/>
                </a:solidFill>
                <a:effectLst/>
                <a:latin typeface="-apple-system"/>
              </a:rPr>
              <a:t>1</a:t>
            </a:r>
            <a:r>
              <a:rPr lang="zh-CN" altLang="en-US" b="0" i="0" dirty="0">
                <a:solidFill>
                  <a:srgbClr val="4D4D4D"/>
                </a:solidFill>
                <a:effectLst/>
                <a:latin typeface="-apple-system"/>
              </a:rPr>
              <a:t>展示了</a:t>
            </a:r>
            <a:r>
              <a:rPr lang="zh-CN" altLang="en-US" b="1" i="0" dirty="0">
                <a:solidFill>
                  <a:srgbClr val="4D4D4D"/>
                </a:solidFill>
                <a:effectLst/>
                <a:latin typeface="-apple-system"/>
              </a:rPr>
              <a:t>五个</a:t>
            </a:r>
            <a:r>
              <a:rPr lang="zh-CN" altLang="en-US" b="0" i="0" dirty="0">
                <a:solidFill>
                  <a:srgbClr val="4D4D4D"/>
                </a:solidFill>
                <a:effectLst/>
                <a:latin typeface="-apple-system"/>
              </a:rPr>
              <a:t>当前没有工作的间歇性链路，以及</a:t>
            </a:r>
            <a:r>
              <a:rPr lang="zh-CN" altLang="en-US" b="1" i="0" dirty="0">
                <a:solidFill>
                  <a:srgbClr val="4D4D4D"/>
                </a:solidFill>
                <a:effectLst/>
                <a:latin typeface="-apple-system"/>
              </a:rPr>
              <a:t>两个</a:t>
            </a:r>
            <a:r>
              <a:rPr lang="zh-CN" altLang="en-US" b="0" i="0" dirty="0">
                <a:solidFill>
                  <a:srgbClr val="4D4D4D"/>
                </a:solidFill>
                <a:effectLst/>
                <a:latin typeface="-apple-system"/>
              </a:rPr>
              <a:t>正在工作的链路。一个工作链路叫做一个</a:t>
            </a:r>
            <a:r>
              <a:rPr lang="en-US" altLang="zh-CN" b="1" i="0" dirty="0">
                <a:solidFill>
                  <a:srgbClr val="4D4D4D"/>
                </a:solidFill>
                <a:effectLst/>
                <a:latin typeface="-apple-system"/>
              </a:rPr>
              <a:t>contact</a:t>
            </a:r>
            <a:r>
              <a:rPr lang="zh-CN" altLang="en-US" b="0" i="0" dirty="0">
                <a:solidFill>
                  <a:srgbClr val="4D4D4D"/>
                </a:solidFill>
                <a:effectLst/>
                <a:latin typeface="-apple-system"/>
              </a:rPr>
              <a:t>。图</a:t>
            </a:r>
            <a:r>
              <a:rPr lang="en-US" altLang="zh-CN" b="0" i="0" dirty="0">
                <a:solidFill>
                  <a:srgbClr val="4D4D4D"/>
                </a:solidFill>
                <a:effectLst/>
                <a:latin typeface="-apple-system"/>
              </a:rPr>
              <a:t>1</a:t>
            </a:r>
            <a:r>
              <a:rPr lang="zh-CN" altLang="en-US" b="0" i="0" dirty="0">
                <a:solidFill>
                  <a:srgbClr val="4D4D4D"/>
                </a:solidFill>
                <a:effectLst/>
                <a:latin typeface="-apple-system"/>
              </a:rPr>
              <a:t>也显示了存储在两个</a:t>
            </a:r>
            <a:r>
              <a:rPr lang="en-US" altLang="zh-CN" b="0" i="0" dirty="0">
                <a:solidFill>
                  <a:srgbClr val="4D4D4D"/>
                </a:solidFill>
                <a:effectLst/>
                <a:latin typeface="-apple-system"/>
              </a:rPr>
              <a:t>DTN</a:t>
            </a:r>
            <a:r>
              <a:rPr lang="zh-CN" altLang="en-US" b="0" i="0" dirty="0">
                <a:solidFill>
                  <a:srgbClr val="4D4D4D"/>
                </a:solidFill>
                <a:effectLst/>
                <a:latin typeface="-apple-system"/>
              </a:rPr>
              <a:t>结点处的</a:t>
            </a:r>
            <a:r>
              <a:rPr lang="en-US" altLang="zh-CN" b="0" i="0" dirty="0">
                <a:solidFill>
                  <a:srgbClr val="4D4D4D"/>
                </a:solidFill>
                <a:effectLst/>
                <a:latin typeface="-apple-system"/>
              </a:rPr>
              <a:t>bundle</a:t>
            </a:r>
            <a:r>
              <a:rPr lang="zh-CN" altLang="en-US" b="0" i="0" dirty="0">
                <a:solidFill>
                  <a:srgbClr val="4D4D4D"/>
                </a:solidFill>
                <a:effectLst/>
                <a:latin typeface="-apple-system"/>
              </a:rPr>
              <a:t>，它们正等着被</a:t>
            </a:r>
            <a:r>
              <a:rPr lang="en-US" altLang="zh-CN" b="0" i="0" dirty="0">
                <a:solidFill>
                  <a:srgbClr val="4D4D4D"/>
                </a:solidFill>
                <a:effectLst/>
                <a:latin typeface="-apple-system"/>
              </a:rPr>
              <a:t>contact</a:t>
            </a:r>
            <a:r>
              <a:rPr lang="zh-CN" altLang="en-US" b="0" i="0" dirty="0">
                <a:solidFill>
                  <a:srgbClr val="4D4D4D"/>
                </a:solidFill>
                <a:effectLst/>
                <a:latin typeface="-apple-system"/>
              </a:rPr>
              <a:t>发送出去。使用这种方法，这些</a:t>
            </a:r>
            <a:r>
              <a:rPr lang="en-US" altLang="zh-CN" b="0" i="0" dirty="0">
                <a:solidFill>
                  <a:srgbClr val="4D4D4D"/>
                </a:solidFill>
                <a:effectLst/>
                <a:latin typeface="-apple-system"/>
              </a:rPr>
              <a:t>bundle</a:t>
            </a:r>
            <a:r>
              <a:rPr lang="zh-CN" altLang="en-US" b="0" i="0" dirty="0">
                <a:solidFill>
                  <a:srgbClr val="4D4D4D"/>
                </a:solidFill>
                <a:effectLst/>
                <a:latin typeface="-apple-system"/>
              </a:rPr>
              <a:t>被从源站到目的站的</a:t>
            </a:r>
            <a:r>
              <a:rPr lang="en-US" altLang="zh-CN" b="0" i="0" dirty="0">
                <a:solidFill>
                  <a:srgbClr val="4D4D4D"/>
                </a:solidFill>
                <a:effectLst/>
                <a:latin typeface="-apple-system"/>
              </a:rPr>
              <a:t>contact</a:t>
            </a:r>
            <a:r>
              <a:rPr lang="zh-CN" altLang="en-US" b="0" i="0" dirty="0">
                <a:solidFill>
                  <a:srgbClr val="4D4D4D"/>
                </a:solidFill>
                <a:effectLst/>
                <a:latin typeface="-apple-system"/>
              </a:rPr>
              <a:t>延迟了。</a:t>
            </a:r>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117</a:t>
            </a:fld>
            <a:endParaRPr lang="zh-CN" altLang="en-US"/>
          </a:p>
        </p:txBody>
      </p:sp>
    </p:spTree>
    <p:extLst>
      <p:ext uri="{BB962C8B-B14F-4D97-AF65-F5344CB8AC3E}">
        <p14:creationId xmlns:p14="http://schemas.microsoft.com/office/powerpoint/2010/main" val="291078878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zh-CN"/>
              <a:t>What is the advantage of using a DTN here versus a traditional wireless network? There may be no working path sometimes (satellite has no contact, ground station backhaul broken) or the path might not exist for long enough to send a but satellite software would still like to “send images” without worrying about these issues even if the network stores them. Storing bundles at ground stations also decouples the satellite link from the ground backhaul. If the wireless is faster then images may be stored in the ground station.</a:t>
            </a:r>
          </a:p>
        </p:txBody>
      </p:sp>
      <p:sp>
        <p:nvSpPr>
          <p:cNvPr id="1024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F749317-8884-4319-A578-F84D49007345}" type="slidenum">
              <a:rPr lang="en-US" altLang="zh-CN"/>
              <a:pPr/>
              <a:t>118</a:t>
            </a:fld>
            <a:endParaRPr lang="en-US" altLang="zh-CN"/>
          </a:p>
        </p:txBody>
      </p:sp>
    </p:spTree>
    <p:extLst>
      <p:ext uri="{BB962C8B-B14F-4D97-AF65-F5344CB8AC3E}">
        <p14:creationId xmlns:p14="http://schemas.microsoft.com/office/powerpoint/2010/main" val="194983599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44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zh-CN" dirty="0"/>
              <a:t>Why the convergence layer? We want to define just one Bundle protocol to run over TCP or other transport layers (SCTP, etc.). The transport protocols are not going to have exactly the same interfaces, so they will not fit exactly with the bundle protocol. Convergence layers are the glue that join the interfaces together.</a:t>
            </a:r>
          </a:p>
        </p:txBody>
      </p:sp>
      <p:sp>
        <p:nvSpPr>
          <p:cNvPr id="10445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BEB1057-053A-4F2F-885D-43103C3353CA}" type="slidenum">
              <a:rPr lang="en-US" altLang="zh-CN"/>
              <a:pPr/>
              <a:t>119</a:t>
            </a:fld>
            <a:endParaRPr lang="en-US" altLang="zh-CN"/>
          </a:p>
        </p:txBody>
      </p:sp>
    </p:spTree>
    <p:extLst>
      <p:ext uri="{BB962C8B-B14F-4D97-AF65-F5344CB8AC3E}">
        <p14:creationId xmlns:p14="http://schemas.microsoft.com/office/powerpoint/2010/main" val="5199698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0CBF4C-D735-E941-A17B-741EBCE309C2}"/>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8D7B5A4A-9F19-BA42-849A-6026928D73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939644E7-87AB-8849-948B-15EB8793B60A}"/>
              </a:ext>
            </a:extLst>
          </p:cNvPr>
          <p:cNvSpPr>
            <a:spLocks noGrp="1"/>
          </p:cNvSpPr>
          <p:nvPr>
            <p:ph type="dt" sz="half" idx="10"/>
          </p:nvPr>
        </p:nvSpPr>
        <p:spPr/>
        <p:txBody>
          <a:bodyPr/>
          <a:lstStyle/>
          <a:p>
            <a:fld id="{5B838D7F-C601-A04E-9991-AEFB0E3EB3A7}" type="datetimeFigureOut">
              <a:rPr kumimoji="1" lang="zh-CN" altLang="en-US" smtClean="0"/>
              <a:t>2023/12/19</a:t>
            </a:fld>
            <a:endParaRPr kumimoji="1" lang="zh-CN" altLang="en-US"/>
          </a:p>
        </p:txBody>
      </p:sp>
      <p:sp>
        <p:nvSpPr>
          <p:cNvPr id="5" name="页脚占位符 4">
            <a:extLst>
              <a:ext uri="{FF2B5EF4-FFF2-40B4-BE49-F238E27FC236}">
                <a16:creationId xmlns:a16="http://schemas.microsoft.com/office/drawing/2014/main" id="{0E1FDA20-3861-C044-A46B-2A9E163FDA95}"/>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4E217B70-F626-F949-8FA5-A76C5D971EFA}"/>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9021479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565803-2FF9-F74D-AFBB-30C0C5FEE9B0}"/>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5E576164-02C0-A940-B772-F52C020E4B90}"/>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BAD28B46-89FD-1844-984E-0AC8E374E55E}"/>
              </a:ext>
            </a:extLst>
          </p:cNvPr>
          <p:cNvSpPr>
            <a:spLocks noGrp="1"/>
          </p:cNvSpPr>
          <p:nvPr>
            <p:ph type="dt" sz="half" idx="10"/>
          </p:nvPr>
        </p:nvSpPr>
        <p:spPr/>
        <p:txBody>
          <a:bodyPr/>
          <a:lstStyle/>
          <a:p>
            <a:fld id="{5B838D7F-C601-A04E-9991-AEFB0E3EB3A7}" type="datetimeFigureOut">
              <a:rPr kumimoji="1" lang="zh-CN" altLang="en-US" smtClean="0"/>
              <a:t>2023/12/19</a:t>
            </a:fld>
            <a:endParaRPr kumimoji="1" lang="zh-CN" altLang="en-US"/>
          </a:p>
        </p:txBody>
      </p:sp>
      <p:sp>
        <p:nvSpPr>
          <p:cNvPr id="5" name="页脚占位符 4">
            <a:extLst>
              <a:ext uri="{FF2B5EF4-FFF2-40B4-BE49-F238E27FC236}">
                <a16:creationId xmlns:a16="http://schemas.microsoft.com/office/drawing/2014/main" id="{90302324-14E0-E445-9F49-D6C6761D0041}"/>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12572F2F-5AB3-4D43-85C4-243A6DCCC4D5}"/>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2780330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8DBAE4-D610-B540-ABDE-D44D4AE457CF}"/>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8467FCBF-E176-1541-A09A-4238A8BE59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D98E8CDB-44EB-414F-B63E-DA1E14B1E77F}"/>
              </a:ext>
            </a:extLst>
          </p:cNvPr>
          <p:cNvSpPr>
            <a:spLocks noGrp="1"/>
          </p:cNvSpPr>
          <p:nvPr>
            <p:ph type="dt" sz="half" idx="10"/>
          </p:nvPr>
        </p:nvSpPr>
        <p:spPr/>
        <p:txBody>
          <a:bodyPr/>
          <a:lstStyle/>
          <a:p>
            <a:fld id="{5B838D7F-C601-A04E-9991-AEFB0E3EB3A7}" type="datetimeFigureOut">
              <a:rPr kumimoji="1" lang="zh-CN" altLang="en-US" smtClean="0"/>
              <a:t>2023/12/19</a:t>
            </a:fld>
            <a:endParaRPr kumimoji="1" lang="zh-CN" altLang="en-US"/>
          </a:p>
        </p:txBody>
      </p:sp>
      <p:sp>
        <p:nvSpPr>
          <p:cNvPr id="5" name="页脚占位符 4">
            <a:extLst>
              <a:ext uri="{FF2B5EF4-FFF2-40B4-BE49-F238E27FC236}">
                <a16:creationId xmlns:a16="http://schemas.microsoft.com/office/drawing/2014/main" id="{9A5C5244-77E3-2043-AF56-264E96CFE1EA}"/>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C68B8585-0792-614C-A697-2989A0E1BB9D}"/>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4029258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872290-43A4-3648-AC80-18422BF89033}"/>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B41E57C1-7EE7-C843-90A3-78DB927BE98B}"/>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A7D2E616-3C99-5A46-9335-00FB157EA3A4}"/>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65F55B77-B9E8-6549-9FC1-065E393B2E56}"/>
              </a:ext>
            </a:extLst>
          </p:cNvPr>
          <p:cNvSpPr>
            <a:spLocks noGrp="1"/>
          </p:cNvSpPr>
          <p:nvPr>
            <p:ph type="dt" sz="half" idx="10"/>
          </p:nvPr>
        </p:nvSpPr>
        <p:spPr/>
        <p:txBody>
          <a:bodyPr/>
          <a:lstStyle/>
          <a:p>
            <a:fld id="{5B838D7F-C601-A04E-9991-AEFB0E3EB3A7}" type="datetimeFigureOut">
              <a:rPr kumimoji="1" lang="zh-CN" altLang="en-US" smtClean="0"/>
              <a:t>2023/12/19</a:t>
            </a:fld>
            <a:endParaRPr kumimoji="1" lang="zh-CN" altLang="en-US"/>
          </a:p>
        </p:txBody>
      </p:sp>
      <p:sp>
        <p:nvSpPr>
          <p:cNvPr id="6" name="页脚占位符 5">
            <a:extLst>
              <a:ext uri="{FF2B5EF4-FFF2-40B4-BE49-F238E27FC236}">
                <a16:creationId xmlns:a16="http://schemas.microsoft.com/office/drawing/2014/main" id="{A7D839E9-7E15-DE43-BEE5-B6BE1F695A19}"/>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3A19A144-0A60-A745-8C9B-B087006ADF84}"/>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3033806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B2707F-7D47-2644-9B65-EF249EA00C48}"/>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877F1D95-C617-C244-8DA6-1390B4226F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B710303A-3F2B-3A49-A82A-89B83A504BA2}"/>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4A65F01F-59CC-754E-BF58-C41163CB19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C8F4AD7A-9F7F-984B-8E76-252F5C5F8EBB}"/>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BA2E15E9-520F-1348-8894-028648AEAA80}"/>
              </a:ext>
            </a:extLst>
          </p:cNvPr>
          <p:cNvSpPr>
            <a:spLocks noGrp="1"/>
          </p:cNvSpPr>
          <p:nvPr>
            <p:ph type="dt" sz="half" idx="10"/>
          </p:nvPr>
        </p:nvSpPr>
        <p:spPr/>
        <p:txBody>
          <a:bodyPr/>
          <a:lstStyle/>
          <a:p>
            <a:fld id="{5B838D7F-C601-A04E-9991-AEFB0E3EB3A7}" type="datetimeFigureOut">
              <a:rPr kumimoji="1" lang="zh-CN" altLang="en-US" smtClean="0"/>
              <a:t>2023/12/19</a:t>
            </a:fld>
            <a:endParaRPr kumimoji="1" lang="zh-CN" altLang="en-US"/>
          </a:p>
        </p:txBody>
      </p:sp>
      <p:sp>
        <p:nvSpPr>
          <p:cNvPr id="8" name="页脚占位符 7">
            <a:extLst>
              <a:ext uri="{FF2B5EF4-FFF2-40B4-BE49-F238E27FC236}">
                <a16:creationId xmlns:a16="http://schemas.microsoft.com/office/drawing/2014/main" id="{85DF0A15-0D35-0345-B123-F093E260D816}"/>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9F0D7BE0-1CFE-9341-8E4D-EF84392181BA}"/>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2018702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6548A7-789D-8544-84AE-A78D499D3C94}"/>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C50081A3-22A1-924C-8933-2E70E194ADF3}"/>
              </a:ext>
            </a:extLst>
          </p:cNvPr>
          <p:cNvSpPr>
            <a:spLocks noGrp="1"/>
          </p:cNvSpPr>
          <p:nvPr>
            <p:ph type="dt" sz="half" idx="10"/>
          </p:nvPr>
        </p:nvSpPr>
        <p:spPr/>
        <p:txBody>
          <a:bodyPr/>
          <a:lstStyle/>
          <a:p>
            <a:fld id="{530820CF-B880-4189-942D-D702A7CBA730}" type="datetimeFigureOut">
              <a:rPr lang="zh-CN" altLang="en-US" smtClean="0"/>
              <a:t>2023/12/19</a:t>
            </a:fld>
            <a:endParaRPr lang="zh-CN" altLang="en-US"/>
          </a:p>
        </p:txBody>
      </p:sp>
      <p:sp>
        <p:nvSpPr>
          <p:cNvPr id="4" name="页脚占位符 3">
            <a:extLst>
              <a:ext uri="{FF2B5EF4-FFF2-40B4-BE49-F238E27FC236}">
                <a16:creationId xmlns:a16="http://schemas.microsoft.com/office/drawing/2014/main" id="{6AF810A1-4B83-FA4B-9399-EE573CBD8A7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ED5E9EB4-37A0-D541-BF98-2D94FF8967E6}"/>
              </a:ext>
            </a:extLst>
          </p:cNvPr>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964930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6D80BE1-CEAD-8942-94F6-E79BDB072CD5}"/>
              </a:ext>
            </a:extLst>
          </p:cNvPr>
          <p:cNvSpPr>
            <a:spLocks noGrp="1"/>
          </p:cNvSpPr>
          <p:nvPr>
            <p:ph type="dt" sz="half" idx="10"/>
          </p:nvPr>
        </p:nvSpPr>
        <p:spPr/>
        <p:txBody>
          <a:bodyPr/>
          <a:lstStyle/>
          <a:p>
            <a:fld id="{530820CF-B880-4189-942D-D702A7CBA730}" type="datetimeFigureOut">
              <a:rPr lang="zh-CN" altLang="en-US" smtClean="0"/>
              <a:t>2023/12/19</a:t>
            </a:fld>
            <a:endParaRPr lang="zh-CN" altLang="en-US"/>
          </a:p>
        </p:txBody>
      </p:sp>
      <p:sp>
        <p:nvSpPr>
          <p:cNvPr id="3" name="页脚占位符 2">
            <a:extLst>
              <a:ext uri="{FF2B5EF4-FFF2-40B4-BE49-F238E27FC236}">
                <a16:creationId xmlns:a16="http://schemas.microsoft.com/office/drawing/2014/main" id="{5EBDFB2A-3BB3-804D-8646-A2A0D2C83E1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A11A5F4-AA57-1144-A623-3A0F48C6FAF4}"/>
              </a:ext>
            </a:extLst>
          </p:cNvPr>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3998938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5CD430-48C7-D347-A4F8-BC502101CFD8}"/>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5058B230-2E26-A540-9267-69132C3786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06CCB6C8-AAD8-2B46-9F30-B09E6EFB35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90FCEDB8-AFE5-A345-A665-E1E7981598C6}"/>
              </a:ext>
            </a:extLst>
          </p:cNvPr>
          <p:cNvSpPr>
            <a:spLocks noGrp="1"/>
          </p:cNvSpPr>
          <p:nvPr>
            <p:ph type="dt" sz="half" idx="10"/>
          </p:nvPr>
        </p:nvSpPr>
        <p:spPr/>
        <p:txBody>
          <a:bodyPr/>
          <a:lstStyle/>
          <a:p>
            <a:fld id="{5B838D7F-C601-A04E-9991-AEFB0E3EB3A7}" type="datetimeFigureOut">
              <a:rPr kumimoji="1" lang="zh-CN" altLang="en-US" smtClean="0"/>
              <a:t>2023/12/19</a:t>
            </a:fld>
            <a:endParaRPr kumimoji="1" lang="zh-CN" altLang="en-US"/>
          </a:p>
        </p:txBody>
      </p:sp>
      <p:sp>
        <p:nvSpPr>
          <p:cNvPr id="6" name="页脚占位符 5">
            <a:extLst>
              <a:ext uri="{FF2B5EF4-FFF2-40B4-BE49-F238E27FC236}">
                <a16:creationId xmlns:a16="http://schemas.microsoft.com/office/drawing/2014/main" id="{F0E3ABEF-10D0-374C-93EB-2235F7AFF327}"/>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43AE97A9-5F0E-6546-B484-887F216EA6FB}"/>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27615682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19DDF1-6528-5547-9552-E2CE95B6744C}"/>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A0C3C6A0-63C8-D24B-BA6B-8B5936B4E0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4DBBD2D2-0875-7040-85B6-752DC5A1CC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2ED047DE-5649-7C4A-A46F-83D8DFC46804}"/>
              </a:ext>
            </a:extLst>
          </p:cNvPr>
          <p:cNvSpPr>
            <a:spLocks noGrp="1"/>
          </p:cNvSpPr>
          <p:nvPr>
            <p:ph type="dt" sz="half" idx="10"/>
          </p:nvPr>
        </p:nvSpPr>
        <p:spPr/>
        <p:txBody>
          <a:bodyPr/>
          <a:lstStyle/>
          <a:p>
            <a:fld id="{5B838D7F-C601-A04E-9991-AEFB0E3EB3A7}" type="datetimeFigureOut">
              <a:rPr kumimoji="1" lang="zh-CN" altLang="en-US" smtClean="0"/>
              <a:t>2023/12/19</a:t>
            </a:fld>
            <a:endParaRPr kumimoji="1" lang="zh-CN" altLang="en-US"/>
          </a:p>
        </p:txBody>
      </p:sp>
      <p:sp>
        <p:nvSpPr>
          <p:cNvPr id="6" name="页脚占位符 5">
            <a:extLst>
              <a:ext uri="{FF2B5EF4-FFF2-40B4-BE49-F238E27FC236}">
                <a16:creationId xmlns:a16="http://schemas.microsoft.com/office/drawing/2014/main" id="{AF84E58D-D5D4-EC46-8805-6FDDCB0BEC2E}"/>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14F931D1-B2B5-8F47-9ED7-53BA9E928CA5}"/>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4187134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C91E90-FC3B-034A-B437-D9FFBD143627}"/>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A574E6FE-CC0E-0042-A822-094F072E55F3}"/>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E5AAFD1-1432-6D4B-BE5F-06F9963DBEA2}"/>
              </a:ext>
            </a:extLst>
          </p:cNvPr>
          <p:cNvSpPr>
            <a:spLocks noGrp="1"/>
          </p:cNvSpPr>
          <p:nvPr>
            <p:ph type="dt" sz="half" idx="10"/>
          </p:nvPr>
        </p:nvSpPr>
        <p:spPr/>
        <p:txBody>
          <a:bodyPr/>
          <a:lstStyle/>
          <a:p>
            <a:fld id="{5B838D7F-C601-A04E-9991-AEFB0E3EB3A7}" type="datetimeFigureOut">
              <a:rPr kumimoji="1" lang="zh-CN" altLang="en-US" smtClean="0"/>
              <a:t>2023/12/19</a:t>
            </a:fld>
            <a:endParaRPr kumimoji="1" lang="zh-CN" altLang="en-US"/>
          </a:p>
        </p:txBody>
      </p:sp>
      <p:sp>
        <p:nvSpPr>
          <p:cNvPr id="5" name="页脚占位符 4">
            <a:extLst>
              <a:ext uri="{FF2B5EF4-FFF2-40B4-BE49-F238E27FC236}">
                <a16:creationId xmlns:a16="http://schemas.microsoft.com/office/drawing/2014/main" id="{32E1A01D-0D9D-DC43-90B4-1485A8A59DD2}"/>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53E9B493-09AA-2549-9E9F-5C118F03B84A}"/>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36680092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286FB75-5429-C74A-B2CC-2A90216190D7}"/>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D6CDCBF5-4968-1B40-9AF0-DE28C90ABFC3}"/>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8BEF470C-E74E-DC4B-9B62-1A0DA608F7B3}"/>
              </a:ext>
            </a:extLst>
          </p:cNvPr>
          <p:cNvSpPr>
            <a:spLocks noGrp="1"/>
          </p:cNvSpPr>
          <p:nvPr>
            <p:ph type="dt" sz="half" idx="10"/>
          </p:nvPr>
        </p:nvSpPr>
        <p:spPr/>
        <p:txBody>
          <a:bodyPr/>
          <a:lstStyle/>
          <a:p>
            <a:fld id="{5B838D7F-C601-A04E-9991-AEFB0E3EB3A7}" type="datetimeFigureOut">
              <a:rPr kumimoji="1" lang="zh-CN" altLang="en-US" smtClean="0"/>
              <a:t>2023/12/19</a:t>
            </a:fld>
            <a:endParaRPr kumimoji="1" lang="zh-CN" altLang="en-US"/>
          </a:p>
        </p:txBody>
      </p:sp>
      <p:sp>
        <p:nvSpPr>
          <p:cNvPr id="5" name="页脚占位符 4">
            <a:extLst>
              <a:ext uri="{FF2B5EF4-FFF2-40B4-BE49-F238E27FC236}">
                <a16:creationId xmlns:a16="http://schemas.microsoft.com/office/drawing/2014/main" id="{F7CB4314-821B-2043-97D6-5E931699E770}"/>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691BE01-ED78-E140-91C8-BB0C23841700}"/>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127452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41160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2"/>
          <p:cNvSpPr>
            <a:spLocks noGrp="1"/>
          </p:cNvSpPr>
          <p:nvPr>
            <p:ph idx="1"/>
          </p:nvPr>
        </p:nvSpPr>
        <p:spPr>
          <a:xfrm>
            <a:off x="1841500" y="1990725"/>
            <a:ext cx="9753601" cy="4019550"/>
          </a:xfrm>
        </p:spPr>
        <p:txBody>
          <a:bodyPr/>
          <a:lstStyle>
            <a:lvl1pPr>
              <a:buClr>
                <a:srgbClr val="0000FF"/>
              </a:buClr>
              <a:buFont typeface="Arial" pitchFamily="34" charset="0"/>
              <a:buNone/>
              <a:defRPr/>
            </a:lvl1pPr>
            <a:lvl2pPr>
              <a:buClr>
                <a:srgbClr val="0000FF"/>
              </a:buClr>
              <a:defRPr/>
            </a:lvl2pPr>
            <a:lvl3pPr>
              <a:buClr>
                <a:srgbClr val="0000FF"/>
              </a:buClr>
              <a:defRPr/>
            </a:lvl3pPr>
            <a:lvl4pPr>
              <a:buClr>
                <a:srgbClr val="0000FF"/>
              </a:buClr>
              <a:defRPr/>
            </a:lvl4pPr>
            <a:lvl5pPr>
              <a:buClr>
                <a:srgbClr val="0000FF"/>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5"/>
          <p:cNvSpPr>
            <a:spLocks noGrp="1" noChangeArrowheads="1"/>
          </p:cNvSpPr>
          <p:nvPr>
            <p:ph type="ftr" sz="quarter" idx="10"/>
          </p:nvPr>
        </p:nvSpPr>
        <p:spPr>
          <a:ln/>
        </p:spPr>
        <p:txBody>
          <a:bodyPr/>
          <a:lstStyle>
            <a:lvl1pPr>
              <a:defRPr/>
            </a:lvl1pPr>
          </a:lstStyle>
          <a:p>
            <a:r>
              <a:rPr lang="en-US" altLang="zh-CN"/>
              <a:t>Computer Networks, Chapter 6 The Transport Layer</a:t>
            </a:r>
            <a:endParaRPr lang="en-US" altLang="zh-CN" i="0"/>
          </a:p>
        </p:txBody>
      </p:sp>
    </p:spTree>
    <p:extLst>
      <p:ext uri="{BB962C8B-B14F-4D97-AF65-F5344CB8AC3E}">
        <p14:creationId xmlns:p14="http://schemas.microsoft.com/office/powerpoint/2010/main" val="32481463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2"/>
          <p:cNvSpPr>
            <a:spLocks noGrp="1"/>
          </p:cNvSpPr>
          <p:nvPr>
            <p:ph idx="1"/>
          </p:nvPr>
        </p:nvSpPr>
        <p:spPr>
          <a:xfrm>
            <a:off x="1219199" y="1610714"/>
            <a:ext cx="10386952" cy="4600081"/>
          </a:xfrm>
        </p:spPr>
        <p:txBody>
          <a:bodyPr/>
          <a:lstStyle>
            <a:lvl1pPr>
              <a:buFont typeface="Arial" pitchFamily="34" charset="0"/>
              <a:buNone/>
              <a:defRPr/>
            </a:lvl1pPr>
            <a:lvl2pPr>
              <a:buClr>
                <a:srgbClr val="0000FF"/>
              </a:buClr>
              <a:defRPr/>
            </a:lvl2pPr>
            <a:lvl3pPr>
              <a:buClr>
                <a:srgbClr val="0000FF"/>
              </a:buClr>
              <a:defRPr/>
            </a:lvl3pPr>
            <a:lvl4pPr>
              <a:buClr>
                <a:srgbClr val="0000FF"/>
              </a:buClr>
              <a:defRPr/>
            </a:lvl4pPr>
            <a:lvl5pPr>
              <a:buClr>
                <a:srgbClr val="0000FF"/>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5"/>
          <p:cNvSpPr>
            <a:spLocks noGrp="1" noChangeArrowheads="1"/>
          </p:cNvSpPr>
          <p:nvPr>
            <p:ph type="ftr" sz="quarter" idx="10"/>
          </p:nvPr>
        </p:nvSpPr>
        <p:spPr>
          <a:ln/>
        </p:spPr>
        <p:txBody>
          <a:bodyPr/>
          <a:lstStyle>
            <a:lvl1pPr>
              <a:defRPr/>
            </a:lvl1pPr>
          </a:lstStyle>
          <a:p>
            <a:r>
              <a:rPr lang="en-US" altLang="zh-CN"/>
              <a:t>Computer Networks, Chapter 6 The Transport Layer</a:t>
            </a:r>
            <a:endParaRPr lang="en-US" altLang="zh-CN" i="0"/>
          </a:p>
        </p:txBody>
      </p:sp>
    </p:spTree>
    <p:extLst>
      <p:ext uri="{BB962C8B-B14F-4D97-AF65-F5344CB8AC3E}">
        <p14:creationId xmlns:p14="http://schemas.microsoft.com/office/powerpoint/2010/main" val="34508752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Content Placeholder 2"/>
          <p:cNvSpPr>
            <a:spLocks noGrp="1"/>
          </p:cNvSpPr>
          <p:nvPr>
            <p:ph idx="1"/>
          </p:nvPr>
        </p:nvSpPr>
        <p:spPr>
          <a:xfrm>
            <a:off x="609600" y="1143001"/>
            <a:ext cx="5486400" cy="4867275"/>
          </a:xfrm>
        </p:spPr>
        <p:txBody>
          <a:bodyPr/>
          <a:lstStyle>
            <a:lvl1pPr>
              <a:buClr>
                <a:srgbClr val="0000FF"/>
              </a:buClr>
              <a:buFont typeface="Arial" pitchFamily="34" charset="0"/>
              <a:buNone/>
              <a:defRPr/>
            </a:lvl1pPr>
            <a:lvl2pPr>
              <a:buClr>
                <a:srgbClr val="0000FF"/>
              </a:buClr>
              <a:defRPr/>
            </a:lvl2pPr>
            <a:lvl3pPr>
              <a:buClr>
                <a:srgbClr val="0000FF"/>
              </a:buClr>
              <a:defRPr/>
            </a:lvl3pPr>
            <a:lvl4pPr>
              <a:buClr>
                <a:srgbClr val="0000FF"/>
              </a:buClr>
              <a:defRPr/>
            </a:lvl4pPr>
            <a:lvl5pPr>
              <a:buClr>
                <a:srgbClr val="0000FF"/>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5"/>
          <p:cNvSpPr>
            <a:spLocks noGrp="1" noChangeArrowheads="1"/>
          </p:cNvSpPr>
          <p:nvPr>
            <p:ph type="ftr" sz="quarter" idx="10"/>
          </p:nvPr>
        </p:nvSpPr>
        <p:spPr>
          <a:ln/>
        </p:spPr>
        <p:txBody>
          <a:bodyPr/>
          <a:lstStyle>
            <a:lvl1pPr>
              <a:defRPr/>
            </a:lvl1pPr>
          </a:lstStyle>
          <a:p>
            <a:r>
              <a:rPr lang="en-US" altLang="zh-CN"/>
              <a:t>Computer Networks, Chapter 6 The Transport Layer</a:t>
            </a:r>
            <a:endParaRPr lang="en-US" altLang="zh-CN" i="0"/>
          </a:p>
        </p:txBody>
      </p:sp>
    </p:spTree>
    <p:extLst>
      <p:ext uri="{BB962C8B-B14F-4D97-AF65-F5344CB8AC3E}">
        <p14:creationId xmlns:p14="http://schemas.microsoft.com/office/powerpoint/2010/main" val="42057244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1591764"/>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0D41A14-93F9-024E-A2F5-F0C0D22D36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A437A724-FAC4-FD4B-8C86-BD116A2878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47E5E95-9484-8647-B6C3-239FCFDC4FB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838D7F-C601-A04E-9991-AEFB0E3EB3A7}" type="datetimeFigureOut">
              <a:rPr kumimoji="1" lang="zh-CN" altLang="en-US" smtClean="0"/>
              <a:t>2023/12/19</a:t>
            </a:fld>
            <a:endParaRPr kumimoji="1" lang="zh-CN" altLang="en-US"/>
          </a:p>
        </p:txBody>
      </p:sp>
      <p:sp>
        <p:nvSpPr>
          <p:cNvPr id="5" name="页脚占位符 4">
            <a:extLst>
              <a:ext uri="{FF2B5EF4-FFF2-40B4-BE49-F238E27FC236}">
                <a16:creationId xmlns:a16="http://schemas.microsoft.com/office/drawing/2014/main" id="{0EE61DC8-15CA-FE4A-BBD8-2B73EA1B78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36121EA1-4A25-F44F-B5A6-D295DA0AF7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EE85A6-C9FF-3B43-91E6-FBF0C10872E9}" type="slidenum">
              <a:rPr kumimoji="1" lang="zh-CN" altLang="en-US" smtClean="0"/>
              <a:t>‹#›</a:t>
            </a:fld>
            <a:endParaRPr kumimoji="1" lang="zh-CN" altLang="en-US"/>
          </a:p>
        </p:txBody>
      </p:sp>
      <p:cxnSp>
        <p:nvCxnSpPr>
          <p:cNvPr id="11" name="直接连接符 30">
            <a:extLst>
              <a:ext uri="{FF2B5EF4-FFF2-40B4-BE49-F238E27FC236}">
                <a16:creationId xmlns:a16="http://schemas.microsoft.com/office/drawing/2014/main" id="{81181929-B1D0-F547-819B-515184CA37AC}"/>
              </a:ext>
            </a:extLst>
          </p:cNvPr>
          <p:cNvCxnSpPr>
            <a:cxnSpLocks/>
          </p:cNvCxnSpPr>
          <p:nvPr userDrawn="1"/>
        </p:nvCxnSpPr>
        <p:spPr>
          <a:xfrm>
            <a:off x="335360" y="836712"/>
            <a:ext cx="11491455"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31519"/>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7" r:id="rId13"/>
    <p:sldLayoutId id="2147483698" r:id="rId14"/>
    <p:sldLayoutId id="2147483699"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alpha val="0"/>
          </a:schemeClr>
        </a:solidFill>
        <a:effectLst/>
      </p:bgPr>
    </p:bg>
    <p:spTree>
      <p:nvGrpSpPr>
        <p:cNvPr id="1" name=""/>
        <p:cNvGrpSpPr/>
        <p:nvPr/>
      </p:nvGrpSpPr>
      <p:grpSpPr>
        <a:xfrm>
          <a:off x="0" y="0"/>
          <a:ext cx="0" cy="0"/>
          <a:chOff x="0" y="0"/>
          <a:chExt cx="0" cy="0"/>
        </a:xfrm>
      </p:grpSpPr>
      <p:sp>
        <p:nvSpPr>
          <p:cNvPr id="6" name="矩形 5"/>
          <p:cNvSpPr/>
          <p:nvPr userDrawn="1"/>
        </p:nvSpPr>
        <p:spPr bwMode="auto">
          <a:xfrm>
            <a:off x="2" y="0"/>
            <a:ext cx="12192000" cy="6858000"/>
          </a:xfrm>
          <a:prstGeom prst="rect">
            <a:avLst/>
          </a:prstGeom>
          <a:solidFill>
            <a:schemeClr val="bg1">
              <a:lumMod val="95000"/>
            </a:schemeClr>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9728" tIns="54864" rIns="109728" bIns="54864" numCol="1" rtlCol="0" anchor="t" anchorCtr="0" compatLnSpc="1">
            <a:prstTxWarp prst="textNoShape">
              <a:avLst/>
            </a:prstTxWarp>
          </a:bodyPr>
          <a:lstStyle/>
          <a:p>
            <a:pPr>
              <a:buClr>
                <a:srgbClr val="CC9900"/>
              </a:buClr>
              <a:buFont typeface="Wingdings" pitchFamily="2" charset="2"/>
              <a:buChar char="n"/>
            </a:pPr>
            <a:endParaRPr lang="zh-CN" altLang="en-US" sz="2160" b="0">
              <a:solidFill>
                <a:srgbClr val="000000"/>
              </a:solidFill>
              <a:latin typeface="Arial" charset="0"/>
              <a:ea typeface="宋体" charset="-122"/>
            </a:endParaRPr>
          </a:p>
        </p:txBody>
      </p:sp>
    </p:spTree>
    <p:extLst>
      <p:ext uri="{BB962C8B-B14F-4D97-AF65-F5344CB8AC3E}">
        <p14:creationId xmlns:p14="http://schemas.microsoft.com/office/powerpoint/2010/main" val="928677723"/>
      </p:ext>
    </p:extLst>
  </p:cSld>
  <p:clrMap bg1="lt1" tx1="dk1" bg2="lt2" tx2="dk2" accent1="accent1" accent2="accent2" accent3="accent3" accent4="accent4" accent5="accent5" accent6="accent6" hlink="hlink" folHlink="folHlink"/>
  <p:sldLayoutIdLst>
    <p:sldLayoutId id="2147483696" r:id="rId1"/>
  </p:sldLayoutIdLst>
  <p:transition>
    <p:fade/>
  </p:transition>
  <p:txStyles>
    <p:titleStyle>
      <a:lvl1pPr algn="ctr" defTabSz="961961" rtl="0" eaLnBrk="0" fontAlgn="base" hangingPunct="0">
        <a:spcBef>
          <a:spcPct val="0"/>
        </a:spcBef>
        <a:spcAft>
          <a:spcPct val="0"/>
        </a:spcAft>
        <a:defRPr sz="4560">
          <a:solidFill>
            <a:schemeClr val="tx2"/>
          </a:solidFill>
          <a:latin typeface="+mj-lt"/>
          <a:ea typeface="+mj-ea"/>
          <a:cs typeface="+mj-cs"/>
        </a:defRPr>
      </a:lvl1pPr>
      <a:lvl2pPr algn="ctr" defTabSz="961961" rtl="0" eaLnBrk="0" fontAlgn="base" hangingPunct="0">
        <a:spcBef>
          <a:spcPct val="0"/>
        </a:spcBef>
        <a:spcAft>
          <a:spcPct val="0"/>
        </a:spcAft>
        <a:defRPr sz="4560">
          <a:solidFill>
            <a:schemeClr val="tx2"/>
          </a:solidFill>
          <a:latin typeface="Arial" charset="0"/>
          <a:ea typeface="宋体" pitchFamily="2" charset="-122"/>
        </a:defRPr>
      </a:lvl2pPr>
      <a:lvl3pPr algn="ctr" defTabSz="961961" rtl="0" eaLnBrk="0" fontAlgn="base" hangingPunct="0">
        <a:spcBef>
          <a:spcPct val="0"/>
        </a:spcBef>
        <a:spcAft>
          <a:spcPct val="0"/>
        </a:spcAft>
        <a:defRPr sz="4560">
          <a:solidFill>
            <a:schemeClr val="tx2"/>
          </a:solidFill>
          <a:latin typeface="Arial" charset="0"/>
          <a:ea typeface="宋体" pitchFamily="2" charset="-122"/>
        </a:defRPr>
      </a:lvl3pPr>
      <a:lvl4pPr algn="ctr" defTabSz="961961" rtl="0" eaLnBrk="0" fontAlgn="base" hangingPunct="0">
        <a:spcBef>
          <a:spcPct val="0"/>
        </a:spcBef>
        <a:spcAft>
          <a:spcPct val="0"/>
        </a:spcAft>
        <a:defRPr sz="4560">
          <a:solidFill>
            <a:schemeClr val="tx2"/>
          </a:solidFill>
          <a:latin typeface="Arial" charset="0"/>
          <a:ea typeface="宋体" pitchFamily="2" charset="-122"/>
        </a:defRPr>
      </a:lvl4pPr>
      <a:lvl5pPr algn="ctr" defTabSz="961961" rtl="0" eaLnBrk="0" fontAlgn="base" hangingPunct="0">
        <a:spcBef>
          <a:spcPct val="0"/>
        </a:spcBef>
        <a:spcAft>
          <a:spcPct val="0"/>
        </a:spcAft>
        <a:defRPr sz="4560">
          <a:solidFill>
            <a:schemeClr val="tx2"/>
          </a:solidFill>
          <a:latin typeface="Arial" charset="0"/>
          <a:ea typeface="宋体" pitchFamily="2" charset="-122"/>
        </a:defRPr>
      </a:lvl5pPr>
      <a:lvl6pPr marL="548604" algn="ctr" defTabSz="961961" rtl="0" fontAlgn="base">
        <a:spcBef>
          <a:spcPct val="0"/>
        </a:spcBef>
        <a:spcAft>
          <a:spcPct val="0"/>
        </a:spcAft>
        <a:defRPr sz="4560">
          <a:solidFill>
            <a:schemeClr val="tx2"/>
          </a:solidFill>
          <a:latin typeface="Arial" charset="0"/>
          <a:ea typeface="宋体" pitchFamily="2" charset="-122"/>
        </a:defRPr>
      </a:lvl6pPr>
      <a:lvl7pPr marL="1097206" algn="ctr" defTabSz="961961" rtl="0" fontAlgn="base">
        <a:spcBef>
          <a:spcPct val="0"/>
        </a:spcBef>
        <a:spcAft>
          <a:spcPct val="0"/>
        </a:spcAft>
        <a:defRPr sz="4560">
          <a:solidFill>
            <a:schemeClr val="tx2"/>
          </a:solidFill>
          <a:latin typeface="Arial" charset="0"/>
          <a:ea typeface="宋体" pitchFamily="2" charset="-122"/>
        </a:defRPr>
      </a:lvl7pPr>
      <a:lvl8pPr marL="1645811" algn="ctr" defTabSz="961961" rtl="0" fontAlgn="base">
        <a:spcBef>
          <a:spcPct val="0"/>
        </a:spcBef>
        <a:spcAft>
          <a:spcPct val="0"/>
        </a:spcAft>
        <a:defRPr sz="4560">
          <a:solidFill>
            <a:schemeClr val="tx2"/>
          </a:solidFill>
          <a:latin typeface="Arial" charset="0"/>
          <a:ea typeface="宋体" pitchFamily="2" charset="-122"/>
        </a:defRPr>
      </a:lvl8pPr>
      <a:lvl9pPr marL="2194414" algn="ctr" defTabSz="961961" rtl="0" fontAlgn="base">
        <a:spcBef>
          <a:spcPct val="0"/>
        </a:spcBef>
        <a:spcAft>
          <a:spcPct val="0"/>
        </a:spcAft>
        <a:defRPr sz="4560">
          <a:solidFill>
            <a:schemeClr val="tx2"/>
          </a:solidFill>
          <a:latin typeface="Arial" charset="0"/>
          <a:ea typeface="宋体" pitchFamily="2" charset="-122"/>
        </a:defRPr>
      </a:lvl9pPr>
    </p:titleStyle>
    <p:bodyStyle>
      <a:lvl1pPr marL="360022" indent="-360022" algn="l" defTabSz="961961" rtl="0" eaLnBrk="0" fontAlgn="base" hangingPunct="0">
        <a:spcBef>
          <a:spcPct val="20000"/>
        </a:spcBef>
        <a:spcAft>
          <a:spcPct val="0"/>
        </a:spcAft>
        <a:buChar char="•"/>
        <a:defRPr sz="3360">
          <a:solidFill>
            <a:schemeClr val="tx1"/>
          </a:solidFill>
          <a:latin typeface="+mn-lt"/>
          <a:ea typeface="+mn-ea"/>
          <a:cs typeface="+mn-cs"/>
        </a:defRPr>
      </a:lvl1pPr>
      <a:lvl2pPr marL="782904" indent="-300970" algn="l" defTabSz="961961" rtl="0" eaLnBrk="0" fontAlgn="base" hangingPunct="0">
        <a:spcBef>
          <a:spcPct val="20000"/>
        </a:spcBef>
        <a:spcAft>
          <a:spcPct val="0"/>
        </a:spcAft>
        <a:buChar char="–"/>
        <a:defRPr sz="3000">
          <a:solidFill>
            <a:schemeClr val="tx1"/>
          </a:solidFill>
          <a:latin typeface="+mn-lt"/>
          <a:ea typeface="+mn-ea"/>
        </a:defRPr>
      </a:lvl2pPr>
      <a:lvl3pPr marL="1203880" indent="-241920" algn="l" defTabSz="961961" rtl="0" eaLnBrk="0" fontAlgn="base" hangingPunct="0">
        <a:spcBef>
          <a:spcPct val="20000"/>
        </a:spcBef>
        <a:spcAft>
          <a:spcPct val="0"/>
        </a:spcAft>
        <a:buChar char="•"/>
        <a:defRPr sz="2639">
          <a:solidFill>
            <a:schemeClr val="tx1"/>
          </a:solidFill>
          <a:latin typeface="+mn-lt"/>
          <a:ea typeface="+mn-ea"/>
        </a:defRPr>
      </a:lvl3pPr>
      <a:lvl4pPr marL="1682003" indent="-240014" algn="l" defTabSz="961961" rtl="0" eaLnBrk="0" fontAlgn="base" hangingPunct="0">
        <a:spcBef>
          <a:spcPct val="20000"/>
        </a:spcBef>
        <a:spcAft>
          <a:spcPct val="0"/>
        </a:spcAft>
        <a:buChar char="–"/>
        <a:defRPr sz="2040">
          <a:solidFill>
            <a:schemeClr val="tx1"/>
          </a:solidFill>
          <a:latin typeface="+mn-lt"/>
          <a:ea typeface="+mn-ea"/>
        </a:defRPr>
      </a:lvl4pPr>
      <a:lvl5pPr marL="2163935" indent="-241920" algn="l" defTabSz="961961" rtl="0" eaLnBrk="0" fontAlgn="base" hangingPunct="0">
        <a:spcBef>
          <a:spcPct val="20000"/>
        </a:spcBef>
        <a:spcAft>
          <a:spcPct val="0"/>
        </a:spcAft>
        <a:buChar char="»"/>
        <a:defRPr sz="2040">
          <a:solidFill>
            <a:schemeClr val="tx1"/>
          </a:solidFill>
          <a:latin typeface="+mn-lt"/>
          <a:ea typeface="+mn-ea"/>
        </a:defRPr>
      </a:lvl5pPr>
      <a:lvl6pPr marL="2712539" indent="-241920" algn="l" defTabSz="961961" rtl="0" fontAlgn="base">
        <a:spcBef>
          <a:spcPct val="20000"/>
        </a:spcBef>
        <a:spcAft>
          <a:spcPct val="0"/>
        </a:spcAft>
        <a:buChar char="»"/>
        <a:defRPr sz="2040">
          <a:solidFill>
            <a:schemeClr val="tx1"/>
          </a:solidFill>
          <a:latin typeface="+mn-lt"/>
          <a:ea typeface="+mn-ea"/>
        </a:defRPr>
      </a:lvl6pPr>
      <a:lvl7pPr marL="3261140" indent="-241920" algn="l" defTabSz="961961" rtl="0" fontAlgn="base">
        <a:spcBef>
          <a:spcPct val="20000"/>
        </a:spcBef>
        <a:spcAft>
          <a:spcPct val="0"/>
        </a:spcAft>
        <a:buChar char="»"/>
        <a:defRPr sz="2040">
          <a:solidFill>
            <a:schemeClr val="tx1"/>
          </a:solidFill>
          <a:latin typeface="+mn-lt"/>
          <a:ea typeface="+mn-ea"/>
        </a:defRPr>
      </a:lvl7pPr>
      <a:lvl8pPr marL="3809746" indent="-241920" algn="l" defTabSz="961961" rtl="0" fontAlgn="base">
        <a:spcBef>
          <a:spcPct val="20000"/>
        </a:spcBef>
        <a:spcAft>
          <a:spcPct val="0"/>
        </a:spcAft>
        <a:buChar char="»"/>
        <a:defRPr sz="2040">
          <a:solidFill>
            <a:schemeClr val="tx1"/>
          </a:solidFill>
          <a:latin typeface="+mn-lt"/>
          <a:ea typeface="+mn-ea"/>
        </a:defRPr>
      </a:lvl8pPr>
      <a:lvl9pPr marL="4358347" indent="-241920" algn="l" defTabSz="961961" rtl="0" fontAlgn="base">
        <a:spcBef>
          <a:spcPct val="20000"/>
        </a:spcBef>
        <a:spcAft>
          <a:spcPct val="0"/>
        </a:spcAft>
        <a:buChar char="»"/>
        <a:defRPr sz="2040">
          <a:solidFill>
            <a:schemeClr val="tx1"/>
          </a:solidFill>
          <a:latin typeface="+mn-lt"/>
          <a:ea typeface="+mn-ea"/>
        </a:defRPr>
      </a:lvl9pPr>
    </p:bodyStyle>
    <p:otherStyle>
      <a:defPPr>
        <a:defRPr lang="zh-CN"/>
      </a:defPPr>
      <a:lvl1pPr marL="0" algn="l" defTabSz="1097206" rtl="0" eaLnBrk="1" latinLnBrk="0" hangingPunct="1">
        <a:defRPr sz="2160" kern="1200">
          <a:solidFill>
            <a:schemeClr val="tx1"/>
          </a:solidFill>
          <a:latin typeface="+mn-lt"/>
          <a:ea typeface="+mn-ea"/>
          <a:cs typeface="+mn-cs"/>
        </a:defRPr>
      </a:lvl1pPr>
      <a:lvl2pPr marL="548604" algn="l" defTabSz="1097206" rtl="0" eaLnBrk="1" latinLnBrk="0" hangingPunct="1">
        <a:defRPr sz="2160" kern="1200">
          <a:solidFill>
            <a:schemeClr val="tx1"/>
          </a:solidFill>
          <a:latin typeface="+mn-lt"/>
          <a:ea typeface="+mn-ea"/>
          <a:cs typeface="+mn-cs"/>
        </a:defRPr>
      </a:lvl2pPr>
      <a:lvl3pPr marL="1097206" algn="l" defTabSz="1097206" rtl="0" eaLnBrk="1" latinLnBrk="0" hangingPunct="1">
        <a:defRPr sz="2160" kern="1200">
          <a:solidFill>
            <a:schemeClr val="tx1"/>
          </a:solidFill>
          <a:latin typeface="+mn-lt"/>
          <a:ea typeface="+mn-ea"/>
          <a:cs typeface="+mn-cs"/>
        </a:defRPr>
      </a:lvl3pPr>
      <a:lvl4pPr marL="1645811" algn="l" defTabSz="1097206" rtl="0" eaLnBrk="1" latinLnBrk="0" hangingPunct="1">
        <a:defRPr sz="2160" kern="1200">
          <a:solidFill>
            <a:schemeClr val="tx1"/>
          </a:solidFill>
          <a:latin typeface="+mn-lt"/>
          <a:ea typeface="+mn-ea"/>
          <a:cs typeface="+mn-cs"/>
        </a:defRPr>
      </a:lvl4pPr>
      <a:lvl5pPr marL="2194414" algn="l" defTabSz="1097206" rtl="0" eaLnBrk="1" latinLnBrk="0" hangingPunct="1">
        <a:defRPr sz="2160" kern="1200">
          <a:solidFill>
            <a:schemeClr val="tx1"/>
          </a:solidFill>
          <a:latin typeface="+mn-lt"/>
          <a:ea typeface="+mn-ea"/>
          <a:cs typeface="+mn-cs"/>
        </a:defRPr>
      </a:lvl5pPr>
      <a:lvl6pPr marL="2743016" algn="l" defTabSz="1097206" rtl="0" eaLnBrk="1" latinLnBrk="0" hangingPunct="1">
        <a:defRPr sz="2160" kern="1200">
          <a:solidFill>
            <a:schemeClr val="tx1"/>
          </a:solidFill>
          <a:latin typeface="+mn-lt"/>
          <a:ea typeface="+mn-ea"/>
          <a:cs typeface="+mn-cs"/>
        </a:defRPr>
      </a:lvl6pPr>
      <a:lvl7pPr marL="3291619" algn="l" defTabSz="1097206" rtl="0" eaLnBrk="1" latinLnBrk="0" hangingPunct="1">
        <a:defRPr sz="2160" kern="1200">
          <a:solidFill>
            <a:schemeClr val="tx1"/>
          </a:solidFill>
          <a:latin typeface="+mn-lt"/>
          <a:ea typeface="+mn-ea"/>
          <a:cs typeface="+mn-cs"/>
        </a:defRPr>
      </a:lvl7pPr>
      <a:lvl8pPr marL="3840222" algn="l" defTabSz="1097206" rtl="0" eaLnBrk="1" latinLnBrk="0" hangingPunct="1">
        <a:defRPr sz="2160" kern="1200">
          <a:solidFill>
            <a:schemeClr val="tx1"/>
          </a:solidFill>
          <a:latin typeface="+mn-lt"/>
          <a:ea typeface="+mn-ea"/>
          <a:cs typeface="+mn-cs"/>
        </a:defRPr>
      </a:lvl8pPr>
      <a:lvl9pPr marL="4388825" algn="l" defTabSz="1097206"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twang@sei.ecnu.edu.cn"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5.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emf"/></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5.xml"/><Relationship Id="rId5" Type="http://schemas.openxmlformats.org/officeDocument/2006/relationships/image" Target="../media/image22.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15.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14.xml"/><Relationship Id="rId5" Type="http://schemas.openxmlformats.org/officeDocument/2006/relationships/image" Target="../media/image31.png"/><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2.xml"/><Relationship Id="rId1" Type="http://schemas.openxmlformats.org/officeDocument/2006/relationships/slideLayout" Target="../slideLayouts/slideLayout14.xml"/><Relationship Id="rId4" Type="http://schemas.openxmlformats.org/officeDocument/2006/relationships/image" Target="../media/image42.png"/></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2.xml"/><Relationship Id="rId1" Type="http://schemas.openxmlformats.org/officeDocument/2006/relationships/slideLayout" Target="../slideLayouts/slideLayout14.xml"/><Relationship Id="rId4" Type="http://schemas.openxmlformats.org/officeDocument/2006/relationships/image" Target="../media/image55.png"/></Relationships>
</file>

<file path=ppt/slides/_rels/slide5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3.xml"/><Relationship Id="rId1" Type="http://schemas.openxmlformats.org/officeDocument/2006/relationships/slideLayout" Target="../slideLayouts/slideLayout14.xml"/><Relationship Id="rId4" Type="http://schemas.openxmlformats.org/officeDocument/2006/relationships/image" Target="../media/image57.png"/></Relationships>
</file>

<file path=ppt/slides/_rels/slide5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4.xml"/></Relationships>
</file>

<file path=ppt/slides/_rels/slide6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8.xml"/><Relationship Id="rId1" Type="http://schemas.openxmlformats.org/officeDocument/2006/relationships/slideLayout" Target="../slideLayouts/slideLayout14.xml"/><Relationship Id="rId4" Type="http://schemas.openxmlformats.org/officeDocument/2006/relationships/image" Target="../media/image68.png"/></Relationships>
</file>

<file path=ppt/slides/_rels/slide6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9.xml"/><Relationship Id="rId1" Type="http://schemas.openxmlformats.org/officeDocument/2006/relationships/slideLayout" Target="../slideLayouts/slideLayout14.xml"/></Relationships>
</file>

<file path=ppt/slides/_rels/slide6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73.emf"/><Relationship Id="rId2" Type="http://schemas.openxmlformats.org/officeDocument/2006/relationships/image" Target="../media/image72.emf"/><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42.xml"/><Relationship Id="rId1" Type="http://schemas.openxmlformats.org/officeDocument/2006/relationships/slideLayout" Target="../slideLayouts/slideLayout14.xml"/></Relationships>
</file>

<file path=ppt/slides/_rels/slide76.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83.png"/><Relationship Id="rId7" Type="http://schemas.openxmlformats.org/officeDocument/2006/relationships/image" Target="../media/image87.png"/><Relationship Id="rId12" Type="http://schemas.openxmlformats.org/officeDocument/2006/relationships/image" Target="../media/image92.png"/><Relationship Id="rId2" Type="http://schemas.openxmlformats.org/officeDocument/2006/relationships/image" Target="../media/image82.png"/><Relationship Id="rId1" Type="http://schemas.openxmlformats.org/officeDocument/2006/relationships/slideLayout" Target="../slideLayouts/slideLayout14.xml"/><Relationship Id="rId6" Type="http://schemas.openxmlformats.org/officeDocument/2006/relationships/image" Target="../media/image86.png"/><Relationship Id="rId11" Type="http://schemas.openxmlformats.org/officeDocument/2006/relationships/image" Target="../media/image91.png"/><Relationship Id="rId5" Type="http://schemas.openxmlformats.org/officeDocument/2006/relationships/image" Target="../media/image85.emf"/><Relationship Id="rId10" Type="http://schemas.openxmlformats.org/officeDocument/2006/relationships/image" Target="../media/image90.png"/><Relationship Id="rId4" Type="http://schemas.openxmlformats.org/officeDocument/2006/relationships/image" Target="../media/image84.png"/><Relationship Id="rId9" Type="http://schemas.openxmlformats.org/officeDocument/2006/relationships/image" Target="../media/image89.png"/></Relationships>
</file>

<file path=ppt/slides/_rels/slide77.xml.rels><?xml version="1.0" encoding="UTF-8" standalone="yes"?>
<Relationships xmlns="http://schemas.openxmlformats.org/package/2006/relationships"><Relationship Id="rId8" Type="http://schemas.openxmlformats.org/officeDocument/2006/relationships/image" Target="../media/image96.png"/><Relationship Id="rId13" Type="http://schemas.openxmlformats.org/officeDocument/2006/relationships/image" Target="../media/image101.png"/><Relationship Id="rId3" Type="http://schemas.openxmlformats.org/officeDocument/2006/relationships/image" Target="../media/image86.png"/><Relationship Id="rId7" Type="http://schemas.openxmlformats.org/officeDocument/2006/relationships/image" Target="../media/image95.png"/><Relationship Id="rId12" Type="http://schemas.openxmlformats.org/officeDocument/2006/relationships/image" Target="../media/image100.png"/><Relationship Id="rId2" Type="http://schemas.openxmlformats.org/officeDocument/2006/relationships/image" Target="../media/image85.emf"/><Relationship Id="rId1" Type="http://schemas.openxmlformats.org/officeDocument/2006/relationships/slideLayout" Target="../slideLayouts/slideLayout14.xml"/><Relationship Id="rId6" Type="http://schemas.openxmlformats.org/officeDocument/2006/relationships/image" Target="../media/image94.png"/><Relationship Id="rId11" Type="http://schemas.openxmlformats.org/officeDocument/2006/relationships/image" Target="../media/image99.png"/><Relationship Id="rId5" Type="http://schemas.openxmlformats.org/officeDocument/2006/relationships/image" Target="../media/image93.png"/><Relationship Id="rId15" Type="http://schemas.openxmlformats.org/officeDocument/2006/relationships/image" Target="../media/image103.png"/><Relationship Id="rId10" Type="http://schemas.openxmlformats.org/officeDocument/2006/relationships/image" Target="../media/image98.png"/><Relationship Id="rId4" Type="http://schemas.openxmlformats.org/officeDocument/2006/relationships/image" Target="../media/image87.png"/><Relationship Id="rId9" Type="http://schemas.openxmlformats.org/officeDocument/2006/relationships/image" Target="../media/image97.png"/><Relationship Id="rId14" Type="http://schemas.openxmlformats.org/officeDocument/2006/relationships/image" Target="../media/image102.png"/></Relationships>
</file>

<file path=ppt/slides/_rels/slide78.xml.rels><?xml version="1.0" encoding="UTF-8" standalone="yes"?>
<Relationships xmlns="http://schemas.openxmlformats.org/package/2006/relationships"><Relationship Id="rId8" Type="http://schemas.openxmlformats.org/officeDocument/2006/relationships/image" Target="../media/image106.png"/><Relationship Id="rId13" Type="http://schemas.openxmlformats.org/officeDocument/2006/relationships/image" Target="../media/image111.png"/><Relationship Id="rId3" Type="http://schemas.openxmlformats.org/officeDocument/2006/relationships/image" Target="../media/image85.emf"/><Relationship Id="rId7" Type="http://schemas.openxmlformats.org/officeDocument/2006/relationships/image" Target="../media/image105.png"/><Relationship Id="rId12" Type="http://schemas.openxmlformats.org/officeDocument/2006/relationships/image" Target="../media/image110.png"/><Relationship Id="rId2" Type="http://schemas.openxmlformats.org/officeDocument/2006/relationships/notesSlide" Target="../notesSlides/notesSlide43.xml"/><Relationship Id="rId1" Type="http://schemas.openxmlformats.org/officeDocument/2006/relationships/slideLayout" Target="../slideLayouts/slideLayout14.xml"/><Relationship Id="rId6" Type="http://schemas.openxmlformats.org/officeDocument/2006/relationships/image" Target="../media/image104.png"/><Relationship Id="rId11" Type="http://schemas.openxmlformats.org/officeDocument/2006/relationships/image" Target="../media/image109.png"/><Relationship Id="rId5" Type="http://schemas.openxmlformats.org/officeDocument/2006/relationships/image" Target="../media/image87.png"/><Relationship Id="rId10" Type="http://schemas.openxmlformats.org/officeDocument/2006/relationships/image" Target="../media/image108.png"/><Relationship Id="rId4" Type="http://schemas.openxmlformats.org/officeDocument/2006/relationships/image" Target="../media/image86.png"/><Relationship Id="rId9" Type="http://schemas.openxmlformats.org/officeDocument/2006/relationships/image" Target="../media/image107.png"/></Relationships>
</file>

<file path=ppt/slides/_rels/slide79.xml.rels><?xml version="1.0" encoding="UTF-8" standalone="yes"?>
<Relationships xmlns="http://schemas.openxmlformats.org/package/2006/relationships"><Relationship Id="rId8" Type="http://schemas.openxmlformats.org/officeDocument/2006/relationships/image" Target="../media/image106.png"/><Relationship Id="rId13" Type="http://schemas.openxmlformats.org/officeDocument/2006/relationships/image" Target="../media/image113.png"/><Relationship Id="rId3" Type="http://schemas.openxmlformats.org/officeDocument/2006/relationships/image" Target="../media/image85.emf"/><Relationship Id="rId7" Type="http://schemas.openxmlformats.org/officeDocument/2006/relationships/image" Target="../media/image105.png"/><Relationship Id="rId12" Type="http://schemas.openxmlformats.org/officeDocument/2006/relationships/image" Target="../media/image112.png"/><Relationship Id="rId2" Type="http://schemas.openxmlformats.org/officeDocument/2006/relationships/notesSlide" Target="../notesSlides/notesSlide44.xml"/><Relationship Id="rId1" Type="http://schemas.openxmlformats.org/officeDocument/2006/relationships/slideLayout" Target="../slideLayouts/slideLayout14.xml"/><Relationship Id="rId6" Type="http://schemas.openxmlformats.org/officeDocument/2006/relationships/image" Target="../media/image104.png"/><Relationship Id="rId11" Type="http://schemas.openxmlformats.org/officeDocument/2006/relationships/image" Target="../media/image111.png"/><Relationship Id="rId5" Type="http://schemas.openxmlformats.org/officeDocument/2006/relationships/image" Target="../media/image87.png"/><Relationship Id="rId15" Type="http://schemas.openxmlformats.org/officeDocument/2006/relationships/image" Target="../media/image114.png"/><Relationship Id="rId10" Type="http://schemas.openxmlformats.org/officeDocument/2006/relationships/image" Target="../media/image109.png"/><Relationship Id="rId4" Type="http://schemas.openxmlformats.org/officeDocument/2006/relationships/image" Target="../media/image86.png"/><Relationship Id="rId9" Type="http://schemas.openxmlformats.org/officeDocument/2006/relationships/image" Target="../media/image107.png"/><Relationship Id="rId14" Type="http://schemas.openxmlformats.org/officeDocument/2006/relationships/image" Target="../media/image110.png"/></Relationships>
</file>

<file path=ppt/slides/_rels/slide80.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45.xml"/><Relationship Id="rId1" Type="http://schemas.openxmlformats.org/officeDocument/2006/relationships/slideLayout" Target="../slideLayouts/slideLayout14.xml"/></Relationships>
</file>

<file path=ppt/slides/_rels/slide81.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14.xml"/></Relationships>
</file>

<file path=ppt/slides/_rels/slide82.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46.xml"/><Relationship Id="rId1" Type="http://schemas.openxmlformats.org/officeDocument/2006/relationships/slideLayout" Target="../slideLayouts/slideLayout15.xml"/></Relationships>
</file>

<file path=ppt/slides/_rels/slide83.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15.xml"/></Relationships>
</file>

<file path=ppt/slides/_rels/slide84.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47.xml"/><Relationship Id="rId1" Type="http://schemas.openxmlformats.org/officeDocument/2006/relationships/slideLayout" Target="../slideLayouts/slideLayout15.xml"/></Relationships>
</file>

<file path=ppt/slides/_rels/slide85.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48.xml"/><Relationship Id="rId1" Type="http://schemas.openxmlformats.org/officeDocument/2006/relationships/slideLayout" Target="../slideLayouts/slideLayout14.xml"/></Relationships>
</file>

<file path=ppt/slides/_rels/slide86.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49.xml"/><Relationship Id="rId1" Type="http://schemas.openxmlformats.org/officeDocument/2006/relationships/slideLayout" Target="../slideLayouts/slideLayout1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0.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14.xml"/></Relationships>
</file>

<file path=ppt/slides/_rels/slide101.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50.xml"/><Relationship Id="rId1" Type="http://schemas.openxmlformats.org/officeDocument/2006/relationships/slideLayout" Target="../slideLayouts/slideLayout14.xml"/></Relationships>
</file>

<file path=ppt/slides/_rels/slide102.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15.xml"/></Relationships>
</file>

<file path=ppt/slides/_rels/slide103.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51.xml"/><Relationship Id="rId1" Type="http://schemas.openxmlformats.org/officeDocument/2006/relationships/slideLayout" Target="../slideLayouts/slideLayout14.xml"/></Relationships>
</file>

<file path=ppt/slides/_rels/slide104.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14.xml"/></Relationships>
</file>

<file path=ppt/slides/_rels/slide10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4.xml"/></Relationships>
</file>

<file path=ppt/slides/_rels/slide111.xml.rels><?xml version="1.0" encoding="UTF-8" standalone="yes"?>
<Relationships xmlns="http://schemas.openxmlformats.org/package/2006/relationships"><Relationship Id="rId2" Type="http://schemas.openxmlformats.org/officeDocument/2006/relationships/image" Target="../media/image139.png"/><Relationship Id="rId1" Type="http://schemas.openxmlformats.org/officeDocument/2006/relationships/slideLayout" Target="../slideLayouts/slideLayout14.xml"/></Relationships>
</file>

<file path=ppt/slides/_rels/slide112.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54.xml"/><Relationship Id="rId1" Type="http://schemas.openxmlformats.org/officeDocument/2006/relationships/slideLayout" Target="../slideLayouts/slideLayout14.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4.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14.xml"/></Relationships>
</file>

<file path=ppt/slides/_rels/slide115.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14.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56.xml"/><Relationship Id="rId1" Type="http://schemas.openxmlformats.org/officeDocument/2006/relationships/slideLayout" Target="../slideLayouts/slideLayout14.xml"/></Relationships>
</file>

<file path=ppt/slides/_rels/slide118.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57.xml"/><Relationship Id="rId1" Type="http://schemas.openxmlformats.org/officeDocument/2006/relationships/slideLayout" Target="../slideLayouts/slideLayout14.xml"/></Relationships>
</file>

<file path=ppt/slides/_rels/slide119.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58.xml"/><Relationship Id="rId1" Type="http://schemas.openxmlformats.org/officeDocument/2006/relationships/slideLayout" Target="../slideLayouts/slideLayout14.xml"/></Relationships>
</file>

<file path=ppt/slides/_rels/slide120.xml.rels><?xml version="1.0" encoding="UTF-8" standalone="yes"?>
<Relationships xmlns="http://schemas.openxmlformats.org/package/2006/relationships"><Relationship Id="rId2" Type="http://schemas.openxmlformats.org/officeDocument/2006/relationships/image" Target="../media/image146.png"/><Relationship Id="rId1" Type="http://schemas.openxmlformats.org/officeDocument/2006/relationships/slideLayout" Target="../slideLayouts/slideLayout14.xml"/></Relationships>
</file>

<file path=ppt/slides/_rels/slide121.xml.rels><?xml version="1.0" encoding="UTF-8" standalone="yes"?>
<Relationships xmlns="http://schemas.openxmlformats.org/package/2006/relationships"><Relationship Id="rId2" Type="http://schemas.openxmlformats.org/officeDocument/2006/relationships/image" Target="../media/image147.png"/><Relationship Id="rId1" Type="http://schemas.openxmlformats.org/officeDocument/2006/relationships/slideLayout" Target="../slideLayouts/slideLayout14.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3"/>
          <p:cNvSpPr txBox="1">
            <a:spLocks noChangeArrowheads="1"/>
          </p:cNvSpPr>
          <p:nvPr/>
        </p:nvSpPr>
        <p:spPr>
          <a:xfrm>
            <a:off x="1269896" y="1809945"/>
            <a:ext cx="9664803" cy="3930455"/>
          </a:xfrm>
          <a:prstGeom prst="rect">
            <a:avLst/>
          </a:prstGeom>
        </p:spPr>
        <p:txBody>
          <a:bodyPr vert="horz" lIns="121920" tIns="60960" rIns="121920" bIns="6096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4800"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Computer Networks</a:t>
            </a:r>
            <a:endParaRPr lang="en-US" altLang="zh-CN" sz="4000"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en-US" altLang="zh-CN" sz="2800" dirty="0">
              <a:latin typeface="Arial" panose="020B0604020202020204" pitchFamily="34" charset="0"/>
              <a:ea typeface="微软雅黑" pitchFamily="34" charset="-122"/>
              <a:cs typeface="Arial" panose="020B0604020202020204" pitchFamily="34" charset="0"/>
            </a:endParaRPr>
          </a:p>
          <a:p>
            <a:endParaRPr lang="en-US" altLang="zh-CN" sz="2800" dirty="0">
              <a:latin typeface="Arial" panose="020B0604020202020204" pitchFamily="34" charset="0"/>
              <a:ea typeface="微软雅黑" pitchFamily="34" charset="-122"/>
              <a:cs typeface="Arial" panose="020B0604020202020204" pitchFamily="34" charset="0"/>
            </a:endParaRPr>
          </a:p>
          <a:p>
            <a:endParaRPr lang="en-US" altLang="zh-CN" sz="2800" dirty="0">
              <a:latin typeface="Arial" panose="020B0604020202020204" pitchFamily="34" charset="0"/>
              <a:ea typeface="微软雅黑" pitchFamily="34" charset="-122"/>
              <a:cs typeface="Arial" panose="020B0604020202020204" pitchFamily="34" charset="0"/>
            </a:endParaRPr>
          </a:p>
          <a:p>
            <a:r>
              <a:rPr lang="zh-CN" altLang="en-US" sz="2400" dirty="0">
                <a:solidFill>
                  <a:schemeClr val="accent1">
                    <a:lumMod val="75000"/>
                  </a:schemeClr>
                </a:solidFill>
                <a:latin typeface="微软雅黑" panose="020B0503020204020204" pitchFamily="34" charset="-122"/>
                <a:ea typeface="微软雅黑" panose="020B0503020204020204" pitchFamily="34" charset="-122"/>
              </a:rPr>
              <a:t>王廷</a:t>
            </a:r>
            <a:endParaRPr lang="en-US" altLang="zh-CN" sz="2400" dirty="0">
              <a:solidFill>
                <a:schemeClr val="accent1">
                  <a:lumMod val="75000"/>
                </a:schemeClr>
              </a:solidFill>
              <a:latin typeface="微软雅黑" panose="020B0503020204020204" pitchFamily="34" charset="-122"/>
              <a:ea typeface="微软雅黑" panose="020B0503020204020204" pitchFamily="34" charset="-122"/>
            </a:endParaRPr>
          </a:p>
          <a:p>
            <a:endParaRPr lang="en-US" altLang="zh-CN" sz="2000" dirty="0">
              <a:solidFill>
                <a:schemeClr val="accent1">
                  <a:lumMod val="75000"/>
                </a:schemeClr>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chemeClr val="accent1">
                    <a:lumMod val="75000"/>
                  </a:schemeClr>
                </a:solidFill>
                <a:latin typeface="微软雅黑" panose="020B0503020204020204" pitchFamily="34" charset="-122"/>
                <a:ea typeface="微软雅黑" panose="020B0503020204020204" pitchFamily="34" charset="-122"/>
              </a:rPr>
              <a:t>华东师范大学 软件工程学院</a:t>
            </a:r>
            <a:br>
              <a:rPr lang="en-US" altLang="zh-CN" sz="2000" dirty="0">
                <a:solidFill>
                  <a:schemeClr val="accent1">
                    <a:lumMod val="75000"/>
                  </a:schemeClr>
                </a:solidFill>
                <a:latin typeface="微软雅黑" panose="020B0503020204020204" pitchFamily="34" charset="-122"/>
                <a:ea typeface="微软雅黑" panose="020B0503020204020204" pitchFamily="34" charset="-122"/>
              </a:rPr>
            </a:br>
            <a:r>
              <a:rPr lang="en-US" altLang="zh-CN" sz="2000" dirty="0">
                <a:solidFill>
                  <a:schemeClr val="accent1">
                    <a:lumMod val="75000"/>
                  </a:schemeClr>
                </a:solidFill>
                <a:latin typeface="微软雅黑" panose="020B0503020204020204" pitchFamily="34" charset="-122"/>
                <a:ea typeface="微软雅黑" panose="020B0503020204020204" pitchFamily="34" charset="-122"/>
              </a:rPr>
              <a:t>Email: </a:t>
            </a:r>
            <a:r>
              <a:rPr lang="en-US" altLang="zh-CN" sz="2000" dirty="0">
                <a:solidFill>
                  <a:schemeClr val="accent1">
                    <a:lumMod val="75000"/>
                  </a:schemeClr>
                </a:solidFill>
                <a:latin typeface="微软雅黑" panose="020B0503020204020204" pitchFamily="34" charset="-122"/>
                <a:ea typeface="微软雅黑" panose="020B0503020204020204" pitchFamily="34" charset="-122"/>
                <a:hlinkClick r:id="rId3"/>
              </a:rPr>
              <a:t>twang@sei.ecnu.edu.cn</a:t>
            </a:r>
            <a:endParaRPr lang="en-US" altLang="zh-CN" sz="2000" dirty="0">
              <a:solidFill>
                <a:schemeClr val="accent1">
                  <a:lumMod val="75000"/>
                </a:schemeClr>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chemeClr val="accent1">
                    <a:lumMod val="75000"/>
                  </a:schemeClr>
                </a:solidFill>
                <a:latin typeface="微软雅黑" panose="020B0503020204020204" pitchFamily="34" charset="-122"/>
                <a:ea typeface="微软雅黑" panose="020B0503020204020204" pitchFamily="34" charset="-122"/>
              </a:rPr>
              <a:t>Office: </a:t>
            </a:r>
            <a:r>
              <a:rPr lang="zh-CN" altLang="en-US" sz="2000" dirty="0">
                <a:solidFill>
                  <a:schemeClr val="accent1">
                    <a:lumMod val="75000"/>
                  </a:schemeClr>
                </a:solidFill>
                <a:latin typeface="微软雅黑" panose="020B0503020204020204" pitchFamily="34" charset="-122"/>
                <a:ea typeface="微软雅黑" panose="020B0503020204020204" pitchFamily="34" charset="-122"/>
              </a:rPr>
              <a:t>理科大楼</a:t>
            </a:r>
            <a:r>
              <a:rPr lang="en-US" altLang="zh-CN" sz="2000" dirty="0">
                <a:solidFill>
                  <a:schemeClr val="accent1">
                    <a:lumMod val="75000"/>
                  </a:schemeClr>
                </a:solidFill>
                <a:latin typeface="微软雅黑" panose="020B0503020204020204" pitchFamily="34" charset="-122"/>
                <a:ea typeface="微软雅黑" panose="020B0503020204020204" pitchFamily="34" charset="-122"/>
              </a:rPr>
              <a:t>B1116</a:t>
            </a:r>
            <a:r>
              <a:rPr lang="zh-CN" altLang="en-US" sz="2000" dirty="0">
                <a:solidFill>
                  <a:schemeClr val="accent1">
                    <a:lumMod val="75000"/>
                  </a:schemeClr>
                </a:solidFill>
                <a:latin typeface="微软雅黑" panose="020B0503020204020204" pitchFamily="34" charset="-122"/>
                <a:ea typeface="微软雅黑" panose="020B0503020204020204" pitchFamily="34" charset="-122"/>
              </a:rPr>
              <a:t>室</a:t>
            </a:r>
          </a:p>
        </p:txBody>
      </p:sp>
      <p:pic>
        <p:nvPicPr>
          <p:cNvPr id="2" name="Picture 2">
            <a:extLst>
              <a:ext uri="{FF2B5EF4-FFF2-40B4-BE49-F238E27FC236}">
                <a16:creationId xmlns:a16="http://schemas.microsoft.com/office/drawing/2014/main" id="{2A91224E-8D99-478D-9B94-A1B66880B3B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7972"/>
          <a:stretch/>
        </p:blipFill>
        <p:spPr bwMode="auto">
          <a:xfrm>
            <a:off x="263843" y="1"/>
            <a:ext cx="2388870" cy="8111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Footer Placeholder 8"/>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4099" name="Subtitle 2"/>
          <p:cNvSpPr>
            <a:spLocks noGrp="1"/>
          </p:cNvSpPr>
          <p:nvPr>
            <p:ph idx="1"/>
          </p:nvPr>
        </p:nvSpPr>
        <p:spPr>
          <a:xfrm>
            <a:off x="2781300" y="1990725"/>
            <a:ext cx="6686550" cy="4019550"/>
          </a:xfrm>
        </p:spPr>
        <p:txBody>
          <a:bodyPr/>
          <a:lstStyle/>
          <a:p>
            <a:pPr lvl="1"/>
            <a:r>
              <a:rPr lang="en-US" altLang="zh-CN">
                <a:ea typeface="宋体" panose="02010600030101010101" pitchFamily="2" charset="-122"/>
              </a:rPr>
              <a:t>Transport Service</a:t>
            </a:r>
          </a:p>
          <a:p>
            <a:pPr lvl="1"/>
            <a:r>
              <a:rPr lang="en-US" altLang="zh-CN">
                <a:ea typeface="宋体" panose="02010600030101010101" pitchFamily="2" charset="-122"/>
              </a:rPr>
              <a:t>Elements of Transport Protocols</a:t>
            </a:r>
          </a:p>
          <a:p>
            <a:pPr lvl="1"/>
            <a:r>
              <a:rPr lang="en-US" altLang="zh-CN">
                <a:ea typeface="宋体" panose="02010600030101010101" pitchFamily="2" charset="-122"/>
              </a:rPr>
              <a:t>Congestion Control</a:t>
            </a:r>
          </a:p>
          <a:p>
            <a:pPr lvl="1"/>
            <a:r>
              <a:rPr lang="en-US" altLang="zh-CN">
                <a:ea typeface="宋体" panose="02010600030101010101" pitchFamily="2" charset="-122"/>
              </a:rPr>
              <a:t>Internet Protocols – UDP </a:t>
            </a:r>
          </a:p>
          <a:p>
            <a:pPr lvl="1"/>
            <a:r>
              <a:rPr lang="en-US" altLang="zh-CN">
                <a:ea typeface="宋体" panose="02010600030101010101" pitchFamily="2" charset="-122"/>
              </a:rPr>
              <a:t>Internet Protocols – TCP </a:t>
            </a:r>
          </a:p>
          <a:p>
            <a:pPr lvl="1"/>
            <a:r>
              <a:rPr lang="en-US" altLang="zh-CN">
                <a:solidFill>
                  <a:srgbClr val="7F7F7F"/>
                </a:solidFill>
                <a:ea typeface="宋体" panose="02010600030101010101" pitchFamily="2" charset="-122"/>
              </a:rPr>
              <a:t>Performance Issues</a:t>
            </a:r>
          </a:p>
          <a:p>
            <a:pPr lvl="1"/>
            <a:r>
              <a:rPr lang="en-US" altLang="zh-CN">
                <a:solidFill>
                  <a:srgbClr val="7F7F7F"/>
                </a:solidFill>
                <a:ea typeface="宋体" panose="02010600030101010101" pitchFamily="2" charset="-122"/>
              </a:rPr>
              <a:t>Delay-Tolerant Networking</a:t>
            </a:r>
          </a:p>
          <a:p>
            <a:pPr lvl="1">
              <a:buFont typeface="Arial" panose="020B0604020202020204" pitchFamily="34" charset="0"/>
              <a:buNone/>
            </a:pPr>
            <a:endParaRPr lang="en-US" altLang="zh-CN">
              <a:ea typeface="宋体" panose="02010600030101010101" pitchFamily="2" charset="-122"/>
            </a:endParaRPr>
          </a:p>
        </p:txBody>
      </p:sp>
      <p:sp>
        <p:nvSpPr>
          <p:cNvPr id="5" name="矩形 4">
            <a:extLst>
              <a:ext uri="{FF2B5EF4-FFF2-40B4-BE49-F238E27FC236}">
                <a16:creationId xmlns:a16="http://schemas.microsoft.com/office/drawing/2014/main" id="{65FB62A0-E62C-46CC-AF51-E1B487BF1257}"/>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Chapter 6 Transport Layer</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7172" name="Content Placeholder 2"/>
          <p:cNvSpPr>
            <a:spLocks noGrp="1"/>
          </p:cNvSpPr>
          <p:nvPr>
            <p:ph idx="1"/>
          </p:nvPr>
        </p:nvSpPr>
        <p:spPr>
          <a:xfrm>
            <a:off x="2905125" y="1990725"/>
            <a:ext cx="5176838" cy="4019550"/>
          </a:xfrm>
        </p:spPr>
        <p:txBody>
          <a:bodyPr/>
          <a:lstStyle/>
          <a:p>
            <a:r>
              <a:rPr lang="en-US" altLang="zh-CN">
                <a:ea typeface="宋体" panose="02010600030101010101" pitchFamily="2" charset="-122"/>
              </a:rPr>
              <a:t>Responsible for delivering data across networks with the desired reliability or quality</a:t>
            </a:r>
          </a:p>
        </p:txBody>
      </p:sp>
      <p:sp>
        <p:nvSpPr>
          <p:cNvPr id="16" name="矩形 15">
            <a:extLst>
              <a:ext uri="{FF2B5EF4-FFF2-40B4-BE49-F238E27FC236}">
                <a16:creationId xmlns:a16="http://schemas.microsoft.com/office/drawing/2014/main" id="{C1F711FF-9812-40EF-859B-139C69151CFA}"/>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The Transport Layer</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grpSp>
        <p:nvGrpSpPr>
          <p:cNvPr id="17" name="Group 26">
            <a:extLst>
              <a:ext uri="{FF2B5EF4-FFF2-40B4-BE49-F238E27FC236}">
                <a16:creationId xmlns:a16="http://schemas.microsoft.com/office/drawing/2014/main" id="{FE7B2FD6-0F21-4F47-A3B5-A40FAC28B168}"/>
              </a:ext>
            </a:extLst>
          </p:cNvPr>
          <p:cNvGrpSpPr>
            <a:grpSpLocks/>
          </p:cNvGrpSpPr>
          <p:nvPr/>
        </p:nvGrpSpPr>
        <p:grpSpPr bwMode="auto">
          <a:xfrm>
            <a:off x="9004812" y="1990725"/>
            <a:ext cx="1466850" cy="1930400"/>
            <a:chOff x="6753225" y="2638425"/>
            <a:chExt cx="1466850" cy="1930400"/>
          </a:xfrm>
        </p:grpSpPr>
        <p:sp>
          <p:nvSpPr>
            <p:cNvPr id="18" name="Rectangle 4">
              <a:extLst>
                <a:ext uri="{FF2B5EF4-FFF2-40B4-BE49-F238E27FC236}">
                  <a16:creationId xmlns:a16="http://schemas.microsoft.com/office/drawing/2014/main" id="{65512DFD-988C-443B-B681-07F81455B09D}"/>
                </a:ext>
              </a:extLst>
            </p:cNvPr>
            <p:cNvSpPr>
              <a:spLocks noChangeArrowheads="1"/>
            </p:cNvSpPr>
            <p:nvPr/>
          </p:nvSpPr>
          <p:spPr bwMode="auto">
            <a:xfrm>
              <a:off x="6753225" y="4187825"/>
              <a:ext cx="1447800" cy="381000"/>
            </a:xfrm>
            <a:prstGeom prst="rect">
              <a:avLst/>
            </a:prstGeom>
            <a:noFill/>
            <a:ln w="9525">
              <a:solidFill>
                <a:sysClr val="windowText" lastClr="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zh-CN" sz="1800" b="0"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19" name="Rectangle 5">
              <a:extLst>
                <a:ext uri="{FF2B5EF4-FFF2-40B4-BE49-F238E27FC236}">
                  <a16:creationId xmlns:a16="http://schemas.microsoft.com/office/drawing/2014/main" id="{8397E013-3BFD-44FB-AD12-5D1D8467A9F3}"/>
                </a:ext>
              </a:extLst>
            </p:cNvPr>
            <p:cNvSpPr>
              <a:spLocks noChangeArrowheads="1"/>
            </p:cNvSpPr>
            <p:nvPr/>
          </p:nvSpPr>
          <p:spPr bwMode="auto">
            <a:xfrm>
              <a:off x="6753225" y="3806825"/>
              <a:ext cx="1447800" cy="381000"/>
            </a:xfrm>
            <a:prstGeom prst="rect">
              <a:avLst/>
            </a:prstGeom>
            <a:noFill/>
            <a:ln w="9525">
              <a:solidFill>
                <a:sysClr val="windowText" lastClr="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zh-CN" sz="1800" b="0"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20" name="Rectangle 6">
              <a:extLst>
                <a:ext uri="{FF2B5EF4-FFF2-40B4-BE49-F238E27FC236}">
                  <a16:creationId xmlns:a16="http://schemas.microsoft.com/office/drawing/2014/main" id="{8FF1B336-27AF-4824-9925-611FDFF4021D}"/>
                </a:ext>
              </a:extLst>
            </p:cNvPr>
            <p:cNvSpPr>
              <a:spLocks noChangeArrowheads="1"/>
            </p:cNvSpPr>
            <p:nvPr/>
          </p:nvSpPr>
          <p:spPr bwMode="auto">
            <a:xfrm>
              <a:off x="6753225" y="3042684"/>
              <a:ext cx="1447800" cy="381000"/>
            </a:xfrm>
            <a:prstGeom prst="rect">
              <a:avLst/>
            </a:prstGeom>
            <a:solidFill>
              <a:srgbClr val="FF2BD8">
                <a:alpha val="50195"/>
              </a:srgbClr>
            </a:solidFill>
            <a:ln w="9525">
              <a:solidFill>
                <a:sysClr val="windowText" lastClr="000000"/>
              </a:solidFill>
              <a:miter lim="800000"/>
              <a:headEnd/>
              <a:tailEnd/>
            </a:ln>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zh-CN" sz="1800" b="0"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21" name="Rectangle 7">
              <a:extLst>
                <a:ext uri="{FF2B5EF4-FFF2-40B4-BE49-F238E27FC236}">
                  <a16:creationId xmlns:a16="http://schemas.microsoft.com/office/drawing/2014/main" id="{B7CD5476-F58B-453E-A54E-1B4B9909C214}"/>
                </a:ext>
              </a:extLst>
            </p:cNvPr>
            <p:cNvSpPr>
              <a:spLocks noChangeArrowheads="1"/>
            </p:cNvSpPr>
            <p:nvPr/>
          </p:nvSpPr>
          <p:spPr bwMode="auto">
            <a:xfrm>
              <a:off x="6753225" y="3418748"/>
              <a:ext cx="1447800" cy="381000"/>
            </a:xfrm>
            <a:prstGeom prst="rect">
              <a:avLst/>
            </a:prstGeom>
            <a:noFill/>
            <a:ln w="9525">
              <a:solidFill>
                <a:sysClr val="windowText" lastClr="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zh-CN" sz="1800" b="0"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22" name="Rectangle 10">
              <a:extLst>
                <a:ext uri="{FF2B5EF4-FFF2-40B4-BE49-F238E27FC236}">
                  <a16:creationId xmlns:a16="http://schemas.microsoft.com/office/drawing/2014/main" id="{8252208D-C6EE-4D73-A3FF-2165F9BDDCA3}"/>
                </a:ext>
              </a:extLst>
            </p:cNvPr>
            <p:cNvSpPr>
              <a:spLocks noChangeArrowheads="1"/>
            </p:cNvSpPr>
            <p:nvPr/>
          </p:nvSpPr>
          <p:spPr bwMode="auto">
            <a:xfrm>
              <a:off x="6753225" y="2657475"/>
              <a:ext cx="1447800" cy="381000"/>
            </a:xfrm>
            <a:prstGeom prst="rect">
              <a:avLst/>
            </a:prstGeom>
            <a:noFill/>
            <a:ln w="9525">
              <a:solidFill>
                <a:sysClr val="windowText" lastClr="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zh-CN" sz="1800" b="0"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23" name="Text Box 11">
              <a:extLst>
                <a:ext uri="{FF2B5EF4-FFF2-40B4-BE49-F238E27FC236}">
                  <a16:creationId xmlns:a16="http://schemas.microsoft.com/office/drawing/2014/main" id="{7B70C6C0-A604-43B7-8315-80AD4D9DAA9D}"/>
                </a:ext>
              </a:extLst>
            </p:cNvPr>
            <p:cNvSpPr txBox="1">
              <a:spLocks noChangeArrowheads="1"/>
            </p:cNvSpPr>
            <p:nvPr/>
          </p:nvSpPr>
          <p:spPr bwMode="auto">
            <a:xfrm>
              <a:off x="6916738" y="4162425"/>
              <a:ext cx="1131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Physical</a:t>
              </a:r>
            </a:p>
          </p:txBody>
        </p:sp>
        <p:sp>
          <p:nvSpPr>
            <p:cNvPr id="24" name="Text Box 12">
              <a:extLst>
                <a:ext uri="{FF2B5EF4-FFF2-40B4-BE49-F238E27FC236}">
                  <a16:creationId xmlns:a16="http://schemas.microsoft.com/office/drawing/2014/main" id="{F115C302-9B89-41E7-84B0-E2B8AF2DCED5}"/>
                </a:ext>
              </a:extLst>
            </p:cNvPr>
            <p:cNvSpPr txBox="1">
              <a:spLocks noChangeArrowheads="1"/>
            </p:cNvSpPr>
            <p:nvPr/>
          </p:nvSpPr>
          <p:spPr bwMode="auto">
            <a:xfrm>
              <a:off x="7145975" y="3797300"/>
              <a:ext cx="65594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Link</a:t>
              </a:r>
            </a:p>
          </p:txBody>
        </p:sp>
        <p:sp>
          <p:nvSpPr>
            <p:cNvPr id="25" name="Text Box 13">
              <a:extLst>
                <a:ext uri="{FF2B5EF4-FFF2-40B4-BE49-F238E27FC236}">
                  <a16:creationId xmlns:a16="http://schemas.microsoft.com/office/drawing/2014/main" id="{0C275DAE-8AF6-482E-8B35-5B3EAA934857}"/>
                </a:ext>
              </a:extLst>
            </p:cNvPr>
            <p:cNvSpPr txBox="1">
              <a:spLocks noChangeArrowheads="1"/>
            </p:cNvSpPr>
            <p:nvPr/>
          </p:nvSpPr>
          <p:spPr bwMode="auto">
            <a:xfrm>
              <a:off x="6904038" y="3432175"/>
              <a:ext cx="11160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Network</a:t>
              </a:r>
            </a:p>
          </p:txBody>
        </p:sp>
        <p:sp>
          <p:nvSpPr>
            <p:cNvPr id="26" name="Text Box 14">
              <a:extLst>
                <a:ext uri="{FF2B5EF4-FFF2-40B4-BE49-F238E27FC236}">
                  <a16:creationId xmlns:a16="http://schemas.microsoft.com/office/drawing/2014/main" id="{5EEAE2E1-4E02-48F8-BC2A-CD68E8341B30}"/>
                </a:ext>
              </a:extLst>
            </p:cNvPr>
            <p:cNvSpPr txBox="1">
              <a:spLocks noChangeArrowheads="1"/>
            </p:cNvSpPr>
            <p:nvPr/>
          </p:nvSpPr>
          <p:spPr bwMode="auto">
            <a:xfrm>
              <a:off x="6818313" y="3035300"/>
              <a:ext cx="1270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Transport</a:t>
              </a:r>
            </a:p>
          </p:txBody>
        </p:sp>
        <p:sp>
          <p:nvSpPr>
            <p:cNvPr id="27" name="Text Box 17">
              <a:extLst>
                <a:ext uri="{FF2B5EF4-FFF2-40B4-BE49-F238E27FC236}">
                  <a16:creationId xmlns:a16="http://schemas.microsoft.com/office/drawing/2014/main" id="{72C06D74-047A-406D-8D1F-FFAE171533E5}"/>
                </a:ext>
              </a:extLst>
            </p:cNvPr>
            <p:cNvSpPr txBox="1">
              <a:spLocks noChangeArrowheads="1"/>
            </p:cNvSpPr>
            <p:nvPr/>
          </p:nvSpPr>
          <p:spPr bwMode="auto">
            <a:xfrm>
              <a:off x="6791325" y="2638425"/>
              <a:ext cx="14287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Application</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r>
              <a:rPr lang="en-US" altLang="zh-CN"/>
              <a:t>Computer Networks, Chapter 6 The Transport Layer</a:t>
            </a:r>
            <a:endParaRPr lang="en-US" altLang="zh-CN" i="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9033" y="1990971"/>
            <a:ext cx="7758140" cy="2989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41BCCE42-60B6-4EEF-8847-0B492D1DE09A}"/>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Domain of Transport Layer Protocol</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72260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outVertical)">
                                      <p:cBhvr>
                                        <p:cTn id="7" dur="17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endParaRPr lang="en-US" altLang="zh-CN" i="0"/>
          </a:p>
        </p:txBody>
      </p:sp>
      <p:sp>
        <p:nvSpPr>
          <p:cNvPr id="9220" name="Rectangle 3"/>
          <p:cNvSpPr>
            <a:spLocks noGrp="1" noChangeArrowheads="1"/>
          </p:cNvSpPr>
          <p:nvPr>
            <p:ph idx="1"/>
          </p:nvPr>
        </p:nvSpPr>
        <p:spPr>
          <a:xfrm>
            <a:off x="2905125" y="1990725"/>
            <a:ext cx="7315200" cy="4019550"/>
          </a:xfrm>
        </p:spPr>
        <p:txBody>
          <a:bodyPr/>
          <a:lstStyle/>
          <a:p>
            <a:pPr lvl="1"/>
            <a:r>
              <a:rPr lang="en-US" altLang="zh-CN">
                <a:ea typeface="宋体" panose="02010600030101010101" pitchFamily="2" charset="-122"/>
              </a:rPr>
              <a:t>Services Provided to the Upper Layer </a:t>
            </a:r>
            <a:r>
              <a:rPr lang="en-US" altLang="zh-CN">
                <a:solidFill>
                  <a:srgbClr val="0000FF"/>
                </a:solidFill>
                <a:ea typeface="宋体" panose="02010600030101010101" pitchFamily="2" charset="-122"/>
              </a:rPr>
              <a:t>»</a:t>
            </a:r>
            <a:endParaRPr lang="en-US" altLang="zh-CN">
              <a:ea typeface="宋体" panose="02010600030101010101" pitchFamily="2" charset="-122"/>
            </a:endParaRPr>
          </a:p>
          <a:p>
            <a:pPr lvl="1"/>
            <a:r>
              <a:rPr lang="en-US" altLang="zh-CN">
                <a:ea typeface="宋体" panose="02010600030101010101" pitchFamily="2" charset="-122"/>
              </a:rPr>
              <a:t>Transport Service Primitives </a:t>
            </a:r>
            <a:r>
              <a:rPr lang="en-US" altLang="zh-CN">
                <a:solidFill>
                  <a:srgbClr val="0000FF"/>
                </a:solidFill>
                <a:ea typeface="宋体" panose="02010600030101010101" pitchFamily="2" charset="-122"/>
              </a:rPr>
              <a:t>»</a:t>
            </a:r>
            <a:endParaRPr lang="en-US" altLang="zh-CN">
              <a:ea typeface="宋体" panose="02010600030101010101" pitchFamily="2" charset="-122"/>
            </a:endParaRPr>
          </a:p>
          <a:p>
            <a:pPr lvl="1"/>
            <a:r>
              <a:rPr lang="en-US" altLang="zh-CN">
                <a:ea typeface="宋体" panose="02010600030101010101" pitchFamily="2" charset="-122"/>
              </a:rPr>
              <a:t>Berkeley Sockets </a:t>
            </a:r>
            <a:r>
              <a:rPr lang="en-US" altLang="zh-CN">
                <a:solidFill>
                  <a:srgbClr val="0000FF"/>
                </a:solidFill>
                <a:ea typeface="宋体" panose="02010600030101010101" pitchFamily="2" charset="-122"/>
              </a:rPr>
              <a:t>»</a:t>
            </a:r>
            <a:endParaRPr lang="en-US" altLang="zh-CN">
              <a:ea typeface="宋体" panose="02010600030101010101" pitchFamily="2" charset="-122"/>
            </a:endParaRPr>
          </a:p>
          <a:p>
            <a:pPr lvl="1"/>
            <a:r>
              <a:rPr lang="en-US" altLang="zh-CN">
                <a:ea typeface="宋体" panose="02010600030101010101" pitchFamily="2" charset="-122"/>
              </a:rPr>
              <a:t>Socket Example: Internet File Server </a:t>
            </a:r>
            <a:r>
              <a:rPr lang="en-US" altLang="zh-CN">
                <a:solidFill>
                  <a:srgbClr val="0000FF"/>
                </a:solidFill>
                <a:ea typeface="宋体" panose="02010600030101010101" pitchFamily="2" charset="-122"/>
              </a:rPr>
              <a:t>»</a:t>
            </a:r>
            <a:endParaRPr lang="en-US" altLang="zh-CN">
              <a:ea typeface="宋体" panose="02010600030101010101" pitchFamily="2" charset="-122"/>
            </a:endParaRPr>
          </a:p>
          <a:p>
            <a:endParaRPr lang="en-US" altLang="zh-CN">
              <a:ea typeface="宋体" panose="02010600030101010101" pitchFamily="2" charset="-122"/>
            </a:endParaRPr>
          </a:p>
        </p:txBody>
      </p:sp>
      <p:sp>
        <p:nvSpPr>
          <p:cNvPr id="5" name="矩形 4">
            <a:extLst>
              <a:ext uri="{FF2B5EF4-FFF2-40B4-BE49-F238E27FC236}">
                <a16:creationId xmlns:a16="http://schemas.microsoft.com/office/drawing/2014/main" id="{0148C70C-D502-4E1F-A364-55C3E80D6F3A}"/>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Transport Service</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idx="1"/>
          </p:nvPr>
        </p:nvSpPr>
        <p:spPr>
          <a:xfrm>
            <a:off x="1159188" y="1050678"/>
            <a:ext cx="10344383" cy="1368673"/>
          </a:xfrm>
        </p:spPr>
        <p:txBody>
          <a:bodyPr/>
          <a:lstStyle/>
          <a:p>
            <a:r>
              <a:rPr lang="en-US" altLang="zh-CN" dirty="0">
                <a:ea typeface="宋体" panose="02010600030101010101" pitchFamily="2" charset="-122"/>
              </a:rPr>
              <a:t>Transport layer adds reliability to the network layer</a:t>
            </a:r>
          </a:p>
          <a:p>
            <a:pPr lvl="1"/>
            <a:r>
              <a:rPr lang="en-US" altLang="zh-CN" dirty="0">
                <a:ea typeface="宋体" panose="02010600030101010101" pitchFamily="2" charset="-122"/>
              </a:rPr>
              <a:t>Offers connectionless (e.g., UDP) and connection-oriented (</a:t>
            </a:r>
            <a:r>
              <a:rPr lang="en-US" altLang="zh-CN" dirty="0" err="1">
                <a:ea typeface="宋体" panose="02010600030101010101" pitchFamily="2" charset="-122"/>
              </a:rPr>
              <a:t>e.g</a:t>
            </a:r>
            <a:r>
              <a:rPr lang="en-US" altLang="zh-CN" dirty="0">
                <a:ea typeface="宋体" panose="02010600030101010101" pitchFamily="2" charset="-122"/>
              </a:rPr>
              <a:t>, TCP) service to applications </a:t>
            </a:r>
          </a:p>
        </p:txBody>
      </p:sp>
      <p:pic>
        <p:nvPicPr>
          <p:cNvPr id="10244" name="Picture 4"/>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728119" y="2419351"/>
            <a:ext cx="6735762" cy="349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5" name="Footer Placeholder 6"/>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endParaRPr lang="en-US" altLang="zh-CN" i="0"/>
          </a:p>
        </p:txBody>
      </p:sp>
      <p:sp>
        <p:nvSpPr>
          <p:cNvPr id="6" name="矩形 5">
            <a:extLst>
              <a:ext uri="{FF2B5EF4-FFF2-40B4-BE49-F238E27FC236}">
                <a16:creationId xmlns:a16="http://schemas.microsoft.com/office/drawing/2014/main" id="{67B39B7F-578F-44A9-BE42-D5EA7AA03E9E}"/>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Services Provided to the Upper Layers (1)</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endParaRPr lang="en-US" altLang="zh-CN" i="0"/>
          </a:p>
        </p:txBody>
      </p:sp>
      <p:sp>
        <p:nvSpPr>
          <p:cNvPr id="11268" name="Content Placeholder 3"/>
          <p:cNvSpPr>
            <a:spLocks noGrp="1"/>
          </p:cNvSpPr>
          <p:nvPr>
            <p:ph idx="1"/>
          </p:nvPr>
        </p:nvSpPr>
        <p:spPr>
          <a:xfrm>
            <a:off x="1835394" y="1257354"/>
            <a:ext cx="8832606" cy="523220"/>
          </a:xfrm>
        </p:spPr>
        <p:txBody>
          <a:bodyPr/>
          <a:lstStyle/>
          <a:p>
            <a:r>
              <a:rPr lang="en-US" altLang="zh-CN" dirty="0">
                <a:ea typeface="宋体" panose="02010600030101010101" pitchFamily="2" charset="-122"/>
              </a:rPr>
              <a:t>Transport layer sends </a:t>
            </a:r>
            <a:r>
              <a:rPr lang="en-US" altLang="zh-CN" u="sng" dirty="0">
                <a:ea typeface="宋体" panose="02010600030101010101" pitchFamily="2" charset="-122"/>
              </a:rPr>
              <a:t>segments</a:t>
            </a:r>
            <a:r>
              <a:rPr lang="en-US" altLang="zh-CN" dirty="0">
                <a:ea typeface="宋体" panose="02010600030101010101" pitchFamily="2" charset="-122"/>
              </a:rPr>
              <a:t> in packets (in frames)</a:t>
            </a:r>
          </a:p>
        </p:txBody>
      </p:sp>
      <p:grpSp>
        <p:nvGrpSpPr>
          <p:cNvPr id="11269" name="Group 7"/>
          <p:cNvGrpSpPr>
            <a:grpSpLocks/>
          </p:cNvGrpSpPr>
          <p:nvPr/>
        </p:nvGrpSpPr>
        <p:grpSpPr bwMode="auto">
          <a:xfrm>
            <a:off x="2217738" y="2544764"/>
            <a:ext cx="7993062" cy="2630487"/>
            <a:chOff x="693427" y="2996382"/>
            <a:chExt cx="7993114" cy="2630608"/>
          </a:xfrm>
        </p:grpSpPr>
        <p:pic>
          <p:nvPicPr>
            <p:cNvPr id="11270" name="Picture 2"/>
            <p:cNvPicPr>
              <a:picLocks noChangeAspect="1" noChangeArrowheads="1"/>
            </p:cNvPicPr>
            <p:nvPr/>
          </p:nvPicPr>
          <p:blipFill>
            <a:blip r:embed="rId3">
              <a:extLst>
                <a:ext uri="{28A0092B-C50C-407E-A947-70E740481C1C}">
                  <a14:useLocalDpi xmlns:a14="http://schemas.microsoft.com/office/drawing/2010/main" val="0"/>
                </a:ext>
              </a:extLst>
            </a:blip>
            <a:srcRect t="4967"/>
            <a:stretch>
              <a:fillRect/>
            </a:stretch>
          </p:blipFill>
          <p:spPr bwMode="auto">
            <a:xfrm>
              <a:off x="693427" y="2996382"/>
              <a:ext cx="7993114" cy="2630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1" name="TextBox 5"/>
            <p:cNvSpPr txBox="1">
              <a:spLocks noChangeArrowheads="1"/>
            </p:cNvSpPr>
            <p:nvPr/>
          </p:nvSpPr>
          <p:spPr bwMode="auto">
            <a:xfrm>
              <a:off x="3847767" y="3121223"/>
              <a:ext cx="716543" cy="21544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Segment</a:t>
              </a:r>
            </a:p>
          </p:txBody>
        </p:sp>
        <p:sp>
          <p:nvSpPr>
            <p:cNvPr id="11272" name="TextBox 6"/>
            <p:cNvSpPr txBox="1">
              <a:spLocks noChangeArrowheads="1"/>
            </p:cNvSpPr>
            <p:nvPr/>
          </p:nvSpPr>
          <p:spPr bwMode="auto">
            <a:xfrm>
              <a:off x="5199704" y="4111823"/>
              <a:ext cx="716543" cy="21544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Segment</a:t>
              </a:r>
            </a:p>
          </p:txBody>
        </p:sp>
      </p:grpSp>
      <p:sp>
        <p:nvSpPr>
          <p:cNvPr id="9" name="矩形 8">
            <a:extLst>
              <a:ext uri="{FF2B5EF4-FFF2-40B4-BE49-F238E27FC236}">
                <a16:creationId xmlns:a16="http://schemas.microsoft.com/office/drawing/2014/main" id="{140F9AAE-FB1C-41B9-BF4A-706C0F353EF4}"/>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Services Provided to the Upper Layers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9219" name="Rectangle 3"/>
          <p:cNvSpPr>
            <a:spLocks noGrp="1" noChangeArrowheads="1"/>
          </p:cNvSpPr>
          <p:nvPr>
            <p:ph idx="1"/>
          </p:nvPr>
        </p:nvSpPr>
        <p:spPr>
          <a:xfrm>
            <a:off x="1518746" y="1316370"/>
            <a:ext cx="9517116" cy="1841989"/>
          </a:xfrm>
        </p:spPr>
        <p:txBody>
          <a:bodyPr/>
          <a:lstStyle/>
          <a:p>
            <a:r>
              <a:rPr lang="en-US" altLang="zh-CN" dirty="0">
                <a:ea typeface="宋体" panose="02010600030101010101" pitchFamily="2" charset="-122"/>
              </a:rPr>
              <a:t>Primitives that applications might call to transport data for a simple connection-oriented service:</a:t>
            </a:r>
          </a:p>
          <a:p>
            <a:pPr lvl="1"/>
            <a:r>
              <a:rPr lang="en-US" altLang="zh-CN" dirty="0">
                <a:ea typeface="宋体" panose="02010600030101010101" pitchFamily="2" charset="-122"/>
              </a:rPr>
              <a:t>Client calls CONNECT, SEND, RECEIVE, DISCONNECT</a:t>
            </a:r>
          </a:p>
          <a:p>
            <a:pPr lvl="1"/>
            <a:r>
              <a:rPr lang="en-US" altLang="zh-CN" dirty="0">
                <a:ea typeface="宋体" panose="02010600030101010101" pitchFamily="2" charset="-122"/>
              </a:rPr>
              <a:t>Server calls LISTEN, RECEIVE, SEND, DISCONNECT</a:t>
            </a:r>
          </a:p>
          <a:p>
            <a:pPr lvl="1">
              <a:buFont typeface="Arial" panose="020B0604020202020204" pitchFamily="34" charset="0"/>
              <a:buNone/>
            </a:pPr>
            <a:endParaRPr lang="en-US" altLang="zh-CN" dirty="0">
              <a:ea typeface="宋体" panose="02010600030101010101" pitchFamily="2" charset="-122"/>
            </a:endParaRPr>
          </a:p>
        </p:txBody>
      </p:sp>
      <p:grpSp>
        <p:nvGrpSpPr>
          <p:cNvPr id="12293" name="Group 9"/>
          <p:cNvGrpSpPr>
            <a:grpSpLocks/>
          </p:cNvGrpSpPr>
          <p:nvPr/>
        </p:nvGrpSpPr>
        <p:grpSpPr bwMode="auto">
          <a:xfrm>
            <a:off x="2102014" y="3269023"/>
            <a:ext cx="8262938" cy="2122488"/>
            <a:chOff x="440454" y="2917971"/>
            <a:chExt cx="8263091" cy="2123269"/>
          </a:xfrm>
        </p:grpSpPr>
        <p:pic>
          <p:nvPicPr>
            <p:cNvPr id="122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454" y="2917971"/>
              <a:ext cx="8263091" cy="2123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5" name="TextBox 8"/>
            <p:cNvSpPr txBox="1">
              <a:spLocks noChangeArrowheads="1"/>
            </p:cNvSpPr>
            <p:nvPr/>
          </p:nvSpPr>
          <p:spPr bwMode="auto">
            <a:xfrm>
              <a:off x="2638404" y="3134900"/>
              <a:ext cx="865622" cy="24622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600" b="1">
                  <a:ea typeface="宋体" panose="02010600030101010101" pitchFamily="2" charset="-122"/>
                </a:rPr>
                <a:t>Segment</a:t>
              </a:r>
            </a:p>
          </p:txBody>
        </p:sp>
      </p:grpSp>
      <p:sp>
        <p:nvSpPr>
          <p:cNvPr id="8" name="矩形 7">
            <a:extLst>
              <a:ext uri="{FF2B5EF4-FFF2-40B4-BE49-F238E27FC236}">
                <a16:creationId xmlns:a16="http://schemas.microsoft.com/office/drawing/2014/main" id="{8B463E63-CCBB-441F-927A-953D0EAC4B5A}"/>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Transport Service Primitives (1)</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13316" name="Rectangle 3"/>
          <p:cNvSpPr>
            <a:spLocks noGrp="1" noChangeArrowheads="1"/>
          </p:cNvSpPr>
          <p:nvPr>
            <p:ph idx="1"/>
          </p:nvPr>
        </p:nvSpPr>
        <p:spPr>
          <a:xfrm>
            <a:off x="1573162" y="1216847"/>
            <a:ext cx="8878939" cy="523220"/>
          </a:xfrm>
        </p:spPr>
        <p:txBody>
          <a:bodyPr/>
          <a:lstStyle/>
          <a:p>
            <a:r>
              <a:rPr lang="en-US" altLang="zh-CN" dirty="0">
                <a:ea typeface="宋体" panose="02010600030101010101" pitchFamily="2" charset="-122"/>
              </a:rPr>
              <a:t>State diagram for a simple connection-oriented service</a:t>
            </a:r>
          </a:p>
        </p:txBody>
      </p:sp>
      <p:pic>
        <p:nvPicPr>
          <p:cNvPr id="1331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8894" y="1971238"/>
            <a:ext cx="4953000" cy="376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8" name="TextBox 8"/>
          <p:cNvSpPr txBox="1">
            <a:spLocks noChangeArrowheads="1"/>
          </p:cNvSpPr>
          <p:nvPr/>
        </p:nvSpPr>
        <p:spPr bwMode="auto">
          <a:xfrm>
            <a:off x="7561264" y="2779714"/>
            <a:ext cx="2890837" cy="258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dirty="0">
                <a:ea typeface="宋体" panose="02010600030101010101" pitchFamily="2" charset="-122"/>
              </a:rPr>
              <a:t>Solid lines (right) show client state sequence</a:t>
            </a:r>
          </a:p>
          <a:p>
            <a:pPr eaLnBrk="1" hangingPunct="1"/>
            <a:endParaRPr lang="en-US" altLang="zh-CN" dirty="0">
              <a:ea typeface="宋体" panose="02010600030101010101" pitchFamily="2" charset="-122"/>
            </a:endParaRPr>
          </a:p>
          <a:p>
            <a:pPr eaLnBrk="1" hangingPunct="1"/>
            <a:r>
              <a:rPr lang="en-US" altLang="zh-CN" dirty="0">
                <a:ea typeface="宋体" panose="02010600030101010101" pitchFamily="2" charset="-122"/>
              </a:rPr>
              <a:t>Dashed lines (left) show server state sequence</a:t>
            </a:r>
          </a:p>
          <a:p>
            <a:pPr eaLnBrk="1" hangingPunct="1"/>
            <a:endParaRPr lang="en-US" altLang="zh-CN" dirty="0">
              <a:ea typeface="宋体" panose="02010600030101010101" pitchFamily="2" charset="-122"/>
            </a:endParaRPr>
          </a:p>
          <a:p>
            <a:pPr eaLnBrk="1" hangingPunct="1"/>
            <a:r>
              <a:rPr lang="en-US" altLang="zh-CN" dirty="0">
                <a:ea typeface="宋体" panose="02010600030101010101" pitchFamily="2" charset="-122"/>
              </a:rPr>
              <a:t>Transitions in italics are due to segment arrivals. </a:t>
            </a:r>
          </a:p>
          <a:p>
            <a:pPr eaLnBrk="1" hangingPunct="1"/>
            <a:endParaRPr lang="en-US" altLang="zh-CN" dirty="0">
              <a:ea typeface="宋体" panose="02010600030101010101" pitchFamily="2" charset="-122"/>
            </a:endParaRPr>
          </a:p>
        </p:txBody>
      </p:sp>
      <p:sp>
        <p:nvSpPr>
          <p:cNvPr id="7" name="矩形 6">
            <a:extLst>
              <a:ext uri="{FF2B5EF4-FFF2-40B4-BE49-F238E27FC236}">
                <a16:creationId xmlns:a16="http://schemas.microsoft.com/office/drawing/2014/main" id="{08B35E4A-8AF4-4E03-AEFA-DBB5A7BF40C6}"/>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Transport Service Primitives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12291" name="Rectangle 3"/>
          <p:cNvSpPr>
            <a:spLocks noGrp="1" noChangeArrowheads="1"/>
          </p:cNvSpPr>
          <p:nvPr>
            <p:ph idx="1"/>
          </p:nvPr>
        </p:nvSpPr>
        <p:spPr>
          <a:xfrm>
            <a:off x="1563227" y="1148565"/>
            <a:ext cx="8622992" cy="1577174"/>
          </a:xfrm>
        </p:spPr>
        <p:txBody>
          <a:bodyPr/>
          <a:lstStyle/>
          <a:p>
            <a:r>
              <a:rPr lang="en-US" altLang="zh-CN" dirty="0">
                <a:ea typeface="宋体" panose="02010600030101010101" pitchFamily="2" charset="-122"/>
              </a:rPr>
              <a:t>Very widely used primitives started with TCP on UNIX</a:t>
            </a:r>
          </a:p>
          <a:p>
            <a:pPr lvl="1"/>
            <a:r>
              <a:rPr lang="en-US" altLang="zh-CN" dirty="0">
                <a:ea typeface="宋体" panose="02010600030101010101" pitchFamily="2" charset="-122"/>
              </a:rPr>
              <a:t>Notion of “sockets” as transport endpoints</a:t>
            </a:r>
          </a:p>
          <a:p>
            <a:pPr lvl="1"/>
            <a:r>
              <a:rPr lang="en-US" altLang="zh-CN" dirty="0">
                <a:ea typeface="宋体" panose="02010600030101010101" pitchFamily="2" charset="-122"/>
              </a:rPr>
              <a:t>Like simple set plus SOCKET, BIND, and ACCEPT</a:t>
            </a:r>
          </a:p>
          <a:p>
            <a:pPr lvl="1">
              <a:buFont typeface="Arial" panose="020B0604020202020204" pitchFamily="34" charset="0"/>
              <a:buNone/>
            </a:pPr>
            <a:endParaRPr lang="en-US" altLang="zh-CN" dirty="0">
              <a:ea typeface="宋体" panose="02010600030101010101" pitchFamily="2" charset="-122"/>
            </a:endParaRPr>
          </a:p>
        </p:txBody>
      </p:sp>
      <p:pic>
        <p:nvPicPr>
          <p:cNvPr id="1434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7950" y="2963869"/>
            <a:ext cx="6896100" cy="293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015A3215-C586-4FA7-B8C4-1D5326979F74}"/>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Berkeley Sockets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Footer Placeholder 6"/>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zh-CN">
                <a:ea typeface="宋体" panose="02010600030101010101" pitchFamily="2" charset="-122"/>
              </a:rPr>
              <a:t>Computer Networks, Chapter 6 The Transport Layer</a:t>
            </a:r>
          </a:p>
        </p:txBody>
      </p:sp>
      <p:sp>
        <p:nvSpPr>
          <p:cNvPr id="15364" name="TextBox 4"/>
          <p:cNvSpPr txBox="1">
            <a:spLocks noChangeArrowheads="1"/>
          </p:cNvSpPr>
          <p:nvPr/>
        </p:nvSpPr>
        <p:spPr bwMode="auto">
          <a:xfrm>
            <a:off x="2179638" y="5410201"/>
            <a:ext cx="1219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2800">
                <a:ea typeface="宋体" panose="02010600030101010101" pitchFamily="2" charset="-122"/>
              </a:rPr>
              <a:t>. . .</a:t>
            </a:r>
          </a:p>
        </p:txBody>
      </p:sp>
      <p:grpSp>
        <p:nvGrpSpPr>
          <p:cNvPr id="15365" name="Group 20"/>
          <p:cNvGrpSpPr>
            <a:grpSpLocks/>
          </p:cNvGrpSpPr>
          <p:nvPr/>
        </p:nvGrpSpPr>
        <p:grpSpPr bwMode="auto">
          <a:xfrm>
            <a:off x="2173288" y="2292351"/>
            <a:ext cx="7364412" cy="3273425"/>
            <a:chOff x="737415" y="2325313"/>
            <a:chExt cx="6849397" cy="3044176"/>
          </a:xfrm>
        </p:grpSpPr>
        <p:pic>
          <p:nvPicPr>
            <p:cNvPr id="1537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7415" y="2325313"/>
              <a:ext cx="6849397" cy="3044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74" name="TextBox 9"/>
            <p:cNvSpPr txBox="1">
              <a:spLocks noChangeArrowheads="1"/>
            </p:cNvSpPr>
            <p:nvPr/>
          </p:nvSpPr>
          <p:spPr bwMode="auto">
            <a:xfrm>
              <a:off x="4513004" y="2615366"/>
              <a:ext cx="2851355" cy="3434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grpSp>
      <p:sp>
        <p:nvSpPr>
          <p:cNvPr id="15368" name="TextBox 11"/>
          <p:cNvSpPr txBox="1">
            <a:spLocks noChangeArrowheads="1"/>
          </p:cNvSpPr>
          <p:nvPr/>
        </p:nvSpPr>
        <p:spPr bwMode="auto">
          <a:xfrm>
            <a:off x="8258175" y="3303589"/>
            <a:ext cx="20208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600">
                <a:ea typeface="宋体" panose="02010600030101010101" pitchFamily="2" charset="-122"/>
              </a:rPr>
              <a:t>Make a socket</a:t>
            </a:r>
          </a:p>
        </p:txBody>
      </p:sp>
      <p:sp>
        <p:nvSpPr>
          <p:cNvPr id="13" name="Left Brace 12"/>
          <p:cNvSpPr/>
          <p:nvPr/>
        </p:nvSpPr>
        <p:spPr bwMode="auto">
          <a:xfrm flipH="1">
            <a:off x="7983539" y="3249614"/>
            <a:ext cx="231775" cy="466725"/>
          </a:xfrm>
          <a:prstGeom prst="leftBrace">
            <a:avLst/>
          </a:prstGeom>
          <a:noFill/>
          <a:ln w="19050" cap="flat" cmpd="sng" algn="ctr">
            <a:solidFill>
              <a:schemeClr val="accent3">
                <a:lumMod val="60000"/>
                <a:lumOff val="40000"/>
              </a:schemeClr>
            </a:solidFill>
            <a:prstDash val="solid"/>
            <a:round/>
            <a:headEnd type="none" w="med" len="med"/>
            <a:tailEnd type="none" w="med" len="med"/>
          </a:ln>
          <a:effec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en-US" altLang="zh-CN">
              <a:ea typeface="宋体" panose="02010600030101010101" pitchFamily="2" charset="-122"/>
            </a:endParaRPr>
          </a:p>
        </p:txBody>
      </p:sp>
      <p:sp>
        <p:nvSpPr>
          <p:cNvPr id="15370" name="TextBox 13"/>
          <p:cNvSpPr txBox="1">
            <a:spLocks noChangeArrowheads="1"/>
          </p:cNvSpPr>
          <p:nvPr/>
        </p:nvSpPr>
        <p:spPr bwMode="auto">
          <a:xfrm>
            <a:off x="8243889" y="5018089"/>
            <a:ext cx="20208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600">
                <a:ea typeface="宋体" panose="02010600030101010101" pitchFamily="2" charset="-122"/>
              </a:rPr>
              <a:t>Try to connect</a:t>
            </a:r>
          </a:p>
        </p:txBody>
      </p:sp>
      <p:sp>
        <p:nvSpPr>
          <p:cNvPr id="15" name="Left Brace 14"/>
          <p:cNvSpPr/>
          <p:nvPr/>
        </p:nvSpPr>
        <p:spPr bwMode="auto">
          <a:xfrm flipH="1">
            <a:off x="8023226" y="4965700"/>
            <a:ext cx="225425" cy="501650"/>
          </a:xfrm>
          <a:prstGeom prst="leftBrace">
            <a:avLst/>
          </a:prstGeom>
          <a:noFill/>
          <a:ln w="19050" cap="flat" cmpd="sng" algn="ctr">
            <a:solidFill>
              <a:schemeClr val="accent3">
                <a:lumMod val="60000"/>
                <a:lumOff val="40000"/>
              </a:schemeClr>
            </a:solidFill>
            <a:prstDash val="solid"/>
            <a:round/>
            <a:headEnd type="none" w="med" len="med"/>
            <a:tailEnd type="none" w="med" len="med"/>
          </a:ln>
          <a:effec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en-US" altLang="zh-CN">
              <a:ea typeface="宋体" panose="02010600030101010101" pitchFamily="2" charset="-122"/>
            </a:endParaRPr>
          </a:p>
        </p:txBody>
      </p:sp>
      <p:sp>
        <p:nvSpPr>
          <p:cNvPr id="15372" name="TextBox 15"/>
          <p:cNvSpPr txBox="1">
            <a:spLocks noChangeArrowheads="1"/>
          </p:cNvSpPr>
          <p:nvPr/>
        </p:nvSpPr>
        <p:spPr bwMode="auto">
          <a:xfrm>
            <a:off x="2108200" y="1409700"/>
            <a:ext cx="29845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2400" dirty="0">
                <a:ea typeface="宋体" panose="02010600030101010101" pitchFamily="2" charset="-122"/>
              </a:rPr>
              <a:t>Client code</a:t>
            </a:r>
          </a:p>
          <a:p>
            <a:pPr eaLnBrk="1" hangingPunct="1"/>
            <a:r>
              <a:rPr lang="en-US" altLang="zh-CN" sz="2400" dirty="0">
                <a:ea typeface="宋体" panose="02010600030101010101" pitchFamily="2" charset="-122"/>
              </a:rPr>
              <a:t> . . .</a:t>
            </a:r>
          </a:p>
        </p:txBody>
      </p:sp>
      <p:sp>
        <p:nvSpPr>
          <p:cNvPr id="16" name="矩形 15">
            <a:extLst>
              <a:ext uri="{FF2B5EF4-FFF2-40B4-BE49-F238E27FC236}">
                <a16:creationId xmlns:a16="http://schemas.microsoft.com/office/drawing/2014/main" id="{1BDAEAD1-F2B3-4F5B-B26E-896FB517127D}"/>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Socket Example – Internet File Server (1)</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zh-CN">
                <a:ea typeface="宋体" panose="02010600030101010101" pitchFamily="2" charset="-122"/>
              </a:rPr>
              <a:t>Computer Networks, Chapter 6 The Transport Layer</a:t>
            </a:r>
          </a:p>
        </p:txBody>
      </p:sp>
      <p:grpSp>
        <p:nvGrpSpPr>
          <p:cNvPr id="16388" name="Group 15"/>
          <p:cNvGrpSpPr>
            <a:grpSpLocks/>
          </p:cNvGrpSpPr>
          <p:nvPr/>
        </p:nvGrpSpPr>
        <p:grpSpPr bwMode="auto">
          <a:xfrm>
            <a:off x="2362200" y="2555876"/>
            <a:ext cx="4160838" cy="2366963"/>
            <a:chOff x="838200" y="2367116"/>
            <a:chExt cx="3733800" cy="2123768"/>
          </a:xfrm>
        </p:grpSpPr>
        <p:pic>
          <p:nvPicPr>
            <p:cNvPr id="16394" name="Picture 2"/>
            <p:cNvPicPr>
              <a:picLocks noChangeAspect="1" noChangeArrowheads="1"/>
            </p:cNvPicPr>
            <p:nvPr/>
          </p:nvPicPr>
          <p:blipFill>
            <a:blip r:embed="rId2">
              <a:extLst>
                <a:ext uri="{28A0092B-C50C-407E-A947-70E740481C1C}">
                  <a14:useLocalDpi xmlns:a14="http://schemas.microsoft.com/office/drawing/2010/main" val="0"/>
                </a:ext>
              </a:extLst>
            </a:blip>
            <a:srcRect t="21623" r="49190" b="30717"/>
            <a:stretch>
              <a:fillRect/>
            </a:stretch>
          </p:blipFill>
          <p:spPr bwMode="auto">
            <a:xfrm>
              <a:off x="838200" y="2367116"/>
              <a:ext cx="3733800" cy="2123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5" name="TextBox 6"/>
            <p:cNvSpPr txBox="1">
              <a:spLocks noChangeArrowheads="1"/>
            </p:cNvSpPr>
            <p:nvPr/>
          </p:nvSpPr>
          <p:spPr bwMode="auto">
            <a:xfrm>
              <a:off x="1111043" y="2622758"/>
              <a:ext cx="3460957" cy="33138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grpSp>
      <p:sp>
        <p:nvSpPr>
          <p:cNvPr id="16389" name="TextBox 10"/>
          <p:cNvSpPr txBox="1">
            <a:spLocks noChangeArrowheads="1"/>
          </p:cNvSpPr>
          <p:nvPr/>
        </p:nvSpPr>
        <p:spPr bwMode="auto">
          <a:xfrm>
            <a:off x="2286000" y="1489076"/>
            <a:ext cx="29845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2400">
                <a:ea typeface="宋体" panose="02010600030101010101" pitchFamily="2" charset="-122"/>
              </a:rPr>
              <a:t>Client code (cont.)</a:t>
            </a:r>
          </a:p>
          <a:p>
            <a:pPr eaLnBrk="1" hangingPunct="1"/>
            <a:r>
              <a:rPr lang="en-US" altLang="zh-CN" sz="2400">
                <a:ea typeface="宋体" panose="02010600030101010101" pitchFamily="2" charset="-122"/>
              </a:rPr>
              <a:t> . . .</a:t>
            </a:r>
          </a:p>
        </p:txBody>
      </p:sp>
      <p:sp>
        <p:nvSpPr>
          <p:cNvPr id="16390" name="TextBox 11"/>
          <p:cNvSpPr txBox="1">
            <a:spLocks noChangeArrowheads="1"/>
          </p:cNvSpPr>
          <p:nvPr/>
        </p:nvSpPr>
        <p:spPr bwMode="auto">
          <a:xfrm>
            <a:off x="6842125" y="3386138"/>
            <a:ext cx="290195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600">
                <a:ea typeface="宋体" panose="02010600030101010101" pitchFamily="2" charset="-122"/>
              </a:rPr>
              <a:t>Loop reading (equivalent to receive) until no more data; exit implicitly calls close</a:t>
            </a:r>
          </a:p>
        </p:txBody>
      </p:sp>
      <p:sp>
        <p:nvSpPr>
          <p:cNvPr id="13" name="Left Brace 12"/>
          <p:cNvSpPr/>
          <p:nvPr/>
        </p:nvSpPr>
        <p:spPr bwMode="auto">
          <a:xfrm flipH="1">
            <a:off x="6548439" y="3322639"/>
            <a:ext cx="250825" cy="935037"/>
          </a:xfrm>
          <a:prstGeom prst="leftBrace">
            <a:avLst/>
          </a:prstGeom>
          <a:noFill/>
          <a:ln w="19050" cap="flat" cmpd="sng" algn="ctr">
            <a:solidFill>
              <a:schemeClr val="accent3">
                <a:lumMod val="60000"/>
                <a:lumOff val="40000"/>
              </a:schemeClr>
            </a:solidFill>
            <a:prstDash val="solid"/>
            <a:round/>
            <a:headEnd type="none" w="med" len="med"/>
            <a:tailEnd type="none" w="med" len="med"/>
          </a:ln>
          <a:effec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en-US" altLang="zh-CN">
              <a:ea typeface="宋体" panose="02010600030101010101" pitchFamily="2" charset="-122"/>
            </a:endParaRPr>
          </a:p>
        </p:txBody>
      </p:sp>
      <p:sp>
        <p:nvSpPr>
          <p:cNvPr id="16392" name="TextBox 13"/>
          <p:cNvSpPr txBox="1">
            <a:spLocks noChangeArrowheads="1"/>
          </p:cNvSpPr>
          <p:nvPr/>
        </p:nvSpPr>
        <p:spPr bwMode="auto">
          <a:xfrm>
            <a:off x="6823076" y="2481264"/>
            <a:ext cx="2536825"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600">
                <a:ea typeface="宋体" panose="02010600030101010101" pitchFamily="2" charset="-122"/>
              </a:rPr>
              <a:t>Write data (equivalent to send)</a:t>
            </a:r>
          </a:p>
        </p:txBody>
      </p:sp>
      <p:sp>
        <p:nvSpPr>
          <p:cNvPr id="15" name="Left Brace 14"/>
          <p:cNvSpPr/>
          <p:nvPr/>
        </p:nvSpPr>
        <p:spPr bwMode="auto">
          <a:xfrm flipH="1">
            <a:off x="6548439" y="2527301"/>
            <a:ext cx="230187" cy="466725"/>
          </a:xfrm>
          <a:prstGeom prst="leftBrace">
            <a:avLst/>
          </a:prstGeom>
          <a:noFill/>
          <a:ln w="19050" cap="flat" cmpd="sng" algn="ctr">
            <a:solidFill>
              <a:schemeClr val="accent3">
                <a:lumMod val="60000"/>
                <a:lumOff val="40000"/>
              </a:schemeClr>
            </a:solidFill>
            <a:prstDash val="solid"/>
            <a:round/>
            <a:headEnd type="none" w="med" len="med"/>
            <a:tailEnd type="none" w="med" len="med"/>
          </a:ln>
          <a:effec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en-US" altLang="zh-CN">
              <a:ea typeface="宋体" panose="02010600030101010101" pitchFamily="2" charset="-122"/>
            </a:endParaRPr>
          </a:p>
        </p:txBody>
      </p:sp>
      <p:sp>
        <p:nvSpPr>
          <p:cNvPr id="12" name="矩形 11">
            <a:extLst>
              <a:ext uri="{FF2B5EF4-FFF2-40B4-BE49-F238E27FC236}">
                <a16:creationId xmlns:a16="http://schemas.microsoft.com/office/drawing/2014/main" id="{EF05B756-14A9-4A08-A381-22766E1AC529}"/>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Socket Example – Internet File Server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Footer Placeholder 6"/>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zh-CN">
                <a:ea typeface="宋体" panose="02010600030101010101" pitchFamily="2" charset="-122"/>
              </a:rPr>
              <a:t>Computer Networks, Chapter 6 The Transport Layer</a:t>
            </a:r>
          </a:p>
        </p:txBody>
      </p:sp>
      <p:sp>
        <p:nvSpPr>
          <p:cNvPr id="17412" name="TextBox 5"/>
          <p:cNvSpPr txBox="1">
            <a:spLocks noChangeArrowheads="1"/>
          </p:cNvSpPr>
          <p:nvPr/>
        </p:nvSpPr>
        <p:spPr bwMode="auto">
          <a:xfrm>
            <a:off x="2212975" y="5665789"/>
            <a:ext cx="1219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2800">
                <a:ea typeface="宋体" panose="02010600030101010101" pitchFamily="2" charset="-122"/>
              </a:rPr>
              <a:t>. . .</a:t>
            </a:r>
          </a:p>
        </p:txBody>
      </p:sp>
      <p:grpSp>
        <p:nvGrpSpPr>
          <p:cNvPr id="17413" name="Group 15"/>
          <p:cNvGrpSpPr>
            <a:grpSpLocks/>
          </p:cNvGrpSpPr>
          <p:nvPr/>
        </p:nvGrpSpPr>
        <p:grpSpPr bwMode="auto">
          <a:xfrm>
            <a:off x="2133600" y="2152651"/>
            <a:ext cx="8172450" cy="3490913"/>
            <a:chOff x="609600" y="1995948"/>
            <a:chExt cx="8172450" cy="3490452"/>
          </a:xfrm>
        </p:grpSpPr>
        <p:pic>
          <p:nvPicPr>
            <p:cNvPr id="17421" name="Picture 2"/>
            <p:cNvPicPr>
              <a:picLocks noChangeAspect="1" noChangeArrowheads="1"/>
            </p:cNvPicPr>
            <p:nvPr/>
          </p:nvPicPr>
          <p:blipFill>
            <a:blip r:embed="rId2">
              <a:extLst>
                <a:ext uri="{28A0092B-C50C-407E-A947-70E740481C1C}">
                  <a14:useLocalDpi xmlns:a14="http://schemas.microsoft.com/office/drawing/2010/main" val="0"/>
                </a:ext>
              </a:extLst>
            </a:blip>
            <a:srcRect t="8965"/>
            <a:stretch>
              <a:fillRect/>
            </a:stretch>
          </p:blipFill>
          <p:spPr bwMode="auto">
            <a:xfrm>
              <a:off x="609600" y="2035277"/>
              <a:ext cx="8172450" cy="3451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22" name="Rectangle 7"/>
            <p:cNvSpPr>
              <a:spLocks noChangeArrowheads="1"/>
            </p:cNvSpPr>
            <p:nvPr/>
          </p:nvSpPr>
          <p:spPr bwMode="auto">
            <a:xfrm>
              <a:off x="4965290" y="1995948"/>
              <a:ext cx="1868129" cy="285136"/>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en-US" altLang="zh-CN">
                <a:ea typeface="宋体" panose="02010600030101010101" pitchFamily="2" charset="-122"/>
              </a:endParaRPr>
            </a:p>
          </p:txBody>
        </p:sp>
        <p:sp>
          <p:nvSpPr>
            <p:cNvPr id="17423" name="Rectangle 8"/>
            <p:cNvSpPr>
              <a:spLocks noChangeArrowheads="1"/>
            </p:cNvSpPr>
            <p:nvPr/>
          </p:nvSpPr>
          <p:spPr bwMode="auto">
            <a:xfrm>
              <a:off x="6415548" y="3429000"/>
              <a:ext cx="1868129" cy="285136"/>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en-US" altLang="zh-CN">
                <a:ea typeface="宋体" panose="02010600030101010101" pitchFamily="2" charset="-122"/>
              </a:endParaRPr>
            </a:p>
          </p:txBody>
        </p:sp>
        <p:sp>
          <p:nvSpPr>
            <p:cNvPr id="17424" name="Rectangle 9"/>
            <p:cNvSpPr>
              <a:spLocks noChangeArrowheads="1"/>
            </p:cNvSpPr>
            <p:nvPr/>
          </p:nvSpPr>
          <p:spPr bwMode="auto">
            <a:xfrm>
              <a:off x="4916129" y="4916129"/>
              <a:ext cx="2418736" cy="317091"/>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en-US" altLang="zh-CN">
                <a:ea typeface="宋体" panose="02010600030101010101" pitchFamily="2" charset="-122"/>
              </a:endParaRPr>
            </a:p>
          </p:txBody>
        </p:sp>
        <p:sp>
          <p:nvSpPr>
            <p:cNvPr id="17425" name="Rectangle 10"/>
            <p:cNvSpPr>
              <a:spLocks noChangeArrowheads="1"/>
            </p:cNvSpPr>
            <p:nvPr/>
          </p:nvSpPr>
          <p:spPr bwMode="auto">
            <a:xfrm>
              <a:off x="732502" y="3146323"/>
              <a:ext cx="4006645" cy="282677"/>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en-US" altLang="zh-CN">
                <a:ea typeface="宋体" panose="02010600030101010101" pitchFamily="2" charset="-122"/>
              </a:endParaRPr>
            </a:p>
          </p:txBody>
        </p:sp>
      </p:grpSp>
      <p:sp>
        <p:nvSpPr>
          <p:cNvPr id="17414" name="TextBox 14"/>
          <p:cNvSpPr txBox="1">
            <a:spLocks noChangeArrowheads="1"/>
          </p:cNvSpPr>
          <p:nvPr/>
        </p:nvSpPr>
        <p:spPr bwMode="auto">
          <a:xfrm>
            <a:off x="2197100" y="1193800"/>
            <a:ext cx="29845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2400">
                <a:ea typeface="宋体" panose="02010600030101010101" pitchFamily="2" charset="-122"/>
              </a:rPr>
              <a:t>Server code</a:t>
            </a:r>
          </a:p>
          <a:p>
            <a:pPr eaLnBrk="1" hangingPunct="1"/>
            <a:r>
              <a:rPr lang="en-US" altLang="zh-CN" sz="2400">
                <a:ea typeface="宋体" panose="02010600030101010101" pitchFamily="2" charset="-122"/>
              </a:rPr>
              <a:t> . . .</a:t>
            </a:r>
          </a:p>
        </p:txBody>
      </p:sp>
      <p:sp>
        <p:nvSpPr>
          <p:cNvPr id="17415" name="TextBox 20"/>
          <p:cNvSpPr txBox="1">
            <a:spLocks noChangeArrowheads="1"/>
          </p:cNvSpPr>
          <p:nvPr/>
        </p:nvSpPr>
        <p:spPr bwMode="auto">
          <a:xfrm>
            <a:off x="8504239" y="3636964"/>
            <a:ext cx="202088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600">
                <a:ea typeface="宋体" panose="02010600030101010101" pitchFamily="2" charset="-122"/>
              </a:rPr>
              <a:t>Make a socket</a:t>
            </a:r>
          </a:p>
        </p:txBody>
      </p:sp>
      <p:sp>
        <p:nvSpPr>
          <p:cNvPr id="22" name="Left Brace 21"/>
          <p:cNvSpPr/>
          <p:nvPr/>
        </p:nvSpPr>
        <p:spPr bwMode="auto">
          <a:xfrm flipH="1">
            <a:off x="8229601" y="3584576"/>
            <a:ext cx="231775" cy="466725"/>
          </a:xfrm>
          <a:prstGeom prst="leftBrace">
            <a:avLst/>
          </a:prstGeom>
          <a:noFill/>
          <a:ln w="19050" cap="flat" cmpd="sng" algn="ctr">
            <a:solidFill>
              <a:schemeClr val="accent3">
                <a:lumMod val="60000"/>
                <a:lumOff val="40000"/>
              </a:schemeClr>
            </a:solidFill>
            <a:prstDash val="solid"/>
            <a:round/>
            <a:headEnd type="none" w="med" len="med"/>
            <a:tailEnd type="none" w="med" len="med"/>
          </a:ln>
          <a:effec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en-US" altLang="zh-CN">
              <a:ea typeface="宋体" panose="02010600030101010101" pitchFamily="2" charset="-122"/>
            </a:endParaRPr>
          </a:p>
        </p:txBody>
      </p:sp>
      <p:sp>
        <p:nvSpPr>
          <p:cNvPr id="17417" name="TextBox 22"/>
          <p:cNvSpPr txBox="1">
            <a:spLocks noChangeArrowheads="1"/>
          </p:cNvSpPr>
          <p:nvPr/>
        </p:nvSpPr>
        <p:spPr bwMode="auto">
          <a:xfrm>
            <a:off x="8459789" y="4527550"/>
            <a:ext cx="160813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600">
                <a:ea typeface="宋体" panose="02010600030101010101" pitchFamily="2" charset="-122"/>
              </a:rPr>
              <a:t>Assign address </a:t>
            </a:r>
          </a:p>
        </p:txBody>
      </p:sp>
      <p:sp>
        <p:nvSpPr>
          <p:cNvPr id="24" name="Left Brace 23"/>
          <p:cNvSpPr/>
          <p:nvPr/>
        </p:nvSpPr>
        <p:spPr bwMode="auto">
          <a:xfrm flipH="1">
            <a:off x="8239126" y="4522788"/>
            <a:ext cx="227013" cy="393700"/>
          </a:xfrm>
          <a:prstGeom prst="leftBrace">
            <a:avLst/>
          </a:prstGeom>
          <a:noFill/>
          <a:ln w="19050" cap="flat" cmpd="sng" algn="ctr">
            <a:solidFill>
              <a:schemeClr val="accent3">
                <a:lumMod val="60000"/>
                <a:lumOff val="40000"/>
              </a:schemeClr>
            </a:solidFill>
            <a:prstDash val="solid"/>
            <a:round/>
            <a:headEnd type="none" w="med" len="med"/>
            <a:tailEnd type="none" w="med" len="med"/>
          </a:ln>
          <a:effec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en-US" altLang="zh-CN">
              <a:ea typeface="宋体" panose="02010600030101010101" pitchFamily="2" charset="-122"/>
            </a:endParaRPr>
          </a:p>
        </p:txBody>
      </p:sp>
      <p:sp>
        <p:nvSpPr>
          <p:cNvPr id="17419" name="TextBox 24"/>
          <p:cNvSpPr txBox="1">
            <a:spLocks noChangeArrowheads="1"/>
          </p:cNvSpPr>
          <p:nvPr/>
        </p:nvSpPr>
        <p:spPr bwMode="auto">
          <a:xfrm>
            <a:off x="8474075" y="5024438"/>
            <a:ext cx="1608138"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600">
                <a:ea typeface="宋体" panose="02010600030101010101" pitchFamily="2" charset="-122"/>
              </a:rPr>
              <a:t>Prepare for incoming connections</a:t>
            </a:r>
          </a:p>
        </p:txBody>
      </p:sp>
      <p:sp>
        <p:nvSpPr>
          <p:cNvPr id="26" name="Left Brace 25"/>
          <p:cNvSpPr/>
          <p:nvPr/>
        </p:nvSpPr>
        <p:spPr bwMode="auto">
          <a:xfrm flipH="1">
            <a:off x="8253413" y="5195888"/>
            <a:ext cx="227012" cy="501650"/>
          </a:xfrm>
          <a:prstGeom prst="leftBrace">
            <a:avLst/>
          </a:prstGeom>
          <a:noFill/>
          <a:ln w="19050" cap="flat" cmpd="sng" algn="ctr">
            <a:solidFill>
              <a:schemeClr val="accent3">
                <a:lumMod val="60000"/>
                <a:lumOff val="40000"/>
              </a:schemeClr>
            </a:solidFill>
            <a:prstDash val="solid"/>
            <a:round/>
            <a:headEnd type="none" w="med" len="med"/>
            <a:tailEnd type="none" w="med" len="med"/>
          </a:ln>
          <a:effec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en-US" altLang="zh-CN">
              <a:ea typeface="宋体" panose="02010600030101010101" pitchFamily="2" charset="-122"/>
            </a:endParaRPr>
          </a:p>
        </p:txBody>
      </p:sp>
      <p:sp>
        <p:nvSpPr>
          <p:cNvPr id="18" name="矩形 17">
            <a:extLst>
              <a:ext uri="{FF2B5EF4-FFF2-40B4-BE49-F238E27FC236}">
                <a16:creationId xmlns:a16="http://schemas.microsoft.com/office/drawing/2014/main" id="{DDC4A728-5057-4554-BFAE-435655C46174}"/>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Socket Example – Internet File Server (3)</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5" name="Picture 2"/>
          <p:cNvPicPr>
            <a:picLocks noChangeAspect="1" noChangeArrowheads="1"/>
          </p:cNvPicPr>
          <p:nvPr/>
        </p:nvPicPr>
        <p:blipFill>
          <a:blip r:embed="rId2">
            <a:extLst>
              <a:ext uri="{28A0092B-C50C-407E-A947-70E740481C1C}">
                <a14:useLocalDpi xmlns:a14="http://schemas.microsoft.com/office/drawing/2010/main" val="0"/>
              </a:ext>
            </a:extLst>
          </a:blip>
          <a:srcRect t="8951" r="46274" b="6834"/>
          <a:stretch>
            <a:fillRect/>
          </a:stretch>
        </p:blipFill>
        <p:spPr bwMode="auto">
          <a:xfrm>
            <a:off x="2581276" y="2022476"/>
            <a:ext cx="4124325" cy="316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6" name="Picture 3"/>
          <p:cNvPicPr>
            <a:picLocks noChangeAspect="1" noChangeArrowheads="1"/>
          </p:cNvPicPr>
          <p:nvPr/>
        </p:nvPicPr>
        <p:blipFill>
          <a:blip r:embed="rId3">
            <a:extLst>
              <a:ext uri="{28A0092B-C50C-407E-A947-70E740481C1C}">
                <a14:useLocalDpi xmlns:a14="http://schemas.microsoft.com/office/drawing/2010/main" val="0"/>
              </a:ext>
            </a:extLst>
          </a:blip>
          <a:srcRect t="7880" r="67105" b="9697"/>
          <a:stretch>
            <a:fillRect/>
          </a:stretch>
        </p:blipFill>
        <p:spPr bwMode="auto">
          <a:xfrm>
            <a:off x="2276476" y="5189538"/>
            <a:ext cx="2314575"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7" name="Footer Placeholder 6"/>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zh-CN">
                <a:ea typeface="宋体" panose="02010600030101010101" pitchFamily="2" charset="-122"/>
              </a:rPr>
              <a:t>Computer Networks, Chapter 6 The Transport Layer</a:t>
            </a:r>
          </a:p>
        </p:txBody>
      </p:sp>
      <p:sp>
        <p:nvSpPr>
          <p:cNvPr id="18438" name="TextBox 7"/>
          <p:cNvSpPr txBox="1">
            <a:spLocks noChangeArrowheads="1"/>
          </p:cNvSpPr>
          <p:nvPr/>
        </p:nvSpPr>
        <p:spPr bwMode="auto">
          <a:xfrm>
            <a:off x="2305050" y="1144588"/>
            <a:ext cx="29845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2400">
                <a:ea typeface="宋体" panose="02010600030101010101" pitchFamily="2" charset="-122"/>
              </a:rPr>
              <a:t>Server code</a:t>
            </a:r>
          </a:p>
          <a:p>
            <a:pPr eaLnBrk="1" hangingPunct="1"/>
            <a:r>
              <a:rPr lang="en-US" altLang="zh-CN" sz="2400">
                <a:ea typeface="宋体" panose="02010600030101010101" pitchFamily="2" charset="-122"/>
              </a:rPr>
              <a:t> . . .</a:t>
            </a:r>
          </a:p>
        </p:txBody>
      </p:sp>
      <p:sp>
        <p:nvSpPr>
          <p:cNvPr id="18439" name="TextBox 8"/>
          <p:cNvSpPr txBox="1">
            <a:spLocks noChangeArrowheads="1"/>
          </p:cNvSpPr>
          <p:nvPr/>
        </p:nvSpPr>
        <p:spPr bwMode="auto">
          <a:xfrm>
            <a:off x="7177089" y="2162175"/>
            <a:ext cx="202088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600">
                <a:ea typeface="宋体" panose="02010600030101010101" pitchFamily="2" charset="-122"/>
              </a:rPr>
              <a:t>Block waiting for the next connection</a:t>
            </a:r>
          </a:p>
        </p:txBody>
      </p:sp>
      <p:sp>
        <p:nvSpPr>
          <p:cNvPr id="10" name="Left Brace 9"/>
          <p:cNvSpPr/>
          <p:nvPr/>
        </p:nvSpPr>
        <p:spPr bwMode="auto">
          <a:xfrm flipH="1">
            <a:off x="6902450" y="2325689"/>
            <a:ext cx="230188" cy="466725"/>
          </a:xfrm>
          <a:prstGeom prst="leftBrace">
            <a:avLst/>
          </a:prstGeom>
          <a:noFill/>
          <a:ln w="19050" cap="flat" cmpd="sng" algn="ctr">
            <a:solidFill>
              <a:schemeClr val="accent3">
                <a:lumMod val="60000"/>
                <a:lumOff val="40000"/>
              </a:schemeClr>
            </a:solidFill>
            <a:prstDash val="solid"/>
            <a:round/>
            <a:headEnd type="none" w="med" len="med"/>
            <a:tailEnd type="none" w="med" len="med"/>
          </a:ln>
          <a:effec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en-US" altLang="zh-CN">
              <a:ea typeface="宋体" panose="02010600030101010101" pitchFamily="2" charset="-122"/>
            </a:endParaRPr>
          </a:p>
        </p:txBody>
      </p:sp>
      <p:sp>
        <p:nvSpPr>
          <p:cNvPr id="18441" name="TextBox 10"/>
          <p:cNvSpPr txBox="1">
            <a:spLocks noChangeArrowheads="1"/>
          </p:cNvSpPr>
          <p:nvPr/>
        </p:nvSpPr>
        <p:spPr bwMode="auto">
          <a:xfrm>
            <a:off x="7132639" y="2846388"/>
            <a:ext cx="22764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600">
                <a:ea typeface="宋体" panose="02010600030101010101" pitchFamily="2" charset="-122"/>
              </a:rPr>
              <a:t>Read (receive) request and treat as file name </a:t>
            </a:r>
          </a:p>
        </p:txBody>
      </p:sp>
      <p:sp>
        <p:nvSpPr>
          <p:cNvPr id="12" name="Left Brace 11"/>
          <p:cNvSpPr/>
          <p:nvPr/>
        </p:nvSpPr>
        <p:spPr bwMode="auto">
          <a:xfrm flipH="1">
            <a:off x="6911976" y="2851150"/>
            <a:ext cx="225425" cy="344488"/>
          </a:xfrm>
          <a:prstGeom prst="leftBrace">
            <a:avLst/>
          </a:prstGeom>
          <a:noFill/>
          <a:ln w="19050" cap="flat" cmpd="sng" algn="ctr">
            <a:solidFill>
              <a:schemeClr val="accent3">
                <a:lumMod val="60000"/>
                <a:lumOff val="40000"/>
              </a:schemeClr>
            </a:solidFill>
            <a:prstDash val="solid"/>
            <a:round/>
            <a:headEnd type="none" w="med" len="med"/>
            <a:tailEnd type="none" w="med" len="med"/>
          </a:ln>
          <a:effec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en-US" altLang="zh-CN">
              <a:ea typeface="宋体" panose="02010600030101010101" pitchFamily="2" charset="-122"/>
            </a:endParaRPr>
          </a:p>
        </p:txBody>
      </p:sp>
      <p:sp>
        <p:nvSpPr>
          <p:cNvPr id="18443" name="TextBox 12"/>
          <p:cNvSpPr txBox="1">
            <a:spLocks noChangeArrowheads="1"/>
          </p:cNvSpPr>
          <p:nvPr/>
        </p:nvSpPr>
        <p:spPr bwMode="auto">
          <a:xfrm>
            <a:off x="7146925" y="4886325"/>
            <a:ext cx="27447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600">
                <a:ea typeface="宋体" panose="02010600030101010101" pitchFamily="2" charset="-122"/>
              </a:rPr>
              <a:t>Write (send) all file data</a:t>
            </a:r>
          </a:p>
        </p:txBody>
      </p:sp>
      <p:sp>
        <p:nvSpPr>
          <p:cNvPr id="14" name="Left Brace 13"/>
          <p:cNvSpPr/>
          <p:nvPr/>
        </p:nvSpPr>
        <p:spPr bwMode="auto">
          <a:xfrm flipH="1">
            <a:off x="6921501" y="4902201"/>
            <a:ext cx="231775" cy="358775"/>
          </a:xfrm>
          <a:prstGeom prst="leftBrace">
            <a:avLst/>
          </a:prstGeom>
          <a:noFill/>
          <a:ln w="19050" cap="flat" cmpd="sng" algn="ctr">
            <a:solidFill>
              <a:schemeClr val="accent3">
                <a:lumMod val="60000"/>
                <a:lumOff val="40000"/>
              </a:schemeClr>
            </a:solidFill>
            <a:prstDash val="solid"/>
            <a:round/>
            <a:headEnd type="none" w="med" len="med"/>
            <a:tailEnd type="none" w="med" len="med"/>
          </a:ln>
          <a:effec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en-US" altLang="zh-CN">
              <a:ea typeface="宋体" panose="02010600030101010101" pitchFamily="2" charset="-122"/>
            </a:endParaRPr>
          </a:p>
        </p:txBody>
      </p:sp>
      <p:sp>
        <p:nvSpPr>
          <p:cNvPr id="18445" name="TextBox 14"/>
          <p:cNvSpPr txBox="1">
            <a:spLocks noChangeArrowheads="1"/>
          </p:cNvSpPr>
          <p:nvPr/>
        </p:nvSpPr>
        <p:spPr bwMode="auto">
          <a:xfrm>
            <a:off x="7142164" y="5697539"/>
            <a:ext cx="29749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600">
                <a:ea typeface="宋体" panose="02010600030101010101" pitchFamily="2" charset="-122"/>
              </a:rPr>
              <a:t>Done, so close this connection</a:t>
            </a:r>
          </a:p>
        </p:txBody>
      </p:sp>
      <p:sp>
        <p:nvSpPr>
          <p:cNvPr id="16" name="Left Brace 15"/>
          <p:cNvSpPr/>
          <p:nvPr/>
        </p:nvSpPr>
        <p:spPr bwMode="auto">
          <a:xfrm flipH="1">
            <a:off x="6916739" y="5713414"/>
            <a:ext cx="231775" cy="358775"/>
          </a:xfrm>
          <a:prstGeom prst="leftBrace">
            <a:avLst/>
          </a:prstGeom>
          <a:noFill/>
          <a:ln w="19050" cap="flat" cmpd="sng" algn="ctr">
            <a:solidFill>
              <a:schemeClr val="accent3">
                <a:lumMod val="60000"/>
                <a:lumOff val="40000"/>
              </a:schemeClr>
            </a:solidFill>
            <a:prstDash val="solid"/>
            <a:round/>
            <a:headEnd type="none" w="med" len="med"/>
            <a:tailEnd type="none" w="med" len="med"/>
          </a:ln>
          <a:effec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en-US" altLang="zh-CN">
              <a:ea typeface="宋体" panose="02010600030101010101" pitchFamily="2" charset="-122"/>
            </a:endParaRPr>
          </a:p>
        </p:txBody>
      </p:sp>
      <p:sp>
        <p:nvSpPr>
          <p:cNvPr id="15" name="矩形 14">
            <a:extLst>
              <a:ext uri="{FF2B5EF4-FFF2-40B4-BE49-F238E27FC236}">
                <a16:creationId xmlns:a16="http://schemas.microsoft.com/office/drawing/2014/main" id="{1654B69B-80EF-43A1-872B-D84971528EE9}"/>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Socket Example – Internet File Server (4)</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19460" name="Rectangle 3"/>
          <p:cNvSpPr>
            <a:spLocks noGrp="1" noChangeArrowheads="1"/>
          </p:cNvSpPr>
          <p:nvPr>
            <p:ph idx="1"/>
          </p:nvPr>
        </p:nvSpPr>
        <p:spPr>
          <a:xfrm>
            <a:off x="2905125" y="1990725"/>
            <a:ext cx="7315200" cy="2628572"/>
          </a:xfrm>
        </p:spPr>
        <p:txBody>
          <a:bodyPr/>
          <a:lstStyle/>
          <a:p>
            <a:pPr lvl="1"/>
            <a:r>
              <a:rPr lang="en-US" altLang="zh-CN" dirty="0">
                <a:ea typeface="宋体" panose="02010600030101010101" pitchFamily="2" charset="-122"/>
              </a:rPr>
              <a:t>Addressing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ea typeface="宋体" panose="02010600030101010101" pitchFamily="2" charset="-122"/>
              </a:rPr>
              <a:t>Connection establishment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ea typeface="宋体" panose="02010600030101010101" pitchFamily="2" charset="-122"/>
              </a:rPr>
              <a:t>Connection release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ea typeface="宋体" panose="02010600030101010101" pitchFamily="2" charset="-122"/>
              </a:rPr>
              <a:t>Error control and flow control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ea typeface="宋体" panose="02010600030101010101" pitchFamily="2" charset="-122"/>
              </a:rPr>
              <a:t>Multiplexing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ea typeface="宋体" panose="02010600030101010101" pitchFamily="2" charset="-122"/>
              </a:rPr>
              <a:t>Crash recovery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endParaRPr lang="en-US" altLang="zh-CN" dirty="0">
              <a:ea typeface="宋体" panose="02010600030101010101" pitchFamily="2" charset="-122"/>
            </a:endParaRPr>
          </a:p>
        </p:txBody>
      </p:sp>
      <p:sp>
        <p:nvSpPr>
          <p:cNvPr id="5" name="矩形 4">
            <a:extLst>
              <a:ext uri="{FF2B5EF4-FFF2-40B4-BE49-F238E27FC236}">
                <a16:creationId xmlns:a16="http://schemas.microsoft.com/office/drawing/2014/main" id="{99201CDA-80C0-4D27-85AE-6CB2C09C4E40}"/>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Elements of Transport Protocols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20484" name="Content Placeholder 2"/>
          <p:cNvSpPr>
            <a:spLocks noGrp="1"/>
          </p:cNvSpPr>
          <p:nvPr>
            <p:ph idx="1"/>
          </p:nvPr>
        </p:nvSpPr>
        <p:spPr>
          <a:xfrm>
            <a:off x="715125" y="1490187"/>
            <a:ext cx="5249863" cy="3512737"/>
          </a:xfrm>
        </p:spPr>
        <p:txBody>
          <a:bodyPr/>
          <a:lstStyle/>
          <a:p>
            <a:pPr marL="166688" indent="-166688">
              <a:lnSpc>
                <a:spcPct val="100000"/>
              </a:lnSpc>
              <a:buFont typeface="Arial" panose="020B0604020202020204" pitchFamily="34" charset="0"/>
              <a:buChar char="•"/>
            </a:pPr>
            <a:r>
              <a:rPr lang="en-US" altLang="zh-CN" dirty="0">
                <a:ea typeface="宋体" panose="02010600030101010101" pitchFamily="2" charset="-122"/>
              </a:rPr>
              <a:t>Transport layer adds TSAPs (Transport Service Access Point)</a:t>
            </a:r>
          </a:p>
          <a:p>
            <a:pPr marL="166688" indent="-166688">
              <a:lnSpc>
                <a:spcPct val="100000"/>
              </a:lnSpc>
              <a:buFont typeface="Arial" panose="020B0604020202020204" pitchFamily="34" charset="0"/>
              <a:buChar char="•"/>
            </a:pPr>
            <a:r>
              <a:rPr lang="en-US" altLang="zh-CN" dirty="0">
                <a:ea typeface="宋体" panose="02010600030101010101" pitchFamily="2" charset="-122"/>
              </a:rPr>
              <a:t>Multiple clients and servers can run on a host with a single network (IP) address</a:t>
            </a:r>
          </a:p>
          <a:p>
            <a:pPr marL="166688" indent="-166688">
              <a:lnSpc>
                <a:spcPct val="100000"/>
              </a:lnSpc>
              <a:buFont typeface="Arial" panose="020B0604020202020204" pitchFamily="34" charset="0"/>
              <a:buChar char="•"/>
            </a:pPr>
            <a:r>
              <a:rPr lang="en-US" altLang="zh-CN" dirty="0">
                <a:ea typeface="宋体" panose="02010600030101010101" pitchFamily="2" charset="-122"/>
              </a:rPr>
              <a:t>TSAPs are ports for TCP/UDP</a:t>
            </a:r>
          </a:p>
        </p:txBody>
      </p:sp>
      <p:pic>
        <p:nvPicPr>
          <p:cNvPr id="2048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1025" y="1425976"/>
            <a:ext cx="5249863" cy="436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7D50DF8D-D956-4F07-B799-90928BDBDD5E}"/>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Addressing</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r>
              <a:rPr lang="en-US" altLang="zh-CN"/>
              <a:t>Computer Networks, Chapter 6 The Transport Layer</a:t>
            </a:r>
            <a:endParaRPr lang="en-US" altLang="zh-CN" i="0"/>
          </a:p>
        </p:txBody>
      </p:sp>
      <p:pic>
        <p:nvPicPr>
          <p:cNvPr id="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2614" y="1828801"/>
            <a:ext cx="2795587" cy="176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1401" y="1828801"/>
            <a:ext cx="2714625" cy="176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1800" y="3124201"/>
            <a:ext cx="6096000" cy="148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24201" y="4114801"/>
            <a:ext cx="1471613" cy="41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53314" y="4724400"/>
            <a:ext cx="1538287"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a:extLst>
              <a:ext uri="{FF2B5EF4-FFF2-40B4-BE49-F238E27FC236}">
                <a16:creationId xmlns:a16="http://schemas.microsoft.com/office/drawing/2014/main" id="{032ECDE8-A1B5-4C82-8084-90F35D43A1F3}"/>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Port Numbers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40292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6" presetClass="entr" presetSubtype="37"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arn(outVertical)">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42" presetClass="path" presetSubtype="0" accel="50000" decel="50000" fill="hold" nodeType="clickEffect">
                                  <p:stCondLst>
                                    <p:cond delay="0"/>
                                  </p:stCondLst>
                                  <p:childTnLst>
                                    <p:animMotion origin="layout" path="M 5.55112E-17 4.62428E-6 L 0.475 -0.0081 " pathEditMode="relative" rAng="0" ptsTypes="AA">
                                      <p:cBhvr>
                                        <p:cTn id="21" dur="2000" fill="hold"/>
                                        <p:tgtEl>
                                          <p:spTgt spid="8"/>
                                        </p:tgtEl>
                                        <p:attrNameLst>
                                          <p:attrName>ppt_x</p:attrName>
                                          <p:attrName>ppt_y</p:attrName>
                                        </p:attrNameLst>
                                      </p:cBhvr>
                                      <p:rCtr x="2375000" y="-41600"/>
                                    </p:animMotion>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42" presetClass="path" presetSubtype="0" accel="50000" decel="50000" fill="hold" nodeType="clickEffect">
                                  <p:stCondLst>
                                    <p:cond delay="0"/>
                                  </p:stCondLst>
                                  <p:childTnLst>
                                    <p:animMotion origin="layout" path="M 4.72222E-6 -2.42775E-6 L -0.48247 0.00093 " pathEditMode="relative" rAng="0" ptsTypes="AA">
                                      <p:cBhvr>
                                        <p:cTn id="29" dur="2000" fill="hold"/>
                                        <p:tgtEl>
                                          <p:spTgt spid="9"/>
                                        </p:tgtEl>
                                        <p:attrNameLst>
                                          <p:attrName>ppt_x</p:attrName>
                                          <p:attrName>ppt_y</p:attrName>
                                        </p:attrNameLst>
                                      </p:cBhvr>
                                      <p:rCtr x="-2413200" y="46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r>
              <a:rPr lang="en-US" altLang="zh-CN"/>
              <a:t>Computer Networks, Chapter 6 The Transport Layer</a:t>
            </a:r>
            <a:endParaRPr lang="en-US" altLang="zh-CN" i="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1" y="1208088"/>
            <a:ext cx="6424613" cy="496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A3FDBCAD-5714-4EAE-9119-5CCCE5472308}"/>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IP Addresses VS. Port Numbers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2947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r>
              <a:rPr lang="en-US" altLang="zh-CN"/>
              <a:t>Computer Networks, Chapter 6 The Transport Layer</a:t>
            </a:r>
            <a:endParaRPr lang="en-US" altLang="zh-CN" i="0"/>
          </a:p>
        </p:txBody>
      </p:sp>
      <p:pic>
        <p:nvPicPr>
          <p:cNvPr id="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2867" y="2153691"/>
            <a:ext cx="1217613"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3780" y="3398292"/>
            <a:ext cx="4687887"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39092" y="4900066"/>
            <a:ext cx="2797175"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1491673" y="5894685"/>
            <a:ext cx="9388366" cy="461665"/>
          </a:xfrm>
          <a:prstGeom prst="rect">
            <a:avLst/>
          </a:prstGeom>
        </p:spPr>
        <p:txBody>
          <a:bodyPr wrap="square">
            <a:spAutoFit/>
          </a:bodyPr>
          <a:lstStyle/>
          <a:p>
            <a:r>
              <a:rPr lang="en-US" altLang="zh-CN" sz="2400" b="1" dirty="0">
                <a:solidFill>
                  <a:srgbClr val="0000FF"/>
                </a:solidFill>
                <a:latin typeface="Calibri" panose="020F0502020204030204" pitchFamily="34" charset="0"/>
                <a:ea typeface="宋体" panose="02010600030101010101" pitchFamily="2" charset="-122"/>
                <a:cs typeface="Calibri" panose="020F0502020204030204" pitchFamily="34" charset="0"/>
              </a:rPr>
              <a:t>In UNIX, the well-known ports are stored in a file called /</a:t>
            </a:r>
            <a:r>
              <a:rPr lang="en-US" altLang="zh-CN" sz="2400" b="1" dirty="0" err="1">
                <a:solidFill>
                  <a:srgbClr val="0000FF"/>
                </a:solidFill>
                <a:latin typeface="Calibri" panose="020F0502020204030204" pitchFamily="34" charset="0"/>
                <a:ea typeface="宋体" panose="02010600030101010101" pitchFamily="2" charset="-122"/>
                <a:cs typeface="Calibri" panose="020F0502020204030204" pitchFamily="34" charset="0"/>
              </a:rPr>
              <a:t>etc</a:t>
            </a:r>
            <a:r>
              <a:rPr lang="en-US" altLang="zh-CN" sz="2400" b="1" dirty="0">
                <a:solidFill>
                  <a:srgbClr val="0000FF"/>
                </a:solidFill>
                <a:latin typeface="Calibri" panose="020F0502020204030204" pitchFamily="34" charset="0"/>
                <a:ea typeface="宋体" panose="02010600030101010101" pitchFamily="2" charset="-122"/>
                <a:cs typeface="Calibri" panose="020F0502020204030204" pitchFamily="34" charset="0"/>
              </a:rPr>
              <a:t>/services.</a:t>
            </a:r>
            <a:endParaRPr lang="zh-CN" altLang="en-US" sz="2400" b="1" dirty="0">
              <a:solidFill>
                <a:srgbClr val="0000FF"/>
              </a:solidFill>
            </a:endParaRPr>
          </a:p>
        </p:txBody>
      </p:sp>
      <p:sp>
        <p:nvSpPr>
          <p:cNvPr id="9" name="矩形 8">
            <a:extLst>
              <a:ext uri="{FF2B5EF4-FFF2-40B4-BE49-F238E27FC236}">
                <a16:creationId xmlns:a16="http://schemas.microsoft.com/office/drawing/2014/main" id="{BF39F6C4-3CEF-4BDC-A8A6-C5584B4B92E3}"/>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ICANN</a:t>
            </a:r>
            <a:r>
              <a:rPr lang="en-US" altLang="zh-CN" sz="2800" b="1" kern="0" dirty="0">
                <a:solidFill>
                  <a:srgbClr val="C00000"/>
                </a:solidFill>
                <a:latin typeface="微软雅黑" panose="020B0503020204020204" pitchFamily="34" charset="-122"/>
                <a:ea typeface="微软雅黑" panose="020B0503020204020204" pitchFamily="34" charset="-122"/>
              </a:rPr>
              <a:t> Ranges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91E8EEDE-DFEA-4B02-85EF-6169C9D6AFEB}"/>
              </a:ext>
            </a:extLst>
          </p:cNvPr>
          <p:cNvSpPr txBox="1"/>
          <p:nvPr/>
        </p:nvSpPr>
        <p:spPr>
          <a:xfrm>
            <a:off x="162910" y="1053126"/>
            <a:ext cx="11700639" cy="369332"/>
          </a:xfrm>
          <a:prstGeom prst="rect">
            <a:avLst/>
          </a:prstGeom>
          <a:noFill/>
        </p:spPr>
        <p:txBody>
          <a:bodyPr wrap="none" rtlCol="0">
            <a:spAutoFit/>
          </a:bodyPr>
          <a:lstStyle/>
          <a:p>
            <a:pPr marL="285750" indent="-285750">
              <a:buFont typeface="Arial" panose="020B0604020202020204" pitchFamily="34" charset="0"/>
              <a:buChar char="•"/>
            </a:pPr>
            <a:r>
              <a:rPr lang="en-US" altLang="zh-CN" sz="1800" b="1" kern="0" dirty="0">
                <a:latin typeface="微软雅黑" panose="020B0503020204020204" pitchFamily="34" charset="-122"/>
                <a:ea typeface="微软雅黑" panose="020B0503020204020204" pitchFamily="34" charset="-122"/>
                <a:cs typeface="+mn-cs"/>
              </a:rPr>
              <a:t>ICANN</a:t>
            </a:r>
            <a:r>
              <a:rPr lang="zh-CN" altLang="en-US" sz="1800" b="1" kern="0" dirty="0">
                <a:latin typeface="微软雅黑" panose="020B0503020204020204" pitchFamily="34" charset="-122"/>
                <a:ea typeface="微软雅黑" panose="020B0503020204020204" pitchFamily="34" charset="-122"/>
                <a:cs typeface="+mn-cs"/>
              </a:rPr>
              <a:t>：</a:t>
            </a:r>
            <a:r>
              <a:rPr lang="en-US" altLang="zh-CN" sz="1800" b="1" kern="0" dirty="0">
                <a:latin typeface="微软雅黑" panose="020B0503020204020204" pitchFamily="34" charset="-122"/>
                <a:ea typeface="微软雅黑" panose="020B0503020204020204" pitchFamily="34" charset="-122"/>
              </a:rPr>
              <a:t>The Internet Corporation for Assigned Names and Numbers</a:t>
            </a:r>
            <a:r>
              <a:rPr lang="zh-CN" altLang="en-US" b="1" kern="0" dirty="0">
                <a:latin typeface="微软雅黑" panose="020B0503020204020204" pitchFamily="34" charset="-122"/>
                <a:ea typeface="微软雅黑" panose="020B0503020204020204" pitchFamily="34" charset="-122"/>
              </a:rPr>
              <a:t>互联网名称与数字地址分配机构</a:t>
            </a:r>
          </a:p>
        </p:txBody>
      </p:sp>
      <p:sp>
        <p:nvSpPr>
          <p:cNvPr id="10" name="文本框 9">
            <a:extLst>
              <a:ext uri="{FF2B5EF4-FFF2-40B4-BE49-F238E27FC236}">
                <a16:creationId xmlns:a16="http://schemas.microsoft.com/office/drawing/2014/main" id="{6EF99D8E-CE7B-4C0A-B218-0F49DFDB2915}"/>
              </a:ext>
            </a:extLst>
          </p:cNvPr>
          <p:cNvSpPr txBox="1"/>
          <p:nvPr/>
        </p:nvSpPr>
        <p:spPr>
          <a:xfrm>
            <a:off x="6821215" y="1789012"/>
            <a:ext cx="5258072" cy="2631490"/>
          </a:xfrm>
          <a:prstGeom prst="rect">
            <a:avLst/>
          </a:prstGeom>
          <a:noFill/>
        </p:spPr>
        <p:txBody>
          <a:bodyPr wrap="square">
            <a:spAutoFit/>
          </a:bodyPr>
          <a:lstStyle/>
          <a:p>
            <a:pPr marL="285750" indent="-285750">
              <a:spcBef>
                <a:spcPts val="600"/>
              </a:spcBef>
              <a:buFont typeface="Arial" panose="020B0604020202020204" pitchFamily="34" charset="0"/>
              <a:buChar char="•"/>
            </a:pPr>
            <a:r>
              <a:rPr lang="en-US" altLang="zh-CN" sz="1500" b="0" i="0" dirty="0">
                <a:effectLst/>
                <a:latin typeface="微软雅黑" panose="020B0503020204020204" pitchFamily="34" charset="-122"/>
                <a:ea typeface="微软雅黑" panose="020B0503020204020204" pitchFamily="34" charset="-122"/>
              </a:rPr>
              <a:t>TCP</a:t>
            </a:r>
            <a:r>
              <a:rPr lang="zh-CN" altLang="en-US" sz="1500" b="0" i="0" dirty="0">
                <a:effectLst/>
                <a:latin typeface="微软雅黑" panose="020B0503020204020204" pitchFamily="34" charset="-122"/>
                <a:ea typeface="微软雅黑" panose="020B0503020204020204" pitchFamily="34" charset="-122"/>
              </a:rPr>
              <a:t>与</a:t>
            </a:r>
            <a:r>
              <a:rPr lang="en-US" altLang="zh-CN" sz="1500" b="0" i="0" dirty="0">
                <a:effectLst/>
                <a:latin typeface="微软雅黑" panose="020B0503020204020204" pitchFamily="34" charset="-122"/>
                <a:ea typeface="微软雅黑" panose="020B0503020204020204" pitchFamily="34" charset="-122"/>
              </a:rPr>
              <a:t>UDP</a:t>
            </a:r>
            <a:r>
              <a:rPr lang="zh-CN" altLang="en-US" sz="1500" b="0" i="0" dirty="0">
                <a:effectLst/>
                <a:latin typeface="微软雅黑" panose="020B0503020204020204" pitchFamily="34" charset="-122"/>
                <a:ea typeface="微软雅黑" panose="020B0503020204020204" pitchFamily="34" charset="-122"/>
              </a:rPr>
              <a:t>段结构中</a:t>
            </a:r>
            <a:r>
              <a:rPr lang="zh-CN" altLang="en-US" sz="1500" b="0" i="0" u="none" strike="noStrike" dirty="0">
                <a:effectLst/>
                <a:latin typeface="微软雅黑" panose="020B0503020204020204" pitchFamily="34" charset="-122"/>
                <a:ea typeface="微软雅黑" panose="020B0503020204020204" pitchFamily="34" charset="-122"/>
              </a:rPr>
              <a:t>端口地址</a:t>
            </a:r>
            <a:r>
              <a:rPr lang="zh-CN" altLang="en-US" sz="1500" b="0" i="0" dirty="0">
                <a:effectLst/>
                <a:latin typeface="微软雅黑" panose="020B0503020204020204" pitchFamily="34" charset="-122"/>
                <a:ea typeface="微软雅黑" panose="020B0503020204020204" pitchFamily="34" charset="-122"/>
              </a:rPr>
              <a:t>都是</a:t>
            </a:r>
            <a:r>
              <a:rPr lang="en-US" altLang="zh-CN" sz="1500" b="0" i="0" dirty="0">
                <a:effectLst/>
                <a:latin typeface="微软雅黑" panose="020B0503020204020204" pitchFamily="34" charset="-122"/>
                <a:ea typeface="微软雅黑" panose="020B0503020204020204" pitchFamily="34" charset="-122"/>
              </a:rPr>
              <a:t>16</a:t>
            </a:r>
            <a:r>
              <a:rPr lang="zh-CN" altLang="en-US" sz="1500" b="0" i="0" dirty="0">
                <a:effectLst/>
                <a:latin typeface="微软雅黑" panose="020B0503020204020204" pitchFamily="34" charset="-122"/>
                <a:ea typeface="微软雅黑" panose="020B0503020204020204" pitchFamily="34" charset="-122"/>
              </a:rPr>
              <a:t>比特，可以有在</a:t>
            </a:r>
            <a:r>
              <a:rPr lang="en-US" altLang="zh-CN" sz="1500" b="0" i="0" dirty="0">
                <a:effectLst/>
                <a:latin typeface="微软雅黑" panose="020B0503020204020204" pitchFamily="34" charset="-122"/>
                <a:ea typeface="微软雅黑" panose="020B0503020204020204" pitchFamily="34" charset="-122"/>
              </a:rPr>
              <a:t>0---65535</a:t>
            </a:r>
            <a:r>
              <a:rPr lang="zh-CN" altLang="en-US" sz="1500" b="0" i="0" dirty="0">
                <a:effectLst/>
                <a:latin typeface="微软雅黑" panose="020B0503020204020204" pitchFamily="34" charset="-122"/>
                <a:ea typeface="微软雅黑" panose="020B0503020204020204" pitchFamily="34" charset="-122"/>
              </a:rPr>
              <a:t>范围内的端口号。</a:t>
            </a:r>
            <a:endParaRPr lang="en-US" altLang="zh-CN" sz="1500" b="0" i="0" dirty="0">
              <a:effectLst/>
              <a:latin typeface="微软雅黑" panose="020B0503020204020204" pitchFamily="34" charset="-122"/>
              <a:ea typeface="微软雅黑" panose="020B0503020204020204" pitchFamily="34" charset="-122"/>
            </a:endParaRPr>
          </a:p>
          <a:p>
            <a:pPr marL="285750" indent="-285750">
              <a:spcBef>
                <a:spcPts val="600"/>
              </a:spcBef>
              <a:buFont typeface="Arial" panose="020B0604020202020204" pitchFamily="34" charset="0"/>
              <a:buChar char="•"/>
            </a:pPr>
            <a:r>
              <a:rPr lang="zh-CN" altLang="en-US" sz="1500" b="1" i="0" dirty="0">
                <a:effectLst/>
                <a:latin typeface="微软雅黑" panose="020B0503020204020204" pitchFamily="34" charset="-122"/>
                <a:ea typeface="微软雅黑" panose="020B0503020204020204" pitchFamily="34" charset="-122"/>
              </a:rPr>
              <a:t>知名端口号</a:t>
            </a:r>
            <a:r>
              <a:rPr lang="zh-CN" altLang="en-US" sz="1500" b="0" i="0" dirty="0">
                <a:effectLst/>
                <a:latin typeface="微软雅黑" panose="020B0503020204020204" pitchFamily="34" charset="-122"/>
                <a:ea typeface="微软雅黑" panose="020B0503020204020204" pitchFamily="34" charset="-122"/>
              </a:rPr>
              <a:t>为</a:t>
            </a:r>
            <a:r>
              <a:rPr lang="en-US" altLang="zh-CN" sz="1500" b="0" i="0" dirty="0">
                <a:effectLst/>
                <a:latin typeface="微软雅黑" panose="020B0503020204020204" pitchFamily="34" charset="-122"/>
                <a:ea typeface="微软雅黑" panose="020B0503020204020204" pitchFamily="34" charset="-122"/>
              </a:rPr>
              <a:t>0</a:t>
            </a:r>
            <a:r>
              <a:rPr lang="zh-CN" altLang="en-US" sz="1500" b="0" i="0" dirty="0">
                <a:effectLst/>
                <a:latin typeface="微软雅黑" panose="020B0503020204020204" pitchFamily="34" charset="-122"/>
                <a:ea typeface="微软雅黑" panose="020B0503020204020204" pitchFamily="34" charset="-122"/>
              </a:rPr>
              <a:t>－</a:t>
            </a:r>
            <a:r>
              <a:rPr lang="en-US" altLang="zh-CN" sz="1500" b="0" i="0" dirty="0">
                <a:effectLst/>
                <a:latin typeface="微软雅黑" panose="020B0503020204020204" pitchFamily="34" charset="-122"/>
                <a:ea typeface="微软雅黑" panose="020B0503020204020204" pitchFamily="34" charset="-122"/>
              </a:rPr>
              <a:t>1023</a:t>
            </a:r>
            <a:r>
              <a:rPr lang="zh-CN" altLang="en-US" sz="1500" b="0" i="0" dirty="0">
                <a:effectLst/>
                <a:latin typeface="微软雅黑" panose="020B0503020204020204" pitchFamily="34" charset="-122"/>
                <a:ea typeface="微软雅黑" panose="020B0503020204020204" pitchFamily="34" charset="-122"/>
              </a:rPr>
              <a:t>，由</a:t>
            </a:r>
            <a:r>
              <a:rPr lang="en-US" altLang="zh-CN" sz="1500" b="0" i="0" dirty="0">
                <a:effectLst/>
                <a:latin typeface="微软雅黑" panose="020B0503020204020204" pitchFamily="34" charset="-122"/>
                <a:ea typeface="微软雅黑" panose="020B0503020204020204" pitchFamily="34" charset="-122"/>
              </a:rPr>
              <a:t>ICANN</a:t>
            </a:r>
            <a:r>
              <a:rPr lang="zh-CN" altLang="en-US" sz="1500" b="0" i="0" dirty="0">
                <a:effectLst/>
                <a:latin typeface="微软雅黑" panose="020B0503020204020204" pitchFamily="34" charset="-122"/>
                <a:ea typeface="微软雅黑" panose="020B0503020204020204" pitchFamily="34" charset="-122"/>
              </a:rPr>
              <a:t>预留给</a:t>
            </a:r>
            <a:r>
              <a:rPr lang="en-US" altLang="zh-CN" sz="1500" b="0" i="0" dirty="0">
                <a:effectLst/>
                <a:latin typeface="微软雅黑" panose="020B0503020204020204" pitchFamily="34" charset="-122"/>
                <a:ea typeface="微软雅黑" panose="020B0503020204020204" pitchFamily="34" charset="-122"/>
              </a:rPr>
              <a:t>TCP/UDP</a:t>
            </a:r>
            <a:r>
              <a:rPr lang="zh-CN" altLang="en-US" sz="1500" b="0" i="0" dirty="0">
                <a:effectLst/>
                <a:latin typeface="微软雅黑" panose="020B0503020204020204" pitchFamily="34" charset="-122"/>
                <a:ea typeface="微软雅黑" panose="020B0503020204020204" pitchFamily="34" charset="-122"/>
              </a:rPr>
              <a:t>使用的端口号，如</a:t>
            </a:r>
            <a:r>
              <a:rPr lang="en-US" altLang="zh-CN" sz="1500" b="0" i="0" dirty="0">
                <a:effectLst/>
                <a:latin typeface="微软雅黑" panose="020B0503020204020204" pitchFamily="34" charset="-122"/>
                <a:ea typeface="微软雅黑" panose="020B0503020204020204" pitchFamily="34" charset="-122"/>
              </a:rPr>
              <a:t>HTTP 80</a:t>
            </a:r>
            <a:r>
              <a:rPr lang="zh-CN" altLang="en-US" sz="1500" b="0" i="0" dirty="0">
                <a:effectLst/>
                <a:latin typeface="微软雅黑" panose="020B0503020204020204" pitchFamily="34" charset="-122"/>
                <a:ea typeface="微软雅黑" panose="020B0503020204020204" pitchFamily="34" charset="-122"/>
              </a:rPr>
              <a:t>，</a:t>
            </a:r>
            <a:r>
              <a:rPr lang="en-US" altLang="zh-CN" sz="1500" b="0" i="0" dirty="0">
                <a:effectLst/>
                <a:latin typeface="微软雅黑" panose="020B0503020204020204" pitchFamily="34" charset="-122"/>
                <a:ea typeface="微软雅黑" panose="020B0503020204020204" pitchFamily="34" charset="-122"/>
              </a:rPr>
              <a:t>POP3 110</a:t>
            </a:r>
            <a:r>
              <a:rPr lang="zh-CN" altLang="en-US" sz="1500" b="0" i="0" dirty="0">
                <a:effectLst/>
                <a:latin typeface="微软雅黑" panose="020B0503020204020204" pitchFamily="34" charset="-122"/>
                <a:ea typeface="微软雅黑" panose="020B0503020204020204" pitchFamily="34" charset="-122"/>
              </a:rPr>
              <a:t>，</a:t>
            </a:r>
            <a:r>
              <a:rPr lang="en-US" altLang="zh-CN" sz="1500" b="0" i="0" dirty="0">
                <a:effectLst/>
                <a:latin typeface="微软雅黑" panose="020B0503020204020204" pitchFamily="34" charset="-122"/>
                <a:ea typeface="微软雅黑" panose="020B0503020204020204" pitchFamily="34" charset="-122"/>
              </a:rPr>
              <a:t>FTP 21</a:t>
            </a:r>
            <a:r>
              <a:rPr lang="zh-CN" altLang="en-US" sz="1500" b="0" i="0" dirty="0">
                <a:effectLst/>
                <a:latin typeface="微软雅黑" panose="020B0503020204020204" pitchFamily="34" charset="-122"/>
                <a:ea typeface="微软雅黑" panose="020B0503020204020204" pitchFamily="34" charset="-122"/>
              </a:rPr>
              <a:t>，</a:t>
            </a:r>
            <a:r>
              <a:rPr lang="en-US" altLang="zh-CN" sz="1500" b="0" i="0" dirty="0">
                <a:effectLst/>
                <a:latin typeface="微软雅黑" panose="020B0503020204020204" pitchFamily="34" charset="-122"/>
                <a:ea typeface="微软雅黑" panose="020B0503020204020204" pitchFamily="34" charset="-122"/>
              </a:rPr>
              <a:t>SSH 22</a:t>
            </a:r>
            <a:r>
              <a:rPr lang="zh-CN" altLang="en-US" sz="1500" b="0" i="0" dirty="0">
                <a:effectLst/>
                <a:latin typeface="微软雅黑" panose="020B0503020204020204" pitchFamily="34" charset="-122"/>
                <a:ea typeface="微软雅黑" panose="020B0503020204020204" pitchFamily="34" charset="-122"/>
              </a:rPr>
              <a:t>，</a:t>
            </a:r>
            <a:r>
              <a:rPr lang="en-US" altLang="zh-CN" sz="1500" b="0" i="0" dirty="0">
                <a:effectLst/>
                <a:latin typeface="微软雅黑" panose="020B0503020204020204" pitchFamily="34" charset="-122"/>
                <a:ea typeface="微软雅黑" panose="020B0503020204020204" pitchFamily="34" charset="-122"/>
              </a:rPr>
              <a:t>Telnet 23, SMTP 25, IMAP3 220</a:t>
            </a:r>
            <a:r>
              <a:rPr lang="zh-CN" altLang="en-US" sz="1500" b="0" i="0" dirty="0">
                <a:effectLst/>
                <a:latin typeface="微软雅黑" panose="020B0503020204020204" pitchFamily="34" charset="-122"/>
                <a:ea typeface="微软雅黑" panose="020B0503020204020204" pitchFamily="34" charset="-122"/>
              </a:rPr>
              <a:t>，</a:t>
            </a:r>
            <a:r>
              <a:rPr lang="en-US" altLang="zh-CN" sz="1500" b="0" i="0" dirty="0">
                <a:effectLst/>
                <a:latin typeface="微软雅黑" panose="020B0503020204020204" pitchFamily="34" charset="-122"/>
                <a:ea typeface="微软雅黑" panose="020B0503020204020204" pitchFamily="34" charset="-122"/>
              </a:rPr>
              <a:t>HTTPS 443…</a:t>
            </a:r>
            <a:endParaRPr lang="en-US" altLang="zh-CN" sz="1500" dirty="0">
              <a:latin typeface="微软雅黑" panose="020B0503020204020204" pitchFamily="34" charset="-122"/>
              <a:ea typeface="微软雅黑" panose="020B0503020204020204" pitchFamily="34" charset="-122"/>
            </a:endParaRPr>
          </a:p>
          <a:p>
            <a:pPr marL="285750" indent="-285750">
              <a:spcBef>
                <a:spcPts val="600"/>
              </a:spcBef>
              <a:buFont typeface="Arial" panose="020B0604020202020204" pitchFamily="34" charset="0"/>
              <a:buChar char="•"/>
            </a:pPr>
            <a:r>
              <a:rPr lang="zh-CN" altLang="en-US" sz="1500" b="1" i="0" dirty="0">
                <a:effectLst/>
                <a:latin typeface="微软雅黑" panose="020B0503020204020204" pitchFamily="34" charset="-122"/>
                <a:ea typeface="微软雅黑" panose="020B0503020204020204" pitchFamily="34" charset="-122"/>
              </a:rPr>
              <a:t>注册端口号</a:t>
            </a:r>
            <a:r>
              <a:rPr lang="zh-CN" altLang="en-US" sz="1500" b="0" i="0" dirty="0">
                <a:effectLst/>
                <a:latin typeface="微软雅黑" panose="020B0503020204020204" pitchFamily="34" charset="-122"/>
                <a:ea typeface="微软雅黑" panose="020B0503020204020204" pitchFamily="34" charset="-122"/>
              </a:rPr>
              <a:t>为</a:t>
            </a:r>
            <a:r>
              <a:rPr lang="en-US" altLang="zh-CN" sz="1500" b="0" i="0" dirty="0">
                <a:effectLst/>
                <a:latin typeface="微软雅黑" panose="020B0503020204020204" pitchFamily="34" charset="-122"/>
                <a:ea typeface="微软雅黑" panose="020B0503020204020204" pitchFamily="34" charset="-122"/>
              </a:rPr>
              <a:t>1024</a:t>
            </a:r>
            <a:r>
              <a:rPr lang="zh-CN" altLang="en-US" sz="1500" b="0" i="0" dirty="0">
                <a:effectLst/>
                <a:latin typeface="微软雅黑" panose="020B0503020204020204" pitchFamily="34" charset="-122"/>
                <a:ea typeface="微软雅黑" panose="020B0503020204020204" pitchFamily="34" charset="-122"/>
              </a:rPr>
              <a:t>－</a:t>
            </a:r>
            <a:r>
              <a:rPr lang="en-US" altLang="zh-CN" sz="1500" b="0" i="0" dirty="0">
                <a:effectLst/>
                <a:latin typeface="微软雅黑" panose="020B0503020204020204" pitchFamily="34" charset="-122"/>
                <a:ea typeface="微软雅黑" panose="020B0503020204020204" pitchFamily="34" charset="-122"/>
              </a:rPr>
              <a:t>49151</a:t>
            </a:r>
            <a:r>
              <a:rPr lang="zh-CN" altLang="en-US" sz="1500" dirty="0">
                <a:latin typeface="微软雅黑" panose="020B0503020204020204" pitchFamily="34" charset="-122"/>
                <a:ea typeface="微软雅黑" panose="020B0503020204020204" pitchFamily="34" charset="-122"/>
              </a:rPr>
              <a:t>，也称为用户端口；大多数</a:t>
            </a:r>
            <a:r>
              <a:rPr lang="en-US" altLang="zh-CN" sz="1500" dirty="0">
                <a:latin typeface="微软雅黑" panose="020B0503020204020204" pitchFamily="34" charset="-122"/>
                <a:ea typeface="微软雅黑" panose="020B0503020204020204" pitchFamily="34" charset="-122"/>
              </a:rPr>
              <a:t>TCP/IP</a:t>
            </a:r>
            <a:r>
              <a:rPr lang="zh-CN" altLang="en-US" sz="1500" dirty="0">
                <a:latin typeface="微软雅黑" panose="020B0503020204020204" pitchFamily="34" charset="-122"/>
                <a:ea typeface="微软雅黑" panose="020B0503020204020204" pitchFamily="34" charset="-122"/>
              </a:rPr>
              <a:t>实现给临时端口号分配</a:t>
            </a:r>
            <a:r>
              <a:rPr lang="en-US" altLang="zh-CN" sz="1500" dirty="0">
                <a:latin typeface="微软雅黑" panose="020B0503020204020204" pitchFamily="34" charset="-122"/>
                <a:ea typeface="微软雅黑" panose="020B0503020204020204" pitchFamily="34" charset="-122"/>
              </a:rPr>
              <a:t>1024-5000</a:t>
            </a:r>
            <a:r>
              <a:rPr lang="zh-CN" altLang="en-US" sz="1500" dirty="0">
                <a:latin typeface="微软雅黑" panose="020B0503020204020204" pitchFamily="34" charset="-122"/>
                <a:ea typeface="微软雅黑" panose="020B0503020204020204" pitchFamily="34" charset="-122"/>
              </a:rPr>
              <a:t>之间的端口号。大于</a:t>
            </a:r>
            <a:r>
              <a:rPr lang="en-US" altLang="zh-CN" sz="1500" dirty="0">
                <a:latin typeface="微软雅黑" panose="020B0503020204020204" pitchFamily="34" charset="-122"/>
                <a:ea typeface="微软雅黑" panose="020B0503020204020204" pitchFamily="34" charset="-122"/>
              </a:rPr>
              <a:t>5000</a:t>
            </a:r>
            <a:r>
              <a:rPr lang="zh-CN" altLang="en-US" sz="1500" dirty="0">
                <a:latin typeface="微软雅黑" panose="020B0503020204020204" pitchFamily="34" charset="-122"/>
                <a:ea typeface="微软雅黑" panose="020B0503020204020204" pitchFamily="34" charset="-122"/>
              </a:rPr>
              <a:t>的端口号是为其他服务器预留的。</a:t>
            </a:r>
            <a:endParaRPr lang="en-US" altLang="zh-CN" sz="1500" dirty="0">
              <a:latin typeface="微软雅黑" panose="020B0503020204020204" pitchFamily="34" charset="-122"/>
              <a:ea typeface="微软雅黑" panose="020B0503020204020204" pitchFamily="34" charset="-122"/>
            </a:endParaRPr>
          </a:p>
          <a:p>
            <a:pPr marL="285750" indent="-285750">
              <a:spcBef>
                <a:spcPts val="600"/>
              </a:spcBef>
              <a:buFont typeface="Arial" panose="020B0604020202020204" pitchFamily="34" charset="0"/>
              <a:buChar char="•"/>
            </a:pPr>
            <a:r>
              <a:rPr lang="zh-CN" altLang="en-US" sz="1500" b="0" i="0" dirty="0">
                <a:effectLst/>
                <a:latin typeface="微软雅黑" panose="020B0503020204020204" pitchFamily="34" charset="-122"/>
                <a:ea typeface="微软雅黑" panose="020B0503020204020204" pitchFamily="34" charset="-122"/>
              </a:rPr>
              <a:t>剩下的端口号叫</a:t>
            </a:r>
            <a:r>
              <a:rPr lang="zh-CN" altLang="en-US" sz="1500" b="1" i="0" dirty="0">
                <a:effectLst/>
                <a:latin typeface="微软雅黑" panose="020B0503020204020204" pitchFamily="34" charset="-122"/>
                <a:ea typeface="微软雅黑" panose="020B0503020204020204" pitchFamily="34" charset="-122"/>
              </a:rPr>
              <a:t>动态端口号或私有端口号</a:t>
            </a:r>
            <a:r>
              <a:rPr lang="zh-CN" altLang="en-US" sz="1500" b="0" i="0" dirty="0">
                <a:effectLst/>
                <a:latin typeface="微软雅黑" panose="020B0503020204020204" pitchFamily="34" charset="-122"/>
                <a:ea typeface="微软雅黑" panose="020B0503020204020204" pitchFamily="34" charset="-122"/>
              </a:rPr>
              <a:t>，为</a:t>
            </a:r>
            <a:r>
              <a:rPr lang="en-US" altLang="zh-CN" sz="1500" b="0" i="0" dirty="0">
                <a:effectLst/>
                <a:latin typeface="微软雅黑" panose="020B0503020204020204" pitchFamily="34" charset="-122"/>
                <a:ea typeface="微软雅黑" panose="020B0503020204020204" pitchFamily="34" charset="-122"/>
              </a:rPr>
              <a:t>49152</a:t>
            </a:r>
            <a:r>
              <a:rPr lang="zh-CN" altLang="en-US" sz="1500" b="0" i="0" dirty="0">
                <a:effectLst/>
                <a:latin typeface="微软雅黑" panose="020B0503020204020204" pitchFamily="34" charset="-122"/>
                <a:ea typeface="微软雅黑" panose="020B0503020204020204" pitchFamily="34" charset="-122"/>
              </a:rPr>
              <a:t>－</a:t>
            </a:r>
            <a:r>
              <a:rPr lang="en-US" altLang="zh-CN" sz="1500" b="0" i="0" dirty="0">
                <a:effectLst/>
                <a:latin typeface="微软雅黑" panose="020B0503020204020204" pitchFamily="34" charset="-122"/>
                <a:ea typeface="微软雅黑" panose="020B0503020204020204" pitchFamily="34" charset="-122"/>
              </a:rPr>
              <a:t>65535</a:t>
            </a:r>
            <a:r>
              <a:rPr lang="zh-CN" altLang="en-US" sz="1500" b="0" i="0" dirty="0">
                <a:effectLst/>
                <a:latin typeface="微软雅黑" panose="020B0503020204020204" pitchFamily="34" charset="-122"/>
                <a:ea typeface="微软雅黑" panose="020B0503020204020204" pitchFamily="34" charset="-122"/>
              </a:rPr>
              <a:t>。</a:t>
            </a:r>
            <a:endParaRPr lang="zh-CN" altLang="en-US" sz="15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47671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21508" name="Rectangle 3"/>
          <p:cNvSpPr>
            <a:spLocks noGrp="1" noChangeArrowheads="1"/>
          </p:cNvSpPr>
          <p:nvPr>
            <p:ph idx="1"/>
          </p:nvPr>
        </p:nvSpPr>
        <p:spPr>
          <a:xfrm>
            <a:off x="1045780" y="1278338"/>
            <a:ext cx="10074166" cy="4598987"/>
          </a:xfrm>
        </p:spPr>
        <p:txBody>
          <a:bodyPr/>
          <a:lstStyle/>
          <a:p>
            <a:pPr>
              <a:lnSpc>
                <a:spcPct val="100000"/>
              </a:lnSpc>
            </a:pPr>
            <a:r>
              <a:rPr lang="en-US" altLang="zh-CN" dirty="0">
                <a:ea typeface="宋体" panose="02010600030101010101" pitchFamily="2" charset="-122"/>
              </a:rPr>
              <a:t>Key problem is to ensure reliability even though packets may be lost, corrupted, </a:t>
            </a:r>
            <a:r>
              <a:rPr lang="en-US" altLang="zh-CN" u="sng" dirty="0">
                <a:ea typeface="宋体" panose="02010600030101010101" pitchFamily="2" charset="-122"/>
              </a:rPr>
              <a:t>delayed</a:t>
            </a:r>
            <a:r>
              <a:rPr lang="en-US" altLang="zh-CN" dirty="0">
                <a:ea typeface="宋体" panose="02010600030101010101" pitchFamily="2" charset="-122"/>
              </a:rPr>
              <a:t>, and </a:t>
            </a:r>
            <a:r>
              <a:rPr lang="en-US" altLang="zh-CN" u="sng" dirty="0">
                <a:ea typeface="宋体" panose="02010600030101010101" pitchFamily="2" charset="-122"/>
              </a:rPr>
              <a:t>duplicated</a:t>
            </a:r>
          </a:p>
          <a:p>
            <a:pPr lvl="1">
              <a:lnSpc>
                <a:spcPct val="100000"/>
              </a:lnSpc>
            </a:pPr>
            <a:r>
              <a:rPr lang="en-US" altLang="zh-CN" dirty="0">
                <a:ea typeface="宋体" panose="02010600030101010101" pitchFamily="2" charset="-122"/>
              </a:rPr>
              <a:t>Don’t treat an old or duplicate packet as new</a:t>
            </a:r>
          </a:p>
          <a:p>
            <a:pPr lvl="1">
              <a:lnSpc>
                <a:spcPct val="100000"/>
              </a:lnSpc>
            </a:pPr>
            <a:r>
              <a:rPr lang="en-US" altLang="zh-CN" dirty="0">
                <a:ea typeface="宋体" panose="02010600030101010101" pitchFamily="2" charset="-122"/>
              </a:rPr>
              <a:t>(Use ARQ and checksums for loss/corruption)</a:t>
            </a:r>
          </a:p>
          <a:p>
            <a:pPr lvl="1">
              <a:lnSpc>
                <a:spcPct val="100000"/>
              </a:lnSpc>
              <a:buFont typeface="Arial" panose="020B0604020202020204" pitchFamily="34" charset="0"/>
              <a:buNone/>
            </a:pPr>
            <a:r>
              <a:rPr lang="en-US" altLang="zh-CN" dirty="0">
                <a:ea typeface="宋体" panose="02010600030101010101" pitchFamily="2" charset="-122"/>
              </a:rPr>
              <a:t> </a:t>
            </a:r>
          </a:p>
          <a:p>
            <a:pPr>
              <a:lnSpc>
                <a:spcPct val="100000"/>
              </a:lnSpc>
            </a:pPr>
            <a:r>
              <a:rPr lang="en-US" altLang="zh-CN" dirty="0">
                <a:ea typeface="宋体" panose="02010600030101010101" pitchFamily="2" charset="-122"/>
              </a:rPr>
              <a:t>Approach:</a:t>
            </a:r>
          </a:p>
          <a:p>
            <a:pPr lvl="1">
              <a:lnSpc>
                <a:spcPct val="100000"/>
              </a:lnSpc>
            </a:pPr>
            <a:r>
              <a:rPr lang="en-US" altLang="zh-CN" dirty="0">
                <a:ea typeface="宋体" panose="02010600030101010101" pitchFamily="2" charset="-122"/>
              </a:rPr>
              <a:t>Don’t reuse sequence numbers within twice the MSL (Maximum Segment Lifetime) of 2T=240 secs</a:t>
            </a:r>
          </a:p>
          <a:p>
            <a:pPr lvl="1">
              <a:lnSpc>
                <a:spcPct val="100000"/>
              </a:lnSpc>
            </a:pPr>
            <a:r>
              <a:rPr lang="en-US" altLang="zh-CN" dirty="0">
                <a:ea typeface="宋体" panose="02010600030101010101" pitchFamily="2" charset="-122"/>
              </a:rPr>
              <a:t>Three-way handshake for establishing connection </a:t>
            </a:r>
          </a:p>
        </p:txBody>
      </p:sp>
      <p:sp>
        <p:nvSpPr>
          <p:cNvPr id="5" name="矩形 4">
            <a:extLst>
              <a:ext uri="{FF2B5EF4-FFF2-40B4-BE49-F238E27FC236}">
                <a16:creationId xmlns:a16="http://schemas.microsoft.com/office/drawing/2014/main" id="{6476B7E3-4BD8-4AA7-B69C-66DF692C8683}"/>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Connection Establishment (1)</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25604" name="Rectangle 3"/>
          <p:cNvSpPr>
            <a:spLocks noGrp="1" noChangeArrowheads="1"/>
          </p:cNvSpPr>
          <p:nvPr>
            <p:ph idx="1"/>
          </p:nvPr>
        </p:nvSpPr>
        <p:spPr>
          <a:xfrm>
            <a:off x="1015527" y="1654976"/>
            <a:ext cx="4673010" cy="3369707"/>
          </a:xfrm>
        </p:spPr>
        <p:txBody>
          <a:bodyPr/>
          <a:lstStyle/>
          <a:p>
            <a:pPr>
              <a:lnSpc>
                <a:spcPct val="100000"/>
              </a:lnSpc>
            </a:pPr>
            <a:r>
              <a:rPr lang="en-US" altLang="zh-CN" dirty="0">
                <a:ea typeface="宋体" panose="02010600030101010101" pitchFamily="2" charset="-122"/>
              </a:rPr>
              <a:t>Three-way handshake used for initial packet</a:t>
            </a:r>
          </a:p>
          <a:p>
            <a:pPr lvl="1">
              <a:lnSpc>
                <a:spcPct val="100000"/>
              </a:lnSpc>
            </a:pPr>
            <a:r>
              <a:rPr lang="en-US" altLang="zh-CN" dirty="0">
                <a:ea typeface="宋体" panose="02010600030101010101" pitchFamily="2" charset="-122"/>
              </a:rPr>
              <a:t>Since no state from previous connection</a:t>
            </a:r>
          </a:p>
          <a:p>
            <a:pPr lvl="1">
              <a:lnSpc>
                <a:spcPct val="100000"/>
              </a:lnSpc>
            </a:pPr>
            <a:r>
              <a:rPr lang="en-US" altLang="zh-CN" dirty="0">
                <a:ea typeface="宋体" panose="02010600030101010101" pitchFamily="2" charset="-122"/>
              </a:rPr>
              <a:t>Both hosts contribute fresh seq. numbers</a:t>
            </a:r>
          </a:p>
          <a:p>
            <a:pPr lvl="1">
              <a:lnSpc>
                <a:spcPct val="100000"/>
              </a:lnSpc>
            </a:pPr>
            <a:r>
              <a:rPr lang="en-US" altLang="zh-CN" dirty="0">
                <a:ea typeface="宋体" panose="02010600030101010101" pitchFamily="2" charset="-122"/>
              </a:rPr>
              <a:t>CR = Connect Request</a:t>
            </a:r>
          </a:p>
        </p:txBody>
      </p:sp>
      <p:pic>
        <p:nvPicPr>
          <p:cNvPr id="2560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536700"/>
            <a:ext cx="4191000" cy="396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52C123BC-4E9C-41E9-9F65-38C8CC37D7A4}"/>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Connection Establishment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26627" name="Rectangle 3"/>
          <p:cNvSpPr>
            <a:spLocks noGrp="1" noChangeArrowheads="1"/>
          </p:cNvSpPr>
          <p:nvPr>
            <p:ph idx="1"/>
          </p:nvPr>
        </p:nvSpPr>
        <p:spPr>
          <a:xfrm>
            <a:off x="614482" y="1747555"/>
            <a:ext cx="5918285" cy="3362324"/>
          </a:xfrm>
        </p:spPr>
        <p:txBody>
          <a:bodyPr/>
          <a:lstStyle/>
          <a:p>
            <a:pPr>
              <a:defRPr/>
            </a:pPr>
            <a:r>
              <a:rPr lang="en-US" dirty="0"/>
              <a:t>Three-way handshake protects against odd cases:</a:t>
            </a:r>
          </a:p>
          <a:p>
            <a:pPr marL="457200" indent="-457200">
              <a:buFont typeface="+mj-lt"/>
              <a:buAutoNum type="alphaLcParenR"/>
              <a:defRPr/>
            </a:pPr>
            <a:r>
              <a:rPr lang="en-US" dirty="0"/>
              <a:t>Duplicate CR. Spurious ACK does not connect</a:t>
            </a:r>
          </a:p>
          <a:p>
            <a:pPr marL="457200" indent="-457200">
              <a:buFont typeface="+mj-lt"/>
              <a:buAutoNum type="alphaLcParenR"/>
              <a:defRPr/>
            </a:pPr>
            <a:r>
              <a:rPr lang="en-US" dirty="0"/>
              <a:t>Duplicate CR and DATA. Same plus DATA will be rejected (wrong ACK).</a:t>
            </a:r>
          </a:p>
        </p:txBody>
      </p:sp>
      <p:pic>
        <p:nvPicPr>
          <p:cNvPr id="27653" name="Picture 2"/>
          <p:cNvPicPr>
            <a:picLocks noChangeAspect="1" noChangeArrowheads="1"/>
          </p:cNvPicPr>
          <p:nvPr/>
        </p:nvPicPr>
        <p:blipFill>
          <a:blip r:embed="rId3">
            <a:extLst>
              <a:ext uri="{28A0092B-C50C-407E-A947-70E740481C1C}">
                <a14:useLocalDpi xmlns:a14="http://schemas.microsoft.com/office/drawing/2010/main" val="0"/>
              </a:ext>
            </a:extLst>
          </a:blip>
          <a:srcRect b="9222"/>
          <a:stretch>
            <a:fillRect/>
          </a:stretch>
        </p:blipFill>
        <p:spPr bwMode="auto">
          <a:xfrm>
            <a:off x="7118350" y="923926"/>
            <a:ext cx="2641600" cy="250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3750" y="3667125"/>
            <a:ext cx="259715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Straight Connector 10"/>
          <p:cNvCxnSpPr/>
          <p:nvPr/>
        </p:nvCxnSpPr>
        <p:spPr bwMode="auto">
          <a:xfrm>
            <a:off x="9320214" y="3429000"/>
            <a:ext cx="295275" cy="0"/>
          </a:xfrm>
          <a:prstGeom prst="line">
            <a:avLst/>
          </a:prstGeom>
          <a:solidFill>
            <a:schemeClr val="accent1"/>
          </a:solidFill>
          <a:ln w="9525" cap="flat" cmpd="sng" algn="ctr">
            <a:solidFill>
              <a:schemeClr val="bg1">
                <a:lumMod val="50000"/>
              </a:schemeClr>
            </a:solidFill>
            <a:prstDash val="solid"/>
            <a:round/>
            <a:headEnd type="none" w="med" len="med"/>
            <a:tailEnd type="none" w="med" len="med"/>
          </a:ln>
          <a:effectLst/>
        </p:spPr>
      </p:cxnSp>
      <p:cxnSp>
        <p:nvCxnSpPr>
          <p:cNvPr id="12" name="Straight Connector 11"/>
          <p:cNvCxnSpPr/>
          <p:nvPr/>
        </p:nvCxnSpPr>
        <p:spPr bwMode="auto">
          <a:xfrm>
            <a:off x="7280276" y="3429000"/>
            <a:ext cx="295275" cy="0"/>
          </a:xfrm>
          <a:prstGeom prst="line">
            <a:avLst/>
          </a:prstGeom>
          <a:solidFill>
            <a:schemeClr val="accent1"/>
          </a:solidFill>
          <a:ln w="9525" cap="flat" cmpd="sng" algn="ctr">
            <a:solidFill>
              <a:schemeClr val="bg1">
                <a:lumMod val="50000"/>
              </a:schemeClr>
            </a:solidFill>
            <a:prstDash val="solid"/>
            <a:round/>
            <a:headEnd type="none" w="med" len="med"/>
            <a:tailEnd type="none" w="med" len="med"/>
          </a:ln>
          <a:effectLst/>
        </p:spPr>
      </p:cxnSp>
      <p:sp>
        <p:nvSpPr>
          <p:cNvPr id="27657" name="TextBox 12"/>
          <p:cNvSpPr txBox="1">
            <a:spLocks noChangeArrowheads="1"/>
          </p:cNvSpPr>
          <p:nvPr/>
        </p:nvSpPr>
        <p:spPr bwMode="auto">
          <a:xfrm>
            <a:off x="6754813" y="1976438"/>
            <a:ext cx="4127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2000">
                <a:solidFill>
                  <a:srgbClr val="0000FF"/>
                </a:solidFill>
                <a:ea typeface="宋体" panose="02010600030101010101" pitchFamily="2" charset="-122"/>
              </a:rPr>
              <a:t>a)</a:t>
            </a:r>
          </a:p>
        </p:txBody>
      </p:sp>
      <p:sp>
        <p:nvSpPr>
          <p:cNvPr id="27658" name="TextBox 13"/>
          <p:cNvSpPr txBox="1">
            <a:spLocks noChangeArrowheads="1"/>
          </p:cNvSpPr>
          <p:nvPr/>
        </p:nvSpPr>
        <p:spPr bwMode="auto">
          <a:xfrm>
            <a:off x="6808788" y="4822825"/>
            <a:ext cx="4127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2000">
                <a:solidFill>
                  <a:srgbClr val="0000FF"/>
                </a:solidFill>
                <a:ea typeface="宋体" panose="02010600030101010101" pitchFamily="2" charset="-122"/>
              </a:rPr>
              <a:t>b)</a:t>
            </a:r>
          </a:p>
        </p:txBody>
      </p:sp>
      <p:sp>
        <p:nvSpPr>
          <p:cNvPr id="27659" name="TextBox 14"/>
          <p:cNvSpPr txBox="1">
            <a:spLocks noChangeArrowheads="1"/>
          </p:cNvSpPr>
          <p:nvPr/>
        </p:nvSpPr>
        <p:spPr bwMode="auto">
          <a:xfrm>
            <a:off x="9261476" y="5446714"/>
            <a:ext cx="339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a:solidFill>
                  <a:srgbClr val="FF2BD8"/>
                </a:solidFill>
                <a:ea typeface="宋体" panose="02010600030101010101" pitchFamily="2" charset="-122"/>
              </a:rPr>
              <a:t>X</a:t>
            </a:r>
          </a:p>
        </p:txBody>
      </p:sp>
      <p:sp>
        <p:nvSpPr>
          <p:cNvPr id="27660" name="TextBox 15"/>
          <p:cNvSpPr txBox="1">
            <a:spLocks noChangeArrowheads="1"/>
          </p:cNvSpPr>
          <p:nvPr/>
        </p:nvSpPr>
        <p:spPr bwMode="auto">
          <a:xfrm>
            <a:off x="7319964" y="2560639"/>
            <a:ext cx="3381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a:solidFill>
                  <a:srgbClr val="FF2BD8"/>
                </a:solidFill>
                <a:ea typeface="宋体" panose="02010600030101010101" pitchFamily="2" charset="-122"/>
              </a:rPr>
              <a:t>X</a:t>
            </a:r>
          </a:p>
        </p:txBody>
      </p:sp>
      <p:sp>
        <p:nvSpPr>
          <p:cNvPr id="27661" name="TextBox 16"/>
          <p:cNvSpPr txBox="1">
            <a:spLocks noChangeArrowheads="1"/>
          </p:cNvSpPr>
          <p:nvPr/>
        </p:nvSpPr>
        <p:spPr bwMode="auto">
          <a:xfrm>
            <a:off x="7324725" y="5005388"/>
            <a:ext cx="3381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a:solidFill>
                  <a:srgbClr val="FF2BD8"/>
                </a:solidFill>
                <a:ea typeface="宋体" panose="02010600030101010101" pitchFamily="2" charset="-122"/>
              </a:rPr>
              <a:t>X</a:t>
            </a:r>
          </a:p>
        </p:txBody>
      </p:sp>
      <p:sp>
        <p:nvSpPr>
          <p:cNvPr id="14" name="矩形 13">
            <a:extLst>
              <a:ext uri="{FF2B5EF4-FFF2-40B4-BE49-F238E27FC236}">
                <a16:creationId xmlns:a16="http://schemas.microsoft.com/office/drawing/2014/main" id="{AC9F4024-7854-46F0-8E5C-BE2E3C36F274}"/>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Connection Establishment (4)</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28676" name="Rectangle 3"/>
          <p:cNvSpPr>
            <a:spLocks noGrp="1" noChangeArrowheads="1"/>
          </p:cNvSpPr>
          <p:nvPr>
            <p:ph idx="1"/>
          </p:nvPr>
        </p:nvSpPr>
        <p:spPr>
          <a:xfrm>
            <a:off x="906780" y="1593852"/>
            <a:ext cx="5189220" cy="2649536"/>
          </a:xfrm>
        </p:spPr>
        <p:txBody>
          <a:bodyPr/>
          <a:lstStyle/>
          <a:p>
            <a:r>
              <a:rPr lang="en-US" altLang="zh-CN" dirty="0">
                <a:ea typeface="宋体" panose="02010600030101010101" pitchFamily="2" charset="-122"/>
              </a:rPr>
              <a:t>Key problem is to ensure reliability while releasing</a:t>
            </a:r>
          </a:p>
          <a:p>
            <a:r>
              <a:rPr lang="en-US" altLang="zh-CN" b="1" dirty="0">
                <a:ea typeface="宋体" panose="02010600030101010101" pitchFamily="2" charset="-122"/>
              </a:rPr>
              <a:t>Asymmetric release </a:t>
            </a:r>
            <a:r>
              <a:rPr lang="en-US" altLang="zh-CN" dirty="0">
                <a:ea typeface="宋体" panose="02010600030101010101" pitchFamily="2" charset="-122"/>
              </a:rPr>
              <a:t>(when one side breaks connection) is abrupt and may lose data</a:t>
            </a:r>
          </a:p>
        </p:txBody>
      </p:sp>
      <p:pic>
        <p:nvPicPr>
          <p:cNvPr id="2867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1" y="1582738"/>
            <a:ext cx="3840163" cy="393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8" name="TextBox 8"/>
          <p:cNvSpPr txBox="1">
            <a:spLocks noChangeArrowheads="1"/>
          </p:cNvSpPr>
          <p:nvPr/>
        </p:nvSpPr>
        <p:spPr bwMode="auto">
          <a:xfrm>
            <a:off x="9256714" y="4243388"/>
            <a:ext cx="3381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a:solidFill>
                  <a:srgbClr val="FF2BD8"/>
                </a:solidFill>
                <a:ea typeface="宋体" panose="02010600030101010101" pitchFamily="2" charset="-122"/>
              </a:rPr>
              <a:t>X</a:t>
            </a:r>
          </a:p>
        </p:txBody>
      </p:sp>
      <p:sp>
        <p:nvSpPr>
          <p:cNvPr id="7" name="矩形 6">
            <a:extLst>
              <a:ext uri="{FF2B5EF4-FFF2-40B4-BE49-F238E27FC236}">
                <a16:creationId xmlns:a16="http://schemas.microsoft.com/office/drawing/2014/main" id="{40EC7F6E-66D6-4333-8414-1131A01AFE8A}"/>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Connection Release (1)</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F782F68D-C3A9-4C1B-8183-3E0D84BE7C99}"/>
              </a:ext>
            </a:extLst>
          </p:cNvPr>
          <p:cNvSpPr txBox="1"/>
          <p:nvPr/>
        </p:nvSpPr>
        <p:spPr>
          <a:xfrm>
            <a:off x="810986" y="4243388"/>
            <a:ext cx="4751615" cy="1643527"/>
          </a:xfrm>
          <a:prstGeom prst="rect">
            <a:avLst/>
          </a:prstGeom>
        </p:spPr>
        <p:txBody>
          <a:bodyPr vert="horz" lIns="91440" tIns="45720" rIns="91440" bIns="45720" rtlCol="0">
            <a:normAutofit/>
          </a:bodyPr>
          <a:lstStyle>
            <a:lvl1pPr marL="228600" indent="-228600">
              <a:lnSpc>
                <a:spcPct val="90000"/>
              </a:lnSpc>
              <a:spcBef>
                <a:spcPts val="1000"/>
              </a:spcBef>
              <a:buClr>
                <a:srgbClr val="0000FF"/>
              </a:buClr>
              <a:buFont typeface="Arial" pitchFamily="34" charset="0"/>
              <a:buNone/>
              <a:defRPr sz="2800">
                <a:ea typeface="宋体" panose="02010600030101010101" pitchFamily="2" charset="-122"/>
              </a:defRPr>
            </a:lvl1pPr>
            <a:lvl2pPr marL="685800" indent="-228600">
              <a:lnSpc>
                <a:spcPct val="90000"/>
              </a:lnSpc>
              <a:spcBef>
                <a:spcPts val="500"/>
              </a:spcBef>
              <a:buClr>
                <a:srgbClr val="0000FF"/>
              </a:buClr>
              <a:buFont typeface="Arial" panose="020B0604020202020204" pitchFamily="34" charset="0"/>
              <a:buChar char="•"/>
              <a:defRPr sz="2400"/>
            </a:lvl2pPr>
            <a:lvl3pPr marL="1143000" indent="-228600">
              <a:lnSpc>
                <a:spcPct val="90000"/>
              </a:lnSpc>
              <a:spcBef>
                <a:spcPts val="500"/>
              </a:spcBef>
              <a:buClr>
                <a:srgbClr val="0000FF"/>
              </a:buClr>
              <a:buFont typeface="Arial" panose="020B0604020202020204" pitchFamily="34" charset="0"/>
              <a:buChar char="•"/>
              <a:defRPr sz="2000"/>
            </a:lvl3pPr>
            <a:lvl4pPr marL="1600200" indent="-228600">
              <a:lnSpc>
                <a:spcPct val="90000"/>
              </a:lnSpc>
              <a:spcBef>
                <a:spcPts val="500"/>
              </a:spcBef>
              <a:buClr>
                <a:srgbClr val="0000FF"/>
              </a:buClr>
              <a:buFont typeface="Arial" panose="020B0604020202020204" pitchFamily="34" charset="0"/>
              <a:buChar char="•"/>
            </a:lvl4pPr>
            <a:lvl5pPr marL="2057400" indent="-228600">
              <a:lnSpc>
                <a:spcPct val="90000"/>
              </a:lnSpc>
              <a:spcBef>
                <a:spcPts val="500"/>
              </a:spcBef>
              <a:buClr>
                <a:srgbClr val="0000FF"/>
              </a:buClr>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Asymmetric release is the way the telephone system works: when one party hangs up, the connection is broken.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29700" name="Content Placeholder 2"/>
          <p:cNvSpPr>
            <a:spLocks noGrp="1"/>
          </p:cNvSpPr>
          <p:nvPr>
            <p:ph idx="1"/>
          </p:nvPr>
        </p:nvSpPr>
        <p:spPr>
          <a:xfrm>
            <a:off x="951134" y="1032431"/>
            <a:ext cx="10094322" cy="1563688"/>
          </a:xfrm>
        </p:spPr>
        <p:txBody>
          <a:bodyPr/>
          <a:lstStyle/>
          <a:p>
            <a:r>
              <a:rPr lang="en-US" altLang="zh-CN" b="1" dirty="0">
                <a:ea typeface="宋体" panose="02010600030101010101" pitchFamily="2" charset="-122"/>
              </a:rPr>
              <a:t>Symmetric release </a:t>
            </a:r>
            <a:r>
              <a:rPr lang="en-US" altLang="zh-CN" dirty="0">
                <a:ea typeface="宋体" panose="02010600030101010101" pitchFamily="2" charset="-122"/>
              </a:rPr>
              <a:t>(both sides agree to release) can’t be handled solely by the transport layer</a:t>
            </a:r>
          </a:p>
          <a:p>
            <a:pPr lvl="1"/>
            <a:r>
              <a:rPr lang="en-US" altLang="zh-CN" dirty="0">
                <a:ea typeface="宋体" panose="02010600030101010101" pitchFamily="2" charset="-122"/>
              </a:rPr>
              <a:t>Two-army problem shows pitfall of agreement</a:t>
            </a:r>
          </a:p>
        </p:txBody>
      </p:sp>
      <p:pic>
        <p:nvPicPr>
          <p:cNvPr id="2970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7614" y="3001963"/>
            <a:ext cx="7216775" cy="312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2" name="Rounded Rectangular Callout 8"/>
          <p:cNvSpPr>
            <a:spLocks noChangeArrowheads="1"/>
          </p:cNvSpPr>
          <p:nvPr/>
        </p:nvSpPr>
        <p:spPr bwMode="auto">
          <a:xfrm>
            <a:off x="3981451" y="3044826"/>
            <a:ext cx="1190625" cy="384175"/>
          </a:xfrm>
          <a:prstGeom prst="wedgeRoundRectCallout">
            <a:avLst>
              <a:gd name="adj1" fmla="val -57222"/>
              <a:gd name="adj2" fmla="val 149194"/>
              <a:gd name="adj3" fmla="val 16667"/>
            </a:avLst>
          </a:prstGeom>
          <a:solidFill>
            <a:schemeClr val="bg1"/>
          </a:solidFill>
          <a:ln w="9525" algn="ctr">
            <a:solidFill>
              <a:schemeClr val="tx1"/>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a:solidFill>
                  <a:srgbClr val="FF2BD8"/>
                </a:solidFill>
                <a:ea typeface="宋体" panose="02010600030101010101" pitchFamily="2" charset="-122"/>
              </a:rPr>
              <a:t>Attack?</a:t>
            </a:r>
          </a:p>
        </p:txBody>
      </p:sp>
      <p:sp>
        <p:nvSpPr>
          <p:cNvPr id="29703" name="Rounded Rectangular Callout 9"/>
          <p:cNvSpPr>
            <a:spLocks noChangeArrowheads="1"/>
          </p:cNvSpPr>
          <p:nvPr/>
        </p:nvSpPr>
        <p:spPr bwMode="auto">
          <a:xfrm>
            <a:off x="6996114" y="3044826"/>
            <a:ext cx="1189037" cy="384175"/>
          </a:xfrm>
          <a:prstGeom prst="wedgeRoundRectCallout">
            <a:avLst>
              <a:gd name="adj1" fmla="val 68398"/>
              <a:gd name="adj2" fmla="val 159454"/>
              <a:gd name="adj3" fmla="val 16667"/>
            </a:avLst>
          </a:prstGeom>
          <a:solidFill>
            <a:schemeClr val="bg1"/>
          </a:solidFill>
          <a:ln w="9525" algn="ctr">
            <a:solidFill>
              <a:schemeClr val="tx1"/>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a:solidFill>
                  <a:srgbClr val="FF2BD8"/>
                </a:solidFill>
                <a:ea typeface="宋体" panose="02010600030101010101" pitchFamily="2" charset="-122"/>
              </a:rPr>
              <a:t>Attack?</a:t>
            </a:r>
          </a:p>
        </p:txBody>
      </p:sp>
      <p:sp>
        <p:nvSpPr>
          <p:cNvPr id="8" name="矩形 7">
            <a:extLst>
              <a:ext uri="{FF2B5EF4-FFF2-40B4-BE49-F238E27FC236}">
                <a16:creationId xmlns:a16="http://schemas.microsoft.com/office/drawing/2014/main" id="{EE344C91-19E7-400E-9A28-1CBC6D32E170}"/>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Connection Release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30724" name="Rectangle 3"/>
          <p:cNvSpPr>
            <a:spLocks noGrp="1" noChangeArrowheads="1"/>
          </p:cNvSpPr>
          <p:nvPr>
            <p:ph idx="1"/>
          </p:nvPr>
        </p:nvSpPr>
        <p:spPr>
          <a:xfrm>
            <a:off x="1279298" y="1489075"/>
            <a:ext cx="4816701" cy="2854325"/>
          </a:xfrm>
        </p:spPr>
        <p:txBody>
          <a:bodyPr/>
          <a:lstStyle/>
          <a:p>
            <a:r>
              <a:rPr lang="en-US" altLang="zh-CN" dirty="0">
                <a:ea typeface="宋体" panose="02010600030101010101" pitchFamily="2" charset="-122"/>
              </a:rPr>
              <a:t>Normal release sequence, initiated by transport user on Host 1</a:t>
            </a:r>
          </a:p>
          <a:p>
            <a:pPr lvl="1"/>
            <a:r>
              <a:rPr lang="en-US" altLang="zh-CN" dirty="0">
                <a:ea typeface="宋体" panose="02010600030101010101" pitchFamily="2" charset="-122"/>
              </a:rPr>
              <a:t>DR=Disconnect Request</a:t>
            </a:r>
          </a:p>
          <a:p>
            <a:pPr lvl="1"/>
            <a:r>
              <a:rPr lang="en-US" altLang="zh-CN" dirty="0">
                <a:ea typeface="宋体" panose="02010600030101010101" pitchFamily="2" charset="-122"/>
              </a:rPr>
              <a:t>Both DRs are </a:t>
            </a:r>
            <a:r>
              <a:rPr lang="en-US" altLang="zh-CN" dirty="0" err="1">
                <a:ea typeface="宋体" panose="02010600030101010101" pitchFamily="2" charset="-122"/>
              </a:rPr>
              <a:t>ACKed</a:t>
            </a:r>
            <a:r>
              <a:rPr lang="en-US" altLang="zh-CN" dirty="0">
                <a:ea typeface="宋体" panose="02010600030101010101" pitchFamily="2" charset="-122"/>
              </a:rPr>
              <a:t> by the other side</a:t>
            </a:r>
          </a:p>
        </p:txBody>
      </p:sp>
      <p:pic>
        <p:nvPicPr>
          <p:cNvPr id="3072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3038" y="1703388"/>
            <a:ext cx="3440112" cy="314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35062CD6-9167-43A1-B7AB-63F4AB40C13D}"/>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Connection Release (3)</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31748" name="Rectangle 3"/>
          <p:cNvSpPr>
            <a:spLocks noGrp="1" noChangeArrowheads="1"/>
          </p:cNvSpPr>
          <p:nvPr>
            <p:ph idx="1"/>
          </p:nvPr>
        </p:nvSpPr>
        <p:spPr>
          <a:xfrm>
            <a:off x="1715995" y="1128712"/>
            <a:ext cx="9634364" cy="711887"/>
          </a:xfrm>
        </p:spPr>
        <p:txBody>
          <a:bodyPr/>
          <a:lstStyle/>
          <a:p>
            <a:r>
              <a:rPr lang="en-US" altLang="zh-CN" dirty="0">
                <a:ea typeface="宋体" panose="02010600030101010101" pitchFamily="2" charset="-122"/>
              </a:rPr>
              <a:t>Error cases are handled with timer and retransmission</a:t>
            </a:r>
          </a:p>
          <a:p>
            <a:endParaRPr lang="en-US" altLang="zh-CN" dirty="0">
              <a:ea typeface="宋体" panose="02010600030101010101" pitchFamily="2" charset="-122"/>
            </a:endParaRPr>
          </a:p>
        </p:txBody>
      </p:sp>
      <p:pic>
        <p:nvPicPr>
          <p:cNvPr id="3174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7851" y="2093914"/>
            <a:ext cx="2449513" cy="307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8064" y="2111376"/>
            <a:ext cx="2536825"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1"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54951" y="2149475"/>
            <a:ext cx="2576513" cy="301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2" name="TextBox 10"/>
          <p:cNvSpPr txBox="1">
            <a:spLocks noChangeArrowheads="1"/>
          </p:cNvSpPr>
          <p:nvPr/>
        </p:nvSpPr>
        <p:spPr bwMode="auto">
          <a:xfrm>
            <a:off x="2044700" y="5240338"/>
            <a:ext cx="18986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a:solidFill>
                  <a:srgbClr val="FF2BD8"/>
                </a:solidFill>
                <a:ea typeface="宋体" panose="02010600030101010101" pitchFamily="2" charset="-122"/>
              </a:rPr>
              <a:t>Final ACK lost, Host 2 times out</a:t>
            </a:r>
          </a:p>
        </p:txBody>
      </p:sp>
      <p:sp>
        <p:nvSpPr>
          <p:cNvPr id="31753" name="TextBox 11"/>
          <p:cNvSpPr txBox="1">
            <a:spLocks noChangeArrowheads="1"/>
          </p:cNvSpPr>
          <p:nvPr/>
        </p:nvSpPr>
        <p:spPr bwMode="auto">
          <a:xfrm>
            <a:off x="5127626" y="5254625"/>
            <a:ext cx="189706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a:solidFill>
                  <a:srgbClr val="FF2BD8"/>
                </a:solidFill>
                <a:ea typeface="宋体" panose="02010600030101010101" pitchFamily="2" charset="-122"/>
              </a:rPr>
              <a:t>Lost DR causes retransmissions</a:t>
            </a:r>
          </a:p>
        </p:txBody>
      </p:sp>
      <p:sp>
        <p:nvSpPr>
          <p:cNvPr id="31754" name="TextBox 12"/>
          <p:cNvSpPr txBox="1">
            <a:spLocks noChangeArrowheads="1"/>
          </p:cNvSpPr>
          <p:nvPr/>
        </p:nvSpPr>
        <p:spPr bwMode="auto">
          <a:xfrm>
            <a:off x="7835900" y="5230814"/>
            <a:ext cx="237013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a:solidFill>
                  <a:srgbClr val="FF2BD8"/>
                </a:solidFill>
                <a:ea typeface="宋体" panose="02010600030101010101" pitchFamily="2" charset="-122"/>
              </a:rPr>
              <a:t>Extreme: Many lost DRs cause both hosts to timeout</a:t>
            </a:r>
          </a:p>
        </p:txBody>
      </p:sp>
      <p:sp>
        <p:nvSpPr>
          <p:cNvPr id="11" name="矩形 10">
            <a:extLst>
              <a:ext uri="{FF2B5EF4-FFF2-40B4-BE49-F238E27FC236}">
                <a16:creationId xmlns:a16="http://schemas.microsoft.com/office/drawing/2014/main" id="{47F9039A-A80D-468E-B85B-EB94AFBF7F75}"/>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Connection Release (4)</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32772" name="Rectangle 3"/>
          <p:cNvSpPr>
            <a:spLocks noGrp="1" noChangeArrowheads="1"/>
          </p:cNvSpPr>
          <p:nvPr>
            <p:ph idx="1"/>
          </p:nvPr>
        </p:nvSpPr>
        <p:spPr>
          <a:xfrm>
            <a:off x="1224024" y="1129506"/>
            <a:ext cx="9565896" cy="4598987"/>
          </a:xfrm>
        </p:spPr>
        <p:txBody>
          <a:bodyPr/>
          <a:lstStyle/>
          <a:p>
            <a:pPr>
              <a:lnSpc>
                <a:spcPct val="100000"/>
              </a:lnSpc>
            </a:pPr>
            <a:r>
              <a:rPr lang="en-US" altLang="zh-CN" dirty="0">
                <a:ea typeface="宋体" panose="02010600030101010101" pitchFamily="2" charset="-122"/>
              </a:rPr>
              <a:t>Foundation for error control is a sliding window (from Link layer) with checksums and retransmissions</a:t>
            </a:r>
          </a:p>
          <a:p>
            <a:pPr>
              <a:lnSpc>
                <a:spcPct val="100000"/>
              </a:lnSpc>
            </a:pPr>
            <a:r>
              <a:rPr lang="en-US" altLang="zh-CN" u="sng" dirty="0">
                <a:ea typeface="宋体" panose="02010600030101010101" pitchFamily="2" charset="-122"/>
              </a:rPr>
              <a:t>Flow control</a:t>
            </a:r>
            <a:r>
              <a:rPr lang="en-US" altLang="zh-CN" dirty="0">
                <a:ea typeface="宋体" panose="02010600030101010101" pitchFamily="2" charset="-122"/>
              </a:rPr>
              <a:t> manages buffering at sender/receiver </a:t>
            </a:r>
          </a:p>
          <a:p>
            <a:pPr lvl="1">
              <a:lnSpc>
                <a:spcPct val="100000"/>
              </a:lnSpc>
            </a:pPr>
            <a:r>
              <a:rPr lang="en-US" altLang="zh-CN" dirty="0">
                <a:ea typeface="宋体" panose="02010600030101010101" pitchFamily="2" charset="-122"/>
              </a:rPr>
              <a:t>Issue is that data goes to/from the network and  applications at different times</a:t>
            </a:r>
          </a:p>
          <a:p>
            <a:pPr lvl="1">
              <a:lnSpc>
                <a:spcPct val="100000"/>
              </a:lnSpc>
            </a:pPr>
            <a:r>
              <a:rPr lang="en-US" altLang="zh-CN" dirty="0">
                <a:ea typeface="宋体" panose="02010600030101010101" pitchFamily="2" charset="-122"/>
              </a:rPr>
              <a:t>Window tells sender available buffering at receiver </a:t>
            </a:r>
          </a:p>
          <a:p>
            <a:pPr lvl="1">
              <a:lnSpc>
                <a:spcPct val="100000"/>
              </a:lnSpc>
            </a:pPr>
            <a:r>
              <a:rPr lang="en-US" altLang="zh-CN" dirty="0">
                <a:ea typeface="宋体" panose="02010600030101010101" pitchFamily="2" charset="-122"/>
              </a:rPr>
              <a:t>Makes a variable-size sliding window</a:t>
            </a:r>
          </a:p>
        </p:txBody>
      </p:sp>
      <p:sp>
        <p:nvSpPr>
          <p:cNvPr id="5" name="矩形 4">
            <a:extLst>
              <a:ext uri="{FF2B5EF4-FFF2-40B4-BE49-F238E27FC236}">
                <a16:creationId xmlns:a16="http://schemas.microsoft.com/office/drawing/2014/main" id="{77BF2501-D901-4B5F-973D-9AA714DC0F2F}"/>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Error Control and Flow Control (1)</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33796" name="Content Placeholder 12"/>
          <p:cNvSpPr>
            <a:spLocks noGrp="1"/>
          </p:cNvSpPr>
          <p:nvPr>
            <p:ph idx="1"/>
          </p:nvPr>
        </p:nvSpPr>
        <p:spPr>
          <a:xfrm>
            <a:off x="1524000" y="1281862"/>
            <a:ext cx="9655834" cy="685799"/>
          </a:xfrm>
        </p:spPr>
        <p:txBody>
          <a:bodyPr/>
          <a:lstStyle/>
          <a:p>
            <a:r>
              <a:rPr lang="en-US" altLang="zh-CN" dirty="0">
                <a:ea typeface="宋体" panose="02010600030101010101" pitchFamily="2" charset="-122"/>
              </a:rPr>
              <a:t>Different buffer strategies trade efficiency / complexity</a:t>
            </a:r>
          </a:p>
        </p:txBody>
      </p:sp>
      <p:pic>
        <p:nvPicPr>
          <p:cNvPr id="33797" name="Picture 2"/>
          <p:cNvPicPr>
            <a:picLocks noChangeAspect="1" noChangeArrowheads="1"/>
          </p:cNvPicPr>
          <p:nvPr/>
        </p:nvPicPr>
        <p:blipFill>
          <a:blip r:embed="rId3">
            <a:extLst>
              <a:ext uri="{28A0092B-C50C-407E-A947-70E740481C1C}">
                <a14:useLocalDpi xmlns:a14="http://schemas.microsoft.com/office/drawing/2010/main" val="0"/>
              </a:ext>
            </a:extLst>
          </a:blip>
          <a:srcRect b="7790"/>
          <a:stretch>
            <a:fillRect/>
          </a:stretch>
        </p:blipFill>
        <p:spPr bwMode="auto">
          <a:xfrm>
            <a:off x="2349500" y="2219325"/>
            <a:ext cx="7486650" cy="372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8" name="TextBox 7"/>
          <p:cNvSpPr txBox="1">
            <a:spLocks noChangeArrowheads="1"/>
          </p:cNvSpPr>
          <p:nvPr/>
        </p:nvSpPr>
        <p:spPr bwMode="auto">
          <a:xfrm>
            <a:off x="2638426" y="3697288"/>
            <a:ext cx="2062163" cy="6461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dirty="0">
                <a:solidFill>
                  <a:srgbClr val="FF2BD8"/>
                </a:solidFill>
                <a:ea typeface="宋体" panose="02010600030101010101" pitchFamily="2" charset="-122"/>
              </a:rPr>
              <a:t>a) Chained fixed-size buffers</a:t>
            </a:r>
          </a:p>
        </p:txBody>
      </p:sp>
      <p:sp>
        <p:nvSpPr>
          <p:cNvPr id="33799" name="TextBox 8"/>
          <p:cNvSpPr txBox="1">
            <a:spLocks noChangeArrowheads="1"/>
          </p:cNvSpPr>
          <p:nvPr/>
        </p:nvSpPr>
        <p:spPr bwMode="auto">
          <a:xfrm>
            <a:off x="5286375" y="4213226"/>
            <a:ext cx="2363788" cy="646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a:solidFill>
                  <a:srgbClr val="FF2BD8"/>
                </a:solidFill>
                <a:ea typeface="宋体" panose="02010600030101010101" pitchFamily="2" charset="-122"/>
              </a:rPr>
              <a:t>b) Chained variable-size buffers</a:t>
            </a:r>
          </a:p>
        </p:txBody>
      </p:sp>
      <p:sp>
        <p:nvSpPr>
          <p:cNvPr id="33800" name="TextBox 9"/>
          <p:cNvSpPr txBox="1">
            <a:spLocks noChangeArrowheads="1"/>
          </p:cNvSpPr>
          <p:nvPr/>
        </p:nvSpPr>
        <p:spPr bwMode="auto">
          <a:xfrm>
            <a:off x="6953251" y="5899150"/>
            <a:ext cx="3128963" cy="369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a:solidFill>
                  <a:srgbClr val="FF2BD8"/>
                </a:solidFill>
                <a:ea typeface="宋体" panose="02010600030101010101" pitchFamily="2" charset="-122"/>
              </a:rPr>
              <a:t>c) One large circular buffer</a:t>
            </a:r>
          </a:p>
        </p:txBody>
      </p:sp>
      <p:sp>
        <p:nvSpPr>
          <p:cNvPr id="9" name="矩形 8">
            <a:extLst>
              <a:ext uri="{FF2B5EF4-FFF2-40B4-BE49-F238E27FC236}">
                <a16:creationId xmlns:a16="http://schemas.microsoft.com/office/drawing/2014/main" id="{EF57928C-8574-4E5E-BDB0-CC6ABDFBC06C}"/>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Error Control and Flow Control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34820" name="Rectangle 3"/>
          <p:cNvSpPr>
            <a:spLocks noGrp="1" noChangeArrowheads="1"/>
          </p:cNvSpPr>
          <p:nvPr>
            <p:ph idx="1"/>
          </p:nvPr>
        </p:nvSpPr>
        <p:spPr>
          <a:xfrm>
            <a:off x="1344500" y="1107098"/>
            <a:ext cx="9179221" cy="545790"/>
          </a:xfrm>
        </p:spPr>
        <p:txBody>
          <a:bodyPr/>
          <a:lstStyle/>
          <a:p>
            <a:r>
              <a:rPr lang="en-US" altLang="zh-CN" dirty="0">
                <a:ea typeface="宋体" panose="02010600030101010101" pitchFamily="2" charset="-122"/>
              </a:rPr>
              <a:t>Flow control example: A’s data is limited by B’s buffer</a:t>
            </a:r>
          </a:p>
        </p:txBody>
      </p:sp>
      <p:grpSp>
        <p:nvGrpSpPr>
          <p:cNvPr id="34821" name="Group 83"/>
          <p:cNvGrpSpPr>
            <a:grpSpLocks/>
          </p:cNvGrpSpPr>
          <p:nvPr/>
        </p:nvGrpSpPr>
        <p:grpSpPr bwMode="auto">
          <a:xfrm>
            <a:off x="1852614" y="1714500"/>
            <a:ext cx="8682037" cy="4654550"/>
            <a:chOff x="462128" y="1772240"/>
            <a:chExt cx="8681872" cy="4654550"/>
          </a:xfrm>
        </p:grpSpPr>
        <p:pic>
          <p:nvPicPr>
            <p:cNvPr id="34822" name="Picture 2"/>
            <p:cNvPicPr>
              <a:picLocks noChangeAspect="1" noChangeArrowheads="1"/>
            </p:cNvPicPr>
            <p:nvPr/>
          </p:nvPicPr>
          <p:blipFill>
            <a:blip r:embed="rId3">
              <a:extLst>
                <a:ext uri="{28A0092B-C50C-407E-A947-70E740481C1C}">
                  <a14:useLocalDpi xmlns:a14="http://schemas.microsoft.com/office/drawing/2010/main" val="0"/>
                </a:ext>
              </a:extLst>
            </a:blip>
            <a:srcRect r="48093"/>
            <a:stretch>
              <a:fillRect/>
            </a:stretch>
          </p:blipFill>
          <p:spPr bwMode="auto">
            <a:xfrm>
              <a:off x="462128" y="1772240"/>
              <a:ext cx="3947947" cy="465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3" name="TextBox 21"/>
            <p:cNvSpPr txBox="1">
              <a:spLocks noChangeArrowheads="1"/>
            </p:cNvSpPr>
            <p:nvPr/>
          </p:nvSpPr>
          <p:spPr bwMode="auto">
            <a:xfrm>
              <a:off x="4548653" y="2644159"/>
              <a:ext cx="284052" cy="21544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0</a:t>
              </a:r>
            </a:p>
          </p:txBody>
        </p:sp>
        <p:sp>
          <p:nvSpPr>
            <p:cNvPr id="34824" name="TextBox 22"/>
            <p:cNvSpPr txBox="1">
              <a:spLocks noChangeArrowheads="1"/>
            </p:cNvSpPr>
            <p:nvPr/>
          </p:nvSpPr>
          <p:spPr bwMode="auto">
            <a:xfrm>
              <a:off x="4833797" y="2644159"/>
              <a:ext cx="284052" cy="21544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1</a:t>
              </a:r>
            </a:p>
          </p:txBody>
        </p:sp>
        <p:sp>
          <p:nvSpPr>
            <p:cNvPr id="34825" name="TextBox 23"/>
            <p:cNvSpPr txBox="1">
              <a:spLocks noChangeArrowheads="1"/>
            </p:cNvSpPr>
            <p:nvPr/>
          </p:nvSpPr>
          <p:spPr bwMode="auto">
            <a:xfrm>
              <a:off x="5114008" y="2642725"/>
              <a:ext cx="284052" cy="21544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2</a:t>
              </a:r>
            </a:p>
          </p:txBody>
        </p:sp>
        <p:sp>
          <p:nvSpPr>
            <p:cNvPr id="34826" name="TextBox 24"/>
            <p:cNvSpPr txBox="1">
              <a:spLocks noChangeArrowheads="1"/>
            </p:cNvSpPr>
            <p:nvPr/>
          </p:nvSpPr>
          <p:spPr bwMode="auto">
            <a:xfrm>
              <a:off x="5394224" y="2644163"/>
              <a:ext cx="284052" cy="21544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3</a:t>
              </a:r>
            </a:p>
          </p:txBody>
        </p:sp>
        <p:sp>
          <p:nvSpPr>
            <p:cNvPr id="34827" name="TextBox 25"/>
            <p:cNvSpPr txBox="1">
              <a:spLocks noChangeArrowheads="1"/>
            </p:cNvSpPr>
            <p:nvPr/>
          </p:nvSpPr>
          <p:spPr bwMode="auto">
            <a:xfrm>
              <a:off x="4545591" y="2890985"/>
              <a:ext cx="284052" cy="215444"/>
            </a:xfrm>
            <a:prstGeom prst="rect">
              <a:avLst/>
            </a:prstGeom>
            <a:solidFill>
              <a:srgbClr val="FF2BD8">
                <a:alpha val="50195"/>
              </a:srgbClr>
            </a:solidFill>
            <a:ln w="9525">
              <a:solidFill>
                <a:schemeClr val="tx1"/>
              </a:solidFill>
              <a:miter lim="800000"/>
              <a:headEnd/>
              <a:tailEnd/>
            </a:ln>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0</a:t>
              </a:r>
            </a:p>
          </p:txBody>
        </p:sp>
        <p:sp>
          <p:nvSpPr>
            <p:cNvPr id="34828" name="TextBox 26"/>
            <p:cNvSpPr txBox="1">
              <a:spLocks noChangeArrowheads="1"/>
            </p:cNvSpPr>
            <p:nvPr/>
          </p:nvSpPr>
          <p:spPr bwMode="auto">
            <a:xfrm>
              <a:off x="4830735" y="2890985"/>
              <a:ext cx="284052" cy="21544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1</a:t>
              </a:r>
            </a:p>
          </p:txBody>
        </p:sp>
        <p:sp>
          <p:nvSpPr>
            <p:cNvPr id="34829" name="TextBox 27"/>
            <p:cNvSpPr txBox="1">
              <a:spLocks noChangeArrowheads="1"/>
            </p:cNvSpPr>
            <p:nvPr/>
          </p:nvSpPr>
          <p:spPr bwMode="auto">
            <a:xfrm>
              <a:off x="5110946" y="2889551"/>
              <a:ext cx="284052" cy="21544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2</a:t>
              </a:r>
            </a:p>
          </p:txBody>
        </p:sp>
        <p:sp>
          <p:nvSpPr>
            <p:cNvPr id="34830" name="TextBox 28"/>
            <p:cNvSpPr txBox="1">
              <a:spLocks noChangeArrowheads="1"/>
            </p:cNvSpPr>
            <p:nvPr/>
          </p:nvSpPr>
          <p:spPr bwMode="auto">
            <a:xfrm>
              <a:off x="5391162" y="2890989"/>
              <a:ext cx="284052" cy="21544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3</a:t>
              </a:r>
            </a:p>
          </p:txBody>
        </p:sp>
        <p:sp>
          <p:nvSpPr>
            <p:cNvPr id="34831" name="TextBox 29"/>
            <p:cNvSpPr txBox="1">
              <a:spLocks noChangeArrowheads="1"/>
            </p:cNvSpPr>
            <p:nvPr/>
          </p:nvSpPr>
          <p:spPr bwMode="auto">
            <a:xfrm>
              <a:off x="4544565" y="3137803"/>
              <a:ext cx="284052" cy="215444"/>
            </a:xfrm>
            <a:prstGeom prst="rect">
              <a:avLst/>
            </a:prstGeom>
            <a:solidFill>
              <a:srgbClr val="FF2BD8">
                <a:alpha val="50195"/>
              </a:srgbClr>
            </a:solidFill>
            <a:ln w="9525">
              <a:solidFill>
                <a:schemeClr val="tx1"/>
              </a:solidFill>
              <a:miter lim="800000"/>
              <a:headEnd/>
              <a:tailEnd/>
            </a:ln>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0</a:t>
              </a:r>
            </a:p>
          </p:txBody>
        </p:sp>
        <p:sp>
          <p:nvSpPr>
            <p:cNvPr id="34832" name="TextBox 30"/>
            <p:cNvSpPr txBox="1">
              <a:spLocks noChangeArrowheads="1"/>
            </p:cNvSpPr>
            <p:nvPr/>
          </p:nvSpPr>
          <p:spPr bwMode="auto">
            <a:xfrm>
              <a:off x="4829709" y="3137803"/>
              <a:ext cx="284052" cy="215444"/>
            </a:xfrm>
            <a:prstGeom prst="rect">
              <a:avLst/>
            </a:prstGeom>
            <a:solidFill>
              <a:srgbClr val="FF2BD8">
                <a:alpha val="50195"/>
              </a:srgbClr>
            </a:solidFill>
            <a:ln w="9525">
              <a:solidFill>
                <a:schemeClr val="tx1"/>
              </a:solidFill>
              <a:miter lim="800000"/>
              <a:headEnd/>
              <a:tailEnd/>
            </a:ln>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1</a:t>
              </a:r>
            </a:p>
          </p:txBody>
        </p:sp>
        <p:sp>
          <p:nvSpPr>
            <p:cNvPr id="34833" name="TextBox 31"/>
            <p:cNvSpPr txBox="1">
              <a:spLocks noChangeArrowheads="1"/>
            </p:cNvSpPr>
            <p:nvPr/>
          </p:nvSpPr>
          <p:spPr bwMode="auto">
            <a:xfrm>
              <a:off x="5109920" y="3136781"/>
              <a:ext cx="284052" cy="21544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2</a:t>
              </a:r>
            </a:p>
          </p:txBody>
        </p:sp>
        <p:sp>
          <p:nvSpPr>
            <p:cNvPr id="34834" name="TextBox 32"/>
            <p:cNvSpPr txBox="1">
              <a:spLocks noChangeArrowheads="1"/>
            </p:cNvSpPr>
            <p:nvPr/>
          </p:nvSpPr>
          <p:spPr bwMode="auto">
            <a:xfrm>
              <a:off x="5390136" y="3137807"/>
              <a:ext cx="284052" cy="21544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3</a:t>
              </a:r>
            </a:p>
          </p:txBody>
        </p:sp>
        <p:sp>
          <p:nvSpPr>
            <p:cNvPr id="34835" name="TextBox 33"/>
            <p:cNvSpPr txBox="1">
              <a:spLocks noChangeArrowheads="1"/>
            </p:cNvSpPr>
            <p:nvPr/>
          </p:nvSpPr>
          <p:spPr bwMode="auto">
            <a:xfrm>
              <a:off x="4543547" y="3390373"/>
              <a:ext cx="284052" cy="215444"/>
            </a:xfrm>
            <a:prstGeom prst="rect">
              <a:avLst/>
            </a:prstGeom>
            <a:solidFill>
              <a:srgbClr val="FF2BD8">
                <a:alpha val="50195"/>
              </a:srgbClr>
            </a:solidFill>
            <a:ln w="9525">
              <a:solidFill>
                <a:schemeClr val="tx1"/>
              </a:solidFill>
              <a:miter lim="800000"/>
              <a:headEnd/>
              <a:tailEnd/>
            </a:ln>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0</a:t>
              </a:r>
            </a:p>
          </p:txBody>
        </p:sp>
        <p:sp>
          <p:nvSpPr>
            <p:cNvPr id="34836" name="TextBox 34"/>
            <p:cNvSpPr txBox="1">
              <a:spLocks noChangeArrowheads="1"/>
            </p:cNvSpPr>
            <p:nvPr/>
          </p:nvSpPr>
          <p:spPr bwMode="auto">
            <a:xfrm>
              <a:off x="4828691" y="3390373"/>
              <a:ext cx="284052" cy="215444"/>
            </a:xfrm>
            <a:prstGeom prst="rect">
              <a:avLst/>
            </a:prstGeom>
            <a:solidFill>
              <a:srgbClr val="FF2BD8">
                <a:alpha val="50195"/>
              </a:srgbClr>
            </a:solidFill>
            <a:ln w="9525">
              <a:solidFill>
                <a:schemeClr val="tx1"/>
              </a:solidFill>
              <a:miter lim="800000"/>
              <a:headEnd/>
              <a:tailEnd/>
            </a:ln>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1</a:t>
              </a:r>
            </a:p>
          </p:txBody>
        </p:sp>
        <p:sp>
          <p:nvSpPr>
            <p:cNvPr id="34837" name="TextBox 35"/>
            <p:cNvSpPr txBox="1">
              <a:spLocks noChangeArrowheads="1"/>
            </p:cNvSpPr>
            <p:nvPr/>
          </p:nvSpPr>
          <p:spPr bwMode="auto">
            <a:xfrm>
              <a:off x="5108902" y="3388939"/>
              <a:ext cx="284052" cy="21544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2</a:t>
              </a:r>
            </a:p>
          </p:txBody>
        </p:sp>
        <p:sp>
          <p:nvSpPr>
            <p:cNvPr id="34838" name="TextBox 36"/>
            <p:cNvSpPr txBox="1">
              <a:spLocks noChangeArrowheads="1"/>
            </p:cNvSpPr>
            <p:nvPr/>
          </p:nvSpPr>
          <p:spPr bwMode="auto">
            <a:xfrm>
              <a:off x="5389118" y="3390377"/>
              <a:ext cx="284052" cy="21544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3</a:t>
              </a:r>
            </a:p>
          </p:txBody>
        </p:sp>
        <p:sp>
          <p:nvSpPr>
            <p:cNvPr id="34839" name="TextBox 37"/>
            <p:cNvSpPr txBox="1">
              <a:spLocks noChangeArrowheads="1"/>
            </p:cNvSpPr>
            <p:nvPr/>
          </p:nvSpPr>
          <p:spPr bwMode="auto">
            <a:xfrm>
              <a:off x="4548467" y="3643137"/>
              <a:ext cx="284052" cy="215444"/>
            </a:xfrm>
            <a:prstGeom prst="rect">
              <a:avLst/>
            </a:prstGeom>
            <a:solidFill>
              <a:srgbClr val="FF2BD8">
                <a:alpha val="50195"/>
              </a:srgbClr>
            </a:solidFill>
            <a:ln w="9525">
              <a:solidFill>
                <a:schemeClr val="tx1"/>
              </a:solidFill>
              <a:miter lim="800000"/>
              <a:headEnd/>
              <a:tailEnd/>
            </a:ln>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1</a:t>
              </a:r>
            </a:p>
          </p:txBody>
        </p:sp>
        <p:sp>
          <p:nvSpPr>
            <p:cNvPr id="34840" name="TextBox 38"/>
            <p:cNvSpPr txBox="1">
              <a:spLocks noChangeArrowheads="1"/>
            </p:cNvSpPr>
            <p:nvPr/>
          </p:nvSpPr>
          <p:spPr bwMode="auto">
            <a:xfrm>
              <a:off x="4833611" y="3643137"/>
              <a:ext cx="284052" cy="21544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2</a:t>
              </a:r>
            </a:p>
          </p:txBody>
        </p:sp>
        <p:sp>
          <p:nvSpPr>
            <p:cNvPr id="34841" name="TextBox 39"/>
            <p:cNvSpPr txBox="1">
              <a:spLocks noChangeArrowheads="1"/>
            </p:cNvSpPr>
            <p:nvPr/>
          </p:nvSpPr>
          <p:spPr bwMode="auto">
            <a:xfrm>
              <a:off x="5113822" y="3641703"/>
              <a:ext cx="284052" cy="21544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3</a:t>
              </a:r>
            </a:p>
          </p:txBody>
        </p:sp>
        <p:sp>
          <p:nvSpPr>
            <p:cNvPr id="34842" name="TextBox 40"/>
            <p:cNvSpPr txBox="1">
              <a:spLocks noChangeArrowheads="1"/>
            </p:cNvSpPr>
            <p:nvPr/>
          </p:nvSpPr>
          <p:spPr bwMode="auto">
            <a:xfrm>
              <a:off x="5394038" y="3643141"/>
              <a:ext cx="284052" cy="21544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4</a:t>
              </a:r>
            </a:p>
          </p:txBody>
        </p:sp>
        <p:sp>
          <p:nvSpPr>
            <p:cNvPr id="34843" name="TextBox 41"/>
            <p:cNvSpPr txBox="1">
              <a:spLocks noChangeArrowheads="1"/>
            </p:cNvSpPr>
            <p:nvPr/>
          </p:nvSpPr>
          <p:spPr bwMode="auto">
            <a:xfrm>
              <a:off x="4547683" y="3885977"/>
              <a:ext cx="284052" cy="215444"/>
            </a:xfrm>
            <a:prstGeom prst="rect">
              <a:avLst/>
            </a:prstGeom>
            <a:solidFill>
              <a:srgbClr val="FF2BD8">
                <a:alpha val="50195"/>
              </a:srgbClr>
            </a:solidFill>
            <a:ln w="9525">
              <a:solidFill>
                <a:schemeClr val="tx1"/>
              </a:solidFill>
              <a:miter lim="800000"/>
              <a:headEnd/>
              <a:tailEnd/>
            </a:ln>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1</a:t>
              </a:r>
            </a:p>
          </p:txBody>
        </p:sp>
        <p:sp>
          <p:nvSpPr>
            <p:cNvPr id="34844" name="TextBox 42"/>
            <p:cNvSpPr txBox="1">
              <a:spLocks noChangeArrowheads="1"/>
            </p:cNvSpPr>
            <p:nvPr/>
          </p:nvSpPr>
          <p:spPr bwMode="auto">
            <a:xfrm>
              <a:off x="4832827" y="3885977"/>
              <a:ext cx="284052" cy="21544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2</a:t>
              </a:r>
            </a:p>
          </p:txBody>
        </p:sp>
        <p:sp>
          <p:nvSpPr>
            <p:cNvPr id="34845" name="TextBox 43"/>
            <p:cNvSpPr txBox="1">
              <a:spLocks noChangeArrowheads="1"/>
            </p:cNvSpPr>
            <p:nvPr/>
          </p:nvSpPr>
          <p:spPr bwMode="auto">
            <a:xfrm>
              <a:off x="5113038" y="3884069"/>
              <a:ext cx="284052" cy="215444"/>
            </a:xfrm>
            <a:prstGeom prst="rect">
              <a:avLst/>
            </a:prstGeom>
            <a:solidFill>
              <a:srgbClr val="FF2BD8">
                <a:alpha val="50195"/>
              </a:srgbClr>
            </a:solidFill>
            <a:ln w="9525">
              <a:solidFill>
                <a:schemeClr val="tx1"/>
              </a:solidFill>
              <a:miter lim="800000"/>
              <a:headEnd/>
              <a:tailEnd/>
            </a:ln>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3</a:t>
              </a:r>
            </a:p>
          </p:txBody>
        </p:sp>
        <p:sp>
          <p:nvSpPr>
            <p:cNvPr id="34846" name="TextBox 44"/>
            <p:cNvSpPr txBox="1">
              <a:spLocks noChangeArrowheads="1"/>
            </p:cNvSpPr>
            <p:nvPr/>
          </p:nvSpPr>
          <p:spPr bwMode="auto">
            <a:xfrm>
              <a:off x="5393254" y="3885981"/>
              <a:ext cx="284052" cy="21544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4</a:t>
              </a:r>
            </a:p>
          </p:txBody>
        </p:sp>
        <p:sp>
          <p:nvSpPr>
            <p:cNvPr id="34847" name="TextBox 45"/>
            <p:cNvSpPr txBox="1">
              <a:spLocks noChangeArrowheads="1"/>
            </p:cNvSpPr>
            <p:nvPr/>
          </p:nvSpPr>
          <p:spPr bwMode="auto">
            <a:xfrm>
              <a:off x="4552603" y="4132609"/>
              <a:ext cx="284052" cy="215444"/>
            </a:xfrm>
            <a:prstGeom prst="rect">
              <a:avLst/>
            </a:prstGeom>
            <a:solidFill>
              <a:srgbClr val="FF2BD8">
                <a:alpha val="50195"/>
              </a:srgbClr>
            </a:solidFill>
            <a:ln w="9525">
              <a:solidFill>
                <a:schemeClr val="tx1"/>
              </a:solidFill>
              <a:miter lim="800000"/>
              <a:headEnd/>
              <a:tailEnd/>
            </a:ln>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1</a:t>
              </a:r>
            </a:p>
          </p:txBody>
        </p:sp>
        <p:sp>
          <p:nvSpPr>
            <p:cNvPr id="34848" name="TextBox 46"/>
            <p:cNvSpPr txBox="1">
              <a:spLocks noChangeArrowheads="1"/>
            </p:cNvSpPr>
            <p:nvPr/>
          </p:nvSpPr>
          <p:spPr bwMode="auto">
            <a:xfrm>
              <a:off x="4837747" y="4132609"/>
              <a:ext cx="284052" cy="21544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2</a:t>
              </a:r>
            </a:p>
          </p:txBody>
        </p:sp>
        <p:sp>
          <p:nvSpPr>
            <p:cNvPr id="34849" name="TextBox 47"/>
            <p:cNvSpPr txBox="1">
              <a:spLocks noChangeArrowheads="1"/>
            </p:cNvSpPr>
            <p:nvPr/>
          </p:nvSpPr>
          <p:spPr bwMode="auto">
            <a:xfrm>
              <a:off x="5117958" y="4131175"/>
              <a:ext cx="284052" cy="215444"/>
            </a:xfrm>
            <a:prstGeom prst="rect">
              <a:avLst/>
            </a:prstGeom>
            <a:solidFill>
              <a:srgbClr val="FF2BD8">
                <a:alpha val="50195"/>
              </a:srgbClr>
            </a:solidFill>
            <a:ln w="9525">
              <a:solidFill>
                <a:schemeClr val="tx1"/>
              </a:solidFill>
              <a:miter lim="800000"/>
              <a:headEnd/>
              <a:tailEnd/>
            </a:ln>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3</a:t>
              </a:r>
            </a:p>
          </p:txBody>
        </p:sp>
        <p:sp>
          <p:nvSpPr>
            <p:cNvPr id="34850" name="TextBox 48"/>
            <p:cNvSpPr txBox="1">
              <a:spLocks noChangeArrowheads="1"/>
            </p:cNvSpPr>
            <p:nvPr/>
          </p:nvSpPr>
          <p:spPr bwMode="auto">
            <a:xfrm>
              <a:off x="5398174" y="4132613"/>
              <a:ext cx="284052" cy="215444"/>
            </a:xfrm>
            <a:prstGeom prst="rect">
              <a:avLst/>
            </a:prstGeom>
            <a:solidFill>
              <a:srgbClr val="FF2BD8">
                <a:alpha val="50195"/>
              </a:srgbClr>
            </a:solidFill>
            <a:ln w="9525">
              <a:solidFill>
                <a:schemeClr val="tx1"/>
              </a:solidFill>
              <a:miter lim="800000"/>
              <a:headEnd/>
              <a:tailEnd/>
            </a:ln>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4</a:t>
              </a:r>
            </a:p>
          </p:txBody>
        </p:sp>
        <p:sp>
          <p:nvSpPr>
            <p:cNvPr id="34851" name="TextBox 49"/>
            <p:cNvSpPr txBox="1">
              <a:spLocks noChangeArrowheads="1"/>
            </p:cNvSpPr>
            <p:nvPr/>
          </p:nvSpPr>
          <p:spPr bwMode="auto">
            <a:xfrm>
              <a:off x="4549541" y="4379435"/>
              <a:ext cx="284052" cy="215444"/>
            </a:xfrm>
            <a:prstGeom prst="rect">
              <a:avLst/>
            </a:prstGeom>
            <a:solidFill>
              <a:srgbClr val="FF2BD8">
                <a:alpha val="50195"/>
              </a:srgbClr>
            </a:solidFill>
            <a:ln w="9525">
              <a:solidFill>
                <a:schemeClr val="tx1"/>
              </a:solidFill>
              <a:miter lim="800000"/>
              <a:headEnd/>
              <a:tailEnd/>
            </a:ln>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1</a:t>
              </a:r>
            </a:p>
          </p:txBody>
        </p:sp>
        <p:sp>
          <p:nvSpPr>
            <p:cNvPr id="34852" name="TextBox 50"/>
            <p:cNvSpPr txBox="1">
              <a:spLocks noChangeArrowheads="1"/>
            </p:cNvSpPr>
            <p:nvPr/>
          </p:nvSpPr>
          <p:spPr bwMode="auto">
            <a:xfrm>
              <a:off x="4834685" y="4379435"/>
              <a:ext cx="284052" cy="215444"/>
            </a:xfrm>
            <a:prstGeom prst="rect">
              <a:avLst/>
            </a:prstGeom>
            <a:solidFill>
              <a:srgbClr val="FF2BD8">
                <a:alpha val="50195"/>
              </a:srgbClr>
            </a:solidFill>
            <a:ln w="9525">
              <a:solidFill>
                <a:schemeClr val="tx1"/>
              </a:solidFill>
              <a:miter lim="800000"/>
              <a:headEnd/>
              <a:tailEnd/>
            </a:ln>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2</a:t>
              </a:r>
            </a:p>
          </p:txBody>
        </p:sp>
        <p:sp>
          <p:nvSpPr>
            <p:cNvPr id="34853" name="TextBox 51"/>
            <p:cNvSpPr txBox="1">
              <a:spLocks noChangeArrowheads="1"/>
            </p:cNvSpPr>
            <p:nvPr/>
          </p:nvSpPr>
          <p:spPr bwMode="auto">
            <a:xfrm>
              <a:off x="5114896" y="4378001"/>
              <a:ext cx="284052" cy="215444"/>
            </a:xfrm>
            <a:prstGeom prst="rect">
              <a:avLst/>
            </a:prstGeom>
            <a:solidFill>
              <a:srgbClr val="FF2BD8">
                <a:alpha val="50195"/>
              </a:srgbClr>
            </a:solidFill>
            <a:ln w="9525">
              <a:solidFill>
                <a:schemeClr val="tx1"/>
              </a:solidFill>
              <a:miter lim="800000"/>
              <a:headEnd/>
              <a:tailEnd/>
            </a:ln>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3</a:t>
              </a:r>
            </a:p>
          </p:txBody>
        </p:sp>
        <p:sp>
          <p:nvSpPr>
            <p:cNvPr id="34854" name="TextBox 52"/>
            <p:cNvSpPr txBox="1">
              <a:spLocks noChangeArrowheads="1"/>
            </p:cNvSpPr>
            <p:nvPr/>
          </p:nvSpPr>
          <p:spPr bwMode="auto">
            <a:xfrm>
              <a:off x="5395112" y="4379439"/>
              <a:ext cx="284052" cy="215444"/>
            </a:xfrm>
            <a:prstGeom prst="rect">
              <a:avLst/>
            </a:prstGeom>
            <a:solidFill>
              <a:srgbClr val="FF2BD8">
                <a:alpha val="50195"/>
              </a:srgbClr>
            </a:solidFill>
            <a:ln w="9525">
              <a:solidFill>
                <a:schemeClr val="tx1"/>
              </a:solidFill>
              <a:miter lim="800000"/>
              <a:headEnd/>
              <a:tailEnd/>
            </a:ln>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4</a:t>
              </a:r>
            </a:p>
          </p:txBody>
        </p:sp>
        <p:sp>
          <p:nvSpPr>
            <p:cNvPr id="34855" name="TextBox 53"/>
            <p:cNvSpPr txBox="1">
              <a:spLocks noChangeArrowheads="1"/>
            </p:cNvSpPr>
            <p:nvPr/>
          </p:nvSpPr>
          <p:spPr bwMode="auto">
            <a:xfrm>
              <a:off x="4548515" y="4614377"/>
              <a:ext cx="284052" cy="215444"/>
            </a:xfrm>
            <a:prstGeom prst="rect">
              <a:avLst/>
            </a:prstGeom>
            <a:solidFill>
              <a:srgbClr val="FF2BD8">
                <a:alpha val="50195"/>
              </a:srgbClr>
            </a:solidFill>
            <a:ln w="9525">
              <a:solidFill>
                <a:schemeClr val="tx1"/>
              </a:solidFill>
              <a:miter lim="800000"/>
              <a:headEnd/>
              <a:tailEnd/>
            </a:ln>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1</a:t>
              </a:r>
            </a:p>
          </p:txBody>
        </p:sp>
        <p:sp>
          <p:nvSpPr>
            <p:cNvPr id="34856" name="TextBox 54"/>
            <p:cNvSpPr txBox="1">
              <a:spLocks noChangeArrowheads="1"/>
            </p:cNvSpPr>
            <p:nvPr/>
          </p:nvSpPr>
          <p:spPr bwMode="auto">
            <a:xfrm>
              <a:off x="4833659" y="4614377"/>
              <a:ext cx="284052" cy="215444"/>
            </a:xfrm>
            <a:prstGeom prst="rect">
              <a:avLst/>
            </a:prstGeom>
            <a:solidFill>
              <a:srgbClr val="FF2BD8">
                <a:alpha val="50195"/>
              </a:srgbClr>
            </a:solidFill>
            <a:ln w="9525">
              <a:solidFill>
                <a:schemeClr val="tx1"/>
              </a:solidFill>
              <a:miter lim="800000"/>
              <a:headEnd/>
              <a:tailEnd/>
            </a:ln>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2</a:t>
              </a:r>
            </a:p>
          </p:txBody>
        </p:sp>
        <p:sp>
          <p:nvSpPr>
            <p:cNvPr id="34857" name="TextBox 55"/>
            <p:cNvSpPr txBox="1">
              <a:spLocks noChangeArrowheads="1"/>
            </p:cNvSpPr>
            <p:nvPr/>
          </p:nvSpPr>
          <p:spPr bwMode="auto">
            <a:xfrm>
              <a:off x="5113870" y="4613355"/>
              <a:ext cx="284052" cy="215444"/>
            </a:xfrm>
            <a:prstGeom prst="rect">
              <a:avLst/>
            </a:prstGeom>
            <a:solidFill>
              <a:srgbClr val="FF2BD8">
                <a:alpha val="50195"/>
              </a:srgbClr>
            </a:solidFill>
            <a:ln w="9525">
              <a:solidFill>
                <a:schemeClr val="tx1"/>
              </a:solidFill>
              <a:miter lim="800000"/>
              <a:headEnd/>
              <a:tailEnd/>
            </a:ln>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dirty="0">
                  <a:ea typeface="宋体" panose="02010600030101010101" pitchFamily="2" charset="-122"/>
                </a:rPr>
                <a:t>3</a:t>
              </a:r>
            </a:p>
          </p:txBody>
        </p:sp>
        <p:sp>
          <p:nvSpPr>
            <p:cNvPr id="34858" name="TextBox 56"/>
            <p:cNvSpPr txBox="1">
              <a:spLocks noChangeArrowheads="1"/>
            </p:cNvSpPr>
            <p:nvPr/>
          </p:nvSpPr>
          <p:spPr bwMode="auto">
            <a:xfrm>
              <a:off x="5394086" y="4614381"/>
              <a:ext cx="284052" cy="215444"/>
            </a:xfrm>
            <a:prstGeom prst="rect">
              <a:avLst/>
            </a:prstGeom>
            <a:solidFill>
              <a:srgbClr val="FF2BD8">
                <a:alpha val="50195"/>
              </a:srgbClr>
            </a:solidFill>
            <a:ln w="9525">
              <a:solidFill>
                <a:schemeClr val="tx1"/>
              </a:solidFill>
              <a:miter lim="800000"/>
              <a:headEnd/>
              <a:tailEnd/>
            </a:ln>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4</a:t>
              </a:r>
            </a:p>
          </p:txBody>
        </p:sp>
        <p:sp>
          <p:nvSpPr>
            <p:cNvPr id="34859" name="TextBox 57"/>
            <p:cNvSpPr txBox="1">
              <a:spLocks noChangeArrowheads="1"/>
            </p:cNvSpPr>
            <p:nvPr/>
          </p:nvSpPr>
          <p:spPr bwMode="auto">
            <a:xfrm>
              <a:off x="4547497" y="4861009"/>
              <a:ext cx="284052" cy="215444"/>
            </a:xfrm>
            <a:prstGeom prst="rect">
              <a:avLst/>
            </a:prstGeom>
            <a:solidFill>
              <a:srgbClr val="FF2BD8">
                <a:alpha val="50195"/>
              </a:srgbClr>
            </a:solidFill>
            <a:ln w="9525">
              <a:solidFill>
                <a:schemeClr val="tx1"/>
              </a:solidFill>
              <a:miter lim="800000"/>
              <a:headEnd/>
              <a:tailEnd/>
            </a:ln>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2</a:t>
              </a:r>
            </a:p>
          </p:txBody>
        </p:sp>
        <p:sp>
          <p:nvSpPr>
            <p:cNvPr id="34860" name="TextBox 58"/>
            <p:cNvSpPr txBox="1">
              <a:spLocks noChangeArrowheads="1"/>
            </p:cNvSpPr>
            <p:nvPr/>
          </p:nvSpPr>
          <p:spPr bwMode="auto">
            <a:xfrm>
              <a:off x="4832641" y="4861009"/>
              <a:ext cx="284052" cy="215444"/>
            </a:xfrm>
            <a:prstGeom prst="rect">
              <a:avLst/>
            </a:prstGeom>
            <a:solidFill>
              <a:srgbClr val="FF2BD8">
                <a:alpha val="50195"/>
              </a:srgbClr>
            </a:solidFill>
            <a:ln w="9525">
              <a:solidFill>
                <a:schemeClr val="tx1"/>
              </a:solidFill>
              <a:miter lim="800000"/>
              <a:headEnd/>
              <a:tailEnd/>
            </a:ln>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3</a:t>
              </a:r>
            </a:p>
          </p:txBody>
        </p:sp>
        <p:sp>
          <p:nvSpPr>
            <p:cNvPr id="34861" name="TextBox 59"/>
            <p:cNvSpPr txBox="1">
              <a:spLocks noChangeArrowheads="1"/>
            </p:cNvSpPr>
            <p:nvPr/>
          </p:nvSpPr>
          <p:spPr bwMode="auto">
            <a:xfrm>
              <a:off x="5112852" y="4859575"/>
              <a:ext cx="284052" cy="215444"/>
            </a:xfrm>
            <a:prstGeom prst="rect">
              <a:avLst/>
            </a:prstGeom>
            <a:solidFill>
              <a:srgbClr val="FF2BD8">
                <a:alpha val="50195"/>
              </a:srgbClr>
            </a:solidFill>
            <a:ln w="9525">
              <a:solidFill>
                <a:schemeClr val="tx1"/>
              </a:solidFill>
              <a:miter lim="800000"/>
              <a:headEnd/>
              <a:tailEnd/>
            </a:ln>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4</a:t>
              </a:r>
            </a:p>
          </p:txBody>
        </p:sp>
        <p:sp>
          <p:nvSpPr>
            <p:cNvPr id="34862" name="TextBox 60"/>
            <p:cNvSpPr txBox="1">
              <a:spLocks noChangeArrowheads="1"/>
            </p:cNvSpPr>
            <p:nvPr/>
          </p:nvSpPr>
          <p:spPr bwMode="auto">
            <a:xfrm>
              <a:off x="5393068" y="4861013"/>
              <a:ext cx="284052" cy="21544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5</a:t>
              </a:r>
            </a:p>
          </p:txBody>
        </p:sp>
        <p:sp>
          <p:nvSpPr>
            <p:cNvPr id="34863" name="TextBox 61"/>
            <p:cNvSpPr txBox="1">
              <a:spLocks noChangeArrowheads="1"/>
            </p:cNvSpPr>
            <p:nvPr/>
          </p:nvSpPr>
          <p:spPr bwMode="auto">
            <a:xfrm>
              <a:off x="4552417" y="5107835"/>
              <a:ext cx="284052" cy="215444"/>
            </a:xfrm>
            <a:prstGeom prst="rect">
              <a:avLst/>
            </a:prstGeom>
            <a:solidFill>
              <a:srgbClr val="FF2BD8">
                <a:alpha val="50195"/>
              </a:srgbClr>
            </a:solidFill>
            <a:ln w="9525">
              <a:solidFill>
                <a:schemeClr val="tx1"/>
              </a:solidFill>
              <a:miter lim="800000"/>
              <a:headEnd/>
              <a:tailEnd/>
            </a:ln>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3</a:t>
              </a:r>
            </a:p>
          </p:txBody>
        </p:sp>
        <p:sp>
          <p:nvSpPr>
            <p:cNvPr id="34864" name="TextBox 62"/>
            <p:cNvSpPr txBox="1">
              <a:spLocks noChangeArrowheads="1"/>
            </p:cNvSpPr>
            <p:nvPr/>
          </p:nvSpPr>
          <p:spPr bwMode="auto">
            <a:xfrm>
              <a:off x="4837561" y="5107835"/>
              <a:ext cx="284052" cy="215444"/>
            </a:xfrm>
            <a:prstGeom prst="rect">
              <a:avLst/>
            </a:prstGeom>
            <a:solidFill>
              <a:srgbClr val="FF2BD8">
                <a:alpha val="50195"/>
              </a:srgbClr>
            </a:solidFill>
            <a:ln w="9525">
              <a:solidFill>
                <a:schemeClr val="tx1"/>
              </a:solidFill>
              <a:miter lim="800000"/>
              <a:headEnd/>
              <a:tailEnd/>
            </a:ln>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4</a:t>
              </a:r>
            </a:p>
          </p:txBody>
        </p:sp>
        <p:sp>
          <p:nvSpPr>
            <p:cNvPr id="34865" name="TextBox 63"/>
            <p:cNvSpPr txBox="1">
              <a:spLocks noChangeArrowheads="1"/>
            </p:cNvSpPr>
            <p:nvPr/>
          </p:nvSpPr>
          <p:spPr bwMode="auto">
            <a:xfrm>
              <a:off x="5117772" y="5106401"/>
              <a:ext cx="284052" cy="21544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5</a:t>
              </a:r>
            </a:p>
          </p:txBody>
        </p:sp>
        <p:sp>
          <p:nvSpPr>
            <p:cNvPr id="34866" name="TextBox 64"/>
            <p:cNvSpPr txBox="1">
              <a:spLocks noChangeArrowheads="1"/>
            </p:cNvSpPr>
            <p:nvPr/>
          </p:nvSpPr>
          <p:spPr bwMode="auto">
            <a:xfrm>
              <a:off x="5397988" y="5107839"/>
              <a:ext cx="284052" cy="21544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6</a:t>
              </a:r>
            </a:p>
          </p:txBody>
        </p:sp>
        <p:sp>
          <p:nvSpPr>
            <p:cNvPr id="34867" name="TextBox 65"/>
            <p:cNvSpPr txBox="1">
              <a:spLocks noChangeArrowheads="1"/>
            </p:cNvSpPr>
            <p:nvPr/>
          </p:nvSpPr>
          <p:spPr bwMode="auto">
            <a:xfrm>
              <a:off x="4553500" y="5357169"/>
              <a:ext cx="284052" cy="215444"/>
            </a:xfrm>
            <a:prstGeom prst="rect">
              <a:avLst/>
            </a:prstGeom>
            <a:solidFill>
              <a:srgbClr val="FF2BD8">
                <a:alpha val="50195"/>
              </a:srgbClr>
            </a:solidFill>
            <a:ln w="9525">
              <a:solidFill>
                <a:schemeClr val="tx1"/>
              </a:solidFill>
              <a:miter lim="800000"/>
              <a:headEnd/>
              <a:tailEnd/>
            </a:ln>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3</a:t>
              </a:r>
            </a:p>
          </p:txBody>
        </p:sp>
        <p:sp>
          <p:nvSpPr>
            <p:cNvPr id="34868" name="TextBox 66"/>
            <p:cNvSpPr txBox="1">
              <a:spLocks noChangeArrowheads="1"/>
            </p:cNvSpPr>
            <p:nvPr/>
          </p:nvSpPr>
          <p:spPr bwMode="auto">
            <a:xfrm>
              <a:off x="4838644" y="5357169"/>
              <a:ext cx="284052" cy="215444"/>
            </a:xfrm>
            <a:prstGeom prst="rect">
              <a:avLst/>
            </a:prstGeom>
            <a:solidFill>
              <a:srgbClr val="FF2BD8">
                <a:alpha val="50195"/>
              </a:srgbClr>
            </a:solidFill>
            <a:ln w="9525">
              <a:solidFill>
                <a:schemeClr val="tx1"/>
              </a:solidFill>
              <a:miter lim="800000"/>
              <a:headEnd/>
              <a:tailEnd/>
            </a:ln>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4</a:t>
              </a:r>
            </a:p>
          </p:txBody>
        </p:sp>
        <p:sp>
          <p:nvSpPr>
            <p:cNvPr id="34869" name="TextBox 67"/>
            <p:cNvSpPr txBox="1">
              <a:spLocks noChangeArrowheads="1"/>
            </p:cNvSpPr>
            <p:nvPr/>
          </p:nvSpPr>
          <p:spPr bwMode="auto">
            <a:xfrm>
              <a:off x="5118855" y="5355735"/>
              <a:ext cx="284052" cy="215444"/>
            </a:xfrm>
            <a:prstGeom prst="rect">
              <a:avLst/>
            </a:prstGeom>
            <a:solidFill>
              <a:srgbClr val="FF2BD8">
                <a:alpha val="50195"/>
              </a:srgbClr>
            </a:solidFill>
            <a:ln w="9525">
              <a:solidFill>
                <a:schemeClr val="tx1"/>
              </a:solidFill>
              <a:miter lim="800000"/>
              <a:headEnd/>
              <a:tailEnd/>
            </a:ln>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5</a:t>
              </a:r>
            </a:p>
          </p:txBody>
        </p:sp>
        <p:sp>
          <p:nvSpPr>
            <p:cNvPr id="34870" name="TextBox 68"/>
            <p:cNvSpPr txBox="1">
              <a:spLocks noChangeArrowheads="1"/>
            </p:cNvSpPr>
            <p:nvPr/>
          </p:nvSpPr>
          <p:spPr bwMode="auto">
            <a:xfrm>
              <a:off x="5399071" y="5357173"/>
              <a:ext cx="284052" cy="21544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6</a:t>
              </a:r>
            </a:p>
          </p:txBody>
        </p:sp>
        <p:sp>
          <p:nvSpPr>
            <p:cNvPr id="34871" name="TextBox 69"/>
            <p:cNvSpPr txBox="1">
              <a:spLocks noChangeArrowheads="1"/>
            </p:cNvSpPr>
            <p:nvPr/>
          </p:nvSpPr>
          <p:spPr bwMode="auto">
            <a:xfrm>
              <a:off x="4552474" y="5592111"/>
              <a:ext cx="284052" cy="215444"/>
            </a:xfrm>
            <a:prstGeom prst="rect">
              <a:avLst/>
            </a:prstGeom>
            <a:solidFill>
              <a:srgbClr val="FF2BD8">
                <a:alpha val="50195"/>
              </a:srgbClr>
            </a:solidFill>
            <a:ln w="9525">
              <a:solidFill>
                <a:schemeClr val="tx1"/>
              </a:solidFill>
              <a:miter lim="800000"/>
              <a:headEnd/>
              <a:tailEnd/>
            </a:ln>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3</a:t>
              </a:r>
            </a:p>
          </p:txBody>
        </p:sp>
        <p:sp>
          <p:nvSpPr>
            <p:cNvPr id="34872" name="TextBox 70"/>
            <p:cNvSpPr txBox="1">
              <a:spLocks noChangeArrowheads="1"/>
            </p:cNvSpPr>
            <p:nvPr/>
          </p:nvSpPr>
          <p:spPr bwMode="auto">
            <a:xfrm>
              <a:off x="4837618" y="5592111"/>
              <a:ext cx="284052" cy="215444"/>
            </a:xfrm>
            <a:prstGeom prst="rect">
              <a:avLst/>
            </a:prstGeom>
            <a:solidFill>
              <a:srgbClr val="FF2BD8">
                <a:alpha val="50195"/>
              </a:srgbClr>
            </a:solidFill>
            <a:ln w="9525">
              <a:solidFill>
                <a:schemeClr val="tx1"/>
              </a:solidFill>
              <a:miter lim="800000"/>
              <a:headEnd/>
              <a:tailEnd/>
            </a:ln>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4</a:t>
              </a:r>
            </a:p>
          </p:txBody>
        </p:sp>
        <p:sp>
          <p:nvSpPr>
            <p:cNvPr id="34873" name="TextBox 71"/>
            <p:cNvSpPr txBox="1">
              <a:spLocks noChangeArrowheads="1"/>
            </p:cNvSpPr>
            <p:nvPr/>
          </p:nvSpPr>
          <p:spPr bwMode="auto">
            <a:xfrm>
              <a:off x="5117829" y="5591089"/>
              <a:ext cx="284052" cy="215444"/>
            </a:xfrm>
            <a:prstGeom prst="rect">
              <a:avLst/>
            </a:prstGeom>
            <a:solidFill>
              <a:srgbClr val="FF2BD8">
                <a:alpha val="50195"/>
              </a:srgbClr>
            </a:solidFill>
            <a:ln w="9525">
              <a:solidFill>
                <a:schemeClr val="tx1"/>
              </a:solidFill>
              <a:miter lim="800000"/>
              <a:headEnd/>
              <a:tailEnd/>
            </a:ln>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5</a:t>
              </a:r>
            </a:p>
          </p:txBody>
        </p:sp>
        <p:sp>
          <p:nvSpPr>
            <p:cNvPr id="34874" name="TextBox 72"/>
            <p:cNvSpPr txBox="1">
              <a:spLocks noChangeArrowheads="1"/>
            </p:cNvSpPr>
            <p:nvPr/>
          </p:nvSpPr>
          <p:spPr bwMode="auto">
            <a:xfrm>
              <a:off x="5398045" y="5592115"/>
              <a:ext cx="284052" cy="215444"/>
            </a:xfrm>
            <a:prstGeom prst="rect">
              <a:avLst/>
            </a:prstGeom>
            <a:solidFill>
              <a:srgbClr val="FF2BD8">
                <a:alpha val="50195"/>
              </a:srgbClr>
            </a:solidFill>
            <a:ln w="9525">
              <a:solidFill>
                <a:schemeClr val="tx1"/>
              </a:solidFill>
              <a:miter lim="800000"/>
              <a:headEnd/>
              <a:tailEnd/>
            </a:ln>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6</a:t>
              </a:r>
            </a:p>
          </p:txBody>
        </p:sp>
        <p:sp>
          <p:nvSpPr>
            <p:cNvPr id="34875" name="TextBox 73"/>
            <p:cNvSpPr txBox="1">
              <a:spLocks noChangeArrowheads="1"/>
            </p:cNvSpPr>
            <p:nvPr/>
          </p:nvSpPr>
          <p:spPr bwMode="auto">
            <a:xfrm>
              <a:off x="4551456" y="5838743"/>
              <a:ext cx="284052" cy="215444"/>
            </a:xfrm>
            <a:prstGeom prst="rect">
              <a:avLst/>
            </a:prstGeom>
            <a:solidFill>
              <a:srgbClr val="FF2BD8">
                <a:alpha val="50195"/>
              </a:srgbClr>
            </a:solidFill>
            <a:ln w="9525">
              <a:solidFill>
                <a:schemeClr val="tx1"/>
              </a:solidFill>
              <a:miter lim="800000"/>
              <a:headEnd/>
              <a:tailEnd/>
            </a:ln>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3</a:t>
              </a:r>
            </a:p>
          </p:txBody>
        </p:sp>
        <p:sp>
          <p:nvSpPr>
            <p:cNvPr id="34876" name="TextBox 74"/>
            <p:cNvSpPr txBox="1">
              <a:spLocks noChangeArrowheads="1"/>
            </p:cNvSpPr>
            <p:nvPr/>
          </p:nvSpPr>
          <p:spPr bwMode="auto">
            <a:xfrm>
              <a:off x="4836600" y="5838743"/>
              <a:ext cx="284052" cy="215444"/>
            </a:xfrm>
            <a:prstGeom prst="rect">
              <a:avLst/>
            </a:prstGeom>
            <a:solidFill>
              <a:srgbClr val="FF2BD8">
                <a:alpha val="50195"/>
              </a:srgbClr>
            </a:solidFill>
            <a:ln w="9525">
              <a:solidFill>
                <a:schemeClr val="tx1"/>
              </a:solidFill>
              <a:miter lim="800000"/>
              <a:headEnd/>
              <a:tailEnd/>
            </a:ln>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4</a:t>
              </a:r>
            </a:p>
          </p:txBody>
        </p:sp>
        <p:sp>
          <p:nvSpPr>
            <p:cNvPr id="34877" name="TextBox 75"/>
            <p:cNvSpPr txBox="1">
              <a:spLocks noChangeArrowheads="1"/>
            </p:cNvSpPr>
            <p:nvPr/>
          </p:nvSpPr>
          <p:spPr bwMode="auto">
            <a:xfrm>
              <a:off x="5116811" y="5837309"/>
              <a:ext cx="284052" cy="215444"/>
            </a:xfrm>
            <a:prstGeom prst="rect">
              <a:avLst/>
            </a:prstGeom>
            <a:solidFill>
              <a:srgbClr val="FF2BD8">
                <a:alpha val="50195"/>
              </a:srgbClr>
            </a:solidFill>
            <a:ln w="9525">
              <a:solidFill>
                <a:schemeClr val="tx1"/>
              </a:solidFill>
              <a:miter lim="800000"/>
              <a:headEnd/>
              <a:tailEnd/>
            </a:ln>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5</a:t>
              </a:r>
            </a:p>
          </p:txBody>
        </p:sp>
        <p:sp>
          <p:nvSpPr>
            <p:cNvPr id="34878" name="TextBox 76"/>
            <p:cNvSpPr txBox="1">
              <a:spLocks noChangeArrowheads="1"/>
            </p:cNvSpPr>
            <p:nvPr/>
          </p:nvSpPr>
          <p:spPr bwMode="auto">
            <a:xfrm>
              <a:off x="5397027" y="5838747"/>
              <a:ext cx="284052" cy="215444"/>
            </a:xfrm>
            <a:prstGeom prst="rect">
              <a:avLst/>
            </a:prstGeom>
            <a:solidFill>
              <a:srgbClr val="FF2BD8">
                <a:alpha val="50195"/>
              </a:srgbClr>
            </a:solidFill>
            <a:ln w="9525">
              <a:solidFill>
                <a:schemeClr val="tx1"/>
              </a:solidFill>
              <a:miter lim="800000"/>
              <a:headEnd/>
              <a:tailEnd/>
            </a:ln>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6</a:t>
              </a:r>
            </a:p>
          </p:txBody>
        </p:sp>
        <p:sp>
          <p:nvSpPr>
            <p:cNvPr id="34879" name="TextBox 77"/>
            <p:cNvSpPr txBox="1">
              <a:spLocks noChangeArrowheads="1"/>
            </p:cNvSpPr>
            <p:nvPr/>
          </p:nvSpPr>
          <p:spPr bwMode="auto">
            <a:xfrm>
              <a:off x="4556376" y="6085569"/>
              <a:ext cx="284052" cy="21544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7</a:t>
              </a:r>
            </a:p>
          </p:txBody>
        </p:sp>
        <p:sp>
          <p:nvSpPr>
            <p:cNvPr id="34880" name="TextBox 78"/>
            <p:cNvSpPr txBox="1">
              <a:spLocks noChangeArrowheads="1"/>
            </p:cNvSpPr>
            <p:nvPr/>
          </p:nvSpPr>
          <p:spPr bwMode="auto">
            <a:xfrm>
              <a:off x="4841520" y="6085569"/>
              <a:ext cx="284052" cy="21544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8</a:t>
              </a:r>
            </a:p>
          </p:txBody>
        </p:sp>
        <p:sp>
          <p:nvSpPr>
            <p:cNvPr id="34881" name="TextBox 79"/>
            <p:cNvSpPr txBox="1">
              <a:spLocks noChangeArrowheads="1"/>
            </p:cNvSpPr>
            <p:nvPr/>
          </p:nvSpPr>
          <p:spPr bwMode="auto">
            <a:xfrm>
              <a:off x="5121731" y="6084135"/>
              <a:ext cx="284052" cy="21544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t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9</a:t>
              </a:r>
            </a:p>
          </p:txBody>
        </p:sp>
        <p:sp>
          <p:nvSpPr>
            <p:cNvPr id="34882" name="TextBox 80"/>
            <p:cNvSpPr txBox="1">
              <a:spLocks noChangeArrowheads="1"/>
            </p:cNvSpPr>
            <p:nvPr/>
          </p:nvSpPr>
          <p:spPr bwMode="auto">
            <a:xfrm>
              <a:off x="5401947" y="6085573"/>
              <a:ext cx="291105" cy="21544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45720" tIns="0" rIns="4572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a:ea typeface="宋体" panose="02010600030101010101" pitchFamily="2" charset="-122"/>
                </a:rPr>
                <a:t>10</a:t>
              </a:r>
            </a:p>
          </p:txBody>
        </p:sp>
        <p:pic>
          <p:nvPicPr>
            <p:cNvPr id="34883" name="Picture 2"/>
            <p:cNvPicPr>
              <a:picLocks noChangeAspect="1" noChangeArrowheads="1"/>
            </p:cNvPicPr>
            <p:nvPr/>
          </p:nvPicPr>
          <p:blipFill>
            <a:blip r:embed="rId3">
              <a:extLst>
                <a:ext uri="{28A0092B-C50C-407E-A947-70E740481C1C}">
                  <a14:useLocalDpi xmlns:a14="http://schemas.microsoft.com/office/drawing/2010/main" val="0"/>
                </a:ext>
              </a:extLst>
            </a:blip>
            <a:srcRect l="53661" r="1755"/>
            <a:stretch>
              <a:fillRect/>
            </a:stretch>
          </p:blipFill>
          <p:spPr bwMode="auto">
            <a:xfrm>
              <a:off x="5753100" y="1772240"/>
              <a:ext cx="3390900" cy="465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84" name="TextBox 82"/>
            <p:cNvSpPr txBox="1">
              <a:spLocks noChangeArrowheads="1"/>
            </p:cNvSpPr>
            <p:nvPr/>
          </p:nvSpPr>
          <p:spPr bwMode="auto">
            <a:xfrm>
              <a:off x="4581525" y="1905000"/>
              <a:ext cx="95558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400" u="sng">
                  <a:ea typeface="宋体" panose="02010600030101010101" pitchFamily="2" charset="-122"/>
                </a:rPr>
                <a:t>B’s Buffer</a:t>
              </a:r>
            </a:p>
          </p:txBody>
        </p:sp>
      </p:grpSp>
      <p:sp>
        <p:nvSpPr>
          <p:cNvPr id="69" name="矩形 68">
            <a:extLst>
              <a:ext uri="{FF2B5EF4-FFF2-40B4-BE49-F238E27FC236}">
                <a16:creationId xmlns:a16="http://schemas.microsoft.com/office/drawing/2014/main" id="{7B546D86-38CE-46E9-BBD2-A20BC63886A0}"/>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Error Control and Flow Control (3)</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noChangeArrowheads="1"/>
          </p:cNvSpPr>
          <p:nvPr>
            <p:ph idx="1"/>
          </p:nvPr>
        </p:nvSpPr>
        <p:spPr>
          <a:xfrm>
            <a:off x="838200" y="1116012"/>
            <a:ext cx="10515600" cy="1431926"/>
          </a:xfrm>
        </p:spPr>
        <p:txBody>
          <a:bodyPr/>
          <a:lstStyle/>
          <a:p>
            <a:r>
              <a:rPr lang="en-US" altLang="zh-CN">
                <a:ea typeface="宋体" panose="02010600030101010101" pitchFamily="2" charset="-122"/>
              </a:rPr>
              <a:t>Kinds of transport / network sharing that can occur:</a:t>
            </a:r>
          </a:p>
          <a:p>
            <a:pPr lvl="1"/>
            <a:r>
              <a:rPr lang="en-US" altLang="zh-CN">
                <a:ea typeface="宋体" panose="02010600030101010101" pitchFamily="2" charset="-122"/>
              </a:rPr>
              <a:t>Multiplexing: connections share a network address</a:t>
            </a:r>
          </a:p>
          <a:p>
            <a:pPr lvl="1"/>
            <a:r>
              <a:rPr lang="en-US" altLang="zh-CN">
                <a:ea typeface="宋体" panose="02010600030101010101" pitchFamily="2" charset="-122"/>
              </a:rPr>
              <a:t>Inverse multiplexing: addresses share a connection</a:t>
            </a:r>
          </a:p>
        </p:txBody>
      </p:sp>
      <p:sp>
        <p:nvSpPr>
          <p:cNvPr id="3686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zh-CN">
                <a:ea typeface="宋体" panose="02010600030101010101" pitchFamily="2" charset="-122"/>
              </a:rPr>
              <a:t>Computer Networks, Chapter 6 The Transport Layer</a:t>
            </a:r>
          </a:p>
        </p:txBody>
      </p:sp>
      <p:sp>
        <p:nvSpPr>
          <p:cNvPr id="36869" name="TextBox 8"/>
          <p:cNvSpPr txBox="1">
            <a:spLocks noChangeArrowheads="1"/>
          </p:cNvSpPr>
          <p:nvPr/>
        </p:nvSpPr>
        <p:spPr bwMode="auto">
          <a:xfrm>
            <a:off x="2990851" y="5754688"/>
            <a:ext cx="20621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a:solidFill>
                  <a:srgbClr val="FF2BD8"/>
                </a:solidFill>
                <a:ea typeface="宋体" panose="02010600030101010101" pitchFamily="2" charset="-122"/>
              </a:rPr>
              <a:t>Multiplexing</a:t>
            </a:r>
          </a:p>
        </p:txBody>
      </p:sp>
      <p:sp>
        <p:nvSpPr>
          <p:cNvPr id="36870" name="TextBox 9"/>
          <p:cNvSpPr txBox="1">
            <a:spLocks noChangeArrowheads="1"/>
          </p:cNvSpPr>
          <p:nvPr/>
        </p:nvSpPr>
        <p:spPr bwMode="auto">
          <a:xfrm>
            <a:off x="6248401" y="5792788"/>
            <a:ext cx="2390775"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a:solidFill>
                  <a:srgbClr val="FF2BD8"/>
                </a:solidFill>
                <a:ea typeface="宋体" panose="02010600030101010101" pitchFamily="2" charset="-122"/>
              </a:rPr>
              <a:t>Inverse Multiplexing</a:t>
            </a:r>
          </a:p>
        </p:txBody>
      </p:sp>
      <p:grpSp>
        <p:nvGrpSpPr>
          <p:cNvPr id="36871" name="Group 12"/>
          <p:cNvGrpSpPr>
            <a:grpSpLocks/>
          </p:cNvGrpSpPr>
          <p:nvPr/>
        </p:nvGrpSpPr>
        <p:grpSpPr bwMode="auto">
          <a:xfrm>
            <a:off x="2200275" y="2547938"/>
            <a:ext cx="7791450" cy="3325812"/>
            <a:chOff x="504825" y="2386013"/>
            <a:chExt cx="8134350" cy="3471862"/>
          </a:xfrm>
        </p:grpSpPr>
        <p:pic>
          <p:nvPicPr>
            <p:cNvPr id="36872" name="Picture 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9665"/>
            <a:stretch>
              <a:fillRect/>
            </a:stretch>
          </p:blipFill>
          <p:spPr bwMode="auto">
            <a:xfrm>
              <a:off x="504825" y="2386013"/>
              <a:ext cx="8134350" cy="347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Oval 10"/>
            <p:cNvSpPr/>
            <p:nvPr/>
          </p:nvSpPr>
          <p:spPr bwMode="auto">
            <a:xfrm>
              <a:off x="1381572" y="2714141"/>
              <a:ext cx="2409809" cy="981070"/>
            </a:xfrm>
            <a:prstGeom prst="ellipse">
              <a:avLst/>
            </a:prstGeom>
            <a:noFill/>
            <a:ln w="19050" cap="flat" cmpd="sng" algn="ctr">
              <a:solidFill>
                <a:schemeClr val="accent3">
                  <a:lumMod val="60000"/>
                  <a:lumOff val="40000"/>
                </a:schemeClr>
              </a:solidFill>
              <a:prstDash val="solid"/>
              <a:round/>
              <a:headEnd type="none" w="med" len="med"/>
              <a:tailEnd type="none" w="med" len="med"/>
            </a:ln>
            <a:effec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en-US" altLang="zh-CN">
                <a:ea typeface="宋体" panose="02010600030101010101" pitchFamily="2" charset="-122"/>
              </a:endParaRPr>
            </a:p>
          </p:txBody>
        </p:sp>
        <p:sp>
          <p:nvSpPr>
            <p:cNvPr id="12" name="Oval 11"/>
            <p:cNvSpPr/>
            <p:nvPr/>
          </p:nvSpPr>
          <p:spPr bwMode="auto">
            <a:xfrm>
              <a:off x="4933306" y="2929579"/>
              <a:ext cx="1763437" cy="981070"/>
            </a:xfrm>
            <a:prstGeom prst="ellipse">
              <a:avLst/>
            </a:prstGeom>
            <a:noFill/>
            <a:ln w="19050" cap="flat" cmpd="sng" algn="ctr">
              <a:solidFill>
                <a:schemeClr val="accent3">
                  <a:lumMod val="60000"/>
                  <a:lumOff val="40000"/>
                </a:schemeClr>
              </a:solidFill>
              <a:prstDash val="solid"/>
              <a:round/>
              <a:headEnd type="none" w="med" len="med"/>
              <a:tailEnd type="none" w="med" len="med"/>
            </a:ln>
            <a:effec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en-US" altLang="zh-CN">
                <a:ea typeface="宋体" panose="02010600030101010101" pitchFamily="2" charset="-122"/>
              </a:endParaRPr>
            </a:p>
          </p:txBody>
        </p:sp>
      </p:grpSp>
      <p:sp>
        <p:nvSpPr>
          <p:cNvPr id="13" name="矩形 12">
            <a:extLst>
              <a:ext uri="{FF2B5EF4-FFF2-40B4-BE49-F238E27FC236}">
                <a16:creationId xmlns:a16="http://schemas.microsoft.com/office/drawing/2014/main" id="{3C960BEA-89B6-4344-997C-DBA9AC8E1495}"/>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Multiplexing/Demultiplexing</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zh-CN">
                <a:ea typeface="宋体" panose="02010600030101010101" pitchFamily="2" charset="-122"/>
              </a:rPr>
              <a:t>Computer Networks, Chapter 6 The Transport Layer</a:t>
            </a:r>
          </a:p>
        </p:txBody>
      </p:sp>
      <p:sp>
        <p:nvSpPr>
          <p:cNvPr id="13" name="矩形 12">
            <a:extLst>
              <a:ext uri="{FF2B5EF4-FFF2-40B4-BE49-F238E27FC236}">
                <a16:creationId xmlns:a16="http://schemas.microsoft.com/office/drawing/2014/main" id="{3C960BEA-89B6-4344-997C-DBA9AC8E1495}"/>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Multiplexing/Demultiplexing</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05BD6F41-EE5B-441A-89D6-90BDB186A25F}"/>
              </a:ext>
            </a:extLst>
          </p:cNvPr>
          <p:cNvPicPr>
            <a:picLocks noChangeAspect="1"/>
          </p:cNvPicPr>
          <p:nvPr/>
        </p:nvPicPr>
        <p:blipFill>
          <a:blip r:embed="rId2"/>
          <a:stretch>
            <a:fillRect/>
          </a:stretch>
        </p:blipFill>
        <p:spPr>
          <a:xfrm>
            <a:off x="1322405" y="1137562"/>
            <a:ext cx="9102817" cy="5099570"/>
          </a:xfrm>
          <a:prstGeom prst="rect">
            <a:avLst/>
          </a:prstGeom>
        </p:spPr>
      </p:pic>
    </p:spTree>
    <p:extLst>
      <p:ext uri="{BB962C8B-B14F-4D97-AF65-F5344CB8AC3E}">
        <p14:creationId xmlns:p14="http://schemas.microsoft.com/office/powerpoint/2010/main" val="21072598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zh-CN">
                <a:ea typeface="宋体" panose="02010600030101010101" pitchFamily="2" charset="-122"/>
              </a:rPr>
              <a:t>Computer Networks, Chapter 6 The Transport Layer</a:t>
            </a:r>
          </a:p>
        </p:txBody>
      </p:sp>
      <p:sp>
        <p:nvSpPr>
          <p:cNvPr id="13" name="矩形 12">
            <a:extLst>
              <a:ext uri="{FF2B5EF4-FFF2-40B4-BE49-F238E27FC236}">
                <a16:creationId xmlns:a16="http://schemas.microsoft.com/office/drawing/2014/main" id="{3C960BEA-89B6-4344-997C-DBA9AC8E1495}"/>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How Demultiplexing Works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F7AF6B02-9328-480E-A376-0E3774E4330D}"/>
              </a:ext>
            </a:extLst>
          </p:cNvPr>
          <p:cNvPicPr>
            <a:picLocks noChangeAspect="1"/>
          </p:cNvPicPr>
          <p:nvPr/>
        </p:nvPicPr>
        <p:blipFill>
          <a:blip r:embed="rId2"/>
          <a:stretch>
            <a:fillRect/>
          </a:stretch>
        </p:blipFill>
        <p:spPr>
          <a:xfrm>
            <a:off x="847041" y="1107437"/>
            <a:ext cx="9386796" cy="5021245"/>
          </a:xfrm>
          <a:prstGeom prst="rect">
            <a:avLst/>
          </a:prstGeom>
        </p:spPr>
      </p:pic>
    </p:spTree>
    <p:extLst>
      <p:ext uri="{BB962C8B-B14F-4D97-AF65-F5344CB8AC3E}">
        <p14:creationId xmlns:p14="http://schemas.microsoft.com/office/powerpoint/2010/main" val="4713692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zh-CN">
                <a:ea typeface="宋体" panose="02010600030101010101" pitchFamily="2" charset="-122"/>
              </a:rPr>
              <a:t>Computer Networks, Chapter 6 The Transport Layer</a:t>
            </a:r>
          </a:p>
        </p:txBody>
      </p:sp>
      <p:sp>
        <p:nvSpPr>
          <p:cNvPr id="13" name="矩形 12">
            <a:extLst>
              <a:ext uri="{FF2B5EF4-FFF2-40B4-BE49-F238E27FC236}">
                <a16:creationId xmlns:a16="http://schemas.microsoft.com/office/drawing/2014/main" id="{3C960BEA-89B6-4344-997C-DBA9AC8E1495}"/>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Connection-oriented Demultiplexing</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349A7765-D32C-4689-8769-0331D178F3BA}"/>
              </a:ext>
            </a:extLst>
          </p:cNvPr>
          <p:cNvPicPr>
            <a:picLocks noChangeAspect="1"/>
          </p:cNvPicPr>
          <p:nvPr/>
        </p:nvPicPr>
        <p:blipFill>
          <a:blip r:embed="rId2"/>
          <a:stretch>
            <a:fillRect/>
          </a:stretch>
        </p:blipFill>
        <p:spPr>
          <a:xfrm>
            <a:off x="997116" y="1125879"/>
            <a:ext cx="9178242" cy="4728448"/>
          </a:xfrm>
          <a:prstGeom prst="rect">
            <a:avLst/>
          </a:prstGeom>
        </p:spPr>
      </p:pic>
    </p:spTree>
    <p:extLst>
      <p:ext uri="{BB962C8B-B14F-4D97-AF65-F5344CB8AC3E}">
        <p14:creationId xmlns:p14="http://schemas.microsoft.com/office/powerpoint/2010/main" val="2127812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zh-CN">
                <a:ea typeface="宋体" panose="02010600030101010101" pitchFamily="2" charset="-122"/>
              </a:rPr>
              <a:t>Computer Networks, Chapter 6 The Transport Layer</a:t>
            </a:r>
          </a:p>
        </p:txBody>
      </p:sp>
      <p:sp>
        <p:nvSpPr>
          <p:cNvPr id="13" name="矩形 12">
            <a:extLst>
              <a:ext uri="{FF2B5EF4-FFF2-40B4-BE49-F238E27FC236}">
                <a16:creationId xmlns:a16="http://schemas.microsoft.com/office/drawing/2014/main" id="{3C960BEA-89B6-4344-997C-DBA9AC8E1495}"/>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Connection-oriented Demultiplexing: Example</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25532BFA-1FD9-4F7B-9449-17884C7E1BE9}"/>
              </a:ext>
            </a:extLst>
          </p:cNvPr>
          <p:cNvPicPr>
            <a:picLocks noChangeAspect="1"/>
          </p:cNvPicPr>
          <p:nvPr/>
        </p:nvPicPr>
        <p:blipFill>
          <a:blip r:embed="rId2"/>
          <a:stretch>
            <a:fillRect/>
          </a:stretch>
        </p:blipFill>
        <p:spPr>
          <a:xfrm>
            <a:off x="1160204" y="1112468"/>
            <a:ext cx="9047052" cy="4633064"/>
          </a:xfrm>
          <a:prstGeom prst="rect">
            <a:avLst/>
          </a:prstGeom>
        </p:spPr>
      </p:pic>
      <p:sp>
        <p:nvSpPr>
          <p:cNvPr id="5" name="文本框 4">
            <a:extLst>
              <a:ext uri="{FF2B5EF4-FFF2-40B4-BE49-F238E27FC236}">
                <a16:creationId xmlns:a16="http://schemas.microsoft.com/office/drawing/2014/main" id="{958AD7B1-DBDC-44DA-B956-44574AF2EE95}"/>
              </a:ext>
            </a:extLst>
          </p:cNvPr>
          <p:cNvSpPr txBox="1"/>
          <p:nvPr/>
        </p:nvSpPr>
        <p:spPr>
          <a:xfrm>
            <a:off x="808074" y="5866275"/>
            <a:ext cx="10435870" cy="369332"/>
          </a:xfrm>
          <a:prstGeom prst="rect">
            <a:avLst/>
          </a:prstGeom>
          <a:noFill/>
        </p:spPr>
        <p:txBody>
          <a:bodyPr wrap="none" rtlCol="0">
            <a:spAutoFit/>
          </a:bodyPr>
          <a:lstStyle/>
          <a:p>
            <a:r>
              <a:rPr lang="en-US" altLang="zh-CN" b="1" dirty="0">
                <a:solidFill>
                  <a:srgbClr val="FF0000"/>
                </a:solidFill>
              </a:rPr>
              <a:t>Three segments, all destined to IP address: B, </a:t>
            </a:r>
            <a:r>
              <a:rPr lang="en-US" altLang="zh-CN" b="1" dirty="0" err="1">
                <a:solidFill>
                  <a:srgbClr val="FF0000"/>
                </a:solidFill>
              </a:rPr>
              <a:t>dest</a:t>
            </a:r>
            <a:r>
              <a:rPr lang="en-US" altLang="zh-CN" b="1" dirty="0">
                <a:solidFill>
                  <a:srgbClr val="FF0000"/>
                </a:solidFill>
              </a:rPr>
              <a:t> port: 80 are demultiplexed to different sockets.</a:t>
            </a:r>
            <a:endParaRPr lang="zh-CN" altLang="en-US" b="1" dirty="0">
              <a:solidFill>
                <a:srgbClr val="FF0000"/>
              </a:solidFill>
            </a:endParaRPr>
          </a:p>
        </p:txBody>
      </p:sp>
    </p:spTree>
    <p:extLst>
      <p:ext uri="{BB962C8B-B14F-4D97-AF65-F5344CB8AC3E}">
        <p14:creationId xmlns:p14="http://schemas.microsoft.com/office/powerpoint/2010/main" val="15814663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38916" name="Rectangle 3"/>
          <p:cNvSpPr>
            <a:spLocks noGrp="1" noChangeArrowheads="1"/>
          </p:cNvSpPr>
          <p:nvPr>
            <p:ph idx="1"/>
          </p:nvPr>
        </p:nvSpPr>
        <p:spPr>
          <a:xfrm>
            <a:off x="1520456" y="1343956"/>
            <a:ext cx="8432800" cy="3632082"/>
          </a:xfrm>
        </p:spPr>
        <p:txBody>
          <a:bodyPr/>
          <a:lstStyle/>
          <a:p>
            <a:pPr>
              <a:lnSpc>
                <a:spcPct val="100000"/>
              </a:lnSpc>
            </a:pPr>
            <a:r>
              <a:rPr lang="en-US" altLang="zh-CN" dirty="0">
                <a:ea typeface="宋体" panose="02010600030101010101" pitchFamily="2" charset="-122"/>
              </a:rPr>
              <a:t>Two layers are responsible for congestion control:</a:t>
            </a:r>
          </a:p>
          <a:p>
            <a:pPr lvl="2">
              <a:lnSpc>
                <a:spcPct val="100000"/>
              </a:lnSpc>
            </a:pPr>
            <a:r>
              <a:rPr lang="en-US" altLang="zh-CN" sz="2400" dirty="0">
                <a:ea typeface="宋体" panose="02010600030101010101" pitchFamily="2" charset="-122"/>
              </a:rPr>
              <a:t>Transport layer, controls the offered load [here]</a:t>
            </a:r>
          </a:p>
          <a:p>
            <a:pPr lvl="2">
              <a:lnSpc>
                <a:spcPct val="100000"/>
              </a:lnSpc>
            </a:pPr>
            <a:r>
              <a:rPr lang="en-US" altLang="zh-CN" sz="2400" dirty="0">
                <a:ea typeface="宋体" panose="02010600030101010101" pitchFamily="2" charset="-122"/>
              </a:rPr>
              <a:t>Network layer, experiences congestion [previous]</a:t>
            </a:r>
          </a:p>
          <a:p>
            <a:pPr lvl="2">
              <a:lnSpc>
                <a:spcPct val="100000"/>
              </a:lnSpc>
            </a:pPr>
            <a:endParaRPr lang="en-US" altLang="zh-CN" dirty="0">
              <a:ea typeface="宋体" panose="02010600030101010101" pitchFamily="2" charset="-122"/>
            </a:endParaRPr>
          </a:p>
          <a:p>
            <a:pPr lvl="1">
              <a:lnSpc>
                <a:spcPct val="100000"/>
              </a:lnSpc>
            </a:pPr>
            <a:r>
              <a:rPr lang="en-US" altLang="zh-CN" dirty="0">
                <a:ea typeface="宋体" panose="02010600030101010101" pitchFamily="2" charset="-122"/>
              </a:rPr>
              <a:t>Desirable bandwidth allocation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lnSpc>
                <a:spcPct val="100000"/>
              </a:lnSpc>
            </a:pPr>
            <a:r>
              <a:rPr lang="en-US" altLang="zh-CN" dirty="0">
                <a:ea typeface="宋体" panose="02010600030101010101" pitchFamily="2" charset="-122"/>
              </a:rPr>
              <a:t>Regulating the sending rate </a:t>
            </a:r>
            <a:r>
              <a:rPr lang="en-US" altLang="zh-CN" dirty="0">
                <a:solidFill>
                  <a:srgbClr val="0000FF"/>
                </a:solidFill>
                <a:ea typeface="宋体" panose="02010600030101010101" pitchFamily="2" charset="-122"/>
              </a:rPr>
              <a:t>»</a:t>
            </a:r>
          </a:p>
          <a:p>
            <a:pPr lvl="1">
              <a:lnSpc>
                <a:spcPct val="100000"/>
              </a:lnSpc>
            </a:pPr>
            <a:r>
              <a:rPr lang="en-US" altLang="zh-CN" dirty="0">
                <a:ea typeface="宋体" panose="02010600030101010101" pitchFamily="2" charset="-122"/>
              </a:rPr>
              <a:t>Wireless issues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a:lnSpc>
                <a:spcPct val="100000"/>
              </a:lnSpc>
            </a:pPr>
            <a:endParaRPr lang="en-US" altLang="zh-CN" dirty="0">
              <a:ea typeface="宋体" panose="02010600030101010101" pitchFamily="2" charset="-122"/>
            </a:endParaRPr>
          </a:p>
        </p:txBody>
      </p:sp>
      <p:sp>
        <p:nvSpPr>
          <p:cNvPr id="5" name="矩形 4">
            <a:extLst>
              <a:ext uri="{FF2B5EF4-FFF2-40B4-BE49-F238E27FC236}">
                <a16:creationId xmlns:a16="http://schemas.microsoft.com/office/drawing/2014/main" id="{E45713B4-B6F8-48FE-A64C-886F92364DBF}"/>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Congestion Control</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39940" name="Rectangle 3"/>
          <p:cNvSpPr>
            <a:spLocks noGrp="1" noChangeArrowheads="1"/>
          </p:cNvSpPr>
          <p:nvPr>
            <p:ph idx="1"/>
          </p:nvPr>
        </p:nvSpPr>
        <p:spPr>
          <a:xfrm>
            <a:off x="1219994" y="1129507"/>
            <a:ext cx="9696926" cy="696120"/>
          </a:xfrm>
        </p:spPr>
        <p:txBody>
          <a:bodyPr/>
          <a:lstStyle/>
          <a:p>
            <a:r>
              <a:rPr lang="en-US" altLang="zh-CN">
                <a:ea typeface="宋体" panose="02010600030101010101" pitchFamily="2" charset="-122"/>
              </a:rPr>
              <a:t>Efficient use of bandwidth gives high goodput, low delay</a:t>
            </a:r>
          </a:p>
          <a:p>
            <a:endParaRPr lang="en-US" altLang="zh-CN">
              <a:ea typeface="宋体" panose="02010600030101010101" pitchFamily="2" charset="-122"/>
            </a:endParaRPr>
          </a:p>
        </p:txBody>
      </p:sp>
      <p:pic>
        <p:nvPicPr>
          <p:cNvPr id="39941" name="Picture 2"/>
          <p:cNvPicPr>
            <a:picLocks noChangeAspect="1" noChangeArrowheads="1"/>
          </p:cNvPicPr>
          <p:nvPr/>
        </p:nvPicPr>
        <p:blipFill>
          <a:blip r:embed="rId3">
            <a:extLst>
              <a:ext uri="{28A0092B-C50C-407E-A947-70E740481C1C}">
                <a14:useLocalDpi xmlns:a14="http://schemas.microsoft.com/office/drawing/2010/main" val="0"/>
              </a:ext>
            </a:extLst>
          </a:blip>
          <a:srcRect b="19411"/>
          <a:stretch>
            <a:fillRect/>
          </a:stretch>
        </p:blipFill>
        <p:spPr bwMode="auto">
          <a:xfrm>
            <a:off x="2095501" y="2286001"/>
            <a:ext cx="8037513" cy="288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2" name="TextBox 8"/>
          <p:cNvSpPr txBox="1">
            <a:spLocks noChangeArrowheads="1"/>
          </p:cNvSpPr>
          <p:nvPr/>
        </p:nvSpPr>
        <p:spPr bwMode="auto">
          <a:xfrm>
            <a:off x="7077075" y="5249863"/>
            <a:ext cx="31623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dirty="0">
                <a:solidFill>
                  <a:srgbClr val="FF2BD8"/>
                </a:solidFill>
                <a:ea typeface="宋体" panose="02010600030101010101" pitchFamily="2" charset="-122"/>
              </a:rPr>
              <a:t>Delay begins to rise sharply when congestion sets in</a:t>
            </a:r>
          </a:p>
        </p:txBody>
      </p:sp>
      <p:sp>
        <p:nvSpPr>
          <p:cNvPr id="39943" name="TextBox 9"/>
          <p:cNvSpPr txBox="1">
            <a:spLocks noChangeArrowheads="1"/>
          </p:cNvSpPr>
          <p:nvPr/>
        </p:nvSpPr>
        <p:spPr bwMode="auto">
          <a:xfrm>
            <a:off x="2447925" y="5259388"/>
            <a:ext cx="3429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dirty="0">
                <a:solidFill>
                  <a:srgbClr val="FF2BD8"/>
                </a:solidFill>
                <a:ea typeface="宋体" panose="02010600030101010101" pitchFamily="2" charset="-122"/>
              </a:rPr>
              <a:t>Goodput rises more slowly than load when congestion sets in</a:t>
            </a:r>
          </a:p>
        </p:txBody>
      </p:sp>
      <p:sp>
        <p:nvSpPr>
          <p:cNvPr id="8" name="矩形 7">
            <a:extLst>
              <a:ext uri="{FF2B5EF4-FFF2-40B4-BE49-F238E27FC236}">
                <a16:creationId xmlns:a16="http://schemas.microsoft.com/office/drawing/2014/main" id="{B998ED6C-D4CD-488B-AE6F-80711C1DF8EC}"/>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Desirable Bandwidth Allocation (1)</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41988" name="Rectangle 3"/>
          <p:cNvSpPr>
            <a:spLocks noGrp="1" noChangeArrowheads="1"/>
          </p:cNvSpPr>
          <p:nvPr>
            <p:ph idx="1"/>
          </p:nvPr>
        </p:nvSpPr>
        <p:spPr>
          <a:xfrm>
            <a:off x="1253648" y="1183323"/>
            <a:ext cx="9581992" cy="960754"/>
          </a:xfrm>
        </p:spPr>
        <p:txBody>
          <a:bodyPr/>
          <a:lstStyle/>
          <a:p>
            <a:r>
              <a:rPr lang="en-US" altLang="zh-CN" dirty="0">
                <a:ea typeface="宋体" panose="02010600030101010101" pitchFamily="2" charset="-122"/>
              </a:rPr>
              <a:t>Fair use gives bandwidth to all flows (no starvation)</a:t>
            </a:r>
          </a:p>
          <a:p>
            <a:pPr lvl="1"/>
            <a:r>
              <a:rPr lang="en-US" altLang="zh-CN" dirty="0">
                <a:ea typeface="宋体" panose="02010600030101010101" pitchFamily="2" charset="-122"/>
              </a:rPr>
              <a:t>Max-min fairness gives equal shares of bottleneck</a:t>
            </a:r>
          </a:p>
        </p:txBody>
      </p:sp>
      <p:pic>
        <p:nvPicPr>
          <p:cNvPr id="4198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358" y="2576845"/>
            <a:ext cx="7579242" cy="278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Oval 8"/>
          <p:cNvSpPr/>
          <p:nvPr/>
        </p:nvSpPr>
        <p:spPr bwMode="auto">
          <a:xfrm>
            <a:off x="3641208" y="4253246"/>
            <a:ext cx="342900" cy="733425"/>
          </a:xfrm>
          <a:prstGeom prst="ellipse">
            <a:avLst/>
          </a:prstGeom>
          <a:noFill/>
          <a:ln w="28575" cap="flat" cmpd="sng" algn="ctr">
            <a:solidFill>
              <a:schemeClr val="accent3">
                <a:lumMod val="60000"/>
                <a:lumOff val="40000"/>
              </a:schemeClr>
            </a:solidFill>
            <a:prstDash val="solid"/>
            <a:round/>
            <a:headEnd type="none" w="med" len="med"/>
            <a:tailEnd type="none" w="med" len="med"/>
          </a:ln>
          <a:effec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en-US" altLang="zh-CN">
              <a:ea typeface="宋体" panose="02010600030101010101" pitchFamily="2" charset="-122"/>
            </a:endParaRPr>
          </a:p>
        </p:txBody>
      </p:sp>
      <p:cxnSp>
        <p:nvCxnSpPr>
          <p:cNvPr id="41991" name="Straight Arrow Connector 10"/>
          <p:cNvCxnSpPr>
            <a:cxnSpLocks noChangeShapeType="1"/>
          </p:cNvCxnSpPr>
          <p:nvPr/>
        </p:nvCxnSpPr>
        <p:spPr bwMode="auto">
          <a:xfrm rot="16200000" flipV="1">
            <a:off x="3750746" y="5181933"/>
            <a:ext cx="447675" cy="152400"/>
          </a:xfrm>
          <a:prstGeom prst="straightConnector1">
            <a:avLst/>
          </a:prstGeom>
          <a:noFill/>
          <a:ln w="19050" algn="ctr">
            <a:solidFill>
              <a:schemeClr val="tx1"/>
            </a:solidFill>
            <a:round/>
            <a:headEnd/>
            <a:tailEnd type="arrow" w="med" len="med"/>
          </a:ln>
        </p:spPr>
      </p:cxnSp>
      <p:sp>
        <p:nvSpPr>
          <p:cNvPr id="41992" name="TextBox 11"/>
          <p:cNvSpPr txBox="1">
            <a:spLocks noChangeArrowheads="1"/>
          </p:cNvSpPr>
          <p:nvPr/>
        </p:nvSpPr>
        <p:spPr bwMode="auto">
          <a:xfrm>
            <a:off x="3431658" y="5415295"/>
            <a:ext cx="16716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a:solidFill>
                  <a:srgbClr val="FF2BD8"/>
                </a:solidFill>
                <a:ea typeface="宋体" panose="02010600030101010101" pitchFamily="2" charset="-122"/>
              </a:rPr>
              <a:t>Bottleneck link</a:t>
            </a:r>
          </a:p>
        </p:txBody>
      </p:sp>
      <p:sp>
        <p:nvSpPr>
          <p:cNvPr id="10" name="矩形 9">
            <a:extLst>
              <a:ext uri="{FF2B5EF4-FFF2-40B4-BE49-F238E27FC236}">
                <a16:creationId xmlns:a16="http://schemas.microsoft.com/office/drawing/2014/main" id="{AB833B13-DED8-42DA-9C0C-0926BAD3675B}"/>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Desirable Bandwidth Allocation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EB2B1183-1789-4F01-99E2-B6DC8D9668E7}"/>
              </a:ext>
            </a:extLst>
          </p:cNvPr>
          <p:cNvSpPr txBox="1"/>
          <p:nvPr/>
        </p:nvSpPr>
        <p:spPr>
          <a:xfrm>
            <a:off x="8487948" y="2144077"/>
            <a:ext cx="3724792" cy="3785652"/>
          </a:xfrm>
          <a:prstGeom prst="rect">
            <a:avLst/>
          </a:prstGeom>
          <a:noFill/>
        </p:spPr>
        <p:txBody>
          <a:bodyPr wrap="square" rtlCol="0">
            <a:spAutoFit/>
          </a:bodyPr>
          <a:lstStyle/>
          <a:p>
            <a:r>
              <a:rPr lang="en-US" altLang="zh-CN" sz="2000" b="1" dirty="0">
                <a:latin typeface="Arial" panose="020B0604020202020204" pitchFamily="34" charset="0"/>
                <a:cs typeface="Arial" panose="020B0604020202020204" pitchFamily="34" charset="0"/>
              </a:rPr>
              <a:t>Max-min Fairness</a:t>
            </a:r>
          </a:p>
          <a:p>
            <a:r>
              <a:rPr lang="en-US" altLang="zh-CN" sz="2000" dirty="0">
                <a:latin typeface="Arial" panose="020B0604020202020204" pitchFamily="34" charset="0"/>
                <a:cs typeface="Arial" panose="020B0604020202020204" pitchFamily="34" charset="0"/>
              </a:rPr>
              <a:t>To find it given a network, imagine “pouring water into the network”</a:t>
            </a:r>
          </a:p>
          <a:p>
            <a:pPr marL="342900" indent="-342900">
              <a:buAutoNum type="arabicPeriod"/>
            </a:pPr>
            <a:r>
              <a:rPr lang="en-US" altLang="zh-CN" sz="2000" dirty="0">
                <a:latin typeface="Arial" panose="020B0604020202020204" pitchFamily="34" charset="0"/>
                <a:cs typeface="Arial" panose="020B0604020202020204" pitchFamily="34" charset="0"/>
              </a:rPr>
              <a:t>Start with all flows at rate 0;</a:t>
            </a:r>
          </a:p>
          <a:p>
            <a:pPr marL="342900" indent="-342900">
              <a:buAutoNum type="arabicPeriod"/>
            </a:pPr>
            <a:r>
              <a:rPr lang="en-US" altLang="zh-CN" sz="2000" dirty="0">
                <a:latin typeface="Arial" panose="020B0604020202020204" pitchFamily="34" charset="0"/>
                <a:cs typeface="Arial" panose="020B0604020202020204" pitchFamily="34" charset="0"/>
              </a:rPr>
              <a:t>Increase the flows until there is a new bottleneck in the network;</a:t>
            </a:r>
          </a:p>
          <a:p>
            <a:pPr marL="342900" indent="-342900">
              <a:buAutoNum type="arabicPeriod"/>
            </a:pPr>
            <a:r>
              <a:rPr lang="en-US" altLang="zh-CN" sz="2000" dirty="0">
                <a:latin typeface="Arial" panose="020B0604020202020204" pitchFamily="34" charset="0"/>
                <a:cs typeface="Arial" panose="020B0604020202020204" pitchFamily="34" charset="0"/>
              </a:rPr>
              <a:t>Hold fixed the rate of the flows that are bottlenecked</a:t>
            </a:r>
          </a:p>
          <a:p>
            <a:pPr marL="342900" indent="-342900">
              <a:buAutoNum type="arabicPeriod"/>
            </a:pPr>
            <a:r>
              <a:rPr lang="en-US" altLang="zh-CN" sz="2000" dirty="0">
                <a:latin typeface="Arial" panose="020B0604020202020204" pitchFamily="34" charset="0"/>
                <a:cs typeface="Arial" panose="020B0604020202020204" pitchFamily="34" charset="0"/>
              </a:rPr>
              <a:t>Go to step 2 for any remaining flows.</a:t>
            </a:r>
            <a:endParaRPr lang="zh-CN" altLang="en-US" sz="2000" dirty="0">
              <a:latin typeface="Arial" panose="020B0604020202020204" pitchFamily="34" charset="0"/>
              <a:cs typeface="Arial" panose="020B06040202020202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10" name="矩形 9">
            <a:extLst>
              <a:ext uri="{FF2B5EF4-FFF2-40B4-BE49-F238E27FC236}">
                <a16:creationId xmlns:a16="http://schemas.microsoft.com/office/drawing/2014/main" id="{AB833B13-DED8-42DA-9C0C-0926BAD3675B}"/>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Desirable Bandwidth Allocation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7DFFCBF3-5C07-46A5-8FB6-09BC7E9CB9D2}"/>
              </a:ext>
            </a:extLst>
          </p:cNvPr>
          <p:cNvSpPr txBox="1"/>
          <p:nvPr/>
        </p:nvSpPr>
        <p:spPr>
          <a:xfrm>
            <a:off x="8750595" y="2786030"/>
            <a:ext cx="3050215" cy="2862322"/>
          </a:xfrm>
          <a:prstGeom prst="rect">
            <a:avLst/>
          </a:prstGeom>
          <a:noFill/>
        </p:spPr>
        <p:txBody>
          <a:bodyPr wrap="square">
            <a:spAutoFit/>
          </a:bodyPr>
          <a:lstStyle/>
          <a:p>
            <a:pPr algn="l">
              <a:spcBef>
                <a:spcPts val="1200"/>
              </a:spcBef>
              <a:buFont typeface="Arial" panose="020B0604020202020204" pitchFamily="34" charset="0"/>
              <a:buChar char="•"/>
            </a:pPr>
            <a:r>
              <a:rPr lang="en-US" altLang="zh-CN" sz="2000" b="0" i="0" dirty="0">
                <a:effectLst/>
                <a:latin typeface="微软雅黑" panose="020B0503020204020204" pitchFamily="34" charset="-122"/>
                <a:ea typeface="微软雅黑" panose="020B0503020204020204" pitchFamily="34" charset="-122"/>
              </a:rPr>
              <a:t>R5-R6</a:t>
            </a:r>
            <a:r>
              <a:rPr lang="zh-CN" altLang="en-US" sz="2000" b="0" i="0" dirty="0">
                <a:effectLst/>
                <a:latin typeface="微软雅黑" panose="020B0503020204020204" pitchFamily="34" charset="-122"/>
                <a:ea typeface="微软雅黑" panose="020B0503020204020204" pitchFamily="34" charset="-122"/>
              </a:rPr>
              <a:t>两跳含</a:t>
            </a:r>
            <a:r>
              <a:rPr lang="en-US" altLang="zh-CN" sz="2000" b="0" i="0" dirty="0">
                <a:effectLst/>
                <a:latin typeface="微软雅黑" panose="020B0503020204020204" pitchFamily="34" charset="-122"/>
                <a:ea typeface="微软雅黑" panose="020B0503020204020204" pitchFamily="34" charset="-122"/>
              </a:rPr>
              <a:t>3</a:t>
            </a:r>
            <a:r>
              <a:rPr lang="zh-CN" altLang="en-US" sz="2000" b="0" i="0" dirty="0">
                <a:effectLst/>
                <a:latin typeface="微软雅黑" panose="020B0503020204020204" pitchFamily="34" charset="-122"/>
                <a:ea typeface="微软雅黑" panose="020B0503020204020204" pitchFamily="34" charset="-122"/>
              </a:rPr>
              <a:t>个数据流，</a:t>
            </a:r>
            <a:r>
              <a:rPr lang="en-US" altLang="zh-CN" sz="2000" b="0" i="0" dirty="0">
                <a:effectLst/>
                <a:latin typeface="微软雅黑" panose="020B0503020204020204" pitchFamily="34" charset="-122"/>
                <a:ea typeface="微软雅黑" panose="020B0503020204020204" pitchFamily="34" charset="-122"/>
              </a:rPr>
              <a:t>30Mbps</a:t>
            </a:r>
            <a:r>
              <a:rPr lang="zh-CN" altLang="en-US" sz="2000" b="0" i="0" dirty="0">
                <a:effectLst/>
                <a:latin typeface="微软雅黑" panose="020B0503020204020204" pitchFamily="34" charset="-122"/>
                <a:ea typeface="微软雅黑" panose="020B0503020204020204" pitchFamily="34" charset="-122"/>
              </a:rPr>
              <a:t>三等分后得</a:t>
            </a:r>
            <a:r>
              <a:rPr lang="en-US" altLang="zh-CN" sz="2000" b="0" i="0" dirty="0">
                <a:effectLst/>
                <a:latin typeface="微软雅黑" panose="020B0503020204020204" pitchFamily="34" charset="-122"/>
                <a:ea typeface="微软雅黑" panose="020B0503020204020204" pitchFamily="34" charset="-122"/>
              </a:rPr>
              <a:t>10Mbps</a:t>
            </a:r>
            <a:r>
              <a:rPr lang="zh-CN" altLang="en-US" sz="2000" b="0" i="0" dirty="0">
                <a:effectLst/>
                <a:latin typeface="微软雅黑" panose="020B0503020204020204" pitchFamily="34" charset="-122"/>
                <a:ea typeface="微软雅黑" panose="020B0503020204020204" pitchFamily="34" charset="-122"/>
              </a:rPr>
              <a:t>。</a:t>
            </a:r>
            <a:r>
              <a:rPr lang="en-US" altLang="zh-CN" sz="2000" b="0" i="0" dirty="0">
                <a:effectLst/>
                <a:latin typeface="微软雅黑" panose="020B0503020204020204" pitchFamily="34" charset="-122"/>
                <a:ea typeface="微软雅黑" panose="020B0503020204020204" pitchFamily="34" charset="-122"/>
              </a:rPr>
              <a:t>R1-R2-R3</a:t>
            </a:r>
            <a:r>
              <a:rPr lang="zh-CN" altLang="en-US" sz="2000" b="0" i="0" dirty="0">
                <a:effectLst/>
                <a:latin typeface="微软雅黑" panose="020B0503020204020204" pitchFamily="34" charset="-122"/>
                <a:ea typeface="微软雅黑" panose="020B0503020204020204" pitchFamily="34" charset="-122"/>
              </a:rPr>
              <a:t>能分得</a:t>
            </a:r>
            <a:r>
              <a:rPr lang="en-US" altLang="zh-CN" sz="2000" b="0" i="0" dirty="0">
                <a:effectLst/>
                <a:latin typeface="微软雅黑" panose="020B0503020204020204" pitchFamily="34" charset="-122"/>
                <a:ea typeface="微软雅黑" panose="020B0503020204020204" pitchFamily="34" charset="-122"/>
              </a:rPr>
              <a:t>20Mbps</a:t>
            </a:r>
          </a:p>
          <a:p>
            <a:pPr algn="l">
              <a:spcBef>
                <a:spcPts val="1200"/>
              </a:spcBef>
              <a:buFont typeface="Arial" panose="020B0604020202020204" pitchFamily="34" charset="0"/>
              <a:buChar char="•"/>
            </a:pPr>
            <a:r>
              <a:rPr lang="zh-CN" altLang="en-US" sz="2000" b="0" i="0" dirty="0">
                <a:effectLst/>
                <a:latin typeface="微软雅黑" panose="020B0503020204020204" pitchFamily="34" charset="-122"/>
                <a:ea typeface="微软雅黑" panose="020B0503020204020204" pitchFamily="34" charset="-122"/>
              </a:rPr>
              <a:t>故最高为</a:t>
            </a:r>
            <a:r>
              <a:rPr lang="en-US" altLang="zh-CN" sz="2000" b="0" i="0" dirty="0">
                <a:effectLst/>
                <a:latin typeface="微软雅黑" panose="020B0503020204020204" pitchFamily="34" charset="-122"/>
                <a:ea typeface="微软雅黑" panose="020B0503020204020204" pitchFamily="34" charset="-122"/>
              </a:rPr>
              <a:t>R1-R2-R3</a:t>
            </a:r>
            <a:r>
              <a:rPr lang="zh-CN" altLang="en-US" sz="2000" b="0" i="0" dirty="0">
                <a:effectLst/>
                <a:latin typeface="微软雅黑" panose="020B0503020204020204" pitchFamily="34" charset="-122"/>
                <a:ea typeface="微软雅黑" panose="020B0503020204020204" pitchFamily="34" charset="-122"/>
              </a:rPr>
              <a:t>： </a:t>
            </a:r>
            <a:r>
              <a:rPr lang="en-US" altLang="zh-CN" sz="2000" b="0" i="0" dirty="0">
                <a:effectLst/>
                <a:latin typeface="微软雅黑" panose="020B0503020204020204" pitchFamily="34" charset="-122"/>
                <a:ea typeface="微软雅黑" panose="020B0503020204020204" pitchFamily="34" charset="-122"/>
              </a:rPr>
              <a:t>20Mbps</a:t>
            </a:r>
            <a:r>
              <a:rPr lang="zh-CN" altLang="en-US" sz="2000" b="0" i="0" dirty="0">
                <a:effectLst/>
                <a:latin typeface="微软雅黑" panose="020B0503020204020204" pitchFamily="34" charset="-122"/>
                <a:ea typeface="微软雅黑" panose="020B0503020204020204" pitchFamily="34" charset="-122"/>
              </a:rPr>
              <a:t>；其他均为最低： </a:t>
            </a:r>
            <a:r>
              <a:rPr lang="en-US" altLang="zh-CN" sz="2000" b="0" i="0" dirty="0">
                <a:effectLst/>
                <a:latin typeface="微软雅黑" panose="020B0503020204020204" pitchFamily="34" charset="-122"/>
                <a:ea typeface="微软雅黑" panose="020B0503020204020204" pitchFamily="34" charset="-122"/>
              </a:rPr>
              <a:t>10Mbps</a:t>
            </a:r>
            <a:r>
              <a:rPr lang="zh-CN" altLang="en-US" sz="2000" b="0" i="0" dirty="0">
                <a:effectLst/>
                <a:latin typeface="微软雅黑" panose="020B0503020204020204" pitchFamily="34" charset="-122"/>
                <a:ea typeface="微软雅黑" panose="020B0503020204020204" pitchFamily="34" charset="-122"/>
              </a:rPr>
              <a:t>。</a:t>
            </a:r>
            <a:endParaRPr lang="en-US" altLang="zh-CN" sz="2000" b="0" i="0" dirty="0">
              <a:effectLst/>
              <a:latin typeface="微软雅黑" panose="020B0503020204020204" pitchFamily="34" charset="-122"/>
              <a:ea typeface="微软雅黑" panose="020B0503020204020204" pitchFamily="34" charset="-122"/>
            </a:endParaRPr>
          </a:p>
          <a:p>
            <a:pPr algn="l">
              <a:spcBef>
                <a:spcPts val="1200"/>
              </a:spcBef>
              <a:buFont typeface="Arial" panose="020B0604020202020204" pitchFamily="34" charset="0"/>
              <a:buChar char="•"/>
            </a:pPr>
            <a:r>
              <a:rPr lang="zh-CN" altLang="en-US" sz="2000" b="0" i="0" dirty="0">
                <a:effectLst/>
                <a:latin typeface="微软雅黑" panose="020B0503020204020204" pitchFamily="34" charset="-122"/>
                <a:ea typeface="微软雅黑" panose="020B0503020204020204" pitchFamily="34" charset="-122"/>
              </a:rPr>
              <a:t>选</a:t>
            </a:r>
            <a:r>
              <a:rPr lang="en-US" altLang="zh-CN" sz="2000" b="0" i="0" dirty="0">
                <a:effectLst/>
                <a:latin typeface="微软雅黑" panose="020B0503020204020204" pitchFamily="34" charset="-122"/>
                <a:ea typeface="微软雅黑" panose="020B0503020204020204" pitchFamily="34" charset="-122"/>
              </a:rPr>
              <a:t>D</a:t>
            </a:r>
            <a:r>
              <a:rPr lang="zh-CN" altLang="en-US" sz="2000" b="0" i="0" dirty="0">
                <a:effectLst/>
                <a:latin typeface="微软雅黑" panose="020B0503020204020204" pitchFamily="34" charset="-122"/>
                <a:ea typeface="微软雅黑" panose="020B0503020204020204" pitchFamily="34" charset="-122"/>
              </a:rPr>
              <a:t>。</a:t>
            </a:r>
          </a:p>
        </p:txBody>
      </p:sp>
      <p:grpSp>
        <p:nvGrpSpPr>
          <p:cNvPr id="7" name="组合 6">
            <a:extLst>
              <a:ext uri="{FF2B5EF4-FFF2-40B4-BE49-F238E27FC236}">
                <a16:creationId xmlns:a16="http://schemas.microsoft.com/office/drawing/2014/main" id="{38FDFC2A-1298-4B51-A27B-3A9DBD7DD51A}"/>
              </a:ext>
            </a:extLst>
          </p:cNvPr>
          <p:cNvGrpSpPr/>
          <p:nvPr/>
        </p:nvGrpSpPr>
        <p:grpSpPr>
          <a:xfrm>
            <a:off x="552893" y="1204575"/>
            <a:ext cx="7857682" cy="4994427"/>
            <a:chOff x="552893" y="1204575"/>
            <a:chExt cx="7857682" cy="4994427"/>
          </a:xfrm>
        </p:grpSpPr>
        <p:pic>
          <p:nvPicPr>
            <p:cNvPr id="1026" name="Picture 2">
              <a:extLst>
                <a:ext uri="{FF2B5EF4-FFF2-40B4-BE49-F238E27FC236}">
                  <a16:creationId xmlns:a16="http://schemas.microsoft.com/office/drawing/2014/main" id="{B8359766-50AD-4F3B-9C4C-41AB87C4C5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893" y="1204575"/>
              <a:ext cx="7857682" cy="4994427"/>
            </a:xfrm>
            <a:prstGeom prst="rect">
              <a:avLst/>
            </a:prstGeom>
            <a:noFill/>
            <a:extLst>
              <a:ext uri="{909E8E84-426E-40DD-AFC4-6F175D3DCCD1}">
                <a14:hiddenFill xmlns:a14="http://schemas.microsoft.com/office/drawing/2010/main">
                  <a:solidFill>
                    <a:srgbClr val="FFFFFF"/>
                  </a:solidFill>
                </a14:hiddenFill>
              </a:ext>
            </a:extLst>
          </p:spPr>
        </p:pic>
        <p:pic>
          <p:nvPicPr>
            <p:cNvPr id="6" name="图片 5">
              <a:extLst>
                <a:ext uri="{FF2B5EF4-FFF2-40B4-BE49-F238E27FC236}">
                  <a16:creationId xmlns:a16="http://schemas.microsoft.com/office/drawing/2014/main" id="{D1CED427-AC38-422D-B51F-0986381AE71D}"/>
                </a:ext>
              </a:extLst>
            </p:cNvPr>
            <p:cNvPicPr>
              <a:picLocks noChangeAspect="1"/>
            </p:cNvPicPr>
            <p:nvPr/>
          </p:nvPicPr>
          <p:blipFill>
            <a:blip r:embed="rId4"/>
            <a:stretch>
              <a:fillRect/>
            </a:stretch>
          </p:blipFill>
          <p:spPr>
            <a:xfrm>
              <a:off x="6375318" y="5887777"/>
              <a:ext cx="1981872" cy="295277"/>
            </a:xfrm>
            <a:prstGeom prst="rect">
              <a:avLst/>
            </a:prstGeom>
          </p:spPr>
        </p:pic>
      </p:grpSp>
      <p:sp>
        <p:nvSpPr>
          <p:cNvPr id="2" name="任意多边形: 形状 1">
            <a:extLst>
              <a:ext uri="{FF2B5EF4-FFF2-40B4-BE49-F238E27FC236}">
                <a16:creationId xmlns:a16="http://schemas.microsoft.com/office/drawing/2014/main" id="{A95C6DF1-BF25-4848-B79A-ADB6CE82D2D8}"/>
              </a:ext>
            </a:extLst>
          </p:cNvPr>
          <p:cNvSpPr/>
          <p:nvPr/>
        </p:nvSpPr>
        <p:spPr>
          <a:xfrm>
            <a:off x="1953687" y="3065930"/>
            <a:ext cx="5056094" cy="33617"/>
          </a:xfrm>
          <a:custGeom>
            <a:avLst/>
            <a:gdLst>
              <a:gd name="connsiteX0" fmla="*/ 0 w 5056094"/>
              <a:gd name="connsiteY0" fmla="*/ 0 h 33617"/>
              <a:gd name="connsiteX1" fmla="*/ 5056094 w 5056094"/>
              <a:gd name="connsiteY1" fmla="*/ 33617 h 33617"/>
            </a:gdLst>
            <a:ahLst/>
            <a:cxnLst>
              <a:cxn ang="0">
                <a:pos x="connsiteX0" y="connsiteY0"/>
              </a:cxn>
              <a:cxn ang="0">
                <a:pos x="connsiteX1" y="connsiteY1"/>
              </a:cxn>
            </a:cxnLst>
            <a:rect l="l" t="t" r="r" b="b"/>
            <a:pathLst>
              <a:path w="5056094" h="33617">
                <a:moveTo>
                  <a:pt x="0" y="0"/>
                </a:moveTo>
                <a:lnTo>
                  <a:pt x="5056094" y="33617"/>
                </a:lnTo>
              </a:path>
            </a:pathLst>
          </a:custGeom>
          <a:noFill/>
          <a:ln w="3810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任意多边形: 形状 2">
            <a:extLst>
              <a:ext uri="{FF2B5EF4-FFF2-40B4-BE49-F238E27FC236}">
                <a16:creationId xmlns:a16="http://schemas.microsoft.com/office/drawing/2014/main" id="{B6A16FD4-7CA5-4B0B-9023-7307CC7E19BE}"/>
              </a:ext>
            </a:extLst>
          </p:cNvPr>
          <p:cNvSpPr/>
          <p:nvPr/>
        </p:nvSpPr>
        <p:spPr>
          <a:xfrm>
            <a:off x="1983441" y="3234591"/>
            <a:ext cx="5136777" cy="1288981"/>
          </a:xfrm>
          <a:custGeom>
            <a:avLst/>
            <a:gdLst>
              <a:gd name="connsiteX0" fmla="*/ 0 w 5136777"/>
              <a:gd name="connsiteY0" fmla="*/ 100280 h 1288981"/>
              <a:gd name="connsiteX1" fmla="*/ 2427194 w 5136777"/>
              <a:gd name="connsiteY1" fmla="*/ 100280 h 1288981"/>
              <a:gd name="connsiteX2" fmla="*/ 2682688 w 5136777"/>
              <a:gd name="connsiteY2" fmla="*/ 1142427 h 1288981"/>
              <a:gd name="connsiteX3" fmla="*/ 5136777 w 5136777"/>
              <a:gd name="connsiteY3" fmla="*/ 1256727 h 1288981"/>
            </a:gdLst>
            <a:ahLst/>
            <a:cxnLst>
              <a:cxn ang="0">
                <a:pos x="connsiteX0" y="connsiteY0"/>
              </a:cxn>
              <a:cxn ang="0">
                <a:pos x="connsiteX1" y="connsiteY1"/>
              </a:cxn>
              <a:cxn ang="0">
                <a:pos x="connsiteX2" y="connsiteY2"/>
              </a:cxn>
              <a:cxn ang="0">
                <a:pos x="connsiteX3" y="connsiteY3"/>
              </a:cxn>
            </a:cxnLst>
            <a:rect l="l" t="t" r="r" b="b"/>
            <a:pathLst>
              <a:path w="5136777" h="1288981">
                <a:moveTo>
                  <a:pt x="0" y="100280"/>
                </a:moveTo>
                <a:cubicBezTo>
                  <a:pt x="990039" y="13434"/>
                  <a:pt x="1980079" y="-73411"/>
                  <a:pt x="2427194" y="100280"/>
                </a:cubicBezTo>
                <a:cubicBezTo>
                  <a:pt x="2874309" y="273971"/>
                  <a:pt x="2231091" y="949686"/>
                  <a:pt x="2682688" y="1142427"/>
                </a:cubicBezTo>
                <a:cubicBezTo>
                  <a:pt x="3134285" y="1335168"/>
                  <a:pt x="4135531" y="1295947"/>
                  <a:pt x="5136777" y="1256727"/>
                </a:cubicBezTo>
              </a:path>
            </a:pathLst>
          </a:custGeom>
          <a:noFill/>
          <a:ln w="38100">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a:extLst>
              <a:ext uri="{FF2B5EF4-FFF2-40B4-BE49-F238E27FC236}">
                <a16:creationId xmlns:a16="http://schemas.microsoft.com/office/drawing/2014/main" id="{6BDD0EB4-0A5E-4410-8E22-4EE70F14C01F}"/>
              </a:ext>
            </a:extLst>
          </p:cNvPr>
          <p:cNvSpPr/>
          <p:nvPr/>
        </p:nvSpPr>
        <p:spPr>
          <a:xfrm>
            <a:off x="1983441" y="4818534"/>
            <a:ext cx="5056094" cy="33617"/>
          </a:xfrm>
          <a:custGeom>
            <a:avLst/>
            <a:gdLst>
              <a:gd name="connsiteX0" fmla="*/ 0 w 5056094"/>
              <a:gd name="connsiteY0" fmla="*/ 0 h 33617"/>
              <a:gd name="connsiteX1" fmla="*/ 5056094 w 5056094"/>
              <a:gd name="connsiteY1" fmla="*/ 33617 h 33617"/>
            </a:gdLst>
            <a:ahLst/>
            <a:cxnLst>
              <a:cxn ang="0">
                <a:pos x="connsiteX0" y="connsiteY0"/>
              </a:cxn>
              <a:cxn ang="0">
                <a:pos x="connsiteX1" y="connsiteY1"/>
              </a:cxn>
            </a:cxnLst>
            <a:rect l="l" t="t" r="r" b="b"/>
            <a:pathLst>
              <a:path w="5056094" h="33617">
                <a:moveTo>
                  <a:pt x="0" y="0"/>
                </a:moveTo>
                <a:lnTo>
                  <a:pt x="5056094" y="33617"/>
                </a:lnTo>
              </a:path>
            </a:pathLst>
          </a:custGeom>
          <a:noFill/>
          <a:ln w="38100">
            <a:solidFill>
              <a:schemeClr val="accent6"/>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a:extLst>
              <a:ext uri="{FF2B5EF4-FFF2-40B4-BE49-F238E27FC236}">
                <a16:creationId xmlns:a16="http://schemas.microsoft.com/office/drawing/2014/main" id="{96D5BFAC-A836-4862-B8F6-07756BA4EB19}"/>
              </a:ext>
            </a:extLst>
          </p:cNvPr>
          <p:cNvSpPr/>
          <p:nvPr/>
        </p:nvSpPr>
        <p:spPr>
          <a:xfrm>
            <a:off x="1983441" y="4582286"/>
            <a:ext cx="5056094" cy="33617"/>
          </a:xfrm>
          <a:custGeom>
            <a:avLst/>
            <a:gdLst>
              <a:gd name="connsiteX0" fmla="*/ 0 w 5056094"/>
              <a:gd name="connsiteY0" fmla="*/ 0 h 33617"/>
              <a:gd name="connsiteX1" fmla="*/ 5056094 w 5056094"/>
              <a:gd name="connsiteY1" fmla="*/ 33617 h 33617"/>
            </a:gdLst>
            <a:ahLst/>
            <a:cxnLst>
              <a:cxn ang="0">
                <a:pos x="connsiteX0" y="connsiteY0"/>
              </a:cxn>
              <a:cxn ang="0">
                <a:pos x="connsiteX1" y="connsiteY1"/>
              </a:cxn>
            </a:cxnLst>
            <a:rect l="l" t="t" r="r" b="b"/>
            <a:pathLst>
              <a:path w="5056094" h="33617">
                <a:moveTo>
                  <a:pt x="0" y="0"/>
                </a:moveTo>
                <a:lnTo>
                  <a:pt x="5056094" y="33617"/>
                </a:lnTo>
              </a:path>
            </a:pathLst>
          </a:custGeom>
          <a:noFill/>
          <a:ln w="38100">
            <a:solidFill>
              <a:schemeClr val="accent5"/>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97404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44036" name="Rectangle 3"/>
          <p:cNvSpPr>
            <a:spLocks noGrp="1" noChangeArrowheads="1"/>
          </p:cNvSpPr>
          <p:nvPr>
            <p:ph idx="1"/>
          </p:nvPr>
        </p:nvSpPr>
        <p:spPr>
          <a:xfrm>
            <a:off x="1077433" y="1072328"/>
            <a:ext cx="9727279" cy="1184277"/>
          </a:xfrm>
        </p:spPr>
        <p:txBody>
          <a:bodyPr/>
          <a:lstStyle/>
          <a:p>
            <a:pPr>
              <a:lnSpc>
                <a:spcPct val="100000"/>
              </a:lnSpc>
            </a:pPr>
            <a:r>
              <a:rPr lang="en-US" altLang="zh-CN" dirty="0">
                <a:ea typeface="宋体" panose="02010600030101010101" pitchFamily="2" charset="-122"/>
              </a:rPr>
              <a:t>We want bandwidth levels to converge quickly when traffic patterns change</a:t>
            </a:r>
          </a:p>
        </p:txBody>
      </p:sp>
      <p:pic>
        <p:nvPicPr>
          <p:cNvPr id="44037" name="Picture 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052639" y="2528889"/>
            <a:ext cx="8086725" cy="353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8" name="TextBox 8"/>
          <p:cNvSpPr txBox="1">
            <a:spLocks noChangeArrowheads="1"/>
          </p:cNvSpPr>
          <p:nvPr/>
        </p:nvSpPr>
        <p:spPr bwMode="auto">
          <a:xfrm>
            <a:off x="3519488" y="2686051"/>
            <a:ext cx="24812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zh-CN">
                <a:solidFill>
                  <a:srgbClr val="FF2BD8"/>
                </a:solidFill>
                <a:ea typeface="宋体" panose="02010600030101010101" pitchFamily="2" charset="-122"/>
              </a:rPr>
              <a:t>Flow 1 slows quickly when Flow 2 starts</a:t>
            </a:r>
          </a:p>
        </p:txBody>
      </p:sp>
      <p:sp>
        <p:nvSpPr>
          <p:cNvPr id="44039" name="TextBox 9"/>
          <p:cNvSpPr txBox="1">
            <a:spLocks noChangeArrowheads="1"/>
          </p:cNvSpPr>
          <p:nvPr/>
        </p:nvSpPr>
        <p:spPr bwMode="auto">
          <a:xfrm>
            <a:off x="7491413" y="2667001"/>
            <a:ext cx="2481262"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a:solidFill>
                  <a:srgbClr val="FF2BD8"/>
                </a:solidFill>
                <a:ea typeface="宋体" panose="02010600030101010101" pitchFamily="2" charset="-122"/>
              </a:rPr>
              <a:t>Flow 1 speeds up quickly when Flow 2 stops</a:t>
            </a:r>
          </a:p>
        </p:txBody>
      </p:sp>
      <p:cxnSp>
        <p:nvCxnSpPr>
          <p:cNvPr id="44040" name="Straight Arrow Connector 11"/>
          <p:cNvCxnSpPr>
            <a:cxnSpLocks noChangeShapeType="1"/>
          </p:cNvCxnSpPr>
          <p:nvPr/>
        </p:nvCxnSpPr>
        <p:spPr bwMode="auto">
          <a:xfrm rot="10800000" flipV="1">
            <a:off x="3695700" y="3028951"/>
            <a:ext cx="247650" cy="161925"/>
          </a:xfrm>
          <a:prstGeom prst="straightConnector1">
            <a:avLst/>
          </a:prstGeom>
          <a:noFill/>
          <a:ln w="19050" algn="ctr">
            <a:solidFill>
              <a:schemeClr val="tx1"/>
            </a:solidFill>
            <a:round/>
            <a:headEnd/>
            <a:tailEnd type="arrow" w="med" len="med"/>
          </a:ln>
        </p:spPr>
      </p:cxnSp>
      <p:cxnSp>
        <p:nvCxnSpPr>
          <p:cNvPr id="44041" name="Straight Arrow Connector 12"/>
          <p:cNvCxnSpPr>
            <a:cxnSpLocks noChangeShapeType="1"/>
          </p:cNvCxnSpPr>
          <p:nvPr/>
        </p:nvCxnSpPr>
        <p:spPr bwMode="auto">
          <a:xfrm rot="16200000" flipH="1">
            <a:off x="8151019" y="3417094"/>
            <a:ext cx="271462" cy="171450"/>
          </a:xfrm>
          <a:prstGeom prst="straightConnector1">
            <a:avLst/>
          </a:prstGeom>
          <a:noFill/>
          <a:ln w="19050" algn="ctr">
            <a:solidFill>
              <a:schemeClr val="tx1"/>
            </a:solidFill>
            <a:round/>
            <a:headEnd/>
            <a:tailEnd type="arrow" w="med" len="med"/>
          </a:ln>
        </p:spPr>
      </p:cxnSp>
      <p:sp>
        <p:nvSpPr>
          <p:cNvPr id="10" name="矩形 9">
            <a:extLst>
              <a:ext uri="{FF2B5EF4-FFF2-40B4-BE49-F238E27FC236}">
                <a16:creationId xmlns:a16="http://schemas.microsoft.com/office/drawing/2014/main" id="{4318F28A-600D-4720-8EFB-37CF34C9D5A2}"/>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Desirable Bandwidth Allocation (3)</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45060" name="Rectangle 3"/>
          <p:cNvSpPr>
            <a:spLocks noGrp="1" noChangeArrowheads="1"/>
          </p:cNvSpPr>
          <p:nvPr>
            <p:ph idx="1"/>
          </p:nvPr>
        </p:nvSpPr>
        <p:spPr>
          <a:xfrm>
            <a:off x="853440" y="1594805"/>
            <a:ext cx="5196840" cy="2606356"/>
          </a:xfrm>
        </p:spPr>
        <p:txBody>
          <a:bodyPr/>
          <a:lstStyle/>
          <a:p>
            <a:r>
              <a:rPr lang="en-US" altLang="zh-CN" dirty="0">
                <a:ea typeface="宋体" panose="02010600030101010101" pitchFamily="2" charset="-122"/>
              </a:rPr>
              <a:t>Sender may need to slow down for different reasons:</a:t>
            </a:r>
          </a:p>
          <a:p>
            <a:pPr lvl="1"/>
            <a:r>
              <a:rPr lang="en-US" altLang="zh-CN" dirty="0">
                <a:ea typeface="宋体" panose="02010600030101010101" pitchFamily="2" charset="-122"/>
              </a:rPr>
              <a:t>Flow control, when the receiver is not fast enough                            </a:t>
            </a:r>
          </a:p>
          <a:p>
            <a:pPr lvl="1"/>
            <a:r>
              <a:rPr lang="en-US" altLang="zh-CN" dirty="0">
                <a:ea typeface="宋体" panose="02010600030101010101" pitchFamily="2" charset="-122"/>
              </a:rPr>
              <a:t>Congestion, when the network is not fast enough</a:t>
            </a:r>
          </a:p>
          <a:p>
            <a:pPr lvl="1">
              <a:buFont typeface="Arial" panose="020B0604020202020204" pitchFamily="34" charset="0"/>
              <a:buNone/>
            </a:pPr>
            <a:endParaRPr lang="en-US" altLang="zh-CN" dirty="0">
              <a:ea typeface="宋体" panose="02010600030101010101" pitchFamily="2" charset="-122"/>
            </a:endParaRPr>
          </a:p>
        </p:txBody>
      </p:sp>
      <p:pic>
        <p:nvPicPr>
          <p:cNvPr id="4506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5893" y="1259681"/>
            <a:ext cx="3275013" cy="433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2" name="TextBox 9"/>
          <p:cNvSpPr txBox="1">
            <a:spLocks noChangeArrowheads="1"/>
          </p:cNvSpPr>
          <p:nvPr/>
        </p:nvSpPr>
        <p:spPr bwMode="auto">
          <a:xfrm>
            <a:off x="6096000" y="5598319"/>
            <a:ext cx="49339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a:solidFill>
                  <a:srgbClr val="FF2BD8"/>
                </a:solidFill>
                <a:ea typeface="宋体" panose="02010600030101010101" pitchFamily="2" charset="-122"/>
              </a:rPr>
              <a:t>A fast network feeding a low-capacity receiver </a:t>
            </a:r>
            <a:r>
              <a:rPr lang="en-US" altLang="zh-CN">
                <a:solidFill>
                  <a:srgbClr val="FF2BD8"/>
                </a:solidFill>
                <a:ea typeface="宋体" panose="02010600030101010101" pitchFamily="2" charset="-122"/>
                <a:sym typeface="Wingdings" panose="05000000000000000000" pitchFamily="2" charset="2"/>
              </a:rPr>
              <a:t> flow control is needed</a:t>
            </a:r>
            <a:endParaRPr lang="en-US" altLang="zh-CN">
              <a:solidFill>
                <a:srgbClr val="FF2BD8"/>
              </a:solidFill>
              <a:ea typeface="宋体" panose="02010600030101010101" pitchFamily="2" charset="-122"/>
            </a:endParaRPr>
          </a:p>
        </p:txBody>
      </p:sp>
      <p:sp>
        <p:nvSpPr>
          <p:cNvPr id="7" name="矩形 6">
            <a:extLst>
              <a:ext uri="{FF2B5EF4-FFF2-40B4-BE49-F238E27FC236}">
                <a16:creationId xmlns:a16="http://schemas.microsoft.com/office/drawing/2014/main" id="{B6ACC24B-9A4C-44AA-AC9C-88934E5AFF36}"/>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Regulating the Sending Rate (1)</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46084" name="Rectangle 3"/>
          <p:cNvSpPr>
            <a:spLocks noGrp="1" noChangeArrowheads="1"/>
          </p:cNvSpPr>
          <p:nvPr>
            <p:ph idx="1"/>
          </p:nvPr>
        </p:nvSpPr>
        <p:spPr>
          <a:xfrm>
            <a:off x="960756" y="1952625"/>
            <a:ext cx="4845684" cy="3829050"/>
          </a:xfrm>
        </p:spPr>
        <p:txBody>
          <a:bodyPr/>
          <a:lstStyle/>
          <a:p>
            <a:r>
              <a:rPr lang="en-US" altLang="zh-CN" dirty="0">
                <a:ea typeface="宋体" panose="02010600030101010101" pitchFamily="2" charset="-122"/>
              </a:rPr>
              <a:t>Our focus is dealing with this problem – congestion</a:t>
            </a:r>
          </a:p>
        </p:txBody>
      </p:sp>
      <p:pic>
        <p:nvPicPr>
          <p:cNvPr id="4608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5562" y="1082677"/>
            <a:ext cx="3392488" cy="427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6" name="TextBox 5"/>
          <p:cNvSpPr txBox="1">
            <a:spLocks noChangeArrowheads="1"/>
          </p:cNvSpPr>
          <p:nvPr/>
        </p:nvSpPr>
        <p:spPr bwMode="auto">
          <a:xfrm>
            <a:off x="5951855" y="5534026"/>
            <a:ext cx="52006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a:solidFill>
                  <a:srgbClr val="FF2BD8"/>
                </a:solidFill>
                <a:ea typeface="宋体" panose="02010600030101010101" pitchFamily="2" charset="-122"/>
              </a:rPr>
              <a:t>A slow network feeding a high-capacity receiver </a:t>
            </a:r>
            <a:r>
              <a:rPr lang="en-US" altLang="zh-CN">
                <a:solidFill>
                  <a:srgbClr val="FF2BD8"/>
                </a:solidFill>
                <a:ea typeface="宋体" panose="02010600030101010101" pitchFamily="2" charset="-122"/>
                <a:sym typeface="Wingdings" panose="05000000000000000000" pitchFamily="2" charset="2"/>
              </a:rPr>
              <a:t> congestion control is needed</a:t>
            </a:r>
            <a:endParaRPr lang="en-US" altLang="zh-CN">
              <a:solidFill>
                <a:srgbClr val="FF2BD8"/>
              </a:solidFill>
              <a:ea typeface="宋体" panose="02010600030101010101" pitchFamily="2" charset="-122"/>
            </a:endParaRPr>
          </a:p>
        </p:txBody>
      </p:sp>
      <p:sp>
        <p:nvSpPr>
          <p:cNvPr id="7" name="矩形 6">
            <a:extLst>
              <a:ext uri="{FF2B5EF4-FFF2-40B4-BE49-F238E27FC236}">
                <a16:creationId xmlns:a16="http://schemas.microsoft.com/office/drawing/2014/main" id="{ABAF78E1-8F32-4021-92F8-F082E62CC0FF}"/>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Regulating the Sending Rate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47108" name="Rectangle 3"/>
          <p:cNvSpPr>
            <a:spLocks noGrp="1" noChangeArrowheads="1"/>
          </p:cNvSpPr>
          <p:nvPr>
            <p:ph idx="1"/>
          </p:nvPr>
        </p:nvSpPr>
        <p:spPr>
          <a:xfrm>
            <a:off x="1310641" y="1174435"/>
            <a:ext cx="9519919" cy="1086166"/>
          </a:xfrm>
        </p:spPr>
        <p:txBody>
          <a:bodyPr/>
          <a:lstStyle/>
          <a:p>
            <a:r>
              <a:rPr lang="en-US" altLang="zh-CN">
                <a:ea typeface="宋体" panose="02010600030101010101" pitchFamily="2" charset="-122"/>
              </a:rPr>
              <a:t>Different congestion signals the network may use to tell the transport endpoint to slow down (or speed up)</a:t>
            </a:r>
          </a:p>
        </p:txBody>
      </p:sp>
      <p:pic>
        <p:nvPicPr>
          <p:cNvPr id="4710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8634" y="2518258"/>
            <a:ext cx="8368567" cy="28970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D11D551C-5474-4100-B8AF-95DA0BE1E70F}"/>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Regulating the Sending Rate (3)</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endParaRPr lang="en-US" altLang="zh-CN" i="0"/>
          </a:p>
        </p:txBody>
      </p:sp>
      <p:sp>
        <p:nvSpPr>
          <p:cNvPr id="48132" name="Content Placeholder 3"/>
          <p:cNvSpPr>
            <a:spLocks noGrp="1"/>
          </p:cNvSpPr>
          <p:nvPr>
            <p:ph idx="1"/>
          </p:nvPr>
        </p:nvSpPr>
        <p:spPr>
          <a:xfrm>
            <a:off x="774766" y="1035596"/>
            <a:ext cx="10526560" cy="1395122"/>
          </a:xfrm>
        </p:spPr>
        <p:txBody>
          <a:bodyPr/>
          <a:lstStyle/>
          <a:p>
            <a:r>
              <a:rPr lang="en-US" altLang="zh-CN" dirty="0">
                <a:ea typeface="宋体" panose="02010600030101010101" pitchFamily="2" charset="-122"/>
              </a:rPr>
              <a:t>If two flows increase/decrease their bandwidth in the same way when the network signals free/busy they will not converge to a fair allocation</a:t>
            </a:r>
          </a:p>
        </p:txBody>
      </p:sp>
      <p:pic>
        <p:nvPicPr>
          <p:cNvPr id="4813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5664" y="2747963"/>
            <a:ext cx="5400675" cy="354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4" name="TextBox 5"/>
          <p:cNvSpPr txBox="1">
            <a:spLocks noChangeArrowheads="1"/>
          </p:cNvSpPr>
          <p:nvPr/>
        </p:nvSpPr>
        <p:spPr bwMode="auto">
          <a:xfrm>
            <a:off x="6867526" y="4219575"/>
            <a:ext cx="17938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a:solidFill>
                  <a:srgbClr val="FF2BD8"/>
                </a:solidFill>
                <a:ea typeface="宋体" panose="02010600030101010101" pitchFamily="2" charset="-122"/>
              </a:rPr>
              <a:t>+/– percentage</a:t>
            </a:r>
          </a:p>
        </p:txBody>
      </p:sp>
      <p:sp>
        <p:nvSpPr>
          <p:cNvPr id="48135" name="TextBox 6"/>
          <p:cNvSpPr txBox="1">
            <a:spLocks noChangeArrowheads="1"/>
          </p:cNvSpPr>
          <p:nvPr/>
        </p:nvSpPr>
        <p:spPr bwMode="auto">
          <a:xfrm>
            <a:off x="4686300" y="2667000"/>
            <a:ext cx="15113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a:solidFill>
                  <a:srgbClr val="FF2BD8"/>
                </a:solidFill>
                <a:ea typeface="宋体" panose="02010600030101010101" pitchFamily="2" charset="-122"/>
              </a:rPr>
              <a:t>+ /– constant</a:t>
            </a:r>
          </a:p>
        </p:txBody>
      </p:sp>
      <p:sp>
        <p:nvSpPr>
          <p:cNvPr id="8" name="矩形 7">
            <a:extLst>
              <a:ext uri="{FF2B5EF4-FFF2-40B4-BE49-F238E27FC236}">
                <a16:creationId xmlns:a16="http://schemas.microsoft.com/office/drawing/2014/main" id="{E83FE4A0-8248-46BD-9111-14202875CE21}"/>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Regulating the Sending Rate (4)</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Footer Placeholder 6"/>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50180" name="Rectangle 3"/>
          <p:cNvSpPr>
            <a:spLocks noGrp="1" noChangeArrowheads="1"/>
          </p:cNvSpPr>
          <p:nvPr>
            <p:ph idx="1"/>
          </p:nvPr>
        </p:nvSpPr>
        <p:spPr>
          <a:xfrm>
            <a:off x="1119729" y="1038832"/>
            <a:ext cx="9952541" cy="1513682"/>
          </a:xfrm>
        </p:spPr>
        <p:txBody>
          <a:bodyPr/>
          <a:lstStyle/>
          <a:p>
            <a:r>
              <a:rPr lang="en-US" altLang="zh-CN" dirty="0">
                <a:ea typeface="宋体" panose="02010600030101010101" pitchFamily="2" charset="-122"/>
              </a:rPr>
              <a:t>The AIMD (Additive Increase Multiplicative Decrease) control law does converge to a fair and efficient point!</a:t>
            </a:r>
          </a:p>
          <a:p>
            <a:pPr lvl="1"/>
            <a:r>
              <a:rPr lang="en-US" altLang="zh-CN" dirty="0">
                <a:ea typeface="宋体" panose="02010600030101010101" pitchFamily="2" charset="-122"/>
              </a:rPr>
              <a:t>TCP uses AIMD for this reason</a:t>
            </a:r>
          </a:p>
        </p:txBody>
      </p:sp>
      <p:grpSp>
        <p:nvGrpSpPr>
          <p:cNvPr id="50181" name="Group 7"/>
          <p:cNvGrpSpPr>
            <a:grpSpLocks/>
          </p:cNvGrpSpPr>
          <p:nvPr/>
        </p:nvGrpSpPr>
        <p:grpSpPr bwMode="auto">
          <a:xfrm>
            <a:off x="1413637" y="2552514"/>
            <a:ext cx="4342240" cy="3456016"/>
            <a:chOff x="681316" y="1800225"/>
            <a:chExt cx="3890684" cy="3085549"/>
          </a:xfrm>
        </p:grpSpPr>
        <p:pic>
          <p:nvPicPr>
            <p:cNvPr id="50182" name="Picture 2"/>
            <p:cNvPicPr>
              <a:picLocks noChangeAspect="1" noChangeArrowheads="1"/>
            </p:cNvPicPr>
            <p:nvPr/>
          </p:nvPicPr>
          <p:blipFill>
            <a:blip r:embed="rId3">
              <a:extLst>
                <a:ext uri="{28A0092B-C50C-407E-A947-70E740481C1C}">
                  <a14:useLocalDpi xmlns:a14="http://schemas.microsoft.com/office/drawing/2010/main" val="0"/>
                </a:ext>
              </a:extLst>
            </a:blip>
            <a:srcRect r="47646"/>
            <a:stretch>
              <a:fillRect/>
            </a:stretch>
          </p:blipFill>
          <p:spPr bwMode="auto">
            <a:xfrm>
              <a:off x="971550" y="1800225"/>
              <a:ext cx="3600450" cy="280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3" name="TextBox 5"/>
            <p:cNvSpPr txBox="1">
              <a:spLocks noChangeArrowheads="1"/>
            </p:cNvSpPr>
            <p:nvPr/>
          </p:nvSpPr>
          <p:spPr bwMode="auto">
            <a:xfrm>
              <a:off x="1447801" y="4572001"/>
              <a:ext cx="2039359" cy="313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600">
                  <a:ea typeface="宋体" panose="02010600030101010101" pitchFamily="2" charset="-122"/>
                </a:rPr>
                <a:t>User 1’s bandwidth</a:t>
              </a:r>
            </a:p>
          </p:txBody>
        </p:sp>
        <p:sp>
          <p:nvSpPr>
            <p:cNvPr id="50184" name="TextBox 6"/>
            <p:cNvSpPr txBox="1">
              <a:spLocks noChangeArrowheads="1"/>
            </p:cNvSpPr>
            <p:nvPr/>
          </p:nvSpPr>
          <p:spPr bwMode="auto">
            <a:xfrm rot="-5400000">
              <a:off x="-59025" y="2984488"/>
              <a:ext cx="1794453" cy="313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600">
                  <a:ea typeface="宋体" panose="02010600030101010101" pitchFamily="2" charset="-122"/>
                </a:rPr>
                <a:t>User 2’s bandwidth</a:t>
              </a:r>
            </a:p>
          </p:txBody>
        </p:sp>
      </p:grpSp>
      <p:sp>
        <p:nvSpPr>
          <p:cNvPr id="9" name="矩形 8">
            <a:extLst>
              <a:ext uri="{FF2B5EF4-FFF2-40B4-BE49-F238E27FC236}">
                <a16:creationId xmlns:a16="http://schemas.microsoft.com/office/drawing/2014/main" id="{02168E6F-350F-4F35-905D-A97852B84218}"/>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Regulating the Sending Rate (5)</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9315BF38-4FCB-4FBC-ADD9-7146006D87D3}"/>
              </a:ext>
            </a:extLst>
          </p:cNvPr>
          <p:cNvSpPr/>
          <p:nvPr/>
        </p:nvSpPr>
        <p:spPr>
          <a:xfrm>
            <a:off x="7178092" y="2392694"/>
            <a:ext cx="4512005" cy="3323987"/>
          </a:xfrm>
          <a:prstGeom prst="rect">
            <a:avLst/>
          </a:prstGeom>
        </p:spPr>
        <p:txBody>
          <a:bodyPr wrap="square">
            <a:spAutoFit/>
          </a:bodyPr>
          <a:lstStyle/>
          <a:p>
            <a:pPr marL="285750" indent="-285750">
              <a:spcBef>
                <a:spcPts val="1200"/>
              </a:spcBef>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rPr>
              <a:t>AIMD</a:t>
            </a:r>
            <a:r>
              <a:rPr lang="zh-CN" altLang="en-US" dirty="0">
                <a:latin typeface="微软雅黑" panose="020B0503020204020204" pitchFamily="34" charset="-122"/>
                <a:ea typeface="微软雅黑" panose="020B0503020204020204" pitchFamily="34" charset="-122"/>
              </a:rPr>
              <a:t>：“加性增，乘性减” 或者“和式增加，积式减少”</a:t>
            </a:r>
            <a:endParaRPr lang="en-US" altLang="zh-CN" dirty="0">
              <a:latin typeface="微软雅黑" panose="020B0503020204020204" pitchFamily="34" charset="-122"/>
              <a:ea typeface="微软雅黑" panose="020B0503020204020204" pitchFamily="34" charset="-122"/>
            </a:endParaRPr>
          </a:p>
          <a:p>
            <a:pPr marL="285750" indent="-285750">
              <a:spcBef>
                <a:spcPts val="1200"/>
              </a:spcBef>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当</a:t>
            </a:r>
            <a:r>
              <a:rPr lang="en-US" altLang="zh-CN" dirty="0">
                <a:latin typeface="微软雅黑" panose="020B0503020204020204" pitchFamily="34" charset="-122"/>
                <a:ea typeface="微软雅黑" panose="020B0503020204020204" pitchFamily="34" charset="-122"/>
              </a:rPr>
              <a:t>TCP</a:t>
            </a:r>
            <a:r>
              <a:rPr lang="zh-CN" altLang="en-US" dirty="0">
                <a:latin typeface="微软雅黑" panose="020B0503020204020204" pitchFamily="34" charset="-122"/>
                <a:ea typeface="微软雅黑" panose="020B0503020204020204" pitchFamily="34" charset="-122"/>
              </a:rPr>
              <a:t>发送方感受到端到端路径无拥塞时就线性的增加其发送速度，当察觉到路径拥塞时就乘性减小其发送速度。</a:t>
            </a:r>
          </a:p>
          <a:p>
            <a:pPr marL="285750" indent="-285750">
              <a:spcBef>
                <a:spcPts val="1200"/>
              </a:spcBef>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rPr>
              <a:t>TCP</a:t>
            </a:r>
            <a:r>
              <a:rPr lang="zh-CN" altLang="en-US" dirty="0">
                <a:latin typeface="微软雅黑" panose="020B0503020204020204" pitchFamily="34" charset="-122"/>
                <a:ea typeface="微软雅黑" panose="020B0503020204020204" pitchFamily="34" charset="-122"/>
              </a:rPr>
              <a:t>拥塞控制协议的线性增长阶段被称为避免拥塞。</a:t>
            </a:r>
          </a:p>
          <a:p>
            <a:pPr marL="285750" indent="-285750">
              <a:spcBef>
                <a:spcPts val="1200"/>
              </a:spcBef>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当</a:t>
            </a:r>
            <a:r>
              <a:rPr lang="en-US" altLang="zh-CN" dirty="0">
                <a:latin typeface="微软雅黑" panose="020B0503020204020204" pitchFamily="34" charset="-122"/>
                <a:ea typeface="微软雅黑" panose="020B0503020204020204" pitchFamily="34" charset="-122"/>
              </a:rPr>
              <a:t>TCP</a:t>
            </a:r>
            <a:r>
              <a:rPr lang="zh-CN" altLang="en-US" dirty="0">
                <a:latin typeface="微软雅黑" panose="020B0503020204020204" pitchFamily="34" charset="-122"/>
                <a:ea typeface="微软雅黑" panose="020B0503020204020204" pitchFamily="34" charset="-122"/>
              </a:rPr>
              <a:t>发送端收到</a:t>
            </a:r>
            <a:r>
              <a:rPr lang="en-US" altLang="zh-CN" dirty="0">
                <a:latin typeface="微软雅黑" panose="020B0503020204020204" pitchFamily="34" charset="-122"/>
                <a:ea typeface="微软雅黑" panose="020B0503020204020204" pitchFamily="34" charset="-122"/>
              </a:rPr>
              <a:t>ACK</a:t>
            </a:r>
            <a:r>
              <a:rPr lang="zh-CN" altLang="en-US" dirty="0">
                <a:latin typeface="微软雅黑" panose="020B0503020204020204" pitchFamily="34" charset="-122"/>
                <a:ea typeface="微软雅黑" panose="020B0503020204020204" pitchFamily="34" charset="-122"/>
              </a:rPr>
              <a:t>，并且没有检测到丢包事件时，拥塞窗口加</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；当</a:t>
            </a:r>
            <a:r>
              <a:rPr lang="en-US" altLang="zh-CN" dirty="0">
                <a:latin typeface="微软雅黑" panose="020B0503020204020204" pitchFamily="34" charset="-122"/>
                <a:ea typeface="微软雅黑" panose="020B0503020204020204" pitchFamily="34" charset="-122"/>
              </a:rPr>
              <a:t>TCP</a:t>
            </a:r>
            <a:r>
              <a:rPr lang="zh-CN" altLang="en-US" dirty="0">
                <a:latin typeface="微软雅黑" panose="020B0503020204020204" pitchFamily="34" charset="-122"/>
                <a:ea typeface="微软雅黑" panose="020B0503020204020204" pitchFamily="34" charset="-122"/>
              </a:rPr>
              <a:t>发送端检测到丢包事件后，拥塞窗口除以</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a:t>
            </a:r>
            <a:endParaRPr lang="zh-CN" altLang="en-US" b="0" i="0" dirty="0">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endParaRPr lang="en-US" altLang="zh-CN" i="0"/>
          </a:p>
        </p:txBody>
      </p:sp>
      <p:sp>
        <p:nvSpPr>
          <p:cNvPr id="52228" name="Content Placeholder 3"/>
          <p:cNvSpPr>
            <a:spLocks noGrp="1"/>
          </p:cNvSpPr>
          <p:nvPr>
            <p:ph idx="1"/>
          </p:nvPr>
        </p:nvSpPr>
        <p:spPr>
          <a:xfrm>
            <a:off x="1425443" y="924886"/>
            <a:ext cx="9525455" cy="2327531"/>
          </a:xfrm>
        </p:spPr>
        <p:txBody>
          <a:bodyPr/>
          <a:lstStyle/>
          <a:p>
            <a:r>
              <a:rPr lang="en-US" altLang="zh-CN" dirty="0">
                <a:ea typeface="宋体" panose="02010600030101010101" pitchFamily="2" charset="-122"/>
              </a:rPr>
              <a:t>Wireless links lose packets due to transmission errors</a:t>
            </a:r>
          </a:p>
          <a:p>
            <a:pPr lvl="1"/>
            <a:r>
              <a:rPr lang="en-US" altLang="zh-CN" dirty="0">
                <a:ea typeface="宋体" panose="02010600030101010101" pitchFamily="2" charset="-122"/>
              </a:rPr>
              <a:t>Do not want to confuse this loss with congestion</a:t>
            </a:r>
          </a:p>
          <a:p>
            <a:pPr lvl="1"/>
            <a:r>
              <a:rPr lang="en-US" altLang="zh-CN" dirty="0">
                <a:ea typeface="宋体" panose="02010600030101010101" pitchFamily="2" charset="-122"/>
              </a:rPr>
              <a:t>Or connection will run slowly over wireless links!</a:t>
            </a:r>
          </a:p>
          <a:p>
            <a:r>
              <a:rPr lang="en-US" altLang="zh-CN" dirty="0">
                <a:ea typeface="宋体" panose="02010600030101010101" pitchFamily="2" charset="-122"/>
              </a:rPr>
              <a:t>Strategy:</a:t>
            </a:r>
          </a:p>
          <a:p>
            <a:pPr lvl="1"/>
            <a:r>
              <a:rPr lang="en-US" altLang="zh-CN" dirty="0">
                <a:ea typeface="宋体" panose="02010600030101010101" pitchFamily="2" charset="-122"/>
              </a:rPr>
              <a:t>Wireless links use ARQ, which masks errors</a:t>
            </a:r>
          </a:p>
        </p:txBody>
      </p:sp>
      <p:pic>
        <p:nvPicPr>
          <p:cNvPr id="5222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9679" y="3482790"/>
            <a:ext cx="7681913" cy="264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72DC6DB9-6CF1-45DC-87F3-57A13E60A429}"/>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Wireless Issues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53252" name="Rectangle 3"/>
          <p:cNvSpPr>
            <a:spLocks noGrp="1" noChangeArrowheads="1"/>
          </p:cNvSpPr>
          <p:nvPr>
            <p:ph idx="1"/>
          </p:nvPr>
        </p:nvSpPr>
        <p:spPr>
          <a:xfrm>
            <a:off x="2905125" y="1990725"/>
            <a:ext cx="7315200" cy="1595694"/>
          </a:xfrm>
        </p:spPr>
        <p:txBody>
          <a:bodyPr/>
          <a:lstStyle/>
          <a:p>
            <a:pPr lvl="1"/>
            <a:r>
              <a:rPr lang="en-US" altLang="zh-CN">
                <a:ea typeface="宋体" panose="02010600030101010101" pitchFamily="2" charset="-122"/>
              </a:rPr>
              <a:t>Introduction to UDP </a:t>
            </a:r>
            <a:r>
              <a:rPr lang="en-US" altLang="zh-CN">
                <a:solidFill>
                  <a:srgbClr val="0000FF"/>
                </a:solidFill>
                <a:ea typeface="宋体" panose="02010600030101010101" pitchFamily="2" charset="-122"/>
              </a:rPr>
              <a:t>»</a:t>
            </a:r>
            <a:endParaRPr lang="en-US" altLang="zh-CN">
              <a:ea typeface="宋体" panose="02010600030101010101" pitchFamily="2" charset="-122"/>
            </a:endParaRPr>
          </a:p>
          <a:p>
            <a:pPr lvl="1"/>
            <a:r>
              <a:rPr lang="en-US" altLang="zh-CN">
                <a:ea typeface="宋体" panose="02010600030101010101" pitchFamily="2" charset="-122"/>
              </a:rPr>
              <a:t>Remote Procedure Call </a:t>
            </a:r>
            <a:r>
              <a:rPr lang="en-US" altLang="zh-CN">
                <a:solidFill>
                  <a:srgbClr val="0000FF"/>
                </a:solidFill>
                <a:ea typeface="宋体" panose="02010600030101010101" pitchFamily="2" charset="-122"/>
              </a:rPr>
              <a:t>»</a:t>
            </a:r>
            <a:endParaRPr lang="en-US" altLang="zh-CN">
              <a:ea typeface="宋体" panose="02010600030101010101" pitchFamily="2" charset="-122"/>
            </a:endParaRPr>
          </a:p>
          <a:p>
            <a:pPr lvl="1"/>
            <a:r>
              <a:rPr lang="en-US" altLang="zh-CN">
                <a:ea typeface="宋体" panose="02010600030101010101" pitchFamily="2" charset="-122"/>
              </a:rPr>
              <a:t>Real-Time Transport </a:t>
            </a:r>
            <a:r>
              <a:rPr lang="en-US" altLang="zh-CN">
                <a:solidFill>
                  <a:srgbClr val="0000FF"/>
                </a:solidFill>
                <a:ea typeface="宋体" panose="02010600030101010101" pitchFamily="2" charset="-122"/>
              </a:rPr>
              <a:t>»</a:t>
            </a:r>
            <a:endParaRPr lang="en-US" altLang="zh-CN">
              <a:ea typeface="宋体" panose="02010600030101010101" pitchFamily="2" charset="-122"/>
            </a:endParaRPr>
          </a:p>
          <a:p>
            <a:endParaRPr lang="en-US" altLang="zh-CN">
              <a:ea typeface="宋体" panose="02010600030101010101" pitchFamily="2" charset="-122"/>
            </a:endParaRPr>
          </a:p>
        </p:txBody>
      </p:sp>
      <p:sp>
        <p:nvSpPr>
          <p:cNvPr id="5" name="矩形 4">
            <a:extLst>
              <a:ext uri="{FF2B5EF4-FFF2-40B4-BE49-F238E27FC236}">
                <a16:creationId xmlns:a16="http://schemas.microsoft.com/office/drawing/2014/main" id="{163CC27C-B9FB-4825-B480-C32AD93FC5AB}"/>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Internet Protocols – UDP </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6" name="矩形 5">
            <a:extLst>
              <a:ext uri="{FF2B5EF4-FFF2-40B4-BE49-F238E27FC236}">
                <a16:creationId xmlns:a16="http://schemas.microsoft.com/office/drawing/2014/main" id="{AF96BB5B-96D6-4578-8AC1-5A676BE612B7}"/>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UDP: User Datagram Protocol [RFC 768]</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73B3E41B-DB67-4525-93BB-16F32FACE77D}"/>
              </a:ext>
            </a:extLst>
          </p:cNvPr>
          <p:cNvPicPr>
            <a:picLocks noChangeAspect="1"/>
          </p:cNvPicPr>
          <p:nvPr/>
        </p:nvPicPr>
        <p:blipFill>
          <a:blip r:embed="rId3"/>
          <a:stretch>
            <a:fillRect/>
          </a:stretch>
        </p:blipFill>
        <p:spPr>
          <a:xfrm>
            <a:off x="1453972" y="1641840"/>
            <a:ext cx="8071028" cy="5033793"/>
          </a:xfrm>
          <a:prstGeom prst="rect">
            <a:avLst/>
          </a:prstGeom>
        </p:spPr>
      </p:pic>
      <p:sp>
        <p:nvSpPr>
          <p:cNvPr id="11" name="文本框 10">
            <a:extLst>
              <a:ext uri="{FF2B5EF4-FFF2-40B4-BE49-F238E27FC236}">
                <a16:creationId xmlns:a16="http://schemas.microsoft.com/office/drawing/2014/main" id="{6EB62057-96EC-40C6-B1D6-BC763DAD9565}"/>
              </a:ext>
            </a:extLst>
          </p:cNvPr>
          <p:cNvSpPr txBox="1"/>
          <p:nvPr/>
        </p:nvSpPr>
        <p:spPr>
          <a:xfrm>
            <a:off x="614680" y="958967"/>
            <a:ext cx="8071028" cy="523220"/>
          </a:xfrm>
          <a:prstGeom prst="rect">
            <a:avLst/>
          </a:prstGeom>
          <a:noFill/>
        </p:spPr>
        <p:txBody>
          <a:bodyPr wrap="square">
            <a:spAutoFit/>
          </a:bodyPr>
          <a:lstStyle/>
          <a:p>
            <a:pPr marL="457200" indent="-457200">
              <a:buFont typeface="Arial" panose="020B0604020202020204" pitchFamily="34" charset="0"/>
              <a:buChar char="•"/>
            </a:pPr>
            <a:r>
              <a:rPr lang="en-US" altLang="zh-CN" sz="2800" dirty="0">
                <a:ea typeface="宋体" panose="02010600030101010101" pitchFamily="2" charset="-122"/>
              </a:rPr>
              <a:t>UDP (User Datagram Protocol) is a shim over IP</a:t>
            </a:r>
          </a:p>
        </p:txBody>
      </p:sp>
    </p:spTree>
    <p:extLst>
      <p:ext uri="{BB962C8B-B14F-4D97-AF65-F5344CB8AC3E}">
        <p14:creationId xmlns:p14="http://schemas.microsoft.com/office/powerpoint/2010/main" val="13517052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54276" name="Rectangle 3"/>
          <p:cNvSpPr>
            <a:spLocks noGrp="1" noChangeArrowheads="1"/>
          </p:cNvSpPr>
          <p:nvPr>
            <p:ph idx="1"/>
          </p:nvPr>
        </p:nvSpPr>
        <p:spPr>
          <a:xfrm>
            <a:off x="922826" y="940846"/>
            <a:ext cx="9043617" cy="523220"/>
          </a:xfrm>
        </p:spPr>
        <p:txBody>
          <a:bodyPr>
            <a:normAutofit/>
          </a:bodyPr>
          <a:lstStyle/>
          <a:p>
            <a:pPr marL="457200" indent="-457200">
              <a:buFont typeface="Arial" panose="020B0604020202020204" pitchFamily="34" charset="0"/>
              <a:buChar char="•"/>
            </a:pPr>
            <a:r>
              <a:rPr lang="en-US" altLang="zh-CN" dirty="0">
                <a:ea typeface="宋体" panose="02010600030101010101" pitchFamily="2" charset="-122"/>
              </a:rPr>
              <a:t>Header has ports (TSAPs), length and checksum.</a:t>
            </a:r>
          </a:p>
        </p:txBody>
      </p:sp>
      <p:sp>
        <p:nvSpPr>
          <p:cNvPr id="6" name="矩形 5">
            <a:extLst>
              <a:ext uri="{FF2B5EF4-FFF2-40B4-BE49-F238E27FC236}">
                <a16:creationId xmlns:a16="http://schemas.microsoft.com/office/drawing/2014/main" id="{AF96BB5B-96D6-4578-8AC1-5A676BE612B7}"/>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UDP</a:t>
            </a:r>
            <a:r>
              <a:rPr lang="en-US" altLang="zh-CN" sz="2800" b="1" kern="0" dirty="0">
                <a:solidFill>
                  <a:srgbClr val="C00000"/>
                </a:solidFill>
                <a:latin typeface="微软雅黑" panose="020B0503020204020204" pitchFamily="34" charset="-122"/>
                <a:ea typeface="微软雅黑" panose="020B0503020204020204" pitchFamily="34" charset="-122"/>
              </a:rPr>
              <a:t>:</a:t>
            </a:r>
            <a:r>
              <a:rPr lang="zh-CN" altLang="en-US" sz="2800" b="1" kern="0" dirty="0">
                <a:solidFill>
                  <a:srgbClr val="C00000"/>
                </a:solidFill>
                <a:latin typeface="微软雅黑" panose="020B0503020204020204" pitchFamily="34" charset="-122"/>
                <a:ea typeface="微软雅黑" panose="020B0503020204020204" pitchFamily="34" charset="-122"/>
              </a:rPr>
              <a:t> </a:t>
            </a:r>
            <a:r>
              <a:rPr lang="en-US" altLang="zh-CN" sz="2800" b="1" kern="0" dirty="0">
                <a:solidFill>
                  <a:srgbClr val="C00000"/>
                </a:solidFill>
                <a:latin typeface="微软雅黑" panose="020B0503020204020204" pitchFamily="34" charset="-122"/>
                <a:ea typeface="微软雅黑" panose="020B0503020204020204" pitchFamily="34" charset="-122"/>
                <a:cs typeface="+mn-cs"/>
              </a:rPr>
              <a:t>segment header</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6604C9F5-9B29-4EA4-92C5-A3B831759297}"/>
              </a:ext>
            </a:extLst>
          </p:cNvPr>
          <p:cNvPicPr>
            <a:picLocks noChangeAspect="1"/>
          </p:cNvPicPr>
          <p:nvPr/>
        </p:nvPicPr>
        <p:blipFill>
          <a:blip r:embed="rId3"/>
          <a:stretch>
            <a:fillRect/>
          </a:stretch>
        </p:blipFill>
        <p:spPr>
          <a:xfrm>
            <a:off x="1523981" y="1653951"/>
            <a:ext cx="8562088" cy="5067523"/>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8" name="矩形 7">
            <a:extLst>
              <a:ext uri="{FF2B5EF4-FFF2-40B4-BE49-F238E27FC236}">
                <a16:creationId xmlns:a16="http://schemas.microsoft.com/office/drawing/2014/main" id="{47B8FF91-F663-4B07-8248-C5BD2FEAC8A7}"/>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UDP checksum</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B34CE01E-B82A-45DA-A429-646ED3D4F87A}"/>
              </a:ext>
            </a:extLst>
          </p:cNvPr>
          <p:cNvPicPr>
            <a:picLocks noChangeAspect="1"/>
          </p:cNvPicPr>
          <p:nvPr/>
        </p:nvPicPr>
        <p:blipFill>
          <a:blip r:embed="rId3"/>
          <a:stretch>
            <a:fillRect/>
          </a:stretch>
        </p:blipFill>
        <p:spPr>
          <a:xfrm>
            <a:off x="1234441" y="1032721"/>
            <a:ext cx="9163213" cy="5688754"/>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8" name="矩形 7">
            <a:extLst>
              <a:ext uri="{FF2B5EF4-FFF2-40B4-BE49-F238E27FC236}">
                <a16:creationId xmlns:a16="http://schemas.microsoft.com/office/drawing/2014/main" id="{47B8FF91-F663-4B07-8248-C5BD2FEAC8A7}"/>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Internet checksum: example</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044BDB56-414D-44BB-A194-05BF172C1FDE}"/>
              </a:ext>
            </a:extLst>
          </p:cNvPr>
          <p:cNvPicPr>
            <a:picLocks noChangeAspect="1"/>
          </p:cNvPicPr>
          <p:nvPr/>
        </p:nvPicPr>
        <p:blipFill>
          <a:blip r:embed="rId3"/>
          <a:stretch>
            <a:fillRect/>
          </a:stretch>
        </p:blipFill>
        <p:spPr>
          <a:xfrm>
            <a:off x="1070592" y="1121400"/>
            <a:ext cx="9363728" cy="4789083"/>
          </a:xfrm>
          <a:prstGeom prst="rect">
            <a:avLst/>
          </a:prstGeom>
        </p:spPr>
      </p:pic>
    </p:spTree>
    <p:extLst>
      <p:ext uri="{BB962C8B-B14F-4D97-AF65-F5344CB8AC3E}">
        <p14:creationId xmlns:p14="http://schemas.microsoft.com/office/powerpoint/2010/main" val="348963598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66509" y="1214475"/>
            <a:ext cx="10386952" cy="4277006"/>
          </a:xfrm>
        </p:spPr>
        <p:txBody>
          <a:bodyPr/>
          <a:lstStyle/>
          <a:p>
            <a:r>
              <a:rPr lang="en-US" altLang="zh-CN" dirty="0"/>
              <a:t>For the following applications, is UDP preferable? Why? </a:t>
            </a:r>
          </a:p>
          <a:p>
            <a:pPr marL="342900" indent="-342900">
              <a:buFont typeface="Arial" panose="020B0604020202020204" pitchFamily="34" charset="0"/>
              <a:buChar char="•"/>
            </a:pPr>
            <a:r>
              <a:rPr lang="en-US" altLang="zh-CN" dirty="0"/>
              <a:t>Short request-reply application </a:t>
            </a:r>
          </a:p>
          <a:p>
            <a:pPr marL="800100" lvl="1" indent="-342900"/>
            <a:r>
              <a:rPr lang="en-US" altLang="zh-CN" dirty="0"/>
              <a:t>e.g. DNS (Domain Name System)</a:t>
            </a:r>
          </a:p>
          <a:p>
            <a:pPr marL="342900" indent="-342900">
              <a:buFont typeface="Arial" panose="020B0604020202020204" pitchFamily="34" charset="0"/>
              <a:buChar char="•"/>
            </a:pPr>
            <a:r>
              <a:rPr lang="en-US" altLang="zh-CN" dirty="0"/>
              <a:t>Long Message sending application </a:t>
            </a:r>
          </a:p>
          <a:p>
            <a:pPr marL="800100" lvl="1" indent="-342900"/>
            <a:r>
              <a:rPr lang="en-US" altLang="zh-CN" dirty="0"/>
              <a:t>e.g. SMTP (Simple Mail Transfer Protocol)</a:t>
            </a:r>
          </a:p>
          <a:p>
            <a:pPr marL="342900" indent="-342900">
              <a:buFont typeface="Arial" panose="020B0604020202020204" pitchFamily="34" charset="0"/>
              <a:buChar char="•"/>
            </a:pPr>
            <a:r>
              <a:rPr lang="en-US" altLang="zh-CN" dirty="0"/>
              <a:t>Large file downloading application </a:t>
            </a:r>
          </a:p>
          <a:p>
            <a:pPr marL="800100" lvl="1" indent="-342900"/>
            <a:r>
              <a:rPr lang="en-US" altLang="zh-CN" dirty="0"/>
              <a:t>e.g. FTP (File Transfer Protocol)</a:t>
            </a:r>
          </a:p>
          <a:p>
            <a:pPr marL="342900" indent="-342900">
              <a:buFont typeface="Arial" panose="020B0604020202020204" pitchFamily="34" charset="0"/>
              <a:buChar char="•"/>
            </a:pPr>
            <a:r>
              <a:rPr lang="en-US" altLang="zh-CN" dirty="0"/>
              <a:t>Real-time interactive application </a:t>
            </a:r>
          </a:p>
          <a:p>
            <a:pPr marL="800100" lvl="1" indent="-342900"/>
            <a:r>
              <a:rPr lang="en-US" altLang="zh-CN" dirty="0"/>
              <a:t>e.g. Skype,</a:t>
            </a:r>
            <a:r>
              <a:rPr lang="zh-CN" altLang="en-US" dirty="0"/>
              <a:t> </a:t>
            </a:r>
            <a:r>
              <a:rPr lang="en-US" altLang="zh-CN" dirty="0"/>
              <a:t>QQ</a:t>
            </a:r>
          </a:p>
        </p:txBody>
      </p:sp>
      <p:sp>
        <p:nvSpPr>
          <p:cNvPr id="4" name="页脚占位符 3"/>
          <p:cNvSpPr>
            <a:spLocks noGrp="1"/>
          </p:cNvSpPr>
          <p:nvPr>
            <p:ph type="ftr" sz="quarter" idx="10"/>
          </p:nvPr>
        </p:nvSpPr>
        <p:spPr/>
        <p:txBody>
          <a:bodyPr/>
          <a:lstStyle/>
          <a:p>
            <a:r>
              <a:rPr lang="en-US" altLang="zh-CN"/>
              <a:t>Computer Networks, Chapter 6 The Transport Layer</a:t>
            </a:r>
            <a:endParaRPr lang="en-US" altLang="zh-CN" i="0"/>
          </a:p>
        </p:txBody>
      </p:sp>
      <p:sp>
        <p:nvSpPr>
          <p:cNvPr id="5" name="矩形 4">
            <a:extLst>
              <a:ext uri="{FF2B5EF4-FFF2-40B4-BE49-F238E27FC236}">
                <a16:creationId xmlns:a16="http://schemas.microsoft.com/office/drawing/2014/main" id="{D4024319-8B36-4312-94AA-D195B8A3ACC9}"/>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UDP Applications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CF3BF953-AD48-4379-AABA-ECBEB368D1C1}"/>
              </a:ext>
            </a:extLst>
          </p:cNvPr>
          <p:cNvPicPr>
            <a:picLocks noChangeAspect="1"/>
          </p:cNvPicPr>
          <p:nvPr/>
        </p:nvPicPr>
        <p:blipFill>
          <a:blip r:embed="rId3"/>
          <a:stretch>
            <a:fillRect/>
          </a:stretch>
        </p:blipFill>
        <p:spPr>
          <a:xfrm>
            <a:off x="6613425" y="1805503"/>
            <a:ext cx="691092" cy="685333"/>
          </a:xfrm>
          <a:prstGeom prst="rect">
            <a:avLst/>
          </a:prstGeom>
        </p:spPr>
      </p:pic>
      <p:pic>
        <p:nvPicPr>
          <p:cNvPr id="9" name="图片 8">
            <a:extLst>
              <a:ext uri="{FF2B5EF4-FFF2-40B4-BE49-F238E27FC236}">
                <a16:creationId xmlns:a16="http://schemas.microsoft.com/office/drawing/2014/main" id="{934014C4-60BB-4593-9E8F-44F4E2713C11}"/>
              </a:ext>
            </a:extLst>
          </p:cNvPr>
          <p:cNvPicPr>
            <a:picLocks noChangeAspect="1"/>
          </p:cNvPicPr>
          <p:nvPr/>
        </p:nvPicPr>
        <p:blipFill>
          <a:blip r:embed="rId4"/>
          <a:stretch>
            <a:fillRect/>
          </a:stretch>
        </p:blipFill>
        <p:spPr>
          <a:xfrm>
            <a:off x="7382618" y="2743667"/>
            <a:ext cx="651782" cy="647255"/>
          </a:xfrm>
          <a:prstGeom prst="rect">
            <a:avLst/>
          </a:prstGeom>
        </p:spPr>
      </p:pic>
      <p:pic>
        <p:nvPicPr>
          <p:cNvPr id="12" name="图片 11">
            <a:extLst>
              <a:ext uri="{FF2B5EF4-FFF2-40B4-BE49-F238E27FC236}">
                <a16:creationId xmlns:a16="http://schemas.microsoft.com/office/drawing/2014/main" id="{D2C09224-4C1D-44A5-996C-3FEA6BB9FDFA}"/>
              </a:ext>
            </a:extLst>
          </p:cNvPr>
          <p:cNvPicPr>
            <a:picLocks noChangeAspect="1"/>
          </p:cNvPicPr>
          <p:nvPr/>
        </p:nvPicPr>
        <p:blipFill>
          <a:blip r:embed="rId4"/>
          <a:stretch>
            <a:fillRect/>
          </a:stretch>
        </p:blipFill>
        <p:spPr>
          <a:xfrm>
            <a:off x="7037555" y="3682790"/>
            <a:ext cx="616760" cy="612477"/>
          </a:xfrm>
          <a:prstGeom prst="rect">
            <a:avLst/>
          </a:prstGeom>
        </p:spPr>
      </p:pic>
      <p:pic>
        <p:nvPicPr>
          <p:cNvPr id="13" name="图片 12">
            <a:extLst>
              <a:ext uri="{FF2B5EF4-FFF2-40B4-BE49-F238E27FC236}">
                <a16:creationId xmlns:a16="http://schemas.microsoft.com/office/drawing/2014/main" id="{C7BFFBED-5DF7-49D1-BF74-0E418DD94750}"/>
              </a:ext>
            </a:extLst>
          </p:cNvPr>
          <p:cNvPicPr>
            <a:picLocks noChangeAspect="1"/>
          </p:cNvPicPr>
          <p:nvPr/>
        </p:nvPicPr>
        <p:blipFill>
          <a:blip r:embed="rId3"/>
          <a:stretch>
            <a:fillRect/>
          </a:stretch>
        </p:blipFill>
        <p:spPr>
          <a:xfrm>
            <a:off x="6526061" y="4587135"/>
            <a:ext cx="691093" cy="685334"/>
          </a:xfrm>
          <a:prstGeom prst="rect">
            <a:avLst/>
          </a:prstGeom>
        </p:spPr>
      </p:pic>
      <p:sp>
        <p:nvSpPr>
          <p:cNvPr id="10" name="文本框 9">
            <a:extLst>
              <a:ext uri="{FF2B5EF4-FFF2-40B4-BE49-F238E27FC236}">
                <a16:creationId xmlns:a16="http://schemas.microsoft.com/office/drawing/2014/main" id="{CD9436DC-F11D-435E-8539-2F28B7BE6C79}"/>
              </a:ext>
            </a:extLst>
          </p:cNvPr>
          <p:cNvSpPr txBox="1"/>
          <p:nvPr/>
        </p:nvSpPr>
        <p:spPr>
          <a:xfrm>
            <a:off x="654515" y="5496645"/>
            <a:ext cx="10882969" cy="646331"/>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总结：如果是每次连接时间较短，或者即时性要求较高，发送内容较少，则采用</a:t>
            </a:r>
            <a:r>
              <a:rPr lang="en-US" altLang="zh-CN" dirty="0">
                <a:latin typeface="微软雅黑" panose="020B0503020204020204" pitchFamily="34" charset="-122"/>
                <a:ea typeface="微软雅黑" panose="020B0503020204020204" pitchFamily="34" charset="-122"/>
              </a:rPr>
              <a:t>UDP</a:t>
            </a:r>
            <a:r>
              <a:rPr lang="zh-CN" altLang="en-US" dirty="0">
                <a:latin typeface="微软雅黑" panose="020B0503020204020204" pitchFamily="34" charset="-122"/>
                <a:ea typeface="微软雅黑" panose="020B0503020204020204" pitchFamily="34" charset="-122"/>
              </a:rPr>
              <a:t>；而对数据完整性、可靠性要求较高，传输性能要求较低时采用</a:t>
            </a:r>
            <a:r>
              <a:rPr lang="en-US" altLang="zh-CN" dirty="0">
                <a:latin typeface="微软雅黑" panose="020B0503020204020204" pitchFamily="34" charset="-122"/>
                <a:ea typeface="微软雅黑" panose="020B0503020204020204" pitchFamily="34" charset="-122"/>
              </a:rPr>
              <a:t>TCP</a:t>
            </a:r>
            <a:r>
              <a:rPr lang="zh-CN" altLang="en-US" dirty="0">
                <a:latin typeface="微软雅黑" panose="020B0503020204020204" pitchFamily="34" charset="-122"/>
                <a:ea typeface="微软雅黑" panose="020B0503020204020204" pitchFamily="34" charset="-122"/>
              </a:rPr>
              <a:t>。</a:t>
            </a:r>
          </a:p>
        </p:txBody>
      </p:sp>
      <p:pic>
        <p:nvPicPr>
          <p:cNvPr id="15" name="图片 14">
            <a:extLst>
              <a:ext uri="{FF2B5EF4-FFF2-40B4-BE49-F238E27FC236}">
                <a16:creationId xmlns:a16="http://schemas.microsoft.com/office/drawing/2014/main" id="{90AFE15F-55AF-439C-9DA5-6FD366DCBA7D}"/>
              </a:ext>
            </a:extLst>
          </p:cNvPr>
          <p:cNvPicPr>
            <a:picLocks noChangeAspect="1"/>
          </p:cNvPicPr>
          <p:nvPr/>
        </p:nvPicPr>
        <p:blipFill>
          <a:blip r:embed="rId4"/>
          <a:stretch>
            <a:fillRect/>
          </a:stretch>
        </p:blipFill>
        <p:spPr>
          <a:xfrm>
            <a:off x="7376057" y="4623562"/>
            <a:ext cx="616760" cy="612477"/>
          </a:xfrm>
          <a:prstGeom prst="rect">
            <a:avLst/>
          </a:prstGeom>
        </p:spPr>
      </p:pic>
    </p:spTree>
    <p:extLst>
      <p:ext uri="{BB962C8B-B14F-4D97-AF65-F5344CB8AC3E}">
        <p14:creationId xmlns:p14="http://schemas.microsoft.com/office/powerpoint/2010/main" val="3476634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r>
              <a:rPr lang="en-US" altLang="zh-CN"/>
              <a:t>Computer Networks, Chapter 6 The Transport Layer</a:t>
            </a:r>
            <a:endParaRPr lang="en-US" altLang="zh-CN" i="0"/>
          </a:p>
        </p:txBody>
      </p:sp>
      <p:grpSp>
        <p:nvGrpSpPr>
          <p:cNvPr id="5" name="Group 7"/>
          <p:cNvGrpSpPr>
            <a:grpSpLocks/>
          </p:cNvGrpSpPr>
          <p:nvPr/>
        </p:nvGrpSpPr>
        <p:grpSpPr bwMode="auto">
          <a:xfrm>
            <a:off x="2173462" y="1344613"/>
            <a:ext cx="8320088" cy="5006975"/>
            <a:chOff x="535080" y="914400"/>
            <a:chExt cx="8320488" cy="5007004"/>
          </a:xfrm>
        </p:grpSpPr>
        <p:grpSp>
          <p:nvGrpSpPr>
            <p:cNvPr id="6" name="Group 2"/>
            <p:cNvGrpSpPr/>
            <p:nvPr/>
          </p:nvGrpSpPr>
          <p:grpSpPr>
            <a:xfrm>
              <a:off x="535080" y="914400"/>
              <a:ext cx="8320488" cy="5007004"/>
              <a:chOff x="535080" y="945630"/>
              <a:chExt cx="8320488" cy="5007004"/>
            </a:xfrm>
            <a:solidFill>
              <a:schemeClr val="tx1"/>
            </a:solidFill>
          </p:grpSpPr>
          <p:pic>
            <p:nvPicPr>
              <p:cNvPr id="8" name="Picture 4"/>
              <p:cNvPicPr>
                <a:picLocks noChangeAspect="1" noChangeArrowheads="1"/>
              </p:cNvPicPr>
              <p:nvPr/>
            </p:nvPicPr>
            <p:blipFill>
              <a:blip r:embed="rId3" cstate="print"/>
              <a:srcRect/>
              <a:stretch>
                <a:fillRect/>
              </a:stretch>
            </p:blipFill>
            <p:spPr bwMode="auto">
              <a:xfrm>
                <a:off x="535080" y="2667000"/>
                <a:ext cx="8295376" cy="3285634"/>
              </a:xfrm>
              <a:prstGeom prst="rect">
                <a:avLst/>
              </a:prstGeom>
              <a:grpFill/>
              <a:ln>
                <a:noFill/>
              </a:ln>
              <a:effectLst/>
            </p:spPr>
          </p:pic>
          <p:pic>
            <p:nvPicPr>
              <p:cNvPr id="9" name="Picture 2"/>
              <p:cNvPicPr>
                <a:picLocks noChangeAspect="1" noChangeArrowheads="1"/>
              </p:cNvPicPr>
              <p:nvPr/>
            </p:nvPicPr>
            <p:blipFill>
              <a:blip r:embed="rId4" cstate="print"/>
              <a:srcRect/>
              <a:stretch>
                <a:fillRect/>
              </a:stretch>
            </p:blipFill>
            <p:spPr bwMode="auto">
              <a:xfrm>
                <a:off x="575441" y="945630"/>
                <a:ext cx="8280127" cy="1838621"/>
              </a:xfrm>
              <a:prstGeom prst="rect">
                <a:avLst/>
              </a:prstGeom>
              <a:grpFill/>
              <a:ln>
                <a:noFill/>
              </a:ln>
              <a:effectLst/>
            </p:spPr>
          </p:pic>
        </p:grpSp>
        <p:sp>
          <p:nvSpPr>
            <p:cNvPr id="7" name="Rectangle 6"/>
            <p:cNvSpPr/>
            <p:nvPr/>
          </p:nvSpPr>
          <p:spPr bwMode="auto">
            <a:xfrm>
              <a:off x="574770" y="946150"/>
              <a:ext cx="8139503" cy="4921279"/>
            </a:xfrm>
            <a:prstGeom prst="rect">
              <a:avLst/>
            </a:prstGeom>
            <a:noFill/>
            <a:ln w="101600" cap="flat" cmpd="sng" algn="ctr">
              <a:solidFill>
                <a:srgbClr val="00B050"/>
              </a:solidFill>
              <a:prstDash val="solid"/>
              <a:round/>
              <a:headEnd type="none" w="med" len="med"/>
              <a:tailEnd type="none" w="med" len="med"/>
            </a:ln>
            <a:effectLst/>
          </p:spPr>
          <p:txBody>
            <a:bodyPr/>
            <a:lstStyle>
              <a:lvl1pPr>
                <a:defRPr sz="3200" b="1" i="1">
                  <a:solidFill>
                    <a:schemeClr val="tx1"/>
                  </a:solidFill>
                  <a:latin typeface="Baby Kruffy"/>
                </a:defRPr>
              </a:lvl1pPr>
              <a:lvl2pPr marL="742950" indent="-285750">
                <a:defRPr sz="3200" b="1" i="1">
                  <a:solidFill>
                    <a:schemeClr val="tx1"/>
                  </a:solidFill>
                  <a:latin typeface="Baby Kruffy"/>
                </a:defRPr>
              </a:lvl2pPr>
              <a:lvl3pPr marL="1143000" indent="-228600">
                <a:defRPr sz="3200" b="1" i="1">
                  <a:solidFill>
                    <a:schemeClr val="tx1"/>
                  </a:solidFill>
                  <a:latin typeface="Baby Kruffy"/>
                </a:defRPr>
              </a:lvl3pPr>
              <a:lvl4pPr marL="1600200" indent="-228600">
                <a:defRPr sz="3200" b="1" i="1">
                  <a:solidFill>
                    <a:schemeClr val="tx1"/>
                  </a:solidFill>
                  <a:latin typeface="Baby Kruffy"/>
                </a:defRPr>
              </a:lvl4pPr>
              <a:lvl5pPr marL="2057400" indent="-228600">
                <a:defRPr sz="3200" b="1" i="1">
                  <a:solidFill>
                    <a:schemeClr val="tx1"/>
                  </a:solidFill>
                  <a:latin typeface="Baby Kruffy"/>
                </a:defRPr>
              </a:lvl5pPr>
              <a:lvl6pPr marL="2514600" indent="-228600" eaLnBrk="0" fontAlgn="base" hangingPunct="0">
                <a:spcBef>
                  <a:spcPct val="0"/>
                </a:spcBef>
                <a:spcAft>
                  <a:spcPct val="0"/>
                </a:spcAft>
                <a:defRPr sz="3200" b="1" i="1">
                  <a:solidFill>
                    <a:schemeClr val="tx1"/>
                  </a:solidFill>
                  <a:latin typeface="Baby Kruffy"/>
                </a:defRPr>
              </a:lvl6pPr>
              <a:lvl7pPr marL="2971800" indent="-228600" eaLnBrk="0" fontAlgn="base" hangingPunct="0">
                <a:spcBef>
                  <a:spcPct val="0"/>
                </a:spcBef>
                <a:spcAft>
                  <a:spcPct val="0"/>
                </a:spcAft>
                <a:defRPr sz="3200" b="1" i="1">
                  <a:solidFill>
                    <a:schemeClr val="tx1"/>
                  </a:solidFill>
                  <a:latin typeface="Baby Kruffy"/>
                </a:defRPr>
              </a:lvl7pPr>
              <a:lvl8pPr marL="3429000" indent="-228600" eaLnBrk="0" fontAlgn="base" hangingPunct="0">
                <a:spcBef>
                  <a:spcPct val="0"/>
                </a:spcBef>
                <a:spcAft>
                  <a:spcPct val="0"/>
                </a:spcAft>
                <a:defRPr sz="3200" b="1" i="1">
                  <a:solidFill>
                    <a:schemeClr val="tx1"/>
                  </a:solidFill>
                  <a:latin typeface="Baby Kruffy"/>
                </a:defRPr>
              </a:lvl8pPr>
              <a:lvl9pPr marL="3886200" indent="-228600" eaLnBrk="0" fontAlgn="base" hangingPunct="0">
                <a:spcBef>
                  <a:spcPct val="0"/>
                </a:spcBef>
                <a:spcAft>
                  <a:spcPct val="0"/>
                </a:spcAft>
                <a:defRPr sz="3200" b="1" i="1">
                  <a:solidFill>
                    <a:schemeClr val="tx1"/>
                  </a:solidFill>
                  <a:latin typeface="Baby Kruffy"/>
                </a:defRPr>
              </a:lvl9pPr>
            </a:lstStyle>
            <a:p>
              <a:endParaRPr lang="en-US" altLang="zh-CN">
                <a:ea typeface="宋体" panose="02010600030101010101" pitchFamily="2" charset="-122"/>
              </a:endParaRPr>
            </a:p>
          </p:txBody>
        </p:sp>
      </p:grpSp>
      <p:sp>
        <p:nvSpPr>
          <p:cNvPr id="10" name="矩形 9">
            <a:extLst>
              <a:ext uri="{FF2B5EF4-FFF2-40B4-BE49-F238E27FC236}">
                <a16:creationId xmlns:a16="http://schemas.microsoft.com/office/drawing/2014/main" id="{BAD36AEB-7BD3-4D56-9961-728AC61F7CB6}"/>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Some well-known ports used with UDP and TCP</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440620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9990" y="1171877"/>
            <a:ext cx="8249292" cy="3007117"/>
          </a:xfrm>
        </p:spPr>
        <p:txBody>
          <a:bodyPr/>
          <a:lstStyle/>
          <a:p>
            <a:r>
              <a:rPr lang="en-US" altLang="zh-CN" sz="2000" dirty="0"/>
              <a:t>The following is the contents of a UDP header in hexadecimal format.</a:t>
            </a:r>
          </a:p>
          <a:p>
            <a:r>
              <a:rPr lang="en-US" altLang="zh-CN" sz="2000" dirty="0"/>
              <a:t>   a. What is the source port number?</a:t>
            </a:r>
          </a:p>
          <a:p>
            <a:r>
              <a:rPr lang="en-US" altLang="zh-CN" sz="2000" dirty="0"/>
              <a:t>   b. What is the destination port number?</a:t>
            </a:r>
          </a:p>
          <a:p>
            <a:r>
              <a:rPr lang="en-US" altLang="zh-CN" sz="2000" dirty="0"/>
              <a:t>   c.  What is the total length of the user datagram?</a:t>
            </a:r>
          </a:p>
          <a:p>
            <a:r>
              <a:rPr lang="en-US" altLang="zh-CN" sz="2000" dirty="0"/>
              <a:t>   d. What is the length of the data?</a:t>
            </a:r>
          </a:p>
          <a:p>
            <a:r>
              <a:rPr lang="en-US" altLang="zh-CN" sz="2000" dirty="0"/>
              <a:t>   e. Is the packet directed from a client to a server or vice versa?</a:t>
            </a:r>
          </a:p>
          <a:p>
            <a:r>
              <a:rPr lang="en-US" altLang="zh-CN" sz="2000" dirty="0"/>
              <a:t>   f. What is the client process?</a:t>
            </a:r>
          </a:p>
          <a:p>
            <a:endParaRPr lang="zh-CN" altLang="en-US" sz="2000" dirty="0"/>
          </a:p>
        </p:txBody>
      </p:sp>
      <p:sp>
        <p:nvSpPr>
          <p:cNvPr id="4" name="页脚占位符 3"/>
          <p:cNvSpPr>
            <a:spLocks noGrp="1"/>
          </p:cNvSpPr>
          <p:nvPr>
            <p:ph type="ftr" sz="quarter" idx="11"/>
          </p:nvPr>
        </p:nvSpPr>
        <p:spPr/>
        <p:txBody>
          <a:bodyPr/>
          <a:lstStyle/>
          <a:p>
            <a:pPr>
              <a:defRPr/>
            </a:pPr>
            <a:r>
              <a:rPr lang="en-US"/>
              <a:t>Computer Networks, Chapter 6 The Transport Layer</a:t>
            </a:r>
            <a:endParaRPr lang="en-US" dirty="0"/>
          </a:p>
        </p:txBody>
      </p:sp>
      <p:grpSp>
        <p:nvGrpSpPr>
          <p:cNvPr id="5" name="Group 1"/>
          <p:cNvGrpSpPr>
            <a:grpSpLocks/>
          </p:cNvGrpSpPr>
          <p:nvPr/>
        </p:nvGrpSpPr>
        <p:grpSpPr bwMode="auto">
          <a:xfrm>
            <a:off x="1332138" y="4551558"/>
            <a:ext cx="6096000" cy="730250"/>
            <a:chOff x="1676400" y="1828800"/>
            <a:chExt cx="6095239" cy="729815"/>
          </a:xfrm>
        </p:grpSpPr>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1828800"/>
              <a:ext cx="6095239" cy="729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9"/>
            <p:cNvSpPr>
              <a:spLocks noChangeArrowheads="1"/>
            </p:cNvSpPr>
            <p:nvPr/>
          </p:nvSpPr>
          <p:spPr bwMode="auto">
            <a:xfrm>
              <a:off x="1676400" y="1939977"/>
              <a:ext cx="6035040" cy="548640"/>
            </a:xfrm>
            <a:prstGeom prst="rect">
              <a:avLst/>
            </a:prstGeom>
            <a:noFill/>
            <a:ln w="571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3200" b="1" i="1">
                  <a:solidFill>
                    <a:schemeClr val="tx1"/>
                  </a:solidFill>
                  <a:latin typeface="Baby Kruffy"/>
                </a:defRPr>
              </a:lvl1pPr>
              <a:lvl2pPr marL="742950" indent="-285750">
                <a:defRPr sz="3200" b="1" i="1">
                  <a:solidFill>
                    <a:schemeClr val="tx1"/>
                  </a:solidFill>
                  <a:latin typeface="Baby Kruffy"/>
                </a:defRPr>
              </a:lvl2pPr>
              <a:lvl3pPr marL="1143000" indent="-228600">
                <a:defRPr sz="3200" b="1" i="1">
                  <a:solidFill>
                    <a:schemeClr val="tx1"/>
                  </a:solidFill>
                  <a:latin typeface="Baby Kruffy"/>
                </a:defRPr>
              </a:lvl3pPr>
              <a:lvl4pPr marL="1600200" indent="-228600">
                <a:defRPr sz="3200" b="1" i="1">
                  <a:solidFill>
                    <a:schemeClr val="tx1"/>
                  </a:solidFill>
                  <a:latin typeface="Baby Kruffy"/>
                </a:defRPr>
              </a:lvl4pPr>
              <a:lvl5pPr marL="2057400" indent="-228600">
                <a:defRPr sz="3200" b="1" i="1">
                  <a:solidFill>
                    <a:schemeClr val="tx1"/>
                  </a:solidFill>
                  <a:latin typeface="Baby Kruffy"/>
                </a:defRPr>
              </a:lvl5pPr>
              <a:lvl6pPr marL="2514600" indent="-228600" eaLnBrk="0" fontAlgn="base" hangingPunct="0">
                <a:spcBef>
                  <a:spcPct val="0"/>
                </a:spcBef>
                <a:spcAft>
                  <a:spcPct val="0"/>
                </a:spcAft>
                <a:defRPr sz="3200" b="1" i="1">
                  <a:solidFill>
                    <a:schemeClr val="tx1"/>
                  </a:solidFill>
                  <a:latin typeface="Baby Kruffy"/>
                </a:defRPr>
              </a:lvl6pPr>
              <a:lvl7pPr marL="2971800" indent="-228600" eaLnBrk="0" fontAlgn="base" hangingPunct="0">
                <a:spcBef>
                  <a:spcPct val="0"/>
                </a:spcBef>
                <a:spcAft>
                  <a:spcPct val="0"/>
                </a:spcAft>
                <a:defRPr sz="3200" b="1" i="1">
                  <a:solidFill>
                    <a:schemeClr val="tx1"/>
                  </a:solidFill>
                  <a:latin typeface="Baby Kruffy"/>
                </a:defRPr>
              </a:lvl7pPr>
              <a:lvl8pPr marL="3429000" indent="-228600" eaLnBrk="0" fontAlgn="base" hangingPunct="0">
                <a:spcBef>
                  <a:spcPct val="0"/>
                </a:spcBef>
                <a:spcAft>
                  <a:spcPct val="0"/>
                </a:spcAft>
                <a:defRPr sz="3200" b="1" i="1">
                  <a:solidFill>
                    <a:schemeClr val="tx1"/>
                  </a:solidFill>
                  <a:latin typeface="Baby Kruffy"/>
                </a:defRPr>
              </a:lvl8pPr>
              <a:lvl9pPr marL="3886200" indent="-228600" eaLnBrk="0" fontAlgn="base" hangingPunct="0">
                <a:spcBef>
                  <a:spcPct val="0"/>
                </a:spcBef>
                <a:spcAft>
                  <a:spcPct val="0"/>
                </a:spcAft>
                <a:defRPr sz="3200" b="1" i="1">
                  <a:solidFill>
                    <a:schemeClr val="tx1"/>
                  </a:solidFill>
                  <a:latin typeface="Baby Kruffy"/>
                </a:defRPr>
              </a:lvl9pPr>
            </a:lstStyle>
            <a:p>
              <a:endParaRPr lang="zh-CN" altLang="zh-CN">
                <a:ea typeface="宋体" panose="02010600030101010101" pitchFamily="2" charset="-122"/>
              </a:endParaRPr>
            </a:p>
          </p:txBody>
        </p:sp>
      </p:grpSp>
      <p:sp>
        <p:nvSpPr>
          <p:cNvPr id="8" name="矩形 7">
            <a:extLst>
              <a:ext uri="{FF2B5EF4-FFF2-40B4-BE49-F238E27FC236}">
                <a16:creationId xmlns:a16="http://schemas.microsoft.com/office/drawing/2014/main" id="{ACD317DA-5F47-4B50-9DC6-A9A90719F208}"/>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Exercise</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9" name="图片 8">
            <a:extLst>
              <a:ext uri="{FF2B5EF4-FFF2-40B4-BE49-F238E27FC236}">
                <a16:creationId xmlns:a16="http://schemas.microsoft.com/office/drawing/2014/main" id="{AE351EF0-2DC2-47BD-8A10-E6FE155CFE3C}"/>
              </a:ext>
            </a:extLst>
          </p:cNvPr>
          <p:cNvPicPr>
            <a:picLocks noChangeAspect="1"/>
          </p:cNvPicPr>
          <p:nvPr/>
        </p:nvPicPr>
        <p:blipFill rotWithShape="1">
          <a:blip r:embed="rId3"/>
          <a:srcRect r="55401" b="13931"/>
          <a:stretch/>
        </p:blipFill>
        <p:spPr>
          <a:xfrm>
            <a:off x="8869282" y="1031026"/>
            <a:ext cx="3082247" cy="3520532"/>
          </a:xfrm>
          <a:prstGeom prst="rect">
            <a:avLst/>
          </a:prstGeom>
        </p:spPr>
      </p:pic>
    </p:spTree>
    <p:extLst>
      <p:ext uri="{BB962C8B-B14F-4D97-AF65-F5344CB8AC3E}">
        <p14:creationId xmlns:p14="http://schemas.microsoft.com/office/powerpoint/2010/main" val="16732529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91620" y="1253331"/>
            <a:ext cx="11249346" cy="4351338"/>
          </a:xfrm>
        </p:spPr>
        <p:txBody>
          <a:bodyPr>
            <a:normAutofit fontScale="92500" lnSpcReduction="10000"/>
          </a:bodyPr>
          <a:lstStyle/>
          <a:p>
            <a:r>
              <a:rPr lang="en-US" altLang="zh-CN" dirty="0"/>
              <a:t>a.  The source port number is the first four hexadecimal  digits (CB84)</a:t>
            </a:r>
            <a:r>
              <a:rPr lang="en-US" altLang="zh-CN" baseline="-25000" dirty="0"/>
              <a:t>16</a:t>
            </a:r>
            <a:r>
              <a:rPr lang="en-US" altLang="zh-CN" dirty="0"/>
              <a:t>  or 52100</a:t>
            </a:r>
          </a:p>
          <a:p>
            <a:r>
              <a:rPr lang="en-US" altLang="zh-CN" dirty="0"/>
              <a:t>b. The destination port number is the second four  hexadecimal digits (000D)</a:t>
            </a:r>
            <a:r>
              <a:rPr lang="en-US" altLang="zh-CN" baseline="-25000" dirty="0"/>
              <a:t>16 </a:t>
            </a:r>
            <a:r>
              <a:rPr lang="en-US" altLang="zh-CN" dirty="0"/>
              <a:t> or 13.</a:t>
            </a:r>
          </a:p>
          <a:p>
            <a:r>
              <a:rPr lang="en-US" altLang="zh-CN" dirty="0"/>
              <a:t>c.  The third four hexadecimal digits (001C)</a:t>
            </a:r>
            <a:r>
              <a:rPr lang="en-US" altLang="zh-CN" baseline="-25000" dirty="0"/>
              <a:t>16</a:t>
            </a:r>
            <a:r>
              <a:rPr lang="en-US" altLang="zh-CN" dirty="0"/>
              <a:t> define the  length of the whole UDP packet as 28 bytes.</a:t>
            </a:r>
          </a:p>
          <a:p>
            <a:r>
              <a:rPr lang="en-US" altLang="zh-CN" dirty="0"/>
              <a:t>d.  The length of the data is the length of the whole packet  minus the length of the header, or 28 − 8 = 20 bytes.</a:t>
            </a:r>
          </a:p>
          <a:p>
            <a:r>
              <a:rPr lang="en-US" altLang="zh-CN" dirty="0"/>
              <a:t>e.  Since the destination port number is 13 (well-known  port), the packet is from the client to the server.</a:t>
            </a:r>
          </a:p>
          <a:p>
            <a:r>
              <a:rPr lang="en-US" altLang="zh-CN" dirty="0"/>
              <a:t>f.  The client process is the Daytime.</a:t>
            </a:r>
            <a:endParaRPr lang="zh-CN" altLang="en-US" dirty="0"/>
          </a:p>
        </p:txBody>
      </p:sp>
      <p:sp>
        <p:nvSpPr>
          <p:cNvPr id="4" name="页脚占位符 3"/>
          <p:cNvSpPr>
            <a:spLocks noGrp="1"/>
          </p:cNvSpPr>
          <p:nvPr>
            <p:ph type="ftr" sz="quarter" idx="11"/>
          </p:nvPr>
        </p:nvSpPr>
        <p:spPr/>
        <p:txBody>
          <a:bodyPr/>
          <a:lstStyle/>
          <a:p>
            <a:pPr>
              <a:defRPr/>
            </a:pPr>
            <a:r>
              <a:rPr lang="en-US"/>
              <a:t>Computer Networks, Chapter 6 The Transport Layer</a:t>
            </a:r>
            <a:endParaRPr lang="en-US" dirty="0"/>
          </a:p>
        </p:txBody>
      </p:sp>
      <p:sp>
        <p:nvSpPr>
          <p:cNvPr id="5" name="矩形 4">
            <a:extLst>
              <a:ext uri="{FF2B5EF4-FFF2-40B4-BE49-F238E27FC236}">
                <a16:creationId xmlns:a16="http://schemas.microsoft.com/office/drawing/2014/main" id="{CF95455C-17CD-43AD-A684-3D6FBB04643E}"/>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Solution</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191873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Content Placeholder 2"/>
          <p:cNvSpPr>
            <a:spLocks noGrp="1"/>
          </p:cNvSpPr>
          <p:nvPr>
            <p:ph idx="1"/>
          </p:nvPr>
        </p:nvSpPr>
        <p:spPr>
          <a:xfrm>
            <a:off x="416104" y="1071510"/>
            <a:ext cx="11643304" cy="1862190"/>
          </a:xfrm>
        </p:spPr>
        <p:txBody>
          <a:bodyPr/>
          <a:lstStyle/>
          <a:p>
            <a:r>
              <a:rPr lang="en-US" altLang="zh-CN" dirty="0">
                <a:ea typeface="宋体" panose="02010600030101010101" pitchFamily="2" charset="-122"/>
              </a:rPr>
              <a:t>RPC connects applications over the network with the familiar abstraction of procedure calls</a:t>
            </a:r>
          </a:p>
          <a:p>
            <a:pPr lvl="1"/>
            <a:r>
              <a:rPr lang="en-US" altLang="zh-CN" dirty="0">
                <a:ea typeface="宋体" panose="02010600030101010101" pitchFamily="2" charset="-122"/>
              </a:rPr>
              <a:t>Stubs package parameters/results into a message</a:t>
            </a:r>
          </a:p>
          <a:p>
            <a:pPr lvl="1"/>
            <a:r>
              <a:rPr lang="en-US" altLang="zh-CN" dirty="0">
                <a:ea typeface="宋体" panose="02010600030101010101" pitchFamily="2" charset="-122"/>
              </a:rPr>
              <a:t>UDP with retransmissions is a low-latency transport</a:t>
            </a:r>
          </a:p>
        </p:txBody>
      </p:sp>
      <p:sp>
        <p:nvSpPr>
          <p:cNvPr id="5837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zh-CN">
                <a:ea typeface="宋体" panose="02010600030101010101" pitchFamily="2" charset="-122"/>
              </a:rPr>
              <a:t>Computer Networks, Chapter 6 The Transport Layer</a:t>
            </a:r>
          </a:p>
        </p:txBody>
      </p:sp>
      <p:pic>
        <p:nvPicPr>
          <p:cNvPr id="5837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40172" y="2933700"/>
            <a:ext cx="6238875" cy="315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EA397F57-19BA-4D3E-864A-1F429DC6399E}"/>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RPC (Remote Procedure Call)</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219473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59396" name="Rectangle 3"/>
          <p:cNvSpPr>
            <a:spLocks noGrp="1" noChangeArrowheads="1"/>
          </p:cNvSpPr>
          <p:nvPr>
            <p:ph idx="1"/>
          </p:nvPr>
        </p:nvSpPr>
        <p:spPr>
          <a:xfrm>
            <a:off x="924911" y="1183488"/>
            <a:ext cx="10683765" cy="1528181"/>
          </a:xfrm>
        </p:spPr>
        <p:txBody>
          <a:bodyPr/>
          <a:lstStyle/>
          <a:p>
            <a:r>
              <a:rPr lang="en-US" altLang="zh-CN">
                <a:ea typeface="宋体" panose="02010600030101010101" pitchFamily="2" charset="-122"/>
              </a:rPr>
              <a:t>RTP (Real-time Transport Protocol) provides support for sending real-time media over UDP</a:t>
            </a:r>
          </a:p>
          <a:p>
            <a:pPr lvl="1"/>
            <a:r>
              <a:rPr lang="en-US" altLang="zh-CN">
                <a:ea typeface="宋体" panose="02010600030101010101" pitchFamily="2" charset="-122"/>
              </a:rPr>
              <a:t>Often implemented as part of the application</a:t>
            </a:r>
          </a:p>
        </p:txBody>
      </p:sp>
      <p:pic>
        <p:nvPicPr>
          <p:cNvPr id="59397" name="Picture 2"/>
          <p:cNvPicPr>
            <a:picLocks noChangeAspect="1" noChangeArrowheads="1"/>
          </p:cNvPicPr>
          <p:nvPr/>
        </p:nvPicPr>
        <p:blipFill>
          <a:blip r:embed="rId3">
            <a:extLst>
              <a:ext uri="{28A0092B-C50C-407E-A947-70E740481C1C}">
                <a14:useLocalDpi xmlns:a14="http://schemas.microsoft.com/office/drawing/2010/main" val="0"/>
              </a:ext>
            </a:extLst>
          </a:blip>
          <a:srcRect b="13657"/>
          <a:stretch>
            <a:fillRect/>
          </a:stretch>
        </p:blipFill>
        <p:spPr bwMode="auto">
          <a:xfrm>
            <a:off x="1686857" y="2762689"/>
            <a:ext cx="8416925" cy="268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bwMode="auto">
          <a:xfrm>
            <a:off x="7324068" y="3756464"/>
            <a:ext cx="361950" cy="352425"/>
          </a:xfrm>
          <a:prstGeom prst="rect">
            <a:avLst/>
          </a:prstGeom>
          <a:solidFill>
            <a:schemeClr val="accent3">
              <a:lumMod val="60000"/>
              <a:lumOff val="40000"/>
              <a:alpha val="50196"/>
            </a:schemeClr>
          </a:solidFill>
          <a:ln w="9525" cap="flat" cmpd="sng" algn="ctr">
            <a:solidFill>
              <a:schemeClr val="tx1"/>
            </a:solidFill>
            <a:prstDash val="solid"/>
            <a:round/>
            <a:headEnd type="none" w="med" len="med"/>
            <a:tailEnd type="none" w="med" len="med"/>
          </a:ln>
          <a:effec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en-US" altLang="zh-CN">
              <a:ea typeface="宋体" panose="02010600030101010101" pitchFamily="2" charset="-122"/>
            </a:endParaRPr>
          </a:p>
        </p:txBody>
      </p:sp>
      <p:sp>
        <p:nvSpPr>
          <p:cNvPr id="7" name="Rectangle 6"/>
          <p:cNvSpPr/>
          <p:nvPr/>
        </p:nvSpPr>
        <p:spPr bwMode="auto">
          <a:xfrm>
            <a:off x="2513944" y="3432613"/>
            <a:ext cx="1933575" cy="323850"/>
          </a:xfrm>
          <a:prstGeom prst="rect">
            <a:avLst/>
          </a:prstGeom>
          <a:solidFill>
            <a:schemeClr val="accent3">
              <a:lumMod val="60000"/>
              <a:lumOff val="40000"/>
              <a:alpha val="50196"/>
            </a:schemeClr>
          </a:solidFill>
          <a:ln w="9525" cap="flat" cmpd="sng" algn="ctr">
            <a:solidFill>
              <a:schemeClr val="tx1"/>
            </a:solidFill>
            <a:prstDash val="solid"/>
            <a:round/>
            <a:headEnd type="none" w="med" len="med"/>
            <a:tailEnd type="none" w="med" len="med"/>
          </a:ln>
          <a:effec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en-US" altLang="zh-CN">
              <a:ea typeface="宋体" panose="02010600030101010101" pitchFamily="2" charset="-122"/>
            </a:endParaRPr>
          </a:p>
        </p:txBody>
      </p:sp>
      <p:sp>
        <p:nvSpPr>
          <p:cNvPr id="8" name="矩形 7">
            <a:extLst>
              <a:ext uri="{FF2B5EF4-FFF2-40B4-BE49-F238E27FC236}">
                <a16:creationId xmlns:a16="http://schemas.microsoft.com/office/drawing/2014/main" id="{42212EFD-5158-4CD3-A5FD-81B2051123CE}"/>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Real-Time Transport (1)</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60420" name="Content Placeholder 2"/>
          <p:cNvSpPr>
            <a:spLocks noGrp="1"/>
          </p:cNvSpPr>
          <p:nvPr>
            <p:ph idx="1"/>
          </p:nvPr>
        </p:nvSpPr>
        <p:spPr>
          <a:xfrm>
            <a:off x="683172" y="1129506"/>
            <a:ext cx="10993821" cy="1835944"/>
          </a:xfrm>
        </p:spPr>
        <p:txBody>
          <a:bodyPr>
            <a:normAutofit fontScale="85000" lnSpcReduction="20000"/>
          </a:bodyPr>
          <a:lstStyle/>
          <a:p>
            <a:pPr>
              <a:lnSpc>
                <a:spcPct val="110000"/>
              </a:lnSpc>
            </a:pPr>
            <a:r>
              <a:rPr lang="en-US" altLang="zh-CN" dirty="0">
                <a:ea typeface="宋体" panose="02010600030101010101" pitchFamily="2" charset="-122"/>
              </a:rPr>
              <a:t>RTP header contains fields to describe the type of media and synchronize it across multiple streams</a:t>
            </a:r>
          </a:p>
          <a:p>
            <a:pPr lvl="1">
              <a:lnSpc>
                <a:spcPct val="110000"/>
              </a:lnSpc>
            </a:pPr>
            <a:r>
              <a:rPr lang="en-US" altLang="zh-CN" dirty="0">
                <a:ea typeface="宋体" panose="02010600030101010101" pitchFamily="2" charset="-122"/>
              </a:rPr>
              <a:t>RTCP sister protocol helps with management tasks </a:t>
            </a:r>
          </a:p>
          <a:p>
            <a:pPr lvl="1">
              <a:lnSpc>
                <a:spcPct val="110000"/>
              </a:lnSpc>
            </a:pPr>
            <a:r>
              <a:rPr lang="zh-CN" altLang="en-US" b="0" i="0" dirty="0">
                <a:solidFill>
                  <a:srgbClr val="333333"/>
                </a:solidFill>
                <a:effectLst/>
                <a:latin typeface="arial" panose="020B0604020202020204" pitchFamily="34" charset="0"/>
              </a:rPr>
              <a:t>控制协议</a:t>
            </a:r>
            <a:r>
              <a:rPr lang="en-US" altLang="zh-CN" b="0" i="0" dirty="0">
                <a:solidFill>
                  <a:srgbClr val="333333"/>
                </a:solidFill>
                <a:effectLst/>
                <a:latin typeface="arial" panose="020B0604020202020204" pitchFamily="34" charset="0"/>
              </a:rPr>
              <a:t>RTCP</a:t>
            </a:r>
            <a:r>
              <a:rPr lang="zh-CN" altLang="en-US" b="0" i="0" dirty="0">
                <a:solidFill>
                  <a:srgbClr val="333333"/>
                </a:solidFill>
                <a:effectLst/>
                <a:latin typeface="arial" panose="020B0604020202020204" pitchFamily="34" charset="0"/>
              </a:rPr>
              <a:t>，用于</a:t>
            </a:r>
            <a:r>
              <a:rPr lang="en-US" altLang="zh-CN" b="0" i="0" dirty="0">
                <a:solidFill>
                  <a:srgbClr val="333333"/>
                </a:solidFill>
                <a:effectLst/>
                <a:latin typeface="arial" panose="020B0604020202020204" pitchFamily="34" charset="0"/>
              </a:rPr>
              <a:t>QoS</a:t>
            </a:r>
            <a:r>
              <a:rPr lang="zh-CN" altLang="en-US" b="0" i="0" dirty="0">
                <a:solidFill>
                  <a:srgbClr val="333333"/>
                </a:solidFill>
                <a:effectLst/>
                <a:latin typeface="arial" panose="020B0604020202020204" pitchFamily="34" charset="0"/>
              </a:rPr>
              <a:t>反馈和同步媒体流。相对于</a:t>
            </a:r>
            <a:r>
              <a:rPr lang="en-US" altLang="zh-CN" b="0" i="0" dirty="0">
                <a:solidFill>
                  <a:srgbClr val="333333"/>
                </a:solidFill>
                <a:effectLst/>
                <a:latin typeface="arial" panose="020B0604020202020204" pitchFamily="34" charset="0"/>
              </a:rPr>
              <a:t>RTP</a:t>
            </a:r>
            <a:r>
              <a:rPr lang="zh-CN" altLang="en-US" b="0" i="0" dirty="0">
                <a:solidFill>
                  <a:srgbClr val="333333"/>
                </a:solidFill>
                <a:effectLst/>
                <a:latin typeface="arial" panose="020B0604020202020204" pitchFamily="34" charset="0"/>
              </a:rPr>
              <a:t>来说，</a:t>
            </a:r>
            <a:r>
              <a:rPr lang="en-US" altLang="zh-CN" b="0" i="0" dirty="0">
                <a:solidFill>
                  <a:srgbClr val="333333"/>
                </a:solidFill>
                <a:effectLst/>
                <a:latin typeface="arial" panose="020B0604020202020204" pitchFamily="34" charset="0"/>
              </a:rPr>
              <a:t>RTCP</a:t>
            </a:r>
            <a:r>
              <a:rPr lang="zh-CN" altLang="en-US" b="0" i="0" dirty="0">
                <a:solidFill>
                  <a:srgbClr val="333333"/>
                </a:solidFill>
                <a:effectLst/>
                <a:latin typeface="arial" panose="020B0604020202020204" pitchFamily="34" charset="0"/>
              </a:rPr>
              <a:t>所占的带宽非常小，通常只有</a:t>
            </a:r>
            <a:r>
              <a:rPr lang="en-US" altLang="zh-CN" b="0" i="0" dirty="0">
                <a:solidFill>
                  <a:srgbClr val="333333"/>
                </a:solidFill>
                <a:effectLst/>
                <a:latin typeface="arial" panose="020B0604020202020204" pitchFamily="34" charset="0"/>
              </a:rPr>
              <a:t>5%</a:t>
            </a:r>
            <a:r>
              <a:rPr lang="zh-CN" altLang="en-US" b="0" i="0" dirty="0">
                <a:solidFill>
                  <a:srgbClr val="333333"/>
                </a:solidFill>
                <a:effectLst/>
                <a:latin typeface="arial" panose="020B0604020202020204" pitchFamily="34" charset="0"/>
              </a:rPr>
              <a:t>。</a:t>
            </a:r>
            <a:endParaRPr lang="en-US" altLang="zh-CN" dirty="0">
              <a:ea typeface="宋体" panose="02010600030101010101" pitchFamily="2" charset="-122"/>
            </a:endParaRPr>
          </a:p>
        </p:txBody>
      </p:sp>
      <p:pic>
        <p:nvPicPr>
          <p:cNvPr id="6042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8875" y="2965450"/>
            <a:ext cx="7334250" cy="331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BC6126C0-974A-4B56-B31F-2EF2A6F8823C}"/>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Real-Time Transport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61444" name="Rectangle 3"/>
          <p:cNvSpPr>
            <a:spLocks noGrp="1" noChangeArrowheads="1"/>
          </p:cNvSpPr>
          <p:nvPr>
            <p:ph idx="1"/>
          </p:nvPr>
        </p:nvSpPr>
        <p:spPr>
          <a:xfrm>
            <a:off x="1030287" y="1229520"/>
            <a:ext cx="10657216" cy="1088234"/>
          </a:xfrm>
        </p:spPr>
        <p:txBody>
          <a:bodyPr/>
          <a:lstStyle/>
          <a:p>
            <a:r>
              <a:rPr lang="en-US" altLang="zh-CN" dirty="0">
                <a:ea typeface="宋体" panose="02010600030101010101" pitchFamily="2" charset="-122"/>
              </a:rPr>
              <a:t>Buffer at receiver is used to delay packets and absorb jitter so that streaming media is played out smoothly</a:t>
            </a:r>
          </a:p>
        </p:txBody>
      </p:sp>
      <p:pic>
        <p:nvPicPr>
          <p:cNvPr id="6144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9532" y="2747960"/>
            <a:ext cx="8529638" cy="287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6" name="TextBox 8"/>
          <p:cNvSpPr txBox="1">
            <a:spLocks noChangeArrowheads="1"/>
          </p:cNvSpPr>
          <p:nvPr/>
        </p:nvSpPr>
        <p:spPr bwMode="auto">
          <a:xfrm>
            <a:off x="6670621" y="2601909"/>
            <a:ext cx="306228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a:solidFill>
                  <a:srgbClr val="FF2BD8"/>
                </a:solidFill>
                <a:ea typeface="宋体" panose="02010600030101010101" pitchFamily="2" charset="-122"/>
              </a:rPr>
              <a:t>Packet 8’s network delay is too large for buffer to help</a:t>
            </a:r>
          </a:p>
        </p:txBody>
      </p:sp>
      <p:cxnSp>
        <p:nvCxnSpPr>
          <p:cNvPr id="61447" name="Straight Arrow Connector 9"/>
          <p:cNvCxnSpPr>
            <a:cxnSpLocks noChangeShapeType="1"/>
          </p:cNvCxnSpPr>
          <p:nvPr/>
        </p:nvCxnSpPr>
        <p:spPr bwMode="auto">
          <a:xfrm>
            <a:off x="6208657" y="3478210"/>
            <a:ext cx="2533650" cy="1587"/>
          </a:xfrm>
          <a:prstGeom prst="straightConnector1">
            <a:avLst/>
          </a:prstGeom>
          <a:noFill/>
          <a:ln w="19050" algn="ctr">
            <a:solidFill>
              <a:schemeClr val="tx1"/>
            </a:solidFill>
            <a:round/>
            <a:headEnd/>
            <a:tailEnd type="arrow" w="med" len="med"/>
          </a:ln>
        </p:spPr>
      </p:cxnSp>
      <p:cxnSp>
        <p:nvCxnSpPr>
          <p:cNvPr id="61448" name="Straight Connector 20"/>
          <p:cNvCxnSpPr>
            <a:cxnSpLocks noChangeShapeType="1"/>
          </p:cNvCxnSpPr>
          <p:nvPr/>
        </p:nvCxnSpPr>
        <p:spPr bwMode="auto">
          <a:xfrm rot="5400000">
            <a:off x="8670870" y="3481384"/>
            <a:ext cx="161925" cy="0"/>
          </a:xfrm>
          <a:prstGeom prst="line">
            <a:avLst/>
          </a:prstGeom>
          <a:noFill/>
          <a:ln w="19050" algn="ctr">
            <a:solidFill>
              <a:schemeClr val="tx1"/>
            </a:solidFill>
            <a:round/>
            <a:headEnd/>
            <a:tailEnd/>
          </a:ln>
        </p:spPr>
      </p:cxnSp>
      <p:cxnSp>
        <p:nvCxnSpPr>
          <p:cNvPr id="61449" name="Straight Connector 22"/>
          <p:cNvCxnSpPr>
            <a:cxnSpLocks noChangeShapeType="1"/>
          </p:cNvCxnSpPr>
          <p:nvPr/>
        </p:nvCxnSpPr>
        <p:spPr bwMode="auto">
          <a:xfrm rot="5400000">
            <a:off x="6108645" y="3481384"/>
            <a:ext cx="161925" cy="0"/>
          </a:xfrm>
          <a:prstGeom prst="line">
            <a:avLst/>
          </a:prstGeom>
          <a:noFill/>
          <a:ln w="19050" algn="ctr">
            <a:solidFill>
              <a:schemeClr val="tx1"/>
            </a:solidFill>
            <a:round/>
            <a:headEnd/>
            <a:tailEnd/>
          </a:ln>
        </p:spPr>
      </p:cxnSp>
      <p:cxnSp>
        <p:nvCxnSpPr>
          <p:cNvPr id="61450" name="Straight Connector 24"/>
          <p:cNvCxnSpPr>
            <a:cxnSpLocks noChangeShapeType="1"/>
          </p:cNvCxnSpPr>
          <p:nvPr/>
        </p:nvCxnSpPr>
        <p:spPr bwMode="auto">
          <a:xfrm rot="5400000">
            <a:off x="7623120" y="3290884"/>
            <a:ext cx="200025" cy="171450"/>
          </a:xfrm>
          <a:prstGeom prst="line">
            <a:avLst/>
          </a:prstGeom>
          <a:noFill/>
          <a:ln w="9525" algn="ctr">
            <a:solidFill>
              <a:schemeClr val="tx1"/>
            </a:solidFill>
            <a:round/>
            <a:headEnd/>
            <a:tailEnd/>
          </a:ln>
        </p:spPr>
      </p:cxnSp>
      <p:sp>
        <p:nvSpPr>
          <p:cNvPr id="61451" name="TextBox 26"/>
          <p:cNvSpPr txBox="1">
            <a:spLocks noChangeArrowheads="1"/>
          </p:cNvSpPr>
          <p:nvPr/>
        </p:nvSpPr>
        <p:spPr bwMode="auto">
          <a:xfrm>
            <a:off x="2308170" y="3182935"/>
            <a:ext cx="19478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600">
                <a:solidFill>
                  <a:srgbClr val="FF2BD8"/>
                </a:solidFill>
                <a:ea typeface="宋体" panose="02010600030101010101" pitchFamily="2" charset="-122"/>
              </a:rPr>
              <a:t>Constant rate</a:t>
            </a:r>
          </a:p>
        </p:txBody>
      </p:sp>
      <p:sp>
        <p:nvSpPr>
          <p:cNvPr id="61452" name="TextBox 27"/>
          <p:cNvSpPr txBox="1">
            <a:spLocks noChangeArrowheads="1"/>
          </p:cNvSpPr>
          <p:nvPr/>
        </p:nvSpPr>
        <p:spPr bwMode="auto">
          <a:xfrm>
            <a:off x="2308170" y="3811585"/>
            <a:ext cx="19478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600">
                <a:solidFill>
                  <a:srgbClr val="FF2BD8"/>
                </a:solidFill>
                <a:ea typeface="宋体" panose="02010600030101010101" pitchFamily="2" charset="-122"/>
              </a:rPr>
              <a:t>Variable rate</a:t>
            </a:r>
          </a:p>
        </p:txBody>
      </p:sp>
      <p:sp>
        <p:nvSpPr>
          <p:cNvPr id="61453" name="TextBox 28"/>
          <p:cNvSpPr txBox="1">
            <a:spLocks noChangeArrowheads="1"/>
          </p:cNvSpPr>
          <p:nvPr/>
        </p:nvSpPr>
        <p:spPr bwMode="auto">
          <a:xfrm>
            <a:off x="2317695" y="4506910"/>
            <a:ext cx="19478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1600">
                <a:solidFill>
                  <a:srgbClr val="FF2BD8"/>
                </a:solidFill>
                <a:ea typeface="宋体" panose="02010600030101010101" pitchFamily="2" charset="-122"/>
              </a:rPr>
              <a:t>Constant rate</a:t>
            </a:r>
          </a:p>
        </p:txBody>
      </p:sp>
      <p:sp>
        <p:nvSpPr>
          <p:cNvPr id="14" name="矩形 13">
            <a:extLst>
              <a:ext uri="{FF2B5EF4-FFF2-40B4-BE49-F238E27FC236}">
                <a16:creationId xmlns:a16="http://schemas.microsoft.com/office/drawing/2014/main" id="{012B5F9B-4B3D-49DB-B140-DA02AB7BE0C9}"/>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Real-Time Transport (3)</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62468" name="Rectangle 3"/>
          <p:cNvSpPr>
            <a:spLocks noGrp="1" noChangeArrowheads="1"/>
          </p:cNvSpPr>
          <p:nvPr>
            <p:ph idx="1"/>
          </p:nvPr>
        </p:nvSpPr>
        <p:spPr>
          <a:xfrm>
            <a:off x="1014250" y="1129507"/>
            <a:ext cx="10368453" cy="1418434"/>
          </a:xfrm>
        </p:spPr>
        <p:txBody>
          <a:bodyPr/>
          <a:lstStyle/>
          <a:p>
            <a:r>
              <a:rPr lang="en-US" altLang="zh-CN" dirty="0">
                <a:ea typeface="宋体" panose="02010600030101010101" pitchFamily="2" charset="-122"/>
              </a:rPr>
              <a:t>High jitter, or more variation in delay, requires a larger playout buffer to avoid playout misses</a:t>
            </a:r>
          </a:p>
          <a:p>
            <a:pPr lvl="1"/>
            <a:r>
              <a:rPr lang="en-US" altLang="zh-CN" dirty="0">
                <a:ea typeface="宋体" panose="02010600030101010101" pitchFamily="2" charset="-122"/>
              </a:rPr>
              <a:t>Propagation delay does not affect buffer size</a:t>
            </a:r>
          </a:p>
        </p:txBody>
      </p:sp>
      <p:grpSp>
        <p:nvGrpSpPr>
          <p:cNvPr id="62469" name="Group 19"/>
          <p:cNvGrpSpPr>
            <a:grpSpLocks/>
          </p:cNvGrpSpPr>
          <p:nvPr/>
        </p:nvGrpSpPr>
        <p:grpSpPr bwMode="auto">
          <a:xfrm>
            <a:off x="2124076" y="2633664"/>
            <a:ext cx="8213725" cy="4110037"/>
            <a:chOff x="600074" y="2748326"/>
            <a:chExt cx="8213725" cy="4109674"/>
          </a:xfrm>
        </p:grpSpPr>
        <p:pic>
          <p:nvPicPr>
            <p:cNvPr id="62470" name="Picture 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00074" y="2848338"/>
              <a:ext cx="4156075" cy="400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71" name="Picture 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905375" y="2748326"/>
              <a:ext cx="3908424" cy="3099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Straight Connector 10"/>
            <p:cNvCxnSpPr/>
            <p:nvPr/>
          </p:nvCxnSpPr>
          <p:spPr bwMode="auto">
            <a:xfrm rot="5400000">
              <a:off x="2748009" y="4796020"/>
              <a:ext cx="1076230" cy="0"/>
            </a:xfrm>
            <a:prstGeom prst="line">
              <a:avLst/>
            </a:prstGeom>
            <a:solidFill>
              <a:schemeClr val="accent1"/>
            </a:solidFill>
            <a:ln w="19050" cap="flat" cmpd="sng" algn="ctr">
              <a:solidFill>
                <a:schemeClr val="accent3">
                  <a:lumMod val="60000"/>
                  <a:lumOff val="40000"/>
                </a:schemeClr>
              </a:solidFill>
              <a:prstDash val="solid"/>
              <a:round/>
              <a:headEnd type="none" w="med" len="med"/>
              <a:tailEnd type="none" w="med" len="med"/>
            </a:ln>
            <a:effectLst/>
          </p:spPr>
        </p:cxnSp>
        <p:sp>
          <p:nvSpPr>
            <p:cNvPr id="12" name="Oval 11"/>
            <p:cNvSpPr/>
            <p:nvPr/>
          </p:nvSpPr>
          <p:spPr bwMode="auto">
            <a:xfrm>
              <a:off x="3200399" y="5038886"/>
              <a:ext cx="1085850" cy="380966"/>
            </a:xfrm>
            <a:prstGeom prst="ellipse">
              <a:avLst/>
            </a:prstGeom>
            <a:noFill/>
            <a:ln w="19050" cap="flat" cmpd="sng" algn="ctr">
              <a:solidFill>
                <a:schemeClr val="accent3">
                  <a:lumMod val="60000"/>
                  <a:lumOff val="40000"/>
                </a:schemeClr>
              </a:solidFill>
              <a:prstDash val="solid"/>
              <a:round/>
              <a:headEnd type="none" w="med" len="med"/>
              <a:tailEnd type="none" w="med" len="med"/>
            </a:ln>
            <a:effec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en-US" altLang="zh-CN">
                <a:ea typeface="宋体" panose="02010600030101010101" pitchFamily="2" charset="-122"/>
              </a:endParaRPr>
            </a:p>
          </p:txBody>
        </p:sp>
        <p:cxnSp>
          <p:nvCxnSpPr>
            <p:cNvPr id="14" name="Straight Connector 13"/>
            <p:cNvCxnSpPr/>
            <p:nvPr/>
          </p:nvCxnSpPr>
          <p:spPr bwMode="auto">
            <a:xfrm rot="5400000">
              <a:off x="871584" y="4843641"/>
              <a:ext cx="1076230" cy="0"/>
            </a:xfrm>
            <a:prstGeom prst="line">
              <a:avLst/>
            </a:prstGeom>
            <a:solidFill>
              <a:schemeClr val="accent1"/>
            </a:solidFill>
            <a:ln w="19050" cap="flat" cmpd="sng" algn="ctr">
              <a:solidFill>
                <a:schemeClr val="accent3">
                  <a:lumMod val="60000"/>
                  <a:lumOff val="40000"/>
                </a:schemeClr>
              </a:solidFill>
              <a:prstDash val="solid"/>
              <a:round/>
              <a:headEnd type="none" w="med" len="med"/>
              <a:tailEnd type="none" w="med" len="med"/>
            </a:ln>
            <a:effectLst/>
          </p:spPr>
        </p:cxnSp>
        <p:cxnSp>
          <p:nvCxnSpPr>
            <p:cNvPr id="16" name="Straight Arrow Connector 15"/>
            <p:cNvCxnSpPr/>
            <p:nvPr/>
          </p:nvCxnSpPr>
          <p:spPr bwMode="auto">
            <a:xfrm>
              <a:off x="1400174" y="4391243"/>
              <a:ext cx="1857375" cy="1588"/>
            </a:xfrm>
            <a:prstGeom prst="straightConnector1">
              <a:avLst/>
            </a:prstGeom>
            <a:solidFill>
              <a:schemeClr val="accent1"/>
            </a:solidFill>
            <a:ln w="19050" cap="flat" cmpd="sng" algn="ctr">
              <a:solidFill>
                <a:schemeClr val="accent3">
                  <a:lumMod val="60000"/>
                  <a:lumOff val="40000"/>
                </a:schemeClr>
              </a:solidFill>
              <a:prstDash val="solid"/>
              <a:round/>
              <a:headEnd type="arrow" w="med" len="med"/>
              <a:tailEnd type="arrow" w="med" len="med"/>
            </a:ln>
            <a:effectLst/>
          </p:spPr>
        </p:cxnSp>
        <p:sp>
          <p:nvSpPr>
            <p:cNvPr id="62476" name="TextBox 17"/>
            <p:cNvSpPr txBox="1">
              <a:spLocks noChangeArrowheads="1"/>
            </p:cNvSpPr>
            <p:nvPr/>
          </p:nvSpPr>
          <p:spPr bwMode="auto">
            <a:xfrm>
              <a:off x="1981200" y="3991337"/>
              <a:ext cx="611386"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a:ea typeface="宋体" panose="02010600030101010101" pitchFamily="2" charset="-122"/>
                </a:rPr>
                <a:t>Buffer</a:t>
              </a:r>
            </a:p>
          </p:txBody>
        </p:sp>
        <p:sp>
          <p:nvSpPr>
            <p:cNvPr id="62477" name="TextBox 18"/>
            <p:cNvSpPr txBox="1">
              <a:spLocks noChangeArrowheads="1"/>
            </p:cNvSpPr>
            <p:nvPr/>
          </p:nvSpPr>
          <p:spPr bwMode="auto">
            <a:xfrm>
              <a:off x="3286125" y="4715237"/>
              <a:ext cx="9028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a:ea typeface="宋体" panose="02010600030101010101" pitchFamily="2" charset="-122"/>
                </a:rPr>
                <a:t>Misses</a:t>
              </a:r>
            </a:p>
          </p:txBody>
        </p:sp>
      </p:grpSp>
      <p:sp>
        <p:nvSpPr>
          <p:cNvPr id="15" name="矩形 14">
            <a:extLst>
              <a:ext uri="{FF2B5EF4-FFF2-40B4-BE49-F238E27FC236}">
                <a16:creationId xmlns:a16="http://schemas.microsoft.com/office/drawing/2014/main" id="{CB0C8A2C-0D68-4ACB-8F72-C2F7EB7EFBC4}"/>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Real-Time Transport (4)</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63492" name="Rectangle 3"/>
          <p:cNvSpPr>
            <a:spLocks noGrp="1" noChangeArrowheads="1"/>
          </p:cNvSpPr>
          <p:nvPr>
            <p:ph idx="1"/>
          </p:nvPr>
        </p:nvSpPr>
        <p:spPr>
          <a:xfrm>
            <a:off x="2905125" y="1990725"/>
            <a:ext cx="7315200" cy="4019550"/>
          </a:xfrm>
        </p:spPr>
        <p:txBody>
          <a:bodyPr/>
          <a:lstStyle/>
          <a:p>
            <a:pPr lvl="1"/>
            <a:r>
              <a:rPr lang="en-US" altLang="zh-CN">
                <a:ea typeface="宋体" panose="02010600030101010101" pitchFamily="2" charset="-122"/>
              </a:rPr>
              <a:t>The TCP service model </a:t>
            </a:r>
            <a:r>
              <a:rPr lang="en-US" altLang="zh-CN">
                <a:solidFill>
                  <a:srgbClr val="0000FF"/>
                </a:solidFill>
                <a:ea typeface="宋体" panose="02010600030101010101" pitchFamily="2" charset="-122"/>
              </a:rPr>
              <a:t>»</a:t>
            </a:r>
            <a:endParaRPr lang="en-US" altLang="zh-CN">
              <a:ea typeface="宋体" panose="02010600030101010101" pitchFamily="2" charset="-122"/>
            </a:endParaRPr>
          </a:p>
          <a:p>
            <a:pPr lvl="1"/>
            <a:r>
              <a:rPr lang="en-US" altLang="zh-CN">
                <a:ea typeface="宋体" panose="02010600030101010101" pitchFamily="2" charset="-122"/>
              </a:rPr>
              <a:t>The TCP segment header </a:t>
            </a:r>
            <a:r>
              <a:rPr lang="en-US" altLang="zh-CN">
                <a:solidFill>
                  <a:srgbClr val="0000FF"/>
                </a:solidFill>
                <a:ea typeface="宋体" panose="02010600030101010101" pitchFamily="2" charset="-122"/>
              </a:rPr>
              <a:t>»</a:t>
            </a:r>
            <a:endParaRPr lang="en-US" altLang="zh-CN">
              <a:ea typeface="宋体" panose="02010600030101010101" pitchFamily="2" charset="-122"/>
            </a:endParaRPr>
          </a:p>
          <a:p>
            <a:pPr lvl="1"/>
            <a:r>
              <a:rPr lang="en-US" altLang="zh-CN">
                <a:ea typeface="宋体" panose="02010600030101010101" pitchFamily="2" charset="-122"/>
              </a:rPr>
              <a:t>TCP connection establishment </a:t>
            </a:r>
            <a:r>
              <a:rPr lang="en-US" altLang="zh-CN">
                <a:solidFill>
                  <a:srgbClr val="0000FF"/>
                </a:solidFill>
                <a:ea typeface="宋体" panose="02010600030101010101" pitchFamily="2" charset="-122"/>
              </a:rPr>
              <a:t>»</a:t>
            </a:r>
            <a:endParaRPr lang="en-US" altLang="zh-CN">
              <a:ea typeface="宋体" panose="02010600030101010101" pitchFamily="2" charset="-122"/>
            </a:endParaRPr>
          </a:p>
          <a:p>
            <a:pPr lvl="1"/>
            <a:r>
              <a:rPr lang="en-US" altLang="zh-CN">
                <a:ea typeface="宋体" panose="02010600030101010101" pitchFamily="2" charset="-122"/>
              </a:rPr>
              <a:t>TCP connection state modeling </a:t>
            </a:r>
            <a:r>
              <a:rPr lang="en-US" altLang="zh-CN">
                <a:solidFill>
                  <a:srgbClr val="0000FF"/>
                </a:solidFill>
                <a:ea typeface="宋体" panose="02010600030101010101" pitchFamily="2" charset="-122"/>
              </a:rPr>
              <a:t>»</a:t>
            </a:r>
            <a:endParaRPr lang="en-US" altLang="zh-CN">
              <a:ea typeface="宋体" panose="02010600030101010101" pitchFamily="2" charset="-122"/>
            </a:endParaRPr>
          </a:p>
          <a:p>
            <a:pPr lvl="1"/>
            <a:r>
              <a:rPr lang="en-US" altLang="zh-CN">
                <a:ea typeface="宋体" panose="02010600030101010101" pitchFamily="2" charset="-122"/>
              </a:rPr>
              <a:t>TCP sliding window </a:t>
            </a:r>
            <a:r>
              <a:rPr lang="en-US" altLang="zh-CN">
                <a:solidFill>
                  <a:srgbClr val="0000FF"/>
                </a:solidFill>
                <a:ea typeface="宋体" panose="02010600030101010101" pitchFamily="2" charset="-122"/>
              </a:rPr>
              <a:t>»</a:t>
            </a:r>
            <a:endParaRPr lang="en-US" altLang="zh-CN">
              <a:ea typeface="宋体" panose="02010600030101010101" pitchFamily="2" charset="-122"/>
            </a:endParaRPr>
          </a:p>
          <a:p>
            <a:pPr lvl="1"/>
            <a:r>
              <a:rPr lang="en-US" altLang="zh-CN">
                <a:ea typeface="宋体" panose="02010600030101010101" pitchFamily="2" charset="-122"/>
              </a:rPr>
              <a:t>TCP timer management </a:t>
            </a:r>
            <a:r>
              <a:rPr lang="en-US" altLang="zh-CN">
                <a:solidFill>
                  <a:srgbClr val="0000FF"/>
                </a:solidFill>
                <a:ea typeface="宋体" panose="02010600030101010101" pitchFamily="2" charset="-122"/>
              </a:rPr>
              <a:t>»</a:t>
            </a:r>
            <a:endParaRPr lang="en-US" altLang="zh-CN">
              <a:ea typeface="宋体" panose="02010600030101010101" pitchFamily="2" charset="-122"/>
            </a:endParaRPr>
          </a:p>
          <a:p>
            <a:pPr lvl="1"/>
            <a:r>
              <a:rPr lang="en-US" altLang="zh-CN">
                <a:ea typeface="宋体" panose="02010600030101010101" pitchFamily="2" charset="-122"/>
              </a:rPr>
              <a:t>TCP congestion control </a:t>
            </a:r>
            <a:r>
              <a:rPr lang="en-US" altLang="zh-CN">
                <a:solidFill>
                  <a:srgbClr val="0000FF"/>
                </a:solidFill>
                <a:ea typeface="宋体" panose="02010600030101010101" pitchFamily="2" charset="-122"/>
              </a:rPr>
              <a:t>»</a:t>
            </a:r>
            <a:endParaRPr lang="en-US" altLang="zh-CN">
              <a:ea typeface="宋体" panose="02010600030101010101" pitchFamily="2" charset="-122"/>
            </a:endParaRPr>
          </a:p>
        </p:txBody>
      </p:sp>
      <p:sp>
        <p:nvSpPr>
          <p:cNvPr id="5" name="矩形 4">
            <a:extLst>
              <a:ext uri="{FF2B5EF4-FFF2-40B4-BE49-F238E27FC236}">
                <a16:creationId xmlns:a16="http://schemas.microsoft.com/office/drawing/2014/main" id="{EED1443A-4764-47F2-9DD7-EEB748D1A4C9}"/>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Internet Protocols – TCP</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5" name="矩形 4">
            <a:extLst>
              <a:ext uri="{FF2B5EF4-FFF2-40B4-BE49-F238E27FC236}">
                <a16:creationId xmlns:a16="http://schemas.microsoft.com/office/drawing/2014/main" id="{EED1443A-4764-47F2-9DD7-EEB748D1A4C9}"/>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TCP Overview</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A1C90650-8DC3-4D5C-963B-F08DF1CA0DB9}"/>
              </a:ext>
            </a:extLst>
          </p:cNvPr>
          <p:cNvPicPr>
            <a:picLocks noChangeAspect="1"/>
          </p:cNvPicPr>
          <p:nvPr/>
        </p:nvPicPr>
        <p:blipFill>
          <a:blip r:embed="rId3"/>
          <a:stretch>
            <a:fillRect/>
          </a:stretch>
        </p:blipFill>
        <p:spPr>
          <a:xfrm>
            <a:off x="1373746" y="1044708"/>
            <a:ext cx="8809345" cy="5333318"/>
          </a:xfrm>
          <a:prstGeom prst="rect">
            <a:avLst/>
          </a:prstGeom>
        </p:spPr>
      </p:pic>
    </p:spTree>
    <p:extLst>
      <p:ext uri="{BB962C8B-B14F-4D97-AF65-F5344CB8AC3E}">
        <p14:creationId xmlns:p14="http://schemas.microsoft.com/office/powerpoint/2010/main" val="397030833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64516" name="Rectangle 3"/>
          <p:cNvSpPr>
            <a:spLocks noGrp="1" noChangeArrowheads="1"/>
          </p:cNvSpPr>
          <p:nvPr>
            <p:ph idx="1"/>
          </p:nvPr>
        </p:nvSpPr>
        <p:spPr>
          <a:xfrm>
            <a:off x="1128712" y="1040614"/>
            <a:ext cx="10327564" cy="1445083"/>
          </a:xfrm>
        </p:spPr>
        <p:txBody>
          <a:bodyPr/>
          <a:lstStyle/>
          <a:p>
            <a:r>
              <a:rPr lang="en-US" altLang="zh-CN" dirty="0">
                <a:ea typeface="宋体" panose="02010600030101010101" pitchFamily="2" charset="-122"/>
              </a:rPr>
              <a:t>TCP provides applications with a </a:t>
            </a:r>
            <a:r>
              <a:rPr lang="en-US" altLang="zh-CN" b="1" dirty="0">
                <a:solidFill>
                  <a:srgbClr val="0000FF"/>
                </a:solidFill>
                <a:ea typeface="宋体" panose="02010600030101010101" pitchFamily="2" charset="-122"/>
              </a:rPr>
              <a:t>reliable byte stream </a:t>
            </a:r>
            <a:r>
              <a:rPr lang="en-US" altLang="zh-CN" dirty="0">
                <a:ea typeface="宋体" panose="02010600030101010101" pitchFamily="2" charset="-122"/>
              </a:rPr>
              <a:t>between </a:t>
            </a:r>
            <a:r>
              <a:rPr lang="en-US" altLang="zh-CN" b="1" dirty="0">
                <a:solidFill>
                  <a:srgbClr val="0000FF"/>
                </a:solidFill>
                <a:ea typeface="宋体" panose="02010600030101010101" pitchFamily="2" charset="-122"/>
              </a:rPr>
              <a:t>processes</a:t>
            </a:r>
            <a:r>
              <a:rPr lang="en-US" altLang="zh-CN" dirty="0">
                <a:ea typeface="宋体" panose="02010600030101010101" pitchFamily="2" charset="-122"/>
              </a:rPr>
              <a:t>; it is the workhorse of the Internet</a:t>
            </a:r>
          </a:p>
          <a:p>
            <a:pPr lvl="1"/>
            <a:r>
              <a:rPr lang="en-US" altLang="zh-CN" dirty="0">
                <a:ea typeface="宋体" panose="02010600030101010101" pitchFamily="2" charset="-122"/>
              </a:rPr>
              <a:t>Popular servers run on well-known ports </a:t>
            </a:r>
          </a:p>
        </p:txBody>
      </p:sp>
      <p:pic>
        <p:nvPicPr>
          <p:cNvPr id="6451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68473" y="2645233"/>
            <a:ext cx="564515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2B8D588B-EEE8-4A29-B029-AD4E81A7C6E3}"/>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The TCP Service Model (1)</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65540" name="Rectangle 3"/>
          <p:cNvSpPr>
            <a:spLocks noGrp="1" noChangeArrowheads="1"/>
          </p:cNvSpPr>
          <p:nvPr>
            <p:ph idx="1"/>
          </p:nvPr>
        </p:nvSpPr>
        <p:spPr>
          <a:xfrm>
            <a:off x="1133779" y="1094913"/>
            <a:ext cx="10217595" cy="1991915"/>
          </a:xfrm>
        </p:spPr>
        <p:txBody>
          <a:bodyPr>
            <a:normAutofit fontScale="92500" lnSpcReduction="10000"/>
          </a:bodyPr>
          <a:lstStyle/>
          <a:p>
            <a:pPr>
              <a:lnSpc>
                <a:spcPct val="120000"/>
              </a:lnSpc>
            </a:pPr>
            <a:r>
              <a:rPr lang="en-US" altLang="zh-CN" dirty="0">
                <a:ea typeface="宋体" panose="02010600030101010101" pitchFamily="2" charset="-122"/>
              </a:rPr>
              <a:t>A TCP connection is a byte stream, not a message stream. Message boundaries are not preserved end to end.</a:t>
            </a:r>
          </a:p>
          <a:p>
            <a:pPr>
              <a:lnSpc>
                <a:spcPct val="120000"/>
              </a:lnSpc>
            </a:pPr>
            <a:r>
              <a:rPr lang="en-US" altLang="zh-CN" dirty="0">
                <a:ea typeface="宋体" panose="02010600030101010101" pitchFamily="2" charset="-122"/>
              </a:rPr>
              <a:t>Applications using TCP see only the </a:t>
            </a:r>
            <a:r>
              <a:rPr lang="en-US" altLang="zh-CN" b="1" dirty="0">
                <a:solidFill>
                  <a:srgbClr val="0000FF"/>
                </a:solidFill>
                <a:ea typeface="宋体" panose="02010600030101010101" pitchFamily="2" charset="-122"/>
              </a:rPr>
              <a:t>byte stream </a:t>
            </a:r>
            <a:r>
              <a:rPr lang="en-US" altLang="zh-CN" dirty="0">
                <a:ea typeface="宋体" panose="02010600030101010101" pitchFamily="2" charset="-122"/>
              </a:rPr>
              <a:t>[right] and not the segments [left] sent as separate IP packets</a:t>
            </a:r>
          </a:p>
          <a:p>
            <a:pPr>
              <a:lnSpc>
                <a:spcPct val="120000"/>
              </a:lnSpc>
            </a:pPr>
            <a:endParaRPr lang="en-US" altLang="zh-CN" dirty="0">
              <a:ea typeface="宋体" panose="02010600030101010101" pitchFamily="2" charset="-122"/>
            </a:endParaRPr>
          </a:p>
        </p:txBody>
      </p:sp>
      <p:pic>
        <p:nvPicPr>
          <p:cNvPr id="65541" name="Picture 2"/>
          <p:cNvPicPr>
            <a:picLocks noChangeAspect="1" noChangeArrowheads="1"/>
          </p:cNvPicPr>
          <p:nvPr/>
        </p:nvPicPr>
        <p:blipFill>
          <a:blip r:embed="rId3">
            <a:extLst>
              <a:ext uri="{28A0092B-C50C-407E-A947-70E740481C1C}">
                <a14:useLocalDpi xmlns:a14="http://schemas.microsoft.com/office/drawing/2010/main" val="0"/>
              </a:ext>
            </a:extLst>
          </a:blip>
          <a:srcRect b="23296"/>
          <a:stretch>
            <a:fillRect/>
          </a:stretch>
        </p:blipFill>
        <p:spPr bwMode="auto">
          <a:xfrm>
            <a:off x="1804351" y="3429000"/>
            <a:ext cx="5394325" cy="135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2" name="Picture 3"/>
          <p:cNvPicPr>
            <a:picLocks noChangeAspect="1" noChangeArrowheads="1"/>
          </p:cNvPicPr>
          <p:nvPr/>
        </p:nvPicPr>
        <p:blipFill>
          <a:blip r:embed="rId4">
            <a:extLst>
              <a:ext uri="{28A0092B-C50C-407E-A947-70E740481C1C}">
                <a14:useLocalDpi xmlns:a14="http://schemas.microsoft.com/office/drawing/2010/main" val="0"/>
              </a:ext>
            </a:extLst>
          </a:blip>
          <a:srcRect b="29655"/>
          <a:stretch>
            <a:fillRect/>
          </a:stretch>
        </p:blipFill>
        <p:spPr bwMode="auto">
          <a:xfrm>
            <a:off x="7474901" y="3833812"/>
            <a:ext cx="2195513"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3" name="TextBox 9"/>
          <p:cNvSpPr txBox="1">
            <a:spLocks noChangeArrowheads="1"/>
          </p:cNvSpPr>
          <p:nvPr/>
        </p:nvSpPr>
        <p:spPr bwMode="auto">
          <a:xfrm>
            <a:off x="2423475" y="5121275"/>
            <a:ext cx="39243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a:solidFill>
                  <a:srgbClr val="FF2BD8"/>
                </a:solidFill>
                <a:ea typeface="宋体" panose="02010600030101010101" pitchFamily="2" charset="-122"/>
              </a:rPr>
              <a:t>Four segments, each with 512 bytes of data and carried in an IP packet</a:t>
            </a:r>
          </a:p>
        </p:txBody>
      </p:sp>
      <p:sp>
        <p:nvSpPr>
          <p:cNvPr id="65544" name="TextBox 10"/>
          <p:cNvSpPr txBox="1">
            <a:spLocks noChangeArrowheads="1"/>
          </p:cNvSpPr>
          <p:nvPr/>
        </p:nvSpPr>
        <p:spPr bwMode="auto">
          <a:xfrm>
            <a:off x="7300276" y="5130801"/>
            <a:ext cx="2657475"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a:solidFill>
                  <a:srgbClr val="FF2BD8"/>
                </a:solidFill>
                <a:ea typeface="宋体" panose="02010600030101010101" pitchFamily="2" charset="-122"/>
              </a:rPr>
              <a:t>2048 bytes of data delivered to application in a single READ call</a:t>
            </a:r>
          </a:p>
        </p:txBody>
      </p:sp>
      <p:cxnSp>
        <p:nvCxnSpPr>
          <p:cNvPr id="65545" name="Straight Arrow Connector 12"/>
          <p:cNvCxnSpPr>
            <a:cxnSpLocks noChangeShapeType="1"/>
          </p:cNvCxnSpPr>
          <p:nvPr/>
        </p:nvCxnSpPr>
        <p:spPr bwMode="auto">
          <a:xfrm rot="5400000" flipH="1" flipV="1">
            <a:off x="8486932" y="4953794"/>
            <a:ext cx="295275" cy="1588"/>
          </a:xfrm>
          <a:prstGeom prst="straightConnector1">
            <a:avLst/>
          </a:prstGeom>
          <a:noFill/>
          <a:ln w="19050" algn="ctr">
            <a:solidFill>
              <a:schemeClr val="tx1"/>
            </a:solidFill>
            <a:round/>
            <a:headEnd/>
            <a:tailEnd type="arrow" w="med" len="med"/>
          </a:ln>
        </p:spPr>
      </p:cxnSp>
      <p:cxnSp>
        <p:nvCxnSpPr>
          <p:cNvPr id="65546" name="Straight Arrow Connector 13"/>
          <p:cNvCxnSpPr>
            <a:cxnSpLocks noChangeShapeType="1"/>
          </p:cNvCxnSpPr>
          <p:nvPr/>
        </p:nvCxnSpPr>
        <p:spPr bwMode="auto">
          <a:xfrm rot="5400000" flipH="1" flipV="1">
            <a:off x="2990214" y="4953001"/>
            <a:ext cx="295275" cy="3175"/>
          </a:xfrm>
          <a:prstGeom prst="straightConnector1">
            <a:avLst/>
          </a:prstGeom>
          <a:noFill/>
          <a:ln w="19050" algn="ctr">
            <a:solidFill>
              <a:schemeClr val="tx1"/>
            </a:solidFill>
            <a:round/>
            <a:headEnd/>
            <a:tailEnd type="arrow" w="med" len="med"/>
          </a:ln>
        </p:spPr>
      </p:cxnSp>
      <p:cxnSp>
        <p:nvCxnSpPr>
          <p:cNvPr id="65547" name="Straight Arrow Connector 14"/>
          <p:cNvCxnSpPr>
            <a:cxnSpLocks noChangeShapeType="1"/>
          </p:cNvCxnSpPr>
          <p:nvPr/>
        </p:nvCxnSpPr>
        <p:spPr bwMode="auto">
          <a:xfrm rot="5400000" flipH="1" flipV="1">
            <a:off x="5629432" y="4953794"/>
            <a:ext cx="295275" cy="1588"/>
          </a:xfrm>
          <a:prstGeom prst="straightConnector1">
            <a:avLst/>
          </a:prstGeom>
          <a:noFill/>
          <a:ln w="19050" algn="ctr">
            <a:solidFill>
              <a:schemeClr val="tx1"/>
            </a:solidFill>
            <a:round/>
            <a:headEnd/>
            <a:tailEnd type="arrow" w="med" len="med"/>
          </a:ln>
        </p:spPr>
      </p:cxnSp>
      <p:sp>
        <p:nvSpPr>
          <p:cNvPr id="12" name="矩形 11">
            <a:extLst>
              <a:ext uri="{FF2B5EF4-FFF2-40B4-BE49-F238E27FC236}">
                <a16:creationId xmlns:a16="http://schemas.microsoft.com/office/drawing/2014/main" id="{978265A1-9D53-4E38-9F2B-C6849A288DBE}"/>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The TCP Service Model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66564" name="Rectangle 3"/>
          <p:cNvSpPr>
            <a:spLocks noGrp="1" noChangeArrowheads="1"/>
          </p:cNvSpPr>
          <p:nvPr>
            <p:ph idx="1"/>
          </p:nvPr>
        </p:nvSpPr>
        <p:spPr>
          <a:xfrm>
            <a:off x="368011" y="898640"/>
            <a:ext cx="11455977" cy="897459"/>
          </a:xfrm>
        </p:spPr>
        <p:txBody>
          <a:bodyPr>
            <a:normAutofit/>
          </a:bodyPr>
          <a:lstStyle/>
          <a:p>
            <a:pPr>
              <a:lnSpc>
                <a:spcPct val="100000"/>
              </a:lnSpc>
            </a:pPr>
            <a:r>
              <a:rPr lang="en-US" altLang="zh-CN" sz="2400" dirty="0">
                <a:ea typeface="宋体" panose="02010600030101010101" pitchFamily="2" charset="-122"/>
              </a:rPr>
              <a:t>TCP header includes addressing (ports), sliding window (seq. / ack. number), flow control (window), error control (checksum) and more.</a:t>
            </a:r>
          </a:p>
        </p:txBody>
      </p:sp>
      <p:pic>
        <p:nvPicPr>
          <p:cNvPr id="6656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6359" y="1723137"/>
            <a:ext cx="7212698" cy="4607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1CE54BEA-440C-4B6E-BA4A-CC27DA3711FE}"/>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The TCP Segment Header</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a:t>Computer Networks, Chapter 6 The Transport Layer</a:t>
            </a:r>
            <a:endParaRPr lang="en-US" altLang="zh-CN" i="0"/>
          </a:p>
        </p:txBody>
      </p:sp>
      <p:sp>
        <p:nvSpPr>
          <p:cNvPr id="9" name="矩形 8">
            <a:extLst>
              <a:ext uri="{FF2B5EF4-FFF2-40B4-BE49-F238E27FC236}">
                <a16:creationId xmlns:a16="http://schemas.microsoft.com/office/drawing/2014/main" id="{FD34843B-F3FF-4361-874D-ACE42B00B48F}"/>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About Sequence Number and Window Size</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10" name="图片 9">
            <a:extLst>
              <a:ext uri="{FF2B5EF4-FFF2-40B4-BE49-F238E27FC236}">
                <a16:creationId xmlns:a16="http://schemas.microsoft.com/office/drawing/2014/main" id="{3FCD4BE0-AE13-4B98-B22C-CE4B0B09597C}"/>
              </a:ext>
            </a:extLst>
          </p:cNvPr>
          <p:cNvPicPr>
            <a:picLocks noChangeAspect="1"/>
          </p:cNvPicPr>
          <p:nvPr/>
        </p:nvPicPr>
        <p:blipFill>
          <a:blip r:embed="rId2"/>
          <a:stretch>
            <a:fillRect/>
          </a:stretch>
        </p:blipFill>
        <p:spPr>
          <a:xfrm>
            <a:off x="230258" y="1102505"/>
            <a:ext cx="7616684" cy="5206854"/>
          </a:xfrm>
          <a:prstGeom prst="rect">
            <a:avLst/>
          </a:prstGeom>
        </p:spPr>
      </p:pic>
      <p:pic>
        <p:nvPicPr>
          <p:cNvPr id="12" name="图片 11">
            <a:extLst>
              <a:ext uri="{FF2B5EF4-FFF2-40B4-BE49-F238E27FC236}">
                <a16:creationId xmlns:a16="http://schemas.microsoft.com/office/drawing/2014/main" id="{4E81C175-D25F-4078-8DC4-D62140836A02}"/>
              </a:ext>
            </a:extLst>
          </p:cNvPr>
          <p:cNvPicPr>
            <a:picLocks noChangeAspect="1"/>
          </p:cNvPicPr>
          <p:nvPr/>
        </p:nvPicPr>
        <p:blipFill>
          <a:blip r:embed="rId3"/>
          <a:stretch>
            <a:fillRect/>
          </a:stretch>
        </p:blipFill>
        <p:spPr>
          <a:xfrm>
            <a:off x="8153400" y="1770450"/>
            <a:ext cx="3987800" cy="3870965"/>
          </a:xfrm>
          <a:prstGeom prst="rect">
            <a:avLst/>
          </a:prstGeom>
        </p:spPr>
      </p:pic>
    </p:spTree>
    <p:extLst>
      <p:ext uri="{BB962C8B-B14F-4D97-AF65-F5344CB8AC3E}">
        <p14:creationId xmlns:p14="http://schemas.microsoft.com/office/powerpoint/2010/main" val="356011177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61357" y="914401"/>
            <a:ext cx="11231593" cy="2514599"/>
          </a:xfrm>
        </p:spPr>
        <p:txBody>
          <a:bodyPr/>
          <a:lstStyle/>
          <a:p>
            <a:pPr marL="342900" indent="-342900"/>
            <a:r>
              <a:rPr lang="en-US" altLang="zh-CN" sz="2000" dirty="0"/>
              <a:t>Make sure the sequence number does not wrap around within the maximum segment lifetime (MSL). This depends on how fast data can be transmitted over the Internet.</a:t>
            </a:r>
          </a:p>
          <a:p>
            <a:pPr marL="800100" lvl="1" indent="-342900"/>
            <a:r>
              <a:rPr lang="en-US" altLang="zh-CN" sz="1800" dirty="0"/>
              <a:t>For 32-bit sequence number space (TCP), IETF define an extension to extend the sequence number space to protect against the sequence number wrapping around.</a:t>
            </a:r>
          </a:p>
          <a:p>
            <a:pPr marL="342900" indent="-342900"/>
            <a:r>
              <a:rPr lang="en-US" altLang="zh-CN" sz="2000" dirty="0"/>
              <a:t>Keep the pipe full: the bandwidth delay product indicates how big Window Size (Advertised Window) field needs to be.</a:t>
            </a:r>
          </a:p>
          <a:p>
            <a:pPr marL="800100" lvl="1" indent="-342900"/>
            <a:r>
              <a:rPr lang="en-US" altLang="zh-CN" sz="1800" dirty="0"/>
              <a:t>For 16-bit Window Size field (TCP), only 64KB is allowed. Solution: also extension to TCP.</a:t>
            </a:r>
            <a:endParaRPr lang="zh-CN" altLang="en-US" sz="1800" dirty="0"/>
          </a:p>
        </p:txBody>
      </p:sp>
      <p:sp>
        <p:nvSpPr>
          <p:cNvPr id="4" name="页脚占位符 3"/>
          <p:cNvSpPr>
            <a:spLocks noGrp="1"/>
          </p:cNvSpPr>
          <p:nvPr>
            <p:ph type="ftr" sz="quarter" idx="11"/>
          </p:nvPr>
        </p:nvSpPr>
        <p:spPr/>
        <p:txBody>
          <a:bodyPr/>
          <a:lstStyle/>
          <a:p>
            <a:r>
              <a:rPr lang="en-US" altLang="zh-CN"/>
              <a:t>Computer Networks, Chapter 6 The Transport Layer</a:t>
            </a:r>
            <a:endParaRPr lang="en-US" altLang="zh-CN" i="0"/>
          </a:p>
        </p:txBody>
      </p:sp>
      <p:pic>
        <p:nvPicPr>
          <p:cNvPr id="6" name="图片 5"/>
          <p:cNvPicPr>
            <a:picLocks noChangeAspect="1"/>
          </p:cNvPicPr>
          <p:nvPr/>
        </p:nvPicPr>
        <p:blipFill>
          <a:blip r:embed="rId2"/>
          <a:stretch>
            <a:fillRect/>
          </a:stretch>
        </p:blipFill>
        <p:spPr>
          <a:xfrm>
            <a:off x="1800760" y="3280640"/>
            <a:ext cx="3640332" cy="2862336"/>
          </a:xfrm>
          <a:prstGeom prst="rect">
            <a:avLst/>
          </a:prstGeom>
        </p:spPr>
      </p:pic>
      <p:pic>
        <p:nvPicPr>
          <p:cNvPr id="7" name="图片 6"/>
          <p:cNvPicPr>
            <a:picLocks noChangeAspect="1"/>
          </p:cNvPicPr>
          <p:nvPr/>
        </p:nvPicPr>
        <p:blipFill>
          <a:blip r:embed="rId3"/>
          <a:stretch>
            <a:fillRect/>
          </a:stretch>
        </p:blipFill>
        <p:spPr>
          <a:xfrm>
            <a:off x="5957979" y="3280640"/>
            <a:ext cx="4215440" cy="2862336"/>
          </a:xfrm>
          <a:prstGeom prst="rect">
            <a:avLst/>
          </a:prstGeom>
        </p:spPr>
      </p:pic>
      <p:sp>
        <p:nvSpPr>
          <p:cNvPr id="9" name="矩形 8">
            <a:extLst>
              <a:ext uri="{FF2B5EF4-FFF2-40B4-BE49-F238E27FC236}">
                <a16:creationId xmlns:a16="http://schemas.microsoft.com/office/drawing/2014/main" id="{FD34843B-F3FF-4361-874D-ACE42B00B48F}"/>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About Sequence Number and Window Size</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5094495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1253331"/>
            <a:ext cx="10515600" cy="4351338"/>
          </a:xfrm>
        </p:spPr>
        <p:txBody>
          <a:bodyPr>
            <a:normAutofit/>
          </a:bodyPr>
          <a:lstStyle/>
          <a:p>
            <a:r>
              <a:rPr lang="en-US" altLang="zh-CN" sz="2400" dirty="0"/>
              <a:t>Suppose TCP operates over a 40-Gbps STS-768 link.</a:t>
            </a:r>
          </a:p>
          <a:p>
            <a:r>
              <a:rPr lang="en-US" altLang="zh-CN" sz="2400" dirty="0"/>
              <a:t>(a) Assuming TCP could utilize the full bandwidth continuously, how long would it take the sequence numbers to wrap around completely?</a:t>
            </a:r>
          </a:p>
          <a:p>
            <a:r>
              <a:rPr lang="en-US" altLang="zh-CN" sz="2400" dirty="0"/>
              <a:t>(b) Suppose an added 32-bit timestamp field which increments 1000 times during the wraparound time you found above. How long would it take for the timestamp to wrap around?</a:t>
            </a:r>
          </a:p>
          <a:p>
            <a:r>
              <a:rPr lang="en-US" altLang="zh-CN" sz="2400" dirty="0">
                <a:solidFill>
                  <a:srgbClr val="FF0000"/>
                </a:solidFill>
              </a:rPr>
              <a:t>Solution:</a:t>
            </a:r>
          </a:p>
          <a:p>
            <a:r>
              <a:rPr lang="en-US" altLang="zh-CN" sz="2400" dirty="0"/>
              <a:t>(a) 2</a:t>
            </a:r>
            <a:r>
              <a:rPr lang="en-US" altLang="zh-CN" sz="2400" baseline="30000" dirty="0"/>
              <a:t>32</a:t>
            </a:r>
            <a:r>
              <a:rPr lang="en-US" altLang="zh-CN" sz="2400" dirty="0"/>
              <a:t> Bytes / (40/8) </a:t>
            </a:r>
            <a:r>
              <a:rPr lang="en-US" altLang="zh-CN" sz="2400" dirty="0" err="1"/>
              <a:t>GBps</a:t>
            </a:r>
            <a:r>
              <a:rPr lang="en-US" altLang="zh-CN" sz="2400" dirty="0"/>
              <a:t> = 859 </a:t>
            </a:r>
            <a:r>
              <a:rPr lang="en-US" altLang="zh-CN" sz="2400" dirty="0" err="1"/>
              <a:t>ms</a:t>
            </a:r>
            <a:endParaRPr lang="en-US" altLang="zh-CN" sz="2400" dirty="0"/>
          </a:p>
          <a:p>
            <a:r>
              <a:rPr lang="en-US" altLang="zh-CN" sz="2400" dirty="0"/>
              <a:t>(b) 1000 ticks in 859 </a:t>
            </a:r>
            <a:r>
              <a:rPr lang="en-US" altLang="zh-CN" sz="2400" dirty="0" err="1"/>
              <a:t>ms</a:t>
            </a:r>
            <a:r>
              <a:rPr lang="en-US" altLang="zh-CN" sz="2400" dirty="0"/>
              <a:t>, 1 tick in 859 </a:t>
            </a:r>
            <a:r>
              <a:rPr lang="el-GR" altLang="zh-CN" sz="2400" dirty="0">
                <a:latin typeface="Lucida Sans Unicode" panose="020B0602030504020204" pitchFamily="34" charset="0"/>
                <a:cs typeface="Lucida Sans Unicode" panose="020B0602030504020204" pitchFamily="34" charset="0"/>
              </a:rPr>
              <a:t>μ</a:t>
            </a:r>
            <a:r>
              <a:rPr lang="en-US" altLang="zh-CN" sz="2400" dirty="0">
                <a:latin typeface="Lucida Sans Unicode" panose="020B0602030504020204" pitchFamily="34" charset="0"/>
                <a:cs typeface="Lucida Sans Unicode" panose="020B0602030504020204" pitchFamily="34" charset="0"/>
              </a:rPr>
              <a:t>s</a:t>
            </a:r>
            <a:r>
              <a:rPr lang="en-US" altLang="zh-CN" sz="2400" dirty="0"/>
              <a:t>. 2</a:t>
            </a:r>
            <a:r>
              <a:rPr lang="en-US" altLang="zh-CN" sz="2400" baseline="30000" dirty="0"/>
              <a:t>32</a:t>
            </a:r>
            <a:r>
              <a:rPr lang="en-US" altLang="zh-CN" sz="2400" dirty="0"/>
              <a:t> * 859 </a:t>
            </a:r>
            <a:r>
              <a:rPr lang="el-GR" altLang="zh-CN" sz="2400" dirty="0">
                <a:latin typeface="Lucida Sans Unicode" panose="020B0602030504020204" pitchFamily="34" charset="0"/>
                <a:cs typeface="Lucida Sans Unicode" panose="020B0602030504020204" pitchFamily="34" charset="0"/>
              </a:rPr>
              <a:t>μ</a:t>
            </a:r>
            <a:r>
              <a:rPr lang="en-US" altLang="zh-CN" sz="2400" dirty="0">
                <a:latin typeface="Lucida Sans Unicode" panose="020B0602030504020204" pitchFamily="34" charset="0"/>
                <a:cs typeface="Lucida Sans Unicode" panose="020B0602030504020204" pitchFamily="34" charset="0"/>
              </a:rPr>
              <a:t>s = 3.7Ms,  approximately 43 days</a:t>
            </a:r>
          </a:p>
        </p:txBody>
      </p:sp>
      <p:sp>
        <p:nvSpPr>
          <p:cNvPr id="4" name="页脚占位符 3"/>
          <p:cNvSpPr>
            <a:spLocks noGrp="1"/>
          </p:cNvSpPr>
          <p:nvPr>
            <p:ph type="ftr" sz="quarter" idx="11"/>
          </p:nvPr>
        </p:nvSpPr>
        <p:spPr/>
        <p:txBody>
          <a:bodyPr/>
          <a:lstStyle/>
          <a:p>
            <a:pPr>
              <a:defRPr/>
            </a:pPr>
            <a:r>
              <a:rPr lang="en-US"/>
              <a:t>Computer Networks, Chapter 6 The Transport Layer</a:t>
            </a:r>
            <a:endParaRPr lang="en-US" dirty="0"/>
          </a:p>
        </p:txBody>
      </p:sp>
      <p:sp>
        <p:nvSpPr>
          <p:cNvPr id="5" name="矩形 4">
            <a:extLst>
              <a:ext uri="{FF2B5EF4-FFF2-40B4-BE49-F238E27FC236}">
                <a16:creationId xmlns:a16="http://schemas.microsoft.com/office/drawing/2014/main" id="{5B35E0C5-6951-49A3-A955-0A789A772885}"/>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Exercise 1</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14800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63515" y="1089503"/>
            <a:ext cx="10864970" cy="5147668"/>
          </a:xfrm>
        </p:spPr>
        <p:txBody>
          <a:bodyPr>
            <a:noAutofit/>
          </a:bodyPr>
          <a:lstStyle/>
          <a:p>
            <a:r>
              <a:rPr lang="en-US" altLang="zh-CN" sz="2400" dirty="0"/>
              <a:t>You are hired to design a reliable byte-stream protocol that uses a sliding window (like TCP). This protocol will run over a 1-Gbps network. The RTT of the network is 140 </a:t>
            </a:r>
            <a:r>
              <a:rPr lang="en-US" altLang="zh-CN" sz="2400" dirty="0" err="1"/>
              <a:t>ms</a:t>
            </a:r>
            <a:r>
              <a:rPr lang="en-US" altLang="zh-CN" sz="2400" dirty="0"/>
              <a:t>, and the maximum segment lifetime is 60 seconds. How many bits would you include in the </a:t>
            </a:r>
            <a:r>
              <a:rPr lang="en-US" altLang="zh-CN" sz="2400" dirty="0" err="1"/>
              <a:t>AdvertisedWindow</a:t>
            </a:r>
            <a:r>
              <a:rPr lang="en-US" altLang="zh-CN" sz="2400" dirty="0"/>
              <a:t> and </a:t>
            </a:r>
            <a:r>
              <a:rPr lang="en-US" altLang="zh-CN" sz="2400" dirty="0" err="1"/>
              <a:t>SequenceNum</a:t>
            </a:r>
            <a:r>
              <a:rPr lang="en-US" altLang="zh-CN" sz="2400" dirty="0"/>
              <a:t> fields of your protocol header?</a:t>
            </a:r>
          </a:p>
          <a:p>
            <a:r>
              <a:rPr lang="en-US" altLang="zh-CN" sz="2400" dirty="0">
                <a:solidFill>
                  <a:srgbClr val="FF0000"/>
                </a:solidFill>
              </a:rPr>
              <a:t>Solution:</a:t>
            </a:r>
          </a:p>
          <a:p>
            <a:pPr marL="342900" indent="-342900"/>
            <a:r>
              <a:rPr lang="en-US" altLang="zh-CN" sz="2400" dirty="0"/>
              <a:t>The </a:t>
            </a:r>
            <a:r>
              <a:rPr lang="en-US" altLang="zh-CN" sz="2400" dirty="0" err="1"/>
              <a:t>AdvertisedWindow</a:t>
            </a:r>
            <a:r>
              <a:rPr lang="en-US" altLang="zh-CN" sz="2400" dirty="0"/>
              <a:t> should be large enough to keep the pipe full.</a:t>
            </a:r>
          </a:p>
          <a:p>
            <a:pPr lvl="1" indent="0">
              <a:buNone/>
            </a:pPr>
            <a:r>
              <a:rPr lang="en-US" altLang="zh-CN" dirty="0"/>
              <a:t>Bandwidth Delay (RTT) Product = 1Gbps * 140 </a:t>
            </a:r>
            <a:r>
              <a:rPr lang="en-US" altLang="zh-CN" dirty="0" err="1"/>
              <a:t>ms</a:t>
            </a:r>
            <a:r>
              <a:rPr lang="en-US" altLang="zh-CN" dirty="0"/>
              <a:t> = 17.5 Mbytes</a:t>
            </a:r>
          </a:p>
          <a:p>
            <a:pPr lvl="1" indent="0">
              <a:buNone/>
            </a:pPr>
            <a:r>
              <a:rPr lang="en-US" altLang="zh-CN" dirty="0" err="1"/>
              <a:t>AdvertisedWindow</a:t>
            </a:r>
            <a:r>
              <a:rPr lang="en-US" altLang="zh-CN" dirty="0"/>
              <a:t> filed: 25 bits</a:t>
            </a:r>
          </a:p>
          <a:p>
            <a:pPr marL="342900" indent="-342900"/>
            <a:r>
              <a:rPr lang="en-US" altLang="zh-CN" sz="2400" dirty="0"/>
              <a:t>The sequence number must not wrap around within the maximum segment lifetime.</a:t>
            </a:r>
          </a:p>
          <a:p>
            <a:pPr lvl="1" indent="0">
              <a:buNone/>
            </a:pPr>
            <a:r>
              <a:rPr lang="en-US" altLang="zh-CN" dirty="0"/>
              <a:t>1 </a:t>
            </a:r>
            <a:r>
              <a:rPr lang="en-US" altLang="zh-CN" dirty="0" err="1"/>
              <a:t>Gbps</a:t>
            </a:r>
            <a:r>
              <a:rPr lang="en-US" altLang="zh-CN" dirty="0"/>
              <a:t> * 60 s  = 60 Gb = 7.5 GB</a:t>
            </a:r>
          </a:p>
          <a:p>
            <a:pPr lvl="1" indent="0">
              <a:buNone/>
            </a:pPr>
            <a:r>
              <a:rPr lang="en-US" altLang="zh-CN" dirty="0" err="1"/>
              <a:t>SequenceNum</a:t>
            </a:r>
            <a:r>
              <a:rPr lang="en-US" altLang="zh-CN" dirty="0"/>
              <a:t> filed: 33 bits</a:t>
            </a:r>
            <a:endParaRPr lang="zh-CN" altLang="en-US" dirty="0"/>
          </a:p>
        </p:txBody>
      </p:sp>
      <p:sp>
        <p:nvSpPr>
          <p:cNvPr id="4" name="页脚占位符 3"/>
          <p:cNvSpPr>
            <a:spLocks noGrp="1"/>
          </p:cNvSpPr>
          <p:nvPr>
            <p:ph type="ftr" sz="quarter" idx="11"/>
          </p:nvPr>
        </p:nvSpPr>
        <p:spPr/>
        <p:txBody>
          <a:bodyPr/>
          <a:lstStyle/>
          <a:p>
            <a:pPr>
              <a:defRPr/>
            </a:pPr>
            <a:r>
              <a:rPr lang="en-US"/>
              <a:t>Computer Networks, Chapter 6 The Transport Layer</a:t>
            </a:r>
            <a:endParaRPr lang="en-US" dirty="0"/>
          </a:p>
        </p:txBody>
      </p:sp>
      <p:sp>
        <p:nvSpPr>
          <p:cNvPr id="5" name="矩形 4">
            <a:extLst>
              <a:ext uri="{FF2B5EF4-FFF2-40B4-BE49-F238E27FC236}">
                <a16:creationId xmlns:a16="http://schemas.microsoft.com/office/drawing/2014/main" id="{79EB8B49-05DC-4D4E-B955-CA5735A2D6D1}"/>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Exercise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11563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AB342D7C-7D9E-40BA-A0A2-AAC2C8ECA078}"/>
              </a:ext>
            </a:extLst>
          </p:cNvPr>
          <p:cNvPicPr>
            <a:picLocks noChangeAspect="1"/>
          </p:cNvPicPr>
          <p:nvPr/>
        </p:nvPicPr>
        <p:blipFill>
          <a:blip r:embed="rId2"/>
          <a:stretch>
            <a:fillRect/>
          </a:stretch>
        </p:blipFill>
        <p:spPr>
          <a:xfrm>
            <a:off x="973437" y="1137752"/>
            <a:ext cx="9681520" cy="4887128"/>
          </a:xfrm>
          <a:prstGeom prst="rect">
            <a:avLst/>
          </a:prstGeom>
        </p:spPr>
      </p:pic>
      <p:sp>
        <p:nvSpPr>
          <p:cNvPr id="6" name="页脚占位符 3">
            <a:extLst>
              <a:ext uri="{FF2B5EF4-FFF2-40B4-BE49-F238E27FC236}">
                <a16:creationId xmlns:a16="http://schemas.microsoft.com/office/drawing/2014/main" id="{0736E181-333B-4A1F-BFCE-E48D9772C9BA}"/>
              </a:ext>
            </a:extLst>
          </p:cNvPr>
          <p:cNvSpPr>
            <a:spLocks noGrp="1"/>
          </p:cNvSpPr>
          <p:nvPr>
            <p:ph type="ftr" sz="quarter" idx="11"/>
          </p:nvPr>
        </p:nvSpPr>
        <p:spPr>
          <a:xfrm>
            <a:off x="4038600" y="6356350"/>
            <a:ext cx="4114800" cy="365125"/>
          </a:xfrm>
        </p:spPr>
        <p:txBody>
          <a:bodyPr/>
          <a:lstStyle/>
          <a:p>
            <a:pPr>
              <a:defRPr/>
            </a:pPr>
            <a:r>
              <a:rPr lang="en-US"/>
              <a:t>Computer Networks, Chapter 6 The Transport Layer</a:t>
            </a:r>
            <a:endParaRPr lang="en-US" dirty="0"/>
          </a:p>
        </p:txBody>
      </p:sp>
      <p:sp>
        <p:nvSpPr>
          <p:cNvPr id="7" name="矩形 6">
            <a:extLst>
              <a:ext uri="{FF2B5EF4-FFF2-40B4-BE49-F238E27FC236}">
                <a16:creationId xmlns:a16="http://schemas.microsoft.com/office/drawing/2014/main" id="{2B9A3257-2C35-4E73-9ECE-1361425D304F}"/>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TCP round trip time (RTT), timeout</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4379207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页脚占位符 3">
            <a:extLst>
              <a:ext uri="{FF2B5EF4-FFF2-40B4-BE49-F238E27FC236}">
                <a16:creationId xmlns:a16="http://schemas.microsoft.com/office/drawing/2014/main" id="{0736E181-333B-4A1F-BFCE-E48D9772C9BA}"/>
              </a:ext>
            </a:extLst>
          </p:cNvPr>
          <p:cNvSpPr>
            <a:spLocks noGrp="1"/>
          </p:cNvSpPr>
          <p:nvPr>
            <p:ph type="ftr" sz="quarter" idx="11"/>
          </p:nvPr>
        </p:nvSpPr>
        <p:spPr>
          <a:xfrm>
            <a:off x="4038600" y="6356350"/>
            <a:ext cx="4114800" cy="365125"/>
          </a:xfrm>
        </p:spPr>
        <p:txBody>
          <a:bodyPr/>
          <a:lstStyle/>
          <a:p>
            <a:pPr>
              <a:defRPr/>
            </a:pPr>
            <a:r>
              <a:rPr lang="en-US"/>
              <a:t>Computer Networks, Chapter 6 The Transport Layer</a:t>
            </a:r>
            <a:endParaRPr lang="en-US" dirty="0"/>
          </a:p>
        </p:txBody>
      </p:sp>
      <p:sp>
        <p:nvSpPr>
          <p:cNvPr id="7" name="矩形 6">
            <a:extLst>
              <a:ext uri="{FF2B5EF4-FFF2-40B4-BE49-F238E27FC236}">
                <a16:creationId xmlns:a16="http://schemas.microsoft.com/office/drawing/2014/main" id="{2B9A3257-2C35-4E73-9ECE-1361425D304F}"/>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TCP round trip time (RTT), timeout</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grpSp>
        <p:nvGrpSpPr>
          <p:cNvPr id="9" name="组合 8">
            <a:extLst>
              <a:ext uri="{FF2B5EF4-FFF2-40B4-BE49-F238E27FC236}">
                <a16:creationId xmlns:a16="http://schemas.microsoft.com/office/drawing/2014/main" id="{8FDCDE6A-E5BB-4569-B3FC-C7E3CA3FDE41}"/>
              </a:ext>
            </a:extLst>
          </p:cNvPr>
          <p:cNvGrpSpPr/>
          <p:nvPr/>
        </p:nvGrpSpPr>
        <p:grpSpPr>
          <a:xfrm>
            <a:off x="1540334" y="1142057"/>
            <a:ext cx="8028958" cy="5579419"/>
            <a:chOff x="1540334" y="1142057"/>
            <a:chExt cx="8028958" cy="5579419"/>
          </a:xfrm>
        </p:grpSpPr>
        <p:pic>
          <p:nvPicPr>
            <p:cNvPr id="3" name="图片 2">
              <a:extLst>
                <a:ext uri="{FF2B5EF4-FFF2-40B4-BE49-F238E27FC236}">
                  <a16:creationId xmlns:a16="http://schemas.microsoft.com/office/drawing/2014/main" id="{5D78B648-2F45-474C-A46B-9AAE88B8FC81}"/>
                </a:ext>
              </a:extLst>
            </p:cNvPr>
            <p:cNvPicPr>
              <a:picLocks noChangeAspect="1"/>
            </p:cNvPicPr>
            <p:nvPr/>
          </p:nvPicPr>
          <p:blipFill>
            <a:blip r:embed="rId2"/>
            <a:stretch>
              <a:fillRect/>
            </a:stretch>
          </p:blipFill>
          <p:spPr>
            <a:xfrm>
              <a:off x="1540334" y="1142057"/>
              <a:ext cx="8015146" cy="5579418"/>
            </a:xfrm>
            <a:prstGeom prst="rect">
              <a:avLst/>
            </a:prstGeom>
          </p:spPr>
        </p:pic>
        <p:pic>
          <p:nvPicPr>
            <p:cNvPr id="8" name="图片 7">
              <a:extLst>
                <a:ext uri="{FF2B5EF4-FFF2-40B4-BE49-F238E27FC236}">
                  <a16:creationId xmlns:a16="http://schemas.microsoft.com/office/drawing/2014/main" id="{487465DB-DE00-42EC-9DA7-67E2D901617D}"/>
                </a:ext>
              </a:extLst>
            </p:cNvPr>
            <p:cNvPicPr>
              <a:picLocks noChangeAspect="1"/>
            </p:cNvPicPr>
            <p:nvPr/>
          </p:nvPicPr>
          <p:blipFill>
            <a:blip r:embed="rId3"/>
            <a:stretch>
              <a:fillRect/>
            </a:stretch>
          </p:blipFill>
          <p:spPr>
            <a:xfrm>
              <a:off x="8347864" y="6419214"/>
              <a:ext cx="1221428" cy="302262"/>
            </a:xfrm>
            <a:prstGeom prst="rect">
              <a:avLst/>
            </a:prstGeom>
          </p:spPr>
        </p:pic>
      </p:grpSp>
    </p:spTree>
    <p:extLst>
      <p:ext uri="{BB962C8B-B14F-4D97-AF65-F5344CB8AC3E}">
        <p14:creationId xmlns:p14="http://schemas.microsoft.com/office/powerpoint/2010/main" val="43752376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页脚占位符 3">
            <a:extLst>
              <a:ext uri="{FF2B5EF4-FFF2-40B4-BE49-F238E27FC236}">
                <a16:creationId xmlns:a16="http://schemas.microsoft.com/office/drawing/2014/main" id="{0736E181-333B-4A1F-BFCE-E48D9772C9BA}"/>
              </a:ext>
            </a:extLst>
          </p:cNvPr>
          <p:cNvSpPr>
            <a:spLocks noGrp="1"/>
          </p:cNvSpPr>
          <p:nvPr>
            <p:ph type="ftr" sz="quarter" idx="11"/>
          </p:nvPr>
        </p:nvSpPr>
        <p:spPr>
          <a:xfrm>
            <a:off x="4038600" y="6356350"/>
            <a:ext cx="4114800" cy="365125"/>
          </a:xfrm>
        </p:spPr>
        <p:txBody>
          <a:bodyPr/>
          <a:lstStyle/>
          <a:p>
            <a:pPr>
              <a:defRPr/>
            </a:pPr>
            <a:r>
              <a:rPr lang="en-US"/>
              <a:t>Computer Networks, Chapter 6 The Transport Layer</a:t>
            </a:r>
            <a:endParaRPr lang="en-US" dirty="0"/>
          </a:p>
        </p:txBody>
      </p:sp>
      <p:sp>
        <p:nvSpPr>
          <p:cNvPr id="7" name="矩形 6">
            <a:extLst>
              <a:ext uri="{FF2B5EF4-FFF2-40B4-BE49-F238E27FC236}">
                <a16:creationId xmlns:a16="http://schemas.microsoft.com/office/drawing/2014/main" id="{2B9A3257-2C35-4E73-9ECE-1361425D304F}"/>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TCP round trip time (RTT), timeout</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17B9D19D-49C6-4839-ACCB-35E83824F496}"/>
              </a:ext>
            </a:extLst>
          </p:cNvPr>
          <p:cNvPicPr>
            <a:picLocks noChangeAspect="1"/>
          </p:cNvPicPr>
          <p:nvPr/>
        </p:nvPicPr>
        <p:blipFill>
          <a:blip r:embed="rId2"/>
          <a:stretch>
            <a:fillRect/>
          </a:stretch>
        </p:blipFill>
        <p:spPr>
          <a:xfrm>
            <a:off x="1249327" y="1213316"/>
            <a:ext cx="9179913" cy="4657259"/>
          </a:xfrm>
          <a:prstGeom prst="rect">
            <a:avLst/>
          </a:prstGeom>
        </p:spPr>
      </p:pic>
    </p:spTree>
    <p:extLst>
      <p:ext uri="{BB962C8B-B14F-4D97-AF65-F5344CB8AC3E}">
        <p14:creationId xmlns:p14="http://schemas.microsoft.com/office/powerpoint/2010/main" val="184507100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页脚占位符 3">
            <a:extLst>
              <a:ext uri="{FF2B5EF4-FFF2-40B4-BE49-F238E27FC236}">
                <a16:creationId xmlns:a16="http://schemas.microsoft.com/office/drawing/2014/main" id="{0736E181-333B-4A1F-BFCE-E48D9772C9BA}"/>
              </a:ext>
            </a:extLst>
          </p:cNvPr>
          <p:cNvSpPr>
            <a:spLocks noGrp="1"/>
          </p:cNvSpPr>
          <p:nvPr>
            <p:ph type="ftr" sz="quarter" idx="11"/>
          </p:nvPr>
        </p:nvSpPr>
        <p:spPr>
          <a:xfrm>
            <a:off x="4038600" y="6356350"/>
            <a:ext cx="4114800" cy="365125"/>
          </a:xfrm>
        </p:spPr>
        <p:txBody>
          <a:bodyPr/>
          <a:lstStyle/>
          <a:p>
            <a:pPr>
              <a:defRPr/>
            </a:pPr>
            <a:r>
              <a:rPr lang="en-US"/>
              <a:t>Computer Networks, Chapter 6 The Transport Layer</a:t>
            </a:r>
            <a:endParaRPr lang="en-US" dirty="0"/>
          </a:p>
        </p:txBody>
      </p:sp>
      <p:sp>
        <p:nvSpPr>
          <p:cNvPr id="7" name="矩形 6">
            <a:extLst>
              <a:ext uri="{FF2B5EF4-FFF2-40B4-BE49-F238E27FC236}">
                <a16:creationId xmlns:a16="http://schemas.microsoft.com/office/drawing/2014/main" id="{2B9A3257-2C35-4E73-9ECE-1361425D304F}"/>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Connection Management</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125DD572-B58C-49E1-A87A-3079ED2646D1}"/>
              </a:ext>
            </a:extLst>
          </p:cNvPr>
          <p:cNvPicPr>
            <a:picLocks noChangeAspect="1"/>
          </p:cNvPicPr>
          <p:nvPr/>
        </p:nvPicPr>
        <p:blipFill>
          <a:blip r:embed="rId2"/>
          <a:stretch>
            <a:fillRect/>
          </a:stretch>
        </p:blipFill>
        <p:spPr>
          <a:xfrm>
            <a:off x="1447146" y="1036626"/>
            <a:ext cx="8799214" cy="5637518"/>
          </a:xfrm>
          <a:prstGeom prst="rect">
            <a:avLst/>
          </a:prstGeom>
        </p:spPr>
      </p:pic>
    </p:spTree>
    <p:extLst>
      <p:ext uri="{BB962C8B-B14F-4D97-AF65-F5344CB8AC3E}">
        <p14:creationId xmlns:p14="http://schemas.microsoft.com/office/powerpoint/2010/main" val="402639196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页脚占位符 3">
            <a:extLst>
              <a:ext uri="{FF2B5EF4-FFF2-40B4-BE49-F238E27FC236}">
                <a16:creationId xmlns:a16="http://schemas.microsoft.com/office/drawing/2014/main" id="{0736E181-333B-4A1F-BFCE-E48D9772C9BA}"/>
              </a:ext>
            </a:extLst>
          </p:cNvPr>
          <p:cNvSpPr>
            <a:spLocks noGrp="1"/>
          </p:cNvSpPr>
          <p:nvPr>
            <p:ph type="ftr" sz="quarter" idx="11"/>
          </p:nvPr>
        </p:nvSpPr>
        <p:spPr>
          <a:xfrm>
            <a:off x="4038600" y="6356350"/>
            <a:ext cx="4114800" cy="365125"/>
          </a:xfrm>
        </p:spPr>
        <p:txBody>
          <a:bodyPr/>
          <a:lstStyle/>
          <a:p>
            <a:pPr>
              <a:defRPr/>
            </a:pPr>
            <a:r>
              <a:rPr lang="en-US"/>
              <a:t>Computer Networks, Chapter 6 The Transport Layer</a:t>
            </a:r>
            <a:endParaRPr lang="en-US" dirty="0"/>
          </a:p>
        </p:txBody>
      </p:sp>
      <p:sp>
        <p:nvSpPr>
          <p:cNvPr id="7" name="矩形 6">
            <a:extLst>
              <a:ext uri="{FF2B5EF4-FFF2-40B4-BE49-F238E27FC236}">
                <a16:creationId xmlns:a16="http://schemas.microsoft.com/office/drawing/2014/main" id="{2B9A3257-2C35-4E73-9ECE-1361425D304F}"/>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Agreeing to establish a connection</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BC2DC54D-2E17-44A8-A864-1E64407B2E1E}"/>
              </a:ext>
            </a:extLst>
          </p:cNvPr>
          <p:cNvPicPr>
            <a:picLocks noChangeAspect="1"/>
          </p:cNvPicPr>
          <p:nvPr/>
        </p:nvPicPr>
        <p:blipFill>
          <a:blip r:embed="rId3"/>
          <a:stretch>
            <a:fillRect/>
          </a:stretch>
        </p:blipFill>
        <p:spPr>
          <a:xfrm>
            <a:off x="1591857" y="1145847"/>
            <a:ext cx="8378366" cy="4981732"/>
          </a:xfrm>
          <a:prstGeom prst="rect">
            <a:avLst/>
          </a:prstGeom>
        </p:spPr>
      </p:pic>
    </p:spTree>
    <p:extLst>
      <p:ext uri="{BB962C8B-B14F-4D97-AF65-F5344CB8AC3E}">
        <p14:creationId xmlns:p14="http://schemas.microsoft.com/office/powerpoint/2010/main" val="75971096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页脚占位符 3">
            <a:extLst>
              <a:ext uri="{FF2B5EF4-FFF2-40B4-BE49-F238E27FC236}">
                <a16:creationId xmlns:a16="http://schemas.microsoft.com/office/drawing/2014/main" id="{0736E181-333B-4A1F-BFCE-E48D9772C9BA}"/>
              </a:ext>
            </a:extLst>
          </p:cNvPr>
          <p:cNvSpPr>
            <a:spLocks noGrp="1"/>
          </p:cNvSpPr>
          <p:nvPr>
            <p:ph type="ftr" sz="quarter" idx="11"/>
          </p:nvPr>
        </p:nvSpPr>
        <p:spPr>
          <a:xfrm>
            <a:off x="4038600" y="6356350"/>
            <a:ext cx="4114800" cy="365125"/>
          </a:xfrm>
        </p:spPr>
        <p:txBody>
          <a:bodyPr/>
          <a:lstStyle/>
          <a:p>
            <a:pPr>
              <a:defRPr/>
            </a:pPr>
            <a:r>
              <a:rPr lang="en-US"/>
              <a:t>Computer Networks, Chapter 6 The Transport Layer</a:t>
            </a:r>
            <a:endParaRPr lang="en-US" dirty="0"/>
          </a:p>
        </p:txBody>
      </p:sp>
      <p:sp>
        <p:nvSpPr>
          <p:cNvPr id="7" name="矩形 6">
            <a:extLst>
              <a:ext uri="{FF2B5EF4-FFF2-40B4-BE49-F238E27FC236}">
                <a16:creationId xmlns:a16="http://schemas.microsoft.com/office/drawing/2014/main" id="{2B9A3257-2C35-4E73-9ECE-1361425D304F}"/>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Agreeing to establish a connection</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28F61728-F5B8-4013-943B-6F8567E91BD5}"/>
              </a:ext>
            </a:extLst>
          </p:cNvPr>
          <p:cNvPicPr>
            <a:picLocks noChangeAspect="1"/>
          </p:cNvPicPr>
          <p:nvPr/>
        </p:nvPicPr>
        <p:blipFill>
          <a:blip r:embed="rId3"/>
          <a:stretch>
            <a:fillRect/>
          </a:stretch>
        </p:blipFill>
        <p:spPr>
          <a:xfrm>
            <a:off x="1323003" y="1020274"/>
            <a:ext cx="8359593" cy="5336076"/>
          </a:xfrm>
          <a:prstGeom prst="rect">
            <a:avLst/>
          </a:prstGeom>
        </p:spPr>
      </p:pic>
    </p:spTree>
    <p:extLst>
      <p:ext uri="{BB962C8B-B14F-4D97-AF65-F5344CB8AC3E}">
        <p14:creationId xmlns:p14="http://schemas.microsoft.com/office/powerpoint/2010/main" val="42811057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68612" name="Content Placeholder 2"/>
          <p:cNvSpPr>
            <a:spLocks noGrp="1"/>
          </p:cNvSpPr>
          <p:nvPr>
            <p:ph idx="1"/>
          </p:nvPr>
        </p:nvSpPr>
        <p:spPr>
          <a:xfrm>
            <a:off x="1086928" y="1116813"/>
            <a:ext cx="10018144" cy="1064312"/>
          </a:xfrm>
        </p:spPr>
        <p:txBody>
          <a:bodyPr/>
          <a:lstStyle/>
          <a:p>
            <a:r>
              <a:rPr lang="en-US" altLang="zh-CN" dirty="0">
                <a:ea typeface="宋体" panose="02010600030101010101" pitchFamily="2" charset="-122"/>
              </a:rPr>
              <a:t>TCP sets up connections with the three-way handshake</a:t>
            </a:r>
          </a:p>
          <a:p>
            <a:pPr lvl="1"/>
            <a:r>
              <a:rPr lang="en-US" altLang="zh-CN" dirty="0">
                <a:ea typeface="宋体" panose="02010600030101010101" pitchFamily="2" charset="-122"/>
              </a:rPr>
              <a:t>Release is symmetric, also as described before</a:t>
            </a:r>
          </a:p>
        </p:txBody>
      </p:sp>
      <p:pic>
        <p:nvPicPr>
          <p:cNvPr id="68613" name="Picture 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5766" b="7613"/>
          <a:stretch>
            <a:fillRect/>
          </a:stretch>
        </p:blipFill>
        <p:spPr bwMode="auto">
          <a:xfrm>
            <a:off x="2668589" y="2409826"/>
            <a:ext cx="6854825" cy="326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4" name="TextBox 8"/>
          <p:cNvSpPr txBox="1">
            <a:spLocks noChangeArrowheads="1"/>
          </p:cNvSpPr>
          <p:nvPr/>
        </p:nvSpPr>
        <p:spPr bwMode="auto">
          <a:xfrm>
            <a:off x="2847975" y="5668964"/>
            <a:ext cx="30861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a:solidFill>
                  <a:srgbClr val="FF2BD8"/>
                </a:solidFill>
                <a:ea typeface="宋体" panose="02010600030101010101" pitchFamily="2" charset="-122"/>
              </a:rPr>
              <a:t>Normal case </a:t>
            </a:r>
          </a:p>
        </p:txBody>
      </p:sp>
      <p:sp>
        <p:nvSpPr>
          <p:cNvPr id="68615" name="TextBox 9"/>
          <p:cNvSpPr txBox="1">
            <a:spLocks noChangeArrowheads="1"/>
          </p:cNvSpPr>
          <p:nvPr/>
        </p:nvSpPr>
        <p:spPr bwMode="auto">
          <a:xfrm>
            <a:off x="5924550" y="5668964"/>
            <a:ext cx="4057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a:solidFill>
                  <a:srgbClr val="FF2BD8"/>
                </a:solidFill>
                <a:ea typeface="宋体" panose="02010600030101010101" pitchFamily="2" charset="-122"/>
              </a:rPr>
              <a:t>Simultaneous connect</a:t>
            </a:r>
          </a:p>
        </p:txBody>
      </p:sp>
      <p:sp>
        <p:nvSpPr>
          <p:cNvPr id="8" name="矩形 7">
            <a:extLst>
              <a:ext uri="{FF2B5EF4-FFF2-40B4-BE49-F238E27FC236}">
                <a16:creationId xmlns:a16="http://schemas.microsoft.com/office/drawing/2014/main" id="{19762D61-628B-495D-955F-663D38067CEB}"/>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TCP Connection Establishment: three-way handshake</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r>
              <a:rPr lang="en-US" altLang="zh-CN"/>
              <a:t>Computer Networks, Chapter 6 The Transport Layer</a:t>
            </a:r>
            <a:endParaRPr lang="en-US" altLang="zh-CN" i="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2261" y="2889250"/>
            <a:ext cx="1279525"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3436" y="2559049"/>
            <a:ext cx="1266825"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3861" y="2660650"/>
            <a:ext cx="4143375"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Group 1"/>
          <p:cNvGrpSpPr>
            <a:grpSpLocks/>
          </p:cNvGrpSpPr>
          <p:nvPr/>
        </p:nvGrpSpPr>
        <p:grpSpPr bwMode="auto">
          <a:xfrm>
            <a:off x="1910749" y="936624"/>
            <a:ext cx="8124825" cy="5405438"/>
            <a:chOff x="471823" y="1019462"/>
            <a:chExt cx="8124153" cy="5404915"/>
          </a:xfrm>
        </p:grpSpPr>
        <p:pic>
          <p:nvPicPr>
            <p:cNvPr id="9"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3728" y="2133600"/>
              <a:ext cx="123068" cy="4023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38400" y="2133600"/>
              <a:ext cx="123068" cy="4023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58732" y="2133600"/>
              <a:ext cx="123068" cy="4023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01000" y="2133600"/>
              <a:ext cx="123068" cy="4023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97497" y="6206753"/>
              <a:ext cx="404873" cy="217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2825" y="6206753"/>
              <a:ext cx="404873" cy="217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53200" y="6206753"/>
              <a:ext cx="404873" cy="217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00927" y="6206753"/>
              <a:ext cx="404873" cy="217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1823" y="1019462"/>
              <a:ext cx="8124153" cy="1407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8"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77860" y="1549399"/>
            <a:ext cx="97948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01486" y="3670299"/>
            <a:ext cx="4124325" cy="104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57035" y="4718049"/>
            <a:ext cx="41402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15586" y="3910013"/>
            <a:ext cx="1362075"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190898" y="4930774"/>
            <a:ext cx="1249362"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矩形 22">
            <a:extLst>
              <a:ext uri="{FF2B5EF4-FFF2-40B4-BE49-F238E27FC236}">
                <a16:creationId xmlns:a16="http://schemas.microsoft.com/office/drawing/2014/main" id="{13C75859-6B81-4F0C-86A3-097D7643F3B3}"/>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Connection Establishment using Three-way Handshaking</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12965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2"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right)">
                                      <p:cBhvr>
                                        <p:cTn id="11" dur="125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125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20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wipe(right)">
                                      <p:cBhvr>
                                        <p:cTn id="26" dur="2000"/>
                                        <p:tgtEl>
                                          <p:spTgt spid="1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2"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wipe(right)">
                                      <p:cBhvr>
                                        <p:cTn id="31" dur="1000"/>
                                        <p:tgtEl>
                                          <p:spTgt spid="2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wipe(left)">
                                      <p:cBhvr>
                                        <p:cTn id="36" dur="2000"/>
                                        <p:tgtEl>
                                          <p:spTgt spid="20"/>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wipe(left)">
                                      <p:cBhvr>
                                        <p:cTn id="41" dur="1000"/>
                                        <p:tgtEl>
                                          <p:spTgt spid="22"/>
                                        </p:tgtEl>
                                      </p:cBhvr>
                                    </p:animEffect>
                                  </p:childTnLst>
                                </p:cTn>
                              </p:par>
                            </p:childTnLst>
                          </p:cTn>
                        </p:par>
                      </p:childTnLst>
                    </p:cTn>
                  </p:par>
                  <p:par>
                    <p:cTn id="42" fill="hold">
                      <p:stCondLst>
                        <p:cond delay="indefinite"/>
                      </p:stCondLst>
                      <p:childTnLst>
                        <p:par>
                          <p:cTn id="43" fill="hold">
                            <p:stCondLst>
                              <p:cond delay="0"/>
                            </p:stCondLst>
                            <p:childTnLst>
                              <p:par>
                                <p:cTn id="44" presetID="26" presetClass="entr" presetSubtype="0" fill="hold" nodeType="click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wipe(down)">
                                      <p:cBhvr>
                                        <p:cTn id="46" dur="580">
                                          <p:stCondLst>
                                            <p:cond delay="0"/>
                                          </p:stCondLst>
                                        </p:cTn>
                                        <p:tgtEl>
                                          <p:spTgt spid="18"/>
                                        </p:tgtEl>
                                      </p:cBhvr>
                                    </p:animEffect>
                                    <p:anim calcmode="lin" valueType="num">
                                      <p:cBhvr>
                                        <p:cTn id="47" dur="1822" tmFilter="0,0; 0.14,0.36; 0.43,0.73; 0.71,0.91; 1.0,1.0">
                                          <p:stCondLst>
                                            <p:cond delay="0"/>
                                          </p:stCondLst>
                                        </p:cTn>
                                        <p:tgtEl>
                                          <p:spTgt spid="18"/>
                                        </p:tgtEl>
                                        <p:attrNameLst>
                                          <p:attrName>ppt_x</p:attrName>
                                        </p:attrNameLst>
                                      </p:cBhvr>
                                      <p:tavLst>
                                        <p:tav tm="0">
                                          <p:val>
                                            <p:strVal val="#ppt_x-0.25"/>
                                          </p:val>
                                        </p:tav>
                                        <p:tav tm="100000">
                                          <p:val>
                                            <p:strVal val="#ppt_x"/>
                                          </p:val>
                                        </p:tav>
                                      </p:tavLst>
                                    </p:anim>
                                    <p:anim calcmode="lin" valueType="num">
                                      <p:cBhvr>
                                        <p:cTn id="48" dur="664" tmFilter="0.0,0.0; 0.25,0.07; 0.50,0.2; 0.75,0.467; 1.0,1.0">
                                          <p:stCondLst>
                                            <p:cond delay="0"/>
                                          </p:stCondLst>
                                        </p:cTn>
                                        <p:tgtEl>
                                          <p:spTgt spid="18"/>
                                        </p:tgtEl>
                                        <p:attrNameLst>
                                          <p:attrName>ppt_y</p:attrName>
                                        </p:attrNameLst>
                                      </p:cBhvr>
                                      <p:tavLst>
                                        <p:tav tm="0" fmla="#ppt_y-sin(pi*$)/3">
                                          <p:val>
                                            <p:fltVal val="0.5"/>
                                          </p:val>
                                        </p:tav>
                                        <p:tav tm="100000">
                                          <p:val>
                                            <p:fltVal val="1"/>
                                          </p:val>
                                        </p:tav>
                                      </p:tavLst>
                                    </p:anim>
                                    <p:anim calcmode="lin" valueType="num">
                                      <p:cBhvr>
                                        <p:cTn id="49" dur="664" tmFilter="0, 0; 0.125,0.2665; 0.25,0.4; 0.375,0.465; 0.5,0.5;  0.625,0.535; 0.75,0.6; 0.875,0.7335; 1,1">
                                          <p:stCondLst>
                                            <p:cond delay="664"/>
                                          </p:stCondLst>
                                        </p:cTn>
                                        <p:tgtEl>
                                          <p:spTgt spid="18"/>
                                        </p:tgtEl>
                                        <p:attrNameLst>
                                          <p:attrName>ppt_y</p:attrName>
                                        </p:attrNameLst>
                                      </p:cBhvr>
                                      <p:tavLst>
                                        <p:tav tm="0" fmla="#ppt_y-sin(pi*$)/9">
                                          <p:val>
                                            <p:fltVal val="0"/>
                                          </p:val>
                                        </p:tav>
                                        <p:tav tm="100000">
                                          <p:val>
                                            <p:fltVal val="1"/>
                                          </p:val>
                                        </p:tav>
                                      </p:tavLst>
                                    </p:anim>
                                    <p:anim calcmode="lin" valueType="num">
                                      <p:cBhvr>
                                        <p:cTn id="50" dur="332" tmFilter="0, 0; 0.125,0.2665; 0.25,0.4; 0.375,0.465; 0.5,0.5;  0.625,0.535; 0.75,0.6; 0.875,0.7335; 1,1">
                                          <p:stCondLst>
                                            <p:cond delay="1324"/>
                                          </p:stCondLst>
                                        </p:cTn>
                                        <p:tgtEl>
                                          <p:spTgt spid="18"/>
                                        </p:tgtEl>
                                        <p:attrNameLst>
                                          <p:attrName>ppt_y</p:attrName>
                                        </p:attrNameLst>
                                      </p:cBhvr>
                                      <p:tavLst>
                                        <p:tav tm="0" fmla="#ppt_y-sin(pi*$)/27">
                                          <p:val>
                                            <p:fltVal val="0"/>
                                          </p:val>
                                        </p:tav>
                                        <p:tav tm="100000">
                                          <p:val>
                                            <p:fltVal val="1"/>
                                          </p:val>
                                        </p:tav>
                                      </p:tavLst>
                                    </p:anim>
                                    <p:anim calcmode="lin" valueType="num">
                                      <p:cBhvr>
                                        <p:cTn id="51" dur="164" tmFilter="0, 0; 0.125,0.2665; 0.25,0.4; 0.375,0.465; 0.5,0.5;  0.625,0.535; 0.75,0.6; 0.875,0.7335; 1,1">
                                          <p:stCondLst>
                                            <p:cond delay="1656"/>
                                          </p:stCondLst>
                                        </p:cTn>
                                        <p:tgtEl>
                                          <p:spTgt spid="18"/>
                                        </p:tgtEl>
                                        <p:attrNameLst>
                                          <p:attrName>ppt_y</p:attrName>
                                        </p:attrNameLst>
                                      </p:cBhvr>
                                      <p:tavLst>
                                        <p:tav tm="0" fmla="#ppt_y-sin(pi*$)/81">
                                          <p:val>
                                            <p:fltVal val="0"/>
                                          </p:val>
                                        </p:tav>
                                        <p:tav tm="100000">
                                          <p:val>
                                            <p:fltVal val="1"/>
                                          </p:val>
                                        </p:tav>
                                      </p:tavLst>
                                    </p:anim>
                                    <p:animScale>
                                      <p:cBhvr>
                                        <p:cTn id="52" dur="26">
                                          <p:stCondLst>
                                            <p:cond delay="650"/>
                                          </p:stCondLst>
                                        </p:cTn>
                                        <p:tgtEl>
                                          <p:spTgt spid="18"/>
                                        </p:tgtEl>
                                      </p:cBhvr>
                                      <p:to x="100000" y="60000"/>
                                    </p:animScale>
                                    <p:animScale>
                                      <p:cBhvr>
                                        <p:cTn id="53" dur="166" decel="50000">
                                          <p:stCondLst>
                                            <p:cond delay="676"/>
                                          </p:stCondLst>
                                        </p:cTn>
                                        <p:tgtEl>
                                          <p:spTgt spid="18"/>
                                        </p:tgtEl>
                                      </p:cBhvr>
                                      <p:to x="100000" y="100000"/>
                                    </p:animScale>
                                    <p:animScale>
                                      <p:cBhvr>
                                        <p:cTn id="54" dur="26">
                                          <p:stCondLst>
                                            <p:cond delay="1312"/>
                                          </p:stCondLst>
                                        </p:cTn>
                                        <p:tgtEl>
                                          <p:spTgt spid="18"/>
                                        </p:tgtEl>
                                      </p:cBhvr>
                                      <p:to x="100000" y="80000"/>
                                    </p:animScale>
                                    <p:animScale>
                                      <p:cBhvr>
                                        <p:cTn id="55" dur="166" decel="50000">
                                          <p:stCondLst>
                                            <p:cond delay="1338"/>
                                          </p:stCondLst>
                                        </p:cTn>
                                        <p:tgtEl>
                                          <p:spTgt spid="18"/>
                                        </p:tgtEl>
                                      </p:cBhvr>
                                      <p:to x="100000" y="100000"/>
                                    </p:animScale>
                                    <p:animScale>
                                      <p:cBhvr>
                                        <p:cTn id="56" dur="26">
                                          <p:stCondLst>
                                            <p:cond delay="1642"/>
                                          </p:stCondLst>
                                        </p:cTn>
                                        <p:tgtEl>
                                          <p:spTgt spid="18"/>
                                        </p:tgtEl>
                                      </p:cBhvr>
                                      <p:to x="100000" y="90000"/>
                                    </p:animScale>
                                    <p:animScale>
                                      <p:cBhvr>
                                        <p:cTn id="57" dur="166" decel="50000">
                                          <p:stCondLst>
                                            <p:cond delay="1668"/>
                                          </p:stCondLst>
                                        </p:cTn>
                                        <p:tgtEl>
                                          <p:spTgt spid="18"/>
                                        </p:tgtEl>
                                      </p:cBhvr>
                                      <p:to x="100000" y="100000"/>
                                    </p:animScale>
                                    <p:animScale>
                                      <p:cBhvr>
                                        <p:cTn id="58" dur="26">
                                          <p:stCondLst>
                                            <p:cond delay="1808"/>
                                          </p:stCondLst>
                                        </p:cTn>
                                        <p:tgtEl>
                                          <p:spTgt spid="18"/>
                                        </p:tgtEl>
                                      </p:cBhvr>
                                      <p:to x="100000" y="95000"/>
                                    </p:animScale>
                                    <p:animScale>
                                      <p:cBhvr>
                                        <p:cTn id="59" dur="166" decel="50000">
                                          <p:stCondLst>
                                            <p:cond delay="1834"/>
                                          </p:stCondLst>
                                        </p:cTn>
                                        <p:tgtEl>
                                          <p:spTgt spid="1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3"/>
          <p:cNvGrpSpPr>
            <a:grpSpLocks/>
          </p:cNvGrpSpPr>
          <p:nvPr/>
        </p:nvGrpSpPr>
        <p:grpSpPr bwMode="auto">
          <a:xfrm>
            <a:off x="1995489" y="821822"/>
            <a:ext cx="8124825" cy="6008556"/>
            <a:chOff x="471823" y="533534"/>
            <a:chExt cx="8124153" cy="6008691"/>
          </a:xfrm>
        </p:grpSpPr>
        <p:grpSp>
          <p:nvGrpSpPr>
            <p:cNvPr id="6" name="Group 1"/>
            <p:cNvGrpSpPr>
              <a:grpSpLocks/>
            </p:cNvGrpSpPr>
            <p:nvPr/>
          </p:nvGrpSpPr>
          <p:grpSpPr bwMode="auto">
            <a:xfrm>
              <a:off x="943728" y="1600200"/>
              <a:ext cx="7180340" cy="4671773"/>
              <a:chOff x="943728" y="1805223"/>
              <a:chExt cx="7180340" cy="4023360"/>
            </a:xfrm>
          </p:grpSpPr>
          <p:pic>
            <p:nvPicPr>
              <p:cNvPr id="1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3728" y="1805223"/>
                <a:ext cx="123068" cy="4023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1805223"/>
                <a:ext cx="123068" cy="4023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8732" y="1805223"/>
                <a:ext cx="123068" cy="4023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01000" y="1805223"/>
                <a:ext cx="123068" cy="4023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7497" y="6324600"/>
              <a:ext cx="404873" cy="21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825" y="6324600"/>
              <a:ext cx="404873" cy="21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3200" y="6324600"/>
              <a:ext cx="404873" cy="21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00927" y="6324600"/>
              <a:ext cx="404873" cy="21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9"/>
            <p:cNvPicPr>
              <a:picLocks noChangeAspect="1" noChangeArrowheads="1"/>
            </p:cNvPicPr>
            <p:nvPr/>
          </p:nvPicPr>
          <p:blipFill rotWithShape="1">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t="6473"/>
            <a:stretch/>
          </p:blipFill>
          <p:spPr bwMode="auto">
            <a:xfrm>
              <a:off x="471823" y="533534"/>
              <a:ext cx="8124153" cy="1102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6" name="Picture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49713" y="1980566"/>
            <a:ext cx="41322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00514" y="5774691"/>
            <a:ext cx="414337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7"/>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056063" y="2421890"/>
            <a:ext cx="4114800"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8"/>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038600" y="3123566"/>
            <a:ext cx="40386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10"/>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024314" y="3915728"/>
            <a:ext cx="4205287"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11"/>
          <p:cNvPicPr>
            <a:picLocks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073526" y="4738054"/>
            <a:ext cx="4156075"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313739" y="2729866"/>
            <a:ext cx="1196975"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280401" y="3452179"/>
            <a:ext cx="12795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90801" y="2423478"/>
            <a:ext cx="1368425"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1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281989" y="3852228"/>
            <a:ext cx="1228725"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93976" y="4622166"/>
            <a:ext cx="136842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313739" y="5088891"/>
            <a:ext cx="1196975"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 name="Picture 1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90800" y="4157028"/>
            <a:ext cx="1371600" cy="32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 name="Picture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93976" y="3123566"/>
            <a:ext cx="136842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 name="Picture 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852989" y="1334454"/>
            <a:ext cx="2638425"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矩形 30">
            <a:extLst>
              <a:ext uri="{FF2B5EF4-FFF2-40B4-BE49-F238E27FC236}">
                <a16:creationId xmlns:a16="http://schemas.microsoft.com/office/drawing/2014/main" id="{7E675CDB-0910-4314-AD19-480AC0C3F72A}"/>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Data Transfer</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47734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37"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barn(outVertical)">
                                      <p:cBhvr>
                                        <p:cTn id="11" dur="5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wipe(left)">
                                      <p:cBhvr>
                                        <p:cTn id="16" dur="500"/>
                                        <p:tgtEl>
                                          <p:spTgt spid="2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wipe(left)">
                                      <p:cBhvr>
                                        <p:cTn id="21" dur="500"/>
                                        <p:tgtEl>
                                          <p:spTgt spid="1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wipe(left)">
                                      <p:cBhvr>
                                        <p:cTn id="26" dur="500"/>
                                        <p:tgtEl>
                                          <p:spTgt spid="2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wipe(left)">
                                      <p:cBhvr>
                                        <p:cTn id="31" dur="500"/>
                                        <p:tgtEl>
                                          <p:spTgt spid="29"/>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wipe(left)">
                                      <p:cBhvr>
                                        <p:cTn id="36" dur="500"/>
                                        <p:tgtEl>
                                          <p:spTgt spid="19"/>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wipe(left)">
                                      <p:cBhvr>
                                        <p:cTn id="41" dur="500"/>
                                        <p:tgtEl>
                                          <p:spTgt spid="23"/>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2" fill="hold" nodeType="click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wipe(right)">
                                      <p:cBhvr>
                                        <p:cTn id="46" dur="500"/>
                                        <p:tgtEl>
                                          <p:spTgt spid="25"/>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2" fill="hold" nodeType="click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wipe(right)">
                                      <p:cBhvr>
                                        <p:cTn id="51" dur="500"/>
                                        <p:tgtEl>
                                          <p:spTgt spid="20"/>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2" fill="hold" nodeType="clickEffect">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wipe(right)">
                                      <p:cBhvr>
                                        <p:cTn id="56" dur="500"/>
                                        <p:tgtEl>
                                          <p:spTgt spid="28"/>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wipe(left)">
                                      <p:cBhvr>
                                        <p:cTn id="61" dur="500"/>
                                        <p:tgtEl>
                                          <p:spTgt spid="26"/>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wipe(left)">
                                      <p:cBhvr>
                                        <p:cTn id="66" dur="500"/>
                                        <p:tgtEl>
                                          <p:spTgt spid="21"/>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27"/>
                                        </p:tgtEl>
                                        <p:attrNameLst>
                                          <p:attrName>style.visibility</p:attrName>
                                        </p:attrNameLst>
                                      </p:cBhvr>
                                      <p:to>
                                        <p:strVal val="visible"/>
                                      </p:to>
                                    </p:set>
                                    <p:animEffect transition="in" filter="wipe(left)">
                                      <p:cBhvr>
                                        <p:cTn id="71" dur="500"/>
                                        <p:tgtEl>
                                          <p:spTgt spid="27"/>
                                        </p:tgtEl>
                                      </p:cBhvr>
                                    </p:animEffect>
                                  </p:childTnLst>
                                </p:cTn>
                              </p:par>
                            </p:childTnLst>
                          </p:cTn>
                        </p:par>
                      </p:childTnLst>
                    </p:cTn>
                  </p:par>
                  <p:par>
                    <p:cTn id="72" fill="hold">
                      <p:stCondLst>
                        <p:cond delay="indefinite"/>
                      </p:stCondLst>
                      <p:childTnLst>
                        <p:par>
                          <p:cTn id="73" fill="hold">
                            <p:stCondLst>
                              <p:cond delay="0"/>
                            </p:stCondLst>
                            <p:childTnLst>
                              <p:par>
                                <p:cTn id="74" presetID="16" presetClass="entr" presetSubtype="37" fill="hold" nodeType="clickEffect">
                                  <p:stCondLst>
                                    <p:cond delay="0"/>
                                  </p:stCondLst>
                                  <p:childTnLst>
                                    <p:set>
                                      <p:cBhvr>
                                        <p:cTn id="75" dur="1" fill="hold">
                                          <p:stCondLst>
                                            <p:cond delay="0"/>
                                          </p:stCondLst>
                                        </p:cTn>
                                        <p:tgtEl>
                                          <p:spTgt spid="17"/>
                                        </p:tgtEl>
                                        <p:attrNameLst>
                                          <p:attrName>style.visibility</p:attrName>
                                        </p:attrNameLst>
                                      </p:cBhvr>
                                      <p:to>
                                        <p:strVal val="visible"/>
                                      </p:to>
                                    </p:set>
                                    <p:animEffect transition="in" filter="barn(outVertical)">
                                      <p:cBhvr>
                                        <p:cTn id="76" dur="500"/>
                                        <p:tgtEl>
                                          <p:spTgt spid="17"/>
                                        </p:tgtEl>
                                      </p:cBhvr>
                                    </p:animEffect>
                                  </p:childTnLst>
                                </p:cTn>
                              </p:par>
                            </p:childTnLst>
                          </p:cTn>
                        </p:par>
                      </p:childTnLst>
                    </p:cTn>
                  </p:par>
                  <p:par>
                    <p:cTn id="77" fill="hold">
                      <p:stCondLst>
                        <p:cond delay="indefinite"/>
                      </p:stCondLst>
                      <p:childTnLst>
                        <p:par>
                          <p:cTn id="78" fill="hold">
                            <p:stCondLst>
                              <p:cond delay="0"/>
                            </p:stCondLst>
                            <p:childTnLst>
                              <p:par>
                                <p:cTn id="79" presetID="26" presetClass="entr" presetSubtype="0" fill="hold" nodeType="click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wipe(down)">
                                      <p:cBhvr>
                                        <p:cTn id="81" dur="580">
                                          <p:stCondLst>
                                            <p:cond delay="0"/>
                                          </p:stCondLst>
                                        </p:cTn>
                                        <p:tgtEl>
                                          <p:spTgt spid="30"/>
                                        </p:tgtEl>
                                      </p:cBhvr>
                                    </p:animEffect>
                                    <p:anim calcmode="lin" valueType="num">
                                      <p:cBhvr>
                                        <p:cTn id="82" dur="1822" tmFilter="0,0; 0.14,0.36; 0.43,0.73; 0.71,0.91; 1.0,1.0">
                                          <p:stCondLst>
                                            <p:cond delay="0"/>
                                          </p:stCondLst>
                                        </p:cTn>
                                        <p:tgtEl>
                                          <p:spTgt spid="30"/>
                                        </p:tgtEl>
                                        <p:attrNameLst>
                                          <p:attrName>ppt_x</p:attrName>
                                        </p:attrNameLst>
                                      </p:cBhvr>
                                      <p:tavLst>
                                        <p:tav tm="0">
                                          <p:val>
                                            <p:strVal val="#ppt_x-0.25"/>
                                          </p:val>
                                        </p:tav>
                                        <p:tav tm="100000">
                                          <p:val>
                                            <p:strVal val="#ppt_x"/>
                                          </p:val>
                                        </p:tav>
                                      </p:tavLst>
                                    </p:anim>
                                    <p:anim calcmode="lin" valueType="num">
                                      <p:cBhvr>
                                        <p:cTn id="83" dur="664" tmFilter="0.0,0.0; 0.25,0.07; 0.50,0.2; 0.75,0.467; 1.0,1.0">
                                          <p:stCondLst>
                                            <p:cond delay="0"/>
                                          </p:stCondLst>
                                        </p:cTn>
                                        <p:tgtEl>
                                          <p:spTgt spid="30"/>
                                        </p:tgtEl>
                                        <p:attrNameLst>
                                          <p:attrName>ppt_y</p:attrName>
                                        </p:attrNameLst>
                                      </p:cBhvr>
                                      <p:tavLst>
                                        <p:tav tm="0" fmla="#ppt_y-sin(pi*$)/3">
                                          <p:val>
                                            <p:fltVal val="0.5"/>
                                          </p:val>
                                        </p:tav>
                                        <p:tav tm="100000">
                                          <p:val>
                                            <p:fltVal val="1"/>
                                          </p:val>
                                        </p:tav>
                                      </p:tavLst>
                                    </p:anim>
                                    <p:anim calcmode="lin" valueType="num">
                                      <p:cBhvr>
                                        <p:cTn id="84" dur="664" tmFilter="0, 0; 0.125,0.2665; 0.25,0.4; 0.375,0.465; 0.5,0.5;  0.625,0.535; 0.75,0.6; 0.875,0.7335; 1,1">
                                          <p:stCondLst>
                                            <p:cond delay="664"/>
                                          </p:stCondLst>
                                        </p:cTn>
                                        <p:tgtEl>
                                          <p:spTgt spid="30"/>
                                        </p:tgtEl>
                                        <p:attrNameLst>
                                          <p:attrName>ppt_y</p:attrName>
                                        </p:attrNameLst>
                                      </p:cBhvr>
                                      <p:tavLst>
                                        <p:tav tm="0" fmla="#ppt_y-sin(pi*$)/9">
                                          <p:val>
                                            <p:fltVal val="0"/>
                                          </p:val>
                                        </p:tav>
                                        <p:tav tm="100000">
                                          <p:val>
                                            <p:fltVal val="1"/>
                                          </p:val>
                                        </p:tav>
                                      </p:tavLst>
                                    </p:anim>
                                    <p:anim calcmode="lin" valueType="num">
                                      <p:cBhvr>
                                        <p:cTn id="85" dur="332" tmFilter="0, 0; 0.125,0.2665; 0.25,0.4; 0.375,0.465; 0.5,0.5;  0.625,0.535; 0.75,0.6; 0.875,0.7335; 1,1">
                                          <p:stCondLst>
                                            <p:cond delay="1324"/>
                                          </p:stCondLst>
                                        </p:cTn>
                                        <p:tgtEl>
                                          <p:spTgt spid="30"/>
                                        </p:tgtEl>
                                        <p:attrNameLst>
                                          <p:attrName>ppt_y</p:attrName>
                                        </p:attrNameLst>
                                      </p:cBhvr>
                                      <p:tavLst>
                                        <p:tav tm="0" fmla="#ppt_y-sin(pi*$)/27">
                                          <p:val>
                                            <p:fltVal val="0"/>
                                          </p:val>
                                        </p:tav>
                                        <p:tav tm="100000">
                                          <p:val>
                                            <p:fltVal val="1"/>
                                          </p:val>
                                        </p:tav>
                                      </p:tavLst>
                                    </p:anim>
                                    <p:anim calcmode="lin" valueType="num">
                                      <p:cBhvr>
                                        <p:cTn id="86" dur="164" tmFilter="0, 0; 0.125,0.2665; 0.25,0.4; 0.375,0.465; 0.5,0.5;  0.625,0.535; 0.75,0.6; 0.875,0.7335; 1,1">
                                          <p:stCondLst>
                                            <p:cond delay="1656"/>
                                          </p:stCondLst>
                                        </p:cTn>
                                        <p:tgtEl>
                                          <p:spTgt spid="30"/>
                                        </p:tgtEl>
                                        <p:attrNameLst>
                                          <p:attrName>ppt_y</p:attrName>
                                        </p:attrNameLst>
                                      </p:cBhvr>
                                      <p:tavLst>
                                        <p:tav tm="0" fmla="#ppt_y-sin(pi*$)/81">
                                          <p:val>
                                            <p:fltVal val="0"/>
                                          </p:val>
                                        </p:tav>
                                        <p:tav tm="100000">
                                          <p:val>
                                            <p:fltVal val="1"/>
                                          </p:val>
                                        </p:tav>
                                      </p:tavLst>
                                    </p:anim>
                                    <p:animScale>
                                      <p:cBhvr>
                                        <p:cTn id="87" dur="26">
                                          <p:stCondLst>
                                            <p:cond delay="650"/>
                                          </p:stCondLst>
                                        </p:cTn>
                                        <p:tgtEl>
                                          <p:spTgt spid="30"/>
                                        </p:tgtEl>
                                      </p:cBhvr>
                                      <p:to x="100000" y="60000"/>
                                    </p:animScale>
                                    <p:animScale>
                                      <p:cBhvr>
                                        <p:cTn id="88" dur="166" decel="50000">
                                          <p:stCondLst>
                                            <p:cond delay="676"/>
                                          </p:stCondLst>
                                        </p:cTn>
                                        <p:tgtEl>
                                          <p:spTgt spid="30"/>
                                        </p:tgtEl>
                                      </p:cBhvr>
                                      <p:to x="100000" y="100000"/>
                                    </p:animScale>
                                    <p:animScale>
                                      <p:cBhvr>
                                        <p:cTn id="89" dur="26">
                                          <p:stCondLst>
                                            <p:cond delay="1312"/>
                                          </p:stCondLst>
                                        </p:cTn>
                                        <p:tgtEl>
                                          <p:spTgt spid="30"/>
                                        </p:tgtEl>
                                      </p:cBhvr>
                                      <p:to x="100000" y="80000"/>
                                    </p:animScale>
                                    <p:animScale>
                                      <p:cBhvr>
                                        <p:cTn id="90" dur="166" decel="50000">
                                          <p:stCondLst>
                                            <p:cond delay="1338"/>
                                          </p:stCondLst>
                                        </p:cTn>
                                        <p:tgtEl>
                                          <p:spTgt spid="30"/>
                                        </p:tgtEl>
                                      </p:cBhvr>
                                      <p:to x="100000" y="100000"/>
                                    </p:animScale>
                                    <p:animScale>
                                      <p:cBhvr>
                                        <p:cTn id="91" dur="26">
                                          <p:stCondLst>
                                            <p:cond delay="1642"/>
                                          </p:stCondLst>
                                        </p:cTn>
                                        <p:tgtEl>
                                          <p:spTgt spid="30"/>
                                        </p:tgtEl>
                                      </p:cBhvr>
                                      <p:to x="100000" y="90000"/>
                                    </p:animScale>
                                    <p:animScale>
                                      <p:cBhvr>
                                        <p:cTn id="92" dur="166" decel="50000">
                                          <p:stCondLst>
                                            <p:cond delay="1668"/>
                                          </p:stCondLst>
                                        </p:cTn>
                                        <p:tgtEl>
                                          <p:spTgt spid="30"/>
                                        </p:tgtEl>
                                      </p:cBhvr>
                                      <p:to x="100000" y="100000"/>
                                    </p:animScale>
                                    <p:animScale>
                                      <p:cBhvr>
                                        <p:cTn id="93" dur="26">
                                          <p:stCondLst>
                                            <p:cond delay="1808"/>
                                          </p:stCondLst>
                                        </p:cTn>
                                        <p:tgtEl>
                                          <p:spTgt spid="30"/>
                                        </p:tgtEl>
                                      </p:cBhvr>
                                      <p:to x="100000" y="95000"/>
                                    </p:animScale>
                                    <p:animScale>
                                      <p:cBhvr>
                                        <p:cTn id="94" dur="166" decel="50000">
                                          <p:stCondLst>
                                            <p:cond delay="1834"/>
                                          </p:stCondLst>
                                        </p:cTn>
                                        <p:tgtEl>
                                          <p:spTgt spid="3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r>
              <a:rPr lang="en-US" altLang="zh-CN"/>
              <a:t>Computer Networks, Chapter 6 The Transport Layer</a:t>
            </a:r>
            <a:endParaRPr lang="en-US" altLang="zh-CN" i="0"/>
          </a:p>
        </p:txBody>
      </p:sp>
      <p:grpSp>
        <p:nvGrpSpPr>
          <p:cNvPr id="5" name="Group 7"/>
          <p:cNvGrpSpPr>
            <a:grpSpLocks/>
          </p:cNvGrpSpPr>
          <p:nvPr/>
        </p:nvGrpSpPr>
        <p:grpSpPr bwMode="auto">
          <a:xfrm>
            <a:off x="1968500" y="946150"/>
            <a:ext cx="8123238" cy="5405438"/>
            <a:chOff x="471823" y="1019462"/>
            <a:chExt cx="8124153" cy="5404915"/>
          </a:xfrm>
        </p:grpSpPr>
        <p:pic>
          <p:nvPicPr>
            <p:cNvPr id="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3728" y="2133600"/>
              <a:ext cx="123068" cy="4023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2133600"/>
              <a:ext cx="123068" cy="4023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58732" y="2133600"/>
              <a:ext cx="123068" cy="4023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1000" y="2133600"/>
              <a:ext cx="123068" cy="4023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97497" y="6206753"/>
              <a:ext cx="404873" cy="217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2825" y="6206753"/>
              <a:ext cx="404873" cy="217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3200" y="6206753"/>
              <a:ext cx="404873" cy="217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00927" y="6206753"/>
              <a:ext cx="404873" cy="217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1823" y="1019462"/>
              <a:ext cx="8124153" cy="1407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5"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0601" y="1431926"/>
            <a:ext cx="2625725"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78101" y="2640013"/>
            <a:ext cx="1357313"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38600" y="2368550"/>
            <a:ext cx="4116388"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6"/>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245476" y="3676651"/>
            <a:ext cx="127952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57650" y="3435350"/>
            <a:ext cx="4095750"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24126" y="3643313"/>
            <a:ext cx="1362075"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013200" y="4438650"/>
            <a:ext cx="4140200" cy="99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293101" y="4713288"/>
            <a:ext cx="1204913" cy="56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矩形 22">
            <a:extLst>
              <a:ext uri="{FF2B5EF4-FFF2-40B4-BE49-F238E27FC236}">
                <a16:creationId xmlns:a16="http://schemas.microsoft.com/office/drawing/2014/main" id="{6A733D6A-F6F7-4816-B172-EC50A837B48D}"/>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Connection Termination using three-way handshaking</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76262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left)">
                                      <p:cBhvr>
                                        <p:cTn id="11" dur="5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wipe(left)">
                                      <p:cBhvr>
                                        <p:cTn id="16" dur="1750"/>
                                        <p:tgtEl>
                                          <p:spTgt spid="1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2" fill="hold"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wipe(right)">
                                      <p:cBhvr>
                                        <p:cTn id="21" dur="500"/>
                                        <p:tgtEl>
                                          <p:spTgt spid="1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wipe(right)">
                                      <p:cBhvr>
                                        <p:cTn id="26" dur="1500"/>
                                        <p:tgtEl>
                                          <p:spTgt spid="1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2"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wipe(right)">
                                      <p:cBhvr>
                                        <p:cTn id="31" dur="500"/>
                                        <p:tgtEl>
                                          <p:spTgt spid="2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wipe(left)">
                                      <p:cBhvr>
                                        <p:cTn id="36" dur="2000"/>
                                        <p:tgtEl>
                                          <p:spTgt spid="21"/>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wipe(left)">
                                      <p:cBhvr>
                                        <p:cTn id="41" dur="500"/>
                                        <p:tgtEl>
                                          <p:spTgt spid="22"/>
                                        </p:tgtEl>
                                      </p:cBhvr>
                                    </p:animEffect>
                                  </p:childTnLst>
                                </p:cTn>
                              </p:par>
                            </p:childTnLst>
                          </p:cTn>
                        </p:par>
                      </p:childTnLst>
                    </p:cTn>
                  </p:par>
                  <p:par>
                    <p:cTn id="42" fill="hold">
                      <p:stCondLst>
                        <p:cond delay="indefinite"/>
                      </p:stCondLst>
                      <p:childTnLst>
                        <p:par>
                          <p:cTn id="43" fill="hold">
                            <p:stCondLst>
                              <p:cond delay="0"/>
                            </p:stCondLst>
                            <p:childTnLst>
                              <p:par>
                                <p:cTn id="44" presetID="26" presetClass="entr" presetSubtype="0" fill="hold" nodeType="click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wipe(down)">
                                      <p:cBhvr>
                                        <p:cTn id="46" dur="580">
                                          <p:stCondLst>
                                            <p:cond delay="0"/>
                                          </p:stCondLst>
                                        </p:cTn>
                                        <p:tgtEl>
                                          <p:spTgt spid="15"/>
                                        </p:tgtEl>
                                      </p:cBhvr>
                                    </p:animEffect>
                                    <p:anim calcmode="lin" valueType="num">
                                      <p:cBhvr>
                                        <p:cTn id="47" dur="1822"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48" dur="664"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49" dur="664" tmFilter="0, 0; 0.125,0.2665; 0.25,0.4; 0.375,0.465; 0.5,0.5;  0.625,0.535; 0.75,0.6; 0.875,0.7335; 1,1">
                                          <p:stCondLst>
                                            <p:cond delay="664"/>
                                          </p:stCondLst>
                                        </p:cTn>
                                        <p:tgtEl>
                                          <p:spTgt spid="15"/>
                                        </p:tgtEl>
                                        <p:attrNameLst>
                                          <p:attrName>ppt_y</p:attrName>
                                        </p:attrNameLst>
                                      </p:cBhvr>
                                      <p:tavLst>
                                        <p:tav tm="0" fmla="#ppt_y-sin(pi*$)/9">
                                          <p:val>
                                            <p:fltVal val="0"/>
                                          </p:val>
                                        </p:tav>
                                        <p:tav tm="100000">
                                          <p:val>
                                            <p:fltVal val="1"/>
                                          </p:val>
                                        </p:tav>
                                      </p:tavLst>
                                    </p:anim>
                                    <p:anim calcmode="lin" valueType="num">
                                      <p:cBhvr>
                                        <p:cTn id="50" dur="332" tmFilter="0, 0; 0.125,0.2665; 0.25,0.4; 0.375,0.465; 0.5,0.5;  0.625,0.535; 0.75,0.6; 0.875,0.7335; 1,1">
                                          <p:stCondLst>
                                            <p:cond delay="1324"/>
                                          </p:stCondLst>
                                        </p:cTn>
                                        <p:tgtEl>
                                          <p:spTgt spid="15"/>
                                        </p:tgtEl>
                                        <p:attrNameLst>
                                          <p:attrName>ppt_y</p:attrName>
                                        </p:attrNameLst>
                                      </p:cBhvr>
                                      <p:tavLst>
                                        <p:tav tm="0" fmla="#ppt_y-sin(pi*$)/27">
                                          <p:val>
                                            <p:fltVal val="0"/>
                                          </p:val>
                                        </p:tav>
                                        <p:tav tm="100000">
                                          <p:val>
                                            <p:fltVal val="1"/>
                                          </p:val>
                                        </p:tav>
                                      </p:tavLst>
                                    </p:anim>
                                    <p:anim calcmode="lin" valueType="num">
                                      <p:cBhvr>
                                        <p:cTn id="51" dur="164" tmFilter="0, 0; 0.125,0.2665; 0.25,0.4; 0.375,0.465; 0.5,0.5;  0.625,0.535; 0.75,0.6; 0.875,0.7335; 1,1">
                                          <p:stCondLst>
                                            <p:cond delay="1656"/>
                                          </p:stCondLst>
                                        </p:cTn>
                                        <p:tgtEl>
                                          <p:spTgt spid="15"/>
                                        </p:tgtEl>
                                        <p:attrNameLst>
                                          <p:attrName>ppt_y</p:attrName>
                                        </p:attrNameLst>
                                      </p:cBhvr>
                                      <p:tavLst>
                                        <p:tav tm="0" fmla="#ppt_y-sin(pi*$)/81">
                                          <p:val>
                                            <p:fltVal val="0"/>
                                          </p:val>
                                        </p:tav>
                                        <p:tav tm="100000">
                                          <p:val>
                                            <p:fltVal val="1"/>
                                          </p:val>
                                        </p:tav>
                                      </p:tavLst>
                                    </p:anim>
                                    <p:animScale>
                                      <p:cBhvr>
                                        <p:cTn id="52" dur="26">
                                          <p:stCondLst>
                                            <p:cond delay="650"/>
                                          </p:stCondLst>
                                        </p:cTn>
                                        <p:tgtEl>
                                          <p:spTgt spid="15"/>
                                        </p:tgtEl>
                                      </p:cBhvr>
                                      <p:to x="100000" y="60000"/>
                                    </p:animScale>
                                    <p:animScale>
                                      <p:cBhvr>
                                        <p:cTn id="53" dur="166" decel="50000">
                                          <p:stCondLst>
                                            <p:cond delay="676"/>
                                          </p:stCondLst>
                                        </p:cTn>
                                        <p:tgtEl>
                                          <p:spTgt spid="15"/>
                                        </p:tgtEl>
                                      </p:cBhvr>
                                      <p:to x="100000" y="100000"/>
                                    </p:animScale>
                                    <p:animScale>
                                      <p:cBhvr>
                                        <p:cTn id="54" dur="26">
                                          <p:stCondLst>
                                            <p:cond delay="1312"/>
                                          </p:stCondLst>
                                        </p:cTn>
                                        <p:tgtEl>
                                          <p:spTgt spid="15"/>
                                        </p:tgtEl>
                                      </p:cBhvr>
                                      <p:to x="100000" y="80000"/>
                                    </p:animScale>
                                    <p:animScale>
                                      <p:cBhvr>
                                        <p:cTn id="55" dur="166" decel="50000">
                                          <p:stCondLst>
                                            <p:cond delay="1338"/>
                                          </p:stCondLst>
                                        </p:cTn>
                                        <p:tgtEl>
                                          <p:spTgt spid="15"/>
                                        </p:tgtEl>
                                      </p:cBhvr>
                                      <p:to x="100000" y="100000"/>
                                    </p:animScale>
                                    <p:animScale>
                                      <p:cBhvr>
                                        <p:cTn id="56" dur="26">
                                          <p:stCondLst>
                                            <p:cond delay="1642"/>
                                          </p:stCondLst>
                                        </p:cTn>
                                        <p:tgtEl>
                                          <p:spTgt spid="15"/>
                                        </p:tgtEl>
                                      </p:cBhvr>
                                      <p:to x="100000" y="90000"/>
                                    </p:animScale>
                                    <p:animScale>
                                      <p:cBhvr>
                                        <p:cTn id="57" dur="166" decel="50000">
                                          <p:stCondLst>
                                            <p:cond delay="1668"/>
                                          </p:stCondLst>
                                        </p:cTn>
                                        <p:tgtEl>
                                          <p:spTgt spid="15"/>
                                        </p:tgtEl>
                                      </p:cBhvr>
                                      <p:to x="100000" y="100000"/>
                                    </p:animScale>
                                    <p:animScale>
                                      <p:cBhvr>
                                        <p:cTn id="58" dur="26">
                                          <p:stCondLst>
                                            <p:cond delay="1808"/>
                                          </p:stCondLst>
                                        </p:cTn>
                                        <p:tgtEl>
                                          <p:spTgt spid="15"/>
                                        </p:tgtEl>
                                      </p:cBhvr>
                                      <p:to x="100000" y="95000"/>
                                    </p:animScale>
                                    <p:animScale>
                                      <p:cBhvr>
                                        <p:cTn id="59" dur="166" decel="50000">
                                          <p:stCondLst>
                                            <p:cond delay="1834"/>
                                          </p:stCondLst>
                                        </p:cTn>
                                        <p:tgtEl>
                                          <p:spTgt spid="1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2"/>
          <p:cNvGrpSpPr>
            <a:grpSpLocks/>
          </p:cNvGrpSpPr>
          <p:nvPr/>
        </p:nvGrpSpPr>
        <p:grpSpPr bwMode="auto">
          <a:xfrm>
            <a:off x="1968500" y="728800"/>
            <a:ext cx="8123238" cy="5900600"/>
            <a:chOff x="444341" y="576400"/>
            <a:chExt cx="8124153" cy="5900600"/>
          </a:xfrm>
        </p:grpSpPr>
        <p:grpSp>
          <p:nvGrpSpPr>
            <p:cNvPr id="6" name="Group 1"/>
            <p:cNvGrpSpPr>
              <a:grpSpLocks/>
            </p:cNvGrpSpPr>
            <p:nvPr/>
          </p:nvGrpSpPr>
          <p:grpSpPr bwMode="auto">
            <a:xfrm>
              <a:off x="916246" y="1828800"/>
              <a:ext cx="7180340" cy="4354376"/>
              <a:chOff x="916246" y="2209800"/>
              <a:chExt cx="7180340" cy="4023360"/>
            </a:xfrm>
          </p:grpSpPr>
          <p:pic>
            <p:nvPicPr>
              <p:cNvPr id="1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6246" y="2209800"/>
                <a:ext cx="123068" cy="4023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0918" y="2209800"/>
                <a:ext cx="123068" cy="4023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31250" y="2209800"/>
                <a:ext cx="123068" cy="4023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3518" y="2209800"/>
                <a:ext cx="123068" cy="4023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0015" y="6259376"/>
              <a:ext cx="404873" cy="217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5343" y="6259376"/>
              <a:ext cx="404873" cy="217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25718" y="6248400"/>
              <a:ext cx="404873" cy="217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73445" y="6259376"/>
              <a:ext cx="404873" cy="217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9"/>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44341" y="576400"/>
              <a:ext cx="8124153" cy="1288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0601" y="1641476"/>
            <a:ext cx="2625725"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78101" y="2438401"/>
            <a:ext cx="1357313"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38600" y="1981200"/>
            <a:ext cx="4116388"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6"/>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245476" y="4724401"/>
            <a:ext cx="127952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24126" y="3124201"/>
            <a:ext cx="1362075"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293101" y="5761038"/>
            <a:ext cx="1204913" cy="56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038601" y="3886200"/>
            <a:ext cx="41576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13200" y="4495800"/>
            <a:ext cx="4160838" cy="97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1" name="组合 30"/>
          <p:cNvGrpSpPr/>
          <p:nvPr/>
        </p:nvGrpSpPr>
        <p:grpSpPr>
          <a:xfrm>
            <a:off x="4013200" y="5486400"/>
            <a:ext cx="4140200" cy="998538"/>
            <a:chOff x="2489200" y="5486400"/>
            <a:chExt cx="4140200" cy="998538"/>
          </a:xfrm>
        </p:grpSpPr>
        <p:pic>
          <p:nvPicPr>
            <p:cNvPr id="21" name="Picture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89200" y="5486400"/>
              <a:ext cx="4140200" cy="99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文本框 26"/>
            <p:cNvSpPr txBox="1"/>
            <p:nvPr/>
          </p:nvSpPr>
          <p:spPr>
            <a:xfrm>
              <a:off x="3689323" y="5720225"/>
              <a:ext cx="201342" cy="369332"/>
            </a:xfrm>
            <a:prstGeom prst="rect">
              <a:avLst/>
            </a:prstGeom>
            <a:noFill/>
          </p:spPr>
          <p:txBody>
            <a:bodyPr wrap="square" rtlCol="0">
              <a:spAutoFit/>
            </a:bodyPr>
            <a:lstStyle/>
            <a:p>
              <a:r>
                <a:rPr lang="en-US" altLang="zh-CN" dirty="0"/>
                <a:t>z</a:t>
              </a:r>
              <a:endParaRPr lang="zh-CN" altLang="en-US" dirty="0"/>
            </a:p>
          </p:txBody>
        </p:sp>
      </p:grpSp>
      <p:pic>
        <p:nvPicPr>
          <p:cNvPr id="24" name="Picture 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056986" y="2897188"/>
            <a:ext cx="4097338" cy="97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矩形 31">
            <a:extLst>
              <a:ext uri="{FF2B5EF4-FFF2-40B4-BE49-F238E27FC236}">
                <a16:creationId xmlns:a16="http://schemas.microsoft.com/office/drawing/2014/main" id="{C2FC87F9-A3DC-4F0A-AD7F-CBA7D477B460}"/>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Connection Termination using four-way handshaking</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56745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wipe(left)">
                                      <p:cBhvr>
                                        <p:cTn id="11" dur="500"/>
                                        <p:tgtEl>
                                          <p:spTgt spid="1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wipe(left)">
                                      <p:cBhvr>
                                        <p:cTn id="16" dur="175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2"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wipe(right)">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37" fill="hold" nodeType="click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barn(outVertical)">
                                      <p:cBhvr>
                                        <p:cTn id="26" dur="500"/>
                                        <p:tgtEl>
                                          <p:spTgt spid="2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2" fill="hold"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wipe(right)">
                                      <p:cBhvr>
                                        <p:cTn id="31" dur="500"/>
                                        <p:tgtEl>
                                          <p:spTgt spid="19"/>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2" fill="hold" nodeType="click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wipe(right)">
                                      <p:cBhvr>
                                        <p:cTn id="36" dur="500"/>
                                        <p:tgtEl>
                                          <p:spTgt spid="25"/>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wipe(down)">
                                      <p:cBhvr>
                                        <p:cTn id="41" dur="500"/>
                                        <p:tgtEl>
                                          <p:spTgt spid="31"/>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wipe(left)">
                                      <p:cBhvr>
                                        <p:cTn id="46" dur="50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26" presetClass="entr" presetSubtype="0" fill="hold" nodeType="click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wipe(down)">
                                      <p:cBhvr>
                                        <p:cTn id="51" dur="580">
                                          <p:stCondLst>
                                            <p:cond delay="0"/>
                                          </p:stCondLst>
                                        </p:cTn>
                                        <p:tgtEl>
                                          <p:spTgt spid="16"/>
                                        </p:tgtEl>
                                      </p:cBhvr>
                                    </p:animEffect>
                                    <p:anim calcmode="lin" valueType="num">
                                      <p:cBhvr>
                                        <p:cTn id="52"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53"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54"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55"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56"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57" dur="26">
                                          <p:stCondLst>
                                            <p:cond delay="650"/>
                                          </p:stCondLst>
                                        </p:cTn>
                                        <p:tgtEl>
                                          <p:spTgt spid="16"/>
                                        </p:tgtEl>
                                      </p:cBhvr>
                                      <p:to x="100000" y="60000"/>
                                    </p:animScale>
                                    <p:animScale>
                                      <p:cBhvr>
                                        <p:cTn id="58" dur="166" decel="50000">
                                          <p:stCondLst>
                                            <p:cond delay="676"/>
                                          </p:stCondLst>
                                        </p:cTn>
                                        <p:tgtEl>
                                          <p:spTgt spid="16"/>
                                        </p:tgtEl>
                                      </p:cBhvr>
                                      <p:to x="100000" y="100000"/>
                                    </p:animScale>
                                    <p:animScale>
                                      <p:cBhvr>
                                        <p:cTn id="59" dur="26">
                                          <p:stCondLst>
                                            <p:cond delay="1312"/>
                                          </p:stCondLst>
                                        </p:cTn>
                                        <p:tgtEl>
                                          <p:spTgt spid="16"/>
                                        </p:tgtEl>
                                      </p:cBhvr>
                                      <p:to x="100000" y="80000"/>
                                    </p:animScale>
                                    <p:animScale>
                                      <p:cBhvr>
                                        <p:cTn id="60" dur="166" decel="50000">
                                          <p:stCondLst>
                                            <p:cond delay="1338"/>
                                          </p:stCondLst>
                                        </p:cTn>
                                        <p:tgtEl>
                                          <p:spTgt spid="16"/>
                                        </p:tgtEl>
                                      </p:cBhvr>
                                      <p:to x="100000" y="100000"/>
                                    </p:animScale>
                                    <p:animScale>
                                      <p:cBhvr>
                                        <p:cTn id="61" dur="26">
                                          <p:stCondLst>
                                            <p:cond delay="1642"/>
                                          </p:stCondLst>
                                        </p:cTn>
                                        <p:tgtEl>
                                          <p:spTgt spid="16"/>
                                        </p:tgtEl>
                                      </p:cBhvr>
                                      <p:to x="100000" y="90000"/>
                                    </p:animScale>
                                    <p:animScale>
                                      <p:cBhvr>
                                        <p:cTn id="62" dur="166" decel="50000">
                                          <p:stCondLst>
                                            <p:cond delay="1668"/>
                                          </p:stCondLst>
                                        </p:cTn>
                                        <p:tgtEl>
                                          <p:spTgt spid="16"/>
                                        </p:tgtEl>
                                      </p:cBhvr>
                                      <p:to x="100000" y="100000"/>
                                    </p:animScale>
                                    <p:animScale>
                                      <p:cBhvr>
                                        <p:cTn id="63" dur="26">
                                          <p:stCondLst>
                                            <p:cond delay="1808"/>
                                          </p:stCondLst>
                                        </p:cTn>
                                        <p:tgtEl>
                                          <p:spTgt spid="16"/>
                                        </p:tgtEl>
                                      </p:cBhvr>
                                      <p:to x="100000" y="95000"/>
                                    </p:animScale>
                                    <p:animScale>
                                      <p:cBhvr>
                                        <p:cTn id="64" dur="166" decel="50000">
                                          <p:stCondLst>
                                            <p:cond delay="1834"/>
                                          </p:stCondLst>
                                        </p:cTn>
                                        <p:tgtEl>
                                          <p:spTgt spid="1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矩形 31">
            <a:extLst>
              <a:ext uri="{FF2B5EF4-FFF2-40B4-BE49-F238E27FC236}">
                <a16:creationId xmlns:a16="http://schemas.microsoft.com/office/drawing/2014/main" id="{C2FC87F9-A3DC-4F0A-AD7F-CBA7D477B460}"/>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Connection Termination using four-way handshaking</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8049AD4E-5CCF-47A5-8F71-683CE658F975}"/>
              </a:ext>
            </a:extLst>
          </p:cNvPr>
          <p:cNvPicPr>
            <a:picLocks noChangeAspect="1"/>
          </p:cNvPicPr>
          <p:nvPr/>
        </p:nvPicPr>
        <p:blipFill>
          <a:blip r:embed="rId3"/>
          <a:stretch>
            <a:fillRect/>
          </a:stretch>
        </p:blipFill>
        <p:spPr>
          <a:xfrm>
            <a:off x="1249757" y="1123895"/>
            <a:ext cx="9004987" cy="5337249"/>
          </a:xfrm>
          <a:prstGeom prst="rect">
            <a:avLst/>
          </a:prstGeom>
        </p:spPr>
      </p:pic>
    </p:spTree>
    <p:extLst>
      <p:ext uri="{BB962C8B-B14F-4D97-AF65-F5344CB8AC3E}">
        <p14:creationId xmlns:p14="http://schemas.microsoft.com/office/powerpoint/2010/main" val="9940001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70660" name="Content Placeholder 2"/>
          <p:cNvSpPr>
            <a:spLocks noGrp="1"/>
          </p:cNvSpPr>
          <p:nvPr>
            <p:ph idx="1"/>
          </p:nvPr>
        </p:nvSpPr>
        <p:spPr>
          <a:xfrm>
            <a:off x="1037817" y="1129507"/>
            <a:ext cx="10608162" cy="929296"/>
          </a:xfrm>
        </p:spPr>
        <p:txBody>
          <a:bodyPr/>
          <a:lstStyle/>
          <a:p>
            <a:r>
              <a:rPr lang="en-US" altLang="zh-CN" dirty="0">
                <a:ea typeface="宋体" panose="02010600030101010101" pitchFamily="2" charset="-122"/>
              </a:rPr>
              <a:t>The TCP connection finite state machine has more states than our simple example from earlier.</a:t>
            </a:r>
          </a:p>
        </p:txBody>
      </p:sp>
      <p:pic>
        <p:nvPicPr>
          <p:cNvPr id="7066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7525" y="2336801"/>
            <a:ext cx="6084888" cy="3598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A9CB7FBC-8F70-4331-BD7F-ABA91B0D1273}"/>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TCP Connection State Modeling (1)</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4" name="Content Placeholder 2"/>
          <p:cNvSpPr>
            <a:spLocks noGrp="1"/>
          </p:cNvSpPr>
          <p:nvPr>
            <p:ph idx="1"/>
          </p:nvPr>
        </p:nvSpPr>
        <p:spPr>
          <a:xfrm>
            <a:off x="605860" y="1704975"/>
            <a:ext cx="4175690" cy="3663619"/>
          </a:xfrm>
        </p:spPr>
        <p:txBody>
          <a:bodyPr>
            <a:normAutofit/>
          </a:bodyPr>
          <a:lstStyle/>
          <a:p>
            <a:pPr marL="342900" indent="-342900">
              <a:buFont typeface="Arial" panose="020B0604020202020204" pitchFamily="34" charset="0"/>
              <a:buChar char="•"/>
            </a:pPr>
            <a:r>
              <a:rPr lang="en-US" altLang="zh-CN" sz="2400" dirty="0">
                <a:ea typeface="宋体" panose="02010600030101010101" pitchFamily="2" charset="-122"/>
              </a:rPr>
              <a:t>Solid line is the normal path for a client. </a:t>
            </a:r>
          </a:p>
          <a:p>
            <a:pPr marL="342900" indent="-342900">
              <a:buFont typeface="Arial" panose="020B0604020202020204" pitchFamily="34" charset="0"/>
              <a:buChar char="•"/>
            </a:pPr>
            <a:r>
              <a:rPr lang="en-US" altLang="zh-CN" sz="2400" dirty="0">
                <a:ea typeface="宋体" panose="02010600030101010101" pitchFamily="2" charset="-122"/>
              </a:rPr>
              <a:t>Dashed line is the normal path for a server. </a:t>
            </a:r>
          </a:p>
          <a:p>
            <a:pPr marL="342900" indent="-342900">
              <a:buFont typeface="Arial" panose="020B0604020202020204" pitchFamily="34" charset="0"/>
              <a:buChar char="•"/>
            </a:pPr>
            <a:r>
              <a:rPr lang="en-US" altLang="zh-CN" sz="2400" dirty="0">
                <a:ea typeface="宋体" panose="02010600030101010101" pitchFamily="2" charset="-122"/>
              </a:rPr>
              <a:t>Light lines are unusual events. </a:t>
            </a:r>
          </a:p>
          <a:p>
            <a:pPr marL="342900" indent="-342900">
              <a:buFont typeface="Arial" panose="020B0604020202020204" pitchFamily="34" charset="0"/>
              <a:buChar char="•"/>
            </a:pPr>
            <a:r>
              <a:rPr lang="en-US" altLang="zh-CN" sz="2400" dirty="0">
                <a:ea typeface="宋体" panose="02010600030101010101" pitchFamily="2" charset="-122"/>
              </a:rPr>
              <a:t>Transitions are labeled  by the cause and action, separated by a slash.</a:t>
            </a:r>
          </a:p>
        </p:txBody>
      </p:sp>
      <p:pic>
        <p:nvPicPr>
          <p:cNvPr id="71685" name="Picture 2"/>
          <p:cNvPicPr>
            <a:picLocks noChangeAspect="1" noChangeArrowheads="1"/>
          </p:cNvPicPr>
          <p:nvPr/>
        </p:nvPicPr>
        <p:blipFill>
          <a:blip r:embed="rId3">
            <a:extLst>
              <a:ext uri="{28A0092B-C50C-407E-A947-70E740481C1C}">
                <a14:useLocalDpi xmlns:a14="http://schemas.microsoft.com/office/drawing/2010/main" val="0"/>
              </a:ext>
            </a:extLst>
          </a:blip>
          <a:srcRect l="4230" t="1006" r="1936" b="1193"/>
          <a:stretch>
            <a:fillRect/>
          </a:stretch>
        </p:blipFill>
        <p:spPr bwMode="auto">
          <a:xfrm>
            <a:off x="5531250" y="943208"/>
            <a:ext cx="5845456" cy="5778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FCF15172-355A-44FA-9FFE-69F39C25A902}"/>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TCP Connection State Modeling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r>
              <a:rPr lang="en-US" altLang="zh-CN"/>
              <a:t>Computer Networks, Chapter 6 The Transport Layer</a:t>
            </a:r>
            <a:endParaRPr lang="en-US" altLang="zh-CN" i="0"/>
          </a:p>
        </p:txBody>
      </p:sp>
      <p:pic>
        <p:nvPicPr>
          <p:cNvPr id="5"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99680" y="857886"/>
            <a:ext cx="4872848" cy="5918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3790B1A5-F125-4755-8A6E-39573C42D938}"/>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a:solidFill>
                  <a:srgbClr val="C00000"/>
                </a:solidFill>
                <a:latin typeface="微软雅黑" panose="020B0503020204020204" pitchFamily="34" charset="-122"/>
                <a:ea typeface="微软雅黑" panose="020B0503020204020204" pitchFamily="34" charset="-122"/>
                <a:cs typeface="+mn-cs"/>
              </a:rPr>
              <a:t>A Common Scenario</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74589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6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73732" name="Content Placeholder 2"/>
          <p:cNvSpPr>
            <a:spLocks noGrp="1"/>
          </p:cNvSpPr>
          <p:nvPr>
            <p:ph idx="1"/>
          </p:nvPr>
        </p:nvSpPr>
        <p:spPr>
          <a:xfrm>
            <a:off x="488950" y="2039253"/>
            <a:ext cx="5026326" cy="1772352"/>
          </a:xfrm>
        </p:spPr>
        <p:txBody>
          <a:bodyPr/>
          <a:lstStyle/>
          <a:p>
            <a:r>
              <a:rPr lang="en-US" altLang="zh-CN" dirty="0">
                <a:ea typeface="宋体" panose="02010600030101010101" pitchFamily="2" charset="-122"/>
              </a:rPr>
              <a:t>TCP adds flow control to the sliding window as before</a:t>
            </a:r>
          </a:p>
          <a:p>
            <a:pPr lvl="1"/>
            <a:r>
              <a:rPr lang="en-US" altLang="zh-CN" dirty="0">
                <a:ea typeface="宋体" panose="02010600030101010101" pitchFamily="2" charset="-122"/>
              </a:rPr>
              <a:t>ACK + WIN is the sender’s limit</a:t>
            </a:r>
          </a:p>
        </p:txBody>
      </p:sp>
      <p:pic>
        <p:nvPicPr>
          <p:cNvPr id="73733" name="Picture 2"/>
          <p:cNvPicPr>
            <a:picLocks noChangeAspect="1" noChangeArrowheads="1"/>
          </p:cNvPicPr>
          <p:nvPr/>
        </p:nvPicPr>
        <p:blipFill>
          <a:blip r:embed="rId3">
            <a:extLst>
              <a:ext uri="{28A0092B-C50C-407E-A947-70E740481C1C}">
                <a14:useLocalDpi xmlns:a14="http://schemas.microsoft.com/office/drawing/2010/main" val="0"/>
              </a:ext>
            </a:extLst>
          </a:blip>
          <a:srcRect l="2480" t="2626" r="3078" b="2425"/>
          <a:stretch>
            <a:fillRect/>
          </a:stretch>
        </p:blipFill>
        <p:spPr bwMode="auto">
          <a:xfrm>
            <a:off x="5998745" y="1339457"/>
            <a:ext cx="4848225" cy="447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8998208B-5237-429E-9D29-92D7DE7B01B3}"/>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TCP Sliding Window (1)</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75780" name="Content Placeholder 2"/>
          <p:cNvSpPr>
            <a:spLocks noGrp="1"/>
          </p:cNvSpPr>
          <p:nvPr>
            <p:ph idx="1"/>
          </p:nvPr>
        </p:nvSpPr>
        <p:spPr>
          <a:xfrm>
            <a:off x="1285241" y="1039815"/>
            <a:ext cx="9905999" cy="1103946"/>
          </a:xfrm>
        </p:spPr>
        <p:txBody>
          <a:bodyPr/>
          <a:lstStyle/>
          <a:p>
            <a:r>
              <a:rPr lang="en-US" altLang="zh-CN" dirty="0">
                <a:ea typeface="宋体" panose="02010600030101010101" pitchFamily="2" charset="-122"/>
              </a:rPr>
              <a:t>Need to add special cases to avoid unwanted behavior</a:t>
            </a:r>
          </a:p>
          <a:p>
            <a:pPr lvl="1"/>
            <a:r>
              <a:rPr lang="en-US" altLang="zh-CN" dirty="0">
                <a:ea typeface="宋体" panose="02010600030101010101" pitchFamily="2" charset="-122"/>
              </a:rPr>
              <a:t>E.g., silly window syndrome [below]</a:t>
            </a:r>
          </a:p>
        </p:txBody>
      </p:sp>
      <p:pic>
        <p:nvPicPr>
          <p:cNvPr id="7578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40074" y="1949453"/>
            <a:ext cx="6596332" cy="3748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2" name="TextBox 8"/>
          <p:cNvSpPr txBox="1">
            <a:spLocks noChangeArrowheads="1"/>
          </p:cNvSpPr>
          <p:nvPr/>
        </p:nvSpPr>
        <p:spPr bwMode="auto">
          <a:xfrm>
            <a:off x="3705225" y="5697538"/>
            <a:ext cx="48958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dirty="0">
                <a:solidFill>
                  <a:srgbClr val="FF2BD8"/>
                </a:solidFill>
                <a:ea typeface="宋体" panose="02010600030101010101" pitchFamily="2" charset="-122"/>
              </a:rPr>
              <a:t>Receiver application reads single bytes, so sender always sends one byte segments </a:t>
            </a:r>
          </a:p>
        </p:txBody>
      </p:sp>
      <p:sp>
        <p:nvSpPr>
          <p:cNvPr id="7" name="矩形 6">
            <a:extLst>
              <a:ext uri="{FF2B5EF4-FFF2-40B4-BE49-F238E27FC236}">
                <a16:creationId xmlns:a16="http://schemas.microsoft.com/office/drawing/2014/main" id="{E3B0D01A-A2BC-41DB-AF00-D25AA195D1A6}"/>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rPr>
              <a:t>TCP Sliding Window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77828" name="Content Placeholder 2"/>
          <p:cNvSpPr>
            <a:spLocks noGrp="1"/>
          </p:cNvSpPr>
          <p:nvPr>
            <p:ph idx="1"/>
          </p:nvPr>
        </p:nvSpPr>
        <p:spPr>
          <a:xfrm>
            <a:off x="1287462" y="959805"/>
            <a:ext cx="8948738" cy="1310956"/>
          </a:xfrm>
        </p:spPr>
        <p:txBody>
          <a:bodyPr/>
          <a:lstStyle/>
          <a:p>
            <a:r>
              <a:rPr lang="en-US" altLang="zh-CN" dirty="0">
                <a:ea typeface="宋体" panose="02010600030101010101" pitchFamily="2" charset="-122"/>
              </a:rPr>
              <a:t>TCP estimates retransmit timer from segment RTTs</a:t>
            </a:r>
          </a:p>
          <a:p>
            <a:pPr lvl="1"/>
            <a:r>
              <a:rPr lang="en-US" altLang="zh-CN" dirty="0">
                <a:ea typeface="宋体" panose="02010600030101010101" pitchFamily="2" charset="-122"/>
              </a:rPr>
              <a:t>Tracks both average and variance (for Internet case)</a:t>
            </a:r>
          </a:p>
          <a:p>
            <a:pPr lvl="1"/>
            <a:r>
              <a:rPr lang="en-US" altLang="zh-CN" dirty="0">
                <a:ea typeface="宋体" panose="02010600030101010101" pitchFamily="2" charset="-122"/>
              </a:rPr>
              <a:t>Timeout is set to average plus 4 x variance</a:t>
            </a:r>
          </a:p>
        </p:txBody>
      </p:sp>
      <p:pic>
        <p:nvPicPr>
          <p:cNvPr id="77829" name="Picture 2"/>
          <p:cNvPicPr>
            <a:picLocks noChangeAspect="1" noChangeArrowheads="1"/>
          </p:cNvPicPr>
          <p:nvPr/>
        </p:nvPicPr>
        <p:blipFill>
          <a:blip r:embed="rId3">
            <a:extLst>
              <a:ext uri="{28A0092B-C50C-407E-A947-70E740481C1C}">
                <a14:useLocalDpi xmlns:a14="http://schemas.microsoft.com/office/drawing/2010/main" val="0"/>
              </a:ext>
            </a:extLst>
          </a:blip>
          <a:srcRect b="10162"/>
          <a:stretch>
            <a:fillRect/>
          </a:stretch>
        </p:blipFill>
        <p:spPr bwMode="auto">
          <a:xfrm>
            <a:off x="2704306" y="2449194"/>
            <a:ext cx="6783387" cy="305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30" name="TextBox 11"/>
          <p:cNvSpPr txBox="1">
            <a:spLocks noChangeArrowheads="1"/>
          </p:cNvSpPr>
          <p:nvPr/>
        </p:nvSpPr>
        <p:spPr bwMode="auto">
          <a:xfrm>
            <a:off x="3196590" y="5603716"/>
            <a:ext cx="271303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a:solidFill>
                  <a:srgbClr val="FF2BD8"/>
                </a:solidFill>
                <a:ea typeface="宋体" panose="02010600030101010101" pitchFamily="2" charset="-122"/>
              </a:rPr>
              <a:t>LAN case – small, regular RTT</a:t>
            </a:r>
          </a:p>
        </p:txBody>
      </p:sp>
      <p:sp>
        <p:nvSpPr>
          <p:cNvPr id="77831" name="TextBox 12"/>
          <p:cNvSpPr txBox="1">
            <a:spLocks noChangeArrowheads="1"/>
          </p:cNvSpPr>
          <p:nvPr/>
        </p:nvSpPr>
        <p:spPr bwMode="auto">
          <a:xfrm>
            <a:off x="7062153" y="5594191"/>
            <a:ext cx="20304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dirty="0">
                <a:solidFill>
                  <a:srgbClr val="FF2BD8"/>
                </a:solidFill>
                <a:ea typeface="宋体" panose="02010600030101010101" pitchFamily="2" charset="-122"/>
              </a:rPr>
              <a:t>Internet case – large, varied RTT</a:t>
            </a:r>
          </a:p>
        </p:txBody>
      </p:sp>
      <p:sp>
        <p:nvSpPr>
          <p:cNvPr id="8" name="矩形 7">
            <a:extLst>
              <a:ext uri="{FF2B5EF4-FFF2-40B4-BE49-F238E27FC236}">
                <a16:creationId xmlns:a16="http://schemas.microsoft.com/office/drawing/2014/main" id="{194C19B0-BF30-4E44-A3D6-B1D0FD1C6EEA}"/>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TCP Timer Management</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63492" name="Rectangle 3"/>
          <p:cNvSpPr>
            <a:spLocks noGrp="1" noChangeArrowheads="1"/>
          </p:cNvSpPr>
          <p:nvPr>
            <p:ph idx="1"/>
          </p:nvPr>
        </p:nvSpPr>
        <p:spPr>
          <a:xfrm>
            <a:off x="2905125" y="1990725"/>
            <a:ext cx="7315200" cy="3754755"/>
          </a:xfrm>
        </p:spPr>
        <p:txBody>
          <a:bodyPr/>
          <a:lstStyle/>
          <a:p>
            <a:pPr lvl="1"/>
            <a:r>
              <a:rPr lang="en-US" altLang="zh-CN" dirty="0">
                <a:ea typeface="宋体" panose="02010600030101010101" pitchFamily="2" charset="-122"/>
              </a:rPr>
              <a:t>The TCP service model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ea typeface="宋体" panose="02010600030101010101" pitchFamily="2" charset="-122"/>
              </a:rPr>
              <a:t>The TCP segment header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ea typeface="宋体" panose="02010600030101010101" pitchFamily="2" charset="-122"/>
              </a:rPr>
              <a:t>TCP connection establishment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ea typeface="宋体" panose="02010600030101010101" pitchFamily="2" charset="-122"/>
              </a:rPr>
              <a:t>TCP connection state modeling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ea typeface="宋体" panose="02010600030101010101" pitchFamily="2" charset="-122"/>
              </a:rPr>
              <a:t>TCP sliding window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ea typeface="宋体" panose="02010600030101010101" pitchFamily="2" charset="-122"/>
              </a:rPr>
              <a:t>TCP timer management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ea typeface="宋体" panose="02010600030101010101" pitchFamily="2" charset="-122"/>
              </a:rPr>
              <a:t>TCP congestion control </a:t>
            </a:r>
            <a:r>
              <a:rPr lang="en-US" altLang="zh-CN" dirty="0">
                <a:solidFill>
                  <a:srgbClr val="0000FF"/>
                </a:solidFill>
                <a:ea typeface="宋体" panose="02010600030101010101" pitchFamily="2" charset="-122"/>
              </a:rPr>
              <a:t>»</a:t>
            </a:r>
          </a:p>
          <a:p>
            <a:pPr lvl="2"/>
            <a:r>
              <a:rPr lang="en-US" altLang="zh-CN" dirty="0">
                <a:solidFill>
                  <a:srgbClr val="0000FF"/>
                </a:solidFill>
                <a:ea typeface="宋体" panose="02010600030101010101" pitchFamily="2" charset="-122"/>
              </a:rPr>
              <a:t>Principles of congestion control</a:t>
            </a:r>
          </a:p>
          <a:p>
            <a:pPr lvl="2"/>
            <a:r>
              <a:rPr lang="en-US" altLang="zh-CN" dirty="0">
                <a:solidFill>
                  <a:srgbClr val="0000FF"/>
                </a:solidFill>
                <a:ea typeface="宋体" panose="02010600030101010101" pitchFamily="2" charset="-122"/>
              </a:rPr>
              <a:t>TCP congestion control</a:t>
            </a:r>
            <a:endParaRPr lang="en-US" altLang="zh-CN" dirty="0">
              <a:ea typeface="宋体" panose="02010600030101010101" pitchFamily="2" charset="-122"/>
            </a:endParaRPr>
          </a:p>
        </p:txBody>
      </p:sp>
      <p:sp>
        <p:nvSpPr>
          <p:cNvPr id="5" name="矩形 4">
            <a:extLst>
              <a:ext uri="{FF2B5EF4-FFF2-40B4-BE49-F238E27FC236}">
                <a16:creationId xmlns:a16="http://schemas.microsoft.com/office/drawing/2014/main" id="{EED1443A-4764-47F2-9DD7-EEB748D1A4C9}"/>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Internet Protocols – TCP</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9777475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5" name="矩形 4">
            <a:extLst>
              <a:ext uri="{FF2B5EF4-FFF2-40B4-BE49-F238E27FC236}">
                <a16:creationId xmlns:a16="http://schemas.microsoft.com/office/drawing/2014/main" id="{EED1443A-4764-47F2-9DD7-EEB748D1A4C9}"/>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Principles of congestion control</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393E75D7-A684-48DD-941F-F137F24E5D0A}"/>
              </a:ext>
            </a:extLst>
          </p:cNvPr>
          <p:cNvPicPr>
            <a:picLocks noChangeAspect="1"/>
          </p:cNvPicPr>
          <p:nvPr/>
        </p:nvPicPr>
        <p:blipFill>
          <a:blip r:embed="rId2"/>
          <a:stretch>
            <a:fillRect/>
          </a:stretch>
        </p:blipFill>
        <p:spPr>
          <a:xfrm>
            <a:off x="1086943" y="1274758"/>
            <a:ext cx="9522500" cy="4501202"/>
          </a:xfrm>
          <a:prstGeom prst="rect">
            <a:avLst/>
          </a:prstGeom>
        </p:spPr>
      </p:pic>
    </p:spTree>
    <p:extLst>
      <p:ext uri="{BB962C8B-B14F-4D97-AF65-F5344CB8AC3E}">
        <p14:creationId xmlns:p14="http://schemas.microsoft.com/office/powerpoint/2010/main" val="256537625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5" name="矩形 4">
            <a:extLst>
              <a:ext uri="{FF2B5EF4-FFF2-40B4-BE49-F238E27FC236}">
                <a16:creationId xmlns:a16="http://schemas.microsoft.com/office/drawing/2014/main" id="{EED1443A-4764-47F2-9DD7-EEB748D1A4C9}"/>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Causes/costs of congestion: scenario 1</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AC98B915-559F-4884-9FC6-9578C3CE4882}"/>
              </a:ext>
            </a:extLst>
          </p:cNvPr>
          <p:cNvPicPr>
            <a:picLocks noChangeAspect="1"/>
          </p:cNvPicPr>
          <p:nvPr/>
        </p:nvPicPr>
        <p:blipFill>
          <a:blip r:embed="rId2"/>
          <a:stretch>
            <a:fillRect/>
          </a:stretch>
        </p:blipFill>
        <p:spPr>
          <a:xfrm>
            <a:off x="1267917" y="1029005"/>
            <a:ext cx="8648243" cy="5215898"/>
          </a:xfrm>
          <a:prstGeom prst="rect">
            <a:avLst/>
          </a:prstGeom>
        </p:spPr>
      </p:pic>
    </p:spTree>
    <p:extLst>
      <p:ext uri="{BB962C8B-B14F-4D97-AF65-F5344CB8AC3E}">
        <p14:creationId xmlns:p14="http://schemas.microsoft.com/office/powerpoint/2010/main" val="40815496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5" name="矩形 4">
            <a:extLst>
              <a:ext uri="{FF2B5EF4-FFF2-40B4-BE49-F238E27FC236}">
                <a16:creationId xmlns:a16="http://schemas.microsoft.com/office/drawing/2014/main" id="{EED1443A-4764-47F2-9DD7-EEB748D1A4C9}"/>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Causes/costs of congestion: scenario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D7EC861B-4C97-4F8E-B254-BD27DF314F8F}"/>
              </a:ext>
            </a:extLst>
          </p:cNvPr>
          <p:cNvPicPr>
            <a:picLocks noChangeAspect="1"/>
          </p:cNvPicPr>
          <p:nvPr/>
        </p:nvPicPr>
        <p:blipFill>
          <a:blip r:embed="rId2"/>
          <a:stretch>
            <a:fillRect/>
          </a:stretch>
        </p:blipFill>
        <p:spPr>
          <a:xfrm>
            <a:off x="1535889" y="1001870"/>
            <a:ext cx="7760511" cy="5291614"/>
          </a:xfrm>
          <a:prstGeom prst="rect">
            <a:avLst/>
          </a:prstGeom>
        </p:spPr>
      </p:pic>
    </p:spTree>
    <p:extLst>
      <p:ext uri="{BB962C8B-B14F-4D97-AF65-F5344CB8AC3E}">
        <p14:creationId xmlns:p14="http://schemas.microsoft.com/office/powerpoint/2010/main" val="167542728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5" name="矩形 4">
            <a:extLst>
              <a:ext uri="{FF2B5EF4-FFF2-40B4-BE49-F238E27FC236}">
                <a16:creationId xmlns:a16="http://schemas.microsoft.com/office/drawing/2014/main" id="{EED1443A-4764-47F2-9DD7-EEB748D1A4C9}"/>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Causes/costs of congestion: scenario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2AEEC509-F539-47FE-869A-3A5EB3663300}"/>
              </a:ext>
            </a:extLst>
          </p:cNvPr>
          <p:cNvPicPr>
            <a:picLocks noChangeAspect="1"/>
          </p:cNvPicPr>
          <p:nvPr/>
        </p:nvPicPr>
        <p:blipFill>
          <a:blip r:embed="rId2"/>
          <a:stretch>
            <a:fillRect/>
          </a:stretch>
        </p:blipFill>
        <p:spPr>
          <a:xfrm>
            <a:off x="1664636" y="1041070"/>
            <a:ext cx="7448354" cy="5253049"/>
          </a:xfrm>
          <a:prstGeom prst="rect">
            <a:avLst/>
          </a:prstGeom>
        </p:spPr>
      </p:pic>
    </p:spTree>
    <p:extLst>
      <p:ext uri="{BB962C8B-B14F-4D97-AF65-F5344CB8AC3E}">
        <p14:creationId xmlns:p14="http://schemas.microsoft.com/office/powerpoint/2010/main" val="144843575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5" name="矩形 4">
            <a:extLst>
              <a:ext uri="{FF2B5EF4-FFF2-40B4-BE49-F238E27FC236}">
                <a16:creationId xmlns:a16="http://schemas.microsoft.com/office/drawing/2014/main" id="{EED1443A-4764-47F2-9DD7-EEB748D1A4C9}"/>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Causes/costs of congestion: scenario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2514EBE8-A904-4EA3-8844-45F61EB7ABF6}"/>
              </a:ext>
            </a:extLst>
          </p:cNvPr>
          <p:cNvPicPr>
            <a:picLocks noChangeAspect="1"/>
          </p:cNvPicPr>
          <p:nvPr/>
        </p:nvPicPr>
        <p:blipFill>
          <a:blip r:embed="rId2"/>
          <a:stretch>
            <a:fillRect/>
          </a:stretch>
        </p:blipFill>
        <p:spPr>
          <a:xfrm>
            <a:off x="1555103" y="949960"/>
            <a:ext cx="7604137" cy="5359399"/>
          </a:xfrm>
          <a:prstGeom prst="rect">
            <a:avLst/>
          </a:prstGeom>
        </p:spPr>
      </p:pic>
    </p:spTree>
    <p:extLst>
      <p:ext uri="{BB962C8B-B14F-4D97-AF65-F5344CB8AC3E}">
        <p14:creationId xmlns:p14="http://schemas.microsoft.com/office/powerpoint/2010/main" val="30493764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5" name="矩形 4">
            <a:extLst>
              <a:ext uri="{FF2B5EF4-FFF2-40B4-BE49-F238E27FC236}">
                <a16:creationId xmlns:a16="http://schemas.microsoft.com/office/drawing/2014/main" id="{EED1443A-4764-47F2-9DD7-EEB748D1A4C9}"/>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Causes/costs of congestion: scenario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61D34C09-38C5-4ADB-B57D-FBA34A0EF49A}"/>
              </a:ext>
            </a:extLst>
          </p:cNvPr>
          <p:cNvPicPr>
            <a:picLocks noChangeAspect="1"/>
          </p:cNvPicPr>
          <p:nvPr/>
        </p:nvPicPr>
        <p:blipFill>
          <a:blip r:embed="rId2"/>
          <a:stretch>
            <a:fillRect/>
          </a:stretch>
        </p:blipFill>
        <p:spPr>
          <a:xfrm>
            <a:off x="1557319" y="943538"/>
            <a:ext cx="8250033" cy="5375982"/>
          </a:xfrm>
          <a:prstGeom prst="rect">
            <a:avLst/>
          </a:prstGeom>
        </p:spPr>
      </p:pic>
    </p:spTree>
    <p:extLst>
      <p:ext uri="{BB962C8B-B14F-4D97-AF65-F5344CB8AC3E}">
        <p14:creationId xmlns:p14="http://schemas.microsoft.com/office/powerpoint/2010/main" val="218761284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5" name="矩形 4">
            <a:extLst>
              <a:ext uri="{FF2B5EF4-FFF2-40B4-BE49-F238E27FC236}">
                <a16:creationId xmlns:a16="http://schemas.microsoft.com/office/drawing/2014/main" id="{EED1443A-4764-47F2-9DD7-EEB748D1A4C9}"/>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Causes/costs of congestion: scenario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E8F32BD0-E74F-4203-9444-A598AAECB6C6}"/>
              </a:ext>
            </a:extLst>
          </p:cNvPr>
          <p:cNvPicPr>
            <a:picLocks noChangeAspect="1"/>
          </p:cNvPicPr>
          <p:nvPr/>
        </p:nvPicPr>
        <p:blipFill>
          <a:blip r:embed="rId2"/>
          <a:stretch>
            <a:fillRect/>
          </a:stretch>
        </p:blipFill>
        <p:spPr>
          <a:xfrm>
            <a:off x="1568590" y="1017892"/>
            <a:ext cx="8164690" cy="5243801"/>
          </a:xfrm>
          <a:prstGeom prst="rect">
            <a:avLst/>
          </a:prstGeom>
        </p:spPr>
      </p:pic>
    </p:spTree>
    <p:extLst>
      <p:ext uri="{BB962C8B-B14F-4D97-AF65-F5344CB8AC3E}">
        <p14:creationId xmlns:p14="http://schemas.microsoft.com/office/powerpoint/2010/main" val="346490081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5" name="矩形 4">
            <a:extLst>
              <a:ext uri="{FF2B5EF4-FFF2-40B4-BE49-F238E27FC236}">
                <a16:creationId xmlns:a16="http://schemas.microsoft.com/office/drawing/2014/main" id="{EED1443A-4764-47F2-9DD7-EEB748D1A4C9}"/>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Causes/costs of congestion: scenario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0E2B3019-DF25-490A-8AB6-EEC5D5B99325}"/>
              </a:ext>
            </a:extLst>
          </p:cNvPr>
          <p:cNvPicPr>
            <a:picLocks noChangeAspect="1"/>
          </p:cNvPicPr>
          <p:nvPr/>
        </p:nvPicPr>
        <p:blipFill>
          <a:blip r:embed="rId2"/>
          <a:stretch>
            <a:fillRect/>
          </a:stretch>
        </p:blipFill>
        <p:spPr>
          <a:xfrm>
            <a:off x="1421745" y="1141560"/>
            <a:ext cx="8844935" cy="4757008"/>
          </a:xfrm>
          <a:prstGeom prst="rect">
            <a:avLst/>
          </a:prstGeom>
        </p:spPr>
      </p:pic>
    </p:spTree>
    <p:extLst>
      <p:ext uri="{BB962C8B-B14F-4D97-AF65-F5344CB8AC3E}">
        <p14:creationId xmlns:p14="http://schemas.microsoft.com/office/powerpoint/2010/main" val="320562103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5" name="矩形 4">
            <a:extLst>
              <a:ext uri="{FF2B5EF4-FFF2-40B4-BE49-F238E27FC236}">
                <a16:creationId xmlns:a16="http://schemas.microsoft.com/office/drawing/2014/main" id="{EED1443A-4764-47F2-9DD7-EEB748D1A4C9}"/>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Causes/costs of congestion: scenario 3</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9C24B028-1F33-4A93-8CA8-86497E4A435F}"/>
              </a:ext>
            </a:extLst>
          </p:cNvPr>
          <p:cNvPicPr>
            <a:picLocks noChangeAspect="1"/>
          </p:cNvPicPr>
          <p:nvPr/>
        </p:nvPicPr>
        <p:blipFill>
          <a:blip r:embed="rId2"/>
          <a:stretch>
            <a:fillRect/>
          </a:stretch>
        </p:blipFill>
        <p:spPr>
          <a:xfrm>
            <a:off x="1366501" y="1038213"/>
            <a:ext cx="8001019" cy="5182478"/>
          </a:xfrm>
          <a:prstGeom prst="rect">
            <a:avLst/>
          </a:prstGeom>
        </p:spPr>
      </p:pic>
    </p:spTree>
    <p:extLst>
      <p:ext uri="{BB962C8B-B14F-4D97-AF65-F5344CB8AC3E}">
        <p14:creationId xmlns:p14="http://schemas.microsoft.com/office/powerpoint/2010/main" val="208777365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5" name="矩形 4">
            <a:extLst>
              <a:ext uri="{FF2B5EF4-FFF2-40B4-BE49-F238E27FC236}">
                <a16:creationId xmlns:a16="http://schemas.microsoft.com/office/drawing/2014/main" id="{EED1443A-4764-47F2-9DD7-EEB748D1A4C9}"/>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Causes/costs of congestion: scenario 3</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E1F3B6DE-0F75-42DA-A6C9-FF4EFEB92E1B}"/>
              </a:ext>
            </a:extLst>
          </p:cNvPr>
          <p:cNvPicPr>
            <a:picLocks noChangeAspect="1"/>
          </p:cNvPicPr>
          <p:nvPr/>
        </p:nvPicPr>
        <p:blipFill>
          <a:blip r:embed="rId2"/>
          <a:stretch>
            <a:fillRect/>
          </a:stretch>
        </p:blipFill>
        <p:spPr>
          <a:xfrm>
            <a:off x="1400476" y="1250622"/>
            <a:ext cx="7975460" cy="4886018"/>
          </a:xfrm>
          <a:prstGeom prst="rect">
            <a:avLst/>
          </a:prstGeom>
        </p:spPr>
      </p:pic>
    </p:spTree>
    <p:extLst>
      <p:ext uri="{BB962C8B-B14F-4D97-AF65-F5344CB8AC3E}">
        <p14:creationId xmlns:p14="http://schemas.microsoft.com/office/powerpoint/2010/main" val="225492027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5" name="矩形 4">
            <a:extLst>
              <a:ext uri="{FF2B5EF4-FFF2-40B4-BE49-F238E27FC236}">
                <a16:creationId xmlns:a16="http://schemas.microsoft.com/office/drawing/2014/main" id="{EED1443A-4764-47F2-9DD7-EEB748D1A4C9}"/>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Approaches towards congestion control</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DEF8AA92-4983-439F-AC2C-AFB1213EC493}"/>
              </a:ext>
            </a:extLst>
          </p:cNvPr>
          <p:cNvPicPr>
            <a:picLocks noChangeAspect="1"/>
          </p:cNvPicPr>
          <p:nvPr/>
        </p:nvPicPr>
        <p:blipFill>
          <a:blip r:embed="rId2"/>
          <a:stretch>
            <a:fillRect/>
          </a:stretch>
        </p:blipFill>
        <p:spPr>
          <a:xfrm>
            <a:off x="1116294" y="1079171"/>
            <a:ext cx="8891306" cy="5143011"/>
          </a:xfrm>
          <a:prstGeom prst="rect">
            <a:avLst/>
          </a:prstGeom>
        </p:spPr>
      </p:pic>
    </p:spTree>
    <p:extLst>
      <p:ext uri="{BB962C8B-B14F-4D97-AF65-F5344CB8AC3E}">
        <p14:creationId xmlns:p14="http://schemas.microsoft.com/office/powerpoint/2010/main" val="129840142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endParaRPr lang="en-US" altLang="zh-CN" i="0"/>
          </a:p>
        </p:txBody>
      </p:sp>
      <p:sp>
        <p:nvSpPr>
          <p:cNvPr id="79876" name="Content Placeholder 3"/>
          <p:cNvSpPr>
            <a:spLocks noGrp="1"/>
          </p:cNvSpPr>
          <p:nvPr>
            <p:ph idx="1"/>
          </p:nvPr>
        </p:nvSpPr>
        <p:spPr>
          <a:xfrm>
            <a:off x="1046481" y="996156"/>
            <a:ext cx="10149839" cy="2219483"/>
          </a:xfrm>
        </p:spPr>
        <p:txBody>
          <a:bodyPr>
            <a:normAutofit fontScale="92500" lnSpcReduction="20000"/>
          </a:bodyPr>
          <a:lstStyle/>
          <a:p>
            <a:pPr>
              <a:lnSpc>
                <a:spcPct val="120000"/>
              </a:lnSpc>
            </a:pPr>
            <a:r>
              <a:rPr lang="en-US" altLang="zh-CN" dirty="0">
                <a:ea typeface="宋体" panose="02010600030101010101" pitchFamily="2" charset="-122"/>
              </a:rPr>
              <a:t>TCP uses AIMD with loss signal to control congestion</a:t>
            </a:r>
          </a:p>
          <a:p>
            <a:pPr lvl="1">
              <a:lnSpc>
                <a:spcPct val="120000"/>
              </a:lnSpc>
            </a:pPr>
            <a:r>
              <a:rPr lang="en-US" altLang="zh-CN" dirty="0">
                <a:ea typeface="宋体" panose="02010600030101010101" pitchFamily="2" charset="-122"/>
              </a:rPr>
              <a:t>Implemented as a </a:t>
            </a:r>
            <a:r>
              <a:rPr lang="en-US" altLang="zh-CN" u="sng" dirty="0">
                <a:ea typeface="宋体" panose="02010600030101010101" pitchFamily="2" charset="-122"/>
              </a:rPr>
              <a:t>congestion window</a:t>
            </a:r>
            <a:r>
              <a:rPr lang="en-US" altLang="zh-CN" dirty="0">
                <a:ea typeface="宋体" panose="02010600030101010101" pitchFamily="2" charset="-122"/>
              </a:rPr>
              <a:t> (</a:t>
            </a:r>
            <a:r>
              <a:rPr lang="en-US" altLang="zh-CN" dirty="0" err="1">
                <a:ea typeface="宋体" panose="02010600030101010101" pitchFamily="2" charset="-122"/>
              </a:rPr>
              <a:t>cwnd</a:t>
            </a:r>
            <a:r>
              <a:rPr lang="en-US" altLang="zh-CN" dirty="0">
                <a:ea typeface="宋体" panose="02010600030101010101" pitchFamily="2" charset="-122"/>
              </a:rPr>
              <a:t>) for the number of segments that may be in the network</a:t>
            </a:r>
          </a:p>
          <a:p>
            <a:pPr lvl="1">
              <a:lnSpc>
                <a:spcPct val="120000"/>
              </a:lnSpc>
            </a:pPr>
            <a:r>
              <a:rPr lang="en-US" altLang="zh-CN" dirty="0">
                <a:ea typeface="宋体" panose="02010600030101010101" pitchFamily="2" charset="-122"/>
              </a:rPr>
              <a:t>Uses several mechanisms that work together</a:t>
            </a:r>
            <a:r>
              <a:rPr lang="zh-CN" altLang="en-US" dirty="0">
                <a:ea typeface="宋体" panose="02010600030101010101" pitchFamily="2" charset="-122"/>
              </a:rPr>
              <a:t>。</a:t>
            </a:r>
            <a:endParaRPr lang="en-US" altLang="zh-CN" dirty="0">
              <a:ea typeface="宋体" panose="02010600030101010101" pitchFamily="2" charset="-122"/>
            </a:endParaRPr>
          </a:p>
          <a:p>
            <a:pPr lvl="1">
              <a:lnSpc>
                <a:spcPct val="120000"/>
              </a:lnSpc>
            </a:pP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TCP</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拥塞控制主要有四种算法</a:t>
            </a:r>
            <a:r>
              <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慢开始（</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slow-start</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）、拥塞避免（</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Congestion Avoidance</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）、快重传（</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Fast Retransmit</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）、快恢复（</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Fast Recovery</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endParaRPr lang="en-US" altLang="zh-CN" dirty="0">
              <a:ea typeface="宋体" panose="02010600030101010101" pitchFamily="2" charset="-122"/>
            </a:endParaRPr>
          </a:p>
        </p:txBody>
      </p:sp>
      <p:graphicFrame>
        <p:nvGraphicFramePr>
          <p:cNvPr id="7" name="Content Placeholder 6"/>
          <p:cNvGraphicFramePr>
            <a:graphicFrameLocks/>
          </p:cNvGraphicFramePr>
          <p:nvPr>
            <p:extLst>
              <p:ext uri="{D42A27DB-BD31-4B8C-83A1-F6EECF244321}">
                <p14:modId xmlns:p14="http://schemas.microsoft.com/office/powerpoint/2010/main" val="1055040052"/>
              </p:ext>
            </p:extLst>
          </p:nvPr>
        </p:nvGraphicFramePr>
        <p:xfrm>
          <a:off x="1950085" y="3322979"/>
          <a:ext cx="7600949" cy="2926030"/>
        </p:xfrm>
        <a:graphic>
          <a:graphicData uri="http://schemas.openxmlformats.org/drawingml/2006/table">
            <a:tbl>
              <a:tblPr firstRow="1" bandRow="1">
                <a:tableStyleId>{5C22544A-7EE6-4342-B048-85BDC9FD1C3A}</a:tableStyleId>
              </a:tblPr>
              <a:tblGrid>
                <a:gridCol w="1328771">
                  <a:extLst>
                    <a:ext uri="{9D8B030D-6E8A-4147-A177-3AD203B41FA5}">
                      <a16:colId xmlns:a16="http://schemas.microsoft.com/office/drawing/2014/main" val="20000"/>
                    </a:ext>
                  </a:extLst>
                </a:gridCol>
                <a:gridCol w="3103567">
                  <a:extLst>
                    <a:ext uri="{9D8B030D-6E8A-4147-A177-3AD203B41FA5}">
                      <a16:colId xmlns:a16="http://schemas.microsoft.com/office/drawing/2014/main" val="20001"/>
                    </a:ext>
                  </a:extLst>
                </a:gridCol>
                <a:gridCol w="3168611">
                  <a:extLst>
                    <a:ext uri="{9D8B030D-6E8A-4147-A177-3AD203B41FA5}">
                      <a16:colId xmlns:a16="http://schemas.microsoft.com/office/drawing/2014/main" val="20002"/>
                    </a:ext>
                  </a:extLst>
                </a:gridCol>
              </a:tblGrid>
              <a:tr h="349717">
                <a:tc>
                  <a:txBody>
                    <a:bodyPr/>
                    <a:lstStyle/>
                    <a:p>
                      <a:pPr algn="l"/>
                      <a:r>
                        <a:rPr lang="en-US" sz="1800" dirty="0">
                          <a:ln>
                            <a:noFill/>
                          </a:ln>
                          <a:solidFill>
                            <a:schemeClr val="tx1"/>
                          </a:solidFill>
                          <a:latin typeface="Arial" pitchFamily="34" charset="0"/>
                          <a:cs typeface="Arial" pitchFamily="34" charset="0"/>
                        </a:rPr>
                        <a:t>Name</a:t>
                      </a:r>
                    </a:p>
                  </a:txBody>
                  <a:tcPr marL="94964" marR="94964" marT="45715" marB="4571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800" dirty="0">
                          <a:ln>
                            <a:noFill/>
                          </a:ln>
                          <a:solidFill>
                            <a:schemeClr val="tx1"/>
                          </a:solidFill>
                          <a:latin typeface="Arial" pitchFamily="34" charset="0"/>
                          <a:cs typeface="Arial" pitchFamily="34" charset="0"/>
                        </a:rPr>
                        <a:t>Mechanism</a:t>
                      </a:r>
                    </a:p>
                  </a:txBody>
                  <a:tcPr marL="94964" marR="94964" marT="45715" marB="4571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800" dirty="0">
                          <a:ln>
                            <a:noFill/>
                          </a:ln>
                          <a:solidFill>
                            <a:schemeClr val="tx1"/>
                          </a:solidFill>
                          <a:latin typeface="Arial" pitchFamily="34" charset="0"/>
                          <a:cs typeface="Arial" pitchFamily="34" charset="0"/>
                        </a:rPr>
                        <a:t>Purpose</a:t>
                      </a:r>
                    </a:p>
                  </a:txBody>
                  <a:tcPr marL="94964" marR="94964" marT="45715" marB="4571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49717">
                <a:tc>
                  <a:txBody>
                    <a:bodyPr/>
                    <a:lstStyle/>
                    <a:p>
                      <a:pPr algn="l"/>
                      <a:r>
                        <a:rPr lang="en-US" sz="1800" dirty="0">
                          <a:ln>
                            <a:noFill/>
                          </a:ln>
                          <a:solidFill>
                            <a:schemeClr val="tx1"/>
                          </a:solidFill>
                          <a:latin typeface="Arial" pitchFamily="34" charset="0"/>
                          <a:cs typeface="Arial" pitchFamily="34" charset="0"/>
                        </a:rPr>
                        <a:t>ACK clock</a:t>
                      </a:r>
                    </a:p>
                  </a:txBody>
                  <a:tcPr marL="94964" marR="94964" marT="45715" marB="4571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800" dirty="0">
                          <a:ln>
                            <a:noFill/>
                          </a:ln>
                          <a:solidFill>
                            <a:schemeClr val="tx1"/>
                          </a:solidFill>
                          <a:latin typeface="Arial" pitchFamily="34" charset="0"/>
                          <a:cs typeface="Arial" pitchFamily="34" charset="0"/>
                        </a:rPr>
                        <a:t>Congestion</a:t>
                      </a:r>
                      <a:r>
                        <a:rPr lang="en-US" sz="1800" baseline="0" dirty="0">
                          <a:ln>
                            <a:noFill/>
                          </a:ln>
                          <a:solidFill>
                            <a:schemeClr val="tx1"/>
                          </a:solidFill>
                          <a:latin typeface="Arial" pitchFamily="34" charset="0"/>
                          <a:cs typeface="Arial" pitchFamily="34" charset="0"/>
                        </a:rPr>
                        <a:t> window (</a:t>
                      </a:r>
                      <a:r>
                        <a:rPr lang="en-US" sz="1800" baseline="0" dirty="0" err="1">
                          <a:ln>
                            <a:noFill/>
                          </a:ln>
                          <a:solidFill>
                            <a:schemeClr val="tx1"/>
                          </a:solidFill>
                          <a:latin typeface="Arial" pitchFamily="34" charset="0"/>
                          <a:cs typeface="Arial" pitchFamily="34" charset="0"/>
                        </a:rPr>
                        <a:t>cwnd</a:t>
                      </a:r>
                      <a:r>
                        <a:rPr lang="en-US" sz="1800" baseline="0" dirty="0">
                          <a:ln>
                            <a:noFill/>
                          </a:ln>
                          <a:solidFill>
                            <a:schemeClr val="tx1"/>
                          </a:solidFill>
                          <a:latin typeface="Arial" pitchFamily="34" charset="0"/>
                          <a:cs typeface="Arial" pitchFamily="34" charset="0"/>
                        </a:rPr>
                        <a:t>)</a:t>
                      </a:r>
                      <a:endParaRPr lang="en-US" sz="1800" dirty="0">
                        <a:ln>
                          <a:noFill/>
                        </a:ln>
                        <a:solidFill>
                          <a:schemeClr val="tx1"/>
                        </a:solidFill>
                        <a:latin typeface="Arial" pitchFamily="34" charset="0"/>
                        <a:cs typeface="Arial" pitchFamily="34" charset="0"/>
                      </a:endParaRPr>
                    </a:p>
                  </a:txBody>
                  <a:tcPr marL="94964" marR="94964" marT="45715" marB="4571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800" dirty="0">
                          <a:ln>
                            <a:noFill/>
                          </a:ln>
                          <a:solidFill>
                            <a:schemeClr val="tx1"/>
                          </a:solidFill>
                          <a:latin typeface="Arial" pitchFamily="34" charset="0"/>
                          <a:cs typeface="Arial" pitchFamily="34" charset="0"/>
                        </a:rPr>
                        <a:t>Smooth out packet bursts</a:t>
                      </a:r>
                    </a:p>
                  </a:txBody>
                  <a:tcPr marL="94964" marR="94964" marT="45715" marB="4571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612011">
                <a:tc>
                  <a:txBody>
                    <a:bodyPr/>
                    <a:lstStyle/>
                    <a:p>
                      <a:pPr algn="l"/>
                      <a:r>
                        <a:rPr lang="en-US" sz="1800" dirty="0">
                          <a:ln>
                            <a:noFill/>
                          </a:ln>
                          <a:solidFill>
                            <a:schemeClr val="tx1"/>
                          </a:solidFill>
                          <a:latin typeface="Arial" pitchFamily="34" charset="0"/>
                          <a:cs typeface="Arial" pitchFamily="34" charset="0"/>
                        </a:rPr>
                        <a:t>Slow-start</a:t>
                      </a:r>
                    </a:p>
                  </a:txBody>
                  <a:tcPr marL="94964" marR="94964" marT="45715" marB="4571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800" dirty="0">
                          <a:ln>
                            <a:noFill/>
                          </a:ln>
                          <a:solidFill>
                            <a:schemeClr val="tx1"/>
                          </a:solidFill>
                          <a:latin typeface="Arial" pitchFamily="34" charset="0"/>
                          <a:cs typeface="Arial" pitchFamily="34" charset="0"/>
                        </a:rPr>
                        <a:t>Double</a:t>
                      </a:r>
                      <a:r>
                        <a:rPr lang="en-US" sz="1800" baseline="0" dirty="0">
                          <a:ln>
                            <a:noFill/>
                          </a:ln>
                          <a:solidFill>
                            <a:schemeClr val="tx1"/>
                          </a:solidFill>
                          <a:latin typeface="Arial" pitchFamily="34" charset="0"/>
                          <a:cs typeface="Arial" pitchFamily="34" charset="0"/>
                        </a:rPr>
                        <a:t> </a:t>
                      </a:r>
                      <a:r>
                        <a:rPr lang="en-US" sz="1800" baseline="0" dirty="0" err="1">
                          <a:ln>
                            <a:noFill/>
                          </a:ln>
                          <a:solidFill>
                            <a:schemeClr val="tx1"/>
                          </a:solidFill>
                          <a:latin typeface="Arial" pitchFamily="34" charset="0"/>
                          <a:cs typeface="Arial" pitchFamily="34" charset="0"/>
                        </a:rPr>
                        <a:t>cwnd</a:t>
                      </a:r>
                      <a:r>
                        <a:rPr lang="en-US" sz="1800" baseline="0" dirty="0">
                          <a:ln>
                            <a:noFill/>
                          </a:ln>
                          <a:solidFill>
                            <a:schemeClr val="tx1"/>
                          </a:solidFill>
                          <a:latin typeface="Arial" pitchFamily="34" charset="0"/>
                          <a:cs typeface="Arial" pitchFamily="34" charset="0"/>
                        </a:rPr>
                        <a:t> each RTT</a:t>
                      </a:r>
                      <a:endParaRPr lang="en-US" sz="1800" dirty="0">
                        <a:ln>
                          <a:noFill/>
                        </a:ln>
                        <a:solidFill>
                          <a:schemeClr val="tx1"/>
                        </a:solidFill>
                        <a:latin typeface="Arial" pitchFamily="34" charset="0"/>
                        <a:cs typeface="Arial" pitchFamily="34" charset="0"/>
                      </a:endParaRPr>
                    </a:p>
                  </a:txBody>
                  <a:tcPr marL="94964" marR="94964" marT="45715" marB="4571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800" dirty="0">
                          <a:ln>
                            <a:noFill/>
                          </a:ln>
                          <a:solidFill>
                            <a:schemeClr val="tx1"/>
                          </a:solidFill>
                          <a:latin typeface="Arial" pitchFamily="34" charset="0"/>
                          <a:cs typeface="Arial" pitchFamily="34" charset="0"/>
                        </a:rPr>
                        <a:t>Rapidly</a:t>
                      </a:r>
                      <a:r>
                        <a:rPr lang="en-US" sz="1800" baseline="0" dirty="0">
                          <a:ln>
                            <a:noFill/>
                          </a:ln>
                          <a:solidFill>
                            <a:schemeClr val="tx1"/>
                          </a:solidFill>
                          <a:latin typeface="Arial" pitchFamily="34" charset="0"/>
                          <a:cs typeface="Arial" pitchFamily="34" charset="0"/>
                        </a:rPr>
                        <a:t> increase send rate to reach roughly the right level</a:t>
                      </a:r>
                      <a:endParaRPr lang="en-US" sz="1800" dirty="0">
                        <a:ln>
                          <a:noFill/>
                        </a:ln>
                        <a:solidFill>
                          <a:schemeClr val="tx1"/>
                        </a:solidFill>
                        <a:latin typeface="Arial" pitchFamily="34" charset="0"/>
                        <a:cs typeface="Arial" pitchFamily="34" charset="0"/>
                      </a:endParaRPr>
                    </a:p>
                  </a:txBody>
                  <a:tcPr marL="94964" marR="94964" marT="45715" marB="4571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612011">
                <a:tc>
                  <a:txBody>
                    <a:bodyPr/>
                    <a:lstStyle/>
                    <a:p>
                      <a:pPr algn="l"/>
                      <a:r>
                        <a:rPr lang="en-US" sz="1800" dirty="0">
                          <a:ln>
                            <a:noFill/>
                          </a:ln>
                          <a:solidFill>
                            <a:schemeClr val="tx1"/>
                          </a:solidFill>
                          <a:latin typeface="Arial" pitchFamily="34" charset="0"/>
                          <a:cs typeface="Arial" pitchFamily="34" charset="0"/>
                        </a:rPr>
                        <a:t>Additive Increase</a:t>
                      </a:r>
                    </a:p>
                  </a:txBody>
                  <a:tcPr marL="94964" marR="94964" marT="45715" marB="4571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800" dirty="0">
                          <a:ln>
                            <a:noFill/>
                          </a:ln>
                          <a:solidFill>
                            <a:schemeClr val="tx1"/>
                          </a:solidFill>
                          <a:latin typeface="Arial" pitchFamily="34" charset="0"/>
                          <a:cs typeface="Arial" pitchFamily="34" charset="0"/>
                        </a:rPr>
                        <a:t>Increase </a:t>
                      </a:r>
                      <a:r>
                        <a:rPr lang="en-US" sz="1800" dirty="0" err="1">
                          <a:ln>
                            <a:noFill/>
                          </a:ln>
                          <a:solidFill>
                            <a:schemeClr val="tx1"/>
                          </a:solidFill>
                          <a:latin typeface="Arial" pitchFamily="34" charset="0"/>
                          <a:cs typeface="Arial" pitchFamily="34" charset="0"/>
                        </a:rPr>
                        <a:t>cwnd</a:t>
                      </a:r>
                      <a:r>
                        <a:rPr lang="en-US" sz="1800" dirty="0">
                          <a:ln>
                            <a:noFill/>
                          </a:ln>
                          <a:solidFill>
                            <a:schemeClr val="tx1"/>
                          </a:solidFill>
                          <a:latin typeface="Arial" pitchFamily="34" charset="0"/>
                          <a:cs typeface="Arial" pitchFamily="34" charset="0"/>
                        </a:rPr>
                        <a:t> by 1 packet each RTT</a:t>
                      </a:r>
                    </a:p>
                  </a:txBody>
                  <a:tcPr marL="94964" marR="94964" marT="45715" marB="4571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800" dirty="0">
                          <a:ln>
                            <a:noFill/>
                          </a:ln>
                          <a:solidFill>
                            <a:schemeClr val="tx1"/>
                          </a:solidFill>
                          <a:latin typeface="Arial" pitchFamily="34" charset="0"/>
                          <a:cs typeface="Arial" pitchFamily="34" charset="0"/>
                        </a:rPr>
                        <a:t>Slowly increase send rate to probe at about the right level </a:t>
                      </a:r>
                    </a:p>
                  </a:txBody>
                  <a:tcPr marL="94964" marR="94964" marT="45715" marB="4571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874306">
                <a:tc>
                  <a:txBody>
                    <a:bodyPr/>
                    <a:lstStyle/>
                    <a:p>
                      <a:pPr algn="l"/>
                      <a:r>
                        <a:rPr lang="en-US" sz="1800" dirty="0">
                          <a:ln>
                            <a:noFill/>
                          </a:ln>
                          <a:solidFill>
                            <a:schemeClr val="tx1"/>
                          </a:solidFill>
                          <a:latin typeface="Arial" pitchFamily="34" charset="0"/>
                          <a:cs typeface="Arial" pitchFamily="34" charset="0"/>
                        </a:rPr>
                        <a:t>Fast</a:t>
                      </a:r>
                      <a:r>
                        <a:rPr lang="en-US" sz="1800" baseline="0" dirty="0">
                          <a:ln>
                            <a:noFill/>
                          </a:ln>
                          <a:solidFill>
                            <a:schemeClr val="tx1"/>
                          </a:solidFill>
                          <a:latin typeface="Arial" pitchFamily="34" charset="0"/>
                          <a:cs typeface="Arial" pitchFamily="34" charset="0"/>
                        </a:rPr>
                        <a:t> retransmit / recovery</a:t>
                      </a:r>
                      <a:endParaRPr lang="en-US" sz="1800" dirty="0">
                        <a:ln>
                          <a:noFill/>
                        </a:ln>
                        <a:solidFill>
                          <a:schemeClr val="tx1"/>
                        </a:solidFill>
                        <a:latin typeface="Arial" pitchFamily="34" charset="0"/>
                        <a:cs typeface="Arial" pitchFamily="34" charset="0"/>
                      </a:endParaRPr>
                    </a:p>
                  </a:txBody>
                  <a:tcPr marL="94964" marR="94964" marT="45715" marB="4571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800" dirty="0">
                          <a:ln>
                            <a:noFill/>
                          </a:ln>
                          <a:solidFill>
                            <a:schemeClr val="tx1"/>
                          </a:solidFill>
                          <a:latin typeface="Arial" pitchFamily="34" charset="0"/>
                          <a:cs typeface="Arial" pitchFamily="34" charset="0"/>
                        </a:rPr>
                        <a:t>Resend lost packet after</a:t>
                      </a:r>
                      <a:r>
                        <a:rPr lang="en-US" sz="1800" baseline="0" dirty="0">
                          <a:ln>
                            <a:noFill/>
                          </a:ln>
                          <a:solidFill>
                            <a:schemeClr val="tx1"/>
                          </a:solidFill>
                          <a:latin typeface="Arial" pitchFamily="34" charset="0"/>
                          <a:cs typeface="Arial" pitchFamily="34" charset="0"/>
                        </a:rPr>
                        <a:t> 3 duplicate ACKs; send new packet for each new ACK</a:t>
                      </a:r>
                      <a:endParaRPr lang="en-US" sz="1800" dirty="0">
                        <a:ln>
                          <a:noFill/>
                        </a:ln>
                        <a:solidFill>
                          <a:schemeClr val="tx1"/>
                        </a:solidFill>
                        <a:latin typeface="Arial" pitchFamily="34" charset="0"/>
                        <a:cs typeface="Arial" pitchFamily="34" charset="0"/>
                      </a:endParaRPr>
                    </a:p>
                  </a:txBody>
                  <a:tcPr marL="94964" marR="94964" marT="45715" marB="4571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800" dirty="0">
                          <a:ln>
                            <a:noFill/>
                          </a:ln>
                          <a:solidFill>
                            <a:schemeClr val="tx1"/>
                          </a:solidFill>
                          <a:latin typeface="Arial" pitchFamily="34" charset="0"/>
                          <a:cs typeface="Arial" pitchFamily="34" charset="0"/>
                        </a:rPr>
                        <a:t>Recover from a lost packet without stopping ACK clock</a:t>
                      </a:r>
                    </a:p>
                  </a:txBody>
                  <a:tcPr marL="94964" marR="94964" marT="45715" marB="4571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bl>
          </a:graphicData>
        </a:graphic>
      </p:graphicFrame>
      <p:sp>
        <p:nvSpPr>
          <p:cNvPr id="6" name="矩形 5">
            <a:extLst>
              <a:ext uri="{FF2B5EF4-FFF2-40B4-BE49-F238E27FC236}">
                <a16:creationId xmlns:a16="http://schemas.microsoft.com/office/drawing/2014/main" id="{B86F17A0-0BE7-4B0C-88ED-4D30288E070F}"/>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TCP Congestion Control (1)</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endParaRPr lang="en-US" altLang="zh-CN" i="0"/>
          </a:p>
        </p:txBody>
      </p:sp>
      <p:sp>
        <p:nvSpPr>
          <p:cNvPr id="80900" name="Content Placeholder 3"/>
          <p:cNvSpPr>
            <a:spLocks noGrp="1"/>
          </p:cNvSpPr>
          <p:nvPr>
            <p:ph idx="1"/>
          </p:nvPr>
        </p:nvSpPr>
        <p:spPr>
          <a:xfrm>
            <a:off x="960121" y="1129507"/>
            <a:ext cx="10220960" cy="1811338"/>
          </a:xfrm>
        </p:spPr>
        <p:txBody>
          <a:bodyPr/>
          <a:lstStyle/>
          <a:p>
            <a:r>
              <a:rPr lang="en-US" altLang="zh-CN" dirty="0">
                <a:ea typeface="宋体" panose="02010600030101010101" pitchFamily="2" charset="-122"/>
              </a:rPr>
              <a:t>Congestion window controls the sending rate</a:t>
            </a:r>
          </a:p>
          <a:p>
            <a:pPr lvl="1"/>
            <a:r>
              <a:rPr lang="en-US" altLang="zh-CN" dirty="0">
                <a:ea typeface="宋体" panose="02010600030101010101" pitchFamily="2" charset="-122"/>
              </a:rPr>
              <a:t>Rate is </a:t>
            </a:r>
            <a:r>
              <a:rPr lang="en-US" altLang="zh-CN" dirty="0" err="1">
                <a:ea typeface="宋体" panose="02010600030101010101" pitchFamily="2" charset="-122"/>
              </a:rPr>
              <a:t>cwnd</a:t>
            </a:r>
            <a:r>
              <a:rPr lang="en-US" altLang="zh-CN" dirty="0">
                <a:ea typeface="宋体" panose="02010600030101010101" pitchFamily="2" charset="-122"/>
              </a:rPr>
              <a:t> / RTT; window can stop sender quickly </a:t>
            </a:r>
          </a:p>
          <a:p>
            <a:pPr lvl="1"/>
            <a:r>
              <a:rPr lang="en-US" altLang="zh-CN" u="sng" dirty="0">
                <a:ea typeface="宋体" panose="02010600030101010101" pitchFamily="2" charset="-122"/>
              </a:rPr>
              <a:t>ACK clock</a:t>
            </a:r>
            <a:r>
              <a:rPr lang="en-US" altLang="zh-CN" dirty="0">
                <a:ea typeface="宋体" panose="02010600030101010101" pitchFamily="2" charset="-122"/>
              </a:rPr>
              <a:t> (regular receipt of ACKs) paces traffic and </a:t>
            </a:r>
            <a:r>
              <a:rPr lang="en-US" altLang="zh-CN" dirty="0" err="1">
                <a:ea typeface="宋体" panose="02010600030101010101" pitchFamily="2" charset="-122"/>
              </a:rPr>
              <a:t>smoothes</a:t>
            </a:r>
            <a:r>
              <a:rPr lang="en-US" altLang="zh-CN" dirty="0">
                <a:ea typeface="宋体" panose="02010600030101010101" pitchFamily="2" charset="-122"/>
              </a:rPr>
              <a:t> out sender bursts</a:t>
            </a:r>
          </a:p>
        </p:txBody>
      </p:sp>
      <p:pic>
        <p:nvPicPr>
          <p:cNvPr id="8090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0226" y="3543300"/>
            <a:ext cx="8562975" cy="181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02" name="TextBox 5"/>
          <p:cNvSpPr txBox="1">
            <a:spLocks noChangeArrowheads="1"/>
          </p:cNvSpPr>
          <p:nvPr/>
        </p:nvSpPr>
        <p:spPr bwMode="auto">
          <a:xfrm>
            <a:off x="4257676" y="5459413"/>
            <a:ext cx="36480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a:solidFill>
                  <a:srgbClr val="FF2BD8"/>
                </a:solidFill>
                <a:ea typeface="宋体" panose="02010600030101010101" pitchFamily="2" charset="-122"/>
              </a:rPr>
              <a:t>ACKs pace new segments into the network and smooth bursts</a:t>
            </a:r>
          </a:p>
        </p:txBody>
      </p:sp>
      <p:sp>
        <p:nvSpPr>
          <p:cNvPr id="7" name="矩形 6">
            <a:extLst>
              <a:ext uri="{FF2B5EF4-FFF2-40B4-BE49-F238E27FC236}">
                <a16:creationId xmlns:a16="http://schemas.microsoft.com/office/drawing/2014/main" id="{057BCBCD-B15B-45D3-A53F-A4F7AF4C3360}"/>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TCP Congestion Control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81924" name="Content Placeholder 2"/>
          <p:cNvSpPr>
            <a:spLocks noGrp="1"/>
          </p:cNvSpPr>
          <p:nvPr>
            <p:ph idx="1"/>
          </p:nvPr>
        </p:nvSpPr>
        <p:spPr>
          <a:xfrm>
            <a:off x="975361" y="1001079"/>
            <a:ext cx="10083799" cy="1081721"/>
          </a:xfrm>
        </p:spPr>
        <p:txBody>
          <a:bodyPr/>
          <a:lstStyle/>
          <a:p>
            <a:r>
              <a:rPr lang="en-US" altLang="zh-CN" dirty="0">
                <a:ea typeface="宋体" panose="02010600030101010101" pitchFamily="2" charset="-122"/>
              </a:rPr>
              <a:t>Slow start grows congestion window exponentially</a:t>
            </a:r>
          </a:p>
          <a:p>
            <a:pPr lvl="1"/>
            <a:r>
              <a:rPr lang="en-US" altLang="zh-CN" dirty="0">
                <a:ea typeface="宋体" panose="02010600030101010101" pitchFamily="2" charset="-122"/>
              </a:rPr>
              <a:t>Doubles every RTT while keeping ACK clock going</a:t>
            </a:r>
          </a:p>
        </p:txBody>
      </p:sp>
      <p:pic>
        <p:nvPicPr>
          <p:cNvPr id="81925" name="Picture 2"/>
          <p:cNvPicPr>
            <a:picLocks noChangeAspect="1" noChangeArrowheads="1"/>
          </p:cNvPicPr>
          <p:nvPr/>
        </p:nvPicPr>
        <p:blipFill>
          <a:blip r:embed="rId3">
            <a:extLst>
              <a:ext uri="{28A0092B-C50C-407E-A947-70E740481C1C}">
                <a14:useLocalDpi xmlns:a14="http://schemas.microsoft.com/office/drawing/2010/main" val="0"/>
              </a:ext>
            </a:extLst>
          </a:blip>
          <a:srcRect t="4128" b="4128"/>
          <a:stretch>
            <a:fillRect/>
          </a:stretch>
        </p:blipFill>
        <p:spPr bwMode="auto">
          <a:xfrm>
            <a:off x="2371725" y="2390775"/>
            <a:ext cx="718185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26" name="TextBox 8"/>
          <p:cNvSpPr txBox="1">
            <a:spLocks noChangeArrowheads="1"/>
          </p:cNvSpPr>
          <p:nvPr/>
        </p:nvSpPr>
        <p:spPr bwMode="auto">
          <a:xfrm>
            <a:off x="2047875" y="3849688"/>
            <a:ext cx="22479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a:solidFill>
                  <a:srgbClr val="FF2BD8"/>
                </a:solidFill>
                <a:ea typeface="宋体" panose="02010600030101010101" pitchFamily="2" charset="-122"/>
              </a:rPr>
              <a:t>Increment cwnd for each new ACK</a:t>
            </a:r>
          </a:p>
        </p:txBody>
      </p:sp>
      <p:sp>
        <p:nvSpPr>
          <p:cNvPr id="9" name="矩形 8">
            <a:extLst>
              <a:ext uri="{FF2B5EF4-FFF2-40B4-BE49-F238E27FC236}">
                <a16:creationId xmlns:a16="http://schemas.microsoft.com/office/drawing/2014/main" id="{4142F536-42CC-4C05-B748-3F5DC50BA188}"/>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TCP Congestion Control (3)</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pic>
        <p:nvPicPr>
          <p:cNvPr id="83972" name="Picture 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t="3149" b="2756"/>
          <a:stretch>
            <a:fillRect/>
          </a:stretch>
        </p:blipFill>
        <p:spPr bwMode="auto">
          <a:xfrm>
            <a:off x="4337686" y="1381125"/>
            <a:ext cx="6227763" cy="455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p:nvPr/>
        </p:nvSpPr>
        <p:spPr>
          <a:xfrm>
            <a:off x="4238626" y="2095500"/>
            <a:ext cx="2117725" cy="338138"/>
          </a:xfrm>
          <a:prstGeom prst="rect">
            <a:avLst/>
          </a:prstGeom>
          <a:solidFill>
            <a:schemeClr val="bg1"/>
          </a:solidFill>
        </p:spPr>
        <p:txBody>
          <a:bodyPr>
            <a:spAutoFit/>
          </a:bodyPr>
          <a:lstStyle/>
          <a:p>
            <a:pPr algn="r" eaLnBrk="1" hangingPunct="1">
              <a:defRPr/>
            </a:pPr>
            <a:r>
              <a:rPr lang="en-US" sz="1600" spc="-100" dirty="0">
                <a:latin typeface="Arial" charset="0"/>
                <a:cs typeface="Arial" charset="0"/>
              </a:rPr>
              <a:t>ACK</a:t>
            </a:r>
          </a:p>
        </p:txBody>
      </p:sp>
      <p:sp>
        <p:nvSpPr>
          <p:cNvPr id="83974" name="Rectangle 3"/>
          <p:cNvSpPr>
            <a:spLocks noGrp="1" noChangeArrowheads="1"/>
          </p:cNvSpPr>
          <p:nvPr>
            <p:ph idx="1"/>
          </p:nvPr>
        </p:nvSpPr>
        <p:spPr>
          <a:xfrm>
            <a:off x="882968" y="1603375"/>
            <a:ext cx="4414520" cy="2054225"/>
          </a:xfrm>
        </p:spPr>
        <p:txBody>
          <a:bodyPr/>
          <a:lstStyle/>
          <a:p>
            <a:r>
              <a:rPr lang="en-US" altLang="zh-CN" dirty="0">
                <a:ea typeface="宋体" panose="02010600030101010101" pitchFamily="2" charset="-122"/>
              </a:rPr>
              <a:t>Additive increase  grows </a:t>
            </a:r>
            <a:r>
              <a:rPr lang="en-US" altLang="zh-CN" dirty="0" err="1">
                <a:ea typeface="宋体" panose="02010600030101010101" pitchFamily="2" charset="-122"/>
              </a:rPr>
              <a:t>cwnd</a:t>
            </a:r>
            <a:r>
              <a:rPr lang="en-US" altLang="zh-CN" dirty="0">
                <a:ea typeface="宋体" panose="02010600030101010101" pitchFamily="2" charset="-122"/>
              </a:rPr>
              <a:t> slowly</a:t>
            </a:r>
          </a:p>
          <a:p>
            <a:pPr lvl="1"/>
            <a:r>
              <a:rPr lang="en-US" altLang="zh-CN" dirty="0">
                <a:ea typeface="宋体" panose="02010600030101010101" pitchFamily="2" charset="-122"/>
              </a:rPr>
              <a:t>Adds 1 every RTT</a:t>
            </a:r>
          </a:p>
          <a:p>
            <a:pPr lvl="1"/>
            <a:r>
              <a:rPr lang="en-US" altLang="zh-CN" dirty="0">
                <a:ea typeface="宋体" panose="02010600030101010101" pitchFamily="2" charset="-122"/>
              </a:rPr>
              <a:t>Keeps ACK clock</a:t>
            </a:r>
          </a:p>
        </p:txBody>
      </p:sp>
      <p:sp>
        <p:nvSpPr>
          <p:cNvPr id="7" name="矩形 6">
            <a:extLst>
              <a:ext uri="{FF2B5EF4-FFF2-40B4-BE49-F238E27FC236}">
                <a16:creationId xmlns:a16="http://schemas.microsoft.com/office/drawing/2014/main" id="{A99004A3-4582-4F07-B03A-894CC033ED0A}"/>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TCP Congestion Control (4)</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84996" name="Rectangle 3"/>
          <p:cNvSpPr>
            <a:spLocks noGrp="1" noChangeArrowheads="1"/>
          </p:cNvSpPr>
          <p:nvPr>
            <p:ph idx="1"/>
          </p:nvPr>
        </p:nvSpPr>
        <p:spPr>
          <a:xfrm>
            <a:off x="1193801" y="1069163"/>
            <a:ext cx="9941559" cy="841691"/>
          </a:xfrm>
        </p:spPr>
        <p:txBody>
          <a:bodyPr>
            <a:normAutofit lnSpcReduction="10000"/>
          </a:bodyPr>
          <a:lstStyle/>
          <a:p>
            <a:r>
              <a:rPr lang="en-US" altLang="zh-CN" dirty="0">
                <a:ea typeface="宋体" panose="02010600030101010101" pitchFamily="2" charset="-122"/>
              </a:rPr>
              <a:t>Slow start followed by additive increase (TCP Tahoe)</a:t>
            </a:r>
          </a:p>
          <a:p>
            <a:pPr lvl="1"/>
            <a:r>
              <a:rPr lang="en-US" altLang="zh-CN" dirty="0">
                <a:ea typeface="宋体" panose="02010600030101010101" pitchFamily="2" charset="-122"/>
              </a:rPr>
              <a:t>Threshold is half of previous loss </a:t>
            </a:r>
            <a:r>
              <a:rPr lang="en-US" altLang="zh-CN" dirty="0" err="1">
                <a:ea typeface="宋体" panose="02010600030101010101" pitchFamily="2" charset="-122"/>
              </a:rPr>
              <a:t>cwnd</a:t>
            </a:r>
            <a:endParaRPr lang="en-US" altLang="zh-CN" dirty="0">
              <a:ea typeface="宋体" panose="02010600030101010101" pitchFamily="2" charset="-122"/>
            </a:endParaRPr>
          </a:p>
        </p:txBody>
      </p:sp>
      <p:pic>
        <p:nvPicPr>
          <p:cNvPr id="84997" name="Picture 2"/>
          <p:cNvPicPr>
            <a:picLocks noChangeAspect="1" noChangeArrowheads="1"/>
          </p:cNvPicPr>
          <p:nvPr/>
        </p:nvPicPr>
        <p:blipFill>
          <a:blip r:embed="rId3">
            <a:extLst>
              <a:ext uri="{28A0092B-C50C-407E-A947-70E740481C1C}">
                <a14:useLocalDpi xmlns:a14="http://schemas.microsoft.com/office/drawing/2010/main" val="0"/>
              </a:ext>
            </a:extLst>
          </a:blip>
          <a:srcRect t="3703" b="2083"/>
          <a:stretch>
            <a:fillRect/>
          </a:stretch>
        </p:blipFill>
        <p:spPr bwMode="auto">
          <a:xfrm>
            <a:off x="1947864" y="2419351"/>
            <a:ext cx="8296275" cy="387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8" name="TextBox 9"/>
          <p:cNvSpPr txBox="1">
            <a:spLocks noChangeArrowheads="1"/>
          </p:cNvSpPr>
          <p:nvPr/>
        </p:nvSpPr>
        <p:spPr bwMode="auto">
          <a:xfrm>
            <a:off x="4348164" y="4325939"/>
            <a:ext cx="2638425"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a:solidFill>
                  <a:srgbClr val="FF2BD8"/>
                </a:solidFill>
                <a:ea typeface="宋体" panose="02010600030101010101" pitchFamily="2" charset="-122"/>
              </a:rPr>
              <a:t>Loss causes timeout; ACK clock has stopped so slow-start again</a:t>
            </a:r>
          </a:p>
        </p:txBody>
      </p:sp>
      <p:cxnSp>
        <p:nvCxnSpPr>
          <p:cNvPr id="84999" name="Straight Arrow Connector 10"/>
          <p:cNvCxnSpPr>
            <a:cxnSpLocks noChangeShapeType="1"/>
          </p:cNvCxnSpPr>
          <p:nvPr/>
        </p:nvCxnSpPr>
        <p:spPr bwMode="auto">
          <a:xfrm>
            <a:off x="6372225" y="5057775"/>
            <a:ext cx="533400" cy="382588"/>
          </a:xfrm>
          <a:prstGeom prst="straightConnector1">
            <a:avLst/>
          </a:prstGeom>
          <a:noFill/>
          <a:ln w="19050" algn="ctr">
            <a:solidFill>
              <a:schemeClr val="tx1"/>
            </a:solidFill>
            <a:round/>
            <a:headEnd/>
            <a:tailEnd type="arrow" w="med" len="med"/>
          </a:ln>
        </p:spPr>
      </p:cxnSp>
      <p:cxnSp>
        <p:nvCxnSpPr>
          <p:cNvPr id="85000" name="Straight Arrow Connector 12"/>
          <p:cNvCxnSpPr>
            <a:cxnSpLocks noChangeShapeType="1"/>
          </p:cNvCxnSpPr>
          <p:nvPr/>
        </p:nvCxnSpPr>
        <p:spPr bwMode="auto">
          <a:xfrm rot="5400000" flipH="1" flipV="1">
            <a:off x="6105525" y="3810000"/>
            <a:ext cx="647700" cy="361950"/>
          </a:xfrm>
          <a:prstGeom prst="straightConnector1">
            <a:avLst/>
          </a:prstGeom>
          <a:noFill/>
          <a:ln w="19050" algn="ctr">
            <a:solidFill>
              <a:schemeClr val="tx1"/>
            </a:solidFill>
            <a:round/>
            <a:headEnd/>
            <a:tailEnd type="arrow" w="med" len="med"/>
          </a:ln>
        </p:spPr>
      </p:cxnSp>
      <p:sp>
        <p:nvSpPr>
          <p:cNvPr id="9" name="矩形 8">
            <a:extLst>
              <a:ext uri="{FF2B5EF4-FFF2-40B4-BE49-F238E27FC236}">
                <a16:creationId xmlns:a16="http://schemas.microsoft.com/office/drawing/2014/main" id="{1528D0A5-91AD-4F0B-B3C8-F9341721381E}"/>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TCP Congestion Control (5)</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3"/>
          <p:cNvSpPr>
            <a:spLocks noGrp="1" noChangeArrowheads="1"/>
          </p:cNvSpPr>
          <p:nvPr>
            <p:ph idx="1"/>
          </p:nvPr>
        </p:nvSpPr>
        <p:spPr>
          <a:xfrm>
            <a:off x="865504" y="995362"/>
            <a:ext cx="10280015" cy="1465263"/>
          </a:xfrm>
        </p:spPr>
        <p:txBody>
          <a:bodyPr/>
          <a:lstStyle/>
          <a:p>
            <a:r>
              <a:rPr lang="en-US" altLang="zh-CN" dirty="0">
                <a:ea typeface="宋体" panose="02010600030101010101" pitchFamily="2" charset="-122"/>
              </a:rPr>
              <a:t>With </a:t>
            </a:r>
            <a:r>
              <a:rPr lang="en-US" altLang="zh-CN" dirty="0">
                <a:solidFill>
                  <a:srgbClr val="FF0000"/>
                </a:solidFill>
                <a:ea typeface="宋体" panose="02010600030101010101" pitchFamily="2" charset="-122"/>
              </a:rPr>
              <a:t>fast recovery</a:t>
            </a:r>
            <a:r>
              <a:rPr lang="en-US" altLang="zh-CN" dirty="0">
                <a:ea typeface="宋体" panose="02010600030101010101" pitchFamily="2" charset="-122"/>
              </a:rPr>
              <a:t>, we get the classic sawtooth (TCP Reno)</a:t>
            </a:r>
          </a:p>
          <a:p>
            <a:pPr lvl="1"/>
            <a:r>
              <a:rPr lang="en-US" altLang="zh-CN" dirty="0">
                <a:ea typeface="宋体" panose="02010600030101010101" pitchFamily="2" charset="-122"/>
              </a:rPr>
              <a:t>Retransmit lost packet after 3 duplicate ACKs</a:t>
            </a:r>
          </a:p>
          <a:p>
            <a:pPr lvl="1"/>
            <a:r>
              <a:rPr lang="en-US" altLang="zh-CN" dirty="0">
                <a:ea typeface="宋体" panose="02010600030101010101" pitchFamily="2" charset="-122"/>
              </a:rPr>
              <a:t>New packet for each dup. ACK until loss is repaired</a:t>
            </a:r>
          </a:p>
        </p:txBody>
      </p:sp>
      <p:sp>
        <p:nvSpPr>
          <p:cNvPr id="8704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zh-CN">
                <a:ea typeface="宋体" panose="02010600030101010101" pitchFamily="2" charset="-122"/>
              </a:rPr>
              <a:t>Computer Networks, Chapter 6 The Transport Layer</a:t>
            </a:r>
          </a:p>
        </p:txBody>
      </p:sp>
      <p:pic>
        <p:nvPicPr>
          <p:cNvPr id="87045" name="Picture 2"/>
          <p:cNvPicPr>
            <a:picLocks noChangeAspect="1" noChangeArrowheads="1"/>
          </p:cNvPicPr>
          <p:nvPr/>
        </p:nvPicPr>
        <p:blipFill>
          <a:blip r:embed="rId3">
            <a:extLst>
              <a:ext uri="{28A0092B-C50C-407E-A947-70E740481C1C}">
                <a14:useLocalDpi xmlns:a14="http://schemas.microsoft.com/office/drawing/2010/main" val="0"/>
              </a:ext>
            </a:extLst>
          </a:blip>
          <a:srcRect t="5069"/>
          <a:stretch>
            <a:fillRect/>
          </a:stretch>
        </p:blipFill>
        <p:spPr bwMode="auto">
          <a:xfrm>
            <a:off x="1914525" y="2628900"/>
            <a:ext cx="8362950" cy="392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6" name="TextBox 10"/>
          <p:cNvSpPr txBox="1">
            <a:spLocks noChangeArrowheads="1"/>
          </p:cNvSpPr>
          <p:nvPr/>
        </p:nvSpPr>
        <p:spPr bwMode="auto">
          <a:xfrm>
            <a:off x="5024438" y="4983163"/>
            <a:ext cx="312896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a:solidFill>
                  <a:srgbClr val="FF2BD8"/>
                </a:solidFill>
                <a:ea typeface="宋体" panose="02010600030101010101" pitchFamily="2" charset="-122"/>
              </a:rPr>
              <a:t>The ACK clock doesn’t stop, so no need to slow-start</a:t>
            </a:r>
          </a:p>
        </p:txBody>
      </p:sp>
      <p:cxnSp>
        <p:nvCxnSpPr>
          <p:cNvPr id="87047" name="Straight Arrow Connector 11"/>
          <p:cNvCxnSpPr>
            <a:cxnSpLocks noChangeShapeType="1"/>
          </p:cNvCxnSpPr>
          <p:nvPr/>
        </p:nvCxnSpPr>
        <p:spPr bwMode="auto">
          <a:xfrm rot="16200000" flipV="1">
            <a:off x="5053013" y="4710113"/>
            <a:ext cx="381000" cy="180975"/>
          </a:xfrm>
          <a:prstGeom prst="straightConnector1">
            <a:avLst/>
          </a:prstGeom>
          <a:noFill/>
          <a:ln w="19050" algn="ctr">
            <a:solidFill>
              <a:schemeClr val="tx1"/>
            </a:solidFill>
            <a:round/>
            <a:headEnd/>
            <a:tailEnd type="arrow" w="med" len="med"/>
          </a:ln>
        </p:spPr>
      </p:cxnSp>
      <p:cxnSp>
        <p:nvCxnSpPr>
          <p:cNvPr id="87048" name="Straight Arrow Connector 12"/>
          <p:cNvCxnSpPr>
            <a:cxnSpLocks noChangeShapeType="1"/>
          </p:cNvCxnSpPr>
          <p:nvPr/>
        </p:nvCxnSpPr>
        <p:spPr bwMode="auto">
          <a:xfrm rot="5400000" flipH="1" flipV="1">
            <a:off x="7724776" y="4762501"/>
            <a:ext cx="295275" cy="295275"/>
          </a:xfrm>
          <a:prstGeom prst="straightConnector1">
            <a:avLst/>
          </a:prstGeom>
          <a:noFill/>
          <a:ln w="19050" algn="ctr">
            <a:solidFill>
              <a:schemeClr val="tx1"/>
            </a:solidFill>
            <a:round/>
            <a:headEnd/>
            <a:tailEnd type="arrow" w="med" len="med"/>
          </a:ln>
        </p:spPr>
      </p:cxnSp>
      <p:sp>
        <p:nvSpPr>
          <p:cNvPr id="9" name="矩形 8">
            <a:extLst>
              <a:ext uri="{FF2B5EF4-FFF2-40B4-BE49-F238E27FC236}">
                <a16:creationId xmlns:a16="http://schemas.microsoft.com/office/drawing/2014/main" id="{0AABA0DF-7D6B-4166-B8B4-EA1423373B6E}"/>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TCP Congestion Control (6)</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endParaRPr lang="en-US" altLang="zh-CN" i="0"/>
          </a:p>
        </p:txBody>
      </p:sp>
      <p:sp>
        <p:nvSpPr>
          <p:cNvPr id="89092" name="Content Placeholder 3"/>
          <p:cNvSpPr>
            <a:spLocks noGrp="1"/>
          </p:cNvSpPr>
          <p:nvPr>
            <p:ph idx="1"/>
          </p:nvPr>
        </p:nvSpPr>
        <p:spPr>
          <a:xfrm>
            <a:off x="619761" y="1058387"/>
            <a:ext cx="10769599" cy="1395254"/>
          </a:xfrm>
        </p:spPr>
        <p:txBody>
          <a:bodyPr/>
          <a:lstStyle/>
          <a:p>
            <a:r>
              <a:rPr lang="en-US" altLang="zh-CN" dirty="0">
                <a:ea typeface="宋体" panose="02010600030101010101" pitchFamily="2" charset="-122"/>
              </a:rPr>
              <a:t>SACK (Selective ACKs) extend ACKs with a vector to describe received segments and hence losses</a:t>
            </a:r>
          </a:p>
          <a:p>
            <a:pPr lvl="1"/>
            <a:r>
              <a:rPr lang="en-US" altLang="zh-CN" dirty="0">
                <a:ea typeface="宋体" panose="02010600030101010101" pitchFamily="2" charset="-122"/>
              </a:rPr>
              <a:t>Allows for more accurate retransmissions / recovery </a:t>
            </a:r>
          </a:p>
        </p:txBody>
      </p:sp>
      <p:pic>
        <p:nvPicPr>
          <p:cNvPr id="8909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4525" y="3248025"/>
            <a:ext cx="8458200" cy="198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094" name="TextBox 5"/>
          <p:cNvSpPr txBox="1">
            <a:spLocks noChangeArrowheads="1"/>
          </p:cNvSpPr>
          <p:nvPr/>
        </p:nvSpPr>
        <p:spPr bwMode="auto">
          <a:xfrm>
            <a:off x="6448426" y="5249863"/>
            <a:ext cx="35337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a:solidFill>
                  <a:srgbClr val="FF2BD8"/>
                </a:solidFill>
                <a:ea typeface="宋体" panose="02010600030101010101" pitchFamily="2" charset="-122"/>
              </a:rPr>
              <a:t>No way for us to know that 2 and 5 were lost with only ACKs</a:t>
            </a:r>
          </a:p>
        </p:txBody>
      </p:sp>
      <p:sp>
        <p:nvSpPr>
          <p:cNvPr id="7" name="矩形 6">
            <a:extLst>
              <a:ext uri="{FF2B5EF4-FFF2-40B4-BE49-F238E27FC236}">
                <a16:creationId xmlns:a16="http://schemas.microsoft.com/office/drawing/2014/main" id="{3A9980DD-3542-4A58-B741-26125840D36C}"/>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TCP Congestion Control (7)</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5" name="矩形 4">
            <a:extLst>
              <a:ext uri="{FF2B5EF4-FFF2-40B4-BE49-F238E27FC236}">
                <a16:creationId xmlns:a16="http://schemas.microsoft.com/office/drawing/2014/main" id="{EED1443A-4764-47F2-9DD7-EEB748D1A4C9}"/>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rPr>
              <a:t>Differences between Flow Control and Congestion Control</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graphicFrame>
        <p:nvGraphicFramePr>
          <p:cNvPr id="3" name="图示 2">
            <a:extLst>
              <a:ext uri="{FF2B5EF4-FFF2-40B4-BE49-F238E27FC236}">
                <a16:creationId xmlns:a16="http://schemas.microsoft.com/office/drawing/2014/main" id="{69425D85-C39B-4EC4-8708-EA2F896DAE16}"/>
              </a:ext>
            </a:extLst>
          </p:cNvPr>
          <p:cNvGraphicFramePr/>
          <p:nvPr>
            <p:extLst>
              <p:ext uri="{D42A27DB-BD31-4B8C-83A1-F6EECF244321}">
                <p14:modId xmlns:p14="http://schemas.microsoft.com/office/powerpoint/2010/main" val="2914409347"/>
              </p:ext>
            </p:extLst>
          </p:nvPr>
        </p:nvGraphicFramePr>
        <p:xfrm>
          <a:off x="574040" y="1222917"/>
          <a:ext cx="10220960" cy="40856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905731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90116" name="Rectangle 3"/>
          <p:cNvSpPr>
            <a:spLocks noGrp="1" noChangeArrowheads="1"/>
          </p:cNvSpPr>
          <p:nvPr>
            <p:ph idx="1"/>
          </p:nvPr>
        </p:nvSpPr>
        <p:spPr>
          <a:xfrm>
            <a:off x="2559685" y="1523607"/>
            <a:ext cx="7315200" cy="4019550"/>
          </a:xfrm>
        </p:spPr>
        <p:txBody>
          <a:bodyPr/>
          <a:lstStyle/>
          <a:p>
            <a:r>
              <a:rPr lang="en-US" altLang="zh-CN" dirty="0">
                <a:ea typeface="宋体" panose="02010600030101010101" pitchFamily="2" charset="-122"/>
              </a:rPr>
              <a:t>Many strategies for getting good performance have been learned over time</a:t>
            </a:r>
          </a:p>
          <a:p>
            <a:pPr lvl="3"/>
            <a:endParaRPr lang="en-US" altLang="zh-CN" dirty="0">
              <a:ea typeface="宋体" panose="02010600030101010101" pitchFamily="2" charset="-122"/>
            </a:endParaRPr>
          </a:p>
          <a:p>
            <a:pPr lvl="1"/>
            <a:r>
              <a:rPr lang="en-US" altLang="zh-CN" dirty="0">
                <a:ea typeface="宋体" panose="02010600030101010101" pitchFamily="2" charset="-122"/>
              </a:rPr>
              <a:t>Performance problems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ea typeface="宋体" panose="02010600030101010101" pitchFamily="2" charset="-122"/>
              </a:rPr>
              <a:t>Measuring network performance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ea typeface="宋体" panose="02010600030101010101" pitchFamily="2" charset="-122"/>
              </a:rPr>
              <a:t>Host design for fast networks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ea typeface="宋体" panose="02010600030101010101" pitchFamily="2" charset="-122"/>
              </a:rPr>
              <a:t>Fast segment processing </a:t>
            </a:r>
            <a:r>
              <a:rPr lang="en-US" altLang="zh-CN" dirty="0">
                <a:solidFill>
                  <a:srgbClr val="0000FF"/>
                </a:solidFill>
                <a:ea typeface="宋体" panose="02010600030101010101" pitchFamily="2" charset="-122"/>
              </a:rPr>
              <a:t>»</a:t>
            </a:r>
          </a:p>
          <a:p>
            <a:pPr lvl="1"/>
            <a:r>
              <a:rPr lang="en-US" altLang="zh-CN" dirty="0">
                <a:ea typeface="宋体" panose="02010600030101010101" pitchFamily="2" charset="-122"/>
              </a:rPr>
              <a:t>Header compression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ea typeface="宋体" panose="02010600030101010101" pitchFamily="2" charset="-122"/>
              </a:rPr>
              <a:t>Protocols for “long fat” networks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p:txBody>
      </p:sp>
      <p:sp>
        <p:nvSpPr>
          <p:cNvPr id="5" name="矩形 4">
            <a:extLst>
              <a:ext uri="{FF2B5EF4-FFF2-40B4-BE49-F238E27FC236}">
                <a16:creationId xmlns:a16="http://schemas.microsoft.com/office/drawing/2014/main" id="{DD36483E-9BEF-4D0B-98EB-E046EC82BF98}"/>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Performance Issues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endParaRPr lang="en-US" altLang="zh-CN" i="0"/>
          </a:p>
        </p:txBody>
      </p:sp>
      <p:sp>
        <p:nvSpPr>
          <p:cNvPr id="91140" name="Content Placeholder 4"/>
          <p:cNvSpPr>
            <a:spLocks noGrp="1"/>
          </p:cNvSpPr>
          <p:nvPr>
            <p:ph idx="1"/>
          </p:nvPr>
        </p:nvSpPr>
        <p:spPr>
          <a:xfrm>
            <a:off x="1504950" y="1278338"/>
            <a:ext cx="9664699" cy="4785912"/>
          </a:xfrm>
        </p:spPr>
        <p:txBody>
          <a:bodyPr/>
          <a:lstStyle/>
          <a:p>
            <a:pPr>
              <a:lnSpc>
                <a:spcPct val="100000"/>
              </a:lnSpc>
            </a:pPr>
            <a:r>
              <a:rPr lang="en-US" altLang="zh-CN" dirty="0">
                <a:ea typeface="宋体" panose="02010600030101010101" pitchFamily="2" charset="-122"/>
              </a:rPr>
              <a:t>Unexpected loads often interact with protocols to cause performance problems</a:t>
            </a:r>
          </a:p>
          <a:p>
            <a:pPr lvl="1">
              <a:lnSpc>
                <a:spcPct val="100000"/>
              </a:lnSpc>
            </a:pPr>
            <a:r>
              <a:rPr lang="en-US" altLang="zh-CN" dirty="0">
                <a:ea typeface="宋体" panose="02010600030101010101" pitchFamily="2" charset="-122"/>
              </a:rPr>
              <a:t>Need to find the situations and improve the protocols</a:t>
            </a:r>
          </a:p>
          <a:p>
            <a:pPr>
              <a:lnSpc>
                <a:spcPct val="100000"/>
              </a:lnSpc>
            </a:pPr>
            <a:r>
              <a:rPr lang="en-US" altLang="zh-CN" dirty="0">
                <a:ea typeface="宋体" panose="02010600030101010101" pitchFamily="2" charset="-122"/>
              </a:rPr>
              <a:t>Examples:</a:t>
            </a:r>
          </a:p>
          <a:p>
            <a:pPr lvl="1">
              <a:lnSpc>
                <a:spcPct val="100000"/>
              </a:lnSpc>
            </a:pPr>
            <a:r>
              <a:rPr lang="en-US" altLang="zh-CN" dirty="0">
                <a:ea typeface="宋体" panose="02010600030101010101" pitchFamily="2" charset="-122"/>
              </a:rPr>
              <a:t>Broadcast storm: one broadcast triggers another</a:t>
            </a:r>
          </a:p>
          <a:p>
            <a:pPr lvl="1">
              <a:lnSpc>
                <a:spcPct val="100000"/>
              </a:lnSpc>
            </a:pPr>
            <a:r>
              <a:rPr lang="en-US" altLang="zh-CN" dirty="0">
                <a:ea typeface="宋体" panose="02010600030101010101" pitchFamily="2" charset="-122"/>
              </a:rPr>
              <a:t>Synchronization: a building of computers all contact the DHCP server together after a power failure</a:t>
            </a:r>
          </a:p>
          <a:p>
            <a:pPr lvl="1">
              <a:lnSpc>
                <a:spcPct val="100000"/>
              </a:lnSpc>
            </a:pPr>
            <a:r>
              <a:rPr lang="en-US" altLang="zh-CN" dirty="0">
                <a:ea typeface="宋体" panose="02010600030101010101" pitchFamily="2" charset="-122"/>
              </a:rPr>
              <a:t>Tiny packets: some situations can cause TCP to send many small packets instead of few large ones</a:t>
            </a:r>
          </a:p>
        </p:txBody>
      </p:sp>
      <p:sp>
        <p:nvSpPr>
          <p:cNvPr id="5" name="矩形 4">
            <a:extLst>
              <a:ext uri="{FF2B5EF4-FFF2-40B4-BE49-F238E27FC236}">
                <a16:creationId xmlns:a16="http://schemas.microsoft.com/office/drawing/2014/main" id="{0943BBFB-96D0-439C-A05B-2DC029098AF2}"/>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Performance Problems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92164" name="Rectangle 3"/>
          <p:cNvSpPr>
            <a:spLocks noGrp="1" noChangeArrowheads="1"/>
          </p:cNvSpPr>
          <p:nvPr>
            <p:ph idx="1"/>
          </p:nvPr>
        </p:nvSpPr>
        <p:spPr>
          <a:xfrm>
            <a:off x="1327150" y="1395415"/>
            <a:ext cx="10166349" cy="3484594"/>
          </a:xfrm>
        </p:spPr>
        <p:txBody>
          <a:bodyPr>
            <a:normAutofit/>
          </a:bodyPr>
          <a:lstStyle/>
          <a:p>
            <a:pPr>
              <a:lnSpc>
                <a:spcPct val="100000"/>
              </a:lnSpc>
            </a:pPr>
            <a:r>
              <a:rPr lang="en-US" altLang="zh-CN" dirty="0">
                <a:ea typeface="宋体" panose="02010600030101010101" pitchFamily="2" charset="-122"/>
              </a:rPr>
              <a:t>Measurement is the key to understanding performance – but has its own pitfalls. </a:t>
            </a:r>
          </a:p>
          <a:p>
            <a:pPr>
              <a:lnSpc>
                <a:spcPct val="100000"/>
              </a:lnSpc>
            </a:pPr>
            <a:r>
              <a:rPr lang="en-US" altLang="zh-CN" dirty="0">
                <a:ea typeface="宋体" panose="02010600030101010101" pitchFamily="2" charset="-122"/>
              </a:rPr>
              <a:t>Example pitfalls:</a:t>
            </a:r>
          </a:p>
          <a:p>
            <a:pPr lvl="1">
              <a:lnSpc>
                <a:spcPct val="100000"/>
              </a:lnSpc>
            </a:pPr>
            <a:r>
              <a:rPr lang="en-US" altLang="zh-CN" dirty="0">
                <a:ea typeface="宋体" panose="02010600030101010101" pitchFamily="2" charset="-122"/>
              </a:rPr>
              <a:t>Caching: fetching Web pages will give surprisingly fast results if they are unexpectedly cached</a:t>
            </a:r>
          </a:p>
          <a:p>
            <a:pPr lvl="1">
              <a:lnSpc>
                <a:spcPct val="100000"/>
              </a:lnSpc>
            </a:pPr>
            <a:r>
              <a:rPr lang="en-US" altLang="zh-CN" dirty="0">
                <a:ea typeface="宋体" panose="02010600030101010101" pitchFamily="2" charset="-122"/>
              </a:rPr>
              <a:t>Timing: clocks may over/underestimate fast events</a:t>
            </a:r>
          </a:p>
          <a:p>
            <a:pPr lvl="1">
              <a:lnSpc>
                <a:spcPct val="100000"/>
              </a:lnSpc>
            </a:pPr>
            <a:r>
              <a:rPr lang="en-US" altLang="zh-CN" dirty="0">
                <a:ea typeface="宋体" panose="02010600030101010101" pitchFamily="2" charset="-122"/>
              </a:rPr>
              <a:t>Interference: there may be competing workloads</a:t>
            </a:r>
          </a:p>
        </p:txBody>
      </p:sp>
      <p:sp>
        <p:nvSpPr>
          <p:cNvPr id="5" name="矩形 4">
            <a:extLst>
              <a:ext uri="{FF2B5EF4-FFF2-40B4-BE49-F238E27FC236}">
                <a16:creationId xmlns:a16="http://schemas.microsoft.com/office/drawing/2014/main" id="{FBCA52AB-3A59-452C-80A5-008A09F50C43}"/>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Measuring Network Performance </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7"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93188" name="Rectangle 3"/>
          <p:cNvSpPr>
            <a:spLocks noGrp="1" noChangeArrowheads="1"/>
          </p:cNvSpPr>
          <p:nvPr>
            <p:ph idx="1"/>
          </p:nvPr>
        </p:nvSpPr>
        <p:spPr>
          <a:xfrm>
            <a:off x="1860794" y="1505436"/>
            <a:ext cx="8505342" cy="3490075"/>
          </a:xfrm>
        </p:spPr>
        <p:txBody>
          <a:bodyPr/>
          <a:lstStyle/>
          <a:p>
            <a:r>
              <a:rPr lang="en-US" altLang="zh-CN" dirty="0">
                <a:ea typeface="宋体" panose="02010600030101010101" pitchFamily="2" charset="-122"/>
              </a:rPr>
              <a:t>Poor host software can greatly slow down networks. </a:t>
            </a:r>
          </a:p>
          <a:p>
            <a:r>
              <a:rPr lang="en-US" altLang="zh-CN" dirty="0">
                <a:ea typeface="宋体" panose="02010600030101010101" pitchFamily="2" charset="-122"/>
              </a:rPr>
              <a:t>Rules of thumb for fast host software:</a:t>
            </a:r>
          </a:p>
          <a:p>
            <a:pPr lvl="1"/>
            <a:r>
              <a:rPr lang="en-US" altLang="zh-CN" dirty="0">
                <a:ea typeface="宋体" panose="02010600030101010101" pitchFamily="2" charset="-122"/>
              </a:rPr>
              <a:t>Host speed more important than network speed</a:t>
            </a:r>
          </a:p>
          <a:p>
            <a:pPr lvl="1"/>
            <a:r>
              <a:rPr lang="en-US" altLang="zh-CN" dirty="0">
                <a:ea typeface="宋体" panose="02010600030101010101" pitchFamily="2" charset="-122"/>
              </a:rPr>
              <a:t>Reduce packet count to reduce overhead</a:t>
            </a:r>
          </a:p>
          <a:p>
            <a:pPr lvl="1"/>
            <a:r>
              <a:rPr lang="en-US" altLang="zh-CN" dirty="0">
                <a:ea typeface="宋体" panose="02010600030101010101" pitchFamily="2" charset="-122"/>
              </a:rPr>
              <a:t>Minimize data touching</a:t>
            </a:r>
          </a:p>
          <a:p>
            <a:pPr lvl="1"/>
            <a:r>
              <a:rPr lang="en-US" altLang="zh-CN" dirty="0">
                <a:ea typeface="宋体" panose="02010600030101010101" pitchFamily="2" charset="-122"/>
              </a:rPr>
              <a:t>Minimize context switches</a:t>
            </a:r>
          </a:p>
          <a:p>
            <a:pPr lvl="1"/>
            <a:r>
              <a:rPr lang="en-US" altLang="zh-CN" dirty="0">
                <a:ea typeface="宋体" panose="02010600030101010101" pitchFamily="2" charset="-122"/>
              </a:rPr>
              <a:t>Avoiding congestion is better than recovering from it</a:t>
            </a:r>
          </a:p>
          <a:p>
            <a:pPr lvl="1"/>
            <a:r>
              <a:rPr lang="en-US" altLang="zh-CN" dirty="0">
                <a:ea typeface="宋体" panose="02010600030101010101" pitchFamily="2" charset="-122"/>
              </a:rPr>
              <a:t>Avoid timeouts</a:t>
            </a:r>
          </a:p>
        </p:txBody>
      </p:sp>
      <p:sp>
        <p:nvSpPr>
          <p:cNvPr id="5" name="矩形 4">
            <a:extLst>
              <a:ext uri="{FF2B5EF4-FFF2-40B4-BE49-F238E27FC236}">
                <a16:creationId xmlns:a16="http://schemas.microsoft.com/office/drawing/2014/main" id="{CC14DA20-96CB-4097-ADC8-B07E7082F36D}"/>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Host Design for Fast Networks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94212" name="Rectangle 3"/>
          <p:cNvSpPr>
            <a:spLocks noGrp="1" noChangeArrowheads="1"/>
          </p:cNvSpPr>
          <p:nvPr>
            <p:ph idx="1"/>
          </p:nvPr>
        </p:nvSpPr>
        <p:spPr>
          <a:xfrm>
            <a:off x="1293019" y="1129506"/>
            <a:ext cx="9969341" cy="1061245"/>
          </a:xfrm>
        </p:spPr>
        <p:txBody>
          <a:bodyPr/>
          <a:lstStyle/>
          <a:p>
            <a:r>
              <a:rPr lang="en-US" altLang="zh-CN" dirty="0">
                <a:ea typeface="宋体" panose="02010600030101010101" pitchFamily="2" charset="-122"/>
              </a:rPr>
              <a:t>Speed up the common case with a fast path [pink]</a:t>
            </a:r>
          </a:p>
          <a:p>
            <a:pPr lvl="1"/>
            <a:r>
              <a:rPr lang="en-US" altLang="zh-CN" dirty="0">
                <a:ea typeface="宋体" panose="02010600030101010101" pitchFamily="2" charset="-122"/>
              </a:rPr>
              <a:t>Handles packets with expected header; OK for others to run slowly</a:t>
            </a:r>
          </a:p>
        </p:txBody>
      </p:sp>
      <p:sp>
        <p:nvSpPr>
          <p:cNvPr id="21" name="矩形 20">
            <a:extLst>
              <a:ext uri="{FF2B5EF4-FFF2-40B4-BE49-F238E27FC236}">
                <a16:creationId xmlns:a16="http://schemas.microsoft.com/office/drawing/2014/main" id="{1A10FEC0-3D1F-4892-AD46-9B0C6FD7C8C1}"/>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Fast Segment Processing (1)</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22" name="Picture 2">
            <a:extLst>
              <a:ext uri="{FF2B5EF4-FFF2-40B4-BE49-F238E27FC236}">
                <a16:creationId xmlns:a16="http://schemas.microsoft.com/office/drawing/2014/main" id="{DED9E33F-39D2-4DF7-90FC-EB31769287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0738" y="2278063"/>
            <a:ext cx="8353425" cy="370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5" name="Straight Arrow Connector 15">
            <a:extLst>
              <a:ext uri="{FF2B5EF4-FFF2-40B4-BE49-F238E27FC236}">
                <a16:creationId xmlns:a16="http://schemas.microsoft.com/office/drawing/2014/main" id="{E13CA4B3-A4F1-4DB9-9F65-BEE6CE12561C}"/>
              </a:ext>
            </a:extLst>
          </p:cNvPr>
          <p:cNvCxnSpPr/>
          <p:nvPr/>
        </p:nvCxnSpPr>
        <p:spPr bwMode="auto">
          <a:xfrm rot="5400000">
            <a:off x="2400301" y="3271838"/>
            <a:ext cx="781050" cy="3175"/>
          </a:xfrm>
          <a:prstGeom prst="straightConnector1">
            <a:avLst/>
          </a:prstGeom>
          <a:solidFill>
            <a:srgbClr val="FF388C"/>
          </a:solidFill>
          <a:ln w="28575" cap="flat" cmpd="sng" algn="ctr">
            <a:solidFill>
              <a:srgbClr val="9C007F">
                <a:lumMod val="60000"/>
                <a:lumOff val="40000"/>
              </a:srgbClr>
            </a:solidFill>
            <a:prstDash val="solid"/>
            <a:round/>
            <a:headEnd type="none" w="med" len="med"/>
            <a:tailEnd type="arrow"/>
          </a:ln>
          <a:effectLst/>
        </p:spPr>
      </p:cxnSp>
      <p:cxnSp>
        <p:nvCxnSpPr>
          <p:cNvPr id="26" name="Straight Arrow Connector 16">
            <a:extLst>
              <a:ext uri="{FF2B5EF4-FFF2-40B4-BE49-F238E27FC236}">
                <a16:creationId xmlns:a16="http://schemas.microsoft.com/office/drawing/2014/main" id="{F4F2F51A-F98B-4AAF-87E1-8D04F74B9F1B}"/>
              </a:ext>
            </a:extLst>
          </p:cNvPr>
          <p:cNvCxnSpPr/>
          <p:nvPr/>
        </p:nvCxnSpPr>
        <p:spPr bwMode="auto">
          <a:xfrm rot="5400000">
            <a:off x="9305926" y="3300413"/>
            <a:ext cx="781050" cy="3175"/>
          </a:xfrm>
          <a:prstGeom prst="straightConnector1">
            <a:avLst/>
          </a:prstGeom>
          <a:solidFill>
            <a:srgbClr val="FF388C"/>
          </a:solidFill>
          <a:ln w="28575" cap="flat" cmpd="sng" algn="ctr">
            <a:solidFill>
              <a:srgbClr val="9C007F">
                <a:lumMod val="60000"/>
                <a:lumOff val="40000"/>
              </a:srgbClr>
            </a:solidFill>
            <a:prstDash val="solid"/>
            <a:round/>
            <a:headEnd type="arrow" w="med" len="med"/>
            <a:tailEnd type="none" w="med" len="med"/>
          </a:ln>
          <a:effectLst/>
        </p:spPr>
      </p:cxnSp>
      <p:cxnSp>
        <p:nvCxnSpPr>
          <p:cNvPr id="30" name="Straight Arrow Connector 17">
            <a:extLst>
              <a:ext uri="{FF2B5EF4-FFF2-40B4-BE49-F238E27FC236}">
                <a16:creationId xmlns:a16="http://schemas.microsoft.com/office/drawing/2014/main" id="{4FABDD8C-1699-4300-925A-6D97A8569168}"/>
              </a:ext>
            </a:extLst>
          </p:cNvPr>
          <p:cNvCxnSpPr/>
          <p:nvPr/>
        </p:nvCxnSpPr>
        <p:spPr bwMode="auto">
          <a:xfrm rot="5400000">
            <a:off x="5207000" y="4838701"/>
            <a:ext cx="1379537" cy="1588"/>
          </a:xfrm>
          <a:prstGeom prst="straightConnector1">
            <a:avLst/>
          </a:prstGeom>
          <a:solidFill>
            <a:srgbClr val="FF388C"/>
          </a:solidFill>
          <a:ln w="28575" cap="flat" cmpd="sng" algn="ctr">
            <a:solidFill>
              <a:srgbClr val="9C007F">
                <a:lumMod val="60000"/>
                <a:lumOff val="40000"/>
              </a:srgbClr>
            </a:solidFill>
            <a:prstDash val="solid"/>
            <a:round/>
            <a:headEnd type="none" w="med" len="med"/>
            <a:tailEnd type="arrow"/>
          </a:ln>
          <a:effectLst/>
        </p:spPr>
      </p:cxnSp>
      <p:cxnSp>
        <p:nvCxnSpPr>
          <p:cNvPr id="31" name="Straight Arrow Connector 18">
            <a:extLst>
              <a:ext uri="{FF2B5EF4-FFF2-40B4-BE49-F238E27FC236}">
                <a16:creationId xmlns:a16="http://schemas.microsoft.com/office/drawing/2014/main" id="{0E204E85-ADDB-4F1E-A407-FDC4FC8BB421}"/>
              </a:ext>
            </a:extLst>
          </p:cNvPr>
          <p:cNvCxnSpPr/>
          <p:nvPr/>
        </p:nvCxnSpPr>
        <p:spPr bwMode="auto">
          <a:xfrm rot="5400000">
            <a:off x="6249194" y="4929982"/>
            <a:ext cx="1143000" cy="1588"/>
          </a:xfrm>
          <a:prstGeom prst="straightConnector1">
            <a:avLst/>
          </a:prstGeom>
          <a:solidFill>
            <a:srgbClr val="FF388C"/>
          </a:solidFill>
          <a:ln w="28575" cap="flat" cmpd="sng" algn="ctr">
            <a:solidFill>
              <a:srgbClr val="9C007F">
                <a:lumMod val="60000"/>
                <a:lumOff val="40000"/>
              </a:srgbClr>
            </a:solidFill>
            <a:prstDash val="solid"/>
            <a:round/>
            <a:headEnd type="arrow" w="med" len="med"/>
            <a:tailEnd type="none" w="med" len="med"/>
          </a:ln>
          <a:effectLst/>
        </p:spPr>
      </p:cxnSp>
      <p:cxnSp>
        <p:nvCxnSpPr>
          <p:cNvPr id="32" name="Straight Arrow Connector 19">
            <a:extLst>
              <a:ext uri="{FF2B5EF4-FFF2-40B4-BE49-F238E27FC236}">
                <a16:creationId xmlns:a16="http://schemas.microsoft.com/office/drawing/2014/main" id="{0CEF2555-8AA5-4584-899F-7B61FF39AC2B}"/>
              </a:ext>
            </a:extLst>
          </p:cNvPr>
          <p:cNvCxnSpPr/>
          <p:nvPr/>
        </p:nvCxnSpPr>
        <p:spPr bwMode="auto">
          <a:xfrm>
            <a:off x="3105150" y="3986213"/>
            <a:ext cx="571500" cy="1588"/>
          </a:xfrm>
          <a:prstGeom prst="straightConnector1">
            <a:avLst/>
          </a:prstGeom>
          <a:solidFill>
            <a:srgbClr val="FF388C"/>
          </a:solidFill>
          <a:ln w="28575" cap="flat" cmpd="sng" algn="ctr">
            <a:solidFill>
              <a:srgbClr val="9C007F">
                <a:lumMod val="60000"/>
                <a:lumOff val="40000"/>
              </a:srgbClr>
            </a:solidFill>
            <a:prstDash val="solid"/>
            <a:round/>
            <a:headEnd type="none" w="med" len="med"/>
            <a:tailEnd type="arrow"/>
          </a:ln>
          <a:effectLst/>
        </p:spPr>
      </p:cxnSp>
      <p:cxnSp>
        <p:nvCxnSpPr>
          <p:cNvPr id="33" name="Straight Arrow Connector 22">
            <a:extLst>
              <a:ext uri="{FF2B5EF4-FFF2-40B4-BE49-F238E27FC236}">
                <a16:creationId xmlns:a16="http://schemas.microsoft.com/office/drawing/2014/main" id="{031D1224-1F99-4E6F-BC37-B7C49841C308}"/>
              </a:ext>
            </a:extLst>
          </p:cNvPr>
          <p:cNvCxnSpPr/>
          <p:nvPr/>
        </p:nvCxnSpPr>
        <p:spPr bwMode="auto">
          <a:xfrm>
            <a:off x="4057650" y="3986213"/>
            <a:ext cx="342900" cy="1588"/>
          </a:xfrm>
          <a:prstGeom prst="straightConnector1">
            <a:avLst/>
          </a:prstGeom>
          <a:solidFill>
            <a:srgbClr val="FF388C"/>
          </a:solidFill>
          <a:ln w="28575" cap="flat" cmpd="sng" algn="ctr">
            <a:solidFill>
              <a:srgbClr val="9C007F">
                <a:lumMod val="60000"/>
                <a:lumOff val="40000"/>
              </a:srgbClr>
            </a:solidFill>
            <a:prstDash val="solid"/>
            <a:round/>
            <a:headEnd type="none" w="med" len="med"/>
            <a:tailEnd type="arrow"/>
          </a:ln>
          <a:effectLst/>
        </p:spPr>
      </p:cxnSp>
      <p:cxnSp>
        <p:nvCxnSpPr>
          <p:cNvPr id="34" name="Straight Arrow Connector 23">
            <a:extLst>
              <a:ext uri="{FF2B5EF4-FFF2-40B4-BE49-F238E27FC236}">
                <a16:creationId xmlns:a16="http://schemas.microsoft.com/office/drawing/2014/main" id="{B062B711-3D85-417A-863A-E0766AED35E3}"/>
              </a:ext>
            </a:extLst>
          </p:cNvPr>
          <p:cNvCxnSpPr/>
          <p:nvPr/>
        </p:nvCxnSpPr>
        <p:spPr bwMode="auto">
          <a:xfrm>
            <a:off x="4762500" y="3995738"/>
            <a:ext cx="971550" cy="1588"/>
          </a:xfrm>
          <a:prstGeom prst="straightConnector1">
            <a:avLst/>
          </a:prstGeom>
          <a:solidFill>
            <a:srgbClr val="FF388C"/>
          </a:solidFill>
          <a:ln w="28575" cap="flat" cmpd="sng" algn="ctr">
            <a:solidFill>
              <a:srgbClr val="9C007F">
                <a:lumMod val="60000"/>
                <a:lumOff val="40000"/>
              </a:srgbClr>
            </a:solidFill>
            <a:prstDash val="solid"/>
            <a:round/>
            <a:headEnd type="none" w="med" len="med"/>
            <a:tailEnd type="arrow"/>
          </a:ln>
          <a:effectLst/>
        </p:spPr>
      </p:cxnSp>
      <p:cxnSp>
        <p:nvCxnSpPr>
          <p:cNvPr id="35" name="Straight Arrow Connector 26">
            <a:extLst>
              <a:ext uri="{FF2B5EF4-FFF2-40B4-BE49-F238E27FC236}">
                <a16:creationId xmlns:a16="http://schemas.microsoft.com/office/drawing/2014/main" id="{548360EB-AC2E-403B-8367-D9D926B08183}"/>
              </a:ext>
            </a:extLst>
          </p:cNvPr>
          <p:cNvCxnSpPr/>
          <p:nvPr/>
        </p:nvCxnSpPr>
        <p:spPr bwMode="auto">
          <a:xfrm>
            <a:off x="7153275" y="3976688"/>
            <a:ext cx="571500" cy="1588"/>
          </a:xfrm>
          <a:prstGeom prst="straightConnector1">
            <a:avLst/>
          </a:prstGeom>
          <a:solidFill>
            <a:srgbClr val="FF388C"/>
          </a:solidFill>
          <a:ln w="28575" cap="flat" cmpd="sng" algn="ctr">
            <a:solidFill>
              <a:srgbClr val="9C007F">
                <a:lumMod val="60000"/>
                <a:lumOff val="40000"/>
              </a:srgbClr>
            </a:solidFill>
            <a:prstDash val="solid"/>
            <a:round/>
            <a:headEnd type="none" w="med" len="med"/>
            <a:tailEnd type="arrow"/>
          </a:ln>
          <a:effectLst/>
        </p:spPr>
      </p:cxnSp>
      <p:cxnSp>
        <p:nvCxnSpPr>
          <p:cNvPr id="36" name="Straight Arrow Connector 27">
            <a:extLst>
              <a:ext uri="{FF2B5EF4-FFF2-40B4-BE49-F238E27FC236}">
                <a16:creationId xmlns:a16="http://schemas.microsoft.com/office/drawing/2014/main" id="{DDB9383D-F1D3-43FC-BC98-2CA5547A2730}"/>
              </a:ext>
            </a:extLst>
          </p:cNvPr>
          <p:cNvCxnSpPr/>
          <p:nvPr/>
        </p:nvCxnSpPr>
        <p:spPr bwMode="auto">
          <a:xfrm>
            <a:off x="8105775" y="3976688"/>
            <a:ext cx="295275" cy="1588"/>
          </a:xfrm>
          <a:prstGeom prst="straightConnector1">
            <a:avLst/>
          </a:prstGeom>
          <a:solidFill>
            <a:srgbClr val="FF388C"/>
          </a:solidFill>
          <a:ln w="28575" cap="flat" cmpd="sng" algn="ctr">
            <a:solidFill>
              <a:srgbClr val="9C007F">
                <a:lumMod val="60000"/>
                <a:lumOff val="40000"/>
              </a:srgbClr>
            </a:solidFill>
            <a:prstDash val="solid"/>
            <a:round/>
            <a:headEnd type="none" w="med" len="med"/>
            <a:tailEnd type="arrow"/>
          </a:ln>
          <a:effectLst/>
        </p:spPr>
      </p:cxnSp>
      <p:cxnSp>
        <p:nvCxnSpPr>
          <p:cNvPr id="37" name="Straight Arrow Connector 28">
            <a:extLst>
              <a:ext uri="{FF2B5EF4-FFF2-40B4-BE49-F238E27FC236}">
                <a16:creationId xmlns:a16="http://schemas.microsoft.com/office/drawing/2014/main" id="{B6473092-C7A4-47C3-8CC2-51D173521062}"/>
              </a:ext>
            </a:extLst>
          </p:cNvPr>
          <p:cNvCxnSpPr/>
          <p:nvPr/>
        </p:nvCxnSpPr>
        <p:spPr bwMode="auto">
          <a:xfrm>
            <a:off x="8810625" y="3976688"/>
            <a:ext cx="742950" cy="1588"/>
          </a:xfrm>
          <a:prstGeom prst="straightConnector1">
            <a:avLst/>
          </a:prstGeom>
          <a:solidFill>
            <a:srgbClr val="FF388C"/>
          </a:solidFill>
          <a:ln w="28575" cap="flat" cmpd="sng" algn="ctr">
            <a:solidFill>
              <a:srgbClr val="9C007F">
                <a:lumMod val="60000"/>
                <a:lumOff val="40000"/>
              </a:srgbClr>
            </a:solidFill>
            <a:prstDash val="solid"/>
            <a:round/>
            <a:headEnd type="none" w="med" len="med"/>
            <a:tailEnd type="arrow"/>
          </a:ln>
          <a:effectLst/>
        </p:spPr>
      </p:cxnSp>
      <p:sp>
        <p:nvSpPr>
          <p:cNvPr id="38" name="TextBox 32">
            <a:extLst>
              <a:ext uri="{FF2B5EF4-FFF2-40B4-BE49-F238E27FC236}">
                <a16:creationId xmlns:a16="http://schemas.microsoft.com/office/drawing/2014/main" id="{74F112FD-380A-44C0-82FA-52645B8D5207}"/>
              </a:ext>
            </a:extLst>
          </p:cNvPr>
          <p:cNvSpPr txBox="1">
            <a:spLocks noChangeArrowheads="1"/>
          </p:cNvSpPr>
          <p:nvPr/>
        </p:nvSpPr>
        <p:spPr bwMode="auto">
          <a:xfrm>
            <a:off x="6381750" y="2801938"/>
            <a:ext cx="614363" cy="184150"/>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1200" b="0"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Segment</a:t>
            </a:r>
          </a:p>
        </p:txBody>
      </p:sp>
      <p:sp>
        <p:nvSpPr>
          <p:cNvPr id="39" name="TextBox 33">
            <a:extLst>
              <a:ext uri="{FF2B5EF4-FFF2-40B4-BE49-F238E27FC236}">
                <a16:creationId xmlns:a16="http://schemas.microsoft.com/office/drawing/2014/main" id="{812CEB14-2CD5-4ED4-AA6E-CC045CD6BB52}"/>
              </a:ext>
            </a:extLst>
          </p:cNvPr>
          <p:cNvSpPr txBox="1">
            <a:spLocks noChangeArrowheads="1"/>
          </p:cNvSpPr>
          <p:nvPr/>
        </p:nvSpPr>
        <p:spPr bwMode="auto">
          <a:xfrm>
            <a:off x="5305425" y="3201988"/>
            <a:ext cx="588963" cy="184150"/>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1200" b="0"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segment</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95236" name="Content Placeholder 2"/>
          <p:cNvSpPr>
            <a:spLocks noGrp="1"/>
          </p:cNvSpPr>
          <p:nvPr>
            <p:ph idx="1"/>
          </p:nvPr>
        </p:nvSpPr>
        <p:spPr>
          <a:xfrm>
            <a:off x="1061721" y="1166814"/>
            <a:ext cx="9448799" cy="1001711"/>
          </a:xfrm>
        </p:spPr>
        <p:txBody>
          <a:bodyPr/>
          <a:lstStyle/>
          <a:p>
            <a:r>
              <a:rPr lang="en-US" altLang="zh-CN" dirty="0">
                <a:ea typeface="宋体" panose="02010600030101010101" pitchFamily="2" charset="-122"/>
              </a:rPr>
              <a:t>Header fields are often the same from one packet to the next for a flow; copy/check them to speed up processing</a:t>
            </a:r>
          </a:p>
        </p:txBody>
      </p:sp>
      <p:pic>
        <p:nvPicPr>
          <p:cNvPr id="95237" name="Picture 2"/>
          <p:cNvPicPr>
            <a:picLocks noChangeAspect="1" noChangeArrowheads="1"/>
          </p:cNvPicPr>
          <p:nvPr/>
        </p:nvPicPr>
        <p:blipFill>
          <a:blip r:embed="rId3">
            <a:extLst>
              <a:ext uri="{28A0092B-C50C-407E-A947-70E740481C1C}">
                <a14:useLocalDpi xmlns:a14="http://schemas.microsoft.com/office/drawing/2010/main" val="0"/>
              </a:ext>
            </a:extLst>
          </a:blip>
          <a:srcRect b="14706"/>
          <a:stretch>
            <a:fillRect/>
          </a:stretch>
        </p:blipFill>
        <p:spPr bwMode="auto">
          <a:xfrm>
            <a:off x="1990725" y="2536025"/>
            <a:ext cx="821055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238" name="TextBox 5"/>
          <p:cNvSpPr txBox="1">
            <a:spLocks noChangeArrowheads="1"/>
          </p:cNvSpPr>
          <p:nvPr/>
        </p:nvSpPr>
        <p:spPr bwMode="auto">
          <a:xfrm>
            <a:off x="6219826" y="4890688"/>
            <a:ext cx="37623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dirty="0">
                <a:solidFill>
                  <a:srgbClr val="FF2BD8"/>
                </a:solidFill>
                <a:ea typeface="宋体" panose="02010600030101010101" pitchFamily="2" charset="-122"/>
              </a:rPr>
              <a:t>IP header fields that are often the same for a one-way flow (shaded)</a:t>
            </a:r>
          </a:p>
        </p:txBody>
      </p:sp>
      <p:sp>
        <p:nvSpPr>
          <p:cNvPr id="95239" name="TextBox 7"/>
          <p:cNvSpPr txBox="1">
            <a:spLocks noChangeArrowheads="1"/>
          </p:cNvSpPr>
          <p:nvPr/>
        </p:nvSpPr>
        <p:spPr bwMode="auto">
          <a:xfrm>
            <a:off x="2238375" y="4862113"/>
            <a:ext cx="37147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dirty="0">
                <a:solidFill>
                  <a:srgbClr val="FF2BD8"/>
                </a:solidFill>
                <a:ea typeface="宋体" panose="02010600030101010101" pitchFamily="2" charset="-122"/>
              </a:rPr>
              <a:t>TCP header fields that stay the same for a one-way flow (shaded)</a:t>
            </a:r>
          </a:p>
        </p:txBody>
      </p:sp>
      <p:sp>
        <p:nvSpPr>
          <p:cNvPr id="10" name="矩形 9">
            <a:extLst>
              <a:ext uri="{FF2B5EF4-FFF2-40B4-BE49-F238E27FC236}">
                <a16:creationId xmlns:a16="http://schemas.microsoft.com/office/drawing/2014/main" id="{FA2D381B-CB10-4DFE-8F60-D5F5287CF8BE}"/>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Fast Segment Processing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endParaRPr lang="en-US" altLang="zh-CN" i="0"/>
          </a:p>
        </p:txBody>
      </p:sp>
      <p:sp>
        <p:nvSpPr>
          <p:cNvPr id="96260" name="Content Placeholder 3"/>
          <p:cNvSpPr>
            <a:spLocks noGrp="1"/>
          </p:cNvSpPr>
          <p:nvPr>
            <p:ph idx="1"/>
          </p:nvPr>
        </p:nvSpPr>
        <p:spPr>
          <a:xfrm>
            <a:off x="1849121" y="1278339"/>
            <a:ext cx="8402319" cy="3933742"/>
          </a:xfrm>
        </p:spPr>
        <p:txBody>
          <a:bodyPr/>
          <a:lstStyle/>
          <a:p>
            <a:r>
              <a:rPr lang="en-US" altLang="zh-CN" dirty="0">
                <a:ea typeface="宋体" panose="02010600030101010101" pitchFamily="2" charset="-122"/>
              </a:rPr>
              <a:t>Overhead can be very large for small packets</a:t>
            </a:r>
          </a:p>
          <a:p>
            <a:pPr lvl="1"/>
            <a:r>
              <a:rPr lang="en-US" altLang="zh-CN" dirty="0">
                <a:ea typeface="宋体" panose="02010600030101010101" pitchFamily="2" charset="-122"/>
              </a:rPr>
              <a:t>40 bytes of header for RTP/UDP/IP VoIP packet</a:t>
            </a:r>
          </a:p>
          <a:p>
            <a:pPr lvl="1"/>
            <a:r>
              <a:rPr lang="en-US" altLang="zh-CN" dirty="0">
                <a:ea typeface="宋体" panose="02010600030101010101" pitchFamily="2" charset="-122"/>
              </a:rPr>
              <a:t>Problematic for slow links, especially wireless</a:t>
            </a:r>
          </a:p>
          <a:p>
            <a:pPr lvl="3"/>
            <a:endParaRPr lang="en-US" altLang="zh-CN" dirty="0">
              <a:ea typeface="宋体" panose="02010600030101010101" pitchFamily="2" charset="-122"/>
            </a:endParaRPr>
          </a:p>
          <a:p>
            <a:r>
              <a:rPr lang="en-US" altLang="zh-CN" dirty="0">
                <a:ea typeface="宋体" panose="02010600030101010101" pitchFamily="2" charset="-122"/>
              </a:rPr>
              <a:t>Header compression mitigates this problem</a:t>
            </a:r>
          </a:p>
          <a:p>
            <a:pPr lvl="1"/>
            <a:r>
              <a:rPr lang="en-US" altLang="zh-CN" dirty="0">
                <a:ea typeface="宋体" panose="02010600030101010101" pitchFamily="2" charset="-122"/>
              </a:rPr>
              <a:t>Runs between Link and Network layer</a:t>
            </a:r>
          </a:p>
          <a:p>
            <a:pPr lvl="1"/>
            <a:r>
              <a:rPr lang="en-US" altLang="zh-CN" dirty="0">
                <a:ea typeface="宋体" panose="02010600030101010101" pitchFamily="2" charset="-122"/>
              </a:rPr>
              <a:t>Omits fields that don’t change or change predictably</a:t>
            </a:r>
          </a:p>
          <a:p>
            <a:pPr lvl="2"/>
            <a:r>
              <a:rPr lang="en-US" altLang="zh-CN" dirty="0">
                <a:ea typeface="宋体" panose="02010600030101010101" pitchFamily="2" charset="-122"/>
              </a:rPr>
              <a:t>40 byte TCP/IP header </a:t>
            </a:r>
            <a:r>
              <a:rPr lang="en-US" altLang="zh-CN" dirty="0">
                <a:ea typeface="宋体" panose="02010600030101010101" pitchFamily="2" charset="-122"/>
                <a:sym typeface="Wingdings" panose="05000000000000000000" pitchFamily="2" charset="2"/>
              </a:rPr>
              <a:t> 3 bytes of information</a:t>
            </a:r>
          </a:p>
          <a:p>
            <a:pPr lvl="1"/>
            <a:r>
              <a:rPr lang="en-US" altLang="zh-CN" dirty="0">
                <a:ea typeface="宋体" panose="02010600030101010101" pitchFamily="2" charset="-122"/>
              </a:rPr>
              <a:t>Gives simple high-layer headers and efficient links</a:t>
            </a:r>
          </a:p>
        </p:txBody>
      </p:sp>
      <p:sp>
        <p:nvSpPr>
          <p:cNvPr id="5" name="矩形 4">
            <a:extLst>
              <a:ext uri="{FF2B5EF4-FFF2-40B4-BE49-F238E27FC236}">
                <a16:creationId xmlns:a16="http://schemas.microsoft.com/office/drawing/2014/main" id="{19DE6118-53B6-4A6E-AE06-0404A9E19531}"/>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Header Compression</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3"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97284" name="Rectangle 3"/>
          <p:cNvSpPr>
            <a:spLocks noGrp="1" noChangeArrowheads="1"/>
          </p:cNvSpPr>
          <p:nvPr>
            <p:ph idx="1"/>
          </p:nvPr>
        </p:nvSpPr>
        <p:spPr>
          <a:xfrm>
            <a:off x="1198881" y="985997"/>
            <a:ext cx="9672319" cy="1743076"/>
          </a:xfrm>
        </p:spPr>
        <p:txBody>
          <a:bodyPr/>
          <a:lstStyle/>
          <a:p>
            <a:pPr>
              <a:lnSpc>
                <a:spcPct val="100000"/>
              </a:lnSpc>
            </a:pPr>
            <a:r>
              <a:rPr lang="en-US" altLang="zh-CN" dirty="0">
                <a:ea typeface="宋体" panose="02010600030101010101" pitchFamily="2" charset="-122"/>
              </a:rPr>
              <a:t>Networks with high bandwidth (“Fat”) and high delay (“Long”) can store much information inside the network</a:t>
            </a:r>
          </a:p>
          <a:p>
            <a:pPr lvl="1">
              <a:lnSpc>
                <a:spcPct val="100000"/>
              </a:lnSpc>
            </a:pPr>
            <a:r>
              <a:rPr lang="en-US" altLang="zh-CN" dirty="0">
                <a:ea typeface="宋体" panose="02010600030101010101" pitchFamily="2" charset="-122"/>
              </a:rPr>
              <a:t>Requires protocols with ample buffering and few RTTs, rather than reducing the bits on the wire </a:t>
            </a:r>
          </a:p>
        </p:txBody>
      </p:sp>
      <p:grpSp>
        <p:nvGrpSpPr>
          <p:cNvPr id="97285" name="Group 12"/>
          <p:cNvGrpSpPr>
            <a:grpSpLocks/>
          </p:cNvGrpSpPr>
          <p:nvPr/>
        </p:nvGrpSpPr>
        <p:grpSpPr bwMode="auto">
          <a:xfrm>
            <a:off x="1776414" y="3297238"/>
            <a:ext cx="8853487" cy="2570162"/>
            <a:chOff x="289762" y="3049588"/>
            <a:chExt cx="8854238" cy="2570162"/>
          </a:xfrm>
        </p:grpSpPr>
        <p:pic>
          <p:nvPicPr>
            <p:cNvPr id="97286" name="Picture 2"/>
            <p:cNvPicPr>
              <a:picLocks noChangeAspect="1" noChangeArrowheads="1"/>
            </p:cNvPicPr>
            <p:nvPr/>
          </p:nvPicPr>
          <p:blipFill>
            <a:blip r:embed="rId2">
              <a:extLst>
                <a:ext uri="{28A0092B-C50C-407E-A947-70E740481C1C}">
                  <a14:useLocalDpi xmlns:a14="http://schemas.microsoft.com/office/drawing/2010/main" val="0"/>
                </a:ext>
              </a:extLst>
            </a:blip>
            <a:srcRect l="50574" b="56374"/>
            <a:stretch>
              <a:fillRect/>
            </a:stretch>
          </p:blipFill>
          <p:spPr bwMode="auto">
            <a:xfrm>
              <a:off x="289762" y="3133725"/>
              <a:ext cx="2843964" cy="174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7" name="Picture 2"/>
            <p:cNvPicPr>
              <a:picLocks noChangeAspect="1" noChangeArrowheads="1"/>
            </p:cNvPicPr>
            <p:nvPr/>
          </p:nvPicPr>
          <p:blipFill>
            <a:blip r:embed="rId2">
              <a:extLst>
                <a:ext uri="{28A0092B-C50C-407E-A947-70E740481C1C}">
                  <a14:useLocalDpi xmlns:a14="http://schemas.microsoft.com/office/drawing/2010/main" val="0"/>
                </a:ext>
              </a:extLst>
            </a:blip>
            <a:srcRect t="55428"/>
            <a:stretch>
              <a:fillRect/>
            </a:stretch>
          </p:blipFill>
          <p:spPr bwMode="auto">
            <a:xfrm>
              <a:off x="3095625" y="3049588"/>
              <a:ext cx="6048375" cy="1871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288" name="TextBox 6"/>
            <p:cNvSpPr txBox="1">
              <a:spLocks noChangeArrowheads="1"/>
            </p:cNvSpPr>
            <p:nvPr/>
          </p:nvSpPr>
          <p:spPr bwMode="auto">
            <a:xfrm>
              <a:off x="342900" y="4973419"/>
              <a:ext cx="25717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a:solidFill>
                    <a:srgbClr val="FF2BD8"/>
                  </a:solidFill>
                  <a:ea typeface="宋体" panose="02010600030101010101" pitchFamily="2" charset="-122"/>
                </a:rPr>
                <a:t>Starting to send 1 Mbit</a:t>
              </a:r>
            </a:p>
            <a:p>
              <a:pPr algn="ctr" eaLnBrk="1" hangingPunct="1"/>
              <a:r>
                <a:rPr lang="en-US" altLang="zh-CN">
                  <a:solidFill>
                    <a:srgbClr val="FF2BD8"/>
                  </a:solidFill>
                  <a:ea typeface="宋体" panose="02010600030101010101" pitchFamily="2" charset="-122"/>
                </a:rPr>
                <a:t>San Diego </a:t>
              </a:r>
              <a:r>
                <a:rPr lang="en-US" altLang="zh-CN">
                  <a:solidFill>
                    <a:srgbClr val="FF2BD8"/>
                  </a:solidFill>
                  <a:ea typeface="宋体" panose="02010600030101010101" pitchFamily="2" charset="-122"/>
                  <a:sym typeface="Wingdings" panose="05000000000000000000" pitchFamily="2" charset="2"/>
                </a:rPr>
                <a:t></a:t>
              </a:r>
              <a:r>
                <a:rPr lang="en-US" altLang="zh-CN">
                  <a:solidFill>
                    <a:srgbClr val="FF2BD8"/>
                  </a:solidFill>
                  <a:ea typeface="宋体" panose="02010600030101010101" pitchFamily="2" charset="-122"/>
                </a:rPr>
                <a:t> Boston</a:t>
              </a:r>
            </a:p>
          </p:txBody>
        </p:sp>
        <p:sp>
          <p:nvSpPr>
            <p:cNvPr id="97289" name="TextBox 7"/>
            <p:cNvSpPr txBox="1">
              <a:spLocks noChangeArrowheads="1"/>
            </p:cNvSpPr>
            <p:nvPr/>
          </p:nvSpPr>
          <p:spPr bwMode="auto">
            <a:xfrm>
              <a:off x="3228975" y="4982944"/>
              <a:ext cx="23717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a:solidFill>
                    <a:srgbClr val="FF2BD8"/>
                  </a:solidFill>
                  <a:ea typeface="宋体" panose="02010600030101010101" pitchFamily="2" charset="-122"/>
                </a:rPr>
                <a:t>20ms after start</a:t>
              </a:r>
            </a:p>
          </p:txBody>
        </p:sp>
        <p:sp>
          <p:nvSpPr>
            <p:cNvPr id="97290" name="TextBox 8"/>
            <p:cNvSpPr txBox="1">
              <a:spLocks noChangeArrowheads="1"/>
            </p:cNvSpPr>
            <p:nvPr/>
          </p:nvSpPr>
          <p:spPr bwMode="auto">
            <a:xfrm>
              <a:off x="6343650" y="4982944"/>
              <a:ext cx="23717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a:solidFill>
                    <a:srgbClr val="FF2BD8"/>
                  </a:solidFill>
                  <a:ea typeface="宋体" panose="02010600030101010101" pitchFamily="2" charset="-122"/>
                </a:rPr>
                <a:t>40ms after start</a:t>
              </a:r>
            </a:p>
          </p:txBody>
        </p:sp>
      </p:grpSp>
      <p:sp>
        <p:nvSpPr>
          <p:cNvPr id="11" name="矩形 10">
            <a:extLst>
              <a:ext uri="{FF2B5EF4-FFF2-40B4-BE49-F238E27FC236}">
                <a16:creationId xmlns:a16="http://schemas.microsoft.com/office/drawing/2014/main" id="{D6364983-53C7-4E10-A5BF-4046374B5703}"/>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Protocols for “Long Fat” Networks (1)</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98308" name="Content Placeholder 2"/>
          <p:cNvSpPr>
            <a:spLocks noGrp="1"/>
          </p:cNvSpPr>
          <p:nvPr>
            <p:ph idx="1"/>
          </p:nvPr>
        </p:nvSpPr>
        <p:spPr>
          <a:xfrm>
            <a:off x="1645921" y="1087120"/>
            <a:ext cx="8243250" cy="1146494"/>
          </a:xfrm>
        </p:spPr>
        <p:txBody>
          <a:bodyPr/>
          <a:lstStyle/>
          <a:p>
            <a:r>
              <a:rPr lang="en-US" altLang="zh-CN" dirty="0">
                <a:ea typeface="宋体" panose="02010600030101010101" pitchFamily="2" charset="-122"/>
              </a:rPr>
              <a:t>You can buy more bandwidth but not lower delay</a:t>
            </a:r>
          </a:p>
          <a:p>
            <a:pPr lvl="1"/>
            <a:r>
              <a:rPr lang="en-US" altLang="zh-CN" dirty="0">
                <a:ea typeface="宋体" panose="02010600030101010101" pitchFamily="2" charset="-122"/>
              </a:rPr>
              <a:t>Need to shift ends (e.g., into cloud) to lower further</a:t>
            </a:r>
          </a:p>
        </p:txBody>
      </p:sp>
      <p:pic>
        <p:nvPicPr>
          <p:cNvPr id="9830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5075" y="2076134"/>
            <a:ext cx="7181850" cy="3906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8310" name="TextBox 8"/>
          <p:cNvSpPr txBox="1">
            <a:spLocks noChangeArrowheads="1"/>
          </p:cNvSpPr>
          <p:nvPr/>
        </p:nvSpPr>
        <p:spPr bwMode="auto">
          <a:xfrm>
            <a:off x="2228850" y="5882959"/>
            <a:ext cx="765873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dirty="0">
                <a:solidFill>
                  <a:srgbClr val="FF2BD8"/>
                </a:solidFill>
                <a:ea typeface="宋体" panose="02010600030101010101" pitchFamily="2" charset="-122"/>
              </a:rPr>
              <a:t>Minimum time to send and ACK a 1-Mbit file over a 4000-km line</a:t>
            </a:r>
          </a:p>
        </p:txBody>
      </p:sp>
      <p:cxnSp>
        <p:nvCxnSpPr>
          <p:cNvPr id="98311" name="Straight Arrow Connector 10"/>
          <p:cNvCxnSpPr>
            <a:cxnSpLocks noChangeShapeType="1"/>
          </p:cNvCxnSpPr>
          <p:nvPr/>
        </p:nvCxnSpPr>
        <p:spPr bwMode="auto">
          <a:xfrm rot="5400000">
            <a:off x="7130257" y="4885214"/>
            <a:ext cx="923925" cy="1588"/>
          </a:xfrm>
          <a:prstGeom prst="straightConnector1">
            <a:avLst/>
          </a:prstGeom>
          <a:noFill/>
          <a:ln w="19050" algn="ctr">
            <a:solidFill>
              <a:schemeClr val="tx1"/>
            </a:solidFill>
            <a:round/>
            <a:headEnd type="arrow" w="med" len="med"/>
            <a:tailEnd type="arrow" w="med" len="med"/>
          </a:ln>
        </p:spPr>
      </p:cxnSp>
      <p:sp>
        <p:nvSpPr>
          <p:cNvPr id="98312" name="TextBox 11"/>
          <p:cNvSpPr txBox="1">
            <a:spLocks noChangeArrowheads="1"/>
          </p:cNvSpPr>
          <p:nvPr/>
        </p:nvSpPr>
        <p:spPr bwMode="auto">
          <a:xfrm>
            <a:off x="7305676" y="4625659"/>
            <a:ext cx="26384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a:solidFill>
                  <a:srgbClr val="FF2BD8"/>
                </a:solidFill>
                <a:ea typeface="宋体" panose="02010600030101010101" pitchFamily="2" charset="-122"/>
              </a:rPr>
              <a:t>Propagation delay</a:t>
            </a:r>
          </a:p>
        </p:txBody>
      </p:sp>
      <p:sp>
        <p:nvSpPr>
          <p:cNvPr id="9" name="矩形 8">
            <a:extLst>
              <a:ext uri="{FF2B5EF4-FFF2-40B4-BE49-F238E27FC236}">
                <a16:creationId xmlns:a16="http://schemas.microsoft.com/office/drawing/2014/main" id="{85952223-29B4-4C4F-9D1D-A3D322D12D1C}"/>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Protocols for “Long Fat” Networks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1"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99332" name="Rectangle 3"/>
          <p:cNvSpPr>
            <a:spLocks noGrp="1" noChangeArrowheads="1"/>
          </p:cNvSpPr>
          <p:nvPr>
            <p:ph idx="1"/>
          </p:nvPr>
        </p:nvSpPr>
        <p:spPr>
          <a:xfrm>
            <a:off x="1873884" y="1533525"/>
            <a:ext cx="8651875" cy="2261235"/>
          </a:xfrm>
        </p:spPr>
        <p:txBody>
          <a:bodyPr/>
          <a:lstStyle/>
          <a:p>
            <a:pPr>
              <a:lnSpc>
                <a:spcPct val="100000"/>
              </a:lnSpc>
            </a:pPr>
            <a:r>
              <a:rPr lang="en-US" altLang="zh-CN" dirty="0">
                <a:ea typeface="宋体" panose="02010600030101010101" pitchFamily="2" charset="-122"/>
              </a:rPr>
              <a:t>DTNs (Delay Tolerant Networks) store messages inside the network until they can be delivered</a:t>
            </a:r>
          </a:p>
          <a:p>
            <a:pPr lvl="3">
              <a:lnSpc>
                <a:spcPct val="100000"/>
              </a:lnSpc>
            </a:pPr>
            <a:endParaRPr lang="en-US" altLang="zh-CN" dirty="0">
              <a:ea typeface="宋体" panose="02010600030101010101" pitchFamily="2" charset="-122"/>
            </a:endParaRPr>
          </a:p>
          <a:p>
            <a:pPr lvl="1">
              <a:lnSpc>
                <a:spcPct val="100000"/>
              </a:lnSpc>
            </a:pPr>
            <a:r>
              <a:rPr lang="en-US" altLang="zh-CN" dirty="0">
                <a:ea typeface="宋体" panose="02010600030101010101" pitchFamily="2" charset="-122"/>
              </a:rPr>
              <a:t>DTN Architecture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lnSpc>
                <a:spcPct val="100000"/>
              </a:lnSpc>
            </a:pPr>
            <a:r>
              <a:rPr lang="en-US" altLang="zh-CN" dirty="0">
                <a:ea typeface="宋体" panose="02010600030101010101" pitchFamily="2" charset="-122"/>
              </a:rPr>
              <a:t>Bundle Protocol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p:txBody>
      </p:sp>
      <p:sp>
        <p:nvSpPr>
          <p:cNvPr id="5" name="矩形 4">
            <a:extLst>
              <a:ext uri="{FF2B5EF4-FFF2-40B4-BE49-F238E27FC236}">
                <a16:creationId xmlns:a16="http://schemas.microsoft.com/office/drawing/2014/main" id="{53F7B347-3F7A-4AF0-AB70-77974E1EEC13}"/>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Delay Tolerant Networking</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5"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100356" name="Rectangle 3"/>
          <p:cNvSpPr>
            <a:spLocks noGrp="1" noChangeArrowheads="1"/>
          </p:cNvSpPr>
          <p:nvPr>
            <p:ph idx="1"/>
          </p:nvPr>
        </p:nvSpPr>
        <p:spPr>
          <a:xfrm>
            <a:off x="1132841" y="1042354"/>
            <a:ext cx="10358119" cy="1856421"/>
          </a:xfrm>
        </p:spPr>
        <p:txBody>
          <a:bodyPr/>
          <a:lstStyle/>
          <a:p>
            <a:pPr>
              <a:lnSpc>
                <a:spcPct val="100000"/>
              </a:lnSpc>
            </a:pPr>
            <a:r>
              <a:rPr lang="en-US" altLang="zh-CN" dirty="0">
                <a:ea typeface="宋体" panose="02010600030101010101" pitchFamily="2" charset="-122"/>
              </a:rPr>
              <a:t>Messages called </a:t>
            </a:r>
            <a:r>
              <a:rPr lang="en-US" altLang="zh-CN" u="sng" dirty="0">
                <a:ea typeface="宋体" panose="02010600030101010101" pitchFamily="2" charset="-122"/>
              </a:rPr>
              <a:t>bundles</a:t>
            </a:r>
            <a:r>
              <a:rPr lang="en-US" altLang="zh-CN" dirty="0">
                <a:ea typeface="宋体" panose="02010600030101010101" pitchFamily="2" charset="-122"/>
              </a:rPr>
              <a:t> are stored at DTN nodes while waiting for an intermittent link to become a contact</a:t>
            </a:r>
          </a:p>
          <a:p>
            <a:pPr lvl="1">
              <a:lnSpc>
                <a:spcPct val="100000"/>
              </a:lnSpc>
            </a:pPr>
            <a:r>
              <a:rPr lang="en-US" altLang="zh-CN" dirty="0">
                <a:ea typeface="宋体" panose="02010600030101010101" pitchFamily="2" charset="-122"/>
              </a:rPr>
              <a:t>Bundles might wait hours, not milliseconds in routers</a:t>
            </a:r>
          </a:p>
          <a:p>
            <a:pPr lvl="1">
              <a:lnSpc>
                <a:spcPct val="100000"/>
              </a:lnSpc>
            </a:pPr>
            <a:r>
              <a:rPr lang="en-US" altLang="zh-CN" dirty="0">
                <a:ea typeface="宋体" panose="02010600030101010101" pitchFamily="2" charset="-122"/>
              </a:rPr>
              <a:t>May be no working end-to-end path at any time</a:t>
            </a:r>
          </a:p>
        </p:txBody>
      </p:sp>
      <p:pic>
        <p:nvPicPr>
          <p:cNvPr id="10035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3575" y="2898775"/>
            <a:ext cx="8324850" cy="314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1FCCF952-C866-4FCC-91F1-5BBFD5307C0B}"/>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DTN Architecture (1)</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9"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101380" name="Rectangle 3"/>
          <p:cNvSpPr>
            <a:spLocks noGrp="1" noChangeArrowheads="1"/>
          </p:cNvSpPr>
          <p:nvPr>
            <p:ph idx="1"/>
          </p:nvPr>
        </p:nvSpPr>
        <p:spPr>
          <a:xfrm>
            <a:off x="1259841" y="1099027"/>
            <a:ext cx="9443719" cy="628174"/>
          </a:xfrm>
        </p:spPr>
        <p:txBody>
          <a:bodyPr/>
          <a:lstStyle/>
          <a:p>
            <a:r>
              <a:rPr lang="en-US" altLang="zh-CN" dirty="0">
                <a:ea typeface="宋体" panose="02010600030101010101" pitchFamily="2" charset="-122"/>
              </a:rPr>
              <a:t>Example DTN connecting a satellite to a collection point</a:t>
            </a:r>
          </a:p>
        </p:txBody>
      </p:sp>
      <p:pic>
        <p:nvPicPr>
          <p:cNvPr id="10138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5310" y="1996598"/>
            <a:ext cx="8115300" cy="376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B377A81D-D951-49DF-A01D-3C9519881EDE}"/>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DTN Architecture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7"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103428" name="Rectangle 3"/>
          <p:cNvSpPr>
            <a:spLocks noGrp="1" noChangeArrowheads="1"/>
          </p:cNvSpPr>
          <p:nvPr>
            <p:ph idx="1"/>
          </p:nvPr>
        </p:nvSpPr>
        <p:spPr>
          <a:xfrm>
            <a:off x="1275081" y="1084899"/>
            <a:ext cx="10007600" cy="1053781"/>
          </a:xfrm>
        </p:spPr>
        <p:txBody>
          <a:bodyPr/>
          <a:lstStyle/>
          <a:p>
            <a:r>
              <a:rPr lang="en-US" altLang="zh-CN" dirty="0">
                <a:ea typeface="宋体" panose="02010600030101010101" pitchFamily="2" charset="-122"/>
              </a:rPr>
              <a:t>The Bundle protocol uses TCP or other transports and provides a DTN service to applications</a:t>
            </a:r>
          </a:p>
        </p:txBody>
      </p:sp>
      <p:pic>
        <p:nvPicPr>
          <p:cNvPr id="10342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6580" y="2357121"/>
            <a:ext cx="8204200" cy="314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30" name="Rectangle 5"/>
          <p:cNvSpPr>
            <a:spLocks noChangeArrowheads="1"/>
          </p:cNvSpPr>
          <p:nvPr/>
        </p:nvSpPr>
        <p:spPr bwMode="auto">
          <a:xfrm>
            <a:off x="2072005" y="3230245"/>
            <a:ext cx="7029450" cy="742950"/>
          </a:xfrm>
          <a:prstGeom prst="rect">
            <a:avLst/>
          </a:prstGeom>
          <a:solidFill>
            <a:srgbClr val="FF2BD8">
              <a:alpha val="50195"/>
            </a:srgbClr>
          </a:solidFill>
          <a:ln w="9525" algn="ctr">
            <a:solidFill>
              <a:schemeClr val="tx1"/>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en-US" altLang="zh-CN">
              <a:ea typeface="宋体" panose="02010600030101010101" pitchFamily="2" charset="-122"/>
            </a:endParaRPr>
          </a:p>
        </p:txBody>
      </p:sp>
      <p:sp>
        <p:nvSpPr>
          <p:cNvPr id="7" name="矩形 6">
            <a:extLst>
              <a:ext uri="{FF2B5EF4-FFF2-40B4-BE49-F238E27FC236}">
                <a16:creationId xmlns:a16="http://schemas.microsoft.com/office/drawing/2014/main" id="{B3378EFD-9005-473A-8E27-9101195E2B3D}"/>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Bundle Protocol (1)</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5"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105476" name="Rectangle 3"/>
          <p:cNvSpPr>
            <a:spLocks noGrp="1" noChangeArrowheads="1"/>
          </p:cNvSpPr>
          <p:nvPr>
            <p:ph idx="1"/>
          </p:nvPr>
        </p:nvSpPr>
        <p:spPr>
          <a:xfrm>
            <a:off x="1967333" y="1038862"/>
            <a:ext cx="7789863" cy="2009933"/>
          </a:xfrm>
        </p:spPr>
        <p:txBody>
          <a:bodyPr/>
          <a:lstStyle/>
          <a:p>
            <a:pPr>
              <a:lnSpc>
                <a:spcPct val="100000"/>
              </a:lnSpc>
            </a:pPr>
            <a:r>
              <a:rPr lang="en-US" altLang="zh-CN" dirty="0">
                <a:ea typeface="宋体" panose="02010600030101010101" pitchFamily="2" charset="-122"/>
              </a:rPr>
              <a:t>Features of the bundle message format:</a:t>
            </a:r>
          </a:p>
          <a:p>
            <a:pPr lvl="2">
              <a:lnSpc>
                <a:spcPct val="100000"/>
              </a:lnSpc>
            </a:pPr>
            <a:r>
              <a:rPr lang="en-US" altLang="zh-CN" dirty="0" err="1">
                <a:ea typeface="宋体" panose="02010600030101010101" pitchFamily="2" charset="-122"/>
              </a:rPr>
              <a:t>Dest</a:t>
            </a:r>
            <a:r>
              <a:rPr lang="en-US" altLang="zh-CN" dirty="0">
                <a:ea typeface="宋体" panose="02010600030101010101" pitchFamily="2" charset="-122"/>
              </a:rPr>
              <a:t>./source add high-level addresses (not port/IP)</a:t>
            </a:r>
          </a:p>
          <a:p>
            <a:pPr lvl="2">
              <a:lnSpc>
                <a:spcPct val="100000"/>
              </a:lnSpc>
            </a:pPr>
            <a:r>
              <a:rPr lang="en-US" altLang="zh-CN" dirty="0">
                <a:ea typeface="宋体" panose="02010600030101010101" pitchFamily="2" charset="-122"/>
              </a:rPr>
              <a:t>Custody transfer shifts delivery responsibility</a:t>
            </a:r>
          </a:p>
          <a:p>
            <a:pPr lvl="2">
              <a:lnSpc>
                <a:spcPct val="100000"/>
              </a:lnSpc>
            </a:pPr>
            <a:r>
              <a:rPr lang="en-US" altLang="zh-CN" dirty="0">
                <a:ea typeface="宋体" panose="02010600030101010101" pitchFamily="2" charset="-122"/>
              </a:rPr>
              <a:t>Dictionary provides compression for efficiency</a:t>
            </a:r>
          </a:p>
        </p:txBody>
      </p:sp>
      <p:pic>
        <p:nvPicPr>
          <p:cNvPr id="10547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9126" y="3209926"/>
            <a:ext cx="8412163" cy="282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E049EF90-A2C6-467F-9AA6-A39922C65BE5}"/>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Bundle Protocol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5"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6 The Transport Layer</a:t>
            </a:r>
          </a:p>
        </p:txBody>
      </p:sp>
      <p:sp>
        <p:nvSpPr>
          <p:cNvPr id="6" name="矩形 5">
            <a:extLst>
              <a:ext uri="{FF2B5EF4-FFF2-40B4-BE49-F238E27FC236}">
                <a16:creationId xmlns:a16="http://schemas.microsoft.com/office/drawing/2014/main" id="{E049EF90-A2C6-467F-9AA6-A39922C65BE5}"/>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Homework</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grpSp>
        <p:nvGrpSpPr>
          <p:cNvPr id="9" name="组合 8">
            <a:extLst>
              <a:ext uri="{FF2B5EF4-FFF2-40B4-BE49-F238E27FC236}">
                <a16:creationId xmlns:a16="http://schemas.microsoft.com/office/drawing/2014/main" id="{501C8EBE-5B3F-4C8D-B84E-CDED7E3A8863}"/>
              </a:ext>
            </a:extLst>
          </p:cNvPr>
          <p:cNvGrpSpPr/>
          <p:nvPr/>
        </p:nvGrpSpPr>
        <p:grpSpPr>
          <a:xfrm>
            <a:off x="6928757" y="1436914"/>
            <a:ext cx="5144310" cy="3984171"/>
            <a:chOff x="6754579" y="1128364"/>
            <a:chExt cx="5323931" cy="4113107"/>
          </a:xfrm>
        </p:grpSpPr>
        <p:pic>
          <p:nvPicPr>
            <p:cNvPr id="5" name="图片 4">
              <a:extLst>
                <a:ext uri="{FF2B5EF4-FFF2-40B4-BE49-F238E27FC236}">
                  <a16:creationId xmlns:a16="http://schemas.microsoft.com/office/drawing/2014/main" id="{9E86EAA1-7AAB-4192-9415-C8AC9A64C14D}"/>
                </a:ext>
              </a:extLst>
            </p:cNvPr>
            <p:cNvPicPr>
              <a:picLocks noChangeAspect="1"/>
            </p:cNvPicPr>
            <p:nvPr/>
          </p:nvPicPr>
          <p:blipFill>
            <a:blip r:embed="rId2"/>
            <a:stretch>
              <a:fillRect/>
            </a:stretch>
          </p:blipFill>
          <p:spPr>
            <a:xfrm>
              <a:off x="6754579" y="1128364"/>
              <a:ext cx="5323931" cy="4113107"/>
            </a:xfrm>
            <a:prstGeom prst="rect">
              <a:avLst/>
            </a:prstGeom>
          </p:spPr>
        </p:pic>
        <p:sp>
          <p:nvSpPr>
            <p:cNvPr id="7" name="文本框 6">
              <a:extLst>
                <a:ext uri="{FF2B5EF4-FFF2-40B4-BE49-F238E27FC236}">
                  <a16:creationId xmlns:a16="http://schemas.microsoft.com/office/drawing/2014/main" id="{BBE8C8D1-C85C-46D7-818B-9EC57B39F3CD}"/>
                </a:ext>
              </a:extLst>
            </p:cNvPr>
            <p:cNvSpPr txBox="1"/>
            <p:nvPr/>
          </p:nvSpPr>
          <p:spPr>
            <a:xfrm>
              <a:off x="8160500" y="2106386"/>
              <a:ext cx="399468" cy="338554"/>
            </a:xfrm>
            <a:prstGeom prst="rect">
              <a:avLst/>
            </a:prstGeom>
            <a:noFill/>
          </p:spPr>
          <p:txBody>
            <a:bodyPr wrap="none" rtlCol="0">
              <a:spAutoFit/>
            </a:bodyPr>
            <a:lstStyle/>
            <a:p>
              <a:r>
                <a:rPr lang="en-US" altLang="zh-CN" sz="1600" dirty="0"/>
                <a:t>32</a:t>
              </a:r>
              <a:endParaRPr lang="zh-CN" altLang="en-US" sz="1600" dirty="0"/>
            </a:p>
          </p:txBody>
        </p:sp>
        <p:sp>
          <p:nvSpPr>
            <p:cNvPr id="11" name="文本框 10">
              <a:extLst>
                <a:ext uri="{FF2B5EF4-FFF2-40B4-BE49-F238E27FC236}">
                  <a16:creationId xmlns:a16="http://schemas.microsoft.com/office/drawing/2014/main" id="{F1219FEC-88A1-4AEE-8ED1-D04649BFA5A5}"/>
                </a:ext>
              </a:extLst>
            </p:cNvPr>
            <p:cNvSpPr txBox="1"/>
            <p:nvPr/>
          </p:nvSpPr>
          <p:spPr>
            <a:xfrm>
              <a:off x="10196129" y="1277975"/>
              <a:ext cx="399468" cy="338554"/>
            </a:xfrm>
            <a:prstGeom prst="rect">
              <a:avLst/>
            </a:prstGeom>
            <a:noFill/>
          </p:spPr>
          <p:txBody>
            <a:bodyPr wrap="none" rtlCol="0">
              <a:spAutoFit/>
            </a:bodyPr>
            <a:lstStyle/>
            <a:p>
              <a:r>
                <a:rPr lang="en-US" altLang="zh-CN" sz="1600" dirty="0"/>
                <a:t>42</a:t>
              </a:r>
              <a:endParaRPr lang="zh-CN" altLang="en-US" sz="1600" dirty="0"/>
            </a:p>
          </p:txBody>
        </p:sp>
        <p:sp>
          <p:nvSpPr>
            <p:cNvPr id="12" name="文本框 11">
              <a:extLst>
                <a:ext uri="{FF2B5EF4-FFF2-40B4-BE49-F238E27FC236}">
                  <a16:creationId xmlns:a16="http://schemas.microsoft.com/office/drawing/2014/main" id="{1A14429C-D7DC-446D-84A6-EC79713962BC}"/>
                </a:ext>
              </a:extLst>
            </p:cNvPr>
            <p:cNvSpPr txBox="1"/>
            <p:nvPr/>
          </p:nvSpPr>
          <p:spPr>
            <a:xfrm>
              <a:off x="11148626" y="2444940"/>
              <a:ext cx="399468" cy="338554"/>
            </a:xfrm>
            <a:prstGeom prst="rect">
              <a:avLst/>
            </a:prstGeom>
            <a:noFill/>
          </p:spPr>
          <p:txBody>
            <a:bodyPr wrap="none" rtlCol="0">
              <a:spAutoFit/>
            </a:bodyPr>
            <a:lstStyle/>
            <a:p>
              <a:r>
                <a:rPr lang="en-US" altLang="zh-CN" sz="1600" dirty="0"/>
                <a:t>26</a:t>
              </a:r>
              <a:endParaRPr lang="zh-CN" altLang="en-US" sz="1600" dirty="0"/>
            </a:p>
          </p:txBody>
        </p:sp>
      </p:grpSp>
      <p:sp>
        <p:nvSpPr>
          <p:cNvPr id="14" name="文本框 13">
            <a:extLst>
              <a:ext uri="{FF2B5EF4-FFF2-40B4-BE49-F238E27FC236}">
                <a16:creationId xmlns:a16="http://schemas.microsoft.com/office/drawing/2014/main" id="{D041558E-57AE-4C66-BE2F-907EE3B7AD06}"/>
              </a:ext>
            </a:extLst>
          </p:cNvPr>
          <p:cNvSpPr txBox="1"/>
          <p:nvPr/>
        </p:nvSpPr>
        <p:spPr>
          <a:xfrm>
            <a:off x="236770" y="997736"/>
            <a:ext cx="6629401" cy="5078313"/>
          </a:xfrm>
          <a:prstGeom prst="rect">
            <a:avLst/>
          </a:prstGeom>
          <a:noFill/>
        </p:spPr>
        <p:txBody>
          <a:bodyPr wrap="square">
            <a:spAutoFit/>
          </a:bodyPr>
          <a:lstStyle/>
          <a:p>
            <a:r>
              <a:rPr lang="zh-CN" altLang="en-US" dirty="0">
                <a:latin typeface="Arial" panose="020B0604020202020204" pitchFamily="34" charset="0"/>
                <a:cs typeface="Arial" panose="020B0604020202020204" pitchFamily="34" charset="0"/>
              </a:rPr>
              <a:t>Consider the following plot of TCP congestion window size as a function of the transmission. Explain all your answers below</a:t>
            </a:r>
            <a:r>
              <a:rPr lang="en-US" altLang="zh-CN" dirty="0">
                <a:latin typeface="Arial" panose="020B0604020202020204" pitchFamily="34" charset="0"/>
                <a:cs typeface="Arial" panose="020B0604020202020204" pitchFamily="34" charset="0"/>
              </a:rPr>
              <a:t>.</a:t>
            </a:r>
          </a:p>
          <a:p>
            <a:pPr marL="342900" indent="-342900">
              <a:buFont typeface="+mj-lt"/>
              <a:buAutoNum type="alphaLcParenR"/>
            </a:pPr>
            <a:r>
              <a:rPr lang="en-US" altLang="zh-CN" dirty="0">
                <a:latin typeface="Arial" panose="020B0604020202020204" pitchFamily="34" charset="0"/>
                <a:cs typeface="Arial" panose="020B0604020202020204" pitchFamily="34" charset="0"/>
              </a:rPr>
              <a:t>Which version of TCP is this, Tahoe or Reno? </a:t>
            </a:r>
          </a:p>
          <a:p>
            <a:pPr marL="342900" indent="-342900">
              <a:buFont typeface="+mj-lt"/>
              <a:buAutoNum type="alphaLcParenR"/>
            </a:pPr>
            <a:r>
              <a:rPr lang="en-US" altLang="zh-CN" dirty="0">
                <a:latin typeface="Arial" panose="020B0604020202020204" pitchFamily="34" charset="0"/>
                <a:cs typeface="Arial" panose="020B0604020202020204" pitchFamily="34" charset="0"/>
              </a:rPr>
              <a:t>Identify the intervals of time when TCP slow start is operating. </a:t>
            </a:r>
          </a:p>
          <a:p>
            <a:pPr marL="342900" indent="-342900">
              <a:buFont typeface="+mj-lt"/>
              <a:buAutoNum type="alphaLcParenR"/>
            </a:pPr>
            <a:r>
              <a:rPr lang="en-US" altLang="zh-CN" dirty="0">
                <a:latin typeface="Arial" panose="020B0604020202020204" pitchFamily="34" charset="0"/>
                <a:cs typeface="Arial" panose="020B0604020202020204" pitchFamily="34" charset="0"/>
              </a:rPr>
              <a:t>Identify the intervals of time when TCP congestion avoidance is operating. </a:t>
            </a:r>
          </a:p>
          <a:p>
            <a:pPr marL="342900" indent="-342900">
              <a:buFont typeface="+mj-lt"/>
              <a:buAutoNum type="alphaLcParenR"/>
            </a:pPr>
            <a:r>
              <a:rPr lang="en-US" altLang="zh-CN" dirty="0">
                <a:latin typeface="Arial" panose="020B0604020202020204" pitchFamily="34" charset="0"/>
                <a:cs typeface="Arial" panose="020B0604020202020204" pitchFamily="34" charset="0"/>
              </a:rPr>
              <a:t>After the 16th transmission round, is segment loss detected by a triple duplicate ACK or by a timeout?</a:t>
            </a:r>
          </a:p>
          <a:p>
            <a:pPr marL="342900" indent="-342900">
              <a:buFont typeface="+mj-lt"/>
              <a:buAutoNum type="alphaLcParenR"/>
            </a:pPr>
            <a:r>
              <a:rPr lang="en-US" altLang="zh-CN" dirty="0">
                <a:latin typeface="Arial" panose="020B0604020202020204" pitchFamily="34" charset="0"/>
                <a:cs typeface="Arial" panose="020B0604020202020204" pitchFamily="34" charset="0"/>
              </a:rPr>
              <a:t>After the 22nd transmission round, is segment loss detected by a triple duplicate ACK or by a timeout? </a:t>
            </a:r>
          </a:p>
          <a:p>
            <a:pPr marL="342900" indent="-342900">
              <a:buFont typeface="+mj-lt"/>
              <a:buAutoNum type="alphaLcParenR"/>
            </a:pPr>
            <a:r>
              <a:rPr lang="en-US" altLang="zh-CN" dirty="0">
                <a:latin typeface="Arial" panose="020B0604020202020204" pitchFamily="34" charset="0"/>
                <a:cs typeface="Arial" panose="020B0604020202020204" pitchFamily="34" charset="0"/>
              </a:rPr>
              <a:t>What is the initial value of Threshold at the first transmission round? </a:t>
            </a:r>
          </a:p>
          <a:p>
            <a:pPr marL="342900" indent="-342900">
              <a:buFont typeface="+mj-lt"/>
              <a:buAutoNum type="alphaLcParenR"/>
            </a:pPr>
            <a:r>
              <a:rPr lang="en-US" altLang="zh-CN" dirty="0">
                <a:latin typeface="Arial" panose="020B0604020202020204" pitchFamily="34" charset="0"/>
                <a:cs typeface="Arial" panose="020B0604020202020204" pitchFamily="34" charset="0"/>
              </a:rPr>
              <a:t>What is the value of Threshold at the 18th transmission round? </a:t>
            </a:r>
          </a:p>
          <a:p>
            <a:pPr marL="342900" indent="-342900">
              <a:buFont typeface="+mj-lt"/>
              <a:buAutoNum type="alphaLcParenR"/>
            </a:pPr>
            <a:r>
              <a:rPr lang="en-US" altLang="zh-CN" dirty="0">
                <a:latin typeface="Arial" panose="020B0604020202020204" pitchFamily="34" charset="0"/>
                <a:cs typeface="Arial" panose="020B0604020202020204" pitchFamily="34" charset="0"/>
              </a:rPr>
              <a:t>What is the value of Threshold at the 24th transmission round?</a:t>
            </a:r>
          </a:p>
          <a:p>
            <a:pPr marL="342900" indent="-342900">
              <a:buFont typeface="+mj-lt"/>
              <a:buAutoNum type="alphaLcParenR"/>
            </a:pPr>
            <a:r>
              <a:rPr lang="en-US" altLang="zh-CN" dirty="0">
                <a:latin typeface="Arial" panose="020B0604020202020204" pitchFamily="34" charset="0"/>
                <a:cs typeface="Arial" panose="020B0604020202020204" pitchFamily="34" charset="0"/>
              </a:rPr>
              <a:t>During what transmission round is the 70th segment sent?</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0088261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itle 1"/>
          <p:cNvSpPr>
            <a:spLocks noGrp="1"/>
          </p:cNvSpPr>
          <p:nvPr>
            <p:ph type="ctrTitle"/>
          </p:nvPr>
        </p:nvSpPr>
        <p:spPr/>
        <p:txBody>
          <a:bodyPr/>
          <a:lstStyle/>
          <a:p>
            <a:pPr eaLnBrk="1" hangingPunct="1"/>
            <a:r>
              <a:rPr lang="en-US" altLang="zh-CN">
                <a:ea typeface="宋体" panose="02010600030101010101" pitchFamily="2" charset="-122"/>
              </a:rPr>
              <a:t>End</a:t>
            </a:r>
          </a:p>
        </p:txBody>
      </p:sp>
      <p:sp>
        <p:nvSpPr>
          <p:cNvPr id="89091" name="Subtitle 2"/>
          <p:cNvSpPr>
            <a:spLocks noGrp="1"/>
          </p:cNvSpPr>
          <p:nvPr>
            <p:ph type="subTitle" idx="1"/>
          </p:nvPr>
        </p:nvSpPr>
        <p:spPr/>
        <p:txBody>
          <a:bodyPr/>
          <a:lstStyle/>
          <a:p>
            <a:pPr eaLnBrk="1" hangingPunct="1">
              <a:defRPr/>
            </a:pPr>
            <a:r>
              <a:rPr lang="en-US" dirty="0">
                <a:solidFill>
                  <a:schemeClr val="bg1">
                    <a:lumMod val="50000"/>
                  </a:schemeClr>
                </a:solidFill>
                <a:latin typeface="Arial" charset="0"/>
                <a:cs typeface="Arial" charset="0"/>
              </a:rPr>
              <a:t>Chapter 6</a:t>
            </a:r>
          </a:p>
        </p:txBody>
      </p:sp>
      <p:sp>
        <p:nvSpPr>
          <p:cNvPr id="5" name="Footer Placeholder 4">
            <a:extLst>
              <a:ext uri="{FF2B5EF4-FFF2-40B4-BE49-F238E27FC236}">
                <a16:creationId xmlns:a16="http://schemas.microsoft.com/office/drawing/2014/main" id="{B862BCC8-8210-4AA5-8837-9BDB137E9E69}"/>
              </a:ext>
            </a:extLst>
          </p:cNvPr>
          <p:cNvSpPr txBox="1">
            <a:spLocks/>
          </p:cNvSpPr>
          <p:nvPr/>
        </p:nvSpPr>
        <p:spPr>
          <a:xfrm>
            <a:off x="4038600" y="6356350"/>
            <a:ext cx="41148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lstStyle>
            <a:defPPr>
              <a:defRPr lang="zh-CN"/>
            </a:defPPr>
            <a:lvl1pPr marL="0" algn="l" defTabSz="914400" rtl="0" eaLnBrk="1" latinLnBrk="0" hangingPunct="1">
              <a:defRPr sz="1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Arial" panose="020B0604020202020204" pitchFamily="34" charset="0"/>
              </a:defRPr>
            </a:lvl6pPr>
            <a:lvl7pPr marL="2971800" indent="-2286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Arial" panose="020B0604020202020204" pitchFamily="34" charset="0"/>
              </a:defRPr>
            </a:lvl7pPr>
            <a:lvl8pPr marL="3429000" indent="-2286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Arial" panose="020B0604020202020204" pitchFamily="34" charset="0"/>
              </a:defRPr>
            </a:lvl8pPr>
            <a:lvl9pPr marL="3886200" indent="-2286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mn-ea"/>
                <a:cs typeface="Arial" panose="020B0604020202020204" pitchFamily="34" charset="0"/>
              </a:defRPr>
            </a:lvl9pPr>
          </a:lstStyle>
          <a:p>
            <a:r>
              <a:rPr lang="en-US" altLang="zh-CN"/>
              <a:t>Computer Networks, Chapter 6 The Transport Layer</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8FFDC80-2AC2-4EF1-920A-D0EA20D35232}"/>
              </a:ext>
            </a:extLst>
          </p:cNvPr>
          <p:cNvSpPr txBox="1"/>
          <p:nvPr/>
        </p:nvSpPr>
        <p:spPr>
          <a:xfrm>
            <a:off x="0" y="1491615"/>
            <a:ext cx="12192000" cy="3676186"/>
          </a:xfrm>
          <a:prstGeom prst="rect">
            <a:avLst/>
          </a:prstGeom>
          <a:solidFill>
            <a:schemeClr val="bg2">
              <a:lumMod val="20000"/>
              <a:lumOff val="80000"/>
            </a:schemeClr>
          </a:solidFill>
        </p:spPr>
        <p:txBody>
          <a:bodyPr wrap="square" rtlCol="0" anchor="ctr">
            <a:noAutofit/>
          </a:bodyPr>
          <a:lstStyle/>
          <a:p>
            <a:pPr algn="ctr" defTabSz="1097280" fontAlgn="base">
              <a:spcBef>
                <a:spcPts val="1440"/>
              </a:spcBef>
              <a:spcAft>
                <a:spcPts val="1440"/>
              </a:spcAft>
            </a:pPr>
            <a:r>
              <a:rPr lang="en-US" altLang="zh-CN" sz="5280" b="1" dirty="0">
                <a:solidFill>
                  <a:srgbClr val="C00000"/>
                </a:solidFill>
                <a:latin typeface="微软雅黑" panose="020B0503020204020204" pitchFamily="34" charset="-122"/>
                <a:ea typeface="微软雅黑" panose="020B0503020204020204" pitchFamily="34" charset="-122"/>
              </a:rPr>
              <a:t>Q &amp; A</a:t>
            </a:r>
          </a:p>
        </p:txBody>
      </p:sp>
      <p:pic>
        <p:nvPicPr>
          <p:cNvPr id="5" name="Picture 2">
            <a:extLst>
              <a:ext uri="{FF2B5EF4-FFF2-40B4-BE49-F238E27FC236}">
                <a16:creationId xmlns:a16="http://schemas.microsoft.com/office/drawing/2014/main" id="{C5359447-7FF0-47D1-A892-FF658CBED8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7972"/>
          <a:stretch/>
        </p:blipFill>
        <p:spPr bwMode="auto">
          <a:xfrm>
            <a:off x="263843" y="1"/>
            <a:ext cx="2388870" cy="8111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自定义设计方案">
  <a:themeElements>
    <a:clrScheme name="1_自定义设计方案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400" b="0" i="0" u="none" strike="noStrike" cap="none" normalizeH="0" baseline="0" smtClean="0">
            <a:ln>
              <a:noFill/>
            </a:ln>
            <a:solidFill>
              <a:schemeClr val="bg1"/>
            </a:solidFill>
            <a:effectLst/>
            <a:latin typeface="FrutigerNext LT Regular" pitchFamily="34" charset="0"/>
            <a:ea typeface="ＭＳ Ｐゴシック" pitchFamily="34" charset="-128"/>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400" b="0" i="0" u="none" strike="noStrike" cap="none" normalizeH="0" baseline="0" smtClean="0">
            <a:ln>
              <a:noFill/>
            </a:ln>
            <a:solidFill>
              <a:schemeClr val="bg1"/>
            </a:solidFill>
            <a:effectLst/>
            <a:latin typeface="FrutigerNext LT Regular" pitchFamily="34" charset="0"/>
            <a:ea typeface="ＭＳ Ｐゴシック" pitchFamily="34" charset="-128"/>
          </a:defRPr>
        </a:defPPr>
      </a:lstStyle>
    </a:lnDef>
  </a:objectDefaults>
  <a:extraClrSchemeLst>
    <a:extraClrScheme>
      <a:clrScheme name="1_自定义设计方案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28763</TotalTime>
  <Words>8116</Words>
  <Application>Microsoft Office PowerPoint</Application>
  <PresentationFormat>宽屏</PresentationFormat>
  <Paragraphs>827</Paragraphs>
  <Slides>123</Slides>
  <Notes>58</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123</vt:i4>
      </vt:variant>
    </vt:vector>
  </HeadingPairs>
  <TitlesOfParts>
    <vt:vector size="136" baseType="lpstr">
      <vt:lpstr>-apple-system</vt:lpstr>
      <vt:lpstr>Baby Kruffy</vt:lpstr>
      <vt:lpstr>PingFang SC</vt:lpstr>
      <vt:lpstr>等线</vt:lpstr>
      <vt:lpstr>等线 Light</vt:lpstr>
      <vt:lpstr>微软雅黑</vt:lpstr>
      <vt:lpstr>Arial</vt:lpstr>
      <vt:lpstr>Arial</vt:lpstr>
      <vt:lpstr>Calibri</vt:lpstr>
      <vt:lpstr>Lucida Sans Unicode</vt:lpstr>
      <vt:lpstr>Wingdings</vt:lpstr>
      <vt:lpstr>Office 主题​​</vt:lpstr>
      <vt:lpstr>2_自定义设计方案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End</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工业互联网创新中心筹备进展及项目情况</dc:title>
  <dc:creator>tingw</dc:creator>
  <cp:lastModifiedBy>tingwang1122@gmail.com</cp:lastModifiedBy>
  <cp:revision>812</cp:revision>
  <dcterms:created xsi:type="dcterms:W3CDTF">2016-09-26T01:53:00Z</dcterms:created>
  <dcterms:modified xsi:type="dcterms:W3CDTF">2023-12-19T14:51:21Z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2052-11.1.0.8888</vt:lpwstr>
  </property>
</Properties>
</file>