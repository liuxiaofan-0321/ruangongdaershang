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82" r:id="rId4"/>
    <p:sldId id="283" r:id="rId5"/>
    <p:sldId id="284" r:id="rId6"/>
    <p:sldId id="281" r:id="rId7"/>
    <p:sldId id="285" r:id="rId8"/>
    <p:sldId id="286" r:id="rId9"/>
    <p:sldId id="287" r:id="rId10"/>
    <p:sldId id="288" r:id="rId11"/>
    <p:sldId id="259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5" autoAdjust="0"/>
    <p:restoredTop sz="90929"/>
  </p:normalViewPr>
  <p:slideViewPr>
    <p:cSldViewPr>
      <p:cViewPr varScale="1">
        <p:scale>
          <a:sx n="71" d="100"/>
          <a:sy n="71" d="100"/>
        </p:scale>
        <p:origin x="47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1051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6445C-29A8-4953-99F9-18D348ABFD5E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06B688-2C9B-4B23-B538-275DB0D4D5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5201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F66F73D-01B8-491F-9B91-B3A412E840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02453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84783B-0CFB-4821-9B0C-D6BAF80C221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68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53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3BAA7-2885-4F17-97DE-3417A69E9F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259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48BA83-08B4-4556-9FB0-23B82215E4F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83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E6ABCF-C820-4E9C-B6CE-C03F8EB70D0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57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048DC8-1270-4CCE-BFF6-3551031B979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0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8438C3-0CB1-4B0B-A7E5-9C189C6899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655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6A5F84-C597-430E-85E4-E0D7C7FE55F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7092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1555AA-7C04-44F8-88F9-8B15BD6E20A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042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A101D-35FA-46FD-8DD2-8639E76C755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135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8565E4-8191-4182-BD3D-CD68E9620EB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17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F8B3BE-28BC-465D-B7A5-D64F2E8030D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16832"/>
            <a:ext cx="7772400" cy="1512168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zh-CN" sz="4400" dirty="0"/>
              <a:t>《</a:t>
            </a:r>
            <a:r>
              <a:rPr lang="zh-CN" altLang="en-US" sz="4400" dirty="0"/>
              <a:t>计算机网络</a:t>
            </a:r>
            <a:r>
              <a:rPr lang="en-US" altLang="zh-CN" sz="4400" dirty="0"/>
              <a:t>》</a:t>
            </a:r>
            <a:r>
              <a:rPr lang="zh-CN" altLang="en-US" sz="4400" dirty="0"/>
              <a:t>课程</a:t>
            </a:r>
            <a:br>
              <a:rPr lang="en-US" altLang="zh-CN" sz="4400" dirty="0"/>
            </a:br>
            <a:r>
              <a:rPr lang="zh-CN" altLang="en-US" sz="4400" dirty="0"/>
              <a:t>前沿论文调研与讨论任务说明</a:t>
            </a:r>
            <a:endParaRPr lang="en-US" altLang="zh-CN" sz="44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/>
          <a:p>
            <a:endParaRPr lang="en-US" altLang="zh-CN" sz="3200" dirty="0"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任务目标</a:t>
            </a:r>
            <a:endParaRPr lang="en-US" altLang="zh-CN" dirty="0"/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dirty="0"/>
              <a:t>1.	</a:t>
            </a:r>
            <a:r>
              <a:rPr lang="zh-CN" altLang="en-US" dirty="0"/>
              <a:t>通过阅读</a:t>
            </a:r>
            <a:r>
              <a:rPr lang="en-US" altLang="zh-CN" dirty="0"/>
              <a:t>SIGCOMM2023–2025</a:t>
            </a:r>
            <a:r>
              <a:rPr lang="zh-CN" altLang="en-US" dirty="0"/>
              <a:t>的论文摘要与部分内容，了解计算机网络领域的最新研究进展。</a:t>
            </a:r>
          </a:p>
          <a:p>
            <a:pPr marL="0" indent="0" eaLnBrk="1" hangingPunct="1">
              <a:buNone/>
            </a:pPr>
            <a:r>
              <a:rPr lang="en-US" altLang="zh-CN" dirty="0"/>
              <a:t>2.	</a:t>
            </a:r>
            <a:r>
              <a:rPr lang="zh-CN" altLang="en-US" dirty="0"/>
              <a:t>将课堂学习的知识（如</a:t>
            </a:r>
            <a:r>
              <a:rPr lang="en-US" altLang="zh-CN" dirty="0"/>
              <a:t>TCP/UDP</a:t>
            </a:r>
            <a:r>
              <a:rPr lang="zh-CN" altLang="en-US" dirty="0"/>
              <a:t>、</a:t>
            </a:r>
            <a:r>
              <a:rPr lang="en-US" altLang="zh-CN" dirty="0"/>
              <a:t>QUIC</a:t>
            </a:r>
            <a:r>
              <a:rPr lang="zh-CN" altLang="en-US" dirty="0"/>
              <a:t>、</a:t>
            </a:r>
            <a:r>
              <a:rPr lang="en-US" altLang="zh-CN" dirty="0"/>
              <a:t>DNS</a:t>
            </a:r>
            <a:r>
              <a:rPr lang="zh-CN" altLang="en-US" dirty="0"/>
              <a:t>、路由、流量测量等）与科研前沿联系起来，加深理解。</a:t>
            </a:r>
          </a:p>
          <a:p>
            <a:pPr marL="0" indent="0" eaLnBrk="1" hangingPunct="1">
              <a:buNone/>
            </a:pPr>
            <a:r>
              <a:rPr lang="en-US" altLang="zh-CN" dirty="0"/>
              <a:t>3.	</a:t>
            </a:r>
            <a:r>
              <a:rPr lang="zh-CN" altLang="en-US" dirty="0"/>
              <a:t>通过小组合作和讨论交流，培养科研阅读、总结和表达能力。</a:t>
            </a:r>
          </a:p>
          <a:p>
            <a:pPr marL="0" indent="0" eaLnBrk="1" hangingPunct="1">
              <a:buNone/>
            </a:pPr>
            <a:r>
              <a:rPr lang="en-US" altLang="zh-CN" dirty="0"/>
              <a:t>4.	</a:t>
            </a:r>
            <a:r>
              <a:rPr lang="zh-CN" altLang="en-US" dirty="0"/>
              <a:t>为下学期的网络技术挑战赛做知识储备。</a:t>
            </a:r>
          </a:p>
        </p:txBody>
      </p:sp>
      <p:sp>
        <p:nvSpPr>
          <p:cNvPr id="4098" name="日期占位符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>
                <a:ea typeface="宋体" panose="02010600030101010101" pitchFamily="2" charset="-122"/>
              </a:rPr>
              <a:t>SEI, ECNU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400">
                <a:ea typeface="宋体" panose="02010600030101010101" pitchFamily="2" charset="-122"/>
              </a:rPr>
              <a:t>Computer Networks</a:t>
            </a:r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39B364-66D0-45E0-BD43-8CCD417B7AF6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5FC52-7B7A-4FB4-B874-65977DB5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任务形式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60549-DD60-45B7-A021-212326D7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小组合作：</a:t>
            </a:r>
          </a:p>
          <a:p>
            <a:pPr lvl="1"/>
            <a:r>
              <a:rPr lang="zh-CN" altLang="en-US" dirty="0"/>
              <a:t>每组</a:t>
            </a:r>
            <a:r>
              <a:rPr lang="en-US" altLang="zh-CN" dirty="0"/>
              <a:t>4–6</a:t>
            </a:r>
            <a:r>
              <a:rPr lang="zh-CN" altLang="en-US" dirty="0"/>
              <a:t>人，由班级同学自行组队。</a:t>
            </a:r>
          </a:p>
          <a:p>
            <a:pPr lvl="1"/>
            <a:r>
              <a:rPr lang="zh-CN" altLang="en-US" dirty="0"/>
              <a:t>每组选择一篇论文（从教师提供的推荐论文池中选题，先到先得，避免重复）。</a:t>
            </a:r>
          </a:p>
          <a:p>
            <a:r>
              <a:rPr lang="zh-CN" altLang="zh-CN" sz="2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小组分工</a:t>
            </a:r>
            <a:endParaRPr lang="en-US" altLang="zh-CN" sz="2800" b="1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/>
              <a:t>每个组员需负责</a:t>
            </a:r>
            <a:r>
              <a:rPr lang="en-US" altLang="zh-CN" dirty="0"/>
              <a:t>1</a:t>
            </a:r>
            <a:r>
              <a:rPr lang="zh-CN" altLang="en-US" dirty="0"/>
              <a:t>个部分：</a:t>
            </a:r>
          </a:p>
          <a:p>
            <a:pPr lvl="2"/>
            <a:r>
              <a:rPr lang="zh-CN" altLang="en-US" dirty="0"/>
              <a:t>研究问题</a:t>
            </a:r>
          </a:p>
          <a:p>
            <a:pPr lvl="2"/>
            <a:r>
              <a:rPr lang="zh-CN" altLang="en-US" dirty="0"/>
              <a:t>方法思路</a:t>
            </a:r>
          </a:p>
          <a:p>
            <a:pPr lvl="2"/>
            <a:r>
              <a:rPr lang="zh-CN" altLang="en-US" dirty="0"/>
              <a:t>主要结论</a:t>
            </a:r>
          </a:p>
          <a:p>
            <a:pPr lvl="2"/>
            <a:r>
              <a:rPr lang="zh-CN" altLang="en-US" dirty="0"/>
              <a:t>与课程内容的关联</a:t>
            </a:r>
          </a:p>
          <a:p>
            <a:pPr lvl="2"/>
            <a:r>
              <a:rPr lang="zh-CN" altLang="en-US" dirty="0"/>
              <a:t>思考与疑问</a:t>
            </a:r>
          </a:p>
          <a:p>
            <a:pPr lvl="1"/>
            <a:r>
              <a:rPr lang="zh-CN" altLang="en-US" dirty="0"/>
              <a:t>组员人数不够时，可一人负责两部分。</a:t>
            </a:r>
          </a:p>
          <a:p>
            <a:pPr lvl="1"/>
            <a:r>
              <a:rPr lang="zh-CN" altLang="en-US" dirty="0"/>
              <a:t>分工需在</a:t>
            </a:r>
            <a:r>
              <a:rPr lang="en-US" altLang="zh-CN" dirty="0"/>
              <a:t>PPT</a:t>
            </a:r>
            <a:r>
              <a:rPr lang="zh-CN" altLang="en-US" dirty="0"/>
              <a:t>封面或提交说明中明确写出。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AB3E39-9EE1-412F-A3E3-1B353ABE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SEI, ECNU</a:t>
            </a: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942A61-93F7-4E9B-9E52-2A6D545C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A3EC0-F2E9-47E6-8F2B-D058B0E1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52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1E949-76FC-4015-885E-A12F4D87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阅读与思考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633A9-1450-4C66-B899-40C54114B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不要求读懂全部技术细节，只需回答以下问题：</a:t>
            </a:r>
          </a:p>
          <a:p>
            <a:pPr marL="342900" lvl="1" indent="0">
              <a:buNone/>
            </a:pPr>
            <a:r>
              <a:rPr lang="en-US" altLang="zh-CN" dirty="0"/>
              <a:t>1.	</a:t>
            </a:r>
            <a:r>
              <a:rPr lang="zh-CN" altLang="en-US" dirty="0"/>
              <a:t>论文研究的问题是什么？</a:t>
            </a:r>
          </a:p>
          <a:p>
            <a:pPr marL="342900" lvl="1" indent="0">
              <a:buNone/>
            </a:pPr>
            <a:r>
              <a:rPr lang="en-US" altLang="zh-CN" dirty="0"/>
              <a:t>2.	</a:t>
            </a:r>
            <a:r>
              <a:rPr lang="zh-CN" altLang="en-US" dirty="0"/>
              <a:t>为什么这个问题重要？</a:t>
            </a:r>
          </a:p>
          <a:p>
            <a:pPr marL="342900" lvl="1" indent="0">
              <a:buNone/>
            </a:pPr>
            <a:r>
              <a:rPr lang="en-US" altLang="zh-CN" dirty="0"/>
              <a:t>3.	</a:t>
            </a:r>
            <a:r>
              <a:rPr lang="zh-CN" altLang="en-US" dirty="0"/>
              <a:t>作者大致采用了什么方法？</a:t>
            </a:r>
          </a:p>
          <a:p>
            <a:pPr marL="342900" lvl="1" indent="0">
              <a:buNone/>
            </a:pPr>
            <a:r>
              <a:rPr lang="en-US" altLang="zh-CN" dirty="0"/>
              <a:t>4.	</a:t>
            </a:r>
            <a:r>
              <a:rPr lang="zh-CN" altLang="en-US" dirty="0"/>
              <a:t>主要结论是什么？</a:t>
            </a:r>
          </a:p>
          <a:p>
            <a:pPr marL="342900" lvl="1" indent="0">
              <a:buNone/>
            </a:pPr>
            <a:r>
              <a:rPr lang="en-US" altLang="zh-CN" dirty="0"/>
              <a:t>5.	</a:t>
            </a:r>
            <a:r>
              <a:rPr lang="zh-CN" altLang="en-US" dirty="0"/>
              <a:t>我们小组没看懂</a:t>
            </a:r>
            <a:r>
              <a:rPr lang="en-US" altLang="zh-CN" dirty="0"/>
              <a:t>/</a:t>
            </a:r>
            <a:r>
              <a:rPr lang="zh-CN" altLang="en-US" dirty="0"/>
              <a:t>仍有疑问的地方有哪些？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E83BC-0C1D-4871-97C6-CF86692E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A4823-A5FF-407A-93B7-509A1158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FAAE5-F269-4D05-9F3C-74951F2A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6904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FD0D8-681D-4C2D-83A3-07E00D96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成果提交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3BF80-37F1-454C-B1F2-46932A602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制作</a:t>
            </a:r>
            <a:r>
              <a:rPr lang="en-US" altLang="zh-CN" dirty="0"/>
              <a:t>1</a:t>
            </a:r>
            <a:r>
              <a:rPr lang="zh-CN" altLang="en-US" dirty="0"/>
              <a:t>页</a:t>
            </a:r>
            <a:r>
              <a:rPr lang="en-US" altLang="zh-CN" dirty="0"/>
              <a:t>PPT</a:t>
            </a:r>
            <a:r>
              <a:rPr lang="zh-CN" altLang="en-US" dirty="0"/>
              <a:t>（教师提供模板），包含：</a:t>
            </a:r>
          </a:p>
          <a:p>
            <a:pPr marL="342900" lvl="1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研究问题</a:t>
            </a:r>
          </a:p>
          <a:p>
            <a:pPr marL="342900" lvl="1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方法思路</a:t>
            </a:r>
          </a:p>
          <a:p>
            <a:pPr marL="342900" lvl="1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主要结论</a:t>
            </a:r>
          </a:p>
          <a:p>
            <a:pPr marL="342900" lvl="1" indent="0">
              <a:buNone/>
            </a:pPr>
            <a:r>
              <a:rPr lang="en-US" altLang="zh-CN" dirty="0"/>
              <a:t>4.</a:t>
            </a:r>
            <a:r>
              <a:rPr lang="zh-CN" altLang="en-US" dirty="0"/>
              <a:t>与课程内容的关联</a:t>
            </a:r>
          </a:p>
          <a:p>
            <a:pPr marL="342900" lvl="1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小组的疑问或思考</a:t>
            </a:r>
          </a:p>
          <a:p>
            <a:r>
              <a:rPr lang="zh-CN" altLang="en-US" dirty="0"/>
              <a:t>可直接引用</a:t>
            </a:r>
            <a:r>
              <a:rPr lang="en-US" altLang="zh-CN" dirty="0"/>
              <a:t>SIGCOMM</a:t>
            </a:r>
            <a:r>
              <a:rPr lang="zh-CN" altLang="en-US" dirty="0"/>
              <a:t>官方</a:t>
            </a:r>
            <a:r>
              <a:rPr lang="en-US" altLang="zh-CN" dirty="0"/>
              <a:t>PPT</a:t>
            </a:r>
            <a:r>
              <a:rPr lang="zh-CN" altLang="en-US" dirty="0"/>
              <a:t>图表，但需写出你们的理解与解释，并注明来源。</a:t>
            </a:r>
          </a:p>
          <a:p>
            <a:r>
              <a:rPr lang="zh-CN" altLang="en-US" dirty="0"/>
              <a:t>将</a:t>
            </a:r>
            <a:r>
              <a:rPr lang="en-US" altLang="zh-CN" dirty="0"/>
              <a:t>PPT</a:t>
            </a:r>
            <a:r>
              <a:rPr lang="zh-CN" altLang="en-US" dirty="0"/>
              <a:t>提交到班级讨论区，并在提交时附上小组分工说明。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84DD07-43B8-40BD-A3FF-1715D817A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E9705-D9C2-46EA-9B10-454BCE56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B633B-C4CB-4E83-8C3D-6F00A158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130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B2F55-CA7D-4710-AB85-8EFFFDC42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在线交流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A645E-68BE-4771-A77E-E9D423CD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每组需在</a:t>
            </a:r>
            <a:r>
              <a:rPr lang="en-US" altLang="zh-CN" dirty="0"/>
              <a:t>PPT</a:t>
            </a:r>
            <a:r>
              <a:rPr lang="zh-CN" altLang="en-US" dirty="0"/>
              <a:t>中附带提出</a:t>
            </a:r>
            <a:r>
              <a:rPr lang="en-US" altLang="zh-CN" dirty="0"/>
              <a:t>2</a:t>
            </a:r>
            <a:r>
              <a:rPr lang="zh-CN" altLang="en-US" dirty="0"/>
              <a:t>个讨论问题，供同学们在讨论区交流。</a:t>
            </a:r>
          </a:p>
          <a:p>
            <a:r>
              <a:rPr lang="zh-CN" altLang="en-US" dirty="0"/>
              <a:t>每位同学需阅读并评论至少</a:t>
            </a:r>
            <a:r>
              <a:rPr lang="en-US" altLang="zh-CN" dirty="0"/>
              <a:t>2</a:t>
            </a:r>
            <a:r>
              <a:rPr lang="zh-CN" altLang="en-US" dirty="0"/>
              <a:t>个其他小组的</a:t>
            </a:r>
            <a:r>
              <a:rPr lang="en-US" altLang="zh-CN" dirty="0"/>
              <a:t>PPT</a:t>
            </a:r>
            <a:r>
              <a:rPr lang="zh-CN" altLang="en-US" dirty="0"/>
              <a:t>（不少于</a:t>
            </a:r>
            <a:r>
              <a:rPr lang="en-US" altLang="zh-CN" dirty="0"/>
              <a:t>20</a:t>
            </a:r>
            <a:r>
              <a:rPr lang="zh-CN" altLang="en-US" dirty="0"/>
              <a:t>字，不能只写“很好</a:t>
            </a:r>
            <a:r>
              <a:rPr lang="en-US" altLang="zh-CN" dirty="0"/>
              <a:t>/</a:t>
            </a:r>
            <a:r>
              <a:rPr lang="zh-CN" altLang="en-US" dirty="0"/>
              <a:t>学习了”）。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0BE31-2CDF-4491-B90C-08715925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A5E8F-745B-479D-BA7F-E3DB96B1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BF3016-D6E9-466C-A155-B161D4AE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377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8502B-A8C8-4147-BE52-E54AB927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优秀展示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7C0FD9-C820-4B23-B8CA-208172E41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每个班挑选</a:t>
            </a:r>
            <a:r>
              <a:rPr lang="en-US" altLang="zh-CN" dirty="0"/>
              <a:t>2–3</a:t>
            </a:r>
            <a:r>
              <a:rPr lang="zh-CN" altLang="en-US" dirty="0"/>
              <a:t>个优秀作品，在全年级课堂上进行展示与分享。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309ED-75C1-4797-B0D1-C295E41C8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C92C36-5E00-4F92-B918-FBEC9FE8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91B60E-93E4-4D6E-8659-686985F6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576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781C1-12EE-48B6-80EE-13E52D67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313D0-BAC7-411E-89D8-9936D6815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周：组队并完成选题登记。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12</a:t>
            </a:r>
            <a:r>
              <a:rPr lang="zh-CN" altLang="en-US" dirty="0"/>
              <a:t>周：提交</a:t>
            </a:r>
            <a:r>
              <a:rPr lang="en-US" altLang="zh-CN" dirty="0"/>
              <a:t>PPT</a:t>
            </a:r>
            <a:r>
              <a:rPr lang="zh-CN" altLang="en-US" dirty="0"/>
              <a:t>至班级讨论区。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13</a:t>
            </a:r>
            <a:r>
              <a:rPr lang="zh-CN" altLang="en-US" dirty="0"/>
              <a:t>周：浏览并评论至少</a:t>
            </a:r>
            <a:r>
              <a:rPr lang="en-US" altLang="zh-CN" dirty="0"/>
              <a:t>2</a:t>
            </a:r>
            <a:r>
              <a:rPr lang="zh-CN" altLang="en-US" dirty="0"/>
              <a:t>组作品。</a:t>
            </a:r>
          </a:p>
          <a:p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周：全年级展示优秀作品。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E2BEB-760A-423A-AC47-F0E0FA8D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AC3E83-F3A2-40DE-80C8-2AD553CB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7870B-71BD-4BFA-BBB8-ED8618B9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0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28844-480F-4C57-AA01-C771F762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评分规则（占平时成绩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6054D7DC-D3C7-4EBB-B964-E9F96C811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221984"/>
              </p:ext>
            </p:extLst>
          </p:nvPr>
        </p:nvGraphicFramePr>
        <p:xfrm>
          <a:off x="899592" y="1749593"/>
          <a:ext cx="7488832" cy="2438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87058829"/>
                    </a:ext>
                  </a:extLst>
                </a:gridCol>
                <a:gridCol w="971500">
                  <a:extLst>
                    <a:ext uri="{9D8B030D-6E8A-4147-A177-3AD203B41FA5}">
                      <a16:colId xmlns:a16="http://schemas.microsoft.com/office/drawing/2014/main" val="3103944388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972911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effectLst/>
                        </a:rPr>
                        <a:t>维度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effectLst/>
                        </a:rPr>
                        <a:t>权重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000" kern="0">
                          <a:effectLst/>
                        </a:rPr>
                        <a:t>说明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4425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小组成果完成度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0">
                          <a:effectLst/>
                        </a:rPr>
                        <a:t>40%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是否按要求总结论文并提交完整</a:t>
                      </a:r>
                      <a:r>
                        <a:rPr lang="en-US" sz="2000" kern="0">
                          <a:effectLst/>
                        </a:rPr>
                        <a:t>PPT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84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思考与总结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0">
                          <a:effectLst/>
                        </a:rPr>
                        <a:t>30%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是否能提炼研究问题、结论，并提出有价值的疑问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167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表达与排版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0">
                          <a:effectLst/>
                        </a:rPr>
                        <a:t>20%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0">
                          <a:effectLst/>
                        </a:rPr>
                        <a:t>PPT</a:t>
                      </a:r>
                      <a:r>
                        <a:rPr lang="zh-CN" sz="2000" kern="0">
                          <a:effectLst/>
                        </a:rPr>
                        <a:t>是否清晰、逻辑是否合理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0507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sz="2000" kern="0">
                          <a:effectLst/>
                        </a:rPr>
                        <a:t>个人参与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kern="0">
                          <a:effectLst/>
                        </a:rPr>
                        <a:t>10%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2000" kern="0" dirty="0">
                          <a:effectLst/>
                        </a:rPr>
                        <a:t>是否标明分工，并在讨论区有评论记录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0296552"/>
                  </a:ext>
                </a:extLst>
              </a:tr>
            </a:tbl>
          </a:graphicData>
        </a:graphic>
      </p:graphicFrame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02C9C-6364-4728-A87E-8D53666D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738A0-27B3-4933-A892-42D309D37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509B53-C22E-498B-8C05-4034688C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6657B7-2CCB-4D28-A2D9-B7F7D4C4787E}"/>
              </a:ext>
            </a:extLst>
          </p:cNvPr>
          <p:cNvSpPr txBox="1"/>
          <p:nvPr/>
        </p:nvSpPr>
        <p:spPr>
          <a:xfrm>
            <a:off x="628650" y="4725144"/>
            <a:ext cx="8053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额外加分：入选全年级优秀展示的小组可获得</a:t>
            </a:r>
            <a:r>
              <a:rPr lang="zh-CN" altLang="zh-CN" sz="24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平时分</a:t>
            </a:r>
            <a:r>
              <a:rPr lang="en-US" altLang="zh-CN" sz="24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+5</a:t>
            </a: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71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1EE36-56B2-43AD-898E-01584EE9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特别提示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CDD334-46B3-47AB-94DA-DDCE9E9C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目标是“理解研究问题和结论”，不要求看懂所有公式与实现。</a:t>
            </a:r>
          </a:p>
          <a:p>
            <a:r>
              <a:rPr lang="zh-CN" altLang="en-US" dirty="0"/>
              <a:t>允许使用</a:t>
            </a:r>
            <a:r>
              <a:rPr lang="en-US" altLang="zh-CN" dirty="0"/>
              <a:t>AI</a:t>
            </a:r>
            <a:r>
              <a:rPr lang="zh-CN" altLang="en-US" dirty="0"/>
              <a:t>工具辅助理解，但最终成果必须体现你们自己的思考：尤其是图表解释和提出的问题部分。</a:t>
            </a:r>
          </a:p>
          <a:p>
            <a:r>
              <a:rPr lang="zh-CN" altLang="en-US" dirty="0"/>
              <a:t>这项任务是课程的一部分，希望大家积极参与，把它当成一次接触科研前沿的体验，而不是额外负担。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862332-F943-4AA4-94C4-BAB46943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SEI, ECNU</a:t>
            </a: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6F34AC-6907-4AB1-B810-39261CDAA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Computer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8C0C75-957F-4C35-A139-134F3AF5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96D70-956E-4B48-97B8-2FA2646A9CF9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471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zh-CN" sz="7200" b="1" dirty="0"/>
              <a:t>Q &amp; 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zh-CN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13942</TotalTime>
  <Words>674</Words>
  <Application>Microsoft Office PowerPoint</Application>
  <PresentationFormat>全屏显示(4:3)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Arial</vt:lpstr>
      <vt:lpstr>Calibri</vt:lpstr>
      <vt:lpstr>Calibri Light</vt:lpstr>
      <vt:lpstr>Wingdings 2</vt:lpstr>
      <vt:lpstr>HDOfficeLightV0</vt:lpstr>
      <vt:lpstr>《计算机网络》课程 前沿论文调研与讨论任务说明</vt:lpstr>
      <vt:lpstr>任务目标</vt:lpstr>
      <vt:lpstr>任务形式</vt:lpstr>
      <vt:lpstr>阅读与思考</vt:lpstr>
      <vt:lpstr>成果提交</vt:lpstr>
      <vt:lpstr>在线交流</vt:lpstr>
      <vt:lpstr>优秀展示</vt:lpstr>
      <vt:lpstr>时间安排</vt:lpstr>
      <vt:lpstr>评分规则（占平时成绩10%）</vt:lpstr>
      <vt:lpstr>特别提示</vt:lpstr>
      <vt:lpstr>Q &amp; A</vt:lpstr>
    </vt:vector>
  </TitlesOfParts>
  <Company>Zhang Yue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Zhang Yue</dc:creator>
  <cp:lastModifiedBy>Yue Zhang</cp:lastModifiedBy>
  <cp:revision>121</cp:revision>
  <dcterms:created xsi:type="dcterms:W3CDTF">2009-08-20T08:44:41Z</dcterms:created>
  <dcterms:modified xsi:type="dcterms:W3CDTF">2025-09-15T08:30:20Z</dcterms:modified>
</cp:coreProperties>
</file>